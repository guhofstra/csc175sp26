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sldSz cx="9144000" cy="5143500" type="screen16x9"/>
  <p:notesSz cx="6858000" cy="9144000"/>
  <p:embeddedFontLst>
    <p:embeddedFont>
      <p:font typeface="Consolas" panose="020B0609020204030204" pitchFamily="49" charset="0"/>
      <p:regular r:id="rId52"/>
      <p:bold r:id="rId53"/>
      <p:italic r:id="rId54"/>
      <p:boldItalic r:id="rId55"/>
    </p:embeddedFont>
    <p:embeddedFont>
      <p:font typeface="Roboto" panose="02000000000000000000" pitchFamily="2" charset="0"/>
      <p:regular r:id="rId56"/>
      <p:bold r:id="rId57"/>
      <p:italic r:id="rId58"/>
      <p:boldItalic r:id="rId59"/>
    </p:embeddedFont>
    <p:embeddedFont>
      <p:font typeface="Roboto Light" panose="02000000000000000000" pitchFamily="2" charset="0"/>
      <p:regular r:id="rId60"/>
      <p:bold r:id="rId61"/>
      <p:italic r:id="rId62"/>
      <p:boldItalic r:id="rId63"/>
    </p:embeddedFont>
    <p:embeddedFont>
      <p:font typeface="Roboto Medium" panose="02000000000000000000" pitchFamily="2"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F736DB2-8000-4A80-A771-95157FF95D4A}">
  <a:tblStyle styleId="{1F736DB2-8000-4A80-A771-95157FF95D4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182"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2.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font" Target="fonts/font15.fntdata"/><Relationship Id="rId5" Type="http://schemas.openxmlformats.org/officeDocument/2006/relationships/slide" Target="slides/slide4.xml"/><Relationship Id="rId61"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font" Target="fonts/font13.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notesMaster" Target="notesMasters/notesMaster1.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67"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font" Target="fonts/font11.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modSld">
      <pc:chgData name="Zonghua Gu" userId="9a7e1853e1951ef5" providerId="LiveId" clId="{CF1FAA12-072C-4ED5-BA76-0FFFAEFDB88A}" dt="2026-01-31T15:40:59.532" v="0" actId="20577"/>
      <pc:docMkLst>
        <pc:docMk/>
      </pc:docMkLst>
      <pc:sldChg chg="modSp mod">
        <pc:chgData name="Zonghua Gu" userId="9a7e1853e1951ef5" providerId="LiveId" clId="{CF1FAA12-072C-4ED5-BA76-0FFFAEFDB88A}" dt="2026-01-31T15:40:59.532" v="0" actId="20577"/>
        <pc:sldMkLst>
          <pc:docMk/>
          <pc:sldMk cId="0" sldId="256"/>
        </pc:sldMkLst>
        <pc:spChg chg="mod">
          <ac:chgData name="Zonghua Gu" userId="9a7e1853e1951ef5" providerId="LiveId" clId="{CF1FAA12-072C-4ED5-BA76-0FFFAEFDB88A}" dt="2026-01-31T15:40:59.532" v="0" actId="20577"/>
          <ac:spMkLst>
            <pc:docMk/>
            <pc:sldMk cId="0" sldId="256"/>
            <ac:spMk id="14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ea691bae84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ea691bae84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Slides template credit: Josh Hug, Lisa Yan</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today is the second half of the TCP implementation lecture and we're</a:t>
            </a:r>
            <a:endParaRPr/>
          </a:p>
          <a:p>
            <a:pPr marL="0" lvl="0" indent="0" algn="l" rtl="0">
              <a:spcBef>
                <a:spcPts val="0"/>
              </a:spcBef>
              <a:spcAft>
                <a:spcPts val="0"/>
              </a:spcAft>
              <a:buClr>
                <a:schemeClr val="dk1"/>
              </a:buClr>
              <a:buSzPts val="1100"/>
              <a:buFont typeface="Arial"/>
              <a:buNone/>
            </a:pPr>
            <a:r>
              <a:rPr lang="en"/>
              <a:t>0:45</a:t>
            </a:r>
            <a:endParaRPr/>
          </a:p>
          <a:p>
            <a:pPr marL="0" lvl="0" indent="0" algn="l" rtl="0">
              <a:spcBef>
                <a:spcPts val="0"/>
              </a:spcBef>
              <a:spcAft>
                <a:spcPts val="0"/>
              </a:spcAft>
              <a:buClr>
                <a:schemeClr val="dk1"/>
              </a:buClr>
              <a:buSzPts val="1100"/>
              <a:buFont typeface="Arial"/>
              <a:buNone/>
            </a:pPr>
            <a:r>
              <a:rPr lang="en"/>
              <a:t>going to take what we saw last time the ideas that we Ed to design reliability</a:t>
            </a:r>
            <a:endParaRPr/>
          </a:p>
          <a:p>
            <a:pPr marL="0" lvl="0" indent="0" algn="l" rtl="0">
              <a:spcBef>
                <a:spcPts val="0"/>
              </a:spcBef>
              <a:spcAft>
                <a:spcPts val="0"/>
              </a:spcAft>
              <a:buClr>
                <a:schemeClr val="dk1"/>
              </a:buClr>
              <a:buSzPts val="1100"/>
              <a:buFont typeface="Arial"/>
              <a:buNone/>
            </a:pPr>
            <a:r>
              <a:rPr lang="en"/>
              <a:t>0:50</a:t>
            </a:r>
            <a:endParaRPr/>
          </a:p>
          <a:p>
            <a:pPr marL="0" lvl="0" indent="0" algn="l" rtl="0">
              <a:spcBef>
                <a:spcPts val="0"/>
              </a:spcBef>
              <a:spcAft>
                <a:spcPts val="0"/>
              </a:spcAft>
              <a:buClr>
                <a:schemeClr val="dk1"/>
              </a:buClr>
              <a:buSzPts val="1100"/>
              <a:buFont typeface="Arial"/>
              <a:buNone/>
            </a:pPr>
            <a:r>
              <a:rPr lang="en"/>
              <a:t>and we're going to formalize them into an actual protocol</a:t>
            </a:r>
            <a:endParaRPr/>
          </a:p>
          <a:p>
            <a:pPr marL="0" lvl="0" indent="0" algn="l" rtl="0">
              <a:spcBef>
                <a:spcPts val="0"/>
              </a:spcBef>
              <a:spcAft>
                <a:spcPts val="0"/>
              </a:spcAft>
              <a:buNone/>
            </a:pPr>
            <a:endParaRPr/>
          </a:p>
          <a:p>
            <a:pPr marL="0" lvl="0" indent="0" algn="l" rtl="0">
              <a:spcBef>
                <a:spcPts val="0"/>
              </a:spcBef>
              <a:spcAft>
                <a:spcPts val="0"/>
              </a:spcAft>
              <a:buNone/>
            </a:pPr>
            <a:r>
              <a:rPr lang="en"/>
              <a:t>And if we have time we might also do some congestion control to get ahead on that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ea691bae84_0_140: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ea691bae84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1:03</a:t>
            </a:r>
            <a:endParaRPr/>
          </a:p>
          <a:p>
            <a:pPr marL="0" lvl="0" indent="0" algn="l" rtl="0">
              <a:spcBef>
                <a:spcPts val="0"/>
              </a:spcBef>
              <a:spcAft>
                <a:spcPts val="0"/>
              </a:spcAft>
              <a:buClr>
                <a:schemeClr val="dk1"/>
              </a:buClr>
              <a:buSzPts val="1100"/>
              <a:buFont typeface="Arial"/>
              <a:buNone/>
            </a:pPr>
            <a:r>
              <a:rPr lang="en"/>
              <a:t>TCP and the first thing we'll do is we'll take the packet view of TCP and change it to a bite view</a:t>
            </a:r>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ea691bae84_0_2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ea691bae84_0_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Packets different sizes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ea691bae84_0_2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2ea691bae8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the B stream that we talked about and remember the bite stream is a sequence of bytes in order</a:t>
            </a:r>
            <a:endParaRPr/>
          </a:p>
          <a:p>
            <a:pPr marL="0" lvl="0" indent="0" algn="l" rtl="0">
              <a:spcBef>
                <a:spcPts val="0"/>
              </a:spcBef>
              <a:spcAft>
                <a:spcPts val="0"/>
              </a:spcAft>
              <a:buClr>
                <a:schemeClr val="dk1"/>
              </a:buClr>
              <a:buSzPts val="1100"/>
              <a:buFont typeface="Arial"/>
              <a:buNone/>
            </a:pPr>
            <a:r>
              <a:rPr lang="en"/>
              <a:t>3:33</a:t>
            </a:r>
            <a:endParaRPr/>
          </a:p>
          <a:p>
            <a:pPr marL="0" lvl="0" indent="0" algn="l" rtl="0">
              <a:spcBef>
                <a:spcPts val="0"/>
              </a:spcBef>
              <a:spcAft>
                <a:spcPts val="0"/>
              </a:spcAft>
              <a:buClr>
                <a:schemeClr val="dk1"/>
              </a:buClr>
              <a:buSzPts val="1100"/>
              <a:buFont typeface="Arial"/>
              <a:buNone/>
            </a:pPr>
            <a:r>
              <a:rPr lang="en"/>
              <a:t>infinite length the sender has a bite stream we feed it into a pipe and then the recipient receives those exact same</a:t>
            </a:r>
            <a:endParaRPr/>
          </a:p>
          <a:p>
            <a:pPr marL="0" lvl="0" indent="0" algn="l" rtl="0">
              <a:spcBef>
                <a:spcPts val="0"/>
              </a:spcBef>
              <a:spcAft>
                <a:spcPts val="0"/>
              </a:spcAft>
              <a:buClr>
                <a:schemeClr val="dk1"/>
              </a:buClr>
              <a:buSzPts val="1100"/>
              <a:buFont typeface="Arial"/>
              <a:buNone/>
            </a:pPr>
            <a:r>
              <a:rPr lang="en"/>
              <a:t>3:40</a:t>
            </a:r>
            <a:endParaRPr/>
          </a:p>
          <a:p>
            <a:pPr marL="0" lvl="0" indent="0" algn="l" rtl="0">
              <a:spcBef>
                <a:spcPts val="0"/>
              </a:spcBef>
              <a:spcAft>
                <a:spcPts val="0"/>
              </a:spcAft>
              <a:buClr>
                <a:schemeClr val="dk1"/>
              </a:buClr>
              <a:buSzPts val="1100"/>
              <a:buFont typeface="Arial"/>
              <a:buNone/>
            </a:pPr>
            <a:r>
              <a:rPr lang="en"/>
              <a:t>bytes in the same order reliably now the only difference between this picture and</a:t>
            </a:r>
            <a:endParaRPr/>
          </a:p>
          <a:p>
            <a:pPr marL="0" lvl="0" indent="0" algn="l" rtl="0">
              <a:spcBef>
                <a:spcPts val="0"/>
              </a:spcBef>
              <a:spcAft>
                <a:spcPts val="0"/>
              </a:spcAft>
              <a:buClr>
                <a:schemeClr val="dk1"/>
              </a:buClr>
              <a:buSzPts val="1100"/>
              <a:buFont typeface="Arial"/>
              <a:buNone/>
            </a:pPr>
            <a:r>
              <a:rPr lang="en"/>
              <a:t>3:46</a:t>
            </a:r>
            <a:endParaRPr/>
          </a:p>
          <a:p>
            <a:pPr marL="0" lvl="0" indent="0" algn="l" rtl="0">
              <a:spcBef>
                <a:spcPts val="0"/>
              </a:spcBef>
              <a:spcAft>
                <a:spcPts val="0"/>
              </a:spcAft>
              <a:buClr>
                <a:schemeClr val="dk1"/>
              </a:buClr>
              <a:buSzPts val="1100"/>
              <a:buFont typeface="Arial"/>
              <a:buNone/>
            </a:pPr>
            <a:r>
              <a:rPr lang="en"/>
              <a:t>the ones you've previously seen is that I have stamped numbers on every single</a:t>
            </a:r>
            <a:endParaRPr/>
          </a:p>
          <a:p>
            <a:pPr marL="0" lvl="0" indent="0" algn="l" rtl="0">
              <a:spcBef>
                <a:spcPts val="0"/>
              </a:spcBef>
              <a:spcAft>
                <a:spcPts val="0"/>
              </a:spcAft>
              <a:buClr>
                <a:schemeClr val="dk1"/>
              </a:buClr>
              <a:buSzPts val="1100"/>
              <a:buFont typeface="Arial"/>
              <a:buNone/>
            </a:pPr>
            <a:r>
              <a:rPr lang="en"/>
              <a:t>3:52</a:t>
            </a:r>
            <a:endParaRPr/>
          </a:p>
          <a:p>
            <a:pPr marL="0" lvl="0" indent="0" algn="l" rtl="0">
              <a:spcBef>
                <a:spcPts val="0"/>
              </a:spcBef>
              <a:spcAft>
                <a:spcPts val="0"/>
              </a:spcAft>
              <a:buClr>
                <a:schemeClr val="dk1"/>
              </a:buClr>
              <a:buSzPts val="1100"/>
              <a:buFont typeface="Arial"/>
              <a:buNone/>
            </a:pPr>
            <a:r>
              <a:rPr lang="en"/>
              <a:t>bite so now we have to connect this picture with the packet picture from last time and this is how we'll square</a:t>
            </a:r>
            <a:endParaRPr/>
          </a:p>
          <a:p>
            <a:pPr marL="0" lvl="0" indent="0" algn="l" rtl="0">
              <a:spcBef>
                <a:spcPts val="0"/>
              </a:spcBef>
              <a:spcAft>
                <a:spcPts val="0"/>
              </a:spcAft>
              <a:buClr>
                <a:schemeClr val="dk1"/>
              </a:buClr>
              <a:buSzPts val="1100"/>
              <a:buFont typeface="Arial"/>
              <a:buNone/>
            </a:pPr>
            <a:r>
              <a:rPr lang="en"/>
              <a:t>3:59</a:t>
            </a:r>
            <a:endParaRPr/>
          </a:p>
          <a:p>
            <a:pPr marL="0" lvl="0" indent="0" algn="l" rtl="0">
              <a:spcBef>
                <a:spcPts val="0"/>
              </a:spcBef>
              <a:spcAft>
                <a:spcPts val="0"/>
              </a:spcAft>
              <a:buClr>
                <a:schemeClr val="dk1"/>
              </a:buClr>
              <a:buSzPts val="1100"/>
              <a:buFont typeface="Arial"/>
              <a:buNone/>
            </a:pPr>
            <a:r>
              <a:rPr lang="en"/>
              <a:t>the two pictures together so the way that you build a packet as byes come in</a:t>
            </a:r>
            <a:endParaRPr/>
          </a:p>
          <a:p>
            <a:pPr marL="0" lvl="0" indent="0" algn="l" rtl="0">
              <a:spcBef>
                <a:spcPts val="0"/>
              </a:spcBef>
              <a:spcAft>
                <a:spcPts val="0"/>
              </a:spcAft>
              <a:buClr>
                <a:schemeClr val="dk1"/>
              </a:buClr>
              <a:buSzPts val="1100"/>
              <a:buFont typeface="Arial"/>
              <a:buNone/>
            </a:pPr>
            <a:r>
              <a:rPr lang="en"/>
              <a:t>4:05</a:t>
            </a:r>
            <a:endParaRPr/>
          </a:p>
          <a:p>
            <a:pPr marL="0" lvl="0" indent="0" algn="l" rtl="0">
              <a:spcBef>
                <a:spcPts val="0"/>
              </a:spcBef>
              <a:spcAft>
                <a:spcPts val="0"/>
              </a:spcAft>
              <a:buClr>
                <a:schemeClr val="dk1"/>
              </a:buClr>
              <a:buSzPts val="1100"/>
              <a:buFont typeface="Arial"/>
              <a:buNone/>
            </a:pPr>
            <a:r>
              <a:rPr lang="en"/>
              <a:t>and remember the sender application doesn't have to give you the entire infinite length by stream at once it</a:t>
            </a:r>
            <a:endParaRPr/>
          </a:p>
          <a:p>
            <a:pPr marL="0" lvl="0" indent="0" algn="l" rtl="0">
              <a:spcBef>
                <a:spcPts val="0"/>
              </a:spcBef>
              <a:spcAft>
                <a:spcPts val="0"/>
              </a:spcAft>
              <a:buClr>
                <a:schemeClr val="dk1"/>
              </a:buClr>
              <a:buSzPts val="1100"/>
              <a:buFont typeface="Arial"/>
              <a:buNone/>
            </a:pPr>
            <a:r>
              <a:rPr lang="en"/>
              <a:t>4:11</a:t>
            </a:r>
            <a:endParaRPr/>
          </a:p>
          <a:p>
            <a:pPr marL="0" lvl="0" indent="0" algn="l" rtl="0">
              <a:spcBef>
                <a:spcPts val="0"/>
              </a:spcBef>
              <a:spcAft>
                <a:spcPts val="0"/>
              </a:spcAft>
              <a:buClr>
                <a:schemeClr val="dk1"/>
              </a:buClr>
              <a:buSzPts val="1100"/>
              <a:buFont typeface="Arial"/>
              <a:buNone/>
            </a:pPr>
            <a:r>
              <a:rPr lang="en"/>
              <a:t>could feed you the bytes one by one for example if it's Computing data and it's sending out any results that it computes</a:t>
            </a:r>
            <a:endParaRPr/>
          </a:p>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2ea691bae84_0_4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2ea691bae84_0_4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276b9ae8b0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276b9ae8b0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so packets larger than the MTU will get fragmented and we don't want that so we</a:t>
            </a:r>
            <a:endParaRPr/>
          </a:p>
          <a:p>
            <a:pPr marL="0" lvl="0" indent="0" algn="l" rtl="0">
              <a:spcBef>
                <a:spcPts val="0"/>
              </a:spcBef>
              <a:spcAft>
                <a:spcPts val="0"/>
              </a:spcAft>
              <a:buClr>
                <a:schemeClr val="dk1"/>
              </a:buClr>
              <a:buSzPts val="1100"/>
              <a:buFont typeface="Arial"/>
              <a:buNone/>
            </a:pPr>
            <a:r>
              <a:rPr lang="en"/>
              <a:t>6:53</a:t>
            </a:r>
            <a:endParaRPr/>
          </a:p>
          <a:p>
            <a:pPr marL="0" lvl="0" indent="0" algn="l" rtl="0">
              <a:spcBef>
                <a:spcPts val="0"/>
              </a:spcBef>
              <a:spcAft>
                <a:spcPts val="0"/>
              </a:spcAft>
              <a:buClr>
                <a:schemeClr val="dk1"/>
              </a:buClr>
              <a:buSzPts val="1100"/>
              <a:buFont typeface="Arial"/>
              <a:buNone/>
            </a:pPr>
            <a:r>
              <a:rPr lang="en"/>
              <a:t>will say the IP packet is limited to MTU bites and to figure out how big one of</a:t>
            </a:r>
            <a:endParaRPr/>
          </a:p>
          <a:p>
            <a:pPr marL="0" lvl="0" indent="0" algn="l" rtl="0">
              <a:spcBef>
                <a:spcPts val="0"/>
              </a:spcBef>
              <a:spcAft>
                <a:spcPts val="0"/>
              </a:spcAft>
              <a:buClr>
                <a:schemeClr val="dk1"/>
              </a:buClr>
              <a:buSzPts val="1100"/>
              <a:buFont typeface="Arial"/>
              <a:buNone/>
            </a:pPr>
            <a:r>
              <a:rPr lang="en"/>
              <a:t>6:59</a:t>
            </a:r>
            <a:endParaRPr/>
          </a:p>
          <a:p>
            <a:pPr marL="0" lvl="0" indent="0" algn="l" rtl="0">
              <a:spcBef>
                <a:spcPts val="0"/>
              </a:spcBef>
              <a:spcAft>
                <a:spcPts val="0"/>
              </a:spcAft>
              <a:buClr>
                <a:schemeClr val="dk1"/>
              </a:buClr>
              <a:buSzPts val="1100"/>
              <a:buFont typeface="Arial"/>
              <a:buNone/>
            </a:pPr>
            <a:r>
              <a:rPr lang="en"/>
              <a:t>these segments can be we just have to do some math this whole thing can be up to MTU bytes that's a limit that's set on</a:t>
            </a:r>
            <a:endParaRPr/>
          </a:p>
          <a:p>
            <a:pPr marL="0" lvl="0" indent="0" algn="l" rtl="0">
              <a:spcBef>
                <a:spcPts val="0"/>
              </a:spcBef>
              <a:spcAft>
                <a:spcPts val="0"/>
              </a:spcAft>
              <a:buClr>
                <a:schemeClr val="dk1"/>
              </a:buClr>
              <a:buSzPts val="1100"/>
              <a:buFont typeface="Arial"/>
              <a:buNone/>
            </a:pPr>
            <a:r>
              <a:rPr lang="en"/>
              <a:t>7:06</a:t>
            </a:r>
            <a:endParaRPr/>
          </a:p>
          <a:p>
            <a:pPr marL="0" lvl="0" indent="0" algn="l" rtl="0">
              <a:spcBef>
                <a:spcPts val="0"/>
              </a:spcBef>
              <a:spcAft>
                <a:spcPts val="0"/>
              </a:spcAft>
              <a:buClr>
                <a:schemeClr val="dk1"/>
              </a:buClr>
              <a:buSzPts val="1100"/>
              <a:buFont typeface="Arial"/>
              <a:buNone/>
            </a:pPr>
            <a:r>
              <a:rPr lang="en"/>
              <a:t>the Internet it's 1500 in real life but some of it's being used for the IP header so we have to subtract that off</a:t>
            </a:r>
            <a:endParaRPr/>
          </a:p>
          <a:p>
            <a:pPr marL="0" lvl="0" indent="0" algn="l" rtl="0">
              <a:spcBef>
                <a:spcPts val="0"/>
              </a:spcBef>
              <a:spcAft>
                <a:spcPts val="0"/>
              </a:spcAft>
              <a:buClr>
                <a:schemeClr val="dk1"/>
              </a:buClr>
              <a:buSzPts val="1100"/>
              <a:buFont typeface="Arial"/>
              <a:buNone/>
            </a:pPr>
            <a:r>
              <a:rPr lang="en"/>
              <a:t>7:13</a:t>
            </a:r>
            <a:endParaRPr/>
          </a:p>
          <a:p>
            <a:pPr marL="0" lvl="0" indent="0" algn="l" rtl="0">
              <a:spcBef>
                <a:spcPts val="0"/>
              </a:spcBef>
              <a:spcAft>
                <a:spcPts val="0"/>
              </a:spcAft>
              <a:buClr>
                <a:schemeClr val="dk1"/>
              </a:buClr>
              <a:buSzPts val="1100"/>
              <a:buFont typeface="Arial"/>
              <a:buNone/>
            </a:pPr>
            <a:r>
              <a:rPr lang="en"/>
              <a:t>and some of it's being used for the TCP header so we subtract that off and whatever is left that number is MSS that</a:t>
            </a:r>
            <a:endParaRPr/>
          </a:p>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276b9ae8b0f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276b9ae8b0f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here's one thing we haven't talked about that is important for security and that is the</a:t>
            </a:r>
            <a:endParaRPr/>
          </a:p>
          <a:p>
            <a:pPr marL="0" lvl="0" indent="0" algn="l" rtl="0">
              <a:spcBef>
                <a:spcPts val="0"/>
              </a:spcBef>
              <a:spcAft>
                <a:spcPts val="0"/>
              </a:spcAft>
              <a:buClr>
                <a:schemeClr val="dk1"/>
              </a:buClr>
              <a:buSzPts val="1100"/>
              <a:buFont typeface="Arial"/>
              <a:buNone/>
            </a:pPr>
            <a:r>
              <a:rPr lang="en"/>
              <a:t>7:56</a:t>
            </a:r>
            <a:endParaRPr/>
          </a:p>
          <a:p>
            <a:pPr marL="0" lvl="0" indent="0" algn="l" rtl="0">
              <a:spcBef>
                <a:spcPts val="0"/>
              </a:spcBef>
              <a:spcAft>
                <a:spcPts val="0"/>
              </a:spcAft>
              <a:buClr>
                <a:schemeClr val="dk1"/>
              </a:buClr>
              <a:buSzPts val="1100"/>
              <a:buFont typeface="Arial"/>
              <a:buNone/>
            </a:pPr>
            <a:r>
              <a:rPr lang="en"/>
              <a:t>fact that sequence numbers actually shouldn't start at zero if you want to know why the security course cs161 goes</a:t>
            </a:r>
            <a:endParaRPr/>
          </a:p>
          <a:p>
            <a:pPr marL="0" lvl="0" indent="0" algn="l" rtl="0">
              <a:spcBef>
                <a:spcPts val="0"/>
              </a:spcBef>
              <a:spcAft>
                <a:spcPts val="0"/>
              </a:spcAft>
              <a:buClr>
                <a:schemeClr val="dk1"/>
              </a:buClr>
              <a:buSzPts val="1100"/>
              <a:buFont typeface="Arial"/>
              <a:buNone/>
            </a:pPr>
            <a:r>
              <a:rPr lang="en"/>
              <a:t>8:02</a:t>
            </a:r>
            <a:endParaRPr/>
          </a:p>
          <a:p>
            <a:pPr marL="0" lvl="0" indent="0" algn="l" rtl="0">
              <a:spcBef>
                <a:spcPts val="0"/>
              </a:spcBef>
              <a:spcAft>
                <a:spcPts val="0"/>
              </a:spcAft>
              <a:buClr>
                <a:schemeClr val="dk1"/>
              </a:buClr>
              <a:buSzPts val="1100"/>
              <a:buFont typeface="Arial"/>
              <a:buNone/>
            </a:pPr>
            <a:r>
              <a:rPr lang="en"/>
              <a:t>into a lot more detail of why this is the case but just know for this class that there is a very important security</a:t>
            </a:r>
            <a:endParaRPr/>
          </a:p>
          <a:p>
            <a:pPr marL="0" lvl="0" indent="0" algn="l" rtl="0">
              <a:spcBef>
                <a:spcPts val="0"/>
              </a:spcBef>
              <a:spcAft>
                <a:spcPts val="0"/>
              </a:spcAft>
              <a:buClr>
                <a:schemeClr val="dk1"/>
              </a:buClr>
              <a:buSzPts val="1100"/>
              <a:buFont typeface="Arial"/>
              <a:buNone/>
            </a:pPr>
            <a:r>
              <a:rPr lang="en"/>
              <a:t>8:09</a:t>
            </a:r>
            <a:endParaRPr/>
          </a:p>
          <a:p>
            <a:pPr marL="0" lvl="0" indent="0" algn="l" rtl="0">
              <a:spcBef>
                <a:spcPts val="0"/>
              </a:spcBef>
              <a:spcAft>
                <a:spcPts val="0"/>
              </a:spcAft>
              <a:buClr>
                <a:schemeClr val="dk1"/>
              </a:buClr>
              <a:buSzPts val="1100"/>
              <a:buFont typeface="Arial"/>
              <a:buNone/>
            </a:pPr>
            <a:r>
              <a:rPr lang="en"/>
              <a:t>reason and for that reason we cannot start the counting at zero instead we</a:t>
            </a:r>
            <a:endParaRPr/>
          </a:p>
          <a:p>
            <a:pPr marL="0" lvl="0" indent="0" algn="l" rtl="0">
              <a:spcBef>
                <a:spcPts val="0"/>
              </a:spcBef>
              <a:spcAft>
                <a:spcPts val="0"/>
              </a:spcAft>
              <a:buClr>
                <a:schemeClr val="dk1"/>
              </a:buClr>
              <a:buSzPts val="1100"/>
              <a:buFont typeface="Arial"/>
              <a:buNone/>
            </a:pPr>
            <a:r>
              <a:rPr lang="en"/>
              <a:t>8:14</a:t>
            </a:r>
            <a:endParaRPr/>
          </a:p>
          <a:p>
            <a:pPr marL="0" lvl="0" indent="0" algn="l" rtl="0">
              <a:spcBef>
                <a:spcPts val="0"/>
              </a:spcBef>
              <a:spcAft>
                <a:spcPts val="0"/>
              </a:spcAft>
              <a:buClr>
                <a:schemeClr val="dk1"/>
              </a:buClr>
              <a:buSzPts val="1100"/>
              <a:buFont typeface="Arial"/>
              <a:buNone/>
            </a:pPr>
            <a:r>
              <a:rPr lang="en"/>
              <a:t>have to pick some random number and here we'll call it Isn initial sequence number and then just start at that</a:t>
            </a:r>
            <a:endParaRPr/>
          </a:p>
          <a:p>
            <a:pPr marL="0" lvl="0" indent="0" algn="l" rtl="0">
              <a:spcBef>
                <a:spcPts val="0"/>
              </a:spcBef>
              <a:spcAft>
                <a:spcPts val="0"/>
              </a:spcAft>
              <a:buClr>
                <a:schemeClr val="dk1"/>
              </a:buClr>
              <a:buSzPts val="1100"/>
              <a:buFont typeface="Arial"/>
              <a:buNone/>
            </a:pPr>
            <a:r>
              <a:rPr lang="en"/>
              <a:t>8:21</a:t>
            </a:r>
            <a:endParaRPr/>
          </a:p>
          <a:p>
            <a:pPr marL="0" lvl="0" indent="0" algn="l" rtl="0">
              <a:spcBef>
                <a:spcPts val="0"/>
              </a:spcBef>
              <a:spcAft>
                <a:spcPts val="0"/>
              </a:spcAft>
              <a:buClr>
                <a:schemeClr val="dk1"/>
              </a:buClr>
              <a:buSzPts val="1100"/>
              <a:buFont typeface="Arial"/>
              <a:buNone/>
            </a:pPr>
            <a:r>
              <a:rPr lang="en"/>
              <a:t>number and start counting up so if that number is 120 okay great then the first bite is 121 and then 122 and then 123</a:t>
            </a:r>
            <a:endParaRPr/>
          </a:p>
          <a:p>
            <a:pPr marL="0" lvl="0" indent="0" algn="l" rtl="0">
              <a:spcBef>
                <a:spcPts val="0"/>
              </a:spcBef>
              <a:spcAft>
                <a:spcPts val="0"/>
              </a:spcAft>
              <a:buClr>
                <a:schemeClr val="dk1"/>
              </a:buClr>
              <a:buSzPts val="1100"/>
              <a:buFont typeface="Arial"/>
              <a:buNone/>
            </a:pPr>
            <a:r>
              <a:rPr lang="en"/>
              <a:t>8:30</a:t>
            </a:r>
            <a:endParaRPr/>
          </a:p>
          <a:p>
            <a:pPr marL="0" lvl="0" indent="0" algn="l" rtl="0">
              <a:spcBef>
                <a:spcPts val="0"/>
              </a:spcBef>
              <a:spcAft>
                <a:spcPts val="0"/>
              </a:spcAft>
              <a:buClr>
                <a:schemeClr val="dk1"/>
              </a:buClr>
              <a:buSzPts val="1100"/>
              <a:buFont typeface="Arial"/>
              <a:buNone/>
            </a:pPr>
            <a:r>
              <a:rPr lang="en"/>
              <a:t>and then 124 and so on this doesn't really change anything we've talked about so far it's still a bite stream</a:t>
            </a:r>
            <a:endParaRPr/>
          </a:p>
          <a:p>
            <a:pPr marL="0" lvl="0" indent="0" algn="l" rtl="0">
              <a:spcBef>
                <a:spcPts val="0"/>
              </a:spcBef>
              <a:spcAft>
                <a:spcPts val="0"/>
              </a:spcAft>
              <a:buClr>
                <a:schemeClr val="dk1"/>
              </a:buClr>
              <a:buSzPts val="1100"/>
              <a:buFont typeface="Arial"/>
              <a:buNone/>
            </a:pPr>
            <a:r>
              <a:rPr lang="en"/>
              <a:t>8:37</a:t>
            </a:r>
            <a:endParaRPr/>
          </a:p>
          <a:p>
            <a:pPr marL="0" lvl="0" indent="0" algn="l" rtl="0">
              <a:spcBef>
                <a:spcPts val="0"/>
              </a:spcBef>
              <a:spcAft>
                <a:spcPts val="0"/>
              </a:spcAft>
              <a:buClr>
                <a:schemeClr val="dk1"/>
              </a:buClr>
              <a:buSzPts val="1100"/>
              <a:buFont typeface="Arial"/>
              <a:buNone/>
            </a:pPr>
            <a:r>
              <a:rPr lang="en"/>
              <a:t>and you're still counting the bytes all the way up the only difference is don't start counting from zero that's the only</a:t>
            </a:r>
            <a:endParaRPr/>
          </a:p>
          <a:p>
            <a:pPr marL="0" lvl="0" indent="0" algn="l" rtl="0">
              <a:spcBef>
                <a:spcPts val="0"/>
              </a:spcBef>
              <a:spcAft>
                <a:spcPts val="0"/>
              </a:spcAft>
              <a:buClr>
                <a:schemeClr val="dk1"/>
              </a:buClr>
              <a:buSzPts val="1100"/>
              <a:buFont typeface="Arial"/>
              <a:buNone/>
            </a:pPr>
            <a:r>
              <a:rPr lang="en"/>
              <a:t>8:44</a:t>
            </a:r>
            <a:endParaRPr/>
          </a:p>
          <a:p>
            <a:pPr marL="0" lvl="0" indent="0" algn="l" rtl="0">
              <a:spcBef>
                <a:spcPts val="0"/>
              </a:spcBef>
              <a:spcAft>
                <a:spcPts val="0"/>
              </a:spcAft>
              <a:buClr>
                <a:schemeClr val="dk1"/>
              </a:buClr>
              <a:buSzPts val="1100"/>
              <a:buFont typeface="Arial"/>
              <a:buNone/>
            </a:pPr>
            <a:r>
              <a:rPr lang="en"/>
              <a:t>difference and it doesn't change any of the other implementation details but</a:t>
            </a:r>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276b9ae8b0f_0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276b9ae8b0f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276b9ae8b0f_0_3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276b9ae8b0f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ea7889d45f_0_4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2ea7889d45f_0_4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g2ea7889d45f_0_4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8" name="Google Shape;758;g2ea7889d45f_0_4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276b9ae8b0f_0_43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276b9ae8b0f_0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276b9ae8b0f_0_4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0" name="Google Shape;790;g276b9ae8b0f_0_4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276b9ae8b0f_0_4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6" name="Google Shape;796;g276b9ae8b0f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76b9ae8b0f_0_4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6" name="Google Shape;806;g276b9ae8b0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76b9ae8b0f_0_4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5" name="Google Shape;825;g276b9ae8b0f_0_4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276b9ae8b0f_0_5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4" name="Google Shape;844;g276b9ae8b0f_0_5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276b9ae8b0f_0_5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6" name="Google Shape;866;g276b9ae8b0f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76b9ae8b0f_0_5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5" name="Google Shape;885;g276b9ae8b0f_0_5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76b9ae8b0f_0_6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3" name="Google Shape;943;g276b9ae8b0f_0_6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27a17e4937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8" name="Google Shape;968;g27a17e4937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2ea7889d45f_0_7: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4" name="Google Shape;974;g2ea7889d45f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2ea7889d45f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2ea7889d45f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2ea7889d45f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2" name="Google Shape;1042;g2ea7889d45f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2ea7889d45f_0_1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3" name="Google Shape;1103;g2ea7889d45f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p:cNvGrpSpPr/>
        <p:nvPr/>
      </p:nvGrpSpPr>
      <p:grpSpPr>
        <a:xfrm>
          <a:off x="0" y="0"/>
          <a:ext cx="0" cy="0"/>
          <a:chOff x="0" y="0"/>
          <a:chExt cx="0" cy="0"/>
        </a:xfrm>
      </p:grpSpPr>
      <p:sp>
        <p:nvSpPr>
          <p:cNvPr id="1163" name="Google Shape;1163;g2ea7889d45f_0_2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4" name="Google Shape;1164;g2ea7889d45f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3"/>
        <p:cNvGrpSpPr/>
        <p:nvPr/>
      </p:nvGrpSpPr>
      <p:grpSpPr>
        <a:xfrm>
          <a:off x="0" y="0"/>
          <a:ext cx="0" cy="0"/>
          <a:chOff x="0" y="0"/>
          <a:chExt cx="0" cy="0"/>
        </a:xfrm>
      </p:grpSpPr>
      <p:sp>
        <p:nvSpPr>
          <p:cNvPr id="1224" name="Google Shape;1224;g2ea7889d45f_0_3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5" name="Google Shape;1225;g2ea7889d45f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3"/>
        <p:cNvGrpSpPr/>
        <p:nvPr/>
      </p:nvGrpSpPr>
      <p:grpSpPr>
        <a:xfrm>
          <a:off x="0" y="0"/>
          <a:ext cx="0" cy="0"/>
          <a:chOff x="0" y="0"/>
          <a:chExt cx="0" cy="0"/>
        </a:xfrm>
      </p:grpSpPr>
      <p:sp>
        <p:nvSpPr>
          <p:cNvPr id="1284" name="Google Shape;1284;g2ea7889d45f_0_512: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5" name="Google Shape;1285;g2ea7889d45f_0_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g2ea7889d45f_0_5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2" name="Google Shape;1292;g2ea7889d45f_0_5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g2ea7889d45f_0_5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9" name="Google Shape;1299;g2ea7889d45f_0_5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4"/>
        <p:cNvGrpSpPr/>
        <p:nvPr/>
      </p:nvGrpSpPr>
      <p:grpSpPr>
        <a:xfrm>
          <a:off x="0" y="0"/>
          <a:ext cx="0" cy="0"/>
          <a:chOff x="0" y="0"/>
          <a:chExt cx="0" cy="0"/>
        </a:xfrm>
      </p:grpSpPr>
      <p:sp>
        <p:nvSpPr>
          <p:cNvPr id="1305" name="Google Shape;1305;g2ea7889d45f_0_5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6" name="Google Shape;1306;g2ea7889d45f_0_5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1"/>
        <p:cNvGrpSpPr/>
        <p:nvPr/>
      </p:nvGrpSpPr>
      <p:grpSpPr>
        <a:xfrm>
          <a:off x="0" y="0"/>
          <a:ext cx="0" cy="0"/>
          <a:chOff x="0" y="0"/>
          <a:chExt cx="0" cy="0"/>
        </a:xfrm>
      </p:grpSpPr>
      <p:sp>
        <p:nvSpPr>
          <p:cNvPr id="1312" name="Google Shape;1312;g2ea7889d45f_0_5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3" name="Google Shape;1313;g2ea7889d45f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0"/>
        <p:cNvGrpSpPr/>
        <p:nvPr/>
      </p:nvGrpSpPr>
      <p:grpSpPr>
        <a:xfrm>
          <a:off x="0" y="0"/>
          <a:ext cx="0" cy="0"/>
          <a:chOff x="0" y="0"/>
          <a:chExt cx="0" cy="0"/>
        </a:xfrm>
      </p:grpSpPr>
      <p:sp>
        <p:nvSpPr>
          <p:cNvPr id="1321" name="Google Shape;1321;g36c08023096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2" name="Google Shape;1322;g36c0802309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Slides template credit: Josh Hug, Lisa Yan</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Copied here just in case we get there!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8"/>
        <p:cNvGrpSpPr/>
        <p:nvPr/>
      </p:nvGrpSpPr>
      <p:grpSpPr>
        <a:xfrm>
          <a:off x="0" y="0"/>
          <a:ext cx="0" cy="0"/>
          <a:chOff x="0" y="0"/>
          <a:chExt cx="0" cy="0"/>
        </a:xfrm>
      </p:grpSpPr>
      <p:sp>
        <p:nvSpPr>
          <p:cNvPr id="1329" name="Google Shape;1329;g36c08023096_0_8: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0" name="Google Shape;1330;g36c08023096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5"/>
        <p:cNvGrpSpPr/>
        <p:nvPr/>
      </p:nvGrpSpPr>
      <p:grpSpPr>
        <a:xfrm>
          <a:off x="0" y="0"/>
          <a:ext cx="0" cy="0"/>
          <a:chOff x="0" y="0"/>
          <a:chExt cx="0" cy="0"/>
        </a:xfrm>
      </p:grpSpPr>
      <p:sp>
        <p:nvSpPr>
          <p:cNvPr id="1336" name="Google Shape;1336;g36c08023096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7" name="Google Shape;1337;g36c08023096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8"/>
        <p:cNvGrpSpPr/>
        <p:nvPr/>
      </p:nvGrpSpPr>
      <p:grpSpPr>
        <a:xfrm>
          <a:off x="0" y="0"/>
          <a:ext cx="0" cy="0"/>
          <a:chOff x="0" y="0"/>
          <a:chExt cx="0" cy="0"/>
        </a:xfrm>
      </p:grpSpPr>
      <p:sp>
        <p:nvSpPr>
          <p:cNvPr id="1359" name="Google Shape;1359;g36c08023096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0" name="Google Shape;1360;g36c08023096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1"/>
        <p:cNvGrpSpPr/>
        <p:nvPr/>
      </p:nvGrpSpPr>
      <p:grpSpPr>
        <a:xfrm>
          <a:off x="0" y="0"/>
          <a:ext cx="0" cy="0"/>
          <a:chOff x="0" y="0"/>
          <a:chExt cx="0" cy="0"/>
        </a:xfrm>
      </p:grpSpPr>
      <p:sp>
        <p:nvSpPr>
          <p:cNvPr id="1372" name="Google Shape;1372;g36c08023096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3" name="Google Shape;1373;g36c08023096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8"/>
        <p:cNvGrpSpPr/>
        <p:nvPr/>
      </p:nvGrpSpPr>
      <p:grpSpPr>
        <a:xfrm>
          <a:off x="0" y="0"/>
          <a:ext cx="0" cy="0"/>
          <a:chOff x="0" y="0"/>
          <a:chExt cx="0" cy="0"/>
        </a:xfrm>
      </p:grpSpPr>
      <p:sp>
        <p:nvSpPr>
          <p:cNvPr id="1379" name="Google Shape;1379;g36c08023096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0" name="Google Shape;1380;g36c08023096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Berkeley Software Distribution - Berkeley Unix</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4"/>
        <p:cNvGrpSpPr/>
        <p:nvPr/>
      </p:nvGrpSpPr>
      <p:grpSpPr>
        <a:xfrm>
          <a:off x="0" y="0"/>
          <a:ext cx="0" cy="0"/>
          <a:chOff x="0" y="0"/>
          <a:chExt cx="0" cy="0"/>
        </a:xfrm>
      </p:grpSpPr>
      <p:sp>
        <p:nvSpPr>
          <p:cNvPr id="1385" name="Google Shape;1385;g36c08023096_0_5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6" name="Google Shape;1386;g36c08023096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1"/>
        <p:cNvGrpSpPr/>
        <p:nvPr/>
      </p:nvGrpSpPr>
      <p:grpSpPr>
        <a:xfrm>
          <a:off x="0" y="0"/>
          <a:ext cx="0" cy="0"/>
          <a:chOff x="0" y="0"/>
          <a:chExt cx="0" cy="0"/>
        </a:xfrm>
      </p:grpSpPr>
      <p:sp>
        <p:nvSpPr>
          <p:cNvPr id="1392" name="Google Shape;1392;g36c08023096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3" name="Google Shape;1393;g36c08023096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1"/>
        <p:cNvGrpSpPr/>
        <p:nvPr/>
      </p:nvGrpSpPr>
      <p:grpSpPr>
        <a:xfrm>
          <a:off x="0" y="0"/>
          <a:ext cx="0" cy="0"/>
          <a:chOff x="0" y="0"/>
          <a:chExt cx="0" cy="0"/>
        </a:xfrm>
      </p:grpSpPr>
      <p:sp>
        <p:nvSpPr>
          <p:cNvPr id="1442" name="Google Shape;1442;g36c08023096_0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3" name="Google Shape;1443;g36c08023096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0"/>
        <p:cNvGrpSpPr/>
        <p:nvPr/>
      </p:nvGrpSpPr>
      <p:grpSpPr>
        <a:xfrm>
          <a:off x="0" y="0"/>
          <a:ext cx="0" cy="0"/>
          <a:chOff x="0" y="0"/>
          <a:chExt cx="0" cy="0"/>
        </a:xfrm>
      </p:grpSpPr>
      <p:sp>
        <p:nvSpPr>
          <p:cNvPr id="1491" name="Google Shape;1491;g36c08023096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2" name="Google Shape;1492;g36c08023096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9"/>
        <p:cNvGrpSpPr/>
        <p:nvPr/>
      </p:nvGrpSpPr>
      <p:grpSpPr>
        <a:xfrm>
          <a:off x="0" y="0"/>
          <a:ext cx="0" cy="0"/>
          <a:chOff x="0" y="0"/>
          <a:chExt cx="0" cy="0"/>
        </a:xfrm>
      </p:grpSpPr>
      <p:sp>
        <p:nvSpPr>
          <p:cNvPr id="1540" name="Google Shape;1540;g36c08023096_0_2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1" name="Google Shape;1541;g36c08023096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9"/>
        <p:cNvGrpSpPr/>
        <p:nvPr/>
      </p:nvGrpSpPr>
      <p:grpSpPr>
        <a:xfrm>
          <a:off x="0" y="0"/>
          <a:ext cx="0" cy="0"/>
          <a:chOff x="0" y="0"/>
          <a:chExt cx="0" cy="0"/>
        </a:xfrm>
      </p:grpSpPr>
      <p:sp>
        <p:nvSpPr>
          <p:cNvPr id="1590" name="Google Shape;1590;g36c08023096_0_2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1" name="Google Shape;1591;g36c08023096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5"/>
        <p:cNvGrpSpPr/>
        <p:nvPr/>
      </p:nvGrpSpPr>
      <p:grpSpPr>
        <a:xfrm>
          <a:off x="0" y="0"/>
          <a:ext cx="0" cy="0"/>
          <a:chOff x="0" y="0"/>
          <a:chExt cx="0" cy="0"/>
        </a:xfrm>
      </p:grpSpPr>
      <p:sp>
        <p:nvSpPr>
          <p:cNvPr id="1596" name="Google Shape;1596;g36c08023096_0_2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7" name="Google Shape;1597;g36c08023096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1"/>
        <p:cNvGrpSpPr/>
        <p:nvPr/>
      </p:nvGrpSpPr>
      <p:grpSpPr>
        <a:xfrm>
          <a:off x="0" y="0"/>
          <a:ext cx="0" cy="0"/>
          <a:chOff x="0" y="0"/>
          <a:chExt cx="0" cy="0"/>
        </a:xfrm>
      </p:grpSpPr>
      <p:sp>
        <p:nvSpPr>
          <p:cNvPr id="1602" name="Google Shape;1602;g36c08023096_0_269:notes"/>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3" name="Google Shape;1603;g36c08023096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8"/>
        <p:cNvGrpSpPr/>
        <p:nvPr/>
      </p:nvGrpSpPr>
      <p:grpSpPr>
        <a:xfrm>
          <a:off x="0" y="0"/>
          <a:ext cx="0" cy="0"/>
          <a:chOff x="0" y="0"/>
          <a:chExt cx="0" cy="0"/>
        </a:xfrm>
      </p:grpSpPr>
      <p:sp>
        <p:nvSpPr>
          <p:cNvPr id="1609" name="Google Shape;1609;g36c08023096_0_2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0" name="Google Shape;1610;g36c08023096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4"/>
        <p:cNvGrpSpPr/>
        <p:nvPr/>
      </p:nvGrpSpPr>
      <p:grpSpPr>
        <a:xfrm>
          <a:off x="0" y="0"/>
          <a:ext cx="0" cy="0"/>
          <a:chOff x="0" y="0"/>
          <a:chExt cx="0" cy="0"/>
        </a:xfrm>
      </p:grpSpPr>
      <p:sp>
        <p:nvSpPr>
          <p:cNvPr id="1615" name="Google Shape;1615;g36c08023096_0_2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6" name="Google Shape;1616;g36c08023096_0_2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0"/>
        <p:cNvGrpSpPr/>
        <p:nvPr/>
      </p:nvGrpSpPr>
      <p:grpSpPr>
        <a:xfrm>
          <a:off x="0" y="0"/>
          <a:ext cx="0" cy="0"/>
          <a:chOff x="0" y="0"/>
          <a:chExt cx="0" cy="0"/>
        </a:xfrm>
      </p:grpSpPr>
      <p:sp>
        <p:nvSpPr>
          <p:cNvPr id="1621" name="Google Shape;1621;g36c08023096_0_2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2" name="Google Shape;1622;g36c08023096_0_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a:endParaRPr/>
          </a:p>
        </p:txBody>
      </p:sp>
      <p:sp>
        <p:nvSpPr>
          <p:cNvPr id="11" name="Google Shape;11;p2"/>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 name="Google Shape;16;p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9" name="Google Shape;19;p4"/>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20" name="Google Shape;20;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914400" lvl="1"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371600" lvl="2"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1828800" lvl="3"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2286000" lvl="4"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2743200" lvl="5"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3200400" lvl="6"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3657600" lvl="7"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4114800" lvl="8"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sp>
        <p:nvSpPr>
          <p:cNvPr id="26" name="Google Shape;26;p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7" name="Google Shape;27;p5"/>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8" name="Google Shape;28;p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4" name="Google Shape;34;p6"/>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5" name="Google Shape;35;p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6" name="Google Shape;36;p6"/>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0" name="Google Shape;40;p7"/>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1" name="Google Shape;41;p7"/>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2" name="Google Shape;42;p7"/>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3" name="Google Shape;43;p7"/>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9" name="Google Shape;49;p8"/>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0" name="Google Shape;50;p8"/>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1" name="Google Shape;51;p8"/>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a:t>
            </a:r>
            <a:endParaRPr sz="2500" b="1">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8" name="Google Shape;58;p9"/>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Compare</a:t>
            </a:r>
            <a:endParaRPr sz="2500" b="1">
              <a:solidFill>
                <a:schemeClr val="accent3"/>
              </a:solidFill>
              <a:latin typeface="Roboto"/>
              <a:ea typeface="Roboto"/>
              <a:cs typeface="Roboto"/>
              <a:sym typeface="Roboto"/>
            </a:endParaRPr>
          </a:p>
        </p:txBody>
      </p:sp>
      <p:sp>
        <p:nvSpPr>
          <p:cNvPr id="59" name="Google Shape;59;p9"/>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0" name="Google Shape;60;p9"/>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1" name="Google Shape;61;p9"/>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0"/>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7" name="Google Shape;67;p10"/>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Solution</a:t>
            </a:r>
            <a:endParaRPr sz="2500" b="1">
              <a:solidFill>
                <a:schemeClr val="accent3"/>
              </a:solidFill>
              <a:latin typeface="Roboto"/>
              <a:ea typeface="Roboto"/>
              <a:cs typeface="Roboto"/>
              <a:sym typeface="Roboto"/>
            </a:endParaRPr>
          </a:p>
        </p:txBody>
      </p:sp>
      <p:sp>
        <p:nvSpPr>
          <p:cNvPr id="68" name="Google Shape;68;p10"/>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9" name="Google Shape;69;p10"/>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0" name="Google Shape;70;p10"/>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1"/>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6" name="Google Shape;7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78" name="Google Shape;78;p11"/>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
        <p:cNvGrpSpPr/>
        <p:nvPr/>
      </p:nvGrpSpPr>
      <p:grpSpPr>
        <a:xfrm>
          <a:off x="0" y="0"/>
          <a:ext cx="0" cy="0"/>
          <a:chOff x="0" y="0"/>
          <a:chExt cx="0" cy="0"/>
        </a:xfrm>
      </p:grpSpPr>
      <p:sp>
        <p:nvSpPr>
          <p:cNvPr id="80" name="Google Shape;80;p1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1" name="Google Shape;8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82" name="Google Shape;82;p12"/>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5" name="Google Shape;85;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9" name="Google Shape;89;p1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90" name="Google Shape;90;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1" name="Google Shape;91;p1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5"/>
          <p:cNvSpPr txBox="1">
            <a:spLocks noGrp="1"/>
          </p:cNvSpPr>
          <p:nvPr>
            <p:ph type="title"/>
          </p:nvPr>
        </p:nvSpPr>
        <p:spPr>
          <a:xfrm>
            <a:off x="95425" y="4288400"/>
            <a:ext cx="8658900" cy="768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a:endParaRPr/>
          </a:p>
        </p:txBody>
      </p:sp>
      <p:cxnSp>
        <p:nvCxnSpPr>
          <p:cNvPr id="95" name="Google Shape;95;p1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98"/>
        <p:cNvGrpSpPr/>
        <p:nvPr/>
      </p:nvGrpSpPr>
      <p:grpSpPr>
        <a:xfrm>
          <a:off x="0" y="0"/>
          <a:ext cx="0" cy="0"/>
          <a:chOff x="0" y="0"/>
          <a:chExt cx="0" cy="0"/>
        </a:xfrm>
      </p:grpSpPr>
      <p:sp>
        <p:nvSpPr>
          <p:cNvPr id="99" name="Google Shape;9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06" name="Google Shape;106;p1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07" name="Google Shape;107;p1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1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2" name="Google Shape;112;p1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3" name="Google Shape;11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2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8" name="Google Shape;118;p2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9" name="Google Shape;119;p20"/>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2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5" name="Google Shape;125;p2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6" name="Google Shape;126;p21"/>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27" name="Google Shape;127;p21"/>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5" name="Google Shape;135;p23"/>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6" name="Google Shape;136;p23"/>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7" name="Google Shape;137;p23"/>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85206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143" name="Google Shape;143;p24"/>
          <p:cNvSpPr txBox="1"/>
          <p:nvPr/>
        </p:nvSpPr>
        <p:spPr>
          <a:xfrm>
            <a:off x="311700" y="3854350"/>
            <a:ext cx="8520600" cy="6585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endParaRPr sz="1600" dirty="0">
              <a:solidFill>
                <a:srgbClr val="000000"/>
              </a:solidFill>
              <a:latin typeface="Roboto Light"/>
              <a:ea typeface="Roboto Light"/>
              <a:cs typeface="Roboto Light"/>
              <a:sym typeface="Roboto Light"/>
            </a:endParaRPr>
          </a:p>
        </p:txBody>
      </p:sp>
      <p:sp>
        <p:nvSpPr>
          <p:cNvPr id="144" name="Google Shape;144;p24"/>
          <p:cNvSpPr txBox="1"/>
          <p:nvPr/>
        </p:nvSpPr>
        <p:spPr>
          <a:xfrm>
            <a:off x="311700" y="1658975"/>
            <a:ext cx="8709600" cy="2052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600">
                <a:solidFill>
                  <a:srgbClr val="0B5394"/>
                </a:solidFill>
                <a:latin typeface="Roboto Medium"/>
                <a:ea typeface="Roboto Medium"/>
                <a:cs typeface="Roboto Medium"/>
                <a:sym typeface="Roboto Medium"/>
              </a:rPr>
              <a:t>TCP Implementation</a:t>
            </a:r>
            <a:endParaRPr sz="3600">
              <a:solidFill>
                <a:srgbClr val="0B5394"/>
              </a:solidFill>
              <a:latin typeface="Roboto Medium"/>
              <a:ea typeface="Roboto Medium"/>
              <a:cs typeface="Roboto Medium"/>
              <a:sym typeface="Roboto Medium"/>
            </a:endParaRPr>
          </a:p>
        </p:txBody>
      </p:sp>
      <p:sp>
        <p:nvSpPr>
          <p:cNvPr id="145" name="Google Shape;145;p24"/>
          <p:cNvSpPr txBox="1"/>
          <p:nvPr/>
        </p:nvSpPr>
        <p:spPr>
          <a:xfrm>
            <a:off x="345775" y="2740300"/>
            <a:ext cx="2762700" cy="28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BF9000"/>
                </a:solidFill>
                <a:latin typeface="Roboto Medium"/>
                <a:ea typeface="Roboto Medium"/>
                <a:cs typeface="Roboto Medium"/>
                <a:sym typeface="Roboto Medium"/>
              </a:rPr>
              <a:t>Lecture 11 (Transport 2)</a:t>
            </a:r>
            <a:endParaRPr sz="1200">
              <a:solidFill>
                <a:srgbClr val="BF9000"/>
              </a:solidFill>
              <a:latin typeface="Roboto Medium"/>
              <a:ea typeface="Roboto Medium"/>
              <a:cs typeface="Roboto Medium"/>
              <a:sym typeface="Roboto Medium"/>
            </a:endParaRPr>
          </a:p>
        </p:txBody>
      </p:sp>
      <p:sp>
        <p:nvSpPr>
          <p:cNvPr id="146" name="Google Shape;146;p24"/>
          <p:cNvSpPr/>
          <p:nvPr/>
        </p:nvSpPr>
        <p:spPr>
          <a:xfrm>
            <a:off x="3966596" y="1647395"/>
            <a:ext cx="1178400" cy="232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47" name="Google Shape;147;p24"/>
          <p:cNvCxnSpPr>
            <a:endCxn id="148" idx="1"/>
          </p:cNvCxnSpPr>
          <p:nvPr/>
        </p:nvCxnSpPr>
        <p:spPr>
          <a:xfrm>
            <a:off x="4555873"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49" name="Google Shape;149;p24"/>
          <p:cNvCxnSpPr>
            <a:endCxn id="150" idx="1"/>
          </p:cNvCxnSpPr>
          <p:nvPr/>
        </p:nvCxnSpPr>
        <p:spPr>
          <a:xfrm>
            <a:off x="4686809"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51" name="Google Shape;151;p24"/>
          <p:cNvCxnSpPr>
            <a:endCxn id="152" idx="1"/>
          </p:cNvCxnSpPr>
          <p:nvPr/>
        </p:nvCxnSpPr>
        <p:spPr>
          <a:xfrm>
            <a:off x="4817744"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53" name="Google Shape;153;p24"/>
          <p:cNvCxnSpPr>
            <a:endCxn id="154" idx="1"/>
          </p:cNvCxnSpPr>
          <p:nvPr/>
        </p:nvCxnSpPr>
        <p:spPr>
          <a:xfrm>
            <a:off x="4948680"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55" name="Google Shape;155;p24"/>
          <p:cNvCxnSpPr>
            <a:endCxn id="156" idx="1"/>
          </p:cNvCxnSpPr>
          <p:nvPr/>
        </p:nvCxnSpPr>
        <p:spPr>
          <a:xfrm>
            <a:off x="5079616"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57" name="Google Shape;157;p24"/>
          <p:cNvCxnSpPr>
            <a:endCxn id="158" idx="1"/>
          </p:cNvCxnSpPr>
          <p:nvPr/>
        </p:nvCxnSpPr>
        <p:spPr>
          <a:xfrm>
            <a:off x="4424938"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59" name="Google Shape;159;p24"/>
          <p:cNvCxnSpPr>
            <a:endCxn id="160" idx="1"/>
          </p:cNvCxnSpPr>
          <p:nvPr/>
        </p:nvCxnSpPr>
        <p:spPr>
          <a:xfrm>
            <a:off x="4294002"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61" name="Google Shape;161;p24"/>
          <p:cNvCxnSpPr>
            <a:endCxn id="162" idx="1"/>
          </p:cNvCxnSpPr>
          <p:nvPr/>
        </p:nvCxnSpPr>
        <p:spPr>
          <a:xfrm>
            <a:off x="4163067"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63" name="Google Shape;163;p24"/>
          <p:cNvCxnSpPr>
            <a:endCxn id="164" idx="1"/>
          </p:cNvCxnSpPr>
          <p:nvPr/>
        </p:nvCxnSpPr>
        <p:spPr>
          <a:xfrm>
            <a:off x="4032131" y="1878833"/>
            <a:ext cx="0" cy="229200"/>
          </a:xfrm>
          <a:prstGeom prst="straightConnector1">
            <a:avLst/>
          </a:prstGeom>
          <a:noFill/>
          <a:ln w="9525" cap="flat" cmpd="sng">
            <a:solidFill>
              <a:schemeClr val="dk2"/>
            </a:solidFill>
            <a:prstDash val="solid"/>
            <a:round/>
            <a:headEnd type="none" w="med" len="med"/>
            <a:tailEnd type="triangle" w="med" len="med"/>
          </a:ln>
        </p:spPr>
      </p:cxnSp>
      <p:sp>
        <p:nvSpPr>
          <p:cNvPr id="165" name="Google Shape;165;p24"/>
          <p:cNvSpPr/>
          <p:nvPr/>
        </p:nvSpPr>
        <p:spPr>
          <a:xfrm rot="5400000">
            <a:off x="3523317"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6" name="Google Shape;166;p24"/>
          <p:cNvSpPr/>
          <p:nvPr/>
        </p:nvSpPr>
        <p:spPr>
          <a:xfrm rot="5400000">
            <a:off x="3654253"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7" name="Google Shape;167;p24"/>
          <p:cNvSpPr/>
          <p:nvPr/>
        </p:nvSpPr>
        <p:spPr>
          <a:xfrm rot="5400000">
            <a:off x="3785188"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8" name="Google Shape;168;p24"/>
          <p:cNvSpPr/>
          <p:nvPr/>
        </p:nvSpPr>
        <p:spPr>
          <a:xfrm rot="5400000">
            <a:off x="3916124"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9" name="Google Shape;169;p24"/>
          <p:cNvSpPr/>
          <p:nvPr/>
        </p:nvSpPr>
        <p:spPr>
          <a:xfrm rot="5400000">
            <a:off x="4047060"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0" name="Google Shape;170;p24"/>
          <p:cNvSpPr/>
          <p:nvPr/>
        </p:nvSpPr>
        <p:spPr>
          <a:xfrm rot="5400000">
            <a:off x="4177995"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1" name="Google Shape;171;p24"/>
          <p:cNvSpPr/>
          <p:nvPr/>
        </p:nvSpPr>
        <p:spPr>
          <a:xfrm rot="5400000">
            <a:off x="4308931"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2" name="Google Shape;172;p24"/>
          <p:cNvSpPr/>
          <p:nvPr/>
        </p:nvSpPr>
        <p:spPr>
          <a:xfrm rot="5400000">
            <a:off x="4439866"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3" name="Google Shape;173;p24"/>
          <p:cNvSpPr/>
          <p:nvPr/>
        </p:nvSpPr>
        <p:spPr>
          <a:xfrm rot="5400000">
            <a:off x="4570802"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4" name="Google Shape;174;p24"/>
          <p:cNvSpPr/>
          <p:nvPr/>
        </p:nvSpPr>
        <p:spPr>
          <a:xfrm rot="5400000">
            <a:off x="4701737"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5" name="Google Shape;175;p24"/>
          <p:cNvSpPr/>
          <p:nvPr/>
        </p:nvSpPr>
        <p:spPr>
          <a:xfrm rot="5400000">
            <a:off x="4832673"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6" name="Google Shape;176;p24"/>
          <p:cNvSpPr/>
          <p:nvPr/>
        </p:nvSpPr>
        <p:spPr>
          <a:xfrm rot="5400000">
            <a:off x="4963608"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7" name="Google Shape;177;p24"/>
          <p:cNvSpPr/>
          <p:nvPr/>
        </p:nvSpPr>
        <p:spPr>
          <a:xfrm rot="5400000">
            <a:off x="5094544"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8" name="Google Shape;178;p24"/>
          <p:cNvSpPr/>
          <p:nvPr/>
        </p:nvSpPr>
        <p:spPr>
          <a:xfrm rot="5400000">
            <a:off x="5225479"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9" name="Google Shape;179;p24"/>
          <p:cNvSpPr/>
          <p:nvPr/>
        </p:nvSpPr>
        <p:spPr>
          <a:xfrm rot="5400000">
            <a:off x="5356415"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0" name="Google Shape;180;p24"/>
          <p:cNvSpPr/>
          <p:nvPr/>
        </p:nvSpPr>
        <p:spPr>
          <a:xfrm rot="5400000">
            <a:off x="5487350"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1" name="Google Shape;181;p24"/>
          <p:cNvSpPr/>
          <p:nvPr/>
        </p:nvSpPr>
        <p:spPr>
          <a:xfrm rot="5400000">
            <a:off x="5618286"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2" name="Google Shape;182;p24"/>
          <p:cNvSpPr/>
          <p:nvPr/>
        </p:nvSpPr>
        <p:spPr>
          <a:xfrm rot="5400000">
            <a:off x="5749222"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3" name="Google Shape;183;p24"/>
          <p:cNvSpPr/>
          <p:nvPr/>
        </p:nvSpPr>
        <p:spPr>
          <a:xfrm rot="5400000">
            <a:off x="5880157"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4" name="Google Shape;184;p24"/>
          <p:cNvSpPr/>
          <p:nvPr/>
        </p:nvSpPr>
        <p:spPr>
          <a:xfrm rot="5400000">
            <a:off x="6011093"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5" name="Google Shape;185;p24"/>
          <p:cNvSpPr/>
          <p:nvPr/>
        </p:nvSpPr>
        <p:spPr>
          <a:xfrm rot="5400000">
            <a:off x="6142028"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6" name="Google Shape;186;p24"/>
          <p:cNvSpPr/>
          <p:nvPr/>
        </p:nvSpPr>
        <p:spPr>
          <a:xfrm rot="5400000">
            <a:off x="6272964"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7" name="Google Shape;187;p24"/>
          <p:cNvSpPr/>
          <p:nvPr/>
        </p:nvSpPr>
        <p:spPr>
          <a:xfrm rot="5400000">
            <a:off x="6403899"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8" name="Google Shape;188;p24"/>
          <p:cNvSpPr/>
          <p:nvPr/>
        </p:nvSpPr>
        <p:spPr>
          <a:xfrm rot="5400000">
            <a:off x="6534835"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9" name="Google Shape;189;p24"/>
          <p:cNvSpPr/>
          <p:nvPr/>
        </p:nvSpPr>
        <p:spPr>
          <a:xfrm rot="5400000">
            <a:off x="6665770"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0" name="Google Shape;190;p24"/>
          <p:cNvSpPr/>
          <p:nvPr/>
        </p:nvSpPr>
        <p:spPr>
          <a:xfrm rot="5400000">
            <a:off x="6796706"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1" name="Google Shape;191;p24"/>
          <p:cNvSpPr/>
          <p:nvPr/>
        </p:nvSpPr>
        <p:spPr>
          <a:xfrm rot="5400000">
            <a:off x="6927641"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2" name="Google Shape;192;p24"/>
          <p:cNvSpPr/>
          <p:nvPr/>
        </p:nvSpPr>
        <p:spPr>
          <a:xfrm rot="5400000">
            <a:off x="7058577"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3" name="Google Shape;193;p24"/>
          <p:cNvSpPr/>
          <p:nvPr/>
        </p:nvSpPr>
        <p:spPr>
          <a:xfrm rot="5400000">
            <a:off x="7189512"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4" name="Google Shape;194;p24"/>
          <p:cNvSpPr/>
          <p:nvPr/>
        </p:nvSpPr>
        <p:spPr>
          <a:xfrm rot="5400000">
            <a:off x="7320448"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5" name="Google Shape;195;p24"/>
          <p:cNvSpPr/>
          <p:nvPr/>
        </p:nvSpPr>
        <p:spPr>
          <a:xfrm rot="5400000">
            <a:off x="7451384"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6" name="Google Shape;196;p24"/>
          <p:cNvSpPr/>
          <p:nvPr/>
        </p:nvSpPr>
        <p:spPr>
          <a:xfrm rot="5400000">
            <a:off x="7582319"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7" name="Google Shape;197;p24"/>
          <p:cNvSpPr/>
          <p:nvPr/>
        </p:nvSpPr>
        <p:spPr>
          <a:xfrm rot="5400000">
            <a:off x="7713255"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8" name="Google Shape;198;p24"/>
          <p:cNvSpPr/>
          <p:nvPr/>
        </p:nvSpPr>
        <p:spPr>
          <a:xfrm rot="5400000">
            <a:off x="7844190" y="631430"/>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9" name="Google Shape;199;p24"/>
          <p:cNvSpPr/>
          <p:nvPr/>
        </p:nvSpPr>
        <p:spPr>
          <a:xfrm rot="5400000">
            <a:off x="7975126" y="631430"/>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0" name="Google Shape;200;p24"/>
          <p:cNvSpPr/>
          <p:nvPr/>
        </p:nvSpPr>
        <p:spPr>
          <a:xfrm rot="5400000">
            <a:off x="8106061" y="631430"/>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1" name="Google Shape;201;p24"/>
          <p:cNvSpPr/>
          <p:nvPr/>
        </p:nvSpPr>
        <p:spPr>
          <a:xfrm>
            <a:off x="3728082" y="1195296"/>
            <a:ext cx="1178400" cy="232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64" name="Google Shape;164;p24"/>
          <p:cNvSpPr/>
          <p:nvPr/>
        </p:nvSpPr>
        <p:spPr>
          <a:xfrm rot="5400000">
            <a:off x="3761831"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2" name="Google Shape;162;p24"/>
          <p:cNvSpPr/>
          <p:nvPr/>
        </p:nvSpPr>
        <p:spPr>
          <a:xfrm rot="5400000">
            <a:off x="3892767"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0" name="Google Shape;160;p24"/>
          <p:cNvSpPr/>
          <p:nvPr/>
        </p:nvSpPr>
        <p:spPr>
          <a:xfrm rot="5400000">
            <a:off x="4023702"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8" name="Google Shape;158;p24"/>
          <p:cNvSpPr/>
          <p:nvPr/>
        </p:nvSpPr>
        <p:spPr>
          <a:xfrm rot="5400000">
            <a:off x="4154638"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8" name="Google Shape;148;p24"/>
          <p:cNvSpPr/>
          <p:nvPr/>
        </p:nvSpPr>
        <p:spPr>
          <a:xfrm rot="5400000">
            <a:off x="4285573"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0" name="Google Shape;150;p24"/>
          <p:cNvSpPr/>
          <p:nvPr/>
        </p:nvSpPr>
        <p:spPr>
          <a:xfrm rot="5400000">
            <a:off x="4416509"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2" name="Google Shape;152;p24"/>
          <p:cNvSpPr/>
          <p:nvPr/>
        </p:nvSpPr>
        <p:spPr>
          <a:xfrm rot="5400000">
            <a:off x="4547444"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4" name="Google Shape;154;p24"/>
          <p:cNvSpPr/>
          <p:nvPr/>
        </p:nvSpPr>
        <p:spPr>
          <a:xfrm rot="5400000">
            <a:off x="4678380"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6" name="Google Shape;156;p24"/>
          <p:cNvSpPr/>
          <p:nvPr/>
        </p:nvSpPr>
        <p:spPr>
          <a:xfrm rot="5400000">
            <a:off x="4809316"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2" name="Google Shape;202;p24"/>
          <p:cNvSpPr/>
          <p:nvPr/>
        </p:nvSpPr>
        <p:spPr>
          <a:xfrm rot="5400000">
            <a:off x="4940251"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3" name="Google Shape;203;p24"/>
          <p:cNvSpPr/>
          <p:nvPr/>
        </p:nvSpPr>
        <p:spPr>
          <a:xfrm rot="5400000">
            <a:off x="5071187"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4" name="Google Shape;204;p24"/>
          <p:cNvSpPr/>
          <p:nvPr/>
        </p:nvSpPr>
        <p:spPr>
          <a:xfrm rot="5400000">
            <a:off x="5202122"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5" name="Google Shape;205;p24"/>
          <p:cNvSpPr/>
          <p:nvPr/>
        </p:nvSpPr>
        <p:spPr>
          <a:xfrm rot="5400000">
            <a:off x="5333058"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6" name="Google Shape;206;p24"/>
          <p:cNvSpPr/>
          <p:nvPr/>
        </p:nvSpPr>
        <p:spPr>
          <a:xfrm rot="5400000">
            <a:off x="5463993"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7" name="Google Shape;207;p24"/>
          <p:cNvSpPr/>
          <p:nvPr/>
        </p:nvSpPr>
        <p:spPr>
          <a:xfrm rot="5400000">
            <a:off x="5594929"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8" name="Google Shape;208;p24"/>
          <p:cNvSpPr/>
          <p:nvPr/>
        </p:nvSpPr>
        <p:spPr>
          <a:xfrm rot="5400000">
            <a:off x="5725864"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9" name="Google Shape;209;p24"/>
          <p:cNvSpPr/>
          <p:nvPr/>
        </p:nvSpPr>
        <p:spPr>
          <a:xfrm rot="5400000">
            <a:off x="5856800"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0" name="Google Shape;210;p24"/>
          <p:cNvSpPr/>
          <p:nvPr/>
        </p:nvSpPr>
        <p:spPr>
          <a:xfrm rot="5400000">
            <a:off x="5987735"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1" name="Google Shape;211;p24"/>
          <p:cNvSpPr/>
          <p:nvPr/>
        </p:nvSpPr>
        <p:spPr>
          <a:xfrm rot="5400000">
            <a:off x="6118671"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2" name="Google Shape;212;p24"/>
          <p:cNvSpPr/>
          <p:nvPr/>
        </p:nvSpPr>
        <p:spPr>
          <a:xfrm rot="5400000">
            <a:off x="6249606"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3" name="Google Shape;213;p24"/>
          <p:cNvSpPr/>
          <p:nvPr/>
        </p:nvSpPr>
        <p:spPr>
          <a:xfrm rot="5400000">
            <a:off x="6380542"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4" name="Google Shape;214;p24"/>
          <p:cNvSpPr/>
          <p:nvPr/>
        </p:nvSpPr>
        <p:spPr>
          <a:xfrm rot="5400000">
            <a:off x="6511477"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5" name="Google Shape;215;p24"/>
          <p:cNvSpPr/>
          <p:nvPr/>
        </p:nvSpPr>
        <p:spPr>
          <a:xfrm rot="5400000">
            <a:off x="6642413"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6" name="Google Shape;216;p24"/>
          <p:cNvSpPr/>
          <p:nvPr/>
        </p:nvSpPr>
        <p:spPr>
          <a:xfrm rot="5400000">
            <a:off x="6773349"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7" name="Google Shape;217;p24"/>
          <p:cNvSpPr/>
          <p:nvPr/>
        </p:nvSpPr>
        <p:spPr>
          <a:xfrm rot="5400000">
            <a:off x="6904284"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8" name="Google Shape;218;p24"/>
          <p:cNvSpPr/>
          <p:nvPr/>
        </p:nvSpPr>
        <p:spPr>
          <a:xfrm rot="5400000">
            <a:off x="7035220"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9" name="Google Shape;219;p24"/>
          <p:cNvSpPr/>
          <p:nvPr/>
        </p:nvSpPr>
        <p:spPr>
          <a:xfrm rot="5400000">
            <a:off x="7166155"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0" name="Google Shape;220;p24"/>
          <p:cNvSpPr/>
          <p:nvPr/>
        </p:nvSpPr>
        <p:spPr>
          <a:xfrm rot="5400000">
            <a:off x="7297091"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1" name="Google Shape;221;p24"/>
          <p:cNvSpPr/>
          <p:nvPr/>
        </p:nvSpPr>
        <p:spPr>
          <a:xfrm rot="5400000">
            <a:off x="7428026"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2" name="Google Shape;222;p24"/>
          <p:cNvSpPr/>
          <p:nvPr/>
        </p:nvSpPr>
        <p:spPr>
          <a:xfrm rot="5400000">
            <a:off x="7558962"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3" name="Google Shape;223;p24"/>
          <p:cNvSpPr/>
          <p:nvPr/>
        </p:nvSpPr>
        <p:spPr>
          <a:xfrm rot="5400000">
            <a:off x="7689897"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4" name="Google Shape;224;p24"/>
          <p:cNvSpPr/>
          <p:nvPr/>
        </p:nvSpPr>
        <p:spPr>
          <a:xfrm rot="5400000">
            <a:off x="7820833"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5" name="Google Shape;225;p24"/>
          <p:cNvSpPr/>
          <p:nvPr/>
        </p:nvSpPr>
        <p:spPr>
          <a:xfrm rot="5400000">
            <a:off x="7951768"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6" name="Google Shape;226;p24"/>
          <p:cNvSpPr/>
          <p:nvPr/>
        </p:nvSpPr>
        <p:spPr>
          <a:xfrm rot="5400000">
            <a:off x="8082704" y="2312933"/>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7" name="Google Shape;227;p24"/>
          <p:cNvSpPr/>
          <p:nvPr/>
        </p:nvSpPr>
        <p:spPr>
          <a:xfrm rot="5400000">
            <a:off x="8213639" y="2312933"/>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8" name="Google Shape;228;p24"/>
          <p:cNvSpPr/>
          <p:nvPr/>
        </p:nvSpPr>
        <p:spPr>
          <a:xfrm rot="5400000">
            <a:off x="8344575" y="2312933"/>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cxnSp>
        <p:nvCxnSpPr>
          <p:cNvPr id="229" name="Google Shape;229;p24"/>
          <p:cNvCxnSpPr>
            <a:stCxn id="169" idx="3"/>
            <a:endCxn id="201" idx="0"/>
          </p:cNvCxnSpPr>
          <p:nvPr/>
        </p:nvCxnSpPr>
        <p:spPr>
          <a:xfrm>
            <a:off x="4317360"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0" name="Google Shape;230;p24"/>
          <p:cNvCxnSpPr>
            <a:stCxn id="170" idx="3"/>
          </p:cNvCxnSpPr>
          <p:nvPr/>
        </p:nvCxnSpPr>
        <p:spPr>
          <a:xfrm>
            <a:off x="4448295"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1" name="Google Shape;231;p24"/>
          <p:cNvCxnSpPr>
            <a:stCxn id="171" idx="3"/>
          </p:cNvCxnSpPr>
          <p:nvPr/>
        </p:nvCxnSpPr>
        <p:spPr>
          <a:xfrm>
            <a:off x="4579231"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2" name="Google Shape;232;p24"/>
          <p:cNvCxnSpPr>
            <a:stCxn id="172" idx="3"/>
          </p:cNvCxnSpPr>
          <p:nvPr/>
        </p:nvCxnSpPr>
        <p:spPr>
          <a:xfrm>
            <a:off x="4710166"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3" name="Google Shape;233;p24"/>
          <p:cNvCxnSpPr>
            <a:stCxn id="173" idx="3"/>
          </p:cNvCxnSpPr>
          <p:nvPr/>
        </p:nvCxnSpPr>
        <p:spPr>
          <a:xfrm>
            <a:off x="4841102"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4" name="Google Shape;234;p24"/>
          <p:cNvCxnSpPr>
            <a:stCxn id="168" idx="3"/>
          </p:cNvCxnSpPr>
          <p:nvPr/>
        </p:nvCxnSpPr>
        <p:spPr>
          <a:xfrm>
            <a:off x="4186424"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5" name="Google Shape;235;p24"/>
          <p:cNvCxnSpPr>
            <a:stCxn id="167" idx="3"/>
          </p:cNvCxnSpPr>
          <p:nvPr/>
        </p:nvCxnSpPr>
        <p:spPr>
          <a:xfrm>
            <a:off x="4055488"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6" name="Google Shape;236;p24"/>
          <p:cNvCxnSpPr>
            <a:stCxn id="166" idx="3"/>
          </p:cNvCxnSpPr>
          <p:nvPr/>
        </p:nvCxnSpPr>
        <p:spPr>
          <a:xfrm>
            <a:off x="3924553"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7" name="Google Shape;237;p24"/>
          <p:cNvCxnSpPr>
            <a:stCxn id="165" idx="3"/>
          </p:cNvCxnSpPr>
          <p:nvPr/>
        </p:nvCxnSpPr>
        <p:spPr>
          <a:xfrm>
            <a:off x="3793617"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8" name="Google Shape;238;p24"/>
          <p:cNvCxnSpPr>
            <a:stCxn id="201" idx="2"/>
            <a:endCxn id="146" idx="0"/>
          </p:cNvCxnSpPr>
          <p:nvPr/>
        </p:nvCxnSpPr>
        <p:spPr>
          <a:xfrm>
            <a:off x="4317282" y="1427796"/>
            <a:ext cx="238500" cy="219600"/>
          </a:xfrm>
          <a:prstGeom prst="straightConnector1">
            <a:avLst/>
          </a:prstGeom>
          <a:noFill/>
          <a:ln w="9525" cap="flat" cmpd="sng">
            <a:solidFill>
              <a:schemeClr val="dk2"/>
            </a:solidFill>
            <a:prstDash val="solid"/>
            <a:round/>
            <a:headEnd type="none" w="med" len="med"/>
            <a:tailEnd type="triangle" w="med" len="med"/>
          </a:ln>
        </p:spPr>
      </p:cxnSp>
      <p:sp>
        <p:nvSpPr>
          <p:cNvPr id="239" name="Google Shape;239;p24"/>
          <p:cNvSpPr/>
          <p:nvPr/>
        </p:nvSpPr>
        <p:spPr>
          <a:xfrm>
            <a:off x="3403775" y="1195300"/>
            <a:ext cx="324300" cy="232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
              <a:latin typeface="Roboto"/>
              <a:ea typeface="Roboto"/>
              <a:cs typeface="Roboto"/>
              <a:sym typeface="Roboto"/>
            </a:endParaRPr>
          </a:p>
        </p:txBody>
      </p:sp>
      <p:sp>
        <p:nvSpPr>
          <p:cNvPr id="240" name="Google Shape;240;p24"/>
          <p:cNvSpPr/>
          <p:nvPr/>
        </p:nvSpPr>
        <p:spPr>
          <a:xfrm>
            <a:off x="3642289" y="1647399"/>
            <a:ext cx="324300" cy="232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5"/>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Implementing TCP</a:t>
            </a:r>
            <a:endParaRPr>
              <a:solidFill>
                <a:srgbClr val="B7B7B7"/>
              </a:solidFill>
            </a:endParaRPr>
          </a:p>
          <a:p>
            <a:pPr marL="457200" lvl="0" indent="-342900" algn="l" rtl="0">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Byte Notation</a:t>
            </a:r>
            <a:br>
              <a:rPr lang="en" b="1">
                <a:solidFill>
                  <a:schemeClr val="accent3"/>
                </a:solidFill>
                <a:latin typeface="Roboto"/>
                <a:ea typeface="Roboto"/>
                <a:cs typeface="Roboto"/>
                <a:sym typeface="Roboto"/>
              </a:rPr>
            </a:br>
            <a:r>
              <a:rPr lang="en" b="1">
                <a:solidFill>
                  <a:schemeClr val="accent3"/>
                </a:solidFill>
                <a:latin typeface="Roboto"/>
                <a:ea typeface="Roboto"/>
                <a:cs typeface="Roboto"/>
                <a:sym typeface="Roboto"/>
              </a:rPr>
              <a:t>(Segments, Sequence Numbers)</a:t>
            </a:r>
            <a:endParaRPr b="1">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a:solidFill>
                  <a:srgbClr val="B7B7B7"/>
                </a:solidFill>
              </a:rPr>
              <a:t>Maintaining State (Full Duplex, Connection Setup and Teardown)</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Sliding Window</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Header</a:t>
            </a:r>
            <a:endParaRPr>
              <a:solidFill>
                <a:srgbClr val="B7B7B7"/>
              </a:solidFill>
            </a:endParaRPr>
          </a:p>
        </p:txBody>
      </p:sp>
      <p:sp>
        <p:nvSpPr>
          <p:cNvPr id="246" name="Google Shape;246;p2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a:t>Implementing TCP: Byte Notation (Segments, Sequence Numbers)</a:t>
            </a:r>
            <a:endParaRPr sz="3200"/>
          </a:p>
        </p:txBody>
      </p:sp>
      <p:sp>
        <p:nvSpPr>
          <p:cNvPr id="247" name="Google Shape;247;p2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dirty="0"/>
              <a:t>Lecture 11, CS 168, Summer 2025</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Notation Change: Bytes vs. Packets</a:t>
            </a:r>
            <a:endParaRPr/>
          </a:p>
        </p:txBody>
      </p:sp>
      <p:sp>
        <p:nvSpPr>
          <p:cNvPr id="253" name="Google Shape;253;p26"/>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So far, we've used </a:t>
            </a:r>
            <a:r>
              <a:rPr lang="en" i="1"/>
              <a:t>packets</a:t>
            </a:r>
            <a:r>
              <a:rPr lang="en"/>
              <a:t> as the primary unit of data.</a:t>
            </a:r>
            <a:endParaRPr/>
          </a:p>
          <a:p>
            <a:pPr marL="457200" lvl="0" indent="-342900" algn="l" rtl="0">
              <a:spcBef>
                <a:spcPts val="600"/>
              </a:spcBef>
              <a:spcAft>
                <a:spcPts val="0"/>
              </a:spcAft>
              <a:buSzPts val="1800"/>
              <a:buChar char="●"/>
            </a:pPr>
            <a:r>
              <a:rPr lang="en"/>
              <a:t>Each packet has a number.</a:t>
            </a:r>
            <a:endParaRPr/>
          </a:p>
          <a:p>
            <a:pPr marL="457200" lvl="0" indent="-342900" algn="l" rtl="0">
              <a:spcBef>
                <a:spcPts val="0"/>
              </a:spcBef>
              <a:spcAft>
                <a:spcPts val="0"/>
              </a:spcAft>
              <a:buSzPts val="1800"/>
              <a:buChar char="●"/>
            </a:pPr>
            <a:r>
              <a:rPr lang="en"/>
              <a:t>Acks reference packet numbers.</a:t>
            </a:r>
            <a:endParaRPr/>
          </a:p>
          <a:p>
            <a:pPr marL="457200" lvl="0" indent="-342900" algn="l" rtl="0">
              <a:spcBef>
                <a:spcPts val="0"/>
              </a:spcBef>
              <a:spcAft>
                <a:spcPts val="0"/>
              </a:spcAft>
              <a:buSzPts val="1800"/>
              <a:buChar char="●"/>
            </a:pPr>
            <a:r>
              <a:rPr lang="en"/>
              <a:t>Window size expressed in terms of number of packets.</a:t>
            </a:r>
            <a:endParaRPr/>
          </a:p>
          <a:p>
            <a:pPr marL="0" lvl="0" indent="0" algn="l" rtl="0">
              <a:spcBef>
                <a:spcPts val="600"/>
              </a:spcBef>
              <a:spcAft>
                <a:spcPts val="0"/>
              </a:spcAft>
              <a:buNone/>
            </a:pPr>
            <a:endParaRPr/>
          </a:p>
          <a:p>
            <a:pPr marL="0" lvl="0" indent="0" algn="l" rtl="0">
              <a:spcBef>
                <a:spcPts val="600"/>
              </a:spcBef>
              <a:spcAft>
                <a:spcPts val="0"/>
              </a:spcAft>
              <a:buNone/>
            </a:pPr>
            <a:r>
              <a:rPr lang="en"/>
              <a:t>TCP is implemented with </a:t>
            </a:r>
            <a:r>
              <a:rPr lang="en" i="1"/>
              <a:t>bytes</a:t>
            </a:r>
            <a:r>
              <a:rPr lang="en"/>
              <a:t> as the primary unit of data.</a:t>
            </a:r>
            <a:endParaRPr/>
          </a:p>
          <a:p>
            <a:pPr marL="457200" lvl="0" indent="-342900" algn="l" rtl="0">
              <a:spcBef>
                <a:spcPts val="600"/>
              </a:spcBef>
              <a:spcAft>
                <a:spcPts val="0"/>
              </a:spcAft>
              <a:buSzPts val="1800"/>
              <a:buChar char="●"/>
            </a:pPr>
            <a:r>
              <a:rPr lang="en"/>
              <a:t>Each byte has a number.</a:t>
            </a:r>
            <a:br>
              <a:rPr lang="en"/>
            </a:br>
            <a:r>
              <a:rPr lang="en"/>
              <a:t>Packets are defined by the number of the first byte inside.</a:t>
            </a:r>
            <a:endParaRPr/>
          </a:p>
          <a:p>
            <a:pPr marL="457200" lvl="0" indent="-342900" algn="l" rtl="0">
              <a:spcBef>
                <a:spcPts val="0"/>
              </a:spcBef>
              <a:spcAft>
                <a:spcPts val="0"/>
              </a:spcAft>
              <a:buSzPts val="1800"/>
              <a:buChar char="●"/>
            </a:pPr>
            <a:r>
              <a:rPr lang="en"/>
              <a:t>ACKs reference byte numbers.</a:t>
            </a:r>
            <a:endParaRPr/>
          </a:p>
          <a:p>
            <a:pPr marL="457200" lvl="0" indent="-342900" algn="l" rtl="0">
              <a:spcBef>
                <a:spcPts val="0"/>
              </a:spcBef>
              <a:spcAft>
                <a:spcPts val="0"/>
              </a:spcAft>
              <a:buSzPts val="1800"/>
              <a:buChar char="●"/>
            </a:pPr>
            <a:r>
              <a:rPr lang="en"/>
              <a:t>Window size expressed in terms of number of bytes.</a:t>
            </a:r>
            <a:endParaRPr/>
          </a:p>
          <a:p>
            <a:pPr marL="0" lvl="0" indent="0" algn="l" rtl="0">
              <a:spcBef>
                <a:spcPts val="600"/>
              </a:spcBef>
              <a:spcAft>
                <a:spcPts val="0"/>
              </a:spcAft>
              <a:buNone/>
            </a:pPr>
            <a:endParaRPr/>
          </a:p>
          <a:p>
            <a:pPr marL="0" lvl="0" indent="0" algn="l" rtl="0">
              <a:spcBef>
                <a:spcPts val="600"/>
              </a:spcBef>
              <a:spcAft>
                <a:spcPts val="0"/>
              </a:spcAft>
              <a:buNone/>
            </a:pPr>
            <a:r>
              <a:rPr lang="en"/>
              <a:t>You should be prepared to reason in terms of either.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Segments</a:t>
            </a:r>
            <a:endParaRPr/>
          </a:p>
        </p:txBody>
      </p:sp>
      <p:sp>
        <p:nvSpPr>
          <p:cNvPr id="259" name="Google Shape;259;p27"/>
          <p:cNvSpPr txBox="1">
            <a:spLocks noGrp="1"/>
          </p:cNvSpPr>
          <p:nvPr>
            <p:ph type="body" idx="1"/>
          </p:nvPr>
        </p:nvSpPr>
        <p:spPr>
          <a:xfrm>
            <a:off x="107050" y="402200"/>
            <a:ext cx="8909700" cy="1026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TCP provides a reliable, in-order bytestream.</a:t>
            </a:r>
            <a:endParaRPr/>
          </a:p>
          <a:p>
            <a:pPr marL="0" lvl="0" indent="0" algn="l" rtl="0">
              <a:spcBef>
                <a:spcPts val="600"/>
              </a:spcBef>
              <a:spcAft>
                <a:spcPts val="0"/>
              </a:spcAft>
              <a:buNone/>
            </a:pPr>
            <a:r>
              <a:rPr lang="en"/>
              <a:t>We have to split this bytestream into packets.</a:t>
            </a:r>
            <a:endParaRPr/>
          </a:p>
        </p:txBody>
      </p:sp>
      <p:sp>
        <p:nvSpPr>
          <p:cNvPr id="260" name="Google Shape;260;p27"/>
          <p:cNvSpPr/>
          <p:nvPr/>
        </p:nvSpPr>
        <p:spPr>
          <a:xfrm rot="5400000">
            <a:off x="1282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1</a:t>
            </a:r>
            <a:endParaRPr sz="1000">
              <a:latin typeface="Roboto"/>
              <a:ea typeface="Roboto"/>
              <a:cs typeface="Roboto"/>
              <a:sym typeface="Roboto"/>
            </a:endParaRPr>
          </a:p>
        </p:txBody>
      </p:sp>
      <p:sp>
        <p:nvSpPr>
          <p:cNvPr id="261" name="Google Shape;261;p27"/>
          <p:cNvSpPr/>
          <p:nvPr/>
        </p:nvSpPr>
        <p:spPr>
          <a:xfrm rot="5400000">
            <a:off x="1457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262" name="Google Shape;262;p27"/>
          <p:cNvSpPr/>
          <p:nvPr/>
        </p:nvSpPr>
        <p:spPr>
          <a:xfrm rot="5400000">
            <a:off x="1632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263" name="Google Shape;263;p27"/>
          <p:cNvSpPr/>
          <p:nvPr/>
        </p:nvSpPr>
        <p:spPr>
          <a:xfrm rot="5400000">
            <a:off x="1806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264" name="Google Shape;264;p27"/>
          <p:cNvSpPr/>
          <p:nvPr/>
        </p:nvSpPr>
        <p:spPr>
          <a:xfrm rot="5400000">
            <a:off x="1981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65" name="Google Shape;265;p27"/>
          <p:cNvSpPr/>
          <p:nvPr/>
        </p:nvSpPr>
        <p:spPr>
          <a:xfrm rot="5400000">
            <a:off x="2156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66" name="Google Shape;266;p27"/>
          <p:cNvSpPr/>
          <p:nvPr/>
        </p:nvSpPr>
        <p:spPr>
          <a:xfrm rot="5400000">
            <a:off x="2331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67" name="Google Shape;267;p27"/>
          <p:cNvSpPr/>
          <p:nvPr/>
        </p:nvSpPr>
        <p:spPr>
          <a:xfrm rot="5400000">
            <a:off x="2506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268" name="Google Shape;268;p27"/>
          <p:cNvSpPr/>
          <p:nvPr/>
        </p:nvSpPr>
        <p:spPr>
          <a:xfrm rot="5400000">
            <a:off x="2681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269" name="Google Shape;269;p27"/>
          <p:cNvSpPr/>
          <p:nvPr/>
        </p:nvSpPr>
        <p:spPr>
          <a:xfrm rot="5400000">
            <a:off x="2856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0" name="Google Shape;270;p27"/>
          <p:cNvSpPr/>
          <p:nvPr/>
        </p:nvSpPr>
        <p:spPr>
          <a:xfrm rot="5400000">
            <a:off x="3031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1" name="Google Shape;271;p27"/>
          <p:cNvSpPr/>
          <p:nvPr/>
        </p:nvSpPr>
        <p:spPr>
          <a:xfrm rot="5400000">
            <a:off x="3206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2" name="Google Shape;272;p27"/>
          <p:cNvSpPr/>
          <p:nvPr/>
        </p:nvSpPr>
        <p:spPr>
          <a:xfrm rot="5400000">
            <a:off x="3381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3" name="Google Shape;273;p27"/>
          <p:cNvSpPr/>
          <p:nvPr/>
        </p:nvSpPr>
        <p:spPr>
          <a:xfrm rot="5400000">
            <a:off x="3555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4" name="Google Shape;274;p27"/>
          <p:cNvSpPr/>
          <p:nvPr/>
        </p:nvSpPr>
        <p:spPr>
          <a:xfrm rot="5400000">
            <a:off x="3730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5" name="Google Shape;275;p27"/>
          <p:cNvSpPr/>
          <p:nvPr/>
        </p:nvSpPr>
        <p:spPr>
          <a:xfrm rot="5400000">
            <a:off x="3905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6" name="Google Shape;276;p27"/>
          <p:cNvSpPr/>
          <p:nvPr/>
        </p:nvSpPr>
        <p:spPr>
          <a:xfrm rot="5400000">
            <a:off x="4080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7" name="Google Shape;277;p27"/>
          <p:cNvSpPr/>
          <p:nvPr/>
        </p:nvSpPr>
        <p:spPr>
          <a:xfrm rot="5400000">
            <a:off x="4255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8" name="Google Shape;278;p27"/>
          <p:cNvSpPr/>
          <p:nvPr/>
        </p:nvSpPr>
        <p:spPr>
          <a:xfrm rot="5400000">
            <a:off x="4430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9" name="Google Shape;279;p27"/>
          <p:cNvSpPr/>
          <p:nvPr/>
        </p:nvSpPr>
        <p:spPr>
          <a:xfrm rot="5400000">
            <a:off x="4605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0" name="Google Shape;280;p27"/>
          <p:cNvSpPr/>
          <p:nvPr/>
        </p:nvSpPr>
        <p:spPr>
          <a:xfrm rot="5400000">
            <a:off x="4780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1" name="Google Shape;281;p27"/>
          <p:cNvSpPr/>
          <p:nvPr/>
        </p:nvSpPr>
        <p:spPr>
          <a:xfrm rot="5400000">
            <a:off x="4955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2" name="Google Shape;282;p27"/>
          <p:cNvSpPr/>
          <p:nvPr/>
        </p:nvSpPr>
        <p:spPr>
          <a:xfrm rot="5400000">
            <a:off x="5130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3" name="Google Shape;283;p27"/>
          <p:cNvSpPr/>
          <p:nvPr/>
        </p:nvSpPr>
        <p:spPr>
          <a:xfrm rot="5400000">
            <a:off x="5304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4" name="Google Shape;284;p27"/>
          <p:cNvSpPr/>
          <p:nvPr/>
        </p:nvSpPr>
        <p:spPr>
          <a:xfrm rot="5400000">
            <a:off x="5479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5" name="Google Shape;285;p27"/>
          <p:cNvSpPr/>
          <p:nvPr/>
        </p:nvSpPr>
        <p:spPr>
          <a:xfrm rot="5400000">
            <a:off x="5654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6" name="Google Shape;286;p27"/>
          <p:cNvSpPr/>
          <p:nvPr/>
        </p:nvSpPr>
        <p:spPr>
          <a:xfrm rot="5400000">
            <a:off x="5829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7" name="Google Shape;287;p27"/>
          <p:cNvSpPr/>
          <p:nvPr/>
        </p:nvSpPr>
        <p:spPr>
          <a:xfrm rot="5400000">
            <a:off x="6004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8" name="Google Shape;288;p27"/>
          <p:cNvSpPr/>
          <p:nvPr/>
        </p:nvSpPr>
        <p:spPr>
          <a:xfrm rot="5400000">
            <a:off x="6179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9" name="Google Shape;289;p27"/>
          <p:cNvSpPr/>
          <p:nvPr/>
        </p:nvSpPr>
        <p:spPr>
          <a:xfrm rot="5400000">
            <a:off x="6354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0" name="Google Shape;290;p27"/>
          <p:cNvSpPr/>
          <p:nvPr/>
        </p:nvSpPr>
        <p:spPr>
          <a:xfrm rot="5400000">
            <a:off x="6529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1" name="Google Shape;291;p27"/>
          <p:cNvSpPr/>
          <p:nvPr/>
        </p:nvSpPr>
        <p:spPr>
          <a:xfrm rot="5400000">
            <a:off x="6704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2" name="Google Shape;292;p27"/>
          <p:cNvSpPr/>
          <p:nvPr/>
        </p:nvSpPr>
        <p:spPr>
          <a:xfrm rot="5400000">
            <a:off x="6879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3" name="Google Shape;293;p27"/>
          <p:cNvSpPr/>
          <p:nvPr/>
        </p:nvSpPr>
        <p:spPr>
          <a:xfrm rot="5400000">
            <a:off x="70539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4" name="Google Shape;294;p27"/>
          <p:cNvSpPr/>
          <p:nvPr/>
        </p:nvSpPr>
        <p:spPr>
          <a:xfrm rot="5400000">
            <a:off x="72288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5" name="Google Shape;295;p27"/>
          <p:cNvSpPr/>
          <p:nvPr/>
        </p:nvSpPr>
        <p:spPr>
          <a:xfrm rot="5400000">
            <a:off x="74037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6" name="Google Shape;296;p27"/>
          <p:cNvSpPr txBox="1"/>
          <p:nvPr/>
        </p:nvSpPr>
        <p:spPr>
          <a:xfrm>
            <a:off x="1555850" y="14864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297" name="Google Shape;297;p27"/>
          <p:cNvSpPr/>
          <p:nvPr/>
        </p:nvSpPr>
        <p:spPr>
          <a:xfrm rot="5400000">
            <a:off x="1600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1</a:t>
            </a:r>
            <a:endParaRPr sz="1000">
              <a:latin typeface="Roboto"/>
              <a:ea typeface="Roboto"/>
              <a:cs typeface="Roboto"/>
              <a:sym typeface="Roboto"/>
            </a:endParaRPr>
          </a:p>
        </p:txBody>
      </p:sp>
      <p:sp>
        <p:nvSpPr>
          <p:cNvPr id="298" name="Google Shape;298;p27"/>
          <p:cNvSpPr/>
          <p:nvPr/>
        </p:nvSpPr>
        <p:spPr>
          <a:xfrm rot="5400000">
            <a:off x="1775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299" name="Google Shape;299;p27"/>
          <p:cNvSpPr/>
          <p:nvPr/>
        </p:nvSpPr>
        <p:spPr>
          <a:xfrm rot="5400000">
            <a:off x="1950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300" name="Google Shape;300;p27"/>
          <p:cNvSpPr/>
          <p:nvPr/>
        </p:nvSpPr>
        <p:spPr>
          <a:xfrm rot="5400000">
            <a:off x="2125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301" name="Google Shape;301;p27"/>
          <p:cNvSpPr/>
          <p:nvPr/>
        </p:nvSpPr>
        <p:spPr>
          <a:xfrm rot="5400000">
            <a:off x="2300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2" name="Google Shape;302;p27"/>
          <p:cNvSpPr/>
          <p:nvPr/>
        </p:nvSpPr>
        <p:spPr>
          <a:xfrm rot="5400000">
            <a:off x="2475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3" name="Google Shape;303;p27"/>
          <p:cNvSpPr/>
          <p:nvPr/>
        </p:nvSpPr>
        <p:spPr>
          <a:xfrm rot="5400000">
            <a:off x="2650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4" name="Google Shape;304;p27"/>
          <p:cNvSpPr/>
          <p:nvPr/>
        </p:nvSpPr>
        <p:spPr>
          <a:xfrm rot="5400000">
            <a:off x="2825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305" name="Google Shape;305;p27"/>
          <p:cNvSpPr/>
          <p:nvPr/>
        </p:nvSpPr>
        <p:spPr>
          <a:xfrm rot="5400000">
            <a:off x="3000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306" name="Google Shape;306;p27"/>
          <p:cNvSpPr/>
          <p:nvPr/>
        </p:nvSpPr>
        <p:spPr>
          <a:xfrm rot="5400000">
            <a:off x="3174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7" name="Google Shape;307;p27"/>
          <p:cNvSpPr/>
          <p:nvPr/>
        </p:nvSpPr>
        <p:spPr>
          <a:xfrm rot="5400000">
            <a:off x="3349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8" name="Google Shape;308;p27"/>
          <p:cNvSpPr/>
          <p:nvPr/>
        </p:nvSpPr>
        <p:spPr>
          <a:xfrm rot="5400000">
            <a:off x="3524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9" name="Google Shape;309;p27"/>
          <p:cNvSpPr/>
          <p:nvPr/>
        </p:nvSpPr>
        <p:spPr>
          <a:xfrm rot="5400000">
            <a:off x="3699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0" name="Google Shape;310;p27"/>
          <p:cNvSpPr/>
          <p:nvPr/>
        </p:nvSpPr>
        <p:spPr>
          <a:xfrm rot="5400000">
            <a:off x="3874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1" name="Google Shape;311;p27"/>
          <p:cNvSpPr/>
          <p:nvPr/>
        </p:nvSpPr>
        <p:spPr>
          <a:xfrm rot="5400000">
            <a:off x="4049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2" name="Google Shape;312;p27"/>
          <p:cNvSpPr/>
          <p:nvPr/>
        </p:nvSpPr>
        <p:spPr>
          <a:xfrm rot="5400000">
            <a:off x="4224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3" name="Google Shape;313;p27"/>
          <p:cNvSpPr/>
          <p:nvPr/>
        </p:nvSpPr>
        <p:spPr>
          <a:xfrm rot="5400000">
            <a:off x="4399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4" name="Google Shape;314;p27"/>
          <p:cNvSpPr/>
          <p:nvPr/>
        </p:nvSpPr>
        <p:spPr>
          <a:xfrm rot="5400000">
            <a:off x="4574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5" name="Google Shape;315;p27"/>
          <p:cNvSpPr/>
          <p:nvPr/>
        </p:nvSpPr>
        <p:spPr>
          <a:xfrm rot="5400000">
            <a:off x="4749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6" name="Google Shape;316;p27"/>
          <p:cNvSpPr/>
          <p:nvPr/>
        </p:nvSpPr>
        <p:spPr>
          <a:xfrm rot="5400000">
            <a:off x="4923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7" name="Google Shape;317;p27"/>
          <p:cNvSpPr/>
          <p:nvPr/>
        </p:nvSpPr>
        <p:spPr>
          <a:xfrm rot="5400000">
            <a:off x="5098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8" name="Google Shape;318;p27"/>
          <p:cNvSpPr/>
          <p:nvPr/>
        </p:nvSpPr>
        <p:spPr>
          <a:xfrm rot="5400000">
            <a:off x="5273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9" name="Google Shape;319;p27"/>
          <p:cNvSpPr/>
          <p:nvPr/>
        </p:nvSpPr>
        <p:spPr>
          <a:xfrm rot="5400000">
            <a:off x="5448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0" name="Google Shape;320;p27"/>
          <p:cNvSpPr/>
          <p:nvPr/>
        </p:nvSpPr>
        <p:spPr>
          <a:xfrm rot="5400000">
            <a:off x="5623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1" name="Google Shape;321;p27"/>
          <p:cNvSpPr/>
          <p:nvPr/>
        </p:nvSpPr>
        <p:spPr>
          <a:xfrm rot="5400000">
            <a:off x="5798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2" name="Google Shape;322;p27"/>
          <p:cNvSpPr/>
          <p:nvPr/>
        </p:nvSpPr>
        <p:spPr>
          <a:xfrm rot="5400000">
            <a:off x="5973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3" name="Google Shape;323;p27"/>
          <p:cNvSpPr/>
          <p:nvPr/>
        </p:nvSpPr>
        <p:spPr>
          <a:xfrm rot="5400000">
            <a:off x="6148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4" name="Google Shape;324;p27"/>
          <p:cNvSpPr/>
          <p:nvPr/>
        </p:nvSpPr>
        <p:spPr>
          <a:xfrm rot="5400000">
            <a:off x="6323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5" name="Google Shape;325;p27"/>
          <p:cNvSpPr/>
          <p:nvPr/>
        </p:nvSpPr>
        <p:spPr>
          <a:xfrm rot="5400000">
            <a:off x="6498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6" name="Google Shape;326;p27"/>
          <p:cNvSpPr/>
          <p:nvPr/>
        </p:nvSpPr>
        <p:spPr>
          <a:xfrm rot="5400000">
            <a:off x="6672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7" name="Google Shape;327;p27"/>
          <p:cNvSpPr/>
          <p:nvPr/>
        </p:nvSpPr>
        <p:spPr>
          <a:xfrm rot="5400000">
            <a:off x="6847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8" name="Google Shape;328;p27"/>
          <p:cNvSpPr/>
          <p:nvPr/>
        </p:nvSpPr>
        <p:spPr>
          <a:xfrm rot="5400000">
            <a:off x="7022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9" name="Google Shape;329;p27"/>
          <p:cNvSpPr/>
          <p:nvPr/>
        </p:nvSpPr>
        <p:spPr>
          <a:xfrm rot="5400000">
            <a:off x="7197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0" name="Google Shape;330;p27"/>
          <p:cNvSpPr/>
          <p:nvPr/>
        </p:nvSpPr>
        <p:spPr>
          <a:xfrm rot="5400000">
            <a:off x="73725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1" name="Google Shape;331;p27"/>
          <p:cNvSpPr/>
          <p:nvPr/>
        </p:nvSpPr>
        <p:spPr>
          <a:xfrm rot="5400000">
            <a:off x="75474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2" name="Google Shape;332;p27"/>
          <p:cNvSpPr/>
          <p:nvPr/>
        </p:nvSpPr>
        <p:spPr>
          <a:xfrm rot="5400000">
            <a:off x="77223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3" name="Google Shape;333;p27"/>
          <p:cNvSpPr txBox="1"/>
          <p:nvPr/>
        </p:nvSpPr>
        <p:spPr>
          <a:xfrm>
            <a:off x="1874450" y="47255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334" name="Google Shape;334;p27"/>
          <p:cNvCxnSpPr>
            <a:stCxn id="262" idx="3"/>
            <a:endCxn id="299" idx="1"/>
          </p:cNvCxnSpPr>
          <p:nvPr/>
        </p:nvCxnSpPr>
        <p:spPr>
          <a:xfrm>
            <a:off x="1993100" y="2479475"/>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335" name="Google Shape;335;p27"/>
          <p:cNvCxnSpPr>
            <a:endCxn id="304" idx="1"/>
          </p:cNvCxnSpPr>
          <p:nvPr/>
        </p:nvCxnSpPr>
        <p:spPr>
          <a:xfrm>
            <a:off x="2867600" y="2479475"/>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336" name="Google Shape;336;p27"/>
          <p:cNvCxnSpPr>
            <a:stCxn id="272" idx="3"/>
            <a:endCxn id="309" idx="1"/>
          </p:cNvCxnSpPr>
          <p:nvPr/>
        </p:nvCxnSpPr>
        <p:spPr>
          <a:xfrm>
            <a:off x="3742100" y="2479475"/>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337" name="Google Shape;337;p27"/>
          <p:cNvCxnSpPr>
            <a:stCxn id="277" idx="3"/>
            <a:endCxn id="314" idx="1"/>
          </p:cNvCxnSpPr>
          <p:nvPr/>
        </p:nvCxnSpPr>
        <p:spPr>
          <a:xfrm>
            <a:off x="4616600" y="2479475"/>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338" name="Google Shape;338;p27"/>
          <p:cNvCxnSpPr>
            <a:stCxn id="282" idx="3"/>
            <a:endCxn id="319" idx="1"/>
          </p:cNvCxnSpPr>
          <p:nvPr/>
        </p:nvCxnSpPr>
        <p:spPr>
          <a:xfrm>
            <a:off x="5491100" y="2479475"/>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339" name="Google Shape;339;p27"/>
          <p:cNvCxnSpPr>
            <a:stCxn id="287" idx="3"/>
            <a:endCxn id="324" idx="1"/>
          </p:cNvCxnSpPr>
          <p:nvPr/>
        </p:nvCxnSpPr>
        <p:spPr>
          <a:xfrm>
            <a:off x="6365600" y="2479475"/>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340" name="Google Shape;340;p27"/>
          <p:cNvCxnSpPr>
            <a:stCxn id="292" idx="3"/>
            <a:endCxn id="329" idx="1"/>
          </p:cNvCxnSpPr>
          <p:nvPr/>
        </p:nvCxnSpPr>
        <p:spPr>
          <a:xfrm>
            <a:off x="7240100" y="2479475"/>
            <a:ext cx="318600" cy="15240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8"/>
          <p:cNvSpPr/>
          <p:nvPr/>
        </p:nvSpPr>
        <p:spPr>
          <a:xfrm>
            <a:off x="1874450" y="33881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cxnSp>
        <p:nvCxnSpPr>
          <p:cNvPr id="346" name="Google Shape;346;p28"/>
          <p:cNvCxnSpPr>
            <a:endCxn id="347" idx="1"/>
          </p:cNvCxnSpPr>
          <p:nvPr/>
        </p:nvCxnSpPr>
        <p:spPr>
          <a:xfrm>
            <a:off x="26615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48" name="Google Shape;348;p28"/>
          <p:cNvCxnSpPr>
            <a:endCxn id="349" idx="1"/>
          </p:cNvCxnSpPr>
          <p:nvPr/>
        </p:nvCxnSpPr>
        <p:spPr>
          <a:xfrm>
            <a:off x="28364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50" name="Google Shape;350;p28"/>
          <p:cNvCxnSpPr>
            <a:endCxn id="351" idx="1"/>
          </p:cNvCxnSpPr>
          <p:nvPr/>
        </p:nvCxnSpPr>
        <p:spPr>
          <a:xfrm>
            <a:off x="30113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52" name="Google Shape;352;p28"/>
          <p:cNvCxnSpPr>
            <a:endCxn id="353" idx="1"/>
          </p:cNvCxnSpPr>
          <p:nvPr/>
        </p:nvCxnSpPr>
        <p:spPr>
          <a:xfrm>
            <a:off x="31862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54" name="Google Shape;354;p28"/>
          <p:cNvCxnSpPr>
            <a:endCxn id="355" idx="1"/>
          </p:cNvCxnSpPr>
          <p:nvPr/>
        </p:nvCxnSpPr>
        <p:spPr>
          <a:xfrm>
            <a:off x="33611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56" name="Google Shape;356;p28"/>
          <p:cNvCxnSpPr>
            <a:endCxn id="357" idx="1"/>
          </p:cNvCxnSpPr>
          <p:nvPr/>
        </p:nvCxnSpPr>
        <p:spPr>
          <a:xfrm>
            <a:off x="24866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58" name="Google Shape;358;p28"/>
          <p:cNvCxnSpPr>
            <a:endCxn id="359" idx="1"/>
          </p:cNvCxnSpPr>
          <p:nvPr/>
        </p:nvCxnSpPr>
        <p:spPr>
          <a:xfrm>
            <a:off x="23117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60" name="Google Shape;360;p28"/>
          <p:cNvCxnSpPr>
            <a:endCxn id="361" idx="1"/>
          </p:cNvCxnSpPr>
          <p:nvPr/>
        </p:nvCxnSpPr>
        <p:spPr>
          <a:xfrm>
            <a:off x="21368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362" name="Google Shape;362;p28"/>
          <p:cNvCxnSpPr>
            <a:endCxn id="363" idx="1"/>
          </p:cNvCxnSpPr>
          <p:nvPr/>
        </p:nvCxnSpPr>
        <p:spPr>
          <a:xfrm>
            <a:off x="1961900" y="3697475"/>
            <a:ext cx="0" cy="306000"/>
          </a:xfrm>
          <a:prstGeom prst="straightConnector1">
            <a:avLst/>
          </a:prstGeom>
          <a:noFill/>
          <a:ln w="9525" cap="flat" cmpd="sng">
            <a:solidFill>
              <a:schemeClr val="dk2"/>
            </a:solidFill>
            <a:prstDash val="solid"/>
            <a:round/>
            <a:headEnd type="none" w="med" len="med"/>
            <a:tailEnd type="triangle" w="med" len="med"/>
          </a:ln>
        </p:spPr>
      </p:cxnSp>
      <p:sp>
        <p:nvSpPr>
          <p:cNvPr id="364" name="Google Shape;364;p2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Segments</a:t>
            </a:r>
            <a:endParaRPr/>
          </a:p>
        </p:txBody>
      </p:sp>
      <p:sp>
        <p:nvSpPr>
          <p:cNvPr id="365" name="Google Shape;365;p28"/>
          <p:cNvSpPr txBox="1">
            <a:spLocks noGrp="1"/>
          </p:cNvSpPr>
          <p:nvPr>
            <p:ph type="body" idx="1"/>
          </p:nvPr>
        </p:nvSpPr>
        <p:spPr>
          <a:xfrm>
            <a:off x="107050" y="402200"/>
            <a:ext cx="8909700" cy="1026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 segment is sent when the segment is full (max segment size),</a:t>
            </a:r>
            <a:endParaRPr/>
          </a:p>
          <a:p>
            <a:pPr marL="0" lvl="0" indent="0" algn="l" rtl="0">
              <a:spcBef>
                <a:spcPts val="600"/>
              </a:spcBef>
              <a:spcAft>
                <a:spcPts val="0"/>
              </a:spcAft>
              <a:buNone/>
            </a:pPr>
            <a:r>
              <a:rPr lang="en"/>
              <a:t>or when the segment is not full, but times out waiting for more data.</a:t>
            </a:r>
            <a:endParaRPr/>
          </a:p>
        </p:txBody>
      </p:sp>
      <p:sp>
        <p:nvSpPr>
          <p:cNvPr id="366" name="Google Shape;366;p28"/>
          <p:cNvSpPr/>
          <p:nvPr/>
        </p:nvSpPr>
        <p:spPr>
          <a:xfrm rot="5400000">
            <a:off x="1282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1</a:t>
            </a:r>
            <a:endParaRPr sz="1000">
              <a:latin typeface="Roboto"/>
              <a:ea typeface="Roboto"/>
              <a:cs typeface="Roboto"/>
              <a:sym typeface="Roboto"/>
            </a:endParaRPr>
          </a:p>
        </p:txBody>
      </p:sp>
      <p:sp>
        <p:nvSpPr>
          <p:cNvPr id="367" name="Google Shape;367;p28"/>
          <p:cNvSpPr/>
          <p:nvPr/>
        </p:nvSpPr>
        <p:spPr>
          <a:xfrm rot="5400000">
            <a:off x="1457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368" name="Google Shape;368;p28"/>
          <p:cNvSpPr/>
          <p:nvPr/>
        </p:nvSpPr>
        <p:spPr>
          <a:xfrm rot="5400000">
            <a:off x="1632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369" name="Google Shape;369;p28"/>
          <p:cNvSpPr/>
          <p:nvPr/>
        </p:nvSpPr>
        <p:spPr>
          <a:xfrm rot="5400000">
            <a:off x="1806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370" name="Google Shape;370;p28"/>
          <p:cNvSpPr/>
          <p:nvPr/>
        </p:nvSpPr>
        <p:spPr>
          <a:xfrm rot="5400000">
            <a:off x="1981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1" name="Google Shape;371;p28"/>
          <p:cNvSpPr/>
          <p:nvPr/>
        </p:nvSpPr>
        <p:spPr>
          <a:xfrm rot="5400000">
            <a:off x="2156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2" name="Google Shape;372;p28"/>
          <p:cNvSpPr/>
          <p:nvPr/>
        </p:nvSpPr>
        <p:spPr>
          <a:xfrm rot="5400000">
            <a:off x="2331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3" name="Google Shape;373;p28"/>
          <p:cNvSpPr/>
          <p:nvPr/>
        </p:nvSpPr>
        <p:spPr>
          <a:xfrm rot="5400000">
            <a:off x="2506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374" name="Google Shape;374;p28"/>
          <p:cNvSpPr/>
          <p:nvPr/>
        </p:nvSpPr>
        <p:spPr>
          <a:xfrm rot="5400000">
            <a:off x="2681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375" name="Google Shape;375;p28"/>
          <p:cNvSpPr/>
          <p:nvPr/>
        </p:nvSpPr>
        <p:spPr>
          <a:xfrm rot="5400000">
            <a:off x="2856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6" name="Google Shape;376;p28"/>
          <p:cNvSpPr/>
          <p:nvPr/>
        </p:nvSpPr>
        <p:spPr>
          <a:xfrm rot="5400000">
            <a:off x="3031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7" name="Google Shape;377;p28"/>
          <p:cNvSpPr/>
          <p:nvPr/>
        </p:nvSpPr>
        <p:spPr>
          <a:xfrm rot="5400000">
            <a:off x="3206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8" name="Google Shape;378;p28"/>
          <p:cNvSpPr/>
          <p:nvPr/>
        </p:nvSpPr>
        <p:spPr>
          <a:xfrm rot="5400000">
            <a:off x="3381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9" name="Google Shape;379;p28"/>
          <p:cNvSpPr/>
          <p:nvPr/>
        </p:nvSpPr>
        <p:spPr>
          <a:xfrm rot="5400000">
            <a:off x="3555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0" name="Google Shape;380;p28"/>
          <p:cNvSpPr/>
          <p:nvPr/>
        </p:nvSpPr>
        <p:spPr>
          <a:xfrm rot="5400000">
            <a:off x="3730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1" name="Google Shape;381;p28"/>
          <p:cNvSpPr/>
          <p:nvPr/>
        </p:nvSpPr>
        <p:spPr>
          <a:xfrm rot="5400000">
            <a:off x="3905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2" name="Google Shape;382;p28"/>
          <p:cNvSpPr/>
          <p:nvPr/>
        </p:nvSpPr>
        <p:spPr>
          <a:xfrm rot="5400000">
            <a:off x="4080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3" name="Google Shape;383;p28"/>
          <p:cNvSpPr/>
          <p:nvPr/>
        </p:nvSpPr>
        <p:spPr>
          <a:xfrm rot="5400000">
            <a:off x="4255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4" name="Google Shape;384;p28"/>
          <p:cNvSpPr/>
          <p:nvPr/>
        </p:nvSpPr>
        <p:spPr>
          <a:xfrm rot="5400000">
            <a:off x="4430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5" name="Google Shape;385;p28"/>
          <p:cNvSpPr/>
          <p:nvPr/>
        </p:nvSpPr>
        <p:spPr>
          <a:xfrm rot="5400000">
            <a:off x="4605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6" name="Google Shape;386;p28"/>
          <p:cNvSpPr/>
          <p:nvPr/>
        </p:nvSpPr>
        <p:spPr>
          <a:xfrm rot="5400000">
            <a:off x="4780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7" name="Google Shape;387;p28"/>
          <p:cNvSpPr/>
          <p:nvPr/>
        </p:nvSpPr>
        <p:spPr>
          <a:xfrm rot="5400000">
            <a:off x="4955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8" name="Google Shape;388;p28"/>
          <p:cNvSpPr/>
          <p:nvPr/>
        </p:nvSpPr>
        <p:spPr>
          <a:xfrm rot="5400000">
            <a:off x="5130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9" name="Google Shape;389;p28"/>
          <p:cNvSpPr/>
          <p:nvPr/>
        </p:nvSpPr>
        <p:spPr>
          <a:xfrm rot="5400000">
            <a:off x="5304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0" name="Google Shape;390;p28"/>
          <p:cNvSpPr/>
          <p:nvPr/>
        </p:nvSpPr>
        <p:spPr>
          <a:xfrm rot="5400000">
            <a:off x="5479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1" name="Google Shape;391;p28"/>
          <p:cNvSpPr/>
          <p:nvPr/>
        </p:nvSpPr>
        <p:spPr>
          <a:xfrm rot="5400000">
            <a:off x="5654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2" name="Google Shape;392;p28"/>
          <p:cNvSpPr/>
          <p:nvPr/>
        </p:nvSpPr>
        <p:spPr>
          <a:xfrm rot="5400000">
            <a:off x="5829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3" name="Google Shape;393;p28"/>
          <p:cNvSpPr/>
          <p:nvPr/>
        </p:nvSpPr>
        <p:spPr>
          <a:xfrm rot="5400000">
            <a:off x="6004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4" name="Google Shape;394;p28"/>
          <p:cNvSpPr/>
          <p:nvPr/>
        </p:nvSpPr>
        <p:spPr>
          <a:xfrm rot="5400000">
            <a:off x="6179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5" name="Google Shape;395;p28"/>
          <p:cNvSpPr/>
          <p:nvPr/>
        </p:nvSpPr>
        <p:spPr>
          <a:xfrm rot="5400000">
            <a:off x="6354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6" name="Google Shape;396;p28"/>
          <p:cNvSpPr/>
          <p:nvPr/>
        </p:nvSpPr>
        <p:spPr>
          <a:xfrm rot="5400000">
            <a:off x="6529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7" name="Google Shape;397;p28"/>
          <p:cNvSpPr/>
          <p:nvPr/>
        </p:nvSpPr>
        <p:spPr>
          <a:xfrm rot="5400000">
            <a:off x="6704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8" name="Google Shape;398;p28"/>
          <p:cNvSpPr/>
          <p:nvPr/>
        </p:nvSpPr>
        <p:spPr>
          <a:xfrm rot="5400000">
            <a:off x="6879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9" name="Google Shape;399;p28"/>
          <p:cNvSpPr/>
          <p:nvPr/>
        </p:nvSpPr>
        <p:spPr>
          <a:xfrm rot="5400000">
            <a:off x="70539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0" name="Google Shape;400;p28"/>
          <p:cNvSpPr/>
          <p:nvPr/>
        </p:nvSpPr>
        <p:spPr>
          <a:xfrm rot="5400000">
            <a:off x="72288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1" name="Google Shape;401;p28"/>
          <p:cNvSpPr/>
          <p:nvPr/>
        </p:nvSpPr>
        <p:spPr>
          <a:xfrm rot="5400000">
            <a:off x="74037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2" name="Google Shape;402;p28"/>
          <p:cNvSpPr txBox="1"/>
          <p:nvPr/>
        </p:nvSpPr>
        <p:spPr>
          <a:xfrm>
            <a:off x="1555850" y="14864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403" name="Google Shape;403;p28"/>
          <p:cNvSpPr/>
          <p:nvPr/>
        </p:nvSpPr>
        <p:spPr>
          <a:xfrm>
            <a:off x="1555850" y="27842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sp>
        <p:nvSpPr>
          <p:cNvPr id="363" name="Google Shape;363;p28"/>
          <p:cNvSpPr/>
          <p:nvPr/>
        </p:nvSpPr>
        <p:spPr>
          <a:xfrm rot="5400000">
            <a:off x="1600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1</a:t>
            </a:r>
            <a:endParaRPr sz="1000">
              <a:latin typeface="Roboto"/>
              <a:ea typeface="Roboto"/>
              <a:cs typeface="Roboto"/>
              <a:sym typeface="Roboto"/>
            </a:endParaRPr>
          </a:p>
        </p:txBody>
      </p:sp>
      <p:sp>
        <p:nvSpPr>
          <p:cNvPr id="361" name="Google Shape;361;p28"/>
          <p:cNvSpPr/>
          <p:nvPr/>
        </p:nvSpPr>
        <p:spPr>
          <a:xfrm rot="5400000">
            <a:off x="1775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359" name="Google Shape;359;p28"/>
          <p:cNvSpPr/>
          <p:nvPr/>
        </p:nvSpPr>
        <p:spPr>
          <a:xfrm rot="5400000">
            <a:off x="1950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357" name="Google Shape;357;p28"/>
          <p:cNvSpPr/>
          <p:nvPr/>
        </p:nvSpPr>
        <p:spPr>
          <a:xfrm rot="5400000">
            <a:off x="2125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347" name="Google Shape;347;p28"/>
          <p:cNvSpPr/>
          <p:nvPr/>
        </p:nvSpPr>
        <p:spPr>
          <a:xfrm rot="5400000">
            <a:off x="2300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49" name="Google Shape;349;p28"/>
          <p:cNvSpPr/>
          <p:nvPr/>
        </p:nvSpPr>
        <p:spPr>
          <a:xfrm rot="5400000">
            <a:off x="2475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51" name="Google Shape;351;p28"/>
          <p:cNvSpPr/>
          <p:nvPr/>
        </p:nvSpPr>
        <p:spPr>
          <a:xfrm rot="5400000">
            <a:off x="2650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53" name="Google Shape;353;p28"/>
          <p:cNvSpPr/>
          <p:nvPr/>
        </p:nvSpPr>
        <p:spPr>
          <a:xfrm rot="5400000">
            <a:off x="2825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355" name="Google Shape;355;p28"/>
          <p:cNvSpPr/>
          <p:nvPr/>
        </p:nvSpPr>
        <p:spPr>
          <a:xfrm rot="5400000">
            <a:off x="3000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404" name="Google Shape;404;p28"/>
          <p:cNvSpPr/>
          <p:nvPr/>
        </p:nvSpPr>
        <p:spPr>
          <a:xfrm rot="5400000">
            <a:off x="3174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5" name="Google Shape;405;p28"/>
          <p:cNvSpPr/>
          <p:nvPr/>
        </p:nvSpPr>
        <p:spPr>
          <a:xfrm rot="5400000">
            <a:off x="3349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6" name="Google Shape;406;p28"/>
          <p:cNvSpPr/>
          <p:nvPr/>
        </p:nvSpPr>
        <p:spPr>
          <a:xfrm rot="5400000">
            <a:off x="3524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7" name="Google Shape;407;p28"/>
          <p:cNvSpPr/>
          <p:nvPr/>
        </p:nvSpPr>
        <p:spPr>
          <a:xfrm rot="5400000">
            <a:off x="3699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8" name="Google Shape;408;p28"/>
          <p:cNvSpPr/>
          <p:nvPr/>
        </p:nvSpPr>
        <p:spPr>
          <a:xfrm rot="5400000">
            <a:off x="3874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9" name="Google Shape;409;p28"/>
          <p:cNvSpPr/>
          <p:nvPr/>
        </p:nvSpPr>
        <p:spPr>
          <a:xfrm rot="5400000">
            <a:off x="4049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0" name="Google Shape;410;p28"/>
          <p:cNvSpPr/>
          <p:nvPr/>
        </p:nvSpPr>
        <p:spPr>
          <a:xfrm rot="5400000">
            <a:off x="4224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1" name="Google Shape;411;p28"/>
          <p:cNvSpPr/>
          <p:nvPr/>
        </p:nvSpPr>
        <p:spPr>
          <a:xfrm rot="5400000">
            <a:off x="4399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2" name="Google Shape;412;p28"/>
          <p:cNvSpPr/>
          <p:nvPr/>
        </p:nvSpPr>
        <p:spPr>
          <a:xfrm rot="5400000">
            <a:off x="4574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3" name="Google Shape;413;p28"/>
          <p:cNvSpPr/>
          <p:nvPr/>
        </p:nvSpPr>
        <p:spPr>
          <a:xfrm rot="5400000">
            <a:off x="4749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4" name="Google Shape;414;p28"/>
          <p:cNvSpPr/>
          <p:nvPr/>
        </p:nvSpPr>
        <p:spPr>
          <a:xfrm rot="5400000">
            <a:off x="4923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5" name="Google Shape;415;p28"/>
          <p:cNvSpPr/>
          <p:nvPr/>
        </p:nvSpPr>
        <p:spPr>
          <a:xfrm rot="5400000">
            <a:off x="5098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6" name="Google Shape;416;p28"/>
          <p:cNvSpPr/>
          <p:nvPr/>
        </p:nvSpPr>
        <p:spPr>
          <a:xfrm rot="5400000">
            <a:off x="5273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7" name="Google Shape;417;p28"/>
          <p:cNvSpPr/>
          <p:nvPr/>
        </p:nvSpPr>
        <p:spPr>
          <a:xfrm rot="5400000">
            <a:off x="5448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8" name="Google Shape;418;p28"/>
          <p:cNvSpPr/>
          <p:nvPr/>
        </p:nvSpPr>
        <p:spPr>
          <a:xfrm rot="5400000">
            <a:off x="5623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9" name="Google Shape;419;p28"/>
          <p:cNvSpPr/>
          <p:nvPr/>
        </p:nvSpPr>
        <p:spPr>
          <a:xfrm rot="5400000">
            <a:off x="5798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0" name="Google Shape;420;p28"/>
          <p:cNvSpPr/>
          <p:nvPr/>
        </p:nvSpPr>
        <p:spPr>
          <a:xfrm rot="5400000">
            <a:off x="5973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1" name="Google Shape;421;p28"/>
          <p:cNvSpPr/>
          <p:nvPr/>
        </p:nvSpPr>
        <p:spPr>
          <a:xfrm rot="5400000">
            <a:off x="6148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2" name="Google Shape;422;p28"/>
          <p:cNvSpPr/>
          <p:nvPr/>
        </p:nvSpPr>
        <p:spPr>
          <a:xfrm rot="5400000">
            <a:off x="6323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3" name="Google Shape;423;p28"/>
          <p:cNvSpPr/>
          <p:nvPr/>
        </p:nvSpPr>
        <p:spPr>
          <a:xfrm rot="5400000">
            <a:off x="6498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4" name="Google Shape;424;p28"/>
          <p:cNvSpPr/>
          <p:nvPr/>
        </p:nvSpPr>
        <p:spPr>
          <a:xfrm rot="5400000">
            <a:off x="6672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5" name="Google Shape;425;p28"/>
          <p:cNvSpPr/>
          <p:nvPr/>
        </p:nvSpPr>
        <p:spPr>
          <a:xfrm rot="5400000">
            <a:off x="6847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6" name="Google Shape;426;p28"/>
          <p:cNvSpPr/>
          <p:nvPr/>
        </p:nvSpPr>
        <p:spPr>
          <a:xfrm rot="5400000">
            <a:off x="7022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7" name="Google Shape;427;p28"/>
          <p:cNvSpPr/>
          <p:nvPr/>
        </p:nvSpPr>
        <p:spPr>
          <a:xfrm rot="5400000">
            <a:off x="7197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8" name="Google Shape;428;p28"/>
          <p:cNvSpPr/>
          <p:nvPr/>
        </p:nvSpPr>
        <p:spPr>
          <a:xfrm rot="5400000">
            <a:off x="73725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9" name="Google Shape;429;p28"/>
          <p:cNvSpPr/>
          <p:nvPr/>
        </p:nvSpPr>
        <p:spPr>
          <a:xfrm rot="5400000">
            <a:off x="75474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30" name="Google Shape;430;p28"/>
          <p:cNvSpPr/>
          <p:nvPr/>
        </p:nvSpPr>
        <p:spPr>
          <a:xfrm rot="5400000">
            <a:off x="77223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31" name="Google Shape;431;p28"/>
          <p:cNvSpPr txBox="1"/>
          <p:nvPr/>
        </p:nvSpPr>
        <p:spPr>
          <a:xfrm>
            <a:off x="1874450" y="47255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432" name="Google Shape;432;p28"/>
          <p:cNvCxnSpPr>
            <a:stCxn id="370" idx="3"/>
            <a:endCxn id="403" idx="0"/>
          </p:cNvCxnSpPr>
          <p:nvPr/>
        </p:nvCxnSpPr>
        <p:spPr>
          <a:xfrm>
            <a:off x="23429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33" name="Google Shape;433;p28"/>
          <p:cNvCxnSpPr>
            <a:stCxn id="371" idx="3"/>
          </p:cNvCxnSpPr>
          <p:nvPr/>
        </p:nvCxnSpPr>
        <p:spPr>
          <a:xfrm>
            <a:off x="25178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34" name="Google Shape;434;p28"/>
          <p:cNvCxnSpPr>
            <a:stCxn id="372" idx="3"/>
          </p:cNvCxnSpPr>
          <p:nvPr/>
        </p:nvCxnSpPr>
        <p:spPr>
          <a:xfrm>
            <a:off x="26927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35" name="Google Shape;435;p28"/>
          <p:cNvCxnSpPr>
            <a:stCxn id="373" idx="3"/>
          </p:cNvCxnSpPr>
          <p:nvPr/>
        </p:nvCxnSpPr>
        <p:spPr>
          <a:xfrm>
            <a:off x="28676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36" name="Google Shape;436;p28"/>
          <p:cNvCxnSpPr>
            <a:stCxn id="374" idx="3"/>
          </p:cNvCxnSpPr>
          <p:nvPr/>
        </p:nvCxnSpPr>
        <p:spPr>
          <a:xfrm>
            <a:off x="30425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37" name="Google Shape;437;p28"/>
          <p:cNvCxnSpPr>
            <a:stCxn id="369" idx="3"/>
          </p:cNvCxnSpPr>
          <p:nvPr/>
        </p:nvCxnSpPr>
        <p:spPr>
          <a:xfrm>
            <a:off x="21680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38" name="Google Shape;438;p28"/>
          <p:cNvCxnSpPr>
            <a:stCxn id="368" idx="3"/>
          </p:cNvCxnSpPr>
          <p:nvPr/>
        </p:nvCxnSpPr>
        <p:spPr>
          <a:xfrm>
            <a:off x="19931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39" name="Google Shape;439;p28"/>
          <p:cNvCxnSpPr>
            <a:stCxn id="367" idx="3"/>
          </p:cNvCxnSpPr>
          <p:nvPr/>
        </p:nvCxnSpPr>
        <p:spPr>
          <a:xfrm>
            <a:off x="18182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40" name="Google Shape;440;p28"/>
          <p:cNvCxnSpPr>
            <a:stCxn id="366" idx="3"/>
          </p:cNvCxnSpPr>
          <p:nvPr/>
        </p:nvCxnSpPr>
        <p:spPr>
          <a:xfrm>
            <a:off x="16433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441" name="Google Shape;441;p28"/>
          <p:cNvCxnSpPr>
            <a:stCxn id="403" idx="2"/>
            <a:endCxn id="345" idx="0"/>
          </p:cNvCxnSpPr>
          <p:nvPr/>
        </p:nvCxnSpPr>
        <p:spPr>
          <a:xfrm>
            <a:off x="2342900" y="3094769"/>
            <a:ext cx="318600" cy="293400"/>
          </a:xfrm>
          <a:prstGeom prst="straightConnector1">
            <a:avLst/>
          </a:prstGeom>
          <a:noFill/>
          <a:ln w="9525" cap="flat" cmpd="sng">
            <a:solidFill>
              <a:schemeClr val="dk2"/>
            </a:solidFill>
            <a:prstDash val="solid"/>
            <a:round/>
            <a:headEnd type="none" w="med" len="med"/>
            <a:tailEnd type="triangle" w="med" len="med"/>
          </a:ln>
        </p:spPr>
      </p:cxnSp>
      <p:sp>
        <p:nvSpPr>
          <p:cNvPr id="442" name="Google Shape;442;p28"/>
          <p:cNvSpPr/>
          <p:nvPr/>
        </p:nvSpPr>
        <p:spPr>
          <a:xfrm>
            <a:off x="1122650" y="27842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443" name="Google Shape;443;p28"/>
          <p:cNvSpPr/>
          <p:nvPr/>
        </p:nvSpPr>
        <p:spPr>
          <a:xfrm>
            <a:off x="1441250" y="33881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444" name="Google Shape;444;p28"/>
          <p:cNvSpPr txBox="1"/>
          <p:nvPr/>
        </p:nvSpPr>
        <p:spPr>
          <a:xfrm>
            <a:off x="3654650" y="2825825"/>
            <a:ext cx="26976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6AA84F"/>
                </a:solidFill>
                <a:latin typeface="Roboto"/>
                <a:ea typeface="Roboto"/>
                <a:cs typeface="Roboto"/>
                <a:sym typeface="Roboto"/>
              </a:rPr>
              <a:t>TCP header carries a sequence number indicating where in the bytestream this segment fits.</a:t>
            </a:r>
            <a:endParaRPr>
              <a:solidFill>
                <a:srgbClr val="6AA84F"/>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2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Segments</a:t>
            </a:r>
            <a:endParaRPr/>
          </a:p>
        </p:txBody>
      </p:sp>
      <p:sp>
        <p:nvSpPr>
          <p:cNvPr id="450" name="Google Shape;450;p29"/>
          <p:cNvSpPr txBox="1">
            <a:spLocks noGrp="1"/>
          </p:cNvSpPr>
          <p:nvPr>
            <p:ph type="body" idx="1"/>
          </p:nvPr>
        </p:nvSpPr>
        <p:spPr>
          <a:xfrm>
            <a:off x="107050" y="402200"/>
            <a:ext cx="8909700" cy="2282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b="1"/>
              <a:t>TCP/IP packet</a:t>
            </a:r>
            <a:r>
              <a:rPr lang="en"/>
              <a:t>: IP packet with TCP header and TCP data inside.</a:t>
            </a:r>
            <a:endParaRPr/>
          </a:p>
          <a:p>
            <a:pPr marL="0" lvl="0" indent="0" algn="l" rtl="0">
              <a:spcBef>
                <a:spcPts val="600"/>
              </a:spcBef>
              <a:spcAft>
                <a:spcPts val="0"/>
              </a:spcAft>
              <a:buNone/>
            </a:pPr>
            <a:r>
              <a:rPr lang="en"/>
              <a:t>Size limits:</a:t>
            </a:r>
            <a:endParaRPr/>
          </a:p>
          <a:p>
            <a:pPr marL="457200" lvl="0" indent="-342900" algn="l" rtl="0">
              <a:spcBef>
                <a:spcPts val="600"/>
              </a:spcBef>
              <a:spcAft>
                <a:spcPts val="0"/>
              </a:spcAft>
              <a:buSzPts val="1800"/>
              <a:buChar char="●"/>
            </a:pPr>
            <a:r>
              <a:rPr lang="en"/>
              <a:t>IP packet: Maximum transmission unit (MTU).</a:t>
            </a:r>
            <a:endParaRPr/>
          </a:p>
          <a:p>
            <a:pPr marL="457200" lvl="0" indent="-342900" algn="l" rtl="0">
              <a:spcBef>
                <a:spcPts val="0"/>
              </a:spcBef>
              <a:spcAft>
                <a:spcPts val="0"/>
              </a:spcAft>
              <a:buSzPts val="1800"/>
              <a:buChar char="●"/>
            </a:pPr>
            <a:r>
              <a:rPr lang="en"/>
              <a:t>TCP segment: Maximum segment size (MSS).</a:t>
            </a:r>
            <a:endParaRPr/>
          </a:p>
          <a:p>
            <a:pPr marL="457200" lvl="0" indent="-342900" algn="l" rtl="0">
              <a:spcBef>
                <a:spcPts val="0"/>
              </a:spcBef>
              <a:spcAft>
                <a:spcPts val="0"/>
              </a:spcAft>
              <a:buSzPts val="1800"/>
              <a:buChar char="●"/>
            </a:pPr>
            <a:r>
              <a:rPr lang="en"/>
              <a:t>MSS = MTU – (IP header) – (TCP header).</a:t>
            </a:r>
            <a:endParaRPr/>
          </a:p>
          <a:p>
            <a:pPr marL="0" lvl="0" indent="0" algn="l" rtl="0">
              <a:spcBef>
                <a:spcPts val="600"/>
              </a:spcBef>
              <a:spcAft>
                <a:spcPts val="0"/>
              </a:spcAft>
              <a:buNone/>
            </a:pPr>
            <a:endParaRPr/>
          </a:p>
        </p:txBody>
      </p:sp>
      <p:sp>
        <p:nvSpPr>
          <p:cNvPr id="451" name="Google Shape;451;p29"/>
          <p:cNvSpPr/>
          <p:nvPr/>
        </p:nvSpPr>
        <p:spPr>
          <a:xfrm>
            <a:off x="3241750" y="3656050"/>
            <a:ext cx="1152000" cy="739200"/>
          </a:xfrm>
          <a:prstGeom prst="rect">
            <a:avLst/>
          </a:prstGeom>
          <a:solidFill>
            <a:srgbClr val="B6D7A8"/>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Header</a:t>
            </a:r>
            <a:endParaRPr>
              <a:latin typeface="Roboto"/>
              <a:ea typeface="Roboto"/>
              <a:cs typeface="Roboto"/>
              <a:sym typeface="Roboto"/>
            </a:endParaRPr>
          </a:p>
        </p:txBody>
      </p:sp>
      <p:sp>
        <p:nvSpPr>
          <p:cNvPr id="452" name="Google Shape;452;p29"/>
          <p:cNvSpPr/>
          <p:nvPr/>
        </p:nvSpPr>
        <p:spPr>
          <a:xfrm>
            <a:off x="4393750" y="3656050"/>
            <a:ext cx="2640300" cy="739200"/>
          </a:xfrm>
          <a:prstGeom prst="rect">
            <a:avLst/>
          </a:prstGeom>
          <a:solidFill>
            <a:srgbClr val="9FC5E8"/>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Payload (Segment)</a:t>
            </a:r>
            <a:endParaRPr>
              <a:latin typeface="Roboto"/>
              <a:ea typeface="Roboto"/>
              <a:cs typeface="Roboto"/>
              <a:sym typeface="Roboto"/>
            </a:endParaRPr>
          </a:p>
        </p:txBody>
      </p:sp>
      <p:sp>
        <p:nvSpPr>
          <p:cNvPr id="453" name="Google Shape;453;p29"/>
          <p:cNvSpPr/>
          <p:nvPr/>
        </p:nvSpPr>
        <p:spPr>
          <a:xfrm>
            <a:off x="2089750" y="3656050"/>
            <a:ext cx="1152000" cy="739200"/>
          </a:xfrm>
          <a:prstGeom prst="rect">
            <a:avLst/>
          </a:prstGeom>
          <a:solidFill>
            <a:srgbClr val="F9CB9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IP Header</a:t>
            </a:r>
            <a:endParaRPr>
              <a:latin typeface="Roboto"/>
              <a:ea typeface="Roboto"/>
              <a:cs typeface="Roboto"/>
              <a:sym typeface="Roboto"/>
            </a:endParaRPr>
          </a:p>
        </p:txBody>
      </p:sp>
      <p:grpSp>
        <p:nvGrpSpPr>
          <p:cNvPr id="454" name="Google Shape;454;p29"/>
          <p:cNvGrpSpPr/>
          <p:nvPr/>
        </p:nvGrpSpPr>
        <p:grpSpPr>
          <a:xfrm>
            <a:off x="3241750" y="4504600"/>
            <a:ext cx="3792300" cy="261300"/>
            <a:chOff x="3241750" y="4504600"/>
            <a:chExt cx="3792300" cy="261300"/>
          </a:xfrm>
        </p:grpSpPr>
        <p:cxnSp>
          <p:nvCxnSpPr>
            <p:cNvPr id="455" name="Google Shape;455;p29"/>
            <p:cNvCxnSpPr/>
            <p:nvPr/>
          </p:nvCxnSpPr>
          <p:spPr>
            <a:xfrm>
              <a:off x="3241750" y="4635250"/>
              <a:ext cx="3792300" cy="0"/>
            </a:xfrm>
            <a:prstGeom prst="straightConnector1">
              <a:avLst/>
            </a:prstGeom>
            <a:noFill/>
            <a:ln w="9525" cap="flat" cmpd="sng">
              <a:solidFill>
                <a:schemeClr val="accent2"/>
              </a:solidFill>
              <a:prstDash val="solid"/>
              <a:round/>
              <a:headEnd type="triangle" w="med" len="med"/>
              <a:tailEnd type="triangle" w="med" len="med"/>
            </a:ln>
          </p:spPr>
        </p:cxnSp>
        <p:sp>
          <p:nvSpPr>
            <p:cNvPr id="456" name="Google Shape;456;p29"/>
            <p:cNvSpPr txBox="1"/>
            <p:nvPr/>
          </p:nvSpPr>
          <p:spPr>
            <a:xfrm>
              <a:off x="4681600" y="4504600"/>
              <a:ext cx="9126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IP Payload</a:t>
              </a:r>
              <a:endParaRPr>
                <a:solidFill>
                  <a:schemeClr val="accent2"/>
                </a:solidFill>
                <a:latin typeface="Roboto"/>
                <a:ea typeface="Roboto"/>
                <a:cs typeface="Roboto"/>
                <a:sym typeface="Roboto"/>
              </a:endParaRPr>
            </a:p>
          </p:txBody>
        </p:sp>
      </p:grpSp>
      <p:grpSp>
        <p:nvGrpSpPr>
          <p:cNvPr id="457" name="Google Shape;457;p29"/>
          <p:cNvGrpSpPr/>
          <p:nvPr/>
        </p:nvGrpSpPr>
        <p:grpSpPr>
          <a:xfrm>
            <a:off x="2089750" y="2980600"/>
            <a:ext cx="4944300" cy="261300"/>
            <a:chOff x="2089750" y="2980600"/>
            <a:chExt cx="4944300" cy="261300"/>
          </a:xfrm>
        </p:grpSpPr>
        <p:cxnSp>
          <p:nvCxnSpPr>
            <p:cNvPr id="458" name="Google Shape;458;p29"/>
            <p:cNvCxnSpPr/>
            <p:nvPr/>
          </p:nvCxnSpPr>
          <p:spPr>
            <a:xfrm>
              <a:off x="2089750" y="3111250"/>
              <a:ext cx="4944300" cy="0"/>
            </a:xfrm>
            <a:prstGeom prst="straightConnector1">
              <a:avLst/>
            </a:prstGeom>
            <a:noFill/>
            <a:ln w="9525" cap="flat" cmpd="sng">
              <a:solidFill>
                <a:schemeClr val="accent2"/>
              </a:solidFill>
              <a:prstDash val="solid"/>
              <a:round/>
              <a:headEnd type="triangle" w="med" len="med"/>
              <a:tailEnd type="triangle" w="med" len="med"/>
            </a:ln>
          </p:spPr>
        </p:cxnSp>
        <p:sp>
          <p:nvSpPr>
            <p:cNvPr id="459" name="Google Shape;459;p29"/>
            <p:cNvSpPr txBox="1"/>
            <p:nvPr/>
          </p:nvSpPr>
          <p:spPr>
            <a:xfrm>
              <a:off x="3891002" y="2980600"/>
              <a:ext cx="1362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Limit </a:t>
              </a:r>
              <a:r>
                <a:rPr lang="en" i="1">
                  <a:solidFill>
                    <a:schemeClr val="accent2"/>
                  </a:solidFill>
                  <a:latin typeface="Roboto"/>
                  <a:ea typeface="Roboto"/>
                  <a:cs typeface="Roboto"/>
                  <a:sym typeface="Roboto"/>
                </a:rPr>
                <a:t>MTU</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grpSp>
        <p:nvGrpSpPr>
          <p:cNvPr id="460" name="Google Shape;460;p29"/>
          <p:cNvGrpSpPr/>
          <p:nvPr/>
        </p:nvGrpSpPr>
        <p:grpSpPr>
          <a:xfrm>
            <a:off x="4393750" y="3285400"/>
            <a:ext cx="2640300" cy="261300"/>
            <a:chOff x="4393750" y="3285400"/>
            <a:chExt cx="2640300" cy="261300"/>
          </a:xfrm>
        </p:grpSpPr>
        <p:cxnSp>
          <p:nvCxnSpPr>
            <p:cNvPr id="461" name="Google Shape;461;p29"/>
            <p:cNvCxnSpPr/>
            <p:nvPr/>
          </p:nvCxnSpPr>
          <p:spPr>
            <a:xfrm>
              <a:off x="4393750" y="3416050"/>
              <a:ext cx="2640300" cy="0"/>
            </a:xfrm>
            <a:prstGeom prst="straightConnector1">
              <a:avLst/>
            </a:prstGeom>
            <a:noFill/>
            <a:ln w="9525" cap="flat" cmpd="sng">
              <a:solidFill>
                <a:schemeClr val="accent2"/>
              </a:solidFill>
              <a:prstDash val="solid"/>
              <a:round/>
              <a:headEnd type="triangle" w="med" len="med"/>
              <a:tailEnd type="triangle" w="med" len="med"/>
            </a:ln>
          </p:spPr>
        </p:cxnSp>
        <p:sp>
          <p:nvSpPr>
            <p:cNvPr id="462" name="Google Shape;462;p29"/>
            <p:cNvSpPr txBox="1"/>
            <p:nvPr/>
          </p:nvSpPr>
          <p:spPr>
            <a:xfrm>
              <a:off x="5032902" y="3285400"/>
              <a:ext cx="1362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Limit </a:t>
              </a:r>
              <a:r>
                <a:rPr lang="en" i="1">
                  <a:solidFill>
                    <a:schemeClr val="accent2"/>
                  </a:solidFill>
                  <a:latin typeface="Roboto"/>
                  <a:ea typeface="Roboto"/>
                  <a:cs typeface="Roboto"/>
                  <a:sym typeface="Roboto"/>
                </a:rPr>
                <a:t>MSS</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3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Sequence Numbers</a:t>
            </a:r>
            <a:endParaRPr/>
          </a:p>
        </p:txBody>
      </p:sp>
      <p:sp>
        <p:nvSpPr>
          <p:cNvPr id="468" name="Google Shape;468;p30"/>
          <p:cNvSpPr txBox="1">
            <a:spLocks noGrp="1"/>
          </p:cNvSpPr>
          <p:nvPr>
            <p:ph type="body" idx="1"/>
          </p:nvPr>
        </p:nvSpPr>
        <p:spPr>
          <a:xfrm>
            <a:off x="107050" y="402200"/>
            <a:ext cx="8909700" cy="1355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Numbering starts at a randomly-generated </a:t>
            </a:r>
            <a:r>
              <a:rPr lang="en" b="1"/>
              <a:t>Initial Sequence Number</a:t>
            </a:r>
            <a:r>
              <a:rPr lang="en"/>
              <a:t> (ISN).</a:t>
            </a:r>
            <a:endParaRPr/>
          </a:p>
          <a:p>
            <a:pPr marL="457200" lvl="0" indent="-342900" algn="l" rtl="0">
              <a:spcBef>
                <a:spcPts val="600"/>
              </a:spcBef>
              <a:spcAft>
                <a:spcPts val="0"/>
              </a:spcAft>
              <a:buSzPts val="1800"/>
              <a:buChar char="●"/>
            </a:pPr>
            <a:r>
              <a:rPr lang="en"/>
              <a:t>First byte is </a:t>
            </a:r>
            <a:r>
              <a:rPr lang="en" i="1"/>
              <a:t>ISN</a:t>
            </a:r>
            <a:r>
              <a:rPr lang="en"/>
              <a:t>+1, then </a:t>
            </a:r>
            <a:r>
              <a:rPr lang="en" i="1"/>
              <a:t>ISN</a:t>
            </a:r>
            <a:r>
              <a:rPr lang="en"/>
              <a:t>+2, etc.</a:t>
            </a:r>
            <a:endParaRPr/>
          </a:p>
          <a:p>
            <a:pPr marL="457200" lvl="0" indent="-342900" algn="l" rtl="0">
              <a:spcBef>
                <a:spcPts val="0"/>
              </a:spcBef>
              <a:spcAft>
                <a:spcPts val="0"/>
              </a:spcAft>
              <a:buSzPts val="1800"/>
              <a:buChar char="●"/>
            </a:pPr>
            <a:r>
              <a:rPr lang="en"/>
              <a:t>Starting at a randomly-chosen ISN is very important for security!</a:t>
            </a:r>
            <a:endParaRPr/>
          </a:p>
        </p:txBody>
      </p:sp>
      <p:sp>
        <p:nvSpPr>
          <p:cNvPr id="469" name="Google Shape;469;p30"/>
          <p:cNvSpPr/>
          <p:nvPr/>
        </p:nvSpPr>
        <p:spPr>
          <a:xfrm rot="5400000">
            <a:off x="1282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2"/>
                </a:solidFill>
                <a:latin typeface="Roboto"/>
                <a:ea typeface="Roboto"/>
                <a:cs typeface="Roboto"/>
                <a:sym typeface="Roboto"/>
              </a:rPr>
              <a:t>ISN </a:t>
            </a:r>
            <a:r>
              <a:rPr lang="en" sz="1000">
                <a:latin typeface="Roboto"/>
                <a:ea typeface="Roboto"/>
                <a:cs typeface="Roboto"/>
                <a:sym typeface="Roboto"/>
              </a:rPr>
              <a:t>+ 1</a:t>
            </a:r>
            <a:endParaRPr sz="1000">
              <a:latin typeface="Roboto"/>
              <a:ea typeface="Roboto"/>
              <a:cs typeface="Roboto"/>
              <a:sym typeface="Roboto"/>
            </a:endParaRPr>
          </a:p>
        </p:txBody>
      </p:sp>
      <p:sp>
        <p:nvSpPr>
          <p:cNvPr id="470" name="Google Shape;470;p30"/>
          <p:cNvSpPr/>
          <p:nvPr/>
        </p:nvSpPr>
        <p:spPr>
          <a:xfrm rot="5400000">
            <a:off x="1457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+ 2</a:t>
            </a:r>
            <a:endParaRPr sz="1000">
              <a:latin typeface="Roboto"/>
              <a:ea typeface="Roboto"/>
              <a:cs typeface="Roboto"/>
              <a:sym typeface="Roboto"/>
            </a:endParaRPr>
          </a:p>
        </p:txBody>
      </p:sp>
      <p:sp>
        <p:nvSpPr>
          <p:cNvPr id="471" name="Google Shape;471;p30"/>
          <p:cNvSpPr/>
          <p:nvPr/>
        </p:nvSpPr>
        <p:spPr>
          <a:xfrm rot="5400000">
            <a:off x="1632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+ 3</a:t>
            </a:r>
            <a:endParaRPr sz="1000">
              <a:latin typeface="Roboto"/>
              <a:ea typeface="Roboto"/>
              <a:cs typeface="Roboto"/>
              <a:sym typeface="Roboto"/>
            </a:endParaRPr>
          </a:p>
        </p:txBody>
      </p:sp>
      <p:sp>
        <p:nvSpPr>
          <p:cNvPr id="472" name="Google Shape;472;p30"/>
          <p:cNvSpPr/>
          <p:nvPr/>
        </p:nvSpPr>
        <p:spPr>
          <a:xfrm rot="5400000">
            <a:off x="1806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+ 4</a:t>
            </a:r>
            <a:endParaRPr sz="1000">
              <a:latin typeface="Roboto"/>
              <a:ea typeface="Roboto"/>
              <a:cs typeface="Roboto"/>
              <a:sym typeface="Roboto"/>
            </a:endParaRPr>
          </a:p>
        </p:txBody>
      </p:sp>
      <p:sp>
        <p:nvSpPr>
          <p:cNvPr id="473" name="Google Shape;473;p30"/>
          <p:cNvSpPr/>
          <p:nvPr/>
        </p:nvSpPr>
        <p:spPr>
          <a:xfrm rot="5400000">
            <a:off x="1981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4" name="Google Shape;474;p30"/>
          <p:cNvSpPr/>
          <p:nvPr/>
        </p:nvSpPr>
        <p:spPr>
          <a:xfrm rot="5400000">
            <a:off x="2156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5" name="Google Shape;475;p30"/>
          <p:cNvSpPr/>
          <p:nvPr/>
        </p:nvSpPr>
        <p:spPr>
          <a:xfrm rot="5400000">
            <a:off x="2331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6" name="Google Shape;476;p30"/>
          <p:cNvSpPr/>
          <p:nvPr/>
        </p:nvSpPr>
        <p:spPr>
          <a:xfrm rot="5400000">
            <a:off x="2506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+ 79</a:t>
            </a:r>
            <a:endParaRPr sz="1000">
              <a:latin typeface="Roboto"/>
              <a:ea typeface="Roboto"/>
              <a:cs typeface="Roboto"/>
              <a:sym typeface="Roboto"/>
            </a:endParaRPr>
          </a:p>
        </p:txBody>
      </p:sp>
      <p:sp>
        <p:nvSpPr>
          <p:cNvPr id="477" name="Google Shape;477;p30"/>
          <p:cNvSpPr/>
          <p:nvPr/>
        </p:nvSpPr>
        <p:spPr>
          <a:xfrm rot="5400000">
            <a:off x="2681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+ 80</a:t>
            </a:r>
            <a:endParaRPr sz="1000">
              <a:latin typeface="Roboto"/>
              <a:ea typeface="Roboto"/>
              <a:cs typeface="Roboto"/>
              <a:sym typeface="Roboto"/>
            </a:endParaRPr>
          </a:p>
        </p:txBody>
      </p:sp>
      <p:sp>
        <p:nvSpPr>
          <p:cNvPr id="478" name="Google Shape;478;p30"/>
          <p:cNvSpPr/>
          <p:nvPr/>
        </p:nvSpPr>
        <p:spPr>
          <a:xfrm rot="5400000">
            <a:off x="2856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9" name="Google Shape;479;p30"/>
          <p:cNvSpPr/>
          <p:nvPr/>
        </p:nvSpPr>
        <p:spPr>
          <a:xfrm rot="5400000">
            <a:off x="3031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0" name="Google Shape;480;p30"/>
          <p:cNvSpPr/>
          <p:nvPr/>
        </p:nvSpPr>
        <p:spPr>
          <a:xfrm rot="5400000">
            <a:off x="3206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1" name="Google Shape;481;p30"/>
          <p:cNvSpPr/>
          <p:nvPr/>
        </p:nvSpPr>
        <p:spPr>
          <a:xfrm rot="5400000">
            <a:off x="3381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2" name="Google Shape;482;p30"/>
          <p:cNvSpPr/>
          <p:nvPr/>
        </p:nvSpPr>
        <p:spPr>
          <a:xfrm rot="5400000">
            <a:off x="3555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3" name="Google Shape;483;p30"/>
          <p:cNvSpPr/>
          <p:nvPr/>
        </p:nvSpPr>
        <p:spPr>
          <a:xfrm rot="5400000">
            <a:off x="3730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4" name="Google Shape;484;p30"/>
          <p:cNvSpPr/>
          <p:nvPr/>
        </p:nvSpPr>
        <p:spPr>
          <a:xfrm rot="5400000">
            <a:off x="3905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5" name="Google Shape;485;p30"/>
          <p:cNvSpPr/>
          <p:nvPr/>
        </p:nvSpPr>
        <p:spPr>
          <a:xfrm rot="5400000">
            <a:off x="4080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6" name="Google Shape;486;p30"/>
          <p:cNvSpPr/>
          <p:nvPr/>
        </p:nvSpPr>
        <p:spPr>
          <a:xfrm rot="5400000">
            <a:off x="4255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7" name="Google Shape;487;p30"/>
          <p:cNvSpPr/>
          <p:nvPr/>
        </p:nvSpPr>
        <p:spPr>
          <a:xfrm rot="5400000">
            <a:off x="4430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8" name="Google Shape;488;p30"/>
          <p:cNvSpPr/>
          <p:nvPr/>
        </p:nvSpPr>
        <p:spPr>
          <a:xfrm rot="5400000">
            <a:off x="4605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9" name="Google Shape;489;p30"/>
          <p:cNvSpPr/>
          <p:nvPr/>
        </p:nvSpPr>
        <p:spPr>
          <a:xfrm rot="5400000">
            <a:off x="4780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0" name="Google Shape;490;p30"/>
          <p:cNvSpPr/>
          <p:nvPr/>
        </p:nvSpPr>
        <p:spPr>
          <a:xfrm rot="5400000">
            <a:off x="4955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1" name="Google Shape;491;p30"/>
          <p:cNvSpPr/>
          <p:nvPr/>
        </p:nvSpPr>
        <p:spPr>
          <a:xfrm rot="5400000">
            <a:off x="5130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2" name="Google Shape;492;p30"/>
          <p:cNvSpPr/>
          <p:nvPr/>
        </p:nvSpPr>
        <p:spPr>
          <a:xfrm rot="5400000">
            <a:off x="5304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3" name="Google Shape;493;p30"/>
          <p:cNvSpPr/>
          <p:nvPr/>
        </p:nvSpPr>
        <p:spPr>
          <a:xfrm rot="5400000">
            <a:off x="5479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4" name="Google Shape;494;p30"/>
          <p:cNvSpPr/>
          <p:nvPr/>
        </p:nvSpPr>
        <p:spPr>
          <a:xfrm rot="5400000">
            <a:off x="5654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5" name="Google Shape;495;p30"/>
          <p:cNvSpPr/>
          <p:nvPr/>
        </p:nvSpPr>
        <p:spPr>
          <a:xfrm rot="5400000">
            <a:off x="5829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6" name="Google Shape;496;p30"/>
          <p:cNvSpPr/>
          <p:nvPr/>
        </p:nvSpPr>
        <p:spPr>
          <a:xfrm rot="5400000">
            <a:off x="6004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7" name="Google Shape;497;p30"/>
          <p:cNvSpPr/>
          <p:nvPr/>
        </p:nvSpPr>
        <p:spPr>
          <a:xfrm rot="5400000">
            <a:off x="6179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8" name="Google Shape;498;p30"/>
          <p:cNvSpPr/>
          <p:nvPr/>
        </p:nvSpPr>
        <p:spPr>
          <a:xfrm rot="5400000">
            <a:off x="6354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9" name="Google Shape;499;p30"/>
          <p:cNvSpPr/>
          <p:nvPr/>
        </p:nvSpPr>
        <p:spPr>
          <a:xfrm rot="5400000">
            <a:off x="6529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0" name="Google Shape;500;p30"/>
          <p:cNvSpPr/>
          <p:nvPr/>
        </p:nvSpPr>
        <p:spPr>
          <a:xfrm rot="5400000">
            <a:off x="6704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1" name="Google Shape;501;p30"/>
          <p:cNvSpPr/>
          <p:nvPr/>
        </p:nvSpPr>
        <p:spPr>
          <a:xfrm rot="5400000">
            <a:off x="6879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2" name="Google Shape;502;p30"/>
          <p:cNvSpPr/>
          <p:nvPr/>
        </p:nvSpPr>
        <p:spPr>
          <a:xfrm rot="5400000">
            <a:off x="70539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3" name="Google Shape;503;p30"/>
          <p:cNvSpPr/>
          <p:nvPr/>
        </p:nvSpPr>
        <p:spPr>
          <a:xfrm rot="5400000">
            <a:off x="72288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4" name="Google Shape;504;p30"/>
          <p:cNvSpPr/>
          <p:nvPr/>
        </p:nvSpPr>
        <p:spPr>
          <a:xfrm rot="5400000">
            <a:off x="74037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5" name="Google Shape;505;p30"/>
          <p:cNvSpPr/>
          <p:nvPr/>
        </p:nvSpPr>
        <p:spPr>
          <a:xfrm rot="5400000">
            <a:off x="1600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+ 1</a:t>
            </a:r>
            <a:endParaRPr sz="1000">
              <a:latin typeface="Roboto"/>
              <a:ea typeface="Roboto"/>
              <a:cs typeface="Roboto"/>
              <a:sym typeface="Roboto"/>
            </a:endParaRPr>
          </a:p>
        </p:txBody>
      </p:sp>
      <p:sp>
        <p:nvSpPr>
          <p:cNvPr id="506" name="Google Shape;506;p30"/>
          <p:cNvSpPr/>
          <p:nvPr/>
        </p:nvSpPr>
        <p:spPr>
          <a:xfrm rot="5400000">
            <a:off x="1775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+ 2</a:t>
            </a:r>
            <a:endParaRPr sz="1000">
              <a:latin typeface="Roboto"/>
              <a:ea typeface="Roboto"/>
              <a:cs typeface="Roboto"/>
              <a:sym typeface="Roboto"/>
            </a:endParaRPr>
          </a:p>
        </p:txBody>
      </p:sp>
      <p:sp>
        <p:nvSpPr>
          <p:cNvPr id="507" name="Google Shape;507;p30"/>
          <p:cNvSpPr/>
          <p:nvPr/>
        </p:nvSpPr>
        <p:spPr>
          <a:xfrm rot="5400000">
            <a:off x="1950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+ 3</a:t>
            </a:r>
            <a:endParaRPr sz="1000">
              <a:latin typeface="Roboto"/>
              <a:ea typeface="Roboto"/>
              <a:cs typeface="Roboto"/>
              <a:sym typeface="Roboto"/>
            </a:endParaRPr>
          </a:p>
        </p:txBody>
      </p:sp>
      <p:sp>
        <p:nvSpPr>
          <p:cNvPr id="508" name="Google Shape;508;p30"/>
          <p:cNvSpPr/>
          <p:nvPr/>
        </p:nvSpPr>
        <p:spPr>
          <a:xfrm rot="5400000">
            <a:off x="2125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+ 4</a:t>
            </a:r>
            <a:endParaRPr sz="1000">
              <a:latin typeface="Roboto"/>
              <a:ea typeface="Roboto"/>
              <a:cs typeface="Roboto"/>
              <a:sym typeface="Roboto"/>
            </a:endParaRPr>
          </a:p>
        </p:txBody>
      </p:sp>
      <p:sp>
        <p:nvSpPr>
          <p:cNvPr id="509" name="Google Shape;509;p30"/>
          <p:cNvSpPr/>
          <p:nvPr/>
        </p:nvSpPr>
        <p:spPr>
          <a:xfrm rot="5400000">
            <a:off x="2300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0" name="Google Shape;510;p30"/>
          <p:cNvSpPr/>
          <p:nvPr/>
        </p:nvSpPr>
        <p:spPr>
          <a:xfrm rot="5400000">
            <a:off x="2475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1" name="Google Shape;511;p30"/>
          <p:cNvSpPr/>
          <p:nvPr/>
        </p:nvSpPr>
        <p:spPr>
          <a:xfrm rot="5400000">
            <a:off x="2650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2" name="Google Shape;512;p30"/>
          <p:cNvSpPr/>
          <p:nvPr/>
        </p:nvSpPr>
        <p:spPr>
          <a:xfrm rot="5400000">
            <a:off x="2825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+ 79</a:t>
            </a:r>
            <a:endParaRPr sz="1000">
              <a:latin typeface="Roboto"/>
              <a:ea typeface="Roboto"/>
              <a:cs typeface="Roboto"/>
              <a:sym typeface="Roboto"/>
            </a:endParaRPr>
          </a:p>
        </p:txBody>
      </p:sp>
      <p:sp>
        <p:nvSpPr>
          <p:cNvPr id="513" name="Google Shape;513;p30"/>
          <p:cNvSpPr/>
          <p:nvPr/>
        </p:nvSpPr>
        <p:spPr>
          <a:xfrm rot="5400000">
            <a:off x="3000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accent2"/>
                </a:solidFill>
                <a:latin typeface="Roboto"/>
                <a:ea typeface="Roboto"/>
                <a:cs typeface="Roboto"/>
                <a:sym typeface="Roboto"/>
              </a:rPr>
              <a:t>ISN </a:t>
            </a:r>
            <a:r>
              <a:rPr lang="en" sz="1000">
                <a:solidFill>
                  <a:schemeClr val="dk1"/>
                </a:solidFill>
                <a:latin typeface="Roboto"/>
                <a:ea typeface="Roboto"/>
                <a:cs typeface="Roboto"/>
                <a:sym typeface="Roboto"/>
              </a:rPr>
              <a:t>+ 80</a:t>
            </a:r>
            <a:endParaRPr sz="1000">
              <a:latin typeface="Roboto"/>
              <a:ea typeface="Roboto"/>
              <a:cs typeface="Roboto"/>
              <a:sym typeface="Roboto"/>
            </a:endParaRPr>
          </a:p>
        </p:txBody>
      </p:sp>
      <p:sp>
        <p:nvSpPr>
          <p:cNvPr id="514" name="Google Shape;514;p30"/>
          <p:cNvSpPr/>
          <p:nvPr/>
        </p:nvSpPr>
        <p:spPr>
          <a:xfrm rot="5400000">
            <a:off x="3174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5" name="Google Shape;515;p30"/>
          <p:cNvSpPr/>
          <p:nvPr/>
        </p:nvSpPr>
        <p:spPr>
          <a:xfrm rot="5400000">
            <a:off x="3349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6" name="Google Shape;516;p30"/>
          <p:cNvSpPr/>
          <p:nvPr/>
        </p:nvSpPr>
        <p:spPr>
          <a:xfrm rot="5400000">
            <a:off x="3524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7" name="Google Shape;517;p30"/>
          <p:cNvSpPr/>
          <p:nvPr/>
        </p:nvSpPr>
        <p:spPr>
          <a:xfrm rot="5400000">
            <a:off x="3699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8" name="Google Shape;518;p30"/>
          <p:cNvSpPr/>
          <p:nvPr/>
        </p:nvSpPr>
        <p:spPr>
          <a:xfrm rot="5400000">
            <a:off x="3874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9" name="Google Shape;519;p30"/>
          <p:cNvSpPr/>
          <p:nvPr/>
        </p:nvSpPr>
        <p:spPr>
          <a:xfrm rot="5400000">
            <a:off x="4049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0" name="Google Shape;520;p30"/>
          <p:cNvSpPr/>
          <p:nvPr/>
        </p:nvSpPr>
        <p:spPr>
          <a:xfrm rot="5400000">
            <a:off x="4224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1" name="Google Shape;521;p30"/>
          <p:cNvSpPr/>
          <p:nvPr/>
        </p:nvSpPr>
        <p:spPr>
          <a:xfrm rot="5400000">
            <a:off x="4399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2" name="Google Shape;522;p30"/>
          <p:cNvSpPr/>
          <p:nvPr/>
        </p:nvSpPr>
        <p:spPr>
          <a:xfrm rot="5400000">
            <a:off x="4574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3" name="Google Shape;523;p30"/>
          <p:cNvSpPr/>
          <p:nvPr/>
        </p:nvSpPr>
        <p:spPr>
          <a:xfrm rot="5400000">
            <a:off x="4749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4" name="Google Shape;524;p30"/>
          <p:cNvSpPr/>
          <p:nvPr/>
        </p:nvSpPr>
        <p:spPr>
          <a:xfrm rot="5400000">
            <a:off x="4923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5" name="Google Shape;525;p30"/>
          <p:cNvSpPr/>
          <p:nvPr/>
        </p:nvSpPr>
        <p:spPr>
          <a:xfrm rot="5400000">
            <a:off x="5098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6" name="Google Shape;526;p30"/>
          <p:cNvSpPr/>
          <p:nvPr/>
        </p:nvSpPr>
        <p:spPr>
          <a:xfrm rot="5400000">
            <a:off x="5273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7" name="Google Shape;527;p30"/>
          <p:cNvSpPr/>
          <p:nvPr/>
        </p:nvSpPr>
        <p:spPr>
          <a:xfrm rot="5400000">
            <a:off x="5448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8" name="Google Shape;528;p30"/>
          <p:cNvSpPr/>
          <p:nvPr/>
        </p:nvSpPr>
        <p:spPr>
          <a:xfrm rot="5400000">
            <a:off x="5623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9" name="Google Shape;529;p30"/>
          <p:cNvSpPr/>
          <p:nvPr/>
        </p:nvSpPr>
        <p:spPr>
          <a:xfrm rot="5400000">
            <a:off x="5798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0" name="Google Shape;530;p30"/>
          <p:cNvSpPr/>
          <p:nvPr/>
        </p:nvSpPr>
        <p:spPr>
          <a:xfrm rot="5400000">
            <a:off x="5973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1" name="Google Shape;531;p30"/>
          <p:cNvSpPr/>
          <p:nvPr/>
        </p:nvSpPr>
        <p:spPr>
          <a:xfrm rot="5400000">
            <a:off x="6148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2" name="Google Shape;532;p30"/>
          <p:cNvSpPr/>
          <p:nvPr/>
        </p:nvSpPr>
        <p:spPr>
          <a:xfrm rot="5400000">
            <a:off x="6323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3" name="Google Shape;533;p30"/>
          <p:cNvSpPr/>
          <p:nvPr/>
        </p:nvSpPr>
        <p:spPr>
          <a:xfrm rot="5400000">
            <a:off x="6498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4" name="Google Shape;534;p30"/>
          <p:cNvSpPr/>
          <p:nvPr/>
        </p:nvSpPr>
        <p:spPr>
          <a:xfrm rot="5400000">
            <a:off x="6672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5" name="Google Shape;535;p30"/>
          <p:cNvSpPr/>
          <p:nvPr/>
        </p:nvSpPr>
        <p:spPr>
          <a:xfrm rot="5400000">
            <a:off x="6847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6" name="Google Shape;536;p30"/>
          <p:cNvSpPr/>
          <p:nvPr/>
        </p:nvSpPr>
        <p:spPr>
          <a:xfrm rot="5400000">
            <a:off x="7022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7" name="Google Shape;537;p30"/>
          <p:cNvSpPr/>
          <p:nvPr/>
        </p:nvSpPr>
        <p:spPr>
          <a:xfrm rot="5400000">
            <a:off x="7197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8" name="Google Shape;538;p30"/>
          <p:cNvSpPr/>
          <p:nvPr/>
        </p:nvSpPr>
        <p:spPr>
          <a:xfrm rot="5400000">
            <a:off x="73725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9" name="Google Shape;539;p30"/>
          <p:cNvSpPr/>
          <p:nvPr/>
        </p:nvSpPr>
        <p:spPr>
          <a:xfrm rot="5400000">
            <a:off x="75474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40" name="Google Shape;540;p30"/>
          <p:cNvSpPr/>
          <p:nvPr/>
        </p:nvSpPr>
        <p:spPr>
          <a:xfrm rot="5400000">
            <a:off x="77223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41" name="Google Shape;541;p30"/>
          <p:cNvSpPr txBox="1"/>
          <p:nvPr/>
        </p:nvSpPr>
        <p:spPr>
          <a:xfrm>
            <a:off x="1874450" y="47255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sp>
        <p:nvSpPr>
          <p:cNvPr id="542" name="Google Shape;542;p30"/>
          <p:cNvSpPr txBox="1"/>
          <p:nvPr/>
        </p:nvSpPr>
        <p:spPr>
          <a:xfrm>
            <a:off x="1555850" y="249642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31"/>
          <p:cNvSpPr/>
          <p:nvPr/>
        </p:nvSpPr>
        <p:spPr>
          <a:xfrm>
            <a:off x="4672850" y="33881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cxnSp>
        <p:nvCxnSpPr>
          <p:cNvPr id="548" name="Google Shape;548;p31"/>
          <p:cNvCxnSpPr>
            <a:endCxn id="549" idx="1"/>
          </p:cNvCxnSpPr>
          <p:nvPr/>
        </p:nvCxnSpPr>
        <p:spPr>
          <a:xfrm>
            <a:off x="54599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50" name="Google Shape;550;p31"/>
          <p:cNvCxnSpPr>
            <a:endCxn id="551" idx="1"/>
          </p:cNvCxnSpPr>
          <p:nvPr/>
        </p:nvCxnSpPr>
        <p:spPr>
          <a:xfrm>
            <a:off x="56348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52" name="Google Shape;552;p31"/>
          <p:cNvCxnSpPr>
            <a:endCxn id="553" idx="1"/>
          </p:cNvCxnSpPr>
          <p:nvPr/>
        </p:nvCxnSpPr>
        <p:spPr>
          <a:xfrm>
            <a:off x="58097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54" name="Google Shape;554;p31"/>
          <p:cNvCxnSpPr>
            <a:endCxn id="555" idx="1"/>
          </p:cNvCxnSpPr>
          <p:nvPr/>
        </p:nvCxnSpPr>
        <p:spPr>
          <a:xfrm>
            <a:off x="59846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56" name="Google Shape;556;p31"/>
          <p:cNvCxnSpPr>
            <a:endCxn id="557" idx="1"/>
          </p:cNvCxnSpPr>
          <p:nvPr/>
        </p:nvCxnSpPr>
        <p:spPr>
          <a:xfrm>
            <a:off x="61595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58" name="Google Shape;558;p31"/>
          <p:cNvCxnSpPr>
            <a:endCxn id="559" idx="1"/>
          </p:cNvCxnSpPr>
          <p:nvPr/>
        </p:nvCxnSpPr>
        <p:spPr>
          <a:xfrm>
            <a:off x="52850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60" name="Google Shape;560;p31"/>
          <p:cNvCxnSpPr>
            <a:endCxn id="561" idx="1"/>
          </p:cNvCxnSpPr>
          <p:nvPr/>
        </p:nvCxnSpPr>
        <p:spPr>
          <a:xfrm>
            <a:off x="51101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62" name="Google Shape;562;p31"/>
          <p:cNvCxnSpPr>
            <a:endCxn id="563" idx="1"/>
          </p:cNvCxnSpPr>
          <p:nvPr/>
        </p:nvCxnSpPr>
        <p:spPr>
          <a:xfrm>
            <a:off x="49352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564" name="Google Shape;564;p31"/>
          <p:cNvCxnSpPr>
            <a:endCxn id="565" idx="1"/>
          </p:cNvCxnSpPr>
          <p:nvPr/>
        </p:nvCxnSpPr>
        <p:spPr>
          <a:xfrm>
            <a:off x="4760300" y="3697475"/>
            <a:ext cx="0" cy="306000"/>
          </a:xfrm>
          <a:prstGeom prst="straightConnector1">
            <a:avLst/>
          </a:prstGeom>
          <a:noFill/>
          <a:ln w="9525" cap="flat" cmpd="sng">
            <a:solidFill>
              <a:schemeClr val="dk2"/>
            </a:solidFill>
            <a:prstDash val="solid"/>
            <a:round/>
            <a:headEnd type="none" w="med" len="med"/>
            <a:tailEnd type="triangle" w="med" len="med"/>
          </a:ln>
        </p:spPr>
      </p:cxnSp>
      <p:sp>
        <p:nvSpPr>
          <p:cNvPr id="566" name="Google Shape;566;p3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Sequence Numbers</a:t>
            </a:r>
            <a:endParaRPr/>
          </a:p>
        </p:txBody>
      </p:sp>
      <p:sp>
        <p:nvSpPr>
          <p:cNvPr id="567" name="Google Shape;567;p31"/>
          <p:cNvSpPr txBox="1">
            <a:spLocks noGrp="1"/>
          </p:cNvSpPr>
          <p:nvPr>
            <p:ph type="body" idx="1"/>
          </p:nvPr>
        </p:nvSpPr>
        <p:spPr>
          <a:xfrm>
            <a:off x="107050" y="402200"/>
            <a:ext cx="8909700" cy="1026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sequence number of a segment is the number of the </a:t>
            </a:r>
            <a:r>
              <a:rPr lang="en" i="1"/>
              <a:t>first byte</a:t>
            </a:r>
            <a:r>
              <a:rPr lang="en"/>
              <a:t> in the segment.</a:t>
            </a:r>
            <a:endParaRPr/>
          </a:p>
          <a:p>
            <a:pPr marL="0" lvl="0" indent="0" algn="l" rtl="0">
              <a:spcBef>
                <a:spcPts val="600"/>
              </a:spcBef>
              <a:spcAft>
                <a:spcPts val="0"/>
              </a:spcAft>
              <a:buNone/>
            </a:pPr>
            <a:r>
              <a:rPr lang="en"/>
              <a:t>Example: In the segment below, the sequence number is </a:t>
            </a:r>
            <a:r>
              <a:rPr lang="en" i="1">
                <a:solidFill>
                  <a:schemeClr val="accent2"/>
                </a:solidFill>
              </a:rPr>
              <a:t>ISN</a:t>
            </a:r>
            <a:r>
              <a:rPr lang="en">
                <a:solidFill>
                  <a:schemeClr val="accent2"/>
                </a:solidFill>
              </a:rPr>
              <a:t> + 140</a:t>
            </a:r>
            <a:r>
              <a:rPr lang="en"/>
              <a:t>.</a:t>
            </a:r>
            <a:endParaRPr/>
          </a:p>
        </p:txBody>
      </p:sp>
      <p:sp>
        <p:nvSpPr>
          <p:cNvPr id="568" name="Google Shape;568;p31"/>
          <p:cNvSpPr/>
          <p:nvPr/>
        </p:nvSpPr>
        <p:spPr>
          <a:xfrm rot="5400000">
            <a:off x="1282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569" name="Google Shape;569;p31"/>
          <p:cNvSpPr/>
          <p:nvPr/>
        </p:nvSpPr>
        <p:spPr>
          <a:xfrm rot="5400000">
            <a:off x="1457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570" name="Google Shape;570;p31"/>
          <p:cNvSpPr/>
          <p:nvPr/>
        </p:nvSpPr>
        <p:spPr>
          <a:xfrm rot="5400000">
            <a:off x="1632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571" name="Google Shape;571;p31"/>
          <p:cNvSpPr/>
          <p:nvPr/>
        </p:nvSpPr>
        <p:spPr>
          <a:xfrm rot="5400000">
            <a:off x="1806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572" name="Google Shape;572;p31"/>
          <p:cNvSpPr/>
          <p:nvPr/>
        </p:nvSpPr>
        <p:spPr>
          <a:xfrm rot="5400000">
            <a:off x="1981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3" name="Google Shape;573;p31"/>
          <p:cNvSpPr/>
          <p:nvPr/>
        </p:nvSpPr>
        <p:spPr>
          <a:xfrm rot="5400000">
            <a:off x="2156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4" name="Google Shape;574;p31"/>
          <p:cNvSpPr/>
          <p:nvPr/>
        </p:nvSpPr>
        <p:spPr>
          <a:xfrm rot="5400000">
            <a:off x="2331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5" name="Google Shape;575;p31"/>
          <p:cNvSpPr/>
          <p:nvPr/>
        </p:nvSpPr>
        <p:spPr>
          <a:xfrm rot="5400000">
            <a:off x="2506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576" name="Google Shape;576;p31"/>
          <p:cNvSpPr/>
          <p:nvPr/>
        </p:nvSpPr>
        <p:spPr>
          <a:xfrm rot="5400000">
            <a:off x="2681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577" name="Google Shape;577;p31"/>
          <p:cNvSpPr/>
          <p:nvPr/>
        </p:nvSpPr>
        <p:spPr>
          <a:xfrm rot="5400000">
            <a:off x="2856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8" name="Google Shape;578;p31"/>
          <p:cNvSpPr/>
          <p:nvPr/>
        </p:nvSpPr>
        <p:spPr>
          <a:xfrm rot="5400000">
            <a:off x="3031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9" name="Google Shape;579;p31"/>
          <p:cNvSpPr/>
          <p:nvPr/>
        </p:nvSpPr>
        <p:spPr>
          <a:xfrm rot="5400000">
            <a:off x="3206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0" name="Google Shape;580;p31"/>
          <p:cNvSpPr/>
          <p:nvPr/>
        </p:nvSpPr>
        <p:spPr>
          <a:xfrm rot="5400000">
            <a:off x="3381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1" name="Google Shape;581;p31"/>
          <p:cNvSpPr/>
          <p:nvPr/>
        </p:nvSpPr>
        <p:spPr>
          <a:xfrm rot="5400000">
            <a:off x="3555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2" name="Google Shape;582;p31"/>
          <p:cNvSpPr/>
          <p:nvPr/>
        </p:nvSpPr>
        <p:spPr>
          <a:xfrm rot="5400000">
            <a:off x="3730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3" name="Google Shape;583;p31"/>
          <p:cNvSpPr/>
          <p:nvPr/>
        </p:nvSpPr>
        <p:spPr>
          <a:xfrm rot="5400000">
            <a:off x="3905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4" name="Google Shape;584;p31"/>
          <p:cNvSpPr/>
          <p:nvPr/>
        </p:nvSpPr>
        <p:spPr>
          <a:xfrm rot="5400000">
            <a:off x="4080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2"/>
                </a:solidFill>
                <a:latin typeface="Roboto"/>
                <a:ea typeface="Roboto"/>
                <a:cs typeface="Roboto"/>
                <a:sym typeface="Roboto"/>
              </a:rPr>
              <a:t>ISN+140</a:t>
            </a:r>
            <a:endParaRPr sz="1000">
              <a:solidFill>
                <a:schemeClr val="accent2"/>
              </a:solidFill>
              <a:latin typeface="Roboto"/>
              <a:ea typeface="Roboto"/>
              <a:cs typeface="Roboto"/>
              <a:sym typeface="Roboto"/>
            </a:endParaRPr>
          </a:p>
        </p:txBody>
      </p:sp>
      <p:sp>
        <p:nvSpPr>
          <p:cNvPr id="585" name="Google Shape;585;p31"/>
          <p:cNvSpPr/>
          <p:nvPr/>
        </p:nvSpPr>
        <p:spPr>
          <a:xfrm rot="5400000">
            <a:off x="4255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586" name="Google Shape;586;p31"/>
          <p:cNvSpPr/>
          <p:nvPr/>
        </p:nvSpPr>
        <p:spPr>
          <a:xfrm rot="5400000">
            <a:off x="4430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587" name="Google Shape;587;p31"/>
          <p:cNvSpPr/>
          <p:nvPr/>
        </p:nvSpPr>
        <p:spPr>
          <a:xfrm rot="5400000">
            <a:off x="4605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588" name="Google Shape;588;p31"/>
          <p:cNvSpPr/>
          <p:nvPr/>
        </p:nvSpPr>
        <p:spPr>
          <a:xfrm rot="5400000">
            <a:off x="4780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9" name="Google Shape;589;p31"/>
          <p:cNvSpPr/>
          <p:nvPr/>
        </p:nvSpPr>
        <p:spPr>
          <a:xfrm rot="5400000">
            <a:off x="4955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0" name="Google Shape;590;p31"/>
          <p:cNvSpPr/>
          <p:nvPr/>
        </p:nvSpPr>
        <p:spPr>
          <a:xfrm rot="5400000">
            <a:off x="5130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1" name="Google Shape;591;p31"/>
          <p:cNvSpPr/>
          <p:nvPr/>
        </p:nvSpPr>
        <p:spPr>
          <a:xfrm rot="5400000">
            <a:off x="5304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592" name="Google Shape;592;p31"/>
          <p:cNvSpPr/>
          <p:nvPr/>
        </p:nvSpPr>
        <p:spPr>
          <a:xfrm rot="5400000">
            <a:off x="5479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ISN+219</a:t>
            </a:r>
            <a:endParaRPr sz="1000">
              <a:latin typeface="Roboto"/>
              <a:ea typeface="Roboto"/>
              <a:cs typeface="Roboto"/>
              <a:sym typeface="Roboto"/>
            </a:endParaRPr>
          </a:p>
        </p:txBody>
      </p:sp>
      <p:sp>
        <p:nvSpPr>
          <p:cNvPr id="593" name="Google Shape;593;p31"/>
          <p:cNvSpPr/>
          <p:nvPr/>
        </p:nvSpPr>
        <p:spPr>
          <a:xfrm rot="5400000">
            <a:off x="5654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4" name="Google Shape;594;p31"/>
          <p:cNvSpPr/>
          <p:nvPr/>
        </p:nvSpPr>
        <p:spPr>
          <a:xfrm rot="5400000">
            <a:off x="5829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5" name="Google Shape;595;p31"/>
          <p:cNvSpPr/>
          <p:nvPr/>
        </p:nvSpPr>
        <p:spPr>
          <a:xfrm rot="5400000">
            <a:off x="6004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6" name="Google Shape;596;p31"/>
          <p:cNvSpPr/>
          <p:nvPr/>
        </p:nvSpPr>
        <p:spPr>
          <a:xfrm rot="5400000">
            <a:off x="6179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7" name="Google Shape;597;p31"/>
          <p:cNvSpPr/>
          <p:nvPr/>
        </p:nvSpPr>
        <p:spPr>
          <a:xfrm rot="5400000">
            <a:off x="6354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8" name="Google Shape;598;p31"/>
          <p:cNvSpPr/>
          <p:nvPr/>
        </p:nvSpPr>
        <p:spPr>
          <a:xfrm rot="5400000">
            <a:off x="6529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9" name="Google Shape;599;p31"/>
          <p:cNvSpPr/>
          <p:nvPr/>
        </p:nvSpPr>
        <p:spPr>
          <a:xfrm rot="5400000">
            <a:off x="6704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0" name="Google Shape;600;p31"/>
          <p:cNvSpPr/>
          <p:nvPr/>
        </p:nvSpPr>
        <p:spPr>
          <a:xfrm rot="5400000">
            <a:off x="6879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1" name="Google Shape;601;p31"/>
          <p:cNvSpPr/>
          <p:nvPr/>
        </p:nvSpPr>
        <p:spPr>
          <a:xfrm rot="5400000">
            <a:off x="70539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2" name="Google Shape;602;p31"/>
          <p:cNvSpPr/>
          <p:nvPr/>
        </p:nvSpPr>
        <p:spPr>
          <a:xfrm rot="5400000">
            <a:off x="72288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3" name="Google Shape;603;p31"/>
          <p:cNvSpPr/>
          <p:nvPr/>
        </p:nvSpPr>
        <p:spPr>
          <a:xfrm rot="5400000">
            <a:off x="74037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4" name="Google Shape;604;p31"/>
          <p:cNvSpPr/>
          <p:nvPr/>
        </p:nvSpPr>
        <p:spPr>
          <a:xfrm>
            <a:off x="4354250" y="27842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sp>
        <p:nvSpPr>
          <p:cNvPr id="605" name="Google Shape;605;p31"/>
          <p:cNvSpPr/>
          <p:nvPr/>
        </p:nvSpPr>
        <p:spPr>
          <a:xfrm rot="5400000">
            <a:off x="1600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606" name="Google Shape;606;p31"/>
          <p:cNvSpPr/>
          <p:nvPr/>
        </p:nvSpPr>
        <p:spPr>
          <a:xfrm rot="5400000">
            <a:off x="1775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607" name="Google Shape;607;p31"/>
          <p:cNvSpPr/>
          <p:nvPr/>
        </p:nvSpPr>
        <p:spPr>
          <a:xfrm rot="5400000">
            <a:off x="1950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608" name="Google Shape;608;p31"/>
          <p:cNvSpPr/>
          <p:nvPr/>
        </p:nvSpPr>
        <p:spPr>
          <a:xfrm rot="5400000">
            <a:off x="2125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609" name="Google Shape;609;p31"/>
          <p:cNvSpPr/>
          <p:nvPr/>
        </p:nvSpPr>
        <p:spPr>
          <a:xfrm rot="5400000">
            <a:off x="2300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0" name="Google Shape;610;p31"/>
          <p:cNvSpPr/>
          <p:nvPr/>
        </p:nvSpPr>
        <p:spPr>
          <a:xfrm rot="5400000">
            <a:off x="2475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1" name="Google Shape;611;p31"/>
          <p:cNvSpPr/>
          <p:nvPr/>
        </p:nvSpPr>
        <p:spPr>
          <a:xfrm rot="5400000">
            <a:off x="2650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2" name="Google Shape;612;p31"/>
          <p:cNvSpPr/>
          <p:nvPr/>
        </p:nvSpPr>
        <p:spPr>
          <a:xfrm rot="5400000">
            <a:off x="2825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613" name="Google Shape;613;p31"/>
          <p:cNvSpPr/>
          <p:nvPr/>
        </p:nvSpPr>
        <p:spPr>
          <a:xfrm rot="5400000">
            <a:off x="3000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614" name="Google Shape;614;p31"/>
          <p:cNvSpPr/>
          <p:nvPr/>
        </p:nvSpPr>
        <p:spPr>
          <a:xfrm rot="5400000">
            <a:off x="3174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5" name="Google Shape;615;p31"/>
          <p:cNvSpPr/>
          <p:nvPr/>
        </p:nvSpPr>
        <p:spPr>
          <a:xfrm rot="5400000">
            <a:off x="3349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6" name="Google Shape;616;p31"/>
          <p:cNvSpPr/>
          <p:nvPr/>
        </p:nvSpPr>
        <p:spPr>
          <a:xfrm rot="5400000">
            <a:off x="3524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7" name="Google Shape;617;p31"/>
          <p:cNvSpPr/>
          <p:nvPr/>
        </p:nvSpPr>
        <p:spPr>
          <a:xfrm rot="5400000">
            <a:off x="3699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8" name="Google Shape;618;p31"/>
          <p:cNvSpPr/>
          <p:nvPr/>
        </p:nvSpPr>
        <p:spPr>
          <a:xfrm rot="5400000">
            <a:off x="3874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9" name="Google Shape;619;p31"/>
          <p:cNvSpPr/>
          <p:nvPr/>
        </p:nvSpPr>
        <p:spPr>
          <a:xfrm rot="5400000">
            <a:off x="4049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0" name="Google Shape;620;p31"/>
          <p:cNvSpPr/>
          <p:nvPr/>
        </p:nvSpPr>
        <p:spPr>
          <a:xfrm rot="5400000">
            <a:off x="4224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65" name="Google Shape;565;p31"/>
          <p:cNvSpPr/>
          <p:nvPr/>
        </p:nvSpPr>
        <p:spPr>
          <a:xfrm rot="5400000">
            <a:off x="4399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accent2"/>
                </a:solidFill>
                <a:latin typeface="Roboto"/>
                <a:ea typeface="Roboto"/>
                <a:cs typeface="Roboto"/>
                <a:sym typeface="Roboto"/>
              </a:rPr>
              <a:t>ISN+140</a:t>
            </a:r>
            <a:endParaRPr sz="1000">
              <a:latin typeface="Roboto"/>
              <a:ea typeface="Roboto"/>
              <a:cs typeface="Roboto"/>
              <a:sym typeface="Roboto"/>
            </a:endParaRPr>
          </a:p>
        </p:txBody>
      </p:sp>
      <p:sp>
        <p:nvSpPr>
          <p:cNvPr id="563" name="Google Shape;563;p31"/>
          <p:cNvSpPr/>
          <p:nvPr/>
        </p:nvSpPr>
        <p:spPr>
          <a:xfrm rot="5400000">
            <a:off x="4574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561" name="Google Shape;561;p31"/>
          <p:cNvSpPr/>
          <p:nvPr/>
        </p:nvSpPr>
        <p:spPr>
          <a:xfrm rot="5400000">
            <a:off x="4749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559" name="Google Shape;559;p31"/>
          <p:cNvSpPr/>
          <p:nvPr/>
        </p:nvSpPr>
        <p:spPr>
          <a:xfrm rot="5400000">
            <a:off x="4923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549" name="Google Shape;549;p31"/>
          <p:cNvSpPr/>
          <p:nvPr/>
        </p:nvSpPr>
        <p:spPr>
          <a:xfrm rot="5400000">
            <a:off x="5098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51" name="Google Shape;551;p31"/>
          <p:cNvSpPr/>
          <p:nvPr/>
        </p:nvSpPr>
        <p:spPr>
          <a:xfrm rot="5400000">
            <a:off x="5273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53" name="Google Shape;553;p31"/>
          <p:cNvSpPr/>
          <p:nvPr/>
        </p:nvSpPr>
        <p:spPr>
          <a:xfrm rot="5400000">
            <a:off x="5448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55" name="Google Shape;555;p31"/>
          <p:cNvSpPr/>
          <p:nvPr/>
        </p:nvSpPr>
        <p:spPr>
          <a:xfrm rot="5400000">
            <a:off x="5623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557" name="Google Shape;557;p31"/>
          <p:cNvSpPr/>
          <p:nvPr/>
        </p:nvSpPr>
        <p:spPr>
          <a:xfrm rot="5400000">
            <a:off x="5798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ISN+219</a:t>
            </a:r>
            <a:endParaRPr sz="1000">
              <a:latin typeface="Roboto"/>
              <a:ea typeface="Roboto"/>
              <a:cs typeface="Roboto"/>
              <a:sym typeface="Roboto"/>
            </a:endParaRPr>
          </a:p>
        </p:txBody>
      </p:sp>
      <p:sp>
        <p:nvSpPr>
          <p:cNvPr id="621" name="Google Shape;621;p31"/>
          <p:cNvSpPr/>
          <p:nvPr/>
        </p:nvSpPr>
        <p:spPr>
          <a:xfrm rot="5400000">
            <a:off x="5973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2" name="Google Shape;622;p31"/>
          <p:cNvSpPr/>
          <p:nvPr/>
        </p:nvSpPr>
        <p:spPr>
          <a:xfrm rot="5400000">
            <a:off x="6148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3" name="Google Shape;623;p31"/>
          <p:cNvSpPr/>
          <p:nvPr/>
        </p:nvSpPr>
        <p:spPr>
          <a:xfrm rot="5400000">
            <a:off x="6323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4" name="Google Shape;624;p31"/>
          <p:cNvSpPr/>
          <p:nvPr/>
        </p:nvSpPr>
        <p:spPr>
          <a:xfrm rot="5400000">
            <a:off x="6498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5" name="Google Shape;625;p31"/>
          <p:cNvSpPr/>
          <p:nvPr/>
        </p:nvSpPr>
        <p:spPr>
          <a:xfrm rot="5400000">
            <a:off x="6672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6" name="Google Shape;626;p31"/>
          <p:cNvSpPr/>
          <p:nvPr/>
        </p:nvSpPr>
        <p:spPr>
          <a:xfrm rot="5400000">
            <a:off x="6847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7" name="Google Shape;627;p31"/>
          <p:cNvSpPr/>
          <p:nvPr/>
        </p:nvSpPr>
        <p:spPr>
          <a:xfrm rot="5400000">
            <a:off x="7022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8" name="Google Shape;628;p31"/>
          <p:cNvSpPr/>
          <p:nvPr/>
        </p:nvSpPr>
        <p:spPr>
          <a:xfrm rot="5400000">
            <a:off x="7197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9" name="Google Shape;629;p31"/>
          <p:cNvSpPr/>
          <p:nvPr/>
        </p:nvSpPr>
        <p:spPr>
          <a:xfrm rot="5400000">
            <a:off x="73725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30" name="Google Shape;630;p31"/>
          <p:cNvSpPr/>
          <p:nvPr/>
        </p:nvSpPr>
        <p:spPr>
          <a:xfrm rot="5400000">
            <a:off x="75474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31" name="Google Shape;631;p31"/>
          <p:cNvSpPr/>
          <p:nvPr/>
        </p:nvSpPr>
        <p:spPr>
          <a:xfrm rot="5400000">
            <a:off x="77223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32" name="Google Shape;632;p31"/>
          <p:cNvSpPr txBox="1"/>
          <p:nvPr/>
        </p:nvSpPr>
        <p:spPr>
          <a:xfrm>
            <a:off x="1874450" y="47255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633" name="Google Shape;633;p31"/>
          <p:cNvCxnSpPr>
            <a:endCxn id="604" idx="0"/>
          </p:cNvCxnSpPr>
          <p:nvPr/>
        </p:nvCxnSpPr>
        <p:spPr>
          <a:xfrm>
            <a:off x="5131400" y="2476469"/>
            <a:ext cx="9900" cy="307800"/>
          </a:xfrm>
          <a:prstGeom prst="straightConnector1">
            <a:avLst/>
          </a:prstGeom>
          <a:noFill/>
          <a:ln w="9525" cap="flat" cmpd="sng">
            <a:solidFill>
              <a:schemeClr val="dk2"/>
            </a:solidFill>
            <a:prstDash val="solid"/>
            <a:round/>
            <a:headEnd type="none" w="med" len="med"/>
            <a:tailEnd type="triangle" w="med" len="med"/>
          </a:ln>
        </p:spPr>
      </p:cxnSp>
      <p:cxnSp>
        <p:nvCxnSpPr>
          <p:cNvPr id="634" name="Google Shape;634;p31"/>
          <p:cNvCxnSpPr>
            <a:stCxn id="589" idx="3"/>
          </p:cNvCxnSpPr>
          <p:nvPr/>
        </p:nvCxnSpPr>
        <p:spPr>
          <a:xfrm>
            <a:off x="53162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35" name="Google Shape;635;p31"/>
          <p:cNvCxnSpPr>
            <a:stCxn id="590" idx="3"/>
          </p:cNvCxnSpPr>
          <p:nvPr/>
        </p:nvCxnSpPr>
        <p:spPr>
          <a:xfrm>
            <a:off x="54911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36" name="Google Shape;636;p31"/>
          <p:cNvCxnSpPr>
            <a:stCxn id="591" idx="3"/>
          </p:cNvCxnSpPr>
          <p:nvPr/>
        </p:nvCxnSpPr>
        <p:spPr>
          <a:xfrm>
            <a:off x="56660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37" name="Google Shape;637;p31"/>
          <p:cNvCxnSpPr>
            <a:stCxn id="592" idx="3"/>
          </p:cNvCxnSpPr>
          <p:nvPr/>
        </p:nvCxnSpPr>
        <p:spPr>
          <a:xfrm>
            <a:off x="58409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38" name="Google Shape;638;p31"/>
          <p:cNvCxnSpPr>
            <a:stCxn id="587" idx="3"/>
          </p:cNvCxnSpPr>
          <p:nvPr/>
        </p:nvCxnSpPr>
        <p:spPr>
          <a:xfrm>
            <a:off x="49664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39" name="Google Shape;639;p31"/>
          <p:cNvCxnSpPr>
            <a:stCxn id="586" idx="3"/>
          </p:cNvCxnSpPr>
          <p:nvPr/>
        </p:nvCxnSpPr>
        <p:spPr>
          <a:xfrm>
            <a:off x="47915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40" name="Google Shape;640;p31"/>
          <p:cNvCxnSpPr>
            <a:stCxn id="585" idx="3"/>
          </p:cNvCxnSpPr>
          <p:nvPr/>
        </p:nvCxnSpPr>
        <p:spPr>
          <a:xfrm>
            <a:off x="46166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41" name="Google Shape;641;p31"/>
          <p:cNvCxnSpPr>
            <a:stCxn id="584" idx="3"/>
          </p:cNvCxnSpPr>
          <p:nvPr/>
        </p:nvCxnSpPr>
        <p:spPr>
          <a:xfrm>
            <a:off x="44417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642" name="Google Shape;642;p31"/>
          <p:cNvCxnSpPr>
            <a:stCxn id="604" idx="2"/>
            <a:endCxn id="547" idx="0"/>
          </p:cNvCxnSpPr>
          <p:nvPr/>
        </p:nvCxnSpPr>
        <p:spPr>
          <a:xfrm>
            <a:off x="5141300" y="3094769"/>
            <a:ext cx="318600" cy="293400"/>
          </a:xfrm>
          <a:prstGeom prst="straightConnector1">
            <a:avLst/>
          </a:prstGeom>
          <a:noFill/>
          <a:ln w="9525" cap="flat" cmpd="sng">
            <a:solidFill>
              <a:schemeClr val="dk2"/>
            </a:solidFill>
            <a:prstDash val="solid"/>
            <a:round/>
            <a:headEnd type="none" w="med" len="med"/>
            <a:tailEnd type="triangle" w="med" len="med"/>
          </a:ln>
        </p:spPr>
      </p:cxnSp>
      <p:sp>
        <p:nvSpPr>
          <p:cNvPr id="643" name="Google Shape;643;p31"/>
          <p:cNvSpPr/>
          <p:nvPr/>
        </p:nvSpPr>
        <p:spPr>
          <a:xfrm>
            <a:off x="3921050" y="27842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644" name="Google Shape;644;p31"/>
          <p:cNvSpPr/>
          <p:nvPr/>
        </p:nvSpPr>
        <p:spPr>
          <a:xfrm>
            <a:off x="4239650" y="33881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645" name="Google Shape;645;p31"/>
          <p:cNvSpPr txBox="1"/>
          <p:nvPr/>
        </p:nvSpPr>
        <p:spPr>
          <a:xfrm>
            <a:off x="1555850" y="249642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32"/>
          <p:cNvSpPr/>
          <p:nvPr/>
        </p:nvSpPr>
        <p:spPr>
          <a:xfrm>
            <a:off x="4672850" y="33881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cxnSp>
        <p:nvCxnSpPr>
          <p:cNvPr id="651" name="Google Shape;651;p32"/>
          <p:cNvCxnSpPr>
            <a:endCxn id="652" idx="1"/>
          </p:cNvCxnSpPr>
          <p:nvPr/>
        </p:nvCxnSpPr>
        <p:spPr>
          <a:xfrm>
            <a:off x="54599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53" name="Google Shape;653;p32"/>
          <p:cNvCxnSpPr>
            <a:endCxn id="654" idx="1"/>
          </p:cNvCxnSpPr>
          <p:nvPr/>
        </p:nvCxnSpPr>
        <p:spPr>
          <a:xfrm>
            <a:off x="56348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55" name="Google Shape;655;p32"/>
          <p:cNvCxnSpPr>
            <a:endCxn id="656" idx="1"/>
          </p:cNvCxnSpPr>
          <p:nvPr/>
        </p:nvCxnSpPr>
        <p:spPr>
          <a:xfrm>
            <a:off x="58097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57" name="Google Shape;657;p32"/>
          <p:cNvCxnSpPr>
            <a:endCxn id="658" idx="1"/>
          </p:cNvCxnSpPr>
          <p:nvPr/>
        </p:nvCxnSpPr>
        <p:spPr>
          <a:xfrm>
            <a:off x="59846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59" name="Google Shape;659;p32"/>
          <p:cNvCxnSpPr>
            <a:endCxn id="660" idx="1"/>
          </p:cNvCxnSpPr>
          <p:nvPr/>
        </p:nvCxnSpPr>
        <p:spPr>
          <a:xfrm>
            <a:off x="61595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61" name="Google Shape;661;p32"/>
          <p:cNvCxnSpPr>
            <a:endCxn id="662" idx="1"/>
          </p:cNvCxnSpPr>
          <p:nvPr/>
        </p:nvCxnSpPr>
        <p:spPr>
          <a:xfrm>
            <a:off x="52850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63" name="Google Shape;663;p32"/>
          <p:cNvCxnSpPr>
            <a:endCxn id="664" idx="1"/>
          </p:cNvCxnSpPr>
          <p:nvPr/>
        </p:nvCxnSpPr>
        <p:spPr>
          <a:xfrm>
            <a:off x="51101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65" name="Google Shape;665;p32"/>
          <p:cNvCxnSpPr>
            <a:endCxn id="666" idx="1"/>
          </p:cNvCxnSpPr>
          <p:nvPr/>
        </p:nvCxnSpPr>
        <p:spPr>
          <a:xfrm>
            <a:off x="49352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67" name="Google Shape;667;p32"/>
          <p:cNvCxnSpPr>
            <a:endCxn id="668" idx="1"/>
          </p:cNvCxnSpPr>
          <p:nvPr/>
        </p:nvCxnSpPr>
        <p:spPr>
          <a:xfrm>
            <a:off x="4760300" y="3697475"/>
            <a:ext cx="0" cy="306000"/>
          </a:xfrm>
          <a:prstGeom prst="straightConnector1">
            <a:avLst/>
          </a:prstGeom>
          <a:noFill/>
          <a:ln w="9525" cap="flat" cmpd="sng">
            <a:solidFill>
              <a:schemeClr val="dk2"/>
            </a:solidFill>
            <a:prstDash val="solid"/>
            <a:round/>
            <a:headEnd type="none" w="med" len="med"/>
            <a:tailEnd type="triangle" w="med" len="med"/>
          </a:ln>
        </p:spPr>
      </p:cxnSp>
      <p:sp>
        <p:nvSpPr>
          <p:cNvPr id="669" name="Google Shape;669;p3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Ack Numbers</a:t>
            </a:r>
            <a:endParaRPr/>
          </a:p>
        </p:txBody>
      </p:sp>
      <p:sp>
        <p:nvSpPr>
          <p:cNvPr id="670" name="Google Shape;670;p32"/>
          <p:cNvSpPr txBox="1">
            <a:spLocks noGrp="1"/>
          </p:cNvSpPr>
          <p:nvPr>
            <p:ph type="body" idx="1"/>
          </p:nvPr>
        </p:nvSpPr>
        <p:spPr>
          <a:xfrm>
            <a:off x="107050" y="402200"/>
            <a:ext cx="8909700" cy="1243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ack number indicates the next expected byte (i.e. the first unreceived byte).</a:t>
            </a:r>
            <a:endParaRPr/>
          </a:p>
          <a:p>
            <a:pPr marL="0" lvl="0" indent="0" algn="l" rtl="0">
              <a:spcBef>
                <a:spcPts val="600"/>
              </a:spcBef>
              <a:spcAft>
                <a:spcPts val="0"/>
              </a:spcAft>
              <a:buNone/>
            </a:pPr>
            <a:r>
              <a:rPr lang="en"/>
              <a:t>Example: All bytes up to (and including) </a:t>
            </a:r>
            <a:r>
              <a:rPr lang="en" i="1"/>
              <a:t>ISN</a:t>
            </a:r>
            <a:r>
              <a:rPr lang="en"/>
              <a:t> + 219 have been received, so the next unreceived byte is </a:t>
            </a:r>
            <a:r>
              <a:rPr lang="en" i="1">
                <a:solidFill>
                  <a:schemeClr val="accent2"/>
                </a:solidFill>
              </a:rPr>
              <a:t>ISN</a:t>
            </a:r>
            <a:r>
              <a:rPr lang="en">
                <a:solidFill>
                  <a:schemeClr val="accent2"/>
                </a:solidFill>
              </a:rPr>
              <a:t> + 220</a:t>
            </a:r>
            <a:r>
              <a:rPr lang="en"/>
              <a:t>.</a:t>
            </a:r>
            <a:endParaRPr/>
          </a:p>
        </p:txBody>
      </p:sp>
      <p:sp>
        <p:nvSpPr>
          <p:cNvPr id="671" name="Google Shape;671;p32"/>
          <p:cNvSpPr/>
          <p:nvPr/>
        </p:nvSpPr>
        <p:spPr>
          <a:xfrm rot="5400000">
            <a:off x="1282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672" name="Google Shape;672;p32"/>
          <p:cNvSpPr/>
          <p:nvPr/>
        </p:nvSpPr>
        <p:spPr>
          <a:xfrm rot="5400000">
            <a:off x="1457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673" name="Google Shape;673;p32"/>
          <p:cNvSpPr/>
          <p:nvPr/>
        </p:nvSpPr>
        <p:spPr>
          <a:xfrm rot="5400000">
            <a:off x="1632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674" name="Google Shape;674;p32"/>
          <p:cNvSpPr/>
          <p:nvPr/>
        </p:nvSpPr>
        <p:spPr>
          <a:xfrm rot="5400000">
            <a:off x="1806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675" name="Google Shape;675;p32"/>
          <p:cNvSpPr/>
          <p:nvPr/>
        </p:nvSpPr>
        <p:spPr>
          <a:xfrm rot="5400000">
            <a:off x="1981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76" name="Google Shape;676;p32"/>
          <p:cNvSpPr/>
          <p:nvPr/>
        </p:nvSpPr>
        <p:spPr>
          <a:xfrm rot="5400000">
            <a:off x="2156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77" name="Google Shape;677;p32"/>
          <p:cNvSpPr/>
          <p:nvPr/>
        </p:nvSpPr>
        <p:spPr>
          <a:xfrm rot="5400000">
            <a:off x="2331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78" name="Google Shape;678;p32"/>
          <p:cNvSpPr/>
          <p:nvPr/>
        </p:nvSpPr>
        <p:spPr>
          <a:xfrm rot="5400000">
            <a:off x="2506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679" name="Google Shape;679;p32"/>
          <p:cNvSpPr/>
          <p:nvPr/>
        </p:nvSpPr>
        <p:spPr>
          <a:xfrm rot="5400000">
            <a:off x="2681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680" name="Google Shape;680;p32"/>
          <p:cNvSpPr/>
          <p:nvPr/>
        </p:nvSpPr>
        <p:spPr>
          <a:xfrm rot="5400000">
            <a:off x="2856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1" name="Google Shape;681;p32"/>
          <p:cNvSpPr/>
          <p:nvPr/>
        </p:nvSpPr>
        <p:spPr>
          <a:xfrm rot="5400000">
            <a:off x="3031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2" name="Google Shape;682;p32"/>
          <p:cNvSpPr/>
          <p:nvPr/>
        </p:nvSpPr>
        <p:spPr>
          <a:xfrm rot="5400000">
            <a:off x="3206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3" name="Google Shape;683;p32"/>
          <p:cNvSpPr/>
          <p:nvPr/>
        </p:nvSpPr>
        <p:spPr>
          <a:xfrm rot="5400000">
            <a:off x="3381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4" name="Google Shape;684;p32"/>
          <p:cNvSpPr/>
          <p:nvPr/>
        </p:nvSpPr>
        <p:spPr>
          <a:xfrm rot="5400000">
            <a:off x="3555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5" name="Google Shape;685;p32"/>
          <p:cNvSpPr/>
          <p:nvPr/>
        </p:nvSpPr>
        <p:spPr>
          <a:xfrm rot="5400000">
            <a:off x="3730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6" name="Google Shape;686;p32"/>
          <p:cNvSpPr/>
          <p:nvPr/>
        </p:nvSpPr>
        <p:spPr>
          <a:xfrm rot="5400000">
            <a:off x="3905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7" name="Google Shape;687;p32"/>
          <p:cNvSpPr/>
          <p:nvPr/>
        </p:nvSpPr>
        <p:spPr>
          <a:xfrm rot="5400000">
            <a:off x="4080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ISN+140</a:t>
            </a:r>
            <a:endParaRPr sz="1000">
              <a:latin typeface="Roboto"/>
              <a:ea typeface="Roboto"/>
              <a:cs typeface="Roboto"/>
              <a:sym typeface="Roboto"/>
            </a:endParaRPr>
          </a:p>
        </p:txBody>
      </p:sp>
      <p:sp>
        <p:nvSpPr>
          <p:cNvPr id="688" name="Google Shape;688;p32"/>
          <p:cNvSpPr/>
          <p:nvPr/>
        </p:nvSpPr>
        <p:spPr>
          <a:xfrm rot="5400000">
            <a:off x="4255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689" name="Google Shape;689;p32"/>
          <p:cNvSpPr/>
          <p:nvPr/>
        </p:nvSpPr>
        <p:spPr>
          <a:xfrm rot="5400000">
            <a:off x="4430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690" name="Google Shape;690;p32"/>
          <p:cNvSpPr/>
          <p:nvPr/>
        </p:nvSpPr>
        <p:spPr>
          <a:xfrm rot="5400000">
            <a:off x="4605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691" name="Google Shape;691;p32"/>
          <p:cNvSpPr/>
          <p:nvPr/>
        </p:nvSpPr>
        <p:spPr>
          <a:xfrm rot="5400000">
            <a:off x="4780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2" name="Google Shape;692;p32"/>
          <p:cNvSpPr/>
          <p:nvPr/>
        </p:nvSpPr>
        <p:spPr>
          <a:xfrm rot="5400000">
            <a:off x="4955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3" name="Google Shape;693;p32"/>
          <p:cNvSpPr/>
          <p:nvPr/>
        </p:nvSpPr>
        <p:spPr>
          <a:xfrm rot="5400000">
            <a:off x="5130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4" name="Google Shape;694;p32"/>
          <p:cNvSpPr/>
          <p:nvPr/>
        </p:nvSpPr>
        <p:spPr>
          <a:xfrm rot="5400000">
            <a:off x="5304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695" name="Google Shape;695;p32"/>
          <p:cNvSpPr/>
          <p:nvPr/>
        </p:nvSpPr>
        <p:spPr>
          <a:xfrm rot="5400000">
            <a:off x="5479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ISN+219</a:t>
            </a:r>
            <a:endParaRPr sz="1000">
              <a:latin typeface="Roboto"/>
              <a:ea typeface="Roboto"/>
              <a:cs typeface="Roboto"/>
              <a:sym typeface="Roboto"/>
            </a:endParaRPr>
          </a:p>
        </p:txBody>
      </p:sp>
      <p:sp>
        <p:nvSpPr>
          <p:cNvPr id="696" name="Google Shape;696;p32"/>
          <p:cNvSpPr/>
          <p:nvPr/>
        </p:nvSpPr>
        <p:spPr>
          <a:xfrm rot="5400000">
            <a:off x="5654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7" name="Google Shape;697;p32"/>
          <p:cNvSpPr/>
          <p:nvPr/>
        </p:nvSpPr>
        <p:spPr>
          <a:xfrm rot="5400000">
            <a:off x="5829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8" name="Google Shape;698;p32"/>
          <p:cNvSpPr/>
          <p:nvPr/>
        </p:nvSpPr>
        <p:spPr>
          <a:xfrm rot="5400000">
            <a:off x="6004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9" name="Google Shape;699;p32"/>
          <p:cNvSpPr/>
          <p:nvPr/>
        </p:nvSpPr>
        <p:spPr>
          <a:xfrm rot="5400000">
            <a:off x="6179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0" name="Google Shape;700;p32"/>
          <p:cNvSpPr/>
          <p:nvPr/>
        </p:nvSpPr>
        <p:spPr>
          <a:xfrm rot="5400000">
            <a:off x="6354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1" name="Google Shape;701;p32"/>
          <p:cNvSpPr/>
          <p:nvPr/>
        </p:nvSpPr>
        <p:spPr>
          <a:xfrm rot="5400000">
            <a:off x="6529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2" name="Google Shape;702;p32"/>
          <p:cNvSpPr/>
          <p:nvPr/>
        </p:nvSpPr>
        <p:spPr>
          <a:xfrm rot="5400000">
            <a:off x="6704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3" name="Google Shape;703;p32"/>
          <p:cNvSpPr/>
          <p:nvPr/>
        </p:nvSpPr>
        <p:spPr>
          <a:xfrm rot="5400000">
            <a:off x="6879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4" name="Google Shape;704;p32"/>
          <p:cNvSpPr/>
          <p:nvPr/>
        </p:nvSpPr>
        <p:spPr>
          <a:xfrm rot="5400000">
            <a:off x="70539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5" name="Google Shape;705;p32"/>
          <p:cNvSpPr/>
          <p:nvPr/>
        </p:nvSpPr>
        <p:spPr>
          <a:xfrm rot="5400000">
            <a:off x="72288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6" name="Google Shape;706;p32"/>
          <p:cNvSpPr/>
          <p:nvPr/>
        </p:nvSpPr>
        <p:spPr>
          <a:xfrm rot="5400000">
            <a:off x="74037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7" name="Google Shape;707;p32"/>
          <p:cNvSpPr txBox="1"/>
          <p:nvPr/>
        </p:nvSpPr>
        <p:spPr>
          <a:xfrm>
            <a:off x="1555850" y="249642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708" name="Google Shape;708;p32"/>
          <p:cNvSpPr/>
          <p:nvPr/>
        </p:nvSpPr>
        <p:spPr>
          <a:xfrm>
            <a:off x="4354250" y="27842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sp>
        <p:nvSpPr>
          <p:cNvPr id="709" name="Google Shape;709;p32"/>
          <p:cNvSpPr/>
          <p:nvPr/>
        </p:nvSpPr>
        <p:spPr>
          <a:xfrm rot="5400000">
            <a:off x="1600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710" name="Google Shape;710;p32"/>
          <p:cNvSpPr/>
          <p:nvPr/>
        </p:nvSpPr>
        <p:spPr>
          <a:xfrm rot="5400000">
            <a:off x="1775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711" name="Google Shape;711;p32"/>
          <p:cNvSpPr/>
          <p:nvPr/>
        </p:nvSpPr>
        <p:spPr>
          <a:xfrm rot="5400000">
            <a:off x="1950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712" name="Google Shape;712;p32"/>
          <p:cNvSpPr/>
          <p:nvPr/>
        </p:nvSpPr>
        <p:spPr>
          <a:xfrm rot="5400000">
            <a:off x="2125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713" name="Google Shape;713;p32"/>
          <p:cNvSpPr/>
          <p:nvPr/>
        </p:nvSpPr>
        <p:spPr>
          <a:xfrm rot="5400000">
            <a:off x="2300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4" name="Google Shape;714;p32"/>
          <p:cNvSpPr/>
          <p:nvPr/>
        </p:nvSpPr>
        <p:spPr>
          <a:xfrm rot="5400000">
            <a:off x="2475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5" name="Google Shape;715;p32"/>
          <p:cNvSpPr/>
          <p:nvPr/>
        </p:nvSpPr>
        <p:spPr>
          <a:xfrm rot="5400000">
            <a:off x="2650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6" name="Google Shape;716;p32"/>
          <p:cNvSpPr/>
          <p:nvPr/>
        </p:nvSpPr>
        <p:spPr>
          <a:xfrm rot="5400000">
            <a:off x="2825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717" name="Google Shape;717;p32"/>
          <p:cNvSpPr/>
          <p:nvPr/>
        </p:nvSpPr>
        <p:spPr>
          <a:xfrm rot="5400000">
            <a:off x="3000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718" name="Google Shape;718;p32"/>
          <p:cNvSpPr/>
          <p:nvPr/>
        </p:nvSpPr>
        <p:spPr>
          <a:xfrm rot="5400000">
            <a:off x="3174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9" name="Google Shape;719;p32"/>
          <p:cNvSpPr/>
          <p:nvPr/>
        </p:nvSpPr>
        <p:spPr>
          <a:xfrm rot="5400000">
            <a:off x="3349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0" name="Google Shape;720;p32"/>
          <p:cNvSpPr/>
          <p:nvPr/>
        </p:nvSpPr>
        <p:spPr>
          <a:xfrm rot="5400000">
            <a:off x="3524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1" name="Google Shape;721;p32"/>
          <p:cNvSpPr/>
          <p:nvPr/>
        </p:nvSpPr>
        <p:spPr>
          <a:xfrm rot="5400000">
            <a:off x="3699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2" name="Google Shape;722;p32"/>
          <p:cNvSpPr/>
          <p:nvPr/>
        </p:nvSpPr>
        <p:spPr>
          <a:xfrm rot="5400000">
            <a:off x="3874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3" name="Google Shape;723;p32"/>
          <p:cNvSpPr/>
          <p:nvPr/>
        </p:nvSpPr>
        <p:spPr>
          <a:xfrm rot="5400000">
            <a:off x="4049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4" name="Google Shape;724;p32"/>
          <p:cNvSpPr/>
          <p:nvPr/>
        </p:nvSpPr>
        <p:spPr>
          <a:xfrm rot="5400000">
            <a:off x="4224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68" name="Google Shape;668;p32"/>
          <p:cNvSpPr/>
          <p:nvPr/>
        </p:nvSpPr>
        <p:spPr>
          <a:xfrm rot="5400000">
            <a:off x="4399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ISN+140</a:t>
            </a:r>
            <a:endParaRPr sz="1000">
              <a:latin typeface="Roboto"/>
              <a:ea typeface="Roboto"/>
              <a:cs typeface="Roboto"/>
              <a:sym typeface="Roboto"/>
            </a:endParaRPr>
          </a:p>
        </p:txBody>
      </p:sp>
      <p:sp>
        <p:nvSpPr>
          <p:cNvPr id="666" name="Google Shape;666;p32"/>
          <p:cNvSpPr/>
          <p:nvPr/>
        </p:nvSpPr>
        <p:spPr>
          <a:xfrm rot="5400000">
            <a:off x="4574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664" name="Google Shape;664;p32"/>
          <p:cNvSpPr/>
          <p:nvPr/>
        </p:nvSpPr>
        <p:spPr>
          <a:xfrm rot="5400000">
            <a:off x="4749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662" name="Google Shape;662;p32"/>
          <p:cNvSpPr/>
          <p:nvPr/>
        </p:nvSpPr>
        <p:spPr>
          <a:xfrm rot="5400000">
            <a:off x="4923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652" name="Google Shape;652;p32"/>
          <p:cNvSpPr/>
          <p:nvPr/>
        </p:nvSpPr>
        <p:spPr>
          <a:xfrm rot="5400000">
            <a:off x="5098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54" name="Google Shape;654;p32"/>
          <p:cNvSpPr/>
          <p:nvPr/>
        </p:nvSpPr>
        <p:spPr>
          <a:xfrm rot="5400000">
            <a:off x="5273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56" name="Google Shape;656;p32"/>
          <p:cNvSpPr/>
          <p:nvPr/>
        </p:nvSpPr>
        <p:spPr>
          <a:xfrm rot="5400000">
            <a:off x="5448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58" name="Google Shape;658;p32"/>
          <p:cNvSpPr/>
          <p:nvPr/>
        </p:nvSpPr>
        <p:spPr>
          <a:xfrm rot="5400000">
            <a:off x="5623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660" name="Google Shape;660;p32"/>
          <p:cNvSpPr/>
          <p:nvPr/>
        </p:nvSpPr>
        <p:spPr>
          <a:xfrm rot="5400000">
            <a:off x="5798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ISN+219</a:t>
            </a:r>
            <a:endParaRPr sz="1000">
              <a:latin typeface="Roboto"/>
              <a:ea typeface="Roboto"/>
              <a:cs typeface="Roboto"/>
              <a:sym typeface="Roboto"/>
            </a:endParaRPr>
          </a:p>
        </p:txBody>
      </p:sp>
      <p:sp>
        <p:nvSpPr>
          <p:cNvPr id="725" name="Google Shape;725;p32"/>
          <p:cNvSpPr/>
          <p:nvPr/>
        </p:nvSpPr>
        <p:spPr>
          <a:xfrm rot="5400000">
            <a:off x="5973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6" name="Google Shape;726;p32"/>
          <p:cNvSpPr/>
          <p:nvPr/>
        </p:nvSpPr>
        <p:spPr>
          <a:xfrm rot="5400000">
            <a:off x="6148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7" name="Google Shape;727;p32"/>
          <p:cNvSpPr/>
          <p:nvPr/>
        </p:nvSpPr>
        <p:spPr>
          <a:xfrm rot="5400000">
            <a:off x="6323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8" name="Google Shape;728;p32"/>
          <p:cNvSpPr/>
          <p:nvPr/>
        </p:nvSpPr>
        <p:spPr>
          <a:xfrm rot="5400000">
            <a:off x="6498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9" name="Google Shape;729;p32"/>
          <p:cNvSpPr/>
          <p:nvPr/>
        </p:nvSpPr>
        <p:spPr>
          <a:xfrm rot="5400000">
            <a:off x="6672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0" name="Google Shape;730;p32"/>
          <p:cNvSpPr/>
          <p:nvPr/>
        </p:nvSpPr>
        <p:spPr>
          <a:xfrm rot="5400000">
            <a:off x="6847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1" name="Google Shape;731;p32"/>
          <p:cNvSpPr/>
          <p:nvPr/>
        </p:nvSpPr>
        <p:spPr>
          <a:xfrm rot="5400000">
            <a:off x="7022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2" name="Google Shape;732;p32"/>
          <p:cNvSpPr/>
          <p:nvPr/>
        </p:nvSpPr>
        <p:spPr>
          <a:xfrm rot="5400000">
            <a:off x="7197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3" name="Google Shape;733;p32"/>
          <p:cNvSpPr/>
          <p:nvPr/>
        </p:nvSpPr>
        <p:spPr>
          <a:xfrm rot="5400000">
            <a:off x="73725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4" name="Google Shape;734;p32"/>
          <p:cNvSpPr/>
          <p:nvPr/>
        </p:nvSpPr>
        <p:spPr>
          <a:xfrm rot="5400000">
            <a:off x="75474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5" name="Google Shape;735;p32"/>
          <p:cNvSpPr/>
          <p:nvPr/>
        </p:nvSpPr>
        <p:spPr>
          <a:xfrm rot="5400000">
            <a:off x="77223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6" name="Google Shape;736;p32"/>
          <p:cNvSpPr txBox="1"/>
          <p:nvPr/>
        </p:nvSpPr>
        <p:spPr>
          <a:xfrm>
            <a:off x="1874450" y="47255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737" name="Google Shape;737;p32"/>
          <p:cNvCxnSpPr>
            <a:stCxn id="692" idx="3"/>
          </p:cNvCxnSpPr>
          <p:nvPr/>
        </p:nvCxnSpPr>
        <p:spPr>
          <a:xfrm>
            <a:off x="53162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38" name="Google Shape;738;p32"/>
          <p:cNvCxnSpPr>
            <a:stCxn id="693" idx="3"/>
          </p:cNvCxnSpPr>
          <p:nvPr/>
        </p:nvCxnSpPr>
        <p:spPr>
          <a:xfrm>
            <a:off x="54911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39" name="Google Shape;739;p32"/>
          <p:cNvCxnSpPr>
            <a:stCxn id="694" idx="3"/>
          </p:cNvCxnSpPr>
          <p:nvPr/>
        </p:nvCxnSpPr>
        <p:spPr>
          <a:xfrm>
            <a:off x="56660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40" name="Google Shape;740;p32"/>
          <p:cNvCxnSpPr>
            <a:stCxn id="695" idx="3"/>
          </p:cNvCxnSpPr>
          <p:nvPr/>
        </p:nvCxnSpPr>
        <p:spPr>
          <a:xfrm>
            <a:off x="58409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41" name="Google Shape;741;p32"/>
          <p:cNvCxnSpPr>
            <a:stCxn id="690" idx="3"/>
          </p:cNvCxnSpPr>
          <p:nvPr/>
        </p:nvCxnSpPr>
        <p:spPr>
          <a:xfrm>
            <a:off x="49664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42" name="Google Shape;742;p32"/>
          <p:cNvCxnSpPr>
            <a:stCxn id="689" idx="3"/>
          </p:cNvCxnSpPr>
          <p:nvPr/>
        </p:nvCxnSpPr>
        <p:spPr>
          <a:xfrm>
            <a:off x="47915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43" name="Google Shape;743;p32"/>
          <p:cNvCxnSpPr>
            <a:stCxn id="688" idx="3"/>
          </p:cNvCxnSpPr>
          <p:nvPr/>
        </p:nvCxnSpPr>
        <p:spPr>
          <a:xfrm>
            <a:off x="46166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44" name="Google Shape;744;p32"/>
          <p:cNvCxnSpPr>
            <a:stCxn id="687" idx="3"/>
          </p:cNvCxnSpPr>
          <p:nvPr/>
        </p:nvCxnSpPr>
        <p:spPr>
          <a:xfrm>
            <a:off x="44417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745" name="Google Shape;745;p32"/>
          <p:cNvCxnSpPr>
            <a:stCxn id="708" idx="2"/>
            <a:endCxn id="650" idx="0"/>
          </p:cNvCxnSpPr>
          <p:nvPr/>
        </p:nvCxnSpPr>
        <p:spPr>
          <a:xfrm>
            <a:off x="5141300" y="3094769"/>
            <a:ext cx="318600" cy="293400"/>
          </a:xfrm>
          <a:prstGeom prst="straightConnector1">
            <a:avLst/>
          </a:prstGeom>
          <a:noFill/>
          <a:ln w="9525" cap="flat" cmpd="sng">
            <a:solidFill>
              <a:schemeClr val="dk2"/>
            </a:solidFill>
            <a:prstDash val="solid"/>
            <a:round/>
            <a:headEnd type="none" w="med" len="med"/>
            <a:tailEnd type="triangle" w="med" len="med"/>
          </a:ln>
        </p:spPr>
      </p:cxnSp>
      <p:sp>
        <p:nvSpPr>
          <p:cNvPr id="746" name="Google Shape;746;p32"/>
          <p:cNvSpPr/>
          <p:nvPr/>
        </p:nvSpPr>
        <p:spPr>
          <a:xfrm>
            <a:off x="3921050" y="27842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747" name="Google Shape;747;p32"/>
          <p:cNvSpPr/>
          <p:nvPr/>
        </p:nvSpPr>
        <p:spPr>
          <a:xfrm>
            <a:off x="4239650" y="33881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cxnSp>
        <p:nvCxnSpPr>
          <p:cNvPr id="748" name="Google Shape;748;p32"/>
          <p:cNvCxnSpPr>
            <a:stCxn id="691" idx="3"/>
            <a:endCxn id="708" idx="0"/>
          </p:cNvCxnSpPr>
          <p:nvPr/>
        </p:nvCxnSpPr>
        <p:spPr>
          <a:xfrm>
            <a:off x="5141300" y="2479475"/>
            <a:ext cx="0" cy="304800"/>
          </a:xfrm>
          <a:prstGeom prst="straightConnector1">
            <a:avLst/>
          </a:prstGeom>
          <a:noFill/>
          <a:ln w="9525" cap="flat" cmpd="sng">
            <a:solidFill>
              <a:schemeClr val="dk2"/>
            </a:solidFill>
            <a:prstDash val="solid"/>
            <a:round/>
            <a:headEnd type="none" w="med" len="med"/>
            <a:tailEnd type="triangle" w="med" len="med"/>
          </a:ln>
        </p:spPr>
      </p:cxnSp>
      <p:sp>
        <p:nvSpPr>
          <p:cNvPr id="749" name="Google Shape;749;p32"/>
          <p:cNvSpPr/>
          <p:nvPr/>
        </p:nvSpPr>
        <p:spPr>
          <a:xfrm>
            <a:off x="6362300" y="3094775"/>
            <a:ext cx="1693200" cy="393600"/>
          </a:xfrm>
          <a:prstGeom prst="wedgeRoundRectCallout">
            <a:avLst>
              <a:gd name="adj1" fmla="val -51553"/>
              <a:gd name="adj2" fmla="val 170179"/>
              <a:gd name="adj3" fmla="val 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Ack: ISN + 220.</a:t>
            </a:r>
            <a:endParaRPr>
              <a:solidFill>
                <a:schemeClr val="accen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3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Sequence and Ack Numbers</a:t>
            </a:r>
            <a:endParaRPr/>
          </a:p>
        </p:txBody>
      </p:sp>
      <p:sp>
        <p:nvSpPr>
          <p:cNvPr id="755" name="Google Shape;755;p33"/>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sequence number of a segment is the number of the </a:t>
            </a:r>
            <a:r>
              <a:rPr lang="en" i="1"/>
              <a:t>first byte</a:t>
            </a:r>
            <a:r>
              <a:rPr lang="en"/>
              <a:t> in the segment.</a:t>
            </a:r>
            <a:endParaRPr/>
          </a:p>
          <a:p>
            <a:pPr marL="457200" lvl="0" indent="-342900" algn="l" rtl="0">
              <a:spcBef>
                <a:spcPts val="600"/>
              </a:spcBef>
              <a:spcAft>
                <a:spcPts val="0"/>
              </a:spcAft>
              <a:buSzPts val="1800"/>
              <a:buChar char="●"/>
            </a:pPr>
            <a:r>
              <a:rPr lang="en"/>
              <a:t>Sender sends a packet with sequence number </a:t>
            </a:r>
            <a:r>
              <a:rPr lang="en" i="1"/>
              <a:t>j</a:t>
            </a:r>
            <a:r>
              <a:rPr lang="en"/>
              <a:t>.</a:t>
            </a:r>
            <a:endParaRPr/>
          </a:p>
          <a:p>
            <a:pPr marL="457200" lvl="0" indent="-342900" algn="l" rtl="0">
              <a:spcBef>
                <a:spcPts val="0"/>
              </a:spcBef>
              <a:spcAft>
                <a:spcPts val="0"/>
              </a:spcAft>
              <a:buSzPts val="1800"/>
              <a:buChar char="●"/>
            </a:pPr>
            <a:r>
              <a:rPr lang="en"/>
              <a:t>The packet contains </a:t>
            </a:r>
            <a:r>
              <a:rPr lang="en" i="1"/>
              <a:t>B</a:t>
            </a:r>
            <a:r>
              <a:rPr lang="en"/>
              <a:t> bytes.</a:t>
            </a:r>
            <a:endParaRPr/>
          </a:p>
          <a:p>
            <a:pPr marL="457200" lvl="0" indent="-342900" algn="l" rtl="0">
              <a:spcBef>
                <a:spcPts val="0"/>
              </a:spcBef>
              <a:spcAft>
                <a:spcPts val="0"/>
              </a:spcAft>
              <a:buSzPts val="1800"/>
              <a:buChar char="●"/>
            </a:pPr>
            <a:r>
              <a:rPr lang="en"/>
              <a:t>Bytes in the packet are numbered: </a:t>
            </a:r>
            <a:r>
              <a:rPr lang="en" i="1"/>
              <a:t>j</a:t>
            </a:r>
            <a:r>
              <a:rPr lang="en"/>
              <a:t>,  </a:t>
            </a:r>
            <a:r>
              <a:rPr lang="en" i="1"/>
              <a:t>j</a:t>
            </a:r>
            <a:r>
              <a:rPr lang="en"/>
              <a:t>+1,  </a:t>
            </a:r>
            <a:r>
              <a:rPr lang="en" i="1"/>
              <a:t>j</a:t>
            </a:r>
            <a:r>
              <a:rPr lang="en"/>
              <a:t>+2,  </a:t>
            </a:r>
            <a:r>
              <a:rPr lang="en" i="1"/>
              <a:t>j</a:t>
            </a:r>
            <a:r>
              <a:rPr lang="en"/>
              <a:t>+3, ..., ,  </a:t>
            </a:r>
            <a:r>
              <a:rPr lang="en" i="1"/>
              <a:t>j</a:t>
            </a:r>
            <a:r>
              <a:rPr lang="en"/>
              <a:t>+</a:t>
            </a:r>
            <a:r>
              <a:rPr lang="en" i="1"/>
              <a:t>B</a:t>
            </a:r>
            <a:r>
              <a:rPr lang="en"/>
              <a:t>–1.</a:t>
            </a:r>
            <a:endParaRPr/>
          </a:p>
          <a:p>
            <a:pPr marL="0" lvl="0" indent="0" algn="l" rtl="0">
              <a:spcBef>
                <a:spcPts val="600"/>
              </a:spcBef>
              <a:spcAft>
                <a:spcPts val="0"/>
              </a:spcAft>
              <a:buNone/>
            </a:pPr>
            <a:r>
              <a:rPr lang="en"/>
              <a:t>Recipient sends a cumulative ack (number of highest byte received, plus one).</a:t>
            </a:r>
            <a:endParaRPr/>
          </a:p>
          <a:p>
            <a:pPr marL="457200" lvl="0" indent="-342900" algn="l" rtl="0">
              <a:spcBef>
                <a:spcPts val="600"/>
              </a:spcBef>
              <a:spcAft>
                <a:spcPts val="0"/>
              </a:spcAft>
              <a:buSzPts val="1800"/>
              <a:buChar char="●"/>
            </a:pPr>
            <a:r>
              <a:rPr lang="en"/>
              <a:t>If all prior data is received, ack number is </a:t>
            </a:r>
            <a:r>
              <a:rPr lang="en" i="1"/>
              <a:t>j</a:t>
            </a:r>
            <a:r>
              <a:rPr lang="en"/>
              <a:t>+</a:t>
            </a:r>
            <a:r>
              <a:rPr lang="en" i="1"/>
              <a:t>B</a:t>
            </a:r>
            <a:r>
              <a:rPr lang="en"/>
              <a:t>.</a:t>
            </a:r>
            <a:endParaRPr/>
          </a:p>
          <a:p>
            <a:pPr marL="457200" lvl="0" indent="-342900" algn="l" rtl="0">
              <a:spcBef>
                <a:spcPts val="0"/>
              </a:spcBef>
              <a:spcAft>
                <a:spcPts val="0"/>
              </a:spcAft>
              <a:buSzPts val="1800"/>
              <a:buChar char="●"/>
            </a:pPr>
            <a:r>
              <a:rPr lang="en"/>
              <a:t>Think of this as the next expected byte, or the first unreceived byte.</a:t>
            </a:r>
            <a:endParaRPr/>
          </a:p>
          <a:p>
            <a:pPr marL="457200" lvl="0" indent="-342900" algn="l" rtl="0">
              <a:spcBef>
                <a:spcPts val="0"/>
              </a:spcBef>
              <a:spcAft>
                <a:spcPts val="0"/>
              </a:spcAft>
              <a:buSzPts val="1800"/>
              <a:buChar char="●"/>
            </a:pPr>
            <a:r>
              <a:rPr lang="en"/>
              <a:t>If earlier data before this packet is missing, the ack number will be lower.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Google Shape;760;p3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Sequence and Ack Numbers</a:t>
            </a:r>
            <a:endParaRPr/>
          </a:p>
        </p:txBody>
      </p:sp>
      <p:sp>
        <p:nvSpPr>
          <p:cNvPr id="761" name="Google Shape;761;p34"/>
          <p:cNvSpPr txBox="1">
            <a:spLocks noGrp="1"/>
          </p:cNvSpPr>
          <p:nvPr>
            <p:ph type="body" idx="1"/>
          </p:nvPr>
        </p:nvSpPr>
        <p:spPr>
          <a:xfrm>
            <a:off x="107050" y="402200"/>
            <a:ext cx="8909700" cy="1341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Assuming only one packet in flight, all packets length </a:t>
            </a:r>
            <a:r>
              <a:rPr lang="en" i="1"/>
              <a:t>B</a:t>
            </a:r>
            <a:r>
              <a:rPr lang="en"/>
              <a:t>, and no loss:</a:t>
            </a:r>
            <a:endParaRPr/>
          </a:p>
          <a:p>
            <a:pPr marL="0" lvl="0" indent="0" algn="l" rtl="0">
              <a:spcBef>
                <a:spcPts val="600"/>
              </a:spcBef>
              <a:spcAft>
                <a:spcPts val="0"/>
              </a:spcAft>
              <a:buNone/>
            </a:pPr>
            <a:r>
              <a:rPr lang="en"/>
              <a:t>The last ack number is equal to the next sequence number.</a:t>
            </a:r>
            <a:endParaRPr/>
          </a:p>
          <a:p>
            <a:pPr marL="457200" lvl="0" indent="-342900" algn="l" rtl="0">
              <a:spcBef>
                <a:spcPts val="600"/>
              </a:spcBef>
              <a:spcAft>
                <a:spcPts val="0"/>
              </a:spcAft>
              <a:buSzPts val="1800"/>
              <a:buChar char="●"/>
            </a:pPr>
            <a:r>
              <a:rPr lang="en"/>
              <a:t>"I expect </a:t>
            </a:r>
            <a:r>
              <a:rPr lang="en" i="1"/>
              <a:t>j</a:t>
            </a:r>
            <a:r>
              <a:rPr lang="en"/>
              <a:t> + </a:t>
            </a:r>
            <a:r>
              <a:rPr lang="en" i="1"/>
              <a:t>B</a:t>
            </a:r>
            <a:r>
              <a:rPr lang="en"/>
              <a:t> next." → "I'm sending </a:t>
            </a:r>
            <a:r>
              <a:rPr lang="en" i="1"/>
              <a:t>j</a:t>
            </a:r>
            <a:r>
              <a:rPr lang="en"/>
              <a:t> + </a:t>
            </a:r>
            <a:r>
              <a:rPr lang="en" i="1"/>
              <a:t>B</a:t>
            </a:r>
            <a:r>
              <a:rPr lang="en"/>
              <a:t>."</a:t>
            </a:r>
            <a:endParaRPr/>
          </a:p>
        </p:txBody>
      </p:sp>
      <p:cxnSp>
        <p:nvCxnSpPr>
          <p:cNvPr id="762" name="Google Shape;762;p34"/>
          <p:cNvCxnSpPr/>
          <p:nvPr/>
        </p:nvCxnSpPr>
        <p:spPr>
          <a:xfrm>
            <a:off x="3037525" y="1791725"/>
            <a:ext cx="0" cy="2985600"/>
          </a:xfrm>
          <a:prstGeom prst="straightConnector1">
            <a:avLst/>
          </a:prstGeom>
          <a:noFill/>
          <a:ln w="19050" cap="flat" cmpd="sng">
            <a:solidFill>
              <a:srgbClr val="0000FF"/>
            </a:solidFill>
            <a:prstDash val="solid"/>
            <a:round/>
            <a:headEnd type="none" w="med" len="med"/>
            <a:tailEnd type="none" w="med" len="med"/>
          </a:ln>
        </p:spPr>
      </p:cxnSp>
      <p:sp>
        <p:nvSpPr>
          <p:cNvPr id="763" name="Google Shape;763;p34"/>
          <p:cNvSpPr txBox="1"/>
          <p:nvPr/>
        </p:nvSpPr>
        <p:spPr>
          <a:xfrm>
            <a:off x="2485075" y="4777424"/>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Sender</a:t>
            </a:r>
            <a:endParaRPr>
              <a:solidFill>
                <a:srgbClr val="0000FF"/>
              </a:solidFill>
              <a:latin typeface="Roboto"/>
              <a:ea typeface="Roboto"/>
              <a:cs typeface="Roboto"/>
              <a:sym typeface="Roboto"/>
            </a:endParaRPr>
          </a:p>
        </p:txBody>
      </p:sp>
      <p:cxnSp>
        <p:nvCxnSpPr>
          <p:cNvPr id="764" name="Google Shape;764;p34"/>
          <p:cNvCxnSpPr/>
          <p:nvPr/>
        </p:nvCxnSpPr>
        <p:spPr>
          <a:xfrm>
            <a:off x="6058925" y="1791725"/>
            <a:ext cx="0" cy="2985600"/>
          </a:xfrm>
          <a:prstGeom prst="straightConnector1">
            <a:avLst/>
          </a:prstGeom>
          <a:noFill/>
          <a:ln w="19050" cap="flat" cmpd="sng">
            <a:solidFill>
              <a:schemeClr val="accent2"/>
            </a:solidFill>
            <a:prstDash val="solid"/>
            <a:round/>
            <a:headEnd type="none" w="med" len="med"/>
            <a:tailEnd type="none" w="med" len="med"/>
          </a:ln>
        </p:spPr>
      </p:cxnSp>
      <p:sp>
        <p:nvSpPr>
          <p:cNvPr id="765" name="Google Shape;765;p34"/>
          <p:cNvSpPr txBox="1"/>
          <p:nvPr/>
        </p:nvSpPr>
        <p:spPr>
          <a:xfrm>
            <a:off x="5458934" y="4777424"/>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Recipient</a:t>
            </a:r>
            <a:endParaRPr>
              <a:solidFill>
                <a:schemeClr val="accent2"/>
              </a:solidFill>
              <a:latin typeface="Roboto"/>
              <a:ea typeface="Roboto"/>
              <a:cs typeface="Roboto"/>
              <a:sym typeface="Roboto"/>
            </a:endParaRPr>
          </a:p>
        </p:txBody>
      </p:sp>
      <p:grpSp>
        <p:nvGrpSpPr>
          <p:cNvPr id="766" name="Google Shape;766;p34"/>
          <p:cNvGrpSpPr/>
          <p:nvPr/>
        </p:nvGrpSpPr>
        <p:grpSpPr>
          <a:xfrm>
            <a:off x="3039475" y="2235652"/>
            <a:ext cx="3019775" cy="728348"/>
            <a:chOff x="3039475" y="1702252"/>
            <a:chExt cx="3019775" cy="728348"/>
          </a:xfrm>
        </p:grpSpPr>
        <p:cxnSp>
          <p:nvCxnSpPr>
            <p:cNvPr id="767" name="Google Shape;767;p34"/>
            <p:cNvCxnSpPr/>
            <p:nvPr/>
          </p:nvCxnSpPr>
          <p:spPr>
            <a:xfrm flipH="1">
              <a:off x="3039475" y="19812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768" name="Google Shape;768;p34"/>
            <p:cNvSpPr txBox="1"/>
            <p:nvPr/>
          </p:nvSpPr>
          <p:spPr>
            <a:xfrm rot="-511693">
              <a:off x="3050742" y="1923442"/>
              <a:ext cx="3004117"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ack = </a:t>
              </a:r>
              <a:r>
                <a:rPr lang="en" i="1">
                  <a:solidFill>
                    <a:schemeClr val="accent2"/>
                  </a:solidFill>
                  <a:latin typeface="Roboto"/>
                  <a:ea typeface="Roboto"/>
                  <a:cs typeface="Roboto"/>
                  <a:sym typeface="Roboto"/>
                </a:rPr>
                <a:t>j </a:t>
              </a:r>
              <a:r>
                <a:rPr lang="en">
                  <a:solidFill>
                    <a:schemeClr val="accent2"/>
                  </a:solidFill>
                  <a:latin typeface="Roboto"/>
                  <a:ea typeface="Roboto"/>
                  <a:cs typeface="Roboto"/>
                  <a:sym typeface="Roboto"/>
                </a:rPr>
                <a:t>+ </a:t>
              </a:r>
              <a:r>
                <a:rPr lang="en" i="1">
                  <a:solidFill>
                    <a:schemeClr val="accent2"/>
                  </a:solidFill>
                  <a:latin typeface="Roboto"/>
                  <a:ea typeface="Roboto"/>
                  <a:cs typeface="Roboto"/>
                  <a:sym typeface="Roboto"/>
                </a:rPr>
                <a:t>B</a:t>
              </a:r>
              <a:endParaRPr>
                <a:solidFill>
                  <a:schemeClr val="accent2"/>
                </a:solidFill>
                <a:latin typeface="Roboto"/>
                <a:ea typeface="Roboto"/>
                <a:cs typeface="Roboto"/>
                <a:sym typeface="Roboto"/>
              </a:endParaRPr>
            </a:p>
          </p:txBody>
        </p:sp>
      </p:grpSp>
      <p:grpSp>
        <p:nvGrpSpPr>
          <p:cNvPr id="769" name="Google Shape;769;p34"/>
          <p:cNvGrpSpPr/>
          <p:nvPr/>
        </p:nvGrpSpPr>
        <p:grpSpPr>
          <a:xfrm>
            <a:off x="3039500" y="1791725"/>
            <a:ext cx="3007800" cy="597249"/>
            <a:chOff x="3039500" y="3010925"/>
            <a:chExt cx="3007800" cy="597249"/>
          </a:xfrm>
        </p:grpSpPr>
        <p:cxnSp>
          <p:nvCxnSpPr>
            <p:cNvPr id="770" name="Google Shape;770;p34"/>
            <p:cNvCxnSpPr/>
            <p:nvPr/>
          </p:nvCxnSpPr>
          <p:spPr>
            <a:xfrm>
              <a:off x="3039500" y="31662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771" name="Google Shape;771;p34"/>
            <p:cNvSpPr txBox="1"/>
            <p:nvPr/>
          </p:nvSpPr>
          <p:spPr>
            <a:xfrm rot="509539">
              <a:off x="3957694" y="3092615"/>
              <a:ext cx="1127462"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seq = </a:t>
              </a:r>
              <a:r>
                <a:rPr lang="en" i="1">
                  <a:solidFill>
                    <a:srgbClr val="0000FF"/>
                  </a:solidFill>
                  <a:latin typeface="Roboto"/>
                  <a:ea typeface="Roboto"/>
                  <a:cs typeface="Roboto"/>
                  <a:sym typeface="Roboto"/>
                </a:rPr>
                <a:t>j</a:t>
              </a:r>
              <a:endParaRPr>
                <a:solidFill>
                  <a:srgbClr val="0000FF"/>
                </a:solidFill>
                <a:latin typeface="Roboto"/>
                <a:ea typeface="Roboto"/>
                <a:cs typeface="Roboto"/>
                <a:sym typeface="Roboto"/>
              </a:endParaRPr>
            </a:p>
          </p:txBody>
        </p:sp>
      </p:grpSp>
      <p:grpSp>
        <p:nvGrpSpPr>
          <p:cNvPr id="772" name="Google Shape;772;p34"/>
          <p:cNvGrpSpPr/>
          <p:nvPr/>
        </p:nvGrpSpPr>
        <p:grpSpPr>
          <a:xfrm>
            <a:off x="3039500" y="2932525"/>
            <a:ext cx="3007800" cy="599449"/>
            <a:chOff x="3039500" y="3999325"/>
            <a:chExt cx="3007800" cy="599449"/>
          </a:xfrm>
        </p:grpSpPr>
        <p:cxnSp>
          <p:nvCxnSpPr>
            <p:cNvPr id="773" name="Google Shape;773;p34"/>
            <p:cNvCxnSpPr/>
            <p:nvPr/>
          </p:nvCxnSpPr>
          <p:spPr>
            <a:xfrm>
              <a:off x="3039500" y="4156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774" name="Google Shape;774;p34"/>
            <p:cNvSpPr txBox="1"/>
            <p:nvPr/>
          </p:nvSpPr>
          <p:spPr>
            <a:xfrm rot="509640">
              <a:off x="3942862" y="4083115"/>
              <a:ext cx="1155676"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seq = </a:t>
              </a:r>
              <a:r>
                <a:rPr lang="en" i="1">
                  <a:solidFill>
                    <a:srgbClr val="0000FF"/>
                  </a:solidFill>
                  <a:latin typeface="Roboto"/>
                  <a:ea typeface="Roboto"/>
                  <a:cs typeface="Roboto"/>
                  <a:sym typeface="Roboto"/>
                </a:rPr>
                <a:t>j</a:t>
              </a:r>
              <a:r>
                <a:rPr lang="en">
                  <a:solidFill>
                    <a:srgbClr val="0000FF"/>
                  </a:solidFill>
                  <a:latin typeface="Roboto"/>
                  <a:ea typeface="Roboto"/>
                  <a:cs typeface="Roboto"/>
                  <a:sym typeface="Roboto"/>
                </a:rPr>
                <a:t> + </a:t>
              </a:r>
              <a:r>
                <a:rPr lang="en" i="1">
                  <a:solidFill>
                    <a:srgbClr val="0000FF"/>
                  </a:solidFill>
                  <a:latin typeface="Roboto"/>
                  <a:ea typeface="Roboto"/>
                  <a:cs typeface="Roboto"/>
                  <a:sym typeface="Roboto"/>
                </a:rPr>
                <a:t>B</a:t>
              </a:r>
              <a:endParaRPr>
                <a:solidFill>
                  <a:srgbClr val="0000FF"/>
                </a:solidFill>
                <a:latin typeface="Roboto"/>
                <a:ea typeface="Roboto"/>
                <a:cs typeface="Roboto"/>
                <a:sym typeface="Roboto"/>
              </a:endParaRPr>
            </a:p>
          </p:txBody>
        </p:sp>
      </p:grpSp>
      <p:grpSp>
        <p:nvGrpSpPr>
          <p:cNvPr id="775" name="Google Shape;775;p34"/>
          <p:cNvGrpSpPr/>
          <p:nvPr/>
        </p:nvGrpSpPr>
        <p:grpSpPr>
          <a:xfrm>
            <a:off x="3039475" y="3378652"/>
            <a:ext cx="3019775" cy="728348"/>
            <a:chOff x="3039475" y="1702252"/>
            <a:chExt cx="3019775" cy="728348"/>
          </a:xfrm>
        </p:grpSpPr>
        <p:cxnSp>
          <p:nvCxnSpPr>
            <p:cNvPr id="776" name="Google Shape;776;p34"/>
            <p:cNvCxnSpPr/>
            <p:nvPr/>
          </p:nvCxnSpPr>
          <p:spPr>
            <a:xfrm flipH="1">
              <a:off x="3039475" y="19812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777" name="Google Shape;777;p34"/>
            <p:cNvSpPr txBox="1"/>
            <p:nvPr/>
          </p:nvSpPr>
          <p:spPr>
            <a:xfrm rot="-511693">
              <a:off x="3050742" y="1923442"/>
              <a:ext cx="3004117"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ack = </a:t>
              </a:r>
              <a:r>
                <a:rPr lang="en" i="1">
                  <a:solidFill>
                    <a:schemeClr val="accent2"/>
                  </a:solidFill>
                  <a:latin typeface="Roboto"/>
                  <a:ea typeface="Roboto"/>
                  <a:cs typeface="Roboto"/>
                  <a:sym typeface="Roboto"/>
                </a:rPr>
                <a:t>j </a:t>
              </a:r>
              <a:r>
                <a:rPr lang="en">
                  <a:solidFill>
                    <a:schemeClr val="accent2"/>
                  </a:solidFill>
                  <a:latin typeface="Roboto"/>
                  <a:ea typeface="Roboto"/>
                  <a:cs typeface="Roboto"/>
                  <a:sym typeface="Roboto"/>
                </a:rPr>
                <a:t>+ 2</a:t>
              </a:r>
              <a:r>
                <a:rPr lang="en" i="1">
                  <a:solidFill>
                    <a:schemeClr val="accent2"/>
                  </a:solidFill>
                  <a:latin typeface="Roboto"/>
                  <a:ea typeface="Roboto"/>
                  <a:cs typeface="Roboto"/>
                  <a:sym typeface="Roboto"/>
                </a:rPr>
                <a:t>B</a:t>
              </a:r>
              <a:endParaRPr>
                <a:solidFill>
                  <a:schemeClr val="accent2"/>
                </a:solidFill>
                <a:latin typeface="Roboto"/>
                <a:ea typeface="Roboto"/>
                <a:cs typeface="Roboto"/>
                <a:sym typeface="Roboto"/>
              </a:endParaRPr>
            </a:p>
          </p:txBody>
        </p:sp>
      </p:grpSp>
      <p:grpSp>
        <p:nvGrpSpPr>
          <p:cNvPr id="778" name="Google Shape;778;p34"/>
          <p:cNvGrpSpPr/>
          <p:nvPr/>
        </p:nvGrpSpPr>
        <p:grpSpPr>
          <a:xfrm>
            <a:off x="3039500" y="4075525"/>
            <a:ext cx="3007800" cy="599449"/>
            <a:chOff x="3039500" y="3999325"/>
            <a:chExt cx="3007800" cy="599449"/>
          </a:xfrm>
        </p:grpSpPr>
        <p:cxnSp>
          <p:nvCxnSpPr>
            <p:cNvPr id="779" name="Google Shape;779;p34"/>
            <p:cNvCxnSpPr/>
            <p:nvPr/>
          </p:nvCxnSpPr>
          <p:spPr>
            <a:xfrm>
              <a:off x="3039500" y="4156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780" name="Google Shape;780;p34"/>
            <p:cNvSpPr txBox="1"/>
            <p:nvPr/>
          </p:nvSpPr>
          <p:spPr>
            <a:xfrm rot="509640">
              <a:off x="3942862" y="4083115"/>
              <a:ext cx="1155676"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seq = </a:t>
              </a:r>
              <a:r>
                <a:rPr lang="en" i="1">
                  <a:solidFill>
                    <a:srgbClr val="0000FF"/>
                  </a:solidFill>
                  <a:latin typeface="Roboto"/>
                  <a:ea typeface="Roboto"/>
                  <a:cs typeface="Roboto"/>
                  <a:sym typeface="Roboto"/>
                </a:rPr>
                <a:t>j</a:t>
              </a:r>
              <a:r>
                <a:rPr lang="en">
                  <a:solidFill>
                    <a:srgbClr val="0000FF"/>
                  </a:solidFill>
                  <a:latin typeface="Roboto"/>
                  <a:ea typeface="Roboto"/>
                  <a:cs typeface="Roboto"/>
                  <a:sym typeface="Roboto"/>
                </a:rPr>
                <a:t> + 2</a:t>
              </a:r>
              <a:r>
                <a:rPr lang="en" i="1">
                  <a:solidFill>
                    <a:srgbClr val="0000FF"/>
                  </a:solidFill>
                  <a:latin typeface="Roboto"/>
                  <a:ea typeface="Roboto"/>
                  <a:cs typeface="Roboto"/>
                  <a:sym typeface="Roboto"/>
                </a:rPr>
                <a:t>B</a:t>
              </a:r>
              <a:endParaRPr>
                <a:solidFill>
                  <a:srgbClr val="0000FF"/>
                </a:solidFill>
                <a:latin typeface="Roboto"/>
                <a:ea typeface="Roboto"/>
                <a:cs typeface="Roboto"/>
                <a:sym typeface="Roboto"/>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35"/>
          <p:cNvSpPr txBox="1">
            <a:spLocks noGrp="1"/>
          </p:cNvSpPr>
          <p:nvPr>
            <p:ph type="body" idx="1"/>
          </p:nvPr>
        </p:nvSpPr>
        <p:spPr>
          <a:xfrm>
            <a:off x="4812375" y="402200"/>
            <a:ext cx="415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Implementing TCP</a:t>
            </a:r>
            <a:endParaRPr>
              <a:solidFill>
                <a:srgbClr val="B7B7B7"/>
              </a:solidFill>
            </a:endParaRPr>
          </a:p>
          <a:p>
            <a:pPr marL="457200" lvl="0" indent="-342900" algn="l" rtl="0">
              <a:spcBef>
                <a:spcPts val="600"/>
              </a:spcBef>
              <a:spcAft>
                <a:spcPts val="0"/>
              </a:spcAft>
              <a:buClr>
                <a:srgbClr val="B7B7B7"/>
              </a:buClr>
              <a:buSzPts val="1800"/>
              <a:buChar char="•"/>
            </a:pPr>
            <a:r>
              <a:rPr lang="en">
                <a:solidFill>
                  <a:srgbClr val="B7B7B7"/>
                </a:solidFill>
              </a:rPr>
              <a:t>Byte Notation</a:t>
            </a:r>
            <a:br>
              <a:rPr lang="en">
                <a:solidFill>
                  <a:srgbClr val="B7B7B7"/>
                </a:solidFill>
              </a:rPr>
            </a:br>
            <a:r>
              <a:rPr lang="en">
                <a:solidFill>
                  <a:srgbClr val="B7B7B7"/>
                </a:solidFill>
              </a:rPr>
              <a:t>(Segments, Sequence Numbers)</a:t>
            </a:r>
            <a:endParaRPr>
              <a:solidFill>
                <a:srgbClr val="B7B7B7"/>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Maintaining State (Full Duplex, Connection Setup and Teardown)</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Sliding Window</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Header</a:t>
            </a:r>
            <a:endParaRPr>
              <a:solidFill>
                <a:srgbClr val="B7B7B7"/>
              </a:solidFill>
            </a:endParaRPr>
          </a:p>
        </p:txBody>
      </p:sp>
      <p:sp>
        <p:nvSpPr>
          <p:cNvPr id="786" name="Google Shape;786;p3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Maintaining State (Full Duplex)</a:t>
            </a:r>
            <a:endParaRPr/>
          </a:p>
        </p:txBody>
      </p:sp>
      <p:sp>
        <p:nvSpPr>
          <p:cNvPr id="787" name="Google Shape;787;p3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11, CS 168, Summer 2025</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3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State</a:t>
            </a:r>
            <a:endParaRPr/>
          </a:p>
        </p:txBody>
      </p:sp>
      <p:sp>
        <p:nvSpPr>
          <p:cNvPr id="793" name="Google Shape;793;p36"/>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Reliability requires maintaining </a:t>
            </a:r>
            <a:r>
              <a:rPr lang="en" i="1"/>
              <a:t>state</a:t>
            </a:r>
            <a:r>
              <a:rPr lang="en"/>
              <a:t> at the end hosts.</a:t>
            </a:r>
            <a:endParaRPr/>
          </a:p>
          <a:p>
            <a:pPr marL="457200" lvl="0" indent="-342900" algn="l" rtl="0">
              <a:spcBef>
                <a:spcPts val="600"/>
              </a:spcBef>
              <a:spcAft>
                <a:spcPts val="0"/>
              </a:spcAft>
              <a:buSzPts val="1800"/>
              <a:buChar char="●"/>
            </a:pPr>
            <a:r>
              <a:rPr lang="en"/>
              <a:t>Sender has to remember:</a:t>
            </a:r>
            <a:endParaRPr/>
          </a:p>
          <a:p>
            <a:pPr marL="914400" lvl="1" indent="-342900" algn="l" rtl="0">
              <a:spcBef>
                <a:spcPts val="0"/>
              </a:spcBef>
              <a:spcAft>
                <a:spcPts val="0"/>
              </a:spcAft>
              <a:buSzPts val="1800"/>
              <a:buChar char="○"/>
            </a:pPr>
            <a:r>
              <a:rPr lang="en"/>
              <a:t>Which packets have been sent and not acked?</a:t>
            </a:r>
            <a:endParaRPr/>
          </a:p>
          <a:p>
            <a:pPr marL="914400" lvl="1" indent="-342900" algn="l" rtl="0">
              <a:spcBef>
                <a:spcPts val="0"/>
              </a:spcBef>
              <a:spcAft>
                <a:spcPts val="0"/>
              </a:spcAft>
              <a:buSzPts val="1800"/>
              <a:buChar char="○"/>
            </a:pPr>
            <a:r>
              <a:rPr lang="en"/>
              <a:t>How much longer on the timer before I resend a packet?</a:t>
            </a:r>
            <a:endParaRPr/>
          </a:p>
          <a:p>
            <a:pPr marL="457200" lvl="0" indent="-342900" algn="l" rtl="0">
              <a:spcBef>
                <a:spcPts val="0"/>
              </a:spcBef>
              <a:spcAft>
                <a:spcPts val="0"/>
              </a:spcAft>
              <a:buSzPts val="1800"/>
              <a:buChar char="●"/>
            </a:pPr>
            <a:r>
              <a:rPr lang="en"/>
              <a:t>Receiver has to buffer the out-of-order packets.</a:t>
            </a:r>
            <a:endParaRPr/>
          </a:p>
          <a:p>
            <a:pPr marL="457200" lvl="0" indent="-342900" algn="l" rtl="0">
              <a:spcBef>
                <a:spcPts val="0"/>
              </a:spcBef>
              <a:spcAft>
                <a:spcPts val="0"/>
              </a:spcAft>
              <a:buSzPts val="1800"/>
              <a:buChar char="●"/>
            </a:pPr>
            <a:r>
              <a:rPr lang="en"/>
              <a:t>State is maintained at the end hosts, not in the network.</a:t>
            </a:r>
            <a:endParaRPr/>
          </a:p>
          <a:p>
            <a:pPr marL="0" lvl="0" indent="0" algn="l" rtl="0">
              <a:spcBef>
                <a:spcPts val="600"/>
              </a:spcBef>
              <a:spcAft>
                <a:spcPts val="0"/>
              </a:spcAft>
              <a:buNone/>
            </a:pPr>
            <a:r>
              <a:rPr lang="en"/>
              <a:t>In each separate connection, both end hosts need to maintain state.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p3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is Full-Duplex</a:t>
            </a:r>
            <a:endParaRPr/>
          </a:p>
        </p:txBody>
      </p:sp>
      <p:sp>
        <p:nvSpPr>
          <p:cNvPr id="799" name="Google Shape;799;p37"/>
          <p:cNvSpPr txBox="1">
            <a:spLocks noGrp="1"/>
          </p:cNvSpPr>
          <p:nvPr>
            <p:ph type="body" idx="1"/>
          </p:nvPr>
        </p:nvSpPr>
        <p:spPr>
          <a:xfrm>
            <a:off x="107050" y="402200"/>
            <a:ext cx="8909700" cy="3439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So far, we defined a sender and a recipient in every connection.</a:t>
            </a:r>
            <a:endParaRPr/>
          </a:p>
          <a:p>
            <a:pPr marL="0" lvl="0" indent="0" algn="l" rtl="0">
              <a:spcBef>
                <a:spcPts val="600"/>
              </a:spcBef>
              <a:spcAft>
                <a:spcPts val="0"/>
              </a:spcAft>
              <a:buNone/>
            </a:pPr>
            <a:r>
              <a:rPr lang="en"/>
              <a:t>Connections in TCP are </a:t>
            </a:r>
            <a:r>
              <a:rPr lang="en" b="1"/>
              <a:t>full-duplex</a:t>
            </a:r>
            <a:r>
              <a:rPr lang="en"/>
              <a:t>.</a:t>
            </a:r>
            <a:endParaRPr/>
          </a:p>
          <a:p>
            <a:pPr marL="457200" lvl="0" indent="-342900" algn="l" rtl="0">
              <a:spcBef>
                <a:spcPts val="600"/>
              </a:spcBef>
              <a:spcAft>
                <a:spcPts val="0"/>
              </a:spcAft>
              <a:buSzPts val="1800"/>
              <a:buChar char="●"/>
            </a:pPr>
            <a:r>
              <a:rPr lang="en"/>
              <a:t>Both hosts can send data, and both hosts can receive data.</a:t>
            </a:r>
            <a:endParaRPr/>
          </a:p>
          <a:p>
            <a:pPr marL="457200" lvl="0" indent="-342900" algn="l" rtl="0">
              <a:spcBef>
                <a:spcPts val="0"/>
              </a:spcBef>
              <a:spcAft>
                <a:spcPts val="0"/>
              </a:spcAft>
              <a:buSzPts val="1800"/>
              <a:buChar char="●"/>
            </a:pPr>
            <a:r>
              <a:rPr lang="en"/>
              <a:t>A can send to B, and B can send to A, simultaneously, in the same connection.</a:t>
            </a:r>
            <a:endParaRPr/>
          </a:p>
          <a:p>
            <a:pPr marL="0" lvl="0" indent="0" algn="l" rtl="0">
              <a:spcBef>
                <a:spcPts val="600"/>
              </a:spcBef>
              <a:spcAft>
                <a:spcPts val="0"/>
              </a:spcAft>
              <a:buNone/>
            </a:pPr>
            <a:r>
              <a:rPr lang="en"/>
              <a:t>To support full-duplex connections:</a:t>
            </a:r>
            <a:endParaRPr/>
          </a:p>
          <a:p>
            <a:pPr marL="457200" lvl="0" indent="-342900" algn="l" rtl="0">
              <a:spcBef>
                <a:spcPts val="600"/>
              </a:spcBef>
              <a:spcAft>
                <a:spcPts val="0"/>
              </a:spcAft>
              <a:buSzPts val="1800"/>
              <a:buChar char="●"/>
            </a:pPr>
            <a:r>
              <a:rPr lang="en"/>
              <a:t>Two sets of sequence numbers: One for A→B bytes, and one for B→A bytes.</a:t>
            </a:r>
            <a:endParaRPr/>
          </a:p>
          <a:p>
            <a:pPr marL="457200" lvl="0" indent="-342900" algn="l" rtl="0">
              <a:spcBef>
                <a:spcPts val="0"/>
              </a:spcBef>
              <a:spcAft>
                <a:spcPts val="0"/>
              </a:spcAft>
              <a:buSzPts val="1800"/>
              <a:buChar char="●"/>
            </a:pPr>
            <a:r>
              <a:rPr lang="en"/>
              <a:t>Each packet carries both data and ack information.</a:t>
            </a:r>
            <a:endParaRPr/>
          </a:p>
          <a:p>
            <a:pPr marL="914400" lvl="1" indent="-342900" algn="l" rtl="0">
              <a:spcBef>
                <a:spcPts val="0"/>
              </a:spcBef>
              <a:spcAft>
                <a:spcPts val="0"/>
              </a:spcAft>
              <a:buSzPts val="1800"/>
              <a:buChar char="○"/>
            </a:pPr>
            <a:r>
              <a:rPr lang="en"/>
              <a:t>"Here are some bytes starting at 15..."</a:t>
            </a:r>
            <a:endParaRPr/>
          </a:p>
          <a:p>
            <a:pPr marL="914400" lvl="1" indent="-342900" algn="l" rtl="0">
              <a:spcBef>
                <a:spcPts val="0"/>
              </a:spcBef>
              <a:spcAft>
                <a:spcPts val="0"/>
              </a:spcAft>
              <a:buSzPts val="1800"/>
              <a:buChar char="○"/>
            </a:pPr>
            <a:r>
              <a:rPr lang="en"/>
              <a:t>"...Also, I ack receiving all your bytes up to (not including) 84."</a:t>
            </a:r>
            <a:endParaRPr/>
          </a:p>
        </p:txBody>
      </p:sp>
      <p:graphicFrame>
        <p:nvGraphicFramePr>
          <p:cNvPr id="800" name="Google Shape;800;p37"/>
          <p:cNvGraphicFramePr/>
          <p:nvPr/>
        </p:nvGraphicFramePr>
        <p:xfrm>
          <a:off x="604025" y="3961400"/>
          <a:ext cx="3000000" cy="3000000"/>
        </p:xfrm>
        <a:graphic>
          <a:graphicData uri="http://schemas.openxmlformats.org/drawingml/2006/table">
            <a:tbl>
              <a:tblPr>
                <a:noFill/>
                <a:tableStyleId>{1F736DB2-8000-4A80-A771-95157FF95D4A}</a:tableStyleId>
              </a:tblPr>
              <a:tblGrid>
                <a:gridCol w="517075">
                  <a:extLst>
                    <a:ext uri="{9D8B030D-6E8A-4147-A177-3AD203B41FA5}">
                      <a16:colId xmlns:a16="http://schemas.microsoft.com/office/drawing/2014/main" val="20000"/>
                    </a:ext>
                  </a:extLst>
                </a:gridCol>
                <a:gridCol w="517075">
                  <a:extLst>
                    <a:ext uri="{9D8B030D-6E8A-4147-A177-3AD203B41FA5}">
                      <a16:colId xmlns:a16="http://schemas.microsoft.com/office/drawing/2014/main" val="20001"/>
                    </a:ext>
                  </a:extLst>
                </a:gridCol>
                <a:gridCol w="517075">
                  <a:extLst>
                    <a:ext uri="{9D8B030D-6E8A-4147-A177-3AD203B41FA5}">
                      <a16:colId xmlns:a16="http://schemas.microsoft.com/office/drawing/2014/main" val="20002"/>
                    </a:ext>
                  </a:extLst>
                </a:gridCol>
                <a:gridCol w="517075">
                  <a:extLst>
                    <a:ext uri="{9D8B030D-6E8A-4147-A177-3AD203B41FA5}">
                      <a16:colId xmlns:a16="http://schemas.microsoft.com/office/drawing/2014/main" val="20003"/>
                    </a:ext>
                  </a:extLst>
                </a:gridCol>
                <a:gridCol w="517075">
                  <a:extLst>
                    <a:ext uri="{9D8B030D-6E8A-4147-A177-3AD203B41FA5}">
                      <a16:colId xmlns:a16="http://schemas.microsoft.com/office/drawing/2014/main" val="20004"/>
                    </a:ext>
                  </a:extLst>
                </a:gridCol>
                <a:gridCol w="517075">
                  <a:extLst>
                    <a:ext uri="{9D8B030D-6E8A-4147-A177-3AD203B41FA5}">
                      <a16:colId xmlns:a16="http://schemas.microsoft.com/office/drawing/2014/main" val="20005"/>
                    </a:ext>
                  </a:extLst>
                </a:gridCol>
                <a:gridCol w="517075">
                  <a:extLst>
                    <a:ext uri="{9D8B030D-6E8A-4147-A177-3AD203B41FA5}">
                      <a16:colId xmlns:a16="http://schemas.microsoft.com/office/drawing/2014/main" val="20006"/>
                    </a:ext>
                  </a:extLst>
                </a:gridCol>
              </a:tblGrid>
              <a:tr h="336675">
                <a:tc>
                  <a:txBody>
                    <a:bodyPr/>
                    <a:lstStyle/>
                    <a:p>
                      <a:pPr marL="0" lvl="0" indent="0" algn="ctr" rtl="0">
                        <a:spcBef>
                          <a:spcPts val="0"/>
                        </a:spcBef>
                        <a:spcAft>
                          <a:spcPts val="0"/>
                        </a:spcAft>
                        <a:buNone/>
                      </a:pPr>
                      <a:r>
                        <a:rPr lang="en" sz="1600">
                          <a:latin typeface="Roboto"/>
                          <a:ea typeface="Roboto"/>
                          <a:cs typeface="Roboto"/>
                          <a:sym typeface="Roboto"/>
                        </a:rPr>
                        <a:t>15</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16</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17</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18</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19</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20</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21</a:t>
                      </a:r>
                      <a:endParaRPr sz="1600">
                        <a:latin typeface="Roboto"/>
                        <a:ea typeface="Roboto"/>
                        <a:cs typeface="Roboto"/>
                        <a:sym typeface="Roboto"/>
                      </a:endParaRPr>
                    </a:p>
                  </a:txBody>
                  <a:tcPr marL="45700" marR="45700" marT="45700" marB="45700"/>
                </a:tc>
                <a:extLst>
                  <a:ext uri="{0D108BD9-81ED-4DB2-BD59-A6C34878D82A}">
                    <a16:rowId xmlns:a16="http://schemas.microsoft.com/office/drawing/2014/main" val="10000"/>
                  </a:ext>
                </a:extLst>
              </a:tr>
              <a:tr h="336675">
                <a:tc>
                  <a:txBody>
                    <a:bodyPr/>
                    <a:lstStyle/>
                    <a:p>
                      <a:pPr marL="0" lvl="0" indent="0" algn="ctr" rtl="0">
                        <a:spcBef>
                          <a:spcPts val="0"/>
                        </a:spcBef>
                        <a:spcAft>
                          <a:spcPts val="0"/>
                        </a:spcAft>
                        <a:buNone/>
                      </a:pPr>
                      <a:r>
                        <a:rPr lang="en" sz="1600">
                          <a:latin typeface="Roboto"/>
                          <a:ea typeface="Roboto"/>
                          <a:cs typeface="Roboto"/>
                          <a:sym typeface="Roboto"/>
                        </a:rPr>
                        <a:t>H</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e</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o</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B</a:t>
                      </a:r>
                      <a:endParaRPr sz="1600">
                        <a:latin typeface="Roboto"/>
                        <a:ea typeface="Roboto"/>
                        <a:cs typeface="Roboto"/>
                        <a:sym typeface="Roboto"/>
                      </a:endParaRPr>
                    </a:p>
                  </a:txBody>
                  <a:tcPr marL="45700" marR="45700" marT="45700" marB="45700"/>
                </a:tc>
                <a:extLst>
                  <a:ext uri="{0D108BD9-81ED-4DB2-BD59-A6C34878D82A}">
                    <a16:rowId xmlns:a16="http://schemas.microsoft.com/office/drawing/2014/main" val="10001"/>
                  </a:ext>
                </a:extLst>
              </a:tr>
            </a:tbl>
          </a:graphicData>
        </a:graphic>
      </p:graphicFrame>
      <p:graphicFrame>
        <p:nvGraphicFramePr>
          <p:cNvPr id="801" name="Google Shape;801;p37"/>
          <p:cNvGraphicFramePr/>
          <p:nvPr/>
        </p:nvGraphicFramePr>
        <p:xfrm>
          <a:off x="4920425" y="3961400"/>
          <a:ext cx="3000000" cy="3000000"/>
        </p:xfrm>
        <a:graphic>
          <a:graphicData uri="http://schemas.openxmlformats.org/drawingml/2006/table">
            <a:tbl>
              <a:tblPr>
                <a:noFill/>
                <a:tableStyleId>{1F736DB2-8000-4A80-A771-95157FF95D4A}</a:tableStyleId>
              </a:tblPr>
              <a:tblGrid>
                <a:gridCol w="517075">
                  <a:extLst>
                    <a:ext uri="{9D8B030D-6E8A-4147-A177-3AD203B41FA5}">
                      <a16:colId xmlns:a16="http://schemas.microsoft.com/office/drawing/2014/main" val="20000"/>
                    </a:ext>
                  </a:extLst>
                </a:gridCol>
                <a:gridCol w="517075">
                  <a:extLst>
                    <a:ext uri="{9D8B030D-6E8A-4147-A177-3AD203B41FA5}">
                      <a16:colId xmlns:a16="http://schemas.microsoft.com/office/drawing/2014/main" val="20001"/>
                    </a:ext>
                  </a:extLst>
                </a:gridCol>
                <a:gridCol w="517075">
                  <a:extLst>
                    <a:ext uri="{9D8B030D-6E8A-4147-A177-3AD203B41FA5}">
                      <a16:colId xmlns:a16="http://schemas.microsoft.com/office/drawing/2014/main" val="20002"/>
                    </a:ext>
                  </a:extLst>
                </a:gridCol>
                <a:gridCol w="517075">
                  <a:extLst>
                    <a:ext uri="{9D8B030D-6E8A-4147-A177-3AD203B41FA5}">
                      <a16:colId xmlns:a16="http://schemas.microsoft.com/office/drawing/2014/main" val="20003"/>
                    </a:ext>
                  </a:extLst>
                </a:gridCol>
                <a:gridCol w="517075">
                  <a:extLst>
                    <a:ext uri="{9D8B030D-6E8A-4147-A177-3AD203B41FA5}">
                      <a16:colId xmlns:a16="http://schemas.microsoft.com/office/drawing/2014/main" val="20004"/>
                    </a:ext>
                  </a:extLst>
                </a:gridCol>
                <a:gridCol w="517075">
                  <a:extLst>
                    <a:ext uri="{9D8B030D-6E8A-4147-A177-3AD203B41FA5}">
                      <a16:colId xmlns:a16="http://schemas.microsoft.com/office/drawing/2014/main" val="20005"/>
                    </a:ext>
                  </a:extLst>
                </a:gridCol>
                <a:gridCol w="517075">
                  <a:extLst>
                    <a:ext uri="{9D8B030D-6E8A-4147-A177-3AD203B41FA5}">
                      <a16:colId xmlns:a16="http://schemas.microsoft.com/office/drawing/2014/main" val="20006"/>
                    </a:ext>
                  </a:extLst>
                </a:gridCol>
              </a:tblGrid>
              <a:tr h="231000">
                <a:tc>
                  <a:txBody>
                    <a:bodyPr/>
                    <a:lstStyle/>
                    <a:p>
                      <a:pPr marL="0" lvl="0" indent="0" algn="ctr" rtl="0">
                        <a:spcBef>
                          <a:spcPts val="0"/>
                        </a:spcBef>
                        <a:spcAft>
                          <a:spcPts val="0"/>
                        </a:spcAft>
                        <a:buNone/>
                      </a:pPr>
                      <a:r>
                        <a:rPr lang="en" sz="1600">
                          <a:latin typeface="Roboto"/>
                          <a:ea typeface="Roboto"/>
                          <a:cs typeface="Roboto"/>
                          <a:sym typeface="Roboto"/>
                        </a:rPr>
                        <a:t>77</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78</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79</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80</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81</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82</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83</a:t>
                      </a:r>
                      <a:endParaRPr sz="1600">
                        <a:latin typeface="Roboto"/>
                        <a:ea typeface="Roboto"/>
                        <a:cs typeface="Roboto"/>
                        <a:sym typeface="Roboto"/>
                      </a:endParaRPr>
                    </a:p>
                  </a:txBody>
                  <a:tcPr marL="45700" marR="45700" marT="45700" marB="45700"/>
                </a:tc>
                <a:extLst>
                  <a:ext uri="{0D108BD9-81ED-4DB2-BD59-A6C34878D82A}">
                    <a16:rowId xmlns:a16="http://schemas.microsoft.com/office/drawing/2014/main" val="10000"/>
                  </a:ext>
                </a:extLst>
              </a:tr>
              <a:tr h="231000">
                <a:tc>
                  <a:txBody>
                    <a:bodyPr/>
                    <a:lstStyle/>
                    <a:p>
                      <a:pPr marL="0" lvl="0" indent="0" algn="ctr" rtl="0">
                        <a:spcBef>
                          <a:spcPts val="0"/>
                        </a:spcBef>
                        <a:spcAft>
                          <a:spcPts val="0"/>
                        </a:spcAft>
                        <a:buNone/>
                      </a:pPr>
                      <a:r>
                        <a:rPr lang="en" sz="1600">
                          <a:latin typeface="Roboto"/>
                          <a:ea typeface="Roboto"/>
                          <a:cs typeface="Roboto"/>
                          <a:sym typeface="Roboto"/>
                        </a:rPr>
                        <a:t>H</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e</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l</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o</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a:t>
                      </a:r>
                      <a:endParaRPr sz="1600">
                        <a:latin typeface="Roboto"/>
                        <a:ea typeface="Roboto"/>
                        <a:cs typeface="Roboto"/>
                        <a:sym typeface="Roboto"/>
                      </a:endParaRPr>
                    </a:p>
                  </a:txBody>
                  <a:tcPr marL="45700" marR="45700" marT="45700" marB="45700"/>
                </a:tc>
                <a:tc>
                  <a:txBody>
                    <a:bodyPr/>
                    <a:lstStyle/>
                    <a:p>
                      <a:pPr marL="0" lvl="0" indent="0" algn="ctr" rtl="0">
                        <a:spcBef>
                          <a:spcPts val="0"/>
                        </a:spcBef>
                        <a:spcAft>
                          <a:spcPts val="0"/>
                        </a:spcAft>
                        <a:buNone/>
                      </a:pPr>
                      <a:r>
                        <a:rPr lang="en" sz="1600">
                          <a:latin typeface="Roboto"/>
                          <a:ea typeface="Roboto"/>
                          <a:cs typeface="Roboto"/>
                          <a:sym typeface="Roboto"/>
                        </a:rPr>
                        <a:t>A</a:t>
                      </a:r>
                      <a:endParaRPr sz="1600">
                        <a:latin typeface="Roboto"/>
                        <a:ea typeface="Roboto"/>
                        <a:cs typeface="Roboto"/>
                        <a:sym typeface="Roboto"/>
                      </a:endParaRPr>
                    </a:p>
                  </a:txBody>
                  <a:tcPr marL="45700" marR="45700" marT="45700" marB="45700"/>
                </a:tc>
                <a:extLst>
                  <a:ext uri="{0D108BD9-81ED-4DB2-BD59-A6C34878D82A}">
                    <a16:rowId xmlns:a16="http://schemas.microsoft.com/office/drawing/2014/main" val="10001"/>
                  </a:ext>
                </a:extLst>
              </a:tr>
            </a:tbl>
          </a:graphicData>
        </a:graphic>
      </p:graphicFrame>
      <p:sp>
        <p:nvSpPr>
          <p:cNvPr id="802" name="Google Shape;802;p37"/>
          <p:cNvSpPr txBox="1"/>
          <p:nvPr/>
        </p:nvSpPr>
        <p:spPr>
          <a:xfrm>
            <a:off x="604025" y="4631850"/>
            <a:ext cx="2273700" cy="3018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600">
                <a:solidFill>
                  <a:schemeClr val="dk1"/>
                </a:solidFill>
                <a:latin typeface="Roboto"/>
                <a:ea typeface="Roboto"/>
                <a:cs typeface="Roboto"/>
                <a:sym typeface="Roboto"/>
              </a:rPr>
              <a:t>A to B bytestream</a:t>
            </a:r>
            <a:endParaRPr sz="1600">
              <a:solidFill>
                <a:schemeClr val="dk1"/>
              </a:solidFill>
              <a:latin typeface="Roboto"/>
              <a:ea typeface="Roboto"/>
              <a:cs typeface="Roboto"/>
              <a:sym typeface="Roboto"/>
            </a:endParaRPr>
          </a:p>
        </p:txBody>
      </p:sp>
      <p:sp>
        <p:nvSpPr>
          <p:cNvPr id="803" name="Google Shape;803;p37"/>
          <p:cNvSpPr txBox="1"/>
          <p:nvPr/>
        </p:nvSpPr>
        <p:spPr>
          <a:xfrm>
            <a:off x="4920425" y="4631850"/>
            <a:ext cx="2273700" cy="3018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600">
                <a:solidFill>
                  <a:schemeClr val="dk1"/>
                </a:solidFill>
                <a:latin typeface="Roboto"/>
                <a:ea typeface="Roboto"/>
                <a:cs typeface="Roboto"/>
                <a:sym typeface="Roboto"/>
              </a:rPr>
              <a:t>B to A bytestream</a:t>
            </a:r>
            <a:endParaRPr sz="1600">
              <a:solidFill>
                <a:schemeClr val="dk1"/>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3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Connection Setup: Three-Way Handshake</a:t>
            </a:r>
            <a:endParaRPr/>
          </a:p>
        </p:txBody>
      </p:sp>
      <p:sp>
        <p:nvSpPr>
          <p:cNvPr id="809" name="Google Shape;809;p38"/>
          <p:cNvSpPr txBox="1">
            <a:spLocks noGrp="1"/>
          </p:cNvSpPr>
          <p:nvPr>
            <p:ph type="body" idx="1"/>
          </p:nvPr>
        </p:nvSpPr>
        <p:spPr>
          <a:xfrm>
            <a:off x="107050" y="402200"/>
            <a:ext cx="8909700" cy="2256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Goal: Each host tells its ISN to the other host.</a:t>
            </a:r>
            <a:endParaRPr/>
          </a:p>
          <a:p>
            <a:pPr marL="457200" lvl="0" indent="-342900" algn="l" rtl="0">
              <a:spcBef>
                <a:spcPts val="600"/>
              </a:spcBef>
              <a:spcAft>
                <a:spcPts val="0"/>
              </a:spcAft>
              <a:buSzPts val="1800"/>
              <a:buAutoNum type="arabicPeriod"/>
            </a:pPr>
            <a:r>
              <a:rPr lang="en">
                <a:solidFill>
                  <a:srgbClr val="0000FF"/>
                </a:solidFill>
              </a:rPr>
              <a:t>SYN.</a:t>
            </a:r>
            <a:r>
              <a:rPr lang="en"/>
              <a:t> Client says: "Here's my ISN."</a:t>
            </a:r>
            <a:endParaRPr/>
          </a:p>
          <a:p>
            <a:pPr marL="457200" lvl="0" indent="-342900" algn="l" rtl="0">
              <a:spcBef>
                <a:spcPts val="0"/>
              </a:spcBef>
              <a:spcAft>
                <a:spcPts val="0"/>
              </a:spcAft>
              <a:buSzPts val="1800"/>
              <a:buAutoNum type="arabicPeriod"/>
            </a:pPr>
            <a:r>
              <a:rPr lang="en">
                <a:solidFill>
                  <a:schemeClr val="accent2"/>
                </a:solidFill>
              </a:rPr>
              <a:t>SYN-ACK.</a:t>
            </a:r>
            <a:r>
              <a:rPr lang="en"/>
              <a:t> Server says: "I received your ISN. Also, here's my ISN."</a:t>
            </a:r>
            <a:endParaRPr/>
          </a:p>
          <a:p>
            <a:pPr marL="457200" lvl="0" indent="-342900" algn="l" rtl="0">
              <a:spcBef>
                <a:spcPts val="0"/>
              </a:spcBef>
              <a:spcAft>
                <a:spcPts val="0"/>
              </a:spcAft>
              <a:buSzPts val="1800"/>
              <a:buAutoNum type="arabicPeriod"/>
            </a:pPr>
            <a:r>
              <a:rPr lang="en">
                <a:solidFill>
                  <a:srgbClr val="0000FF"/>
                </a:solidFill>
              </a:rPr>
              <a:t>ACK</a:t>
            </a:r>
            <a:r>
              <a:rPr lang="en"/>
              <a:t>. Client says: "I received your ISN."</a:t>
            </a:r>
            <a:endParaRPr/>
          </a:p>
          <a:p>
            <a:pPr marL="0" lvl="0" indent="0" algn="l" rtl="0">
              <a:spcBef>
                <a:spcPts val="600"/>
              </a:spcBef>
              <a:spcAft>
                <a:spcPts val="0"/>
              </a:spcAft>
              <a:buNone/>
            </a:pPr>
            <a:r>
              <a:rPr lang="en"/>
              <a:t>After the three-way handshake, both sides can start sending data.</a:t>
            </a:r>
            <a:endParaRPr/>
          </a:p>
        </p:txBody>
      </p:sp>
      <p:grpSp>
        <p:nvGrpSpPr>
          <p:cNvPr id="810" name="Google Shape;810;p38"/>
          <p:cNvGrpSpPr/>
          <p:nvPr/>
        </p:nvGrpSpPr>
        <p:grpSpPr>
          <a:xfrm>
            <a:off x="3039475" y="3472899"/>
            <a:ext cx="3015000" cy="557901"/>
            <a:chOff x="3039475" y="2406099"/>
            <a:chExt cx="3015000" cy="557901"/>
          </a:xfrm>
        </p:grpSpPr>
        <p:cxnSp>
          <p:nvCxnSpPr>
            <p:cNvPr id="811" name="Google Shape;811;p38"/>
            <p:cNvCxnSpPr/>
            <p:nvPr/>
          </p:nvCxnSpPr>
          <p:spPr>
            <a:xfrm flipH="1">
              <a:off x="3039475" y="25146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812" name="Google Shape;812;p38"/>
            <p:cNvSpPr txBox="1"/>
            <p:nvPr/>
          </p:nvSpPr>
          <p:spPr>
            <a:xfrm rot="-511328">
              <a:off x="4119553" y="2462889"/>
              <a:ext cx="787495"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SYN-ACK</a:t>
              </a:r>
              <a:endParaRPr>
                <a:solidFill>
                  <a:schemeClr val="accent2"/>
                </a:solidFill>
                <a:latin typeface="Roboto"/>
                <a:ea typeface="Roboto"/>
                <a:cs typeface="Roboto"/>
                <a:sym typeface="Roboto"/>
              </a:endParaRPr>
            </a:p>
          </p:txBody>
        </p:sp>
      </p:grpSp>
      <p:cxnSp>
        <p:nvCxnSpPr>
          <p:cNvPr id="813" name="Google Shape;813;p38"/>
          <p:cNvCxnSpPr/>
          <p:nvPr/>
        </p:nvCxnSpPr>
        <p:spPr>
          <a:xfrm>
            <a:off x="3037525" y="2846575"/>
            <a:ext cx="0" cy="1930800"/>
          </a:xfrm>
          <a:prstGeom prst="straightConnector1">
            <a:avLst/>
          </a:prstGeom>
          <a:noFill/>
          <a:ln w="19050" cap="flat" cmpd="sng">
            <a:solidFill>
              <a:srgbClr val="0000FF"/>
            </a:solidFill>
            <a:prstDash val="solid"/>
            <a:round/>
            <a:headEnd type="none" w="med" len="med"/>
            <a:tailEnd type="none" w="med" len="med"/>
          </a:ln>
        </p:spPr>
      </p:cxnSp>
      <p:sp>
        <p:nvSpPr>
          <p:cNvPr id="814" name="Google Shape;814;p38"/>
          <p:cNvSpPr txBox="1"/>
          <p:nvPr/>
        </p:nvSpPr>
        <p:spPr>
          <a:xfrm>
            <a:off x="2485075" y="4777424"/>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815" name="Google Shape;815;p38"/>
          <p:cNvCxnSpPr/>
          <p:nvPr/>
        </p:nvCxnSpPr>
        <p:spPr>
          <a:xfrm>
            <a:off x="6058925" y="2846575"/>
            <a:ext cx="0" cy="1930800"/>
          </a:xfrm>
          <a:prstGeom prst="straightConnector1">
            <a:avLst/>
          </a:prstGeom>
          <a:noFill/>
          <a:ln w="19050" cap="flat" cmpd="sng">
            <a:solidFill>
              <a:schemeClr val="accent2"/>
            </a:solidFill>
            <a:prstDash val="solid"/>
            <a:round/>
            <a:headEnd type="none" w="med" len="med"/>
            <a:tailEnd type="none" w="med" len="med"/>
          </a:ln>
        </p:spPr>
      </p:cxnSp>
      <p:sp>
        <p:nvSpPr>
          <p:cNvPr id="816" name="Google Shape;816;p38"/>
          <p:cNvSpPr txBox="1"/>
          <p:nvPr/>
        </p:nvSpPr>
        <p:spPr>
          <a:xfrm>
            <a:off x="5458934" y="4777424"/>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817" name="Google Shape;817;p38"/>
          <p:cNvGrpSpPr/>
          <p:nvPr/>
        </p:nvGrpSpPr>
        <p:grpSpPr>
          <a:xfrm>
            <a:off x="3039500" y="2887667"/>
            <a:ext cx="3007800" cy="568107"/>
            <a:chOff x="3039500" y="1897067"/>
            <a:chExt cx="3007800" cy="568107"/>
          </a:xfrm>
        </p:grpSpPr>
        <p:cxnSp>
          <p:nvCxnSpPr>
            <p:cNvPr id="818" name="Google Shape;818;p38"/>
            <p:cNvCxnSpPr/>
            <p:nvPr/>
          </p:nvCxnSpPr>
          <p:spPr>
            <a:xfrm>
              <a:off x="3039500" y="20232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819" name="Google Shape;819;p38"/>
            <p:cNvSpPr txBox="1"/>
            <p:nvPr/>
          </p:nvSpPr>
          <p:spPr>
            <a:xfrm rot="510033">
              <a:off x="4154499" y="1953707"/>
              <a:ext cx="787451"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SYN</a:t>
              </a:r>
              <a:endParaRPr>
                <a:solidFill>
                  <a:srgbClr val="0000FF"/>
                </a:solidFill>
                <a:latin typeface="Roboto"/>
                <a:ea typeface="Roboto"/>
                <a:cs typeface="Roboto"/>
                <a:sym typeface="Roboto"/>
              </a:endParaRPr>
            </a:p>
          </p:txBody>
        </p:sp>
      </p:grpSp>
      <p:grpSp>
        <p:nvGrpSpPr>
          <p:cNvPr id="820" name="Google Shape;820;p38"/>
          <p:cNvGrpSpPr/>
          <p:nvPr/>
        </p:nvGrpSpPr>
        <p:grpSpPr>
          <a:xfrm>
            <a:off x="3039500" y="4030667"/>
            <a:ext cx="3007800" cy="568107"/>
            <a:chOff x="3039500" y="2887667"/>
            <a:chExt cx="3007800" cy="568107"/>
          </a:xfrm>
        </p:grpSpPr>
        <p:cxnSp>
          <p:nvCxnSpPr>
            <p:cNvPr id="821" name="Google Shape;821;p38"/>
            <p:cNvCxnSpPr/>
            <p:nvPr/>
          </p:nvCxnSpPr>
          <p:spPr>
            <a:xfrm>
              <a:off x="3039500" y="3013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822" name="Google Shape;822;p38"/>
            <p:cNvSpPr txBox="1"/>
            <p:nvPr/>
          </p:nvSpPr>
          <p:spPr>
            <a:xfrm rot="510033">
              <a:off x="4154499" y="2944307"/>
              <a:ext cx="787451"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ACK</a:t>
              </a:r>
              <a:endParaRPr>
                <a:solidFill>
                  <a:srgbClr val="0000FF"/>
                </a:solidFill>
                <a:latin typeface="Roboto"/>
                <a:ea typeface="Roboto"/>
                <a:cs typeface="Roboto"/>
                <a:sym typeface="Roboto"/>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3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Connection Setup: Three-Way Handshake</a:t>
            </a:r>
            <a:endParaRPr/>
          </a:p>
        </p:txBody>
      </p:sp>
      <p:sp>
        <p:nvSpPr>
          <p:cNvPr id="828" name="Google Shape;828;p39"/>
          <p:cNvSpPr txBox="1">
            <a:spLocks noGrp="1"/>
          </p:cNvSpPr>
          <p:nvPr>
            <p:ph type="body" idx="1"/>
          </p:nvPr>
        </p:nvSpPr>
        <p:spPr>
          <a:xfrm>
            <a:off x="107050" y="402200"/>
            <a:ext cx="8909700" cy="2256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Goal: Each host tells its ISN to the other host.</a:t>
            </a:r>
            <a:endParaRPr/>
          </a:p>
          <a:p>
            <a:pPr marL="457200" lvl="0" indent="-342900" algn="l" rtl="0">
              <a:spcBef>
                <a:spcPts val="600"/>
              </a:spcBef>
              <a:spcAft>
                <a:spcPts val="0"/>
              </a:spcAft>
              <a:buSzPts val="1800"/>
              <a:buAutoNum type="arabicPeriod"/>
            </a:pPr>
            <a:r>
              <a:rPr lang="en">
                <a:solidFill>
                  <a:srgbClr val="0000FF"/>
                </a:solidFill>
              </a:rPr>
              <a:t>SYN.</a:t>
            </a:r>
            <a:r>
              <a:rPr lang="en"/>
              <a:t> Client says: "My ISN is </a:t>
            </a:r>
            <a:r>
              <a:rPr lang="en" i="1"/>
              <a:t>x</a:t>
            </a:r>
            <a:r>
              <a:rPr lang="en"/>
              <a:t>."</a:t>
            </a:r>
            <a:endParaRPr/>
          </a:p>
          <a:p>
            <a:pPr marL="457200" lvl="0" indent="-342900" algn="l" rtl="0">
              <a:spcBef>
                <a:spcPts val="0"/>
              </a:spcBef>
              <a:spcAft>
                <a:spcPts val="0"/>
              </a:spcAft>
              <a:buSzPts val="1800"/>
              <a:buAutoNum type="arabicPeriod"/>
            </a:pPr>
            <a:r>
              <a:rPr lang="en">
                <a:solidFill>
                  <a:schemeClr val="accent2"/>
                </a:solidFill>
              </a:rPr>
              <a:t>SYN-ACK.</a:t>
            </a:r>
            <a:r>
              <a:rPr lang="en"/>
              <a:t> Server says: "I received </a:t>
            </a:r>
            <a:r>
              <a:rPr lang="en" i="1"/>
              <a:t>x</a:t>
            </a:r>
            <a:r>
              <a:rPr lang="en"/>
              <a:t> (expecting </a:t>
            </a:r>
            <a:r>
              <a:rPr lang="en" i="1"/>
              <a:t>x</a:t>
            </a:r>
            <a:r>
              <a:rPr lang="en"/>
              <a:t>+1 next). Also, my ISN is </a:t>
            </a:r>
            <a:r>
              <a:rPr lang="en" i="1"/>
              <a:t>y</a:t>
            </a:r>
            <a:r>
              <a:rPr lang="en"/>
              <a:t>."</a:t>
            </a:r>
            <a:endParaRPr/>
          </a:p>
          <a:p>
            <a:pPr marL="457200" lvl="0" indent="-342900" algn="l" rtl="0">
              <a:spcBef>
                <a:spcPts val="0"/>
              </a:spcBef>
              <a:spcAft>
                <a:spcPts val="0"/>
              </a:spcAft>
              <a:buSzPts val="1800"/>
              <a:buAutoNum type="arabicPeriod"/>
            </a:pPr>
            <a:r>
              <a:rPr lang="en">
                <a:solidFill>
                  <a:srgbClr val="0000FF"/>
                </a:solidFill>
              </a:rPr>
              <a:t>ACK</a:t>
            </a:r>
            <a:r>
              <a:rPr lang="en"/>
              <a:t>. Client says: "I received </a:t>
            </a:r>
            <a:r>
              <a:rPr lang="en" i="1"/>
              <a:t>y</a:t>
            </a:r>
            <a:r>
              <a:rPr lang="en"/>
              <a:t> (expecting </a:t>
            </a:r>
            <a:r>
              <a:rPr lang="en" i="1"/>
              <a:t>y</a:t>
            </a:r>
            <a:r>
              <a:rPr lang="en"/>
              <a:t>+1 next)."</a:t>
            </a:r>
            <a:endParaRPr/>
          </a:p>
          <a:p>
            <a:pPr marL="0" lvl="0" indent="0" algn="l" rtl="0">
              <a:spcBef>
                <a:spcPts val="600"/>
              </a:spcBef>
              <a:spcAft>
                <a:spcPts val="0"/>
              </a:spcAft>
              <a:buNone/>
            </a:pPr>
            <a:r>
              <a:rPr lang="en"/>
              <a:t>After the three-way handshake, both sides can start sending data.</a:t>
            </a:r>
            <a:endParaRPr/>
          </a:p>
        </p:txBody>
      </p:sp>
      <p:grpSp>
        <p:nvGrpSpPr>
          <p:cNvPr id="829" name="Google Shape;829;p39"/>
          <p:cNvGrpSpPr/>
          <p:nvPr/>
        </p:nvGrpSpPr>
        <p:grpSpPr>
          <a:xfrm>
            <a:off x="3039475" y="3322547"/>
            <a:ext cx="3015000" cy="708253"/>
            <a:chOff x="3039475" y="3322547"/>
            <a:chExt cx="3015000" cy="708253"/>
          </a:xfrm>
        </p:grpSpPr>
        <p:cxnSp>
          <p:nvCxnSpPr>
            <p:cNvPr id="830" name="Google Shape;830;p39"/>
            <p:cNvCxnSpPr/>
            <p:nvPr/>
          </p:nvCxnSpPr>
          <p:spPr>
            <a:xfrm flipH="1">
              <a:off x="3039475" y="35814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831" name="Google Shape;831;p39"/>
            <p:cNvSpPr txBox="1"/>
            <p:nvPr/>
          </p:nvSpPr>
          <p:spPr>
            <a:xfrm rot="-511597">
              <a:off x="3051494" y="3533687"/>
              <a:ext cx="2869112"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SYN-ACK. seq=</a:t>
              </a:r>
              <a:r>
                <a:rPr lang="en" i="1">
                  <a:solidFill>
                    <a:schemeClr val="accent2"/>
                  </a:solidFill>
                  <a:latin typeface="Roboto"/>
                  <a:ea typeface="Roboto"/>
                  <a:cs typeface="Roboto"/>
                  <a:sym typeface="Roboto"/>
                </a:rPr>
                <a:t>y</a:t>
              </a:r>
              <a:r>
                <a:rPr lang="en">
                  <a:solidFill>
                    <a:schemeClr val="accent2"/>
                  </a:solidFill>
                  <a:latin typeface="Roboto"/>
                  <a:ea typeface="Roboto"/>
                  <a:cs typeface="Roboto"/>
                  <a:sym typeface="Roboto"/>
                </a:rPr>
                <a:t>, ack=</a:t>
              </a:r>
              <a:r>
                <a:rPr lang="en" i="1">
                  <a:solidFill>
                    <a:schemeClr val="accent2"/>
                  </a:solidFill>
                  <a:latin typeface="Roboto"/>
                  <a:ea typeface="Roboto"/>
                  <a:cs typeface="Roboto"/>
                  <a:sym typeface="Roboto"/>
                </a:rPr>
                <a:t>x</a:t>
              </a:r>
              <a:r>
                <a:rPr lang="en">
                  <a:solidFill>
                    <a:schemeClr val="accent2"/>
                  </a:solidFill>
                  <a:latin typeface="Roboto"/>
                  <a:ea typeface="Roboto"/>
                  <a:cs typeface="Roboto"/>
                  <a:sym typeface="Roboto"/>
                </a:rPr>
                <a:t>+1</a:t>
              </a:r>
              <a:endParaRPr>
                <a:solidFill>
                  <a:schemeClr val="accent2"/>
                </a:solidFill>
                <a:latin typeface="Roboto"/>
                <a:ea typeface="Roboto"/>
                <a:cs typeface="Roboto"/>
                <a:sym typeface="Roboto"/>
              </a:endParaRPr>
            </a:p>
          </p:txBody>
        </p:sp>
      </p:grpSp>
      <p:cxnSp>
        <p:nvCxnSpPr>
          <p:cNvPr id="832" name="Google Shape;832;p39"/>
          <p:cNvCxnSpPr/>
          <p:nvPr/>
        </p:nvCxnSpPr>
        <p:spPr>
          <a:xfrm>
            <a:off x="3037525" y="2846575"/>
            <a:ext cx="0" cy="1930800"/>
          </a:xfrm>
          <a:prstGeom prst="straightConnector1">
            <a:avLst/>
          </a:prstGeom>
          <a:noFill/>
          <a:ln w="19050" cap="flat" cmpd="sng">
            <a:solidFill>
              <a:srgbClr val="0000FF"/>
            </a:solidFill>
            <a:prstDash val="solid"/>
            <a:round/>
            <a:headEnd type="none" w="med" len="med"/>
            <a:tailEnd type="none" w="med" len="med"/>
          </a:ln>
        </p:spPr>
      </p:cxnSp>
      <p:sp>
        <p:nvSpPr>
          <p:cNvPr id="833" name="Google Shape;833;p39"/>
          <p:cNvSpPr txBox="1"/>
          <p:nvPr/>
        </p:nvSpPr>
        <p:spPr>
          <a:xfrm>
            <a:off x="2485075" y="4777424"/>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834" name="Google Shape;834;p39"/>
          <p:cNvCxnSpPr/>
          <p:nvPr/>
        </p:nvCxnSpPr>
        <p:spPr>
          <a:xfrm>
            <a:off x="6058925" y="2846575"/>
            <a:ext cx="0" cy="1930800"/>
          </a:xfrm>
          <a:prstGeom prst="straightConnector1">
            <a:avLst/>
          </a:prstGeom>
          <a:noFill/>
          <a:ln w="19050" cap="flat" cmpd="sng">
            <a:solidFill>
              <a:schemeClr val="accent2"/>
            </a:solidFill>
            <a:prstDash val="solid"/>
            <a:round/>
            <a:headEnd type="none" w="med" len="med"/>
            <a:tailEnd type="none" w="med" len="med"/>
          </a:ln>
        </p:spPr>
      </p:cxnSp>
      <p:sp>
        <p:nvSpPr>
          <p:cNvPr id="835" name="Google Shape;835;p39"/>
          <p:cNvSpPr txBox="1"/>
          <p:nvPr/>
        </p:nvSpPr>
        <p:spPr>
          <a:xfrm>
            <a:off x="5458934" y="4777424"/>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836" name="Google Shape;836;p39"/>
          <p:cNvGrpSpPr/>
          <p:nvPr/>
        </p:nvGrpSpPr>
        <p:grpSpPr>
          <a:xfrm>
            <a:off x="3039500" y="2858525"/>
            <a:ext cx="3007800" cy="597249"/>
            <a:chOff x="3039500" y="3010925"/>
            <a:chExt cx="3007800" cy="597249"/>
          </a:xfrm>
        </p:grpSpPr>
        <p:cxnSp>
          <p:nvCxnSpPr>
            <p:cNvPr id="837" name="Google Shape;837;p39"/>
            <p:cNvCxnSpPr/>
            <p:nvPr/>
          </p:nvCxnSpPr>
          <p:spPr>
            <a:xfrm>
              <a:off x="3039500" y="31662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838" name="Google Shape;838;p39"/>
            <p:cNvSpPr txBox="1"/>
            <p:nvPr/>
          </p:nvSpPr>
          <p:spPr>
            <a:xfrm rot="509539">
              <a:off x="3957694" y="3092615"/>
              <a:ext cx="1127462"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SYN. seq=</a:t>
              </a:r>
              <a:r>
                <a:rPr lang="en" i="1">
                  <a:solidFill>
                    <a:srgbClr val="0000FF"/>
                  </a:solidFill>
                  <a:latin typeface="Roboto"/>
                  <a:ea typeface="Roboto"/>
                  <a:cs typeface="Roboto"/>
                  <a:sym typeface="Roboto"/>
                </a:rPr>
                <a:t>x</a:t>
              </a:r>
              <a:endParaRPr i="1">
                <a:solidFill>
                  <a:srgbClr val="0000FF"/>
                </a:solidFill>
                <a:latin typeface="Roboto"/>
                <a:ea typeface="Roboto"/>
                <a:cs typeface="Roboto"/>
                <a:sym typeface="Roboto"/>
              </a:endParaRPr>
            </a:p>
          </p:txBody>
        </p:sp>
      </p:grpSp>
      <p:grpSp>
        <p:nvGrpSpPr>
          <p:cNvPr id="839" name="Google Shape;839;p39"/>
          <p:cNvGrpSpPr/>
          <p:nvPr/>
        </p:nvGrpSpPr>
        <p:grpSpPr>
          <a:xfrm>
            <a:off x="3039500" y="3999325"/>
            <a:ext cx="3007800" cy="599449"/>
            <a:chOff x="3039500" y="3999325"/>
            <a:chExt cx="3007800" cy="599449"/>
          </a:xfrm>
        </p:grpSpPr>
        <p:cxnSp>
          <p:nvCxnSpPr>
            <p:cNvPr id="840" name="Google Shape;840;p39"/>
            <p:cNvCxnSpPr/>
            <p:nvPr/>
          </p:nvCxnSpPr>
          <p:spPr>
            <a:xfrm>
              <a:off x="3039500" y="4156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841" name="Google Shape;841;p39"/>
            <p:cNvSpPr txBox="1"/>
            <p:nvPr/>
          </p:nvSpPr>
          <p:spPr>
            <a:xfrm rot="509640">
              <a:off x="3942862" y="4083115"/>
              <a:ext cx="1155676"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ACK. ack=</a:t>
              </a:r>
              <a:r>
                <a:rPr lang="en" i="1">
                  <a:solidFill>
                    <a:srgbClr val="0000FF"/>
                  </a:solidFill>
                  <a:latin typeface="Roboto"/>
                  <a:ea typeface="Roboto"/>
                  <a:cs typeface="Roboto"/>
                  <a:sym typeface="Roboto"/>
                </a:rPr>
                <a:t>y</a:t>
              </a:r>
              <a:r>
                <a:rPr lang="en">
                  <a:solidFill>
                    <a:srgbClr val="0000FF"/>
                  </a:solidFill>
                  <a:latin typeface="Roboto"/>
                  <a:ea typeface="Roboto"/>
                  <a:cs typeface="Roboto"/>
                  <a:sym typeface="Roboto"/>
                </a:rPr>
                <a:t>+1</a:t>
              </a:r>
              <a:endParaRPr>
                <a:solidFill>
                  <a:srgbClr val="0000FF"/>
                </a:solidFill>
                <a:latin typeface="Roboto"/>
                <a:ea typeface="Roboto"/>
                <a:cs typeface="Roboto"/>
                <a:sym typeface="Roboto"/>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40"/>
          <p:cNvSpPr txBox="1">
            <a:spLocks noGrp="1"/>
          </p:cNvSpPr>
          <p:nvPr>
            <p:ph type="body" idx="1"/>
          </p:nvPr>
        </p:nvSpPr>
        <p:spPr>
          <a:xfrm>
            <a:off x="107050" y="402200"/>
            <a:ext cx="8909700" cy="2256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Normal termination:</a:t>
            </a:r>
            <a:endParaRPr/>
          </a:p>
          <a:p>
            <a:pPr marL="457200" lvl="0" indent="-342900" algn="l" rtl="0">
              <a:spcBef>
                <a:spcPts val="600"/>
              </a:spcBef>
              <a:spcAft>
                <a:spcPts val="0"/>
              </a:spcAft>
              <a:buSzPts val="1800"/>
              <a:buChar char="●"/>
            </a:pPr>
            <a:r>
              <a:rPr lang="en"/>
              <a:t>Each side sends a FIN packet to say: "I'm done sending, but will keep receiving."</a:t>
            </a:r>
            <a:endParaRPr/>
          </a:p>
          <a:p>
            <a:pPr marL="457200" lvl="0" indent="-342900" algn="l" rtl="0">
              <a:spcBef>
                <a:spcPts val="0"/>
              </a:spcBef>
              <a:spcAft>
                <a:spcPts val="0"/>
              </a:spcAft>
              <a:buSzPts val="1800"/>
              <a:buChar char="●"/>
            </a:pPr>
            <a:r>
              <a:rPr lang="en"/>
              <a:t>FIN packets must be acked, just like any other data.</a:t>
            </a:r>
            <a:endParaRPr/>
          </a:p>
          <a:p>
            <a:pPr marL="457200" lvl="0" indent="-342900" algn="l" rtl="0">
              <a:spcBef>
                <a:spcPts val="0"/>
              </a:spcBef>
              <a:spcAft>
                <a:spcPts val="0"/>
              </a:spcAft>
              <a:buSzPts val="1800"/>
              <a:buChar char="●"/>
            </a:pPr>
            <a:r>
              <a:rPr lang="en"/>
              <a:t>When only one side has sent FIN, the connection is </a:t>
            </a:r>
            <a:r>
              <a:rPr lang="en" i="1"/>
              <a:t>half-closed</a:t>
            </a:r>
            <a:r>
              <a:rPr lang="en"/>
              <a:t>.</a:t>
            </a:r>
            <a:endParaRPr/>
          </a:p>
          <a:p>
            <a:pPr marL="457200" lvl="0" indent="-342900" algn="l" rtl="0">
              <a:spcBef>
                <a:spcPts val="0"/>
              </a:spcBef>
              <a:spcAft>
                <a:spcPts val="0"/>
              </a:spcAft>
              <a:buSzPts val="1800"/>
              <a:buChar char="●"/>
            </a:pPr>
            <a:r>
              <a:rPr lang="en"/>
              <a:t>When both sides have sent FIN (both done sending), the connection is closed.</a:t>
            </a:r>
            <a:endParaRPr/>
          </a:p>
        </p:txBody>
      </p:sp>
      <p:sp>
        <p:nvSpPr>
          <p:cNvPr id="847" name="Google Shape;847;p4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Connection Teardown</a:t>
            </a:r>
            <a:endParaRPr/>
          </a:p>
        </p:txBody>
      </p:sp>
      <p:grpSp>
        <p:nvGrpSpPr>
          <p:cNvPr id="848" name="Google Shape;848;p40"/>
          <p:cNvGrpSpPr/>
          <p:nvPr/>
        </p:nvGrpSpPr>
        <p:grpSpPr>
          <a:xfrm>
            <a:off x="3039475" y="3222015"/>
            <a:ext cx="3015000" cy="557901"/>
            <a:chOff x="3039475" y="2406099"/>
            <a:chExt cx="3015000" cy="557901"/>
          </a:xfrm>
        </p:grpSpPr>
        <p:cxnSp>
          <p:nvCxnSpPr>
            <p:cNvPr id="849" name="Google Shape;849;p40"/>
            <p:cNvCxnSpPr/>
            <p:nvPr/>
          </p:nvCxnSpPr>
          <p:spPr>
            <a:xfrm flipH="1">
              <a:off x="3039475" y="25146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850" name="Google Shape;850;p40"/>
            <p:cNvSpPr txBox="1"/>
            <p:nvPr/>
          </p:nvSpPr>
          <p:spPr>
            <a:xfrm rot="-511328">
              <a:off x="4119553" y="2462889"/>
              <a:ext cx="787495"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ACK</a:t>
              </a:r>
              <a:endParaRPr>
                <a:solidFill>
                  <a:schemeClr val="accent2"/>
                </a:solidFill>
                <a:latin typeface="Roboto"/>
                <a:ea typeface="Roboto"/>
                <a:cs typeface="Roboto"/>
                <a:sym typeface="Roboto"/>
              </a:endParaRPr>
            </a:p>
          </p:txBody>
        </p:sp>
      </p:grpSp>
      <p:cxnSp>
        <p:nvCxnSpPr>
          <p:cNvPr id="851" name="Google Shape;851;p40"/>
          <p:cNvCxnSpPr/>
          <p:nvPr/>
        </p:nvCxnSpPr>
        <p:spPr>
          <a:xfrm>
            <a:off x="3037525" y="2612475"/>
            <a:ext cx="0" cy="2164800"/>
          </a:xfrm>
          <a:prstGeom prst="straightConnector1">
            <a:avLst/>
          </a:prstGeom>
          <a:noFill/>
          <a:ln w="19050" cap="flat" cmpd="sng">
            <a:solidFill>
              <a:srgbClr val="0000FF"/>
            </a:solidFill>
            <a:prstDash val="solid"/>
            <a:round/>
            <a:headEnd type="none" w="med" len="med"/>
            <a:tailEnd type="none" w="med" len="med"/>
          </a:ln>
        </p:spPr>
      </p:cxnSp>
      <p:sp>
        <p:nvSpPr>
          <p:cNvPr id="852" name="Google Shape;852;p40"/>
          <p:cNvSpPr txBox="1"/>
          <p:nvPr/>
        </p:nvSpPr>
        <p:spPr>
          <a:xfrm>
            <a:off x="2485075" y="4777424"/>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853" name="Google Shape;853;p40"/>
          <p:cNvCxnSpPr/>
          <p:nvPr/>
        </p:nvCxnSpPr>
        <p:spPr>
          <a:xfrm>
            <a:off x="6058925" y="2612475"/>
            <a:ext cx="0" cy="2164800"/>
          </a:xfrm>
          <a:prstGeom prst="straightConnector1">
            <a:avLst/>
          </a:prstGeom>
          <a:noFill/>
          <a:ln w="19050" cap="flat" cmpd="sng">
            <a:solidFill>
              <a:schemeClr val="accent2"/>
            </a:solidFill>
            <a:prstDash val="solid"/>
            <a:round/>
            <a:headEnd type="none" w="med" len="med"/>
            <a:tailEnd type="none" w="med" len="med"/>
          </a:ln>
        </p:spPr>
      </p:cxnSp>
      <p:sp>
        <p:nvSpPr>
          <p:cNvPr id="854" name="Google Shape;854;p40"/>
          <p:cNvSpPr txBox="1"/>
          <p:nvPr/>
        </p:nvSpPr>
        <p:spPr>
          <a:xfrm>
            <a:off x="5458934" y="4777424"/>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855" name="Google Shape;855;p40"/>
          <p:cNvGrpSpPr/>
          <p:nvPr/>
        </p:nvGrpSpPr>
        <p:grpSpPr>
          <a:xfrm>
            <a:off x="3039500" y="2712982"/>
            <a:ext cx="3007800" cy="568107"/>
            <a:chOff x="3039500" y="1897067"/>
            <a:chExt cx="3007800" cy="568107"/>
          </a:xfrm>
        </p:grpSpPr>
        <p:cxnSp>
          <p:nvCxnSpPr>
            <p:cNvPr id="856" name="Google Shape;856;p40"/>
            <p:cNvCxnSpPr/>
            <p:nvPr/>
          </p:nvCxnSpPr>
          <p:spPr>
            <a:xfrm>
              <a:off x="3039500" y="20232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857" name="Google Shape;857;p40"/>
            <p:cNvSpPr txBox="1"/>
            <p:nvPr/>
          </p:nvSpPr>
          <p:spPr>
            <a:xfrm rot="510033">
              <a:off x="4154499" y="1953707"/>
              <a:ext cx="787451"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FIN</a:t>
              </a:r>
              <a:endParaRPr>
                <a:solidFill>
                  <a:srgbClr val="0000FF"/>
                </a:solidFill>
                <a:latin typeface="Roboto"/>
                <a:ea typeface="Roboto"/>
                <a:cs typeface="Roboto"/>
                <a:sym typeface="Roboto"/>
              </a:endParaRPr>
            </a:p>
          </p:txBody>
        </p:sp>
      </p:grpSp>
      <p:grpSp>
        <p:nvGrpSpPr>
          <p:cNvPr id="858" name="Google Shape;858;p40"/>
          <p:cNvGrpSpPr/>
          <p:nvPr/>
        </p:nvGrpSpPr>
        <p:grpSpPr>
          <a:xfrm>
            <a:off x="3039500" y="4084582"/>
            <a:ext cx="3007800" cy="568107"/>
            <a:chOff x="3039500" y="2887667"/>
            <a:chExt cx="3007800" cy="568107"/>
          </a:xfrm>
        </p:grpSpPr>
        <p:cxnSp>
          <p:nvCxnSpPr>
            <p:cNvPr id="859" name="Google Shape;859;p40"/>
            <p:cNvCxnSpPr/>
            <p:nvPr/>
          </p:nvCxnSpPr>
          <p:spPr>
            <a:xfrm>
              <a:off x="3039500" y="3013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860" name="Google Shape;860;p40"/>
            <p:cNvSpPr txBox="1"/>
            <p:nvPr/>
          </p:nvSpPr>
          <p:spPr>
            <a:xfrm rot="510033">
              <a:off x="4154499" y="2944307"/>
              <a:ext cx="787451"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ACK</a:t>
              </a:r>
              <a:endParaRPr>
                <a:solidFill>
                  <a:srgbClr val="0000FF"/>
                </a:solidFill>
                <a:latin typeface="Roboto"/>
                <a:ea typeface="Roboto"/>
                <a:cs typeface="Roboto"/>
                <a:sym typeface="Roboto"/>
              </a:endParaRPr>
            </a:p>
          </p:txBody>
        </p:sp>
      </p:grpSp>
      <p:grpSp>
        <p:nvGrpSpPr>
          <p:cNvPr id="861" name="Google Shape;861;p40"/>
          <p:cNvGrpSpPr/>
          <p:nvPr/>
        </p:nvGrpSpPr>
        <p:grpSpPr>
          <a:xfrm>
            <a:off x="3039475" y="3603015"/>
            <a:ext cx="3015000" cy="557901"/>
            <a:chOff x="3039475" y="2406099"/>
            <a:chExt cx="3015000" cy="557901"/>
          </a:xfrm>
        </p:grpSpPr>
        <p:cxnSp>
          <p:nvCxnSpPr>
            <p:cNvPr id="862" name="Google Shape;862;p40"/>
            <p:cNvCxnSpPr/>
            <p:nvPr/>
          </p:nvCxnSpPr>
          <p:spPr>
            <a:xfrm flipH="1">
              <a:off x="3039475" y="25146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863" name="Google Shape;863;p40"/>
            <p:cNvSpPr txBox="1"/>
            <p:nvPr/>
          </p:nvSpPr>
          <p:spPr>
            <a:xfrm rot="-511328">
              <a:off x="4119553" y="2462889"/>
              <a:ext cx="787495"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FIN</a:t>
              </a:r>
              <a:endParaRPr>
                <a:solidFill>
                  <a:schemeClr val="accent2"/>
                </a:solidFill>
                <a:latin typeface="Roboto"/>
                <a:ea typeface="Roboto"/>
                <a:cs typeface="Roboto"/>
                <a:sym typeface="Roboto"/>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41"/>
          <p:cNvSpPr txBox="1">
            <a:spLocks noGrp="1"/>
          </p:cNvSpPr>
          <p:nvPr>
            <p:ph type="body" idx="1"/>
          </p:nvPr>
        </p:nvSpPr>
        <p:spPr>
          <a:xfrm>
            <a:off x="107050" y="402200"/>
            <a:ext cx="8909700" cy="2256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Abrupt termination can be used instead (e.g. in case of error).</a:t>
            </a:r>
            <a:endParaRPr/>
          </a:p>
          <a:p>
            <a:pPr marL="457200" lvl="0" indent="-342900" algn="l" rtl="0">
              <a:spcBef>
                <a:spcPts val="600"/>
              </a:spcBef>
              <a:spcAft>
                <a:spcPts val="0"/>
              </a:spcAft>
              <a:buSzPts val="1800"/>
              <a:buChar char="●"/>
            </a:pPr>
            <a:r>
              <a:rPr lang="en"/>
              <a:t>Send a RST (reset) to say: "I will no longer send or receive data."</a:t>
            </a:r>
            <a:endParaRPr/>
          </a:p>
          <a:p>
            <a:pPr marL="457200" lvl="0" indent="-342900" algn="l" rtl="0">
              <a:spcBef>
                <a:spcPts val="0"/>
              </a:spcBef>
              <a:spcAft>
                <a:spcPts val="0"/>
              </a:spcAft>
              <a:buSzPts val="1800"/>
              <a:buChar char="●"/>
            </a:pPr>
            <a:r>
              <a:rPr lang="en"/>
              <a:t>RST packets do not need to be acked.</a:t>
            </a:r>
            <a:endParaRPr/>
          </a:p>
          <a:p>
            <a:pPr marL="457200" lvl="0" indent="-342900" algn="l" rtl="0">
              <a:spcBef>
                <a:spcPts val="0"/>
              </a:spcBef>
              <a:spcAft>
                <a:spcPts val="0"/>
              </a:spcAft>
              <a:buSzPts val="1800"/>
              <a:buChar char="●"/>
            </a:pPr>
            <a:r>
              <a:rPr lang="en"/>
              <a:t>Any data in flight is lost.</a:t>
            </a:r>
            <a:endParaRPr/>
          </a:p>
          <a:p>
            <a:pPr marL="457200" lvl="0" indent="-342900" algn="l" rtl="0">
              <a:spcBef>
                <a:spcPts val="0"/>
              </a:spcBef>
              <a:spcAft>
                <a:spcPts val="0"/>
              </a:spcAft>
              <a:buSzPts val="1800"/>
              <a:buChar char="●"/>
            </a:pPr>
            <a:r>
              <a:rPr lang="en"/>
              <a:t>If the RST sender receives more data later, send another RST.</a:t>
            </a:r>
            <a:endParaRPr/>
          </a:p>
        </p:txBody>
      </p:sp>
      <p:sp>
        <p:nvSpPr>
          <p:cNvPr id="869" name="Google Shape;869;p4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Connection Teardown</a:t>
            </a:r>
            <a:endParaRPr/>
          </a:p>
        </p:txBody>
      </p:sp>
      <p:cxnSp>
        <p:nvCxnSpPr>
          <p:cNvPr id="870" name="Google Shape;870;p41"/>
          <p:cNvCxnSpPr/>
          <p:nvPr/>
        </p:nvCxnSpPr>
        <p:spPr>
          <a:xfrm>
            <a:off x="3037525" y="2612475"/>
            <a:ext cx="0" cy="2164800"/>
          </a:xfrm>
          <a:prstGeom prst="straightConnector1">
            <a:avLst/>
          </a:prstGeom>
          <a:noFill/>
          <a:ln w="19050" cap="flat" cmpd="sng">
            <a:solidFill>
              <a:srgbClr val="0000FF"/>
            </a:solidFill>
            <a:prstDash val="solid"/>
            <a:round/>
            <a:headEnd type="none" w="med" len="med"/>
            <a:tailEnd type="none" w="med" len="med"/>
          </a:ln>
        </p:spPr>
      </p:cxnSp>
      <p:sp>
        <p:nvSpPr>
          <p:cNvPr id="871" name="Google Shape;871;p41"/>
          <p:cNvSpPr txBox="1"/>
          <p:nvPr/>
        </p:nvSpPr>
        <p:spPr>
          <a:xfrm>
            <a:off x="2485075" y="4777424"/>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872" name="Google Shape;872;p41"/>
          <p:cNvCxnSpPr/>
          <p:nvPr/>
        </p:nvCxnSpPr>
        <p:spPr>
          <a:xfrm>
            <a:off x="6058925" y="2612475"/>
            <a:ext cx="0" cy="2164800"/>
          </a:xfrm>
          <a:prstGeom prst="straightConnector1">
            <a:avLst/>
          </a:prstGeom>
          <a:noFill/>
          <a:ln w="19050" cap="flat" cmpd="sng">
            <a:solidFill>
              <a:schemeClr val="accent2"/>
            </a:solidFill>
            <a:prstDash val="solid"/>
            <a:round/>
            <a:headEnd type="none" w="med" len="med"/>
            <a:tailEnd type="none" w="med" len="med"/>
          </a:ln>
        </p:spPr>
      </p:cxnSp>
      <p:sp>
        <p:nvSpPr>
          <p:cNvPr id="873" name="Google Shape;873;p41"/>
          <p:cNvSpPr txBox="1"/>
          <p:nvPr/>
        </p:nvSpPr>
        <p:spPr>
          <a:xfrm>
            <a:off x="5458934" y="4777424"/>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874" name="Google Shape;874;p41"/>
          <p:cNvGrpSpPr/>
          <p:nvPr/>
        </p:nvGrpSpPr>
        <p:grpSpPr>
          <a:xfrm>
            <a:off x="3039500" y="2712982"/>
            <a:ext cx="3007800" cy="568107"/>
            <a:chOff x="3039500" y="1897067"/>
            <a:chExt cx="3007800" cy="568107"/>
          </a:xfrm>
        </p:grpSpPr>
        <p:cxnSp>
          <p:nvCxnSpPr>
            <p:cNvPr id="875" name="Google Shape;875;p41"/>
            <p:cNvCxnSpPr/>
            <p:nvPr/>
          </p:nvCxnSpPr>
          <p:spPr>
            <a:xfrm>
              <a:off x="3039500" y="20232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876" name="Google Shape;876;p41"/>
            <p:cNvSpPr txBox="1"/>
            <p:nvPr/>
          </p:nvSpPr>
          <p:spPr>
            <a:xfrm rot="510033">
              <a:off x="4154499" y="1953707"/>
              <a:ext cx="787451"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RST</a:t>
              </a:r>
              <a:endParaRPr>
                <a:solidFill>
                  <a:srgbClr val="0000FF"/>
                </a:solidFill>
                <a:latin typeface="Roboto"/>
                <a:ea typeface="Roboto"/>
                <a:cs typeface="Roboto"/>
                <a:sym typeface="Roboto"/>
              </a:endParaRPr>
            </a:p>
          </p:txBody>
        </p:sp>
      </p:grpSp>
      <p:grpSp>
        <p:nvGrpSpPr>
          <p:cNvPr id="877" name="Google Shape;877;p41"/>
          <p:cNvGrpSpPr/>
          <p:nvPr/>
        </p:nvGrpSpPr>
        <p:grpSpPr>
          <a:xfrm>
            <a:off x="3039475" y="3603015"/>
            <a:ext cx="3015000" cy="557901"/>
            <a:chOff x="3039475" y="2406099"/>
            <a:chExt cx="3015000" cy="557901"/>
          </a:xfrm>
        </p:grpSpPr>
        <p:cxnSp>
          <p:nvCxnSpPr>
            <p:cNvPr id="878" name="Google Shape;878;p41"/>
            <p:cNvCxnSpPr/>
            <p:nvPr/>
          </p:nvCxnSpPr>
          <p:spPr>
            <a:xfrm flipH="1">
              <a:off x="3039475" y="25146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879" name="Google Shape;879;p41"/>
            <p:cNvSpPr txBox="1"/>
            <p:nvPr/>
          </p:nvSpPr>
          <p:spPr>
            <a:xfrm rot="-511328">
              <a:off x="4119553" y="2462889"/>
              <a:ext cx="787495"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data</a:t>
              </a:r>
              <a:endParaRPr>
                <a:solidFill>
                  <a:schemeClr val="accent2"/>
                </a:solidFill>
                <a:latin typeface="Roboto"/>
                <a:ea typeface="Roboto"/>
                <a:cs typeface="Roboto"/>
                <a:sym typeface="Roboto"/>
              </a:endParaRPr>
            </a:p>
          </p:txBody>
        </p:sp>
      </p:grpSp>
      <p:grpSp>
        <p:nvGrpSpPr>
          <p:cNvPr id="880" name="Google Shape;880;p41"/>
          <p:cNvGrpSpPr/>
          <p:nvPr/>
        </p:nvGrpSpPr>
        <p:grpSpPr>
          <a:xfrm>
            <a:off x="3039500" y="4084582"/>
            <a:ext cx="3007800" cy="568107"/>
            <a:chOff x="3039500" y="2887667"/>
            <a:chExt cx="3007800" cy="568107"/>
          </a:xfrm>
        </p:grpSpPr>
        <p:cxnSp>
          <p:nvCxnSpPr>
            <p:cNvPr id="881" name="Google Shape;881;p41"/>
            <p:cNvCxnSpPr/>
            <p:nvPr/>
          </p:nvCxnSpPr>
          <p:spPr>
            <a:xfrm>
              <a:off x="3039500" y="3013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882" name="Google Shape;882;p41"/>
            <p:cNvSpPr txBox="1"/>
            <p:nvPr/>
          </p:nvSpPr>
          <p:spPr>
            <a:xfrm rot="510033">
              <a:off x="4154499" y="2944307"/>
              <a:ext cx="787451"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RST</a:t>
              </a:r>
              <a:endParaRPr>
                <a:solidFill>
                  <a:srgbClr val="0000FF"/>
                </a:solidFill>
                <a:latin typeface="Roboto"/>
                <a:ea typeface="Roboto"/>
                <a:cs typeface="Roboto"/>
                <a:sym typeface="Robot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p4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Setup/Teardown Transition Diagram</a:t>
            </a:r>
            <a:endParaRPr/>
          </a:p>
        </p:txBody>
      </p:sp>
      <p:sp>
        <p:nvSpPr>
          <p:cNvPr id="888" name="Google Shape;888;p42"/>
          <p:cNvSpPr/>
          <p:nvPr/>
        </p:nvSpPr>
        <p:spPr>
          <a:xfrm>
            <a:off x="3620000" y="2861700"/>
            <a:ext cx="1067100" cy="279000"/>
          </a:xfrm>
          <a:prstGeom prst="roundRect">
            <a:avLst>
              <a:gd name="adj" fmla="val 16667"/>
            </a:avLst>
          </a:prstGeom>
          <a:solidFill>
            <a:srgbClr val="F4CC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ESTABLISHED</a:t>
            </a:r>
            <a:endParaRPr sz="1000">
              <a:latin typeface="Roboto"/>
              <a:ea typeface="Roboto"/>
              <a:cs typeface="Roboto"/>
              <a:sym typeface="Roboto"/>
            </a:endParaRPr>
          </a:p>
        </p:txBody>
      </p:sp>
      <p:sp>
        <p:nvSpPr>
          <p:cNvPr id="889" name="Google Shape;889;p42"/>
          <p:cNvSpPr/>
          <p:nvPr/>
        </p:nvSpPr>
        <p:spPr>
          <a:xfrm>
            <a:off x="5479725" y="3407250"/>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CLOSE_WAIT</a:t>
            </a:r>
            <a:endParaRPr sz="1000">
              <a:latin typeface="Roboto"/>
              <a:ea typeface="Roboto"/>
              <a:cs typeface="Roboto"/>
              <a:sym typeface="Roboto"/>
            </a:endParaRPr>
          </a:p>
        </p:txBody>
      </p:sp>
      <p:sp>
        <p:nvSpPr>
          <p:cNvPr id="890" name="Google Shape;890;p42"/>
          <p:cNvSpPr/>
          <p:nvPr/>
        </p:nvSpPr>
        <p:spPr>
          <a:xfrm>
            <a:off x="5479725" y="4026925"/>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LAST_ACK</a:t>
            </a:r>
            <a:endParaRPr sz="1000">
              <a:latin typeface="Roboto"/>
              <a:ea typeface="Roboto"/>
              <a:cs typeface="Roboto"/>
              <a:sym typeface="Roboto"/>
            </a:endParaRPr>
          </a:p>
        </p:txBody>
      </p:sp>
      <p:sp>
        <p:nvSpPr>
          <p:cNvPr id="891" name="Google Shape;891;p42"/>
          <p:cNvSpPr/>
          <p:nvPr/>
        </p:nvSpPr>
        <p:spPr>
          <a:xfrm>
            <a:off x="5479725" y="4543250"/>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CLOSED</a:t>
            </a:r>
            <a:endParaRPr sz="1000">
              <a:latin typeface="Roboto"/>
              <a:ea typeface="Roboto"/>
              <a:cs typeface="Roboto"/>
              <a:sym typeface="Roboto"/>
            </a:endParaRPr>
          </a:p>
        </p:txBody>
      </p:sp>
      <p:sp>
        <p:nvSpPr>
          <p:cNvPr id="892" name="Google Shape;892;p42"/>
          <p:cNvSpPr/>
          <p:nvPr/>
        </p:nvSpPr>
        <p:spPr>
          <a:xfrm>
            <a:off x="3727125" y="4543250"/>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TIME_WAIT</a:t>
            </a:r>
            <a:endParaRPr sz="1000">
              <a:latin typeface="Roboto"/>
              <a:ea typeface="Roboto"/>
              <a:cs typeface="Roboto"/>
              <a:sym typeface="Roboto"/>
            </a:endParaRPr>
          </a:p>
        </p:txBody>
      </p:sp>
      <p:sp>
        <p:nvSpPr>
          <p:cNvPr id="893" name="Google Shape;893;p42"/>
          <p:cNvSpPr/>
          <p:nvPr/>
        </p:nvSpPr>
        <p:spPr>
          <a:xfrm>
            <a:off x="3727125" y="4037425"/>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CLOSING</a:t>
            </a:r>
            <a:endParaRPr sz="1000">
              <a:latin typeface="Roboto"/>
              <a:ea typeface="Roboto"/>
              <a:cs typeface="Roboto"/>
              <a:sym typeface="Roboto"/>
            </a:endParaRPr>
          </a:p>
        </p:txBody>
      </p:sp>
      <p:sp>
        <p:nvSpPr>
          <p:cNvPr id="894" name="Google Shape;894;p42"/>
          <p:cNvSpPr/>
          <p:nvPr/>
        </p:nvSpPr>
        <p:spPr>
          <a:xfrm>
            <a:off x="1790300" y="4026925"/>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FIN_WAIT_2</a:t>
            </a:r>
            <a:endParaRPr sz="1000">
              <a:latin typeface="Roboto"/>
              <a:ea typeface="Roboto"/>
              <a:cs typeface="Roboto"/>
              <a:sym typeface="Roboto"/>
            </a:endParaRPr>
          </a:p>
        </p:txBody>
      </p:sp>
      <p:sp>
        <p:nvSpPr>
          <p:cNvPr id="895" name="Google Shape;895;p42"/>
          <p:cNvSpPr/>
          <p:nvPr/>
        </p:nvSpPr>
        <p:spPr>
          <a:xfrm>
            <a:off x="1790300" y="3426775"/>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FIN_WAIT_1</a:t>
            </a:r>
            <a:endParaRPr sz="1000">
              <a:latin typeface="Roboto"/>
              <a:ea typeface="Roboto"/>
              <a:cs typeface="Roboto"/>
              <a:sym typeface="Roboto"/>
            </a:endParaRPr>
          </a:p>
        </p:txBody>
      </p:sp>
      <p:sp>
        <p:nvSpPr>
          <p:cNvPr id="896" name="Google Shape;896;p42"/>
          <p:cNvSpPr/>
          <p:nvPr/>
        </p:nvSpPr>
        <p:spPr>
          <a:xfrm>
            <a:off x="1790300" y="2154925"/>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SYN_RCVD</a:t>
            </a:r>
            <a:endParaRPr sz="1000">
              <a:latin typeface="Roboto"/>
              <a:ea typeface="Roboto"/>
              <a:cs typeface="Roboto"/>
              <a:sym typeface="Roboto"/>
            </a:endParaRPr>
          </a:p>
        </p:txBody>
      </p:sp>
      <p:sp>
        <p:nvSpPr>
          <p:cNvPr id="897" name="Google Shape;897;p42"/>
          <p:cNvSpPr/>
          <p:nvPr/>
        </p:nvSpPr>
        <p:spPr>
          <a:xfrm>
            <a:off x="3620000" y="1464900"/>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LISTEN</a:t>
            </a:r>
            <a:endParaRPr sz="1000">
              <a:latin typeface="Roboto"/>
              <a:ea typeface="Roboto"/>
              <a:cs typeface="Roboto"/>
              <a:sym typeface="Roboto"/>
            </a:endParaRPr>
          </a:p>
        </p:txBody>
      </p:sp>
      <p:sp>
        <p:nvSpPr>
          <p:cNvPr id="898" name="Google Shape;898;p42"/>
          <p:cNvSpPr/>
          <p:nvPr/>
        </p:nvSpPr>
        <p:spPr>
          <a:xfrm>
            <a:off x="3620000" y="579425"/>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CLOSED</a:t>
            </a:r>
            <a:endParaRPr sz="1000">
              <a:latin typeface="Roboto"/>
              <a:ea typeface="Roboto"/>
              <a:cs typeface="Roboto"/>
              <a:sym typeface="Roboto"/>
            </a:endParaRPr>
          </a:p>
        </p:txBody>
      </p:sp>
      <p:sp>
        <p:nvSpPr>
          <p:cNvPr id="899" name="Google Shape;899;p42"/>
          <p:cNvSpPr/>
          <p:nvPr/>
        </p:nvSpPr>
        <p:spPr>
          <a:xfrm>
            <a:off x="5479725" y="2154925"/>
            <a:ext cx="1067100" cy="2790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SYN_SENT</a:t>
            </a:r>
            <a:endParaRPr sz="1000">
              <a:latin typeface="Roboto"/>
              <a:ea typeface="Roboto"/>
              <a:cs typeface="Roboto"/>
              <a:sym typeface="Roboto"/>
            </a:endParaRPr>
          </a:p>
        </p:txBody>
      </p:sp>
      <p:sp>
        <p:nvSpPr>
          <p:cNvPr id="900" name="Google Shape;900;p42"/>
          <p:cNvSpPr/>
          <p:nvPr/>
        </p:nvSpPr>
        <p:spPr>
          <a:xfrm>
            <a:off x="4690000" y="801750"/>
            <a:ext cx="973200" cy="1354225"/>
          </a:xfrm>
          <a:custGeom>
            <a:avLst/>
            <a:gdLst/>
            <a:ahLst/>
            <a:cxnLst/>
            <a:rect l="l" t="t" r="r" b="b"/>
            <a:pathLst>
              <a:path w="38928" h="54169" extrusionOk="0">
                <a:moveTo>
                  <a:pt x="38928" y="54169"/>
                </a:moveTo>
                <a:cubicBezTo>
                  <a:pt x="38293" y="50359"/>
                  <a:pt x="38100" y="38764"/>
                  <a:pt x="35118" y="31309"/>
                </a:cubicBezTo>
                <a:cubicBezTo>
                  <a:pt x="32136" y="23855"/>
                  <a:pt x="26891" y="14660"/>
                  <a:pt x="21038" y="9442"/>
                </a:cubicBezTo>
                <a:cubicBezTo>
                  <a:pt x="15185" y="4224"/>
                  <a:pt x="3506" y="1574"/>
                  <a:pt x="0" y="0"/>
                </a:cubicBezTo>
              </a:path>
            </a:pathLst>
          </a:custGeom>
          <a:noFill/>
          <a:ln w="9525" cap="flat" cmpd="sng">
            <a:solidFill>
              <a:schemeClr val="dk2"/>
            </a:solidFill>
            <a:prstDash val="solid"/>
            <a:round/>
            <a:headEnd type="none" w="med" len="med"/>
            <a:tailEnd type="triangle" w="med" len="med"/>
          </a:ln>
        </p:spPr>
        <p:txBody>
          <a:bodyPr/>
          <a:lstStyle/>
          <a:p>
            <a:endParaRPr lang="en-US"/>
          </a:p>
        </p:txBody>
      </p:sp>
      <p:sp>
        <p:nvSpPr>
          <p:cNvPr id="901" name="Google Shape;901;p42"/>
          <p:cNvSpPr/>
          <p:nvPr/>
        </p:nvSpPr>
        <p:spPr>
          <a:xfrm>
            <a:off x="4271725" y="1750125"/>
            <a:ext cx="1207997" cy="497800"/>
          </a:xfrm>
          <a:custGeom>
            <a:avLst/>
            <a:gdLst/>
            <a:ahLst/>
            <a:cxnLst/>
            <a:rect l="l" t="t" r="r" b="b"/>
            <a:pathLst>
              <a:path w="46217" h="19912" extrusionOk="0">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w="9525" cap="flat" cmpd="sng">
            <a:solidFill>
              <a:schemeClr val="dk2"/>
            </a:solidFill>
            <a:prstDash val="solid"/>
            <a:round/>
            <a:headEnd type="none" w="med" len="med"/>
            <a:tailEnd type="triangle" w="med" len="med"/>
          </a:ln>
        </p:spPr>
        <p:txBody>
          <a:bodyPr/>
          <a:lstStyle/>
          <a:p>
            <a:endParaRPr lang="en-US"/>
          </a:p>
        </p:txBody>
      </p:sp>
      <p:sp>
        <p:nvSpPr>
          <p:cNvPr id="902" name="Google Shape;902;p42"/>
          <p:cNvSpPr/>
          <p:nvPr/>
        </p:nvSpPr>
        <p:spPr>
          <a:xfrm rot="10800000" flipH="1">
            <a:off x="4271725" y="2359725"/>
            <a:ext cx="1207997" cy="497800"/>
          </a:xfrm>
          <a:custGeom>
            <a:avLst/>
            <a:gdLst/>
            <a:ahLst/>
            <a:cxnLst/>
            <a:rect l="l" t="t" r="r" b="b"/>
            <a:pathLst>
              <a:path w="46217" h="19912" extrusionOk="0">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w="9525" cap="flat" cmpd="sng">
            <a:solidFill>
              <a:schemeClr val="dk2"/>
            </a:solidFill>
            <a:prstDash val="solid"/>
            <a:round/>
            <a:headEnd type="triangle" w="med" len="med"/>
            <a:tailEnd type="none" w="med" len="med"/>
          </a:ln>
        </p:spPr>
        <p:txBody>
          <a:bodyPr/>
          <a:lstStyle/>
          <a:p>
            <a:endParaRPr lang="en-US"/>
          </a:p>
        </p:txBody>
      </p:sp>
      <p:sp>
        <p:nvSpPr>
          <p:cNvPr id="903" name="Google Shape;903;p42"/>
          <p:cNvSpPr/>
          <p:nvPr/>
        </p:nvSpPr>
        <p:spPr>
          <a:xfrm flipH="1">
            <a:off x="2857420" y="1750125"/>
            <a:ext cx="1160855" cy="478983"/>
          </a:xfrm>
          <a:custGeom>
            <a:avLst/>
            <a:gdLst/>
            <a:ahLst/>
            <a:cxnLst/>
            <a:rect l="l" t="t" r="r" b="b"/>
            <a:pathLst>
              <a:path w="46217" h="19912" extrusionOk="0">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w="9525" cap="flat" cmpd="sng">
            <a:solidFill>
              <a:schemeClr val="dk2"/>
            </a:solidFill>
            <a:prstDash val="solid"/>
            <a:round/>
            <a:headEnd type="none" w="med" len="med"/>
            <a:tailEnd type="triangle" w="med" len="med"/>
          </a:ln>
        </p:spPr>
        <p:txBody>
          <a:bodyPr/>
          <a:lstStyle/>
          <a:p>
            <a:endParaRPr lang="en-US"/>
          </a:p>
        </p:txBody>
      </p:sp>
      <p:sp>
        <p:nvSpPr>
          <p:cNvPr id="904" name="Google Shape;904;p42"/>
          <p:cNvSpPr/>
          <p:nvPr/>
        </p:nvSpPr>
        <p:spPr>
          <a:xfrm rot="10800000">
            <a:off x="2859109" y="2359725"/>
            <a:ext cx="1167441" cy="497800"/>
          </a:xfrm>
          <a:custGeom>
            <a:avLst/>
            <a:gdLst/>
            <a:ahLst/>
            <a:cxnLst/>
            <a:rect l="l" t="t" r="r" b="b"/>
            <a:pathLst>
              <a:path w="46217" h="19912" extrusionOk="0">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w="9525" cap="flat" cmpd="sng">
            <a:solidFill>
              <a:schemeClr val="dk2"/>
            </a:solidFill>
            <a:prstDash val="solid"/>
            <a:round/>
            <a:headEnd type="triangle" w="med" len="med"/>
            <a:tailEnd type="none" w="med" len="med"/>
          </a:ln>
        </p:spPr>
        <p:txBody>
          <a:bodyPr/>
          <a:lstStyle/>
          <a:p>
            <a:endParaRPr lang="en-US"/>
          </a:p>
        </p:txBody>
      </p:sp>
      <p:sp>
        <p:nvSpPr>
          <p:cNvPr id="905" name="Google Shape;905;p42"/>
          <p:cNvSpPr/>
          <p:nvPr/>
        </p:nvSpPr>
        <p:spPr>
          <a:xfrm>
            <a:off x="4271725" y="3140700"/>
            <a:ext cx="1207997" cy="393610"/>
          </a:xfrm>
          <a:custGeom>
            <a:avLst/>
            <a:gdLst/>
            <a:ahLst/>
            <a:cxnLst/>
            <a:rect l="l" t="t" r="r" b="b"/>
            <a:pathLst>
              <a:path w="46217" h="19912" extrusionOk="0">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w="9525" cap="flat" cmpd="sng">
            <a:solidFill>
              <a:schemeClr val="dk2"/>
            </a:solidFill>
            <a:prstDash val="solid"/>
            <a:round/>
            <a:headEnd type="none" w="med" len="med"/>
            <a:tailEnd type="triangle" w="med" len="med"/>
          </a:ln>
        </p:spPr>
        <p:txBody>
          <a:bodyPr/>
          <a:lstStyle/>
          <a:p>
            <a:endParaRPr lang="en-US"/>
          </a:p>
        </p:txBody>
      </p:sp>
      <p:sp>
        <p:nvSpPr>
          <p:cNvPr id="906" name="Google Shape;906;p42"/>
          <p:cNvSpPr/>
          <p:nvPr/>
        </p:nvSpPr>
        <p:spPr>
          <a:xfrm flipH="1">
            <a:off x="2862851" y="3140700"/>
            <a:ext cx="1155425" cy="393610"/>
          </a:xfrm>
          <a:custGeom>
            <a:avLst/>
            <a:gdLst/>
            <a:ahLst/>
            <a:cxnLst/>
            <a:rect l="l" t="t" r="r" b="b"/>
            <a:pathLst>
              <a:path w="46217" h="19912" extrusionOk="0">
                <a:moveTo>
                  <a:pt x="0" y="0"/>
                </a:moveTo>
                <a:cubicBezTo>
                  <a:pt x="1353" y="2292"/>
                  <a:pt x="3976" y="10547"/>
                  <a:pt x="8117" y="13749"/>
                </a:cubicBezTo>
                <a:cubicBezTo>
                  <a:pt x="12258" y="16952"/>
                  <a:pt x="18498" y="18194"/>
                  <a:pt x="24848" y="19215"/>
                </a:cubicBezTo>
                <a:cubicBezTo>
                  <a:pt x="31198" y="20237"/>
                  <a:pt x="42656" y="19768"/>
                  <a:pt x="46217" y="19878"/>
                </a:cubicBezTo>
              </a:path>
            </a:pathLst>
          </a:custGeom>
          <a:noFill/>
          <a:ln w="9525" cap="flat" cmpd="sng">
            <a:solidFill>
              <a:schemeClr val="dk2"/>
            </a:solidFill>
            <a:prstDash val="solid"/>
            <a:round/>
            <a:headEnd type="none" w="med" len="med"/>
            <a:tailEnd type="triangle" w="med" len="med"/>
          </a:ln>
        </p:spPr>
        <p:txBody>
          <a:bodyPr/>
          <a:lstStyle/>
          <a:p>
            <a:endParaRPr lang="en-US"/>
          </a:p>
        </p:txBody>
      </p:sp>
      <p:sp>
        <p:nvSpPr>
          <p:cNvPr id="907" name="Google Shape;907;p42"/>
          <p:cNvSpPr/>
          <p:nvPr/>
        </p:nvSpPr>
        <p:spPr>
          <a:xfrm>
            <a:off x="2323850" y="4309775"/>
            <a:ext cx="1403858" cy="391225"/>
          </a:xfrm>
          <a:custGeom>
            <a:avLst/>
            <a:gdLst/>
            <a:ahLst/>
            <a:cxnLst/>
            <a:rect l="l" t="t" r="r" b="b"/>
            <a:pathLst>
              <a:path w="52014" h="15649" extrusionOk="0">
                <a:moveTo>
                  <a:pt x="0" y="0"/>
                </a:moveTo>
                <a:cubicBezTo>
                  <a:pt x="387" y="1905"/>
                  <a:pt x="-221" y="8890"/>
                  <a:pt x="2319" y="11430"/>
                </a:cubicBezTo>
                <a:cubicBezTo>
                  <a:pt x="4859" y="13970"/>
                  <a:pt x="6958" y="14550"/>
                  <a:pt x="15240" y="15240"/>
                </a:cubicBezTo>
                <a:cubicBezTo>
                  <a:pt x="23523" y="15930"/>
                  <a:pt x="45885" y="15517"/>
                  <a:pt x="52014" y="15572"/>
                </a:cubicBezTo>
              </a:path>
            </a:pathLst>
          </a:custGeom>
          <a:noFill/>
          <a:ln w="9525" cap="flat" cmpd="sng">
            <a:solidFill>
              <a:schemeClr val="dk2"/>
            </a:solidFill>
            <a:prstDash val="solid"/>
            <a:round/>
            <a:headEnd type="none" w="med" len="med"/>
            <a:tailEnd type="triangle" w="med" len="med"/>
          </a:ln>
        </p:spPr>
        <p:txBody>
          <a:bodyPr/>
          <a:lstStyle/>
          <a:p>
            <a:endParaRPr lang="en-US"/>
          </a:p>
        </p:txBody>
      </p:sp>
      <p:cxnSp>
        <p:nvCxnSpPr>
          <p:cNvPr id="908" name="Google Shape;908;p42"/>
          <p:cNvCxnSpPr/>
          <p:nvPr/>
        </p:nvCxnSpPr>
        <p:spPr>
          <a:xfrm>
            <a:off x="4022500" y="863875"/>
            <a:ext cx="0" cy="600600"/>
          </a:xfrm>
          <a:prstGeom prst="straightConnector1">
            <a:avLst/>
          </a:prstGeom>
          <a:noFill/>
          <a:ln w="9525" cap="flat" cmpd="sng">
            <a:solidFill>
              <a:schemeClr val="dk2"/>
            </a:solidFill>
            <a:prstDash val="solid"/>
            <a:round/>
            <a:headEnd type="none" w="med" len="med"/>
            <a:tailEnd type="triangle" w="med" len="med"/>
          </a:ln>
        </p:spPr>
      </p:cxnSp>
      <p:cxnSp>
        <p:nvCxnSpPr>
          <p:cNvPr id="909" name="Google Shape;909;p42"/>
          <p:cNvCxnSpPr/>
          <p:nvPr/>
        </p:nvCxnSpPr>
        <p:spPr>
          <a:xfrm>
            <a:off x="4275948" y="863875"/>
            <a:ext cx="0" cy="600600"/>
          </a:xfrm>
          <a:prstGeom prst="straightConnector1">
            <a:avLst/>
          </a:prstGeom>
          <a:noFill/>
          <a:ln w="9525" cap="flat" cmpd="sng">
            <a:solidFill>
              <a:schemeClr val="dk2"/>
            </a:solidFill>
            <a:prstDash val="solid"/>
            <a:round/>
            <a:headEnd type="none" w="med" len="med"/>
            <a:tailEnd type="triangle" w="med" len="med"/>
          </a:ln>
        </p:spPr>
      </p:cxnSp>
      <p:cxnSp>
        <p:nvCxnSpPr>
          <p:cNvPr id="910" name="Google Shape;910;p42"/>
          <p:cNvCxnSpPr>
            <a:stCxn id="896" idx="2"/>
            <a:endCxn id="895" idx="0"/>
          </p:cNvCxnSpPr>
          <p:nvPr/>
        </p:nvCxnSpPr>
        <p:spPr>
          <a:xfrm>
            <a:off x="2323850" y="2433925"/>
            <a:ext cx="0" cy="993000"/>
          </a:xfrm>
          <a:prstGeom prst="straightConnector1">
            <a:avLst/>
          </a:prstGeom>
          <a:noFill/>
          <a:ln w="9525" cap="flat" cmpd="sng">
            <a:solidFill>
              <a:schemeClr val="dk2"/>
            </a:solidFill>
            <a:prstDash val="solid"/>
            <a:round/>
            <a:headEnd type="none" w="med" len="med"/>
            <a:tailEnd type="triangle" w="med" len="med"/>
          </a:ln>
        </p:spPr>
      </p:cxnSp>
      <p:cxnSp>
        <p:nvCxnSpPr>
          <p:cNvPr id="911" name="Google Shape;911;p42"/>
          <p:cNvCxnSpPr>
            <a:stCxn id="895" idx="2"/>
            <a:endCxn id="894" idx="0"/>
          </p:cNvCxnSpPr>
          <p:nvPr/>
        </p:nvCxnSpPr>
        <p:spPr>
          <a:xfrm>
            <a:off x="2323850" y="3705775"/>
            <a:ext cx="0" cy="321300"/>
          </a:xfrm>
          <a:prstGeom prst="straightConnector1">
            <a:avLst/>
          </a:prstGeom>
          <a:noFill/>
          <a:ln w="9525" cap="flat" cmpd="sng">
            <a:solidFill>
              <a:schemeClr val="dk2"/>
            </a:solidFill>
            <a:prstDash val="solid"/>
            <a:round/>
            <a:headEnd type="none" w="med" len="med"/>
            <a:tailEnd type="triangle" w="med" len="med"/>
          </a:ln>
        </p:spPr>
      </p:cxnSp>
      <p:cxnSp>
        <p:nvCxnSpPr>
          <p:cNvPr id="912" name="Google Shape;912;p42"/>
          <p:cNvCxnSpPr/>
          <p:nvPr/>
        </p:nvCxnSpPr>
        <p:spPr>
          <a:xfrm>
            <a:off x="2811625" y="3704300"/>
            <a:ext cx="912600" cy="912600"/>
          </a:xfrm>
          <a:prstGeom prst="straightConnector1">
            <a:avLst/>
          </a:prstGeom>
          <a:noFill/>
          <a:ln w="9525" cap="flat" cmpd="sng">
            <a:solidFill>
              <a:schemeClr val="dk2"/>
            </a:solidFill>
            <a:prstDash val="solid"/>
            <a:round/>
            <a:headEnd type="none" w="med" len="med"/>
            <a:tailEnd type="triangle" w="med" len="med"/>
          </a:ln>
        </p:spPr>
      </p:cxnSp>
      <p:cxnSp>
        <p:nvCxnSpPr>
          <p:cNvPr id="913" name="Google Shape;913;p42"/>
          <p:cNvCxnSpPr>
            <a:stCxn id="893" idx="2"/>
            <a:endCxn id="892" idx="0"/>
          </p:cNvCxnSpPr>
          <p:nvPr/>
        </p:nvCxnSpPr>
        <p:spPr>
          <a:xfrm>
            <a:off x="4260675" y="4316425"/>
            <a:ext cx="0" cy="226800"/>
          </a:xfrm>
          <a:prstGeom prst="straightConnector1">
            <a:avLst/>
          </a:prstGeom>
          <a:noFill/>
          <a:ln w="9525" cap="flat" cmpd="sng">
            <a:solidFill>
              <a:schemeClr val="dk2"/>
            </a:solidFill>
            <a:prstDash val="solid"/>
            <a:round/>
            <a:headEnd type="none" w="med" len="med"/>
            <a:tailEnd type="triangle" w="med" len="med"/>
          </a:ln>
        </p:spPr>
      </p:cxnSp>
      <p:cxnSp>
        <p:nvCxnSpPr>
          <p:cNvPr id="914" name="Google Shape;914;p42"/>
          <p:cNvCxnSpPr>
            <a:endCxn id="890" idx="0"/>
          </p:cNvCxnSpPr>
          <p:nvPr/>
        </p:nvCxnSpPr>
        <p:spPr>
          <a:xfrm>
            <a:off x="6013275" y="3686125"/>
            <a:ext cx="0" cy="340800"/>
          </a:xfrm>
          <a:prstGeom prst="straightConnector1">
            <a:avLst/>
          </a:prstGeom>
          <a:noFill/>
          <a:ln w="9525" cap="flat" cmpd="sng">
            <a:solidFill>
              <a:schemeClr val="dk2"/>
            </a:solidFill>
            <a:prstDash val="solid"/>
            <a:round/>
            <a:headEnd type="none" w="med" len="med"/>
            <a:tailEnd type="triangle" w="med" len="med"/>
          </a:ln>
        </p:spPr>
      </p:cxnSp>
      <p:cxnSp>
        <p:nvCxnSpPr>
          <p:cNvPr id="915" name="Google Shape;915;p42"/>
          <p:cNvCxnSpPr>
            <a:stCxn id="890" idx="2"/>
            <a:endCxn id="891" idx="0"/>
          </p:cNvCxnSpPr>
          <p:nvPr/>
        </p:nvCxnSpPr>
        <p:spPr>
          <a:xfrm>
            <a:off x="6013275" y="4305925"/>
            <a:ext cx="0" cy="237300"/>
          </a:xfrm>
          <a:prstGeom prst="straightConnector1">
            <a:avLst/>
          </a:prstGeom>
          <a:noFill/>
          <a:ln w="9525" cap="flat" cmpd="sng">
            <a:solidFill>
              <a:schemeClr val="dk2"/>
            </a:solidFill>
            <a:prstDash val="solid"/>
            <a:round/>
            <a:headEnd type="none" w="med" len="med"/>
            <a:tailEnd type="triangle" w="med" len="med"/>
          </a:ln>
        </p:spPr>
      </p:cxnSp>
      <p:cxnSp>
        <p:nvCxnSpPr>
          <p:cNvPr id="916" name="Google Shape;916;p42"/>
          <p:cNvCxnSpPr>
            <a:endCxn id="891" idx="1"/>
          </p:cNvCxnSpPr>
          <p:nvPr/>
        </p:nvCxnSpPr>
        <p:spPr>
          <a:xfrm>
            <a:off x="4794225" y="4682750"/>
            <a:ext cx="685500" cy="0"/>
          </a:xfrm>
          <a:prstGeom prst="straightConnector1">
            <a:avLst/>
          </a:prstGeom>
          <a:noFill/>
          <a:ln w="9525" cap="flat" cmpd="sng">
            <a:solidFill>
              <a:schemeClr val="dk2"/>
            </a:solidFill>
            <a:prstDash val="solid"/>
            <a:round/>
            <a:headEnd type="none" w="med" len="med"/>
            <a:tailEnd type="triangle" w="med" len="med"/>
          </a:ln>
        </p:spPr>
      </p:cxnSp>
      <p:sp>
        <p:nvSpPr>
          <p:cNvPr id="917" name="Google Shape;917;p42"/>
          <p:cNvSpPr txBox="1"/>
          <p:nvPr/>
        </p:nvSpPr>
        <p:spPr>
          <a:xfrm>
            <a:off x="2791625" y="4546250"/>
            <a:ext cx="6162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FIN/ACK</a:t>
            </a:r>
            <a:endParaRPr sz="1000">
              <a:latin typeface="Roboto"/>
              <a:ea typeface="Roboto"/>
              <a:cs typeface="Roboto"/>
              <a:sym typeface="Roboto"/>
            </a:endParaRPr>
          </a:p>
        </p:txBody>
      </p:sp>
      <p:sp>
        <p:nvSpPr>
          <p:cNvPr id="918" name="Google Shape;918;p42"/>
          <p:cNvSpPr txBox="1"/>
          <p:nvPr/>
        </p:nvSpPr>
        <p:spPr>
          <a:xfrm rot="2700000">
            <a:off x="2763772" y="4006124"/>
            <a:ext cx="1104784" cy="154008"/>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ACK + FIN/ACK</a:t>
            </a:r>
            <a:endParaRPr sz="1000">
              <a:latin typeface="Roboto"/>
              <a:ea typeface="Roboto"/>
              <a:cs typeface="Roboto"/>
              <a:sym typeface="Roboto"/>
            </a:endParaRPr>
          </a:p>
        </p:txBody>
      </p:sp>
      <p:sp>
        <p:nvSpPr>
          <p:cNvPr id="919" name="Google Shape;919;p42"/>
          <p:cNvSpPr txBox="1"/>
          <p:nvPr/>
        </p:nvSpPr>
        <p:spPr>
          <a:xfrm>
            <a:off x="3849550" y="4352888"/>
            <a:ext cx="3459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0" name="Google Shape;920;p42"/>
          <p:cNvSpPr txBox="1"/>
          <p:nvPr/>
        </p:nvSpPr>
        <p:spPr>
          <a:xfrm>
            <a:off x="4828875" y="4026925"/>
            <a:ext cx="616200" cy="6156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Timeout after 2 segment lifetimes</a:t>
            </a:r>
            <a:endParaRPr sz="1000">
              <a:latin typeface="Roboto"/>
              <a:ea typeface="Roboto"/>
              <a:cs typeface="Roboto"/>
              <a:sym typeface="Roboto"/>
            </a:endParaRPr>
          </a:p>
        </p:txBody>
      </p:sp>
      <p:sp>
        <p:nvSpPr>
          <p:cNvPr id="921" name="Google Shape;921;p42"/>
          <p:cNvSpPr txBox="1"/>
          <p:nvPr/>
        </p:nvSpPr>
        <p:spPr>
          <a:xfrm>
            <a:off x="6075900" y="4347638"/>
            <a:ext cx="3459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2" name="Google Shape;922;p42"/>
          <p:cNvSpPr txBox="1"/>
          <p:nvPr/>
        </p:nvSpPr>
        <p:spPr>
          <a:xfrm>
            <a:off x="6041950" y="3757838"/>
            <a:ext cx="585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Close/FIN</a:t>
            </a:r>
            <a:endParaRPr sz="1000">
              <a:latin typeface="Roboto"/>
              <a:ea typeface="Roboto"/>
              <a:cs typeface="Roboto"/>
              <a:sym typeface="Roboto"/>
            </a:endParaRPr>
          </a:p>
        </p:txBody>
      </p:sp>
      <p:sp>
        <p:nvSpPr>
          <p:cNvPr id="923" name="Google Shape;923;p42"/>
          <p:cNvSpPr txBox="1"/>
          <p:nvPr/>
        </p:nvSpPr>
        <p:spPr>
          <a:xfrm>
            <a:off x="3166225" y="3664013"/>
            <a:ext cx="585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FIN/ACK</a:t>
            </a:r>
            <a:endParaRPr sz="1000">
              <a:latin typeface="Roboto"/>
              <a:ea typeface="Roboto"/>
              <a:cs typeface="Roboto"/>
              <a:sym typeface="Roboto"/>
            </a:endParaRPr>
          </a:p>
        </p:txBody>
      </p:sp>
      <p:sp>
        <p:nvSpPr>
          <p:cNvPr id="924" name="Google Shape;924;p42"/>
          <p:cNvSpPr txBox="1"/>
          <p:nvPr/>
        </p:nvSpPr>
        <p:spPr>
          <a:xfrm>
            <a:off x="1977938" y="3747013"/>
            <a:ext cx="3459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5" name="Google Shape;925;p42"/>
          <p:cNvSpPr txBox="1"/>
          <p:nvPr/>
        </p:nvSpPr>
        <p:spPr>
          <a:xfrm>
            <a:off x="3147763" y="3312425"/>
            <a:ext cx="585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Close/FIN</a:t>
            </a:r>
            <a:endParaRPr sz="1000">
              <a:latin typeface="Roboto"/>
              <a:ea typeface="Roboto"/>
              <a:cs typeface="Roboto"/>
              <a:sym typeface="Roboto"/>
            </a:endParaRPr>
          </a:p>
        </p:txBody>
      </p:sp>
      <p:sp>
        <p:nvSpPr>
          <p:cNvPr id="926" name="Google Shape;926;p42"/>
          <p:cNvSpPr txBox="1"/>
          <p:nvPr/>
        </p:nvSpPr>
        <p:spPr>
          <a:xfrm>
            <a:off x="2424538" y="2922163"/>
            <a:ext cx="585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Close/FIN</a:t>
            </a:r>
            <a:endParaRPr sz="1000">
              <a:latin typeface="Roboto"/>
              <a:ea typeface="Roboto"/>
              <a:cs typeface="Roboto"/>
              <a:sym typeface="Roboto"/>
            </a:endParaRPr>
          </a:p>
        </p:txBody>
      </p:sp>
      <p:sp>
        <p:nvSpPr>
          <p:cNvPr id="927" name="Google Shape;927;p42"/>
          <p:cNvSpPr txBox="1"/>
          <p:nvPr/>
        </p:nvSpPr>
        <p:spPr>
          <a:xfrm>
            <a:off x="3370113" y="2433913"/>
            <a:ext cx="3459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ACK</a:t>
            </a:r>
            <a:endParaRPr sz="1000">
              <a:latin typeface="Roboto"/>
              <a:ea typeface="Roboto"/>
              <a:cs typeface="Roboto"/>
              <a:sym typeface="Roboto"/>
            </a:endParaRPr>
          </a:p>
        </p:txBody>
      </p:sp>
      <p:sp>
        <p:nvSpPr>
          <p:cNvPr id="928" name="Google Shape;928;p42"/>
          <p:cNvSpPr txBox="1"/>
          <p:nvPr/>
        </p:nvSpPr>
        <p:spPr>
          <a:xfrm>
            <a:off x="4709275" y="3341888"/>
            <a:ext cx="5856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FIN/ACK</a:t>
            </a:r>
            <a:endParaRPr sz="1000">
              <a:latin typeface="Roboto"/>
              <a:ea typeface="Roboto"/>
              <a:cs typeface="Roboto"/>
              <a:sym typeface="Roboto"/>
            </a:endParaRPr>
          </a:p>
        </p:txBody>
      </p:sp>
      <p:sp>
        <p:nvSpPr>
          <p:cNvPr id="929" name="Google Shape;929;p42"/>
          <p:cNvSpPr txBox="1"/>
          <p:nvPr/>
        </p:nvSpPr>
        <p:spPr>
          <a:xfrm>
            <a:off x="4498900" y="2477863"/>
            <a:ext cx="9483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SYN+ACK/ACK</a:t>
            </a:r>
            <a:endParaRPr sz="1000">
              <a:latin typeface="Roboto"/>
              <a:ea typeface="Roboto"/>
              <a:cs typeface="Roboto"/>
              <a:sym typeface="Roboto"/>
            </a:endParaRPr>
          </a:p>
        </p:txBody>
      </p:sp>
      <p:sp>
        <p:nvSpPr>
          <p:cNvPr id="930" name="Google Shape;930;p42"/>
          <p:cNvSpPr txBox="1"/>
          <p:nvPr/>
        </p:nvSpPr>
        <p:spPr>
          <a:xfrm>
            <a:off x="3646675" y="2154838"/>
            <a:ext cx="9483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SYN/SYN+ACK</a:t>
            </a:r>
            <a:endParaRPr sz="1000">
              <a:latin typeface="Roboto"/>
              <a:ea typeface="Roboto"/>
              <a:cs typeface="Roboto"/>
              <a:sym typeface="Roboto"/>
            </a:endParaRPr>
          </a:p>
        </p:txBody>
      </p:sp>
      <p:sp>
        <p:nvSpPr>
          <p:cNvPr id="931" name="Google Shape;931;p42"/>
          <p:cNvSpPr txBox="1"/>
          <p:nvPr/>
        </p:nvSpPr>
        <p:spPr>
          <a:xfrm>
            <a:off x="2804900" y="1974850"/>
            <a:ext cx="9483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SYN/SYN+ACK</a:t>
            </a:r>
            <a:endParaRPr sz="1000">
              <a:latin typeface="Roboto"/>
              <a:ea typeface="Roboto"/>
              <a:cs typeface="Roboto"/>
              <a:sym typeface="Roboto"/>
            </a:endParaRPr>
          </a:p>
        </p:txBody>
      </p:sp>
      <p:sp>
        <p:nvSpPr>
          <p:cNvPr id="932" name="Google Shape;932;p42"/>
          <p:cNvSpPr txBox="1"/>
          <p:nvPr/>
        </p:nvSpPr>
        <p:spPr>
          <a:xfrm>
            <a:off x="4527925" y="1990868"/>
            <a:ext cx="7197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Send/SYN</a:t>
            </a:r>
            <a:endParaRPr sz="1000">
              <a:latin typeface="Roboto"/>
              <a:ea typeface="Roboto"/>
              <a:cs typeface="Roboto"/>
              <a:sym typeface="Roboto"/>
            </a:endParaRPr>
          </a:p>
        </p:txBody>
      </p:sp>
      <p:sp>
        <p:nvSpPr>
          <p:cNvPr id="933" name="Google Shape;933;p42"/>
          <p:cNvSpPr txBox="1"/>
          <p:nvPr/>
        </p:nvSpPr>
        <p:spPr>
          <a:xfrm>
            <a:off x="5040625" y="1215625"/>
            <a:ext cx="3651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Close</a:t>
            </a:r>
            <a:endParaRPr sz="1000">
              <a:latin typeface="Roboto"/>
              <a:ea typeface="Roboto"/>
              <a:cs typeface="Roboto"/>
              <a:sym typeface="Roboto"/>
            </a:endParaRPr>
          </a:p>
        </p:txBody>
      </p:sp>
      <p:sp>
        <p:nvSpPr>
          <p:cNvPr id="934" name="Google Shape;934;p42"/>
          <p:cNvSpPr txBox="1"/>
          <p:nvPr/>
        </p:nvSpPr>
        <p:spPr>
          <a:xfrm>
            <a:off x="4300425" y="1064025"/>
            <a:ext cx="3651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Close</a:t>
            </a:r>
            <a:endParaRPr sz="1000">
              <a:latin typeface="Roboto"/>
              <a:ea typeface="Roboto"/>
              <a:cs typeface="Roboto"/>
              <a:sym typeface="Roboto"/>
            </a:endParaRPr>
          </a:p>
        </p:txBody>
      </p:sp>
      <p:sp>
        <p:nvSpPr>
          <p:cNvPr id="935" name="Google Shape;935;p42"/>
          <p:cNvSpPr txBox="1"/>
          <p:nvPr/>
        </p:nvSpPr>
        <p:spPr>
          <a:xfrm>
            <a:off x="3147775" y="1064025"/>
            <a:ext cx="8658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Passive open</a:t>
            </a:r>
            <a:endParaRPr sz="1000">
              <a:latin typeface="Roboto"/>
              <a:ea typeface="Roboto"/>
              <a:cs typeface="Roboto"/>
              <a:sym typeface="Roboto"/>
            </a:endParaRPr>
          </a:p>
        </p:txBody>
      </p:sp>
      <p:sp>
        <p:nvSpPr>
          <p:cNvPr id="936" name="Google Shape;936;p42"/>
          <p:cNvSpPr txBox="1"/>
          <p:nvPr/>
        </p:nvSpPr>
        <p:spPr>
          <a:xfrm>
            <a:off x="5354700" y="727663"/>
            <a:ext cx="1067100" cy="153900"/>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 sz="1000">
                <a:latin typeface="Roboto"/>
                <a:ea typeface="Roboto"/>
                <a:cs typeface="Roboto"/>
                <a:sym typeface="Roboto"/>
              </a:rPr>
              <a:t>Active open/SYN</a:t>
            </a:r>
            <a:endParaRPr sz="1000">
              <a:latin typeface="Roboto"/>
              <a:ea typeface="Roboto"/>
              <a:cs typeface="Roboto"/>
              <a:sym typeface="Roboto"/>
            </a:endParaRPr>
          </a:p>
        </p:txBody>
      </p:sp>
      <p:cxnSp>
        <p:nvCxnSpPr>
          <p:cNvPr id="937" name="Google Shape;937;p42"/>
          <p:cNvCxnSpPr/>
          <p:nvPr/>
        </p:nvCxnSpPr>
        <p:spPr>
          <a:xfrm rot="10800000">
            <a:off x="2857425" y="2308713"/>
            <a:ext cx="2622300" cy="0"/>
          </a:xfrm>
          <a:prstGeom prst="straightConnector1">
            <a:avLst/>
          </a:prstGeom>
          <a:noFill/>
          <a:ln w="9525" cap="flat" cmpd="sng">
            <a:solidFill>
              <a:schemeClr val="dk2"/>
            </a:solidFill>
            <a:prstDash val="solid"/>
            <a:round/>
            <a:headEnd type="none" w="med" len="med"/>
            <a:tailEnd type="triangle" w="med" len="med"/>
          </a:ln>
        </p:spPr>
      </p:cxnSp>
      <p:sp>
        <p:nvSpPr>
          <p:cNvPr id="938" name="Google Shape;938;p42"/>
          <p:cNvSpPr/>
          <p:nvPr/>
        </p:nvSpPr>
        <p:spPr>
          <a:xfrm>
            <a:off x="2861675" y="3639075"/>
            <a:ext cx="1255725" cy="393700"/>
          </a:xfrm>
          <a:custGeom>
            <a:avLst/>
            <a:gdLst/>
            <a:ahLst/>
            <a:cxnLst/>
            <a:rect l="l" t="t" r="r" b="b"/>
            <a:pathLst>
              <a:path w="50229" h="15748" extrusionOk="0">
                <a:moveTo>
                  <a:pt x="0" y="0"/>
                </a:moveTo>
                <a:cubicBezTo>
                  <a:pt x="6583" y="434"/>
                  <a:pt x="31126" y="-21"/>
                  <a:pt x="39497" y="2604"/>
                </a:cubicBezTo>
                <a:cubicBezTo>
                  <a:pt x="47869" y="5229"/>
                  <a:pt x="48440" y="13557"/>
                  <a:pt x="50229" y="15748"/>
                </a:cubicBezTo>
              </a:path>
            </a:pathLst>
          </a:custGeom>
          <a:noFill/>
          <a:ln w="9525" cap="flat" cmpd="sng">
            <a:solidFill>
              <a:schemeClr val="dk2"/>
            </a:solidFill>
            <a:prstDash val="solid"/>
            <a:round/>
            <a:headEnd type="none" w="med" len="med"/>
            <a:tailEnd type="triangle" w="med" len="med"/>
          </a:ln>
        </p:spPr>
        <p:txBody>
          <a:bodyPr/>
          <a:lstStyle/>
          <a:p>
            <a:endParaRPr lang="en-US"/>
          </a:p>
        </p:txBody>
      </p:sp>
      <p:sp>
        <p:nvSpPr>
          <p:cNvPr id="939" name="Google Shape;939;p42"/>
          <p:cNvSpPr txBox="1"/>
          <p:nvPr/>
        </p:nvSpPr>
        <p:spPr>
          <a:xfrm>
            <a:off x="6730300" y="2514775"/>
            <a:ext cx="1981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The ESTABLISHED state is where all data is sent and acked.</a:t>
            </a:r>
            <a:endParaRPr>
              <a:solidFill>
                <a:schemeClr val="accent2"/>
              </a:solidFill>
              <a:latin typeface="Roboto"/>
              <a:ea typeface="Roboto"/>
              <a:cs typeface="Roboto"/>
              <a:sym typeface="Roboto"/>
            </a:endParaRPr>
          </a:p>
        </p:txBody>
      </p:sp>
      <p:sp>
        <p:nvSpPr>
          <p:cNvPr id="940" name="Google Shape;940;p42"/>
          <p:cNvSpPr/>
          <p:nvPr/>
        </p:nvSpPr>
        <p:spPr>
          <a:xfrm>
            <a:off x="4692275" y="693750"/>
            <a:ext cx="1413050" cy="1469550"/>
          </a:xfrm>
          <a:custGeom>
            <a:avLst/>
            <a:gdLst/>
            <a:ahLst/>
            <a:cxnLst/>
            <a:rect l="l" t="t" r="r" b="b"/>
            <a:pathLst>
              <a:path w="56522" h="58782" extrusionOk="0">
                <a:moveTo>
                  <a:pt x="0" y="0"/>
                </a:moveTo>
                <a:cubicBezTo>
                  <a:pt x="7590" y="2692"/>
                  <a:pt x="36120" y="6352"/>
                  <a:pt x="45540" y="16149"/>
                </a:cubicBezTo>
                <a:cubicBezTo>
                  <a:pt x="54960" y="25946"/>
                  <a:pt x="54692" y="51677"/>
                  <a:pt x="56522" y="58782"/>
                </a:cubicBezTo>
              </a:path>
            </a:pathLst>
          </a:custGeom>
          <a:noFill/>
          <a:ln w="9525" cap="flat" cmpd="sng">
            <a:solidFill>
              <a:schemeClr val="dk2"/>
            </a:solidFill>
            <a:prstDash val="solid"/>
            <a:round/>
            <a:headEnd type="none" w="med" len="med"/>
            <a:tailEnd type="triangle" w="med" len="med"/>
          </a:ln>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4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3"/>
                </a:solidFill>
              </a:rPr>
              <a:t>TCP Setup/Teardown Transition Diagram (Simplified)</a:t>
            </a:r>
            <a:endParaRPr/>
          </a:p>
        </p:txBody>
      </p:sp>
      <p:sp>
        <p:nvSpPr>
          <p:cNvPr id="946" name="Google Shape;946;p43"/>
          <p:cNvSpPr/>
          <p:nvPr/>
        </p:nvSpPr>
        <p:spPr>
          <a:xfrm>
            <a:off x="3583966" y="4139275"/>
            <a:ext cx="1352700" cy="441300"/>
          </a:xfrm>
          <a:prstGeom prst="roundRect">
            <a:avLst>
              <a:gd name="adj" fmla="val 16667"/>
            </a:avLst>
          </a:prstGeom>
          <a:solidFill>
            <a:srgbClr val="FFFFFF"/>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FIN_WAIT1</a:t>
            </a:r>
            <a:endParaRPr>
              <a:solidFill>
                <a:schemeClr val="accent2"/>
              </a:solidFill>
              <a:latin typeface="Roboto"/>
              <a:ea typeface="Roboto"/>
              <a:cs typeface="Roboto"/>
              <a:sym typeface="Roboto"/>
            </a:endParaRPr>
          </a:p>
        </p:txBody>
      </p:sp>
      <p:sp>
        <p:nvSpPr>
          <p:cNvPr id="947" name="Google Shape;947;p43"/>
          <p:cNvSpPr/>
          <p:nvPr/>
        </p:nvSpPr>
        <p:spPr>
          <a:xfrm>
            <a:off x="1405975" y="2996263"/>
            <a:ext cx="1352700" cy="441300"/>
          </a:xfrm>
          <a:prstGeom prst="roundRect">
            <a:avLst>
              <a:gd name="adj" fmla="val 16667"/>
            </a:avLst>
          </a:prstGeom>
          <a:solidFill>
            <a:srgbClr val="FFFFFF"/>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FIN_WAIT2</a:t>
            </a:r>
            <a:endParaRPr>
              <a:solidFill>
                <a:schemeClr val="accent2"/>
              </a:solidFill>
              <a:latin typeface="Roboto"/>
              <a:ea typeface="Roboto"/>
              <a:cs typeface="Roboto"/>
              <a:sym typeface="Roboto"/>
            </a:endParaRPr>
          </a:p>
        </p:txBody>
      </p:sp>
      <p:sp>
        <p:nvSpPr>
          <p:cNvPr id="948" name="Google Shape;948;p43"/>
          <p:cNvSpPr/>
          <p:nvPr/>
        </p:nvSpPr>
        <p:spPr>
          <a:xfrm>
            <a:off x="5761929" y="2996263"/>
            <a:ext cx="1352700" cy="4413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ESTABLISHED</a:t>
            </a:r>
            <a:endParaRPr>
              <a:latin typeface="Roboto"/>
              <a:ea typeface="Roboto"/>
              <a:cs typeface="Roboto"/>
              <a:sym typeface="Roboto"/>
            </a:endParaRPr>
          </a:p>
        </p:txBody>
      </p:sp>
      <p:sp>
        <p:nvSpPr>
          <p:cNvPr id="949" name="Google Shape;949;p43"/>
          <p:cNvSpPr/>
          <p:nvPr/>
        </p:nvSpPr>
        <p:spPr>
          <a:xfrm>
            <a:off x="3583966" y="710275"/>
            <a:ext cx="1352700" cy="441300"/>
          </a:xfrm>
          <a:prstGeom prst="roundRect">
            <a:avLst>
              <a:gd name="adj" fmla="val 16667"/>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CLOSED</a:t>
            </a:r>
            <a:endParaRPr>
              <a:latin typeface="Roboto"/>
              <a:ea typeface="Roboto"/>
              <a:cs typeface="Roboto"/>
              <a:sym typeface="Roboto"/>
            </a:endParaRPr>
          </a:p>
        </p:txBody>
      </p:sp>
      <p:sp>
        <p:nvSpPr>
          <p:cNvPr id="950" name="Google Shape;950;p43"/>
          <p:cNvSpPr/>
          <p:nvPr/>
        </p:nvSpPr>
        <p:spPr>
          <a:xfrm>
            <a:off x="1405975" y="1853263"/>
            <a:ext cx="1352700" cy="441300"/>
          </a:xfrm>
          <a:prstGeom prst="roundRect">
            <a:avLst>
              <a:gd name="adj" fmla="val 16667"/>
            </a:avLst>
          </a:prstGeom>
          <a:solidFill>
            <a:srgbClr val="FFFFFF"/>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TIME_WAIT</a:t>
            </a:r>
            <a:endParaRPr>
              <a:solidFill>
                <a:schemeClr val="accent2"/>
              </a:solidFill>
              <a:latin typeface="Roboto"/>
              <a:ea typeface="Roboto"/>
              <a:cs typeface="Roboto"/>
              <a:sym typeface="Roboto"/>
            </a:endParaRPr>
          </a:p>
        </p:txBody>
      </p:sp>
      <p:sp>
        <p:nvSpPr>
          <p:cNvPr id="951" name="Google Shape;951;p43"/>
          <p:cNvSpPr/>
          <p:nvPr/>
        </p:nvSpPr>
        <p:spPr>
          <a:xfrm>
            <a:off x="5761929" y="1853263"/>
            <a:ext cx="1352700" cy="441300"/>
          </a:xfrm>
          <a:prstGeom prst="roundRect">
            <a:avLst>
              <a:gd name="adj" fmla="val 16667"/>
            </a:avLst>
          </a:prstGeom>
          <a:solidFill>
            <a:srgbClr val="FFFFFF"/>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SYN_SENT</a:t>
            </a:r>
            <a:endParaRPr>
              <a:solidFill>
                <a:srgbClr val="0000FF"/>
              </a:solidFill>
              <a:latin typeface="Roboto"/>
              <a:ea typeface="Roboto"/>
              <a:cs typeface="Roboto"/>
              <a:sym typeface="Roboto"/>
            </a:endParaRPr>
          </a:p>
        </p:txBody>
      </p:sp>
      <p:cxnSp>
        <p:nvCxnSpPr>
          <p:cNvPr id="952" name="Google Shape;952;p43"/>
          <p:cNvCxnSpPr>
            <a:stCxn id="949" idx="1"/>
            <a:endCxn id="950" idx="0"/>
          </p:cNvCxnSpPr>
          <p:nvPr/>
        </p:nvCxnSpPr>
        <p:spPr>
          <a:xfrm flipH="1">
            <a:off x="2082466" y="930925"/>
            <a:ext cx="1501500" cy="922200"/>
          </a:xfrm>
          <a:prstGeom prst="curvedConnector2">
            <a:avLst/>
          </a:prstGeom>
          <a:noFill/>
          <a:ln w="19050" cap="flat" cmpd="sng">
            <a:solidFill>
              <a:schemeClr val="accent2"/>
            </a:solidFill>
            <a:prstDash val="solid"/>
            <a:round/>
            <a:headEnd type="triangle" w="med" len="med"/>
            <a:tailEnd type="none" w="med" len="med"/>
          </a:ln>
        </p:spPr>
      </p:cxnSp>
      <p:cxnSp>
        <p:nvCxnSpPr>
          <p:cNvPr id="953" name="Google Shape;953;p43"/>
          <p:cNvCxnSpPr>
            <a:stCxn id="949" idx="3"/>
            <a:endCxn id="951" idx="0"/>
          </p:cNvCxnSpPr>
          <p:nvPr/>
        </p:nvCxnSpPr>
        <p:spPr>
          <a:xfrm>
            <a:off x="4936666" y="930925"/>
            <a:ext cx="1501500" cy="922200"/>
          </a:xfrm>
          <a:prstGeom prst="curvedConnector2">
            <a:avLst/>
          </a:prstGeom>
          <a:noFill/>
          <a:ln w="19050" cap="flat" cmpd="sng">
            <a:solidFill>
              <a:srgbClr val="0000FF"/>
            </a:solidFill>
            <a:prstDash val="solid"/>
            <a:round/>
            <a:headEnd type="none" w="med" len="med"/>
            <a:tailEnd type="triangle" w="med" len="med"/>
          </a:ln>
        </p:spPr>
      </p:cxnSp>
      <p:cxnSp>
        <p:nvCxnSpPr>
          <p:cNvPr id="954" name="Google Shape;954;p43"/>
          <p:cNvCxnSpPr>
            <a:stCxn id="947" idx="2"/>
            <a:endCxn id="946" idx="1"/>
          </p:cNvCxnSpPr>
          <p:nvPr/>
        </p:nvCxnSpPr>
        <p:spPr>
          <a:xfrm rot="-5400000" flipH="1">
            <a:off x="2371825" y="3148063"/>
            <a:ext cx="922500" cy="1501500"/>
          </a:xfrm>
          <a:prstGeom prst="curvedConnector2">
            <a:avLst/>
          </a:prstGeom>
          <a:noFill/>
          <a:ln w="19050" cap="flat" cmpd="sng">
            <a:solidFill>
              <a:schemeClr val="accent2"/>
            </a:solidFill>
            <a:prstDash val="solid"/>
            <a:round/>
            <a:headEnd type="triangle" w="med" len="med"/>
            <a:tailEnd type="none" w="med" len="med"/>
          </a:ln>
        </p:spPr>
      </p:cxnSp>
      <p:cxnSp>
        <p:nvCxnSpPr>
          <p:cNvPr id="955" name="Google Shape;955;p43"/>
          <p:cNvCxnSpPr>
            <a:stCxn id="946" idx="3"/>
            <a:endCxn id="948" idx="2"/>
          </p:cNvCxnSpPr>
          <p:nvPr/>
        </p:nvCxnSpPr>
        <p:spPr>
          <a:xfrm rot="10800000" flipH="1">
            <a:off x="4936666" y="3437425"/>
            <a:ext cx="1501500" cy="922500"/>
          </a:xfrm>
          <a:prstGeom prst="curvedConnector2">
            <a:avLst/>
          </a:prstGeom>
          <a:noFill/>
          <a:ln w="19050" cap="flat" cmpd="sng">
            <a:solidFill>
              <a:schemeClr val="accent2"/>
            </a:solidFill>
            <a:prstDash val="solid"/>
            <a:round/>
            <a:headEnd type="triangle" w="med" len="med"/>
            <a:tailEnd type="none" w="med" len="med"/>
          </a:ln>
        </p:spPr>
      </p:cxnSp>
      <p:cxnSp>
        <p:nvCxnSpPr>
          <p:cNvPr id="956" name="Google Shape;956;p43"/>
          <p:cNvCxnSpPr>
            <a:endCxn id="948" idx="0"/>
          </p:cNvCxnSpPr>
          <p:nvPr/>
        </p:nvCxnSpPr>
        <p:spPr>
          <a:xfrm>
            <a:off x="6438279" y="2294563"/>
            <a:ext cx="0" cy="701700"/>
          </a:xfrm>
          <a:prstGeom prst="straightConnector1">
            <a:avLst/>
          </a:prstGeom>
          <a:noFill/>
          <a:ln w="19050" cap="flat" cmpd="sng">
            <a:solidFill>
              <a:srgbClr val="0000FF"/>
            </a:solidFill>
            <a:prstDash val="solid"/>
            <a:round/>
            <a:headEnd type="none" w="med" len="med"/>
            <a:tailEnd type="triangle" w="med" len="med"/>
          </a:ln>
        </p:spPr>
      </p:cxnSp>
      <p:cxnSp>
        <p:nvCxnSpPr>
          <p:cNvPr id="957" name="Google Shape;957;p43"/>
          <p:cNvCxnSpPr>
            <a:stCxn id="950" idx="2"/>
            <a:endCxn id="947" idx="0"/>
          </p:cNvCxnSpPr>
          <p:nvPr/>
        </p:nvCxnSpPr>
        <p:spPr>
          <a:xfrm>
            <a:off x="2082325" y="2294563"/>
            <a:ext cx="0" cy="701700"/>
          </a:xfrm>
          <a:prstGeom prst="straightConnector1">
            <a:avLst/>
          </a:prstGeom>
          <a:noFill/>
          <a:ln w="19050" cap="flat" cmpd="sng">
            <a:solidFill>
              <a:schemeClr val="accent2"/>
            </a:solidFill>
            <a:prstDash val="solid"/>
            <a:round/>
            <a:headEnd type="triangle" w="med" len="med"/>
            <a:tailEnd type="none" w="med" len="med"/>
          </a:ln>
        </p:spPr>
      </p:cxnSp>
      <p:sp>
        <p:nvSpPr>
          <p:cNvPr id="958" name="Google Shape;958;p43"/>
          <p:cNvSpPr txBox="1"/>
          <p:nvPr/>
        </p:nvSpPr>
        <p:spPr>
          <a:xfrm>
            <a:off x="5914325" y="886375"/>
            <a:ext cx="8658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rgbClr val="0000FF"/>
                </a:solidFill>
                <a:latin typeface="Roboto"/>
                <a:ea typeface="Roboto"/>
                <a:cs typeface="Roboto"/>
                <a:sym typeface="Roboto"/>
              </a:rPr>
              <a:t>Send SYN</a:t>
            </a:r>
            <a:endParaRPr>
              <a:solidFill>
                <a:srgbClr val="0000FF"/>
              </a:solidFill>
              <a:latin typeface="Roboto"/>
              <a:ea typeface="Roboto"/>
              <a:cs typeface="Roboto"/>
              <a:sym typeface="Roboto"/>
            </a:endParaRPr>
          </a:p>
        </p:txBody>
      </p:sp>
      <p:sp>
        <p:nvSpPr>
          <p:cNvPr id="959" name="Google Shape;959;p43"/>
          <p:cNvSpPr txBox="1"/>
          <p:nvPr/>
        </p:nvSpPr>
        <p:spPr>
          <a:xfrm>
            <a:off x="6584275" y="2429875"/>
            <a:ext cx="1501500" cy="431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rgbClr val="0000FF"/>
                </a:solidFill>
                <a:latin typeface="Roboto"/>
                <a:ea typeface="Roboto"/>
                <a:cs typeface="Roboto"/>
                <a:sym typeface="Roboto"/>
              </a:rPr>
              <a:t>Receive SYN+ACK</a:t>
            </a:r>
            <a:endParaRPr>
              <a:solidFill>
                <a:srgbClr val="0000FF"/>
              </a:solidFill>
              <a:latin typeface="Roboto"/>
              <a:ea typeface="Roboto"/>
              <a:cs typeface="Roboto"/>
              <a:sym typeface="Roboto"/>
            </a:endParaRPr>
          </a:p>
          <a:p>
            <a:pPr marL="0" lvl="0" indent="0" algn="l" rtl="0">
              <a:spcBef>
                <a:spcPts val="0"/>
              </a:spcBef>
              <a:spcAft>
                <a:spcPts val="0"/>
              </a:spcAft>
              <a:buNone/>
            </a:pPr>
            <a:r>
              <a:rPr lang="en">
                <a:solidFill>
                  <a:srgbClr val="0000FF"/>
                </a:solidFill>
                <a:latin typeface="Roboto"/>
                <a:ea typeface="Roboto"/>
                <a:cs typeface="Roboto"/>
                <a:sym typeface="Roboto"/>
              </a:rPr>
              <a:t>Send ACK</a:t>
            </a:r>
            <a:endParaRPr>
              <a:solidFill>
                <a:srgbClr val="0000FF"/>
              </a:solidFill>
              <a:latin typeface="Roboto"/>
              <a:ea typeface="Roboto"/>
              <a:cs typeface="Roboto"/>
              <a:sym typeface="Roboto"/>
            </a:endParaRPr>
          </a:p>
        </p:txBody>
      </p:sp>
      <p:sp>
        <p:nvSpPr>
          <p:cNvPr id="960" name="Google Shape;960;p43"/>
          <p:cNvSpPr txBox="1"/>
          <p:nvPr/>
        </p:nvSpPr>
        <p:spPr>
          <a:xfrm>
            <a:off x="5914325" y="4239175"/>
            <a:ext cx="8658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latin typeface="Roboto"/>
                <a:ea typeface="Roboto"/>
                <a:cs typeface="Roboto"/>
                <a:sym typeface="Roboto"/>
              </a:rPr>
              <a:t>Send FIN</a:t>
            </a:r>
            <a:endParaRPr>
              <a:latin typeface="Roboto"/>
              <a:ea typeface="Roboto"/>
              <a:cs typeface="Roboto"/>
              <a:sym typeface="Roboto"/>
            </a:endParaRPr>
          </a:p>
        </p:txBody>
      </p:sp>
      <p:sp>
        <p:nvSpPr>
          <p:cNvPr id="961" name="Google Shape;961;p43"/>
          <p:cNvSpPr txBox="1"/>
          <p:nvPr/>
        </p:nvSpPr>
        <p:spPr>
          <a:xfrm>
            <a:off x="1580875" y="4239175"/>
            <a:ext cx="1084500" cy="2154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n">
                <a:solidFill>
                  <a:schemeClr val="accent2"/>
                </a:solidFill>
                <a:latin typeface="Roboto"/>
                <a:ea typeface="Roboto"/>
                <a:cs typeface="Roboto"/>
                <a:sym typeface="Roboto"/>
              </a:rPr>
              <a:t>Receive ACK</a:t>
            </a:r>
            <a:endParaRPr>
              <a:solidFill>
                <a:schemeClr val="accent2"/>
              </a:solidFill>
              <a:latin typeface="Roboto"/>
              <a:ea typeface="Roboto"/>
              <a:cs typeface="Roboto"/>
              <a:sym typeface="Roboto"/>
            </a:endParaRPr>
          </a:p>
        </p:txBody>
      </p:sp>
      <p:sp>
        <p:nvSpPr>
          <p:cNvPr id="962" name="Google Shape;962;p43"/>
          <p:cNvSpPr txBox="1"/>
          <p:nvPr/>
        </p:nvSpPr>
        <p:spPr>
          <a:xfrm>
            <a:off x="428425" y="2429875"/>
            <a:ext cx="1501500" cy="4311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n">
                <a:solidFill>
                  <a:schemeClr val="accent2"/>
                </a:solidFill>
                <a:latin typeface="Roboto"/>
                <a:ea typeface="Roboto"/>
                <a:cs typeface="Roboto"/>
                <a:sym typeface="Roboto"/>
              </a:rPr>
              <a:t>Receive FIN</a:t>
            </a:r>
            <a:endParaRPr>
              <a:solidFill>
                <a:schemeClr val="accent2"/>
              </a:solidFill>
              <a:latin typeface="Roboto"/>
              <a:ea typeface="Roboto"/>
              <a:cs typeface="Roboto"/>
              <a:sym typeface="Roboto"/>
            </a:endParaRPr>
          </a:p>
          <a:p>
            <a:pPr marL="0" lvl="0" indent="0" algn="r" rtl="0">
              <a:spcBef>
                <a:spcPts val="0"/>
              </a:spcBef>
              <a:spcAft>
                <a:spcPts val="0"/>
              </a:spcAft>
              <a:buNone/>
            </a:pPr>
            <a:r>
              <a:rPr lang="en">
                <a:solidFill>
                  <a:schemeClr val="accent2"/>
                </a:solidFill>
                <a:latin typeface="Roboto"/>
                <a:ea typeface="Roboto"/>
                <a:cs typeface="Roboto"/>
                <a:sym typeface="Roboto"/>
              </a:rPr>
              <a:t>Send ACK</a:t>
            </a:r>
            <a:endParaRPr>
              <a:solidFill>
                <a:schemeClr val="accent2"/>
              </a:solidFill>
              <a:latin typeface="Roboto"/>
              <a:ea typeface="Roboto"/>
              <a:cs typeface="Roboto"/>
              <a:sym typeface="Roboto"/>
            </a:endParaRPr>
          </a:p>
        </p:txBody>
      </p:sp>
      <p:sp>
        <p:nvSpPr>
          <p:cNvPr id="963" name="Google Shape;963;p43"/>
          <p:cNvSpPr txBox="1"/>
          <p:nvPr/>
        </p:nvSpPr>
        <p:spPr>
          <a:xfrm>
            <a:off x="1445625" y="936175"/>
            <a:ext cx="1084500" cy="2154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r>
              <a:rPr lang="en">
                <a:solidFill>
                  <a:schemeClr val="accent2"/>
                </a:solidFill>
                <a:latin typeface="Roboto"/>
                <a:ea typeface="Roboto"/>
                <a:cs typeface="Roboto"/>
                <a:sym typeface="Roboto"/>
              </a:rPr>
              <a:t>Wait a while</a:t>
            </a:r>
            <a:endParaRPr>
              <a:solidFill>
                <a:schemeClr val="accent2"/>
              </a:solidFill>
              <a:latin typeface="Roboto"/>
              <a:ea typeface="Roboto"/>
              <a:cs typeface="Roboto"/>
              <a:sym typeface="Roboto"/>
            </a:endParaRPr>
          </a:p>
        </p:txBody>
      </p:sp>
      <p:sp>
        <p:nvSpPr>
          <p:cNvPr id="964" name="Google Shape;964;p43"/>
          <p:cNvSpPr txBox="1"/>
          <p:nvPr/>
        </p:nvSpPr>
        <p:spPr>
          <a:xfrm>
            <a:off x="4645275" y="1966225"/>
            <a:ext cx="5175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rgbClr val="0000FF"/>
                </a:solidFill>
                <a:latin typeface="Roboto"/>
                <a:ea typeface="Roboto"/>
                <a:cs typeface="Roboto"/>
                <a:sym typeface="Roboto"/>
              </a:rPr>
              <a:t>Setup</a:t>
            </a:r>
            <a:endParaRPr>
              <a:solidFill>
                <a:srgbClr val="0000FF"/>
              </a:solidFill>
              <a:latin typeface="Roboto"/>
              <a:ea typeface="Roboto"/>
              <a:cs typeface="Roboto"/>
              <a:sym typeface="Roboto"/>
            </a:endParaRPr>
          </a:p>
        </p:txBody>
      </p:sp>
      <p:sp>
        <p:nvSpPr>
          <p:cNvPr id="965" name="Google Shape;965;p43"/>
          <p:cNvSpPr txBox="1"/>
          <p:nvPr/>
        </p:nvSpPr>
        <p:spPr>
          <a:xfrm>
            <a:off x="3166600" y="3109225"/>
            <a:ext cx="830400" cy="2154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Teardown</a:t>
            </a:r>
            <a:endParaRPr>
              <a:solidFill>
                <a:schemeClr val="accent2"/>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p4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Piggybacking</a:t>
            </a:r>
            <a:endParaRPr/>
          </a:p>
        </p:txBody>
      </p:sp>
      <p:sp>
        <p:nvSpPr>
          <p:cNvPr id="971" name="Google Shape;971;p44"/>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With full-duplex, if we get a packet but have no data to send, we have two choices:</a:t>
            </a:r>
            <a:endParaRPr/>
          </a:p>
          <a:p>
            <a:pPr marL="457200" lvl="0" indent="-342900" algn="l" rtl="0">
              <a:spcBef>
                <a:spcPts val="600"/>
              </a:spcBef>
              <a:spcAft>
                <a:spcPts val="0"/>
              </a:spcAft>
              <a:buSzPts val="1800"/>
              <a:buChar char="●"/>
            </a:pPr>
            <a:r>
              <a:rPr lang="en"/>
              <a:t>Send the ack, with no data.</a:t>
            </a:r>
            <a:endParaRPr/>
          </a:p>
          <a:p>
            <a:pPr marL="457200" lvl="0" indent="-342900" algn="l" rtl="0">
              <a:spcBef>
                <a:spcPts val="0"/>
              </a:spcBef>
              <a:spcAft>
                <a:spcPts val="0"/>
              </a:spcAft>
              <a:buSzPts val="1800"/>
              <a:buChar char="●"/>
            </a:pPr>
            <a:r>
              <a:rPr lang="en" b="1"/>
              <a:t>Piggybacking</a:t>
            </a:r>
            <a:r>
              <a:rPr lang="en"/>
              <a:t>: Wait for some data, and send the ack with the data.</a:t>
            </a:r>
            <a:endParaRPr/>
          </a:p>
          <a:p>
            <a:pPr marL="0" lvl="0" indent="0" algn="l" rtl="0">
              <a:spcBef>
                <a:spcPts val="600"/>
              </a:spcBef>
              <a:spcAft>
                <a:spcPts val="0"/>
              </a:spcAft>
              <a:buNone/>
            </a:pPr>
            <a:endParaRPr/>
          </a:p>
          <a:p>
            <a:pPr marL="0" lvl="0" indent="0" algn="l" rtl="0">
              <a:spcBef>
                <a:spcPts val="600"/>
              </a:spcBef>
              <a:spcAft>
                <a:spcPts val="0"/>
              </a:spcAft>
              <a:buNone/>
            </a:pPr>
            <a:r>
              <a:rPr lang="en"/>
              <a:t>Piggybacking can be tricky because TCP is in the OS, separate from the application.</a:t>
            </a:r>
            <a:endParaRPr/>
          </a:p>
          <a:p>
            <a:pPr marL="457200" lvl="0" indent="-342900" algn="l" rtl="0">
              <a:spcBef>
                <a:spcPts val="600"/>
              </a:spcBef>
              <a:spcAft>
                <a:spcPts val="0"/>
              </a:spcAft>
              <a:buSzPts val="1800"/>
              <a:buChar char="●"/>
            </a:pPr>
            <a:r>
              <a:rPr lang="en"/>
              <a:t>OS doesn't know when application will have more data.</a:t>
            </a:r>
            <a:endParaRPr/>
          </a:p>
          <a:p>
            <a:pPr marL="457200" lvl="0" indent="-342900" algn="l" rtl="0">
              <a:spcBef>
                <a:spcPts val="0"/>
              </a:spcBef>
              <a:spcAft>
                <a:spcPts val="0"/>
              </a:spcAft>
              <a:buSzPts val="1800"/>
              <a:buChar char="●"/>
            </a:pPr>
            <a:r>
              <a:rPr lang="en"/>
              <a:t>Application isn't thinking about packets and acks.</a:t>
            </a:r>
            <a:endParaRPr/>
          </a:p>
          <a:p>
            <a:pPr marL="0" lvl="0" indent="0" algn="l" rtl="0">
              <a:spcBef>
                <a:spcPts val="600"/>
              </a:spcBef>
              <a:spcAft>
                <a:spcPts val="0"/>
              </a:spcAft>
              <a:buNone/>
            </a:pPr>
            <a:endParaRPr/>
          </a:p>
          <a:p>
            <a:pPr marL="0" lvl="0" indent="0" algn="l" rtl="0">
              <a:spcBef>
                <a:spcPts val="600"/>
              </a:spcBef>
              <a:spcAft>
                <a:spcPts val="0"/>
              </a:spcAft>
              <a:buNone/>
            </a:pPr>
            <a:r>
              <a:rPr lang="en"/>
              <a:t>SYN-ACKs are always piggybacked.</a:t>
            </a:r>
            <a:endParaRPr/>
          </a:p>
          <a:p>
            <a:pPr marL="457200" lvl="0" indent="-342900" algn="l" rtl="0">
              <a:spcBef>
                <a:spcPts val="600"/>
              </a:spcBef>
              <a:spcAft>
                <a:spcPts val="0"/>
              </a:spcAft>
              <a:buSzPts val="1800"/>
              <a:buChar char="●"/>
            </a:pPr>
            <a:r>
              <a:rPr lang="en"/>
              <a:t>Ack and initial sequence number are sent together.</a:t>
            </a:r>
            <a:endParaRPr/>
          </a:p>
          <a:p>
            <a:pPr marL="457200" lvl="0" indent="-342900" algn="l" rtl="0">
              <a:spcBef>
                <a:spcPts val="0"/>
              </a:spcBef>
              <a:spcAft>
                <a:spcPts val="0"/>
              </a:spcAft>
              <a:buSzPts val="1800"/>
              <a:buChar char="●"/>
            </a:pPr>
            <a:r>
              <a:rPr lang="en"/>
              <a:t>Not tricky, because OS is doing the handshake, not the application.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p45"/>
          <p:cNvSpPr txBox="1">
            <a:spLocks noGrp="1"/>
          </p:cNvSpPr>
          <p:nvPr>
            <p:ph type="body" idx="1"/>
          </p:nvPr>
        </p:nvSpPr>
        <p:spPr>
          <a:xfrm>
            <a:off x="4812375" y="402200"/>
            <a:ext cx="415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Implementing TCP</a:t>
            </a:r>
            <a:endParaRPr>
              <a:solidFill>
                <a:srgbClr val="B7B7B7"/>
              </a:solidFill>
            </a:endParaRPr>
          </a:p>
          <a:p>
            <a:pPr marL="457200" lvl="0" indent="-342900" algn="l" rtl="0">
              <a:spcBef>
                <a:spcPts val="600"/>
              </a:spcBef>
              <a:spcAft>
                <a:spcPts val="0"/>
              </a:spcAft>
              <a:buClr>
                <a:srgbClr val="B7B7B7"/>
              </a:buClr>
              <a:buSzPts val="1800"/>
              <a:buChar char="•"/>
            </a:pPr>
            <a:r>
              <a:rPr lang="en">
                <a:solidFill>
                  <a:srgbClr val="B7B7B7"/>
                </a:solidFill>
              </a:rPr>
              <a:t>Byte Notation</a:t>
            </a:r>
            <a:br>
              <a:rPr lang="en">
                <a:solidFill>
                  <a:srgbClr val="B7B7B7"/>
                </a:solidFill>
              </a:rPr>
            </a:br>
            <a:r>
              <a:rPr lang="en">
                <a:solidFill>
                  <a:srgbClr val="B7B7B7"/>
                </a:solidFill>
              </a:rPr>
              <a:t>(Segments, Sequence Numbers)</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Maintaining State (Full Duplex, Connection Setup and Teardown)</a:t>
            </a:r>
            <a:endParaRPr>
              <a:solidFill>
                <a:srgbClr val="B7B7B7"/>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Sliding Window</a:t>
            </a:r>
            <a:endParaRPr b="1">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a:solidFill>
                  <a:srgbClr val="B7B7B7"/>
                </a:solidFill>
              </a:rPr>
              <a:t>Header</a:t>
            </a:r>
            <a:endParaRPr>
              <a:solidFill>
                <a:srgbClr val="B7B7B7"/>
              </a:solidFill>
            </a:endParaRPr>
          </a:p>
        </p:txBody>
      </p:sp>
      <p:sp>
        <p:nvSpPr>
          <p:cNvPr id="977" name="Google Shape;977;p4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Sliding Window</a:t>
            </a:r>
            <a:endParaRPr/>
          </a:p>
        </p:txBody>
      </p:sp>
      <p:sp>
        <p:nvSpPr>
          <p:cNvPr id="978" name="Google Shape;978;p4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11, CS 168, Summer 2025</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46"/>
          <p:cNvSpPr/>
          <p:nvPr/>
        </p:nvSpPr>
        <p:spPr>
          <a:xfrm rot="5400000">
            <a:off x="75339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984" name="Google Shape;984;p46"/>
          <p:cNvSpPr/>
          <p:nvPr/>
        </p:nvSpPr>
        <p:spPr>
          <a:xfrm rot="5400000">
            <a:off x="887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985" name="Google Shape;985;p4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Sliding Window</a:t>
            </a:r>
            <a:endParaRPr/>
          </a:p>
        </p:txBody>
      </p:sp>
      <p:sp>
        <p:nvSpPr>
          <p:cNvPr id="986" name="Google Shape;986;p46"/>
          <p:cNvSpPr/>
          <p:nvPr/>
        </p:nvSpPr>
        <p:spPr>
          <a:xfrm rot="5400000">
            <a:off x="17622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987" name="Google Shape;987;p46"/>
          <p:cNvSpPr/>
          <p:nvPr/>
        </p:nvSpPr>
        <p:spPr>
          <a:xfrm rot="5400000">
            <a:off x="19371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988" name="Google Shape;988;p46"/>
          <p:cNvSpPr/>
          <p:nvPr/>
        </p:nvSpPr>
        <p:spPr>
          <a:xfrm rot="5400000">
            <a:off x="21120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989" name="Google Shape;989;p46"/>
          <p:cNvSpPr/>
          <p:nvPr/>
        </p:nvSpPr>
        <p:spPr>
          <a:xfrm rot="5400000">
            <a:off x="2286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990" name="Google Shape;990;p46"/>
          <p:cNvSpPr/>
          <p:nvPr/>
        </p:nvSpPr>
        <p:spPr>
          <a:xfrm rot="5400000">
            <a:off x="2461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991" name="Google Shape;991;p46"/>
          <p:cNvSpPr/>
          <p:nvPr/>
        </p:nvSpPr>
        <p:spPr>
          <a:xfrm rot="5400000">
            <a:off x="2636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992" name="Google Shape;992;p46"/>
          <p:cNvSpPr/>
          <p:nvPr/>
        </p:nvSpPr>
        <p:spPr>
          <a:xfrm rot="5400000">
            <a:off x="2811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993" name="Google Shape;993;p46"/>
          <p:cNvSpPr/>
          <p:nvPr/>
        </p:nvSpPr>
        <p:spPr>
          <a:xfrm rot="5400000">
            <a:off x="2986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994" name="Google Shape;994;p46"/>
          <p:cNvSpPr/>
          <p:nvPr/>
        </p:nvSpPr>
        <p:spPr>
          <a:xfrm rot="5400000">
            <a:off x="3161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995" name="Google Shape;995;p46"/>
          <p:cNvSpPr/>
          <p:nvPr/>
        </p:nvSpPr>
        <p:spPr>
          <a:xfrm rot="5400000">
            <a:off x="33363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996" name="Google Shape;996;p46"/>
          <p:cNvSpPr/>
          <p:nvPr/>
        </p:nvSpPr>
        <p:spPr>
          <a:xfrm rot="5400000">
            <a:off x="35112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997" name="Google Shape;997;p46"/>
          <p:cNvSpPr/>
          <p:nvPr/>
        </p:nvSpPr>
        <p:spPr>
          <a:xfrm rot="5400000">
            <a:off x="36861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998" name="Google Shape;998;p46"/>
          <p:cNvSpPr/>
          <p:nvPr/>
        </p:nvSpPr>
        <p:spPr>
          <a:xfrm rot="5400000">
            <a:off x="38610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999" name="Google Shape;999;p46"/>
          <p:cNvSpPr/>
          <p:nvPr/>
        </p:nvSpPr>
        <p:spPr>
          <a:xfrm rot="5400000">
            <a:off x="40359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000" name="Google Shape;1000;p46"/>
          <p:cNvSpPr/>
          <p:nvPr/>
        </p:nvSpPr>
        <p:spPr>
          <a:xfrm rot="5400000">
            <a:off x="42108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001" name="Google Shape;1001;p46"/>
          <p:cNvSpPr/>
          <p:nvPr/>
        </p:nvSpPr>
        <p:spPr>
          <a:xfrm rot="5400000">
            <a:off x="43857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002" name="Google Shape;1002;p46"/>
          <p:cNvSpPr/>
          <p:nvPr/>
        </p:nvSpPr>
        <p:spPr>
          <a:xfrm rot="5400000">
            <a:off x="45606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003" name="Google Shape;1003;p46"/>
          <p:cNvSpPr/>
          <p:nvPr/>
        </p:nvSpPr>
        <p:spPr>
          <a:xfrm rot="5400000">
            <a:off x="4735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004" name="Google Shape;1004;p46"/>
          <p:cNvSpPr/>
          <p:nvPr/>
        </p:nvSpPr>
        <p:spPr>
          <a:xfrm rot="5400000">
            <a:off x="4910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005" name="Google Shape;1005;p46"/>
          <p:cNvSpPr/>
          <p:nvPr/>
        </p:nvSpPr>
        <p:spPr>
          <a:xfrm rot="5400000">
            <a:off x="5085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006" name="Google Shape;1006;p46"/>
          <p:cNvSpPr/>
          <p:nvPr/>
        </p:nvSpPr>
        <p:spPr>
          <a:xfrm rot="5400000">
            <a:off x="5260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007" name="Google Shape;1007;p46"/>
          <p:cNvSpPr/>
          <p:nvPr/>
        </p:nvSpPr>
        <p:spPr>
          <a:xfrm rot="5400000">
            <a:off x="5435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008" name="Google Shape;1008;p46"/>
          <p:cNvSpPr/>
          <p:nvPr/>
        </p:nvSpPr>
        <p:spPr>
          <a:xfrm rot="5400000">
            <a:off x="5610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009" name="Google Shape;1009;p46"/>
          <p:cNvSpPr/>
          <p:nvPr/>
        </p:nvSpPr>
        <p:spPr>
          <a:xfrm rot="5400000">
            <a:off x="57849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010" name="Google Shape;1010;p46"/>
          <p:cNvSpPr/>
          <p:nvPr/>
        </p:nvSpPr>
        <p:spPr>
          <a:xfrm rot="5400000">
            <a:off x="59598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011" name="Google Shape;1011;p46"/>
          <p:cNvSpPr/>
          <p:nvPr/>
        </p:nvSpPr>
        <p:spPr>
          <a:xfrm rot="5400000">
            <a:off x="61347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012" name="Google Shape;1012;p46"/>
          <p:cNvSpPr/>
          <p:nvPr/>
        </p:nvSpPr>
        <p:spPr>
          <a:xfrm rot="5400000">
            <a:off x="63096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013" name="Google Shape;1013;p46"/>
          <p:cNvSpPr/>
          <p:nvPr/>
        </p:nvSpPr>
        <p:spPr>
          <a:xfrm rot="5400000">
            <a:off x="64845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014" name="Google Shape;1014;p46"/>
          <p:cNvSpPr/>
          <p:nvPr/>
        </p:nvSpPr>
        <p:spPr>
          <a:xfrm rot="5400000">
            <a:off x="66594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015" name="Google Shape;1015;p46"/>
          <p:cNvSpPr/>
          <p:nvPr/>
        </p:nvSpPr>
        <p:spPr>
          <a:xfrm rot="5400000">
            <a:off x="6834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016" name="Google Shape;1016;p46"/>
          <p:cNvSpPr/>
          <p:nvPr/>
        </p:nvSpPr>
        <p:spPr>
          <a:xfrm rot="5400000">
            <a:off x="7009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017" name="Google Shape;1017;p46"/>
          <p:cNvSpPr/>
          <p:nvPr/>
        </p:nvSpPr>
        <p:spPr>
          <a:xfrm rot="5400000">
            <a:off x="7184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018" name="Google Shape;1018;p46"/>
          <p:cNvSpPr/>
          <p:nvPr/>
        </p:nvSpPr>
        <p:spPr>
          <a:xfrm rot="5400000">
            <a:off x="7359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019" name="Google Shape;1019;p46"/>
          <p:cNvSpPr/>
          <p:nvPr/>
        </p:nvSpPr>
        <p:spPr>
          <a:xfrm rot="5400000">
            <a:off x="77088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20" name="Google Shape;1020;p46"/>
          <p:cNvSpPr/>
          <p:nvPr/>
        </p:nvSpPr>
        <p:spPr>
          <a:xfrm rot="5400000">
            <a:off x="78837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21" name="Google Shape;1021;p46"/>
          <p:cNvSpPr/>
          <p:nvPr/>
        </p:nvSpPr>
        <p:spPr>
          <a:xfrm rot="5400000">
            <a:off x="537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022" name="Google Shape;1022;p46"/>
          <p:cNvSpPr/>
          <p:nvPr/>
        </p:nvSpPr>
        <p:spPr>
          <a:xfrm rot="5400000">
            <a:off x="712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023" name="Google Shape;1023;p46"/>
          <p:cNvSpPr/>
          <p:nvPr/>
        </p:nvSpPr>
        <p:spPr>
          <a:xfrm rot="5400000">
            <a:off x="3948538" y="2927550"/>
            <a:ext cx="722100" cy="20955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sp>
        <p:nvSpPr>
          <p:cNvPr id="1024" name="Google Shape;1024;p46"/>
          <p:cNvSpPr/>
          <p:nvPr/>
        </p:nvSpPr>
        <p:spPr>
          <a:xfrm rot="5400000">
            <a:off x="1062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025" name="Google Shape;1025;p46"/>
          <p:cNvSpPr/>
          <p:nvPr/>
        </p:nvSpPr>
        <p:spPr>
          <a:xfrm rot="5400000">
            <a:off x="12375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grpSp>
        <p:nvGrpSpPr>
          <p:cNvPr id="1026" name="Google Shape;1026;p46"/>
          <p:cNvGrpSpPr/>
          <p:nvPr/>
        </p:nvGrpSpPr>
        <p:grpSpPr>
          <a:xfrm>
            <a:off x="811588" y="4486300"/>
            <a:ext cx="2393100" cy="261300"/>
            <a:chOff x="451750" y="1912600"/>
            <a:chExt cx="2393100" cy="261300"/>
          </a:xfrm>
        </p:grpSpPr>
        <p:cxnSp>
          <p:nvCxnSpPr>
            <p:cNvPr id="1027" name="Google Shape;1027;p46"/>
            <p:cNvCxnSpPr/>
            <p:nvPr/>
          </p:nvCxnSpPr>
          <p:spPr>
            <a:xfrm>
              <a:off x="451750" y="2043250"/>
              <a:ext cx="2393100" cy="0"/>
            </a:xfrm>
            <a:prstGeom prst="straightConnector1">
              <a:avLst/>
            </a:prstGeom>
            <a:noFill/>
            <a:ln w="9525" cap="flat" cmpd="sng">
              <a:solidFill>
                <a:srgbClr val="6AA84F"/>
              </a:solidFill>
              <a:prstDash val="solid"/>
              <a:round/>
              <a:headEnd type="triangle" w="med" len="med"/>
              <a:tailEnd type="triangle" w="med" len="med"/>
            </a:ln>
          </p:spPr>
        </p:cxnSp>
        <p:sp>
          <p:nvSpPr>
            <p:cNvPr id="1028" name="Google Shape;1028;p46"/>
            <p:cNvSpPr txBox="1"/>
            <p:nvPr/>
          </p:nvSpPr>
          <p:spPr>
            <a:xfrm>
              <a:off x="1007800" y="1912600"/>
              <a:ext cx="1281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029" name="Google Shape;1029;p46"/>
          <p:cNvSpPr/>
          <p:nvPr/>
        </p:nvSpPr>
        <p:spPr>
          <a:xfrm rot="5400000">
            <a:off x="14124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030" name="Google Shape;1030;p46"/>
          <p:cNvSpPr/>
          <p:nvPr/>
        </p:nvSpPr>
        <p:spPr>
          <a:xfrm rot="5400000">
            <a:off x="15873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031" name="Google Shape;1031;p46"/>
          <p:cNvGrpSpPr/>
          <p:nvPr/>
        </p:nvGrpSpPr>
        <p:grpSpPr>
          <a:xfrm>
            <a:off x="5413495" y="4486300"/>
            <a:ext cx="2919162" cy="261300"/>
            <a:chOff x="4996875" y="1912600"/>
            <a:chExt cx="2975700" cy="261300"/>
          </a:xfrm>
        </p:grpSpPr>
        <p:cxnSp>
          <p:nvCxnSpPr>
            <p:cNvPr id="1032" name="Google Shape;1032;p46"/>
            <p:cNvCxnSpPr/>
            <p:nvPr/>
          </p:nvCxnSpPr>
          <p:spPr>
            <a:xfrm>
              <a:off x="4996875" y="2043250"/>
              <a:ext cx="2975700" cy="0"/>
            </a:xfrm>
            <a:prstGeom prst="straightConnector1">
              <a:avLst/>
            </a:prstGeom>
            <a:noFill/>
            <a:ln w="9525" cap="flat" cmpd="sng">
              <a:solidFill>
                <a:srgbClr val="999999"/>
              </a:solidFill>
              <a:prstDash val="solid"/>
              <a:round/>
              <a:headEnd type="triangle" w="med" len="med"/>
              <a:tailEnd type="triangle" w="med" len="med"/>
            </a:ln>
          </p:spPr>
        </p:cxnSp>
        <p:sp>
          <p:nvSpPr>
            <p:cNvPr id="1033" name="Google Shape;1033;p46"/>
            <p:cNvSpPr txBox="1"/>
            <p:nvPr/>
          </p:nvSpPr>
          <p:spPr>
            <a:xfrm>
              <a:off x="5955972" y="1912600"/>
              <a:ext cx="10575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034" name="Google Shape;1034;p46"/>
          <p:cNvGrpSpPr/>
          <p:nvPr/>
        </p:nvGrpSpPr>
        <p:grpSpPr>
          <a:xfrm>
            <a:off x="3261268" y="4369100"/>
            <a:ext cx="2095500" cy="493800"/>
            <a:chOff x="3261268" y="4292900"/>
            <a:chExt cx="2095500" cy="493800"/>
          </a:xfrm>
        </p:grpSpPr>
        <p:cxnSp>
          <p:nvCxnSpPr>
            <p:cNvPr id="1035" name="Google Shape;1035;p46"/>
            <p:cNvCxnSpPr/>
            <p:nvPr/>
          </p:nvCxnSpPr>
          <p:spPr>
            <a:xfrm>
              <a:off x="3261268" y="4539800"/>
              <a:ext cx="2095500" cy="0"/>
            </a:xfrm>
            <a:prstGeom prst="straightConnector1">
              <a:avLst/>
            </a:prstGeom>
            <a:noFill/>
            <a:ln w="9525" cap="flat" cmpd="sng">
              <a:solidFill>
                <a:schemeClr val="accent2"/>
              </a:solidFill>
              <a:prstDash val="solid"/>
              <a:round/>
              <a:headEnd type="triangle" w="med" len="med"/>
              <a:tailEnd type="triangle" w="med" len="med"/>
            </a:ln>
          </p:spPr>
        </p:cxnSp>
        <p:sp>
          <p:nvSpPr>
            <p:cNvPr id="1036" name="Google Shape;1036;p46"/>
            <p:cNvSpPr txBox="1"/>
            <p:nvPr/>
          </p:nvSpPr>
          <p:spPr>
            <a:xfrm>
              <a:off x="3940850" y="4292900"/>
              <a:ext cx="736500" cy="4938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marL="0" lvl="0" indent="0" algn="ctr" rtl="0">
                <a:spcBef>
                  <a:spcPts val="0"/>
                </a:spcBef>
                <a:spcAft>
                  <a:spcPts val="0"/>
                </a:spcAft>
                <a:buNone/>
              </a:pPr>
              <a:r>
                <a:rPr lang="en" i="1">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037" name="Google Shape;1037;p46"/>
          <p:cNvCxnSpPr>
            <a:stCxn id="993" idx="1"/>
            <a:endCxn id="1038" idx="2"/>
          </p:cNvCxnSpPr>
          <p:nvPr/>
        </p:nvCxnSpPr>
        <p:spPr>
          <a:xfrm rot="10800000">
            <a:off x="3347638" y="3393150"/>
            <a:ext cx="0" cy="221100"/>
          </a:xfrm>
          <a:prstGeom prst="straightConnector1">
            <a:avLst/>
          </a:prstGeom>
          <a:noFill/>
          <a:ln w="9525" cap="flat" cmpd="sng">
            <a:solidFill>
              <a:schemeClr val="accent2"/>
            </a:solidFill>
            <a:prstDash val="solid"/>
            <a:round/>
            <a:headEnd type="triangle" w="med" len="med"/>
            <a:tailEnd type="none" w="med" len="med"/>
          </a:ln>
        </p:spPr>
      </p:cxnSp>
      <p:sp>
        <p:nvSpPr>
          <p:cNvPr id="1038" name="Google Shape;1038;p46"/>
          <p:cNvSpPr txBox="1"/>
          <p:nvPr/>
        </p:nvSpPr>
        <p:spPr>
          <a:xfrm>
            <a:off x="2595100" y="3131722"/>
            <a:ext cx="1505100" cy="261300"/>
          </a:xfrm>
          <a:prstGeom prst="rect">
            <a:avLst/>
          </a:prstGeom>
          <a:noFill/>
          <a:ln>
            <a:noFill/>
          </a:ln>
        </p:spPr>
        <p:txBody>
          <a:bodyPr spcFirstLastPara="1" wrap="square" lIns="27425" tIns="27425" rIns="27425" bIns="27425" anchor="t" anchorCtr="0">
            <a:no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
        <p:nvSpPr>
          <p:cNvPr id="1039" name="Google Shape;1039;p46"/>
          <p:cNvSpPr txBox="1">
            <a:spLocks noGrp="1"/>
          </p:cNvSpPr>
          <p:nvPr>
            <p:ph type="body" idx="1"/>
          </p:nvPr>
        </p:nvSpPr>
        <p:spPr>
          <a:xfrm>
            <a:off x="107050" y="402200"/>
            <a:ext cx="8909700" cy="2673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When we measured in packets, </a:t>
            </a:r>
            <a:r>
              <a:rPr lang="en" i="1"/>
              <a:t>W</a:t>
            </a:r>
            <a:r>
              <a:rPr lang="en"/>
              <a:t> was the maximum number of packets in flight.</a:t>
            </a:r>
            <a:endParaRPr/>
          </a:p>
          <a:p>
            <a:pPr marL="0" lvl="0" indent="0" algn="l" rtl="0">
              <a:spcBef>
                <a:spcPts val="600"/>
              </a:spcBef>
              <a:spcAft>
                <a:spcPts val="0"/>
              </a:spcAft>
              <a:buNone/>
            </a:pPr>
            <a:r>
              <a:rPr lang="en"/>
              <a:t>When we measure in bytes, </a:t>
            </a:r>
            <a:r>
              <a:rPr lang="en" i="1"/>
              <a:t>W</a:t>
            </a:r>
            <a:r>
              <a:rPr lang="en"/>
              <a:t> is the maximum number of </a:t>
            </a:r>
            <a:r>
              <a:rPr lang="en" i="1"/>
              <a:t>contiguous</a:t>
            </a:r>
            <a:r>
              <a:rPr lang="en"/>
              <a:t> bytes in flight.</a:t>
            </a:r>
            <a:endParaRPr/>
          </a:p>
          <a:p>
            <a:pPr marL="457200" lvl="0" indent="-342900" algn="l" rtl="0">
              <a:spcBef>
                <a:spcPts val="600"/>
              </a:spcBef>
              <a:spcAft>
                <a:spcPts val="0"/>
              </a:spcAft>
              <a:buSzPts val="1800"/>
              <a:buChar char="●"/>
            </a:pPr>
            <a:r>
              <a:rPr lang="en"/>
              <a:t>The window is a range of </a:t>
            </a:r>
            <a:r>
              <a:rPr lang="en" i="1"/>
              <a:t>W</a:t>
            </a:r>
            <a:r>
              <a:rPr lang="en"/>
              <a:t> contiguous bytes, starting at the first unacked byte.</a:t>
            </a:r>
            <a:endParaRPr/>
          </a:p>
          <a:p>
            <a:pPr marL="457200" lvl="0" indent="-342900" algn="l" rtl="0">
              <a:spcBef>
                <a:spcPts val="0"/>
              </a:spcBef>
              <a:spcAft>
                <a:spcPts val="0"/>
              </a:spcAft>
              <a:buSzPts val="1800"/>
              <a:buChar char="●"/>
            </a:pPr>
            <a:r>
              <a:rPr lang="en"/>
              <a:t>Only these </a:t>
            </a:r>
            <a:r>
              <a:rPr lang="en" i="1"/>
              <a:t>W</a:t>
            </a:r>
            <a:r>
              <a:rPr lang="en"/>
              <a:t> bytes are allowed to be in flight.</a:t>
            </a:r>
            <a:endParaRPr/>
          </a:p>
          <a:p>
            <a:pPr marL="0" lvl="0" indent="0" algn="l" rtl="0">
              <a:spcBef>
                <a:spcPts val="600"/>
              </a:spcBef>
              <a:spcAft>
                <a:spcPts val="0"/>
              </a:spcAft>
              <a:buNone/>
            </a:pPr>
            <a:r>
              <a:rPr lang="en"/>
              <a:t>The window slides right if and only if its </a:t>
            </a:r>
            <a:r>
              <a:rPr lang="en" i="1"/>
              <a:t>leftmost</a:t>
            </a:r>
            <a:r>
              <a:rPr lang="en"/>
              <a:t> bytes are acked.</a:t>
            </a:r>
            <a:endParaRPr/>
          </a:p>
          <a:p>
            <a:pPr marL="457200" lvl="0" indent="-342900" algn="l" rtl="0">
              <a:spcBef>
                <a:spcPts val="600"/>
              </a:spcBef>
              <a:spcAft>
                <a:spcPts val="0"/>
              </a:spcAft>
              <a:buSzPts val="1800"/>
              <a:buChar char="●"/>
            </a:pPr>
            <a:r>
              <a:rPr lang="en"/>
              <a:t>Example: When 15–18 arrive, we can send 27–30.</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p47"/>
          <p:cNvSpPr/>
          <p:nvPr/>
        </p:nvSpPr>
        <p:spPr>
          <a:xfrm rot="5400000">
            <a:off x="75339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45" name="Google Shape;1045;p47"/>
          <p:cNvSpPr/>
          <p:nvPr/>
        </p:nvSpPr>
        <p:spPr>
          <a:xfrm rot="5400000">
            <a:off x="887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046" name="Google Shape;1046;p4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Sliding Window</a:t>
            </a:r>
            <a:endParaRPr/>
          </a:p>
        </p:txBody>
      </p:sp>
      <p:sp>
        <p:nvSpPr>
          <p:cNvPr id="1047" name="Google Shape;1047;p47"/>
          <p:cNvSpPr txBox="1">
            <a:spLocks noGrp="1"/>
          </p:cNvSpPr>
          <p:nvPr>
            <p:ph type="body" idx="1"/>
          </p:nvPr>
        </p:nvSpPr>
        <p:spPr>
          <a:xfrm>
            <a:off x="107050" y="402200"/>
            <a:ext cx="8909700" cy="2673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a:t>When we measured in packets, </a:t>
            </a:r>
            <a:r>
              <a:rPr lang="en" i="1"/>
              <a:t>W</a:t>
            </a:r>
            <a:r>
              <a:rPr lang="en"/>
              <a:t> was the maximum number of packets in flight.</a:t>
            </a:r>
            <a:endParaRPr/>
          </a:p>
          <a:p>
            <a:pPr marL="0" lvl="0" indent="0" algn="l" rtl="0">
              <a:spcBef>
                <a:spcPts val="600"/>
              </a:spcBef>
              <a:spcAft>
                <a:spcPts val="0"/>
              </a:spcAft>
              <a:buClr>
                <a:schemeClr val="dk1"/>
              </a:buClr>
              <a:buSzPts val="1100"/>
              <a:buFont typeface="Arial"/>
              <a:buNone/>
            </a:pPr>
            <a:r>
              <a:rPr lang="en"/>
              <a:t>When we measure in bytes, </a:t>
            </a:r>
            <a:r>
              <a:rPr lang="en" i="1"/>
              <a:t>W</a:t>
            </a:r>
            <a:r>
              <a:rPr lang="en"/>
              <a:t> is the maximum number of </a:t>
            </a:r>
            <a:r>
              <a:rPr lang="en" i="1"/>
              <a:t>contiguous</a:t>
            </a:r>
            <a:r>
              <a:rPr lang="en"/>
              <a:t> bytes in flight.</a:t>
            </a:r>
            <a:endParaRPr/>
          </a:p>
          <a:p>
            <a:pPr marL="457200" lvl="0" indent="-342900" algn="l" rtl="0">
              <a:spcBef>
                <a:spcPts val="600"/>
              </a:spcBef>
              <a:spcAft>
                <a:spcPts val="0"/>
              </a:spcAft>
              <a:buSzPts val="1800"/>
              <a:buChar char="●"/>
            </a:pPr>
            <a:r>
              <a:rPr lang="en"/>
              <a:t>The window is a range of </a:t>
            </a:r>
            <a:r>
              <a:rPr lang="en" i="1"/>
              <a:t>W</a:t>
            </a:r>
            <a:r>
              <a:rPr lang="en"/>
              <a:t> contiguous bytes, starting at the first unacked byte.</a:t>
            </a:r>
            <a:endParaRPr/>
          </a:p>
          <a:p>
            <a:pPr marL="457200" lvl="0" indent="-342900" algn="l" rtl="0">
              <a:spcBef>
                <a:spcPts val="0"/>
              </a:spcBef>
              <a:spcAft>
                <a:spcPts val="0"/>
              </a:spcAft>
              <a:buSzPts val="1800"/>
              <a:buChar char="●"/>
            </a:pPr>
            <a:r>
              <a:rPr lang="en"/>
              <a:t>Only these </a:t>
            </a:r>
            <a:r>
              <a:rPr lang="en" i="1"/>
              <a:t>W</a:t>
            </a:r>
            <a:r>
              <a:rPr lang="en"/>
              <a:t> bytes are allowed to be in flight.</a:t>
            </a:r>
            <a:endParaRPr/>
          </a:p>
          <a:p>
            <a:pPr marL="0" lvl="0" indent="0" algn="l" rtl="0">
              <a:spcBef>
                <a:spcPts val="600"/>
              </a:spcBef>
              <a:spcAft>
                <a:spcPts val="0"/>
              </a:spcAft>
              <a:buClr>
                <a:schemeClr val="dk1"/>
              </a:buClr>
              <a:buSzPts val="1100"/>
              <a:buFont typeface="Arial"/>
              <a:buNone/>
            </a:pPr>
            <a:r>
              <a:rPr lang="en"/>
              <a:t>The window slides right if and only if its </a:t>
            </a:r>
            <a:r>
              <a:rPr lang="en" i="1"/>
              <a:t>leftmost</a:t>
            </a:r>
            <a:r>
              <a:rPr lang="en"/>
              <a:t> bytes are acked.</a:t>
            </a:r>
            <a:endParaRPr/>
          </a:p>
          <a:p>
            <a:pPr marL="457200" lvl="0" indent="-342900" algn="l" rtl="0">
              <a:spcBef>
                <a:spcPts val="600"/>
              </a:spcBef>
              <a:spcAft>
                <a:spcPts val="0"/>
              </a:spcAft>
              <a:buSzPts val="1800"/>
              <a:buChar char="●"/>
            </a:pPr>
            <a:r>
              <a:rPr lang="en"/>
              <a:t>Example: When 15–18 arrive, we can send 27–30.</a:t>
            </a:r>
            <a:endParaRPr/>
          </a:p>
        </p:txBody>
      </p:sp>
      <p:sp>
        <p:nvSpPr>
          <p:cNvPr id="1048" name="Google Shape;1048;p47"/>
          <p:cNvSpPr/>
          <p:nvPr/>
        </p:nvSpPr>
        <p:spPr>
          <a:xfrm rot="5400000">
            <a:off x="17622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049" name="Google Shape;1049;p47"/>
          <p:cNvSpPr/>
          <p:nvPr/>
        </p:nvSpPr>
        <p:spPr>
          <a:xfrm rot="5400000">
            <a:off x="19371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050" name="Google Shape;1050;p47"/>
          <p:cNvSpPr/>
          <p:nvPr/>
        </p:nvSpPr>
        <p:spPr>
          <a:xfrm rot="5400000">
            <a:off x="21120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051" name="Google Shape;1051;p47"/>
          <p:cNvSpPr/>
          <p:nvPr/>
        </p:nvSpPr>
        <p:spPr>
          <a:xfrm rot="5400000">
            <a:off x="2286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052" name="Google Shape;1052;p47"/>
          <p:cNvSpPr/>
          <p:nvPr/>
        </p:nvSpPr>
        <p:spPr>
          <a:xfrm rot="5400000">
            <a:off x="2461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053" name="Google Shape;1053;p47"/>
          <p:cNvSpPr/>
          <p:nvPr/>
        </p:nvSpPr>
        <p:spPr>
          <a:xfrm rot="5400000">
            <a:off x="2636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054" name="Google Shape;1054;p47"/>
          <p:cNvSpPr/>
          <p:nvPr/>
        </p:nvSpPr>
        <p:spPr>
          <a:xfrm rot="5400000">
            <a:off x="2811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055" name="Google Shape;1055;p47"/>
          <p:cNvSpPr/>
          <p:nvPr/>
        </p:nvSpPr>
        <p:spPr>
          <a:xfrm rot="5400000">
            <a:off x="29865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056" name="Google Shape;1056;p47"/>
          <p:cNvSpPr/>
          <p:nvPr/>
        </p:nvSpPr>
        <p:spPr>
          <a:xfrm rot="5400000">
            <a:off x="31614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057" name="Google Shape;1057;p47"/>
          <p:cNvSpPr/>
          <p:nvPr/>
        </p:nvSpPr>
        <p:spPr>
          <a:xfrm rot="5400000">
            <a:off x="33363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058" name="Google Shape;1058;p47"/>
          <p:cNvSpPr/>
          <p:nvPr/>
        </p:nvSpPr>
        <p:spPr>
          <a:xfrm rot="5400000">
            <a:off x="35112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059" name="Google Shape;1059;p47"/>
          <p:cNvSpPr/>
          <p:nvPr/>
        </p:nvSpPr>
        <p:spPr>
          <a:xfrm rot="5400000">
            <a:off x="36861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060" name="Google Shape;1060;p47"/>
          <p:cNvSpPr/>
          <p:nvPr/>
        </p:nvSpPr>
        <p:spPr>
          <a:xfrm rot="5400000">
            <a:off x="38610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061" name="Google Shape;1061;p47"/>
          <p:cNvSpPr/>
          <p:nvPr/>
        </p:nvSpPr>
        <p:spPr>
          <a:xfrm rot="5400000">
            <a:off x="40359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062" name="Google Shape;1062;p47"/>
          <p:cNvSpPr/>
          <p:nvPr/>
        </p:nvSpPr>
        <p:spPr>
          <a:xfrm rot="5400000">
            <a:off x="42108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063" name="Google Shape;1063;p47"/>
          <p:cNvSpPr/>
          <p:nvPr/>
        </p:nvSpPr>
        <p:spPr>
          <a:xfrm rot="5400000">
            <a:off x="43857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064" name="Google Shape;1064;p47"/>
          <p:cNvSpPr/>
          <p:nvPr/>
        </p:nvSpPr>
        <p:spPr>
          <a:xfrm rot="5400000">
            <a:off x="45606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065" name="Google Shape;1065;p47"/>
          <p:cNvSpPr/>
          <p:nvPr/>
        </p:nvSpPr>
        <p:spPr>
          <a:xfrm rot="5400000">
            <a:off x="4735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066" name="Google Shape;1066;p47"/>
          <p:cNvSpPr/>
          <p:nvPr/>
        </p:nvSpPr>
        <p:spPr>
          <a:xfrm rot="5400000">
            <a:off x="4910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067" name="Google Shape;1067;p47"/>
          <p:cNvSpPr/>
          <p:nvPr/>
        </p:nvSpPr>
        <p:spPr>
          <a:xfrm rot="5400000">
            <a:off x="5085388" y="3887850"/>
            <a:ext cx="722100" cy="174900"/>
          </a:xfrm>
          <a:prstGeom prst="rect">
            <a:avLst/>
          </a:prstGeom>
          <a:solidFill>
            <a:srgbClr val="FFF2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068" name="Google Shape;1068;p47"/>
          <p:cNvSpPr/>
          <p:nvPr/>
        </p:nvSpPr>
        <p:spPr>
          <a:xfrm rot="5400000">
            <a:off x="5260288" y="3887850"/>
            <a:ext cx="722100" cy="174900"/>
          </a:xfrm>
          <a:prstGeom prst="rect">
            <a:avLst/>
          </a:prstGeom>
          <a:solidFill>
            <a:srgbClr val="FFF2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069" name="Google Shape;1069;p47"/>
          <p:cNvSpPr/>
          <p:nvPr/>
        </p:nvSpPr>
        <p:spPr>
          <a:xfrm rot="5400000">
            <a:off x="5435188" y="3887850"/>
            <a:ext cx="722100" cy="174900"/>
          </a:xfrm>
          <a:prstGeom prst="rect">
            <a:avLst/>
          </a:prstGeom>
          <a:solidFill>
            <a:srgbClr val="FFF2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070" name="Google Shape;1070;p47"/>
          <p:cNvSpPr/>
          <p:nvPr/>
        </p:nvSpPr>
        <p:spPr>
          <a:xfrm rot="5400000">
            <a:off x="5610088" y="3887850"/>
            <a:ext cx="722100" cy="174900"/>
          </a:xfrm>
          <a:prstGeom prst="rect">
            <a:avLst/>
          </a:prstGeom>
          <a:solidFill>
            <a:srgbClr val="FFF2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071" name="Google Shape;1071;p47"/>
          <p:cNvSpPr/>
          <p:nvPr/>
        </p:nvSpPr>
        <p:spPr>
          <a:xfrm rot="5400000">
            <a:off x="57849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072" name="Google Shape;1072;p47"/>
          <p:cNvSpPr/>
          <p:nvPr/>
        </p:nvSpPr>
        <p:spPr>
          <a:xfrm rot="5400000">
            <a:off x="59598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073" name="Google Shape;1073;p47"/>
          <p:cNvSpPr/>
          <p:nvPr/>
        </p:nvSpPr>
        <p:spPr>
          <a:xfrm rot="5400000">
            <a:off x="61347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074" name="Google Shape;1074;p47"/>
          <p:cNvSpPr/>
          <p:nvPr/>
        </p:nvSpPr>
        <p:spPr>
          <a:xfrm rot="5400000">
            <a:off x="63096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075" name="Google Shape;1075;p47"/>
          <p:cNvSpPr/>
          <p:nvPr/>
        </p:nvSpPr>
        <p:spPr>
          <a:xfrm rot="5400000">
            <a:off x="64845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076" name="Google Shape;1076;p47"/>
          <p:cNvSpPr/>
          <p:nvPr/>
        </p:nvSpPr>
        <p:spPr>
          <a:xfrm rot="5400000">
            <a:off x="66594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077" name="Google Shape;1077;p47"/>
          <p:cNvSpPr/>
          <p:nvPr/>
        </p:nvSpPr>
        <p:spPr>
          <a:xfrm rot="5400000">
            <a:off x="6834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078" name="Google Shape;1078;p47"/>
          <p:cNvSpPr/>
          <p:nvPr/>
        </p:nvSpPr>
        <p:spPr>
          <a:xfrm rot="5400000">
            <a:off x="7009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079" name="Google Shape;1079;p47"/>
          <p:cNvSpPr/>
          <p:nvPr/>
        </p:nvSpPr>
        <p:spPr>
          <a:xfrm rot="5400000">
            <a:off x="7184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080" name="Google Shape;1080;p47"/>
          <p:cNvSpPr/>
          <p:nvPr/>
        </p:nvSpPr>
        <p:spPr>
          <a:xfrm rot="5400000">
            <a:off x="7359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081" name="Google Shape;1081;p47"/>
          <p:cNvSpPr/>
          <p:nvPr/>
        </p:nvSpPr>
        <p:spPr>
          <a:xfrm rot="5400000">
            <a:off x="77088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82" name="Google Shape;1082;p47"/>
          <p:cNvSpPr/>
          <p:nvPr/>
        </p:nvSpPr>
        <p:spPr>
          <a:xfrm rot="5400000">
            <a:off x="78837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83" name="Google Shape;1083;p47"/>
          <p:cNvSpPr/>
          <p:nvPr/>
        </p:nvSpPr>
        <p:spPr>
          <a:xfrm rot="5400000">
            <a:off x="537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084" name="Google Shape;1084;p47"/>
          <p:cNvSpPr/>
          <p:nvPr/>
        </p:nvSpPr>
        <p:spPr>
          <a:xfrm rot="5400000">
            <a:off x="712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085" name="Google Shape;1085;p47"/>
          <p:cNvSpPr/>
          <p:nvPr/>
        </p:nvSpPr>
        <p:spPr>
          <a:xfrm rot="5400000">
            <a:off x="4648138" y="2927550"/>
            <a:ext cx="722100" cy="20955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grpSp>
        <p:nvGrpSpPr>
          <p:cNvPr id="1086" name="Google Shape;1086;p47"/>
          <p:cNvGrpSpPr/>
          <p:nvPr/>
        </p:nvGrpSpPr>
        <p:grpSpPr>
          <a:xfrm>
            <a:off x="811586" y="4486300"/>
            <a:ext cx="3148123" cy="261300"/>
            <a:chOff x="811586" y="4486300"/>
            <a:chExt cx="3148123" cy="261300"/>
          </a:xfrm>
        </p:grpSpPr>
        <p:cxnSp>
          <p:nvCxnSpPr>
            <p:cNvPr id="1087" name="Google Shape;1087;p47"/>
            <p:cNvCxnSpPr/>
            <p:nvPr/>
          </p:nvCxnSpPr>
          <p:spPr>
            <a:xfrm>
              <a:off x="811586" y="4616950"/>
              <a:ext cx="3148123" cy="0"/>
            </a:xfrm>
            <a:prstGeom prst="straightConnector1">
              <a:avLst/>
            </a:prstGeom>
            <a:noFill/>
            <a:ln w="9525" cap="flat" cmpd="sng">
              <a:solidFill>
                <a:srgbClr val="6AA84F"/>
              </a:solidFill>
              <a:prstDash val="solid"/>
              <a:round/>
              <a:headEnd type="triangle" w="med" len="med"/>
              <a:tailEnd type="triangle" w="med" len="med"/>
            </a:ln>
          </p:spPr>
        </p:cxnSp>
        <p:sp>
          <p:nvSpPr>
            <p:cNvPr id="1088" name="Google Shape;1088;p47"/>
            <p:cNvSpPr txBox="1"/>
            <p:nvPr/>
          </p:nvSpPr>
          <p:spPr>
            <a:xfrm>
              <a:off x="1636750" y="4486300"/>
              <a:ext cx="1323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089" name="Google Shape;1089;p47"/>
          <p:cNvSpPr/>
          <p:nvPr/>
        </p:nvSpPr>
        <p:spPr>
          <a:xfrm rot="5400000">
            <a:off x="1062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090" name="Google Shape;1090;p47"/>
          <p:cNvSpPr/>
          <p:nvPr/>
        </p:nvSpPr>
        <p:spPr>
          <a:xfrm rot="5400000">
            <a:off x="12375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sp>
        <p:nvSpPr>
          <p:cNvPr id="1091" name="Google Shape;1091;p47"/>
          <p:cNvSpPr/>
          <p:nvPr/>
        </p:nvSpPr>
        <p:spPr>
          <a:xfrm rot="5400000">
            <a:off x="14124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092" name="Google Shape;1092;p47"/>
          <p:cNvSpPr/>
          <p:nvPr/>
        </p:nvSpPr>
        <p:spPr>
          <a:xfrm rot="5400000">
            <a:off x="15873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093" name="Google Shape;1093;p47"/>
          <p:cNvGrpSpPr/>
          <p:nvPr/>
        </p:nvGrpSpPr>
        <p:grpSpPr>
          <a:xfrm>
            <a:off x="6058568" y="4486300"/>
            <a:ext cx="2274030" cy="261300"/>
            <a:chOff x="6058568" y="4486300"/>
            <a:chExt cx="2274030" cy="261300"/>
          </a:xfrm>
        </p:grpSpPr>
        <p:cxnSp>
          <p:nvCxnSpPr>
            <p:cNvPr id="1094" name="Google Shape;1094;p47"/>
            <p:cNvCxnSpPr/>
            <p:nvPr/>
          </p:nvCxnSpPr>
          <p:spPr>
            <a:xfrm>
              <a:off x="6058568" y="4616950"/>
              <a:ext cx="2274030" cy="0"/>
            </a:xfrm>
            <a:prstGeom prst="straightConnector1">
              <a:avLst/>
            </a:prstGeom>
            <a:noFill/>
            <a:ln w="9525" cap="flat" cmpd="sng">
              <a:solidFill>
                <a:srgbClr val="999999"/>
              </a:solidFill>
              <a:prstDash val="solid"/>
              <a:round/>
              <a:headEnd type="triangle" w="med" len="med"/>
              <a:tailEnd type="triangle" w="med" len="med"/>
            </a:ln>
          </p:spPr>
        </p:cxnSp>
        <p:sp>
          <p:nvSpPr>
            <p:cNvPr id="1095" name="Google Shape;1095;p47"/>
            <p:cNvSpPr txBox="1"/>
            <p:nvPr/>
          </p:nvSpPr>
          <p:spPr>
            <a:xfrm>
              <a:off x="6687397" y="4486300"/>
              <a:ext cx="10161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096" name="Google Shape;1096;p47"/>
          <p:cNvGrpSpPr/>
          <p:nvPr/>
        </p:nvGrpSpPr>
        <p:grpSpPr>
          <a:xfrm>
            <a:off x="3961443" y="4370050"/>
            <a:ext cx="2095500" cy="493800"/>
            <a:chOff x="3261268" y="4292900"/>
            <a:chExt cx="2095500" cy="493800"/>
          </a:xfrm>
        </p:grpSpPr>
        <p:cxnSp>
          <p:nvCxnSpPr>
            <p:cNvPr id="1097" name="Google Shape;1097;p47"/>
            <p:cNvCxnSpPr/>
            <p:nvPr/>
          </p:nvCxnSpPr>
          <p:spPr>
            <a:xfrm>
              <a:off x="3261268" y="4539800"/>
              <a:ext cx="2095500" cy="0"/>
            </a:xfrm>
            <a:prstGeom prst="straightConnector1">
              <a:avLst/>
            </a:prstGeom>
            <a:noFill/>
            <a:ln w="9525" cap="flat" cmpd="sng">
              <a:solidFill>
                <a:schemeClr val="accent2"/>
              </a:solidFill>
              <a:prstDash val="solid"/>
              <a:round/>
              <a:headEnd type="triangle" w="med" len="med"/>
              <a:tailEnd type="triangle" w="med" len="med"/>
            </a:ln>
          </p:spPr>
        </p:cxnSp>
        <p:sp>
          <p:nvSpPr>
            <p:cNvPr id="1098" name="Google Shape;1098;p47"/>
            <p:cNvSpPr txBox="1"/>
            <p:nvPr/>
          </p:nvSpPr>
          <p:spPr>
            <a:xfrm>
              <a:off x="3940850" y="4292900"/>
              <a:ext cx="736500" cy="4938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marL="0" lvl="0" indent="0" algn="ctr" rtl="0">
                <a:spcBef>
                  <a:spcPts val="0"/>
                </a:spcBef>
                <a:spcAft>
                  <a:spcPts val="0"/>
                </a:spcAft>
                <a:buNone/>
              </a:pPr>
              <a:r>
                <a:rPr lang="en" i="1">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099" name="Google Shape;1099;p47"/>
          <p:cNvCxnSpPr>
            <a:stCxn id="1059" idx="1"/>
            <a:endCxn id="1100" idx="2"/>
          </p:cNvCxnSpPr>
          <p:nvPr/>
        </p:nvCxnSpPr>
        <p:spPr>
          <a:xfrm rot="10800000">
            <a:off x="4047238" y="3393150"/>
            <a:ext cx="0" cy="221100"/>
          </a:xfrm>
          <a:prstGeom prst="straightConnector1">
            <a:avLst/>
          </a:prstGeom>
          <a:noFill/>
          <a:ln w="9525" cap="flat" cmpd="sng">
            <a:solidFill>
              <a:schemeClr val="accent2"/>
            </a:solidFill>
            <a:prstDash val="solid"/>
            <a:round/>
            <a:headEnd type="triangle" w="med" len="med"/>
            <a:tailEnd type="none" w="med" len="med"/>
          </a:ln>
        </p:spPr>
      </p:cxnSp>
      <p:sp>
        <p:nvSpPr>
          <p:cNvPr id="1100" name="Google Shape;1100;p47"/>
          <p:cNvSpPr txBox="1"/>
          <p:nvPr/>
        </p:nvSpPr>
        <p:spPr>
          <a:xfrm>
            <a:off x="3294700" y="3131722"/>
            <a:ext cx="1505100" cy="261300"/>
          </a:xfrm>
          <a:prstGeom prst="rect">
            <a:avLst/>
          </a:prstGeom>
          <a:noFill/>
          <a:ln>
            <a:noFill/>
          </a:ln>
        </p:spPr>
        <p:txBody>
          <a:bodyPr spcFirstLastPara="1" wrap="square" lIns="27425" tIns="27425" rIns="27425" bIns="27425" anchor="t" anchorCtr="0">
            <a:no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48"/>
          <p:cNvSpPr/>
          <p:nvPr/>
        </p:nvSpPr>
        <p:spPr>
          <a:xfrm rot="5400000">
            <a:off x="75339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06" name="Google Shape;1106;p48"/>
          <p:cNvSpPr/>
          <p:nvPr/>
        </p:nvSpPr>
        <p:spPr>
          <a:xfrm rot="5400000">
            <a:off x="887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107" name="Google Shape;1107;p4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Sliding Window</a:t>
            </a:r>
            <a:endParaRPr/>
          </a:p>
        </p:txBody>
      </p:sp>
      <p:sp>
        <p:nvSpPr>
          <p:cNvPr id="1108" name="Google Shape;1108;p48"/>
          <p:cNvSpPr txBox="1">
            <a:spLocks noGrp="1"/>
          </p:cNvSpPr>
          <p:nvPr>
            <p:ph type="body" idx="1"/>
          </p:nvPr>
        </p:nvSpPr>
        <p:spPr>
          <a:xfrm>
            <a:off x="107050" y="402200"/>
            <a:ext cx="8909700" cy="2673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When we measured in packets, </a:t>
            </a:r>
            <a:r>
              <a:rPr lang="en" i="1"/>
              <a:t>W</a:t>
            </a:r>
            <a:r>
              <a:rPr lang="en"/>
              <a:t> was the maximum number of packets in flight.</a:t>
            </a:r>
            <a:endParaRPr/>
          </a:p>
          <a:p>
            <a:pPr marL="0" lvl="0" indent="0" algn="l" rtl="0">
              <a:spcBef>
                <a:spcPts val="600"/>
              </a:spcBef>
              <a:spcAft>
                <a:spcPts val="0"/>
              </a:spcAft>
              <a:buNone/>
            </a:pPr>
            <a:r>
              <a:rPr lang="en"/>
              <a:t>When we measure in bytes, </a:t>
            </a:r>
            <a:r>
              <a:rPr lang="en" i="1"/>
              <a:t>W</a:t>
            </a:r>
            <a:r>
              <a:rPr lang="en"/>
              <a:t> is the maximum number of </a:t>
            </a:r>
            <a:r>
              <a:rPr lang="en" i="1"/>
              <a:t>contiguous</a:t>
            </a:r>
            <a:r>
              <a:rPr lang="en"/>
              <a:t> bytes in flight.</a:t>
            </a:r>
            <a:endParaRPr/>
          </a:p>
          <a:p>
            <a:pPr marL="457200" lvl="0" indent="-342900" algn="l" rtl="0">
              <a:spcBef>
                <a:spcPts val="600"/>
              </a:spcBef>
              <a:spcAft>
                <a:spcPts val="0"/>
              </a:spcAft>
              <a:buSzPts val="1800"/>
              <a:buChar char="●"/>
            </a:pPr>
            <a:r>
              <a:rPr lang="en"/>
              <a:t>The window is a range of </a:t>
            </a:r>
            <a:r>
              <a:rPr lang="en" i="1"/>
              <a:t>W</a:t>
            </a:r>
            <a:r>
              <a:rPr lang="en"/>
              <a:t> contiguous bytes, starting at the first unacked byte.</a:t>
            </a:r>
            <a:endParaRPr/>
          </a:p>
          <a:p>
            <a:pPr marL="457200" lvl="0" indent="-342900" algn="l" rtl="0">
              <a:spcBef>
                <a:spcPts val="0"/>
              </a:spcBef>
              <a:spcAft>
                <a:spcPts val="0"/>
              </a:spcAft>
              <a:buSzPts val="1800"/>
              <a:buChar char="●"/>
            </a:pPr>
            <a:r>
              <a:rPr lang="en"/>
              <a:t>Only these </a:t>
            </a:r>
            <a:r>
              <a:rPr lang="en" i="1"/>
              <a:t>W</a:t>
            </a:r>
            <a:r>
              <a:rPr lang="en"/>
              <a:t> bytes are allowed to be in flight.</a:t>
            </a:r>
            <a:endParaRPr/>
          </a:p>
          <a:p>
            <a:pPr marL="0" lvl="0" indent="0" algn="l" rtl="0">
              <a:spcBef>
                <a:spcPts val="600"/>
              </a:spcBef>
              <a:spcAft>
                <a:spcPts val="0"/>
              </a:spcAft>
              <a:buNone/>
            </a:pPr>
            <a:r>
              <a:rPr lang="en"/>
              <a:t>The window slides right if and only if its </a:t>
            </a:r>
            <a:r>
              <a:rPr lang="en" i="1"/>
              <a:t>leftmost</a:t>
            </a:r>
            <a:r>
              <a:rPr lang="en"/>
              <a:t> bytes are acked.</a:t>
            </a:r>
            <a:endParaRPr/>
          </a:p>
          <a:p>
            <a:pPr marL="457200" lvl="0" indent="-342900" algn="l" rtl="0">
              <a:spcBef>
                <a:spcPts val="600"/>
              </a:spcBef>
              <a:spcAft>
                <a:spcPts val="0"/>
              </a:spcAft>
              <a:buSzPts val="1800"/>
              <a:buChar char="●"/>
            </a:pPr>
            <a:r>
              <a:rPr lang="en"/>
              <a:t>Acking non-leftmost bytes in the window (e.g. 19–22) does not slide the window.</a:t>
            </a:r>
            <a:endParaRPr/>
          </a:p>
          <a:p>
            <a:pPr marL="457200" lvl="0" indent="-342900" algn="l" rtl="0">
              <a:spcBef>
                <a:spcPts val="0"/>
              </a:spcBef>
              <a:spcAft>
                <a:spcPts val="0"/>
              </a:spcAft>
              <a:buSzPts val="1800"/>
              <a:buChar char="●"/>
            </a:pPr>
            <a:r>
              <a:rPr lang="en"/>
              <a:t>The window is determined by the first unacked byte (e.g. still 15).</a:t>
            </a:r>
            <a:endParaRPr baseline="30000"/>
          </a:p>
        </p:txBody>
      </p:sp>
      <p:sp>
        <p:nvSpPr>
          <p:cNvPr id="1109" name="Google Shape;1109;p48"/>
          <p:cNvSpPr/>
          <p:nvPr/>
        </p:nvSpPr>
        <p:spPr>
          <a:xfrm rot="5400000">
            <a:off x="17622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110" name="Google Shape;1110;p48"/>
          <p:cNvSpPr/>
          <p:nvPr/>
        </p:nvSpPr>
        <p:spPr>
          <a:xfrm rot="5400000">
            <a:off x="19371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111" name="Google Shape;1111;p48"/>
          <p:cNvSpPr/>
          <p:nvPr/>
        </p:nvSpPr>
        <p:spPr>
          <a:xfrm rot="5400000">
            <a:off x="21120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112" name="Google Shape;1112;p48"/>
          <p:cNvSpPr/>
          <p:nvPr/>
        </p:nvSpPr>
        <p:spPr>
          <a:xfrm rot="5400000">
            <a:off x="2286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113" name="Google Shape;1113;p48"/>
          <p:cNvSpPr/>
          <p:nvPr/>
        </p:nvSpPr>
        <p:spPr>
          <a:xfrm rot="5400000">
            <a:off x="2461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114" name="Google Shape;1114;p48"/>
          <p:cNvSpPr/>
          <p:nvPr/>
        </p:nvSpPr>
        <p:spPr>
          <a:xfrm rot="5400000">
            <a:off x="2636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115" name="Google Shape;1115;p48"/>
          <p:cNvSpPr/>
          <p:nvPr/>
        </p:nvSpPr>
        <p:spPr>
          <a:xfrm rot="5400000">
            <a:off x="2811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116" name="Google Shape;1116;p48"/>
          <p:cNvSpPr/>
          <p:nvPr/>
        </p:nvSpPr>
        <p:spPr>
          <a:xfrm rot="5400000">
            <a:off x="2986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117" name="Google Shape;1117;p48"/>
          <p:cNvSpPr/>
          <p:nvPr/>
        </p:nvSpPr>
        <p:spPr>
          <a:xfrm rot="5400000">
            <a:off x="3161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118" name="Google Shape;1118;p48"/>
          <p:cNvSpPr/>
          <p:nvPr/>
        </p:nvSpPr>
        <p:spPr>
          <a:xfrm rot="5400000">
            <a:off x="33363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119" name="Google Shape;1119;p48"/>
          <p:cNvSpPr/>
          <p:nvPr/>
        </p:nvSpPr>
        <p:spPr>
          <a:xfrm rot="5400000">
            <a:off x="35112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120" name="Google Shape;1120;p48"/>
          <p:cNvSpPr/>
          <p:nvPr/>
        </p:nvSpPr>
        <p:spPr>
          <a:xfrm rot="5400000">
            <a:off x="36861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121" name="Google Shape;1121;p48"/>
          <p:cNvSpPr/>
          <p:nvPr/>
        </p:nvSpPr>
        <p:spPr>
          <a:xfrm rot="5400000">
            <a:off x="38610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122" name="Google Shape;1122;p48"/>
          <p:cNvSpPr/>
          <p:nvPr/>
        </p:nvSpPr>
        <p:spPr>
          <a:xfrm rot="5400000">
            <a:off x="40359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123" name="Google Shape;1123;p48"/>
          <p:cNvSpPr/>
          <p:nvPr/>
        </p:nvSpPr>
        <p:spPr>
          <a:xfrm rot="5400000">
            <a:off x="4210888" y="3887850"/>
            <a:ext cx="722100" cy="174900"/>
          </a:xfrm>
          <a:prstGeom prst="rect">
            <a:avLst/>
          </a:prstGeom>
          <a:solidFill>
            <a:srgbClr val="B6D7A8"/>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124" name="Google Shape;1124;p48"/>
          <p:cNvSpPr/>
          <p:nvPr/>
        </p:nvSpPr>
        <p:spPr>
          <a:xfrm rot="5400000">
            <a:off x="43857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125" name="Google Shape;1125;p48"/>
          <p:cNvSpPr/>
          <p:nvPr/>
        </p:nvSpPr>
        <p:spPr>
          <a:xfrm rot="5400000">
            <a:off x="45606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126" name="Google Shape;1126;p48"/>
          <p:cNvSpPr/>
          <p:nvPr/>
        </p:nvSpPr>
        <p:spPr>
          <a:xfrm rot="5400000">
            <a:off x="4735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127" name="Google Shape;1127;p48"/>
          <p:cNvSpPr/>
          <p:nvPr/>
        </p:nvSpPr>
        <p:spPr>
          <a:xfrm rot="5400000">
            <a:off x="4910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128" name="Google Shape;1128;p48"/>
          <p:cNvSpPr/>
          <p:nvPr/>
        </p:nvSpPr>
        <p:spPr>
          <a:xfrm rot="5400000">
            <a:off x="5085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129" name="Google Shape;1129;p48"/>
          <p:cNvSpPr/>
          <p:nvPr/>
        </p:nvSpPr>
        <p:spPr>
          <a:xfrm rot="5400000">
            <a:off x="5260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130" name="Google Shape;1130;p48"/>
          <p:cNvSpPr/>
          <p:nvPr/>
        </p:nvSpPr>
        <p:spPr>
          <a:xfrm rot="5400000">
            <a:off x="5435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131" name="Google Shape;1131;p48"/>
          <p:cNvSpPr/>
          <p:nvPr/>
        </p:nvSpPr>
        <p:spPr>
          <a:xfrm rot="5400000">
            <a:off x="5610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132" name="Google Shape;1132;p48"/>
          <p:cNvSpPr/>
          <p:nvPr/>
        </p:nvSpPr>
        <p:spPr>
          <a:xfrm rot="5400000">
            <a:off x="57849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133" name="Google Shape;1133;p48"/>
          <p:cNvSpPr/>
          <p:nvPr/>
        </p:nvSpPr>
        <p:spPr>
          <a:xfrm rot="5400000">
            <a:off x="59598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134" name="Google Shape;1134;p48"/>
          <p:cNvSpPr/>
          <p:nvPr/>
        </p:nvSpPr>
        <p:spPr>
          <a:xfrm rot="5400000">
            <a:off x="61347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135" name="Google Shape;1135;p48"/>
          <p:cNvSpPr/>
          <p:nvPr/>
        </p:nvSpPr>
        <p:spPr>
          <a:xfrm rot="5400000">
            <a:off x="63096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136" name="Google Shape;1136;p48"/>
          <p:cNvSpPr/>
          <p:nvPr/>
        </p:nvSpPr>
        <p:spPr>
          <a:xfrm rot="5400000">
            <a:off x="64845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137" name="Google Shape;1137;p48"/>
          <p:cNvSpPr/>
          <p:nvPr/>
        </p:nvSpPr>
        <p:spPr>
          <a:xfrm rot="5400000">
            <a:off x="66594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138" name="Google Shape;1138;p48"/>
          <p:cNvSpPr/>
          <p:nvPr/>
        </p:nvSpPr>
        <p:spPr>
          <a:xfrm rot="5400000">
            <a:off x="6834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139" name="Google Shape;1139;p48"/>
          <p:cNvSpPr/>
          <p:nvPr/>
        </p:nvSpPr>
        <p:spPr>
          <a:xfrm rot="5400000">
            <a:off x="7009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140" name="Google Shape;1140;p48"/>
          <p:cNvSpPr/>
          <p:nvPr/>
        </p:nvSpPr>
        <p:spPr>
          <a:xfrm rot="5400000">
            <a:off x="7184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141" name="Google Shape;1141;p48"/>
          <p:cNvSpPr/>
          <p:nvPr/>
        </p:nvSpPr>
        <p:spPr>
          <a:xfrm rot="5400000">
            <a:off x="7359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142" name="Google Shape;1142;p48"/>
          <p:cNvSpPr/>
          <p:nvPr/>
        </p:nvSpPr>
        <p:spPr>
          <a:xfrm rot="5400000">
            <a:off x="77088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43" name="Google Shape;1143;p48"/>
          <p:cNvSpPr/>
          <p:nvPr/>
        </p:nvSpPr>
        <p:spPr>
          <a:xfrm rot="5400000">
            <a:off x="78837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44" name="Google Shape;1144;p48"/>
          <p:cNvSpPr/>
          <p:nvPr/>
        </p:nvSpPr>
        <p:spPr>
          <a:xfrm rot="5400000">
            <a:off x="537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145" name="Google Shape;1145;p48"/>
          <p:cNvSpPr/>
          <p:nvPr/>
        </p:nvSpPr>
        <p:spPr>
          <a:xfrm rot="5400000">
            <a:off x="712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146" name="Google Shape;1146;p48"/>
          <p:cNvSpPr/>
          <p:nvPr/>
        </p:nvSpPr>
        <p:spPr>
          <a:xfrm rot="5400000">
            <a:off x="3948538" y="2927550"/>
            <a:ext cx="722100" cy="20955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grpSp>
        <p:nvGrpSpPr>
          <p:cNvPr id="1147" name="Google Shape;1147;p48"/>
          <p:cNvGrpSpPr/>
          <p:nvPr/>
        </p:nvGrpSpPr>
        <p:grpSpPr>
          <a:xfrm>
            <a:off x="811588" y="4486300"/>
            <a:ext cx="2393100" cy="261300"/>
            <a:chOff x="451750" y="1912600"/>
            <a:chExt cx="2393100" cy="261300"/>
          </a:xfrm>
        </p:grpSpPr>
        <p:cxnSp>
          <p:nvCxnSpPr>
            <p:cNvPr id="1148" name="Google Shape;1148;p48"/>
            <p:cNvCxnSpPr/>
            <p:nvPr/>
          </p:nvCxnSpPr>
          <p:spPr>
            <a:xfrm>
              <a:off x="451750" y="2043250"/>
              <a:ext cx="2393100" cy="0"/>
            </a:xfrm>
            <a:prstGeom prst="straightConnector1">
              <a:avLst/>
            </a:prstGeom>
            <a:noFill/>
            <a:ln w="9525" cap="flat" cmpd="sng">
              <a:solidFill>
                <a:srgbClr val="6AA84F"/>
              </a:solidFill>
              <a:prstDash val="solid"/>
              <a:round/>
              <a:headEnd type="triangle" w="med" len="med"/>
              <a:tailEnd type="triangle" w="med" len="med"/>
            </a:ln>
          </p:spPr>
        </p:cxnSp>
        <p:sp>
          <p:nvSpPr>
            <p:cNvPr id="1149" name="Google Shape;1149;p48"/>
            <p:cNvSpPr txBox="1"/>
            <p:nvPr/>
          </p:nvSpPr>
          <p:spPr>
            <a:xfrm>
              <a:off x="1007800" y="1912600"/>
              <a:ext cx="1281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150" name="Google Shape;1150;p48"/>
          <p:cNvSpPr/>
          <p:nvPr/>
        </p:nvSpPr>
        <p:spPr>
          <a:xfrm rot="5400000">
            <a:off x="1062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151" name="Google Shape;1151;p48"/>
          <p:cNvSpPr/>
          <p:nvPr/>
        </p:nvSpPr>
        <p:spPr>
          <a:xfrm rot="5400000">
            <a:off x="12375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sp>
        <p:nvSpPr>
          <p:cNvPr id="1152" name="Google Shape;1152;p48"/>
          <p:cNvSpPr/>
          <p:nvPr/>
        </p:nvSpPr>
        <p:spPr>
          <a:xfrm rot="5400000">
            <a:off x="14124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153" name="Google Shape;1153;p48"/>
          <p:cNvSpPr/>
          <p:nvPr/>
        </p:nvSpPr>
        <p:spPr>
          <a:xfrm rot="5400000">
            <a:off x="15873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154" name="Google Shape;1154;p48"/>
          <p:cNvGrpSpPr/>
          <p:nvPr/>
        </p:nvGrpSpPr>
        <p:grpSpPr>
          <a:xfrm>
            <a:off x="5413495" y="4486300"/>
            <a:ext cx="2919162" cy="261300"/>
            <a:chOff x="4996875" y="1912600"/>
            <a:chExt cx="2975700" cy="261300"/>
          </a:xfrm>
        </p:grpSpPr>
        <p:cxnSp>
          <p:nvCxnSpPr>
            <p:cNvPr id="1155" name="Google Shape;1155;p48"/>
            <p:cNvCxnSpPr/>
            <p:nvPr/>
          </p:nvCxnSpPr>
          <p:spPr>
            <a:xfrm>
              <a:off x="4996875" y="2043250"/>
              <a:ext cx="2975700" cy="0"/>
            </a:xfrm>
            <a:prstGeom prst="straightConnector1">
              <a:avLst/>
            </a:prstGeom>
            <a:noFill/>
            <a:ln w="9525" cap="flat" cmpd="sng">
              <a:solidFill>
                <a:srgbClr val="999999"/>
              </a:solidFill>
              <a:prstDash val="solid"/>
              <a:round/>
              <a:headEnd type="triangle" w="med" len="med"/>
              <a:tailEnd type="triangle" w="med" len="med"/>
            </a:ln>
          </p:spPr>
        </p:cxnSp>
        <p:sp>
          <p:nvSpPr>
            <p:cNvPr id="1156" name="Google Shape;1156;p48"/>
            <p:cNvSpPr txBox="1"/>
            <p:nvPr/>
          </p:nvSpPr>
          <p:spPr>
            <a:xfrm>
              <a:off x="5955972" y="1912600"/>
              <a:ext cx="10575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157" name="Google Shape;1157;p48"/>
          <p:cNvGrpSpPr/>
          <p:nvPr/>
        </p:nvGrpSpPr>
        <p:grpSpPr>
          <a:xfrm>
            <a:off x="3261268" y="4369100"/>
            <a:ext cx="2095500" cy="493800"/>
            <a:chOff x="3261268" y="4292900"/>
            <a:chExt cx="2095500" cy="493800"/>
          </a:xfrm>
        </p:grpSpPr>
        <p:cxnSp>
          <p:nvCxnSpPr>
            <p:cNvPr id="1158" name="Google Shape;1158;p48"/>
            <p:cNvCxnSpPr/>
            <p:nvPr/>
          </p:nvCxnSpPr>
          <p:spPr>
            <a:xfrm>
              <a:off x="3261268" y="4539800"/>
              <a:ext cx="2095500" cy="0"/>
            </a:xfrm>
            <a:prstGeom prst="straightConnector1">
              <a:avLst/>
            </a:prstGeom>
            <a:noFill/>
            <a:ln w="9525" cap="flat" cmpd="sng">
              <a:solidFill>
                <a:schemeClr val="accent2"/>
              </a:solidFill>
              <a:prstDash val="solid"/>
              <a:round/>
              <a:headEnd type="triangle" w="med" len="med"/>
              <a:tailEnd type="triangle" w="med" len="med"/>
            </a:ln>
          </p:spPr>
        </p:cxnSp>
        <p:sp>
          <p:nvSpPr>
            <p:cNvPr id="1159" name="Google Shape;1159;p48"/>
            <p:cNvSpPr txBox="1"/>
            <p:nvPr/>
          </p:nvSpPr>
          <p:spPr>
            <a:xfrm>
              <a:off x="3940850" y="4292900"/>
              <a:ext cx="736500" cy="4938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marL="0" lvl="0" indent="0" algn="ctr" rtl="0">
                <a:spcBef>
                  <a:spcPts val="0"/>
                </a:spcBef>
                <a:spcAft>
                  <a:spcPts val="0"/>
                </a:spcAft>
                <a:buNone/>
              </a:pPr>
              <a:r>
                <a:rPr lang="en" i="1">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160" name="Google Shape;1160;p48"/>
          <p:cNvCxnSpPr>
            <a:stCxn id="1116" idx="1"/>
            <a:endCxn id="1161" idx="2"/>
          </p:cNvCxnSpPr>
          <p:nvPr/>
        </p:nvCxnSpPr>
        <p:spPr>
          <a:xfrm rot="10800000">
            <a:off x="3347638" y="3393150"/>
            <a:ext cx="0" cy="221100"/>
          </a:xfrm>
          <a:prstGeom prst="straightConnector1">
            <a:avLst/>
          </a:prstGeom>
          <a:noFill/>
          <a:ln w="9525" cap="flat" cmpd="sng">
            <a:solidFill>
              <a:schemeClr val="accent2"/>
            </a:solidFill>
            <a:prstDash val="solid"/>
            <a:round/>
            <a:headEnd type="triangle" w="med" len="med"/>
            <a:tailEnd type="none" w="med" len="med"/>
          </a:ln>
        </p:spPr>
      </p:cxnSp>
      <p:sp>
        <p:nvSpPr>
          <p:cNvPr id="1161" name="Google Shape;1161;p48"/>
          <p:cNvSpPr txBox="1"/>
          <p:nvPr/>
        </p:nvSpPr>
        <p:spPr>
          <a:xfrm>
            <a:off x="2595100" y="3131722"/>
            <a:ext cx="1505100" cy="261300"/>
          </a:xfrm>
          <a:prstGeom prst="rect">
            <a:avLst/>
          </a:prstGeom>
          <a:noFill/>
          <a:ln>
            <a:noFill/>
          </a:ln>
        </p:spPr>
        <p:txBody>
          <a:bodyPr spcFirstLastPara="1" wrap="square" lIns="27425" tIns="27425" rIns="27425" bIns="27425" anchor="t" anchorCtr="0">
            <a:no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65"/>
        <p:cNvGrpSpPr/>
        <p:nvPr/>
      </p:nvGrpSpPr>
      <p:grpSpPr>
        <a:xfrm>
          <a:off x="0" y="0"/>
          <a:ext cx="0" cy="0"/>
          <a:chOff x="0" y="0"/>
          <a:chExt cx="0" cy="0"/>
        </a:xfrm>
      </p:grpSpPr>
      <p:sp>
        <p:nvSpPr>
          <p:cNvPr id="1166" name="Google Shape;1166;p4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Sliding Window</a:t>
            </a:r>
            <a:endParaRPr/>
          </a:p>
        </p:txBody>
      </p:sp>
      <p:sp>
        <p:nvSpPr>
          <p:cNvPr id="1167" name="Google Shape;1167;p49"/>
          <p:cNvSpPr txBox="1">
            <a:spLocks noGrp="1"/>
          </p:cNvSpPr>
          <p:nvPr>
            <p:ph type="body" idx="1"/>
          </p:nvPr>
        </p:nvSpPr>
        <p:spPr>
          <a:xfrm>
            <a:off x="107050" y="402200"/>
            <a:ext cx="8909700" cy="2673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TCP uses cumulative acks and a sliding window.</a:t>
            </a:r>
            <a:endParaRPr/>
          </a:p>
          <a:p>
            <a:pPr marL="457200" lvl="0" indent="-342900" algn="l" rtl="0">
              <a:spcBef>
                <a:spcPts val="600"/>
              </a:spcBef>
              <a:spcAft>
                <a:spcPts val="0"/>
              </a:spcAft>
              <a:buSzPts val="1800"/>
              <a:buChar char="●"/>
            </a:pPr>
            <a:r>
              <a:rPr lang="en"/>
              <a:t>Cumulative ack: "I have received everything up to (not including) 15."</a:t>
            </a:r>
            <a:endParaRPr/>
          </a:p>
          <a:p>
            <a:pPr marL="457200" lvl="0" indent="-342900" algn="l" rtl="0">
              <a:spcBef>
                <a:spcPts val="0"/>
              </a:spcBef>
              <a:spcAft>
                <a:spcPts val="0"/>
              </a:spcAft>
              <a:buSzPts val="1800"/>
              <a:buChar char="●"/>
            </a:pPr>
            <a:r>
              <a:rPr lang="en"/>
              <a:t>Thus, first unacked byte is 15, and the sliding window is [15, 15 + </a:t>
            </a:r>
            <a:r>
              <a:rPr lang="en" i="1"/>
              <a:t>W</a:t>
            </a:r>
            <a:r>
              <a:rPr lang="en"/>
              <a:t>).</a:t>
            </a:r>
            <a:endParaRPr/>
          </a:p>
          <a:p>
            <a:pPr marL="0" lvl="0" indent="0" algn="l" rtl="0">
              <a:spcBef>
                <a:spcPts val="600"/>
              </a:spcBef>
              <a:spcAft>
                <a:spcPts val="0"/>
              </a:spcAft>
              <a:buNone/>
            </a:pPr>
            <a:r>
              <a:rPr lang="en" i="1"/>
              <a:t>W</a:t>
            </a:r>
            <a:r>
              <a:rPr lang="en"/>
              <a:t> is set as the minimum of two values:</a:t>
            </a:r>
            <a:endParaRPr/>
          </a:p>
          <a:p>
            <a:pPr marL="457200" lvl="0" indent="-342900" algn="l" rtl="0">
              <a:spcBef>
                <a:spcPts val="600"/>
              </a:spcBef>
              <a:spcAft>
                <a:spcPts val="0"/>
              </a:spcAft>
              <a:buSzPts val="1800"/>
              <a:buChar char="●"/>
            </a:pPr>
            <a:r>
              <a:rPr lang="en"/>
              <a:t>Advertised window (recipient reports their remaining buffer space).</a:t>
            </a:r>
            <a:endParaRPr/>
          </a:p>
          <a:p>
            <a:pPr marL="457200" lvl="0" indent="-342900" algn="l" rtl="0">
              <a:spcBef>
                <a:spcPts val="0"/>
              </a:spcBef>
              <a:spcAft>
                <a:spcPts val="0"/>
              </a:spcAft>
              <a:buSzPts val="1800"/>
              <a:buChar char="●"/>
            </a:pPr>
            <a:r>
              <a:rPr lang="en"/>
              <a:t>Congestion window (sender magically finds value to avoid network overload).</a:t>
            </a:r>
            <a:endParaRPr/>
          </a:p>
        </p:txBody>
      </p:sp>
      <p:sp>
        <p:nvSpPr>
          <p:cNvPr id="1168" name="Google Shape;1168;p49"/>
          <p:cNvSpPr/>
          <p:nvPr/>
        </p:nvSpPr>
        <p:spPr>
          <a:xfrm rot="5400000">
            <a:off x="75339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69" name="Google Shape;1169;p49"/>
          <p:cNvSpPr/>
          <p:nvPr/>
        </p:nvSpPr>
        <p:spPr>
          <a:xfrm rot="5400000">
            <a:off x="887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170" name="Google Shape;1170;p49"/>
          <p:cNvSpPr/>
          <p:nvPr/>
        </p:nvSpPr>
        <p:spPr>
          <a:xfrm rot="5400000">
            <a:off x="17622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171" name="Google Shape;1171;p49"/>
          <p:cNvSpPr/>
          <p:nvPr/>
        </p:nvSpPr>
        <p:spPr>
          <a:xfrm rot="5400000">
            <a:off x="19371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172" name="Google Shape;1172;p49"/>
          <p:cNvSpPr/>
          <p:nvPr/>
        </p:nvSpPr>
        <p:spPr>
          <a:xfrm rot="5400000">
            <a:off x="21120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173" name="Google Shape;1173;p49"/>
          <p:cNvSpPr/>
          <p:nvPr/>
        </p:nvSpPr>
        <p:spPr>
          <a:xfrm rot="5400000">
            <a:off x="2286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174" name="Google Shape;1174;p49"/>
          <p:cNvSpPr/>
          <p:nvPr/>
        </p:nvSpPr>
        <p:spPr>
          <a:xfrm rot="5400000">
            <a:off x="2461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175" name="Google Shape;1175;p49"/>
          <p:cNvSpPr/>
          <p:nvPr/>
        </p:nvSpPr>
        <p:spPr>
          <a:xfrm rot="5400000">
            <a:off x="2636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176" name="Google Shape;1176;p49"/>
          <p:cNvSpPr/>
          <p:nvPr/>
        </p:nvSpPr>
        <p:spPr>
          <a:xfrm rot="5400000">
            <a:off x="2811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177" name="Google Shape;1177;p49"/>
          <p:cNvSpPr/>
          <p:nvPr/>
        </p:nvSpPr>
        <p:spPr>
          <a:xfrm rot="5400000">
            <a:off x="2986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178" name="Google Shape;1178;p49"/>
          <p:cNvSpPr/>
          <p:nvPr/>
        </p:nvSpPr>
        <p:spPr>
          <a:xfrm rot="5400000">
            <a:off x="3161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179" name="Google Shape;1179;p49"/>
          <p:cNvSpPr/>
          <p:nvPr/>
        </p:nvSpPr>
        <p:spPr>
          <a:xfrm rot="5400000">
            <a:off x="33363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180" name="Google Shape;1180;p49"/>
          <p:cNvSpPr/>
          <p:nvPr/>
        </p:nvSpPr>
        <p:spPr>
          <a:xfrm rot="5400000">
            <a:off x="35112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181" name="Google Shape;1181;p49"/>
          <p:cNvSpPr/>
          <p:nvPr/>
        </p:nvSpPr>
        <p:spPr>
          <a:xfrm rot="5400000">
            <a:off x="36861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182" name="Google Shape;1182;p49"/>
          <p:cNvSpPr/>
          <p:nvPr/>
        </p:nvSpPr>
        <p:spPr>
          <a:xfrm rot="5400000">
            <a:off x="38610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183" name="Google Shape;1183;p49"/>
          <p:cNvSpPr/>
          <p:nvPr/>
        </p:nvSpPr>
        <p:spPr>
          <a:xfrm rot="5400000">
            <a:off x="40359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184" name="Google Shape;1184;p49"/>
          <p:cNvSpPr/>
          <p:nvPr/>
        </p:nvSpPr>
        <p:spPr>
          <a:xfrm rot="5400000">
            <a:off x="42108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185" name="Google Shape;1185;p49"/>
          <p:cNvSpPr/>
          <p:nvPr/>
        </p:nvSpPr>
        <p:spPr>
          <a:xfrm rot="5400000">
            <a:off x="43857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186" name="Google Shape;1186;p49"/>
          <p:cNvSpPr/>
          <p:nvPr/>
        </p:nvSpPr>
        <p:spPr>
          <a:xfrm rot="5400000">
            <a:off x="45606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187" name="Google Shape;1187;p49"/>
          <p:cNvSpPr/>
          <p:nvPr/>
        </p:nvSpPr>
        <p:spPr>
          <a:xfrm rot="5400000">
            <a:off x="4735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188" name="Google Shape;1188;p49"/>
          <p:cNvSpPr/>
          <p:nvPr/>
        </p:nvSpPr>
        <p:spPr>
          <a:xfrm rot="5400000">
            <a:off x="4910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189" name="Google Shape;1189;p49"/>
          <p:cNvSpPr/>
          <p:nvPr/>
        </p:nvSpPr>
        <p:spPr>
          <a:xfrm rot="5400000">
            <a:off x="5085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190" name="Google Shape;1190;p49"/>
          <p:cNvSpPr/>
          <p:nvPr/>
        </p:nvSpPr>
        <p:spPr>
          <a:xfrm rot="5400000">
            <a:off x="5260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191" name="Google Shape;1191;p49"/>
          <p:cNvSpPr/>
          <p:nvPr/>
        </p:nvSpPr>
        <p:spPr>
          <a:xfrm rot="5400000">
            <a:off x="5435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192" name="Google Shape;1192;p49"/>
          <p:cNvSpPr/>
          <p:nvPr/>
        </p:nvSpPr>
        <p:spPr>
          <a:xfrm rot="5400000">
            <a:off x="5610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193" name="Google Shape;1193;p49"/>
          <p:cNvSpPr/>
          <p:nvPr/>
        </p:nvSpPr>
        <p:spPr>
          <a:xfrm rot="5400000">
            <a:off x="57849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194" name="Google Shape;1194;p49"/>
          <p:cNvSpPr/>
          <p:nvPr/>
        </p:nvSpPr>
        <p:spPr>
          <a:xfrm rot="5400000">
            <a:off x="59598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195" name="Google Shape;1195;p49"/>
          <p:cNvSpPr/>
          <p:nvPr/>
        </p:nvSpPr>
        <p:spPr>
          <a:xfrm rot="5400000">
            <a:off x="61347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196" name="Google Shape;1196;p49"/>
          <p:cNvSpPr/>
          <p:nvPr/>
        </p:nvSpPr>
        <p:spPr>
          <a:xfrm rot="5400000">
            <a:off x="63096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197" name="Google Shape;1197;p49"/>
          <p:cNvSpPr/>
          <p:nvPr/>
        </p:nvSpPr>
        <p:spPr>
          <a:xfrm rot="5400000">
            <a:off x="64845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198" name="Google Shape;1198;p49"/>
          <p:cNvSpPr/>
          <p:nvPr/>
        </p:nvSpPr>
        <p:spPr>
          <a:xfrm rot="5400000">
            <a:off x="66594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199" name="Google Shape;1199;p49"/>
          <p:cNvSpPr/>
          <p:nvPr/>
        </p:nvSpPr>
        <p:spPr>
          <a:xfrm rot="5400000">
            <a:off x="6834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200" name="Google Shape;1200;p49"/>
          <p:cNvSpPr/>
          <p:nvPr/>
        </p:nvSpPr>
        <p:spPr>
          <a:xfrm rot="5400000">
            <a:off x="7009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201" name="Google Shape;1201;p49"/>
          <p:cNvSpPr/>
          <p:nvPr/>
        </p:nvSpPr>
        <p:spPr>
          <a:xfrm rot="5400000">
            <a:off x="7184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202" name="Google Shape;1202;p49"/>
          <p:cNvSpPr/>
          <p:nvPr/>
        </p:nvSpPr>
        <p:spPr>
          <a:xfrm rot="5400000">
            <a:off x="7359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203" name="Google Shape;1203;p49"/>
          <p:cNvSpPr/>
          <p:nvPr/>
        </p:nvSpPr>
        <p:spPr>
          <a:xfrm rot="5400000">
            <a:off x="77088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04" name="Google Shape;1204;p49"/>
          <p:cNvSpPr/>
          <p:nvPr/>
        </p:nvSpPr>
        <p:spPr>
          <a:xfrm rot="5400000">
            <a:off x="78837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05" name="Google Shape;1205;p49"/>
          <p:cNvSpPr/>
          <p:nvPr/>
        </p:nvSpPr>
        <p:spPr>
          <a:xfrm rot="5400000">
            <a:off x="537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206" name="Google Shape;1206;p49"/>
          <p:cNvSpPr/>
          <p:nvPr/>
        </p:nvSpPr>
        <p:spPr>
          <a:xfrm rot="5400000">
            <a:off x="712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207" name="Google Shape;1207;p49"/>
          <p:cNvSpPr/>
          <p:nvPr/>
        </p:nvSpPr>
        <p:spPr>
          <a:xfrm rot="5400000">
            <a:off x="3948538" y="2927550"/>
            <a:ext cx="722100" cy="20955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sp>
        <p:nvSpPr>
          <p:cNvPr id="1208" name="Google Shape;1208;p49"/>
          <p:cNvSpPr/>
          <p:nvPr/>
        </p:nvSpPr>
        <p:spPr>
          <a:xfrm rot="5400000">
            <a:off x="1062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209" name="Google Shape;1209;p49"/>
          <p:cNvSpPr/>
          <p:nvPr/>
        </p:nvSpPr>
        <p:spPr>
          <a:xfrm rot="5400000">
            <a:off x="12375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grpSp>
        <p:nvGrpSpPr>
          <p:cNvPr id="1210" name="Google Shape;1210;p49"/>
          <p:cNvGrpSpPr/>
          <p:nvPr/>
        </p:nvGrpSpPr>
        <p:grpSpPr>
          <a:xfrm>
            <a:off x="811588" y="4486300"/>
            <a:ext cx="2393100" cy="261300"/>
            <a:chOff x="451750" y="1912600"/>
            <a:chExt cx="2393100" cy="261300"/>
          </a:xfrm>
        </p:grpSpPr>
        <p:cxnSp>
          <p:nvCxnSpPr>
            <p:cNvPr id="1211" name="Google Shape;1211;p49"/>
            <p:cNvCxnSpPr/>
            <p:nvPr/>
          </p:nvCxnSpPr>
          <p:spPr>
            <a:xfrm>
              <a:off x="451750" y="2043250"/>
              <a:ext cx="2393100" cy="0"/>
            </a:xfrm>
            <a:prstGeom prst="straightConnector1">
              <a:avLst/>
            </a:prstGeom>
            <a:noFill/>
            <a:ln w="9525" cap="flat" cmpd="sng">
              <a:solidFill>
                <a:srgbClr val="6AA84F"/>
              </a:solidFill>
              <a:prstDash val="solid"/>
              <a:round/>
              <a:headEnd type="triangle" w="med" len="med"/>
              <a:tailEnd type="triangle" w="med" len="med"/>
            </a:ln>
          </p:spPr>
        </p:cxnSp>
        <p:sp>
          <p:nvSpPr>
            <p:cNvPr id="1212" name="Google Shape;1212;p49"/>
            <p:cNvSpPr txBox="1"/>
            <p:nvPr/>
          </p:nvSpPr>
          <p:spPr>
            <a:xfrm>
              <a:off x="1007800" y="1912600"/>
              <a:ext cx="1281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213" name="Google Shape;1213;p49"/>
          <p:cNvSpPr/>
          <p:nvPr/>
        </p:nvSpPr>
        <p:spPr>
          <a:xfrm rot="5400000">
            <a:off x="14124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214" name="Google Shape;1214;p49"/>
          <p:cNvSpPr/>
          <p:nvPr/>
        </p:nvSpPr>
        <p:spPr>
          <a:xfrm rot="5400000">
            <a:off x="15873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215" name="Google Shape;1215;p49"/>
          <p:cNvGrpSpPr/>
          <p:nvPr/>
        </p:nvGrpSpPr>
        <p:grpSpPr>
          <a:xfrm>
            <a:off x="5413495" y="4486300"/>
            <a:ext cx="2919162" cy="261300"/>
            <a:chOff x="4996875" y="1912600"/>
            <a:chExt cx="2975700" cy="261300"/>
          </a:xfrm>
        </p:grpSpPr>
        <p:cxnSp>
          <p:nvCxnSpPr>
            <p:cNvPr id="1216" name="Google Shape;1216;p49"/>
            <p:cNvCxnSpPr/>
            <p:nvPr/>
          </p:nvCxnSpPr>
          <p:spPr>
            <a:xfrm>
              <a:off x="4996875" y="2043250"/>
              <a:ext cx="2975700" cy="0"/>
            </a:xfrm>
            <a:prstGeom prst="straightConnector1">
              <a:avLst/>
            </a:prstGeom>
            <a:noFill/>
            <a:ln w="9525" cap="flat" cmpd="sng">
              <a:solidFill>
                <a:srgbClr val="999999"/>
              </a:solidFill>
              <a:prstDash val="solid"/>
              <a:round/>
              <a:headEnd type="triangle" w="med" len="med"/>
              <a:tailEnd type="triangle" w="med" len="med"/>
            </a:ln>
          </p:spPr>
        </p:cxnSp>
        <p:sp>
          <p:nvSpPr>
            <p:cNvPr id="1217" name="Google Shape;1217;p49"/>
            <p:cNvSpPr txBox="1"/>
            <p:nvPr/>
          </p:nvSpPr>
          <p:spPr>
            <a:xfrm>
              <a:off x="5955972" y="1912600"/>
              <a:ext cx="10575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218" name="Google Shape;1218;p49"/>
          <p:cNvGrpSpPr/>
          <p:nvPr/>
        </p:nvGrpSpPr>
        <p:grpSpPr>
          <a:xfrm>
            <a:off x="3261268" y="4369100"/>
            <a:ext cx="2095500" cy="493800"/>
            <a:chOff x="3261268" y="4292900"/>
            <a:chExt cx="2095500" cy="493800"/>
          </a:xfrm>
        </p:grpSpPr>
        <p:cxnSp>
          <p:nvCxnSpPr>
            <p:cNvPr id="1219" name="Google Shape;1219;p49"/>
            <p:cNvCxnSpPr/>
            <p:nvPr/>
          </p:nvCxnSpPr>
          <p:spPr>
            <a:xfrm>
              <a:off x="3261268" y="4539800"/>
              <a:ext cx="2095500" cy="0"/>
            </a:xfrm>
            <a:prstGeom prst="straightConnector1">
              <a:avLst/>
            </a:prstGeom>
            <a:noFill/>
            <a:ln w="9525" cap="flat" cmpd="sng">
              <a:solidFill>
                <a:schemeClr val="accent2"/>
              </a:solidFill>
              <a:prstDash val="solid"/>
              <a:round/>
              <a:headEnd type="triangle" w="med" len="med"/>
              <a:tailEnd type="triangle" w="med" len="med"/>
            </a:ln>
          </p:spPr>
        </p:cxnSp>
        <p:sp>
          <p:nvSpPr>
            <p:cNvPr id="1220" name="Google Shape;1220;p49"/>
            <p:cNvSpPr txBox="1"/>
            <p:nvPr/>
          </p:nvSpPr>
          <p:spPr>
            <a:xfrm>
              <a:off x="3940850" y="4292900"/>
              <a:ext cx="736500" cy="4938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marL="0" lvl="0" indent="0" algn="ctr" rtl="0">
                <a:spcBef>
                  <a:spcPts val="0"/>
                </a:spcBef>
                <a:spcAft>
                  <a:spcPts val="0"/>
                </a:spcAft>
                <a:buNone/>
              </a:pPr>
              <a:r>
                <a:rPr lang="en" i="1">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cxnSp>
        <p:nvCxnSpPr>
          <p:cNvPr id="1221" name="Google Shape;1221;p49"/>
          <p:cNvCxnSpPr>
            <a:stCxn id="1177" idx="1"/>
            <a:endCxn id="1222" idx="2"/>
          </p:cNvCxnSpPr>
          <p:nvPr/>
        </p:nvCxnSpPr>
        <p:spPr>
          <a:xfrm rot="10800000">
            <a:off x="3347638" y="3393150"/>
            <a:ext cx="0" cy="221100"/>
          </a:xfrm>
          <a:prstGeom prst="straightConnector1">
            <a:avLst/>
          </a:prstGeom>
          <a:noFill/>
          <a:ln w="9525" cap="flat" cmpd="sng">
            <a:solidFill>
              <a:schemeClr val="accent2"/>
            </a:solidFill>
            <a:prstDash val="solid"/>
            <a:round/>
            <a:headEnd type="triangle" w="med" len="med"/>
            <a:tailEnd type="none" w="med" len="med"/>
          </a:ln>
        </p:spPr>
      </p:cxnSp>
      <p:sp>
        <p:nvSpPr>
          <p:cNvPr id="1222" name="Google Shape;1222;p49"/>
          <p:cNvSpPr txBox="1"/>
          <p:nvPr/>
        </p:nvSpPr>
        <p:spPr>
          <a:xfrm>
            <a:off x="2595100" y="3131722"/>
            <a:ext cx="1505100" cy="261300"/>
          </a:xfrm>
          <a:prstGeom prst="rect">
            <a:avLst/>
          </a:prstGeom>
          <a:noFill/>
          <a:ln>
            <a:noFill/>
          </a:ln>
        </p:spPr>
        <p:txBody>
          <a:bodyPr spcFirstLastPara="1" wrap="square" lIns="27425" tIns="27425" rIns="27425" bIns="27425" anchor="t" anchorCtr="0">
            <a:no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First unacked byte</a:t>
            </a:r>
            <a:endParaRPr>
              <a:solidFill>
                <a:schemeClr val="accent2"/>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26"/>
        <p:cNvGrpSpPr/>
        <p:nvPr/>
      </p:nvGrpSpPr>
      <p:grpSpPr>
        <a:xfrm>
          <a:off x="0" y="0"/>
          <a:ext cx="0" cy="0"/>
          <a:chOff x="0" y="0"/>
          <a:chExt cx="0" cy="0"/>
        </a:xfrm>
      </p:grpSpPr>
      <p:sp>
        <p:nvSpPr>
          <p:cNvPr id="1227" name="Google Shape;1227;p5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Detecting Loss</a:t>
            </a:r>
            <a:endParaRPr/>
          </a:p>
        </p:txBody>
      </p:sp>
      <p:sp>
        <p:nvSpPr>
          <p:cNvPr id="1228" name="Google Shape;1228;p50"/>
          <p:cNvSpPr txBox="1">
            <a:spLocks noGrp="1"/>
          </p:cNvSpPr>
          <p:nvPr>
            <p:ph type="body" idx="1"/>
          </p:nvPr>
        </p:nvSpPr>
        <p:spPr>
          <a:xfrm>
            <a:off x="107050" y="402200"/>
            <a:ext cx="8909700" cy="2678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Two ways to detect loss and resend. We resend if either condition is true.</a:t>
            </a:r>
            <a:endParaRPr/>
          </a:p>
          <a:p>
            <a:pPr marL="0" lvl="0" indent="0" algn="l" rtl="0">
              <a:spcBef>
                <a:spcPts val="600"/>
              </a:spcBef>
              <a:spcAft>
                <a:spcPts val="0"/>
              </a:spcAft>
              <a:buNone/>
            </a:pPr>
            <a:r>
              <a:rPr lang="en"/>
              <a:t>In both cases, we always resend the </a:t>
            </a:r>
            <a:r>
              <a:rPr lang="en" i="1"/>
              <a:t>first unacked packet</a:t>
            </a:r>
            <a:r>
              <a:rPr lang="en"/>
              <a:t> (leftmost part of window).</a:t>
            </a:r>
            <a:endParaRPr/>
          </a:p>
          <a:p>
            <a:pPr marL="457200" lvl="0" indent="-342900" algn="l" rtl="0">
              <a:spcBef>
                <a:spcPts val="600"/>
              </a:spcBef>
              <a:spcAft>
                <a:spcPts val="0"/>
              </a:spcAft>
              <a:buSzPts val="1800"/>
              <a:buAutoNum type="arabicPeriod"/>
            </a:pPr>
            <a:r>
              <a:rPr lang="en"/>
              <a:t>Ack-based: If 3 duplicate acks are received, resend.</a:t>
            </a:r>
            <a:endParaRPr/>
          </a:p>
          <a:p>
            <a:pPr marL="457200" lvl="0" indent="-342900" algn="l" rtl="0">
              <a:spcBef>
                <a:spcPts val="0"/>
              </a:spcBef>
              <a:spcAft>
                <a:spcPts val="0"/>
              </a:spcAft>
              <a:buSzPts val="1800"/>
              <a:buAutoNum type="arabicPeriod"/>
            </a:pPr>
            <a:r>
              <a:rPr lang="en"/>
              <a:t>Timer-based: Keep a single timer. If the timer expires, resend.</a:t>
            </a:r>
            <a:endParaRPr/>
          </a:p>
          <a:p>
            <a:pPr marL="914400" lvl="1" indent="-342900" algn="l" rtl="0">
              <a:spcBef>
                <a:spcPts val="0"/>
              </a:spcBef>
              <a:spcAft>
                <a:spcPts val="0"/>
              </a:spcAft>
              <a:buSzPts val="1800"/>
              <a:buChar char="○"/>
            </a:pPr>
            <a:r>
              <a:rPr lang="en"/>
              <a:t>Different from packet-based TCP, where we kept one timer per packet.</a:t>
            </a:r>
            <a:endParaRPr/>
          </a:p>
          <a:p>
            <a:pPr marL="914400" lvl="1" indent="-342900" algn="l" rtl="0">
              <a:spcBef>
                <a:spcPts val="0"/>
              </a:spcBef>
              <a:spcAft>
                <a:spcPts val="0"/>
              </a:spcAft>
              <a:buSzPts val="1800"/>
              <a:buChar char="○"/>
            </a:pPr>
            <a:r>
              <a:rPr lang="en"/>
              <a:t>Set timer by estimating RTT (e.g. measure times between packets and acks, and take a moving average).</a:t>
            </a:r>
            <a:endParaRPr/>
          </a:p>
        </p:txBody>
      </p:sp>
      <p:sp>
        <p:nvSpPr>
          <p:cNvPr id="1229" name="Google Shape;1229;p50"/>
          <p:cNvSpPr/>
          <p:nvPr/>
        </p:nvSpPr>
        <p:spPr>
          <a:xfrm rot="5400000">
            <a:off x="75339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30" name="Google Shape;1230;p50"/>
          <p:cNvSpPr/>
          <p:nvPr/>
        </p:nvSpPr>
        <p:spPr>
          <a:xfrm rot="5400000">
            <a:off x="887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a:t>
            </a:r>
            <a:endParaRPr sz="1000">
              <a:latin typeface="Roboto"/>
              <a:ea typeface="Roboto"/>
              <a:cs typeface="Roboto"/>
              <a:sym typeface="Roboto"/>
            </a:endParaRPr>
          </a:p>
        </p:txBody>
      </p:sp>
      <p:sp>
        <p:nvSpPr>
          <p:cNvPr id="1231" name="Google Shape;1231;p50"/>
          <p:cNvSpPr/>
          <p:nvPr/>
        </p:nvSpPr>
        <p:spPr>
          <a:xfrm rot="5400000">
            <a:off x="17622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8</a:t>
            </a:r>
            <a:endParaRPr sz="1000">
              <a:latin typeface="Roboto"/>
              <a:ea typeface="Roboto"/>
              <a:cs typeface="Roboto"/>
              <a:sym typeface="Roboto"/>
            </a:endParaRPr>
          </a:p>
        </p:txBody>
      </p:sp>
      <p:sp>
        <p:nvSpPr>
          <p:cNvPr id="1232" name="Google Shape;1232;p50"/>
          <p:cNvSpPr/>
          <p:nvPr/>
        </p:nvSpPr>
        <p:spPr>
          <a:xfrm rot="5400000">
            <a:off x="19371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9</a:t>
            </a:r>
            <a:endParaRPr sz="1000">
              <a:latin typeface="Roboto"/>
              <a:ea typeface="Roboto"/>
              <a:cs typeface="Roboto"/>
              <a:sym typeface="Roboto"/>
            </a:endParaRPr>
          </a:p>
        </p:txBody>
      </p:sp>
      <p:sp>
        <p:nvSpPr>
          <p:cNvPr id="1233" name="Google Shape;1233;p50"/>
          <p:cNvSpPr/>
          <p:nvPr/>
        </p:nvSpPr>
        <p:spPr>
          <a:xfrm rot="5400000">
            <a:off x="21120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10</a:t>
            </a:r>
            <a:endParaRPr sz="1000">
              <a:latin typeface="Roboto"/>
              <a:ea typeface="Roboto"/>
              <a:cs typeface="Roboto"/>
              <a:sym typeface="Roboto"/>
            </a:endParaRPr>
          </a:p>
        </p:txBody>
      </p:sp>
      <p:sp>
        <p:nvSpPr>
          <p:cNvPr id="1234" name="Google Shape;1234;p50"/>
          <p:cNvSpPr/>
          <p:nvPr/>
        </p:nvSpPr>
        <p:spPr>
          <a:xfrm rot="5400000">
            <a:off x="2286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11</a:t>
            </a:r>
            <a:endParaRPr sz="1000">
              <a:latin typeface="Roboto"/>
              <a:ea typeface="Roboto"/>
              <a:cs typeface="Roboto"/>
              <a:sym typeface="Roboto"/>
            </a:endParaRPr>
          </a:p>
        </p:txBody>
      </p:sp>
      <p:sp>
        <p:nvSpPr>
          <p:cNvPr id="1235" name="Google Shape;1235;p50"/>
          <p:cNvSpPr/>
          <p:nvPr/>
        </p:nvSpPr>
        <p:spPr>
          <a:xfrm rot="5400000">
            <a:off x="2461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12</a:t>
            </a:r>
            <a:endParaRPr sz="1000">
              <a:latin typeface="Roboto"/>
              <a:ea typeface="Roboto"/>
              <a:cs typeface="Roboto"/>
              <a:sym typeface="Roboto"/>
            </a:endParaRPr>
          </a:p>
        </p:txBody>
      </p:sp>
      <p:sp>
        <p:nvSpPr>
          <p:cNvPr id="1236" name="Google Shape;1236;p50"/>
          <p:cNvSpPr/>
          <p:nvPr/>
        </p:nvSpPr>
        <p:spPr>
          <a:xfrm rot="5400000">
            <a:off x="26367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13</a:t>
            </a:r>
            <a:endParaRPr sz="1000">
              <a:latin typeface="Roboto"/>
              <a:ea typeface="Roboto"/>
              <a:cs typeface="Roboto"/>
              <a:sym typeface="Roboto"/>
            </a:endParaRPr>
          </a:p>
        </p:txBody>
      </p:sp>
      <p:sp>
        <p:nvSpPr>
          <p:cNvPr id="1237" name="Google Shape;1237;p50"/>
          <p:cNvSpPr/>
          <p:nvPr/>
        </p:nvSpPr>
        <p:spPr>
          <a:xfrm rot="5400000">
            <a:off x="2811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14</a:t>
            </a:r>
            <a:endParaRPr sz="1000">
              <a:latin typeface="Roboto"/>
              <a:ea typeface="Roboto"/>
              <a:cs typeface="Roboto"/>
              <a:sym typeface="Roboto"/>
            </a:endParaRPr>
          </a:p>
        </p:txBody>
      </p:sp>
      <p:sp>
        <p:nvSpPr>
          <p:cNvPr id="1238" name="Google Shape;1238;p50"/>
          <p:cNvSpPr/>
          <p:nvPr/>
        </p:nvSpPr>
        <p:spPr>
          <a:xfrm rot="5400000">
            <a:off x="2986588" y="3887850"/>
            <a:ext cx="722100" cy="174900"/>
          </a:xfrm>
          <a:prstGeom prst="rect">
            <a:avLst/>
          </a:prstGeom>
          <a:solidFill>
            <a:srgbClr val="F4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15</a:t>
            </a:r>
            <a:endParaRPr sz="1000">
              <a:latin typeface="Roboto"/>
              <a:ea typeface="Roboto"/>
              <a:cs typeface="Roboto"/>
              <a:sym typeface="Roboto"/>
            </a:endParaRPr>
          </a:p>
        </p:txBody>
      </p:sp>
      <p:sp>
        <p:nvSpPr>
          <p:cNvPr id="1239" name="Google Shape;1239;p50"/>
          <p:cNvSpPr/>
          <p:nvPr/>
        </p:nvSpPr>
        <p:spPr>
          <a:xfrm rot="5400000">
            <a:off x="3161488" y="3887850"/>
            <a:ext cx="722100" cy="174900"/>
          </a:xfrm>
          <a:prstGeom prst="rect">
            <a:avLst/>
          </a:prstGeom>
          <a:solidFill>
            <a:srgbClr val="F4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16</a:t>
            </a:r>
            <a:endParaRPr sz="1000">
              <a:latin typeface="Roboto"/>
              <a:ea typeface="Roboto"/>
              <a:cs typeface="Roboto"/>
              <a:sym typeface="Roboto"/>
            </a:endParaRPr>
          </a:p>
        </p:txBody>
      </p:sp>
      <p:sp>
        <p:nvSpPr>
          <p:cNvPr id="1240" name="Google Shape;1240;p50"/>
          <p:cNvSpPr/>
          <p:nvPr/>
        </p:nvSpPr>
        <p:spPr>
          <a:xfrm rot="5400000">
            <a:off x="3336388" y="3887850"/>
            <a:ext cx="722100" cy="174900"/>
          </a:xfrm>
          <a:prstGeom prst="rect">
            <a:avLst/>
          </a:prstGeom>
          <a:solidFill>
            <a:srgbClr val="F4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17</a:t>
            </a:r>
            <a:endParaRPr sz="1000">
              <a:latin typeface="Roboto"/>
              <a:ea typeface="Roboto"/>
              <a:cs typeface="Roboto"/>
              <a:sym typeface="Roboto"/>
            </a:endParaRPr>
          </a:p>
        </p:txBody>
      </p:sp>
      <p:sp>
        <p:nvSpPr>
          <p:cNvPr id="1241" name="Google Shape;1241;p50"/>
          <p:cNvSpPr/>
          <p:nvPr/>
        </p:nvSpPr>
        <p:spPr>
          <a:xfrm rot="5400000">
            <a:off x="3511288" y="3887850"/>
            <a:ext cx="722100" cy="174900"/>
          </a:xfrm>
          <a:prstGeom prst="rect">
            <a:avLst/>
          </a:prstGeom>
          <a:solidFill>
            <a:srgbClr val="F4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18</a:t>
            </a:r>
            <a:endParaRPr sz="1000">
              <a:latin typeface="Roboto"/>
              <a:ea typeface="Roboto"/>
              <a:cs typeface="Roboto"/>
              <a:sym typeface="Roboto"/>
            </a:endParaRPr>
          </a:p>
        </p:txBody>
      </p:sp>
      <p:sp>
        <p:nvSpPr>
          <p:cNvPr id="1242" name="Google Shape;1242;p50"/>
          <p:cNvSpPr/>
          <p:nvPr/>
        </p:nvSpPr>
        <p:spPr>
          <a:xfrm rot="5400000">
            <a:off x="36861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19</a:t>
            </a:r>
            <a:endParaRPr sz="1000">
              <a:latin typeface="Roboto"/>
              <a:ea typeface="Roboto"/>
              <a:cs typeface="Roboto"/>
              <a:sym typeface="Roboto"/>
            </a:endParaRPr>
          </a:p>
        </p:txBody>
      </p:sp>
      <p:sp>
        <p:nvSpPr>
          <p:cNvPr id="1243" name="Google Shape;1243;p50"/>
          <p:cNvSpPr/>
          <p:nvPr/>
        </p:nvSpPr>
        <p:spPr>
          <a:xfrm rot="5400000">
            <a:off x="38610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20</a:t>
            </a:r>
            <a:endParaRPr sz="1000">
              <a:latin typeface="Roboto"/>
              <a:ea typeface="Roboto"/>
              <a:cs typeface="Roboto"/>
              <a:sym typeface="Roboto"/>
            </a:endParaRPr>
          </a:p>
        </p:txBody>
      </p:sp>
      <p:sp>
        <p:nvSpPr>
          <p:cNvPr id="1244" name="Google Shape;1244;p50"/>
          <p:cNvSpPr/>
          <p:nvPr/>
        </p:nvSpPr>
        <p:spPr>
          <a:xfrm rot="5400000">
            <a:off x="40359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21</a:t>
            </a:r>
            <a:endParaRPr sz="1000">
              <a:latin typeface="Roboto"/>
              <a:ea typeface="Roboto"/>
              <a:cs typeface="Roboto"/>
              <a:sym typeface="Roboto"/>
            </a:endParaRPr>
          </a:p>
        </p:txBody>
      </p:sp>
      <p:sp>
        <p:nvSpPr>
          <p:cNvPr id="1245" name="Google Shape;1245;p50"/>
          <p:cNvSpPr/>
          <p:nvPr/>
        </p:nvSpPr>
        <p:spPr>
          <a:xfrm rot="5400000">
            <a:off x="42108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22</a:t>
            </a:r>
            <a:endParaRPr sz="1000">
              <a:latin typeface="Roboto"/>
              <a:ea typeface="Roboto"/>
              <a:cs typeface="Roboto"/>
              <a:sym typeface="Roboto"/>
            </a:endParaRPr>
          </a:p>
        </p:txBody>
      </p:sp>
      <p:sp>
        <p:nvSpPr>
          <p:cNvPr id="1246" name="Google Shape;1246;p50"/>
          <p:cNvSpPr/>
          <p:nvPr/>
        </p:nvSpPr>
        <p:spPr>
          <a:xfrm rot="5400000">
            <a:off x="43857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23</a:t>
            </a:r>
            <a:endParaRPr sz="1000">
              <a:latin typeface="Roboto"/>
              <a:ea typeface="Roboto"/>
              <a:cs typeface="Roboto"/>
              <a:sym typeface="Roboto"/>
            </a:endParaRPr>
          </a:p>
        </p:txBody>
      </p:sp>
      <p:sp>
        <p:nvSpPr>
          <p:cNvPr id="1247" name="Google Shape;1247;p50"/>
          <p:cNvSpPr/>
          <p:nvPr/>
        </p:nvSpPr>
        <p:spPr>
          <a:xfrm rot="5400000">
            <a:off x="45606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24</a:t>
            </a:r>
            <a:endParaRPr sz="1000">
              <a:latin typeface="Roboto"/>
              <a:ea typeface="Roboto"/>
              <a:cs typeface="Roboto"/>
              <a:sym typeface="Roboto"/>
            </a:endParaRPr>
          </a:p>
        </p:txBody>
      </p:sp>
      <p:sp>
        <p:nvSpPr>
          <p:cNvPr id="1248" name="Google Shape;1248;p50"/>
          <p:cNvSpPr/>
          <p:nvPr/>
        </p:nvSpPr>
        <p:spPr>
          <a:xfrm rot="5400000">
            <a:off x="47355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25</a:t>
            </a:r>
            <a:endParaRPr sz="1000">
              <a:latin typeface="Roboto"/>
              <a:ea typeface="Roboto"/>
              <a:cs typeface="Roboto"/>
              <a:sym typeface="Roboto"/>
            </a:endParaRPr>
          </a:p>
        </p:txBody>
      </p:sp>
      <p:sp>
        <p:nvSpPr>
          <p:cNvPr id="1249" name="Google Shape;1249;p50"/>
          <p:cNvSpPr/>
          <p:nvPr/>
        </p:nvSpPr>
        <p:spPr>
          <a:xfrm rot="5400000">
            <a:off x="4910488" y="3887850"/>
            <a:ext cx="722100" cy="174900"/>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26</a:t>
            </a:r>
            <a:endParaRPr sz="1000">
              <a:latin typeface="Roboto"/>
              <a:ea typeface="Roboto"/>
              <a:cs typeface="Roboto"/>
              <a:sym typeface="Roboto"/>
            </a:endParaRPr>
          </a:p>
        </p:txBody>
      </p:sp>
      <p:sp>
        <p:nvSpPr>
          <p:cNvPr id="1250" name="Google Shape;1250;p50"/>
          <p:cNvSpPr/>
          <p:nvPr/>
        </p:nvSpPr>
        <p:spPr>
          <a:xfrm rot="5400000">
            <a:off x="5085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27</a:t>
            </a:r>
            <a:endParaRPr sz="1000">
              <a:latin typeface="Roboto"/>
              <a:ea typeface="Roboto"/>
              <a:cs typeface="Roboto"/>
              <a:sym typeface="Roboto"/>
            </a:endParaRPr>
          </a:p>
        </p:txBody>
      </p:sp>
      <p:sp>
        <p:nvSpPr>
          <p:cNvPr id="1251" name="Google Shape;1251;p50"/>
          <p:cNvSpPr/>
          <p:nvPr/>
        </p:nvSpPr>
        <p:spPr>
          <a:xfrm rot="5400000">
            <a:off x="5260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28</a:t>
            </a:r>
            <a:endParaRPr sz="1000">
              <a:latin typeface="Roboto"/>
              <a:ea typeface="Roboto"/>
              <a:cs typeface="Roboto"/>
              <a:sym typeface="Roboto"/>
            </a:endParaRPr>
          </a:p>
        </p:txBody>
      </p:sp>
      <p:sp>
        <p:nvSpPr>
          <p:cNvPr id="1252" name="Google Shape;1252;p50"/>
          <p:cNvSpPr/>
          <p:nvPr/>
        </p:nvSpPr>
        <p:spPr>
          <a:xfrm rot="5400000">
            <a:off x="5435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29</a:t>
            </a:r>
            <a:endParaRPr sz="1000">
              <a:latin typeface="Roboto"/>
              <a:ea typeface="Roboto"/>
              <a:cs typeface="Roboto"/>
              <a:sym typeface="Roboto"/>
            </a:endParaRPr>
          </a:p>
        </p:txBody>
      </p:sp>
      <p:sp>
        <p:nvSpPr>
          <p:cNvPr id="1253" name="Google Shape;1253;p50"/>
          <p:cNvSpPr/>
          <p:nvPr/>
        </p:nvSpPr>
        <p:spPr>
          <a:xfrm rot="5400000">
            <a:off x="5610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30</a:t>
            </a:r>
            <a:endParaRPr sz="1000">
              <a:latin typeface="Roboto"/>
              <a:ea typeface="Roboto"/>
              <a:cs typeface="Roboto"/>
              <a:sym typeface="Roboto"/>
            </a:endParaRPr>
          </a:p>
        </p:txBody>
      </p:sp>
      <p:sp>
        <p:nvSpPr>
          <p:cNvPr id="1254" name="Google Shape;1254;p50"/>
          <p:cNvSpPr/>
          <p:nvPr/>
        </p:nvSpPr>
        <p:spPr>
          <a:xfrm rot="5400000">
            <a:off x="57849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31</a:t>
            </a:r>
            <a:endParaRPr sz="1000">
              <a:latin typeface="Roboto"/>
              <a:ea typeface="Roboto"/>
              <a:cs typeface="Roboto"/>
              <a:sym typeface="Roboto"/>
            </a:endParaRPr>
          </a:p>
        </p:txBody>
      </p:sp>
      <p:sp>
        <p:nvSpPr>
          <p:cNvPr id="1255" name="Google Shape;1255;p50"/>
          <p:cNvSpPr/>
          <p:nvPr/>
        </p:nvSpPr>
        <p:spPr>
          <a:xfrm rot="5400000">
            <a:off x="59598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32</a:t>
            </a:r>
            <a:endParaRPr sz="1000">
              <a:latin typeface="Roboto"/>
              <a:ea typeface="Roboto"/>
              <a:cs typeface="Roboto"/>
              <a:sym typeface="Roboto"/>
            </a:endParaRPr>
          </a:p>
        </p:txBody>
      </p:sp>
      <p:sp>
        <p:nvSpPr>
          <p:cNvPr id="1256" name="Google Shape;1256;p50"/>
          <p:cNvSpPr/>
          <p:nvPr/>
        </p:nvSpPr>
        <p:spPr>
          <a:xfrm rot="5400000">
            <a:off x="61347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33</a:t>
            </a:r>
            <a:endParaRPr sz="1000">
              <a:latin typeface="Roboto"/>
              <a:ea typeface="Roboto"/>
              <a:cs typeface="Roboto"/>
              <a:sym typeface="Roboto"/>
            </a:endParaRPr>
          </a:p>
        </p:txBody>
      </p:sp>
      <p:sp>
        <p:nvSpPr>
          <p:cNvPr id="1257" name="Google Shape;1257;p50"/>
          <p:cNvSpPr/>
          <p:nvPr/>
        </p:nvSpPr>
        <p:spPr>
          <a:xfrm rot="5400000">
            <a:off x="63096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34</a:t>
            </a:r>
            <a:endParaRPr sz="1000">
              <a:latin typeface="Roboto"/>
              <a:ea typeface="Roboto"/>
              <a:cs typeface="Roboto"/>
              <a:sym typeface="Roboto"/>
            </a:endParaRPr>
          </a:p>
        </p:txBody>
      </p:sp>
      <p:sp>
        <p:nvSpPr>
          <p:cNvPr id="1258" name="Google Shape;1258;p50"/>
          <p:cNvSpPr/>
          <p:nvPr/>
        </p:nvSpPr>
        <p:spPr>
          <a:xfrm rot="5400000">
            <a:off x="64845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35</a:t>
            </a:r>
            <a:endParaRPr sz="1000">
              <a:latin typeface="Roboto"/>
              <a:ea typeface="Roboto"/>
              <a:cs typeface="Roboto"/>
              <a:sym typeface="Roboto"/>
            </a:endParaRPr>
          </a:p>
        </p:txBody>
      </p:sp>
      <p:sp>
        <p:nvSpPr>
          <p:cNvPr id="1259" name="Google Shape;1259;p50"/>
          <p:cNvSpPr/>
          <p:nvPr/>
        </p:nvSpPr>
        <p:spPr>
          <a:xfrm rot="5400000">
            <a:off x="66594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36</a:t>
            </a:r>
            <a:endParaRPr sz="1000">
              <a:latin typeface="Roboto"/>
              <a:ea typeface="Roboto"/>
              <a:cs typeface="Roboto"/>
              <a:sym typeface="Roboto"/>
            </a:endParaRPr>
          </a:p>
        </p:txBody>
      </p:sp>
      <p:sp>
        <p:nvSpPr>
          <p:cNvPr id="1260" name="Google Shape;1260;p50"/>
          <p:cNvSpPr/>
          <p:nvPr/>
        </p:nvSpPr>
        <p:spPr>
          <a:xfrm rot="5400000">
            <a:off x="68343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37</a:t>
            </a:r>
            <a:endParaRPr sz="1000">
              <a:latin typeface="Roboto"/>
              <a:ea typeface="Roboto"/>
              <a:cs typeface="Roboto"/>
              <a:sym typeface="Roboto"/>
            </a:endParaRPr>
          </a:p>
        </p:txBody>
      </p:sp>
      <p:sp>
        <p:nvSpPr>
          <p:cNvPr id="1261" name="Google Shape;1261;p50"/>
          <p:cNvSpPr/>
          <p:nvPr/>
        </p:nvSpPr>
        <p:spPr>
          <a:xfrm rot="5400000">
            <a:off x="70092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38</a:t>
            </a:r>
            <a:endParaRPr sz="1000">
              <a:latin typeface="Roboto"/>
              <a:ea typeface="Roboto"/>
              <a:cs typeface="Roboto"/>
              <a:sym typeface="Roboto"/>
            </a:endParaRPr>
          </a:p>
        </p:txBody>
      </p:sp>
      <p:sp>
        <p:nvSpPr>
          <p:cNvPr id="1262" name="Google Shape;1262;p50"/>
          <p:cNvSpPr/>
          <p:nvPr/>
        </p:nvSpPr>
        <p:spPr>
          <a:xfrm rot="5400000">
            <a:off x="71841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39</a:t>
            </a:r>
            <a:endParaRPr sz="1000">
              <a:latin typeface="Roboto"/>
              <a:ea typeface="Roboto"/>
              <a:cs typeface="Roboto"/>
              <a:sym typeface="Roboto"/>
            </a:endParaRPr>
          </a:p>
        </p:txBody>
      </p:sp>
      <p:sp>
        <p:nvSpPr>
          <p:cNvPr id="1263" name="Google Shape;1263;p50"/>
          <p:cNvSpPr/>
          <p:nvPr/>
        </p:nvSpPr>
        <p:spPr>
          <a:xfrm rot="5400000">
            <a:off x="7359088" y="3887850"/>
            <a:ext cx="722100" cy="174900"/>
          </a:xfrm>
          <a:prstGeom prst="rect">
            <a:avLst/>
          </a:prstGeom>
          <a:solidFill>
            <a:srgbClr val="D9D9D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40</a:t>
            </a:r>
            <a:endParaRPr sz="1000">
              <a:latin typeface="Roboto"/>
              <a:ea typeface="Roboto"/>
              <a:cs typeface="Roboto"/>
              <a:sym typeface="Roboto"/>
            </a:endParaRPr>
          </a:p>
        </p:txBody>
      </p:sp>
      <p:sp>
        <p:nvSpPr>
          <p:cNvPr id="1264" name="Google Shape;1264;p50"/>
          <p:cNvSpPr/>
          <p:nvPr/>
        </p:nvSpPr>
        <p:spPr>
          <a:xfrm rot="5400000">
            <a:off x="77088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65" name="Google Shape;1265;p50"/>
          <p:cNvSpPr/>
          <p:nvPr/>
        </p:nvSpPr>
        <p:spPr>
          <a:xfrm rot="5400000">
            <a:off x="7883788" y="3887850"/>
            <a:ext cx="722100" cy="174900"/>
          </a:xfrm>
          <a:prstGeom prst="rect">
            <a:avLst/>
          </a:prstGeom>
          <a:solidFill>
            <a:srgbClr val="D9D9D9"/>
          </a:solidFill>
          <a:ln w="9525" cap="flat" cmpd="sng">
            <a:solidFill>
              <a:srgbClr val="B7B7B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66" name="Google Shape;1266;p50"/>
          <p:cNvSpPr/>
          <p:nvPr/>
        </p:nvSpPr>
        <p:spPr>
          <a:xfrm rot="5400000">
            <a:off x="5379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1</a:t>
            </a:r>
            <a:endParaRPr sz="1000">
              <a:latin typeface="Roboto"/>
              <a:ea typeface="Roboto"/>
              <a:cs typeface="Roboto"/>
              <a:sym typeface="Roboto"/>
            </a:endParaRPr>
          </a:p>
        </p:txBody>
      </p:sp>
      <p:sp>
        <p:nvSpPr>
          <p:cNvPr id="1267" name="Google Shape;1267;p50"/>
          <p:cNvSpPr/>
          <p:nvPr/>
        </p:nvSpPr>
        <p:spPr>
          <a:xfrm rot="5400000">
            <a:off x="7128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2</a:t>
            </a:r>
            <a:endParaRPr sz="1000">
              <a:latin typeface="Roboto"/>
              <a:ea typeface="Roboto"/>
              <a:cs typeface="Roboto"/>
              <a:sym typeface="Roboto"/>
            </a:endParaRPr>
          </a:p>
        </p:txBody>
      </p:sp>
      <p:sp>
        <p:nvSpPr>
          <p:cNvPr id="1268" name="Google Shape;1268;p50"/>
          <p:cNvSpPr/>
          <p:nvPr/>
        </p:nvSpPr>
        <p:spPr>
          <a:xfrm rot="5400000">
            <a:off x="3948538" y="2927550"/>
            <a:ext cx="722100" cy="2095500"/>
          </a:xfrm>
          <a:prstGeom prst="rect">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Roboto"/>
              <a:ea typeface="Roboto"/>
              <a:cs typeface="Roboto"/>
              <a:sym typeface="Roboto"/>
            </a:endParaRPr>
          </a:p>
        </p:txBody>
      </p:sp>
      <p:sp>
        <p:nvSpPr>
          <p:cNvPr id="1269" name="Google Shape;1269;p50"/>
          <p:cNvSpPr/>
          <p:nvPr/>
        </p:nvSpPr>
        <p:spPr>
          <a:xfrm rot="5400000">
            <a:off x="10626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4</a:t>
            </a:r>
            <a:endParaRPr sz="1000">
              <a:latin typeface="Roboto"/>
              <a:ea typeface="Roboto"/>
              <a:cs typeface="Roboto"/>
              <a:sym typeface="Roboto"/>
            </a:endParaRPr>
          </a:p>
        </p:txBody>
      </p:sp>
      <p:sp>
        <p:nvSpPr>
          <p:cNvPr id="1270" name="Google Shape;1270;p50"/>
          <p:cNvSpPr/>
          <p:nvPr/>
        </p:nvSpPr>
        <p:spPr>
          <a:xfrm rot="5400000">
            <a:off x="12375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5</a:t>
            </a:r>
            <a:endParaRPr sz="1000">
              <a:latin typeface="Roboto"/>
              <a:ea typeface="Roboto"/>
              <a:cs typeface="Roboto"/>
              <a:sym typeface="Roboto"/>
            </a:endParaRPr>
          </a:p>
        </p:txBody>
      </p:sp>
      <p:grpSp>
        <p:nvGrpSpPr>
          <p:cNvPr id="1271" name="Google Shape;1271;p50"/>
          <p:cNvGrpSpPr/>
          <p:nvPr/>
        </p:nvGrpSpPr>
        <p:grpSpPr>
          <a:xfrm>
            <a:off x="811588" y="4486300"/>
            <a:ext cx="2393100" cy="261300"/>
            <a:chOff x="451750" y="1912600"/>
            <a:chExt cx="2393100" cy="261300"/>
          </a:xfrm>
        </p:grpSpPr>
        <p:cxnSp>
          <p:nvCxnSpPr>
            <p:cNvPr id="1272" name="Google Shape;1272;p50"/>
            <p:cNvCxnSpPr/>
            <p:nvPr/>
          </p:nvCxnSpPr>
          <p:spPr>
            <a:xfrm>
              <a:off x="451750" y="2043250"/>
              <a:ext cx="2393100" cy="0"/>
            </a:xfrm>
            <a:prstGeom prst="straightConnector1">
              <a:avLst/>
            </a:prstGeom>
            <a:noFill/>
            <a:ln w="9525" cap="flat" cmpd="sng">
              <a:solidFill>
                <a:srgbClr val="6AA84F"/>
              </a:solidFill>
              <a:prstDash val="solid"/>
              <a:round/>
              <a:headEnd type="triangle" w="med" len="med"/>
              <a:tailEnd type="triangle" w="med" len="med"/>
            </a:ln>
          </p:spPr>
        </p:cxnSp>
        <p:sp>
          <p:nvSpPr>
            <p:cNvPr id="1273" name="Google Shape;1273;p50"/>
            <p:cNvSpPr txBox="1"/>
            <p:nvPr/>
          </p:nvSpPr>
          <p:spPr>
            <a:xfrm>
              <a:off x="1007800" y="1912600"/>
              <a:ext cx="1281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Sent and acked</a:t>
              </a:r>
              <a:endParaRPr>
                <a:solidFill>
                  <a:srgbClr val="6AA84F"/>
                </a:solidFill>
                <a:latin typeface="Roboto"/>
                <a:ea typeface="Roboto"/>
                <a:cs typeface="Roboto"/>
                <a:sym typeface="Roboto"/>
              </a:endParaRPr>
            </a:p>
          </p:txBody>
        </p:sp>
      </p:grpSp>
      <p:sp>
        <p:nvSpPr>
          <p:cNvPr id="1274" name="Google Shape;1274;p50"/>
          <p:cNvSpPr/>
          <p:nvPr/>
        </p:nvSpPr>
        <p:spPr>
          <a:xfrm rot="5400000">
            <a:off x="14124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6</a:t>
            </a:r>
            <a:endParaRPr sz="1000">
              <a:latin typeface="Roboto"/>
              <a:ea typeface="Roboto"/>
              <a:cs typeface="Roboto"/>
              <a:sym typeface="Roboto"/>
            </a:endParaRPr>
          </a:p>
        </p:txBody>
      </p:sp>
      <p:sp>
        <p:nvSpPr>
          <p:cNvPr id="1275" name="Google Shape;1275;p50"/>
          <p:cNvSpPr/>
          <p:nvPr/>
        </p:nvSpPr>
        <p:spPr>
          <a:xfrm rot="5400000">
            <a:off x="1587388" y="3887850"/>
            <a:ext cx="722100" cy="174900"/>
          </a:xfrm>
          <a:prstGeom prst="rect">
            <a:avLst/>
          </a:prstGeom>
          <a:solidFill>
            <a:srgbClr val="D9EAD3"/>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7</a:t>
            </a:r>
            <a:endParaRPr sz="1000">
              <a:latin typeface="Roboto"/>
              <a:ea typeface="Roboto"/>
              <a:cs typeface="Roboto"/>
              <a:sym typeface="Roboto"/>
            </a:endParaRPr>
          </a:p>
        </p:txBody>
      </p:sp>
      <p:grpSp>
        <p:nvGrpSpPr>
          <p:cNvPr id="1276" name="Google Shape;1276;p50"/>
          <p:cNvGrpSpPr/>
          <p:nvPr/>
        </p:nvGrpSpPr>
        <p:grpSpPr>
          <a:xfrm>
            <a:off x="5413495" y="4486300"/>
            <a:ext cx="2919162" cy="261300"/>
            <a:chOff x="4996875" y="1912600"/>
            <a:chExt cx="2975700" cy="261300"/>
          </a:xfrm>
        </p:grpSpPr>
        <p:cxnSp>
          <p:nvCxnSpPr>
            <p:cNvPr id="1277" name="Google Shape;1277;p50"/>
            <p:cNvCxnSpPr/>
            <p:nvPr/>
          </p:nvCxnSpPr>
          <p:spPr>
            <a:xfrm>
              <a:off x="4996875" y="2043250"/>
              <a:ext cx="2975700" cy="0"/>
            </a:xfrm>
            <a:prstGeom prst="straightConnector1">
              <a:avLst/>
            </a:prstGeom>
            <a:noFill/>
            <a:ln w="9525" cap="flat" cmpd="sng">
              <a:solidFill>
                <a:srgbClr val="999999"/>
              </a:solidFill>
              <a:prstDash val="solid"/>
              <a:round/>
              <a:headEnd type="triangle" w="med" len="med"/>
              <a:tailEnd type="triangle" w="med" len="med"/>
            </a:ln>
          </p:spPr>
        </p:cxnSp>
        <p:sp>
          <p:nvSpPr>
            <p:cNvPr id="1278" name="Google Shape;1278;p50"/>
            <p:cNvSpPr txBox="1"/>
            <p:nvPr/>
          </p:nvSpPr>
          <p:spPr>
            <a:xfrm>
              <a:off x="5955972" y="1912600"/>
              <a:ext cx="10575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999999"/>
                  </a:solidFill>
                  <a:latin typeface="Roboto"/>
                  <a:ea typeface="Roboto"/>
                  <a:cs typeface="Roboto"/>
                  <a:sym typeface="Roboto"/>
                </a:rPr>
                <a:t>Not sent yet</a:t>
              </a:r>
              <a:endParaRPr>
                <a:solidFill>
                  <a:srgbClr val="999999"/>
                </a:solidFill>
                <a:latin typeface="Roboto"/>
                <a:ea typeface="Roboto"/>
                <a:cs typeface="Roboto"/>
                <a:sym typeface="Roboto"/>
              </a:endParaRPr>
            </a:p>
          </p:txBody>
        </p:sp>
      </p:grpSp>
      <p:grpSp>
        <p:nvGrpSpPr>
          <p:cNvPr id="1279" name="Google Shape;1279;p50"/>
          <p:cNvGrpSpPr/>
          <p:nvPr/>
        </p:nvGrpSpPr>
        <p:grpSpPr>
          <a:xfrm>
            <a:off x="3261268" y="4369100"/>
            <a:ext cx="2095500" cy="493800"/>
            <a:chOff x="3261268" y="4292900"/>
            <a:chExt cx="2095500" cy="493800"/>
          </a:xfrm>
        </p:grpSpPr>
        <p:cxnSp>
          <p:nvCxnSpPr>
            <p:cNvPr id="1280" name="Google Shape;1280;p50"/>
            <p:cNvCxnSpPr/>
            <p:nvPr/>
          </p:nvCxnSpPr>
          <p:spPr>
            <a:xfrm>
              <a:off x="3261268" y="4539800"/>
              <a:ext cx="2095500" cy="0"/>
            </a:xfrm>
            <a:prstGeom prst="straightConnector1">
              <a:avLst/>
            </a:prstGeom>
            <a:noFill/>
            <a:ln w="9525" cap="flat" cmpd="sng">
              <a:solidFill>
                <a:schemeClr val="accent2"/>
              </a:solidFill>
              <a:prstDash val="solid"/>
              <a:round/>
              <a:headEnd type="triangle" w="med" len="med"/>
              <a:tailEnd type="triangle" w="med" len="med"/>
            </a:ln>
          </p:spPr>
        </p:cxnSp>
        <p:sp>
          <p:nvSpPr>
            <p:cNvPr id="1281" name="Google Shape;1281;p50"/>
            <p:cNvSpPr txBox="1"/>
            <p:nvPr/>
          </p:nvSpPr>
          <p:spPr>
            <a:xfrm>
              <a:off x="3940850" y="4292900"/>
              <a:ext cx="736500" cy="4938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Window</a:t>
              </a:r>
              <a:endParaRPr>
                <a:solidFill>
                  <a:schemeClr val="accent2"/>
                </a:solidFill>
                <a:latin typeface="Roboto"/>
                <a:ea typeface="Roboto"/>
                <a:cs typeface="Roboto"/>
                <a:sym typeface="Roboto"/>
              </a:endParaRPr>
            </a:p>
            <a:p>
              <a:pPr marL="0" lvl="0" indent="0" algn="ctr" rtl="0">
                <a:spcBef>
                  <a:spcPts val="0"/>
                </a:spcBef>
                <a:spcAft>
                  <a:spcPts val="0"/>
                </a:spcAft>
                <a:buNone/>
              </a:pPr>
              <a:r>
                <a:rPr lang="en" i="1">
                  <a:solidFill>
                    <a:schemeClr val="accent2"/>
                  </a:solidFill>
                  <a:latin typeface="Roboto"/>
                  <a:ea typeface="Roboto"/>
                  <a:cs typeface="Roboto"/>
                  <a:sym typeface="Roboto"/>
                </a:rPr>
                <a:t>W</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sp>
        <p:nvSpPr>
          <p:cNvPr id="1282" name="Google Shape;1282;p50"/>
          <p:cNvSpPr txBox="1"/>
          <p:nvPr/>
        </p:nvSpPr>
        <p:spPr>
          <a:xfrm>
            <a:off x="3239950" y="3023375"/>
            <a:ext cx="2692500" cy="506100"/>
          </a:xfrm>
          <a:prstGeom prst="rect">
            <a:avLst/>
          </a:prstGeom>
          <a:noFill/>
          <a:ln>
            <a:noFill/>
          </a:ln>
        </p:spPr>
        <p:txBody>
          <a:bodyPr spcFirstLastPara="1" wrap="square" lIns="27425" tIns="27425" rIns="27425" bIns="27425" anchor="t" anchorCtr="0">
            <a:noAutofit/>
          </a:bodyPr>
          <a:lstStyle/>
          <a:p>
            <a:pPr marL="0" lvl="0" indent="0" algn="l" rtl="0">
              <a:spcBef>
                <a:spcPts val="0"/>
              </a:spcBef>
              <a:spcAft>
                <a:spcPts val="0"/>
              </a:spcAft>
              <a:buNone/>
            </a:pPr>
            <a:r>
              <a:rPr lang="en">
                <a:solidFill>
                  <a:schemeClr val="accent2"/>
                </a:solidFill>
                <a:latin typeface="Roboto"/>
                <a:ea typeface="Roboto"/>
                <a:cs typeface="Roboto"/>
                <a:sym typeface="Roboto"/>
              </a:rPr>
              <a:t>Resend 15–18 if timer expires,</a:t>
            </a:r>
            <a:br>
              <a:rPr lang="en">
                <a:solidFill>
                  <a:schemeClr val="accent2"/>
                </a:solidFill>
                <a:latin typeface="Roboto"/>
                <a:ea typeface="Roboto"/>
                <a:cs typeface="Roboto"/>
                <a:sym typeface="Roboto"/>
              </a:rPr>
            </a:br>
            <a:r>
              <a:rPr lang="en">
                <a:solidFill>
                  <a:schemeClr val="accent2"/>
                </a:solidFill>
                <a:latin typeface="Roboto"/>
                <a:ea typeface="Roboto"/>
                <a:cs typeface="Roboto"/>
                <a:sym typeface="Roboto"/>
              </a:rPr>
              <a:t>or if 3 copies of ack(15) received.</a:t>
            </a:r>
            <a:endParaRPr>
              <a:solidFill>
                <a:schemeClr val="accent2"/>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86"/>
        <p:cNvGrpSpPr/>
        <p:nvPr/>
      </p:nvGrpSpPr>
      <p:grpSpPr>
        <a:xfrm>
          <a:off x="0" y="0"/>
          <a:ext cx="0" cy="0"/>
          <a:chOff x="0" y="0"/>
          <a:chExt cx="0" cy="0"/>
        </a:xfrm>
      </p:grpSpPr>
      <p:sp>
        <p:nvSpPr>
          <p:cNvPr id="1287" name="Google Shape;1287;p51"/>
          <p:cNvSpPr txBox="1">
            <a:spLocks noGrp="1"/>
          </p:cNvSpPr>
          <p:nvPr>
            <p:ph type="body" idx="1"/>
          </p:nvPr>
        </p:nvSpPr>
        <p:spPr>
          <a:xfrm>
            <a:off x="4812375" y="402200"/>
            <a:ext cx="415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Implementing TCP</a:t>
            </a:r>
            <a:endParaRPr>
              <a:solidFill>
                <a:srgbClr val="B7B7B7"/>
              </a:solidFill>
            </a:endParaRPr>
          </a:p>
          <a:p>
            <a:pPr marL="457200" lvl="0" indent="-342900" algn="l" rtl="0">
              <a:spcBef>
                <a:spcPts val="600"/>
              </a:spcBef>
              <a:spcAft>
                <a:spcPts val="0"/>
              </a:spcAft>
              <a:buClr>
                <a:srgbClr val="B7B7B7"/>
              </a:buClr>
              <a:buSzPts val="1800"/>
              <a:buChar char="•"/>
            </a:pPr>
            <a:r>
              <a:rPr lang="en">
                <a:solidFill>
                  <a:srgbClr val="B7B7B7"/>
                </a:solidFill>
              </a:rPr>
              <a:t>Byte Notation</a:t>
            </a:r>
            <a:br>
              <a:rPr lang="en">
                <a:solidFill>
                  <a:srgbClr val="B7B7B7"/>
                </a:solidFill>
              </a:rPr>
            </a:br>
            <a:r>
              <a:rPr lang="en">
                <a:solidFill>
                  <a:srgbClr val="B7B7B7"/>
                </a:solidFill>
              </a:rPr>
              <a:t>(Segments, Sequence Numbers)</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Maintaining State (Full Duplex, Connection Setup and Teardown)</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Sliding Window</a:t>
            </a:r>
            <a:endParaRPr>
              <a:solidFill>
                <a:srgbClr val="B7B7B7"/>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Header</a:t>
            </a:r>
            <a:endParaRPr>
              <a:solidFill>
                <a:srgbClr val="B7B7B7"/>
              </a:solidFill>
            </a:endParaRPr>
          </a:p>
        </p:txBody>
      </p:sp>
      <p:sp>
        <p:nvSpPr>
          <p:cNvPr id="1288" name="Google Shape;1288;p51"/>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TCP Header</a:t>
            </a:r>
            <a:endParaRPr/>
          </a:p>
        </p:txBody>
      </p:sp>
      <p:sp>
        <p:nvSpPr>
          <p:cNvPr id="1289" name="Google Shape;1289;p51"/>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11, CS 168, Summer 2025</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sp>
        <p:nvSpPr>
          <p:cNvPr id="1294" name="Google Shape;1294;p5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Header</a:t>
            </a:r>
            <a:endParaRPr/>
          </a:p>
        </p:txBody>
      </p:sp>
      <p:sp>
        <p:nvSpPr>
          <p:cNvPr id="1295" name="Google Shape;1295;p52"/>
          <p:cNvSpPr txBox="1">
            <a:spLocks noGrp="1"/>
          </p:cNvSpPr>
          <p:nvPr>
            <p:ph type="body" idx="1"/>
          </p:nvPr>
        </p:nvSpPr>
        <p:spPr>
          <a:xfrm>
            <a:off x="107050" y="402200"/>
            <a:ext cx="8909700" cy="2441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What functions does TCP implement?</a:t>
            </a:r>
            <a:endParaRPr/>
          </a:p>
          <a:p>
            <a:pPr marL="457200" lvl="0" indent="-342900" algn="l" rtl="0">
              <a:spcBef>
                <a:spcPts val="600"/>
              </a:spcBef>
              <a:spcAft>
                <a:spcPts val="0"/>
              </a:spcAft>
              <a:buSzPts val="1800"/>
              <a:buAutoNum type="arabicPeriod"/>
            </a:pPr>
            <a:r>
              <a:rPr lang="en">
                <a:highlight>
                  <a:srgbClr val="F4CCCC"/>
                </a:highlight>
              </a:rPr>
              <a:t>Demultiplexing</a:t>
            </a:r>
            <a:r>
              <a:rPr lang="en"/>
              <a:t> </a:t>
            </a:r>
            <a:r>
              <a:rPr lang="en" sz="1400">
                <a:solidFill>
                  <a:schemeClr val="accent3"/>
                </a:solidFill>
              </a:rPr>
              <a:t>(</a:t>
            </a:r>
            <a:r>
              <a:rPr lang="en" sz="1400" i="1">
                <a:solidFill>
                  <a:schemeClr val="accent3"/>
                </a:solidFill>
              </a:rPr>
              <a:t>ports</a:t>
            </a:r>
            <a:r>
              <a:rPr lang="en" sz="1400">
                <a:solidFill>
                  <a:schemeClr val="accent3"/>
                </a:solidFill>
              </a:rPr>
              <a:t>)</a:t>
            </a:r>
            <a:endParaRPr sz="1400">
              <a:solidFill>
                <a:schemeClr val="accent3"/>
              </a:solidFill>
            </a:endParaRPr>
          </a:p>
          <a:p>
            <a:pPr marL="457200" lvl="0" indent="-342900" algn="l" rtl="0">
              <a:spcBef>
                <a:spcPts val="0"/>
              </a:spcBef>
              <a:spcAft>
                <a:spcPts val="0"/>
              </a:spcAft>
              <a:buSzPts val="1800"/>
              <a:buAutoNum type="arabicPeriod"/>
            </a:pPr>
            <a:r>
              <a:rPr lang="en">
                <a:highlight>
                  <a:srgbClr val="FCE5CD"/>
                </a:highlight>
              </a:rPr>
              <a:t>Reliability</a:t>
            </a:r>
            <a:r>
              <a:rPr lang="en"/>
              <a:t> </a:t>
            </a:r>
            <a:r>
              <a:rPr lang="en" sz="1400">
                <a:solidFill>
                  <a:schemeClr val="accent3"/>
                </a:solidFill>
              </a:rPr>
              <a:t>(</a:t>
            </a:r>
            <a:r>
              <a:rPr lang="en" sz="1400" i="1">
                <a:solidFill>
                  <a:schemeClr val="accent3"/>
                </a:solidFill>
              </a:rPr>
              <a:t>checksum, sequence and ack numbers</a:t>
            </a:r>
            <a:r>
              <a:rPr lang="en" sz="1400">
                <a:solidFill>
                  <a:schemeClr val="accent3"/>
                </a:solidFill>
              </a:rPr>
              <a:t>)</a:t>
            </a:r>
            <a:endParaRPr sz="1400">
              <a:solidFill>
                <a:schemeClr val="accent3"/>
              </a:solidFill>
            </a:endParaRPr>
          </a:p>
          <a:p>
            <a:pPr marL="457200" lvl="0" indent="-342900" algn="l" rtl="0">
              <a:spcBef>
                <a:spcPts val="0"/>
              </a:spcBef>
              <a:spcAft>
                <a:spcPts val="0"/>
              </a:spcAft>
              <a:buSzPts val="1800"/>
              <a:buAutoNum type="arabicPeriod"/>
            </a:pPr>
            <a:r>
              <a:rPr lang="en">
                <a:highlight>
                  <a:srgbClr val="D9EAD3"/>
                </a:highlight>
              </a:rPr>
              <a:t>Connection setup and teardown</a:t>
            </a:r>
            <a:r>
              <a:rPr lang="en"/>
              <a:t> </a:t>
            </a:r>
            <a:r>
              <a:rPr lang="en" sz="1400">
                <a:solidFill>
                  <a:schemeClr val="accent3"/>
                </a:solidFill>
              </a:rPr>
              <a:t>(</a:t>
            </a:r>
            <a:r>
              <a:rPr lang="en" sz="1400" i="1">
                <a:solidFill>
                  <a:schemeClr val="accent3"/>
                </a:solidFill>
              </a:rPr>
              <a:t>flags</a:t>
            </a:r>
            <a:r>
              <a:rPr lang="en" sz="1400">
                <a:solidFill>
                  <a:schemeClr val="accent3"/>
                </a:solidFill>
              </a:rPr>
              <a:t>)</a:t>
            </a:r>
            <a:endParaRPr sz="1400">
              <a:solidFill>
                <a:schemeClr val="accent3"/>
              </a:solidFill>
            </a:endParaRPr>
          </a:p>
          <a:p>
            <a:pPr marL="457200" lvl="0" indent="-342900" algn="l" rtl="0">
              <a:spcBef>
                <a:spcPts val="0"/>
              </a:spcBef>
              <a:spcAft>
                <a:spcPts val="0"/>
              </a:spcAft>
              <a:buSzPts val="1800"/>
              <a:buAutoNum type="arabicPeriod"/>
            </a:pPr>
            <a:r>
              <a:rPr lang="en">
                <a:highlight>
                  <a:srgbClr val="CFE2F3"/>
                </a:highlight>
              </a:rPr>
              <a:t>Flow control</a:t>
            </a:r>
            <a:r>
              <a:rPr lang="en"/>
              <a:t> </a:t>
            </a:r>
            <a:r>
              <a:rPr lang="en" sz="1400">
                <a:solidFill>
                  <a:schemeClr val="accent3"/>
                </a:solidFill>
              </a:rPr>
              <a:t>(</a:t>
            </a:r>
            <a:r>
              <a:rPr lang="en" sz="1400" i="1">
                <a:solidFill>
                  <a:schemeClr val="accent3"/>
                </a:solidFill>
              </a:rPr>
              <a:t>advertised window</a:t>
            </a:r>
            <a:r>
              <a:rPr lang="en" sz="1400">
                <a:solidFill>
                  <a:schemeClr val="accent3"/>
                </a:solidFill>
              </a:rPr>
              <a:t>)</a:t>
            </a:r>
            <a:endParaRPr sz="1400">
              <a:solidFill>
                <a:schemeClr val="accent3"/>
              </a:solidFill>
            </a:endParaRPr>
          </a:p>
        </p:txBody>
      </p:sp>
      <p:graphicFrame>
        <p:nvGraphicFramePr>
          <p:cNvPr id="1296" name="Google Shape;1296;p52"/>
          <p:cNvGraphicFramePr/>
          <p:nvPr/>
        </p:nvGraphicFramePr>
        <p:xfrm>
          <a:off x="1257300" y="3055400"/>
          <a:ext cx="3000000" cy="3000000"/>
        </p:xfrm>
        <a:graphic>
          <a:graphicData uri="http://schemas.openxmlformats.org/drawingml/2006/table">
            <a:tbl>
              <a:tblPr>
                <a:noFill/>
                <a:tableStyleId>{1F736DB2-8000-4A80-A771-95157FF95D4A}</a:tableStyleId>
              </a:tblPr>
              <a:tblGrid>
                <a:gridCol w="826150">
                  <a:extLst>
                    <a:ext uri="{9D8B030D-6E8A-4147-A177-3AD203B41FA5}">
                      <a16:colId xmlns:a16="http://schemas.microsoft.com/office/drawing/2014/main" val="20000"/>
                    </a:ext>
                  </a:extLst>
                </a:gridCol>
                <a:gridCol w="826150">
                  <a:extLst>
                    <a:ext uri="{9D8B030D-6E8A-4147-A177-3AD203B41FA5}">
                      <a16:colId xmlns:a16="http://schemas.microsoft.com/office/drawing/2014/main" val="20001"/>
                    </a:ext>
                  </a:extLst>
                </a:gridCol>
                <a:gridCol w="826150">
                  <a:extLst>
                    <a:ext uri="{9D8B030D-6E8A-4147-A177-3AD203B41FA5}">
                      <a16:colId xmlns:a16="http://schemas.microsoft.com/office/drawing/2014/main" val="20002"/>
                    </a:ext>
                  </a:extLst>
                </a:gridCol>
                <a:gridCol w="826150">
                  <a:extLst>
                    <a:ext uri="{9D8B030D-6E8A-4147-A177-3AD203B41FA5}">
                      <a16:colId xmlns:a16="http://schemas.microsoft.com/office/drawing/2014/main" val="20003"/>
                    </a:ext>
                  </a:extLst>
                </a:gridCol>
                <a:gridCol w="826150">
                  <a:extLst>
                    <a:ext uri="{9D8B030D-6E8A-4147-A177-3AD203B41FA5}">
                      <a16:colId xmlns:a16="http://schemas.microsoft.com/office/drawing/2014/main" val="20004"/>
                    </a:ext>
                  </a:extLst>
                </a:gridCol>
                <a:gridCol w="826150">
                  <a:extLst>
                    <a:ext uri="{9D8B030D-6E8A-4147-A177-3AD203B41FA5}">
                      <a16:colId xmlns:a16="http://schemas.microsoft.com/office/drawing/2014/main" val="20005"/>
                    </a:ext>
                  </a:extLst>
                </a:gridCol>
                <a:gridCol w="826150">
                  <a:extLst>
                    <a:ext uri="{9D8B030D-6E8A-4147-A177-3AD203B41FA5}">
                      <a16:colId xmlns:a16="http://schemas.microsoft.com/office/drawing/2014/main" val="20006"/>
                    </a:ext>
                  </a:extLst>
                </a:gridCol>
                <a:gridCol w="826150">
                  <a:extLst>
                    <a:ext uri="{9D8B030D-6E8A-4147-A177-3AD203B41FA5}">
                      <a16:colId xmlns:a16="http://schemas.microsoft.com/office/drawing/2014/main" val="20007"/>
                    </a:ext>
                  </a:extLst>
                </a:gridCol>
              </a:tblGrid>
              <a:tr h="205675">
                <a:tc gridSpan="4">
                  <a:txBody>
                    <a:bodyPr/>
                    <a:lstStyle/>
                    <a:p>
                      <a:pPr marL="0" lvl="0" indent="0" algn="ctr" rtl="0">
                        <a:spcBef>
                          <a:spcPts val="0"/>
                        </a:spcBef>
                        <a:spcAft>
                          <a:spcPts val="0"/>
                        </a:spcAft>
                        <a:buNone/>
                      </a:pPr>
                      <a:r>
                        <a:rPr lang="en">
                          <a:latin typeface="Roboto"/>
                          <a:ea typeface="Roboto"/>
                          <a:cs typeface="Roboto"/>
                          <a:sym typeface="Roboto"/>
                        </a:rPr>
                        <a:t>Source Port (16)</a:t>
                      </a:r>
                      <a:endParaRPr>
                        <a:latin typeface="Roboto"/>
                        <a:ea typeface="Roboto"/>
                        <a:cs typeface="Roboto"/>
                        <a:sym typeface="Roboto"/>
                      </a:endParaRPr>
                    </a:p>
                  </a:txBody>
                  <a:tcPr marL="27425" marR="27425" marT="27425" marB="27425" anchor="ctr">
                    <a:solidFill>
                      <a:srgbClr val="F4CCCC"/>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Destination Port (16)</a:t>
                      </a:r>
                      <a:endParaRPr>
                        <a:latin typeface="Roboto"/>
                        <a:ea typeface="Roboto"/>
                        <a:cs typeface="Roboto"/>
                        <a:sym typeface="Roboto"/>
                      </a:endParaRPr>
                    </a:p>
                  </a:txBody>
                  <a:tcPr marL="27425" marR="27425" marT="27425" marB="27425" anchor="ctr">
                    <a:solidFill>
                      <a:srgbClr val="F4CCCC"/>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Sequence Number (32)</a:t>
                      </a:r>
                      <a:endParaRPr>
                        <a:latin typeface="Roboto"/>
                        <a:ea typeface="Roboto"/>
                        <a:cs typeface="Roboto"/>
                        <a:sym typeface="Roboto"/>
                      </a:endParaRPr>
                    </a:p>
                  </a:txBody>
                  <a:tcPr marL="27425" marR="27425" marT="27425" marB="27425" anchor="ctr">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Acknowledgment Number (32)</a:t>
                      </a:r>
                      <a:endParaRPr>
                        <a:latin typeface="Roboto"/>
                        <a:ea typeface="Roboto"/>
                        <a:cs typeface="Roboto"/>
                        <a:sym typeface="Roboto"/>
                      </a:endParaRPr>
                    </a:p>
                  </a:txBody>
                  <a:tcPr marL="27425" marR="27425" marT="27425" marB="27425" anchor="ctr">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05675">
                <a:tc>
                  <a:txBody>
                    <a:bodyPr/>
                    <a:lstStyle/>
                    <a:p>
                      <a:pPr marL="0" lvl="0" indent="0" algn="ctr" rtl="0">
                        <a:spcBef>
                          <a:spcPts val="0"/>
                        </a:spcBef>
                        <a:spcAft>
                          <a:spcPts val="0"/>
                        </a:spcAft>
                        <a:buNone/>
                      </a:pPr>
                      <a:r>
                        <a:rPr lang="en" sz="1200">
                          <a:latin typeface="Roboto"/>
                          <a:ea typeface="Roboto"/>
                          <a:cs typeface="Roboto"/>
                          <a:sym typeface="Roboto"/>
                        </a:rPr>
                        <a:t>Hdr Len (4)</a:t>
                      </a:r>
                      <a:endParaRPr sz="1200">
                        <a:latin typeface="Roboto"/>
                        <a:ea typeface="Roboto"/>
                        <a:cs typeface="Roboto"/>
                        <a:sym typeface="Roboto"/>
                      </a:endParaRPr>
                    </a:p>
                  </a:txBody>
                  <a:tcPr marL="27425" marR="27425" marT="27425" marB="27425" anchor="ctr"/>
                </a:tc>
                <a:tc>
                  <a:txBody>
                    <a:bodyPr/>
                    <a:lstStyle/>
                    <a:p>
                      <a:pPr marL="0" lvl="0" indent="0" algn="ctr" rtl="0">
                        <a:spcBef>
                          <a:spcPts val="0"/>
                        </a:spcBef>
                        <a:spcAft>
                          <a:spcPts val="0"/>
                        </a:spcAft>
                        <a:buNone/>
                      </a:pPr>
                      <a:r>
                        <a:rPr lang="en">
                          <a:latin typeface="Consolas"/>
                          <a:ea typeface="Consolas"/>
                          <a:cs typeface="Consolas"/>
                          <a:sym typeface="Consolas"/>
                        </a:rPr>
                        <a:t>0000</a:t>
                      </a:r>
                      <a:endParaRPr>
                        <a:latin typeface="Consolas"/>
                        <a:ea typeface="Consolas"/>
                        <a:cs typeface="Consolas"/>
                        <a:sym typeface="Consolas"/>
                      </a:endParaRPr>
                    </a:p>
                  </a:txBody>
                  <a:tcPr marL="27425" marR="27425" marT="27425" marB="27425" anchor="ctr"/>
                </a:tc>
                <a:tc gridSpan="2">
                  <a:txBody>
                    <a:bodyPr/>
                    <a:lstStyle/>
                    <a:p>
                      <a:pPr marL="0" lvl="0" indent="0" algn="ctr" rtl="0">
                        <a:spcBef>
                          <a:spcPts val="0"/>
                        </a:spcBef>
                        <a:spcAft>
                          <a:spcPts val="0"/>
                        </a:spcAft>
                        <a:buNone/>
                      </a:pPr>
                      <a:r>
                        <a:rPr lang="en">
                          <a:latin typeface="Roboto"/>
                          <a:ea typeface="Roboto"/>
                          <a:cs typeface="Roboto"/>
                          <a:sym typeface="Roboto"/>
                        </a:rPr>
                        <a:t>Flags (8)</a:t>
                      </a:r>
                      <a:endParaRPr>
                        <a:latin typeface="Roboto"/>
                        <a:ea typeface="Roboto"/>
                        <a:cs typeface="Roboto"/>
                        <a:sym typeface="Roboto"/>
                      </a:endParaRPr>
                    </a:p>
                  </a:txBody>
                  <a:tcPr marL="27425" marR="27425" marT="27425" marB="27425" anchor="ctr">
                    <a:solidFill>
                      <a:srgbClr val="D9EAD3"/>
                    </a:solidFill>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Advertised Window (16)</a:t>
                      </a:r>
                      <a:endParaRPr>
                        <a:latin typeface="Roboto"/>
                        <a:ea typeface="Roboto"/>
                        <a:cs typeface="Roboto"/>
                        <a:sym typeface="Roboto"/>
                      </a:endParaRPr>
                    </a:p>
                  </a:txBody>
                  <a:tcPr marL="27425" marR="27425" marT="27425" marB="27425" anchor="ctr">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205675">
                <a:tc gridSpan="4">
                  <a:txBody>
                    <a:bodyPr/>
                    <a:lstStyle/>
                    <a:p>
                      <a:pPr marL="0" lvl="0" indent="0" algn="ctr" rtl="0">
                        <a:spcBef>
                          <a:spcPts val="0"/>
                        </a:spcBef>
                        <a:spcAft>
                          <a:spcPts val="0"/>
                        </a:spcAft>
                        <a:buNone/>
                      </a:pPr>
                      <a:r>
                        <a:rPr lang="en">
                          <a:latin typeface="Roboto"/>
                          <a:ea typeface="Roboto"/>
                          <a:cs typeface="Roboto"/>
                          <a:sym typeface="Roboto"/>
                        </a:rPr>
                        <a:t>Checksum (16)</a:t>
                      </a:r>
                      <a:endParaRPr>
                        <a:latin typeface="Roboto"/>
                        <a:ea typeface="Roboto"/>
                        <a:cs typeface="Roboto"/>
                        <a:sym typeface="Roboto"/>
                      </a:endParaRPr>
                    </a:p>
                  </a:txBody>
                  <a:tcPr marL="27425" marR="27425" marT="27425" marB="27425" anchor="ctr">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Urgent Pointer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Options (variable-length)</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00"/>
        <p:cNvGrpSpPr/>
        <p:nvPr/>
      </p:nvGrpSpPr>
      <p:grpSpPr>
        <a:xfrm>
          <a:off x="0" y="0"/>
          <a:ext cx="0" cy="0"/>
          <a:chOff x="0" y="0"/>
          <a:chExt cx="0" cy="0"/>
        </a:xfrm>
      </p:grpSpPr>
      <p:sp>
        <p:nvSpPr>
          <p:cNvPr id="1301" name="Google Shape;1301;p5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Header</a:t>
            </a:r>
            <a:endParaRPr/>
          </a:p>
        </p:txBody>
      </p:sp>
      <p:sp>
        <p:nvSpPr>
          <p:cNvPr id="1302" name="Google Shape;1302;p53"/>
          <p:cNvSpPr txBox="1">
            <a:spLocks noGrp="1"/>
          </p:cNvSpPr>
          <p:nvPr>
            <p:ph type="body" idx="1"/>
          </p:nvPr>
        </p:nvSpPr>
        <p:spPr>
          <a:xfrm>
            <a:off x="107050" y="402200"/>
            <a:ext cx="8909700" cy="2441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There are 8 flags that can be set in TCP. We care about 4 of them:</a:t>
            </a:r>
            <a:endParaRPr/>
          </a:p>
          <a:p>
            <a:pPr marL="457200" lvl="0" indent="-342900" algn="l" rtl="0">
              <a:spcBef>
                <a:spcPts val="600"/>
              </a:spcBef>
              <a:spcAft>
                <a:spcPts val="0"/>
              </a:spcAft>
              <a:buSzPts val="1800"/>
              <a:buChar char="●"/>
            </a:pPr>
            <a:r>
              <a:rPr lang="en"/>
              <a:t>SYN: I'm sending my initial sequence number.</a:t>
            </a:r>
            <a:endParaRPr/>
          </a:p>
          <a:p>
            <a:pPr marL="457200" lvl="0" indent="-342900" algn="l" rtl="0">
              <a:spcBef>
                <a:spcPts val="0"/>
              </a:spcBef>
              <a:spcAft>
                <a:spcPts val="0"/>
              </a:spcAft>
              <a:buSzPts val="1800"/>
              <a:buChar char="●"/>
            </a:pPr>
            <a:r>
              <a:rPr lang="en"/>
              <a:t>ACK: I'm acking data (please look at the ack number).</a:t>
            </a:r>
            <a:endParaRPr/>
          </a:p>
          <a:p>
            <a:pPr marL="457200" lvl="0" indent="-342900" algn="l" rtl="0">
              <a:spcBef>
                <a:spcPts val="0"/>
              </a:spcBef>
              <a:spcAft>
                <a:spcPts val="0"/>
              </a:spcAft>
              <a:buSzPts val="1800"/>
              <a:buChar char="●"/>
            </a:pPr>
            <a:r>
              <a:rPr lang="en"/>
              <a:t>FIN: I'm done sending data, but will keep receiving data.</a:t>
            </a:r>
            <a:endParaRPr/>
          </a:p>
          <a:p>
            <a:pPr marL="457200" lvl="0" indent="-342900" algn="l" rtl="0">
              <a:spcBef>
                <a:spcPts val="0"/>
              </a:spcBef>
              <a:spcAft>
                <a:spcPts val="0"/>
              </a:spcAft>
              <a:buSzPts val="1800"/>
              <a:buChar char="●"/>
            </a:pPr>
            <a:r>
              <a:rPr lang="en"/>
              <a:t>RST: I'm done sending and receiving data.</a:t>
            </a:r>
            <a:endParaRPr/>
          </a:p>
          <a:p>
            <a:pPr marL="0" lvl="0" indent="0" algn="l" rtl="0">
              <a:spcBef>
                <a:spcPts val="600"/>
              </a:spcBef>
              <a:spcAft>
                <a:spcPts val="0"/>
              </a:spcAft>
              <a:buNone/>
            </a:pPr>
            <a:r>
              <a:rPr lang="en"/>
              <a:t>We won't look at the other four: CWR, ECE, URG, PSH.</a:t>
            </a:r>
            <a:endParaRPr/>
          </a:p>
        </p:txBody>
      </p:sp>
      <p:graphicFrame>
        <p:nvGraphicFramePr>
          <p:cNvPr id="1303" name="Google Shape;1303;p53"/>
          <p:cNvGraphicFramePr/>
          <p:nvPr/>
        </p:nvGraphicFramePr>
        <p:xfrm>
          <a:off x="1257300" y="3055400"/>
          <a:ext cx="3000000" cy="3000000"/>
        </p:xfrm>
        <a:graphic>
          <a:graphicData uri="http://schemas.openxmlformats.org/drawingml/2006/table">
            <a:tbl>
              <a:tblPr>
                <a:noFill/>
                <a:tableStyleId>{1F736DB2-8000-4A80-A771-95157FF95D4A}</a:tableStyleId>
              </a:tblPr>
              <a:tblGrid>
                <a:gridCol w="826150">
                  <a:extLst>
                    <a:ext uri="{9D8B030D-6E8A-4147-A177-3AD203B41FA5}">
                      <a16:colId xmlns:a16="http://schemas.microsoft.com/office/drawing/2014/main" val="20000"/>
                    </a:ext>
                  </a:extLst>
                </a:gridCol>
                <a:gridCol w="826150">
                  <a:extLst>
                    <a:ext uri="{9D8B030D-6E8A-4147-A177-3AD203B41FA5}">
                      <a16:colId xmlns:a16="http://schemas.microsoft.com/office/drawing/2014/main" val="20001"/>
                    </a:ext>
                  </a:extLst>
                </a:gridCol>
                <a:gridCol w="826150">
                  <a:extLst>
                    <a:ext uri="{9D8B030D-6E8A-4147-A177-3AD203B41FA5}">
                      <a16:colId xmlns:a16="http://schemas.microsoft.com/office/drawing/2014/main" val="20002"/>
                    </a:ext>
                  </a:extLst>
                </a:gridCol>
                <a:gridCol w="826150">
                  <a:extLst>
                    <a:ext uri="{9D8B030D-6E8A-4147-A177-3AD203B41FA5}">
                      <a16:colId xmlns:a16="http://schemas.microsoft.com/office/drawing/2014/main" val="20003"/>
                    </a:ext>
                  </a:extLst>
                </a:gridCol>
                <a:gridCol w="826150">
                  <a:extLst>
                    <a:ext uri="{9D8B030D-6E8A-4147-A177-3AD203B41FA5}">
                      <a16:colId xmlns:a16="http://schemas.microsoft.com/office/drawing/2014/main" val="20004"/>
                    </a:ext>
                  </a:extLst>
                </a:gridCol>
                <a:gridCol w="826150">
                  <a:extLst>
                    <a:ext uri="{9D8B030D-6E8A-4147-A177-3AD203B41FA5}">
                      <a16:colId xmlns:a16="http://schemas.microsoft.com/office/drawing/2014/main" val="20005"/>
                    </a:ext>
                  </a:extLst>
                </a:gridCol>
                <a:gridCol w="826150">
                  <a:extLst>
                    <a:ext uri="{9D8B030D-6E8A-4147-A177-3AD203B41FA5}">
                      <a16:colId xmlns:a16="http://schemas.microsoft.com/office/drawing/2014/main" val="20006"/>
                    </a:ext>
                  </a:extLst>
                </a:gridCol>
                <a:gridCol w="826150">
                  <a:extLst>
                    <a:ext uri="{9D8B030D-6E8A-4147-A177-3AD203B41FA5}">
                      <a16:colId xmlns:a16="http://schemas.microsoft.com/office/drawing/2014/main" val="20007"/>
                    </a:ext>
                  </a:extLst>
                </a:gridCol>
              </a:tblGrid>
              <a:tr h="205675">
                <a:tc gridSpan="4">
                  <a:txBody>
                    <a:bodyPr/>
                    <a:lstStyle/>
                    <a:p>
                      <a:pPr marL="0" lvl="0" indent="0" algn="ctr" rtl="0">
                        <a:spcBef>
                          <a:spcPts val="0"/>
                        </a:spcBef>
                        <a:spcAft>
                          <a:spcPts val="0"/>
                        </a:spcAft>
                        <a:buNone/>
                      </a:pPr>
                      <a:r>
                        <a:rPr lang="en">
                          <a:latin typeface="Roboto"/>
                          <a:ea typeface="Roboto"/>
                          <a:cs typeface="Roboto"/>
                          <a:sym typeface="Roboto"/>
                        </a:rPr>
                        <a:t>Source Port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Destination Port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Sequence Number (32)</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Acknowledgment Number (32)</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05675">
                <a:tc>
                  <a:txBody>
                    <a:bodyPr/>
                    <a:lstStyle/>
                    <a:p>
                      <a:pPr marL="0" lvl="0" indent="0" algn="ctr" rtl="0">
                        <a:spcBef>
                          <a:spcPts val="0"/>
                        </a:spcBef>
                        <a:spcAft>
                          <a:spcPts val="0"/>
                        </a:spcAft>
                        <a:buNone/>
                      </a:pPr>
                      <a:r>
                        <a:rPr lang="en" sz="1200">
                          <a:latin typeface="Roboto"/>
                          <a:ea typeface="Roboto"/>
                          <a:cs typeface="Roboto"/>
                          <a:sym typeface="Roboto"/>
                        </a:rPr>
                        <a:t>Hdr Len (4)</a:t>
                      </a:r>
                      <a:endParaRPr sz="1200">
                        <a:latin typeface="Roboto"/>
                        <a:ea typeface="Roboto"/>
                        <a:cs typeface="Roboto"/>
                        <a:sym typeface="Roboto"/>
                      </a:endParaRPr>
                    </a:p>
                  </a:txBody>
                  <a:tcPr marL="27425" marR="27425" marT="27425" marB="27425" anchor="ctr"/>
                </a:tc>
                <a:tc>
                  <a:txBody>
                    <a:bodyPr/>
                    <a:lstStyle/>
                    <a:p>
                      <a:pPr marL="0" lvl="0" indent="0" algn="ctr" rtl="0">
                        <a:spcBef>
                          <a:spcPts val="0"/>
                        </a:spcBef>
                        <a:spcAft>
                          <a:spcPts val="0"/>
                        </a:spcAft>
                        <a:buNone/>
                      </a:pPr>
                      <a:r>
                        <a:rPr lang="en">
                          <a:latin typeface="Consolas"/>
                          <a:ea typeface="Consolas"/>
                          <a:cs typeface="Consolas"/>
                          <a:sym typeface="Consolas"/>
                        </a:rPr>
                        <a:t>0000</a:t>
                      </a:r>
                      <a:endParaRPr>
                        <a:latin typeface="Consolas"/>
                        <a:ea typeface="Consolas"/>
                        <a:cs typeface="Consolas"/>
                        <a:sym typeface="Consolas"/>
                      </a:endParaRPr>
                    </a:p>
                  </a:txBody>
                  <a:tcPr marL="27425" marR="27425" marT="27425" marB="27425" anchor="ctr"/>
                </a:tc>
                <a:tc gridSpan="2">
                  <a:txBody>
                    <a:bodyPr/>
                    <a:lstStyle/>
                    <a:p>
                      <a:pPr marL="0" lvl="0" indent="0" algn="ctr" rtl="0">
                        <a:spcBef>
                          <a:spcPts val="0"/>
                        </a:spcBef>
                        <a:spcAft>
                          <a:spcPts val="0"/>
                        </a:spcAft>
                        <a:buNone/>
                      </a:pPr>
                      <a:r>
                        <a:rPr lang="en">
                          <a:latin typeface="Roboto"/>
                          <a:ea typeface="Roboto"/>
                          <a:cs typeface="Roboto"/>
                          <a:sym typeface="Roboto"/>
                        </a:rPr>
                        <a:t>Flags (8)</a:t>
                      </a:r>
                      <a:endParaRPr>
                        <a:latin typeface="Roboto"/>
                        <a:ea typeface="Roboto"/>
                        <a:cs typeface="Roboto"/>
                        <a:sym typeface="Roboto"/>
                      </a:endParaRPr>
                    </a:p>
                  </a:txBody>
                  <a:tcPr marL="27425" marR="27425" marT="27425" marB="27425" anchor="ctr">
                    <a:solidFill>
                      <a:srgbClr val="D9EAD3"/>
                    </a:solidFill>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Advertised Window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205675">
                <a:tc gridSpan="4">
                  <a:txBody>
                    <a:bodyPr/>
                    <a:lstStyle/>
                    <a:p>
                      <a:pPr marL="0" lvl="0" indent="0" algn="ctr" rtl="0">
                        <a:spcBef>
                          <a:spcPts val="0"/>
                        </a:spcBef>
                        <a:spcAft>
                          <a:spcPts val="0"/>
                        </a:spcAft>
                        <a:buNone/>
                      </a:pPr>
                      <a:r>
                        <a:rPr lang="en">
                          <a:latin typeface="Roboto"/>
                          <a:ea typeface="Roboto"/>
                          <a:cs typeface="Roboto"/>
                          <a:sym typeface="Roboto"/>
                        </a:rPr>
                        <a:t>Checksum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Urgent Pointer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Options (variable-length)</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07"/>
        <p:cNvGrpSpPr/>
        <p:nvPr/>
      </p:nvGrpSpPr>
      <p:grpSpPr>
        <a:xfrm>
          <a:off x="0" y="0"/>
          <a:ext cx="0" cy="0"/>
          <a:chOff x="0" y="0"/>
          <a:chExt cx="0" cy="0"/>
        </a:xfrm>
      </p:grpSpPr>
      <p:sp>
        <p:nvSpPr>
          <p:cNvPr id="1308" name="Google Shape;1308;p5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Header</a:t>
            </a:r>
            <a:endParaRPr/>
          </a:p>
        </p:txBody>
      </p:sp>
      <p:sp>
        <p:nvSpPr>
          <p:cNvPr id="1309" name="Google Shape;1309;p54"/>
          <p:cNvSpPr txBox="1">
            <a:spLocks noGrp="1"/>
          </p:cNvSpPr>
          <p:nvPr>
            <p:ph type="body" idx="1"/>
          </p:nvPr>
        </p:nvSpPr>
        <p:spPr>
          <a:xfrm>
            <a:off x="107050" y="402200"/>
            <a:ext cx="8909700" cy="24411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Remaining fields:</a:t>
            </a:r>
            <a:endParaRPr/>
          </a:p>
          <a:p>
            <a:pPr marL="457200" lvl="0" indent="-342900" algn="l" rtl="0">
              <a:spcBef>
                <a:spcPts val="600"/>
              </a:spcBef>
              <a:spcAft>
                <a:spcPts val="0"/>
              </a:spcAft>
              <a:buSzPts val="1800"/>
              <a:buChar char="●"/>
            </a:pPr>
            <a:r>
              <a:rPr lang="en"/>
              <a:t>Header length: Measured in 4-byte words.</a:t>
            </a:r>
            <a:endParaRPr/>
          </a:p>
          <a:p>
            <a:pPr marL="914400" lvl="1" indent="-342900" algn="l" rtl="0">
              <a:spcBef>
                <a:spcPts val="0"/>
              </a:spcBef>
              <a:spcAft>
                <a:spcPts val="0"/>
              </a:spcAft>
              <a:buSzPts val="1800"/>
              <a:buChar char="○"/>
            </a:pPr>
            <a:r>
              <a:rPr lang="en"/>
              <a:t>If no options, this is 5 (header is 20 bytes long).</a:t>
            </a:r>
            <a:endParaRPr/>
          </a:p>
          <a:p>
            <a:pPr marL="457200" lvl="0" indent="-342900" algn="l" rtl="0">
              <a:spcBef>
                <a:spcPts val="0"/>
              </a:spcBef>
              <a:spcAft>
                <a:spcPts val="0"/>
              </a:spcAft>
              <a:buSzPts val="1800"/>
              <a:buChar char="●"/>
            </a:pPr>
            <a:r>
              <a:rPr lang="en">
                <a:latin typeface="Consolas"/>
                <a:ea typeface="Consolas"/>
                <a:cs typeface="Consolas"/>
                <a:sym typeface="Consolas"/>
              </a:rPr>
              <a:t>0000</a:t>
            </a:r>
            <a:r>
              <a:rPr lang="en"/>
              <a:t>: Reserved bits (always set to 0).</a:t>
            </a:r>
            <a:endParaRPr/>
          </a:p>
          <a:p>
            <a:pPr marL="457200" lvl="0" indent="-342900" algn="l" rtl="0">
              <a:spcBef>
                <a:spcPts val="0"/>
              </a:spcBef>
              <a:spcAft>
                <a:spcPts val="0"/>
              </a:spcAft>
              <a:buSzPts val="1800"/>
              <a:buChar char="●"/>
            </a:pPr>
            <a:r>
              <a:rPr lang="en"/>
              <a:t>Urgent pointer: Used with the URG flag to indicate urgent data. Won't discuss.</a:t>
            </a:r>
            <a:endParaRPr/>
          </a:p>
          <a:p>
            <a:pPr marL="457200" lvl="0" indent="-342900" algn="l" rtl="0">
              <a:spcBef>
                <a:spcPts val="0"/>
              </a:spcBef>
              <a:spcAft>
                <a:spcPts val="0"/>
              </a:spcAft>
              <a:buSzPts val="1800"/>
              <a:buChar char="●"/>
            </a:pPr>
            <a:r>
              <a:rPr lang="en"/>
              <a:t>Options: Extra functionality.</a:t>
            </a:r>
            <a:endParaRPr/>
          </a:p>
          <a:p>
            <a:pPr marL="914400" lvl="1" indent="-342900" algn="l" rtl="0">
              <a:spcBef>
                <a:spcPts val="0"/>
              </a:spcBef>
              <a:spcAft>
                <a:spcPts val="0"/>
              </a:spcAft>
              <a:buSzPts val="1800"/>
              <a:buChar char="○"/>
            </a:pPr>
            <a:r>
              <a:rPr lang="en"/>
              <a:t>Example: SACK uses the options field to implement full-information acks.</a:t>
            </a:r>
            <a:endParaRPr/>
          </a:p>
        </p:txBody>
      </p:sp>
      <p:graphicFrame>
        <p:nvGraphicFramePr>
          <p:cNvPr id="1310" name="Google Shape;1310;p54"/>
          <p:cNvGraphicFramePr/>
          <p:nvPr/>
        </p:nvGraphicFramePr>
        <p:xfrm>
          <a:off x="1257300" y="3055400"/>
          <a:ext cx="3000000" cy="3000000"/>
        </p:xfrm>
        <a:graphic>
          <a:graphicData uri="http://schemas.openxmlformats.org/drawingml/2006/table">
            <a:tbl>
              <a:tblPr>
                <a:noFill/>
                <a:tableStyleId>{1F736DB2-8000-4A80-A771-95157FF95D4A}</a:tableStyleId>
              </a:tblPr>
              <a:tblGrid>
                <a:gridCol w="826150">
                  <a:extLst>
                    <a:ext uri="{9D8B030D-6E8A-4147-A177-3AD203B41FA5}">
                      <a16:colId xmlns:a16="http://schemas.microsoft.com/office/drawing/2014/main" val="20000"/>
                    </a:ext>
                  </a:extLst>
                </a:gridCol>
                <a:gridCol w="826150">
                  <a:extLst>
                    <a:ext uri="{9D8B030D-6E8A-4147-A177-3AD203B41FA5}">
                      <a16:colId xmlns:a16="http://schemas.microsoft.com/office/drawing/2014/main" val="20001"/>
                    </a:ext>
                  </a:extLst>
                </a:gridCol>
                <a:gridCol w="826150">
                  <a:extLst>
                    <a:ext uri="{9D8B030D-6E8A-4147-A177-3AD203B41FA5}">
                      <a16:colId xmlns:a16="http://schemas.microsoft.com/office/drawing/2014/main" val="20002"/>
                    </a:ext>
                  </a:extLst>
                </a:gridCol>
                <a:gridCol w="826150">
                  <a:extLst>
                    <a:ext uri="{9D8B030D-6E8A-4147-A177-3AD203B41FA5}">
                      <a16:colId xmlns:a16="http://schemas.microsoft.com/office/drawing/2014/main" val="20003"/>
                    </a:ext>
                  </a:extLst>
                </a:gridCol>
                <a:gridCol w="826150">
                  <a:extLst>
                    <a:ext uri="{9D8B030D-6E8A-4147-A177-3AD203B41FA5}">
                      <a16:colId xmlns:a16="http://schemas.microsoft.com/office/drawing/2014/main" val="20004"/>
                    </a:ext>
                  </a:extLst>
                </a:gridCol>
                <a:gridCol w="826150">
                  <a:extLst>
                    <a:ext uri="{9D8B030D-6E8A-4147-A177-3AD203B41FA5}">
                      <a16:colId xmlns:a16="http://schemas.microsoft.com/office/drawing/2014/main" val="20005"/>
                    </a:ext>
                  </a:extLst>
                </a:gridCol>
                <a:gridCol w="826150">
                  <a:extLst>
                    <a:ext uri="{9D8B030D-6E8A-4147-A177-3AD203B41FA5}">
                      <a16:colId xmlns:a16="http://schemas.microsoft.com/office/drawing/2014/main" val="20006"/>
                    </a:ext>
                  </a:extLst>
                </a:gridCol>
                <a:gridCol w="826150">
                  <a:extLst>
                    <a:ext uri="{9D8B030D-6E8A-4147-A177-3AD203B41FA5}">
                      <a16:colId xmlns:a16="http://schemas.microsoft.com/office/drawing/2014/main" val="20007"/>
                    </a:ext>
                  </a:extLst>
                </a:gridCol>
              </a:tblGrid>
              <a:tr h="205675">
                <a:tc gridSpan="4">
                  <a:txBody>
                    <a:bodyPr/>
                    <a:lstStyle/>
                    <a:p>
                      <a:pPr marL="0" lvl="0" indent="0" algn="ctr" rtl="0">
                        <a:spcBef>
                          <a:spcPts val="0"/>
                        </a:spcBef>
                        <a:spcAft>
                          <a:spcPts val="0"/>
                        </a:spcAft>
                        <a:buNone/>
                      </a:pPr>
                      <a:r>
                        <a:rPr lang="en">
                          <a:latin typeface="Roboto"/>
                          <a:ea typeface="Roboto"/>
                          <a:cs typeface="Roboto"/>
                          <a:sym typeface="Roboto"/>
                        </a:rPr>
                        <a:t>Source Port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Destination Port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Sequence Number (32)</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Acknowledgment Number (32)</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205675">
                <a:tc>
                  <a:txBody>
                    <a:bodyPr/>
                    <a:lstStyle/>
                    <a:p>
                      <a:pPr marL="0" lvl="0" indent="0" algn="ctr" rtl="0">
                        <a:spcBef>
                          <a:spcPts val="0"/>
                        </a:spcBef>
                        <a:spcAft>
                          <a:spcPts val="0"/>
                        </a:spcAft>
                        <a:buNone/>
                      </a:pPr>
                      <a:r>
                        <a:rPr lang="en" sz="1200">
                          <a:latin typeface="Roboto"/>
                          <a:ea typeface="Roboto"/>
                          <a:cs typeface="Roboto"/>
                          <a:sym typeface="Roboto"/>
                        </a:rPr>
                        <a:t>Hdr Len (4)</a:t>
                      </a:r>
                      <a:endParaRPr sz="1200">
                        <a:latin typeface="Roboto"/>
                        <a:ea typeface="Roboto"/>
                        <a:cs typeface="Roboto"/>
                        <a:sym typeface="Roboto"/>
                      </a:endParaRPr>
                    </a:p>
                  </a:txBody>
                  <a:tcPr marL="27425" marR="27425" marT="27425" marB="27425" anchor="ctr">
                    <a:solidFill>
                      <a:srgbClr val="D9D9D9"/>
                    </a:solidFill>
                  </a:tcPr>
                </a:tc>
                <a:tc>
                  <a:txBody>
                    <a:bodyPr/>
                    <a:lstStyle/>
                    <a:p>
                      <a:pPr marL="0" lvl="0" indent="0" algn="ctr" rtl="0">
                        <a:spcBef>
                          <a:spcPts val="0"/>
                        </a:spcBef>
                        <a:spcAft>
                          <a:spcPts val="0"/>
                        </a:spcAft>
                        <a:buNone/>
                      </a:pPr>
                      <a:r>
                        <a:rPr lang="en">
                          <a:latin typeface="Consolas"/>
                          <a:ea typeface="Consolas"/>
                          <a:cs typeface="Consolas"/>
                          <a:sym typeface="Consolas"/>
                        </a:rPr>
                        <a:t>0000</a:t>
                      </a:r>
                      <a:endParaRPr>
                        <a:latin typeface="Consolas"/>
                        <a:ea typeface="Consolas"/>
                        <a:cs typeface="Consolas"/>
                        <a:sym typeface="Consolas"/>
                      </a:endParaRPr>
                    </a:p>
                  </a:txBody>
                  <a:tcPr marL="27425" marR="27425" marT="27425" marB="27425" anchor="ctr">
                    <a:solidFill>
                      <a:srgbClr val="D9D9D9"/>
                    </a:solidFill>
                  </a:tcPr>
                </a:tc>
                <a:tc gridSpan="2">
                  <a:txBody>
                    <a:bodyPr/>
                    <a:lstStyle/>
                    <a:p>
                      <a:pPr marL="0" lvl="0" indent="0" algn="ctr" rtl="0">
                        <a:spcBef>
                          <a:spcPts val="0"/>
                        </a:spcBef>
                        <a:spcAft>
                          <a:spcPts val="0"/>
                        </a:spcAft>
                        <a:buNone/>
                      </a:pPr>
                      <a:r>
                        <a:rPr lang="en">
                          <a:latin typeface="Roboto"/>
                          <a:ea typeface="Roboto"/>
                          <a:cs typeface="Roboto"/>
                          <a:sym typeface="Roboto"/>
                        </a:rPr>
                        <a:t>Flags (8)</a:t>
                      </a:r>
                      <a:endParaRPr>
                        <a:latin typeface="Roboto"/>
                        <a:ea typeface="Roboto"/>
                        <a:cs typeface="Roboto"/>
                        <a:sym typeface="Roboto"/>
                      </a:endParaRPr>
                    </a:p>
                  </a:txBody>
                  <a:tcPr marL="27425" marR="27425" marT="27425" marB="27425" anchor="ct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Advertised Window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205675">
                <a:tc gridSpan="4">
                  <a:txBody>
                    <a:bodyPr/>
                    <a:lstStyle/>
                    <a:p>
                      <a:pPr marL="0" lvl="0" indent="0" algn="ctr" rtl="0">
                        <a:spcBef>
                          <a:spcPts val="0"/>
                        </a:spcBef>
                        <a:spcAft>
                          <a:spcPts val="0"/>
                        </a:spcAft>
                        <a:buNone/>
                      </a:pPr>
                      <a:r>
                        <a:rPr lang="en">
                          <a:latin typeface="Roboto"/>
                          <a:ea typeface="Roboto"/>
                          <a:cs typeface="Roboto"/>
                          <a:sym typeface="Roboto"/>
                        </a:rPr>
                        <a:t>Checksum (16)</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lvl="0" indent="0" algn="ctr" rtl="0">
                        <a:spcBef>
                          <a:spcPts val="0"/>
                        </a:spcBef>
                        <a:spcAft>
                          <a:spcPts val="0"/>
                        </a:spcAft>
                        <a:buNone/>
                      </a:pPr>
                      <a:r>
                        <a:rPr lang="en">
                          <a:latin typeface="Roboto"/>
                          <a:ea typeface="Roboto"/>
                          <a:cs typeface="Roboto"/>
                          <a:sym typeface="Roboto"/>
                        </a:rPr>
                        <a:t>Urgent Pointer (16)</a:t>
                      </a:r>
                      <a:endParaRPr>
                        <a:latin typeface="Roboto"/>
                        <a:ea typeface="Roboto"/>
                        <a:cs typeface="Roboto"/>
                        <a:sym typeface="Roboto"/>
                      </a:endParaRPr>
                    </a:p>
                  </a:txBody>
                  <a:tcPr marL="27425" marR="27425" marT="27425" marB="27425" anchor="ctr">
                    <a:solidFill>
                      <a:srgbClr val="D9D9D9"/>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Options (variable-length)</a:t>
                      </a:r>
                      <a:endParaRPr>
                        <a:latin typeface="Roboto"/>
                        <a:ea typeface="Roboto"/>
                        <a:cs typeface="Roboto"/>
                        <a:sym typeface="Roboto"/>
                      </a:endParaRPr>
                    </a:p>
                  </a:txBody>
                  <a:tcPr marL="27425" marR="27425" marT="27425" marB="27425" anchor="ctr">
                    <a:solidFill>
                      <a:srgbClr val="D9D9D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205675">
                <a:tc gridSpan="8">
                  <a:txBody>
                    <a:bodyPr/>
                    <a:lstStyle/>
                    <a:p>
                      <a:pPr marL="0" lvl="0" indent="0" algn="ctr" rtl="0">
                        <a:spcBef>
                          <a:spcPts val="0"/>
                        </a:spcBef>
                        <a:spcAft>
                          <a:spcPts val="0"/>
                        </a:spcAft>
                        <a:buNone/>
                      </a:pPr>
                      <a:r>
                        <a:rPr lang="en">
                          <a:latin typeface="Roboto"/>
                          <a:ea typeface="Roboto"/>
                          <a:cs typeface="Roboto"/>
                          <a:sym typeface="Roboto"/>
                        </a:rPr>
                        <a:t>Payload</a:t>
                      </a:r>
                      <a:endParaRPr>
                        <a:latin typeface="Roboto"/>
                        <a:ea typeface="Roboto"/>
                        <a:cs typeface="Roboto"/>
                        <a:sym typeface="Roboto"/>
                      </a:endParaRPr>
                    </a:p>
                  </a:txBody>
                  <a:tcPr marL="27425" marR="27425" marT="27425" marB="274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14"/>
        <p:cNvGrpSpPr/>
        <p:nvPr/>
      </p:nvGrpSpPr>
      <p:grpSpPr>
        <a:xfrm>
          <a:off x="0" y="0"/>
          <a:ext cx="0" cy="0"/>
          <a:chOff x="0" y="0"/>
          <a:chExt cx="0" cy="0"/>
        </a:xfrm>
      </p:grpSpPr>
      <p:sp>
        <p:nvSpPr>
          <p:cNvPr id="1315" name="Google Shape;1315;p5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Summary</a:t>
            </a:r>
            <a:endParaRPr/>
          </a:p>
        </p:txBody>
      </p:sp>
      <p:sp>
        <p:nvSpPr>
          <p:cNvPr id="1316" name="Google Shape;1316;p55"/>
          <p:cNvSpPr txBox="1">
            <a:spLocks noGrp="1"/>
          </p:cNvSpPr>
          <p:nvPr>
            <p:ph type="body" idx="1"/>
          </p:nvPr>
        </p:nvSpPr>
        <p:spPr>
          <a:xfrm>
            <a:off x="107050" y="402200"/>
            <a:ext cx="8909700" cy="2901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An elegant (though not perfect) piece of engineering that has stood the test of time.</a:t>
            </a:r>
            <a:endParaRPr/>
          </a:p>
          <a:p>
            <a:pPr marL="457200" lvl="0" indent="-342900" algn="l" rtl="0">
              <a:spcBef>
                <a:spcPts val="600"/>
              </a:spcBef>
              <a:spcAft>
                <a:spcPts val="0"/>
              </a:spcAft>
              <a:buSzPts val="1800"/>
              <a:buChar char="●"/>
            </a:pPr>
            <a:r>
              <a:rPr lang="en"/>
              <a:t>Thought experiment: Will TCP continue to be a good solution?</a:t>
            </a:r>
            <a:endParaRPr/>
          </a:p>
          <a:p>
            <a:pPr marL="0" lvl="0" indent="0" algn="l" rtl="0">
              <a:spcBef>
                <a:spcPts val="600"/>
              </a:spcBef>
              <a:spcAft>
                <a:spcPts val="0"/>
              </a:spcAft>
              <a:buNone/>
            </a:pPr>
            <a:r>
              <a:rPr lang="en"/>
              <a:t>Plenty of evolution in individual pieces:</a:t>
            </a:r>
            <a:endParaRPr/>
          </a:p>
          <a:p>
            <a:pPr marL="457200" lvl="0" indent="-342900" algn="l" rtl="0">
              <a:spcBef>
                <a:spcPts val="600"/>
              </a:spcBef>
              <a:spcAft>
                <a:spcPts val="0"/>
              </a:spcAft>
              <a:buSzPts val="1800"/>
              <a:buChar char="●"/>
            </a:pPr>
            <a:r>
              <a:rPr lang="en"/>
              <a:t>Congestion control was added after-the-fact.</a:t>
            </a:r>
            <a:endParaRPr/>
          </a:p>
          <a:p>
            <a:pPr marL="457200" lvl="0" indent="-342900" algn="l" rtl="0">
              <a:spcBef>
                <a:spcPts val="0"/>
              </a:spcBef>
              <a:spcAft>
                <a:spcPts val="0"/>
              </a:spcAft>
              <a:buSzPts val="1800"/>
              <a:buChar char="●"/>
            </a:pPr>
            <a:r>
              <a:rPr lang="en"/>
              <a:t>Better acknowledgments, ISN selection, timer estimation, etc.</a:t>
            </a:r>
            <a:endParaRPr/>
          </a:p>
          <a:p>
            <a:pPr marL="0" lvl="0" indent="0" algn="l" rtl="0">
              <a:spcBef>
                <a:spcPts val="600"/>
              </a:spcBef>
              <a:spcAft>
                <a:spcPts val="0"/>
              </a:spcAft>
              <a:buNone/>
            </a:pPr>
            <a:r>
              <a:rPr lang="en"/>
              <a:t>But the core architectural decisions and abstractions remain:</a:t>
            </a:r>
            <a:endParaRPr/>
          </a:p>
          <a:p>
            <a:pPr marL="457200" lvl="0" indent="-342900" algn="l" rtl="0">
              <a:spcBef>
                <a:spcPts val="600"/>
              </a:spcBef>
              <a:spcAft>
                <a:spcPts val="0"/>
              </a:spcAft>
              <a:buSzPts val="1800"/>
              <a:buChar char="●"/>
            </a:pPr>
            <a:r>
              <a:rPr lang="en"/>
              <a:t>Bytestreams, connection-oriented, windows, etc.</a:t>
            </a:r>
            <a:endParaRPr/>
          </a:p>
        </p:txBody>
      </p:sp>
      <p:pic>
        <p:nvPicPr>
          <p:cNvPr id="1317" name="Google Shape;1317;p55"/>
          <p:cNvPicPr preferRelativeResize="0"/>
          <p:nvPr/>
        </p:nvPicPr>
        <p:blipFill>
          <a:blip r:embed="rId3">
            <a:alphaModFix/>
          </a:blip>
          <a:stretch>
            <a:fillRect/>
          </a:stretch>
        </p:blipFill>
        <p:spPr>
          <a:xfrm>
            <a:off x="2926613" y="3472999"/>
            <a:ext cx="1078100" cy="1259525"/>
          </a:xfrm>
          <a:prstGeom prst="rect">
            <a:avLst/>
          </a:prstGeom>
          <a:noFill/>
          <a:ln>
            <a:noFill/>
          </a:ln>
        </p:spPr>
      </p:pic>
      <p:pic>
        <p:nvPicPr>
          <p:cNvPr id="1318" name="Google Shape;1318;p55"/>
          <p:cNvPicPr preferRelativeResize="0"/>
          <p:nvPr/>
        </p:nvPicPr>
        <p:blipFill>
          <a:blip r:embed="rId4">
            <a:alphaModFix/>
          </a:blip>
          <a:stretch>
            <a:fillRect/>
          </a:stretch>
        </p:blipFill>
        <p:spPr>
          <a:xfrm>
            <a:off x="1371613" y="3473000"/>
            <a:ext cx="1259525" cy="1259525"/>
          </a:xfrm>
          <a:prstGeom prst="rect">
            <a:avLst/>
          </a:prstGeom>
          <a:noFill/>
          <a:ln>
            <a:noFill/>
          </a:ln>
        </p:spPr>
      </p:pic>
      <p:sp>
        <p:nvSpPr>
          <p:cNvPr id="1319" name="Google Shape;1319;p55"/>
          <p:cNvSpPr txBox="1"/>
          <p:nvPr/>
        </p:nvSpPr>
        <p:spPr>
          <a:xfrm>
            <a:off x="4300200" y="3794963"/>
            <a:ext cx="3612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Vint Cerf and Bob Kahn have won basically every award ever for their work on TCP.</a:t>
            </a:r>
            <a:endParaRPr>
              <a:solidFill>
                <a:schemeClr val="dk1"/>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23"/>
        <p:cNvGrpSpPr/>
        <p:nvPr/>
      </p:nvGrpSpPr>
      <p:grpSpPr>
        <a:xfrm>
          <a:off x="0" y="0"/>
          <a:ext cx="0" cy="0"/>
          <a:chOff x="0" y="0"/>
          <a:chExt cx="0" cy="0"/>
        </a:xfrm>
      </p:grpSpPr>
      <p:sp>
        <p:nvSpPr>
          <p:cNvPr id="1324" name="Google Shape;1324;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
        <p:nvSpPr>
          <p:cNvPr id="1325" name="Google Shape;1325;p56"/>
          <p:cNvSpPr txBox="1"/>
          <p:nvPr/>
        </p:nvSpPr>
        <p:spPr>
          <a:xfrm>
            <a:off x="311700" y="3854350"/>
            <a:ext cx="8520600" cy="6585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r>
              <a:rPr lang="en" sz="1600">
                <a:latin typeface="Roboto Medium"/>
                <a:ea typeface="Roboto Medium"/>
                <a:cs typeface="Roboto Medium"/>
                <a:sym typeface="Roboto Medium"/>
              </a:rPr>
              <a:t>CS 168, Summer 2025 </a:t>
            </a:r>
            <a:r>
              <a:rPr lang="en" sz="1600">
                <a:solidFill>
                  <a:srgbClr val="000000"/>
                </a:solidFill>
                <a:latin typeface="Roboto Medium"/>
                <a:ea typeface="Roboto Medium"/>
                <a:cs typeface="Roboto Medium"/>
                <a:sym typeface="Roboto Medium"/>
              </a:rPr>
              <a:t>@ UC Berkeley</a:t>
            </a:r>
            <a:endParaRPr sz="1600">
              <a:solidFill>
                <a:srgbClr val="000000"/>
              </a:solidFill>
              <a:latin typeface="Roboto Medium"/>
              <a:ea typeface="Roboto Medium"/>
              <a:cs typeface="Roboto Medium"/>
              <a:sym typeface="Roboto Medium"/>
            </a:endParaRPr>
          </a:p>
          <a:p>
            <a:pPr marL="0" lvl="0" indent="0" algn="l" rtl="0">
              <a:spcBef>
                <a:spcPts val="600"/>
              </a:spcBef>
              <a:spcAft>
                <a:spcPts val="0"/>
              </a:spcAft>
              <a:buNone/>
            </a:pPr>
            <a:r>
              <a:rPr lang="en" sz="1600">
                <a:latin typeface="Roboto Light"/>
                <a:ea typeface="Roboto Light"/>
                <a:cs typeface="Roboto Light"/>
                <a:sym typeface="Roboto Light"/>
              </a:rPr>
              <a:t>Slides credit: Sylvia Ratnasamy, Rob Shakir, Peyrin Kao</a:t>
            </a:r>
            <a:endParaRPr sz="1600">
              <a:solidFill>
                <a:srgbClr val="000000"/>
              </a:solidFill>
              <a:latin typeface="Roboto Light"/>
              <a:ea typeface="Roboto Light"/>
              <a:cs typeface="Roboto Light"/>
              <a:sym typeface="Roboto Light"/>
            </a:endParaRPr>
          </a:p>
        </p:txBody>
      </p:sp>
      <p:sp>
        <p:nvSpPr>
          <p:cNvPr id="1326" name="Google Shape;1326;p56"/>
          <p:cNvSpPr txBox="1"/>
          <p:nvPr/>
        </p:nvSpPr>
        <p:spPr>
          <a:xfrm>
            <a:off x="311700" y="1658975"/>
            <a:ext cx="8709600" cy="2052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600">
                <a:solidFill>
                  <a:srgbClr val="0B5394"/>
                </a:solidFill>
                <a:latin typeface="Roboto Medium"/>
                <a:ea typeface="Roboto Medium"/>
                <a:cs typeface="Roboto Medium"/>
                <a:sym typeface="Roboto Medium"/>
              </a:rPr>
              <a:t>Congestion Control, Part 1</a:t>
            </a:r>
            <a:endParaRPr sz="3600">
              <a:solidFill>
                <a:srgbClr val="0B5394"/>
              </a:solidFill>
              <a:latin typeface="Roboto Medium"/>
              <a:ea typeface="Roboto Medium"/>
              <a:cs typeface="Roboto Medium"/>
              <a:sym typeface="Roboto Medium"/>
            </a:endParaRPr>
          </a:p>
        </p:txBody>
      </p:sp>
      <p:sp>
        <p:nvSpPr>
          <p:cNvPr id="1327" name="Google Shape;1327;p56"/>
          <p:cNvSpPr txBox="1"/>
          <p:nvPr/>
        </p:nvSpPr>
        <p:spPr>
          <a:xfrm>
            <a:off x="345775" y="2740300"/>
            <a:ext cx="2762700" cy="28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BF9000"/>
                </a:solidFill>
                <a:latin typeface="Roboto Medium"/>
                <a:ea typeface="Roboto Medium"/>
                <a:cs typeface="Roboto Medium"/>
                <a:sym typeface="Roboto Medium"/>
              </a:rPr>
              <a:t>Lecture 12 (Transport 3)</a:t>
            </a:r>
            <a:endParaRPr sz="1200">
              <a:solidFill>
                <a:srgbClr val="BF9000"/>
              </a:solidFill>
              <a:latin typeface="Roboto Medium"/>
              <a:ea typeface="Roboto Medium"/>
              <a:cs typeface="Roboto Medium"/>
              <a:sym typeface="Roboto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31"/>
        <p:cNvGrpSpPr/>
        <p:nvPr/>
      </p:nvGrpSpPr>
      <p:grpSpPr>
        <a:xfrm>
          <a:off x="0" y="0"/>
          <a:ext cx="0" cy="0"/>
          <a:chOff x="0" y="0"/>
          <a:chExt cx="0" cy="0"/>
        </a:xfrm>
      </p:grpSpPr>
      <p:sp>
        <p:nvSpPr>
          <p:cNvPr id="1332" name="Google Shape;1332;p57"/>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Congestion Control Principles</a:t>
            </a:r>
            <a:endParaRPr b="1">
              <a:solidFill>
                <a:schemeClr val="accent3"/>
              </a:solidFill>
              <a:latin typeface="Roboto"/>
              <a:ea typeface="Roboto"/>
              <a:cs typeface="Roboto"/>
              <a:sym typeface="Roboto"/>
            </a:endParaRPr>
          </a:p>
          <a:p>
            <a:pPr marL="457200" lvl="0" indent="-342900" algn="l" rtl="0">
              <a:spcBef>
                <a:spcPts val="60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Why do we need it?</a:t>
            </a:r>
            <a:endParaRPr b="1">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marL="0" lvl="0" indent="0" algn="l" rtl="0">
              <a:spcBef>
                <a:spcPts val="600"/>
              </a:spcBef>
              <a:spcAft>
                <a:spcPts val="0"/>
              </a:spcAft>
              <a:buNone/>
            </a:pPr>
            <a:r>
              <a:rPr lang="en">
                <a:solidFill>
                  <a:srgbClr val="B7B7B7"/>
                </a:solidFill>
              </a:rPr>
              <a:t>Dynamic Adjustment</a:t>
            </a:r>
            <a:endParaRPr>
              <a:solidFill>
                <a:srgbClr val="B7B7B7"/>
              </a:solidFill>
            </a:endParaRPr>
          </a:p>
          <a:p>
            <a:pPr marL="457200" lvl="0" indent="-342900" algn="l" rtl="0">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1333" name="Google Shape;1333;p57"/>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a:t>Congestion Control: Why do we need it?</a:t>
            </a:r>
            <a:endParaRPr sz="3200"/>
          </a:p>
        </p:txBody>
      </p:sp>
      <p:sp>
        <p:nvSpPr>
          <p:cNvPr id="1334" name="Google Shape;1334;p57"/>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12, CS 168, Summer 2025</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38"/>
        <p:cNvGrpSpPr/>
        <p:nvPr/>
      </p:nvGrpSpPr>
      <p:grpSpPr>
        <a:xfrm>
          <a:off x="0" y="0"/>
          <a:ext cx="0" cy="0"/>
          <a:chOff x="0" y="0"/>
          <a:chExt cx="0" cy="0"/>
        </a:xfrm>
      </p:grpSpPr>
      <p:sp>
        <p:nvSpPr>
          <p:cNvPr id="1339" name="Google Shape;1339;p5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Recall: Congestion at Routers</a:t>
            </a:r>
            <a:endParaRPr/>
          </a:p>
        </p:txBody>
      </p:sp>
      <p:sp>
        <p:nvSpPr>
          <p:cNvPr id="1340" name="Google Shape;1340;p58"/>
          <p:cNvSpPr txBox="1">
            <a:spLocks noGrp="1"/>
          </p:cNvSpPr>
          <p:nvPr>
            <p:ph type="body" idx="1"/>
          </p:nvPr>
        </p:nvSpPr>
        <p:spPr>
          <a:xfrm>
            <a:off x="107050" y="402200"/>
            <a:ext cx="8909700" cy="2521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If two packets arrive at the same time, the router will send one, and buffer the other.</a:t>
            </a:r>
            <a:endParaRPr/>
          </a:p>
          <a:p>
            <a:pPr marL="0" lvl="0" indent="0" algn="l" rtl="0">
              <a:spcBef>
                <a:spcPts val="600"/>
              </a:spcBef>
              <a:spcAft>
                <a:spcPts val="0"/>
              </a:spcAft>
              <a:buNone/>
            </a:pPr>
            <a:r>
              <a:rPr lang="en"/>
              <a:t>The router maintains a </a:t>
            </a:r>
            <a:r>
              <a:rPr lang="en" i="1"/>
              <a:t>queue</a:t>
            </a:r>
            <a:r>
              <a:rPr lang="en"/>
              <a:t> of packets that still need to be sent.</a:t>
            </a:r>
            <a:endParaRPr/>
          </a:p>
          <a:p>
            <a:pPr marL="457200" lvl="0" indent="-342900" algn="l" rtl="0">
              <a:spcBef>
                <a:spcPts val="600"/>
              </a:spcBef>
              <a:spcAft>
                <a:spcPts val="0"/>
              </a:spcAft>
              <a:buSzPts val="1800"/>
              <a:buChar char="●"/>
            </a:pPr>
            <a:r>
              <a:rPr lang="en"/>
              <a:t>If the queue is full, and a packet arrives, the packet gets dropped.</a:t>
            </a:r>
            <a:endParaRPr/>
          </a:p>
          <a:p>
            <a:pPr marL="0" lvl="0" indent="0" algn="l" rtl="0">
              <a:spcBef>
                <a:spcPts val="600"/>
              </a:spcBef>
              <a:spcAft>
                <a:spcPts val="0"/>
              </a:spcAft>
              <a:buNone/>
            </a:pPr>
            <a:r>
              <a:rPr lang="en"/>
              <a:t>If too many packets arrive close in time:</a:t>
            </a:r>
            <a:endParaRPr/>
          </a:p>
          <a:p>
            <a:pPr marL="457200" lvl="0" indent="-342900" algn="l" rtl="0">
              <a:spcBef>
                <a:spcPts val="600"/>
              </a:spcBef>
              <a:spcAft>
                <a:spcPts val="0"/>
              </a:spcAft>
              <a:buSzPts val="1800"/>
              <a:buChar char="●"/>
            </a:pPr>
            <a:r>
              <a:rPr lang="en"/>
              <a:t>The router cannot keep up, and gets congested.</a:t>
            </a:r>
            <a:endParaRPr/>
          </a:p>
          <a:p>
            <a:pPr marL="457200" lvl="0" indent="-342900" algn="l" rtl="0">
              <a:spcBef>
                <a:spcPts val="0"/>
              </a:spcBef>
              <a:spcAft>
                <a:spcPts val="0"/>
              </a:spcAft>
              <a:buSzPts val="1800"/>
              <a:buChar char="●"/>
            </a:pPr>
            <a:r>
              <a:rPr lang="en"/>
              <a:t>Packets can be delayed (stuck waiting in queue) or dropped (queue is full).</a:t>
            </a:r>
            <a:endParaRPr/>
          </a:p>
        </p:txBody>
      </p:sp>
      <p:cxnSp>
        <p:nvCxnSpPr>
          <p:cNvPr id="1341" name="Google Shape;1341;p58"/>
          <p:cNvCxnSpPr/>
          <p:nvPr/>
        </p:nvCxnSpPr>
        <p:spPr>
          <a:xfrm>
            <a:off x="1768888" y="3388902"/>
            <a:ext cx="2040600" cy="546900"/>
          </a:xfrm>
          <a:prstGeom prst="straightConnector1">
            <a:avLst/>
          </a:prstGeom>
          <a:noFill/>
          <a:ln w="19050" cap="flat" cmpd="sng">
            <a:solidFill>
              <a:srgbClr val="000000"/>
            </a:solidFill>
            <a:prstDash val="solid"/>
            <a:round/>
            <a:headEnd type="none" w="med" len="med"/>
            <a:tailEnd type="none" w="med" len="med"/>
          </a:ln>
        </p:spPr>
      </p:cxnSp>
      <p:sp>
        <p:nvSpPr>
          <p:cNvPr id="1342" name="Google Shape;1342;p58"/>
          <p:cNvSpPr/>
          <p:nvPr/>
        </p:nvSpPr>
        <p:spPr>
          <a:xfrm rot="900021">
            <a:off x="1954085" y="3138673"/>
            <a:ext cx="337294" cy="337294"/>
          </a:xfrm>
          <a:prstGeom prst="rect">
            <a:avLst/>
          </a:prstGeom>
          <a:solidFill>
            <a:srgbClr val="9FC5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343" name="Google Shape;1343;p58"/>
          <p:cNvCxnSpPr/>
          <p:nvPr/>
        </p:nvCxnSpPr>
        <p:spPr>
          <a:xfrm rot="10800000" flipH="1">
            <a:off x="1771588" y="4070527"/>
            <a:ext cx="2043900" cy="547800"/>
          </a:xfrm>
          <a:prstGeom prst="straightConnector1">
            <a:avLst/>
          </a:prstGeom>
          <a:noFill/>
          <a:ln w="19050" cap="flat" cmpd="sng">
            <a:solidFill>
              <a:srgbClr val="000000"/>
            </a:solidFill>
            <a:prstDash val="solid"/>
            <a:round/>
            <a:headEnd type="none" w="med" len="med"/>
            <a:tailEnd type="none" w="med" len="med"/>
          </a:ln>
        </p:spPr>
      </p:cxnSp>
      <p:sp>
        <p:nvSpPr>
          <p:cNvPr id="1344" name="Google Shape;1344;p58"/>
          <p:cNvSpPr/>
          <p:nvPr/>
        </p:nvSpPr>
        <p:spPr>
          <a:xfrm rot="-900021">
            <a:off x="2139389" y="4479217"/>
            <a:ext cx="337294" cy="337294"/>
          </a:xfrm>
          <a:prstGeom prst="rect">
            <a:avLst/>
          </a:prstGeom>
          <a:solidFill>
            <a:srgbClr val="B6D7A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345" name="Google Shape;1345;p58"/>
          <p:cNvSpPr/>
          <p:nvPr/>
        </p:nvSpPr>
        <p:spPr>
          <a:xfrm rot="-900021">
            <a:off x="3419807" y="4136935"/>
            <a:ext cx="337294" cy="337294"/>
          </a:xfrm>
          <a:prstGeom prst="rect">
            <a:avLst/>
          </a:prstGeom>
          <a:solidFill>
            <a:srgbClr val="B6D7A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346" name="Google Shape;1346;p58"/>
          <p:cNvSpPr/>
          <p:nvPr/>
        </p:nvSpPr>
        <p:spPr>
          <a:xfrm rot="900021">
            <a:off x="2701635" y="3341073"/>
            <a:ext cx="337294" cy="337294"/>
          </a:xfrm>
          <a:prstGeom prst="rect">
            <a:avLst/>
          </a:prstGeom>
          <a:solidFill>
            <a:srgbClr val="9FC5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347" name="Google Shape;1347;p58"/>
          <p:cNvSpPr/>
          <p:nvPr/>
        </p:nvSpPr>
        <p:spPr>
          <a:xfrm rot="900021">
            <a:off x="3417796" y="3532162"/>
            <a:ext cx="337294" cy="337294"/>
          </a:xfrm>
          <a:prstGeom prst="rect">
            <a:avLst/>
          </a:prstGeom>
          <a:solidFill>
            <a:srgbClr val="9FC5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cxnSp>
        <p:nvCxnSpPr>
          <p:cNvPr id="1348" name="Google Shape;1348;p58"/>
          <p:cNvCxnSpPr/>
          <p:nvPr/>
        </p:nvCxnSpPr>
        <p:spPr>
          <a:xfrm>
            <a:off x="1849988" y="3056702"/>
            <a:ext cx="2040600" cy="546900"/>
          </a:xfrm>
          <a:prstGeom prst="straightConnector1">
            <a:avLst/>
          </a:prstGeom>
          <a:noFill/>
          <a:ln w="19050" cap="flat" cmpd="sng">
            <a:solidFill>
              <a:srgbClr val="000000"/>
            </a:solidFill>
            <a:prstDash val="solid"/>
            <a:round/>
            <a:headEnd type="none" w="med" len="med"/>
            <a:tailEnd type="none" w="med" len="med"/>
          </a:ln>
        </p:spPr>
      </p:cxnSp>
      <p:cxnSp>
        <p:nvCxnSpPr>
          <p:cNvPr id="1349" name="Google Shape;1349;p58"/>
          <p:cNvCxnSpPr/>
          <p:nvPr/>
        </p:nvCxnSpPr>
        <p:spPr>
          <a:xfrm rot="10800000" flipH="1">
            <a:off x="1855401" y="4395127"/>
            <a:ext cx="2043900" cy="547800"/>
          </a:xfrm>
          <a:prstGeom prst="straightConnector1">
            <a:avLst/>
          </a:prstGeom>
          <a:noFill/>
          <a:ln w="19050" cap="flat" cmpd="sng">
            <a:solidFill>
              <a:srgbClr val="000000"/>
            </a:solidFill>
            <a:prstDash val="solid"/>
            <a:round/>
            <a:headEnd type="none" w="med" len="med"/>
            <a:tailEnd type="none" w="med" len="med"/>
          </a:ln>
        </p:spPr>
      </p:cxnSp>
      <p:sp>
        <p:nvSpPr>
          <p:cNvPr id="1350" name="Google Shape;1350;p58"/>
          <p:cNvSpPr/>
          <p:nvPr/>
        </p:nvSpPr>
        <p:spPr>
          <a:xfrm>
            <a:off x="3899313" y="3716277"/>
            <a:ext cx="1179000" cy="623400"/>
          </a:xfrm>
          <a:prstGeom prst="roundRect">
            <a:avLst>
              <a:gd name="adj" fmla="val 16667"/>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Router</a:t>
            </a:r>
            <a:endParaRPr>
              <a:latin typeface="Roboto"/>
              <a:ea typeface="Roboto"/>
              <a:cs typeface="Roboto"/>
              <a:sym typeface="Roboto"/>
            </a:endParaRPr>
          </a:p>
        </p:txBody>
      </p:sp>
      <p:sp>
        <p:nvSpPr>
          <p:cNvPr id="1351" name="Google Shape;1351;p58"/>
          <p:cNvSpPr/>
          <p:nvPr/>
        </p:nvSpPr>
        <p:spPr>
          <a:xfrm>
            <a:off x="5746407" y="3859385"/>
            <a:ext cx="337200" cy="337200"/>
          </a:xfrm>
          <a:prstGeom prst="rect">
            <a:avLst/>
          </a:prstGeom>
          <a:solidFill>
            <a:srgbClr val="D9D9D9"/>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352" name="Google Shape;1352;p58"/>
          <p:cNvCxnSpPr/>
          <p:nvPr/>
        </p:nvCxnSpPr>
        <p:spPr>
          <a:xfrm>
            <a:off x="5078313" y="3859377"/>
            <a:ext cx="1673400" cy="0"/>
          </a:xfrm>
          <a:prstGeom prst="straightConnector1">
            <a:avLst/>
          </a:prstGeom>
          <a:noFill/>
          <a:ln w="19050" cap="flat" cmpd="sng">
            <a:solidFill>
              <a:srgbClr val="000000"/>
            </a:solidFill>
            <a:prstDash val="solid"/>
            <a:round/>
            <a:headEnd type="none" w="med" len="med"/>
            <a:tailEnd type="none" w="med" len="med"/>
          </a:ln>
        </p:spPr>
      </p:cxnSp>
      <p:cxnSp>
        <p:nvCxnSpPr>
          <p:cNvPr id="1353" name="Google Shape;1353;p58"/>
          <p:cNvCxnSpPr/>
          <p:nvPr/>
        </p:nvCxnSpPr>
        <p:spPr>
          <a:xfrm>
            <a:off x="5078313" y="4196577"/>
            <a:ext cx="1673400" cy="0"/>
          </a:xfrm>
          <a:prstGeom prst="straightConnector1">
            <a:avLst/>
          </a:prstGeom>
          <a:noFill/>
          <a:ln w="19050" cap="flat" cmpd="sng">
            <a:solidFill>
              <a:srgbClr val="000000"/>
            </a:solidFill>
            <a:prstDash val="solid"/>
            <a:round/>
            <a:headEnd type="none" w="med" len="med"/>
            <a:tailEnd type="none" w="med" len="med"/>
          </a:ln>
        </p:spPr>
      </p:cxnSp>
      <p:sp>
        <p:nvSpPr>
          <p:cNvPr id="1354" name="Google Shape;1354;p58"/>
          <p:cNvSpPr/>
          <p:nvPr/>
        </p:nvSpPr>
        <p:spPr>
          <a:xfrm>
            <a:off x="4650950" y="3018452"/>
            <a:ext cx="3213600" cy="623400"/>
          </a:xfrm>
          <a:prstGeom prst="wedgeRoundRectCallout">
            <a:avLst>
              <a:gd name="adj1" fmla="val -54601"/>
              <a:gd name="adj2" fmla="val 48705"/>
              <a:gd name="adj3" fmla="val 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Roboto"/>
                <a:ea typeface="Roboto"/>
                <a:cs typeface="Roboto"/>
                <a:sym typeface="Roboto"/>
              </a:rPr>
              <a:t>I cannot send both A and B right now.</a:t>
            </a:r>
            <a:endParaRPr>
              <a:latin typeface="Roboto"/>
              <a:ea typeface="Roboto"/>
              <a:cs typeface="Roboto"/>
              <a:sym typeface="Roboto"/>
            </a:endParaRPr>
          </a:p>
          <a:p>
            <a:pPr marL="0" lvl="0" indent="0" algn="l" rtl="0">
              <a:spcBef>
                <a:spcPts val="0"/>
              </a:spcBef>
              <a:spcAft>
                <a:spcPts val="0"/>
              </a:spcAft>
              <a:buNone/>
            </a:pPr>
            <a:r>
              <a:rPr lang="en">
                <a:latin typeface="Roboto"/>
                <a:ea typeface="Roboto"/>
                <a:cs typeface="Roboto"/>
                <a:sym typeface="Roboto"/>
              </a:rPr>
              <a:t>One of them will have to wait.</a:t>
            </a:r>
            <a:endParaRPr>
              <a:latin typeface="Roboto"/>
              <a:ea typeface="Roboto"/>
              <a:cs typeface="Roboto"/>
              <a:sym typeface="Roboto"/>
            </a:endParaRPr>
          </a:p>
        </p:txBody>
      </p:sp>
      <p:cxnSp>
        <p:nvCxnSpPr>
          <p:cNvPr id="1355" name="Google Shape;1355;p58"/>
          <p:cNvCxnSpPr/>
          <p:nvPr/>
        </p:nvCxnSpPr>
        <p:spPr>
          <a:xfrm>
            <a:off x="2181000" y="2955977"/>
            <a:ext cx="1485900" cy="398100"/>
          </a:xfrm>
          <a:prstGeom prst="straightConnector1">
            <a:avLst/>
          </a:prstGeom>
          <a:noFill/>
          <a:ln w="9525" cap="flat" cmpd="sng">
            <a:solidFill>
              <a:schemeClr val="dk2"/>
            </a:solidFill>
            <a:prstDash val="solid"/>
            <a:round/>
            <a:headEnd type="none" w="med" len="med"/>
            <a:tailEnd type="triangle" w="med" len="med"/>
          </a:ln>
        </p:spPr>
      </p:cxnSp>
      <p:cxnSp>
        <p:nvCxnSpPr>
          <p:cNvPr id="1356" name="Google Shape;1356;p58"/>
          <p:cNvCxnSpPr/>
          <p:nvPr/>
        </p:nvCxnSpPr>
        <p:spPr>
          <a:xfrm rot="10800000" flipH="1">
            <a:off x="2276027" y="4616279"/>
            <a:ext cx="1476600" cy="395700"/>
          </a:xfrm>
          <a:prstGeom prst="straightConnector1">
            <a:avLst/>
          </a:prstGeom>
          <a:noFill/>
          <a:ln w="9525" cap="flat" cmpd="sng">
            <a:solidFill>
              <a:schemeClr val="dk2"/>
            </a:solidFill>
            <a:prstDash val="solid"/>
            <a:round/>
            <a:headEnd type="none" w="med" len="med"/>
            <a:tailEnd type="triangle" w="med" len="med"/>
          </a:ln>
        </p:spPr>
      </p:cxnSp>
      <p:cxnSp>
        <p:nvCxnSpPr>
          <p:cNvPr id="1357" name="Google Shape;1357;p58"/>
          <p:cNvCxnSpPr/>
          <p:nvPr/>
        </p:nvCxnSpPr>
        <p:spPr>
          <a:xfrm>
            <a:off x="5272725" y="4395127"/>
            <a:ext cx="14790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61"/>
        <p:cNvGrpSpPr/>
        <p:nvPr/>
      </p:nvGrpSpPr>
      <p:grpSpPr>
        <a:xfrm>
          <a:off x="0" y="0"/>
          <a:ext cx="0" cy="0"/>
          <a:chOff x="0" y="0"/>
          <a:chExt cx="0" cy="0"/>
        </a:xfrm>
      </p:grpSpPr>
      <p:sp>
        <p:nvSpPr>
          <p:cNvPr id="1362" name="Google Shape;1362;p59"/>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Congestion Delays Packets</a:t>
            </a:r>
            <a:endParaRPr/>
          </a:p>
        </p:txBody>
      </p:sp>
      <p:sp>
        <p:nvSpPr>
          <p:cNvPr id="1363" name="Google Shape;1363;p59"/>
          <p:cNvSpPr txBox="1">
            <a:spLocks noGrp="1"/>
          </p:cNvSpPr>
          <p:nvPr>
            <p:ph type="body" idx="1"/>
          </p:nvPr>
        </p:nvSpPr>
        <p:spPr>
          <a:xfrm>
            <a:off x="107050" y="402200"/>
            <a:ext cx="8909700" cy="1959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For a typical queuing system with bursty arrivals:</a:t>
            </a:r>
            <a:endParaRPr/>
          </a:p>
          <a:p>
            <a:pPr marL="457200" lvl="0" indent="-342900" algn="l" rtl="0">
              <a:spcBef>
                <a:spcPts val="600"/>
              </a:spcBef>
              <a:spcAft>
                <a:spcPts val="0"/>
              </a:spcAft>
              <a:buSzPts val="1800"/>
              <a:buChar char="●"/>
            </a:pPr>
            <a:r>
              <a:rPr lang="en"/>
              <a:t>Higher load = more packets sent = higher packet delay.</a:t>
            </a:r>
            <a:endParaRPr/>
          </a:p>
          <a:p>
            <a:pPr marL="457200" lvl="0" indent="-342900" algn="l" rtl="0">
              <a:spcBef>
                <a:spcPts val="0"/>
              </a:spcBef>
              <a:spcAft>
                <a:spcPts val="0"/>
              </a:spcAft>
              <a:buSzPts val="1800"/>
              <a:buChar char="●"/>
            </a:pPr>
            <a:r>
              <a:rPr lang="en"/>
              <a:t>Delay gets really bad, even before we reach 100% load.</a:t>
            </a:r>
            <a:endParaRPr/>
          </a:p>
          <a:p>
            <a:pPr marL="457200" lvl="0" indent="-342900" algn="l" rtl="0">
              <a:spcBef>
                <a:spcPts val="0"/>
              </a:spcBef>
              <a:spcAft>
                <a:spcPts val="0"/>
              </a:spcAft>
              <a:buSzPts val="1800"/>
              <a:buChar char="●"/>
            </a:pPr>
            <a:r>
              <a:rPr lang="en"/>
              <a:t>Trade-offs: Need to balance high link utilization and low delay.</a:t>
            </a:r>
            <a:endParaRPr/>
          </a:p>
        </p:txBody>
      </p:sp>
      <p:cxnSp>
        <p:nvCxnSpPr>
          <p:cNvPr id="1364" name="Google Shape;1364;p59"/>
          <p:cNvCxnSpPr/>
          <p:nvPr/>
        </p:nvCxnSpPr>
        <p:spPr>
          <a:xfrm rot="10800000">
            <a:off x="3478950" y="2627315"/>
            <a:ext cx="0" cy="1756500"/>
          </a:xfrm>
          <a:prstGeom prst="straightConnector1">
            <a:avLst/>
          </a:prstGeom>
          <a:noFill/>
          <a:ln w="19050" cap="flat" cmpd="sng">
            <a:solidFill>
              <a:schemeClr val="dk2"/>
            </a:solidFill>
            <a:prstDash val="solid"/>
            <a:round/>
            <a:headEnd type="none" w="med" len="med"/>
            <a:tailEnd type="triangle" w="med" len="med"/>
          </a:ln>
        </p:spPr>
      </p:cxnSp>
      <p:cxnSp>
        <p:nvCxnSpPr>
          <p:cNvPr id="1365" name="Google Shape;1365;p59"/>
          <p:cNvCxnSpPr/>
          <p:nvPr/>
        </p:nvCxnSpPr>
        <p:spPr>
          <a:xfrm>
            <a:off x="3478950" y="4274651"/>
            <a:ext cx="2344800" cy="0"/>
          </a:xfrm>
          <a:prstGeom prst="straightConnector1">
            <a:avLst/>
          </a:prstGeom>
          <a:noFill/>
          <a:ln w="19050" cap="flat" cmpd="sng">
            <a:solidFill>
              <a:schemeClr val="dk2"/>
            </a:solidFill>
            <a:prstDash val="solid"/>
            <a:round/>
            <a:headEnd type="none" w="med" len="med"/>
            <a:tailEnd type="triangle" w="med" len="med"/>
          </a:ln>
        </p:spPr>
      </p:cxnSp>
      <p:sp>
        <p:nvSpPr>
          <p:cNvPr id="1366" name="Google Shape;1366;p59"/>
          <p:cNvSpPr/>
          <p:nvPr/>
        </p:nvSpPr>
        <p:spPr>
          <a:xfrm>
            <a:off x="3478950" y="2680875"/>
            <a:ext cx="2067075" cy="1528434"/>
          </a:xfrm>
          <a:custGeom>
            <a:avLst/>
            <a:gdLst/>
            <a:ahLst/>
            <a:cxnLst/>
            <a:rect l="l" t="t" r="r" b="b"/>
            <a:pathLst>
              <a:path w="82683" h="74286" extrusionOk="0">
                <a:moveTo>
                  <a:pt x="0" y="74286"/>
                </a:moveTo>
                <a:cubicBezTo>
                  <a:pt x="11950" y="72025"/>
                  <a:pt x="57922" y="73102"/>
                  <a:pt x="71702" y="60721"/>
                </a:cubicBezTo>
                <a:cubicBezTo>
                  <a:pt x="85483" y="48340"/>
                  <a:pt x="80853" y="10120"/>
                  <a:pt x="82683" y="0"/>
                </a:cubicBezTo>
              </a:path>
            </a:pathLst>
          </a:custGeom>
          <a:noFill/>
          <a:ln w="19050" cap="flat" cmpd="sng">
            <a:solidFill>
              <a:schemeClr val="accent3"/>
            </a:solidFill>
            <a:prstDash val="solid"/>
            <a:round/>
            <a:headEnd type="none" w="med" len="med"/>
            <a:tailEnd type="none" w="med" len="med"/>
          </a:ln>
        </p:spPr>
        <p:txBody>
          <a:bodyPr/>
          <a:lstStyle/>
          <a:p>
            <a:endParaRPr lang="en-US"/>
          </a:p>
        </p:txBody>
      </p:sp>
      <p:cxnSp>
        <p:nvCxnSpPr>
          <p:cNvPr id="1367" name="Google Shape;1367;p59"/>
          <p:cNvCxnSpPr/>
          <p:nvPr/>
        </p:nvCxnSpPr>
        <p:spPr>
          <a:xfrm>
            <a:off x="5603800" y="2457876"/>
            <a:ext cx="0" cy="2352300"/>
          </a:xfrm>
          <a:prstGeom prst="straightConnector1">
            <a:avLst/>
          </a:prstGeom>
          <a:noFill/>
          <a:ln w="9525" cap="flat" cmpd="sng">
            <a:solidFill>
              <a:schemeClr val="dk2"/>
            </a:solidFill>
            <a:prstDash val="dash"/>
            <a:round/>
            <a:headEnd type="none" w="med" len="med"/>
            <a:tailEnd type="none" w="med" len="med"/>
          </a:ln>
        </p:spPr>
      </p:cxnSp>
      <p:sp>
        <p:nvSpPr>
          <p:cNvPr id="1368" name="Google Shape;1368;p59"/>
          <p:cNvSpPr txBox="1"/>
          <p:nvPr/>
        </p:nvSpPr>
        <p:spPr>
          <a:xfrm>
            <a:off x="3478950" y="4304376"/>
            <a:ext cx="21249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Load</a:t>
            </a:r>
            <a:endParaRPr>
              <a:solidFill>
                <a:schemeClr val="dk1"/>
              </a:solidFill>
              <a:latin typeface="Roboto"/>
              <a:ea typeface="Roboto"/>
              <a:cs typeface="Roboto"/>
              <a:sym typeface="Roboto"/>
            </a:endParaRPr>
          </a:p>
        </p:txBody>
      </p:sp>
      <p:sp>
        <p:nvSpPr>
          <p:cNvPr id="1369" name="Google Shape;1369;p59"/>
          <p:cNvSpPr txBox="1"/>
          <p:nvPr/>
        </p:nvSpPr>
        <p:spPr>
          <a:xfrm>
            <a:off x="5603800" y="4456401"/>
            <a:ext cx="9393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100% load</a:t>
            </a:r>
            <a:endParaRPr>
              <a:solidFill>
                <a:schemeClr val="dk1"/>
              </a:solidFill>
              <a:latin typeface="Roboto"/>
              <a:ea typeface="Roboto"/>
              <a:cs typeface="Roboto"/>
              <a:sym typeface="Roboto"/>
            </a:endParaRPr>
          </a:p>
        </p:txBody>
      </p:sp>
      <p:sp>
        <p:nvSpPr>
          <p:cNvPr id="1370" name="Google Shape;1370;p59"/>
          <p:cNvSpPr txBox="1"/>
          <p:nvPr/>
        </p:nvSpPr>
        <p:spPr>
          <a:xfrm>
            <a:off x="2522400" y="3094088"/>
            <a:ext cx="880200" cy="7020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Average Packet Delay</a:t>
            </a:r>
            <a:endParaRPr>
              <a:solidFill>
                <a:schemeClr val="dk1"/>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74"/>
        <p:cNvGrpSpPr/>
        <p:nvPr/>
      </p:nvGrpSpPr>
      <p:grpSpPr>
        <a:xfrm>
          <a:off x="0" y="0"/>
          <a:ext cx="0" cy="0"/>
          <a:chOff x="0" y="0"/>
          <a:chExt cx="0" cy="0"/>
        </a:xfrm>
      </p:grpSpPr>
      <p:sp>
        <p:nvSpPr>
          <p:cNvPr id="1375" name="Google Shape;1375;p6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Brief History of Congestion Control</a:t>
            </a:r>
            <a:endParaRPr/>
          </a:p>
        </p:txBody>
      </p:sp>
      <p:sp>
        <p:nvSpPr>
          <p:cNvPr id="1376" name="Google Shape;1376;p60"/>
          <p:cNvSpPr txBox="1">
            <a:spLocks noGrp="1"/>
          </p:cNvSpPr>
          <p:nvPr>
            <p:ph type="body" idx="1"/>
          </p:nvPr>
        </p:nvSpPr>
        <p:spPr>
          <a:xfrm>
            <a:off x="107050" y="402200"/>
            <a:ext cx="8909700" cy="2432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In the 1980s, TCP did not implement congestion control.</a:t>
            </a:r>
            <a:endParaRPr/>
          </a:p>
          <a:p>
            <a:pPr marL="457200" lvl="0" indent="-342900" algn="l" rtl="0">
              <a:spcBef>
                <a:spcPts val="600"/>
              </a:spcBef>
              <a:spcAft>
                <a:spcPts val="0"/>
              </a:spcAft>
              <a:buSzPts val="1800"/>
              <a:buChar char="●"/>
            </a:pPr>
            <a:r>
              <a:rPr lang="en"/>
              <a:t>Sending rate was only limited by flow control (recipient buffer capacity).</a:t>
            </a:r>
            <a:endParaRPr/>
          </a:p>
          <a:p>
            <a:pPr marL="457200" lvl="0" indent="-342900" algn="l" rtl="0">
              <a:spcBef>
                <a:spcPts val="0"/>
              </a:spcBef>
              <a:spcAft>
                <a:spcPts val="0"/>
              </a:spcAft>
              <a:buSzPts val="1800"/>
              <a:buChar char="●"/>
            </a:pPr>
            <a:r>
              <a:rPr lang="en"/>
              <a:t>If packets are dropped, resend them over and over, at the same fast rate.</a:t>
            </a:r>
            <a:endParaRPr/>
          </a:p>
          <a:p>
            <a:pPr marL="0" lvl="0" indent="0" algn="l" rtl="0">
              <a:spcBef>
                <a:spcPts val="600"/>
              </a:spcBef>
              <a:spcAft>
                <a:spcPts val="0"/>
              </a:spcAft>
              <a:buNone/>
            </a:pPr>
            <a:r>
              <a:rPr lang="en"/>
              <a:t>This led to a </a:t>
            </a:r>
            <a:r>
              <a:rPr lang="en" i="1"/>
              <a:t>congestion collapse</a:t>
            </a:r>
            <a:r>
              <a:rPr lang="en"/>
              <a:t>.</a:t>
            </a:r>
            <a:endParaRPr/>
          </a:p>
          <a:p>
            <a:pPr marL="457200" lvl="0" indent="-342900" algn="l" rtl="0">
              <a:spcBef>
                <a:spcPts val="600"/>
              </a:spcBef>
              <a:spcAft>
                <a:spcPts val="0"/>
              </a:spcAft>
              <a:buSzPts val="1800"/>
              <a:buChar char="●"/>
            </a:pPr>
            <a:r>
              <a:rPr lang="en"/>
              <a:t>1986: Capacity of a major link dropped to 0.1% of its original capacity.</a:t>
            </a:r>
            <a:endParaRPr sz="1400">
              <a:solidFill>
                <a:schemeClr val="accent3"/>
              </a:solidFill>
            </a:endParaRPr>
          </a:p>
          <a:p>
            <a:pPr marL="457200" lvl="0" indent="-342900" algn="l" rtl="0">
              <a:spcBef>
                <a:spcPts val="0"/>
              </a:spcBef>
              <a:spcAft>
                <a:spcPts val="0"/>
              </a:spcAft>
              <a:buSzPts val="1800"/>
              <a:buChar char="●"/>
            </a:pPr>
            <a:r>
              <a:rPr lang="en"/>
              <a:t>Why? Network was flooded with thousands of copies of every packet.</a:t>
            </a:r>
            <a:endParaRPr/>
          </a:p>
        </p:txBody>
      </p:sp>
      <p:sp>
        <p:nvSpPr>
          <p:cNvPr id="1377" name="Google Shape;1377;p60"/>
          <p:cNvSpPr/>
          <p:nvPr/>
        </p:nvSpPr>
        <p:spPr>
          <a:xfrm>
            <a:off x="380500" y="3012225"/>
            <a:ext cx="8362800" cy="1776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i="1">
                <a:latin typeface="Roboto"/>
                <a:ea typeface="Roboto"/>
                <a:cs typeface="Roboto"/>
                <a:sym typeface="Roboto"/>
              </a:rPr>
              <a:t>In October of '86, the Internet had the first of what became a series of 'congestion collapses.' During this period, the data throughput from LBL to UC Berkeley (sites separated by 400 yards and two IMP hops) dropped from 32 Kbps to 40 bps. We were fascinated by this sudden factor-of-thousand drop in bandwidth and embarked on an investigation of why things had gotten so bad. In particular, we wondered if the 4.3BSD (Berkeley Unix) TCP was mis-behaving or if it could be tuned to work better under abysmal network conditions. The answer to both of these questions was "yes".</a:t>
            </a:r>
            <a:endParaRPr i="1">
              <a:latin typeface="Roboto"/>
              <a:ea typeface="Roboto"/>
              <a:cs typeface="Roboto"/>
              <a:sym typeface="Roboto"/>
            </a:endParaRPr>
          </a:p>
          <a:p>
            <a:pPr marL="0" lvl="0" indent="0" algn="l" rtl="0">
              <a:spcBef>
                <a:spcPts val="0"/>
              </a:spcBef>
              <a:spcAft>
                <a:spcPts val="0"/>
              </a:spcAft>
              <a:buNone/>
            </a:pPr>
            <a:endParaRPr i="1">
              <a:latin typeface="Roboto"/>
              <a:ea typeface="Roboto"/>
              <a:cs typeface="Roboto"/>
              <a:sym typeface="Roboto"/>
            </a:endParaRPr>
          </a:p>
          <a:p>
            <a:pPr marL="0" lvl="0" indent="0" algn="r" rtl="0">
              <a:spcBef>
                <a:spcPts val="0"/>
              </a:spcBef>
              <a:spcAft>
                <a:spcPts val="0"/>
              </a:spcAft>
              <a:buNone/>
            </a:pPr>
            <a:r>
              <a:rPr lang="en" i="1">
                <a:latin typeface="Roboto"/>
                <a:ea typeface="Roboto"/>
                <a:cs typeface="Roboto"/>
                <a:sym typeface="Roboto"/>
              </a:rPr>
              <a:t>– Karels (UCB) and Jacobson (LBL)</a:t>
            </a:r>
            <a:endParaRPr i="1">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81"/>
        <p:cNvGrpSpPr/>
        <p:nvPr/>
      </p:nvGrpSpPr>
      <p:grpSpPr>
        <a:xfrm>
          <a:off x="0" y="0"/>
          <a:ext cx="0" cy="0"/>
          <a:chOff x="0" y="0"/>
          <a:chExt cx="0" cy="0"/>
        </a:xfrm>
      </p:grpSpPr>
      <p:sp>
        <p:nvSpPr>
          <p:cNvPr id="1382" name="Google Shape;1382;p6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Brief History of Congestion Control</a:t>
            </a:r>
            <a:endParaRPr/>
          </a:p>
        </p:txBody>
      </p:sp>
      <p:sp>
        <p:nvSpPr>
          <p:cNvPr id="1383" name="Google Shape;1383;p61"/>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How was congestion collapse solved in the 1980s?</a:t>
            </a:r>
            <a:endParaRPr/>
          </a:p>
          <a:p>
            <a:pPr marL="457200" lvl="0" indent="-342900" algn="l" rtl="0">
              <a:spcBef>
                <a:spcPts val="600"/>
              </a:spcBef>
              <a:spcAft>
                <a:spcPts val="0"/>
              </a:spcAft>
              <a:buSzPts val="1800"/>
              <a:buChar char="●"/>
            </a:pPr>
            <a:r>
              <a:rPr lang="en"/>
              <a:t>Michael Karels and Van Jacobson were working on BSD (an early OS).</a:t>
            </a:r>
            <a:endParaRPr/>
          </a:p>
          <a:p>
            <a:pPr marL="457200" lvl="0" indent="-342900" algn="l" rtl="0">
              <a:spcBef>
                <a:spcPts val="0"/>
              </a:spcBef>
              <a:spcAft>
                <a:spcPts val="0"/>
              </a:spcAft>
              <a:buSzPts val="1800"/>
              <a:buChar char="●"/>
            </a:pPr>
            <a:r>
              <a:rPr lang="en"/>
              <a:t>They changed a few lines of TCP code to fix the problem.</a:t>
            </a:r>
            <a:endParaRPr/>
          </a:p>
          <a:p>
            <a:pPr marL="914400" lvl="1" indent="-342900" algn="l" rtl="0">
              <a:spcBef>
                <a:spcPts val="0"/>
              </a:spcBef>
              <a:spcAft>
                <a:spcPts val="0"/>
              </a:spcAft>
              <a:buSzPts val="1800"/>
              <a:buChar char="○"/>
            </a:pPr>
            <a:r>
              <a:rPr lang="en"/>
              <a:t>Recall: TCP is implemented in everybody's OS.</a:t>
            </a:r>
            <a:endParaRPr/>
          </a:p>
          <a:p>
            <a:pPr marL="914400" lvl="1" indent="-342900" algn="l" rtl="0">
              <a:spcBef>
                <a:spcPts val="0"/>
              </a:spcBef>
              <a:spcAft>
                <a:spcPts val="0"/>
              </a:spcAft>
              <a:buSzPts val="1800"/>
              <a:buChar char="○"/>
            </a:pPr>
            <a:r>
              <a:rPr lang="en"/>
              <a:t>The fix worked, and everybody quickly adopted it.</a:t>
            </a:r>
            <a:endParaRPr/>
          </a:p>
          <a:p>
            <a:pPr marL="0" lvl="0" indent="0" algn="l" rtl="0">
              <a:spcBef>
                <a:spcPts val="600"/>
              </a:spcBef>
              <a:spcAft>
                <a:spcPts val="0"/>
              </a:spcAft>
              <a:buNone/>
            </a:pPr>
            <a:r>
              <a:rPr lang="en"/>
              <a:t>The history of congestion control had a big impact on its design.</a:t>
            </a:r>
            <a:endParaRPr/>
          </a:p>
          <a:p>
            <a:pPr marL="457200" lvl="0" indent="-342900" algn="l" rtl="0">
              <a:spcBef>
                <a:spcPts val="600"/>
              </a:spcBef>
              <a:spcAft>
                <a:spcPts val="0"/>
              </a:spcAft>
              <a:buSzPts val="1800"/>
              <a:buChar char="●"/>
            </a:pPr>
            <a:r>
              <a:rPr lang="en"/>
              <a:t>Invented as an ad-hoc patch to an existing system. </a:t>
            </a:r>
            <a:r>
              <a:rPr lang="en" sz="1400">
                <a:solidFill>
                  <a:schemeClr val="accent3"/>
                </a:solidFill>
              </a:rPr>
              <a:t>(</a:t>
            </a:r>
            <a:r>
              <a:rPr lang="en" sz="1400" i="1">
                <a:solidFill>
                  <a:schemeClr val="accent3"/>
                </a:solidFill>
              </a:rPr>
              <a:t>Not in original TCP design.</a:t>
            </a:r>
            <a:r>
              <a:rPr lang="en" sz="1400">
                <a:solidFill>
                  <a:schemeClr val="accent3"/>
                </a:solidFill>
              </a:rPr>
              <a:t>)</a:t>
            </a:r>
            <a:endParaRPr sz="1400">
              <a:solidFill>
                <a:schemeClr val="accent3"/>
              </a:solidFill>
            </a:endParaRPr>
          </a:p>
          <a:p>
            <a:pPr marL="457200" lvl="0" indent="-342900" algn="l" rtl="0">
              <a:spcBef>
                <a:spcPts val="0"/>
              </a:spcBef>
              <a:spcAft>
                <a:spcPts val="0"/>
              </a:spcAft>
              <a:buSzPts val="1800"/>
              <a:buChar char="●"/>
            </a:pPr>
            <a:r>
              <a:rPr lang="en"/>
              <a:t>Implemented in the OS. </a:t>
            </a:r>
            <a:r>
              <a:rPr lang="en" sz="1400">
                <a:solidFill>
                  <a:schemeClr val="accent3"/>
                </a:solidFill>
              </a:rPr>
              <a:t>(</a:t>
            </a:r>
            <a:r>
              <a:rPr lang="en" sz="1400" i="1">
                <a:solidFill>
                  <a:schemeClr val="accent3"/>
                </a:solidFill>
              </a:rPr>
              <a:t>Not in applications, routers, etc.</a:t>
            </a:r>
            <a:r>
              <a:rPr lang="en" sz="1400">
                <a:solidFill>
                  <a:schemeClr val="accent3"/>
                </a:solidFill>
              </a:rPr>
              <a:t>)</a:t>
            </a:r>
            <a:endParaRPr sz="1400">
              <a:solidFill>
                <a:schemeClr val="accent3"/>
              </a:solidFill>
            </a:endParaRPr>
          </a:p>
          <a:p>
            <a:pPr marL="0" lvl="0" indent="0" algn="l" rtl="0">
              <a:spcBef>
                <a:spcPts val="600"/>
              </a:spcBef>
              <a:spcAft>
                <a:spcPts val="0"/>
              </a:spcAft>
              <a:buNone/>
            </a:pPr>
            <a:r>
              <a:rPr lang="en"/>
              <a:t>Fast-forward to today:</a:t>
            </a:r>
            <a:endParaRPr/>
          </a:p>
          <a:p>
            <a:pPr marL="457200" lvl="0" indent="-342900" algn="l" rtl="0">
              <a:spcBef>
                <a:spcPts val="600"/>
              </a:spcBef>
              <a:spcAft>
                <a:spcPts val="0"/>
              </a:spcAft>
              <a:buSzPts val="1800"/>
              <a:buChar char="●"/>
            </a:pPr>
            <a:r>
              <a:rPr lang="en"/>
              <a:t>Extensive research and improvements since the original patch.</a:t>
            </a:r>
            <a:endParaRPr/>
          </a:p>
          <a:p>
            <a:pPr marL="457200" lvl="0" indent="-342900" algn="l" rtl="0">
              <a:spcBef>
                <a:spcPts val="0"/>
              </a:spcBef>
              <a:spcAft>
                <a:spcPts val="0"/>
              </a:spcAft>
              <a:buSzPts val="1800"/>
              <a:buChar char="●"/>
            </a:pPr>
            <a:r>
              <a:rPr lang="en"/>
              <a:t>The core ideas in the original patch still persist.</a:t>
            </a:r>
            <a:endParaRPr/>
          </a:p>
          <a:p>
            <a:pPr marL="457200" lvl="0" indent="-342900" algn="l" rtl="0">
              <a:spcBef>
                <a:spcPts val="0"/>
              </a:spcBef>
              <a:spcAft>
                <a:spcPts val="0"/>
              </a:spcAft>
              <a:buSzPts val="1800"/>
              <a:buChar char="●"/>
            </a:pPr>
            <a:r>
              <a:rPr lang="en"/>
              <a:t>No major congestion collapses ever since.</a:t>
            </a:r>
            <a:endParaRPr/>
          </a:p>
          <a:p>
            <a:pPr marL="0" lvl="0" indent="0" algn="l" rtl="0">
              <a:spcBef>
                <a:spcPts val="600"/>
              </a:spcBef>
              <a:spcAft>
                <a:spcPts val="0"/>
              </a:spcAft>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387"/>
        <p:cNvGrpSpPr/>
        <p:nvPr/>
      </p:nvGrpSpPr>
      <p:grpSpPr>
        <a:xfrm>
          <a:off x="0" y="0"/>
          <a:ext cx="0" cy="0"/>
          <a:chOff x="0" y="0"/>
          <a:chExt cx="0" cy="0"/>
        </a:xfrm>
      </p:grpSpPr>
      <p:sp>
        <p:nvSpPr>
          <p:cNvPr id="1388" name="Google Shape;1388;p62"/>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Congestion Control Principles</a:t>
            </a:r>
            <a:endParaRPr b="1">
              <a:solidFill>
                <a:schemeClr val="accent3"/>
              </a:solidFill>
              <a:latin typeface="Roboto"/>
              <a:ea typeface="Roboto"/>
              <a:cs typeface="Roboto"/>
              <a:sym typeface="Roboto"/>
            </a:endParaRPr>
          </a:p>
          <a:p>
            <a:pPr marL="457200" lvl="0" indent="-342900" algn="l" rtl="0">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Why is it hard?</a:t>
            </a:r>
            <a:endParaRPr b="1">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a:solidFill>
                  <a:srgbClr val="B7B7B7"/>
                </a:solidFill>
              </a:rPr>
              <a:t>Design Goals</a:t>
            </a:r>
            <a:endParaRPr>
              <a:solidFill>
                <a:srgbClr val="B7B7B7"/>
              </a:solidFill>
            </a:endParaRPr>
          </a:p>
          <a:p>
            <a:pPr marL="0" lvl="0" indent="0" algn="l" rtl="0">
              <a:spcBef>
                <a:spcPts val="600"/>
              </a:spcBef>
              <a:spcAft>
                <a:spcPts val="0"/>
              </a:spcAft>
              <a:buNone/>
            </a:pPr>
            <a:r>
              <a:rPr lang="en">
                <a:solidFill>
                  <a:srgbClr val="B7B7B7"/>
                </a:solidFill>
              </a:rPr>
              <a:t>Dynamic Adjustment</a:t>
            </a:r>
            <a:endParaRPr>
              <a:solidFill>
                <a:srgbClr val="B7B7B7"/>
              </a:solidFill>
            </a:endParaRPr>
          </a:p>
          <a:p>
            <a:pPr marL="457200" lvl="0" indent="-342900" algn="l" rtl="0">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1389" name="Google Shape;1389;p62"/>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a:t>Congestion Control: Why is it hard?</a:t>
            </a:r>
            <a:endParaRPr sz="3200"/>
          </a:p>
        </p:txBody>
      </p:sp>
      <p:sp>
        <p:nvSpPr>
          <p:cNvPr id="1390" name="Google Shape;1390;p62"/>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12, CS 168, Summer 2025</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94"/>
        <p:cNvGrpSpPr/>
        <p:nvPr/>
      </p:nvGrpSpPr>
      <p:grpSpPr>
        <a:xfrm>
          <a:off x="0" y="0"/>
          <a:ext cx="0" cy="0"/>
          <a:chOff x="0" y="0"/>
          <a:chExt cx="0" cy="0"/>
        </a:xfrm>
      </p:grpSpPr>
      <p:sp>
        <p:nvSpPr>
          <p:cNvPr id="1395" name="Google Shape;1395;p63"/>
          <p:cNvSpPr/>
          <p:nvPr/>
        </p:nvSpPr>
        <p:spPr>
          <a:xfrm>
            <a:off x="3997675" y="2887025"/>
            <a:ext cx="1678975" cy="1650725"/>
          </a:xfrm>
          <a:custGeom>
            <a:avLst/>
            <a:gdLst/>
            <a:ahLst/>
            <a:cxnLst/>
            <a:rect l="l" t="t" r="r" b="b"/>
            <a:pathLst>
              <a:path w="67159" h="66029" extrusionOk="0">
                <a:moveTo>
                  <a:pt x="0" y="0"/>
                </a:moveTo>
                <a:cubicBezTo>
                  <a:pt x="4305" y="4332"/>
                  <a:pt x="15659" y="17974"/>
                  <a:pt x="25830" y="25992"/>
                </a:cubicBezTo>
                <a:cubicBezTo>
                  <a:pt x="36001" y="34010"/>
                  <a:pt x="54137" y="41437"/>
                  <a:pt x="61025" y="48110"/>
                </a:cubicBezTo>
                <a:cubicBezTo>
                  <a:pt x="67913" y="54783"/>
                  <a:pt x="66137" y="63043"/>
                  <a:pt x="67159" y="66029"/>
                </a:cubicBezTo>
              </a:path>
            </a:pathLst>
          </a:custGeom>
          <a:noFill/>
          <a:ln w="28575" cap="flat" cmpd="sng">
            <a:solidFill>
              <a:srgbClr val="FF00FF"/>
            </a:solidFill>
            <a:prstDash val="solid"/>
            <a:round/>
            <a:headEnd type="none" w="med" len="med"/>
            <a:tailEnd type="triangle" w="med" len="med"/>
          </a:ln>
        </p:spPr>
        <p:txBody>
          <a:bodyPr/>
          <a:lstStyle/>
          <a:p>
            <a:endParaRPr lang="en-US"/>
          </a:p>
        </p:txBody>
      </p:sp>
      <p:sp>
        <p:nvSpPr>
          <p:cNvPr id="1396" name="Google Shape;1396;p63"/>
          <p:cNvSpPr/>
          <p:nvPr/>
        </p:nvSpPr>
        <p:spPr>
          <a:xfrm>
            <a:off x="4106650" y="2238925"/>
            <a:ext cx="4108650" cy="1188500"/>
          </a:xfrm>
          <a:custGeom>
            <a:avLst/>
            <a:gdLst/>
            <a:ahLst/>
            <a:cxnLst/>
            <a:rect l="l" t="t" r="r" b="b"/>
            <a:pathLst>
              <a:path w="164346" h="47540" extrusionOk="0">
                <a:moveTo>
                  <a:pt x="0" y="24539"/>
                </a:moveTo>
                <a:cubicBezTo>
                  <a:pt x="4144" y="28306"/>
                  <a:pt x="18028" y="44988"/>
                  <a:pt x="24862" y="47140"/>
                </a:cubicBezTo>
                <a:cubicBezTo>
                  <a:pt x="31696" y="49293"/>
                  <a:pt x="34522" y="42217"/>
                  <a:pt x="41006" y="37454"/>
                </a:cubicBezTo>
                <a:cubicBezTo>
                  <a:pt x="47491" y="32692"/>
                  <a:pt x="56531" y="23005"/>
                  <a:pt x="63769" y="18565"/>
                </a:cubicBezTo>
                <a:cubicBezTo>
                  <a:pt x="71007" y="14125"/>
                  <a:pt x="73670" y="12807"/>
                  <a:pt x="84433" y="10816"/>
                </a:cubicBezTo>
                <a:cubicBezTo>
                  <a:pt x="95196" y="8825"/>
                  <a:pt x="115026" y="8422"/>
                  <a:pt x="128345" y="6619"/>
                </a:cubicBezTo>
                <a:cubicBezTo>
                  <a:pt x="141664" y="4816"/>
                  <a:pt x="158346" y="1103"/>
                  <a:pt x="164346" y="0"/>
                </a:cubicBezTo>
              </a:path>
            </a:pathLst>
          </a:custGeom>
          <a:noFill/>
          <a:ln w="28575" cap="flat" cmpd="sng">
            <a:solidFill>
              <a:srgbClr val="F1C232"/>
            </a:solidFill>
            <a:prstDash val="solid"/>
            <a:round/>
            <a:headEnd type="none" w="med" len="med"/>
            <a:tailEnd type="triangle" w="med" len="med"/>
          </a:ln>
        </p:spPr>
        <p:txBody>
          <a:bodyPr/>
          <a:lstStyle/>
          <a:p>
            <a:endParaRPr lang="en-US"/>
          </a:p>
        </p:txBody>
      </p:sp>
      <p:sp>
        <p:nvSpPr>
          <p:cNvPr id="1397" name="Google Shape;1397;p63"/>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Congestion Control Challenges: Depends on Destination</a:t>
            </a:r>
            <a:endParaRPr/>
          </a:p>
        </p:txBody>
      </p:sp>
      <p:sp>
        <p:nvSpPr>
          <p:cNvPr id="1398" name="Google Shape;1398;p63"/>
          <p:cNvSpPr txBox="1">
            <a:spLocks noGrp="1"/>
          </p:cNvSpPr>
          <p:nvPr>
            <p:ph type="body" idx="1"/>
          </p:nvPr>
        </p:nvSpPr>
        <p:spPr>
          <a:xfrm>
            <a:off x="107050" y="402200"/>
            <a:ext cx="8909700" cy="1755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At what rate should A send traffic?</a:t>
            </a:r>
            <a:endParaRPr/>
          </a:p>
          <a:p>
            <a:pPr marL="0" lvl="0" indent="0" algn="l" rtl="0">
              <a:spcBef>
                <a:spcPts val="600"/>
              </a:spcBef>
              <a:spcAft>
                <a:spcPts val="0"/>
              </a:spcAft>
              <a:buNone/>
            </a:pPr>
            <a:r>
              <a:rPr lang="en"/>
              <a:t>It depends on the destination.</a:t>
            </a:r>
            <a:endParaRPr/>
          </a:p>
          <a:p>
            <a:pPr marL="457200" lvl="0" indent="-342900" algn="l" rtl="0">
              <a:spcBef>
                <a:spcPts val="600"/>
              </a:spcBef>
              <a:spcAft>
                <a:spcPts val="0"/>
              </a:spcAft>
              <a:buSzPts val="1800"/>
              <a:buChar char="●"/>
            </a:pPr>
            <a:r>
              <a:rPr lang="en">
                <a:solidFill>
                  <a:srgbClr val="FF00FF"/>
                </a:solidFill>
              </a:rPr>
              <a:t>A → C</a:t>
            </a:r>
            <a:r>
              <a:rPr lang="en"/>
              <a:t> can send at 10 Gbps.</a:t>
            </a:r>
            <a:endParaRPr/>
          </a:p>
          <a:p>
            <a:pPr marL="457200" lvl="0" indent="-342900" algn="l" rtl="0">
              <a:spcBef>
                <a:spcPts val="0"/>
              </a:spcBef>
              <a:spcAft>
                <a:spcPts val="0"/>
              </a:spcAft>
              <a:buSzPts val="1800"/>
              <a:buChar char="●"/>
            </a:pPr>
            <a:r>
              <a:rPr lang="en">
                <a:solidFill>
                  <a:srgbClr val="BF9000"/>
                </a:solidFill>
              </a:rPr>
              <a:t>A → F</a:t>
            </a:r>
            <a:r>
              <a:rPr lang="en"/>
              <a:t> can only send at 2 Gbps.</a:t>
            </a:r>
            <a:endParaRPr/>
          </a:p>
        </p:txBody>
      </p:sp>
      <p:sp>
        <p:nvSpPr>
          <p:cNvPr id="1399" name="Google Shape;1399;p63"/>
          <p:cNvSpPr/>
          <p:nvPr/>
        </p:nvSpPr>
        <p:spPr>
          <a:xfrm>
            <a:off x="3897375" y="2713714"/>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400" name="Google Shape;1400;p63"/>
          <p:cNvSpPr/>
          <p:nvPr/>
        </p:nvSpPr>
        <p:spPr>
          <a:xfrm>
            <a:off x="3499850" y="3362139"/>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401" name="Google Shape;1401;p63"/>
          <p:cNvSpPr/>
          <p:nvPr/>
        </p:nvSpPr>
        <p:spPr>
          <a:xfrm>
            <a:off x="4614678" y="3288464"/>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1402" name="Google Shape;1402;p63"/>
          <p:cNvCxnSpPr>
            <a:stCxn id="1399" idx="5"/>
            <a:endCxn id="1401" idx="1"/>
          </p:cNvCxnSpPr>
          <p:nvPr/>
        </p:nvCxnSpPr>
        <p:spPr>
          <a:xfrm>
            <a:off x="4140638" y="2956977"/>
            <a:ext cx="474000" cy="474000"/>
          </a:xfrm>
          <a:prstGeom prst="straightConnector1">
            <a:avLst/>
          </a:prstGeom>
          <a:noFill/>
          <a:ln w="19050" cap="flat" cmpd="sng">
            <a:solidFill>
              <a:srgbClr val="000000"/>
            </a:solidFill>
            <a:prstDash val="solid"/>
            <a:round/>
            <a:headEnd type="none" w="med" len="med"/>
            <a:tailEnd type="none" w="med" len="med"/>
          </a:ln>
        </p:spPr>
      </p:cxnSp>
      <p:cxnSp>
        <p:nvCxnSpPr>
          <p:cNvPr id="1403" name="Google Shape;1403;p63"/>
          <p:cNvCxnSpPr>
            <a:stCxn id="1400" idx="6"/>
            <a:endCxn id="1401" idx="1"/>
          </p:cNvCxnSpPr>
          <p:nvPr/>
        </p:nvCxnSpPr>
        <p:spPr>
          <a:xfrm rot="10800000" flipH="1">
            <a:off x="3784850" y="3430839"/>
            <a:ext cx="829800" cy="73800"/>
          </a:xfrm>
          <a:prstGeom prst="straightConnector1">
            <a:avLst/>
          </a:prstGeom>
          <a:noFill/>
          <a:ln w="19050" cap="flat" cmpd="sng">
            <a:solidFill>
              <a:srgbClr val="000000"/>
            </a:solidFill>
            <a:prstDash val="solid"/>
            <a:round/>
            <a:headEnd type="none" w="med" len="med"/>
            <a:tailEnd type="none" w="med" len="med"/>
          </a:ln>
        </p:spPr>
      </p:cxnSp>
      <p:sp>
        <p:nvSpPr>
          <p:cNvPr id="1404" name="Google Shape;1404;p63"/>
          <p:cNvSpPr/>
          <p:nvPr/>
        </p:nvSpPr>
        <p:spPr>
          <a:xfrm>
            <a:off x="5446403" y="3861414"/>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1405" name="Google Shape;1405;p63"/>
          <p:cNvCxnSpPr>
            <a:stCxn id="1401" idx="2"/>
            <a:endCxn id="1404" idx="1"/>
          </p:cNvCxnSpPr>
          <p:nvPr/>
        </p:nvCxnSpPr>
        <p:spPr>
          <a:xfrm>
            <a:off x="4757178" y="3573464"/>
            <a:ext cx="689100" cy="430500"/>
          </a:xfrm>
          <a:prstGeom prst="straightConnector1">
            <a:avLst/>
          </a:prstGeom>
          <a:noFill/>
          <a:ln w="19050" cap="flat" cmpd="sng">
            <a:solidFill>
              <a:srgbClr val="000000"/>
            </a:solidFill>
            <a:prstDash val="solid"/>
            <a:round/>
            <a:headEnd type="none" w="med" len="med"/>
            <a:tailEnd type="none" w="med" len="med"/>
          </a:ln>
        </p:spPr>
      </p:cxnSp>
      <p:sp>
        <p:nvSpPr>
          <p:cNvPr id="1406" name="Google Shape;1406;p63"/>
          <p:cNvSpPr/>
          <p:nvPr/>
        </p:nvSpPr>
        <p:spPr>
          <a:xfrm>
            <a:off x="6633953" y="4089289"/>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1407" name="Google Shape;1407;p63"/>
          <p:cNvCxnSpPr>
            <a:stCxn id="1404" idx="3"/>
            <a:endCxn id="1406" idx="1"/>
          </p:cNvCxnSpPr>
          <p:nvPr/>
        </p:nvCxnSpPr>
        <p:spPr>
          <a:xfrm>
            <a:off x="5731403" y="4003914"/>
            <a:ext cx="902700" cy="228000"/>
          </a:xfrm>
          <a:prstGeom prst="straightConnector1">
            <a:avLst/>
          </a:prstGeom>
          <a:noFill/>
          <a:ln w="19050" cap="flat" cmpd="sng">
            <a:solidFill>
              <a:srgbClr val="000000"/>
            </a:solidFill>
            <a:prstDash val="solid"/>
            <a:round/>
            <a:headEnd type="none" w="med" len="med"/>
            <a:tailEnd type="none" w="med" len="med"/>
          </a:ln>
        </p:spPr>
      </p:cxnSp>
      <p:sp>
        <p:nvSpPr>
          <p:cNvPr id="1408" name="Google Shape;1408;p63"/>
          <p:cNvSpPr/>
          <p:nvPr/>
        </p:nvSpPr>
        <p:spPr>
          <a:xfrm>
            <a:off x="6225253" y="3219639"/>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1409" name="Google Shape;1409;p63"/>
          <p:cNvCxnSpPr>
            <a:stCxn id="1408" idx="1"/>
            <a:endCxn id="1404" idx="0"/>
          </p:cNvCxnSpPr>
          <p:nvPr/>
        </p:nvCxnSpPr>
        <p:spPr>
          <a:xfrm flipH="1">
            <a:off x="5588953" y="3362139"/>
            <a:ext cx="636300" cy="499200"/>
          </a:xfrm>
          <a:prstGeom prst="straightConnector1">
            <a:avLst/>
          </a:prstGeom>
          <a:noFill/>
          <a:ln w="19050" cap="flat" cmpd="sng">
            <a:solidFill>
              <a:srgbClr val="000000"/>
            </a:solidFill>
            <a:prstDash val="solid"/>
            <a:round/>
            <a:headEnd type="none" w="med" len="med"/>
            <a:tailEnd type="none" w="med" len="med"/>
          </a:ln>
        </p:spPr>
      </p:cxnSp>
      <p:cxnSp>
        <p:nvCxnSpPr>
          <p:cNvPr id="1410" name="Google Shape;1410;p63"/>
          <p:cNvCxnSpPr>
            <a:stCxn id="1408" idx="3"/>
            <a:endCxn id="1406" idx="0"/>
          </p:cNvCxnSpPr>
          <p:nvPr/>
        </p:nvCxnSpPr>
        <p:spPr>
          <a:xfrm>
            <a:off x="6510253" y="3362139"/>
            <a:ext cx="266100" cy="727200"/>
          </a:xfrm>
          <a:prstGeom prst="straightConnector1">
            <a:avLst/>
          </a:prstGeom>
          <a:noFill/>
          <a:ln w="19050" cap="flat" cmpd="sng">
            <a:solidFill>
              <a:srgbClr val="000000"/>
            </a:solidFill>
            <a:prstDash val="solid"/>
            <a:round/>
            <a:headEnd type="none" w="med" len="med"/>
            <a:tailEnd type="none" w="med" len="med"/>
          </a:ln>
        </p:spPr>
      </p:cxnSp>
      <p:sp>
        <p:nvSpPr>
          <p:cNvPr id="1411" name="Google Shape;1411;p63"/>
          <p:cNvSpPr/>
          <p:nvPr/>
        </p:nvSpPr>
        <p:spPr>
          <a:xfrm>
            <a:off x="5588953" y="248948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1412" name="Google Shape;1412;p63"/>
          <p:cNvCxnSpPr>
            <a:stCxn id="1411" idx="1"/>
            <a:endCxn id="1401" idx="0"/>
          </p:cNvCxnSpPr>
          <p:nvPr/>
        </p:nvCxnSpPr>
        <p:spPr>
          <a:xfrm flipH="1">
            <a:off x="4757053" y="2631989"/>
            <a:ext cx="831900" cy="656400"/>
          </a:xfrm>
          <a:prstGeom prst="straightConnector1">
            <a:avLst/>
          </a:prstGeom>
          <a:noFill/>
          <a:ln w="19050" cap="flat" cmpd="sng">
            <a:solidFill>
              <a:srgbClr val="000000"/>
            </a:solidFill>
            <a:prstDash val="solid"/>
            <a:round/>
            <a:headEnd type="none" w="med" len="med"/>
            <a:tailEnd type="none" w="med" len="med"/>
          </a:ln>
        </p:spPr>
      </p:cxnSp>
      <p:cxnSp>
        <p:nvCxnSpPr>
          <p:cNvPr id="1413" name="Google Shape;1413;p63"/>
          <p:cNvCxnSpPr>
            <a:stCxn id="1411" idx="3"/>
            <a:endCxn id="1408" idx="0"/>
          </p:cNvCxnSpPr>
          <p:nvPr/>
        </p:nvCxnSpPr>
        <p:spPr>
          <a:xfrm>
            <a:off x="5873953" y="2631989"/>
            <a:ext cx="493800" cy="587700"/>
          </a:xfrm>
          <a:prstGeom prst="straightConnector1">
            <a:avLst/>
          </a:prstGeom>
          <a:noFill/>
          <a:ln w="19050" cap="flat" cmpd="sng">
            <a:solidFill>
              <a:srgbClr val="000000"/>
            </a:solidFill>
            <a:prstDash val="solid"/>
            <a:round/>
            <a:headEnd type="none" w="med" len="med"/>
            <a:tailEnd type="none" w="med" len="med"/>
          </a:ln>
        </p:spPr>
      </p:cxnSp>
      <p:cxnSp>
        <p:nvCxnSpPr>
          <p:cNvPr id="1414" name="Google Shape;1414;p63"/>
          <p:cNvCxnSpPr>
            <a:stCxn id="1411" idx="3"/>
            <a:endCxn id="1415" idx="1"/>
          </p:cNvCxnSpPr>
          <p:nvPr/>
        </p:nvCxnSpPr>
        <p:spPr>
          <a:xfrm rot="10800000" flipH="1">
            <a:off x="5873953" y="2489489"/>
            <a:ext cx="1314900" cy="142500"/>
          </a:xfrm>
          <a:prstGeom prst="straightConnector1">
            <a:avLst/>
          </a:prstGeom>
          <a:noFill/>
          <a:ln w="19050" cap="flat" cmpd="sng">
            <a:solidFill>
              <a:srgbClr val="000000"/>
            </a:solidFill>
            <a:prstDash val="solid"/>
            <a:round/>
            <a:headEnd type="none" w="med" len="med"/>
            <a:tailEnd type="none" w="med" len="med"/>
          </a:ln>
        </p:spPr>
      </p:cxnSp>
      <p:sp>
        <p:nvSpPr>
          <p:cNvPr id="1415" name="Google Shape;1415;p63"/>
          <p:cNvSpPr/>
          <p:nvPr/>
        </p:nvSpPr>
        <p:spPr>
          <a:xfrm>
            <a:off x="7188953" y="234698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416" name="Google Shape;1416;p63"/>
          <p:cNvSpPr/>
          <p:nvPr/>
        </p:nvSpPr>
        <p:spPr>
          <a:xfrm>
            <a:off x="7473953" y="3362139"/>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1417" name="Google Shape;1417;p63"/>
          <p:cNvCxnSpPr>
            <a:stCxn id="1416" idx="0"/>
            <a:endCxn id="1415" idx="2"/>
          </p:cNvCxnSpPr>
          <p:nvPr/>
        </p:nvCxnSpPr>
        <p:spPr>
          <a:xfrm rot="10800000">
            <a:off x="7331453" y="2631939"/>
            <a:ext cx="285000" cy="730200"/>
          </a:xfrm>
          <a:prstGeom prst="straightConnector1">
            <a:avLst/>
          </a:prstGeom>
          <a:noFill/>
          <a:ln w="19050" cap="flat" cmpd="sng">
            <a:solidFill>
              <a:srgbClr val="000000"/>
            </a:solidFill>
            <a:prstDash val="solid"/>
            <a:round/>
            <a:headEnd type="none" w="med" len="med"/>
            <a:tailEnd type="none" w="med" len="med"/>
          </a:ln>
        </p:spPr>
      </p:cxnSp>
      <p:cxnSp>
        <p:nvCxnSpPr>
          <p:cNvPr id="1418" name="Google Shape;1418;p63"/>
          <p:cNvCxnSpPr>
            <a:stCxn id="1416" idx="1"/>
            <a:endCxn id="1408" idx="3"/>
          </p:cNvCxnSpPr>
          <p:nvPr/>
        </p:nvCxnSpPr>
        <p:spPr>
          <a:xfrm rot="10800000">
            <a:off x="6510353" y="3362139"/>
            <a:ext cx="963600" cy="142500"/>
          </a:xfrm>
          <a:prstGeom prst="straightConnector1">
            <a:avLst/>
          </a:prstGeom>
          <a:noFill/>
          <a:ln w="19050" cap="flat" cmpd="sng">
            <a:solidFill>
              <a:srgbClr val="000000"/>
            </a:solidFill>
            <a:prstDash val="solid"/>
            <a:round/>
            <a:headEnd type="none" w="med" len="med"/>
            <a:tailEnd type="none" w="med" len="med"/>
          </a:ln>
        </p:spPr>
      </p:cxnSp>
      <p:cxnSp>
        <p:nvCxnSpPr>
          <p:cNvPr id="1419" name="Google Shape;1419;p63"/>
          <p:cNvCxnSpPr>
            <a:stCxn id="1416" idx="2"/>
            <a:endCxn id="1406" idx="3"/>
          </p:cNvCxnSpPr>
          <p:nvPr/>
        </p:nvCxnSpPr>
        <p:spPr>
          <a:xfrm flipH="1">
            <a:off x="6918953" y="3647139"/>
            <a:ext cx="697500" cy="584700"/>
          </a:xfrm>
          <a:prstGeom prst="straightConnector1">
            <a:avLst/>
          </a:prstGeom>
          <a:noFill/>
          <a:ln w="19050" cap="flat" cmpd="sng">
            <a:solidFill>
              <a:srgbClr val="000000"/>
            </a:solidFill>
            <a:prstDash val="solid"/>
            <a:round/>
            <a:headEnd type="none" w="med" len="med"/>
            <a:tailEnd type="none" w="med" len="med"/>
          </a:ln>
        </p:spPr>
      </p:cxnSp>
      <p:sp>
        <p:nvSpPr>
          <p:cNvPr id="1420" name="Google Shape;1420;p63"/>
          <p:cNvSpPr/>
          <p:nvPr/>
        </p:nvSpPr>
        <p:spPr>
          <a:xfrm>
            <a:off x="5588950" y="1920714"/>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1421" name="Google Shape;1421;p63"/>
          <p:cNvCxnSpPr>
            <a:stCxn id="1420" idx="4"/>
            <a:endCxn id="1411" idx="0"/>
          </p:cNvCxnSpPr>
          <p:nvPr/>
        </p:nvCxnSpPr>
        <p:spPr>
          <a:xfrm>
            <a:off x="5731450" y="2205714"/>
            <a:ext cx="0" cy="283800"/>
          </a:xfrm>
          <a:prstGeom prst="straightConnector1">
            <a:avLst/>
          </a:prstGeom>
          <a:noFill/>
          <a:ln w="19050" cap="flat" cmpd="sng">
            <a:solidFill>
              <a:srgbClr val="000000"/>
            </a:solidFill>
            <a:prstDash val="solid"/>
            <a:round/>
            <a:headEnd type="none" w="med" len="med"/>
            <a:tailEnd type="none" w="med" len="med"/>
          </a:ln>
        </p:spPr>
      </p:cxnSp>
      <p:sp>
        <p:nvSpPr>
          <p:cNvPr id="1422" name="Google Shape;1422;p63"/>
          <p:cNvSpPr/>
          <p:nvPr/>
        </p:nvSpPr>
        <p:spPr>
          <a:xfrm>
            <a:off x="8087600" y="2157489"/>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1423" name="Google Shape;1423;p63"/>
          <p:cNvCxnSpPr>
            <a:stCxn id="1422" idx="2"/>
            <a:endCxn id="1415" idx="3"/>
          </p:cNvCxnSpPr>
          <p:nvPr/>
        </p:nvCxnSpPr>
        <p:spPr>
          <a:xfrm flipH="1">
            <a:off x="7474100" y="2299989"/>
            <a:ext cx="613500" cy="189600"/>
          </a:xfrm>
          <a:prstGeom prst="straightConnector1">
            <a:avLst/>
          </a:prstGeom>
          <a:noFill/>
          <a:ln w="19050" cap="flat" cmpd="sng">
            <a:solidFill>
              <a:srgbClr val="000000"/>
            </a:solidFill>
            <a:prstDash val="solid"/>
            <a:round/>
            <a:headEnd type="none" w="med" len="med"/>
            <a:tailEnd type="none" w="med" len="med"/>
          </a:ln>
        </p:spPr>
      </p:cxnSp>
      <p:sp>
        <p:nvSpPr>
          <p:cNvPr id="1424" name="Google Shape;1424;p63"/>
          <p:cNvSpPr/>
          <p:nvPr/>
        </p:nvSpPr>
        <p:spPr>
          <a:xfrm>
            <a:off x="8386925" y="3469239"/>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1425" name="Google Shape;1425;p63"/>
          <p:cNvCxnSpPr>
            <a:stCxn id="1424" idx="2"/>
            <a:endCxn id="1416" idx="3"/>
          </p:cNvCxnSpPr>
          <p:nvPr/>
        </p:nvCxnSpPr>
        <p:spPr>
          <a:xfrm rot="10800000">
            <a:off x="7759025" y="3504639"/>
            <a:ext cx="627900" cy="107100"/>
          </a:xfrm>
          <a:prstGeom prst="straightConnector1">
            <a:avLst/>
          </a:prstGeom>
          <a:noFill/>
          <a:ln w="19050" cap="flat" cmpd="sng">
            <a:solidFill>
              <a:srgbClr val="000000"/>
            </a:solidFill>
            <a:prstDash val="solid"/>
            <a:round/>
            <a:headEnd type="none" w="med" len="med"/>
            <a:tailEnd type="none" w="med" len="med"/>
          </a:ln>
        </p:spPr>
      </p:cxnSp>
      <p:cxnSp>
        <p:nvCxnSpPr>
          <p:cNvPr id="1426" name="Google Shape;1426;p63"/>
          <p:cNvCxnSpPr>
            <a:stCxn id="1427" idx="0"/>
            <a:endCxn id="1406" idx="2"/>
          </p:cNvCxnSpPr>
          <p:nvPr/>
        </p:nvCxnSpPr>
        <p:spPr>
          <a:xfrm rot="10800000">
            <a:off x="6776450" y="4374189"/>
            <a:ext cx="0" cy="280800"/>
          </a:xfrm>
          <a:prstGeom prst="straightConnector1">
            <a:avLst/>
          </a:prstGeom>
          <a:noFill/>
          <a:ln w="19050" cap="flat" cmpd="sng">
            <a:solidFill>
              <a:srgbClr val="000000"/>
            </a:solidFill>
            <a:prstDash val="solid"/>
            <a:round/>
            <a:headEnd type="none" w="med" len="med"/>
            <a:tailEnd type="none" w="med" len="med"/>
          </a:ln>
        </p:spPr>
      </p:cxnSp>
      <p:sp>
        <p:nvSpPr>
          <p:cNvPr id="1427" name="Google Shape;1427;p63"/>
          <p:cNvSpPr/>
          <p:nvPr/>
        </p:nvSpPr>
        <p:spPr>
          <a:xfrm>
            <a:off x="6633950" y="4654989"/>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1428" name="Google Shape;1428;p63"/>
          <p:cNvCxnSpPr>
            <a:stCxn id="1429" idx="0"/>
            <a:endCxn id="1404" idx="2"/>
          </p:cNvCxnSpPr>
          <p:nvPr/>
        </p:nvCxnSpPr>
        <p:spPr>
          <a:xfrm rot="10800000">
            <a:off x="5588900" y="4146489"/>
            <a:ext cx="0" cy="280800"/>
          </a:xfrm>
          <a:prstGeom prst="straightConnector1">
            <a:avLst/>
          </a:prstGeom>
          <a:noFill/>
          <a:ln w="19050" cap="flat" cmpd="sng">
            <a:solidFill>
              <a:srgbClr val="000000"/>
            </a:solidFill>
            <a:prstDash val="solid"/>
            <a:round/>
            <a:headEnd type="none" w="med" len="med"/>
            <a:tailEnd type="none" w="med" len="med"/>
          </a:ln>
        </p:spPr>
      </p:cxnSp>
      <p:sp>
        <p:nvSpPr>
          <p:cNvPr id="1429" name="Google Shape;1429;p63"/>
          <p:cNvSpPr/>
          <p:nvPr/>
        </p:nvSpPr>
        <p:spPr>
          <a:xfrm>
            <a:off x="5446400" y="4427289"/>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430" name="Google Shape;1430;p63"/>
          <p:cNvSpPr txBox="1"/>
          <p:nvPr/>
        </p:nvSpPr>
        <p:spPr>
          <a:xfrm>
            <a:off x="4863363" y="379461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31" name="Google Shape;1431;p63"/>
          <p:cNvSpPr txBox="1"/>
          <p:nvPr/>
        </p:nvSpPr>
        <p:spPr>
          <a:xfrm>
            <a:off x="4929288" y="2720776"/>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1432" name="Google Shape;1432;p63"/>
          <p:cNvSpPr txBox="1"/>
          <p:nvPr/>
        </p:nvSpPr>
        <p:spPr>
          <a:xfrm>
            <a:off x="6130375" y="2760176"/>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1433" name="Google Shape;1433;p63"/>
          <p:cNvSpPr txBox="1"/>
          <p:nvPr/>
        </p:nvSpPr>
        <p:spPr>
          <a:xfrm>
            <a:off x="6388950" y="230425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34" name="Google Shape;1434;p63"/>
          <p:cNvSpPr txBox="1"/>
          <p:nvPr/>
        </p:nvSpPr>
        <p:spPr>
          <a:xfrm>
            <a:off x="7452425" y="281130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35" name="Google Shape;1435;p63"/>
          <p:cNvSpPr txBox="1"/>
          <p:nvPr/>
        </p:nvSpPr>
        <p:spPr>
          <a:xfrm>
            <a:off x="6878325" y="318435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36" name="Google Shape;1436;p63"/>
          <p:cNvSpPr txBox="1"/>
          <p:nvPr/>
        </p:nvSpPr>
        <p:spPr>
          <a:xfrm>
            <a:off x="7251375" y="3868476"/>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37" name="Google Shape;1437;p63"/>
          <p:cNvSpPr txBox="1"/>
          <p:nvPr/>
        </p:nvSpPr>
        <p:spPr>
          <a:xfrm>
            <a:off x="6643300" y="361175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38" name="Google Shape;1438;p63"/>
          <p:cNvSpPr txBox="1"/>
          <p:nvPr/>
        </p:nvSpPr>
        <p:spPr>
          <a:xfrm>
            <a:off x="6063850" y="410340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1439" name="Google Shape;1439;p63"/>
          <p:cNvSpPr txBox="1"/>
          <p:nvPr/>
        </p:nvSpPr>
        <p:spPr>
          <a:xfrm>
            <a:off x="5603988" y="343230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40" name="Google Shape;1440;p63"/>
          <p:cNvSpPr txBox="1"/>
          <p:nvPr/>
        </p:nvSpPr>
        <p:spPr>
          <a:xfrm>
            <a:off x="206550" y="4427300"/>
            <a:ext cx="2793300" cy="452400"/>
          </a:xfrm>
          <a:prstGeom prst="rect">
            <a:avLst/>
          </a:prstGeom>
          <a:noFill/>
          <a:ln>
            <a:noFill/>
          </a:ln>
        </p:spPr>
        <p:txBody>
          <a:bodyPr spcFirstLastPara="1" wrap="square" lIns="27425" tIns="27425" rIns="27425" bIns="27425" anchor="t" anchorCtr="0">
            <a:spAutoFit/>
          </a:bodyPr>
          <a:lstStyle/>
          <a:p>
            <a:pPr marL="0" lvl="0" indent="0" algn="l" rtl="0">
              <a:lnSpc>
                <a:spcPct val="115000"/>
              </a:lnSpc>
              <a:spcBef>
                <a:spcPts val="0"/>
              </a:spcBef>
              <a:spcAft>
                <a:spcPts val="0"/>
              </a:spcAft>
              <a:buNone/>
            </a:pPr>
            <a:r>
              <a:rPr lang="en" sz="1200">
                <a:solidFill>
                  <a:schemeClr val="dk1"/>
                </a:solidFill>
                <a:latin typeface="Roboto"/>
                <a:ea typeface="Roboto"/>
                <a:cs typeface="Roboto"/>
                <a:sym typeface="Roboto"/>
              </a:rPr>
              <a:t>Numbers are bandwidths, in Gbps.</a:t>
            </a:r>
            <a:endParaRPr sz="1200">
              <a:solidFill>
                <a:schemeClr val="dk1"/>
              </a:solidFill>
              <a:latin typeface="Roboto"/>
              <a:ea typeface="Roboto"/>
              <a:cs typeface="Roboto"/>
              <a:sym typeface="Roboto"/>
            </a:endParaRPr>
          </a:p>
          <a:p>
            <a:pPr marL="0" lvl="0" indent="0" algn="l" rtl="0">
              <a:lnSpc>
                <a:spcPct val="115000"/>
              </a:lnSpc>
              <a:spcBef>
                <a:spcPts val="0"/>
              </a:spcBef>
              <a:spcAft>
                <a:spcPts val="0"/>
              </a:spcAft>
              <a:buNone/>
            </a:pPr>
            <a:r>
              <a:rPr lang="en" sz="1200">
                <a:solidFill>
                  <a:schemeClr val="dk1"/>
                </a:solidFill>
                <a:latin typeface="Roboto"/>
                <a:ea typeface="Roboto"/>
                <a:cs typeface="Roboto"/>
                <a:sym typeface="Roboto"/>
              </a:rPr>
              <a:t>Ignore bandwidth of host-to-router links.</a:t>
            </a:r>
            <a:endParaRPr sz="1200">
              <a:solidFill>
                <a:schemeClr val="dk1"/>
              </a:solidFill>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44"/>
        <p:cNvGrpSpPr/>
        <p:nvPr/>
      </p:nvGrpSpPr>
      <p:grpSpPr>
        <a:xfrm>
          <a:off x="0" y="0"/>
          <a:ext cx="0" cy="0"/>
          <a:chOff x="0" y="0"/>
          <a:chExt cx="0" cy="0"/>
        </a:xfrm>
      </p:grpSpPr>
      <p:sp>
        <p:nvSpPr>
          <p:cNvPr id="1445" name="Google Shape;1445;p64"/>
          <p:cNvSpPr/>
          <p:nvPr/>
        </p:nvSpPr>
        <p:spPr>
          <a:xfrm>
            <a:off x="4013350" y="2902425"/>
            <a:ext cx="4475950" cy="1209850"/>
          </a:xfrm>
          <a:custGeom>
            <a:avLst/>
            <a:gdLst/>
            <a:ahLst/>
            <a:cxnLst/>
            <a:rect l="l" t="t" r="r" b="b"/>
            <a:pathLst>
              <a:path w="179038" h="48394" extrusionOk="0">
                <a:moveTo>
                  <a:pt x="0" y="0"/>
                </a:moveTo>
                <a:cubicBezTo>
                  <a:pt x="4440" y="4332"/>
                  <a:pt x="16575" y="17947"/>
                  <a:pt x="26638" y="25992"/>
                </a:cubicBezTo>
                <a:cubicBezTo>
                  <a:pt x="36701" y="34037"/>
                  <a:pt x="51608" y="46899"/>
                  <a:pt x="60379" y="48271"/>
                </a:cubicBezTo>
                <a:cubicBezTo>
                  <a:pt x="69151" y="49643"/>
                  <a:pt x="73886" y="38612"/>
                  <a:pt x="79267" y="34226"/>
                </a:cubicBezTo>
                <a:cubicBezTo>
                  <a:pt x="84648" y="29840"/>
                  <a:pt x="85402" y="23382"/>
                  <a:pt x="92667" y="21956"/>
                </a:cubicBezTo>
                <a:cubicBezTo>
                  <a:pt x="99932" y="20530"/>
                  <a:pt x="108461" y="24270"/>
                  <a:pt x="122856" y="25669"/>
                </a:cubicBezTo>
                <a:cubicBezTo>
                  <a:pt x="137251" y="27068"/>
                  <a:pt x="169674" y="29571"/>
                  <a:pt x="179038" y="30351"/>
                </a:cubicBezTo>
              </a:path>
            </a:pathLst>
          </a:custGeom>
          <a:noFill/>
          <a:ln w="28575" cap="flat" cmpd="sng">
            <a:solidFill>
              <a:srgbClr val="FF00FF"/>
            </a:solidFill>
            <a:prstDash val="solid"/>
            <a:round/>
            <a:headEnd type="none" w="med" len="med"/>
            <a:tailEnd type="triangle" w="med" len="med"/>
          </a:ln>
        </p:spPr>
        <p:txBody>
          <a:bodyPr/>
          <a:lstStyle/>
          <a:p>
            <a:endParaRPr lang="en-US"/>
          </a:p>
        </p:txBody>
      </p:sp>
      <p:sp>
        <p:nvSpPr>
          <p:cNvPr id="1446" name="Google Shape;1446;p64"/>
          <p:cNvSpPr/>
          <p:nvPr/>
        </p:nvSpPr>
        <p:spPr>
          <a:xfrm>
            <a:off x="4123725" y="2681000"/>
            <a:ext cx="4322575" cy="847550"/>
          </a:xfrm>
          <a:custGeom>
            <a:avLst/>
            <a:gdLst/>
            <a:ahLst/>
            <a:cxnLst/>
            <a:rect l="l" t="t" r="r" b="b"/>
            <a:pathLst>
              <a:path w="172903" h="33902" extrusionOk="0">
                <a:moveTo>
                  <a:pt x="0" y="6296"/>
                </a:moveTo>
                <a:cubicBezTo>
                  <a:pt x="4144" y="9821"/>
                  <a:pt x="17597" y="25965"/>
                  <a:pt x="24862" y="27445"/>
                </a:cubicBezTo>
                <a:cubicBezTo>
                  <a:pt x="32127" y="28925"/>
                  <a:pt x="37105" y="19749"/>
                  <a:pt x="43589" y="15175"/>
                </a:cubicBezTo>
                <a:cubicBezTo>
                  <a:pt x="50074" y="10601"/>
                  <a:pt x="57796" y="0"/>
                  <a:pt x="63769" y="0"/>
                </a:cubicBezTo>
                <a:cubicBezTo>
                  <a:pt x="69742" y="0"/>
                  <a:pt x="75070" y="11220"/>
                  <a:pt x="79429" y="15175"/>
                </a:cubicBezTo>
                <a:cubicBezTo>
                  <a:pt x="83788" y="19130"/>
                  <a:pt x="84300" y="21848"/>
                  <a:pt x="89923" y="23731"/>
                </a:cubicBezTo>
                <a:cubicBezTo>
                  <a:pt x="95547" y="25615"/>
                  <a:pt x="99340" y="24781"/>
                  <a:pt x="113170" y="26476"/>
                </a:cubicBezTo>
                <a:cubicBezTo>
                  <a:pt x="127000" y="28171"/>
                  <a:pt x="162948" y="32664"/>
                  <a:pt x="172903" y="33902"/>
                </a:cubicBezTo>
              </a:path>
            </a:pathLst>
          </a:custGeom>
          <a:noFill/>
          <a:ln w="28575" cap="flat" cmpd="sng">
            <a:solidFill>
              <a:srgbClr val="F1C232"/>
            </a:solidFill>
            <a:prstDash val="solid"/>
            <a:round/>
            <a:headEnd type="none" w="med" len="med"/>
            <a:tailEnd type="triangle" w="med" len="med"/>
          </a:ln>
        </p:spPr>
        <p:txBody>
          <a:bodyPr/>
          <a:lstStyle/>
          <a:p>
            <a:endParaRPr lang="en-US"/>
          </a:p>
        </p:txBody>
      </p:sp>
      <p:sp>
        <p:nvSpPr>
          <p:cNvPr id="1447" name="Google Shape;1447;p64"/>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Congestion Control Challenges: Depends on Path</a:t>
            </a:r>
            <a:endParaRPr/>
          </a:p>
        </p:txBody>
      </p:sp>
      <p:sp>
        <p:nvSpPr>
          <p:cNvPr id="1448" name="Google Shape;1448;p64"/>
          <p:cNvSpPr txBox="1">
            <a:spLocks noGrp="1"/>
          </p:cNvSpPr>
          <p:nvPr>
            <p:ph type="body" idx="1"/>
          </p:nvPr>
        </p:nvSpPr>
        <p:spPr>
          <a:xfrm>
            <a:off x="107050" y="402200"/>
            <a:ext cx="8909700" cy="1755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At what rate should A → E send traffic?</a:t>
            </a:r>
            <a:endParaRPr/>
          </a:p>
          <a:p>
            <a:pPr marL="0" lvl="0" indent="0" algn="l" rtl="0">
              <a:spcBef>
                <a:spcPts val="600"/>
              </a:spcBef>
              <a:spcAft>
                <a:spcPts val="0"/>
              </a:spcAft>
              <a:buNone/>
            </a:pPr>
            <a:r>
              <a:rPr lang="en"/>
              <a:t>It depends on the path through the network.</a:t>
            </a:r>
            <a:endParaRPr/>
          </a:p>
          <a:p>
            <a:pPr marL="457200" lvl="0" indent="-342900" algn="l" rtl="0">
              <a:spcBef>
                <a:spcPts val="600"/>
              </a:spcBef>
              <a:spcAft>
                <a:spcPts val="0"/>
              </a:spcAft>
              <a:buSzPts val="1800"/>
              <a:buChar char="●"/>
            </a:pPr>
            <a:r>
              <a:rPr lang="en">
                <a:solidFill>
                  <a:srgbClr val="FF00FF"/>
                </a:solidFill>
              </a:rPr>
              <a:t>A → E via R3</a:t>
            </a:r>
            <a:r>
              <a:rPr lang="en"/>
              <a:t> can send at 10 Gbps.</a:t>
            </a:r>
            <a:endParaRPr/>
          </a:p>
          <a:p>
            <a:pPr marL="457200" lvl="0" indent="-342900" algn="l" rtl="0">
              <a:spcBef>
                <a:spcPts val="0"/>
              </a:spcBef>
              <a:spcAft>
                <a:spcPts val="0"/>
              </a:spcAft>
              <a:buSzPts val="1800"/>
              <a:buChar char="●"/>
            </a:pPr>
            <a:r>
              <a:rPr lang="en">
                <a:solidFill>
                  <a:srgbClr val="BF9000"/>
                </a:solidFill>
              </a:rPr>
              <a:t>A → E via R2</a:t>
            </a:r>
            <a:r>
              <a:rPr lang="en"/>
              <a:t> can send at 1 Gbps.</a:t>
            </a:r>
            <a:endParaRPr/>
          </a:p>
        </p:txBody>
      </p:sp>
      <p:sp>
        <p:nvSpPr>
          <p:cNvPr id="1449" name="Google Shape;1449;p64"/>
          <p:cNvSpPr/>
          <p:nvPr/>
        </p:nvSpPr>
        <p:spPr>
          <a:xfrm>
            <a:off x="3897375" y="2713714"/>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450" name="Google Shape;1450;p64"/>
          <p:cNvSpPr/>
          <p:nvPr/>
        </p:nvSpPr>
        <p:spPr>
          <a:xfrm>
            <a:off x="3499850" y="3362139"/>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451" name="Google Shape;1451;p64"/>
          <p:cNvSpPr/>
          <p:nvPr/>
        </p:nvSpPr>
        <p:spPr>
          <a:xfrm>
            <a:off x="4614678" y="3288464"/>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1452" name="Google Shape;1452;p64"/>
          <p:cNvCxnSpPr>
            <a:stCxn id="1449" idx="5"/>
            <a:endCxn id="1451" idx="1"/>
          </p:cNvCxnSpPr>
          <p:nvPr/>
        </p:nvCxnSpPr>
        <p:spPr>
          <a:xfrm>
            <a:off x="4140638" y="2956977"/>
            <a:ext cx="474000" cy="474000"/>
          </a:xfrm>
          <a:prstGeom prst="straightConnector1">
            <a:avLst/>
          </a:prstGeom>
          <a:noFill/>
          <a:ln w="19050" cap="flat" cmpd="sng">
            <a:solidFill>
              <a:srgbClr val="000000"/>
            </a:solidFill>
            <a:prstDash val="solid"/>
            <a:round/>
            <a:headEnd type="none" w="med" len="med"/>
            <a:tailEnd type="none" w="med" len="med"/>
          </a:ln>
        </p:spPr>
      </p:cxnSp>
      <p:cxnSp>
        <p:nvCxnSpPr>
          <p:cNvPr id="1453" name="Google Shape;1453;p64"/>
          <p:cNvCxnSpPr>
            <a:stCxn id="1450" idx="6"/>
            <a:endCxn id="1451" idx="1"/>
          </p:cNvCxnSpPr>
          <p:nvPr/>
        </p:nvCxnSpPr>
        <p:spPr>
          <a:xfrm rot="10800000" flipH="1">
            <a:off x="3784850" y="3430839"/>
            <a:ext cx="829800" cy="73800"/>
          </a:xfrm>
          <a:prstGeom prst="straightConnector1">
            <a:avLst/>
          </a:prstGeom>
          <a:noFill/>
          <a:ln w="19050" cap="flat" cmpd="sng">
            <a:solidFill>
              <a:srgbClr val="000000"/>
            </a:solidFill>
            <a:prstDash val="solid"/>
            <a:round/>
            <a:headEnd type="none" w="med" len="med"/>
            <a:tailEnd type="none" w="med" len="med"/>
          </a:ln>
        </p:spPr>
      </p:cxnSp>
      <p:sp>
        <p:nvSpPr>
          <p:cNvPr id="1454" name="Google Shape;1454;p64"/>
          <p:cNvSpPr/>
          <p:nvPr/>
        </p:nvSpPr>
        <p:spPr>
          <a:xfrm>
            <a:off x="5446403" y="3861414"/>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1455" name="Google Shape;1455;p64"/>
          <p:cNvCxnSpPr>
            <a:stCxn id="1451" idx="2"/>
            <a:endCxn id="1454" idx="1"/>
          </p:cNvCxnSpPr>
          <p:nvPr/>
        </p:nvCxnSpPr>
        <p:spPr>
          <a:xfrm>
            <a:off x="4757178" y="3573464"/>
            <a:ext cx="689100" cy="430500"/>
          </a:xfrm>
          <a:prstGeom prst="straightConnector1">
            <a:avLst/>
          </a:prstGeom>
          <a:noFill/>
          <a:ln w="19050" cap="flat" cmpd="sng">
            <a:solidFill>
              <a:srgbClr val="000000"/>
            </a:solidFill>
            <a:prstDash val="solid"/>
            <a:round/>
            <a:headEnd type="none" w="med" len="med"/>
            <a:tailEnd type="none" w="med" len="med"/>
          </a:ln>
        </p:spPr>
      </p:cxnSp>
      <p:sp>
        <p:nvSpPr>
          <p:cNvPr id="1456" name="Google Shape;1456;p64"/>
          <p:cNvSpPr/>
          <p:nvPr/>
        </p:nvSpPr>
        <p:spPr>
          <a:xfrm>
            <a:off x="6633953" y="4089289"/>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1457" name="Google Shape;1457;p64"/>
          <p:cNvCxnSpPr>
            <a:stCxn id="1454" idx="3"/>
            <a:endCxn id="1456" idx="1"/>
          </p:cNvCxnSpPr>
          <p:nvPr/>
        </p:nvCxnSpPr>
        <p:spPr>
          <a:xfrm>
            <a:off x="5731403" y="4003914"/>
            <a:ext cx="902700" cy="228000"/>
          </a:xfrm>
          <a:prstGeom prst="straightConnector1">
            <a:avLst/>
          </a:prstGeom>
          <a:noFill/>
          <a:ln w="19050" cap="flat" cmpd="sng">
            <a:solidFill>
              <a:srgbClr val="000000"/>
            </a:solidFill>
            <a:prstDash val="solid"/>
            <a:round/>
            <a:headEnd type="none" w="med" len="med"/>
            <a:tailEnd type="none" w="med" len="med"/>
          </a:ln>
        </p:spPr>
      </p:cxnSp>
      <p:sp>
        <p:nvSpPr>
          <p:cNvPr id="1458" name="Google Shape;1458;p64"/>
          <p:cNvSpPr/>
          <p:nvPr/>
        </p:nvSpPr>
        <p:spPr>
          <a:xfrm>
            <a:off x="6225253" y="321963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1459" name="Google Shape;1459;p64"/>
          <p:cNvCxnSpPr>
            <a:stCxn id="1458" idx="1"/>
            <a:endCxn id="1454" idx="0"/>
          </p:cNvCxnSpPr>
          <p:nvPr/>
        </p:nvCxnSpPr>
        <p:spPr>
          <a:xfrm flipH="1">
            <a:off x="5588953" y="3362139"/>
            <a:ext cx="636300" cy="499200"/>
          </a:xfrm>
          <a:prstGeom prst="straightConnector1">
            <a:avLst/>
          </a:prstGeom>
          <a:noFill/>
          <a:ln w="19050" cap="flat" cmpd="sng">
            <a:solidFill>
              <a:srgbClr val="000000"/>
            </a:solidFill>
            <a:prstDash val="solid"/>
            <a:round/>
            <a:headEnd type="none" w="med" len="med"/>
            <a:tailEnd type="none" w="med" len="med"/>
          </a:ln>
        </p:spPr>
      </p:cxnSp>
      <p:cxnSp>
        <p:nvCxnSpPr>
          <p:cNvPr id="1460" name="Google Shape;1460;p64"/>
          <p:cNvCxnSpPr>
            <a:stCxn id="1458" idx="3"/>
            <a:endCxn id="1456" idx="0"/>
          </p:cNvCxnSpPr>
          <p:nvPr/>
        </p:nvCxnSpPr>
        <p:spPr>
          <a:xfrm>
            <a:off x="6510253" y="3362139"/>
            <a:ext cx="266100" cy="727200"/>
          </a:xfrm>
          <a:prstGeom prst="straightConnector1">
            <a:avLst/>
          </a:prstGeom>
          <a:noFill/>
          <a:ln w="19050" cap="flat" cmpd="sng">
            <a:solidFill>
              <a:srgbClr val="000000"/>
            </a:solidFill>
            <a:prstDash val="solid"/>
            <a:round/>
            <a:headEnd type="none" w="med" len="med"/>
            <a:tailEnd type="none" w="med" len="med"/>
          </a:ln>
        </p:spPr>
      </p:cxnSp>
      <p:sp>
        <p:nvSpPr>
          <p:cNvPr id="1461" name="Google Shape;1461;p64"/>
          <p:cNvSpPr/>
          <p:nvPr/>
        </p:nvSpPr>
        <p:spPr>
          <a:xfrm>
            <a:off x="5588953" y="248948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1462" name="Google Shape;1462;p64"/>
          <p:cNvCxnSpPr>
            <a:stCxn id="1461" idx="1"/>
            <a:endCxn id="1451" idx="0"/>
          </p:cNvCxnSpPr>
          <p:nvPr/>
        </p:nvCxnSpPr>
        <p:spPr>
          <a:xfrm flipH="1">
            <a:off x="4757053" y="2631989"/>
            <a:ext cx="831900" cy="656400"/>
          </a:xfrm>
          <a:prstGeom prst="straightConnector1">
            <a:avLst/>
          </a:prstGeom>
          <a:noFill/>
          <a:ln w="19050" cap="flat" cmpd="sng">
            <a:solidFill>
              <a:srgbClr val="000000"/>
            </a:solidFill>
            <a:prstDash val="solid"/>
            <a:round/>
            <a:headEnd type="none" w="med" len="med"/>
            <a:tailEnd type="none" w="med" len="med"/>
          </a:ln>
        </p:spPr>
      </p:cxnSp>
      <p:cxnSp>
        <p:nvCxnSpPr>
          <p:cNvPr id="1463" name="Google Shape;1463;p64"/>
          <p:cNvCxnSpPr>
            <a:stCxn id="1461" idx="3"/>
            <a:endCxn id="1458" idx="0"/>
          </p:cNvCxnSpPr>
          <p:nvPr/>
        </p:nvCxnSpPr>
        <p:spPr>
          <a:xfrm>
            <a:off x="5873953" y="2631989"/>
            <a:ext cx="493800" cy="587700"/>
          </a:xfrm>
          <a:prstGeom prst="straightConnector1">
            <a:avLst/>
          </a:prstGeom>
          <a:noFill/>
          <a:ln w="19050" cap="flat" cmpd="sng">
            <a:solidFill>
              <a:srgbClr val="000000"/>
            </a:solidFill>
            <a:prstDash val="solid"/>
            <a:round/>
            <a:headEnd type="none" w="med" len="med"/>
            <a:tailEnd type="none" w="med" len="med"/>
          </a:ln>
        </p:spPr>
      </p:cxnSp>
      <p:cxnSp>
        <p:nvCxnSpPr>
          <p:cNvPr id="1464" name="Google Shape;1464;p64"/>
          <p:cNvCxnSpPr>
            <a:stCxn id="1461" idx="3"/>
            <a:endCxn id="1465" idx="1"/>
          </p:cNvCxnSpPr>
          <p:nvPr/>
        </p:nvCxnSpPr>
        <p:spPr>
          <a:xfrm rot="10800000" flipH="1">
            <a:off x="5873953" y="2489489"/>
            <a:ext cx="1314900" cy="142500"/>
          </a:xfrm>
          <a:prstGeom prst="straightConnector1">
            <a:avLst/>
          </a:prstGeom>
          <a:noFill/>
          <a:ln w="19050" cap="flat" cmpd="sng">
            <a:solidFill>
              <a:srgbClr val="000000"/>
            </a:solidFill>
            <a:prstDash val="solid"/>
            <a:round/>
            <a:headEnd type="none" w="med" len="med"/>
            <a:tailEnd type="none" w="med" len="med"/>
          </a:ln>
        </p:spPr>
      </p:cxnSp>
      <p:sp>
        <p:nvSpPr>
          <p:cNvPr id="1465" name="Google Shape;1465;p64"/>
          <p:cNvSpPr/>
          <p:nvPr/>
        </p:nvSpPr>
        <p:spPr>
          <a:xfrm>
            <a:off x="7188953" y="2346989"/>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466" name="Google Shape;1466;p64"/>
          <p:cNvSpPr/>
          <p:nvPr/>
        </p:nvSpPr>
        <p:spPr>
          <a:xfrm>
            <a:off x="7473953" y="336213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1467" name="Google Shape;1467;p64"/>
          <p:cNvCxnSpPr>
            <a:stCxn id="1466" idx="0"/>
            <a:endCxn id="1465" idx="2"/>
          </p:cNvCxnSpPr>
          <p:nvPr/>
        </p:nvCxnSpPr>
        <p:spPr>
          <a:xfrm rot="10800000">
            <a:off x="7331453" y="2631939"/>
            <a:ext cx="285000" cy="730200"/>
          </a:xfrm>
          <a:prstGeom prst="straightConnector1">
            <a:avLst/>
          </a:prstGeom>
          <a:noFill/>
          <a:ln w="19050" cap="flat" cmpd="sng">
            <a:solidFill>
              <a:srgbClr val="000000"/>
            </a:solidFill>
            <a:prstDash val="solid"/>
            <a:round/>
            <a:headEnd type="none" w="med" len="med"/>
            <a:tailEnd type="none" w="med" len="med"/>
          </a:ln>
        </p:spPr>
      </p:cxnSp>
      <p:cxnSp>
        <p:nvCxnSpPr>
          <p:cNvPr id="1468" name="Google Shape;1468;p64"/>
          <p:cNvCxnSpPr>
            <a:stCxn id="1466" idx="1"/>
            <a:endCxn id="1458" idx="3"/>
          </p:cNvCxnSpPr>
          <p:nvPr/>
        </p:nvCxnSpPr>
        <p:spPr>
          <a:xfrm rot="10800000">
            <a:off x="6510353" y="3362139"/>
            <a:ext cx="963600" cy="142500"/>
          </a:xfrm>
          <a:prstGeom prst="straightConnector1">
            <a:avLst/>
          </a:prstGeom>
          <a:noFill/>
          <a:ln w="19050" cap="flat" cmpd="sng">
            <a:solidFill>
              <a:srgbClr val="000000"/>
            </a:solidFill>
            <a:prstDash val="solid"/>
            <a:round/>
            <a:headEnd type="none" w="med" len="med"/>
            <a:tailEnd type="none" w="med" len="med"/>
          </a:ln>
        </p:spPr>
      </p:cxnSp>
      <p:cxnSp>
        <p:nvCxnSpPr>
          <p:cNvPr id="1469" name="Google Shape;1469;p64"/>
          <p:cNvCxnSpPr>
            <a:stCxn id="1466" idx="2"/>
            <a:endCxn id="1456" idx="3"/>
          </p:cNvCxnSpPr>
          <p:nvPr/>
        </p:nvCxnSpPr>
        <p:spPr>
          <a:xfrm flipH="1">
            <a:off x="6918953" y="3647139"/>
            <a:ext cx="697500" cy="584700"/>
          </a:xfrm>
          <a:prstGeom prst="straightConnector1">
            <a:avLst/>
          </a:prstGeom>
          <a:noFill/>
          <a:ln w="19050" cap="flat" cmpd="sng">
            <a:solidFill>
              <a:srgbClr val="000000"/>
            </a:solidFill>
            <a:prstDash val="solid"/>
            <a:round/>
            <a:headEnd type="none" w="med" len="med"/>
            <a:tailEnd type="none" w="med" len="med"/>
          </a:ln>
        </p:spPr>
      </p:cxnSp>
      <p:sp>
        <p:nvSpPr>
          <p:cNvPr id="1470" name="Google Shape;1470;p64"/>
          <p:cNvSpPr/>
          <p:nvPr/>
        </p:nvSpPr>
        <p:spPr>
          <a:xfrm>
            <a:off x="5588950" y="1920714"/>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1471" name="Google Shape;1471;p64"/>
          <p:cNvCxnSpPr>
            <a:stCxn id="1470" idx="4"/>
            <a:endCxn id="1461" idx="0"/>
          </p:cNvCxnSpPr>
          <p:nvPr/>
        </p:nvCxnSpPr>
        <p:spPr>
          <a:xfrm>
            <a:off x="5731450" y="2205714"/>
            <a:ext cx="0" cy="283800"/>
          </a:xfrm>
          <a:prstGeom prst="straightConnector1">
            <a:avLst/>
          </a:prstGeom>
          <a:noFill/>
          <a:ln w="19050" cap="flat" cmpd="sng">
            <a:solidFill>
              <a:srgbClr val="000000"/>
            </a:solidFill>
            <a:prstDash val="solid"/>
            <a:round/>
            <a:headEnd type="none" w="med" len="med"/>
            <a:tailEnd type="none" w="med" len="med"/>
          </a:ln>
        </p:spPr>
      </p:cxnSp>
      <p:sp>
        <p:nvSpPr>
          <p:cNvPr id="1472" name="Google Shape;1472;p64"/>
          <p:cNvSpPr/>
          <p:nvPr/>
        </p:nvSpPr>
        <p:spPr>
          <a:xfrm>
            <a:off x="8087600" y="2157489"/>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1473" name="Google Shape;1473;p64"/>
          <p:cNvCxnSpPr>
            <a:stCxn id="1472" idx="2"/>
            <a:endCxn id="1465" idx="3"/>
          </p:cNvCxnSpPr>
          <p:nvPr/>
        </p:nvCxnSpPr>
        <p:spPr>
          <a:xfrm flipH="1">
            <a:off x="7474100" y="2299989"/>
            <a:ext cx="613500" cy="189600"/>
          </a:xfrm>
          <a:prstGeom prst="straightConnector1">
            <a:avLst/>
          </a:prstGeom>
          <a:noFill/>
          <a:ln w="19050" cap="flat" cmpd="sng">
            <a:solidFill>
              <a:srgbClr val="000000"/>
            </a:solidFill>
            <a:prstDash val="solid"/>
            <a:round/>
            <a:headEnd type="none" w="med" len="med"/>
            <a:tailEnd type="none" w="med" len="med"/>
          </a:ln>
        </p:spPr>
      </p:cxnSp>
      <p:sp>
        <p:nvSpPr>
          <p:cNvPr id="1474" name="Google Shape;1474;p64"/>
          <p:cNvSpPr/>
          <p:nvPr/>
        </p:nvSpPr>
        <p:spPr>
          <a:xfrm>
            <a:off x="8386925" y="3469239"/>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1475" name="Google Shape;1475;p64"/>
          <p:cNvCxnSpPr>
            <a:stCxn id="1474" idx="2"/>
            <a:endCxn id="1466" idx="3"/>
          </p:cNvCxnSpPr>
          <p:nvPr/>
        </p:nvCxnSpPr>
        <p:spPr>
          <a:xfrm rot="10800000">
            <a:off x="7759025" y="3504639"/>
            <a:ext cx="627900" cy="107100"/>
          </a:xfrm>
          <a:prstGeom prst="straightConnector1">
            <a:avLst/>
          </a:prstGeom>
          <a:noFill/>
          <a:ln w="19050" cap="flat" cmpd="sng">
            <a:solidFill>
              <a:srgbClr val="000000"/>
            </a:solidFill>
            <a:prstDash val="solid"/>
            <a:round/>
            <a:headEnd type="none" w="med" len="med"/>
            <a:tailEnd type="none" w="med" len="med"/>
          </a:ln>
        </p:spPr>
      </p:cxnSp>
      <p:cxnSp>
        <p:nvCxnSpPr>
          <p:cNvPr id="1476" name="Google Shape;1476;p64"/>
          <p:cNvCxnSpPr>
            <a:stCxn id="1477" idx="0"/>
            <a:endCxn id="1456" idx="2"/>
          </p:cNvCxnSpPr>
          <p:nvPr/>
        </p:nvCxnSpPr>
        <p:spPr>
          <a:xfrm rot="10800000">
            <a:off x="6776450" y="4374189"/>
            <a:ext cx="0" cy="280800"/>
          </a:xfrm>
          <a:prstGeom prst="straightConnector1">
            <a:avLst/>
          </a:prstGeom>
          <a:noFill/>
          <a:ln w="19050" cap="flat" cmpd="sng">
            <a:solidFill>
              <a:srgbClr val="000000"/>
            </a:solidFill>
            <a:prstDash val="solid"/>
            <a:round/>
            <a:headEnd type="none" w="med" len="med"/>
            <a:tailEnd type="none" w="med" len="med"/>
          </a:ln>
        </p:spPr>
      </p:cxnSp>
      <p:sp>
        <p:nvSpPr>
          <p:cNvPr id="1477" name="Google Shape;1477;p64"/>
          <p:cNvSpPr/>
          <p:nvPr/>
        </p:nvSpPr>
        <p:spPr>
          <a:xfrm>
            <a:off x="6633950" y="4654989"/>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1478" name="Google Shape;1478;p64"/>
          <p:cNvCxnSpPr>
            <a:stCxn id="1479" idx="0"/>
            <a:endCxn id="1454" idx="2"/>
          </p:cNvCxnSpPr>
          <p:nvPr/>
        </p:nvCxnSpPr>
        <p:spPr>
          <a:xfrm rot="10800000">
            <a:off x="5588900" y="4146489"/>
            <a:ext cx="0" cy="280800"/>
          </a:xfrm>
          <a:prstGeom prst="straightConnector1">
            <a:avLst/>
          </a:prstGeom>
          <a:noFill/>
          <a:ln w="19050" cap="flat" cmpd="sng">
            <a:solidFill>
              <a:srgbClr val="000000"/>
            </a:solidFill>
            <a:prstDash val="solid"/>
            <a:round/>
            <a:headEnd type="none" w="med" len="med"/>
            <a:tailEnd type="none" w="med" len="med"/>
          </a:ln>
        </p:spPr>
      </p:cxnSp>
      <p:sp>
        <p:nvSpPr>
          <p:cNvPr id="1479" name="Google Shape;1479;p64"/>
          <p:cNvSpPr/>
          <p:nvPr/>
        </p:nvSpPr>
        <p:spPr>
          <a:xfrm>
            <a:off x="5446400" y="4427289"/>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480" name="Google Shape;1480;p64"/>
          <p:cNvSpPr txBox="1"/>
          <p:nvPr/>
        </p:nvSpPr>
        <p:spPr>
          <a:xfrm>
            <a:off x="4863363" y="379461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81" name="Google Shape;1481;p64"/>
          <p:cNvSpPr txBox="1"/>
          <p:nvPr/>
        </p:nvSpPr>
        <p:spPr>
          <a:xfrm>
            <a:off x="4929288" y="2720776"/>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1482" name="Google Shape;1482;p64"/>
          <p:cNvSpPr txBox="1"/>
          <p:nvPr/>
        </p:nvSpPr>
        <p:spPr>
          <a:xfrm>
            <a:off x="6130375" y="2760176"/>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1483" name="Google Shape;1483;p64"/>
          <p:cNvSpPr txBox="1"/>
          <p:nvPr/>
        </p:nvSpPr>
        <p:spPr>
          <a:xfrm>
            <a:off x="6388950" y="230425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84" name="Google Shape;1484;p64"/>
          <p:cNvSpPr txBox="1"/>
          <p:nvPr/>
        </p:nvSpPr>
        <p:spPr>
          <a:xfrm>
            <a:off x="7452425" y="281130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85" name="Google Shape;1485;p64"/>
          <p:cNvSpPr txBox="1"/>
          <p:nvPr/>
        </p:nvSpPr>
        <p:spPr>
          <a:xfrm>
            <a:off x="6878325" y="318435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86" name="Google Shape;1486;p64"/>
          <p:cNvSpPr txBox="1"/>
          <p:nvPr/>
        </p:nvSpPr>
        <p:spPr>
          <a:xfrm>
            <a:off x="7251375" y="3868476"/>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487" name="Google Shape;1487;p64"/>
          <p:cNvSpPr txBox="1"/>
          <p:nvPr/>
        </p:nvSpPr>
        <p:spPr>
          <a:xfrm>
            <a:off x="6643300" y="361175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488" name="Google Shape;1488;p64"/>
          <p:cNvSpPr txBox="1"/>
          <p:nvPr/>
        </p:nvSpPr>
        <p:spPr>
          <a:xfrm>
            <a:off x="6063850" y="410340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1489" name="Google Shape;1489;p64"/>
          <p:cNvSpPr txBox="1"/>
          <p:nvPr/>
        </p:nvSpPr>
        <p:spPr>
          <a:xfrm>
            <a:off x="5603988" y="343230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493"/>
        <p:cNvGrpSpPr/>
        <p:nvPr/>
      </p:nvGrpSpPr>
      <p:grpSpPr>
        <a:xfrm>
          <a:off x="0" y="0"/>
          <a:ext cx="0" cy="0"/>
          <a:chOff x="0" y="0"/>
          <a:chExt cx="0" cy="0"/>
        </a:xfrm>
      </p:grpSpPr>
      <p:sp>
        <p:nvSpPr>
          <p:cNvPr id="1494" name="Google Shape;1494;p65"/>
          <p:cNvSpPr/>
          <p:nvPr/>
        </p:nvSpPr>
        <p:spPr>
          <a:xfrm>
            <a:off x="4106650" y="2238925"/>
            <a:ext cx="4108650" cy="1188500"/>
          </a:xfrm>
          <a:custGeom>
            <a:avLst/>
            <a:gdLst/>
            <a:ahLst/>
            <a:cxnLst/>
            <a:rect l="l" t="t" r="r" b="b"/>
            <a:pathLst>
              <a:path w="164346" h="47540" extrusionOk="0">
                <a:moveTo>
                  <a:pt x="0" y="24539"/>
                </a:moveTo>
                <a:cubicBezTo>
                  <a:pt x="4144" y="28306"/>
                  <a:pt x="18028" y="44988"/>
                  <a:pt x="24862" y="47140"/>
                </a:cubicBezTo>
                <a:cubicBezTo>
                  <a:pt x="31696" y="49293"/>
                  <a:pt x="34522" y="42217"/>
                  <a:pt x="41006" y="37454"/>
                </a:cubicBezTo>
                <a:cubicBezTo>
                  <a:pt x="47491" y="32692"/>
                  <a:pt x="56531" y="23005"/>
                  <a:pt x="63769" y="18565"/>
                </a:cubicBezTo>
                <a:cubicBezTo>
                  <a:pt x="71007" y="14125"/>
                  <a:pt x="73670" y="12807"/>
                  <a:pt x="84433" y="10816"/>
                </a:cubicBezTo>
                <a:cubicBezTo>
                  <a:pt x="95196" y="8825"/>
                  <a:pt x="115026" y="8422"/>
                  <a:pt x="128345" y="6619"/>
                </a:cubicBezTo>
                <a:cubicBezTo>
                  <a:pt x="141664" y="4816"/>
                  <a:pt x="158346" y="1103"/>
                  <a:pt x="164346" y="0"/>
                </a:cubicBezTo>
              </a:path>
            </a:pathLst>
          </a:custGeom>
          <a:noFill/>
          <a:ln w="28575" cap="flat" cmpd="sng">
            <a:solidFill>
              <a:srgbClr val="F1C232"/>
            </a:solidFill>
            <a:prstDash val="solid"/>
            <a:round/>
            <a:headEnd type="none" w="med" len="med"/>
            <a:tailEnd type="triangle" w="med" len="med"/>
          </a:ln>
        </p:spPr>
        <p:txBody>
          <a:bodyPr/>
          <a:lstStyle/>
          <a:p>
            <a:endParaRPr lang="en-US"/>
          </a:p>
        </p:txBody>
      </p:sp>
      <p:sp>
        <p:nvSpPr>
          <p:cNvPr id="1495" name="Google Shape;1495;p65"/>
          <p:cNvSpPr/>
          <p:nvPr/>
        </p:nvSpPr>
        <p:spPr>
          <a:xfrm>
            <a:off x="3683800" y="2706750"/>
            <a:ext cx="4766571" cy="854100"/>
          </a:xfrm>
          <a:custGeom>
            <a:avLst/>
            <a:gdLst/>
            <a:ahLst/>
            <a:cxnLst/>
            <a:rect l="l" t="t" r="r" b="b"/>
            <a:pathLst>
              <a:path w="188402" h="34164" extrusionOk="0">
                <a:moveTo>
                  <a:pt x="0" y="34002"/>
                </a:moveTo>
                <a:cubicBezTo>
                  <a:pt x="7480" y="33760"/>
                  <a:pt x="35356" y="34056"/>
                  <a:pt x="44881" y="32549"/>
                </a:cubicBezTo>
                <a:cubicBezTo>
                  <a:pt x="54406" y="31042"/>
                  <a:pt x="50666" y="30316"/>
                  <a:pt x="57150" y="24962"/>
                </a:cubicBezTo>
                <a:cubicBezTo>
                  <a:pt x="63635" y="19608"/>
                  <a:pt x="77438" y="2818"/>
                  <a:pt x="83788" y="423"/>
                </a:cubicBezTo>
                <a:cubicBezTo>
                  <a:pt x="90138" y="-1972"/>
                  <a:pt x="91483" y="6853"/>
                  <a:pt x="95250" y="10593"/>
                </a:cubicBezTo>
                <a:cubicBezTo>
                  <a:pt x="99017" y="14333"/>
                  <a:pt x="102758" y="20710"/>
                  <a:pt x="106390" y="22863"/>
                </a:cubicBezTo>
                <a:cubicBezTo>
                  <a:pt x="110023" y="25016"/>
                  <a:pt x="103376" y="21626"/>
                  <a:pt x="117045" y="23509"/>
                </a:cubicBezTo>
                <a:cubicBezTo>
                  <a:pt x="130714" y="25393"/>
                  <a:pt x="176509" y="32388"/>
                  <a:pt x="188402" y="34164"/>
                </a:cubicBezTo>
              </a:path>
            </a:pathLst>
          </a:custGeom>
          <a:noFill/>
          <a:ln w="28575" cap="flat" cmpd="sng">
            <a:solidFill>
              <a:srgbClr val="FF00FF"/>
            </a:solidFill>
            <a:prstDash val="solid"/>
            <a:round/>
            <a:headEnd type="none" w="med" len="med"/>
            <a:tailEnd type="triangle" w="med" len="med"/>
          </a:ln>
        </p:spPr>
        <p:txBody>
          <a:bodyPr/>
          <a:lstStyle/>
          <a:p>
            <a:endParaRPr lang="en-US"/>
          </a:p>
        </p:txBody>
      </p:sp>
      <p:sp>
        <p:nvSpPr>
          <p:cNvPr id="1496" name="Google Shape;1496;p65"/>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Congestion Control Challenges: Depends on Competing Flows</a:t>
            </a:r>
            <a:endParaRPr/>
          </a:p>
        </p:txBody>
      </p:sp>
      <p:sp>
        <p:nvSpPr>
          <p:cNvPr id="1497" name="Google Shape;1497;p65"/>
          <p:cNvSpPr txBox="1">
            <a:spLocks noGrp="1"/>
          </p:cNvSpPr>
          <p:nvPr>
            <p:ph type="body" idx="1"/>
          </p:nvPr>
        </p:nvSpPr>
        <p:spPr>
          <a:xfrm>
            <a:off x="107050" y="402200"/>
            <a:ext cx="8909700" cy="2087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At what rate should A → F send traffic?</a:t>
            </a:r>
            <a:endParaRPr/>
          </a:p>
          <a:p>
            <a:pPr marL="0" lvl="0" indent="0" algn="l" rtl="0">
              <a:spcBef>
                <a:spcPts val="600"/>
              </a:spcBef>
              <a:spcAft>
                <a:spcPts val="0"/>
              </a:spcAft>
              <a:buNone/>
            </a:pPr>
            <a:r>
              <a:rPr lang="en"/>
              <a:t>It depends on others using the network.</a:t>
            </a:r>
            <a:endParaRPr/>
          </a:p>
          <a:p>
            <a:pPr marL="457200" lvl="0" indent="-342900" algn="l" rtl="0">
              <a:spcBef>
                <a:spcPts val="600"/>
              </a:spcBef>
              <a:spcAft>
                <a:spcPts val="0"/>
              </a:spcAft>
              <a:buSzPts val="1800"/>
              <a:buChar char="●"/>
            </a:pPr>
            <a:r>
              <a:rPr lang="en">
                <a:solidFill>
                  <a:srgbClr val="BF9000"/>
                </a:solidFill>
              </a:rPr>
              <a:t>A → F</a:t>
            </a:r>
            <a:r>
              <a:rPr lang="en"/>
              <a:t> and </a:t>
            </a:r>
            <a:r>
              <a:rPr lang="en">
                <a:solidFill>
                  <a:srgbClr val="FF00FF"/>
                </a:solidFill>
              </a:rPr>
              <a:t>B → E</a:t>
            </a:r>
            <a:r>
              <a:rPr lang="en"/>
              <a:t> share a link.</a:t>
            </a:r>
            <a:endParaRPr/>
          </a:p>
          <a:p>
            <a:pPr marL="457200" lvl="0" indent="-342900" algn="l" rtl="0">
              <a:spcBef>
                <a:spcPts val="0"/>
              </a:spcBef>
              <a:spcAft>
                <a:spcPts val="0"/>
              </a:spcAft>
              <a:buSzPts val="1800"/>
              <a:buChar char="●"/>
            </a:pPr>
            <a:r>
              <a:rPr lang="en">
                <a:solidFill>
                  <a:srgbClr val="FF00FF"/>
                </a:solidFill>
              </a:rPr>
              <a:t>B → E</a:t>
            </a:r>
            <a:r>
              <a:rPr lang="en"/>
              <a:t> can send at 1 Gbps.</a:t>
            </a:r>
            <a:endParaRPr/>
          </a:p>
          <a:p>
            <a:pPr marL="457200" lvl="0" indent="-342900" algn="l" rtl="0">
              <a:spcBef>
                <a:spcPts val="0"/>
              </a:spcBef>
              <a:spcAft>
                <a:spcPts val="0"/>
              </a:spcAft>
              <a:buSzPts val="1800"/>
              <a:buChar char="●"/>
            </a:pPr>
            <a:r>
              <a:rPr lang="en">
                <a:solidFill>
                  <a:srgbClr val="BF9000"/>
                </a:solidFill>
              </a:rPr>
              <a:t>A → F</a:t>
            </a:r>
            <a:r>
              <a:rPr lang="en"/>
              <a:t> can send at 1 Gbps.</a:t>
            </a:r>
            <a:endParaRPr/>
          </a:p>
        </p:txBody>
      </p:sp>
      <p:sp>
        <p:nvSpPr>
          <p:cNvPr id="1498" name="Google Shape;1498;p65"/>
          <p:cNvSpPr/>
          <p:nvPr/>
        </p:nvSpPr>
        <p:spPr>
          <a:xfrm>
            <a:off x="3897375" y="2713714"/>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499" name="Google Shape;1499;p65"/>
          <p:cNvSpPr/>
          <p:nvPr/>
        </p:nvSpPr>
        <p:spPr>
          <a:xfrm>
            <a:off x="3499850" y="3362139"/>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sp>
        <p:nvSpPr>
          <p:cNvPr id="1500" name="Google Shape;1500;p65"/>
          <p:cNvSpPr/>
          <p:nvPr/>
        </p:nvSpPr>
        <p:spPr>
          <a:xfrm>
            <a:off x="4614678" y="3288464"/>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1501" name="Google Shape;1501;p65"/>
          <p:cNvCxnSpPr>
            <a:stCxn id="1498" idx="5"/>
            <a:endCxn id="1500" idx="1"/>
          </p:cNvCxnSpPr>
          <p:nvPr/>
        </p:nvCxnSpPr>
        <p:spPr>
          <a:xfrm>
            <a:off x="4140638" y="2956977"/>
            <a:ext cx="474000" cy="474000"/>
          </a:xfrm>
          <a:prstGeom prst="straightConnector1">
            <a:avLst/>
          </a:prstGeom>
          <a:noFill/>
          <a:ln w="19050" cap="flat" cmpd="sng">
            <a:solidFill>
              <a:srgbClr val="000000"/>
            </a:solidFill>
            <a:prstDash val="solid"/>
            <a:round/>
            <a:headEnd type="none" w="med" len="med"/>
            <a:tailEnd type="none" w="med" len="med"/>
          </a:ln>
        </p:spPr>
      </p:cxnSp>
      <p:cxnSp>
        <p:nvCxnSpPr>
          <p:cNvPr id="1502" name="Google Shape;1502;p65"/>
          <p:cNvCxnSpPr>
            <a:stCxn id="1499" idx="6"/>
            <a:endCxn id="1500" idx="1"/>
          </p:cNvCxnSpPr>
          <p:nvPr/>
        </p:nvCxnSpPr>
        <p:spPr>
          <a:xfrm rot="10800000" flipH="1">
            <a:off x="3784850" y="3430839"/>
            <a:ext cx="829800" cy="73800"/>
          </a:xfrm>
          <a:prstGeom prst="straightConnector1">
            <a:avLst/>
          </a:prstGeom>
          <a:noFill/>
          <a:ln w="19050" cap="flat" cmpd="sng">
            <a:solidFill>
              <a:srgbClr val="000000"/>
            </a:solidFill>
            <a:prstDash val="solid"/>
            <a:round/>
            <a:headEnd type="none" w="med" len="med"/>
            <a:tailEnd type="none" w="med" len="med"/>
          </a:ln>
        </p:spPr>
      </p:cxnSp>
      <p:sp>
        <p:nvSpPr>
          <p:cNvPr id="1503" name="Google Shape;1503;p65"/>
          <p:cNvSpPr/>
          <p:nvPr/>
        </p:nvSpPr>
        <p:spPr>
          <a:xfrm>
            <a:off x="5446403" y="3861414"/>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cxnSp>
        <p:nvCxnSpPr>
          <p:cNvPr id="1504" name="Google Shape;1504;p65"/>
          <p:cNvCxnSpPr>
            <a:stCxn id="1500" idx="2"/>
            <a:endCxn id="1503" idx="1"/>
          </p:cNvCxnSpPr>
          <p:nvPr/>
        </p:nvCxnSpPr>
        <p:spPr>
          <a:xfrm>
            <a:off x="4757178" y="3573464"/>
            <a:ext cx="689100" cy="430500"/>
          </a:xfrm>
          <a:prstGeom prst="straightConnector1">
            <a:avLst/>
          </a:prstGeom>
          <a:noFill/>
          <a:ln w="19050" cap="flat" cmpd="sng">
            <a:solidFill>
              <a:srgbClr val="000000"/>
            </a:solidFill>
            <a:prstDash val="solid"/>
            <a:round/>
            <a:headEnd type="none" w="med" len="med"/>
            <a:tailEnd type="none" w="med" len="med"/>
          </a:ln>
        </p:spPr>
      </p:cxnSp>
      <p:sp>
        <p:nvSpPr>
          <p:cNvPr id="1505" name="Google Shape;1505;p65"/>
          <p:cNvSpPr/>
          <p:nvPr/>
        </p:nvSpPr>
        <p:spPr>
          <a:xfrm>
            <a:off x="6633953" y="4089289"/>
            <a:ext cx="285000" cy="28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cxnSp>
        <p:nvCxnSpPr>
          <p:cNvPr id="1506" name="Google Shape;1506;p65"/>
          <p:cNvCxnSpPr>
            <a:stCxn id="1503" idx="3"/>
            <a:endCxn id="1505" idx="1"/>
          </p:cNvCxnSpPr>
          <p:nvPr/>
        </p:nvCxnSpPr>
        <p:spPr>
          <a:xfrm>
            <a:off x="5731403" y="4003914"/>
            <a:ext cx="902700" cy="228000"/>
          </a:xfrm>
          <a:prstGeom prst="straightConnector1">
            <a:avLst/>
          </a:prstGeom>
          <a:noFill/>
          <a:ln w="19050" cap="flat" cmpd="sng">
            <a:solidFill>
              <a:srgbClr val="000000"/>
            </a:solidFill>
            <a:prstDash val="solid"/>
            <a:round/>
            <a:headEnd type="none" w="med" len="med"/>
            <a:tailEnd type="none" w="med" len="med"/>
          </a:ln>
        </p:spPr>
      </p:cxnSp>
      <p:sp>
        <p:nvSpPr>
          <p:cNvPr id="1507" name="Google Shape;1507;p65"/>
          <p:cNvSpPr/>
          <p:nvPr/>
        </p:nvSpPr>
        <p:spPr>
          <a:xfrm>
            <a:off x="6225253" y="321963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1508" name="Google Shape;1508;p65"/>
          <p:cNvCxnSpPr>
            <a:stCxn id="1507" idx="1"/>
            <a:endCxn id="1503" idx="0"/>
          </p:cNvCxnSpPr>
          <p:nvPr/>
        </p:nvCxnSpPr>
        <p:spPr>
          <a:xfrm flipH="1">
            <a:off x="5588953" y="3362139"/>
            <a:ext cx="636300" cy="499200"/>
          </a:xfrm>
          <a:prstGeom prst="straightConnector1">
            <a:avLst/>
          </a:prstGeom>
          <a:noFill/>
          <a:ln w="19050" cap="flat" cmpd="sng">
            <a:solidFill>
              <a:srgbClr val="000000"/>
            </a:solidFill>
            <a:prstDash val="solid"/>
            <a:round/>
            <a:headEnd type="none" w="med" len="med"/>
            <a:tailEnd type="none" w="med" len="med"/>
          </a:ln>
        </p:spPr>
      </p:cxnSp>
      <p:cxnSp>
        <p:nvCxnSpPr>
          <p:cNvPr id="1509" name="Google Shape;1509;p65"/>
          <p:cNvCxnSpPr>
            <a:stCxn id="1507" idx="3"/>
            <a:endCxn id="1505" idx="0"/>
          </p:cNvCxnSpPr>
          <p:nvPr/>
        </p:nvCxnSpPr>
        <p:spPr>
          <a:xfrm>
            <a:off x="6510253" y="3362139"/>
            <a:ext cx="266100" cy="727200"/>
          </a:xfrm>
          <a:prstGeom prst="straightConnector1">
            <a:avLst/>
          </a:prstGeom>
          <a:noFill/>
          <a:ln w="19050" cap="flat" cmpd="sng">
            <a:solidFill>
              <a:srgbClr val="000000"/>
            </a:solidFill>
            <a:prstDash val="solid"/>
            <a:round/>
            <a:headEnd type="none" w="med" len="med"/>
            <a:tailEnd type="none" w="med" len="med"/>
          </a:ln>
        </p:spPr>
      </p:cxnSp>
      <p:sp>
        <p:nvSpPr>
          <p:cNvPr id="1510" name="Google Shape;1510;p65"/>
          <p:cNvSpPr/>
          <p:nvPr/>
        </p:nvSpPr>
        <p:spPr>
          <a:xfrm>
            <a:off x="5588953" y="248948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cxnSp>
        <p:nvCxnSpPr>
          <p:cNvPr id="1511" name="Google Shape;1511;p65"/>
          <p:cNvCxnSpPr>
            <a:stCxn id="1510" idx="1"/>
            <a:endCxn id="1500" idx="0"/>
          </p:cNvCxnSpPr>
          <p:nvPr/>
        </p:nvCxnSpPr>
        <p:spPr>
          <a:xfrm flipH="1">
            <a:off x="4757053" y="2631989"/>
            <a:ext cx="831900" cy="656400"/>
          </a:xfrm>
          <a:prstGeom prst="straightConnector1">
            <a:avLst/>
          </a:prstGeom>
          <a:noFill/>
          <a:ln w="19050" cap="flat" cmpd="sng">
            <a:solidFill>
              <a:srgbClr val="000000"/>
            </a:solidFill>
            <a:prstDash val="solid"/>
            <a:round/>
            <a:headEnd type="none" w="med" len="med"/>
            <a:tailEnd type="none" w="med" len="med"/>
          </a:ln>
        </p:spPr>
      </p:cxnSp>
      <p:cxnSp>
        <p:nvCxnSpPr>
          <p:cNvPr id="1512" name="Google Shape;1512;p65"/>
          <p:cNvCxnSpPr>
            <a:stCxn id="1510" idx="3"/>
            <a:endCxn id="1507" idx="0"/>
          </p:cNvCxnSpPr>
          <p:nvPr/>
        </p:nvCxnSpPr>
        <p:spPr>
          <a:xfrm>
            <a:off x="5873953" y="2631989"/>
            <a:ext cx="493800" cy="587700"/>
          </a:xfrm>
          <a:prstGeom prst="straightConnector1">
            <a:avLst/>
          </a:prstGeom>
          <a:noFill/>
          <a:ln w="19050" cap="flat" cmpd="sng">
            <a:solidFill>
              <a:srgbClr val="000000"/>
            </a:solidFill>
            <a:prstDash val="solid"/>
            <a:round/>
            <a:headEnd type="none" w="med" len="med"/>
            <a:tailEnd type="none" w="med" len="med"/>
          </a:ln>
        </p:spPr>
      </p:cxnSp>
      <p:cxnSp>
        <p:nvCxnSpPr>
          <p:cNvPr id="1513" name="Google Shape;1513;p65"/>
          <p:cNvCxnSpPr>
            <a:stCxn id="1510" idx="3"/>
            <a:endCxn id="1514" idx="1"/>
          </p:cNvCxnSpPr>
          <p:nvPr/>
        </p:nvCxnSpPr>
        <p:spPr>
          <a:xfrm rot="10800000" flipH="1">
            <a:off x="5873953" y="2489489"/>
            <a:ext cx="1314900" cy="142500"/>
          </a:xfrm>
          <a:prstGeom prst="straightConnector1">
            <a:avLst/>
          </a:prstGeom>
          <a:noFill/>
          <a:ln w="19050" cap="flat" cmpd="sng">
            <a:solidFill>
              <a:srgbClr val="000000"/>
            </a:solidFill>
            <a:prstDash val="solid"/>
            <a:round/>
            <a:headEnd type="none" w="med" len="med"/>
            <a:tailEnd type="none" w="med" len="med"/>
          </a:ln>
        </p:spPr>
      </p:cxnSp>
      <p:sp>
        <p:nvSpPr>
          <p:cNvPr id="1514" name="Google Shape;1514;p65"/>
          <p:cNvSpPr/>
          <p:nvPr/>
        </p:nvSpPr>
        <p:spPr>
          <a:xfrm>
            <a:off x="7188953" y="234698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515" name="Google Shape;1515;p65"/>
          <p:cNvSpPr/>
          <p:nvPr/>
        </p:nvSpPr>
        <p:spPr>
          <a:xfrm>
            <a:off x="7473953" y="336213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cxnSp>
        <p:nvCxnSpPr>
          <p:cNvPr id="1516" name="Google Shape;1516;p65"/>
          <p:cNvCxnSpPr>
            <a:stCxn id="1515" idx="0"/>
            <a:endCxn id="1514" idx="2"/>
          </p:cNvCxnSpPr>
          <p:nvPr/>
        </p:nvCxnSpPr>
        <p:spPr>
          <a:xfrm rot="10800000">
            <a:off x="7331453" y="2631939"/>
            <a:ext cx="285000" cy="730200"/>
          </a:xfrm>
          <a:prstGeom prst="straightConnector1">
            <a:avLst/>
          </a:prstGeom>
          <a:noFill/>
          <a:ln w="19050" cap="flat" cmpd="sng">
            <a:solidFill>
              <a:srgbClr val="000000"/>
            </a:solidFill>
            <a:prstDash val="solid"/>
            <a:round/>
            <a:headEnd type="none" w="med" len="med"/>
            <a:tailEnd type="none" w="med" len="med"/>
          </a:ln>
        </p:spPr>
      </p:cxnSp>
      <p:cxnSp>
        <p:nvCxnSpPr>
          <p:cNvPr id="1517" name="Google Shape;1517;p65"/>
          <p:cNvCxnSpPr>
            <a:stCxn id="1515" idx="1"/>
            <a:endCxn id="1507" idx="3"/>
          </p:cNvCxnSpPr>
          <p:nvPr/>
        </p:nvCxnSpPr>
        <p:spPr>
          <a:xfrm rot="10800000">
            <a:off x="6510353" y="3362139"/>
            <a:ext cx="963600" cy="142500"/>
          </a:xfrm>
          <a:prstGeom prst="straightConnector1">
            <a:avLst/>
          </a:prstGeom>
          <a:noFill/>
          <a:ln w="19050" cap="flat" cmpd="sng">
            <a:solidFill>
              <a:srgbClr val="000000"/>
            </a:solidFill>
            <a:prstDash val="solid"/>
            <a:round/>
            <a:headEnd type="none" w="med" len="med"/>
            <a:tailEnd type="none" w="med" len="med"/>
          </a:ln>
        </p:spPr>
      </p:cxnSp>
      <p:cxnSp>
        <p:nvCxnSpPr>
          <p:cNvPr id="1518" name="Google Shape;1518;p65"/>
          <p:cNvCxnSpPr>
            <a:stCxn id="1515" idx="2"/>
            <a:endCxn id="1505" idx="3"/>
          </p:cNvCxnSpPr>
          <p:nvPr/>
        </p:nvCxnSpPr>
        <p:spPr>
          <a:xfrm flipH="1">
            <a:off x="6918953" y="3647139"/>
            <a:ext cx="697500" cy="584700"/>
          </a:xfrm>
          <a:prstGeom prst="straightConnector1">
            <a:avLst/>
          </a:prstGeom>
          <a:noFill/>
          <a:ln w="19050" cap="flat" cmpd="sng">
            <a:solidFill>
              <a:srgbClr val="000000"/>
            </a:solidFill>
            <a:prstDash val="solid"/>
            <a:round/>
            <a:headEnd type="none" w="med" len="med"/>
            <a:tailEnd type="none" w="med" len="med"/>
          </a:ln>
        </p:spPr>
      </p:cxnSp>
      <p:sp>
        <p:nvSpPr>
          <p:cNvPr id="1519" name="Google Shape;1519;p65"/>
          <p:cNvSpPr/>
          <p:nvPr/>
        </p:nvSpPr>
        <p:spPr>
          <a:xfrm>
            <a:off x="5588950" y="1920714"/>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1520" name="Google Shape;1520;p65"/>
          <p:cNvCxnSpPr>
            <a:stCxn id="1519" idx="4"/>
            <a:endCxn id="1510" idx="0"/>
          </p:cNvCxnSpPr>
          <p:nvPr/>
        </p:nvCxnSpPr>
        <p:spPr>
          <a:xfrm>
            <a:off x="5731450" y="2205714"/>
            <a:ext cx="0" cy="283800"/>
          </a:xfrm>
          <a:prstGeom prst="straightConnector1">
            <a:avLst/>
          </a:prstGeom>
          <a:noFill/>
          <a:ln w="19050" cap="flat" cmpd="sng">
            <a:solidFill>
              <a:srgbClr val="000000"/>
            </a:solidFill>
            <a:prstDash val="solid"/>
            <a:round/>
            <a:headEnd type="none" w="med" len="med"/>
            <a:tailEnd type="none" w="med" len="med"/>
          </a:ln>
        </p:spPr>
      </p:cxnSp>
      <p:sp>
        <p:nvSpPr>
          <p:cNvPr id="1521" name="Google Shape;1521;p65"/>
          <p:cNvSpPr/>
          <p:nvPr/>
        </p:nvSpPr>
        <p:spPr>
          <a:xfrm>
            <a:off x="8087600" y="2157489"/>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1522" name="Google Shape;1522;p65"/>
          <p:cNvCxnSpPr>
            <a:stCxn id="1521" idx="2"/>
            <a:endCxn id="1514" idx="3"/>
          </p:cNvCxnSpPr>
          <p:nvPr/>
        </p:nvCxnSpPr>
        <p:spPr>
          <a:xfrm flipH="1">
            <a:off x="7474100" y="2299989"/>
            <a:ext cx="613500" cy="189600"/>
          </a:xfrm>
          <a:prstGeom prst="straightConnector1">
            <a:avLst/>
          </a:prstGeom>
          <a:noFill/>
          <a:ln w="19050" cap="flat" cmpd="sng">
            <a:solidFill>
              <a:srgbClr val="000000"/>
            </a:solidFill>
            <a:prstDash val="solid"/>
            <a:round/>
            <a:headEnd type="none" w="med" len="med"/>
            <a:tailEnd type="none" w="med" len="med"/>
          </a:ln>
        </p:spPr>
      </p:cxnSp>
      <p:sp>
        <p:nvSpPr>
          <p:cNvPr id="1523" name="Google Shape;1523;p65"/>
          <p:cNvSpPr/>
          <p:nvPr/>
        </p:nvSpPr>
        <p:spPr>
          <a:xfrm>
            <a:off x="8386925" y="3469239"/>
            <a:ext cx="285000" cy="285000"/>
          </a:xfrm>
          <a:prstGeom prst="ellipse">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1524" name="Google Shape;1524;p65"/>
          <p:cNvCxnSpPr>
            <a:stCxn id="1523" idx="2"/>
            <a:endCxn id="1515" idx="3"/>
          </p:cNvCxnSpPr>
          <p:nvPr/>
        </p:nvCxnSpPr>
        <p:spPr>
          <a:xfrm rot="10800000">
            <a:off x="7759025" y="3504639"/>
            <a:ext cx="627900" cy="107100"/>
          </a:xfrm>
          <a:prstGeom prst="straightConnector1">
            <a:avLst/>
          </a:prstGeom>
          <a:noFill/>
          <a:ln w="19050" cap="flat" cmpd="sng">
            <a:solidFill>
              <a:srgbClr val="000000"/>
            </a:solidFill>
            <a:prstDash val="solid"/>
            <a:round/>
            <a:headEnd type="none" w="med" len="med"/>
            <a:tailEnd type="none" w="med" len="med"/>
          </a:ln>
        </p:spPr>
      </p:cxnSp>
      <p:cxnSp>
        <p:nvCxnSpPr>
          <p:cNvPr id="1525" name="Google Shape;1525;p65"/>
          <p:cNvCxnSpPr>
            <a:stCxn id="1526" idx="0"/>
            <a:endCxn id="1505" idx="2"/>
          </p:cNvCxnSpPr>
          <p:nvPr/>
        </p:nvCxnSpPr>
        <p:spPr>
          <a:xfrm rot="10800000">
            <a:off x="6776450" y="4374189"/>
            <a:ext cx="0" cy="280800"/>
          </a:xfrm>
          <a:prstGeom prst="straightConnector1">
            <a:avLst/>
          </a:prstGeom>
          <a:noFill/>
          <a:ln w="19050" cap="flat" cmpd="sng">
            <a:solidFill>
              <a:srgbClr val="000000"/>
            </a:solidFill>
            <a:prstDash val="solid"/>
            <a:round/>
            <a:headEnd type="none" w="med" len="med"/>
            <a:tailEnd type="none" w="med" len="med"/>
          </a:ln>
        </p:spPr>
      </p:cxnSp>
      <p:sp>
        <p:nvSpPr>
          <p:cNvPr id="1526" name="Google Shape;1526;p65"/>
          <p:cNvSpPr/>
          <p:nvPr/>
        </p:nvSpPr>
        <p:spPr>
          <a:xfrm>
            <a:off x="6633950" y="4654989"/>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1527" name="Google Shape;1527;p65"/>
          <p:cNvCxnSpPr>
            <a:stCxn id="1528" idx="0"/>
            <a:endCxn id="1503" idx="2"/>
          </p:cNvCxnSpPr>
          <p:nvPr/>
        </p:nvCxnSpPr>
        <p:spPr>
          <a:xfrm rot="10800000">
            <a:off x="5588900" y="4146489"/>
            <a:ext cx="0" cy="280800"/>
          </a:xfrm>
          <a:prstGeom prst="straightConnector1">
            <a:avLst/>
          </a:prstGeom>
          <a:noFill/>
          <a:ln w="19050" cap="flat" cmpd="sng">
            <a:solidFill>
              <a:srgbClr val="000000"/>
            </a:solidFill>
            <a:prstDash val="solid"/>
            <a:round/>
            <a:headEnd type="none" w="med" len="med"/>
            <a:tailEnd type="none" w="med" len="med"/>
          </a:ln>
        </p:spPr>
      </p:cxnSp>
      <p:sp>
        <p:nvSpPr>
          <p:cNvPr id="1528" name="Google Shape;1528;p65"/>
          <p:cNvSpPr/>
          <p:nvPr/>
        </p:nvSpPr>
        <p:spPr>
          <a:xfrm>
            <a:off x="5446400" y="4427289"/>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529" name="Google Shape;1529;p65"/>
          <p:cNvSpPr txBox="1"/>
          <p:nvPr/>
        </p:nvSpPr>
        <p:spPr>
          <a:xfrm>
            <a:off x="4863363" y="379461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30" name="Google Shape;1530;p65"/>
          <p:cNvSpPr txBox="1"/>
          <p:nvPr/>
        </p:nvSpPr>
        <p:spPr>
          <a:xfrm>
            <a:off x="4929288" y="2720776"/>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1531" name="Google Shape;1531;p65"/>
          <p:cNvSpPr txBox="1"/>
          <p:nvPr/>
        </p:nvSpPr>
        <p:spPr>
          <a:xfrm>
            <a:off x="6130375" y="2760176"/>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1532" name="Google Shape;1532;p65"/>
          <p:cNvSpPr txBox="1"/>
          <p:nvPr/>
        </p:nvSpPr>
        <p:spPr>
          <a:xfrm>
            <a:off x="6388950" y="230425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33" name="Google Shape;1533;p65"/>
          <p:cNvSpPr txBox="1"/>
          <p:nvPr/>
        </p:nvSpPr>
        <p:spPr>
          <a:xfrm>
            <a:off x="7452425" y="281130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34" name="Google Shape;1534;p65"/>
          <p:cNvSpPr txBox="1"/>
          <p:nvPr/>
        </p:nvSpPr>
        <p:spPr>
          <a:xfrm>
            <a:off x="6878325" y="318435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35" name="Google Shape;1535;p65"/>
          <p:cNvSpPr txBox="1"/>
          <p:nvPr/>
        </p:nvSpPr>
        <p:spPr>
          <a:xfrm>
            <a:off x="7251375" y="3868476"/>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36" name="Google Shape;1536;p65"/>
          <p:cNvSpPr txBox="1"/>
          <p:nvPr/>
        </p:nvSpPr>
        <p:spPr>
          <a:xfrm>
            <a:off x="6643300" y="361175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37" name="Google Shape;1537;p65"/>
          <p:cNvSpPr txBox="1"/>
          <p:nvPr/>
        </p:nvSpPr>
        <p:spPr>
          <a:xfrm>
            <a:off x="6063850" y="410340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1538" name="Google Shape;1538;p65"/>
          <p:cNvSpPr txBox="1"/>
          <p:nvPr/>
        </p:nvSpPr>
        <p:spPr>
          <a:xfrm>
            <a:off x="5603988" y="343230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42"/>
        <p:cNvGrpSpPr/>
        <p:nvPr/>
      </p:nvGrpSpPr>
      <p:grpSpPr>
        <a:xfrm>
          <a:off x="0" y="0"/>
          <a:ext cx="0" cy="0"/>
          <a:chOff x="0" y="0"/>
          <a:chExt cx="0" cy="0"/>
        </a:xfrm>
      </p:grpSpPr>
      <p:sp>
        <p:nvSpPr>
          <p:cNvPr id="1543" name="Google Shape;1543;p66"/>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Congestion Control Challenges: Depends on Indirect Competition</a:t>
            </a:r>
            <a:endParaRPr/>
          </a:p>
        </p:txBody>
      </p:sp>
      <p:sp>
        <p:nvSpPr>
          <p:cNvPr id="1544" name="Google Shape;1544;p66"/>
          <p:cNvSpPr txBox="1">
            <a:spLocks noGrp="1"/>
          </p:cNvSpPr>
          <p:nvPr>
            <p:ph type="body" idx="1"/>
          </p:nvPr>
        </p:nvSpPr>
        <p:spPr>
          <a:xfrm>
            <a:off x="107050" y="402200"/>
            <a:ext cx="8909700" cy="20874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What if </a:t>
            </a:r>
            <a:r>
              <a:rPr lang="en">
                <a:solidFill>
                  <a:srgbClr val="0000FF"/>
                </a:solidFill>
              </a:rPr>
              <a:t>G → D</a:t>
            </a:r>
            <a:r>
              <a:rPr lang="en"/>
              <a:t> starts sending traffic?</a:t>
            </a:r>
            <a:endParaRPr/>
          </a:p>
          <a:p>
            <a:pPr marL="457200" lvl="0" indent="-342900" algn="l" rtl="0">
              <a:spcBef>
                <a:spcPts val="600"/>
              </a:spcBef>
              <a:spcAft>
                <a:spcPts val="0"/>
              </a:spcAft>
              <a:buSzPts val="1800"/>
              <a:buChar char="●"/>
            </a:pPr>
            <a:r>
              <a:rPr lang="en"/>
              <a:t>Maybe </a:t>
            </a:r>
            <a:r>
              <a:rPr lang="en">
                <a:solidFill>
                  <a:srgbClr val="FF00FF"/>
                </a:solidFill>
              </a:rPr>
              <a:t>B → E</a:t>
            </a:r>
            <a:r>
              <a:rPr lang="en"/>
              <a:t> should slow to 0.5 Gbps.</a:t>
            </a:r>
            <a:endParaRPr/>
          </a:p>
          <a:p>
            <a:pPr marL="457200" lvl="0" indent="-342900" algn="l" rtl="0">
              <a:spcBef>
                <a:spcPts val="0"/>
              </a:spcBef>
              <a:spcAft>
                <a:spcPts val="0"/>
              </a:spcAft>
              <a:buSzPts val="1800"/>
              <a:buChar char="●"/>
            </a:pPr>
            <a:r>
              <a:rPr lang="en"/>
              <a:t>Then </a:t>
            </a:r>
            <a:r>
              <a:rPr lang="en">
                <a:solidFill>
                  <a:srgbClr val="BF9000"/>
                </a:solidFill>
              </a:rPr>
              <a:t>A → F</a:t>
            </a:r>
            <a:r>
              <a:rPr lang="en"/>
              <a:t> could increase to 1.5 Gbps.</a:t>
            </a:r>
            <a:endParaRPr/>
          </a:p>
          <a:p>
            <a:pPr marL="0" lvl="0" indent="0" algn="l" rtl="0">
              <a:spcBef>
                <a:spcPts val="600"/>
              </a:spcBef>
              <a:spcAft>
                <a:spcPts val="0"/>
              </a:spcAft>
              <a:buNone/>
            </a:pPr>
            <a:r>
              <a:rPr lang="en">
                <a:solidFill>
                  <a:srgbClr val="0000FF"/>
                </a:solidFill>
              </a:rPr>
              <a:t>G → D</a:t>
            </a:r>
            <a:r>
              <a:rPr lang="en"/>
              <a:t> and </a:t>
            </a:r>
            <a:r>
              <a:rPr lang="en">
                <a:solidFill>
                  <a:srgbClr val="BF9000"/>
                </a:solidFill>
              </a:rPr>
              <a:t>A → F</a:t>
            </a:r>
            <a:r>
              <a:rPr lang="en"/>
              <a:t> share no links, but they</a:t>
            </a:r>
            <a:br>
              <a:rPr lang="en"/>
            </a:br>
            <a:r>
              <a:rPr lang="en"/>
              <a:t>still affected each other's bandwidth.</a:t>
            </a:r>
            <a:endParaRPr/>
          </a:p>
        </p:txBody>
      </p:sp>
      <p:sp>
        <p:nvSpPr>
          <p:cNvPr id="1545" name="Google Shape;1545;p66"/>
          <p:cNvSpPr/>
          <p:nvPr/>
        </p:nvSpPr>
        <p:spPr>
          <a:xfrm>
            <a:off x="3897375" y="2713714"/>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A</a:t>
            </a:r>
            <a:endParaRPr>
              <a:latin typeface="Roboto"/>
              <a:ea typeface="Roboto"/>
              <a:cs typeface="Roboto"/>
              <a:sym typeface="Roboto"/>
            </a:endParaRPr>
          </a:p>
        </p:txBody>
      </p:sp>
      <p:sp>
        <p:nvSpPr>
          <p:cNvPr id="1546" name="Google Shape;1546;p66"/>
          <p:cNvSpPr/>
          <p:nvPr/>
        </p:nvSpPr>
        <p:spPr>
          <a:xfrm>
            <a:off x="3499850" y="3362139"/>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B</a:t>
            </a:r>
            <a:endParaRPr>
              <a:latin typeface="Roboto"/>
              <a:ea typeface="Roboto"/>
              <a:cs typeface="Roboto"/>
              <a:sym typeface="Roboto"/>
            </a:endParaRPr>
          </a:p>
        </p:txBody>
      </p:sp>
      <p:cxnSp>
        <p:nvCxnSpPr>
          <p:cNvPr id="1547" name="Google Shape;1547;p66"/>
          <p:cNvCxnSpPr>
            <a:stCxn id="1545" idx="5"/>
            <a:endCxn id="1548" idx="1"/>
          </p:cNvCxnSpPr>
          <p:nvPr/>
        </p:nvCxnSpPr>
        <p:spPr>
          <a:xfrm>
            <a:off x="4140638" y="2956977"/>
            <a:ext cx="474000" cy="474000"/>
          </a:xfrm>
          <a:prstGeom prst="straightConnector1">
            <a:avLst/>
          </a:prstGeom>
          <a:noFill/>
          <a:ln w="19050" cap="flat" cmpd="sng">
            <a:solidFill>
              <a:srgbClr val="000000"/>
            </a:solidFill>
            <a:prstDash val="solid"/>
            <a:round/>
            <a:headEnd type="none" w="med" len="med"/>
            <a:tailEnd type="none" w="med" len="med"/>
          </a:ln>
        </p:spPr>
      </p:cxnSp>
      <p:cxnSp>
        <p:nvCxnSpPr>
          <p:cNvPr id="1549" name="Google Shape;1549;p66"/>
          <p:cNvCxnSpPr>
            <a:stCxn id="1546" idx="6"/>
            <a:endCxn id="1548" idx="1"/>
          </p:cNvCxnSpPr>
          <p:nvPr/>
        </p:nvCxnSpPr>
        <p:spPr>
          <a:xfrm rot="10800000" flipH="1">
            <a:off x="3784850" y="3430839"/>
            <a:ext cx="829800" cy="73800"/>
          </a:xfrm>
          <a:prstGeom prst="straightConnector1">
            <a:avLst/>
          </a:prstGeom>
          <a:noFill/>
          <a:ln w="19050" cap="flat" cmpd="sng">
            <a:solidFill>
              <a:srgbClr val="000000"/>
            </a:solidFill>
            <a:prstDash val="solid"/>
            <a:round/>
            <a:headEnd type="none" w="med" len="med"/>
            <a:tailEnd type="none" w="med" len="med"/>
          </a:ln>
        </p:spPr>
      </p:cxnSp>
      <p:cxnSp>
        <p:nvCxnSpPr>
          <p:cNvPr id="1550" name="Google Shape;1550;p66"/>
          <p:cNvCxnSpPr>
            <a:stCxn id="1548" idx="2"/>
            <a:endCxn id="1551" idx="1"/>
          </p:cNvCxnSpPr>
          <p:nvPr/>
        </p:nvCxnSpPr>
        <p:spPr>
          <a:xfrm>
            <a:off x="4757178" y="3573464"/>
            <a:ext cx="689100" cy="430500"/>
          </a:xfrm>
          <a:prstGeom prst="straightConnector1">
            <a:avLst/>
          </a:prstGeom>
          <a:noFill/>
          <a:ln w="19050" cap="flat" cmpd="sng">
            <a:solidFill>
              <a:srgbClr val="000000"/>
            </a:solidFill>
            <a:prstDash val="solid"/>
            <a:round/>
            <a:headEnd type="none" w="med" len="med"/>
            <a:tailEnd type="none" w="med" len="med"/>
          </a:ln>
        </p:spPr>
      </p:cxnSp>
      <p:cxnSp>
        <p:nvCxnSpPr>
          <p:cNvPr id="1552" name="Google Shape;1552;p66"/>
          <p:cNvCxnSpPr>
            <a:stCxn id="1551" idx="3"/>
            <a:endCxn id="1553" idx="1"/>
          </p:cNvCxnSpPr>
          <p:nvPr/>
        </p:nvCxnSpPr>
        <p:spPr>
          <a:xfrm>
            <a:off x="5731403" y="4003914"/>
            <a:ext cx="902700" cy="228000"/>
          </a:xfrm>
          <a:prstGeom prst="straightConnector1">
            <a:avLst/>
          </a:prstGeom>
          <a:noFill/>
          <a:ln w="19050" cap="flat" cmpd="sng">
            <a:solidFill>
              <a:srgbClr val="000000"/>
            </a:solidFill>
            <a:prstDash val="solid"/>
            <a:round/>
            <a:headEnd type="none" w="med" len="med"/>
            <a:tailEnd type="none" w="med" len="med"/>
          </a:ln>
        </p:spPr>
      </p:cxnSp>
      <p:cxnSp>
        <p:nvCxnSpPr>
          <p:cNvPr id="1554" name="Google Shape;1554;p66"/>
          <p:cNvCxnSpPr>
            <a:stCxn id="1555" idx="1"/>
            <a:endCxn id="1551" idx="0"/>
          </p:cNvCxnSpPr>
          <p:nvPr/>
        </p:nvCxnSpPr>
        <p:spPr>
          <a:xfrm flipH="1">
            <a:off x="5588953" y="3362139"/>
            <a:ext cx="636300" cy="499200"/>
          </a:xfrm>
          <a:prstGeom prst="straightConnector1">
            <a:avLst/>
          </a:prstGeom>
          <a:noFill/>
          <a:ln w="19050" cap="flat" cmpd="sng">
            <a:solidFill>
              <a:srgbClr val="000000"/>
            </a:solidFill>
            <a:prstDash val="solid"/>
            <a:round/>
            <a:headEnd type="none" w="med" len="med"/>
            <a:tailEnd type="none" w="med" len="med"/>
          </a:ln>
        </p:spPr>
      </p:cxnSp>
      <p:cxnSp>
        <p:nvCxnSpPr>
          <p:cNvPr id="1556" name="Google Shape;1556;p66"/>
          <p:cNvCxnSpPr>
            <a:stCxn id="1555" idx="3"/>
            <a:endCxn id="1553" idx="0"/>
          </p:cNvCxnSpPr>
          <p:nvPr/>
        </p:nvCxnSpPr>
        <p:spPr>
          <a:xfrm>
            <a:off x="6510253" y="3362139"/>
            <a:ext cx="266100" cy="727200"/>
          </a:xfrm>
          <a:prstGeom prst="straightConnector1">
            <a:avLst/>
          </a:prstGeom>
          <a:noFill/>
          <a:ln w="19050" cap="flat" cmpd="sng">
            <a:solidFill>
              <a:srgbClr val="000000"/>
            </a:solidFill>
            <a:prstDash val="solid"/>
            <a:round/>
            <a:headEnd type="none" w="med" len="med"/>
            <a:tailEnd type="none" w="med" len="med"/>
          </a:ln>
        </p:spPr>
      </p:cxnSp>
      <p:cxnSp>
        <p:nvCxnSpPr>
          <p:cNvPr id="1557" name="Google Shape;1557;p66"/>
          <p:cNvCxnSpPr>
            <a:stCxn id="1558" idx="1"/>
            <a:endCxn id="1548" idx="0"/>
          </p:cNvCxnSpPr>
          <p:nvPr/>
        </p:nvCxnSpPr>
        <p:spPr>
          <a:xfrm flipH="1">
            <a:off x="4757053" y="2631989"/>
            <a:ext cx="831900" cy="656400"/>
          </a:xfrm>
          <a:prstGeom prst="straightConnector1">
            <a:avLst/>
          </a:prstGeom>
          <a:noFill/>
          <a:ln w="19050" cap="flat" cmpd="sng">
            <a:solidFill>
              <a:srgbClr val="000000"/>
            </a:solidFill>
            <a:prstDash val="solid"/>
            <a:round/>
            <a:headEnd type="none" w="med" len="med"/>
            <a:tailEnd type="none" w="med" len="med"/>
          </a:ln>
        </p:spPr>
      </p:cxnSp>
      <p:cxnSp>
        <p:nvCxnSpPr>
          <p:cNvPr id="1559" name="Google Shape;1559;p66"/>
          <p:cNvCxnSpPr>
            <a:stCxn id="1558" idx="3"/>
            <a:endCxn id="1555" idx="0"/>
          </p:cNvCxnSpPr>
          <p:nvPr/>
        </p:nvCxnSpPr>
        <p:spPr>
          <a:xfrm>
            <a:off x="5873953" y="2631989"/>
            <a:ext cx="493800" cy="587700"/>
          </a:xfrm>
          <a:prstGeom prst="straightConnector1">
            <a:avLst/>
          </a:prstGeom>
          <a:noFill/>
          <a:ln w="19050" cap="flat" cmpd="sng">
            <a:solidFill>
              <a:srgbClr val="000000"/>
            </a:solidFill>
            <a:prstDash val="solid"/>
            <a:round/>
            <a:headEnd type="none" w="med" len="med"/>
            <a:tailEnd type="none" w="med" len="med"/>
          </a:ln>
        </p:spPr>
      </p:cxnSp>
      <p:cxnSp>
        <p:nvCxnSpPr>
          <p:cNvPr id="1560" name="Google Shape;1560;p66"/>
          <p:cNvCxnSpPr>
            <a:stCxn id="1558" idx="3"/>
            <a:endCxn id="1561" idx="1"/>
          </p:cNvCxnSpPr>
          <p:nvPr/>
        </p:nvCxnSpPr>
        <p:spPr>
          <a:xfrm rot="10800000" flipH="1">
            <a:off x="5873953" y="2489489"/>
            <a:ext cx="1314900" cy="142500"/>
          </a:xfrm>
          <a:prstGeom prst="straightConnector1">
            <a:avLst/>
          </a:prstGeom>
          <a:noFill/>
          <a:ln w="19050" cap="flat" cmpd="sng">
            <a:solidFill>
              <a:srgbClr val="000000"/>
            </a:solidFill>
            <a:prstDash val="solid"/>
            <a:round/>
            <a:headEnd type="none" w="med" len="med"/>
            <a:tailEnd type="none" w="med" len="med"/>
          </a:ln>
        </p:spPr>
      </p:cxnSp>
      <p:cxnSp>
        <p:nvCxnSpPr>
          <p:cNvPr id="1562" name="Google Shape;1562;p66"/>
          <p:cNvCxnSpPr>
            <a:stCxn id="1563" idx="0"/>
            <a:endCxn id="1561" idx="2"/>
          </p:cNvCxnSpPr>
          <p:nvPr/>
        </p:nvCxnSpPr>
        <p:spPr>
          <a:xfrm rot="10800000">
            <a:off x="7331453" y="2631939"/>
            <a:ext cx="285000" cy="730200"/>
          </a:xfrm>
          <a:prstGeom prst="straightConnector1">
            <a:avLst/>
          </a:prstGeom>
          <a:noFill/>
          <a:ln w="19050" cap="flat" cmpd="sng">
            <a:solidFill>
              <a:srgbClr val="000000"/>
            </a:solidFill>
            <a:prstDash val="solid"/>
            <a:round/>
            <a:headEnd type="none" w="med" len="med"/>
            <a:tailEnd type="none" w="med" len="med"/>
          </a:ln>
        </p:spPr>
      </p:cxnSp>
      <p:cxnSp>
        <p:nvCxnSpPr>
          <p:cNvPr id="1564" name="Google Shape;1564;p66"/>
          <p:cNvCxnSpPr>
            <a:stCxn id="1563" idx="1"/>
            <a:endCxn id="1555" idx="3"/>
          </p:cNvCxnSpPr>
          <p:nvPr/>
        </p:nvCxnSpPr>
        <p:spPr>
          <a:xfrm rot="10800000">
            <a:off x="6510353" y="3362139"/>
            <a:ext cx="963600" cy="142500"/>
          </a:xfrm>
          <a:prstGeom prst="straightConnector1">
            <a:avLst/>
          </a:prstGeom>
          <a:noFill/>
          <a:ln w="19050" cap="flat" cmpd="sng">
            <a:solidFill>
              <a:srgbClr val="000000"/>
            </a:solidFill>
            <a:prstDash val="solid"/>
            <a:round/>
            <a:headEnd type="none" w="med" len="med"/>
            <a:tailEnd type="none" w="med" len="med"/>
          </a:ln>
        </p:spPr>
      </p:cxnSp>
      <p:cxnSp>
        <p:nvCxnSpPr>
          <p:cNvPr id="1565" name="Google Shape;1565;p66"/>
          <p:cNvCxnSpPr>
            <a:stCxn id="1563" idx="2"/>
            <a:endCxn id="1553" idx="3"/>
          </p:cNvCxnSpPr>
          <p:nvPr/>
        </p:nvCxnSpPr>
        <p:spPr>
          <a:xfrm flipH="1">
            <a:off x="6918953" y="3647139"/>
            <a:ext cx="697500" cy="584700"/>
          </a:xfrm>
          <a:prstGeom prst="straightConnector1">
            <a:avLst/>
          </a:prstGeom>
          <a:noFill/>
          <a:ln w="19050" cap="flat" cmpd="sng">
            <a:solidFill>
              <a:srgbClr val="000000"/>
            </a:solidFill>
            <a:prstDash val="solid"/>
            <a:round/>
            <a:headEnd type="none" w="med" len="med"/>
            <a:tailEnd type="none" w="med" len="med"/>
          </a:ln>
        </p:spPr>
      </p:cxnSp>
      <p:sp>
        <p:nvSpPr>
          <p:cNvPr id="1566" name="Google Shape;1566;p66"/>
          <p:cNvSpPr/>
          <p:nvPr/>
        </p:nvSpPr>
        <p:spPr>
          <a:xfrm>
            <a:off x="5588950" y="1920714"/>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G</a:t>
            </a:r>
            <a:endParaRPr>
              <a:latin typeface="Roboto"/>
              <a:ea typeface="Roboto"/>
              <a:cs typeface="Roboto"/>
              <a:sym typeface="Roboto"/>
            </a:endParaRPr>
          </a:p>
        </p:txBody>
      </p:sp>
      <p:cxnSp>
        <p:nvCxnSpPr>
          <p:cNvPr id="1567" name="Google Shape;1567;p66"/>
          <p:cNvCxnSpPr>
            <a:stCxn id="1566" idx="4"/>
            <a:endCxn id="1558" idx="0"/>
          </p:cNvCxnSpPr>
          <p:nvPr/>
        </p:nvCxnSpPr>
        <p:spPr>
          <a:xfrm>
            <a:off x="5731450" y="2205714"/>
            <a:ext cx="0" cy="283800"/>
          </a:xfrm>
          <a:prstGeom prst="straightConnector1">
            <a:avLst/>
          </a:prstGeom>
          <a:noFill/>
          <a:ln w="19050" cap="flat" cmpd="sng">
            <a:solidFill>
              <a:srgbClr val="000000"/>
            </a:solidFill>
            <a:prstDash val="solid"/>
            <a:round/>
            <a:headEnd type="none" w="med" len="med"/>
            <a:tailEnd type="none" w="med" len="med"/>
          </a:ln>
        </p:spPr>
      </p:cxnSp>
      <p:sp>
        <p:nvSpPr>
          <p:cNvPr id="1568" name="Google Shape;1568;p66"/>
          <p:cNvSpPr/>
          <p:nvPr/>
        </p:nvSpPr>
        <p:spPr>
          <a:xfrm>
            <a:off x="8087600" y="2157489"/>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F</a:t>
            </a:r>
            <a:endParaRPr>
              <a:latin typeface="Roboto"/>
              <a:ea typeface="Roboto"/>
              <a:cs typeface="Roboto"/>
              <a:sym typeface="Roboto"/>
            </a:endParaRPr>
          </a:p>
        </p:txBody>
      </p:sp>
      <p:cxnSp>
        <p:nvCxnSpPr>
          <p:cNvPr id="1569" name="Google Shape;1569;p66"/>
          <p:cNvCxnSpPr>
            <a:stCxn id="1568" idx="2"/>
            <a:endCxn id="1561" idx="3"/>
          </p:cNvCxnSpPr>
          <p:nvPr/>
        </p:nvCxnSpPr>
        <p:spPr>
          <a:xfrm flipH="1">
            <a:off x="7474100" y="2299989"/>
            <a:ext cx="613500" cy="189600"/>
          </a:xfrm>
          <a:prstGeom prst="straightConnector1">
            <a:avLst/>
          </a:prstGeom>
          <a:noFill/>
          <a:ln w="19050" cap="flat" cmpd="sng">
            <a:solidFill>
              <a:srgbClr val="000000"/>
            </a:solidFill>
            <a:prstDash val="solid"/>
            <a:round/>
            <a:headEnd type="none" w="med" len="med"/>
            <a:tailEnd type="none" w="med" len="med"/>
          </a:ln>
        </p:spPr>
      </p:cxnSp>
      <p:sp>
        <p:nvSpPr>
          <p:cNvPr id="1570" name="Google Shape;1570;p66"/>
          <p:cNvSpPr/>
          <p:nvPr/>
        </p:nvSpPr>
        <p:spPr>
          <a:xfrm>
            <a:off x="8386925" y="3469239"/>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E</a:t>
            </a:r>
            <a:endParaRPr>
              <a:latin typeface="Roboto"/>
              <a:ea typeface="Roboto"/>
              <a:cs typeface="Roboto"/>
              <a:sym typeface="Roboto"/>
            </a:endParaRPr>
          </a:p>
        </p:txBody>
      </p:sp>
      <p:cxnSp>
        <p:nvCxnSpPr>
          <p:cNvPr id="1571" name="Google Shape;1571;p66"/>
          <p:cNvCxnSpPr>
            <a:stCxn id="1570" idx="2"/>
            <a:endCxn id="1563" idx="3"/>
          </p:cNvCxnSpPr>
          <p:nvPr/>
        </p:nvCxnSpPr>
        <p:spPr>
          <a:xfrm rot="10800000">
            <a:off x="7759025" y="3504639"/>
            <a:ext cx="627900" cy="107100"/>
          </a:xfrm>
          <a:prstGeom prst="straightConnector1">
            <a:avLst/>
          </a:prstGeom>
          <a:noFill/>
          <a:ln w="19050" cap="flat" cmpd="sng">
            <a:solidFill>
              <a:srgbClr val="000000"/>
            </a:solidFill>
            <a:prstDash val="solid"/>
            <a:round/>
            <a:headEnd type="none" w="med" len="med"/>
            <a:tailEnd type="none" w="med" len="med"/>
          </a:ln>
        </p:spPr>
      </p:cxnSp>
      <p:cxnSp>
        <p:nvCxnSpPr>
          <p:cNvPr id="1572" name="Google Shape;1572;p66"/>
          <p:cNvCxnSpPr>
            <a:stCxn id="1573" idx="0"/>
            <a:endCxn id="1553" idx="2"/>
          </p:cNvCxnSpPr>
          <p:nvPr/>
        </p:nvCxnSpPr>
        <p:spPr>
          <a:xfrm rot="10800000">
            <a:off x="6776450" y="4374189"/>
            <a:ext cx="0" cy="280800"/>
          </a:xfrm>
          <a:prstGeom prst="straightConnector1">
            <a:avLst/>
          </a:prstGeom>
          <a:noFill/>
          <a:ln w="19050" cap="flat" cmpd="sng">
            <a:solidFill>
              <a:srgbClr val="000000"/>
            </a:solidFill>
            <a:prstDash val="solid"/>
            <a:round/>
            <a:headEnd type="none" w="med" len="med"/>
            <a:tailEnd type="none" w="med" len="med"/>
          </a:ln>
        </p:spPr>
      </p:cxnSp>
      <p:sp>
        <p:nvSpPr>
          <p:cNvPr id="1573" name="Google Shape;1573;p66"/>
          <p:cNvSpPr/>
          <p:nvPr/>
        </p:nvSpPr>
        <p:spPr>
          <a:xfrm>
            <a:off x="6633950" y="4654989"/>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D</a:t>
            </a:r>
            <a:endParaRPr>
              <a:latin typeface="Roboto"/>
              <a:ea typeface="Roboto"/>
              <a:cs typeface="Roboto"/>
              <a:sym typeface="Roboto"/>
            </a:endParaRPr>
          </a:p>
        </p:txBody>
      </p:sp>
      <p:cxnSp>
        <p:nvCxnSpPr>
          <p:cNvPr id="1574" name="Google Shape;1574;p66"/>
          <p:cNvCxnSpPr>
            <a:stCxn id="1575" idx="0"/>
            <a:endCxn id="1551" idx="2"/>
          </p:cNvCxnSpPr>
          <p:nvPr/>
        </p:nvCxnSpPr>
        <p:spPr>
          <a:xfrm rot="10800000">
            <a:off x="5588900" y="4146489"/>
            <a:ext cx="0" cy="280800"/>
          </a:xfrm>
          <a:prstGeom prst="straightConnector1">
            <a:avLst/>
          </a:prstGeom>
          <a:noFill/>
          <a:ln w="19050" cap="flat" cmpd="sng">
            <a:solidFill>
              <a:srgbClr val="000000"/>
            </a:solidFill>
            <a:prstDash val="solid"/>
            <a:round/>
            <a:headEnd type="none" w="med" len="med"/>
            <a:tailEnd type="none" w="med" len="med"/>
          </a:ln>
        </p:spPr>
      </p:cxnSp>
      <p:sp>
        <p:nvSpPr>
          <p:cNvPr id="1575" name="Google Shape;1575;p66"/>
          <p:cNvSpPr/>
          <p:nvPr/>
        </p:nvSpPr>
        <p:spPr>
          <a:xfrm>
            <a:off x="5446400" y="4427289"/>
            <a:ext cx="285000" cy="2850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C</a:t>
            </a:r>
            <a:endParaRPr>
              <a:latin typeface="Roboto"/>
              <a:ea typeface="Roboto"/>
              <a:cs typeface="Roboto"/>
              <a:sym typeface="Roboto"/>
            </a:endParaRPr>
          </a:p>
        </p:txBody>
      </p:sp>
      <p:sp>
        <p:nvSpPr>
          <p:cNvPr id="1576" name="Google Shape;1576;p66"/>
          <p:cNvSpPr txBox="1"/>
          <p:nvPr/>
        </p:nvSpPr>
        <p:spPr>
          <a:xfrm>
            <a:off x="4863363" y="379461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77" name="Google Shape;1577;p66"/>
          <p:cNvSpPr txBox="1"/>
          <p:nvPr/>
        </p:nvSpPr>
        <p:spPr>
          <a:xfrm>
            <a:off x="4929288" y="2720776"/>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2</a:t>
            </a:r>
            <a:endParaRPr>
              <a:solidFill>
                <a:schemeClr val="dk1"/>
              </a:solidFill>
              <a:latin typeface="Roboto"/>
              <a:ea typeface="Roboto"/>
              <a:cs typeface="Roboto"/>
              <a:sym typeface="Roboto"/>
            </a:endParaRPr>
          </a:p>
        </p:txBody>
      </p:sp>
      <p:sp>
        <p:nvSpPr>
          <p:cNvPr id="1578" name="Google Shape;1578;p66"/>
          <p:cNvSpPr txBox="1"/>
          <p:nvPr/>
        </p:nvSpPr>
        <p:spPr>
          <a:xfrm>
            <a:off x="6130375" y="2760176"/>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a:t>
            </a:r>
            <a:endParaRPr>
              <a:solidFill>
                <a:schemeClr val="dk1"/>
              </a:solidFill>
              <a:latin typeface="Roboto"/>
              <a:ea typeface="Roboto"/>
              <a:cs typeface="Roboto"/>
              <a:sym typeface="Roboto"/>
            </a:endParaRPr>
          </a:p>
        </p:txBody>
      </p:sp>
      <p:sp>
        <p:nvSpPr>
          <p:cNvPr id="1579" name="Google Shape;1579;p66"/>
          <p:cNvSpPr txBox="1"/>
          <p:nvPr/>
        </p:nvSpPr>
        <p:spPr>
          <a:xfrm>
            <a:off x="6388950" y="230425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80" name="Google Shape;1580;p66"/>
          <p:cNvSpPr txBox="1"/>
          <p:nvPr/>
        </p:nvSpPr>
        <p:spPr>
          <a:xfrm>
            <a:off x="7452425" y="281130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81" name="Google Shape;1581;p66"/>
          <p:cNvSpPr txBox="1"/>
          <p:nvPr/>
        </p:nvSpPr>
        <p:spPr>
          <a:xfrm>
            <a:off x="6878325" y="318435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82" name="Google Shape;1582;p66"/>
          <p:cNvSpPr txBox="1"/>
          <p:nvPr/>
        </p:nvSpPr>
        <p:spPr>
          <a:xfrm>
            <a:off x="7251375" y="3868476"/>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83" name="Google Shape;1583;p66"/>
          <p:cNvSpPr txBox="1"/>
          <p:nvPr/>
        </p:nvSpPr>
        <p:spPr>
          <a:xfrm>
            <a:off x="6643300" y="361175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4</a:t>
            </a:r>
            <a:endParaRPr>
              <a:solidFill>
                <a:schemeClr val="dk1"/>
              </a:solidFill>
              <a:latin typeface="Roboto"/>
              <a:ea typeface="Roboto"/>
              <a:cs typeface="Roboto"/>
              <a:sym typeface="Roboto"/>
            </a:endParaRPr>
          </a:p>
        </p:txBody>
      </p:sp>
      <p:sp>
        <p:nvSpPr>
          <p:cNvPr id="1584" name="Google Shape;1584;p66"/>
          <p:cNvSpPr txBox="1"/>
          <p:nvPr/>
        </p:nvSpPr>
        <p:spPr>
          <a:xfrm>
            <a:off x="6063850" y="410340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5</a:t>
            </a:r>
            <a:endParaRPr>
              <a:solidFill>
                <a:schemeClr val="dk1"/>
              </a:solidFill>
              <a:latin typeface="Roboto"/>
              <a:ea typeface="Roboto"/>
              <a:cs typeface="Roboto"/>
              <a:sym typeface="Roboto"/>
            </a:endParaRPr>
          </a:p>
        </p:txBody>
      </p:sp>
      <p:sp>
        <p:nvSpPr>
          <p:cNvPr id="1585" name="Google Shape;1585;p66"/>
          <p:cNvSpPr txBox="1"/>
          <p:nvPr/>
        </p:nvSpPr>
        <p:spPr>
          <a:xfrm>
            <a:off x="5603988" y="3432301"/>
            <a:ext cx="2850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10</a:t>
            </a:r>
            <a:endParaRPr>
              <a:solidFill>
                <a:schemeClr val="dk1"/>
              </a:solidFill>
              <a:latin typeface="Roboto"/>
              <a:ea typeface="Roboto"/>
              <a:cs typeface="Roboto"/>
              <a:sym typeface="Roboto"/>
            </a:endParaRPr>
          </a:p>
        </p:txBody>
      </p:sp>
      <p:sp>
        <p:nvSpPr>
          <p:cNvPr id="1586" name="Google Shape;1586;p66"/>
          <p:cNvSpPr/>
          <p:nvPr/>
        </p:nvSpPr>
        <p:spPr>
          <a:xfrm>
            <a:off x="4106650" y="2238925"/>
            <a:ext cx="4108650" cy="1188500"/>
          </a:xfrm>
          <a:custGeom>
            <a:avLst/>
            <a:gdLst/>
            <a:ahLst/>
            <a:cxnLst/>
            <a:rect l="l" t="t" r="r" b="b"/>
            <a:pathLst>
              <a:path w="164346" h="47540" extrusionOk="0">
                <a:moveTo>
                  <a:pt x="0" y="24539"/>
                </a:moveTo>
                <a:cubicBezTo>
                  <a:pt x="4144" y="28306"/>
                  <a:pt x="18028" y="44988"/>
                  <a:pt x="24862" y="47140"/>
                </a:cubicBezTo>
                <a:cubicBezTo>
                  <a:pt x="31696" y="49293"/>
                  <a:pt x="34522" y="42217"/>
                  <a:pt x="41006" y="37454"/>
                </a:cubicBezTo>
                <a:cubicBezTo>
                  <a:pt x="47491" y="32692"/>
                  <a:pt x="56531" y="23005"/>
                  <a:pt x="63769" y="18565"/>
                </a:cubicBezTo>
                <a:cubicBezTo>
                  <a:pt x="71007" y="14125"/>
                  <a:pt x="73670" y="12807"/>
                  <a:pt x="84433" y="10816"/>
                </a:cubicBezTo>
                <a:cubicBezTo>
                  <a:pt x="95196" y="8825"/>
                  <a:pt x="115026" y="8422"/>
                  <a:pt x="128345" y="6619"/>
                </a:cubicBezTo>
                <a:cubicBezTo>
                  <a:pt x="141664" y="4816"/>
                  <a:pt x="158346" y="1103"/>
                  <a:pt x="164346" y="0"/>
                </a:cubicBezTo>
              </a:path>
            </a:pathLst>
          </a:custGeom>
          <a:noFill/>
          <a:ln w="28575" cap="flat" cmpd="sng">
            <a:solidFill>
              <a:srgbClr val="F1C232"/>
            </a:solidFill>
            <a:prstDash val="solid"/>
            <a:round/>
            <a:headEnd type="none" w="med" len="med"/>
            <a:tailEnd type="triangle" w="med" len="med"/>
          </a:ln>
        </p:spPr>
        <p:txBody>
          <a:bodyPr/>
          <a:lstStyle/>
          <a:p>
            <a:endParaRPr lang="en-US"/>
          </a:p>
        </p:txBody>
      </p:sp>
      <p:sp>
        <p:nvSpPr>
          <p:cNvPr id="1587" name="Google Shape;1587;p66"/>
          <p:cNvSpPr/>
          <p:nvPr/>
        </p:nvSpPr>
        <p:spPr>
          <a:xfrm>
            <a:off x="3683800" y="2706750"/>
            <a:ext cx="4766571" cy="854100"/>
          </a:xfrm>
          <a:custGeom>
            <a:avLst/>
            <a:gdLst/>
            <a:ahLst/>
            <a:cxnLst/>
            <a:rect l="l" t="t" r="r" b="b"/>
            <a:pathLst>
              <a:path w="188402" h="34164" extrusionOk="0">
                <a:moveTo>
                  <a:pt x="0" y="34002"/>
                </a:moveTo>
                <a:cubicBezTo>
                  <a:pt x="7480" y="33760"/>
                  <a:pt x="35356" y="34056"/>
                  <a:pt x="44881" y="32549"/>
                </a:cubicBezTo>
                <a:cubicBezTo>
                  <a:pt x="54406" y="31042"/>
                  <a:pt x="50666" y="30316"/>
                  <a:pt x="57150" y="24962"/>
                </a:cubicBezTo>
                <a:cubicBezTo>
                  <a:pt x="63635" y="19608"/>
                  <a:pt x="77438" y="2818"/>
                  <a:pt x="83788" y="423"/>
                </a:cubicBezTo>
                <a:cubicBezTo>
                  <a:pt x="90138" y="-1972"/>
                  <a:pt x="91483" y="6853"/>
                  <a:pt x="95250" y="10593"/>
                </a:cubicBezTo>
                <a:cubicBezTo>
                  <a:pt x="99017" y="14333"/>
                  <a:pt x="102758" y="20710"/>
                  <a:pt x="106390" y="22863"/>
                </a:cubicBezTo>
                <a:cubicBezTo>
                  <a:pt x="110023" y="25016"/>
                  <a:pt x="103376" y="21626"/>
                  <a:pt x="117045" y="23509"/>
                </a:cubicBezTo>
                <a:cubicBezTo>
                  <a:pt x="130714" y="25393"/>
                  <a:pt x="176509" y="32388"/>
                  <a:pt x="188402" y="34164"/>
                </a:cubicBezTo>
              </a:path>
            </a:pathLst>
          </a:custGeom>
          <a:noFill/>
          <a:ln w="28575" cap="flat" cmpd="sng">
            <a:solidFill>
              <a:srgbClr val="FF00FF"/>
            </a:solidFill>
            <a:prstDash val="solid"/>
            <a:round/>
            <a:headEnd type="none" w="med" len="med"/>
            <a:tailEnd type="triangle" w="med" len="med"/>
          </a:ln>
        </p:spPr>
        <p:txBody>
          <a:bodyPr/>
          <a:lstStyle/>
          <a:p>
            <a:endParaRPr lang="en-US"/>
          </a:p>
        </p:txBody>
      </p:sp>
      <p:sp>
        <p:nvSpPr>
          <p:cNvPr id="1588" name="Google Shape;1588;p66"/>
          <p:cNvSpPr/>
          <p:nvPr/>
        </p:nvSpPr>
        <p:spPr>
          <a:xfrm>
            <a:off x="5629175" y="2074375"/>
            <a:ext cx="1114750" cy="2643600"/>
          </a:xfrm>
          <a:custGeom>
            <a:avLst/>
            <a:gdLst/>
            <a:ahLst/>
            <a:cxnLst/>
            <a:rect l="l" t="t" r="r" b="b"/>
            <a:pathLst>
              <a:path w="44590" h="105744" extrusionOk="0">
                <a:moveTo>
                  <a:pt x="0" y="0"/>
                </a:moveTo>
                <a:cubicBezTo>
                  <a:pt x="619" y="3390"/>
                  <a:pt x="-780" y="11893"/>
                  <a:pt x="3713" y="20342"/>
                </a:cubicBezTo>
                <a:cubicBezTo>
                  <a:pt x="8206" y="28791"/>
                  <a:pt x="20502" y="40065"/>
                  <a:pt x="26960" y="50693"/>
                </a:cubicBezTo>
                <a:cubicBezTo>
                  <a:pt x="33418" y="61321"/>
                  <a:pt x="39526" y="74936"/>
                  <a:pt x="42459" y="84111"/>
                </a:cubicBezTo>
                <a:cubicBezTo>
                  <a:pt x="45392" y="93286"/>
                  <a:pt x="44207" y="102139"/>
                  <a:pt x="44557" y="105744"/>
                </a:cubicBezTo>
              </a:path>
            </a:pathLst>
          </a:custGeom>
          <a:noFill/>
          <a:ln w="28575" cap="flat" cmpd="sng">
            <a:solidFill>
              <a:srgbClr val="0000FF"/>
            </a:solidFill>
            <a:prstDash val="solid"/>
            <a:round/>
            <a:headEnd type="none" w="med" len="med"/>
            <a:tailEnd type="triangle" w="med" len="med"/>
          </a:ln>
        </p:spPr>
        <p:txBody>
          <a:bodyPr/>
          <a:lstStyle/>
          <a:p>
            <a:endParaRPr lang="en-US"/>
          </a:p>
        </p:txBody>
      </p:sp>
      <p:sp>
        <p:nvSpPr>
          <p:cNvPr id="1548" name="Google Shape;1548;p66"/>
          <p:cNvSpPr/>
          <p:nvPr/>
        </p:nvSpPr>
        <p:spPr>
          <a:xfrm>
            <a:off x="4614678" y="3288464"/>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551" name="Google Shape;1551;p66"/>
          <p:cNvSpPr/>
          <p:nvPr/>
        </p:nvSpPr>
        <p:spPr>
          <a:xfrm>
            <a:off x="5446403" y="3861414"/>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R3</a:t>
            </a:r>
            <a:endParaRPr>
              <a:latin typeface="Roboto"/>
              <a:ea typeface="Roboto"/>
              <a:cs typeface="Roboto"/>
              <a:sym typeface="Roboto"/>
            </a:endParaRPr>
          </a:p>
        </p:txBody>
      </p:sp>
      <p:sp>
        <p:nvSpPr>
          <p:cNvPr id="1553" name="Google Shape;1553;p66"/>
          <p:cNvSpPr/>
          <p:nvPr/>
        </p:nvSpPr>
        <p:spPr>
          <a:xfrm>
            <a:off x="6633953" y="408928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R7</a:t>
            </a:r>
            <a:endParaRPr>
              <a:latin typeface="Roboto"/>
              <a:ea typeface="Roboto"/>
              <a:cs typeface="Roboto"/>
              <a:sym typeface="Roboto"/>
            </a:endParaRPr>
          </a:p>
        </p:txBody>
      </p:sp>
      <p:sp>
        <p:nvSpPr>
          <p:cNvPr id="1555" name="Google Shape;1555;p66"/>
          <p:cNvSpPr/>
          <p:nvPr/>
        </p:nvSpPr>
        <p:spPr>
          <a:xfrm>
            <a:off x="6225253" y="321963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sp>
        <p:nvSpPr>
          <p:cNvPr id="1558" name="Google Shape;1558;p66"/>
          <p:cNvSpPr/>
          <p:nvPr/>
        </p:nvSpPr>
        <p:spPr>
          <a:xfrm>
            <a:off x="5588953" y="248948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1561" name="Google Shape;1561;p66"/>
          <p:cNvSpPr/>
          <p:nvPr/>
        </p:nvSpPr>
        <p:spPr>
          <a:xfrm>
            <a:off x="7188953" y="234698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R5</a:t>
            </a:r>
            <a:endParaRPr>
              <a:latin typeface="Roboto"/>
              <a:ea typeface="Roboto"/>
              <a:cs typeface="Roboto"/>
              <a:sym typeface="Roboto"/>
            </a:endParaRPr>
          </a:p>
        </p:txBody>
      </p:sp>
      <p:sp>
        <p:nvSpPr>
          <p:cNvPr id="1563" name="Google Shape;1563;p66"/>
          <p:cNvSpPr/>
          <p:nvPr/>
        </p:nvSpPr>
        <p:spPr>
          <a:xfrm>
            <a:off x="7473953" y="3362139"/>
            <a:ext cx="285000" cy="285000"/>
          </a:xfrm>
          <a:prstGeom prst="rect">
            <a:avLst/>
          </a:prstGeom>
          <a:solidFill>
            <a:srgbClr val="FFFFFF">
              <a:alpha val="70000"/>
            </a:srgbClr>
          </a:solid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a:latin typeface="Roboto"/>
                <a:ea typeface="Roboto"/>
                <a:cs typeface="Roboto"/>
                <a:sym typeface="Roboto"/>
              </a:rPr>
              <a:t>R6</a:t>
            </a:r>
            <a:endParaRPr>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92"/>
        <p:cNvGrpSpPr/>
        <p:nvPr/>
      </p:nvGrpSpPr>
      <p:grpSpPr>
        <a:xfrm>
          <a:off x="0" y="0"/>
          <a:ext cx="0" cy="0"/>
          <a:chOff x="0" y="0"/>
          <a:chExt cx="0" cy="0"/>
        </a:xfrm>
      </p:grpSpPr>
      <p:sp>
        <p:nvSpPr>
          <p:cNvPr id="1593" name="Google Shape;1593;p67"/>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Congestion Control is a Global Problem</a:t>
            </a:r>
            <a:endParaRPr/>
          </a:p>
        </p:txBody>
      </p:sp>
      <p:sp>
        <p:nvSpPr>
          <p:cNvPr id="1594" name="Google Shape;1594;p67"/>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The sender's optimal rate depends on:</a:t>
            </a:r>
            <a:endParaRPr/>
          </a:p>
          <a:p>
            <a:pPr marL="457200" lvl="0" indent="-342900" algn="l" rtl="0">
              <a:spcBef>
                <a:spcPts val="600"/>
              </a:spcBef>
              <a:spcAft>
                <a:spcPts val="0"/>
              </a:spcAft>
              <a:buSzPts val="1800"/>
              <a:buChar char="●"/>
            </a:pPr>
            <a:r>
              <a:rPr lang="en"/>
              <a:t>The destination.</a:t>
            </a:r>
            <a:endParaRPr/>
          </a:p>
          <a:p>
            <a:pPr marL="457200" lvl="0" indent="-342900" algn="l" rtl="0">
              <a:spcBef>
                <a:spcPts val="0"/>
              </a:spcBef>
              <a:spcAft>
                <a:spcPts val="0"/>
              </a:spcAft>
              <a:buSzPts val="1800"/>
              <a:buChar char="●"/>
            </a:pPr>
            <a:r>
              <a:rPr lang="en"/>
              <a:t>The path to the destination.</a:t>
            </a:r>
            <a:endParaRPr/>
          </a:p>
          <a:p>
            <a:pPr marL="457200" lvl="0" indent="-342900" algn="l" rtl="0">
              <a:spcBef>
                <a:spcPts val="0"/>
              </a:spcBef>
              <a:spcAft>
                <a:spcPts val="0"/>
              </a:spcAft>
              <a:buSzPts val="1800"/>
              <a:buChar char="●"/>
            </a:pPr>
            <a:r>
              <a:rPr lang="en"/>
              <a:t>Other connections sharing links along that path.</a:t>
            </a:r>
            <a:endParaRPr/>
          </a:p>
          <a:p>
            <a:pPr marL="457200" lvl="0" indent="-342900" algn="l" rtl="0">
              <a:spcBef>
                <a:spcPts val="0"/>
              </a:spcBef>
              <a:spcAft>
                <a:spcPts val="0"/>
              </a:spcAft>
              <a:buSzPts val="1800"/>
              <a:buChar char="●"/>
            </a:pPr>
            <a:r>
              <a:rPr lang="en"/>
              <a:t>Connections sharing links with those other connections.</a:t>
            </a:r>
            <a:endParaRPr/>
          </a:p>
          <a:p>
            <a:pPr marL="457200" lvl="0" indent="-342900" algn="l" rtl="0">
              <a:spcBef>
                <a:spcPts val="0"/>
              </a:spcBef>
              <a:spcAft>
                <a:spcPts val="0"/>
              </a:spcAft>
              <a:buSzPts val="1800"/>
              <a:buChar char="●"/>
            </a:pPr>
            <a:r>
              <a:rPr lang="en"/>
              <a:t>And so on...</a:t>
            </a:r>
            <a:endParaRPr/>
          </a:p>
          <a:p>
            <a:pPr marL="0" lvl="0" indent="0" algn="l" rtl="0">
              <a:spcBef>
                <a:spcPts val="600"/>
              </a:spcBef>
              <a:spcAft>
                <a:spcPts val="0"/>
              </a:spcAft>
              <a:buNone/>
            </a:pPr>
            <a:r>
              <a:rPr lang="en"/>
              <a:t>Congestion control is a global problem.</a:t>
            </a:r>
            <a:endParaRPr/>
          </a:p>
          <a:p>
            <a:pPr marL="457200" lvl="0" indent="-342900" algn="l" rtl="0">
              <a:spcBef>
                <a:spcPts val="600"/>
              </a:spcBef>
              <a:spcAft>
                <a:spcPts val="0"/>
              </a:spcAft>
              <a:buSzPts val="1800"/>
              <a:buChar char="●"/>
            </a:pPr>
            <a:r>
              <a:rPr lang="en"/>
              <a:t>Connections in the network are highly interdependent.</a:t>
            </a:r>
            <a:endParaRPr/>
          </a:p>
          <a:p>
            <a:pPr marL="457200" lvl="0" indent="-342900" algn="l" rtl="0">
              <a:spcBef>
                <a:spcPts val="0"/>
              </a:spcBef>
              <a:spcAft>
                <a:spcPts val="0"/>
              </a:spcAft>
              <a:buSzPts val="1800"/>
              <a:buChar char="●"/>
            </a:pPr>
            <a:r>
              <a:rPr lang="en"/>
              <a:t>Solving it optimally requires a global view of the network.</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98"/>
        <p:cNvGrpSpPr/>
        <p:nvPr/>
      </p:nvGrpSpPr>
      <p:grpSpPr>
        <a:xfrm>
          <a:off x="0" y="0"/>
          <a:ext cx="0" cy="0"/>
          <a:chOff x="0" y="0"/>
          <a:chExt cx="0" cy="0"/>
        </a:xfrm>
      </p:grpSpPr>
      <p:sp>
        <p:nvSpPr>
          <p:cNvPr id="1599" name="Google Shape;1599;p68"/>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Congestion Control as Resource Allocation Problem</a:t>
            </a:r>
            <a:endParaRPr/>
          </a:p>
        </p:txBody>
      </p:sp>
      <p:sp>
        <p:nvSpPr>
          <p:cNvPr id="1600" name="Google Shape;1600;p68"/>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Fundamentally, congestion control is a </a:t>
            </a:r>
            <a:r>
              <a:rPr lang="en" i="1"/>
              <a:t>resource allocation problem</a:t>
            </a:r>
            <a:r>
              <a:rPr lang="en"/>
              <a:t>.</a:t>
            </a:r>
            <a:endParaRPr/>
          </a:p>
          <a:p>
            <a:pPr marL="457200" lvl="0" indent="-342900" algn="l" rtl="0">
              <a:spcBef>
                <a:spcPts val="600"/>
              </a:spcBef>
              <a:spcAft>
                <a:spcPts val="0"/>
              </a:spcAft>
              <a:buSzPts val="1800"/>
              <a:buChar char="●"/>
            </a:pPr>
            <a:r>
              <a:rPr lang="en"/>
              <a:t>Bandwidth is a limited resource.</a:t>
            </a:r>
            <a:endParaRPr/>
          </a:p>
          <a:p>
            <a:pPr marL="457200" lvl="0" indent="-342900" algn="l" rtl="0">
              <a:spcBef>
                <a:spcPts val="0"/>
              </a:spcBef>
              <a:spcAft>
                <a:spcPts val="0"/>
              </a:spcAft>
              <a:buSzPts val="1800"/>
              <a:buChar char="●"/>
            </a:pPr>
            <a:r>
              <a:rPr lang="en"/>
              <a:t>Each connection demands a certain amount of bandwidth.</a:t>
            </a:r>
            <a:endParaRPr/>
          </a:p>
          <a:p>
            <a:pPr marL="457200" lvl="0" indent="-342900" algn="l" rtl="0">
              <a:spcBef>
                <a:spcPts val="0"/>
              </a:spcBef>
              <a:spcAft>
                <a:spcPts val="0"/>
              </a:spcAft>
              <a:buSzPts val="1800"/>
              <a:buChar char="●"/>
            </a:pPr>
            <a:r>
              <a:rPr lang="en"/>
              <a:t>We decide how much to allocate to each connection.</a:t>
            </a:r>
            <a:endParaRPr/>
          </a:p>
          <a:p>
            <a:pPr marL="0" lvl="0" indent="0" algn="l" rtl="0">
              <a:spcBef>
                <a:spcPts val="600"/>
              </a:spcBef>
              <a:spcAft>
                <a:spcPts val="0"/>
              </a:spcAft>
              <a:buNone/>
            </a:pPr>
            <a:r>
              <a:rPr lang="en"/>
              <a:t>Resource allocation is a classic problem (e.g. CPU scheduling, memory allocation).</a:t>
            </a:r>
            <a:endParaRPr/>
          </a:p>
          <a:p>
            <a:pPr marL="0" lvl="0" indent="0" algn="l" rtl="0">
              <a:spcBef>
                <a:spcPts val="600"/>
              </a:spcBef>
              <a:spcAft>
                <a:spcPts val="0"/>
              </a:spcAft>
              <a:buNone/>
            </a:pPr>
            <a:r>
              <a:rPr lang="en"/>
              <a:t>But, congestion control has additional challenges.</a:t>
            </a:r>
            <a:endParaRPr/>
          </a:p>
          <a:p>
            <a:pPr marL="457200" lvl="0" indent="-342900" algn="l" rtl="0">
              <a:spcBef>
                <a:spcPts val="600"/>
              </a:spcBef>
              <a:spcAft>
                <a:spcPts val="0"/>
              </a:spcAft>
              <a:buSzPts val="1800"/>
              <a:buChar char="●"/>
            </a:pPr>
            <a:r>
              <a:rPr lang="en"/>
              <a:t>A change in one connection can have a global impact.</a:t>
            </a:r>
            <a:endParaRPr/>
          </a:p>
          <a:p>
            <a:pPr marL="457200" lvl="0" indent="-342900" algn="l" rtl="0">
              <a:spcBef>
                <a:spcPts val="0"/>
              </a:spcBef>
              <a:spcAft>
                <a:spcPts val="0"/>
              </a:spcAft>
              <a:buSzPts val="1800"/>
              <a:buChar char="●"/>
            </a:pPr>
            <a:r>
              <a:rPr lang="en"/>
              <a:t>Network topology is constantly changing.</a:t>
            </a:r>
            <a:endParaRPr/>
          </a:p>
          <a:p>
            <a:pPr marL="457200" lvl="0" indent="-342900" algn="l" rtl="0">
              <a:spcBef>
                <a:spcPts val="0"/>
              </a:spcBef>
              <a:spcAft>
                <a:spcPts val="0"/>
              </a:spcAft>
              <a:buSzPts val="1800"/>
              <a:buChar char="●"/>
            </a:pPr>
            <a:r>
              <a:rPr lang="en"/>
              <a:t>Connections are constantly starting and ending.</a:t>
            </a:r>
            <a:endParaRPr/>
          </a:p>
          <a:p>
            <a:pPr marL="457200" lvl="0" indent="-342900" algn="l" rtl="0">
              <a:spcBef>
                <a:spcPts val="0"/>
              </a:spcBef>
              <a:spcAft>
                <a:spcPts val="0"/>
              </a:spcAft>
              <a:buSzPts val="1800"/>
              <a:buChar char="●"/>
            </a:pPr>
            <a:r>
              <a:rPr lang="en"/>
              <a:t>Everybody must solve it locally. No global view of network.</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604"/>
        <p:cNvGrpSpPr/>
        <p:nvPr/>
      </p:nvGrpSpPr>
      <p:grpSpPr>
        <a:xfrm>
          <a:off x="0" y="0"/>
          <a:ext cx="0" cy="0"/>
          <a:chOff x="0" y="0"/>
          <a:chExt cx="0" cy="0"/>
        </a:xfrm>
      </p:grpSpPr>
      <p:sp>
        <p:nvSpPr>
          <p:cNvPr id="1605" name="Google Shape;1605;p69"/>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a:solidFill>
                  <a:schemeClr val="accent3"/>
                </a:solidFill>
                <a:latin typeface="Roboto"/>
                <a:ea typeface="Roboto"/>
                <a:cs typeface="Roboto"/>
                <a:sym typeface="Roboto"/>
              </a:rPr>
              <a:t>Congestion Control Principles</a:t>
            </a:r>
            <a:endParaRPr b="1">
              <a:solidFill>
                <a:schemeClr val="accent3"/>
              </a:solidFill>
              <a:latin typeface="Roboto"/>
              <a:ea typeface="Roboto"/>
              <a:cs typeface="Roboto"/>
              <a:sym typeface="Roboto"/>
            </a:endParaRPr>
          </a:p>
          <a:p>
            <a:pPr marL="457200" lvl="0" indent="-342900" algn="l" rtl="0">
              <a:spcBef>
                <a:spcPts val="600"/>
              </a:spcBef>
              <a:spcAft>
                <a:spcPts val="0"/>
              </a:spcAft>
              <a:buClr>
                <a:srgbClr val="B7B7B7"/>
              </a:buClr>
              <a:buSzPts val="1800"/>
              <a:buChar char="•"/>
            </a:pPr>
            <a:r>
              <a:rPr lang="en">
                <a:solidFill>
                  <a:srgbClr val="B7B7B7"/>
                </a:solidFill>
              </a:rPr>
              <a:t>Why do we need it?</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Why is it hard?</a:t>
            </a:r>
            <a:endParaRPr>
              <a:solidFill>
                <a:srgbClr val="B7B7B7"/>
              </a:solidFill>
            </a:endParaRPr>
          </a:p>
          <a:p>
            <a:pPr marL="457200" lvl="0" indent="-342900" algn="l" rtl="0">
              <a:spcBef>
                <a:spcPts val="0"/>
              </a:spcBef>
              <a:spcAft>
                <a:spcPts val="0"/>
              </a:spcAft>
              <a:buClr>
                <a:schemeClr val="accent3"/>
              </a:buClr>
              <a:buSzPts val="1800"/>
              <a:buFont typeface="Roboto"/>
              <a:buChar char="•"/>
            </a:pPr>
            <a:r>
              <a:rPr lang="en" b="1">
                <a:solidFill>
                  <a:schemeClr val="accent3"/>
                </a:solidFill>
                <a:latin typeface="Roboto"/>
                <a:ea typeface="Roboto"/>
                <a:cs typeface="Roboto"/>
                <a:sym typeface="Roboto"/>
              </a:rPr>
              <a:t>Design Goals</a:t>
            </a:r>
            <a:endParaRPr b="1">
              <a:solidFill>
                <a:schemeClr val="accent3"/>
              </a:solidFill>
              <a:latin typeface="Roboto"/>
              <a:ea typeface="Roboto"/>
              <a:cs typeface="Roboto"/>
              <a:sym typeface="Roboto"/>
            </a:endParaRPr>
          </a:p>
          <a:p>
            <a:pPr marL="0" lvl="0" indent="0" algn="l" rtl="0">
              <a:spcBef>
                <a:spcPts val="600"/>
              </a:spcBef>
              <a:spcAft>
                <a:spcPts val="0"/>
              </a:spcAft>
              <a:buNone/>
            </a:pPr>
            <a:r>
              <a:rPr lang="en">
                <a:solidFill>
                  <a:srgbClr val="B7B7B7"/>
                </a:solidFill>
              </a:rPr>
              <a:t>Dynamic Adjustment</a:t>
            </a:r>
            <a:endParaRPr>
              <a:solidFill>
                <a:srgbClr val="B7B7B7"/>
              </a:solidFill>
            </a:endParaRPr>
          </a:p>
          <a:p>
            <a:pPr marL="457200" lvl="0" indent="-342900" algn="l" rtl="0">
              <a:spcBef>
                <a:spcPts val="600"/>
              </a:spcBef>
              <a:spcAft>
                <a:spcPts val="0"/>
              </a:spcAft>
              <a:buClr>
                <a:srgbClr val="B7B7B7"/>
              </a:buClr>
              <a:buSzPts val="1800"/>
              <a:buChar char="•"/>
            </a:pPr>
            <a:r>
              <a:rPr lang="en">
                <a:solidFill>
                  <a:srgbClr val="B7B7B7"/>
                </a:solidFill>
              </a:rPr>
              <a:t>Algorithm Sketch</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Reacting to Congestion (AIMD)</a:t>
            </a:r>
            <a:endParaRPr>
              <a:solidFill>
                <a:srgbClr val="B7B7B7"/>
              </a:solidFill>
            </a:endParaRPr>
          </a:p>
          <a:p>
            <a:pPr marL="457200" lvl="0" indent="-342900" algn="l" rtl="0">
              <a:spcBef>
                <a:spcPts val="0"/>
              </a:spcBef>
              <a:spcAft>
                <a:spcPts val="0"/>
              </a:spcAft>
              <a:buClr>
                <a:srgbClr val="B7B7B7"/>
              </a:buClr>
              <a:buSzPts val="1800"/>
              <a:buChar char="•"/>
            </a:pPr>
            <a:r>
              <a:rPr lang="en">
                <a:solidFill>
                  <a:srgbClr val="B7B7B7"/>
                </a:solidFill>
              </a:rPr>
              <a:t>Implementing Congestion Control with Event-Driven Updates</a:t>
            </a:r>
            <a:endParaRPr>
              <a:solidFill>
                <a:srgbClr val="B7B7B7"/>
              </a:solidFill>
            </a:endParaRPr>
          </a:p>
        </p:txBody>
      </p:sp>
      <p:sp>
        <p:nvSpPr>
          <p:cNvPr id="1606" name="Google Shape;1606;p69"/>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Design Goals</a:t>
            </a:r>
            <a:endParaRPr/>
          </a:p>
        </p:txBody>
      </p:sp>
      <p:sp>
        <p:nvSpPr>
          <p:cNvPr id="1607" name="Google Shape;1607;p69"/>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a:t>Lecture 12, CS 168, Summer 2025</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611"/>
        <p:cNvGrpSpPr/>
        <p:nvPr/>
      </p:nvGrpSpPr>
      <p:grpSpPr>
        <a:xfrm>
          <a:off x="0" y="0"/>
          <a:ext cx="0" cy="0"/>
          <a:chOff x="0" y="0"/>
          <a:chExt cx="0" cy="0"/>
        </a:xfrm>
      </p:grpSpPr>
      <p:sp>
        <p:nvSpPr>
          <p:cNvPr id="1612" name="Google Shape;1612;p70"/>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Design Goals</a:t>
            </a:r>
            <a:endParaRPr/>
          </a:p>
        </p:txBody>
      </p:sp>
      <p:sp>
        <p:nvSpPr>
          <p:cNvPr id="1613" name="Google Shape;1613;p70"/>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Goals for a good congestion control algorithm:</a:t>
            </a:r>
            <a:endParaRPr/>
          </a:p>
          <a:p>
            <a:pPr marL="457200" lvl="0" indent="-342900" algn="l" rtl="0">
              <a:spcBef>
                <a:spcPts val="600"/>
              </a:spcBef>
              <a:spcAft>
                <a:spcPts val="0"/>
              </a:spcAft>
              <a:buSzPts val="1800"/>
              <a:buAutoNum type="arabicPeriod"/>
            </a:pPr>
            <a:r>
              <a:rPr lang="en"/>
              <a:t>Avoid congestion: Minimize packet delay and loss.</a:t>
            </a:r>
            <a:endParaRPr/>
          </a:p>
          <a:p>
            <a:pPr marL="457200" lvl="0" indent="-342900" algn="l" rtl="0">
              <a:spcBef>
                <a:spcPts val="0"/>
              </a:spcBef>
              <a:spcAft>
                <a:spcPts val="0"/>
              </a:spcAft>
              <a:buSzPts val="1800"/>
              <a:buAutoNum type="arabicPeriod"/>
            </a:pPr>
            <a:r>
              <a:rPr lang="en"/>
              <a:t>Efficiency: Maximize link utilization.</a:t>
            </a:r>
            <a:endParaRPr/>
          </a:p>
          <a:p>
            <a:pPr marL="457200" lvl="0" indent="-342900" algn="l" rtl="0">
              <a:spcBef>
                <a:spcPts val="0"/>
              </a:spcBef>
              <a:spcAft>
                <a:spcPts val="0"/>
              </a:spcAft>
              <a:buSzPts val="1800"/>
              <a:buAutoNum type="arabicPeriod"/>
            </a:pPr>
            <a:r>
              <a:rPr lang="en"/>
              <a:t>Fairness: Connections should share the available bandwidth.</a:t>
            </a:r>
            <a:endParaRPr/>
          </a:p>
          <a:p>
            <a:pPr marL="457200" lvl="0" indent="-342900" algn="l" rtl="0">
              <a:spcBef>
                <a:spcPts val="0"/>
              </a:spcBef>
              <a:spcAft>
                <a:spcPts val="0"/>
              </a:spcAft>
              <a:buSzPts val="1800"/>
              <a:buAutoNum type="arabicPeriod"/>
            </a:pPr>
            <a:r>
              <a:rPr lang="en"/>
              <a:t>Practical to implement: Scalable, decentralized, adaptive, etc.</a:t>
            </a:r>
            <a:endParaRPr/>
          </a:p>
          <a:p>
            <a:pPr marL="0" lvl="0" indent="0" algn="l" rtl="0">
              <a:spcBef>
                <a:spcPts val="600"/>
              </a:spcBef>
              <a:spcAft>
                <a:spcPts val="0"/>
              </a:spcAft>
              <a:buNone/>
            </a:pPr>
            <a:endParaRPr/>
          </a:p>
          <a:p>
            <a:pPr marL="0" lvl="0" indent="0" algn="l" rtl="0">
              <a:spcBef>
                <a:spcPts val="600"/>
              </a:spcBef>
              <a:spcAft>
                <a:spcPts val="0"/>
              </a:spcAft>
              <a:buNone/>
            </a:pPr>
            <a:r>
              <a:rPr lang="en"/>
              <a:t>Our ultimate goal is a good tradeoff between these metrics.</a:t>
            </a:r>
            <a:endParaRPr/>
          </a:p>
          <a:p>
            <a:pPr marL="457200" lvl="0" indent="-342900" algn="l" rtl="0">
              <a:spcBef>
                <a:spcPts val="600"/>
              </a:spcBef>
              <a:spcAft>
                <a:spcPts val="0"/>
              </a:spcAft>
              <a:buSzPts val="1800"/>
              <a:buChar char="●"/>
            </a:pPr>
            <a:r>
              <a:rPr lang="en"/>
              <a:t>Could avoid congestion (1) by sending really slowly.</a:t>
            </a:r>
            <a:endParaRPr/>
          </a:p>
          <a:p>
            <a:pPr marL="457200" lvl="0" indent="-342900" algn="l" rtl="0">
              <a:spcBef>
                <a:spcPts val="0"/>
              </a:spcBef>
              <a:spcAft>
                <a:spcPts val="0"/>
              </a:spcAft>
              <a:buSzPts val="1800"/>
              <a:buChar char="●"/>
            </a:pPr>
            <a:r>
              <a:rPr lang="en"/>
              <a:t>But then we aren't using all the bandwidth on the link (2).</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617"/>
        <p:cNvGrpSpPr/>
        <p:nvPr/>
      </p:nvGrpSpPr>
      <p:grpSpPr>
        <a:xfrm>
          <a:off x="0" y="0"/>
          <a:ext cx="0" cy="0"/>
          <a:chOff x="0" y="0"/>
          <a:chExt cx="0" cy="0"/>
        </a:xfrm>
      </p:grpSpPr>
      <p:sp>
        <p:nvSpPr>
          <p:cNvPr id="1618" name="Google Shape;1618;p71"/>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Possible Approaches</a:t>
            </a:r>
            <a:endParaRPr/>
          </a:p>
        </p:txBody>
      </p:sp>
      <p:sp>
        <p:nvSpPr>
          <p:cNvPr id="1619" name="Google Shape;1619;p71"/>
          <p:cNvSpPr txBox="1">
            <a:spLocks noGrp="1"/>
          </p:cNvSpPr>
          <p:nvPr>
            <p:ph type="body" idx="1"/>
          </p:nvPr>
        </p:nvSpPr>
        <p:spPr>
          <a:xfrm>
            <a:off x="107050" y="402200"/>
            <a:ext cx="8909700" cy="45306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Reservations:</a:t>
            </a:r>
            <a:endParaRPr/>
          </a:p>
          <a:p>
            <a:pPr marL="457200" lvl="0" indent="-342900" algn="l" rtl="0">
              <a:spcBef>
                <a:spcPts val="600"/>
              </a:spcBef>
              <a:spcAft>
                <a:spcPts val="0"/>
              </a:spcAft>
              <a:buSzPts val="1800"/>
              <a:buChar char="●"/>
            </a:pPr>
            <a:r>
              <a:rPr lang="en"/>
              <a:t>Connections reserve bandwidth at the start, and release bandwidth at the end.</a:t>
            </a:r>
            <a:endParaRPr/>
          </a:p>
          <a:p>
            <a:pPr marL="457200" lvl="0" indent="-342900" algn="l" rtl="0">
              <a:spcBef>
                <a:spcPts val="0"/>
              </a:spcBef>
              <a:spcAft>
                <a:spcPts val="0"/>
              </a:spcAft>
              <a:buSzPts val="1800"/>
              <a:buChar char="●"/>
            </a:pPr>
            <a:r>
              <a:rPr lang="en"/>
              <a:t>Requires connections to know bandwidth ahead of time.</a:t>
            </a:r>
            <a:endParaRPr/>
          </a:p>
          <a:p>
            <a:pPr marL="457200" lvl="0" indent="-342900" algn="l" rtl="0">
              <a:spcBef>
                <a:spcPts val="0"/>
              </a:spcBef>
              <a:spcAft>
                <a:spcPts val="0"/>
              </a:spcAft>
              <a:buSzPts val="1800"/>
              <a:buChar char="●"/>
            </a:pPr>
            <a:r>
              <a:rPr lang="en"/>
              <a:t>Other problems: Hard to implement, inefficient bandwidth usage, etc.</a:t>
            </a:r>
            <a:endParaRPr/>
          </a:p>
          <a:p>
            <a:pPr marL="0" lvl="0" indent="0" algn="l" rtl="0">
              <a:spcBef>
                <a:spcPts val="600"/>
              </a:spcBef>
              <a:spcAft>
                <a:spcPts val="0"/>
              </a:spcAft>
              <a:buNone/>
            </a:pPr>
            <a:r>
              <a:rPr lang="en"/>
              <a:t>Pricing/priorities:</a:t>
            </a:r>
            <a:endParaRPr/>
          </a:p>
          <a:p>
            <a:pPr marL="457200" lvl="0" indent="-342900" algn="l" rtl="0">
              <a:spcBef>
                <a:spcPts val="600"/>
              </a:spcBef>
              <a:spcAft>
                <a:spcPts val="0"/>
              </a:spcAft>
              <a:buSzPts val="1800"/>
              <a:buChar char="●"/>
            </a:pPr>
            <a:r>
              <a:rPr lang="en"/>
              <a:t>Analogy: Express toll lanes on the highway. Price changes depending on traffic.</a:t>
            </a:r>
            <a:endParaRPr/>
          </a:p>
          <a:p>
            <a:pPr marL="457200" lvl="0" indent="-342900" algn="l" rtl="0">
              <a:spcBef>
                <a:spcPts val="0"/>
              </a:spcBef>
              <a:spcAft>
                <a:spcPts val="0"/>
              </a:spcAft>
              <a:buSzPts val="1800"/>
              <a:buChar char="●"/>
            </a:pPr>
            <a:r>
              <a:rPr lang="en"/>
              <a:t>Prioritize traffic from users who pay more.</a:t>
            </a:r>
            <a:endParaRPr/>
          </a:p>
          <a:p>
            <a:pPr marL="457200" lvl="0" indent="-342900" algn="l" rtl="0">
              <a:spcBef>
                <a:spcPts val="0"/>
              </a:spcBef>
              <a:spcAft>
                <a:spcPts val="0"/>
              </a:spcAft>
              <a:buSzPts val="1800"/>
              <a:buChar char="●"/>
            </a:pPr>
            <a:r>
              <a:rPr lang="en"/>
              <a:t>Requires a payment model.</a:t>
            </a:r>
            <a:endParaRPr/>
          </a:p>
          <a:p>
            <a:pPr marL="0" lvl="0" indent="0" algn="l" rtl="0">
              <a:spcBef>
                <a:spcPts val="600"/>
              </a:spcBef>
              <a:spcAft>
                <a:spcPts val="0"/>
              </a:spcAft>
              <a:buNone/>
            </a:pPr>
            <a:r>
              <a:rPr lang="en"/>
              <a:t>Dynamic adjustment:</a:t>
            </a:r>
            <a:endParaRPr/>
          </a:p>
          <a:p>
            <a:pPr marL="457200" lvl="0" indent="-342900" algn="l" rtl="0">
              <a:spcBef>
                <a:spcPts val="600"/>
              </a:spcBef>
              <a:spcAft>
                <a:spcPts val="0"/>
              </a:spcAft>
              <a:buSzPts val="1800"/>
              <a:buChar char="●"/>
            </a:pPr>
            <a:r>
              <a:rPr lang="en"/>
              <a:t>Learn the current congestion level, and adjust your rate accordingly.</a:t>
            </a:r>
            <a:endParaRPr/>
          </a:p>
          <a:p>
            <a:pPr marL="457200" lvl="0" indent="-342900" algn="l" rtl="0">
              <a:spcBef>
                <a:spcPts val="0"/>
              </a:spcBef>
              <a:spcAft>
                <a:spcPts val="0"/>
              </a:spcAft>
              <a:buSzPts val="1800"/>
              <a:buChar char="●"/>
            </a:pPr>
            <a:r>
              <a:rPr lang="en"/>
              <a:t>Requires good citizenship (no cheating).</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623"/>
        <p:cNvGrpSpPr/>
        <p:nvPr/>
      </p:nvGrpSpPr>
      <p:grpSpPr>
        <a:xfrm>
          <a:off x="0" y="0"/>
          <a:ext cx="0" cy="0"/>
          <a:chOff x="0" y="0"/>
          <a:chExt cx="0" cy="0"/>
        </a:xfrm>
      </p:grpSpPr>
      <p:sp>
        <p:nvSpPr>
          <p:cNvPr id="1624" name="Google Shape;1624;p72"/>
          <p:cNvSpPr txBox="1">
            <a:spLocks noGrp="1"/>
          </p:cNvSpPr>
          <p:nvPr>
            <p:ph type="title"/>
          </p:nvPr>
        </p:nvSpPr>
        <p:spPr>
          <a:xfrm>
            <a:off x="0" y="0"/>
            <a:ext cx="8520600" cy="39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accent3"/>
                </a:solidFill>
              </a:rPr>
              <a:t>Possible Approaches</a:t>
            </a:r>
            <a:endParaRPr/>
          </a:p>
        </p:txBody>
      </p:sp>
      <p:sp>
        <p:nvSpPr>
          <p:cNvPr id="1625" name="Google Shape;1625;p72"/>
          <p:cNvSpPr txBox="1">
            <a:spLocks noGrp="1"/>
          </p:cNvSpPr>
          <p:nvPr>
            <p:ph type="body" idx="1"/>
          </p:nvPr>
        </p:nvSpPr>
        <p:spPr>
          <a:xfrm>
            <a:off x="107050" y="402200"/>
            <a:ext cx="8909700" cy="2867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3 possible approaches: reservations, pricing, and dynamic adjustment.</a:t>
            </a:r>
            <a:endParaRPr/>
          </a:p>
          <a:p>
            <a:pPr marL="0" lvl="0" indent="0" algn="l" rtl="0">
              <a:spcBef>
                <a:spcPts val="600"/>
              </a:spcBef>
              <a:spcAft>
                <a:spcPts val="0"/>
              </a:spcAft>
              <a:buNone/>
            </a:pPr>
            <a:r>
              <a:rPr lang="en"/>
              <a:t>All the algorithms we'll see are based on dynamic adjustment.</a:t>
            </a:r>
            <a:endParaRPr/>
          </a:p>
          <a:p>
            <a:pPr marL="457200" lvl="0" indent="-342900" algn="l" rtl="0">
              <a:spcBef>
                <a:spcPts val="600"/>
              </a:spcBef>
              <a:spcAft>
                <a:spcPts val="0"/>
              </a:spcAft>
              <a:buSzPts val="1800"/>
              <a:buChar char="●"/>
            </a:pPr>
            <a:r>
              <a:rPr lang="en"/>
              <a:t>If we rebuilt the Internet from scratch, another approach might be feasible.</a:t>
            </a:r>
            <a:endParaRPr/>
          </a:p>
          <a:p>
            <a:pPr marL="457200" lvl="0" indent="-342900" algn="l" rtl="0">
              <a:spcBef>
                <a:spcPts val="0"/>
              </a:spcBef>
              <a:spcAft>
                <a:spcPts val="0"/>
              </a:spcAft>
              <a:buSzPts val="1800"/>
              <a:buChar char="●"/>
            </a:pPr>
            <a:r>
              <a:rPr lang="en"/>
              <a:t>But congestion control was invented as a patch on the existing Internet.</a:t>
            </a:r>
            <a:endParaRPr/>
          </a:p>
          <a:p>
            <a:pPr marL="457200" lvl="0" indent="-342900" algn="l" rtl="0">
              <a:spcBef>
                <a:spcPts val="0"/>
              </a:spcBef>
              <a:spcAft>
                <a:spcPts val="0"/>
              </a:spcAft>
              <a:buSzPts val="1800"/>
              <a:buChar char="●"/>
            </a:pPr>
            <a:r>
              <a:rPr lang="en"/>
              <a:t>Dynamic adjustment is the best fit for the existing Internet:</a:t>
            </a:r>
            <a:endParaRPr/>
          </a:p>
          <a:p>
            <a:pPr marL="914400" lvl="1" indent="-342900" algn="l" rtl="0">
              <a:spcBef>
                <a:spcPts val="0"/>
              </a:spcBef>
              <a:spcAft>
                <a:spcPts val="0"/>
              </a:spcAft>
              <a:buSzPts val="1800"/>
              <a:buChar char="○"/>
            </a:pPr>
            <a:r>
              <a:rPr lang="en"/>
              <a:t>Doesn't require knowing bandwidth ahead of time.</a:t>
            </a:r>
            <a:endParaRPr/>
          </a:p>
          <a:p>
            <a:pPr marL="914400" lvl="1" indent="-342900" algn="l" rtl="0">
              <a:spcBef>
                <a:spcPts val="0"/>
              </a:spcBef>
              <a:spcAft>
                <a:spcPts val="0"/>
              </a:spcAft>
              <a:buSzPts val="1800"/>
              <a:buChar char="○"/>
            </a:pPr>
            <a:r>
              <a:rPr lang="en"/>
              <a:t>Doesn't require a payment model.</a:t>
            </a:r>
            <a:endParaRPr/>
          </a:p>
        </p:txBody>
      </p:sp>
      <p:sp>
        <p:nvSpPr>
          <p:cNvPr id="1626" name="Google Shape;1626;p72"/>
          <p:cNvSpPr txBox="1"/>
          <p:nvPr/>
        </p:nvSpPr>
        <p:spPr>
          <a:xfrm>
            <a:off x="2971950" y="3135750"/>
            <a:ext cx="2693100" cy="2709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a:latin typeface="Roboto"/>
                <a:ea typeface="Roboto"/>
                <a:cs typeface="Roboto"/>
                <a:sym typeface="Roboto"/>
              </a:rPr>
              <a:t>Congestion Control Protocols</a:t>
            </a:r>
            <a:endParaRPr>
              <a:solidFill>
                <a:srgbClr val="000000"/>
              </a:solidFill>
              <a:latin typeface="Roboto"/>
              <a:ea typeface="Roboto"/>
              <a:cs typeface="Roboto"/>
              <a:sym typeface="Roboto"/>
            </a:endParaRPr>
          </a:p>
        </p:txBody>
      </p:sp>
      <p:sp>
        <p:nvSpPr>
          <p:cNvPr id="1627" name="Google Shape;1627;p72"/>
          <p:cNvSpPr txBox="1"/>
          <p:nvPr/>
        </p:nvSpPr>
        <p:spPr>
          <a:xfrm>
            <a:off x="3677400" y="3909450"/>
            <a:ext cx="12822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0"/>
              </a:spcBef>
              <a:spcAft>
                <a:spcPts val="0"/>
              </a:spcAft>
              <a:buNone/>
            </a:pPr>
            <a:r>
              <a:rPr lang="en">
                <a:latin typeface="Roboto"/>
                <a:ea typeface="Roboto"/>
                <a:cs typeface="Roboto"/>
                <a:sym typeface="Roboto"/>
              </a:rPr>
              <a:t>Pricing</a:t>
            </a:r>
            <a:endParaRPr>
              <a:solidFill>
                <a:srgbClr val="000000"/>
              </a:solidFill>
              <a:latin typeface="Roboto"/>
              <a:ea typeface="Roboto"/>
              <a:cs typeface="Roboto"/>
              <a:sym typeface="Roboto"/>
            </a:endParaRPr>
          </a:p>
        </p:txBody>
      </p:sp>
      <p:cxnSp>
        <p:nvCxnSpPr>
          <p:cNvPr id="1628" name="Google Shape;1628;p72"/>
          <p:cNvCxnSpPr>
            <a:stCxn id="1626" idx="2"/>
            <a:endCxn id="1627" idx="0"/>
          </p:cNvCxnSpPr>
          <p:nvPr/>
        </p:nvCxnSpPr>
        <p:spPr>
          <a:xfrm>
            <a:off x="4318500" y="3406650"/>
            <a:ext cx="0" cy="502800"/>
          </a:xfrm>
          <a:prstGeom prst="straightConnector1">
            <a:avLst/>
          </a:prstGeom>
          <a:noFill/>
          <a:ln w="9525" cap="flat" cmpd="sng">
            <a:solidFill>
              <a:srgbClr val="666666"/>
            </a:solidFill>
            <a:prstDash val="solid"/>
            <a:round/>
            <a:headEnd type="none" w="med" len="med"/>
            <a:tailEnd type="none" w="med" len="med"/>
          </a:ln>
        </p:spPr>
      </p:cxnSp>
      <p:sp>
        <p:nvSpPr>
          <p:cNvPr id="1629" name="Google Shape;1629;p72"/>
          <p:cNvSpPr txBox="1"/>
          <p:nvPr/>
        </p:nvSpPr>
        <p:spPr>
          <a:xfrm>
            <a:off x="2382000" y="3909450"/>
            <a:ext cx="12822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0"/>
              </a:spcBef>
              <a:spcAft>
                <a:spcPts val="0"/>
              </a:spcAft>
              <a:buNone/>
            </a:pPr>
            <a:r>
              <a:rPr lang="en">
                <a:latin typeface="Roboto"/>
                <a:ea typeface="Roboto"/>
                <a:cs typeface="Roboto"/>
                <a:sym typeface="Roboto"/>
              </a:rPr>
              <a:t>Reservations</a:t>
            </a:r>
            <a:endParaRPr>
              <a:solidFill>
                <a:srgbClr val="000000"/>
              </a:solidFill>
              <a:latin typeface="Roboto"/>
              <a:ea typeface="Roboto"/>
              <a:cs typeface="Roboto"/>
              <a:sym typeface="Roboto"/>
            </a:endParaRPr>
          </a:p>
        </p:txBody>
      </p:sp>
      <p:cxnSp>
        <p:nvCxnSpPr>
          <p:cNvPr id="1630" name="Google Shape;1630;p72"/>
          <p:cNvCxnSpPr>
            <a:stCxn id="1626" idx="2"/>
            <a:endCxn id="1629" idx="0"/>
          </p:cNvCxnSpPr>
          <p:nvPr/>
        </p:nvCxnSpPr>
        <p:spPr>
          <a:xfrm flipH="1">
            <a:off x="3023100" y="3406650"/>
            <a:ext cx="1295400" cy="502800"/>
          </a:xfrm>
          <a:prstGeom prst="straightConnector1">
            <a:avLst/>
          </a:prstGeom>
          <a:noFill/>
          <a:ln w="9525" cap="flat" cmpd="sng">
            <a:solidFill>
              <a:srgbClr val="666666"/>
            </a:solidFill>
            <a:prstDash val="solid"/>
            <a:round/>
            <a:headEnd type="none" w="med" len="med"/>
            <a:tailEnd type="none" w="med" len="med"/>
          </a:ln>
        </p:spPr>
      </p:cxnSp>
      <p:sp>
        <p:nvSpPr>
          <p:cNvPr id="1631" name="Google Shape;1631;p72"/>
          <p:cNvSpPr txBox="1"/>
          <p:nvPr/>
        </p:nvSpPr>
        <p:spPr>
          <a:xfrm>
            <a:off x="4686900" y="3909450"/>
            <a:ext cx="1854000" cy="270900"/>
          </a:xfrm>
          <a:prstGeom prst="rect">
            <a:avLst/>
          </a:prstGeom>
          <a:noFill/>
          <a:ln>
            <a:noFill/>
          </a:ln>
        </p:spPr>
        <p:txBody>
          <a:bodyPr spcFirstLastPara="1" wrap="square" lIns="27425" tIns="27425" rIns="27425" bIns="27425" anchor="t" anchorCtr="0">
            <a:spAutoFit/>
          </a:bodyPr>
          <a:lstStyle/>
          <a:p>
            <a:pPr marL="0" lvl="0" indent="0" algn="ctr" rtl="0">
              <a:lnSpc>
                <a:spcPct val="115000"/>
              </a:lnSpc>
              <a:spcBef>
                <a:spcPts val="0"/>
              </a:spcBef>
              <a:spcAft>
                <a:spcPts val="0"/>
              </a:spcAft>
              <a:buNone/>
            </a:pPr>
            <a:r>
              <a:rPr lang="en">
                <a:latin typeface="Roboto"/>
                <a:ea typeface="Roboto"/>
                <a:cs typeface="Roboto"/>
                <a:sym typeface="Roboto"/>
              </a:rPr>
              <a:t>Dynamic Adjustment</a:t>
            </a:r>
            <a:endParaRPr>
              <a:solidFill>
                <a:srgbClr val="000000"/>
              </a:solidFill>
              <a:latin typeface="Roboto"/>
              <a:ea typeface="Roboto"/>
              <a:cs typeface="Roboto"/>
              <a:sym typeface="Roboto"/>
            </a:endParaRPr>
          </a:p>
        </p:txBody>
      </p:sp>
      <p:cxnSp>
        <p:nvCxnSpPr>
          <p:cNvPr id="1632" name="Google Shape;1632;p72"/>
          <p:cNvCxnSpPr>
            <a:stCxn id="1626" idx="2"/>
            <a:endCxn id="1631" idx="0"/>
          </p:cNvCxnSpPr>
          <p:nvPr/>
        </p:nvCxnSpPr>
        <p:spPr>
          <a:xfrm>
            <a:off x="4318500" y="3406650"/>
            <a:ext cx="1295400" cy="502800"/>
          </a:xfrm>
          <a:prstGeom prst="straightConnector1">
            <a:avLst/>
          </a:prstGeom>
          <a:noFill/>
          <a:ln w="9525" cap="flat" cmpd="sng">
            <a:solidFill>
              <a:srgbClr val="666666"/>
            </a:solidFill>
            <a:prstDash val="solid"/>
            <a:round/>
            <a:headEnd type="none" w="med" len="med"/>
            <a:tailEnd type="none" w="med" len="med"/>
          </a:ln>
        </p:spPr>
      </p:cxnSp>
    </p:spTree>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5306</Words>
  <Application>Microsoft Office PowerPoint</Application>
  <PresentationFormat>On-screen Show (16:9)</PresentationFormat>
  <Paragraphs>1362</Paragraphs>
  <Slides>49</Slides>
  <Notes>49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Roboto Medium</vt:lpstr>
      <vt:lpstr>Consolas</vt:lpstr>
      <vt:lpstr>Roboto Light</vt:lpstr>
      <vt:lpstr>Roboto</vt:lpstr>
      <vt:lpstr>Arial</vt:lpstr>
      <vt:lpstr>Simple Lecture</vt:lpstr>
      <vt:lpstr>PowerPoint Presentation</vt:lpstr>
      <vt:lpstr>Implementing TCP: Byte Notation (Segments, Sequence Numbers)</vt:lpstr>
      <vt:lpstr>Notation Change: Bytes vs. Packets</vt:lpstr>
      <vt:lpstr>TCP Segments</vt:lpstr>
      <vt:lpstr>TCP Segments</vt:lpstr>
      <vt:lpstr>TCP Segments</vt:lpstr>
      <vt:lpstr>TCP Sequence Numbers</vt:lpstr>
      <vt:lpstr>TCP Sequence Numbers</vt:lpstr>
      <vt:lpstr>TCP Ack Numbers</vt:lpstr>
      <vt:lpstr>TCP Sequence and Ack Numbers</vt:lpstr>
      <vt:lpstr>TCP Sequence and Ack Numbers</vt:lpstr>
      <vt:lpstr>Maintaining State (Full Duplex)</vt:lpstr>
      <vt:lpstr>TCP State</vt:lpstr>
      <vt:lpstr>TCP is Full-Duplex</vt:lpstr>
      <vt:lpstr>TCP Connection Setup: Three-Way Handshake</vt:lpstr>
      <vt:lpstr>TCP Connection Setup: Three-Way Handshake</vt:lpstr>
      <vt:lpstr>TCP Connection Teardown</vt:lpstr>
      <vt:lpstr>TCP Connection Teardown</vt:lpstr>
      <vt:lpstr>TCP Setup/Teardown Transition Diagram</vt:lpstr>
      <vt:lpstr>TCP Setup/Teardown Transition Diagram (Simplified)</vt:lpstr>
      <vt:lpstr>Piggybacking</vt:lpstr>
      <vt:lpstr>Sliding Window</vt:lpstr>
      <vt:lpstr>TCP Sliding Window</vt:lpstr>
      <vt:lpstr>TCP Sliding Window</vt:lpstr>
      <vt:lpstr>TCP Sliding Window</vt:lpstr>
      <vt:lpstr>TCP Sliding Window</vt:lpstr>
      <vt:lpstr>Detecting Loss</vt:lpstr>
      <vt:lpstr>TCP Header</vt:lpstr>
      <vt:lpstr>TCP Header</vt:lpstr>
      <vt:lpstr>TCP Header</vt:lpstr>
      <vt:lpstr>TCP Header</vt:lpstr>
      <vt:lpstr>TCP: Summary</vt:lpstr>
      <vt:lpstr>PowerPoint Presentation</vt:lpstr>
      <vt:lpstr>Congestion Control: Why do we need it?</vt:lpstr>
      <vt:lpstr>Recall: Congestion at Routers</vt:lpstr>
      <vt:lpstr>Congestion Delays Packets</vt:lpstr>
      <vt:lpstr>Brief History of Congestion Control</vt:lpstr>
      <vt:lpstr>Brief History of Congestion Control</vt:lpstr>
      <vt:lpstr>Congestion Control: Why is it hard?</vt:lpstr>
      <vt:lpstr>Congestion Control Challenges: Depends on Destination</vt:lpstr>
      <vt:lpstr>Congestion Control Challenges: Depends on Path</vt:lpstr>
      <vt:lpstr>Congestion Control Challenges: Depends on Competing Flows</vt:lpstr>
      <vt:lpstr>Congestion Control Challenges: Depends on Indirect Competition</vt:lpstr>
      <vt:lpstr>Congestion Control is a Global Problem</vt:lpstr>
      <vt:lpstr>Congestion Control as Resource Allocation Problem</vt:lpstr>
      <vt:lpstr>Design Goals</vt:lpstr>
      <vt:lpstr>Design Goals</vt:lpstr>
      <vt:lpstr>Possible Approaches</vt:lpstr>
      <vt:lpstr>Possible Approaches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Zonghua Gu</cp:lastModifiedBy>
  <cp:revision>1</cp:revision>
  <dcterms:modified xsi:type="dcterms:W3CDTF">2026-01-31T15:41:06Z</dcterms:modified>
</cp:coreProperties>
</file>