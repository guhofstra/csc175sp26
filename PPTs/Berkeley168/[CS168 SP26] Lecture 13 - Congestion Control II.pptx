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y="5143500" cx="9144000"/>
  <p:notesSz cx="6858000" cy="9144000"/>
  <p:embeddedFontLst>
    <p:embeddedFont>
      <p:font typeface="Roboto Medium"/>
      <p:regular r:id="rId74"/>
      <p:bold r:id="rId75"/>
      <p:italic r:id="rId76"/>
      <p:boldItalic r:id="rId77"/>
    </p:embeddedFont>
    <p:embeddedFont>
      <p:font typeface="Roboto"/>
      <p:regular r:id="rId78"/>
      <p:bold r:id="rId79"/>
      <p:italic r:id="rId80"/>
      <p:boldItalic r:id="rId81"/>
    </p:embeddedFont>
    <p:embeddedFont>
      <p:font typeface="Roboto Light"/>
      <p:regular r:id="rId82"/>
      <p:bold r:id="rId83"/>
      <p:italic r:id="rId84"/>
      <p:boldItalic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2FFB72-2E00-4C84-A838-785EF1CB27BB}">
  <a:tblStyle styleId="{F42FFB72-2E00-4C84-A838-785EF1CB27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RobotoLight-italic.fntdata"/><Relationship Id="rId83" Type="http://schemas.openxmlformats.org/officeDocument/2006/relationships/font" Target="fonts/RobotoLight-bold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85" Type="http://schemas.openxmlformats.org/officeDocument/2006/relationships/font" Target="fonts/RobotoLight-boldItalic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Roboto-italic.fntdata"/><Relationship Id="rId82" Type="http://schemas.openxmlformats.org/officeDocument/2006/relationships/font" Target="fonts/RobotoLight-regular.fntdata"/><Relationship Id="rId81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RobotoMedium-bold.fntdata"/><Relationship Id="rId30" Type="http://schemas.openxmlformats.org/officeDocument/2006/relationships/slide" Target="slides/slide24.xml"/><Relationship Id="rId74" Type="http://schemas.openxmlformats.org/officeDocument/2006/relationships/font" Target="fonts/RobotoMedium-regular.fntdata"/><Relationship Id="rId33" Type="http://schemas.openxmlformats.org/officeDocument/2006/relationships/slide" Target="slides/slide27.xml"/><Relationship Id="rId77" Type="http://schemas.openxmlformats.org/officeDocument/2006/relationships/font" Target="fonts/RobotoMedium-boldItalic.fntdata"/><Relationship Id="rId32" Type="http://schemas.openxmlformats.org/officeDocument/2006/relationships/slide" Target="slides/slide26.xml"/><Relationship Id="rId76" Type="http://schemas.openxmlformats.org/officeDocument/2006/relationships/font" Target="fonts/RobotoMedium-italic.fntdata"/><Relationship Id="rId35" Type="http://schemas.openxmlformats.org/officeDocument/2006/relationships/slide" Target="slides/slide29.xml"/><Relationship Id="rId79" Type="http://schemas.openxmlformats.org/officeDocument/2006/relationships/font" Target="fonts/Roboto-bold.fntdata"/><Relationship Id="rId34" Type="http://schemas.openxmlformats.org/officeDocument/2006/relationships/slide" Target="slides/slide28.xml"/><Relationship Id="rId78" Type="http://schemas.openxmlformats.org/officeDocument/2006/relationships/font" Target="fonts/Roboto-regular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vice.com/en/article/xwepkw/googles-network-congestion-algorithm-isnt-fair-researchers-say" TargetMode="Externa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aed80941a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aed80941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aed80941a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eaed80941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eb40535c3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eb40535c3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b40535c3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eb40535c3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Senario with only TCP and cumulative acks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eb40535c36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eb40535c36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CWND respond in our CC algorithm so far.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eb40535c36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eb40535c36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 is this huge jump and stuck window. Wasted bandwidth.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eb40535c36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eb40535c36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 zone - wasted!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eb40535c36_0_1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eb40535c36_0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Bursty behavior is also a secondary issue - project example 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eb40535c36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eb40535c36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restated again!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eb40535c36_0_2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2eb40535c36_0_2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Sender assumes that an ack means something made it through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2eb40535c36_0_2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2eb40535c36_0_2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eb40535c36_0_2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2eb40535c36_0_2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eb40535c36_0_2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eb40535c36_0_2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duplicate ack extends the window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eb40535c36_0_2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eb40535c36_0_2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after isolated loss with 3 duplicated acks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eb40535c36_0_2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2eb40535c36_0_2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 zone is no longer a waste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2eb40535c36_0_2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2eb40535c36_0_2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2eb40535c36_0_2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2eb40535c36_0_2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2eb40535c36_0_29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2eb40535c36_0_2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eb40535c36_0_2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eb40535c36_0_2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eb40535c36_0_3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eb40535c36_0_3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eb40535c36_0_3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eb40535c36_0_3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eb40535c36_0_3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eb40535c36_0_3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eb40535c36_0_3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eb40535c36_0_3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go to fast recovery from either slow start or congestion avoidance.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eb40535c36_0_3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eb40535c36_0_3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Tahoe - more conservative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Reno - Almost what we learned but no fast recovery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New Reno - Us!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TCP-SACK - Selective acknowledgements with more information about which packets </a:t>
            </a:r>
            <a:r>
              <a:rPr lang="en"/>
              <a:t>received</a:t>
            </a:r>
            <a:r>
              <a:rPr lang="en"/>
              <a:t> 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2eb40535c36_0_3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2eb40535c36_0_3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eb40535c36_0_31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eb40535c36_0_3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eb40535c36_0_3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eb40535c36_0_3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eb40535c36_0_3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eb40535c36_0_3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2eb40535c36_0_3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2eb40535c36_0_3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2eb40535c36_0_3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2eb40535c36_0_3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2eb40535c36_0_3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2eb40535c36_0_3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eb40535c36_0_3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eb40535c36_0_3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2eb40535c36_0_3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2eb40535c36_0_3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2eb40535c36_0_3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2eb40535c36_0_3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2eb40535c36_0_3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2eb40535c36_0_3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eb40535c36_0_3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2eb40535c36_0_3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eb40535c36_0_3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2eb40535c36_0_3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eb40535c36_0_3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eb40535c36_0_3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eb40535c36_0_3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eb40535c36_0_3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shifts in our algorithm can make a big difference at internet scale!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eb40535c36_0_34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eb40535c36_0_3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2eb40535c36_0_3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2eb40535c36_0_3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2eb40535c36_0_3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2eb40535c36_0_3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2eb40535c36_0_3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2eb40535c36_0_3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2eb40535c36_0_3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2eb40535c36_0_3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2eb40535c36_0_3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2eb40535c36_0_3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2eb40535c36_0_3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2eb40535c36_0_3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2eb40535c36_0_3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2eb40535c36_0_3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2eb40535c36_0_3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2eb40535c36_0_3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Yes, all the zig-zags were measured to go through the origin or be at 45 degrees, I don't know why I bothered to do this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2eb40535c36_0_3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2eb40535c36_0_3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https://www.vice.com/en/article/xwepkw/googles-network-congestion-algorithm-isnt-fair-researchers-say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g2eb40535c36_0_3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2" name="Google Shape;1672;g2eb40535c36_0_3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eb40535c36_0_389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eb40535c36_0_3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2eb40535c36_0_3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2eb40535c36_0_3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2eb40535c36_0_3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2eb40535c36_0_3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276f03ed542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276f03ed54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276f03ed542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276f03ed542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76f03ed542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76f03ed542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276f03ed542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276f03ed542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g276f03ed542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5" name="Google Shape;1755;g276f03ed542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276f03ed542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276f03ed542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g276f03ed542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8" name="Google Shape;1768;g276f03ed542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276f03ed542_1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276f03ed542_1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76f03ed542_1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276f03ed542_1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Smaller networks like datacenters benefit from this, but full internet uses TCP and CC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276f03ed542_1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276f03ed542_1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through what R1 does (0.5 and 0.5) but congestion still due to 0.1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276f03ed542_1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276f03ed542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276f03ed542_1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0" name="Google Shape;1910;g276f03ed542_1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276f03ed542_1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276f03ed542_1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276f03ed542_1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276f03ed542_1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do have something!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queue.acm.org/detail.cfm?id=3022184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vice.com/en/article/xwepkw/googles-network-congestion-algorithm-isnt-fair-researchers-say" TargetMode="External"/><Relationship Id="rId4" Type="http://schemas.openxmlformats.org/officeDocument/2006/relationships/image" Target="../media/image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://ccr.sigcomm.org/archive/1995/jan95/ccr-9501-shenker.pdf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Congestion Control, Part 2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13 (Transport 4)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 rot="5400000">
            <a:off x="5069325" y="18316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 rot="5400000">
            <a:off x="5244225" y="18316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 rot="5400000">
            <a:off x="54191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4"/>
          <p:cNvSpPr/>
          <p:nvPr/>
        </p:nvSpPr>
        <p:spPr>
          <a:xfrm rot="5400000">
            <a:off x="55940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4"/>
          <p:cNvSpPr/>
          <p:nvPr/>
        </p:nvSpPr>
        <p:spPr>
          <a:xfrm rot="5400000">
            <a:off x="57689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 rot="5400000">
            <a:off x="59438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 rot="5400000">
            <a:off x="61187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4"/>
          <p:cNvSpPr/>
          <p:nvPr/>
        </p:nvSpPr>
        <p:spPr>
          <a:xfrm rot="5400000">
            <a:off x="62936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 rot="5400000">
            <a:off x="64685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/>
          <p:nvPr/>
        </p:nvSpPr>
        <p:spPr>
          <a:xfrm rot="5400000">
            <a:off x="66434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/>
          <p:nvPr/>
        </p:nvSpPr>
        <p:spPr>
          <a:xfrm rot="5400000">
            <a:off x="68183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4"/>
          <p:cNvSpPr/>
          <p:nvPr/>
        </p:nvSpPr>
        <p:spPr>
          <a:xfrm rot="5400000">
            <a:off x="6993225" y="18316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4"/>
          <p:cNvSpPr/>
          <p:nvPr/>
        </p:nvSpPr>
        <p:spPr>
          <a:xfrm rot="5400000">
            <a:off x="7168125" y="18316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4"/>
          <p:cNvSpPr/>
          <p:nvPr/>
        </p:nvSpPr>
        <p:spPr>
          <a:xfrm rot="5400000">
            <a:off x="7343025" y="18316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4"/>
          <p:cNvSpPr/>
          <p:nvPr/>
        </p:nvSpPr>
        <p:spPr>
          <a:xfrm rot="5400000">
            <a:off x="7517925" y="18316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4"/>
          <p:cNvSpPr/>
          <p:nvPr/>
        </p:nvSpPr>
        <p:spPr>
          <a:xfrm rot="5400000">
            <a:off x="7692825" y="18316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4"/>
          <p:cNvSpPr/>
          <p:nvPr/>
        </p:nvSpPr>
        <p:spPr>
          <a:xfrm rot="5400000">
            <a:off x="7867725" y="18316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4"/>
          <p:cNvSpPr/>
          <p:nvPr/>
        </p:nvSpPr>
        <p:spPr>
          <a:xfrm rot="5400000">
            <a:off x="5069325" y="12220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4"/>
          <p:cNvSpPr/>
          <p:nvPr/>
        </p:nvSpPr>
        <p:spPr>
          <a:xfrm rot="5400000">
            <a:off x="5244225" y="12220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4"/>
          <p:cNvSpPr/>
          <p:nvPr/>
        </p:nvSpPr>
        <p:spPr>
          <a:xfrm rot="5400000">
            <a:off x="54191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4"/>
          <p:cNvSpPr/>
          <p:nvPr/>
        </p:nvSpPr>
        <p:spPr>
          <a:xfrm rot="5400000">
            <a:off x="55940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4"/>
          <p:cNvSpPr/>
          <p:nvPr/>
        </p:nvSpPr>
        <p:spPr>
          <a:xfrm rot="5400000">
            <a:off x="57689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4"/>
          <p:cNvSpPr/>
          <p:nvPr/>
        </p:nvSpPr>
        <p:spPr>
          <a:xfrm rot="5400000">
            <a:off x="59438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4"/>
          <p:cNvSpPr/>
          <p:nvPr/>
        </p:nvSpPr>
        <p:spPr>
          <a:xfrm rot="5400000">
            <a:off x="61187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4"/>
          <p:cNvSpPr/>
          <p:nvPr/>
        </p:nvSpPr>
        <p:spPr>
          <a:xfrm rot="5400000">
            <a:off x="62936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4"/>
          <p:cNvSpPr/>
          <p:nvPr/>
        </p:nvSpPr>
        <p:spPr>
          <a:xfrm rot="5400000">
            <a:off x="64685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/>
          <p:nvPr/>
        </p:nvSpPr>
        <p:spPr>
          <a:xfrm rot="5400000">
            <a:off x="66434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4"/>
          <p:cNvSpPr/>
          <p:nvPr/>
        </p:nvSpPr>
        <p:spPr>
          <a:xfrm rot="5400000">
            <a:off x="6818325" y="12220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4"/>
          <p:cNvSpPr/>
          <p:nvPr/>
        </p:nvSpPr>
        <p:spPr>
          <a:xfrm rot="5400000">
            <a:off x="6993225" y="12220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4"/>
          <p:cNvSpPr/>
          <p:nvPr/>
        </p:nvSpPr>
        <p:spPr>
          <a:xfrm rot="5400000">
            <a:off x="7168125" y="12220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4"/>
          <p:cNvSpPr/>
          <p:nvPr/>
        </p:nvSpPr>
        <p:spPr>
          <a:xfrm rot="5400000">
            <a:off x="7343025" y="12220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4"/>
          <p:cNvSpPr/>
          <p:nvPr/>
        </p:nvSpPr>
        <p:spPr>
          <a:xfrm rot="5400000">
            <a:off x="7517925" y="12220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4"/>
          <p:cNvSpPr/>
          <p:nvPr/>
        </p:nvSpPr>
        <p:spPr>
          <a:xfrm rot="5400000">
            <a:off x="7692825" y="12220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4"/>
          <p:cNvSpPr/>
          <p:nvPr/>
        </p:nvSpPr>
        <p:spPr>
          <a:xfrm rot="5400000">
            <a:off x="7867725" y="12220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4"/>
          <p:cNvSpPr/>
          <p:nvPr/>
        </p:nvSpPr>
        <p:spPr>
          <a:xfrm rot="5400000">
            <a:off x="5069325" y="6124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4"/>
          <p:cNvSpPr/>
          <p:nvPr/>
        </p:nvSpPr>
        <p:spPr>
          <a:xfrm rot="5400000">
            <a:off x="5244225" y="6124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4"/>
          <p:cNvSpPr/>
          <p:nvPr/>
        </p:nvSpPr>
        <p:spPr>
          <a:xfrm rot="5400000">
            <a:off x="54191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4"/>
          <p:cNvSpPr/>
          <p:nvPr/>
        </p:nvSpPr>
        <p:spPr>
          <a:xfrm rot="5400000">
            <a:off x="55940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4"/>
          <p:cNvSpPr/>
          <p:nvPr/>
        </p:nvSpPr>
        <p:spPr>
          <a:xfrm rot="5400000">
            <a:off x="57689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4"/>
          <p:cNvSpPr/>
          <p:nvPr/>
        </p:nvSpPr>
        <p:spPr>
          <a:xfrm rot="5400000">
            <a:off x="59438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4"/>
          <p:cNvSpPr/>
          <p:nvPr/>
        </p:nvSpPr>
        <p:spPr>
          <a:xfrm rot="5400000">
            <a:off x="61187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4"/>
          <p:cNvSpPr/>
          <p:nvPr/>
        </p:nvSpPr>
        <p:spPr>
          <a:xfrm rot="5400000">
            <a:off x="62936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4"/>
          <p:cNvSpPr/>
          <p:nvPr/>
        </p:nvSpPr>
        <p:spPr>
          <a:xfrm rot="5400000">
            <a:off x="64685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4"/>
          <p:cNvSpPr/>
          <p:nvPr/>
        </p:nvSpPr>
        <p:spPr>
          <a:xfrm rot="5400000">
            <a:off x="6643425" y="6124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4"/>
          <p:cNvSpPr/>
          <p:nvPr/>
        </p:nvSpPr>
        <p:spPr>
          <a:xfrm rot="5400000">
            <a:off x="6818325" y="6124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4"/>
          <p:cNvSpPr/>
          <p:nvPr/>
        </p:nvSpPr>
        <p:spPr>
          <a:xfrm rot="5400000">
            <a:off x="6993225" y="6124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4"/>
          <p:cNvSpPr/>
          <p:nvPr/>
        </p:nvSpPr>
        <p:spPr>
          <a:xfrm rot="5400000">
            <a:off x="7168125" y="6124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4"/>
          <p:cNvSpPr/>
          <p:nvPr/>
        </p:nvSpPr>
        <p:spPr>
          <a:xfrm rot="5400000">
            <a:off x="7343025" y="6124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4"/>
          <p:cNvSpPr/>
          <p:nvPr/>
        </p:nvSpPr>
        <p:spPr>
          <a:xfrm rot="5400000">
            <a:off x="7517925" y="6124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4"/>
          <p:cNvSpPr/>
          <p:nvPr/>
        </p:nvSpPr>
        <p:spPr>
          <a:xfrm rot="5400000">
            <a:off x="7692825" y="6124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4"/>
          <p:cNvSpPr/>
          <p:nvPr/>
        </p:nvSpPr>
        <p:spPr>
          <a:xfrm rot="5400000">
            <a:off x="7867725" y="6124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4"/>
          <p:cNvSpPr/>
          <p:nvPr/>
        </p:nvSpPr>
        <p:spPr>
          <a:xfrm rot="5400000">
            <a:off x="6642527" y="87625"/>
            <a:ext cx="435900" cy="12246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4"/>
          <p:cNvSpPr/>
          <p:nvPr/>
        </p:nvSpPr>
        <p:spPr>
          <a:xfrm rot="5400000">
            <a:off x="5594355" y="263875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4"/>
          <p:cNvSpPr/>
          <p:nvPr/>
        </p:nvSpPr>
        <p:spPr>
          <a:xfrm rot="5400000">
            <a:off x="6730050" y="609625"/>
            <a:ext cx="435900" cy="13998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4"/>
          <p:cNvSpPr/>
          <p:nvPr/>
        </p:nvSpPr>
        <p:spPr>
          <a:xfrm rot="5400000">
            <a:off x="5594355" y="873475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4"/>
          <p:cNvSpPr/>
          <p:nvPr/>
        </p:nvSpPr>
        <p:spPr>
          <a:xfrm rot="5400000">
            <a:off x="6817775" y="1131475"/>
            <a:ext cx="435900" cy="15753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4"/>
          <p:cNvSpPr/>
          <p:nvPr/>
        </p:nvSpPr>
        <p:spPr>
          <a:xfrm rot="5400000">
            <a:off x="5594355" y="1483075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Congestion Control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Fast Recovery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State Machine and Variants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TCP Throughput Model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Issues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Router-Assisted Congestion Control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08" name="Google Shape;208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Recovery</a:t>
            </a:r>
            <a:endParaRPr/>
          </a:p>
        </p:txBody>
      </p:sp>
      <p:sp>
        <p:nvSpPr>
          <p:cNvPr id="209" name="Google Shape;209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Recovery</a:t>
            </a:r>
            <a:endParaRPr/>
          </a:p>
        </p:txBody>
      </p:sp>
      <p:sp>
        <p:nvSpPr>
          <p:cNvPr id="215" name="Google Shape;215;p2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Additive increases are too slow to recover from isolated loss.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last feature is an optimization to improve performance.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Bit of a hack, but it's effective.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Google Shape;220;p27"/>
          <p:cNvCxnSpPr/>
          <p:nvPr/>
        </p:nvCxnSpPr>
        <p:spPr>
          <a:xfrm>
            <a:off x="89751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Recovery: Setting the Stage</a:t>
            </a:r>
            <a:endParaRPr/>
          </a:p>
        </p:txBody>
      </p:sp>
      <p:cxnSp>
        <p:nvCxnSpPr>
          <p:cNvPr id="222" name="Google Shape;222;p27"/>
          <p:cNvCxnSpPr/>
          <p:nvPr/>
        </p:nvCxnSpPr>
        <p:spPr>
          <a:xfrm>
            <a:off x="5955738" y="560851"/>
            <a:ext cx="1186200" cy="15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7"/>
          <p:cNvCxnSpPr/>
          <p:nvPr/>
        </p:nvCxnSpPr>
        <p:spPr>
          <a:xfrm>
            <a:off x="5955738" y="72606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27"/>
          <p:cNvSpPr txBox="1"/>
          <p:nvPr/>
        </p:nvSpPr>
        <p:spPr>
          <a:xfrm>
            <a:off x="7143925" y="610551"/>
            <a:ext cx="15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</a:rPr>
              <a:t>✗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25" name="Google Shape;225;p27"/>
          <p:cNvSpPr txBox="1"/>
          <p:nvPr/>
        </p:nvSpPr>
        <p:spPr>
          <a:xfrm>
            <a:off x="5625725" y="450640"/>
            <a:ext cx="298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4618867" y="2357053"/>
            <a:ext cx="127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7" name="Google Shape;227;p27"/>
          <p:cNvCxnSpPr/>
          <p:nvPr/>
        </p:nvCxnSpPr>
        <p:spPr>
          <a:xfrm>
            <a:off x="5955738" y="90516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27"/>
          <p:cNvCxnSpPr/>
          <p:nvPr/>
        </p:nvCxnSpPr>
        <p:spPr>
          <a:xfrm>
            <a:off x="5955738" y="1089595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7"/>
          <p:cNvCxnSpPr/>
          <p:nvPr/>
        </p:nvCxnSpPr>
        <p:spPr>
          <a:xfrm>
            <a:off x="5955738" y="126869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7"/>
          <p:cNvCxnSpPr/>
          <p:nvPr/>
        </p:nvCxnSpPr>
        <p:spPr>
          <a:xfrm>
            <a:off x="5955738" y="1458849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7"/>
          <p:cNvCxnSpPr/>
          <p:nvPr/>
        </p:nvCxnSpPr>
        <p:spPr>
          <a:xfrm>
            <a:off x="5955738" y="163794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7"/>
          <p:cNvCxnSpPr/>
          <p:nvPr/>
        </p:nvCxnSpPr>
        <p:spPr>
          <a:xfrm>
            <a:off x="5955738" y="20071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7"/>
          <p:cNvCxnSpPr/>
          <p:nvPr/>
        </p:nvCxnSpPr>
        <p:spPr>
          <a:xfrm>
            <a:off x="5955738" y="218629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7"/>
          <p:cNvCxnSpPr/>
          <p:nvPr/>
        </p:nvCxnSpPr>
        <p:spPr>
          <a:xfrm>
            <a:off x="5955738" y="182011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7"/>
          <p:cNvCxnSpPr/>
          <p:nvPr/>
        </p:nvCxnSpPr>
        <p:spPr>
          <a:xfrm>
            <a:off x="59537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7"/>
          <p:cNvCxnSpPr/>
          <p:nvPr/>
        </p:nvCxnSpPr>
        <p:spPr>
          <a:xfrm flipH="1">
            <a:off x="5963238" y="1154433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7"/>
          <p:cNvCxnSpPr/>
          <p:nvPr/>
        </p:nvCxnSpPr>
        <p:spPr>
          <a:xfrm flipH="1">
            <a:off x="5963238" y="133886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27"/>
          <p:cNvCxnSpPr/>
          <p:nvPr/>
        </p:nvCxnSpPr>
        <p:spPr>
          <a:xfrm flipH="1">
            <a:off x="5963238" y="1519031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27"/>
          <p:cNvCxnSpPr/>
          <p:nvPr/>
        </p:nvCxnSpPr>
        <p:spPr>
          <a:xfrm flipH="1">
            <a:off x="5963238" y="1707054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27"/>
          <p:cNvCxnSpPr/>
          <p:nvPr/>
        </p:nvCxnSpPr>
        <p:spPr>
          <a:xfrm flipH="1">
            <a:off x="5963238" y="188439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27"/>
          <p:cNvCxnSpPr/>
          <p:nvPr/>
        </p:nvCxnSpPr>
        <p:spPr>
          <a:xfrm flipH="1">
            <a:off x="5963238" y="2068833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27"/>
          <p:cNvCxnSpPr/>
          <p:nvPr/>
        </p:nvCxnSpPr>
        <p:spPr>
          <a:xfrm flipH="1">
            <a:off x="5963238" y="2248997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27"/>
          <p:cNvCxnSpPr/>
          <p:nvPr/>
        </p:nvCxnSpPr>
        <p:spPr>
          <a:xfrm flipH="1">
            <a:off x="5963238" y="2437019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27"/>
          <p:cNvCxnSpPr/>
          <p:nvPr/>
        </p:nvCxnSpPr>
        <p:spPr>
          <a:xfrm flipH="1">
            <a:off x="5963238" y="261931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7"/>
          <p:cNvCxnSpPr/>
          <p:nvPr/>
        </p:nvCxnSpPr>
        <p:spPr>
          <a:xfrm>
            <a:off x="5955738" y="28453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7"/>
          <p:cNvCxnSpPr/>
          <p:nvPr/>
        </p:nvCxnSpPr>
        <p:spPr>
          <a:xfrm flipH="1">
            <a:off x="5963238" y="3263151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27"/>
          <p:cNvSpPr txBox="1"/>
          <p:nvPr/>
        </p:nvSpPr>
        <p:spPr>
          <a:xfrm>
            <a:off x="4618867" y="4451111"/>
            <a:ext cx="127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ack(111) from 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3781008" y="2720925"/>
            <a:ext cx="87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Resend 101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7"/>
          <p:cNvSpPr txBox="1"/>
          <p:nvPr>
            <p:ph idx="1" type="body"/>
          </p:nvPr>
        </p:nvSpPr>
        <p:spPr>
          <a:xfrm>
            <a:off x="107050" y="402200"/>
            <a:ext cx="38136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sending 10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first one (101) is dropped.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Acks for 102–110 all say ack(101) because packet 101 is still missing.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the third duplicate ack(101), we resend 101.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Eventually, ack for the re-sent 101 says ack(111) because packets 102–110 were all received earlier.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does </a:t>
            </a:r>
            <a:r>
              <a:rPr i="1" lang="en"/>
              <a:t>CWND</a:t>
            </a:r>
            <a:r>
              <a:rPr lang="en"/>
              <a:t> look like during this process?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Fast Recovery: Windows Without Fast Recovery</a:t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 rot="5400000">
            <a:off x="58740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8"/>
          <p:cNvSpPr/>
          <p:nvPr/>
        </p:nvSpPr>
        <p:spPr>
          <a:xfrm rot="5400000">
            <a:off x="60489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8"/>
          <p:cNvSpPr/>
          <p:nvPr/>
        </p:nvSpPr>
        <p:spPr>
          <a:xfrm rot="5400000">
            <a:off x="62238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8"/>
          <p:cNvSpPr/>
          <p:nvPr/>
        </p:nvSpPr>
        <p:spPr>
          <a:xfrm rot="5400000">
            <a:off x="63987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28"/>
          <p:cNvSpPr/>
          <p:nvPr/>
        </p:nvSpPr>
        <p:spPr>
          <a:xfrm rot="5400000">
            <a:off x="65736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8"/>
          <p:cNvSpPr/>
          <p:nvPr/>
        </p:nvSpPr>
        <p:spPr>
          <a:xfrm rot="5400000">
            <a:off x="67485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8"/>
          <p:cNvSpPr/>
          <p:nvPr/>
        </p:nvSpPr>
        <p:spPr>
          <a:xfrm rot="5400000">
            <a:off x="69234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8"/>
          <p:cNvSpPr/>
          <p:nvPr/>
        </p:nvSpPr>
        <p:spPr>
          <a:xfrm rot="5400000">
            <a:off x="70983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8"/>
          <p:cNvSpPr/>
          <p:nvPr/>
        </p:nvSpPr>
        <p:spPr>
          <a:xfrm rot="5400000">
            <a:off x="72732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28"/>
          <p:cNvSpPr/>
          <p:nvPr/>
        </p:nvSpPr>
        <p:spPr>
          <a:xfrm rot="5400000">
            <a:off x="74481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8"/>
          <p:cNvSpPr/>
          <p:nvPr/>
        </p:nvSpPr>
        <p:spPr>
          <a:xfrm rot="5400000">
            <a:off x="76230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8"/>
          <p:cNvSpPr/>
          <p:nvPr/>
        </p:nvSpPr>
        <p:spPr>
          <a:xfrm rot="5400000">
            <a:off x="77979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28"/>
          <p:cNvSpPr/>
          <p:nvPr/>
        </p:nvSpPr>
        <p:spPr>
          <a:xfrm rot="5400000">
            <a:off x="79728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8"/>
          <p:cNvSpPr/>
          <p:nvPr/>
        </p:nvSpPr>
        <p:spPr>
          <a:xfrm rot="5400000">
            <a:off x="81477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8"/>
          <p:cNvSpPr/>
          <p:nvPr/>
        </p:nvSpPr>
        <p:spPr>
          <a:xfrm rot="5400000">
            <a:off x="6836135" y="-102450"/>
            <a:ext cx="4359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112225" y="622800"/>
            <a:ext cx="58281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After sending 10 packets: </a:t>
            </a: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= 10. 101–110 can be in flight.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/>
          <p:nvPr/>
        </p:nvSpPr>
        <p:spPr>
          <a:xfrm rot="5400000">
            <a:off x="83226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 rot="5400000">
            <a:off x="84975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8"/>
          <p:cNvSpPr/>
          <p:nvPr/>
        </p:nvSpPr>
        <p:spPr>
          <a:xfrm rot="5400000">
            <a:off x="86724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8"/>
          <p:cNvSpPr/>
          <p:nvPr/>
        </p:nvSpPr>
        <p:spPr>
          <a:xfrm rot="5400000">
            <a:off x="58740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8"/>
          <p:cNvSpPr/>
          <p:nvPr/>
        </p:nvSpPr>
        <p:spPr>
          <a:xfrm rot="5400000">
            <a:off x="60489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8"/>
          <p:cNvSpPr/>
          <p:nvPr/>
        </p:nvSpPr>
        <p:spPr>
          <a:xfrm rot="5400000">
            <a:off x="62238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8"/>
          <p:cNvSpPr/>
          <p:nvPr/>
        </p:nvSpPr>
        <p:spPr>
          <a:xfrm rot="5400000">
            <a:off x="63987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8"/>
          <p:cNvSpPr/>
          <p:nvPr/>
        </p:nvSpPr>
        <p:spPr>
          <a:xfrm rot="5400000">
            <a:off x="65736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8"/>
          <p:cNvSpPr/>
          <p:nvPr/>
        </p:nvSpPr>
        <p:spPr>
          <a:xfrm rot="5400000">
            <a:off x="67485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8"/>
          <p:cNvSpPr/>
          <p:nvPr/>
        </p:nvSpPr>
        <p:spPr>
          <a:xfrm rot="5400000">
            <a:off x="69234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8"/>
          <p:cNvSpPr/>
          <p:nvPr/>
        </p:nvSpPr>
        <p:spPr>
          <a:xfrm rot="5400000">
            <a:off x="70983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8"/>
          <p:cNvSpPr/>
          <p:nvPr/>
        </p:nvSpPr>
        <p:spPr>
          <a:xfrm rot="5400000">
            <a:off x="72732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8"/>
          <p:cNvSpPr/>
          <p:nvPr/>
        </p:nvSpPr>
        <p:spPr>
          <a:xfrm rot="5400000">
            <a:off x="74481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28"/>
          <p:cNvSpPr/>
          <p:nvPr/>
        </p:nvSpPr>
        <p:spPr>
          <a:xfrm rot="5400000">
            <a:off x="76230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8"/>
          <p:cNvSpPr/>
          <p:nvPr/>
        </p:nvSpPr>
        <p:spPr>
          <a:xfrm rot="5400000">
            <a:off x="77979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28"/>
          <p:cNvSpPr/>
          <p:nvPr/>
        </p:nvSpPr>
        <p:spPr>
          <a:xfrm rot="5400000">
            <a:off x="79728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28"/>
          <p:cNvSpPr/>
          <p:nvPr/>
        </p:nvSpPr>
        <p:spPr>
          <a:xfrm rot="5400000">
            <a:off x="81477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28"/>
          <p:cNvSpPr/>
          <p:nvPr/>
        </p:nvSpPr>
        <p:spPr>
          <a:xfrm rot="5400000">
            <a:off x="6836135" y="507150"/>
            <a:ext cx="4359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112225" y="1232400"/>
            <a:ext cx="5751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After ack(101) from 102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28"/>
          <p:cNvSpPr/>
          <p:nvPr/>
        </p:nvSpPr>
        <p:spPr>
          <a:xfrm rot="5400000">
            <a:off x="83226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28"/>
          <p:cNvSpPr/>
          <p:nvPr/>
        </p:nvSpPr>
        <p:spPr>
          <a:xfrm rot="5400000">
            <a:off x="84975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8"/>
          <p:cNvSpPr/>
          <p:nvPr/>
        </p:nvSpPr>
        <p:spPr>
          <a:xfrm rot="5400000">
            <a:off x="86724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28"/>
          <p:cNvSpPr/>
          <p:nvPr/>
        </p:nvSpPr>
        <p:spPr>
          <a:xfrm rot="5400000">
            <a:off x="58740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28"/>
          <p:cNvSpPr/>
          <p:nvPr/>
        </p:nvSpPr>
        <p:spPr>
          <a:xfrm rot="5400000">
            <a:off x="60489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28"/>
          <p:cNvSpPr/>
          <p:nvPr/>
        </p:nvSpPr>
        <p:spPr>
          <a:xfrm rot="5400000">
            <a:off x="62238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28"/>
          <p:cNvSpPr/>
          <p:nvPr/>
        </p:nvSpPr>
        <p:spPr>
          <a:xfrm rot="5400000">
            <a:off x="63987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28"/>
          <p:cNvSpPr/>
          <p:nvPr/>
        </p:nvSpPr>
        <p:spPr>
          <a:xfrm rot="5400000">
            <a:off x="65736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8"/>
          <p:cNvSpPr/>
          <p:nvPr/>
        </p:nvSpPr>
        <p:spPr>
          <a:xfrm rot="5400000">
            <a:off x="67485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8"/>
          <p:cNvSpPr/>
          <p:nvPr/>
        </p:nvSpPr>
        <p:spPr>
          <a:xfrm rot="5400000">
            <a:off x="69234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8"/>
          <p:cNvSpPr/>
          <p:nvPr/>
        </p:nvSpPr>
        <p:spPr>
          <a:xfrm rot="5400000">
            <a:off x="70983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8"/>
          <p:cNvSpPr/>
          <p:nvPr/>
        </p:nvSpPr>
        <p:spPr>
          <a:xfrm rot="5400000">
            <a:off x="72732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8"/>
          <p:cNvSpPr/>
          <p:nvPr/>
        </p:nvSpPr>
        <p:spPr>
          <a:xfrm rot="5400000">
            <a:off x="74481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8"/>
          <p:cNvSpPr/>
          <p:nvPr/>
        </p:nvSpPr>
        <p:spPr>
          <a:xfrm rot="5400000">
            <a:off x="76230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8"/>
          <p:cNvSpPr/>
          <p:nvPr/>
        </p:nvSpPr>
        <p:spPr>
          <a:xfrm rot="5400000">
            <a:off x="77979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8"/>
          <p:cNvSpPr/>
          <p:nvPr/>
        </p:nvSpPr>
        <p:spPr>
          <a:xfrm rot="5400000">
            <a:off x="79728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28"/>
          <p:cNvSpPr/>
          <p:nvPr/>
        </p:nvSpPr>
        <p:spPr>
          <a:xfrm rot="5400000">
            <a:off x="81477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28"/>
          <p:cNvSpPr/>
          <p:nvPr/>
        </p:nvSpPr>
        <p:spPr>
          <a:xfrm rot="5400000">
            <a:off x="6836135" y="1116750"/>
            <a:ext cx="4359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112225" y="1842000"/>
            <a:ext cx="5751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103: 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28"/>
          <p:cNvSpPr/>
          <p:nvPr/>
        </p:nvSpPr>
        <p:spPr>
          <a:xfrm rot="5400000">
            <a:off x="83226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28"/>
          <p:cNvSpPr/>
          <p:nvPr/>
        </p:nvSpPr>
        <p:spPr>
          <a:xfrm rot="5400000">
            <a:off x="84975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28"/>
          <p:cNvSpPr/>
          <p:nvPr/>
        </p:nvSpPr>
        <p:spPr>
          <a:xfrm rot="5400000">
            <a:off x="86724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28"/>
          <p:cNvSpPr/>
          <p:nvPr/>
        </p:nvSpPr>
        <p:spPr>
          <a:xfrm rot="5400000">
            <a:off x="58740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8"/>
          <p:cNvSpPr/>
          <p:nvPr/>
        </p:nvSpPr>
        <p:spPr>
          <a:xfrm rot="5400000">
            <a:off x="60489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8"/>
          <p:cNvSpPr/>
          <p:nvPr/>
        </p:nvSpPr>
        <p:spPr>
          <a:xfrm rot="5400000">
            <a:off x="62238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8"/>
          <p:cNvSpPr/>
          <p:nvPr/>
        </p:nvSpPr>
        <p:spPr>
          <a:xfrm rot="5400000">
            <a:off x="63987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8"/>
          <p:cNvSpPr/>
          <p:nvPr/>
        </p:nvSpPr>
        <p:spPr>
          <a:xfrm rot="5400000">
            <a:off x="65736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8"/>
          <p:cNvSpPr/>
          <p:nvPr/>
        </p:nvSpPr>
        <p:spPr>
          <a:xfrm rot="5400000">
            <a:off x="67485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8"/>
          <p:cNvSpPr/>
          <p:nvPr/>
        </p:nvSpPr>
        <p:spPr>
          <a:xfrm rot="5400000">
            <a:off x="69234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28"/>
          <p:cNvSpPr/>
          <p:nvPr/>
        </p:nvSpPr>
        <p:spPr>
          <a:xfrm rot="5400000">
            <a:off x="70983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28"/>
          <p:cNvSpPr/>
          <p:nvPr/>
        </p:nvSpPr>
        <p:spPr>
          <a:xfrm rot="5400000">
            <a:off x="72732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28"/>
          <p:cNvSpPr/>
          <p:nvPr/>
        </p:nvSpPr>
        <p:spPr>
          <a:xfrm rot="5400000">
            <a:off x="74481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28"/>
          <p:cNvSpPr/>
          <p:nvPr/>
        </p:nvSpPr>
        <p:spPr>
          <a:xfrm rot="5400000">
            <a:off x="76230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28"/>
          <p:cNvSpPr/>
          <p:nvPr/>
        </p:nvSpPr>
        <p:spPr>
          <a:xfrm rot="5400000">
            <a:off x="77979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28"/>
          <p:cNvSpPr/>
          <p:nvPr/>
        </p:nvSpPr>
        <p:spPr>
          <a:xfrm rot="5400000">
            <a:off x="79728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28"/>
          <p:cNvSpPr/>
          <p:nvPr/>
        </p:nvSpPr>
        <p:spPr>
          <a:xfrm rot="5400000">
            <a:off x="81477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28"/>
          <p:cNvSpPr/>
          <p:nvPr/>
        </p:nvSpPr>
        <p:spPr>
          <a:xfrm rot="5400000">
            <a:off x="6836135" y="1726350"/>
            <a:ext cx="4359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112225" y="2451600"/>
            <a:ext cx="5751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104: 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28"/>
          <p:cNvSpPr/>
          <p:nvPr/>
        </p:nvSpPr>
        <p:spPr>
          <a:xfrm rot="5400000">
            <a:off x="83226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28"/>
          <p:cNvSpPr/>
          <p:nvPr/>
        </p:nvSpPr>
        <p:spPr>
          <a:xfrm rot="5400000">
            <a:off x="84975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28"/>
          <p:cNvSpPr/>
          <p:nvPr/>
        </p:nvSpPr>
        <p:spPr>
          <a:xfrm rot="5400000">
            <a:off x="86724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112225" y="3061200"/>
            <a:ext cx="5751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3 duplicate acks detected. </a:t>
            </a: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= 5.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28"/>
          <p:cNvSpPr/>
          <p:nvPr/>
        </p:nvSpPr>
        <p:spPr>
          <a:xfrm rot="5400000">
            <a:off x="58740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28"/>
          <p:cNvSpPr/>
          <p:nvPr/>
        </p:nvSpPr>
        <p:spPr>
          <a:xfrm rot="5400000">
            <a:off x="6048900" y="3121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28"/>
          <p:cNvSpPr/>
          <p:nvPr/>
        </p:nvSpPr>
        <p:spPr>
          <a:xfrm rot="5400000">
            <a:off x="62238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28"/>
          <p:cNvSpPr/>
          <p:nvPr/>
        </p:nvSpPr>
        <p:spPr>
          <a:xfrm rot="5400000">
            <a:off x="63987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8"/>
          <p:cNvSpPr/>
          <p:nvPr/>
        </p:nvSpPr>
        <p:spPr>
          <a:xfrm rot="5400000">
            <a:off x="65736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28"/>
          <p:cNvSpPr/>
          <p:nvPr/>
        </p:nvSpPr>
        <p:spPr>
          <a:xfrm rot="5400000">
            <a:off x="6748500" y="3121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28"/>
          <p:cNvSpPr/>
          <p:nvPr/>
        </p:nvSpPr>
        <p:spPr>
          <a:xfrm rot="5400000">
            <a:off x="69234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28"/>
          <p:cNvSpPr/>
          <p:nvPr/>
        </p:nvSpPr>
        <p:spPr>
          <a:xfrm rot="5400000">
            <a:off x="70983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28"/>
          <p:cNvSpPr/>
          <p:nvPr/>
        </p:nvSpPr>
        <p:spPr>
          <a:xfrm rot="5400000">
            <a:off x="72732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28"/>
          <p:cNvSpPr/>
          <p:nvPr/>
        </p:nvSpPr>
        <p:spPr>
          <a:xfrm rot="5400000">
            <a:off x="74481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28"/>
          <p:cNvSpPr/>
          <p:nvPr/>
        </p:nvSpPr>
        <p:spPr>
          <a:xfrm rot="5400000">
            <a:off x="76230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28"/>
          <p:cNvSpPr/>
          <p:nvPr/>
        </p:nvSpPr>
        <p:spPr>
          <a:xfrm rot="5400000">
            <a:off x="77979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28"/>
          <p:cNvSpPr/>
          <p:nvPr/>
        </p:nvSpPr>
        <p:spPr>
          <a:xfrm rot="5400000">
            <a:off x="79728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28"/>
          <p:cNvSpPr/>
          <p:nvPr/>
        </p:nvSpPr>
        <p:spPr>
          <a:xfrm rot="5400000">
            <a:off x="81477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28"/>
          <p:cNvSpPr/>
          <p:nvPr/>
        </p:nvSpPr>
        <p:spPr>
          <a:xfrm rot="5400000">
            <a:off x="6399030" y="27730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28"/>
          <p:cNvSpPr/>
          <p:nvPr/>
        </p:nvSpPr>
        <p:spPr>
          <a:xfrm rot="5400000">
            <a:off x="83226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28"/>
          <p:cNvSpPr/>
          <p:nvPr/>
        </p:nvSpPr>
        <p:spPr>
          <a:xfrm rot="5400000">
            <a:off x="84975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28"/>
          <p:cNvSpPr/>
          <p:nvPr/>
        </p:nvSpPr>
        <p:spPr>
          <a:xfrm rot="5400000">
            <a:off x="86724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28"/>
          <p:cNvSpPr txBox="1"/>
          <p:nvPr/>
        </p:nvSpPr>
        <p:spPr>
          <a:xfrm>
            <a:off x="112225" y="3670800"/>
            <a:ext cx="5751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After ack(101) from 105: 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28"/>
          <p:cNvSpPr/>
          <p:nvPr/>
        </p:nvSpPr>
        <p:spPr>
          <a:xfrm rot="5400000">
            <a:off x="58740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28"/>
          <p:cNvSpPr/>
          <p:nvPr/>
        </p:nvSpPr>
        <p:spPr>
          <a:xfrm rot="5400000">
            <a:off x="6048900" y="3731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28"/>
          <p:cNvSpPr/>
          <p:nvPr/>
        </p:nvSpPr>
        <p:spPr>
          <a:xfrm rot="5400000">
            <a:off x="6223800" y="3731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28"/>
          <p:cNvSpPr/>
          <p:nvPr/>
        </p:nvSpPr>
        <p:spPr>
          <a:xfrm rot="5400000">
            <a:off x="6398700" y="3731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28"/>
          <p:cNvSpPr/>
          <p:nvPr/>
        </p:nvSpPr>
        <p:spPr>
          <a:xfrm rot="5400000">
            <a:off x="6573600" y="3731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28"/>
          <p:cNvSpPr/>
          <p:nvPr/>
        </p:nvSpPr>
        <p:spPr>
          <a:xfrm rot="5400000">
            <a:off x="6748500" y="3731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8"/>
          <p:cNvSpPr/>
          <p:nvPr/>
        </p:nvSpPr>
        <p:spPr>
          <a:xfrm rot="5400000">
            <a:off x="69234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8"/>
          <p:cNvSpPr/>
          <p:nvPr/>
        </p:nvSpPr>
        <p:spPr>
          <a:xfrm rot="5400000">
            <a:off x="70983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28"/>
          <p:cNvSpPr/>
          <p:nvPr/>
        </p:nvSpPr>
        <p:spPr>
          <a:xfrm rot="5400000">
            <a:off x="72732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28"/>
          <p:cNvSpPr/>
          <p:nvPr/>
        </p:nvSpPr>
        <p:spPr>
          <a:xfrm rot="5400000">
            <a:off x="74481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28"/>
          <p:cNvSpPr/>
          <p:nvPr/>
        </p:nvSpPr>
        <p:spPr>
          <a:xfrm rot="5400000">
            <a:off x="76230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28"/>
          <p:cNvSpPr/>
          <p:nvPr/>
        </p:nvSpPr>
        <p:spPr>
          <a:xfrm rot="5400000">
            <a:off x="77979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28"/>
          <p:cNvSpPr/>
          <p:nvPr/>
        </p:nvSpPr>
        <p:spPr>
          <a:xfrm rot="5400000">
            <a:off x="79728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28"/>
          <p:cNvSpPr/>
          <p:nvPr/>
        </p:nvSpPr>
        <p:spPr>
          <a:xfrm rot="5400000">
            <a:off x="81477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28"/>
          <p:cNvSpPr/>
          <p:nvPr/>
        </p:nvSpPr>
        <p:spPr>
          <a:xfrm rot="5400000">
            <a:off x="6399030" y="33826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28"/>
          <p:cNvSpPr/>
          <p:nvPr/>
        </p:nvSpPr>
        <p:spPr>
          <a:xfrm rot="5400000">
            <a:off x="83226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28"/>
          <p:cNvSpPr/>
          <p:nvPr/>
        </p:nvSpPr>
        <p:spPr>
          <a:xfrm rot="5400000">
            <a:off x="84975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28"/>
          <p:cNvSpPr/>
          <p:nvPr/>
        </p:nvSpPr>
        <p:spPr>
          <a:xfrm rot="5400000">
            <a:off x="86724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28"/>
          <p:cNvSpPr txBox="1"/>
          <p:nvPr/>
        </p:nvSpPr>
        <p:spPr>
          <a:xfrm>
            <a:off x="155050" y="4426600"/>
            <a:ext cx="370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We're marking acked packets in green for convenience, but the sender cannot deduce from duplicate acks that these exact packets were received.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Without Fast Recovery</a:t>
            </a:r>
            <a:endParaRPr/>
          </a:p>
        </p:txBody>
      </p:sp>
      <p:sp>
        <p:nvSpPr>
          <p:cNvPr id="375" name="Google Shape;375;p29"/>
          <p:cNvSpPr txBox="1"/>
          <p:nvPr/>
        </p:nvSpPr>
        <p:spPr>
          <a:xfrm>
            <a:off x="86575" y="1232400"/>
            <a:ext cx="5777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107: Can't send anything new.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29"/>
          <p:cNvSpPr txBox="1"/>
          <p:nvPr/>
        </p:nvSpPr>
        <p:spPr>
          <a:xfrm>
            <a:off x="86575" y="1842000"/>
            <a:ext cx="5777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108: 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29"/>
          <p:cNvSpPr txBox="1"/>
          <p:nvPr/>
        </p:nvSpPr>
        <p:spPr>
          <a:xfrm>
            <a:off x="86575" y="2451600"/>
            <a:ext cx="5777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109: 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29"/>
          <p:cNvSpPr txBox="1"/>
          <p:nvPr/>
        </p:nvSpPr>
        <p:spPr>
          <a:xfrm>
            <a:off x="86575" y="3061200"/>
            <a:ext cx="5777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110: 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29"/>
          <p:cNvSpPr txBox="1"/>
          <p:nvPr/>
        </p:nvSpPr>
        <p:spPr>
          <a:xfrm>
            <a:off x="86575" y="3670800"/>
            <a:ext cx="57777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After ack(111) from resent 101:</a:t>
            </a:r>
            <a:br>
              <a:rPr lang="en" sz="1600"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latin typeface="Roboto"/>
                <a:ea typeface="Roboto"/>
                <a:cs typeface="Roboto"/>
                <a:sym typeface="Roboto"/>
              </a:rPr>
              <a:t>Window slides to first unacked packet (111).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Sender is now able to send 111–115.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29"/>
          <p:cNvSpPr/>
          <p:nvPr/>
        </p:nvSpPr>
        <p:spPr>
          <a:xfrm rot="5400000">
            <a:off x="5874000" y="4030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9"/>
          <p:cNvSpPr/>
          <p:nvPr/>
        </p:nvSpPr>
        <p:spPr>
          <a:xfrm rot="5400000">
            <a:off x="60489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29"/>
          <p:cNvSpPr/>
          <p:nvPr/>
        </p:nvSpPr>
        <p:spPr>
          <a:xfrm rot="5400000">
            <a:off x="62238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29"/>
          <p:cNvSpPr/>
          <p:nvPr/>
        </p:nvSpPr>
        <p:spPr>
          <a:xfrm rot="5400000">
            <a:off x="63987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29"/>
          <p:cNvSpPr/>
          <p:nvPr/>
        </p:nvSpPr>
        <p:spPr>
          <a:xfrm rot="5400000">
            <a:off x="65736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29"/>
          <p:cNvSpPr/>
          <p:nvPr/>
        </p:nvSpPr>
        <p:spPr>
          <a:xfrm rot="5400000">
            <a:off x="67485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29"/>
          <p:cNvSpPr/>
          <p:nvPr/>
        </p:nvSpPr>
        <p:spPr>
          <a:xfrm rot="5400000">
            <a:off x="69234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9"/>
          <p:cNvSpPr/>
          <p:nvPr/>
        </p:nvSpPr>
        <p:spPr>
          <a:xfrm rot="5400000">
            <a:off x="70983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29"/>
          <p:cNvSpPr/>
          <p:nvPr/>
        </p:nvSpPr>
        <p:spPr>
          <a:xfrm rot="5400000">
            <a:off x="72732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29"/>
          <p:cNvSpPr/>
          <p:nvPr/>
        </p:nvSpPr>
        <p:spPr>
          <a:xfrm rot="5400000">
            <a:off x="74481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29"/>
          <p:cNvSpPr/>
          <p:nvPr/>
        </p:nvSpPr>
        <p:spPr>
          <a:xfrm rot="5400000">
            <a:off x="76230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29"/>
          <p:cNvSpPr/>
          <p:nvPr/>
        </p:nvSpPr>
        <p:spPr>
          <a:xfrm rot="5400000">
            <a:off x="7797900" y="4030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9"/>
          <p:cNvSpPr/>
          <p:nvPr/>
        </p:nvSpPr>
        <p:spPr>
          <a:xfrm rot="5400000">
            <a:off x="7972800" y="4030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9"/>
          <p:cNvSpPr/>
          <p:nvPr/>
        </p:nvSpPr>
        <p:spPr>
          <a:xfrm rot="5400000">
            <a:off x="8147700" y="4030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29"/>
          <p:cNvSpPr/>
          <p:nvPr/>
        </p:nvSpPr>
        <p:spPr>
          <a:xfrm rot="5400000">
            <a:off x="8322600" y="4030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29"/>
          <p:cNvSpPr/>
          <p:nvPr/>
        </p:nvSpPr>
        <p:spPr>
          <a:xfrm rot="5400000">
            <a:off x="8497500" y="4030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29"/>
          <p:cNvSpPr/>
          <p:nvPr/>
        </p:nvSpPr>
        <p:spPr>
          <a:xfrm rot="5400000">
            <a:off x="8672400" y="4030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29"/>
          <p:cNvSpPr/>
          <p:nvPr/>
        </p:nvSpPr>
        <p:spPr>
          <a:xfrm rot="5400000">
            <a:off x="58740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9"/>
          <p:cNvSpPr/>
          <p:nvPr/>
        </p:nvSpPr>
        <p:spPr>
          <a:xfrm rot="5400000">
            <a:off x="6048900" y="3121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9"/>
          <p:cNvSpPr/>
          <p:nvPr/>
        </p:nvSpPr>
        <p:spPr>
          <a:xfrm rot="5400000">
            <a:off x="62238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9"/>
          <p:cNvSpPr/>
          <p:nvPr/>
        </p:nvSpPr>
        <p:spPr>
          <a:xfrm rot="5400000">
            <a:off x="63987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9"/>
          <p:cNvSpPr/>
          <p:nvPr/>
        </p:nvSpPr>
        <p:spPr>
          <a:xfrm rot="5400000">
            <a:off x="65736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9"/>
          <p:cNvSpPr/>
          <p:nvPr/>
        </p:nvSpPr>
        <p:spPr>
          <a:xfrm rot="5400000">
            <a:off x="67485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29"/>
          <p:cNvSpPr/>
          <p:nvPr/>
        </p:nvSpPr>
        <p:spPr>
          <a:xfrm rot="5400000">
            <a:off x="69234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29"/>
          <p:cNvSpPr/>
          <p:nvPr/>
        </p:nvSpPr>
        <p:spPr>
          <a:xfrm rot="5400000">
            <a:off x="70983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29"/>
          <p:cNvSpPr/>
          <p:nvPr/>
        </p:nvSpPr>
        <p:spPr>
          <a:xfrm rot="5400000">
            <a:off x="72732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29"/>
          <p:cNvSpPr/>
          <p:nvPr/>
        </p:nvSpPr>
        <p:spPr>
          <a:xfrm rot="5400000">
            <a:off x="74481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29"/>
          <p:cNvSpPr/>
          <p:nvPr/>
        </p:nvSpPr>
        <p:spPr>
          <a:xfrm rot="5400000">
            <a:off x="76230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29"/>
          <p:cNvSpPr/>
          <p:nvPr/>
        </p:nvSpPr>
        <p:spPr>
          <a:xfrm rot="5400000">
            <a:off x="77979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29"/>
          <p:cNvSpPr/>
          <p:nvPr/>
        </p:nvSpPr>
        <p:spPr>
          <a:xfrm rot="5400000">
            <a:off x="79728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29"/>
          <p:cNvSpPr/>
          <p:nvPr/>
        </p:nvSpPr>
        <p:spPr>
          <a:xfrm rot="5400000">
            <a:off x="81477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29"/>
          <p:cNvSpPr/>
          <p:nvPr/>
        </p:nvSpPr>
        <p:spPr>
          <a:xfrm rot="5400000">
            <a:off x="6399030" y="27730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29"/>
          <p:cNvSpPr/>
          <p:nvPr/>
        </p:nvSpPr>
        <p:spPr>
          <a:xfrm rot="5400000">
            <a:off x="83226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29"/>
          <p:cNvSpPr/>
          <p:nvPr/>
        </p:nvSpPr>
        <p:spPr>
          <a:xfrm rot="5400000">
            <a:off x="84975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29"/>
          <p:cNvSpPr/>
          <p:nvPr/>
        </p:nvSpPr>
        <p:spPr>
          <a:xfrm rot="5400000">
            <a:off x="86724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29"/>
          <p:cNvSpPr/>
          <p:nvPr/>
        </p:nvSpPr>
        <p:spPr>
          <a:xfrm rot="5400000">
            <a:off x="58740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29"/>
          <p:cNvSpPr/>
          <p:nvPr/>
        </p:nvSpPr>
        <p:spPr>
          <a:xfrm rot="5400000">
            <a:off x="60489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29"/>
          <p:cNvSpPr/>
          <p:nvPr/>
        </p:nvSpPr>
        <p:spPr>
          <a:xfrm rot="5400000">
            <a:off x="62238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29"/>
          <p:cNvSpPr/>
          <p:nvPr/>
        </p:nvSpPr>
        <p:spPr>
          <a:xfrm rot="5400000">
            <a:off x="63987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29"/>
          <p:cNvSpPr/>
          <p:nvPr/>
        </p:nvSpPr>
        <p:spPr>
          <a:xfrm rot="5400000">
            <a:off x="65736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29"/>
          <p:cNvSpPr/>
          <p:nvPr/>
        </p:nvSpPr>
        <p:spPr>
          <a:xfrm rot="5400000">
            <a:off x="67485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29"/>
          <p:cNvSpPr/>
          <p:nvPr/>
        </p:nvSpPr>
        <p:spPr>
          <a:xfrm rot="5400000">
            <a:off x="69234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29"/>
          <p:cNvSpPr/>
          <p:nvPr/>
        </p:nvSpPr>
        <p:spPr>
          <a:xfrm rot="5400000">
            <a:off x="70983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29"/>
          <p:cNvSpPr/>
          <p:nvPr/>
        </p:nvSpPr>
        <p:spPr>
          <a:xfrm rot="5400000">
            <a:off x="72732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29"/>
          <p:cNvSpPr/>
          <p:nvPr/>
        </p:nvSpPr>
        <p:spPr>
          <a:xfrm rot="5400000">
            <a:off x="74481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29"/>
          <p:cNvSpPr/>
          <p:nvPr/>
        </p:nvSpPr>
        <p:spPr>
          <a:xfrm rot="5400000">
            <a:off x="76230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29"/>
          <p:cNvSpPr/>
          <p:nvPr/>
        </p:nvSpPr>
        <p:spPr>
          <a:xfrm rot="5400000">
            <a:off x="77979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29"/>
          <p:cNvSpPr/>
          <p:nvPr/>
        </p:nvSpPr>
        <p:spPr>
          <a:xfrm rot="5400000">
            <a:off x="79728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29"/>
          <p:cNvSpPr/>
          <p:nvPr/>
        </p:nvSpPr>
        <p:spPr>
          <a:xfrm rot="5400000">
            <a:off x="81477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29"/>
          <p:cNvSpPr/>
          <p:nvPr/>
        </p:nvSpPr>
        <p:spPr>
          <a:xfrm rot="5400000">
            <a:off x="6399030" y="21634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29"/>
          <p:cNvSpPr/>
          <p:nvPr/>
        </p:nvSpPr>
        <p:spPr>
          <a:xfrm rot="5400000">
            <a:off x="83226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29"/>
          <p:cNvSpPr/>
          <p:nvPr/>
        </p:nvSpPr>
        <p:spPr>
          <a:xfrm rot="5400000">
            <a:off x="84975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29"/>
          <p:cNvSpPr/>
          <p:nvPr/>
        </p:nvSpPr>
        <p:spPr>
          <a:xfrm rot="5400000">
            <a:off x="86724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29"/>
          <p:cNvSpPr/>
          <p:nvPr/>
        </p:nvSpPr>
        <p:spPr>
          <a:xfrm rot="5400000">
            <a:off x="58740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29"/>
          <p:cNvSpPr/>
          <p:nvPr/>
        </p:nvSpPr>
        <p:spPr>
          <a:xfrm rot="5400000">
            <a:off x="60489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29"/>
          <p:cNvSpPr/>
          <p:nvPr/>
        </p:nvSpPr>
        <p:spPr>
          <a:xfrm rot="5400000">
            <a:off x="62238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29"/>
          <p:cNvSpPr/>
          <p:nvPr/>
        </p:nvSpPr>
        <p:spPr>
          <a:xfrm rot="5400000">
            <a:off x="63987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29"/>
          <p:cNvSpPr/>
          <p:nvPr/>
        </p:nvSpPr>
        <p:spPr>
          <a:xfrm rot="5400000">
            <a:off x="65736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67485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69234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70983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72732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74481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29"/>
          <p:cNvSpPr/>
          <p:nvPr/>
        </p:nvSpPr>
        <p:spPr>
          <a:xfrm rot="5400000">
            <a:off x="76230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29"/>
          <p:cNvSpPr/>
          <p:nvPr/>
        </p:nvSpPr>
        <p:spPr>
          <a:xfrm rot="5400000">
            <a:off x="77979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29"/>
          <p:cNvSpPr/>
          <p:nvPr/>
        </p:nvSpPr>
        <p:spPr>
          <a:xfrm rot="5400000">
            <a:off x="79728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29"/>
          <p:cNvSpPr/>
          <p:nvPr/>
        </p:nvSpPr>
        <p:spPr>
          <a:xfrm rot="5400000">
            <a:off x="81477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29"/>
          <p:cNvSpPr/>
          <p:nvPr/>
        </p:nvSpPr>
        <p:spPr>
          <a:xfrm rot="5400000">
            <a:off x="6399030" y="1553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29"/>
          <p:cNvSpPr/>
          <p:nvPr/>
        </p:nvSpPr>
        <p:spPr>
          <a:xfrm rot="5400000">
            <a:off x="83226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29"/>
          <p:cNvSpPr/>
          <p:nvPr/>
        </p:nvSpPr>
        <p:spPr>
          <a:xfrm rot="5400000">
            <a:off x="84975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29"/>
          <p:cNvSpPr/>
          <p:nvPr/>
        </p:nvSpPr>
        <p:spPr>
          <a:xfrm rot="5400000">
            <a:off x="86724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29"/>
          <p:cNvSpPr/>
          <p:nvPr/>
        </p:nvSpPr>
        <p:spPr>
          <a:xfrm rot="5400000">
            <a:off x="58740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29"/>
          <p:cNvSpPr/>
          <p:nvPr/>
        </p:nvSpPr>
        <p:spPr>
          <a:xfrm rot="5400000">
            <a:off x="60489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29"/>
          <p:cNvSpPr/>
          <p:nvPr/>
        </p:nvSpPr>
        <p:spPr>
          <a:xfrm rot="5400000">
            <a:off x="62238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29"/>
          <p:cNvSpPr/>
          <p:nvPr/>
        </p:nvSpPr>
        <p:spPr>
          <a:xfrm rot="5400000">
            <a:off x="63987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29"/>
          <p:cNvSpPr/>
          <p:nvPr/>
        </p:nvSpPr>
        <p:spPr>
          <a:xfrm rot="5400000">
            <a:off x="65736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29"/>
          <p:cNvSpPr/>
          <p:nvPr/>
        </p:nvSpPr>
        <p:spPr>
          <a:xfrm rot="5400000">
            <a:off x="67485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29"/>
          <p:cNvSpPr/>
          <p:nvPr/>
        </p:nvSpPr>
        <p:spPr>
          <a:xfrm rot="5400000">
            <a:off x="69234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29"/>
          <p:cNvSpPr/>
          <p:nvPr/>
        </p:nvSpPr>
        <p:spPr>
          <a:xfrm rot="5400000">
            <a:off x="70983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29"/>
          <p:cNvSpPr/>
          <p:nvPr/>
        </p:nvSpPr>
        <p:spPr>
          <a:xfrm rot="5400000">
            <a:off x="72732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29"/>
          <p:cNvSpPr/>
          <p:nvPr/>
        </p:nvSpPr>
        <p:spPr>
          <a:xfrm rot="5400000">
            <a:off x="74481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29"/>
          <p:cNvSpPr/>
          <p:nvPr/>
        </p:nvSpPr>
        <p:spPr>
          <a:xfrm rot="5400000">
            <a:off x="76230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29"/>
          <p:cNvSpPr/>
          <p:nvPr/>
        </p:nvSpPr>
        <p:spPr>
          <a:xfrm rot="5400000">
            <a:off x="77979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29"/>
          <p:cNvSpPr/>
          <p:nvPr/>
        </p:nvSpPr>
        <p:spPr>
          <a:xfrm rot="5400000">
            <a:off x="79728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29"/>
          <p:cNvSpPr/>
          <p:nvPr/>
        </p:nvSpPr>
        <p:spPr>
          <a:xfrm rot="5400000">
            <a:off x="81477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29"/>
          <p:cNvSpPr/>
          <p:nvPr/>
        </p:nvSpPr>
        <p:spPr>
          <a:xfrm rot="5400000">
            <a:off x="6399030" y="9442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29"/>
          <p:cNvSpPr/>
          <p:nvPr/>
        </p:nvSpPr>
        <p:spPr>
          <a:xfrm rot="5400000">
            <a:off x="83226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29"/>
          <p:cNvSpPr/>
          <p:nvPr/>
        </p:nvSpPr>
        <p:spPr>
          <a:xfrm rot="5400000">
            <a:off x="84975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29"/>
          <p:cNvSpPr/>
          <p:nvPr/>
        </p:nvSpPr>
        <p:spPr>
          <a:xfrm rot="5400000">
            <a:off x="86724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29"/>
          <p:cNvSpPr/>
          <p:nvPr/>
        </p:nvSpPr>
        <p:spPr>
          <a:xfrm rot="5400000">
            <a:off x="8148643" y="3681300"/>
            <a:ext cx="435900" cy="873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29"/>
          <p:cNvSpPr txBox="1"/>
          <p:nvPr>
            <p:ph idx="1" type="body"/>
          </p:nvPr>
        </p:nvSpPr>
        <p:spPr>
          <a:xfrm>
            <a:off x="107050" y="4579000"/>
            <a:ext cx="88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Problem: After we decreased </a:t>
            </a:r>
            <a:r>
              <a:rPr i="1" lang="en" sz="1600"/>
              <a:t>CWND</a:t>
            </a:r>
            <a:r>
              <a:rPr lang="en" sz="1600"/>
              <a:t>, we had to wait a long time before sending again.</a:t>
            </a:r>
            <a:endParaRPr sz="1600"/>
          </a:p>
        </p:txBody>
      </p:sp>
      <p:sp>
        <p:nvSpPr>
          <p:cNvPr id="471" name="Google Shape;471;p29"/>
          <p:cNvSpPr txBox="1"/>
          <p:nvPr/>
        </p:nvSpPr>
        <p:spPr>
          <a:xfrm>
            <a:off x="86575" y="622800"/>
            <a:ext cx="5777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106: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29"/>
          <p:cNvSpPr/>
          <p:nvPr/>
        </p:nvSpPr>
        <p:spPr>
          <a:xfrm rot="5400000">
            <a:off x="58740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29"/>
          <p:cNvSpPr/>
          <p:nvPr/>
        </p:nvSpPr>
        <p:spPr>
          <a:xfrm rot="5400000">
            <a:off x="60489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29"/>
          <p:cNvSpPr/>
          <p:nvPr/>
        </p:nvSpPr>
        <p:spPr>
          <a:xfrm rot="5400000">
            <a:off x="6223800" y="683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29"/>
          <p:cNvSpPr/>
          <p:nvPr/>
        </p:nvSpPr>
        <p:spPr>
          <a:xfrm rot="5400000">
            <a:off x="6398700" y="683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29"/>
          <p:cNvSpPr/>
          <p:nvPr/>
        </p:nvSpPr>
        <p:spPr>
          <a:xfrm rot="5400000">
            <a:off x="6573600" y="683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29"/>
          <p:cNvSpPr/>
          <p:nvPr/>
        </p:nvSpPr>
        <p:spPr>
          <a:xfrm rot="5400000">
            <a:off x="6748500" y="683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29"/>
          <p:cNvSpPr/>
          <p:nvPr/>
        </p:nvSpPr>
        <p:spPr>
          <a:xfrm rot="5400000">
            <a:off x="6923400" y="683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29"/>
          <p:cNvSpPr/>
          <p:nvPr/>
        </p:nvSpPr>
        <p:spPr>
          <a:xfrm rot="5400000">
            <a:off x="70983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29"/>
          <p:cNvSpPr/>
          <p:nvPr/>
        </p:nvSpPr>
        <p:spPr>
          <a:xfrm rot="5400000">
            <a:off x="72732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29"/>
          <p:cNvSpPr/>
          <p:nvPr/>
        </p:nvSpPr>
        <p:spPr>
          <a:xfrm rot="5400000">
            <a:off x="74481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29"/>
          <p:cNvSpPr/>
          <p:nvPr/>
        </p:nvSpPr>
        <p:spPr>
          <a:xfrm rot="5400000">
            <a:off x="76230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29"/>
          <p:cNvSpPr/>
          <p:nvPr/>
        </p:nvSpPr>
        <p:spPr>
          <a:xfrm rot="5400000">
            <a:off x="77979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29"/>
          <p:cNvSpPr/>
          <p:nvPr/>
        </p:nvSpPr>
        <p:spPr>
          <a:xfrm rot="5400000">
            <a:off x="79728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29"/>
          <p:cNvSpPr/>
          <p:nvPr/>
        </p:nvSpPr>
        <p:spPr>
          <a:xfrm rot="5400000">
            <a:off x="81477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29"/>
          <p:cNvSpPr/>
          <p:nvPr/>
        </p:nvSpPr>
        <p:spPr>
          <a:xfrm rot="5400000">
            <a:off x="6399030" y="3346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29"/>
          <p:cNvSpPr/>
          <p:nvPr/>
        </p:nvSpPr>
        <p:spPr>
          <a:xfrm rot="5400000">
            <a:off x="83226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29"/>
          <p:cNvSpPr/>
          <p:nvPr/>
        </p:nvSpPr>
        <p:spPr>
          <a:xfrm rot="5400000">
            <a:off x="84975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29"/>
          <p:cNvSpPr/>
          <p:nvPr/>
        </p:nvSpPr>
        <p:spPr>
          <a:xfrm rot="5400000">
            <a:off x="86724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0"/>
          <p:cNvSpPr/>
          <p:nvPr/>
        </p:nvSpPr>
        <p:spPr>
          <a:xfrm>
            <a:off x="112250" y="461825"/>
            <a:ext cx="8862900" cy="2433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112250" y="2894825"/>
            <a:ext cx="8862900" cy="1556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6" name="Google Shape;496;p30"/>
          <p:cNvCxnSpPr/>
          <p:nvPr/>
        </p:nvCxnSpPr>
        <p:spPr>
          <a:xfrm>
            <a:off x="89751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Fast Recovery: Windows Without Fast Recovery</a:t>
            </a:r>
            <a:endParaRPr/>
          </a:p>
        </p:txBody>
      </p:sp>
      <p:cxnSp>
        <p:nvCxnSpPr>
          <p:cNvPr id="498" name="Google Shape;498;p30"/>
          <p:cNvCxnSpPr/>
          <p:nvPr/>
        </p:nvCxnSpPr>
        <p:spPr>
          <a:xfrm>
            <a:off x="5955738" y="560851"/>
            <a:ext cx="1186200" cy="15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30"/>
          <p:cNvCxnSpPr/>
          <p:nvPr/>
        </p:nvCxnSpPr>
        <p:spPr>
          <a:xfrm>
            <a:off x="5955738" y="72606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0" name="Google Shape;500;p30"/>
          <p:cNvSpPr txBox="1"/>
          <p:nvPr/>
        </p:nvSpPr>
        <p:spPr>
          <a:xfrm>
            <a:off x="7143925" y="610551"/>
            <a:ext cx="15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✗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501" name="Google Shape;501;p30"/>
          <p:cNvSpPr txBox="1"/>
          <p:nvPr/>
        </p:nvSpPr>
        <p:spPr>
          <a:xfrm>
            <a:off x="5625725" y="450640"/>
            <a:ext cx="298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30"/>
          <p:cNvSpPr txBox="1"/>
          <p:nvPr/>
        </p:nvSpPr>
        <p:spPr>
          <a:xfrm>
            <a:off x="4618867" y="2357053"/>
            <a:ext cx="127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3" name="Google Shape;503;p30"/>
          <p:cNvCxnSpPr/>
          <p:nvPr/>
        </p:nvCxnSpPr>
        <p:spPr>
          <a:xfrm>
            <a:off x="5955738" y="90516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30"/>
          <p:cNvCxnSpPr/>
          <p:nvPr/>
        </p:nvCxnSpPr>
        <p:spPr>
          <a:xfrm>
            <a:off x="5955738" y="1089595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30"/>
          <p:cNvCxnSpPr/>
          <p:nvPr/>
        </p:nvCxnSpPr>
        <p:spPr>
          <a:xfrm>
            <a:off x="5955738" y="126869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30"/>
          <p:cNvCxnSpPr/>
          <p:nvPr/>
        </p:nvCxnSpPr>
        <p:spPr>
          <a:xfrm>
            <a:off x="5955738" y="1458849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30"/>
          <p:cNvCxnSpPr/>
          <p:nvPr/>
        </p:nvCxnSpPr>
        <p:spPr>
          <a:xfrm>
            <a:off x="5955738" y="163794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8" name="Google Shape;508;p30"/>
          <p:cNvCxnSpPr/>
          <p:nvPr/>
        </p:nvCxnSpPr>
        <p:spPr>
          <a:xfrm>
            <a:off x="5955738" y="20071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30"/>
          <p:cNvCxnSpPr/>
          <p:nvPr/>
        </p:nvCxnSpPr>
        <p:spPr>
          <a:xfrm>
            <a:off x="5955738" y="218629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30"/>
          <p:cNvCxnSpPr/>
          <p:nvPr/>
        </p:nvCxnSpPr>
        <p:spPr>
          <a:xfrm>
            <a:off x="5955738" y="182011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30"/>
          <p:cNvCxnSpPr/>
          <p:nvPr/>
        </p:nvCxnSpPr>
        <p:spPr>
          <a:xfrm>
            <a:off x="59537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0"/>
          <p:cNvCxnSpPr/>
          <p:nvPr/>
        </p:nvCxnSpPr>
        <p:spPr>
          <a:xfrm flipH="1">
            <a:off x="5963238" y="1154433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p30"/>
          <p:cNvCxnSpPr/>
          <p:nvPr/>
        </p:nvCxnSpPr>
        <p:spPr>
          <a:xfrm flipH="1">
            <a:off x="5963238" y="133886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4" name="Google Shape;514;p30"/>
          <p:cNvCxnSpPr/>
          <p:nvPr/>
        </p:nvCxnSpPr>
        <p:spPr>
          <a:xfrm flipH="1">
            <a:off x="5963238" y="1519031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30"/>
          <p:cNvCxnSpPr/>
          <p:nvPr/>
        </p:nvCxnSpPr>
        <p:spPr>
          <a:xfrm flipH="1">
            <a:off x="5963238" y="1707054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30"/>
          <p:cNvCxnSpPr/>
          <p:nvPr/>
        </p:nvCxnSpPr>
        <p:spPr>
          <a:xfrm flipH="1">
            <a:off x="5963238" y="188439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30"/>
          <p:cNvCxnSpPr/>
          <p:nvPr/>
        </p:nvCxnSpPr>
        <p:spPr>
          <a:xfrm flipH="1">
            <a:off x="5963238" y="2068833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30"/>
          <p:cNvCxnSpPr/>
          <p:nvPr/>
        </p:nvCxnSpPr>
        <p:spPr>
          <a:xfrm flipH="1">
            <a:off x="5963238" y="2248997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30"/>
          <p:cNvCxnSpPr/>
          <p:nvPr/>
        </p:nvCxnSpPr>
        <p:spPr>
          <a:xfrm flipH="1">
            <a:off x="5963238" y="2437019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30"/>
          <p:cNvCxnSpPr/>
          <p:nvPr/>
        </p:nvCxnSpPr>
        <p:spPr>
          <a:xfrm flipH="1">
            <a:off x="5963238" y="261931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1" name="Google Shape;521;p30"/>
          <p:cNvCxnSpPr/>
          <p:nvPr/>
        </p:nvCxnSpPr>
        <p:spPr>
          <a:xfrm>
            <a:off x="5955738" y="28453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2" name="Google Shape;522;p30"/>
          <p:cNvCxnSpPr/>
          <p:nvPr/>
        </p:nvCxnSpPr>
        <p:spPr>
          <a:xfrm flipH="1">
            <a:off x="5963238" y="3263151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3" name="Google Shape;523;p30"/>
          <p:cNvSpPr txBox="1"/>
          <p:nvPr/>
        </p:nvSpPr>
        <p:spPr>
          <a:xfrm>
            <a:off x="4618867" y="4451111"/>
            <a:ext cx="127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ack(111) from 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30"/>
          <p:cNvCxnSpPr/>
          <p:nvPr/>
        </p:nvCxnSpPr>
        <p:spPr>
          <a:xfrm>
            <a:off x="5955738" y="45979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5" name="Google Shape;525;p30"/>
          <p:cNvSpPr/>
          <p:nvPr/>
        </p:nvSpPr>
        <p:spPr>
          <a:xfrm rot="5400000">
            <a:off x="202725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30"/>
          <p:cNvSpPr/>
          <p:nvPr/>
        </p:nvSpPr>
        <p:spPr>
          <a:xfrm rot="5400000">
            <a:off x="3791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0"/>
          <p:cNvSpPr/>
          <p:nvPr/>
        </p:nvSpPr>
        <p:spPr>
          <a:xfrm rot="5400000">
            <a:off x="5540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0"/>
          <p:cNvSpPr/>
          <p:nvPr/>
        </p:nvSpPr>
        <p:spPr>
          <a:xfrm rot="5400000">
            <a:off x="7289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30"/>
          <p:cNvSpPr/>
          <p:nvPr/>
        </p:nvSpPr>
        <p:spPr>
          <a:xfrm rot="5400000">
            <a:off x="9038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0"/>
          <p:cNvSpPr/>
          <p:nvPr/>
        </p:nvSpPr>
        <p:spPr>
          <a:xfrm rot="5400000">
            <a:off x="10787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30"/>
          <p:cNvSpPr/>
          <p:nvPr/>
        </p:nvSpPr>
        <p:spPr>
          <a:xfrm rot="5400000">
            <a:off x="12536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0"/>
          <p:cNvSpPr/>
          <p:nvPr/>
        </p:nvSpPr>
        <p:spPr>
          <a:xfrm rot="5400000">
            <a:off x="14285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30"/>
          <p:cNvSpPr/>
          <p:nvPr/>
        </p:nvSpPr>
        <p:spPr>
          <a:xfrm rot="5400000">
            <a:off x="16034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0"/>
          <p:cNvSpPr/>
          <p:nvPr/>
        </p:nvSpPr>
        <p:spPr>
          <a:xfrm rot="5400000">
            <a:off x="17783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30"/>
          <p:cNvSpPr/>
          <p:nvPr/>
        </p:nvSpPr>
        <p:spPr>
          <a:xfrm rot="5400000">
            <a:off x="19532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30"/>
          <p:cNvSpPr/>
          <p:nvPr/>
        </p:nvSpPr>
        <p:spPr>
          <a:xfrm rot="5400000">
            <a:off x="21281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0"/>
          <p:cNvSpPr/>
          <p:nvPr/>
        </p:nvSpPr>
        <p:spPr>
          <a:xfrm rot="5400000">
            <a:off x="23030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0"/>
          <p:cNvSpPr/>
          <p:nvPr/>
        </p:nvSpPr>
        <p:spPr>
          <a:xfrm rot="5400000">
            <a:off x="24779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0"/>
          <p:cNvSpPr/>
          <p:nvPr/>
        </p:nvSpPr>
        <p:spPr>
          <a:xfrm rot="5400000">
            <a:off x="26528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30"/>
          <p:cNvSpPr/>
          <p:nvPr/>
        </p:nvSpPr>
        <p:spPr>
          <a:xfrm rot="5400000">
            <a:off x="1341285" y="657900"/>
            <a:ext cx="5580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394275" y="10115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10. 101–110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0"/>
          <p:cNvSpPr/>
          <p:nvPr/>
        </p:nvSpPr>
        <p:spPr>
          <a:xfrm rot="5400000">
            <a:off x="28277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0"/>
          <p:cNvSpPr/>
          <p:nvPr/>
        </p:nvSpPr>
        <p:spPr>
          <a:xfrm rot="5400000">
            <a:off x="30026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0"/>
          <p:cNvSpPr/>
          <p:nvPr/>
        </p:nvSpPr>
        <p:spPr>
          <a:xfrm rot="5400000">
            <a:off x="31775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30"/>
          <p:cNvSpPr/>
          <p:nvPr/>
        </p:nvSpPr>
        <p:spPr>
          <a:xfrm rot="5400000">
            <a:off x="202725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30"/>
          <p:cNvSpPr/>
          <p:nvPr/>
        </p:nvSpPr>
        <p:spPr>
          <a:xfrm rot="5400000">
            <a:off x="3791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30"/>
          <p:cNvSpPr/>
          <p:nvPr/>
        </p:nvSpPr>
        <p:spPr>
          <a:xfrm rot="5400000">
            <a:off x="5540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30"/>
          <p:cNvSpPr/>
          <p:nvPr/>
        </p:nvSpPr>
        <p:spPr>
          <a:xfrm rot="5400000">
            <a:off x="7289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30"/>
          <p:cNvSpPr/>
          <p:nvPr/>
        </p:nvSpPr>
        <p:spPr>
          <a:xfrm rot="5400000">
            <a:off x="9038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0"/>
          <p:cNvSpPr/>
          <p:nvPr/>
        </p:nvSpPr>
        <p:spPr>
          <a:xfrm rot="5400000">
            <a:off x="10787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30"/>
          <p:cNvSpPr/>
          <p:nvPr/>
        </p:nvSpPr>
        <p:spPr>
          <a:xfrm rot="5400000">
            <a:off x="12536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0"/>
          <p:cNvSpPr/>
          <p:nvPr/>
        </p:nvSpPr>
        <p:spPr>
          <a:xfrm rot="5400000">
            <a:off x="14285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0"/>
          <p:cNvSpPr/>
          <p:nvPr/>
        </p:nvSpPr>
        <p:spPr>
          <a:xfrm rot="5400000">
            <a:off x="16034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0"/>
          <p:cNvSpPr/>
          <p:nvPr/>
        </p:nvSpPr>
        <p:spPr>
          <a:xfrm rot="5400000">
            <a:off x="17783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0"/>
          <p:cNvSpPr/>
          <p:nvPr/>
        </p:nvSpPr>
        <p:spPr>
          <a:xfrm rot="5400000">
            <a:off x="19532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0"/>
          <p:cNvSpPr/>
          <p:nvPr/>
        </p:nvSpPr>
        <p:spPr>
          <a:xfrm rot="5400000">
            <a:off x="21281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0"/>
          <p:cNvSpPr/>
          <p:nvPr/>
        </p:nvSpPr>
        <p:spPr>
          <a:xfrm rot="5400000">
            <a:off x="23030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0"/>
          <p:cNvSpPr/>
          <p:nvPr/>
        </p:nvSpPr>
        <p:spPr>
          <a:xfrm rot="5400000">
            <a:off x="24779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30"/>
          <p:cNvSpPr/>
          <p:nvPr/>
        </p:nvSpPr>
        <p:spPr>
          <a:xfrm rot="5400000">
            <a:off x="26528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30"/>
          <p:cNvSpPr/>
          <p:nvPr/>
        </p:nvSpPr>
        <p:spPr>
          <a:xfrm rot="5400000">
            <a:off x="904280" y="3457200"/>
            <a:ext cx="5580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0"/>
          <p:cNvSpPr/>
          <p:nvPr/>
        </p:nvSpPr>
        <p:spPr>
          <a:xfrm rot="5400000">
            <a:off x="28277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30"/>
          <p:cNvSpPr/>
          <p:nvPr/>
        </p:nvSpPr>
        <p:spPr>
          <a:xfrm rot="5400000">
            <a:off x="30026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30"/>
          <p:cNvSpPr/>
          <p:nvPr/>
        </p:nvSpPr>
        <p:spPr>
          <a:xfrm rot="5400000">
            <a:off x="31775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30"/>
          <p:cNvSpPr txBox="1"/>
          <p:nvPr/>
        </p:nvSpPr>
        <p:spPr>
          <a:xfrm>
            <a:off x="3781008" y="2720925"/>
            <a:ext cx="87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Resend 101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30"/>
          <p:cNvSpPr txBox="1"/>
          <p:nvPr/>
        </p:nvSpPr>
        <p:spPr>
          <a:xfrm>
            <a:off x="394275" y="33737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101–105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30"/>
          <p:cNvSpPr txBox="1"/>
          <p:nvPr>
            <p:ph idx="4294967295" type="body"/>
          </p:nvPr>
        </p:nvSpPr>
        <p:spPr>
          <a:xfrm>
            <a:off x="107050" y="4374900"/>
            <a:ext cx="4378500" cy="6429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Problem: In the entire blue area, after </a:t>
            </a:r>
            <a:r>
              <a:rPr i="1" lang="en" sz="1600"/>
              <a:t>CWND</a:t>
            </a:r>
            <a:r>
              <a:rPr lang="en" sz="1600"/>
              <a:t> decreased, the sender isn't sending anything.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1"/>
          <p:cNvSpPr/>
          <p:nvPr/>
        </p:nvSpPr>
        <p:spPr>
          <a:xfrm>
            <a:off x="112250" y="2825225"/>
            <a:ext cx="8862900" cy="2268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31"/>
          <p:cNvSpPr/>
          <p:nvPr/>
        </p:nvSpPr>
        <p:spPr>
          <a:xfrm>
            <a:off x="112250" y="461825"/>
            <a:ext cx="8862900" cy="2363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" name="Google Shape;573;p31"/>
          <p:cNvCxnSpPr/>
          <p:nvPr/>
        </p:nvCxnSpPr>
        <p:spPr>
          <a:xfrm>
            <a:off x="5962575" y="1572631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4" name="Google Shape;574;p31"/>
          <p:cNvCxnSpPr/>
          <p:nvPr/>
        </p:nvCxnSpPr>
        <p:spPr>
          <a:xfrm flipH="1">
            <a:off x="5962575" y="498325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Without Fast Recovery</a:t>
            </a:r>
            <a:endParaRPr/>
          </a:p>
        </p:txBody>
      </p:sp>
      <p:sp>
        <p:nvSpPr>
          <p:cNvPr id="576" name="Google Shape;576;p31"/>
          <p:cNvSpPr txBox="1"/>
          <p:nvPr/>
        </p:nvSpPr>
        <p:spPr>
          <a:xfrm>
            <a:off x="4618867" y="1061653"/>
            <a:ext cx="127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31"/>
          <p:cNvSpPr txBox="1"/>
          <p:nvPr/>
        </p:nvSpPr>
        <p:spPr>
          <a:xfrm>
            <a:off x="5562294" y="3003300"/>
            <a:ext cx="327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31"/>
          <p:cNvSpPr/>
          <p:nvPr/>
        </p:nvSpPr>
        <p:spPr>
          <a:xfrm rot="5400000">
            <a:off x="202725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31"/>
          <p:cNvSpPr/>
          <p:nvPr/>
        </p:nvSpPr>
        <p:spPr>
          <a:xfrm rot="5400000">
            <a:off x="3791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" name="Google Shape;580;p31"/>
          <p:cNvSpPr/>
          <p:nvPr/>
        </p:nvSpPr>
        <p:spPr>
          <a:xfrm rot="5400000">
            <a:off x="5540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31"/>
          <p:cNvSpPr/>
          <p:nvPr/>
        </p:nvSpPr>
        <p:spPr>
          <a:xfrm rot="5400000">
            <a:off x="7289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31"/>
          <p:cNvSpPr/>
          <p:nvPr/>
        </p:nvSpPr>
        <p:spPr>
          <a:xfrm rot="5400000">
            <a:off x="9038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31"/>
          <p:cNvSpPr/>
          <p:nvPr/>
        </p:nvSpPr>
        <p:spPr>
          <a:xfrm rot="5400000">
            <a:off x="10787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p31"/>
          <p:cNvSpPr/>
          <p:nvPr/>
        </p:nvSpPr>
        <p:spPr>
          <a:xfrm rot="5400000">
            <a:off x="12536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31"/>
          <p:cNvSpPr/>
          <p:nvPr/>
        </p:nvSpPr>
        <p:spPr>
          <a:xfrm rot="5400000">
            <a:off x="14285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31"/>
          <p:cNvSpPr/>
          <p:nvPr/>
        </p:nvSpPr>
        <p:spPr>
          <a:xfrm rot="5400000">
            <a:off x="16034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31"/>
          <p:cNvSpPr/>
          <p:nvPr/>
        </p:nvSpPr>
        <p:spPr>
          <a:xfrm rot="5400000">
            <a:off x="17783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31"/>
          <p:cNvSpPr/>
          <p:nvPr/>
        </p:nvSpPr>
        <p:spPr>
          <a:xfrm rot="5400000">
            <a:off x="19532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31"/>
          <p:cNvSpPr/>
          <p:nvPr/>
        </p:nvSpPr>
        <p:spPr>
          <a:xfrm rot="5400000">
            <a:off x="21281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31"/>
          <p:cNvSpPr/>
          <p:nvPr/>
        </p:nvSpPr>
        <p:spPr>
          <a:xfrm rot="5400000">
            <a:off x="23030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31"/>
          <p:cNvSpPr/>
          <p:nvPr/>
        </p:nvSpPr>
        <p:spPr>
          <a:xfrm rot="5400000">
            <a:off x="24779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31"/>
          <p:cNvSpPr/>
          <p:nvPr/>
        </p:nvSpPr>
        <p:spPr>
          <a:xfrm rot="5400000">
            <a:off x="26528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31"/>
          <p:cNvSpPr/>
          <p:nvPr/>
        </p:nvSpPr>
        <p:spPr>
          <a:xfrm rot="5400000">
            <a:off x="904280" y="1399800"/>
            <a:ext cx="5580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31"/>
          <p:cNvSpPr/>
          <p:nvPr/>
        </p:nvSpPr>
        <p:spPr>
          <a:xfrm rot="5400000">
            <a:off x="28277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31"/>
          <p:cNvSpPr/>
          <p:nvPr/>
        </p:nvSpPr>
        <p:spPr>
          <a:xfrm rot="5400000">
            <a:off x="30026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Google Shape;596;p31"/>
          <p:cNvSpPr/>
          <p:nvPr/>
        </p:nvSpPr>
        <p:spPr>
          <a:xfrm rot="5400000">
            <a:off x="31775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31"/>
          <p:cNvSpPr txBox="1"/>
          <p:nvPr/>
        </p:nvSpPr>
        <p:spPr>
          <a:xfrm>
            <a:off x="3781008" y="1425525"/>
            <a:ext cx="87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Resend 101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31"/>
          <p:cNvSpPr txBox="1"/>
          <p:nvPr/>
        </p:nvSpPr>
        <p:spPr>
          <a:xfrm>
            <a:off x="394275" y="13163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101–105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1"/>
          <p:cNvSpPr txBox="1"/>
          <p:nvPr>
            <p:ph idx="4294967295" type="body"/>
          </p:nvPr>
        </p:nvSpPr>
        <p:spPr>
          <a:xfrm>
            <a:off x="107050" y="4374900"/>
            <a:ext cx="5455200" cy="6429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Secondary problem: Sender has to wait a full RTT for ack(112) to arrive before sending 116+.</a:t>
            </a:r>
            <a:endParaRPr sz="1600"/>
          </a:p>
        </p:txBody>
      </p:sp>
      <p:cxnSp>
        <p:nvCxnSpPr>
          <p:cNvPr id="600" name="Google Shape;600;p31"/>
          <p:cNvCxnSpPr/>
          <p:nvPr/>
        </p:nvCxnSpPr>
        <p:spPr>
          <a:xfrm flipH="1">
            <a:off x="5962575" y="682760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1" name="Google Shape;601;p31"/>
          <p:cNvCxnSpPr/>
          <p:nvPr/>
        </p:nvCxnSpPr>
        <p:spPr>
          <a:xfrm flipH="1">
            <a:off x="5962575" y="869715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2" name="Google Shape;602;p31"/>
          <p:cNvCxnSpPr/>
          <p:nvPr/>
        </p:nvCxnSpPr>
        <p:spPr>
          <a:xfrm flipH="1">
            <a:off x="5962575" y="1054149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3" name="Google Shape;603;p31"/>
          <p:cNvCxnSpPr/>
          <p:nvPr/>
        </p:nvCxnSpPr>
        <p:spPr>
          <a:xfrm flipH="1">
            <a:off x="5962575" y="1236833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" name="Google Shape;604;p31"/>
          <p:cNvCxnSpPr/>
          <p:nvPr/>
        </p:nvCxnSpPr>
        <p:spPr>
          <a:xfrm flipH="1">
            <a:off x="5962575" y="1421268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5" name="Google Shape;605;p31"/>
          <p:cNvCxnSpPr/>
          <p:nvPr/>
        </p:nvCxnSpPr>
        <p:spPr>
          <a:xfrm flipH="1">
            <a:off x="5962575" y="1598228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6" name="Google Shape;606;p31"/>
          <p:cNvCxnSpPr/>
          <p:nvPr/>
        </p:nvCxnSpPr>
        <p:spPr>
          <a:xfrm flipH="1">
            <a:off x="5962575" y="1780911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7" name="Google Shape;607;p31"/>
          <p:cNvCxnSpPr/>
          <p:nvPr/>
        </p:nvCxnSpPr>
        <p:spPr>
          <a:xfrm flipH="1">
            <a:off x="5962575" y="1965346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31"/>
          <p:cNvCxnSpPr/>
          <p:nvPr/>
        </p:nvCxnSpPr>
        <p:spPr>
          <a:xfrm>
            <a:off x="89751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31"/>
          <p:cNvCxnSpPr/>
          <p:nvPr/>
        </p:nvCxnSpPr>
        <p:spPr>
          <a:xfrm>
            <a:off x="59537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31"/>
          <p:cNvCxnSpPr/>
          <p:nvPr/>
        </p:nvCxnSpPr>
        <p:spPr>
          <a:xfrm flipH="1">
            <a:off x="5962575" y="2270146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1" name="Google Shape;611;p31"/>
          <p:cNvSpPr txBox="1"/>
          <p:nvPr/>
        </p:nvSpPr>
        <p:spPr>
          <a:xfrm>
            <a:off x="4618867" y="2825236"/>
            <a:ext cx="127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ack(111) from 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31"/>
          <p:cNvSpPr/>
          <p:nvPr/>
        </p:nvSpPr>
        <p:spPr>
          <a:xfrm rot="5400000">
            <a:off x="202725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31"/>
          <p:cNvSpPr/>
          <p:nvPr/>
        </p:nvSpPr>
        <p:spPr>
          <a:xfrm rot="5400000">
            <a:off x="3791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31"/>
          <p:cNvSpPr/>
          <p:nvPr/>
        </p:nvSpPr>
        <p:spPr>
          <a:xfrm rot="5400000">
            <a:off x="5540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1"/>
          <p:cNvSpPr/>
          <p:nvPr/>
        </p:nvSpPr>
        <p:spPr>
          <a:xfrm rot="5400000">
            <a:off x="7289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31"/>
          <p:cNvSpPr/>
          <p:nvPr/>
        </p:nvSpPr>
        <p:spPr>
          <a:xfrm rot="5400000">
            <a:off x="9038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31"/>
          <p:cNvSpPr/>
          <p:nvPr/>
        </p:nvSpPr>
        <p:spPr>
          <a:xfrm rot="5400000">
            <a:off x="10787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31"/>
          <p:cNvSpPr/>
          <p:nvPr/>
        </p:nvSpPr>
        <p:spPr>
          <a:xfrm rot="5400000">
            <a:off x="12536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31"/>
          <p:cNvSpPr/>
          <p:nvPr/>
        </p:nvSpPr>
        <p:spPr>
          <a:xfrm rot="5400000">
            <a:off x="14285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31"/>
          <p:cNvSpPr/>
          <p:nvPr/>
        </p:nvSpPr>
        <p:spPr>
          <a:xfrm rot="5400000">
            <a:off x="16034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31"/>
          <p:cNvSpPr/>
          <p:nvPr/>
        </p:nvSpPr>
        <p:spPr>
          <a:xfrm rot="5400000">
            <a:off x="17783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31"/>
          <p:cNvSpPr/>
          <p:nvPr/>
        </p:nvSpPr>
        <p:spPr>
          <a:xfrm rot="5400000">
            <a:off x="19532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31"/>
          <p:cNvSpPr/>
          <p:nvPr/>
        </p:nvSpPr>
        <p:spPr>
          <a:xfrm rot="5400000">
            <a:off x="21281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31"/>
          <p:cNvSpPr/>
          <p:nvPr/>
        </p:nvSpPr>
        <p:spPr>
          <a:xfrm rot="5400000">
            <a:off x="23030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31"/>
          <p:cNvSpPr/>
          <p:nvPr/>
        </p:nvSpPr>
        <p:spPr>
          <a:xfrm rot="5400000">
            <a:off x="24779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31"/>
          <p:cNvSpPr/>
          <p:nvPr/>
        </p:nvSpPr>
        <p:spPr>
          <a:xfrm rot="5400000">
            <a:off x="26528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31"/>
          <p:cNvSpPr/>
          <p:nvPr/>
        </p:nvSpPr>
        <p:spPr>
          <a:xfrm rot="5400000">
            <a:off x="28277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31"/>
          <p:cNvSpPr/>
          <p:nvPr/>
        </p:nvSpPr>
        <p:spPr>
          <a:xfrm rot="5400000">
            <a:off x="30026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31"/>
          <p:cNvSpPr/>
          <p:nvPr/>
        </p:nvSpPr>
        <p:spPr>
          <a:xfrm rot="5400000">
            <a:off x="31775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p31"/>
          <p:cNvSpPr txBox="1"/>
          <p:nvPr/>
        </p:nvSpPr>
        <p:spPr>
          <a:xfrm>
            <a:off x="394275" y="30689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111–115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31"/>
          <p:cNvSpPr/>
          <p:nvPr/>
        </p:nvSpPr>
        <p:spPr>
          <a:xfrm rot="5400000">
            <a:off x="2653418" y="3151950"/>
            <a:ext cx="558000" cy="873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2" name="Google Shape;632;p31"/>
          <p:cNvCxnSpPr/>
          <p:nvPr/>
        </p:nvCxnSpPr>
        <p:spPr>
          <a:xfrm>
            <a:off x="5962575" y="3089125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3" name="Google Shape;633;p31"/>
          <p:cNvCxnSpPr/>
          <p:nvPr/>
        </p:nvCxnSpPr>
        <p:spPr>
          <a:xfrm>
            <a:off x="5962575" y="3273560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4" name="Google Shape;634;p31"/>
          <p:cNvCxnSpPr/>
          <p:nvPr/>
        </p:nvCxnSpPr>
        <p:spPr>
          <a:xfrm>
            <a:off x="5962575" y="3460515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5" name="Google Shape;635;p31"/>
          <p:cNvCxnSpPr/>
          <p:nvPr/>
        </p:nvCxnSpPr>
        <p:spPr>
          <a:xfrm>
            <a:off x="5962575" y="3644949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6" name="Google Shape;636;p31"/>
          <p:cNvCxnSpPr/>
          <p:nvPr/>
        </p:nvCxnSpPr>
        <p:spPr>
          <a:xfrm>
            <a:off x="5962575" y="3827633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The Fast Recovery Problem</a:t>
            </a:r>
            <a:endParaRPr/>
          </a:p>
        </p:txBody>
      </p:sp>
      <p:sp>
        <p:nvSpPr>
          <p:cNvPr id="642" name="Google Shape;642;p32"/>
          <p:cNvSpPr txBox="1"/>
          <p:nvPr>
            <p:ph idx="1" type="body"/>
          </p:nvPr>
        </p:nvSpPr>
        <p:spPr>
          <a:xfrm>
            <a:off x="107050" y="402200"/>
            <a:ext cx="4986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problem, restated again: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</a:t>
            </a:r>
            <a:r>
              <a:rPr i="1" lang="en"/>
              <a:t>CWND</a:t>
            </a:r>
            <a:r>
              <a:rPr lang="en"/>
              <a:t> decreased, the window was too small for us to send packets after 110.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must wait (sending </a:t>
            </a:r>
            <a:r>
              <a:rPr lang="en"/>
              <a:t>nothing</a:t>
            </a:r>
            <a:r>
              <a:rPr lang="en"/>
              <a:t>) until the re-sent 101 is acked.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secondary problem, restated again: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101 is acked, the window jumps forward, and 111–115 are all sent at once.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must wait again (idling) until ack(111) before sending more.</a:t>
            </a:r>
            <a:endParaRPr/>
          </a:p>
        </p:txBody>
      </p:sp>
      <p:sp>
        <p:nvSpPr>
          <p:cNvPr id="643" name="Google Shape;643;p32"/>
          <p:cNvSpPr/>
          <p:nvPr/>
        </p:nvSpPr>
        <p:spPr>
          <a:xfrm rot="5400000">
            <a:off x="5312000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32"/>
          <p:cNvSpPr/>
          <p:nvPr/>
        </p:nvSpPr>
        <p:spPr>
          <a:xfrm rot="5400000">
            <a:off x="54884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32"/>
          <p:cNvSpPr/>
          <p:nvPr/>
        </p:nvSpPr>
        <p:spPr>
          <a:xfrm rot="5400000">
            <a:off x="56633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32"/>
          <p:cNvSpPr/>
          <p:nvPr/>
        </p:nvSpPr>
        <p:spPr>
          <a:xfrm rot="5400000">
            <a:off x="58382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32"/>
          <p:cNvSpPr/>
          <p:nvPr/>
        </p:nvSpPr>
        <p:spPr>
          <a:xfrm rot="5400000">
            <a:off x="60131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32"/>
          <p:cNvSpPr/>
          <p:nvPr/>
        </p:nvSpPr>
        <p:spPr>
          <a:xfrm rot="5400000">
            <a:off x="61880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32"/>
          <p:cNvSpPr/>
          <p:nvPr/>
        </p:nvSpPr>
        <p:spPr>
          <a:xfrm rot="5400000">
            <a:off x="63629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32"/>
          <p:cNvSpPr/>
          <p:nvPr/>
        </p:nvSpPr>
        <p:spPr>
          <a:xfrm rot="5400000">
            <a:off x="65378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32"/>
          <p:cNvSpPr/>
          <p:nvPr/>
        </p:nvSpPr>
        <p:spPr>
          <a:xfrm rot="5400000">
            <a:off x="67127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32"/>
          <p:cNvSpPr/>
          <p:nvPr/>
        </p:nvSpPr>
        <p:spPr>
          <a:xfrm rot="5400000">
            <a:off x="68876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2"/>
          <p:cNvSpPr/>
          <p:nvPr/>
        </p:nvSpPr>
        <p:spPr>
          <a:xfrm rot="5400000">
            <a:off x="70625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32"/>
          <p:cNvSpPr/>
          <p:nvPr/>
        </p:nvSpPr>
        <p:spPr>
          <a:xfrm rot="5400000">
            <a:off x="72374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32"/>
          <p:cNvSpPr/>
          <p:nvPr/>
        </p:nvSpPr>
        <p:spPr>
          <a:xfrm rot="5400000">
            <a:off x="74123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32"/>
          <p:cNvSpPr/>
          <p:nvPr/>
        </p:nvSpPr>
        <p:spPr>
          <a:xfrm rot="5400000">
            <a:off x="75872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32"/>
          <p:cNvSpPr/>
          <p:nvPr/>
        </p:nvSpPr>
        <p:spPr>
          <a:xfrm rot="5400000">
            <a:off x="77621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32"/>
          <p:cNvSpPr/>
          <p:nvPr/>
        </p:nvSpPr>
        <p:spPr>
          <a:xfrm rot="5400000">
            <a:off x="6450560" y="682113"/>
            <a:ext cx="5580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32"/>
          <p:cNvSpPr txBox="1"/>
          <p:nvPr/>
        </p:nvSpPr>
        <p:spPr>
          <a:xfrm>
            <a:off x="5503550" y="1035738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10. 101–110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32"/>
          <p:cNvSpPr/>
          <p:nvPr/>
        </p:nvSpPr>
        <p:spPr>
          <a:xfrm rot="5400000">
            <a:off x="79370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32"/>
          <p:cNvSpPr/>
          <p:nvPr/>
        </p:nvSpPr>
        <p:spPr>
          <a:xfrm rot="5400000">
            <a:off x="81119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32"/>
          <p:cNvSpPr/>
          <p:nvPr/>
        </p:nvSpPr>
        <p:spPr>
          <a:xfrm rot="5400000">
            <a:off x="82868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32"/>
          <p:cNvSpPr/>
          <p:nvPr/>
        </p:nvSpPr>
        <p:spPr>
          <a:xfrm rot="5400000">
            <a:off x="5311988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2"/>
          <p:cNvSpPr/>
          <p:nvPr/>
        </p:nvSpPr>
        <p:spPr>
          <a:xfrm rot="5400000">
            <a:off x="54884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32"/>
          <p:cNvSpPr/>
          <p:nvPr/>
        </p:nvSpPr>
        <p:spPr>
          <a:xfrm rot="5400000">
            <a:off x="5663313" y="27003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32"/>
          <p:cNvSpPr/>
          <p:nvPr/>
        </p:nvSpPr>
        <p:spPr>
          <a:xfrm rot="5400000">
            <a:off x="58382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32"/>
          <p:cNvSpPr/>
          <p:nvPr/>
        </p:nvSpPr>
        <p:spPr>
          <a:xfrm rot="5400000">
            <a:off x="60131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2"/>
          <p:cNvSpPr/>
          <p:nvPr/>
        </p:nvSpPr>
        <p:spPr>
          <a:xfrm rot="5400000">
            <a:off x="61880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32"/>
          <p:cNvSpPr/>
          <p:nvPr/>
        </p:nvSpPr>
        <p:spPr>
          <a:xfrm rot="5400000">
            <a:off x="63629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32"/>
          <p:cNvSpPr/>
          <p:nvPr/>
        </p:nvSpPr>
        <p:spPr>
          <a:xfrm rot="5400000">
            <a:off x="65378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32"/>
          <p:cNvSpPr/>
          <p:nvPr/>
        </p:nvSpPr>
        <p:spPr>
          <a:xfrm rot="5400000">
            <a:off x="67127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32"/>
          <p:cNvSpPr/>
          <p:nvPr/>
        </p:nvSpPr>
        <p:spPr>
          <a:xfrm rot="5400000">
            <a:off x="68876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32"/>
          <p:cNvSpPr/>
          <p:nvPr/>
        </p:nvSpPr>
        <p:spPr>
          <a:xfrm rot="5400000">
            <a:off x="70625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32"/>
          <p:cNvSpPr/>
          <p:nvPr/>
        </p:nvSpPr>
        <p:spPr>
          <a:xfrm rot="5400000">
            <a:off x="72374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32"/>
          <p:cNvSpPr/>
          <p:nvPr/>
        </p:nvSpPr>
        <p:spPr>
          <a:xfrm rot="5400000">
            <a:off x="74123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32"/>
          <p:cNvSpPr/>
          <p:nvPr/>
        </p:nvSpPr>
        <p:spPr>
          <a:xfrm rot="5400000">
            <a:off x="75872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32"/>
          <p:cNvSpPr/>
          <p:nvPr/>
        </p:nvSpPr>
        <p:spPr>
          <a:xfrm rot="5400000">
            <a:off x="77621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2"/>
          <p:cNvSpPr/>
          <p:nvPr/>
        </p:nvSpPr>
        <p:spPr>
          <a:xfrm rot="5400000">
            <a:off x="6013543" y="2351713"/>
            <a:ext cx="5580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32"/>
          <p:cNvSpPr/>
          <p:nvPr/>
        </p:nvSpPr>
        <p:spPr>
          <a:xfrm rot="5400000">
            <a:off x="79370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32"/>
          <p:cNvSpPr/>
          <p:nvPr/>
        </p:nvSpPr>
        <p:spPr>
          <a:xfrm rot="5400000">
            <a:off x="81119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32"/>
          <p:cNvSpPr/>
          <p:nvPr/>
        </p:nvSpPr>
        <p:spPr>
          <a:xfrm rot="5400000">
            <a:off x="82868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32"/>
          <p:cNvSpPr txBox="1"/>
          <p:nvPr/>
        </p:nvSpPr>
        <p:spPr>
          <a:xfrm>
            <a:off x="5503538" y="2268238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101–105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2"/>
          <p:cNvSpPr/>
          <p:nvPr/>
        </p:nvSpPr>
        <p:spPr>
          <a:xfrm rot="5400000">
            <a:off x="5311975" y="3932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32"/>
          <p:cNvSpPr/>
          <p:nvPr/>
        </p:nvSpPr>
        <p:spPr>
          <a:xfrm rot="5400000">
            <a:off x="5488400" y="3932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32"/>
          <p:cNvSpPr/>
          <p:nvPr/>
        </p:nvSpPr>
        <p:spPr>
          <a:xfrm rot="5400000">
            <a:off x="56633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32"/>
          <p:cNvSpPr/>
          <p:nvPr/>
        </p:nvSpPr>
        <p:spPr>
          <a:xfrm rot="5400000">
            <a:off x="58382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32"/>
          <p:cNvSpPr/>
          <p:nvPr/>
        </p:nvSpPr>
        <p:spPr>
          <a:xfrm rot="5400000">
            <a:off x="60131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32"/>
          <p:cNvSpPr/>
          <p:nvPr/>
        </p:nvSpPr>
        <p:spPr>
          <a:xfrm rot="5400000">
            <a:off x="61880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32"/>
          <p:cNvSpPr/>
          <p:nvPr/>
        </p:nvSpPr>
        <p:spPr>
          <a:xfrm rot="5400000">
            <a:off x="63629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2"/>
          <p:cNvSpPr/>
          <p:nvPr/>
        </p:nvSpPr>
        <p:spPr>
          <a:xfrm rot="5400000">
            <a:off x="65378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32"/>
          <p:cNvSpPr/>
          <p:nvPr/>
        </p:nvSpPr>
        <p:spPr>
          <a:xfrm rot="5400000">
            <a:off x="67127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32"/>
          <p:cNvSpPr/>
          <p:nvPr/>
        </p:nvSpPr>
        <p:spPr>
          <a:xfrm rot="5400000">
            <a:off x="68876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32"/>
          <p:cNvSpPr/>
          <p:nvPr/>
        </p:nvSpPr>
        <p:spPr>
          <a:xfrm rot="5400000">
            <a:off x="70625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32"/>
          <p:cNvSpPr/>
          <p:nvPr/>
        </p:nvSpPr>
        <p:spPr>
          <a:xfrm rot="5400000">
            <a:off x="72374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p32"/>
          <p:cNvSpPr/>
          <p:nvPr/>
        </p:nvSpPr>
        <p:spPr>
          <a:xfrm rot="5400000">
            <a:off x="7412300" y="3932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32"/>
          <p:cNvSpPr/>
          <p:nvPr/>
        </p:nvSpPr>
        <p:spPr>
          <a:xfrm rot="5400000">
            <a:off x="7587200" y="3932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32"/>
          <p:cNvSpPr/>
          <p:nvPr/>
        </p:nvSpPr>
        <p:spPr>
          <a:xfrm rot="5400000">
            <a:off x="7762100" y="3932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32"/>
          <p:cNvSpPr/>
          <p:nvPr/>
        </p:nvSpPr>
        <p:spPr>
          <a:xfrm rot="5400000">
            <a:off x="7937000" y="3932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32"/>
          <p:cNvSpPr/>
          <p:nvPr/>
        </p:nvSpPr>
        <p:spPr>
          <a:xfrm rot="5400000">
            <a:off x="8111900" y="3932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32"/>
          <p:cNvSpPr/>
          <p:nvPr/>
        </p:nvSpPr>
        <p:spPr>
          <a:xfrm rot="5400000">
            <a:off x="8286800" y="3932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32"/>
          <p:cNvSpPr txBox="1"/>
          <p:nvPr/>
        </p:nvSpPr>
        <p:spPr>
          <a:xfrm>
            <a:off x="5503525" y="3500738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111–115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32"/>
          <p:cNvSpPr/>
          <p:nvPr/>
        </p:nvSpPr>
        <p:spPr>
          <a:xfrm rot="5400000">
            <a:off x="7762668" y="3583763"/>
            <a:ext cx="558000" cy="873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Fast Recovery Problem</a:t>
            </a:r>
            <a:endParaRPr/>
          </a:p>
        </p:txBody>
      </p:sp>
      <p:sp>
        <p:nvSpPr>
          <p:cNvPr id="708" name="Google Shape;708;p3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can deduce from the duplicate acks that fewer packets are in flight: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Initially: 10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102: 9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103: 8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104: 7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105: 6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106: 5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107: 4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108: 3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109: 2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110: 1 packet in flight.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packet still in flight is the re-sent 101.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Fast Recovery Problem</a:t>
            </a:r>
            <a:endParaRPr/>
          </a:p>
        </p:txBody>
      </p:sp>
      <p:sp>
        <p:nvSpPr>
          <p:cNvPr id="714" name="Google Shape;714;p3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can deduce from the duplicate acks that fewer packets are in flight.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though there are eventually &lt;5 packets left in flight, the sliding window is stopping us from sending more.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idea: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Grant the sender temporary "credit" for each duplicate ack.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duplicate ack arrives, we know that one fewer packet is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Artificially extend</a:t>
            </a:r>
            <a:r>
              <a:rPr lang="en"/>
              <a:t> the window to let the sender send one more packet.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 Fast Recovery</a:t>
            </a:r>
            <a:endParaRPr/>
          </a:p>
        </p:txBody>
      </p:sp>
      <p:sp>
        <p:nvSpPr>
          <p:cNvPr id="720" name="Google Shape;720;p35"/>
          <p:cNvSpPr/>
          <p:nvPr/>
        </p:nvSpPr>
        <p:spPr>
          <a:xfrm rot="5400000">
            <a:off x="58740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35"/>
          <p:cNvSpPr/>
          <p:nvPr/>
        </p:nvSpPr>
        <p:spPr>
          <a:xfrm rot="5400000">
            <a:off x="60489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35"/>
          <p:cNvSpPr/>
          <p:nvPr/>
        </p:nvSpPr>
        <p:spPr>
          <a:xfrm rot="5400000">
            <a:off x="62238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35"/>
          <p:cNvSpPr/>
          <p:nvPr/>
        </p:nvSpPr>
        <p:spPr>
          <a:xfrm rot="5400000">
            <a:off x="63987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35"/>
          <p:cNvSpPr/>
          <p:nvPr/>
        </p:nvSpPr>
        <p:spPr>
          <a:xfrm rot="5400000">
            <a:off x="65736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35"/>
          <p:cNvSpPr/>
          <p:nvPr/>
        </p:nvSpPr>
        <p:spPr>
          <a:xfrm rot="5400000">
            <a:off x="67485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35"/>
          <p:cNvSpPr/>
          <p:nvPr/>
        </p:nvSpPr>
        <p:spPr>
          <a:xfrm rot="5400000">
            <a:off x="69234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35"/>
          <p:cNvSpPr/>
          <p:nvPr/>
        </p:nvSpPr>
        <p:spPr>
          <a:xfrm rot="5400000">
            <a:off x="70983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35"/>
          <p:cNvSpPr/>
          <p:nvPr/>
        </p:nvSpPr>
        <p:spPr>
          <a:xfrm rot="5400000">
            <a:off x="72732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35"/>
          <p:cNvSpPr/>
          <p:nvPr/>
        </p:nvSpPr>
        <p:spPr>
          <a:xfrm rot="5400000">
            <a:off x="74481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35"/>
          <p:cNvSpPr/>
          <p:nvPr/>
        </p:nvSpPr>
        <p:spPr>
          <a:xfrm rot="5400000">
            <a:off x="76230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35"/>
          <p:cNvSpPr/>
          <p:nvPr/>
        </p:nvSpPr>
        <p:spPr>
          <a:xfrm rot="5400000">
            <a:off x="77979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35"/>
          <p:cNvSpPr/>
          <p:nvPr/>
        </p:nvSpPr>
        <p:spPr>
          <a:xfrm rot="5400000">
            <a:off x="79728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35"/>
          <p:cNvSpPr/>
          <p:nvPr/>
        </p:nvSpPr>
        <p:spPr>
          <a:xfrm rot="5400000">
            <a:off x="81477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35"/>
          <p:cNvSpPr/>
          <p:nvPr/>
        </p:nvSpPr>
        <p:spPr>
          <a:xfrm rot="5400000">
            <a:off x="6836135" y="-26250"/>
            <a:ext cx="4359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p35"/>
          <p:cNvSpPr/>
          <p:nvPr/>
        </p:nvSpPr>
        <p:spPr>
          <a:xfrm rot="5400000">
            <a:off x="83226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35"/>
          <p:cNvSpPr/>
          <p:nvPr/>
        </p:nvSpPr>
        <p:spPr>
          <a:xfrm rot="5400000">
            <a:off x="84975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Google Shape;737;p35"/>
          <p:cNvSpPr/>
          <p:nvPr/>
        </p:nvSpPr>
        <p:spPr>
          <a:xfrm rot="5400000">
            <a:off x="86724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p35"/>
          <p:cNvSpPr txBox="1"/>
          <p:nvPr/>
        </p:nvSpPr>
        <p:spPr>
          <a:xfrm>
            <a:off x="78350" y="3593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3 duplicate acks detected. </a:t>
            </a: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= 5.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Extend window to account for the 3 acks: </a:t>
            </a: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= 5 + 3 = 8.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35"/>
          <p:cNvSpPr/>
          <p:nvPr/>
        </p:nvSpPr>
        <p:spPr>
          <a:xfrm rot="5400000">
            <a:off x="58740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35"/>
          <p:cNvSpPr/>
          <p:nvPr/>
        </p:nvSpPr>
        <p:spPr>
          <a:xfrm rot="5400000">
            <a:off x="60489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p35"/>
          <p:cNvSpPr/>
          <p:nvPr/>
        </p:nvSpPr>
        <p:spPr>
          <a:xfrm rot="5400000">
            <a:off x="62238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35"/>
          <p:cNvSpPr/>
          <p:nvPr/>
        </p:nvSpPr>
        <p:spPr>
          <a:xfrm rot="5400000">
            <a:off x="63987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35"/>
          <p:cNvSpPr/>
          <p:nvPr/>
        </p:nvSpPr>
        <p:spPr>
          <a:xfrm rot="5400000">
            <a:off x="65736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35"/>
          <p:cNvSpPr/>
          <p:nvPr/>
        </p:nvSpPr>
        <p:spPr>
          <a:xfrm rot="5400000">
            <a:off x="67485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35"/>
          <p:cNvSpPr/>
          <p:nvPr/>
        </p:nvSpPr>
        <p:spPr>
          <a:xfrm rot="5400000">
            <a:off x="69234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35"/>
          <p:cNvSpPr/>
          <p:nvPr/>
        </p:nvSpPr>
        <p:spPr>
          <a:xfrm rot="5400000">
            <a:off x="70983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35"/>
          <p:cNvSpPr/>
          <p:nvPr/>
        </p:nvSpPr>
        <p:spPr>
          <a:xfrm rot="5400000">
            <a:off x="72732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35"/>
          <p:cNvSpPr/>
          <p:nvPr/>
        </p:nvSpPr>
        <p:spPr>
          <a:xfrm rot="5400000">
            <a:off x="74481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35"/>
          <p:cNvSpPr/>
          <p:nvPr/>
        </p:nvSpPr>
        <p:spPr>
          <a:xfrm rot="5400000">
            <a:off x="76230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35"/>
          <p:cNvSpPr/>
          <p:nvPr/>
        </p:nvSpPr>
        <p:spPr>
          <a:xfrm rot="5400000">
            <a:off x="77979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35"/>
          <p:cNvSpPr/>
          <p:nvPr/>
        </p:nvSpPr>
        <p:spPr>
          <a:xfrm rot="5400000">
            <a:off x="79728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35"/>
          <p:cNvSpPr/>
          <p:nvPr/>
        </p:nvSpPr>
        <p:spPr>
          <a:xfrm rot="5400000">
            <a:off x="81477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35"/>
          <p:cNvSpPr/>
          <p:nvPr/>
        </p:nvSpPr>
        <p:spPr>
          <a:xfrm rot="5400000">
            <a:off x="83226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35"/>
          <p:cNvSpPr/>
          <p:nvPr/>
        </p:nvSpPr>
        <p:spPr>
          <a:xfrm rot="5400000">
            <a:off x="84975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35"/>
          <p:cNvSpPr/>
          <p:nvPr/>
        </p:nvSpPr>
        <p:spPr>
          <a:xfrm rot="5400000">
            <a:off x="86724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35"/>
          <p:cNvSpPr/>
          <p:nvPr/>
        </p:nvSpPr>
        <p:spPr>
          <a:xfrm rot="5400000">
            <a:off x="58740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35"/>
          <p:cNvSpPr/>
          <p:nvPr/>
        </p:nvSpPr>
        <p:spPr>
          <a:xfrm rot="5400000">
            <a:off x="60489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p35"/>
          <p:cNvSpPr/>
          <p:nvPr/>
        </p:nvSpPr>
        <p:spPr>
          <a:xfrm rot="5400000">
            <a:off x="62238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35"/>
          <p:cNvSpPr/>
          <p:nvPr/>
        </p:nvSpPr>
        <p:spPr>
          <a:xfrm rot="5400000">
            <a:off x="63987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35"/>
          <p:cNvSpPr/>
          <p:nvPr/>
        </p:nvSpPr>
        <p:spPr>
          <a:xfrm rot="5400000">
            <a:off x="65736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35"/>
          <p:cNvSpPr/>
          <p:nvPr/>
        </p:nvSpPr>
        <p:spPr>
          <a:xfrm rot="5400000">
            <a:off x="67485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p35"/>
          <p:cNvSpPr/>
          <p:nvPr/>
        </p:nvSpPr>
        <p:spPr>
          <a:xfrm rot="5400000">
            <a:off x="69234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35"/>
          <p:cNvSpPr/>
          <p:nvPr/>
        </p:nvSpPr>
        <p:spPr>
          <a:xfrm rot="5400000">
            <a:off x="70983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p35"/>
          <p:cNvSpPr/>
          <p:nvPr/>
        </p:nvSpPr>
        <p:spPr>
          <a:xfrm rot="5400000">
            <a:off x="72732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Google Shape;765;p35"/>
          <p:cNvSpPr/>
          <p:nvPr/>
        </p:nvSpPr>
        <p:spPr>
          <a:xfrm rot="5400000">
            <a:off x="74481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35"/>
          <p:cNvSpPr/>
          <p:nvPr/>
        </p:nvSpPr>
        <p:spPr>
          <a:xfrm rot="5400000">
            <a:off x="76230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p35"/>
          <p:cNvSpPr/>
          <p:nvPr/>
        </p:nvSpPr>
        <p:spPr>
          <a:xfrm rot="5400000">
            <a:off x="77979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p35"/>
          <p:cNvSpPr/>
          <p:nvPr/>
        </p:nvSpPr>
        <p:spPr>
          <a:xfrm rot="5400000">
            <a:off x="79728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p35"/>
          <p:cNvSpPr/>
          <p:nvPr/>
        </p:nvSpPr>
        <p:spPr>
          <a:xfrm rot="5400000">
            <a:off x="81477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p35"/>
          <p:cNvSpPr/>
          <p:nvPr/>
        </p:nvSpPr>
        <p:spPr>
          <a:xfrm rot="5400000">
            <a:off x="83226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p35"/>
          <p:cNvSpPr/>
          <p:nvPr/>
        </p:nvSpPr>
        <p:spPr>
          <a:xfrm rot="5400000">
            <a:off x="84975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35"/>
          <p:cNvSpPr/>
          <p:nvPr/>
        </p:nvSpPr>
        <p:spPr>
          <a:xfrm rot="5400000">
            <a:off x="86724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35"/>
          <p:cNvSpPr/>
          <p:nvPr/>
        </p:nvSpPr>
        <p:spPr>
          <a:xfrm rot="5400000">
            <a:off x="7098599" y="3631350"/>
            <a:ext cx="435900" cy="5271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35"/>
          <p:cNvSpPr/>
          <p:nvPr/>
        </p:nvSpPr>
        <p:spPr>
          <a:xfrm rot="5400000">
            <a:off x="7185750" y="4306200"/>
            <a:ext cx="435900" cy="7014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35"/>
          <p:cNvSpPr/>
          <p:nvPr/>
        </p:nvSpPr>
        <p:spPr>
          <a:xfrm rot="5400000">
            <a:off x="6399030" y="3458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35"/>
          <p:cNvSpPr/>
          <p:nvPr/>
        </p:nvSpPr>
        <p:spPr>
          <a:xfrm rot="5400000">
            <a:off x="6399030" y="4220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35"/>
          <p:cNvSpPr txBox="1"/>
          <p:nvPr/>
        </p:nvSpPr>
        <p:spPr>
          <a:xfrm>
            <a:off x="77700" y="4355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105: Extend window to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9.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35"/>
          <p:cNvSpPr txBox="1"/>
          <p:nvPr/>
        </p:nvSpPr>
        <p:spPr>
          <a:xfrm>
            <a:off x="78350" y="2831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104: 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35"/>
          <p:cNvSpPr/>
          <p:nvPr/>
        </p:nvSpPr>
        <p:spPr>
          <a:xfrm rot="5400000">
            <a:off x="58740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35"/>
          <p:cNvSpPr/>
          <p:nvPr/>
        </p:nvSpPr>
        <p:spPr>
          <a:xfrm rot="5400000">
            <a:off x="60489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35"/>
          <p:cNvSpPr/>
          <p:nvPr/>
        </p:nvSpPr>
        <p:spPr>
          <a:xfrm rot="5400000">
            <a:off x="62238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35"/>
          <p:cNvSpPr/>
          <p:nvPr/>
        </p:nvSpPr>
        <p:spPr>
          <a:xfrm rot="5400000">
            <a:off x="63987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35"/>
          <p:cNvSpPr/>
          <p:nvPr/>
        </p:nvSpPr>
        <p:spPr>
          <a:xfrm rot="5400000">
            <a:off x="65736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35"/>
          <p:cNvSpPr/>
          <p:nvPr/>
        </p:nvSpPr>
        <p:spPr>
          <a:xfrm rot="5400000">
            <a:off x="67485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35"/>
          <p:cNvSpPr/>
          <p:nvPr/>
        </p:nvSpPr>
        <p:spPr>
          <a:xfrm rot="5400000">
            <a:off x="69234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35"/>
          <p:cNvSpPr/>
          <p:nvPr/>
        </p:nvSpPr>
        <p:spPr>
          <a:xfrm rot="5400000">
            <a:off x="70983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35"/>
          <p:cNvSpPr/>
          <p:nvPr/>
        </p:nvSpPr>
        <p:spPr>
          <a:xfrm rot="5400000">
            <a:off x="72732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35"/>
          <p:cNvSpPr/>
          <p:nvPr/>
        </p:nvSpPr>
        <p:spPr>
          <a:xfrm rot="5400000">
            <a:off x="74481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9" name="Google Shape;789;p35"/>
          <p:cNvSpPr/>
          <p:nvPr/>
        </p:nvSpPr>
        <p:spPr>
          <a:xfrm rot="5400000">
            <a:off x="76230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p35"/>
          <p:cNvSpPr/>
          <p:nvPr/>
        </p:nvSpPr>
        <p:spPr>
          <a:xfrm rot="5400000">
            <a:off x="77979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35"/>
          <p:cNvSpPr/>
          <p:nvPr/>
        </p:nvSpPr>
        <p:spPr>
          <a:xfrm rot="5400000">
            <a:off x="79728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35"/>
          <p:cNvSpPr/>
          <p:nvPr/>
        </p:nvSpPr>
        <p:spPr>
          <a:xfrm rot="5400000">
            <a:off x="81477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35"/>
          <p:cNvSpPr/>
          <p:nvPr/>
        </p:nvSpPr>
        <p:spPr>
          <a:xfrm rot="5400000">
            <a:off x="83226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35"/>
          <p:cNvSpPr/>
          <p:nvPr/>
        </p:nvSpPr>
        <p:spPr>
          <a:xfrm rot="5400000">
            <a:off x="84975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35"/>
          <p:cNvSpPr/>
          <p:nvPr/>
        </p:nvSpPr>
        <p:spPr>
          <a:xfrm rot="5400000">
            <a:off x="86724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35"/>
          <p:cNvSpPr/>
          <p:nvPr/>
        </p:nvSpPr>
        <p:spPr>
          <a:xfrm rot="5400000">
            <a:off x="6835325" y="2260350"/>
            <a:ext cx="435900" cy="1745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35"/>
          <p:cNvSpPr txBox="1"/>
          <p:nvPr/>
        </p:nvSpPr>
        <p:spPr>
          <a:xfrm>
            <a:off x="78350" y="2069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103: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35"/>
          <p:cNvSpPr/>
          <p:nvPr/>
        </p:nvSpPr>
        <p:spPr>
          <a:xfrm rot="5400000">
            <a:off x="58740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35"/>
          <p:cNvSpPr/>
          <p:nvPr/>
        </p:nvSpPr>
        <p:spPr>
          <a:xfrm rot="5400000">
            <a:off x="60489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35"/>
          <p:cNvSpPr/>
          <p:nvPr/>
        </p:nvSpPr>
        <p:spPr>
          <a:xfrm rot="5400000">
            <a:off x="62238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35"/>
          <p:cNvSpPr/>
          <p:nvPr/>
        </p:nvSpPr>
        <p:spPr>
          <a:xfrm rot="5400000">
            <a:off x="63987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2" name="Google Shape;802;p35"/>
          <p:cNvSpPr/>
          <p:nvPr/>
        </p:nvSpPr>
        <p:spPr>
          <a:xfrm rot="5400000">
            <a:off x="65736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p35"/>
          <p:cNvSpPr/>
          <p:nvPr/>
        </p:nvSpPr>
        <p:spPr>
          <a:xfrm rot="5400000">
            <a:off x="67485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35"/>
          <p:cNvSpPr/>
          <p:nvPr/>
        </p:nvSpPr>
        <p:spPr>
          <a:xfrm rot="5400000">
            <a:off x="69234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35"/>
          <p:cNvSpPr/>
          <p:nvPr/>
        </p:nvSpPr>
        <p:spPr>
          <a:xfrm rot="5400000">
            <a:off x="70983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35"/>
          <p:cNvSpPr/>
          <p:nvPr/>
        </p:nvSpPr>
        <p:spPr>
          <a:xfrm rot="5400000">
            <a:off x="72732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35"/>
          <p:cNvSpPr/>
          <p:nvPr/>
        </p:nvSpPr>
        <p:spPr>
          <a:xfrm rot="5400000">
            <a:off x="74481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35"/>
          <p:cNvSpPr/>
          <p:nvPr/>
        </p:nvSpPr>
        <p:spPr>
          <a:xfrm rot="5400000">
            <a:off x="76230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p35"/>
          <p:cNvSpPr/>
          <p:nvPr/>
        </p:nvSpPr>
        <p:spPr>
          <a:xfrm rot="5400000">
            <a:off x="77979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p35"/>
          <p:cNvSpPr/>
          <p:nvPr/>
        </p:nvSpPr>
        <p:spPr>
          <a:xfrm rot="5400000">
            <a:off x="79728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35"/>
          <p:cNvSpPr/>
          <p:nvPr/>
        </p:nvSpPr>
        <p:spPr>
          <a:xfrm rot="5400000">
            <a:off x="81477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p35"/>
          <p:cNvSpPr/>
          <p:nvPr/>
        </p:nvSpPr>
        <p:spPr>
          <a:xfrm rot="5400000">
            <a:off x="83226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35"/>
          <p:cNvSpPr/>
          <p:nvPr/>
        </p:nvSpPr>
        <p:spPr>
          <a:xfrm rot="5400000">
            <a:off x="84975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35"/>
          <p:cNvSpPr/>
          <p:nvPr/>
        </p:nvSpPr>
        <p:spPr>
          <a:xfrm rot="5400000">
            <a:off x="86724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35"/>
          <p:cNvSpPr/>
          <p:nvPr/>
        </p:nvSpPr>
        <p:spPr>
          <a:xfrm rot="5400000">
            <a:off x="6835325" y="1498350"/>
            <a:ext cx="435900" cy="1745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35"/>
          <p:cNvSpPr txBox="1"/>
          <p:nvPr/>
        </p:nvSpPr>
        <p:spPr>
          <a:xfrm>
            <a:off x="78350" y="1307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102: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35"/>
          <p:cNvSpPr/>
          <p:nvPr/>
        </p:nvSpPr>
        <p:spPr>
          <a:xfrm rot="5400000">
            <a:off x="58740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35"/>
          <p:cNvSpPr/>
          <p:nvPr/>
        </p:nvSpPr>
        <p:spPr>
          <a:xfrm rot="5400000">
            <a:off x="60489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35"/>
          <p:cNvSpPr/>
          <p:nvPr/>
        </p:nvSpPr>
        <p:spPr>
          <a:xfrm rot="5400000">
            <a:off x="62238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p35"/>
          <p:cNvSpPr/>
          <p:nvPr/>
        </p:nvSpPr>
        <p:spPr>
          <a:xfrm rot="5400000">
            <a:off x="63987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1" name="Google Shape;821;p35"/>
          <p:cNvSpPr/>
          <p:nvPr/>
        </p:nvSpPr>
        <p:spPr>
          <a:xfrm rot="5400000">
            <a:off x="65736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35"/>
          <p:cNvSpPr/>
          <p:nvPr/>
        </p:nvSpPr>
        <p:spPr>
          <a:xfrm rot="5400000">
            <a:off x="67485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35"/>
          <p:cNvSpPr/>
          <p:nvPr/>
        </p:nvSpPr>
        <p:spPr>
          <a:xfrm rot="5400000">
            <a:off x="69234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35"/>
          <p:cNvSpPr/>
          <p:nvPr/>
        </p:nvSpPr>
        <p:spPr>
          <a:xfrm rot="5400000">
            <a:off x="70983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35"/>
          <p:cNvSpPr/>
          <p:nvPr/>
        </p:nvSpPr>
        <p:spPr>
          <a:xfrm rot="5400000">
            <a:off x="72732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6" name="Google Shape;826;p35"/>
          <p:cNvSpPr/>
          <p:nvPr/>
        </p:nvSpPr>
        <p:spPr>
          <a:xfrm rot="5400000">
            <a:off x="74481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35"/>
          <p:cNvSpPr/>
          <p:nvPr/>
        </p:nvSpPr>
        <p:spPr>
          <a:xfrm rot="5400000">
            <a:off x="76230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35"/>
          <p:cNvSpPr/>
          <p:nvPr/>
        </p:nvSpPr>
        <p:spPr>
          <a:xfrm rot="5400000">
            <a:off x="77979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35"/>
          <p:cNvSpPr/>
          <p:nvPr/>
        </p:nvSpPr>
        <p:spPr>
          <a:xfrm rot="5400000">
            <a:off x="79728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35"/>
          <p:cNvSpPr/>
          <p:nvPr/>
        </p:nvSpPr>
        <p:spPr>
          <a:xfrm rot="5400000">
            <a:off x="81477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35"/>
          <p:cNvSpPr/>
          <p:nvPr/>
        </p:nvSpPr>
        <p:spPr>
          <a:xfrm rot="5400000">
            <a:off x="83226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35"/>
          <p:cNvSpPr/>
          <p:nvPr/>
        </p:nvSpPr>
        <p:spPr>
          <a:xfrm rot="5400000">
            <a:off x="84975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35"/>
          <p:cNvSpPr/>
          <p:nvPr/>
        </p:nvSpPr>
        <p:spPr>
          <a:xfrm rot="5400000">
            <a:off x="86724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35"/>
          <p:cNvSpPr/>
          <p:nvPr/>
        </p:nvSpPr>
        <p:spPr>
          <a:xfrm rot="5400000">
            <a:off x="6835325" y="736350"/>
            <a:ext cx="435900" cy="1745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35"/>
          <p:cNvSpPr txBox="1"/>
          <p:nvPr/>
        </p:nvSpPr>
        <p:spPr>
          <a:xfrm>
            <a:off x="78350" y="545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sending 10 packets: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10.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101–110 can be in flight.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 Fast Recovery</a:t>
            </a:r>
            <a:endParaRPr/>
          </a:p>
        </p:txBody>
      </p:sp>
      <p:sp>
        <p:nvSpPr>
          <p:cNvPr id="841" name="Google Shape;841;p36"/>
          <p:cNvSpPr/>
          <p:nvPr/>
        </p:nvSpPr>
        <p:spPr>
          <a:xfrm rot="5400000">
            <a:off x="58740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p36"/>
          <p:cNvSpPr/>
          <p:nvPr/>
        </p:nvSpPr>
        <p:spPr>
          <a:xfrm rot="5400000">
            <a:off x="60489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36"/>
          <p:cNvSpPr/>
          <p:nvPr/>
        </p:nvSpPr>
        <p:spPr>
          <a:xfrm rot="5400000">
            <a:off x="6223800" y="75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36"/>
          <p:cNvSpPr/>
          <p:nvPr/>
        </p:nvSpPr>
        <p:spPr>
          <a:xfrm rot="5400000">
            <a:off x="6398700" y="75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36"/>
          <p:cNvSpPr/>
          <p:nvPr/>
        </p:nvSpPr>
        <p:spPr>
          <a:xfrm rot="5400000">
            <a:off x="6573600" y="75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36"/>
          <p:cNvSpPr/>
          <p:nvPr/>
        </p:nvSpPr>
        <p:spPr>
          <a:xfrm rot="5400000">
            <a:off x="6748500" y="75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36"/>
          <p:cNvSpPr/>
          <p:nvPr/>
        </p:nvSpPr>
        <p:spPr>
          <a:xfrm rot="5400000">
            <a:off x="6923400" y="75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8" name="Google Shape;848;p36"/>
          <p:cNvSpPr/>
          <p:nvPr/>
        </p:nvSpPr>
        <p:spPr>
          <a:xfrm rot="5400000">
            <a:off x="70983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36"/>
          <p:cNvSpPr/>
          <p:nvPr/>
        </p:nvSpPr>
        <p:spPr>
          <a:xfrm rot="5400000">
            <a:off x="72732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36"/>
          <p:cNvSpPr/>
          <p:nvPr/>
        </p:nvSpPr>
        <p:spPr>
          <a:xfrm rot="5400000">
            <a:off x="74481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36"/>
          <p:cNvSpPr/>
          <p:nvPr/>
        </p:nvSpPr>
        <p:spPr>
          <a:xfrm rot="5400000">
            <a:off x="76230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36"/>
          <p:cNvSpPr/>
          <p:nvPr/>
        </p:nvSpPr>
        <p:spPr>
          <a:xfrm rot="5400000">
            <a:off x="77979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36"/>
          <p:cNvSpPr/>
          <p:nvPr/>
        </p:nvSpPr>
        <p:spPr>
          <a:xfrm rot="5400000">
            <a:off x="79728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36"/>
          <p:cNvSpPr/>
          <p:nvPr/>
        </p:nvSpPr>
        <p:spPr>
          <a:xfrm rot="5400000">
            <a:off x="81477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36"/>
          <p:cNvSpPr/>
          <p:nvPr/>
        </p:nvSpPr>
        <p:spPr>
          <a:xfrm rot="5400000">
            <a:off x="83226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36"/>
          <p:cNvSpPr/>
          <p:nvPr/>
        </p:nvSpPr>
        <p:spPr>
          <a:xfrm rot="5400000">
            <a:off x="84975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36"/>
          <p:cNvSpPr/>
          <p:nvPr/>
        </p:nvSpPr>
        <p:spPr>
          <a:xfrm rot="5400000">
            <a:off x="86724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36"/>
          <p:cNvSpPr txBox="1"/>
          <p:nvPr/>
        </p:nvSpPr>
        <p:spPr>
          <a:xfrm>
            <a:off x="78350" y="3593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110: Extend window to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14.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send 114!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36"/>
          <p:cNvSpPr/>
          <p:nvPr/>
        </p:nvSpPr>
        <p:spPr>
          <a:xfrm rot="5400000">
            <a:off x="58740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36"/>
          <p:cNvSpPr/>
          <p:nvPr/>
        </p:nvSpPr>
        <p:spPr>
          <a:xfrm rot="5400000">
            <a:off x="60489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36"/>
          <p:cNvSpPr/>
          <p:nvPr/>
        </p:nvSpPr>
        <p:spPr>
          <a:xfrm rot="5400000">
            <a:off x="62238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36"/>
          <p:cNvSpPr/>
          <p:nvPr/>
        </p:nvSpPr>
        <p:spPr>
          <a:xfrm rot="5400000">
            <a:off x="63987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36"/>
          <p:cNvSpPr/>
          <p:nvPr/>
        </p:nvSpPr>
        <p:spPr>
          <a:xfrm rot="5400000">
            <a:off x="65736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p36"/>
          <p:cNvSpPr/>
          <p:nvPr/>
        </p:nvSpPr>
        <p:spPr>
          <a:xfrm rot="5400000">
            <a:off x="67485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36"/>
          <p:cNvSpPr/>
          <p:nvPr/>
        </p:nvSpPr>
        <p:spPr>
          <a:xfrm rot="5400000">
            <a:off x="69234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p36"/>
          <p:cNvSpPr/>
          <p:nvPr/>
        </p:nvSpPr>
        <p:spPr>
          <a:xfrm rot="5400000">
            <a:off x="70983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36"/>
          <p:cNvSpPr/>
          <p:nvPr/>
        </p:nvSpPr>
        <p:spPr>
          <a:xfrm rot="5400000">
            <a:off x="72732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36"/>
          <p:cNvSpPr/>
          <p:nvPr/>
        </p:nvSpPr>
        <p:spPr>
          <a:xfrm rot="5400000">
            <a:off x="74481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36"/>
          <p:cNvSpPr/>
          <p:nvPr/>
        </p:nvSpPr>
        <p:spPr>
          <a:xfrm rot="5400000">
            <a:off x="76230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36"/>
          <p:cNvSpPr/>
          <p:nvPr/>
        </p:nvSpPr>
        <p:spPr>
          <a:xfrm rot="5400000">
            <a:off x="77979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36"/>
          <p:cNvSpPr/>
          <p:nvPr/>
        </p:nvSpPr>
        <p:spPr>
          <a:xfrm rot="5400000">
            <a:off x="79728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36"/>
          <p:cNvSpPr/>
          <p:nvPr/>
        </p:nvSpPr>
        <p:spPr>
          <a:xfrm rot="5400000">
            <a:off x="81477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p36"/>
          <p:cNvSpPr/>
          <p:nvPr/>
        </p:nvSpPr>
        <p:spPr>
          <a:xfrm rot="5400000">
            <a:off x="83226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4" name="Google Shape;874;p36"/>
          <p:cNvSpPr/>
          <p:nvPr/>
        </p:nvSpPr>
        <p:spPr>
          <a:xfrm rot="5400000">
            <a:off x="84975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p36"/>
          <p:cNvSpPr/>
          <p:nvPr/>
        </p:nvSpPr>
        <p:spPr>
          <a:xfrm rot="5400000">
            <a:off x="86724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p36"/>
          <p:cNvSpPr/>
          <p:nvPr/>
        </p:nvSpPr>
        <p:spPr>
          <a:xfrm rot="5400000">
            <a:off x="58740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p36"/>
          <p:cNvSpPr/>
          <p:nvPr/>
        </p:nvSpPr>
        <p:spPr>
          <a:xfrm rot="5400000">
            <a:off x="60489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36"/>
          <p:cNvSpPr/>
          <p:nvPr/>
        </p:nvSpPr>
        <p:spPr>
          <a:xfrm rot="5400000">
            <a:off x="62238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9" name="Google Shape;879;p36"/>
          <p:cNvSpPr/>
          <p:nvPr/>
        </p:nvSpPr>
        <p:spPr>
          <a:xfrm rot="5400000">
            <a:off x="63987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0" name="Google Shape;880;p36"/>
          <p:cNvSpPr/>
          <p:nvPr/>
        </p:nvSpPr>
        <p:spPr>
          <a:xfrm rot="5400000">
            <a:off x="65736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36"/>
          <p:cNvSpPr/>
          <p:nvPr/>
        </p:nvSpPr>
        <p:spPr>
          <a:xfrm rot="5400000">
            <a:off x="67485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36"/>
          <p:cNvSpPr/>
          <p:nvPr/>
        </p:nvSpPr>
        <p:spPr>
          <a:xfrm rot="5400000">
            <a:off x="69234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36"/>
          <p:cNvSpPr/>
          <p:nvPr/>
        </p:nvSpPr>
        <p:spPr>
          <a:xfrm rot="5400000">
            <a:off x="70983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36"/>
          <p:cNvSpPr/>
          <p:nvPr/>
        </p:nvSpPr>
        <p:spPr>
          <a:xfrm rot="5400000">
            <a:off x="72732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36"/>
          <p:cNvSpPr/>
          <p:nvPr/>
        </p:nvSpPr>
        <p:spPr>
          <a:xfrm rot="5400000">
            <a:off x="74481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36"/>
          <p:cNvSpPr/>
          <p:nvPr/>
        </p:nvSpPr>
        <p:spPr>
          <a:xfrm rot="5400000">
            <a:off x="76230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36"/>
          <p:cNvSpPr/>
          <p:nvPr/>
        </p:nvSpPr>
        <p:spPr>
          <a:xfrm rot="5400000">
            <a:off x="77979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8" name="Google Shape;888;p36"/>
          <p:cNvSpPr/>
          <p:nvPr/>
        </p:nvSpPr>
        <p:spPr>
          <a:xfrm rot="5400000">
            <a:off x="79728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36"/>
          <p:cNvSpPr/>
          <p:nvPr/>
        </p:nvSpPr>
        <p:spPr>
          <a:xfrm rot="5400000">
            <a:off x="81477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36"/>
          <p:cNvSpPr/>
          <p:nvPr/>
        </p:nvSpPr>
        <p:spPr>
          <a:xfrm rot="5400000">
            <a:off x="83226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36"/>
          <p:cNvSpPr/>
          <p:nvPr/>
        </p:nvSpPr>
        <p:spPr>
          <a:xfrm rot="5400000">
            <a:off x="84975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36"/>
          <p:cNvSpPr/>
          <p:nvPr/>
        </p:nvSpPr>
        <p:spPr>
          <a:xfrm rot="5400000">
            <a:off x="86724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36"/>
          <p:cNvSpPr/>
          <p:nvPr/>
        </p:nvSpPr>
        <p:spPr>
          <a:xfrm rot="5400000">
            <a:off x="8146993" y="4219050"/>
            <a:ext cx="435900" cy="875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p36"/>
          <p:cNvSpPr txBox="1"/>
          <p:nvPr/>
        </p:nvSpPr>
        <p:spPr>
          <a:xfrm>
            <a:off x="77700" y="4355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ack(111) from resent 101: Back to normal.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5.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send 115.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36"/>
          <p:cNvSpPr txBox="1"/>
          <p:nvPr/>
        </p:nvSpPr>
        <p:spPr>
          <a:xfrm>
            <a:off x="78350" y="2831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109: Extend window to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13.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send 113!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6" name="Google Shape;896;p36"/>
          <p:cNvSpPr/>
          <p:nvPr/>
        </p:nvSpPr>
        <p:spPr>
          <a:xfrm rot="5400000">
            <a:off x="58740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p36"/>
          <p:cNvSpPr/>
          <p:nvPr/>
        </p:nvSpPr>
        <p:spPr>
          <a:xfrm rot="5400000">
            <a:off x="60489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p36"/>
          <p:cNvSpPr/>
          <p:nvPr/>
        </p:nvSpPr>
        <p:spPr>
          <a:xfrm rot="5400000">
            <a:off x="62238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9" name="Google Shape;899;p36"/>
          <p:cNvSpPr/>
          <p:nvPr/>
        </p:nvSpPr>
        <p:spPr>
          <a:xfrm rot="5400000">
            <a:off x="63987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36"/>
          <p:cNvSpPr/>
          <p:nvPr/>
        </p:nvSpPr>
        <p:spPr>
          <a:xfrm rot="5400000">
            <a:off x="65736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36"/>
          <p:cNvSpPr/>
          <p:nvPr/>
        </p:nvSpPr>
        <p:spPr>
          <a:xfrm rot="5400000">
            <a:off x="67485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36"/>
          <p:cNvSpPr/>
          <p:nvPr/>
        </p:nvSpPr>
        <p:spPr>
          <a:xfrm rot="5400000">
            <a:off x="69234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36"/>
          <p:cNvSpPr/>
          <p:nvPr/>
        </p:nvSpPr>
        <p:spPr>
          <a:xfrm rot="5400000">
            <a:off x="70983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4" name="Google Shape;904;p36"/>
          <p:cNvSpPr/>
          <p:nvPr/>
        </p:nvSpPr>
        <p:spPr>
          <a:xfrm rot="5400000">
            <a:off x="72732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5" name="Google Shape;905;p36"/>
          <p:cNvSpPr/>
          <p:nvPr/>
        </p:nvSpPr>
        <p:spPr>
          <a:xfrm rot="5400000">
            <a:off x="74481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36"/>
          <p:cNvSpPr/>
          <p:nvPr/>
        </p:nvSpPr>
        <p:spPr>
          <a:xfrm rot="5400000">
            <a:off x="76230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36"/>
          <p:cNvSpPr/>
          <p:nvPr/>
        </p:nvSpPr>
        <p:spPr>
          <a:xfrm rot="5400000">
            <a:off x="77979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36"/>
          <p:cNvSpPr/>
          <p:nvPr/>
        </p:nvSpPr>
        <p:spPr>
          <a:xfrm rot="5400000">
            <a:off x="79728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36"/>
          <p:cNvSpPr/>
          <p:nvPr/>
        </p:nvSpPr>
        <p:spPr>
          <a:xfrm rot="5400000">
            <a:off x="81477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36"/>
          <p:cNvSpPr/>
          <p:nvPr/>
        </p:nvSpPr>
        <p:spPr>
          <a:xfrm rot="5400000">
            <a:off x="83226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36"/>
          <p:cNvSpPr/>
          <p:nvPr/>
        </p:nvSpPr>
        <p:spPr>
          <a:xfrm rot="5400000">
            <a:off x="84975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36"/>
          <p:cNvSpPr/>
          <p:nvPr/>
        </p:nvSpPr>
        <p:spPr>
          <a:xfrm rot="5400000">
            <a:off x="86724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36"/>
          <p:cNvSpPr txBox="1"/>
          <p:nvPr/>
        </p:nvSpPr>
        <p:spPr>
          <a:xfrm>
            <a:off x="78350" y="2069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108: Extend window to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12.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send 112!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36"/>
          <p:cNvSpPr/>
          <p:nvPr/>
        </p:nvSpPr>
        <p:spPr>
          <a:xfrm rot="5400000">
            <a:off x="58740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36"/>
          <p:cNvSpPr/>
          <p:nvPr/>
        </p:nvSpPr>
        <p:spPr>
          <a:xfrm rot="5400000">
            <a:off x="60489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36"/>
          <p:cNvSpPr/>
          <p:nvPr/>
        </p:nvSpPr>
        <p:spPr>
          <a:xfrm rot="5400000">
            <a:off x="62238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36"/>
          <p:cNvSpPr/>
          <p:nvPr/>
        </p:nvSpPr>
        <p:spPr>
          <a:xfrm rot="5400000">
            <a:off x="63987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8" name="Google Shape;918;p36"/>
          <p:cNvSpPr/>
          <p:nvPr/>
        </p:nvSpPr>
        <p:spPr>
          <a:xfrm rot="5400000">
            <a:off x="65736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9" name="Google Shape;919;p36"/>
          <p:cNvSpPr/>
          <p:nvPr/>
        </p:nvSpPr>
        <p:spPr>
          <a:xfrm rot="5400000">
            <a:off x="67485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0" name="Google Shape;920;p36"/>
          <p:cNvSpPr/>
          <p:nvPr/>
        </p:nvSpPr>
        <p:spPr>
          <a:xfrm rot="5400000">
            <a:off x="69234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1" name="Google Shape;921;p36"/>
          <p:cNvSpPr/>
          <p:nvPr/>
        </p:nvSpPr>
        <p:spPr>
          <a:xfrm rot="5400000">
            <a:off x="70983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36"/>
          <p:cNvSpPr/>
          <p:nvPr/>
        </p:nvSpPr>
        <p:spPr>
          <a:xfrm rot="5400000">
            <a:off x="72732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36"/>
          <p:cNvSpPr/>
          <p:nvPr/>
        </p:nvSpPr>
        <p:spPr>
          <a:xfrm rot="5400000">
            <a:off x="74481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4" name="Google Shape;924;p36"/>
          <p:cNvSpPr/>
          <p:nvPr/>
        </p:nvSpPr>
        <p:spPr>
          <a:xfrm rot="5400000">
            <a:off x="76230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5" name="Google Shape;925;p36"/>
          <p:cNvSpPr/>
          <p:nvPr/>
        </p:nvSpPr>
        <p:spPr>
          <a:xfrm rot="5400000">
            <a:off x="77979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36"/>
          <p:cNvSpPr/>
          <p:nvPr/>
        </p:nvSpPr>
        <p:spPr>
          <a:xfrm rot="5400000">
            <a:off x="79728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36"/>
          <p:cNvSpPr/>
          <p:nvPr/>
        </p:nvSpPr>
        <p:spPr>
          <a:xfrm rot="5400000">
            <a:off x="81477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36"/>
          <p:cNvSpPr/>
          <p:nvPr/>
        </p:nvSpPr>
        <p:spPr>
          <a:xfrm rot="5400000">
            <a:off x="83226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9" name="Google Shape;929;p36"/>
          <p:cNvSpPr/>
          <p:nvPr/>
        </p:nvSpPr>
        <p:spPr>
          <a:xfrm rot="5400000">
            <a:off x="84975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36"/>
          <p:cNvSpPr/>
          <p:nvPr/>
        </p:nvSpPr>
        <p:spPr>
          <a:xfrm rot="5400000">
            <a:off x="86724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36"/>
          <p:cNvSpPr txBox="1"/>
          <p:nvPr/>
        </p:nvSpPr>
        <p:spPr>
          <a:xfrm>
            <a:off x="78350" y="1307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107: Extend window to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11.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send 111!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p36"/>
          <p:cNvSpPr/>
          <p:nvPr/>
        </p:nvSpPr>
        <p:spPr>
          <a:xfrm rot="5400000">
            <a:off x="58740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Google Shape;933;p36"/>
          <p:cNvSpPr/>
          <p:nvPr/>
        </p:nvSpPr>
        <p:spPr>
          <a:xfrm rot="5400000">
            <a:off x="60489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p36"/>
          <p:cNvSpPr/>
          <p:nvPr/>
        </p:nvSpPr>
        <p:spPr>
          <a:xfrm rot="5400000">
            <a:off x="62238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36"/>
          <p:cNvSpPr/>
          <p:nvPr/>
        </p:nvSpPr>
        <p:spPr>
          <a:xfrm rot="5400000">
            <a:off x="63987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36"/>
          <p:cNvSpPr/>
          <p:nvPr/>
        </p:nvSpPr>
        <p:spPr>
          <a:xfrm rot="5400000">
            <a:off x="65736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36"/>
          <p:cNvSpPr/>
          <p:nvPr/>
        </p:nvSpPr>
        <p:spPr>
          <a:xfrm rot="5400000">
            <a:off x="67485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36"/>
          <p:cNvSpPr/>
          <p:nvPr/>
        </p:nvSpPr>
        <p:spPr>
          <a:xfrm rot="5400000">
            <a:off x="69234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36"/>
          <p:cNvSpPr/>
          <p:nvPr/>
        </p:nvSpPr>
        <p:spPr>
          <a:xfrm rot="5400000">
            <a:off x="70983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36"/>
          <p:cNvSpPr/>
          <p:nvPr/>
        </p:nvSpPr>
        <p:spPr>
          <a:xfrm rot="5400000">
            <a:off x="72732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36"/>
          <p:cNvSpPr/>
          <p:nvPr/>
        </p:nvSpPr>
        <p:spPr>
          <a:xfrm rot="5400000">
            <a:off x="74481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2" name="Google Shape;942;p36"/>
          <p:cNvSpPr/>
          <p:nvPr/>
        </p:nvSpPr>
        <p:spPr>
          <a:xfrm rot="5400000">
            <a:off x="76230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3" name="Google Shape;943;p36"/>
          <p:cNvSpPr/>
          <p:nvPr/>
        </p:nvSpPr>
        <p:spPr>
          <a:xfrm rot="5400000">
            <a:off x="77979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36"/>
          <p:cNvSpPr/>
          <p:nvPr/>
        </p:nvSpPr>
        <p:spPr>
          <a:xfrm rot="5400000">
            <a:off x="79728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36"/>
          <p:cNvSpPr/>
          <p:nvPr/>
        </p:nvSpPr>
        <p:spPr>
          <a:xfrm rot="5400000">
            <a:off x="81477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36"/>
          <p:cNvSpPr/>
          <p:nvPr/>
        </p:nvSpPr>
        <p:spPr>
          <a:xfrm rot="5400000">
            <a:off x="83226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36"/>
          <p:cNvSpPr/>
          <p:nvPr/>
        </p:nvSpPr>
        <p:spPr>
          <a:xfrm rot="5400000">
            <a:off x="84975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36"/>
          <p:cNvSpPr/>
          <p:nvPr/>
        </p:nvSpPr>
        <p:spPr>
          <a:xfrm rot="5400000">
            <a:off x="86724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36"/>
          <p:cNvSpPr txBox="1"/>
          <p:nvPr/>
        </p:nvSpPr>
        <p:spPr>
          <a:xfrm>
            <a:off x="78350" y="545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106: Extend window to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10.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36"/>
          <p:cNvSpPr/>
          <p:nvPr/>
        </p:nvSpPr>
        <p:spPr>
          <a:xfrm rot="5400000">
            <a:off x="7447202" y="1758600"/>
            <a:ext cx="435900" cy="12246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36"/>
          <p:cNvSpPr/>
          <p:nvPr/>
        </p:nvSpPr>
        <p:spPr>
          <a:xfrm rot="5400000">
            <a:off x="6399030" y="1934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36"/>
          <p:cNvSpPr/>
          <p:nvPr/>
        </p:nvSpPr>
        <p:spPr>
          <a:xfrm rot="5400000">
            <a:off x="7534725" y="2433000"/>
            <a:ext cx="435900" cy="13998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36"/>
          <p:cNvSpPr/>
          <p:nvPr/>
        </p:nvSpPr>
        <p:spPr>
          <a:xfrm rot="5400000">
            <a:off x="6399030" y="2696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36"/>
          <p:cNvSpPr/>
          <p:nvPr/>
        </p:nvSpPr>
        <p:spPr>
          <a:xfrm rot="5400000">
            <a:off x="7622450" y="3107250"/>
            <a:ext cx="435900" cy="15753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36"/>
          <p:cNvSpPr/>
          <p:nvPr/>
        </p:nvSpPr>
        <p:spPr>
          <a:xfrm rot="5400000">
            <a:off x="6399030" y="3458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36"/>
          <p:cNvSpPr/>
          <p:nvPr/>
        </p:nvSpPr>
        <p:spPr>
          <a:xfrm rot="5400000">
            <a:off x="7359075" y="1084800"/>
            <a:ext cx="435900" cy="10482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36"/>
          <p:cNvSpPr/>
          <p:nvPr/>
        </p:nvSpPr>
        <p:spPr>
          <a:xfrm rot="5400000">
            <a:off x="6399030" y="1172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36"/>
          <p:cNvSpPr/>
          <p:nvPr/>
        </p:nvSpPr>
        <p:spPr>
          <a:xfrm rot="5400000">
            <a:off x="7272300" y="409500"/>
            <a:ext cx="435900" cy="8748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36"/>
          <p:cNvSpPr/>
          <p:nvPr/>
        </p:nvSpPr>
        <p:spPr>
          <a:xfrm rot="5400000">
            <a:off x="6399030" y="410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 Fast Recovery</a:t>
            </a:r>
            <a:endParaRPr/>
          </a:p>
        </p:txBody>
      </p:sp>
      <p:sp>
        <p:nvSpPr>
          <p:cNvPr id="965" name="Google Shape;965;p37"/>
          <p:cNvSpPr/>
          <p:nvPr/>
        </p:nvSpPr>
        <p:spPr>
          <a:xfrm rot="5400000">
            <a:off x="58581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37"/>
          <p:cNvSpPr/>
          <p:nvPr/>
        </p:nvSpPr>
        <p:spPr>
          <a:xfrm rot="5400000">
            <a:off x="6033050" y="20786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37"/>
          <p:cNvSpPr/>
          <p:nvPr/>
        </p:nvSpPr>
        <p:spPr>
          <a:xfrm rot="5400000">
            <a:off x="6207950" y="20786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37"/>
          <p:cNvSpPr/>
          <p:nvPr/>
        </p:nvSpPr>
        <p:spPr>
          <a:xfrm rot="5400000">
            <a:off x="6382850" y="20786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37"/>
          <p:cNvSpPr/>
          <p:nvPr/>
        </p:nvSpPr>
        <p:spPr>
          <a:xfrm rot="5400000">
            <a:off x="6557750" y="20786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37"/>
          <p:cNvSpPr/>
          <p:nvPr/>
        </p:nvSpPr>
        <p:spPr>
          <a:xfrm rot="5400000">
            <a:off x="6732650" y="20786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37"/>
          <p:cNvSpPr/>
          <p:nvPr/>
        </p:nvSpPr>
        <p:spPr>
          <a:xfrm rot="5400000">
            <a:off x="6907550" y="20786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37"/>
          <p:cNvSpPr/>
          <p:nvPr/>
        </p:nvSpPr>
        <p:spPr>
          <a:xfrm rot="5400000">
            <a:off x="7082450" y="20786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37"/>
          <p:cNvSpPr/>
          <p:nvPr/>
        </p:nvSpPr>
        <p:spPr>
          <a:xfrm rot="5400000">
            <a:off x="7257350" y="20786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37"/>
          <p:cNvSpPr/>
          <p:nvPr/>
        </p:nvSpPr>
        <p:spPr>
          <a:xfrm rot="5400000">
            <a:off x="7432250" y="20786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37"/>
          <p:cNvSpPr/>
          <p:nvPr/>
        </p:nvSpPr>
        <p:spPr>
          <a:xfrm rot="5400000">
            <a:off x="7607150" y="20786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37"/>
          <p:cNvSpPr/>
          <p:nvPr/>
        </p:nvSpPr>
        <p:spPr>
          <a:xfrm rot="5400000">
            <a:off x="77820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37"/>
          <p:cNvSpPr/>
          <p:nvPr/>
        </p:nvSpPr>
        <p:spPr>
          <a:xfrm rot="5400000">
            <a:off x="79569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37"/>
          <p:cNvSpPr/>
          <p:nvPr/>
        </p:nvSpPr>
        <p:spPr>
          <a:xfrm rot="5400000">
            <a:off x="81318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37"/>
          <p:cNvSpPr/>
          <p:nvPr/>
        </p:nvSpPr>
        <p:spPr>
          <a:xfrm rot="5400000">
            <a:off x="83067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37"/>
          <p:cNvSpPr/>
          <p:nvPr/>
        </p:nvSpPr>
        <p:spPr>
          <a:xfrm rot="5400000">
            <a:off x="84816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37"/>
          <p:cNvSpPr/>
          <p:nvPr/>
        </p:nvSpPr>
        <p:spPr>
          <a:xfrm rot="5400000">
            <a:off x="86565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2" name="Google Shape;982;p37"/>
          <p:cNvSpPr/>
          <p:nvPr/>
        </p:nvSpPr>
        <p:spPr>
          <a:xfrm rot="5400000">
            <a:off x="5858150" y="4517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37"/>
          <p:cNvSpPr/>
          <p:nvPr/>
        </p:nvSpPr>
        <p:spPr>
          <a:xfrm rot="5400000">
            <a:off x="6033050" y="4517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37"/>
          <p:cNvSpPr/>
          <p:nvPr/>
        </p:nvSpPr>
        <p:spPr>
          <a:xfrm rot="5400000">
            <a:off x="62079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37"/>
          <p:cNvSpPr/>
          <p:nvPr/>
        </p:nvSpPr>
        <p:spPr>
          <a:xfrm rot="5400000">
            <a:off x="63828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6" name="Google Shape;986;p37"/>
          <p:cNvSpPr/>
          <p:nvPr/>
        </p:nvSpPr>
        <p:spPr>
          <a:xfrm rot="5400000">
            <a:off x="65577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37"/>
          <p:cNvSpPr/>
          <p:nvPr/>
        </p:nvSpPr>
        <p:spPr>
          <a:xfrm rot="5400000">
            <a:off x="67326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37"/>
          <p:cNvSpPr/>
          <p:nvPr/>
        </p:nvSpPr>
        <p:spPr>
          <a:xfrm rot="5400000">
            <a:off x="69075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37"/>
          <p:cNvSpPr/>
          <p:nvPr/>
        </p:nvSpPr>
        <p:spPr>
          <a:xfrm rot="5400000">
            <a:off x="70824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0" name="Google Shape;990;p37"/>
          <p:cNvSpPr/>
          <p:nvPr/>
        </p:nvSpPr>
        <p:spPr>
          <a:xfrm rot="5400000">
            <a:off x="72573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37"/>
          <p:cNvSpPr/>
          <p:nvPr/>
        </p:nvSpPr>
        <p:spPr>
          <a:xfrm rot="5400000">
            <a:off x="74322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Google Shape;992;p37"/>
          <p:cNvSpPr/>
          <p:nvPr/>
        </p:nvSpPr>
        <p:spPr>
          <a:xfrm rot="5400000">
            <a:off x="76071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37"/>
          <p:cNvSpPr/>
          <p:nvPr/>
        </p:nvSpPr>
        <p:spPr>
          <a:xfrm rot="5400000">
            <a:off x="7782050" y="4517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37"/>
          <p:cNvSpPr/>
          <p:nvPr/>
        </p:nvSpPr>
        <p:spPr>
          <a:xfrm rot="5400000">
            <a:off x="7956950" y="4517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5" name="Google Shape;995;p37"/>
          <p:cNvSpPr/>
          <p:nvPr/>
        </p:nvSpPr>
        <p:spPr>
          <a:xfrm rot="5400000">
            <a:off x="8131850" y="4517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6" name="Google Shape;996;p37"/>
          <p:cNvSpPr/>
          <p:nvPr/>
        </p:nvSpPr>
        <p:spPr>
          <a:xfrm rot="5400000">
            <a:off x="8306750" y="4517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37"/>
          <p:cNvSpPr/>
          <p:nvPr/>
        </p:nvSpPr>
        <p:spPr>
          <a:xfrm rot="5400000">
            <a:off x="8481650" y="4517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8" name="Google Shape;998;p37"/>
          <p:cNvSpPr/>
          <p:nvPr/>
        </p:nvSpPr>
        <p:spPr>
          <a:xfrm rot="5400000">
            <a:off x="8656550" y="4517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9" name="Google Shape;999;p37"/>
          <p:cNvSpPr/>
          <p:nvPr/>
        </p:nvSpPr>
        <p:spPr>
          <a:xfrm rot="5400000">
            <a:off x="5858150" y="3907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0" name="Google Shape;1000;p37"/>
          <p:cNvSpPr/>
          <p:nvPr/>
        </p:nvSpPr>
        <p:spPr>
          <a:xfrm rot="5400000">
            <a:off x="6033050" y="3907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1" name="Google Shape;1001;p37"/>
          <p:cNvSpPr/>
          <p:nvPr/>
        </p:nvSpPr>
        <p:spPr>
          <a:xfrm rot="5400000">
            <a:off x="62079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37"/>
          <p:cNvSpPr/>
          <p:nvPr/>
        </p:nvSpPr>
        <p:spPr>
          <a:xfrm rot="5400000">
            <a:off x="63828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37"/>
          <p:cNvSpPr/>
          <p:nvPr/>
        </p:nvSpPr>
        <p:spPr>
          <a:xfrm rot="5400000">
            <a:off x="65577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4" name="Google Shape;1004;p37"/>
          <p:cNvSpPr/>
          <p:nvPr/>
        </p:nvSpPr>
        <p:spPr>
          <a:xfrm rot="5400000">
            <a:off x="67326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37"/>
          <p:cNvSpPr/>
          <p:nvPr/>
        </p:nvSpPr>
        <p:spPr>
          <a:xfrm rot="5400000">
            <a:off x="69075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37"/>
          <p:cNvSpPr/>
          <p:nvPr/>
        </p:nvSpPr>
        <p:spPr>
          <a:xfrm rot="5400000">
            <a:off x="70824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7" name="Google Shape;1007;p37"/>
          <p:cNvSpPr/>
          <p:nvPr/>
        </p:nvSpPr>
        <p:spPr>
          <a:xfrm rot="5400000">
            <a:off x="72573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37"/>
          <p:cNvSpPr/>
          <p:nvPr/>
        </p:nvSpPr>
        <p:spPr>
          <a:xfrm rot="5400000">
            <a:off x="74322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37"/>
          <p:cNvSpPr/>
          <p:nvPr/>
        </p:nvSpPr>
        <p:spPr>
          <a:xfrm rot="5400000">
            <a:off x="7607150" y="3907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p37"/>
          <p:cNvSpPr/>
          <p:nvPr/>
        </p:nvSpPr>
        <p:spPr>
          <a:xfrm rot="5400000">
            <a:off x="7782050" y="3907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37"/>
          <p:cNvSpPr/>
          <p:nvPr/>
        </p:nvSpPr>
        <p:spPr>
          <a:xfrm rot="5400000">
            <a:off x="7956950" y="3907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37"/>
          <p:cNvSpPr/>
          <p:nvPr/>
        </p:nvSpPr>
        <p:spPr>
          <a:xfrm rot="5400000">
            <a:off x="8131850" y="3907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37"/>
          <p:cNvSpPr/>
          <p:nvPr/>
        </p:nvSpPr>
        <p:spPr>
          <a:xfrm rot="5400000">
            <a:off x="8306750" y="3907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37"/>
          <p:cNvSpPr/>
          <p:nvPr/>
        </p:nvSpPr>
        <p:spPr>
          <a:xfrm rot="5400000">
            <a:off x="8481650" y="3907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p37"/>
          <p:cNvSpPr/>
          <p:nvPr/>
        </p:nvSpPr>
        <p:spPr>
          <a:xfrm rot="5400000">
            <a:off x="8656550" y="3907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37"/>
          <p:cNvSpPr/>
          <p:nvPr/>
        </p:nvSpPr>
        <p:spPr>
          <a:xfrm rot="5400000">
            <a:off x="5858150" y="32978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7" name="Google Shape;1017;p37"/>
          <p:cNvSpPr/>
          <p:nvPr/>
        </p:nvSpPr>
        <p:spPr>
          <a:xfrm rot="5400000">
            <a:off x="6033050" y="32978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8" name="Google Shape;1018;p37"/>
          <p:cNvSpPr/>
          <p:nvPr/>
        </p:nvSpPr>
        <p:spPr>
          <a:xfrm rot="5400000">
            <a:off x="62079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37"/>
          <p:cNvSpPr/>
          <p:nvPr/>
        </p:nvSpPr>
        <p:spPr>
          <a:xfrm rot="5400000">
            <a:off x="63828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37"/>
          <p:cNvSpPr/>
          <p:nvPr/>
        </p:nvSpPr>
        <p:spPr>
          <a:xfrm rot="5400000">
            <a:off x="65577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1" name="Google Shape;1021;p37"/>
          <p:cNvSpPr/>
          <p:nvPr/>
        </p:nvSpPr>
        <p:spPr>
          <a:xfrm rot="5400000">
            <a:off x="67326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2" name="Google Shape;1022;p37"/>
          <p:cNvSpPr/>
          <p:nvPr/>
        </p:nvSpPr>
        <p:spPr>
          <a:xfrm rot="5400000">
            <a:off x="69075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3" name="Google Shape;1023;p37"/>
          <p:cNvSpPr/>
          <p:nvPr/>
        </p:nvSpPr>
        <p:spPr>
          <a:xfrm rot="5400000">
            <a:off x="70824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4" name="Google Shape;1024;p37"/>
          <p:cNvSpPr/>
          <p:nvPr/>
        </p:nvSpPr>
        <p:spPr>
          <a:xfrm rot="5400000">
            <a:off x="72573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5" name="Google Shape;1025;p37"/>
          <p:cNvSpPr/>
          <p:nvPr/>
        </p:nvSpPr>
        <p:spPr>
          <a:xfrm rot="5400000">
            <a:off x="7432250" y="32978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37"/>
          <p:cNvSpPr/>
          <p:nvPr/>
        </p:nvSpPr>
        <p:spPr>
          <a:xfrm rot="5400000">
            <a:off x="7607150" y="32978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7" name="Google Shape;1027;p37"/>
          <p:cNvSpPr/>
          <p:nvPr/>
        </p:nvSpPr>
        <p:spPr>
          <a:xfrm rot="5400000">
            <a:off x="7782050" y="32978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8" name="Google Shape;1028;p37"/>
          <p:cNvSpPr/>
          <p:nvPr/>
        </p:nvSpPr>
        <p:spPr>
          <a:xfrm rot="5400000">
            <a:off x="7956950" y="32978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37"/>
          <p:cNvSpPr/>
          <p:nvPr/>
        </p:nvSpPr>
        <p:spPr>
          <a:xfrm rot="5400000">
            <a:off x="8131850" y="32978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37"/>
          <p:cNvSpPr/>
          <p:nvPr/>
        </p:nvSpPr>
        <p:spPr>
          <a:xfrm rot="5400000">
            <a:off x="8306750" y="32978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37"/>
          <p:cNvSpPr/>
          <p:nvPr/>
        </p:nvSpPr>
        <p:spPr>
          <a:xfrm rot="5400000">
            <a:off x="8481650" y="32978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37"/>
          <p:cNvSpPr/>
          <p:nvPr/>
        </p:nvSpPr>
        <p:spPr>
          <a:xfrm rot="5400000">
            <a:off x="8656550" y="32978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37"/>
          <p:cNvSpPr/>
          <p:nvPr/>
        </p:nvSpPr>
        <p:spPr>
          <a:xfrm rot="5400000">
            <a:off x="5858150" y="26882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37"/>
          <p:cNvSpPr/>
          <p:nvPr/>
        </p:nvSpPr>
        <p:spPr>
          <a:xfrm rot="5400000">
            <a:off x="6033050" y="26882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37"/>
          <p:cNvSpPr/>
          <p:nvPr/>
        </p:nvSpPr>
        <p:spPr>
          <a:xfrm rot="5400000">
            <a:off x="6207950" y="26882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37"/>
          <p:cNvSpPr/>
          <p:nvPr/>
        </p:nvSpPr>
        <p:spPr>
          <a:xfrm rot="5400000">
            <a:off x="6382850" y="26882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37"/>
          <p:cNvSpPr/>
          <p:nvPr/>
        </p:nvSpPr>
        <p:spPr>
          <a:xfrm rot="5400000">
            <a:off x="6557750" y="26882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37"/>
          <p:cNvSpPr/>
          <p:nvPr/>
        </p:nvSpPr>
        <p:spPr>
          <a:xfrm rot="5400000">
            <a:off x="6732650" y="26882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37"/>
          <p:cNvSpPr/>
          <p:nvPr/>
        </p:nvSpPr>
        <p:spPr>
          <a:xfrm rot="5400000">
            <a:off x="6907550" y="26882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37"/>
          <p:cNvSpPr/>
          <p:nvPr/>
        </p:nvSpPr>
        <p:spPr>
          <a:xfrm rot="5400000">
            <a:off x="7082450" y="26882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37"/>
          <p:cNvSpPr/>
          <p:nvPr/>
        </p:nvSpPr>
        <p:spPr>
          <a:xfrm rot="5400000">
            <a:off x="7257350" y="26882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37"/>
          <p:cNvSpPr/>
          <p:nvPr/>
        </p:nvSpPr>
        <p:spPr>
          <a:xfrm rot="5400000">
            <a:off x="7432250" y="26882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37"/>
          <p:cNvSpPr/>
          <p:nvPr/>
        </p:nvSpPr>
        <p:spPr>
          <a:xfrm rot="5400000">
            <a:off x="7607150" y="26882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37"/>
          <p:cNvSpPr/>
          <p:nvPr/>
        </p:nvSpPr>
        <p:spPr>
          <a:xfrm rot="5400000">
            <a:off x="7782050" y="26882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37"/>
          <p:cNvSpPr/>
          <p:nvPr/>
        </p:nvSpPr>
        <p:spPr>
          <a:xfrm rot="5400000">
            <a:off x="7956950" y="26882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37"/>
          <p:cNvSpPr/>
          <p:nvPr/>
        </p:nvSpPr>
        <p:spPr>
          <a:xfrm rot="5400000">
            <a:off x="8131850" y="26882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37"/>
          <p:cNvSpPr/>
          <p:nvPr/>
        </p:nvSpPr>
        <p:spPr>
          <a:xfrm rot="5400000">
            <a:off x="8306750" y="26882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37"/>
          <p:cNvSpPr/>
          <p:nvPr/>
        </p:nvSpPr>
        <p:spPr>
          <a:xfrm rot="5400000">
            <a:off x="8481650" y="26882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37"/>
          <p:cNvSpPr/>
          <p:nvPr/>
        </p:nvSpPr>
        <p:spPr>
          <a:xfrm rot="5400000">
            <a:off x="8656550" y="26882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37"/>
          <p:cNvSpPr/>
          <p:nvPr/>
        </p:nvSpPr>
        <p:spPr>
          <a:xfrm rot="5400000">
            <a:off x="7431352" y="2772950"/>
            <a:ext cx="435900" cy="12246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37"/>
          <p:cNvSpPr/>
          <p:nvPr/>
        </p:nvSpPr>
        <p:spPr>
          <a:xfrm rot="5400000">
            <a:off x="6383180" y="29492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2" name="Google Shape;1052;p37"/>
          <p:cNvSpPr/>
          <p:nvPr/>
        </p:nvSpPr>
        <p:spPr>
          <a:xfrm rot="5400000">
            <a:off x="7518875" y="3294950"/>
            <a:ext cx="435900" cy="13998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37"/>
          <p:cNvSpPr/>
          <p:nvPr/>
        </p:nvSpPr>
        <p:spPr>
          <a:xfrm rot="5400000">
            <a:off x="6383180" y="35588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37"/>
          <p:cNvSpPr/>
          <p:nvPr/>
        </p:nvSpPr>
        <p:spPr>
          <a:xfrm rot="5400000">
            <a:off x="7606600" y="3816800"/>
            <a:ext cx="435900" cy="15753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37"/>
          <p:cNvSpPr/>
          <p:nvPr/>
        </p:nvSpPr>
        <p:spPr>
          <a:xfrm rot="5400000">
            <a:off x="6383180" y="41684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37"/>
          <p:cNvSpPr/>
          <p:nvPr/>
        </p:nvSpPr>
        <p:spPr>
          <a:xfrm rot="5400000">
            <a:off x="7343225" y="2251550"/>
            <a:ext cx="435900" cy="10482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37"/>
          <p:cNvSpPr/>
          <p:nvPr/>
        </p:nvSpPr>
        <p:spPr>
          <a:xfrm rot="5400000">
            <a:off x="6383180" y="23396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37"/>
          <p:cNvSpPr/>
          <p:nvPr/>
        </p:nvSpPr>
        <p:spPr>
          <a:xfrm rot="5400000">
            <a:off x="7256450" y="1728650"/>
            <a:ext cx="435900" cy="8748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37"/>
          <p:cNvSpPr/>
          <p:nvPr/>
        </p:nvSpPr>
        <p:spPr>
          <a:xfrm rot="5400000">
            <a:off x="6383180" y="17300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0" name="Google Shape;1060;p37"/>
          <p:cNvSpPr/>
          <p:nvPr/>
        </p:nvSpPr>
        <p:spPr>
          <a:xfrm rot="5400000">
            <a:off x="58581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37"/>
          <p:cNvSpPr/>
          <p:nvPr/>
        </p:nvSpPr>
        <p:spPr>
          <a:xfrm rot="5400000">
            <a:off x="6033050" y="859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37"/>
          <p:cNvSpPr/>
          <p:nvPr/>
        </p:nvSpPr>
        <p:spPr>
          <a:xfrm rot="5400000">
            <a:off x="6207950" y="859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3" name="Google Shape;1063;p37"/>
          <p:cNvSpPr/>
          <p:nvPr/>
        </p:nvSpPr>
        <p:spPr>
          <a:xfrm rot="5400000">
            <a:off x="6382850" y="859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4" name="Google Shape;1064;p37"/>
          <p:cNvSpPr/>
          <p:nvPr/>
        </p:nvSpPr>
        <p:spPr>
          <a:xfrm rot="5400000">
            <a:off x="6557750" y="859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5" name="Google Shape;1065;p37"/>
          <p:cNvSpPr/>
          <p:nvPr/>
        </p:nvSpPr>
        <p:spPr>
          <a:xfrm rot="5400000">
            <a:off x="6732650" y="859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6" name="Google Shape;1066;p37"/>
          <p:cNvSpPr/>
          <p:nvPr/>
        </p:nvSpPr>
        <p:spPr>
          <a:xfrm rot="5400000">
            <a:off x="6907550" y="859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37"/>
          <p:cNvSpPr/>
          <p:nvPr/>
        </p:nvSpPr>
        <p:spPr>
          <a:xfrm rot="5400000">
            <a:off x="7082450" y="859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37"/>
          <p:cNvSpPr/>
          <p:nvPr/>
        </p:nvSpPr>
        <p:spPr>
          <a:xfrm rot="5400000">
            <a:off x="7257350" y="859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37"/>
          <p:cNvSpPr/>
          <p:nvPr/>
        </p:nvSpPr>
        <p:spPr>
          <a:xfrm rot="5400000">
            <a:off x="74322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37"/>
          <p:cNvSpPr/>
          <p:nvPr/>
        </p:nvSpPr>
        <p:spPr>
          <a:xfrm rot="5400000">
            <a:off x="76071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1" name="Google Shape;1071;p37"/>
          <p:cNvSpPr/>
          <p:nvPr/>
        </p:nvSpPr>
        <p:spPr>
          <a:xfrm rot="5400000">
            <a:off x="77820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37"/>
          <p:cNvSpPr/>
          <p:nvPr/>
        </p:nvSpPr>
        <p:spPr>
          <a:xfrm rot="5400000">
            <a:off x="79569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37"/>
          <p:cNvSpPr/>
          <p:nvPr/>
        </p:nvSpPr>
        <p:spPr>
          <a:xfrm rot="5400000">
            <a:off x="81318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4" name="Google Shape;1074;p37"/>
          <p:cNvSpPr/>
          <p:nvPr/>
        </p:nvSpPr>
        <p:spPr>
          <a:xfrm rot="5400000">
            <a:off x="83067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5" name="Google Shape;1075;p37"/>
          <p:cNvSpPr/>
          <p:nvPr/>
        </p:nvSpPr>
        <p:spPr>
          <a:xfrm rot="5400000">
            <a:off x="84816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6" name="Google Shape;1076;p37"/>
          <p:cNvSpPr/>
          <p:nvPr/>
        </p:nvSpPr>
        <p:spPr>
          <a:xfrm rot="5400000">
            <a:off x="86565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7" name="Google Shape;1077;p37"/>
          <p:cNvSpPr/>
          <p:nvPr/>
        </p:nvSpPr>
        <p:spPr>
          <a:xfrm rot="5400000">
            <a:off x="58581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37"/>
          <p:cNvSpPr/>
          <p:nvPr/>
        </p:nvSpPr>
        <p:spPr>
          <a:xfrm rot="5400000">
            <a:off x="6033050" y="1469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9" name="Google Shape;1079;p37"/>
          <p:cNvSpPr/>
          <p:nvPr/>
        </p:nvSpPr>
        <p:spPr>
          <a:xfrm rot="5400000">
            <a:off x="6207950" y="1469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37"/>
          <p:cNvSpPr/>
          <p:nvPr/>
        </p:nvSpPr>
        <p:spPr>
          <a:xfrm rot="5400000">
            <a:off x="6382850" y="1469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1" name="Google Shape;1081;p37"/>
          <p:cNvSpPr/>
          <p:nvPr/>
        </p:nvSpPr>
        <p:spPr>
          <a:xfrm rot="5400000">
            <a:off x="6557750" y="1469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2" name="Google Shape;1082;p37"/>
          <p:cNvSpPr/>
          <p:nvPr/>
        </p:nvSpPr>
        <p:spPr>
          <a:xfrm rot="5400000">
            <a:off x="6732650" y="1469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3" name="Google Shape;1083;p37"/>
          <p:cNvSpPr/>
          <p:nvPr/>
        </p:nvSpPr>
        <p:spPr>
          <a:xfrm rot="5400000">
            <a:off x="6907550" y="1469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37"/>
          <p:cNvSpPr/>
          <p:nvPr/>
        </p:nvSpPr>
        <p:spPr>
          <a:xfrm rot="5400000">
            <a:off x="7082450" y="1469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37"/>
          <p:cNvSpPr/>
          <p:nvPr/>
        </p:nvSpPr>
        <p:spPr>
          <a:xfrm rot="5400000">
            <a:off x="7257350" y="1469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6" name="Google Shape;1086;p37"/>
          <p:cNvSpPr/>
          <p:nvPr/>
        </p:nvSpPr>
        <p:spPr>
          <a:xfrm rot="5400000">
            <a:off x="7432250" y="1469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p37"/>
          <p:cNvSpPr/>
          <p:nvPr/>
        </p:nvSpPr>
        <p:spPr>
          <a:xfrm rot="5400000">
            <a:off x="76071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37"/>
          <p:cNvSpPr/>
          <p:nvPr/>
        </p:nvSpPr>
        <p:spPr>
          <a:xfrm rot="5400000">
            <a:off x="77820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37"/>
          <p:cNvSpPr/>
          <p:nvPr/>
        </p:nvSpPr>
        <p:spPr>
          <a:xfrm rot="5400000">
            <a:off x="79569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37"/>
          <p:cNvSpPr/>
          <p:nvPr/>
        </p:nvSpPr>
        <p:spPr>
          <a:xfrm rot="5400000">
            <a:off x="81318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37"/>
          <p:cNvSpPr/>
          <p:nvPr/>
        </p:nvSpPr>
        <p:spPr>
          <a:xfrm rot="5400000">
            <a:off x="83067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37"/>
          <p:cNvSpPr/>
          <p:nvPr/>
        </p:nvSpPr>
        <p:spPr>
          <a:xfrm rot="5400000">
            <a:off x="84816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37"/>
          <p:cNvSpPr/>
          <p:nvPr/>
        </p:nvSpPr>
        <p:spPr>
          <a:xfrm rot="5400000">
            <a:off x="86565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37"/>
          <p:cNvSpPr/>
          <p:nvPr/>
        </p:nvSpPr>
        <p:spPr>
          <a:xfrm rot="5400000">
            <a:off x="7082749" y="683300"/>
            <a:ext cx="435900" cy="5271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37"/>
          <p:cNvSpPr/>
          <p:nvPr/>
        </p:nvSpPr>
        <p:spPr>
          <a:xfrm rot="5400000">
            <a:off x="7169900" y="1205750"/>
            <a:ext cx="435900" cy="7014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37"/>
          <p:cNvSpPr/>
          <p:nvPr/>
        </p:nvSpPr>
        <p:spPr>
          <a:xfrm rot="5400000">
            <a:off x="6383180" y="5108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37"/>
          <p:cNvSpPr/>
          <p:nvPr/>
        </p:nvSpPr>
        <p:spPr>
          <a:xfrm rot="5400000">
            <a:off x="6383180" y="11204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37"/>
          <p:cNvSpPr txBox="1"/>
          <p:nvPr>
            <p:ph idx="1" type="body"/>
          </p:nvPr>
        </p:nvSpPr>
        <p:spPr>
          <a:xfrm>
            <a:off x="107050" y="402200"/>
            <a:ext cx="57291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Remember: The sender does </a:t>
            </a:r>
            <a:r>
              <a:rPr i="1" lang="en"/>
              <a:t>not</a:t>
            </a:r>
            <a:r>
              <a:rPr lang="en"/>
              <a:t> know exactly which packets were acked.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only sees duplicate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</a:t>
            </a:r>
            <a:r>
              <a:rPr i="1" lang="en"/>
              <a:t>does</a:t>
            </a:r>
            <a:r>
              <a:rPr lang="en"/>
              <a:t> know how many packets were acked.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can count duplicate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artificially extended </a:t>
            </a:r>
            <a:r>
              <a:rPr lang="en"/>
              <a:t>window ensures that the total number of packets in flight is still 5 (the new </a:t>
            </a:r>
            <a:r>
              <a:rPr i="1" lang="en"/>
              <a:t>CWND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  Size of extended window</a:t>
            </a:r>
            <a:br>
              <a:rPr lang="en"/>
            </a:br>
            <a:r>
              <a:rPr lang="en"/>
              <a:t>– number of duplicate acks</a:t>
            </a:r>
            <a:br>
              <a:rPr lang="en"/>
            </a:br>
            <a:r>
              <a:rPr lang="en"/>
              <a:t>= 5 (the new </a:t>
            </a:r>
            <a:r>
              <a:rPr i="1" lang="en"/>
              <a:t>CWND</a:t>
            </a:r>
            <a:r>
              <a:rPr lang="en"/>
              <a:t>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8"/>
          <p:cNvSpPr/>
          <p:nvPr/>
        </p:nvSpPr>
        <p:spPr>
          <a:xfrm>
            <a:off x="112250" y="461825"/>
            <a:ext cx="8862900" cy="2433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38"/>
          <p:cNvSpPr/>
          <p:nvPr/>
        </p:nvSpPr>
        <p:spPr>
          <a:xfrm>
            <a:off x="112250" y="2894825"/>
            <a:ext cx="8862900" cy="1556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5" name="Google Shape;1105;p38"/>
          <p:cNvCxnSpPr/>
          <p:nvPr/>
        </p:nvCxnSpPr>
        <p:spPr>
          <a:xfrm>
            <a:off x="89751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6" name="Google Shape;1106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Without Fast Recovery</a:t>
            </a:r>
            <a:endParaRPr/>
          </a:p>
        </p:txBody>
      </p:sp>
      <p:cxnSp>
        <p:nvCxnSpPr>
          <p:cNvPr id="1107" name="Google Shape;1107;p38"/>
          <p:cNvCxnSpPr/>
          <p:nvPr/>
        </p:nvCxnSpPr>
        <p:spPr>
          <a:xfrm>
            <a:off x="5955738" y="560851"/>
            <a:ext cx="1186200" cy="15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38"/>
          <p:cNvCxnSpPr/>
          <p:nvPr/>
        </p:nvCxnSpPr>
        <p:spPr>
          <a:xfrm>
            <a:off x="5955738" y="72606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9" name="Google Shape;1109;p38"/>
          <p:cNvSpPr txBox="1"/>
          <p:nvPr/>
        </p:nvSpPr>
        <p:spPr>
          <a:xfrm>
            <a:off x="7143925" y="610551"/>
            <a:ext cx="15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✗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110" name="Google Shape;1110;p38"/>
          <p:cNvSpPr txBox="1"/>
          <p:nvPr/>
        </p:nvSpPr>
        <p:spPr>
          <a:xfrm>
            <a:off x="5625725" y="450640"/>
            <a:ext cx="298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38"/>
          <p:cNvSpPr txBox="1"/>
          <p:nvPr/>
        </p:nvSpPr>
        <p:spPr>
          <a:xfrm>
            <a:off x="4618867" y="2357053"/>
            <a:ext cx="127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2" name="Google Shape;1112;p38"/>
          <p:cNvCxnSpPr/>
          <p:nvPr/>
        </p:nvCxnSpPr>
        <p:spPr>
          <a:xfrm>
            <a:off x="5955738" y="90516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3" name="Google Shape;1113;p38"/>
          <p:cNvCxnSpPr/>
          <p:nvPr/>
        </p:nvCxnSpPr>
        <p:spPr>
          <a:xfrm>
            <a:off x="5955738" y="1089595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4" name="Google Shape;1114;p38"/>
          <p:cNvCxnSpPr/>
          <p:nvPr/>
        </p:nvCxnSpPr>
        <p:spPr>
          <a:xfrm>
            <a:off x="5955738" y="126869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5" name="Google Shape;1115;p38"/>
          <p:cNvCxnSpPr/>
          <p:nvPr/>
        </p:nvCxnSpPr>
        <p:spPr>
          <a:xfrm>
            <a:off x="5955738" y="1458849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6" name="Google Shape;1116;p38"/>
          <p:cNvCxnSpPr/>
          <p:nvPr/>
        </p:nvCxnSpPr>
        <p:spPr>
          <a:xfrm>
            <a:off x="5955738" y="163794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7" name="Google Shape;1117;p38"/>
          <p:cNvCxnSpPr/>
          <p:nvPr/>
        </p:nvCxnSpPr>
        <p:spPr>
          <a:xfrm>
            <a:off x="5955738" y="20071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8" name="Google Shape;1118;p38"/>
          <p:cNvCxnSpPr/>
          <p:nvPr/>
        </p:nvCxnSpPr>
        <p:spPr>
          <a:xfrm>
            <a:off x="5955738" y="218629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9" name="Google Shape;1119;p38"/>
          <p:cNvCxnSpPr/>
          <p:nvPr/>
        </p:nvCxnSpPr>
        <p:spPr>
          <a:xfrm>
            <a:off x="5955738" y="182011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0" name="Google Shape;1120;p38"/>
          <p:cNvCxnSpPr/>
          <p:nvPr/>
        </p:nvCxnSpPr>
        <p:spPr>
          <a:xfrm>
            <a:off x="59537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38"/>
          <p:cNvCxnSpPr/>
          <p:nvPr/>
        </p:nvCxnSpPr>
        <p:spPr>
          <a:xfrm flipH="1">
            <a:off x="5963238" y="1154433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2" name="Google Shape;1122;p38"/>
          <p:cNvCxnSpPr/>
          <p:nvPr/>
        </p:nvCxnSpPr>
        <p:spPr>
          <a:xfrm flipH="1">
            <a:off x="5963238" y="133886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38"/>
          <p:cNvCxnSpPr/>
          <p:nvPr/>
        </p:nvCxnSpPr>
        <p:spPr>
          <a:xfrm flipH="1">
            <a:off x="5963238" y="1519031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4" name="Google Shape;1124;p38"/>
          <p:cNvCxnSpPr/>
          <p:nvPr/>
        </p:nvCxnSpPr>
        <p:spPr>
          <a:xfrm flipH="1">
            <a:off x="5963238" y="1707054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5" name="Google Shape;1125;p38"/>
          <p:cNvCxnSpPr/>
          <p:nvPr/>
        </p:nvCxnSpPr>
        <p:spPr>
          <a:xfrm flipH="1">
            <a:off x="5963238" y="188439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6" name="Google Shape;1126;p38"/>
          <p:cNvCxnSpPr/>
          <p:nvPr/>
        </p:nvCxnSpPr>
        <p:spPr>
          <a:xfrm flipH="1">
            <a:off x="5963238" y="2068833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7" name="Google Shape;1127;p38"/>
          <p:cNvCxnSpPr/>
          <p:nvPr/>
        </p:nvCxnSpPr>
        <p:spPr>
          <a:xfrm flipH="1">
            <a:off x="5963238" y="2248997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8" name="Google Shape;1128;p38"/>
          <p:cNvCxnSpPr/>
          <p:nvPr/>
        </p:nvCxnSpPr>
        <p:spPr>
          <a:xfrm flipH="1">
            <a:off x="5963238" y="2437019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9" name="Google Shape;1129;p38"/>
          <p:cNvCxnSpPr/>
          <p:nvPr/>
        </p:nvCxnSpPr>
        <p:spPr>
          <a:xfrm flipH="1">
            <a:off x="5963238" y="261931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0" name="Google Shape;1130;p38"/>
          <p:cNvCxnSpPr/>
          <p:nvPr/>
        </p:nvCxnSpPr>
        <p:spPr>
          <a:xfrm>
            <a:off x="5955738" y="28453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" name="Google Shape;1131;p38"/>
          <p:cNvCxnSpPr/>
          <p:nvPr/>
        </p:nvCxnSpPr>
        <p:spPr>
          <a:xfrm flipH="1">
            <a:off x="5963238" y="3263151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2" name="Google Shape;1132;p38"/>
          <p:cNvSpPr txBox="1"/>
          <p:nvPr/>
        </p:nvSpPr>
        <p:spPr>
          <a:xfrm>
            <a:off x="4618867" y="4451111"/>
            <a:ext cx="127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ack(111) from 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3" name="Google Shape;1133;p38"/>
          <p:cNvCxnSpPr/>
          <p:nvPr/>
        </p:nvCxnSpPr>
        <p:spPr>
          <a:xfrm>
            <a:off x="5955738" y="45979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4" name="Google Shape;1134;p38"/>
          <p:cNvSpPr/>
          <p:nvPr/>
        </p:nvSpPr>
        <p:spPr>
          <a:xfrm rot="5400000">
            <a:off x="202725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38"/>
          <p:cNvSpPr/>
          <p:nvPr/>
        </p:nvSpPr>
        <p:spPr>
          <a:xfrm rot="5400000">
            <a:off x="3791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38"/>
          <p:cNvSpPr/>
          <p:nvPr/>
        </p:nvSpPr>
        <p:spPr>
          <a:xfrm rot="5400000">
            <a:off x="5540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38"/>
          <p:cNvSpPr/>
          <p:nvPr/>
        </p:nvSpPr>
        <p:spPr>
          <a:xfrm rot="5400000">
            <a:off x="7289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38"/>
          <p:cNvSpPr/>
          <p:nvPr/>
        </p:nvSpPr>
        <p:spPr>
          <a:xfrm rot="5400000">
            <a:off x="9038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38"/>
          <p:cNvSpPr/>
          <p:nvPr/>
        </p:nvSpPr>
        <p:spPr>
          <a:xfrm rot="5400000">
            <a:off x="10787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38"/>
          <p:cNvSpPr/>
          <p:nvPr/>
        </p:nvSpPr>
        <p:spPr>
          <a:xfrm rot="5400000">
            <a:off x="12536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38"/>
          <p:cNvSpPr/>
          <p:nvPr/>
        </p:nvSpPr>
        <p:spPr>
          <a:xfrm rot="5400000">
            <a:off x="14285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38"/>
          <p:cNvSpPr/>
          <p:nvPr/>
        </p:nvSpPr>
        <p:spPr>
          <a:xfrm rot="5400000">
            <a:off x="16034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38"/>
          <p:cNvSpPr/>
          <p:nvPr/>
        </p:nvSpPr>
        <p:spPr>
          <a:xfrm rot="5400000">
            <a:off x="17783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38"/>
          <p:cNvSpPr/>
          <p:nvPr/>
        </p:nvSpPr>
        <p:spPr>
          <a:xfrm rot="5400000">
            <a:off x="19532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38"/>
          <p:cNvSpPr/>
          <p:nvPr/>
        </p:nvSpPr>
        <p:spPr>
          <a:xfrm rot="5400000">
            <a:off x="21281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38"/>
          <p:cNvSpPr/>
          <p:nvPr/>
        </p:nvSpPr>
        <p:spPr>
          <a:xfrm rot="5400000">
            <a:off x="23030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38"/>
          <p:cNvSpPr/>
          <p:nvPr/>
        </p:nvSpPr>
        <p:spPr>
          <a:xfrm rot="5400000">
            <a:off x="24779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38"/>
          <p:cNvSpPr/>
          <p:nvPr/>
        </p:nvSpPr>
        <p:spPr>
          <a:xfrm rot="5400000">
            <a:off x="26528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38"/>
          <p:cNvSpPr/>
          <p:nvPr/>
        </p:nvSpPr>
        <p:spPr>
          <a:xfrm rot="5400000">
            <a:off x="1341285" y="657900"/>
            <a:ext cx="5580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0" name="Google Shape;1150;p38"/>
          <p:cNvSpPr txBox="1"/>
          <p:nvPr/>
        </p:nvSpPr>
        <p:spPr>
          <a:xfrm>
            <a:off x="394275" y="10115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10. 101–110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1" name="Google Shape;1151;p38"/>
          <p:cNvSpPr/>
          <p:nvPr/>
        </p:nvSpPr>
        <p:spPr>
          <a:xfrm rot="5400000">
            <a:off x="28277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38"/>
          <p:cNvSpPr/>
          <p:nvPr/>
        </p:nvSpPr>
        <p:spPr>
          <a:xfrm rot="5400000">
            <a:off x="30026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38"/>
          <p:cNvSpPr/>
          <p:nvPr/>
        </p:nvSpPr>
        <p:spPr>
          <a:xfrm rot="5400000">
            <a:off x="31775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38"/>
          <p:cNvSpPr/>
          <p:nvPr/>
        </p:nvSpPr>
        <p:spPr>
          <a:xfrm rot="5400000">
            <a:off x="202725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5" name="Google Shape;1155;p38"/>
          <p:cNvSpPr/>
          <p:nvPr/>
        </p:nvSpPr>
        <p:spPr>
          <a:xfrm rot="5400000">
            <a:off x="3791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6" name="Google Shape;1156;p38"/>
          <p:cNvSpPr/>
          <p:nvPr/>
        </p:nvSpPr>
        <p:spPr>
          <a:xfrm rot="5400000">
            <a:off x="5540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7" name="Google Shape;1157;p38"/>
          <p:cNvSpPr/>
          <p:nvPr/>
        </p:nvSpPr>
        <p:spPr>
          <a:xfrm rot="5400000">
            <a:off x="7289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8" name="Google Shape;1158;p38"/>
          <p:cNvSpPr/>
          <p:nvPr/>
        </p:nvSpPr>
        <p:spPr>
          <a:xfrm rot="5400000">
            <a:off x="9038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9" name="Google Shape;1159;p38"/>
          <p:cNvSpPr/>
          <p:nvPr/>
        </p:nvSpPr>
        <p:spPr>
          <a:xfrm rot="5400000">
            <a:off x="10787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0" name="Google Shape;1160;p38"/>
          <p:cNvSpPr/>
          <p:nvPr/>
        </p:nvSpPr>
        <p:spPr>
          <a:xfrm rot="5400000">
            <a:off x="12536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1" name="Google Shape;1161;p38"/>
          <p:cNvSpPr/>
          <p:nvPr/>
        </p:nvSpPr>
        <p:spPr>
          <a:xfrm rot="5400000">
            <a:off x="14285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38"/>
          <p:cNvSpPr/>
          <p:nvPr/>
        </p:nvSpPr>
        <p:spPr>
          <a:xfrm rot="5400000">
            <a:off x="16034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3" name="Google Shape;1163;p38"/>
          <p:cNvSpPr/>
          <p:nvPr/>
        </p:nvSpPr>
        <p:spPr>
          <a:xfrm rot="5400000">
            <a:off x="17783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4" name="Google Shape;1164;p38"/>
          <p:cNvSpPr/>
          <p:nvPr/>
        </p:nvSpPr>
        <p:spPr>
          <a:xfrm rot="5400000">
            <a:off x="19532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38"/>
          <p:cNvSpPr/>
          <p:nvPr/>
        </p:nvSpPr>
        <p:spPr>
          <a:xfrm rot="5400000">
            <a:off x="21281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38"/>
          <p:cNvSpPr/>
          <p:nvPr/>
        </p:nvSpPr>
        <p:spPr>
          <a:xfrm rot="5400000">
            <a:off x="23030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7" name="Google Shape;1167;p38"/>
          <p:cNvSpPr/>
          <p:nvPr/>
        </p:nvSpPr>
        <p:spPr>
          <a:xfrm rot="5400000">
            <a:off x="24779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38"/>
          <p:cNvSpPr/>
          <p:nvPr/>
        </p:nvSpPr>
        <p:spPr>
          <a:xfrm rot="5400000">
            <a:off x="26528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38"/>
          <p:cNvSpPr/>
          <p:nvPr/>
        </p:nvSpPr>
        <p:spPr>
          <a:xfrm rot="5400000">
            <a:off x="28277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38"/>
          <p:cNvSpPr/>
          <p:nvPr/>
        </p:nvSpPr>
        <p:spPr>
          <a:xfrm rot="5400000">
            <a:off x="30026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38"/>
          <p:cNvSpPr/>
          <p:nvPr/>
        </p:nvSpPr>
        <p:spPr>
          <a:xfrm rot="5400000">
            <a:off x="31775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2" name="Google Shape;1172;p38"/>
          <p:cNvSpPr txBox="1"/>
          <p:nvPr/>
        </p:nvSpPr>
        <p:spPr>
          <a:xfrm>
            <a:off x="3781008" y="2720925"/>
            <a:ext cx="87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Resend 101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3" name="Google Shape;1173;p38"/>
          <p:cNvSpPr txBox="1"/>
          <p:nvPr/>
        </p:nvSpPr>
        <p:spPr>
          <a:xfrm>
            <a:off x="394275" y="33737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14. 101–114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4" name="Google Shape;1174;p38"/>
          <p:cNvSpPr txBox="1"/>
          <p:nvPr>
            <p:ph idx="4294967295" type="body"/>
          </p:nvPr>
        </p:nvSpPr>
        <p:spPr>
          <a:xfrm>
            <a:off x="107050" y="4374900"/>
            <a:ext cx="4378500" cy="6429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The sender is now still sending in the blue area!</a:t>
            </a:r>
            <a:endParaRPr sz="1600"/>
          </a:p>
        </p:txBody>
      </p:sp>
      <p:cxnSp>
        <p:nvCxnSpPr>
          <p:cNvPr id="1175" name="Google Shape;1175;p38"/>
          <p:cNvCxnSpPr/>
          <p:nvPr/>
        </p:nvCxnSpPr>
        <p:spPr>
          <a:xfrm>
            <a:off x="5955738" y="3400539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38"/>
          <p:cNvCxnSpPr/>
          <p:nvPr/>
        </p:nvCxnSpPr>
        <p:spPr>
          <a:xfrm>
            <a:off x="5955738" y="3579635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7" name="Google Shape;1177;p38"/>
          <p:cNvCxnSpPr/>
          <p:nvPr/>
        </p:nvCxnSpPr>
        <p:spPr>
          <a:xfrm>
            <a:off x="5955738" y="3769793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8" name="Google Shape;1178;p38"/>
          <p:cNvCxnSpPr/>
          <p:nvPr/>
        </p:nvCxnSpPr>
        <p:spPr>
          <a:xfrm>
            <a:off x="5955738" y="3948889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9" name="Google Shape;1179;p38"/>
          <p:cNvSpPr/>
          <p:nvPr/>
        </p:nvSpPr>
        <p:spPr>
          <a:xfrm rot="5400000">
            <a:off x="2126577" y="3107400"/>
            <a:ext cx="558000" cy="15717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38"/>
          <p:cNvSpPr/>
          <p:nvPr/>
        </p:nvSpPr>
        <p:spPr>
          <a:xfrm rot="5400000">
            <a:off x="904280" y="3457200"/>
            <a:ext cx="5580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39"/>
          <p:cNvSpPr/>
          <p:nvPr/>
        </p:nvSpPr>
        <p:spPr>
          <a:xfrm>
            <a:off x="112250" y="2825225"/>
            <a:ext cx="8862900" cy="2268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6" name="Google Shape;1186;p39"/>
          <p:cNvSpPr/>
          <p:nvPr/>
        </p:nvSpPr>
        <p:spPr>
          <a:xfrm>
            <a:off x="112250" y="461825"/>
            <a:ext cx="8862900" cy="2363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7" name="Google Shape;1187;p39"/>
          <p:cNvCxnSpPr/>
          <p:nvPr/>
        </p:nvCxnSpPr>
        <p:spPr>
          <a:xfrm>
            <a:off x="5962575" y="1572631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8" name="Google Shape;1188;p39"/>
          <p:cNvCxnSpPr/>
          <p:nvPr/>
        </p:nvCxnSpPr>
        <p:spPr>
          <a:xfrm flipH="1">
            <a:off x="5962575" y="498325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9" name="Google Shape;1189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Without Fast Recovery</a:t>
            </a:r>
            <a:endParaRPr/>
          </a:p>
        </p:txBody>
      </p:sp>
      <p:sp>
        <p:nvSpPr>
          <p:cNvPr id="1190" name="Google Shape;1190;p39"/>
          <p:cNvSpPr txBox="1"/>
          <p:nvPr/>
        </p:nvSpPr>
        <p:spPr>
          <a:xfrm>
            <a:off x="4618867" y="1061653"/>
            <a:ext cx="127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1" name="Google Shape;1191;p39"/>
          <p:cNvSpPr/>
          <p:nvPr/>
        </p:nvSpPr>
        <p:spPr>
          <a:xfrm rot="5400000">
            <a:off x="202725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2" name="Google Shape;1192;p39"/>
          <p:cNvSpPr/>
          <p:nvPr/>
        </p:nvSpPr>
        <p:spPr>
          <a:xfrm rot="5400000">
            <a:off x="3791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3" name="Google Shape;1193;p39"/>
          <p:cNvSpPr/>
          <p:nvPr/>
        </p:nvSpPr>
        <p:spPr>
          <a:xfrm rot="5400000">
            <a:off x="5540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39"/>
          <p:cNvSpPr/>
          <p:nvPr/>
        </p:nvSpPr>
        <p:spPr>
          <a:xfrm rot="5400000">
            <a:off x="7289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5" name="Google Shape;1195;p39"/>
          <p:cNvSpPr/>
          <p:nvPr/>
        </p:nvSpPr>
        <p:spPr>
          <a:xfrm rot="5400000">
            <a:off x="9038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6" name="Google Shape;1196;p39"/>
          <p:cNvSpPr/>
          <p:nvPr/>
        </p:nvSpPr>
        <p:spPr>
          <a:xfrm rot="5400000">
            <a:off x="10787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39"/>
          <p:cNvSpPr/>
          <p:nvPr/>
        </p:nvSpPr>
        <p:spPr>
          <a:xfrm rot="5400000">
            <a:off x="12536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39"/>
          <p:cNvSpPr/>
          <p:nvPr/>
        </p:nvSpPr>
        <p:spPr>
          <a:xfrm rot="5400000">
            <a:off x="14285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p39"/>
          <p:cNvSpPr/>
          <p:nvPr/>
        </p:nvSpPr>
        <p:spPr>
          <a:xfrm rot="5400000">
            <a:off x="16034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0" name="Google Shape;1200;p39"/>
          <p:cNvSpPr/>
          <p:nvPr/>
        </p:nvSpPr>
        <p:spPr>
          <a:xfrm rot="5400000">
            <a:off x="17783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39"/>
          <p:cNvSpPr/>
          <p:nvPr/>
        </p:nvSpPr>
        <p:spPr>
          <a:xfrm rot="5400000">
            <a:off x="19532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2" name="Google Shape;1202;p39"/>
          <p:cNvSpPr/>
          <p:nvPr/>
        </p:nvSpPr>
        <p:spPr>
          <a:xfrm rot="5400000">
            <a:off x="21281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3" name="Google Shape;1203;p39"/>
          <p:cNvSpPr/>
          <p:nvPr/>
        </p:nvSpPr>
        <p:spPr>
          <a:xfrm rot="5400000">
            <a:off x="23030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4" name="Google Shape;1204;p39"/>
          <p:cNvSpPr/>
          <p:nvPr/>
        </p:nvSpPr>
        <p:spPr>
          <a:xfrm rot="5400000">
            <a:off x="24779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39"/>
          <p:cNvSpPr/>
          <p:nvPr/>
        </p:nvSpPr>
        <p:spPr>
          <a:xfrm rot="5400000">
            <a:off x="26528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39"/>
          <p:cNvSpPr/>
          <p:nvPr/>
        </p:nvSpPr>
        <p:spPr>
          <a:xfrm rot="5400000">
            <a:off x="904280" y="1399800"/>
            <a:ext cx="5580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39"/>
          <p:cNvSpPr/>
          <p:nvPr/>
        </p:nvSpPr>
        <p:spPr>
          <a:xfrm rot="5400000">
            <a:off x="28277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39"/>
          <p:cNvSpPr/>
          <p:nvPr/>
        </p:nvSpPr>
        <p:spPr>
          <a:xfrm rot="5400000">
            <a:off x="30026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39"/>
          <p:cNvSpPr/>
          <p:nvPr/>
        </p:nvSpPr>
        <p:spPr>
          <a:xfrm rot="5400000">
            <a:off x="31775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0" name="Google Shape;1210;p39"/>
          <p:cNvSpPr txBox="1"/>
          <p:nvPr/>
        </p:nvSpPr>
        <p:spPr>
          <a:xfrm>
            <a:off x="3781008" y="1425525"/>
            <a:ext cx="87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Resend 101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1" name="Google Shape;1211;p39"/>
          <p:cNvSpPr txBox="1"/>
          <p:nvPr/>
        </p:nvSpPr>
        <p:spPr>
          <a:xfrm>
            <a:off x="394275" y="13163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101–105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2" name="Google Shape;1212;p39"/>
          <p:cNvSpPr txBox="1"/>
          <p:nvPr>
            <p:ph idx="4294967295" type="body"/>
          </p:nvPr>
        </p:nvSpPr>
        <p:spPr>
          <a:xfrm>
            <a:off x="107050" y="4109950"/>
            <a:ext cx="5730600" cy="9078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Because we sent 111–114 during the blue area, when the new ack(111) arrives, we only have to send 115.</a:t>
            </a:r>
            <a:br>
              <a:rPr lang="en" sz="1600"/>
            </a:br>
            <a:r>
              <a:rPr lang="en" sz="1600"/>
              <a:t>Also, ack(112) will arrive sooner so we can keep sending.</a:t>
            </a:r>
            <a:endParaRPr sz="1600"/>
          </a:p>
        </p:txBody>
      </p:sp>
      <p:cxnSp>
        <p:nvCxnSpPr>
          <p:cNvPr id="1213" name="Google Shape;1213;p39"/>
          <p:cNvCxnSpPr/>
          <p:nvPr/>
        </p:nvCxnSpPr>
        <p:spPr>
          <a:xfrm flipH="1">
            <a:off x="5962575" y="682760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4" name="Google Shape;1214;p39"/>
          <p:cNvCxnSpPr/>
          <p:nvPr/>
        </p:nvCxnSpPr>
        <p:spPr>
          <a:xfrm flipH="1">
            <a:off x="5962575" y="869715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5" name="Google Shape;1215;p39"/>
          <p:cNvCxnSpPr/>
          <p:nvPr/>
        </p:nvCxnSpPr>
        <p:spPr>
          <a:xfrm flipH="1">
            <a:off x="5962575" y="1054149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6" name="Google Shape;1216;p39"/>
          <p:cNvCxnSpPr/>
          <p:nvPr/>
        </p:nvCxnSpPr>
        <p:spPr>
          <a:xfrm flipH="1">
            <a:off x="5962575" y="1236833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7" name="Google Shape;1217;p39"/>
          <p:cNvCxnSpPr/>
          <p:nvPr/>
        </p:nvCxnSpPr>
        <p:spPr>
          <a:xfrm flipH="1">
            <a:off x="5962575" y="1421268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8" name="Google Shape;1218;p39"/>
          <p:cNvCxnSpPr/>
          <p:nvPr/>
        </p:nvCxnSpPr>
        <p:spPr>
          <a:xfrm flipH="1">
            <a:off x="5962575" y="1598228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9" name="Google Shape;1219;p39"/>
          <p:cNvCxnSpPr/>
          <p:nvPr/>
        </p:nvCxnSpPr>
        <p:spPr>
          <a:xfrm flipH="1">
            <a:off x="5962575" y="1780911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0" name="Google Shape;1220;p39"/>
          <p:cNvCxnSpPr/>
          <p:nvPr/>
        </p:nvCxnSpPr>
        <p:spPr>
          <a:xfrm flipH="1">
            <a:off x="5962575" y="1965346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1" name="Google Shape;1221;p39"/>
          <p:cNvCxnSpPr/>
          <p:nvPr/>
        </p:nvCxnSpPr>
        <p:spPr>
          <a:xfrm>
            <a:off x="89751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39"/>
          <p:cNvCxnSpPr/>
          <p:nvPr/>
        </p:nvCxnSpPr>
        <p:spPr>
          <a:xfrm>
            <a:off x="59537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39"/>
          <p:cNvCxnSpPr/>
          <p:nvPr/>
        </p:nvCxnSpPr>
        <p:spPr>
          <a:xfrm flipH="1">
            <a:off x="5962575" y="2270146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4" name="Google Shape;1224;p39"/>
          <p:cNvSpPr txBox="1"/>
          <p:nvPr/>
        </p:nvSpPr>
        <p:spPr>
          <a:xfrm>
            <a:off x="4618867" y="2825236"/>
            <a:ext cx="127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ack(111) from 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5" name="Google Shape;1225;p39"/>
          <p:cNvSpPr/>
          <p:nvPr/>
        </p:nvSpPr>
        <p:spPr>
          <a:xfrm rot="5400000">
            <a:off x="202725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6" name="Google Shape;1226;p39"/>
          <p:cNvSpPr/>
          <p:nvPr/>
        </p:nvSpPr>
        <p:spPr>
          <a:xfrm rot="5400000">
            <a:off x="3791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7" name="Google Shape;1227;p39"/>
          <p:cNvSpPr/>
          <p:nvPr/>
        </p:nvSpPr>
        <p:spPr>
          <a:xfrm rot="5400000">
            <a:off x="5540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8" name="Google Shape;1228;p39"/>
          <p:cNvSpPr/>
          <p:nvPr/>
        </p:nvSpPr>
        <p:spPr>
          <a:xfrm rot="5400000">
            <a:off x="7289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9" name="Google Shape;1229;p39"/>
          <p:cNvSpPr/>
          <p:nvPr/>
        </p:nvSpPr>
        <p:spPr>
          <a:xfrm rot="5400000">
            <a:off x="9038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0" name="Google Shape;1230;p39"/>
          <p:cNvSpPr/>
          <p:nvPr/>
        </p:nvSpPr>
        <p:spPr>
          <a:xfrm rot="5400000">
            <a:off x="10787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1" name="Google Shape;1231;p39"/>
          <p:cNvSpPr/>
          <p:nvPr/>
        </p:nvSpPr>
        <p:spPr>
          <a:xfrm rot="5400000">
            <a:off x="12536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2" name="Google Shape;1232;p39"/>
          <p:cNvSpPr/>
          <p:nvPr/>
        </p:nvSpPr>
        <p:spPr>
          <a:xfrm rot="5400000">
            <a:off x="14285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3" name="Google Shape;1233;p39"/>
          <p:cNvSpPr/>
          <p:nvPr/>
        </p:nvSpPr>
        <p:spPr>
          <a:xfrm rot="5400000">
            <a:off x="16034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4" name="Google Shape;1234;p39"/>
          <p:cNvSpPr/>
          <p:nvPr/>
        </p:nvSpPr>
        <p:spPr>
          <a:xfrm rot="5400000">
            <a:off x="17783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5" name="Google Shape;1235;p39"/>
          <p:cNvSpPr/>
          <p:nvPr/>
        </p:nvSpPr>
        <p:spPr>
          <a:xfrm rot="5400000">
            <a:off x="19532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6" name="Google Shape;1236;p39"/>
          <p:cNvSpPr/>
          <p:nvPr/>
        </p:nvSpPr>
        <p:spPr>
          <a:xfrm rot="5400000">
            <a:off x="21281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39"/>
          <p:cNvSpPr/>
          <p:nvPr/>
        </p:nvSpPr>
        <p:spPr>
          <a:xfrm rot="5400000">
            <a:off x="23030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39"/>
          <p:cNvSpPr/>
          <p:nvPr/>
        </p:nvSpPr>
        <p:spPr>
          <a:xfrm rot="5400000">
            <a:off x="24779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9" name="Google Shape;1239;p39"/>
          <p:cNvSpPr/>
          <p:nvPr/>
        </p:nvSpPr>
        <p:spPr>
          <a:xfrm rot="5400000">
            <a:off x="26528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39"/>
          <p:cNvSpPr/>
          <p:nvPr/>
        </p:nvSpPr>
        <p:spPr>
          <a:xfrm rot="5400000">
            <a:off x="28277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1" name="Google Shape;1241;p39"/>
          <p:cNvSpPr/>
          <p:nvPr/>
        </p:nvSpPr>
        <p:spPr>
          <a:xfrm rot="5400000">
            <a:off x="30026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39"/>
          <p:cNvSpPr/>
          <p:nvPr/>
        </p:nvSpPr>
        <p:spPr>
          <a:xfrm rot="5400000">
            <a:off x="31775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3" name="Google Shape;1243;p39"/>
          <p:cNvSpPr txBox="1"/>
          <p:nvPr/>
        </p:nvSpPr>
        <p:spPr>
          <a:xfrm>
            <a:off x="394275" y="30689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111–115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4" name="Google Shape;1244;p39"/>
          <p:cNvSpPr/>
          <p:nvPr/>
        </p:nvSpPr>
        <p:spPr>
          <a:xfrm rot="5400000">
            <a:off x="2653418" y="3151950"/>
            <a:ext cx="558000" cy="873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5" name="Google Shape;1245;p39"/>
          <p:cNvCxnSpPr/>
          <p:nvPr/>
        </p:nvCxnSpPr>
        <p:spPr>
          <a:xfrm>
            <a:off x="5962575" y="2132758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6" name="Google Shape;1246;p39"/>
          <p:cNvCxnSpPr/>
          <p:nvPr/>
        </p:nvCxnSpPr>
        <p:spPr>
          <a:xfrm>
            <a:off x="5962575" y="2317193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7" name="Google Shape;1247;p39"/>
          <p:cNvCxnSpPr/>
          <p:nvPr/>
        </p:nvCxnSpPr>
        <p:spPr>
          <a:xfrm>
            <a:off x="5962575" y="2504148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8" name="Google Shape;1248;p39"/>
          <p:cNvCxnSpPr/>
          <p:nvPr/>
        </p:nvCxnSpPr>
        <p:spPr>
          <a:xfrm>
            <a:off x="5962575" y="2688582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9" name="Google Shape;1249;p39"/>
          <p:cNvCxnSpPr/>
          <p:nvPr/>
        </p:nvCxnSpPr>
        <p:spPr>
          <a:xfrm>
            <a:off x="5962575" y="2989433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Recovery: Implementation</a:t>
            </a:r>
            <a:endParaRPr/>
          </a:p>
        </p:txBody>
      </p:sp>
      <p:sp>
        <p:nvSpPr>
          <p:cNvPr id="1255" name="Google Shape;1255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Conceptually: </a:t>
            </a:r>
            <a:r>
              <a:rPr lang="en"/>
              <a:t>When a duplicate ack arrives, </a:t>
            </a:r>
            <a:r>
              <a:rPr i="1" lang="en"/>
              <a:t>artificially extend</a:t>
            </a:r>
            <a:r>
              <a:rPr lang="en"/>
              <a:t> the window to let the sender send one more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Implementation: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receive 3 duplicate acks: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SSTHRESH</a:t>
            </a:r>
            <a:r>
              <a:rPr lang="en"/>
              <a:t> ← </a:t>
            </a:r>
            <a:r>
              <a:rPr i="1" lang="en"/>
              <a:t>CWND</a:t>
            </a:r>
            <a:r>
              <a:rPr lang="en"/>
              <a:t>/2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CWND</a:t>
            </a:r>
            <a:r>
              <a:rPr lang="en"/>
              <a:t> = </a:t>
            </a:r>
            <a:r>
              <a:rPr i="1" lang="en"/>
              <a:t>CWND</a:t>
            </a:r>
            <a:r>
              <a:rPr lang="en"/>
              <a:t>/2 </a:t>
            </a:r>
            <a:r>
              <a:rPr lang="en">
                <a:solidFill>
                  <a:schemeClr val="accent2"/>
                </a:solidFill>
              </a:rPr>
              <a:t>+ 3</a:t>
            </a:r>
            <a:r>
              <a:rPr lang="en"/>
              <a:t> 	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artificially extend for the 3 duplicate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in fast recovery mode, when we receive a duplicate ack: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CWND</a:t>
            </a:r>
            <a:r>
              <a:rPr lang="en"/>
              <a:t> = </a:t>
            </a:r>
            <a:r>
              <a:rPr i="1" lang="en"/>
              <a:t>CWND</a:t>
            </a:r>
            <a:r>
              <a:rPr lang="en"/>
              <a:t> + 1	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artificially extend for each duplicate ack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Exit fast recovery when we receive a new, non-duplicate ack: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CWND</a:t>
            </a:r>
            <a:r>
              <a:rPr lang="en"/>
              <a:t> = </a:t>
            </a:r>
            <a:r>
              <a:rPr i="1" lang="en"/>
              <a:t>SSTHRESH</a:t>
            </a:r>
            <a:r>
              <a:rPr lang="en"/>
              <a:t>	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back to 0.5 × rate when the loss happened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4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Congestion Control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Fast Recovery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State Machine and Variants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TCP Throughput Model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Issues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Router-Assisted Congestion Control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61" name="Google Shape;1261;p4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Machine and Variants</a:t>
            </a:r>
            <a:endParaRPr/>
          </a:p>
        </p:txBody>
      </p:sp>
      <p:sp>
        <p:nvSpPr>
          <p:cNvPr id="1262" name="Google Shape;1262;p4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Together: TCP with Congestion Control</a:t>
            </a:r>
            <a:endParaRPr/>
          </a:p>
        </p:txBody>
      </p:sp>
      <p:sp>
        <p:nvSpPr>
          <p:cNvPr id="1268" name="Google Shape;1268;p4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maintains 5 values: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dupACKcount</a:t>
            </a:r>
            <a:r>
              <a:rPr lang="en"/>
              <a:t> for detecting loss. 			Initialized to 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Timer</a:t>
            </a:r>
            <a:r>
              <a:rPr lang="en"/>
              <a:t> for detecting loss.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RWND</a:t>
            </a:r>
            <a:r>
              <a:rPr lang="en"/>
              <a:t> for flow control.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CWND</a:t>
            </a:r>
            <a:r>
              <a:rPr lang="en"/>
              <a:t> for congestion control. 				Initialized to 1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SSTHRESH</a:t>
            </a:r>
            <a:r>
              <a:rPr lang="en"/>
              <a:t> to remember latest safe rate.		Initialized to ∞.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recipient maintains a buffer of out-of-order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responds to 3 events: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for new data (not previously acked).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Duplicate ack.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Timeout.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recipient responds to receiving a packet: Reply with an ack and a </a:t>
            </a:r>
            <a:r>
              <a:rPr i="1" lang="en"/>
              <a:t>RWND</a:t>
            </a:r>
            <a:r>
              <a:rPr lang="en"/>
              <a:t> value.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Together: TCP with Congestion Control</a:t>
            </a:r>
            <a:endParaRPr/>
          </a:p>
        </p:txBody>
      </p:sp>
      <p:sp>
        <p:nvSpPr>
          <p:cNvPr id="1274" name="Google Shape;1274;p4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Events at sender: </a:t>
            </a:r>
            <a:r>
              <a:rPr b="1" lang="en">
                <a:solidFill>
                  <a:schemeClr val="accent3"/>
                </a:solidFill>
              </a:rPr>
              <a:t>new ack</a:t>
            </a:r>
            <a:r>
              <a:rPr lang="en">
                <a:solidFill>
                  <a:srgbClr val="B7B7B7"/>
                </a:solidFill>
              </a:rPr>
              <a:t>, duplicate ack, timeout.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receive an ack for new data (not previously acked):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in slow-start mode: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CWND</a:t>
            </a:r>
            <a:r>
              <a:rPr lang="en"/>
              <a:t> ← </a:t>
            </a:r>
            <a:r>
              <a:rPr i="1" lang="en"/>
              <a:t>CWND</a:t>
            </a:r>
            <a:r>
              <a:rPr lang="en"/>
              <a:t> + 1 packet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so CWND doubles per RTT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in fast recovery mode: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CWND</a:t>
            </a:r>
            <a:r>
              <a:rPr lang="en"/>
              <a:t> ← </a:t>
            </a:r>
            <a:r>
              <a:rPr i="1" lang="en"/>
              <a:t>SSTHRESH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so we leave fast recovery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in congestion avoidance mode: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CWND</a:t>
            </a:r>
            <a:r>
              <a:rPr lang="en"/>
              <a:t> ← </a:t>
            </a:r>
            <a:r>
              <a:rPr i="1" lang="en"/>
              <a:t>CWND</a:t>
            </a:r>
            <a:r>
              <a:rPr lang="en"/>
              <a:t> + 1/</a:t>
            </a:r>
            <a:r>
              <a:rPr i="1" lang="en"/>
              <a:t>CWND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so CWND increases by 1 per RTT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Reset timer.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Reset duplicate ack count.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window allows, send new data.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Together: TCP with Congestion Control</a:t>
            </a:r>
            <a:endParaRPr/>
          </a:p>
        </p:txBody>
      </p:sp>
      <p:sp>
        <p:nvSpPr>
          <p:cNvPr id="1280" name="Google Shape;1280;p4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Events at sender: </a:t>
            </a:r>
            <a:r>
              <a:rPr lang="en">
                <a:solidFill>
                  <a:srgbClr val="B7B7B7"/>
                </a:solidFill>
              </a:rPr>
              <a:t>new ack, </a:t>
            </a:r>
            <a:r>
              <a:rPr b="1" lang="en">
                <a:solidFill>
                  <a:schemeClr val="accent3"/>
                </a:solidFill>
              </a:rPr>
              <a:t>duplicate </a:t>
            </a:r>
            <a:r>
              <a:rPr b="1" lang="en">
                <a:solidFill>
                  <a:schemeClr val="accent3"/>
                </a:solidFill>
              </a:rPr>
              <a:t>ack</a:t>
            </a:r>
            <a:r>
              <a:rPr lang="en">
                <a:solidFill>
                  <a:srgbClr val="B7B7B7"/>
                </a:solidFill>
              </a:rPr>
              <a:t>, timeout.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receive a </a:t>
            </a:r>
            <a:r>
              <a:rPr lang="en"/>
              <a:t>duplicate</a:t>
            </a:r>
            <a:r>
              <a:rPr lang="en"/>
              <a:t> ack: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Increment duplicate ack count.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</a:t>
            </a:r>
            <a:r>
              <a:rPr i="1" lang="en"/>
              <a:t>dupACKcount</a:t>
            </a:r>
            <a:r>
              <a:rPr lang="en"/>
              <a:t> = 3: Do fast retransmit.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SSTHRESH</a:t>
            </a:r>
            <a:r>
              <a:rPr lang="en"/>
              <a:t> ← </a:t>
            </a:r>
            <a:r>
              <a:rPr i="1" lang="en"/>
              <a:t>CWND</a:t>
            </a:r>
            <a:r>
              <a:rPr lang="en"/>
              <a:t> /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CWND</a:t>
            </a:r>
            <a:r>
              <a:rPr lang="en"/>
              <a:t> ← (</a:t>
            </a:r>
            <a:r>
              <a:rPr i="1" lang="en"/>
              <a:t>CWND</a:t>
            </a:r>
            <a:r>
              <a:rPr lang="en"/>
              <a:t> / 2) + 3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+3 is for fast recovery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Resend leftmost packet in window.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i="1" lang="en">
                <a:solidFill>
                  <a:srgbClr val="000000"/>
                </a:solidFill>
              </a:rPr>
              <a:t>dupACKcount</a:t>
            </a:r>
            <a:r>
              <a:rPr lang="en">
                <a:solidFill>
                  <a:srgbClr val="000000"/>
                </a:solidFill>
              </a:rPr>
              <a:t> &gt; 3: Do fast recovery.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</a:rPr>
              <a:t>CWND</a:t>
            </a:r>
            <a:r>
              <a:rPr lang="en">
                <a:solidFill>
                  <a:srgbClr val="000000"/>
                </a:solidFill>
              </a:rPr>
              <a:t> ← </a:t>
            </a:r>
            <a:r>
              <a:rPr i="1" lang="en">
                <a:solidFill>
                  <a:srgbClr val="000000"/>
                </a:solidFill>
              </a:rPr>
              <a:t>CWND</a:t>
            </a:r>
            <a:r>
              <a:rPr lang="en">
                <a:solidFill>
                  <a:srgbClr val="000000"/>
                </a:solidFill>
              </a:rPr>
              <a:t> + 1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Together: TCP with Congestion Control</a:t>
            </a:r>
            <a:endParaRPr/>
          </a:p>
        </p:txBody>
      </p:sp>
      <p:sp>
        <p:nvSpPr>
          <p:cNvPr id="1286" name="Google Shape;1286;p4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Events at sender: </a:t>
            </a:r>
            <a:r>
              <a:rPr lang="en">
                <a:solidFill>
                  <a:srgbClr val="B7B7B7"/>
                </a:solidFill>
              </a:rPr>
              <a:t>new ack, duplicate ack, </a:t>
            </a:r>
            <a:r>
              <a:rPr b="1" lang="en">
                <a:solidFill>
                  <a:schemeClr val="accent3"/>
                </a:solidFill>
              </a:rPr>
              <a:t>timeout.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the timer expires: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SSTHRESH</a:t>
            </a:r>
            <a:r>
              <a:rPr lang="en"/>
              <a:t> ← </a:t>
            </a:r>
            <a:r>
              <a:rPr i="1" lang="en"/>
              <a:t>CWND</a:t>
            </a:r>
            <a:r>
              <a:rPr lang="en"/>
              <a:t> /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CWND</a:t>
            </a:r>
            <a:r>
              <a:rPr lang="en"/>
              <a:t> ← 1 packet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Switch to slow-start mode.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Resend leftmost packet in window.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</a:t>
            </a:r>
            <a:r>
              <a:rPr lang="en"/>
              <a:t>Congestion Control State Machine</a:t>
            </a:r>
            <a:endParaRPr/>
          </a:p>
        </p:txBody>
      </p:sp>
      <p:sp>
        <p:nvSpPr>
          <p:cNvPr id="1292" name="Google Shape;1292;p46"/>
          <p:cNvSpPr/>
          <p:nvPr/>
        </p:nvSpPr>
        <p:spPr>
          <a:xfrm>
            <a:off x="6021550" y="940650"/>
            <a:ext cx="1563600" cy="15636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Congestion Avoidance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3" name="Google Shape;1293;p46"/>
          <p:cNvSpPr/>
          <p:nvPr/>
        </p:nvSpPr>
        <p:spPr>
          <a:xfrm>
            <a:off x="3790175" y="3196450"/>
            <a:ext cx="1563600" cy="15636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Fast Recovery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4" name="Google Shape;1294;p46"/>
          <p:cNvSpPr/>
          <p:nvPr/>
        </p:nvSpPr>
        <p:spPr>
          <a:xfrm>
            <a:off x="1323581" y="793458"/>
            <a:ext cx="662750" cy="551875"/>
          </a:xfrm>
          <a:custGeom>
            <a:rect b="b" l="l" r="r" t="t"/>
            <a:pathLst>
              <a:path extrusionOk="0" h="22075" w="26510">
                <a:moveTo>
                  <a:pt x="26511" y="9591"/>
                </a:moveTo>
                <a:cubicBezTo>
                  <a:pt x="22134" y="8048"/>
                  <a:pt x="2403" y="-1746"/>
                  <a:pt x="250" y="335"/>
                </a:cubicBezTo>
                <a:cubicBezTo>
                  <a:pt x="-1902" y="2416"/>
                  <a:pt x="11372" y="18453"/>
                  <a:pt x="13596" y="22076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95" name="Google Shape;1295;p46"/>
          <p:cNvSpPr/>
          <p:nvPr/>
        </p:nvSpPr>
        <p:spPr>
          <a:xfrm rot="-2700000">
            <a:off x="1059880" y="1446511"/>
            <a:ext cx="662744" cy="551870"/>
          </a:xfrm>
          <a:custGeom>
            <a:rect b="b" l="l" r="r" t="t"/>
            <a:pathLst>
              <a:path extrusionOk="0" h="22075" w="26510">
                <a:moveTo>
                  <a:pt x="26511" y="9591"/>
                </a:moveTo>
                <a:cubicBezTo>
                  <a:pt x="22134" y="8048"/>
                  <a:pt x="2403" y="-1746"/>
                  <a:pt x="250" y="335"/>
                </a:cubicBezTo>
                <a:cubicBezTo>
                  <a:pt x="-1902" y="2416"/>
                  <a:pt x="11372" y="18453"/>
                  <a:pt x="13596" y="22076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96" name="Google Shape;1296;p46"/>
          <p:cNvSpPr/>
          <p:nvPr/>
        </p:nvSpPr>
        <p:spPr>
          <a:xfrm flipH="1" rot="10800000">
            <a:off x="1323581" y="2111245"/>
            <a:ext cx="662750" cy="551875"/>
          </a:xfrm>
          <a:custGeom>
            <a:rect b="b" l="l" r="r" t="t"/>
            <a:pathLst>
              <a:path extrusionOk="0" h="22075" w="26510">
                <a:moveTo>
                  <a:pt x="26511" y="9591"/>
                </a:moveTo>
                <a:cubicBezTo>
                  <a:pt x="22134" y="8048"/>
                  <a:pt x="2403" y="-1746"/>
                  <a:pt x="250" y="335"/>
                </a:cubicBezTo>
                <a:cubicBezTo>
                  <a:pt x="-1902" y="2416"/>
                  <a:pt x="11372" y="18453"/>
                  <a:pt x="13596" y="22076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97" name="Google Shape;1297;p46"/>
          <p:cNvSpPr/>
          <p:nvPr/>
        </p:nvSpPr>
        <p:spPr>
          <a:xfrm>
            <a:off x="1558825" y="940650"/>
            <a:ext cx="1563600" cy="15636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Slow Start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8" name="Google Shape;1298;p46"/>
          <p:cNvSpPr/>
          <p:nvPr/>
        </p:nvSpPr>
        <p:spPr>
          <a:xfrm flipH="1">
            <a:off x="7164074" y="793458"/>
            <a:ext cx="662750" cy="551875"/>
          </a:xfrm>
          <a:custGeom>
            <a:rect b="b" l="l" r="r" t="t"/>
            <a:pathLst>
              <a:path extrusionOk="0" h="22075" w="26510">
                <a:moveTo>
                  <a:pt x="26511" y="9591"/>
                </a:moveTo>
                <a:cubicBezTo>
                  <a:pt x="22134" y="8048"/>
                  <a:pt x="2403" y="-1746"/>
                  <a:pt x="250" y="335"/>
                </a:cubicBezTo>
                <a:cubicBezTo>
                  <a:pt x="-1902" y="2416"/>
                  <a:pt x="11372" y="18453"/>
                  <a:pt x="13596" y="22076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99" name="Google Shape;1299;p46"/>
          <p:cNvSpPr/>
          <p:nvPr/>
        </p:nvSpPr>
        <p:spPr>
          <a:xfrm rot="10800000">
            <a:off x="7164074" y="2111245"/>
            <a:ext cx="662750" cy="551875"/>
          </a:xfrm>
          <a:custGeom>
            <a:rect b="b" l="l" r="r" t="t"/>
            <a:pathLst>
              <a:path extrusionOk="0" h="22075" w="26510">
                <a:moveTo>
                  <a:pt x="26511" y="9591"/>
                </a:moveTo>
                <a:cubicBezTo>
                  <a:pt x="22134" y="8048"/>
                  <a:pt x="2403" y="-1746"/>
                  <a:pt x="250" y="335"/>
                </a:cubicBezTo>
                <a:cubicBezTo>
                  <a:pt x="-1902" y="2416"/>
                  <a:pt x="11372" y="18453"/>
                  <a:pt x="13596" y="22076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00" name="Google Shape;1300;p46"/>
          <p:cNvSpPr/>
          <p:nvPr/>
        </p:nvSpPr>
        <p:spPr>
          <a:xfrm rot="-2700000">
            <a:off x="3293418" y="3702311"/>
            <a:ext cx="662744" cy="551870"/>
          </a:xfrm>
          <a:custGeom>
            <a:rect b="b" l="l" r="r" t="t"/>
            <a:pathLst>
              <a:path extrusionOk="0" h="22075" w="26510">
                <a:moveTo>
                  <a:pt x="26511" y="9591"/>
                </a:moveTo>
                <a:cubicBezTo>
                  <a:pt x="22134" y="8048"/>
                  <a:pt x="2403" y="-1746"/>
                  <a:pt x="250" y="335"/>
                </a:cubicBezTo>
                <a:cubicBezTo>
                  <a:pt x="-1902" y="2416"/>
                  <a:pt x="11372" y="18453"/>
                  <a:pt x="13596" y="22076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cxnSp>
        <p:nvCxnSpPr>
          <p:cNvPr id="1301" name="Google Shape;1301;p46"/>
          <p:cNvCxnSpPr/>
          <p:nvPr/>
        </p:nvCxnSpPr>
        <p:spPr>
          <a:xfrm rot="10800000">
            <a:off x="3016825" y="2118300"/>
            <a:ext cx="1179000" cy="117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2" name="Google Shape;1302;p46"/>
          <p:cNvCxnSpPr/>
          <p:nvPr/>
        </p:nvCxnSpPr>
        <p:spPr>
          <a:xfrm rot="10800000">
            <a:off x="2703625" y="2414700"/>
            <a:ext cx="1187400" cy="118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03" name="Google Shape;1303;p46"/>
          <p:cNvCxnSpPr/>
          <p:nvPr/>
        </p:nvCxnSpPr>
        <p:spPr>
          <a:xfrm flipH="1" rot="10800000">
            <a:off x="4957337" y="2127233"/>
            <a:ext cx="1179000" cy="117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4" name="Google Shape;1304;p46"/>
          <p:cNvCxnSpPr/>
          <p:nvPr/>
        </p:nvCxnSpPr>
        <p:spPr>
          <a:xfrm flipH="1" rot="10800000">
            <a:off x="5262137" y="2423633"/>
            <a:ext cx="1187400" cy="118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05" name="Google Shape;1305;p46"/>
          <p:cNvSpPr txBox="1"/>
          <p:nvPr/>
        </p:nvSpPr>
        <p:spPr>
          <a:xfrm>
            <a:off x="1635025" y="604725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Timeout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6" name="Google Shape;1306;p46"/>
          <p:cNvSpPr txBox="1"/>
          <p:nvPr/>
        </p:nvSpPr>
        <p:spPr>
          <a:xfrm>
            <a:off x="530375" y="1345325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Dup ack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7" name="Google Shape;1307;p46"/>
          <p:cNvSpPr txBox="1"/>
          <p:nvPr/>
        </p:nvSpPr>
        <p:spPr>
          <a:xfrm>
            <a:off x="599875" y="2264038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 ack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46"/>
          <p:cNvSpPr txBox="1"/>
          <p:nvPr/>
        </p:nvSpPr>
        <p:spPr>
          <a:xfrm>
            <a:off x="2126425" y="2885250"/>
            <a:ext cx="99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Dup ack x3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46"/>
          <p:cNvSpPr txBox="1"/>
          <p:nvPr/>
        </p:nvSpPr>
        <p:spPr>
          <a:xfrm>
            <a:off x="6021550" y="2885250"/>
            <a:ext cx="99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Dup ack x3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46"/>
          <p:cNvSpPr txBox="1"/>
          <p:nvPr/>
        </p:nvSpPr>
        <p:spPr>
          <a:xfrm>
            <a:off x="3643275" y="2504250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Timeout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46"/>
          <p:cNvSpPr txBox="1"/>
          <p:nvPr/>
        </p:nvSpPr>
        <p:spPr>
          <a:xfrm>
            <a:off x="4733800" y="2504250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 ack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2" name="Google Shape;1312;p46"/>
          <p:cNvSpPr txBox="1"/>
          <p:nvPr/>
        </p:nvSpPr>
        <p:spPr>
          <a:xfrm>
            <a:off x="7820625" y="2264038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Dup ack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3" name="Google Shape;1313;p46"/>
          <p:cNvSpPr txBox="1"/>
          <p:nvPr/>
        </p:nvSpPr>
        <p:spPr>
          <a:xfrm>
            <a:off x="7820625" y="946238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 ack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4" name="Google Shape;1314;p46"/>
          <p:cNvSpPr txBox="1"/>
          <p:nvPr/>
        </p:nvSpPr>
        <p:spPr>
          <a:xfrm>
            <a:off x="2428225" y="3855088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Dup ack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5" name="Google Shape;1315;p46"/>
          <p:cNvSpPr txBox="1"/>
          <p:nvPr/>
        </p:nvSpPr>
        <p:spPr>
          <a:xfrm>
            <a:off x="3746775" y="1325775"/>
            <a:ext cx="1839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&gt;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SSTHRESH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6" name="Google Shape;1316;p46"/>
          <p:cNvSpPr txBox="1"/>
          <p:nvPr/>
        </p:nvSpPr>
        <p:spPr>
          <a:xfrm>
            <a:off x="4270125" y="1877888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Timeout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7" name="Google Shape;1317;p46"/>
          <p:cNvCxnSpPr/>
          <p:nvPr/>
        </p:nvCxnSpPr>
        <p:spPr>
          <a:xfrm>
            <a:off x="3102950" y="1570050"/>
            <a:ext cx="2937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8" name="Google Shape;1318;p46"/>
          <p:cNvCxnSpPr/>
          <p:nvPr/>
        </p:nvCxnSpPr>
        <p:spPr>
          <a:xfrm>
            <a:off x="3102950" y="1874850"/>
            <a:ext cx="2937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Congestion Control Variants</a:t>
            </a:r>
            <a:endParaRPr/>
          </a:p>
        </p:txBody>
      </p:sp>
      <p:sp>
        <p:nvSpPr>
          <p:cNvPr id="1324" name="Google Shape;1324;p4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Tahoe: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CWND</a:t>
            </a:r>
            <a:r>
              <a:rPr lang="en"/>
              <a:t> = 1 after triple duplicate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Reno: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CWND</a:t>
            </a:r>
            <a:r>
              <a:rPr lang="en"/>
              <a:t> = 1 on timeout.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CWND</a:t>
            </a:r>
            <a:r>
              <a:rPr lang="en"/>
              <a:t> = </a:t>
            </a:r>
            <a:r>
              <a:rPr i="1" lang="en"/>
              <a:t>CWND</a:t>
            </a:r>
            <a:r>
              <a:rPr lang="en"/>
              <a:t> / 2 after triple duplicate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New Reno: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Reno + improved fast recovery.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TCP-SACK: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Adds selective acknowledgements.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Acks describe byte ranges received.</a:t>
            </a:r>
            <a:endParaRPr/>
          </a:p>
        </p:txBody>
      </p:sp>
      <p:cxnSp>
        <p:nvCxnSpPr>
          <p:cNvPr id="1325" name="Google Shape;1325;p47"/>
          <p:cNvCxnSpPr/>
          <p:nvPr/>
        </p:nvCxnSpPr>
        <p:spPr>
          <a:xfrm rot="10800000">
            <a:off x="4419650" y="2978050"/>
            <a:ext cx="1065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6" name="Google Shape;1326;p47"/>
          <p:cNvSpPr txBox="1"/>
          <p:nvPr/>
        </p:nvSpPr>
        <p:spPr>
          <a:xfrm>
            <a:off x="5484950" y="2811850"/>
            <a:ext cx="2829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Unless otherwise specified, we're using this one.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Interoperability Between TCP Congestion Control Variants</a:t>
            </a:r>
            <a:endParaRPr/>
          </a:p>
        </p:txBody>
      </p:sp>
      <p:sp>
        <p:nvSpPr>
          <p:cNvPr id="1332" name="Google Shape;1332;p4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can all these variants co-exist? Don't we need a single, uniform standard?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Congestion </a:t>
            </a:r>
            <a:r>
              <a:rPr lang="en"/>
              <a:t>control</a:t>
            </a:r>
            <a:r>
              <a:rPr lang="en"/>
              <a:t> is implemented at the sender.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can run whatever code they want.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happens if I use Reno, you use Tahoe, and we try to communicate?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should work fine. The variants change the rate we send data, but the packet format is the same.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happens if I use Tahoe, and you use SACK?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You're expecting selective acks, and I'm only providing cumulative acks.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4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Fast Recovery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State Machine and Variants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TCP Throughput Model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Issues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Router-Assisted Congestion Control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338" name="Google Shape;1338;p4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Throughput Model</a:t>
            </a:r>
            <a:endParaRPr/>
          </a:p>
        </p:txBody>
      </p:sp>
      <p:sp>
        <p:nvSpPr>
          <p:cNvPr id="1339" name="Google Shape;1339;p4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Goal: The TCP Throughput Equation</a:t>
            </a:r>
            <a:endParaRPr/>
          </a:p>
        </p:txBody>
      </p:sp>
      <p:sp>
        <p:nvSpPr>
          <p:cNvPr id="1345" name="Google Shape;1345;p5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Given a path through the network, what TCP throughput can we expect?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congestion </a:t>
            </a:r>
            <a:r>
              <a:rPr lang="en"/>
              <a:t>control</a:t>
            </a:r>
            <a:r>
              <a:rPr lang="en"/>
              <a:t> algorithm told us </a:t>
            </a:r>
            <a:r>
              <a:rPr i="1" lang="en"/>
              <a:t>how</a:t>
            </a:r>
            <a:r>
              <a:rPr lang="en"/>
              <a:t> to adjust rates.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it didn't tell us </a:t>
            </a:r>
            <a:r>
              <a:rPr i="1" lang="en"/>
              <a:t>what</a:t>
            </a:r>
            <a:r>
              <a:rPr lang="en"/>
              <a:t> the actual rates are.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derive a simple model that expressed TCP throughput in terms of path properties: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p</a:t>
            </a:r>
            <a:r>
              <a:rPr lang="en"/>
              <a:t>, the packet loss rate.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Throughput Equation: Simplifying Assumptions</a:t>
            </a:r>
            <a:endParaRPr/>
          </a:p>
        </p:txBody>
      </p:sp>
      <p:sp>
        <p:nvSpPr>
          <p:cNvPr id="1351" name="Google Shape;1351;p5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Simplifying 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a single TCP connection.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Ignore the slow-start phase.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assume a single, non-changing path through the network: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RTT is some fixed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Bottleneck bandwidth is some fixed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Therefore: RTT × bandwidth =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(a constant value).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the window size exceeds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, we lose exactly one packet.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Loss detected by duplicate acks. No timeouts.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Throughput in Terms of Window Size</a:t>
            </a:r>
            <a:endParaRPr/>
          </a:p>
        </p:txBody>
      </p:sp>
      <p:sp>
        <p:nvSpPr>
          <p:cNvPr id="1357" name="Google Shape;1357;p5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From our assumptions: We lose a packet when </a:t>
            </a:r>
            <a:r>
              <a:rPr i="1" lang="en"/>
              <a:t>CWND</a:t>
            </a:r>
            <a:r>
              <a:rPr lang="en"/>
              <a:t> reaches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Window size changing over time: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detecting loss:		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RTT later:			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+ 1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RTTs later:			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+ 2</a:t>
            </a:r>
            <a:br>
              <a:rPr lang="en"/>
            </a:br>
            <a:r>
              <a:rPr lang="en"/>
              <a:t>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RTTs later:	</a:t>
            </a:r>
            <a:r>
              <a:rPr i="1" lang="en"/>
              <a:t>W</a:t>
            </a:r>
            <a:r>
              <a:rPr lang="en" sz="1200"/>
              <a:t>max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detecting loss:		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RTT later:			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+ 1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RTTs later:			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+ 2</a:t>
            </a:r>
            <a:br>
              <a:rPr lang="en"/>
            </a:br>
            <a:r>
              <a:rPr lang="en"/>
              <a:t>...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TCP Throughput in Terms of Window Size</a:t>
            </a:r>
            <a:endParaRPr/>
          </a:p>
        </p:txBody>
      </p:sp>
      <p:sp>
        <p:nvSpPr>
          <p:cNvPr id="1363" name="Google Shape;1363;p53"/>
          <p:cNvSpPr txBox="1"/>
          <p:nvPr>
            <p:ph idx="1" type="body"/>
          </p:nvPr>
        </p:nvSpPr>
        <p:spPr>
          <a:xfrm>
            <a:off x="107050" y="402200"/>
            <a:ext cx="8909700" cy="20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Window size changing over time: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 linearly from </a:t>
            </a:r>
            <a:r>
              <a:rPr lang="en"/>
              <a:t>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to </a:t>
            </a:r>
            <a:r>
              <a:rPr lang="en"/>
              <a:t>(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Drop back down to </a:t>
            </a:r>
            <a:r>
              <a:rPr lang="en"/>
              <a:t>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Repeat.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Average window size is 3/4</a:t>
            </a:r>
            <a:r>
              <a:rPr lang="en"/>
              <a:t>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.</a:t>
            </a:r>
            <a:endParaRPr/>
          </a:p>
        </p:txBody>
      </p:sp>
      <p:cxnSp>
        <p:nvCxnSpPr>
          <p:cNvPr id="1364" name="Google Shape;1364;p53"/>
          <p:cNvCxnSpPr/>
          <p:nvPr/>
        </p:nvCxnSpPr>
        <p:spPr>
          <a:xfrm>
            <a:off x="545575" y="269347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5" name="Google Shape;1365;p53"/>
          <p:cNvCxnSpPr/>
          <p:nvPr/>
        </p:nvCxnSpPr>
        <p:spPr>
          <a:xfrm>
            <a:off x="545663" y="36124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6" name="Google Shape;1366;p53"/>
          <p:cNvSpPr txBox="1"/>
          <p:nvPr>
            <p:ph idx="1" type="body"/>
          </p:nvPr>
        </p:nvSpPr>
        <p:spPr>
          <a:xfrm>
            <a:off x="7994675" y="2299872"/>
            <a:ext cx="6036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W</a:t>
            </a:r>
            <a:r>
              <a:rPr lang="en" sz="1200"/>
              <a:t>max</a:t>
            </a:r>
            <a:endParaRPr sz="1600"/>
          </a:p>
        </p:txBody>
      </p:sp>
      <p:sp>
        <p:nvSpPr>
          <p:cNvPr id="1367" name="Google Shape;1367;p53"/>
          <p:cNvSpPr txBox="1"/>
          <p:nvPr>
            <p:ph idx="1" type="body"/>
          </p:nvPr>
        </p:nvSpPr>
        <p:spPr>
          <a:xfrm>
            <a:off x="7477838" y="3218828"/>
            <a:ext cx="11205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0.5 × </a:t>
            </a:r>
            <a:r>
              <a:rPr i="1" lang="en"/>
              <a:t>W</a:t>
            </a:r>
            <a:r>
              <a:rPr lang="en" sz="1200"/>
              <a:t>max</a:t>
            </a:r>
            <a:endParaRPr sz="1600"/>
          </a:p>
        </p:txBody>
      </p:sp>
      <p:cxnSp>
        <p:nvCxnSpPr>
          <p:cNvPr id="1368" name="Google Shape;1368;p53"/>
          <p:cNvCxnSpPr/>
          <p:nvPr/>
        </p:nvCxnSpPr>
        <p:spPr>
          <a:xfrm>
            <a:off x="545575" y="3155225"/>
            <a:ext cx="80526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69" name="Google Shape;1369;p53"/>
          <p:cNvSpPr txBox="1"/>
          <p:nvPr>
            <p:ph idx="1" type="body"/>
          </p:nvPr>
        </p:nvSpPr>
        <p:spPr>
          <a:xfrm>
            <a:off x="6433625" y="2761625"/>
            <a:ext cx="21648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Average: 3/4</a:t>
            </a:r>
            <a:r>
              <a:rPr lang="en">
                <a:solidFill>
                  <a:schemeClr val="accent2"/>
                </a:solidFill>
              </a:rPr>
              <a:t> × </a:t>
            </a:r>
            <a:r>
              <a:rPr i="1" lang="en">
                <a:solidFill>
                  <a:schemeClr val="accent2"/>
                </a:solidFill>
              </a:rPr>
              <a:t>W</a:t>
            </a:r>
            <a:r>
              <a:rPr lang="en" sz="1200">
                <a:solidFill>
                  <a:schemeClr val="accent2"/>
                </a:solidFill>
              </a:rPr>
              <a:t>max</a:t>
            </a:r>
            <a:endParaRPr sz="1600">
              <a:solidFill>
                <a:schemeClr val="accent2"/>
              </a:solidFill>
            </a:endParaRPr>
          </a:p>
        </p:txBody>
      </p:sp>
      <p:cxnSp>
        <p:nvCxnSpPr>
          <p:cNvPr id="1370" name="Google Shape;1370;p53"/>
          <p:cNvCxnSpPr/>
          <p:nvPr/>
        </p:nvCxnSpPr>
        <p:spPr>
          <a:xfrm>
            <a:off x="545663" y="45268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53"/>
          <p:cNvSpPr/>
          <p:nvPr/>
        </p:nvSpPr>
        <p:spPr>
          <a:xfrm>
            <a:off x="576550" y="2709000"/>
            <a:ext cx="4780600" cy="891651"/>
          </a:xfrm>
          <a:custGeom>
            <a:rect b="b" l="l" r="r" t="t"/>
            <a:pathLst>
              <a:path extrusionOk="0" h="36887" w="191224">
                <a:moveTo>
                  <a:pt x="0" y="36840"/>
                </a:moveTo>
                <a:lnTo>
                  <a:pt x="63720" y="51"/>
                </a:lnTo>
                <a:lnTo>
                  <a:pt x="63720" y="36792"/>
                </a:lnTo>
                <a:lnTo>
                  <a:pt x="127334" y="65"/>
                </a:lnTo>
                <a:lnTo>
                  <a:pt x="127334" y="36887"/>
                </a:lnTo>
                <a:lnTo>
                  <a:pt x="191224" y="0"/>
                </a:lnTo>
                <a:lnTo>
                  <a:pt x="191224" y="36887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372" name="Google Shape;1372;p53"/>
          <p:cNvCxnSpPr/>
          <p:nvPr/>
        </p:nvCxnSpPr>
        <p:spPr>
          <a:xfrm flipH="1" rot="10800000">
            <a:off x="323225" y="34280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3" name="Google Shape;1373;p53"/>
          <p:cNvCxnSpPr/>
          <p:nvPr/>
        </p:nvCxnSpPr>
        <p:spPr>
          <a:xfrm flipH="1" rot="-5400000">
            <a:off x="993986" y="41138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4" name="Google Shape;1374;p53"/>
          <p:cNvSpPr txBox="1"/>
          <p:nvPr>
            <p:ph idx="1" type="body"/>
          </p:nvPr>
        </p:nvSpPr>
        <p:spPr>
          <a:xfrm>
            <a:off x="316425" y="4799625"/>
            <a:ext cx="666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Time</a:t>
            </a:r>
            <a:endParaRPr sz="1400"/>
          </a:p>
        </p:txBody>
      </p:sp>
      <p:sp>
        <p:nvSpPr>
          <p:cNvPr id="1375" name="Google Shape;1375;p53"/>
          <p:cNvSpPr txBox="1"/>
          <p:nvPr>
            <p:ph idx="1" type="body"/>
          </p:nvPr>
        </p:nvSpPr>
        <p:spPr>
          <a:xfrm rot="-5400000">
            <a:off x="-480375" y="3991225"/>
            <a:ext cx="13182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Window Size</a:t>
            </a:r>
            <a:endParaRPr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TCP Throughput in Terms of Window Size</a:t>
            </a:r>
            <a:endParaRPr/>
          </a:p>
        </p:txBody>
      </p:sp>
      <p:sp>
        <p:nvSpPr>
          <p:cNvPr id="1381" name="Google Shape;1381;p5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Unit conversion: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window size is 3/4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measured in packets (since we were adding 1 packet per iteration).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packet is </a:t>
            </a:r>
            <a:r>
              <a:rPr i="1" lang="en"/>
              <a:t>MSS</a:t>
            </a:r>
            <a:r>
              <a:rPr lang="en"/>
              <a:t> bytes.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window size, in bytes, is </a:t>
            </a:r>
            <a:r>
              <a:rPr lang="en"/>
              <a:t>3/4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× </a:t>
            </a:r>
            <a:r>
              <a:rPr i="1" lang="en"/>
              <a:t>MSS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Computing throughput: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Window size tells us how much data we can send per 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compute rate, divide window size (data) by RTT (time):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Throughput =      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×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Next step: Express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in terms of </a:t>
            </a:r>
            <a:r>
              <a:rPr i="1" lang="en"/>
              <a:t>p</a:t>
            </a:r>
            <a:r>
              <a:rPr lang="en"/>
              <a:t>, the loss rate.</a:t>
            </a:r>
            <a:endParaRPr/>
          </a:p>
        </p:txBody>
      </p:sp>
      <p:sp>
        <p:nvSpPr>
          <p:cNvPr id="1382" name="Google Shape;1382;p54"/>
          <p:cNvSpPr txBox="1"/>
          <p:nvPr/>
        </p:nvSpPr>
        <p:spPr>
          <a:xfrm>
            <a:off x="1646193" y="3642675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54"/>
          <p:cNvSpPr txBox="1"/>
          <p:nvPr/>
        </p:nvSpPr>
        <p:spPr>
          <a:xfrm>
            <a:off x="1646193" y="3923225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4" name="Google Shape;1384;p54"/>
          <p:cNvCxnSpPr/>
          <p:nvPr/>
        </p:nvCxnSpPr>
        <p:spPr>
          <a:xfrm>
            <a:off x="1646171" y="3917890"/>
            <a:ext cx="254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5" name="Google Shape;1385;p54"/>
          <p:cNvSpPr txBox="1"/>
          <p:nvPr/>
        </p:nvSpPr>
        <p:spPr>
          <a:xfrm>
            <a:off x="2713026" y="3642675"/>
            <a:ext cx="58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Roboto"/>
                <a:ea typeface="Roboto"/>
                <a:cs typeface="Roboto"/>
                <a:sym typeface="Roboto"/>
              </a:rPr>
              <a:t>MSS</a:t>
            </a:r>
            <a:endParaRPr i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6" name="Google Shape;1386;p54"/>
          <p:cNvSpPr txBox="1"/>
          <p:nvPr/>
        </p:nvSpPr>
        <p:spPr>
          <a:xfrm>
            <a:off x="2713026" y="3923225"/>
            <a:ext cx="58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Roboto"/>
                <a:ea typeface="Roboto"/>
                <a:cs typeface="Roboto"/>
                <a:sym typeface="Roboto"/>
              </a:rPr>
              <a:t>RTT</a:t>
            </a:r>
            <a:endParaRPr i="1"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7" name="Google Shape;1387;p54"/>
          <p:cNvCxnSpPr/>
          <p:nvPr/>
        </p:nvCxnSpPr>
        <p:spPr>
          <a:xfrm>
            <a:off x="2712975" y="3917890"/>
            <a:ext cx="588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Relating Window and Loss Rate</a:t>
            </a:r>
            <a:endParaRPr/>
          </a:p>
        </p:txBody>
      </p:sp>
      <p:sp>
        <p:nvSpPr>
          <p:cNvPr id="1393" name="Google Shape;1393;p55"/>
          <p:cNvSpPr txBox="1"/>
          <p:nvPr>
            <p:ph idx="1" type="body"/>
          </p:nvPr>
        </p:nvSpPr>
        <p:spPr>
          <a:xfrm>
            <a:off x="107050" y="402200"/>
            <a:ext cx="8909700" cy="20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Next step: Express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in terms of </a:t>
            </a:r>
            <a:r>
              <a:rPr i="1" lang="en"/>
              <a:t>p</a:t>
            </a:r>
            <a:r>
              <a:rPr lang="en"/>
              <a:t>, the loss rate.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one packet is lost every 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RTTs.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is how long it takes to climb from 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back up to (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RTT adds 1, and we have to climb 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in total.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we just need to figure out how many packets are sent in 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RTTs.</a:t>
            </a:r>
            <a:endParaRPr/>
          </a:p>
        </p:txBody>
      </p:sp>
      <p:sp>
        <p:nvSpPr>
          <p:cNvPr id="1394" name="Google Shape;1394;p55"/>
          <p:cNvSpPr txBox="1"/>
          <p:nvPr>
            <p:ph idx="1" type="body"/>
          </p:nvPr>
        </p:nvSpPr>
        <p:spPr>
          <a:xfrm>
            <a:off x="1889046" y="2324013"/>
            <a:ext cx="5298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395" name="Google Shape;1395;p55"/>
          <p:cNvSpPr txBox="1"/>
          <p:nvPr>
            <p:ph idx="1" type="body"/>
          </p:nvPr>
        </p:nvSpPr>
        <p:spPr>
          <a:xfrm>
            <a:off x="3413046" y="2324013"/>
            <a:ext cx="5298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396" name="Google Shape;1396;p55"/>
          <p:cNvSpPr txBox="1"/>
          <p:nvPr>
            <p:ph idx="1" type="body"/>
          </p:nvPr>
        </p:nvSpPr>
        <p:spPr>
          <a:xfrm>
            <a:off x="5013246" y="2324013"/>
            <a:ext cx="5298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397" name="Google Shape;1397;p55"/>
          <p:cNvSpPr txBox="1"/>
          <p:nvPr>
            <p:ph idx="1" type="body"/>
          </p:nvPr>
        </p:nvSpPr>
        <p:spPr>
          <a:xfrm>
            <a:off x="7994675" y="2299872"/>
            <a:ext cx="6036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W</a:t>
            </a:r>
            <a:r>
              <a:rPr lang="en" sz="1200"/>
              <a:t>max</a:t>
            </a:r>
            <a:endParaRPr sz="1600"/>
          </a:p>
        </p:txBody>
      </p:sp>
      <p:cxnSp>
        <p:nvCxnSpPr>
          <p:cNvPr id="1398" name="Google Shape;1398;p55"/>
          <p:cNvCxnSpPr/>
          <p:nvPr/>
        </p:nvCxnSpPr>
        <p:spPr>
          <a:xfrm>
            <a:off x="545575" y="269347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9" name="Google Shape;1399;p55"/>
          <p:cNvCxnSpPr/>
          <p:nvPr/>
        </p:nvCxnSpPr>
        <p:spPr>
          <a:xfrm>
            <a:off x="545663" y="36124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0" name="Google Shape;1400;p55"/>
          <p:cNvSpPr txBox="1"/>
          <p:nvPr>
            <p:ph idx="1" type="body"/>
          </p:nvPr>
        </p:nvSpPr>
        <p:spPr>
          <a:xfrm>
            <a:off x="7477838" y="3218828"/>
            <a:ext cx="11205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0.5 × </a:t>
            </a:r>
            <a:r>
              <a:rPr i="1" lang="en"/>
              <a:t>W</a:t>
            </a:r>
            <a:r>
              <a:rPr lang="en" sz="1200"/>
              <a:t>max</a:t>
            </a:r>
            <a:endParaRPr sz="1600"/>
          </a:p>
        </p:txBody>
      </p:sp>
      <p:cxnSp>
        <p:nvCxnSpPr>
          <p:cNvPr id="1401" name="Google Shape;1401;p55"/>
          <p:cNvCxnSpPr/>
          <p:nvPr/>
        </p:nvCxnSpPr>
        <p:spPr>
          <a:xfrm>
            <a:off x="545575" y="3155225"/>
            <a:ext cx="805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02" name="Google Shape;1402;p55"/>
          <p:cNvSpPr txBox="1"/>
          <p:nvPr>
            <p:ph idx="1" type="body"/>
          </p:nvPr>
        </p:nvSpPr>
        <p:spPr>
          <a:xfrm>
            <a:off x="6433625" y="2761625"/>
            <a:ext cx="21648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Average: 3/4 × </a:t>
            </a:r>
            <a:r>
              <a:rPr i="1" lang="en">
                <a:solidFill>
                  <a:srgbClr val="000000"/>
                </a:solidFill>
              </a:rPr>
              <a:t>W</a:t>
            </a:r>
            <a:r>
              <a:rPr lang="en" sz="1200">
                <a:solidFill>
                  <a:srgbClr val="000000"/>
                </a:solidFill>
              </a:rPr>
              <a:t>max</a:t>
            </a:r>
            <a:endParaRPr sz="1600">
              <a:solidFill>
                <a:srgbClr val="000000"/>
              </a:solidFill>
            </a:endParaRPr>
          </a:p>
        </p:txBody>
      </p:sp>
      <p:cxnSp>
        <p:nvCxnSpPr>
          <p:cNvPr id="1403" name="Google Shape;1403;p55"/>
          <p:cNvCxnSpPr/>
          <p:nvPr/>
        </p:nvCxnSpPr>
        <p:spPr>
          <a:xfrm>
            <a:off x="545663" y="45268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4" name="Google Shape;1404;p55"/>
          <p:cNvSpPr/>
          <p:nvPr/>
        </p:nvSpPr>
        <p:spPr>
          <a:xfrm>
            <a:off x="576550" y="2709000"/>
            <a:ext cx="4780600" cy="891651"/>
          </a:xfrm>
          <a:custGeom>
            <a:rect b="b" l="l" r="r" t="t"/>
            <a:pathLst>
              <a:path extrusionOk="0" h="36887" w="191224">
                <a:moveTo>
                  <a:pt x="0" y="36840"/>
                </a:moveTo>
                <a:lnTo>
                  <a:pt x="63720" y="51"/>
                </a:lnTo>
                <a:lnTo>
                  <a:pt x="63720" y="36792"/>
                </a:lnTo>
                <a:lnTo>
                  <a:pt x="127334" y="65"/>
                </a:lnTo>
                <a:lnTo>
                  <a:pt x="127334" y="36887"/>
                </a:lnTo>
                <a:lnTo>
                  <a:pt x="191224" y="0"/>
                </a:lnTo>
                <a:lnTo>
                  <a:pt x="191224" y="36887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05" name="Google Shape;1405;p55"/>
          <p:cNvSpPr/>
          <p:nvPr/>
        </p:nvSpPr>
        <p:spPr>
          <a:xfrm rot="5400000">
            <a:off x="2847000" y="3026425"/>
            <a:ext cx="239700" cy="16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6" name="Google Shape;1406;p55"/>
          <p:cNvSpPr txBox="1"/>
          <p:nvPr>
            <p:ph idx="1" type="body"/>
          </p:nvPr>
        </p:nvSpPr>
        <p:spPr>
          <a:xfrm>
            <a:off x="2078850" y="3917225"/>
            <a:ext cx="1776000" cy="4572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(0.5 ×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800">
                <a:solidFill>
                  <a:schemeClr val="accent3"/>
                </a:solidFill>
              </a:rPr>
              <a:t>max</a:t>
            </a:r>
            <a:r>
              <a:rPr lang="en" sz="1400">
                <a:solidFill>
                  <a:schemeClr val="accent3"/>
                </a:solidFill>
              </a:rPr>
              <a:t>) RTTs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Time between losses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1407" name="Google Shape;1407;p55"/>
          <p:cNvCxnSpPr/>
          <p:nvPr/>
        </p:nvCxnSpPr>
        <p:spPr>
          <a:xfrm flipH="1" rot="10800000">
            <a:off x="323225" y="34280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8" name="Google Shape;1408;p55"/>
          <p:cNvCxnSpPr/>
          <p:nvPr/>
        </p:nvCxnSpPr>
        <p:spPr>
          <a:xfrm flipH="1" rot="-5400000">
            <a:off x="993986" y="41138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9" name="Google Shape;1409;p55"/>
          <p:cNvSpPr txBox="1"/>
          <p:nvPr>
            <p:ph idx="1" type="body"/>
          </p:nvPr>
        </p:nvSpPr>
        <p:spPr>
          <a:xfrm>
            <a:off x="316425" y="4799625"/>
            <a:ext cx="666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Time</a:t>
            </a:r>
            <a:endParaRPr sz="1400"/>
          </a:p>
        </p:txBody>
      </p:sp>
      <p:sp>
        <p:nvSpPr>
          <p:cNvPr id="1410" name="Google Shape;1410;p55"/>
          <p:cNvSpPr txBox="1"/>
          <p:nvPr>
            <p:ph idx="1" type="body"/>
          </p:nvPr>
        </p:nvSpPr>
        <p:spPr>
          <a:xfrm rot="-5400000">
            <a:off x="-480375" y="3991225"/>
            <a:ext cx="13182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Window Size</a:t>
            </a:r>
            <a:endParaRPr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56"/>
          <p:cNvSpPr/>
          <p:nvPr/>
        </p:nvSpPr>
        <p:spPr>
          <a:xfrm flipH="1">
            <a:off x="2168025" y="2720825"/>
            <a:ext cx="1599600" cy="891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6" name="Google Shape;1416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Relating Window and Loss Rate</a:t>
            </a:r>
            <a:endParaRPr/>
          </a:p>
        </p:txBody>
      </p:sp>
      <p:sp>
        <p:nvSpPr>
          <p:cNvPr id="1417" name="Google Shape;1417;p56"/>
          <p:cNvSpPr txBox="1"/>
          <p:nvPr>
            <p:ph idx="1" type="body"/>
          </p:nvPr>
        </p:nvSpPr>
        <p:spPr>
          <a:xfrm>
            <a:off x="107050" y="402200"/>
            <a:ext cx="8909700" cy="20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ow many packets are sent in </a:t>
            </a:r>
            <a:r>
              <a:rPr lang="en">
                <a:solidFill>
                  <a:schemeClr val="accent3"/>
                </a:solidFill>
              </a:rPr>
              <a:t>(0.5 × </a:t>
            </a:r>
            <a:r>
              <a:rPr i="1" lang="en">
                <a:solidFill>
                  <a:schemeClr val="accent3"/>
                </a:solidFill>
              </a:rPr>
              <a:t>W</a:t>
            </a:r>
            <a:r>
              <a:rPr lang="en" sz="1200">
                <a:solidFill>
                  <a:schemeClr val="accent3"/>
                </a:solidFill>
              </a:rPr>
              <a:t>max</a:t>
            </a:r>
            <a:r>
              <a:rPr lang="en">
                <a:solidFill>
                  <a:schemeClr val="accent3"/>
                </a:solidFill>
              </a:rPr>
              <a:t>)</a:t>
            </a:r>
            <a:r>
              <a:rPr lang="en"/>
              <a:t> RTTs?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window size is </a:t>
            </a:r>
            <a:r>
              <a:rPr lang="en">
                <a:solidFill>
                  <a:schemeClr val="accent2"/>
                </a:solidFill>
              </a:rPr>
              <a:t>3/4 × </a:t>
            </a:r>
            <a:r>
              <a:rPr i="1" lang="en">
                <a:solidFill>
                  <a:schemeClr val="accent2"/>
                </a:solidFill>
              </a:rPr>
              <a:t>W</a:t>
            </a:r>
            <a:r>
              <a:rPr lang="en" sz="1200">
                <a:solidFill>
                  <a:schemeClr val="accent2"/>
                </a:solidFill>
              </a:rPr>
              <a:t>max</a:t>
            </a:r>
            <a:r>
              <a:rPr lang="en"/>
              <a:t>. That's how many packets we send per RTT.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Answer: </a:t>
            </a:r>
            <a:r>
              <a:rPr lang="en">
                <a:solidFill>
                  <a:schemeClr val="accent2"/>
                </a:solidFill>
              </a:rPr>
              <a:t>(3/4 × </a:t>
            </a:r>
            <a:r>
              <a:rPr i="1" lang="en">
                <a:solidFill>
                  <a:schemeClr val="accent2"/>
                </a:solidFill>
              </a:rPr>
              <a:t>W</a:t>
            </a:r>
            <a:r>
              <a:rPr lang="en" sz="1200">
                <a:solidFill>
                  <a:schemeClr val="accent2"/>
                </a:solidFill>
              </a:rPr>
              <a:t>max</a:t>
            </a:r>
            <a:r>
              <a:rPr lang="en">
                <a:solidFill>
                  <a:schemeClr val="accent2"/>
                </a:solidFill>
              </a:rPr>
              <a:t>)</a:t>
            </a:r>
            <a:r>
              <a:rPr lang="en"/>
              <a:t> × </a:t>
            </a:r>
            <a:r>
              <a:rPr lang="en">
                <a:solidFill>
                  <a:schemeClr val="accent3"/>
                </a:solidFill>
              </a:rPr>
              <a:t>(0.5 × </a:t>
            </a:r>
            <a:r>
              <a:rPr i="1" lang="en">
                <a:solidFill>
                  <a:schemeClr val="accent3"/>
                </a:solidFill>
              </a:rPr>
              <a:t>W</a:t>
            </a:r>
            <a:r>
              <a:rPr lang="en" sz="1200">
                <a:solidFill>
                  <a:schemeClr val="accent3"/>
                </a:solidFill>
              </a:rPr>
              <a:t>max</a:t>
            </a:r>
            <a:r>
              <a:rPr lang="en">
                <a:solidFill>
                  <a:schemeClr val="accent3"/>
                </a:solidFill>
              </a:rPr>
              <a:t>)</a:t>
            </a:r>
            <a:r>
              <a:rPr lang="en"/>
              <a:t> = 3/8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baseline="30000" lang="en"/>
              <a:t>2</a:t>
            </a:r>
            <a:r>
              <a:rPr lang="en"/>
              <a:t> packets.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also be computed as the area of the shape (rate × time), or area under the curve (integral of rate).</a:t>
            </a:r>
            <a:endParaRPr/>
          </a:p>
        </p:txBody>
      </p:sp>
      <p:sp>
        <p:nvSpPr>
          <p:cNvPr id="1418" name="Google Shape;1418;p56"/>
          <p:cNvSpPr txBox="1"/>
          <p:nvPr>
            <p:ph idx="1" type="body"/>
          </p:nvPr>
        </p:nvSpPr>
        <p:spPr>
          <a:xfrm>
            <a:off x="1889050" y="2394035"/>
            <a:ext cx="529800" cy="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419" name="Google Shape;1419;p56"/>
          <p:cNvSpPr txBox="1"/>
          <p:nvPr>
            <p:ph idx="1" type="body"/>
          </p:nvPr>
        </p:nvSpPr>
        <p:spPr>
          <a:xfrm>
            <a:off x="3413050" y="2394035"/>
            <a:ext cx="529800" cy="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420" name="Google Shape;1420;p56"/>
          <p:cNvSpPr txBox="1"/>
          <p:nvPr>
            <p:ph idx="1" type="body"/>
          </p:nvPr>
        </p:nvSpPr>
        <p:spPr>
          <a:xfrm>
            <a:off x="5013250" y="2394035"/>
            <a:ext cx="529800" cy="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421" name="Google Shape;1421;p56"/>
          <p:cNvSpPr txBox="1"/>
          <p:nvPr>
            <p:ph idx="1" type="body"/>
          </p:nvPr>
        </p:nvSpPr>
        <p:spPr>
          <a:xfrm>
            <a:off x="7390375" y="2299875"/>
            <a:ext cx="12078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W</a:t>
            </a:r>
            <a:r>
              <a:rPr lang="en" sz="1200"/>
              <a:t>max </a:t>
            </a:r>
            <a:r>
              <a:rPr lang="en"/>
              <a:t>/ RTT</a:t>
            </a:r>
            <a:r>
              <a:rPr lang="en" sz="1200"/>
              <a:t> </a:t>
            </a:r>
            <a:endParaRPr sz="1600"/>
          </a:p>
        </p:txBody>
      </p:sp>
      <p:cxnSp>
        <p:nvCxnSpPr>
          <p:cNvPr id="1422" name="Google Shape;1422;p56"/>
          <p:cNvCxnSpPr/>
          <p:nvPr/>
        </p:nvCxnSpPr>
        <p:spPr>
          <a:xfrm>
            <a:off x="545575" y="269347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3" name="Google Shape;1423;p56"/>
          <p:cNvSpPr txBox="1"/>
          <p:nvPr>
            <p:ph idx="1" type="body"/>
          </p:nvPr>
        </p:nvSpPr>
        <p:spPr>
          <a:xfrm>
            <a:off x="6276298" y="3218825"/>
            <a:ext cx="23223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/ RTT</a:t>
            </a:r>
            <a:endParaRPr/>
          </a:p>
        </p:txBody>
      </p:sp>
      <p:cxnSp>
        <p:nvCxnSpPr>
          <p:cNvPr id="1424" name="Google Shape;1424;p56"/>
          <p:cNvCxnSpPr/>
          <p:nvPr/>
        </p:nvCxnSpPr>
        <p:spPr>
          <a:xfrm>
            <a:off x="545575" y="3155225"/>
            <a:ext cx="805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25" name="Google Shape;1425;p56"/>
          <p:cNvSpPr txBox="1"/>
          <p:nvPr>
            <p:ph idx="1" type="body"/>
          </p:nvPr>
        </p:nvSpPr>
        <p:spPr>
          <a:xfrm>
            <a:off x="5749025" y="2761625"/>
            <a:ext cx="28494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Average: (3/4 × </a:t>
            </a:r>
            <a:r>
              <a:rPr i="1" lang="en">
                <a:solidFill>
                  <a:srgbClr val="000000"/>
                </a:solidFill>
              </a:rPr>
              <a:t>W</a:t>
            </a:r>
            <a:r>
              <a:rPr lang="en" sz="1200">
                <a:solidFill>
                  <a:srgbClr val="000000"/>
                </a:solidFill>
              </a:rPr>
              <a:t>max</a:t>
            </a:r>
            <a:r>
              <a:rPr lang="en">
                <a:solidFill>
                  <a:srgbClr val="000000"/>
                </a:solidFill>
              </a:rPr>
              <a:t>)</a:t>
            </a:r>
            <a:r>
              <a:rPr lang="en" sz="1200">
                <a:solidFill>
                  <a:srgbClr val="000000"/>
                </a:solidFill>
              </a:rPr>
              <a:t> </a:t>
            </a:r>
            <a:r>
              <a:rPr lang="en"/>
              <a:t>/ RTT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1426" name="Google Shape;1426;p56"/>
          <p:cNvSpPr/>
          <p:nvPr/>
        </p:nvSpPr>
        <p:spPr>
          <a:xfrm>
            <a:off x="576550" y="2709000"/>
            <a:ext cx="4780600" cy="891651"/>
          </a:xfrm>
          <a:custGeom>
            <a:rect b="b" l="l" r="r" t="t"/>
            <a:pathLst>
              <a:path extrusionOk="0" h="36887" w="191224">
                <a:moveTo>
                  <a:pt x="0" y="36840"/>
                </a:moveTo>
                <a:lnTo>
                  <a:pt x="63720" y="51"/>
                </a:lnTo>
                <a:lnTo>
                  <a:pt x="63720" y="36792"/>
                </a:lnTo>
                <a:lnTo>
                  <a:pt x="127334" y="65"/>
                </a:lnTo>
                <a:lnTo>
                  <a:pt x="127334" y="36887"/>
                </a:lnTo>
                <a:lnTo>
                  <a:pt x="191224" y="0"/>
                </a:lnTo>
                <a:lnTo>
                  <a:pt x="191224" y="36887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27" name="Google Shape;1427;p56"/>
          <p:cNvSpPr/>
          <p:nvPr/>
        </p:nvSpPr>
        <p:spPr>
          <a:xfrm>
            <a:off x="2167875" y="3614375"/>
            <a:ext cx="1590300" cy="91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8" name="Google Shape;1428;p56"/>
          <p:cNvCxnSpPr/>
          <p:nvPr/>
        </p:nvCxnSpPr>
        <p:spPr>
          <a:xfrm>
            <a:off x="545663" y="36124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9" name="Google Shape;1429;p56"/>
          <p:cNvCxnSpPr/>
          <p:nvPr/>
        </p:nvCxnSpPr>
        <p:spPr>
          <a:xfrm>
            <a:off x="545663" y="45268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0" name="Google Shape;1430;p56"/>
          <p:cNvSpPr txBox="1"/>
          <p:nvPr>
            <p:ph idx="1" type="body"/>
          </p:nvPr>
        </p:nvSpPr>
        <p:spPr>
          <a:xfrm>
            <a:off x="3784700" y="3931925"/>
            <a:ext cx="21684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Width = </a:t>
            </a:r>
            <a:r>
              <a:rPr lang="en" sz="1400">
                <a:solidFill>
                  <a:schemeClr val="accent3"/>
                </a:solidFill>
              </a:rPr>
              <a:t>(0.5 ×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800">
                <a:solidFill>
                  <a:schemeClr val="accent3"/>
                </a:solidFill>
              </a:rPr>
              <a:t>max</a:t>
            </a:r>
            <a:r>
              <a:rPr lang="en" sz="1400">
                <a:solidFill>
                  <a:schemeClr val="accent3"/>
                </a:solidFill>
              </a:rPr>
              <a:t>) RTT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1431" name="Google Shape;1431;p56"/>
          <p:cNvCxnSpPr>
            <a:stCxn id="1427" idx="1"/>
            <a:endCxn id="1427" idx="3"/>
          </p:cNvCxnSpPr>
          <p:nvPr/>
        </p:nvCxnSpPr>
        <p:spPr>
          <a:xfrm>
            <a:off x="2167875" y="4070525"/>
            <a:ext cx="1590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2" name="Google Shape;1432;p56"/>
          <p:cNvCxnSpPr>
            <a:stCxn id="1427" idx="2"/>
            <a:endCxn id="1415" idx="5"/>
          </p:cNvCxnSpPr>
          <p:nvPr/>
        </p:nvCxnSpPr>
        <p:spPr>
          <a:xfrm flipH="1" rot="10800000">
            <a:off x="2963025" y="316677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3" name="Google Shape;1433;p56"/>
          <p:cNvSpPr txBox="1"/>
          <p:nvPr>
            <p:ph idx="1" type="body"/>
          </p:nvPr>
        </p:nvSpPr>
        <p:spPr>
          <a:xfrm>
            <a:off x="2107875" y="4564250"/>
            <a:ext cx="2322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2"/>
                </a:solidFill>
              </a:rPr>
              <a:t>Height</a:t>
            </a:r>
            <a:r>
              <a:rPr lang="en" sz="1400">
                <a:solidFill>
                  <a:schemeClr val="accent2"/>
                </a:solidFill>
              </a:rPr>
              <a:t> = (3/4 × </a:t>
            </a:r>
            <a:r>
              <a:rPr i="1" lang="en" sz="1400">
                <a:solidFill>
                  <a:schemeClr val="accent2"/>
                </a:solidFill>
              </a:rPr>
              <a:t>W</a:t>
            </a:r>
            <a:r>
              <a:rPr lang="en" sz="800">
                <a:solidFill>
                  <a:schemeClr val="accent2"/>
                </a:solidFill>
              </a:rPr>
              <a:t>max</a:t>
            </a:r>
            <a:r>
              <a:rPr lang="en" sz="1400">
                <a:solidFill>
                  <a:schemeClr val="accent2"/>
                </a:solidFill>
              </a:rPr>
              <a:t>) / RTT</a:t>
            </a:r>
            <a:endParaRPr sz="1400">
              <a:solidFill>
                <a:schemeClr val="accent2"/>
              </a:solidFill>
            </a:endParaRPr>
          </a:p>
        </p:txBody>
      </p:sp>
      <p:cxnSp>
        <p:nvCxnSpPr>
          <p:cNvPr id="1434" name="Google Shape;1434;p56"/>
          <p:cNvCxnSpPr/>
          <p:nvPr/>
        </p:nvCxnSpPr>
        <p:spPr>
          <a:xfrm flipH="1" rot="10800000">
            <a:off x="323225" y="34280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5" name="Google Shape;1435;p56"/>
          <p:cNvCxnSpPr/>
          <p:nvPr/>
        </p:nvCxnSpPr>
        <p:spPr>
          <a:xfrm flipH="1" rot="-5400000">
            <a:off x="993986" y="41138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6" name="Google Shape;1436;p56"/>
          <p:cNvSpPr txBox="1"/>
          <p:nvPr>
            <p:ph idx="1" type="body"/>
          </p:nvPr>
        </p:nvSpPr>
        <p:spPr>
          <a:xfrm>
            <a:off x="316425" y="4799625"/>
            <a:ext cx="666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Time</a:t>
            </a:r>
            <a:endParaRPr sz="1400"/>
          </a:p>
        </p:txBody>
      </p:sp>
      <p:sp>
        <p:nvSpPr>
          <p:cNvPr id="1437" name="Google Shape;1437;p56"/>
          <p:cNvSpPr txBox="1"/>
          <p:nvPr>
            <p:ph idx="1" type="body"/>
          </p:nvPr>
        </p:nvSpPr>
        <p:spPr>
          <a:xfrm rot="-5400000">
            <a:off x="-154425" y="3993825"/>
            <a:ext cx="666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Rate</a:t>
            </a:r>
            <a:endParaRPr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57"/>
          <p:cNvSpPr/>
          <p:nvPr/>
        </p:nvSpPr>
        <p:spPr>
          <a:xfrm flipH="1">
            <a:off x="2168025" y="2720825"/>
            <a:ext cx="1599600" cy="891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3" name="Google Shape;1443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Relating Window and Loss Rate</a:t>
            </a:r>
            <a:endParaRPr/>
          </a:p>
        </p:txBody>
      </p:sp>
      <p:sp>
        <p:nvSpPr>
          <p:cNvPr id="1444" name="Google Shape;1444;p57"/>
          <p:cNvSpPr txBox="1"/>
          <p:nvPr>
            <p:ph idx="1" type="body"/>
          </p:nvPr>
        </p:nvSpPr>
        <p:spPr>
          <a:xfrm>
            <a:off x="107050" y="402200"/>
            <a:ext cx="8909700" cy="20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Next step: Express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in terms of </a:t>
            </a:r>
            <a:r>
              <a:rPr i="1" lang="en"/>
              <a:t>p</a:t>
            </a:r>
            <a:r>
              <a:rPr lang="en"/>
              <a:t>, the loss rate.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now know: 3/8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baseline="30000" lang="en"/>
              <a:t>2</a:t>
            </a:r>
            <a:r>
              <a:rPr lang="en"/>
              <a:t> packets are sent between losses.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packet lost out of that many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Loss rate = </a:t>
            </a:r>
            <a:r>
              <a:rPr i="1" lang="en"/>
              <a:t>p</a:t>
            </a:r>
            <a:r>
              <a:rPr lang="en"/>
              <a:t> = </a:t>
            </a:r>
            <a:endParaRPr/>
          </a:p>
        </p:txBody>
      </p:sp>
      <p:sp>
        <p:nvSpPr>
          <p:cNvPr id="1445" name="Google Shape;1445;p57"/>
          <p:cNvSpPr txBox="1"/>
          <p:nvPr>
            <p:ph idx="1" type="body"/>
          </p:nvPr>
        </p:nvSpPr>
        <p:spPr>
          <a:xfrm>
            <a:off x="1889050" y="2394035"/>
            <a:ext cx="529800" cy="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446" name="Google Shape;1446;p57"/>
          <p:cNvSpPr txBox="1"/>
          <p:nvPr>
            <p:ph idx="1" type="body"/>
          </p:nvPr>
        </p:nvSpPr>
        <p:spPr>
          <a:xfrm>
            <a:off x="3413050" y="2394035"/>
            <a:ext cx="529800" cy="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447" name="Google Shape;1447;p57"/>
          <p:cNvSpPr txBox="1"/>
          <p:nvPr>
            <p:ph idx="1" type="body"/>
          </p:nvPr>
        </p:nvSpPr>
        <p:spPr>
          <a:xfrm>
            <a:off x="5013250" y="2394035"/>
            <a:ext cx="529800" cy="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cxnSp>
        <p:nvCxnSpPr>
          <p:cNvPr id="1448" name="Google Shape;1448;p57"/>
          <p:cNvCxnSpPr/>
          <p:nvPr/>
        </p:nvCxnSpPr>
        <p:spPr>
          <a:xfrm>
            <a:off x="545575" y="269347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9" name="Google Shape;1449;p57"/>
          <p:cNvCxnSpPr/>
          <p:nvPr/>
        </p:nvCxnSpPr>
        <p:spPr>
          <a:xfrm>
            <a:off x="545575" y="3155225"/>
            <a:ext cx="805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50" name="Google Shape;1450;p57"/>
          <p:cNvSpPr/>
          <p:nvPr/>
        </p:nvSpPr>
        <p:spPr>
          <a:xfrm>
            <a:off x="576550" y="2709000"/>
            <a:ext cx="4780600" cy="891651"/>
          </a:xfrm>
          <a:custGeom>
            <a:rect b="b" l="l" r="r" t="t"/>
            <a:pathLst>
              <a:path extrusionOk="0" h="36887" w="191224">
                <a:moveTo>
                  <a:pt x="0" y="36840"/>
                </a:moveTo>
                <a:lnTo>
                  <a:pt x="63720" y="51"/>
                </a:lnTo>
                <a:lnTo>
                  <a:pt x="63720" y="36792"/>
                </a:lnTo>
                <a:lnTo>
                  <a:pt x="127334" y="65"/>
                </a:lnTo>
                <a:lnTo>
                  <a:pt x="127334" y="36887"/>
                </a:lnTo>
                <a:lnTo>
                  <a:pt x="191224" y="0"/>
                </a:lnTo>
                <a:lnTo>
                  <a:pt x="191224" y="36887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51" name="Google Shape;1451;p57"/>
          <p:cNvSpPr/>
          <p:nvPr/>
        </p:nvSpPr>
        <p:spPr>
          <a:xfrm>
            <a:off x="2167875" y="3614375"/>
            <a:ext cx="1590300" cy="91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2" name="Google Shape;1452;p57"/>
          <p:cNvCxnSpPr/>
          <p:nvPr/>
        </p:nvCxnSpPr>
        <p:spPr>
          <a:xfrm>
            <a:off x="545663" y="36124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3" name="Google Shape;1453;p57"/>
          <p:cNvCxnSpPr/>
          <p:nvPr/>
        </p:nvCxnSpPr>
        <p:spPr>
          <a:xfrm>
            <a:off x="545663" y="45268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4" name="Google Shape;1454;p57"/>
          <p:cNvCxnSpPr>
            <a:stCxn id="1451" idx="1"/>
            <a:endCxn id="1451" idx="3"/>
          </p:cNvCxnSpPr>
          <p:nvPr/>
        </p:nvCxnSpPr>
        <p:spPr>
          <a:xfrm>
            <a:off x="2167875" y="4070525"/>
            <a:ext cx="1590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5" name="Google Shape;1455;p57"/>
          <p:cNvCxnSpPr>
            <a:stCxn id="1451" idx="2"/>
            <a:endCxn id="1442" idx="5"/>
          </p:cNvCxnSpPr>
          <p:nvPr/>
        </p:nvCxnSpPr>
        <p:spPr>
          <a:xfrm flipH="1" rot="10800000">
            <a:off x="2963025" y="316677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6" name="Google Shape;1456;p57"/>
          <p:cNvSpPr txBox="1"/>
          <p:nvPr/>
        </p:nvSpPr>
        <p:spPr>
          <a:xfrm>
            <a:off x="1732344" y="1647181"/>
            <a:ext cx="79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8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7" name="Google Shape;1457;p57"/>
          <p:cNvSpPr txBox="1"/>
          <p:nvPr/>
        </p:nvSpPr>
        <p:spPr>
          <a:xfrm>
            <a:off x="1732344" y="1927731"/>
            <a:ext cx="79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max</a:t>
            </a:r>
            <a:r>
              <a:rPr baseline="30000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8" name="Google Shape;1458;p57"/>
          <p:cNvCxnSpPr/>
          <p:nvPr/>
        </p:nvCxnSpPr>
        <p:spPr>
          <a:xfrm>
            <a:off x="1732276" y="1922396"/>
            <a:ext cx="795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57"/>
          <p:cNvCxnSpPr/>
          <p:nvPr/>
        </p:nvCxnSpPr>
        <p:spPr>
          <a:xfrm flipH="1" rot="10800000">
            <a:off x="323225" y="34280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0" name="Google Shape;1460;p57"/>
          <p:cNvCxnSpPr/>
          <p:nvPr/>
        </p:nvCxnSpPr>
        <p:spPr>
          <a:xfrm flipH="1" rot="-5400000">
            <a:off x="993986" y="41138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1" name="Google Shape;1461;p57"/>
          <p:cNvSpPr txBox="1"/>
          <p:nvPr>
            <p:ph idx="1" type="body"/>
          </p:nvPr>
        </p:nvSpPr>
        <p:spPr>
          <a:xfrm>
            <a:off x="316425" y="4799625"/>
            <a:ext cx="666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Time</a:t>
            </a:r>
            <a:endParaRPr sz="1400"/>
          </a:p>
        </p:txBody>
      </p:sp>
      <p:sp>
        <p:nvSpPr>
          <p:cNvPr id="1462" name="Google Shape;1462;p57"/>
          <p:cNvSpPr txBox="1"/>
          <p:nvPr>
            <p:ph idx="1" type="body"/>
          </p:nvPr>
        </p:nvSpPr>
        <p:spPr>
          <a:xfrm rot="-5400000">
            <a:off x="-154425" y="3993825"/>
            <a:ext cx="666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Rate</a:t>
            </a:r>
            <a:endParaRPr sz="1400"/>
          </a:p>
        </p:txBody>
      </p:sp>
      <p:sp>
        <p:nvSpPr>
          <p:cNvPr id="1463" name="Google Shape;1463;p57"/>
          <p:cNvSpPr txBox="1"/>
          <p:nvPr>
            <p:ph idx="1" type="body"/>
          </p:nvPr>
        </p:nvSpPr>
        <p:spPr>
          <a:xfrm>
            <a:off x="7390375" y="2299875"/>
            <a:ext cx="12078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W</a:t>
            </a:r>
            <a:r>
              <a:rPr lang="en" sz="1200"/>
              <a:t>max </a:t>
            </a:r>
            <a:r>
              <a:rPr lang="en"/>
              <a:t>/ RTT</a:t>
            </a:r>
            <a:r>
              <a:rPr lang="en" sz="1200"/>
              <a:t> </a:t>
            </a:r>
            <a:endParaRPr sz="1600"/>
          </a:p>
        </p:txBody>
      </p:sp>
      <p:sp>
        <p:nvSpPr>
          <p:cNvPr id="1464" name="Google Shape;1464;p57"/>
          <p:cNvSpPr txBox="1"/>
          <p:nvPr>
            <p:ph idx="1" type="body"/>
          </p:nvPr>
        </p:nvSpPr>
        <p:spPr>
          <a:xfrm>
            <a:off x="6276298" y="3218825"/>
            <a:ext cx="23223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/ RTT</a:t>
            </a:r>
            <a:endParaRPr/>
          </a:p>
        </p:txBody>
      </p:sp>
      <p:sp>
        <p:nvSpPr>
          <p:cNvPr id="1465" name="Google Shape;1465;p57"/>
          <p:cNvSpPr txBox="1"/>
          <p:nvPr>
            <p:ph idx="1" type="body"/>
          </p:nvPr>
        </p:nvSpPr>
        <p:spPr>
          <a:xfrm>
            <a:off x="5749025" y="2761625"/>
            <a:ext cx="28494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Average: (3/4 × </a:t>
            </a:r>
            <a:r>
              <a:rPr i="1" lang="en">
                <a:solidFill>
                  <a:srgbClr val="000000"/>
                </a:solidFill>
              </a:rPr>
              <a:t>W</a:t>
            </a:r>
            <a:r>
              <a:rPr lang="en" sz="1200">
                <a:solidFill>
                  <a:srgbClr val="000000"/>
                </a:solidFill>
              </a:rPr>
              <a:t>max</a:t>
            </a:r>
            <a:r>
              <a:rPr lang="en">
                <a:solidFill>
                  <a:srgbClr val="000000"/>
                </a:solidFill>
              </a:rPr>
              <a:t>)</a:t>
            </a:r>
            <a:r>
              <a:rPr lang="en" sz="1200">
                <a:solidFill>
                  <a:srgbClr val="000000"/>
                </a:solidFill>
              </a:rPr>
              <a:t> </a:t>
            </a:r>
            <a:r>
              <a:rPr lang="en"/>
              <a:t>/ RTT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1466" name="Google Shape;1466;p57"/>
          <p:cNvSpPr txBox="1"/>
          <p:nvPr>
            <p:ph idx="1" type="body"/>
          </p:nvPr>
        </p:nvSpPr>
        <p:spPr>
          <a:xfrm>
            <a:off x="3784700" y="3931925"/>
            <a:ext cx="21684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Width = (0.5 ×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800">
                <a:solidFill>
                  <a:schemeClr val="accent3"/>
                </a:solidFill>
              </a:rPr>
              <a:t>max</a:t>
            </a:r>
            <a:r>
              <a:rPr lang="en" sz="1400">
                <a:solidFill>
                  <a:schemeClr val="accent3"/>
                </a:solidFill>
              </a:rPr>
              <a:t>) RTT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1467" name="Google Shape;1467;p57"/>
          <p:cNvSpPr txBox="1"/>
          <p:nvPr>
            <p:ph idx="1" type="body"/>
          </p:nvPr>
        </p:nvSpPr>
        <p:spPr>
          <a:xfrm>
            <a:off x="2107875" y="4564250"/>
            <a:ext cx="2322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2"/>
                </a:solidFill>
              </a:rPr>
              <a:t>Height = (3/4 × </a:t>
            </a:r>
            <a:r>
              <a:rPr i="1" lang="en" sz="1400">
                <a:solidFill>
                  <a:schemeClr val="accent2"/>
                </a:solidFill>
              </a:rPr>
              <a:t>W</a:t>
            </a:r>
            <a:r>
              <a:rPr lang="en" sz="800">
                <a:solidFill>
                  <a:schemeClr val="accent2"/>
                </a:solidFill>
              </a:rPr>
              <a:t>max</a:t>
            </a:r>
            <a:r>
              <a:rPr lang="en" sz="1400">
                <a:solidFill>
                  <a:schemeClr val="accent2"/>
                </a:solidFill>
              </a:rPr>
              <a:t>) / RTT</a:t>
            </a:r>
            <a:endParaRPr sz="1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Relating Window and Loss Rate</a:t>
            </a:r>
            <a:endParaRPr/>
          </a:p>
        </p:txBody>
      </p:sp>
      <p:sp>
        <p:nvSpPr>
          <p:cNvPr id="1473" name="Google Shape;1473;p58"/>
          <p:cNvSpPr txBox="1"/>
          <p:nvPr>
            <p:ph idx="1" type="body"/>
          </p:nvPr>
        </p:nvSpPr>
        <p:spPr>
          <a:xfrm>
            <a:off x="107050" y="402200"/>
            <a:ext cx="8909700" cy="14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Loss rate = </a:t>
            </a:r>
            <a:r>
              <a:rPr i="1" lang="en"/>
              <a:t>p</a:t>
            </a:r>
            <a:r>
              <a:rPr lang="en"/>
              <a:t> =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 some algebra to isolate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in terms of </a:t>
            </a:r>
            <a:r>
              <a:rPr i="1" lang="en"/>
              <a:t>p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8"/>
          <p:cNvSpPr txBox="1"/>
          <p:nvPr/>
        </p:nvSpPr>
        <p:spPr>
          <a:xfrm>
            <a:off x="1732344" y="427981"/>
            <a:ext cx="79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8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5" name="Google Shape;1475;p58"/>
          <p:cNvSpPr txBox="1"/>
          <p:nvPr/>
        </p:nvSpPr>
        <p:spPr>
          <a:xfrm>
            <a:off x="1732344" y="708531"/>
            <a:ext cx="79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max</a:t>
            </a:r>
            <a:r>
              <a:rPr baseline="30000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6" name="Google Shape;1476;p58"/>
          <p:cNvCxnSpPr/>
          <p:nvPr/>
        </p:nvCxnSpPr>
        <p:spPr>
          <a:xfrm>
            <a:off x="1732276" y="703196"/>
            <a:ext cx="795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77" name="Google Shape;147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150" y="1844200"/>
            <a:ext cx="2693690" cy="300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Relating Window and Loss Rate</a:t>
            </a:r>
            <a:endParaRPr/>
          </a:p>
        </p:txBody>
      </p:sp>
      <p:sp>
        <p:nvSpPr>
          <p:cNvPr id="1483" name="Google Shape;1483;p59"/>
          <p:cNvSpPr txBox="1"/>
          <p:nvPr>
            <p:ph idx="1" type="body"/>
          </p:nvPr>
        </p:nvSpPr>
        <p:spPr>
          <a:xfrm>
            <a:off x="107050" y="402200"/>
            <a:ext cx="8909700" cy="14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 some more algebra to plug this into our original throughput equation: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4" name="Google Shape;1484;p59"/>
          <p:cNvPicPr preferRelativeResize="0"/>
          <p:nvPr/>
        </p:nvPicPr>
        <p:blipFill rotWithShape="1">
          <a:blip r:embed="rId3">
            <a:alphaModFix/>
          </a:blip>
          <a:srcRect b="0" l="16426" r="14349" t="69829"/>
          <a:stretch/>
        </p:blipFill>
        <p:spPr>
          <a:xfrm>
            <a:off x="107050" y="473850"/>
            <a:ext cx="1864651" cy="90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5" name="Google Shape;148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7363" y="1935625"/>
            <a:ext cx="5089287" cy="300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TCP Throughput Equation</a:t>
            </a:r>
            <a:endParaRPr/>
          </a:p>
        </p:txBody>
      </p:sp>
      <p:sp>
        <p:nvSpPr>
          <p:cNvPr id="1491" name="Google Shape;1491;p6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Throughput =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tells us that: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Throughput is inversely proportional to RTT.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Shorter RTT = higher throughput.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Throughput is inversely proportional to square root of loss rate.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Lower loss rate = higher throughput.</a:t>
            </a:r>
            <a:endParaRPr/>
          </a:p>
        </p:txBody>
      </p:sp>
      <p:pic>
        <p:nvPicPr>
          <p:cNvPr id="1492" name="Google Shape;1492;p60"/>
          <p:cNvPicPr preferRelativeResize="0"/>
          <p:nvPr/>
        </p:nvPicPr>
        <p:blipFill rotWithShape="1">
          <a:blip r:embed="rId3">
            <a:alphaModFix/>
          </a:blip>
          <a:srcRect b="0" l="42314" r="12195" t="64343"/>
          <a:stretch/>
        </p:blipFill>
        <p:spPr>
          <a:xfrm>
            <a:off x="1624925" y="505275"/>
            <a:ext cx="1822750" cy="8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of Equation (</a:t>
            </a:r>
            <a:r>
              <a:rPr lang="en"/>
              <a:t>1/2</a:t>
            </a:r>
            <a:r>
              <a:rPr lang="en"/>
              <a:t>): Flows with Different RTTs</a:t>
            </a:r>
            <a:endParaRPr/>
          </a:p>
        </p:txBody>
      </p:sp>
      <p:sp>
        <p:nvSpPr>
          <p:cNvPr id="1498" name="Google Shape;1498;p61"/>
          <p:cNvSpPr txBox="1"/>
          <p:nvPr>
            <p:ph idx="1" type="body"/>
          </p:nvPr>
        </p:nvSpPr>
        <p:spPr>
          <a:xfrm>
            <a:off x="107050" y="402200"/>
            <a:ext cx="8909700" cy="30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Throughput =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is inherently unfair when flows have different RTTs.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Shorter RTT = higher throughput.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flow with shorter RTT gets higher throughput.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Nothing we can really do about it. Treat it as a feature of TCP.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From the equation: </a:t>
            </a:r>
            <a:r>
              <a:rPr lang="en">
                <a:solidFill>
                  <a:srgbClr val="FF00FF"/>
                </a:solidFill>
              </a:rPr>
              <a:t>A–B</a:t>
            </a:r>
            <a:r>
              <a:rPr lang="en"/>
              <a:t> gets twice as much bandwidth as </a:t>
            </a:r>
            <a:r>
              <a:rPr lang="en">
                <a:solidFill>
                  <a:srgbClr val="F1C232"/>
                </a:solidFill>
              </a:rPr>
              <a:t>X–Y</a:t>
            </a:r>
            <a:r>
              <a:rPr lang="en"/>
              <a:t>.</a:t>
            </a:r>
            <a:endParaRPr/>
          </a:p>
        </p:txBody>
      </p:sp>
      <p:pic>
        <p:nvPicPr>
          <p:cNvPr id="1499" name="Google Shape;1499;p61"/>
          <p:cNvPicPr preferRelativeResize="0"/>
          <p:nvPr/>
        </p:nvPicPr>
        <p:blipFill rotWithShape="1">
          <a:blip r:embed="rId3">
            <a:alphaModFix/>
          </a:blip>
          <a:srcRect b="0" l="42314" r="12195" t="64343"/>
          <a:stretch/>
        </p:blipFill>
        <p:spPr>
          <a:xfrm>
            <a:off x="1624925" y="505275"/>
            <a:ext cx="1822750" cy="8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61"/>
          <p:cNvSpPr/>
          <p:nvPr/>
        </p:nvSpPr>
        <p:spPr>
          <a:xfrm>
            <a:off x="2635338" y="37191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1" name="Google Shape;1501;p61"/>
          <p:cNvCxnSpPr>
            <a:stCxn id="1500" idx="6"/>
            <a:endCxn id="1502" idx="1"/>
          </p:cNvCxnSpPr>
          <p:nvPr/>
        </p:nvCxnSpPr>
        <p:spPr>
          <a:xfrm>
            <a:off x="2920338" y="3861689"/>
            <a:ext cx="1010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61"/>
          <p:cNvSpPr/>
          <p:nvPr/>
        </p:nvSpPr>
        <p:spPr>
          <a:xfrm>
            <a:off x="1873338" y="44811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4" name="Google Shape;1504;p61"/>
          <p:cNvCxnSpPr>
            <a:stCxn id="1503" idx="6"/>
            <a:endCxn id="1502" idx="1"/>
          </p:cNvCxnSpPr>
          <p:nvPr/>
        </p:nvCxnSpPr>
        <p:spPr>
          <a:xfrm flipH="1" rot="10800000">
            <a:off x="2158338" y="4242689"/>
            <a:ext cx="1772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5" name="Google Shape;1505;p61"/>
          <p:cNvCxnSpPr>
            <a:stCxn id="1502" idx="3"/>
            <a:endCxn id="1506" idx="1"/>
          </p:cNvCxnSpPr>
          <p:nvPr/>
        </p:nvCxnSpPr>
        <p:spPr>
          <a:xfrm>
            <a:off x="4215741" y="4242689"/>
            <a:ext cx="712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7" name="Google Shape;1507;p61"/>
          <p:cNvSpPr/>
          <p:nvPr/>
        </p:nvSpPr>
        <p:spPr>
          <a:xfrm>
            <a:off x="6223663" y="37191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61"/>
          <p:cNvSpPr/>
          <p:nvPr/>
        </p:nvSpPr>
        <p:spPr>
          <a:xfrm>
            <a:off x="6985663" y="44811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9" name="Google Shape;1509;p61"/>
          <p:cNvCxnSpPr>
            <a:stCxn id="1506" idx="3"/>
            <a:endCxn id="1507" idx="2"/>
          </p:cNvCxnSpPr>
          <p:nvPr/>
        </p:nvCxnSpPr>
        <p:spPr>
          <a:xfrm flipH="1" rot="10800000">
            <a:off x="5213266" y="3861689"/>
            <a:ext cx="1010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0" name="Google Shape;1510;p61"/>
          <p:cNvCxnSpPr>
            <a:stCxn id="1506" idx="3"/>
            <a:endCxn id="1508" idx="2"/>
          </p:cNvCxnSpPr>
          <p:nvPr/>
        </p:nvCxnSpPr>
        <p:spPr>
          <a:xfrm>
            <a:off x="5213266" y="4242689"/>
            <a:ext cx="1772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1" name="Google Shape;1511;p61"/>
          <p:cNvSpPr/>
          <p:nvPr/>
        </p:nvSpPr>
        <p:spPr>
          <a:xfrm>
            <a:off x="2850738" y="3778300"/>
            <a:ext cx="3485525" cy="420850"/>
          </a:xfrm>
          <a:custGeom>
            <a:rect b="b" l="l" r="r" t="t"/>
            <a:pathLst>
              <a:path extrusionOk="0" h="16834" w="139421">
                <a:moveTo>
                  <a:pt x="0" y="1466"/>
                </a:moveTo>
                <a:cubicBezTo>
                  <a:pt x="8095" y="3664"/>
                  <a:pt x="33250" y="12351"/>
                  <a:pt x="48567" y="14654"/>
                </a:cubicBezTo>
                <a:cubicBezTo>
                  <a:pt x="63884" y="16957"/>
                  <a:pt x="76759" y="17724"/>
                  <a:pt x="91901" y="15282"/>
                </a:cubicBezTo>
                <a:cubicBezTo>
                  <a:pt x="107043" y="12840"/>
                  <a:pt x="131501" y="2547"/>
                  <a:pt x="139421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512" name="Google Shape;1512;p61"/>
          <p:cNvSpPr/>
          <p:nvPr/>
        </p:nvSpPr>
        <p:spPr>
          <a:xfrm flipH="1" rot="10800000">
            <a:off x="2070963" y="4296000"/>
            <a:ext cx="5018807" cy="420850"/>
          </a:xfrm>
          <a:custGeom>
            <a:rect b="b" l="l" r="r" t="t"/>
            <a:pathLst>
              <a:path extrusionOk="0" h="16834" w="139421">
                <a:moveTo>
                  <a:pt x="0" y="1466"/>
                </a:moveTo>
                <a:cubicBezTo>
                  <a:pt x="8095" y="3664"/>
                  <a:pt x="33250" y="12351"/>
                  <a:pt x="48567" y="14654"/>
                </a:cubicBezTo>
                <a:cubicBezTo>
                  <a:pt x="63884" y="16957"/>
                  <a:pt x="76759" y="17724"/>
                  <a:pt x="91901" y="15282"/>
                </a:cubicBezTo>
                <a:cubicBezTo>
                  <a:pt x="107043" y="12840"/>
                  <a:pt x="131501" y="2547"/>
                  <a:pt x="139421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513" name="Google Shape;1513;p61"/>
          <p:cNvSpPr txBox="1"/>
          <p:nvPr/>
        </p:nvSpPr>
        <p:spPr>
          <a:xfrm>
            <a:off x="4215750" y="3694550"/>
            <a:ext cx="712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100 ms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4" name="Google Shape;1514;p61"/>
          <p:cNvSpPr txBox="1"/>
          <p:nvPr/>
        </p:nvSpPr>
        <p:spPr>
          <a:xfrm>
            <a:off x="4215750" y="4519950"/>
            <a:ext cx="712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200 ms</a:t>
            </a:r>
            <a:endParaRPr>
              <a:solidFill>
                <a:srgbClr val="F1C2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2" name="Google Shape;1502;p61"/>
          <p:cNvSpPr/>
          <p:nvPr/>
        </p:nvSpPr>
        <p:spPr>
          <a:xfrm>
            <a:off x="3930741" y="4100189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61"/>
          <p:cNvSpPr/>
          <p:nvPr/>
        </p:nvSpPr>
        <p:spPr>
          <a:xfrm>
            <a:off x="4928266" y="4100189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of Equation (2/2): Rate-Based Congestion Control</a:t>
            </a:r>
            <a:endParaRPr/>
          </a:p>
        </p:txBody>
      </p:sp>
      <p:sp>
        <p:nvSpPr>
          <p:cNvPr id="1520" name="Google Shape;1520;p62"/>
          <p:cNvSpPr txBox="1"/>
          <p:nvPr>
            <p:ph idx="1" type="body"/>
          </p:nvPr>
        </p:nvSpPr>
        <p:spPr>
          <a:xfrm>
            <a:off x="107050" y="402200"/>
            <a:ext cx="89097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Throughput =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throughput is choppy: Rate oscillates between </a:t>
            </a:r>
            <a:r>
              <a:rPr i="1" lang="en"/>
              <a:t>W</a:t>
            </a:r>
            <a:r>
              <a:rPr lang="en"/>
              <a:t>/2 and </a:t>
            </a:r>
            <a:r>
              <a:rPr i="1" lang="en"/>
              <a:t>W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applications (e.g. video streaming) would prefer sending at a steady rate.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Equation-based congestion control.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Abandon TCP's adjustment rules, and just follow the equation.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 RTT, measure </a:t>
            </a:r>
            <a:r>
              <a:rPr i="1" lang="en"/>
              <a:t>p</a:t>
            </a:r>
            <a:r>
              <a:rPr lang="en"/>
              <a:t>, and compute the rate accordingly.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the equation ensures fairness: We don't use more bandwidth than TCP would.</a:t>
            </a:r>
            <a:endParaRPr/>
          </a:p>
        </p:txBody>
      </p:sp>
      <p:pic>
        <p:nvPicPr>
          <p:cNvPr id="1521" name="Google Shape;1521;p62"/>
          <p:cNvPicPr preferRelativeResize="0"/>
          <p:nvPr/>
        </p:nvPicPr>
        <p:blipFill rotWithShape="1">
          <a:blip r:embed="rId3">
            <a:alphaModFix/>
          </a:blip>
          <a:srcRect b="0" l="42314" r="12195" t="64343"/>
          <a:stretch/>
        </p:blipFill>
        <p:spPr>
          <a:xfrm>
            <a:off x="1624925" y="505275"/>
            <a:ext cx="1822750" cy="8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62"/>
          <p:cNvSpPr/>
          <p:nvPr/>
        </p:nvSpPr>
        <p:spPr>
          <a:xfrm>
            <a:off x="2171600" y="4001300"/>
            <a:ext cx="4780600" cy="891651"/>
          </a:xfrm>
          <a:custGeom>
            <a:rect b="b" l="l" r="r" t="t"/>
            <a:pathLst>
              <a:path extrusionOk="0" h="36887" w="191224">
                <a:moveTo>
                  <a:pt x="0" y="36840"/>
                </a:moveTo>
                <a:lnTo>
                  <a:pt x="63720" y="51"/>
                </a:lnTo>
                <a:lnTo>
                  <a:pt x="63720" y="36792"/>
                </a:lnTo>
                <a:lnTo>
                  <a:pt x="127334" y="65"/>
                </a:lnTo>
                <a:lnTo>
                  <a:pt x="127334" y="36887"/>
                </a:lnTo>
                <a:lnTo>
                  <a:pt x="191224" y="0"/>
                </a:lnTo>
                <a:lnTo>
                  <a:pt x="191224" y="36887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523" name="Google Shape;1523;p62"/>
          <p:cNvCxnSpPr>
            <a:stCxn id="1524" idx="0"/>
          </p:cNvCxnSpPr>
          <p:nvPr/>
        </p:nvCxnSpPr>
        <p:spPr>
          <a:xfrm rot="10800000">
            <a:off x="5332650" y="481313"/>
            <a:ext cx="219900" cy="325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4" name="Google Shape;1524;p62"/>
          <p:cNvSpPr txBox="1"/>
          <p:nvPr/>
        </p:nvSpPr>
        <p:spPr>
          <a:xfrm>
            <a:off x="4572000" y="806813"/>
            <a:ext cx="1961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Look up RFC 5348 for spec.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6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Fast Recovery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State Machine and Variants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TCP Throughput Model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Congestion Control Issues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Router-Assisted Congestion Control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30" name="Google Shape;1530;p6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Congestion Control Issues</a:t>
            </a:r>
            <a:endParaRPr/>
          </a:p>
        </p:txBody>
      </p:sp>
      <p:sp>
        <p:nvSpPr>
          <p:cNvPr id="1531" name="Google Shape;1531;p6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Congestion Control Issues</a:t>
            </a:r>
            <a:endParaRPr/>
          </a:p>
        </p:txBody>
      </p:sp>
      <p:sp>
        <p:nvSpPr>
          <p:cNvPr id="1537" name="Google Shape;1537;p6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look at 5 issues (and potential solutions):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Confusing corruption and congestion.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Short connections complete before discovering available capacity.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Router queues get filled up, causing high delays.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Cheating.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Congestion control and reliability are intertwined.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(</a:t>
            </a:r>
            <a:r>
              <a:rPr lang="en"/>
              <a:t>1/5</a:t>
            </a:r>
            <a:r>
              <a:rPr lang="en"/>
              <a:t>): Confusing Corruption and Congestion</a:t>
            </a:r>
            <a:endParaRPr/>
          </a:p>
        </p:txBody>
      </p:sp>
      <p:sp>
        <p:nvSpPr>
          <p:cNvPr id="1543" name="Google Shape;1543;p6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detects congestion by checking for loss.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Loss could also occur due to corruption.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will confuse corruption with congestion.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From the equation: Higher loss = lower throughput.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true, even if the losses aren't due to congestion!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could be used to analyze how TCP would perform on a lossy link (high corruption rate).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(</a:t>
            </a:r>
            <a:r>
              <a:rPr lang="en"/>
              <a:t>2/5</a:t>
            </a:r>
            <a:r>
              <a:rPr lang="en"/>
              <a:t>): Short Connections</a:t>
            </a:r>
            <a:endParaRPr/>
          </a:p>
        </p:txBody>
      </p:sp>
      <p:sp>
        <p:nvSpPr>
          <p:cNvPr id="1549" name="Google Shape;1549;p66"/>
          <p:cNvSpPr txBox="1"/>
          <p:nvPr>
            <p:ph idx="1" type="body"/>
          </p:nvPr>
        </p:nvSpPr>
        <p:spPr>
          <a:xfrm>
            <a:off x="107050" y="402200"/>
            <a:ext cx="58566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Most real-life TCP connections are really </a:t>
            </a:r>
            <a:r>
              <a:rPr lang="en"/>
              <a:t>short.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50% of connections send fewer than 1.5 KB.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80% of connections send fewer than 100 KB.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few packets (maybe only one) are sent.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connections stay in slow-start the whole time.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connections likely to suffer from high latency.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enough packets to trigger duplicate acks.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Isolated loss may lead to timeouts.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Timeouts can severely increase latency.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Partial fix: Start with a higher initial </a:t>
            </a:r>
            <a:r>
              <a:rPr i="1" lang="en"/>
              <a:t>CWND</a:t>
            </a:r>
            <a:r>
              <a:rPr lang="en"/>
              <a:t>.</a:t>
            </a:r>
            <a:endParaRPr/>
          </a:p>
        </p:txBody>
      </p:sp>
      <p:cxnSp>
        <p:nvCxnSpPr>
          <p:cNvPr id="1550" name="Google Shape;1550;p66"/>
          <p:cNvCxnSpPr>
            <a:stCxn id="1551" idx="0"/>
          </p:cNvCxnSpPr>
          <p:nvPr/>
        </p:nvCxnSpPr>
        <p:spPr>
          <a:xfrm rot="10800000">
            <a:off x="2873175" y="4167500"/>
            <a:ext cx="219900" cy="325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1" name="Google Shape;1551;p66"/>
          <p:cNvSpPr txBox="1"/>
          <p:nvPr/>
        </p:nvSpPr>
        <p:spPr>
          <a:xfrm>
            <a:off x="2257425" y="4493000"/>
            <a:ext cx="1671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Look up RFC 5348 for experiments on this.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2" name="Google Shape;1552;p66"/>
          <p:cNvSpPr txBox="1"/>
          <p:nvPr/>
        </p:nvSpPr>
        <p:spPr>
          <a:xfrm>
            <a:off x="5884163" y="3239775"/>
            <a:ext cx="748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3" name="Google Shape;1553;p66"/>
          <p:cNvSpPr txBox="1"/>
          <p:nvPr/>
        </p:nvSpPr>
        <p:spPr>
          <a:xfrm>
            <a:off x="8128113" y="3239775"/>
            <a:ext cx="932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4" name="Google Shape;1554;p66"/>
          <p:cNvCxnSpPr/>
          <p:nvPr/>
        </p:nvCxnSpPr>
        <p:spPr>
          <a:xfrm>
            <a:off x="6258575" y="538025"/>
            <a:ext cx="0" cy="269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5" name="Google Shape;1555;p66"/>
          <p:cNvCxnSpPr/>
          <p:nvPr/>
        </p:nvCxnSpPr>
        <p:spPr>
          <a:xfrm>
            <a:off x="8594175" y="538025"/>
            <a:ext cx="0" cy="269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6" name="Google Shape;1556;p66"/>
          <p:cNvCxnSpPr/>
          <p:nvPr/>
        </p:nvCxnSpPr>
        <p:spPr>
          <a:xfrm>
            <a:off x="6261575" y="841450"/>
            <a:ext cx="2323800" cy="45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7" name="Google Shape;1557;p66"/>
          <p:cNvCxnSpPr/>
          <p:nvPr/>
        </p:nvCxnSpPr>
        <p:spPr>
          <a:xfrm flipH="1">
            <a:off x="6261575" y="1336750"/>
            <a:ext cx="2323800" cy="45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8" name="Google Shape;1558;p66"/>
          <p:cNvCxnSpPr/>
          <p:nvPr/>
        </p:nvCxnSpPr>
        <p:spPr>
          <a:xfrm>
            <a:off x="6261575" y="1832050"/>
            <a:ext cx="2323800" cy="45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9" name="Google Shape;1559;p66"/>
          <p:cNvCxnSpPr/>
          <p:nvPr/>
        </p:nvCxnSpPr>
        <p:spPr>
          <a:xfrm>
            <a:off x="6261575" y="1984450"/>
            <a:ext cx="2323800" cy="45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0" name="Google Shape;1560;p66"/>
          <p:cNvCxnSpPr/>
          <p:nvPr/>
        </p:nvCxnSpPr>
        <p:spPr>
          <a:xfrm flipH="1">
            <a:off x="6261575" y="2327350"/>
            <a:ext cx="2323800" cy="45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1" name="Google Shape;1561;p66"/>
          <p:cNvCxnSpPr/>
          <p:nvPr/>
        </p:nvCxnSpPr>
        <p:spPr>
          <a:xfrm flipH="1">
            <a:off x="6261575" y="2479750"/>
            <a:ext cx="2323800" cy="45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2" name="Google Shape;1562;p66"/>
          <p:cNvSpPr txBox="1"/>
          <p:nvPr/>
        </p:nvSpPr>
        <p:spPr>
          <a:xfrm>
            <a:off x="5823125" y="3730100"/>
            <a:ext cx="3200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Recall slow start: Start with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1, double every RTT.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It took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≈2 RTTs to send 3 packets.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(</a:t>
            </a:r>
            <a:r>
              <a:rPr lang="en"/>
              <a:t>3/5</a:t>
            </a:r>
            <a:r>
              <a:rPr lang="en"/>
              <a:t>): Router Queues Get Filled Up</a:t>
            </a:r>
            <a:endParaRPr/>
          </a:p>
        </p:txBody>
      </p:sp>
      <p:sp>
        <p:nvSpPr>
          <p:cNvPr id="1568" name="Google Shape;1568;p6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deliberately overshoots capacity until packets get dropped.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Loss occurs when the queue is full.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then, the queue is already full, and packets are delayed.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Result: Delays are large for everybody.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Someone is transferring a 10 GB file. Queues are filled with their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want to download a 100 byte file. You're stuck waiting in the queue.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 is even worse if routers keep really long queues.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Bufferbloat</a:t>
            </a:r>
            <a:r>
              <a:rPr lang="en"/>
              <a:t>: Routers have excessive memory, and maintain long queues.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loss occurs, everybody is already waiting in a really long queue.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(3/5): Router Queues Get Filled Up</a:t>
            </a:r>
            <a:endParaRPr/>
          </a:p>
        </p:txBody>
      </p:sp>
      <p:sp>
        <p:nvSpPr>
          <p:cNvPr id="1574" name="Google Shape;1574;p68"/>
          <p:cNvSpPr txBox="1"/>
          <p:nvPr>
            <p:ph idx="1" type="body"/>
          </p:nvPr>
        </p:nvSpPr>
        <p:spPr>
          <a:xfrm>
            <a:off x="107050" y="402200"/>
            <a:ext cx="8909700" cy="16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Possible solution: Google's BBR algorithm (2016).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Detects congestion using </a:t>
            </a:r>
            <a:r>
              <a:rPr i="1" lang="en"/>
              <a:t>delay</a:t>
            </a:r>
            <a:r>
              <a:rPr lang="en"/>
              <a:t> instead of </a:t>
            </a:r>
            <a:r>
              <a:rPr i="1" lang="en"/>
              <a:t>loss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learns its minimum 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slows down if it observes RTTs exceeding the minimum.</a:t>
            </a:r>
            <a:endParaRPr/>
          </a:p>
        </p:txBody>
      </p:sp>
      <p:sp>
        <p:nvSpPr>
          <p:cNvPr id="1575" name="Google Shape;1575;p68"/>
          <p:cNvSpPr txBox="1"/>
          <p:nvPr/>
        </p:nvSpPr>
        <p:spPr>
          <a:xfrm>
            <a:off x="7205625" y="495925"/>
            <a:ext cx="173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 to BBR paper.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6" name="Google Shape;1576;p68"/>
          <p:cNvSpPr txBox="1"/>
          <p:nvPr/>
        </p:nvSpPr>
        <p:spPr>
          <a:xfrm>
            <a:off x="2636850" y="2247375"/>
            <a:ext cx="2693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Congestion Control Protocols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7" name="Google Shape;1577;p68"/>
          <p:cNvSpPr txBox="1"/>
          <p:nvPr/>
        </p:nvSpPr>
        <p:spPr>
          <a:xfrm>
            <a:off x="3342300" y="3021075"/>
            <a:ext cx="1282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Pricing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8" name="Google Shape;1578;p68"/>
          <p:cNvCxnSpPr>
            <a:stCxn id="1576" idx="2"/>
            <a:endCxn id="1577" idx="0"/>
          </p:cNvCxnSpPr>
          <p:nvPr/>
        </p:nvCxnSpPr>
        <p:spPr>
          <a:xfrm>
            <a:off x="3983400" y="2518275"/>
            <a:ext cx="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9" name="Google Shape;1579;p68"/>
          <p:cNvSpPr txBox="1"/>
          <p:nvPr/>
        </p:nvSpPr>
        <p:spPr>
          <a:xfrm>
            <a:off x="2046900" y="3021075"/>
            <a:ext cx="1282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Reservations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0" name="Google Shape;1580;p68"/>
          <p:cNvCxnSpPr>
            <a:stCxn id="1576" idx="2"/>
            <a:endCxn id="1579" idx="0"/>
          </p:cNvCxnSpPr>
          <p:nvPr/>
        </p:nvCxnSpPr>
        <p:spPr>
          <a:xfrm flipH="1">
            <a:off x="2688000" y="2518275"/>
            <a:ext cx="129540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1" name="Google Shape;1581;p68"/>
          <p:cNvSpPr txBox="1"/>
          <p:nvPr/>
        </p:nvSpPr>
        <p:spPr>
          <a:xfrm>
            <a:off x="4351800" y="3021075"/>
            <a:ext cx="1854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Dynamic Adjustment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2" name="Google Shape;1582;p68"/>
          <p:cNvCxnSpPr>
            <a:stCxn id="1576" idx="2"/>
            <a:endCxn id="1581" idx="0"/>
          </p:cNvCxnSpPr>
          <p:nvPr/>
        </p:nvCxnSpPr>
        <p:spPr>
          <a:xfrm>
            <a:off x="3983400" y="2518275"/>
            <a:ext cx="129540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3" name="Google Shape;1583;p68"/>
          <p:cNvSpPr txBox="1"/>
          <p:nvPr/>
        </p:nvSpPr>
        <p:spPr>
          <a:xfrm>
            <a:off x="5746500" y="3794775"/>
            <a:ext cx="1350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Router-assisted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4" name="Google Shape;1584;p68"/>
          <p:cNvSpPr txBox="1"/>
          <p:nvPr/>
        </p:nvSpPr>
        <p:spPr>
          <a:xfrm>
            <a:off x="3624925" y="3794775"/>
            <a:ext cx="10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Host-based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5" name="Google Shape;1585;p68"/>
          <p:cNvCxnSpPr>
            <a:stCxn id="1581" idx="2"/>
            <a:endCxn id="1584" idx="0"/>
          </p:cNvCxnSpPr>
          <p:nvPr/>
        </p:nvCxnSpPr>
        <p:spPr>
          <a:xfrm flipH="1">
            <a:off x="4150500" y="3291975"/>
            <a:ext cx="112830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6" name="Google Shape;1586;p68"/>
          <p:cNvCxnSpPr>
            <a:stCxn id="1581" idx="2"/>
            <a:endCxn id="1583" idx="0"/>
          </p:cNvCxnSpPr>
          <p:nvPr/>
        </p:nvCxnSpPr>
        <p:spPr>
          <a:xfrm>
            <a:off x="5278800" y="3291975"/>
            <a:ext cx="114300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7" name="Google Shape;1587;p68"/>
          <p:cNvSpPr txBox="1"/>
          <p:nvPr/>
        </p:nvSpPr>
        <p:spPr>
          <a:xfrm>
            <a:off x="3015325" y="4568475"/>
            <a:ext cx="10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Loss-based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8" name="Google Shape;1588;p68"/>
          <p:cNvSpPr txBox="1"/>
          <p:nvPr/>
        </p:nvSpPr>
        <p:spPr>
          <a:xfrm>
            <a:off x="4234525" y="4568475"/>
            <a:ext cx="10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Delay-based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68"/>
          <p:cNvCxnSpPr>
            <a:stCxn id="1584" idx="2"/>
            <a:endCxn id="1587" idx="0"/>
          </p:cNvCxnSpPr>
          <p:nvPr/>
        </p:nvCxnSpPr>
        <p:spPr>
          <a:xfrm flipH="1">
            <a:off x="3540925" y="4065675"/>
            <a:ext cx="60960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0" name="Google Shape;1590;p68"/>
          <p:cNvCxnSpPr>
            <a:stCxn id="1584" idx="2"/>
            <a:endCxn id="1588" idx="0"/>
          </p:cNvCxnSpPr>
          <p:nvPr/>
        </p:nvCxnSpPr>
        <p:spPr>
          <a:xfrm>
            <a:off x="4150525" y="4065675"/>
            <a:ext cx="60960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1" name="Google Shape;1591;p68"/>
          <p:cNvSpPr/>
          <p:nvPr/>
        </p:nvSpPr>
        <p:spPr>
          <a:xfrm>
            <a:off x="4234525" y="45684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2" name="Google Shape;1592;p68"/>
          <p:cNvSpPr txBox="1"/>
          <p:nvPr/>
        </p:nvSpPr>
        <p:spPr>
          <a:xfrm>
            <a:off x="5346900" y="4568475"/>
            <a:ext cx="100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BBR is here.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3" name="Google Shape;1593;p68"/>
          <p:cNvSpPr txBox="1"/>
          <p:nvPr/>
        </p:nvSpPr>
        <p:spPr>
          <a:xfrm>
            <a:off x="1994100" y="4568475"/>
            <a:ext cx="100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TCP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is here.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4" name="Google Shape;1594;p68"/>
          <p:cNvSpPr/>
          <p:nvPr/>
        </p:nvSpPr>
        <p:spPr>
          <a:xfrm>
            <a:off x="3015325" y="45684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(</a:t>
            </a:r>
            <a:r>
              <a:rPr lang="en"/>
              <a:t>4/5</a:t>
            </a:r>
            <a:r>
              <a:rPr lang="en"/>
              <a:t>): Cheating</a:t>
            </a:r>
            <a:endParaRPr/>
          </a:p>
        </p:txBody>
      </p:sp>
      <p:sp>
        <p:nvSpPr>
          <p:cNvPr id="1600" name="Google Shape;1600;p6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Nobody is enforcing that users follow the TCP congestion control algorithm.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Cheating strategy: Change the algorithm.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 the window faster (+2, instead of +1).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with a large initial </a:t>
            </a:r>
            <a:r>
              <a:rPr i="1" lang="en"/>
              <a:t>CWND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Cheating strategy: Open lots of connections.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shares bandwidth between connections.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Alice opens 10 connections, and Bob opens 1, then Alice gets 10x more bandwidth.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Issues (4/5): Cheating</a:t>
            </a:r>
            <a:endParaRPr/>
          </a:p>
        </p:txBody>
      </p:sp>
      <p:sp>
        <p:nvSpPr>
          <p:cNvPr id="1606" name="Google Shape;1606;p70"/>
          <p:cNvSpPr txBox="1"/>
          <p:nvPr>
            <p:ph idx="1" type="body"/>
          </p:nvPr>
        </p:nvSpPr>
        <p:spPr>
          <a:xfrm>
            <a:off x="107050" y="402200"/>
            <a:ext cx="4729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Applying graphical model to a cheating host: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 increases by 2 per 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 increases by 1 per RTT.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current allocation is (</a:t>
            </a:r>
            <a:r>
              <a:rPr i="1" lang="en"/>
              <a:t>X</a:t>
            </a:r>
            <a:r>
              <a:rPr lang="en"/>
              <a:t>, </a:t>
            </a:r>
            <a:r>
              <a:rPr i="1" lang="en"/>
              <a:t>Y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both increase additively: (</a:t>
            </a:r>
            <a:r>
              <a:rPr i="1" lang="en"/>
              <a:t>X </a:t>
            </a:r>
            <a:r>
              <a:rPr lang="en"/>
              <a:t>+ 2</a:t>
            </a:r>
            <a:r>
              <a:rPr i="1" lang="en"/>
              <a:t>a</a:t>
            </a:r>
            <a:r>
              <a:rPr lang="en"/>
              <a:t>, </a:t>
            </a:r>
            <a:r>
              <a:rPr i="1" lang="en"/>
              <a:t>Y </a:t>
            </a:r>
            <a:r>
              <a:rPr lang="en"/>
              <a:t>+ </a:t>
            </a:r>
            <a:r>
              <a:rPr i="1" lang="en"/>
              <a:t>a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Notice: Slope of this line is now 1/2, not 1.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Fairness/efficiency lines now meet at (2/3, 1/3).</a:t>
            </a:r>
            <a:endParaRPr/>
          </a:p>
        </p:txBody>
      </p:sp>
      <p:grpSp>
        <p:nvGrpSpPr>
          <p:cNvPr id="1607" name="Google Shape;1607;p70"/>
          <p:cNvGrpSpPr/>
          <p:nvPr/>
        </p:nvGrpSpPr>
        <p:grpSpPr>
          <a:xfrm>
            <a:off x="4996201" y="842450"/>
            <a:ext cx="387298" cy="3650100"/>
            <a:chOff x="4138801" y="842450"/>
            <a:chExt cx="387298" cy="3650100"/>
          </a:xfrm>
        </p:grpSpPr>
        <p:cxnSp>
          <p:nvCxnSpPr>
            <p:cNvPr id="1608" name="Google Shape;1608;p70"/>
            <p:cNvCxnSpPr/>
            <p:nvPr/>
          </p:nvCxnSpPr>
          <p:spPr>
            <a:xfrm>
              <a:off x="4448700" y="842450"/>
              <a:ext cx="0" cy="3650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09" name="Google Shape;1609;p70"/>
            <p:cNvSpPr txBox="1"/>
            <p:nvPr/>
          </p:nvSpPr>
          <p:spPr>
            <a:xfrm>
              <a:off x="4138801" y="1071050"/>
              <a:ext cx="233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10" name="Google Shape;1610;p70"/>
            <p:cNvCxnSpPr/>
            <p:nvPr/>
          </p:nvCxnSpPr>
          <p:spPr>
            <a:xfrm>
              <a:off x="4372500" y="1178750"/>
              <a:ext cx="153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11" name="Google Shape;1611;p70"/>
          <p:cNvGrpSpPr/>
          <p:nvPr/>
        </p:nvGrpSpPr>
        <p:grpSpPr>
          <a:xfrm>
            <a:off x="5306100" y="4415750"/>
            <a:ext cx="3650100" cy="368400"/>
            <a:chOff x="4448700" y="4415750"/>
            <a:chExt cx="3650100" cy="368400"/>
          </a:xfrm>
        </p:grpSpPr>
        <p:cxnSp>
          <p:nvCxnSpPr>
            <p:cNvPr id="1612" name="Google Shape;1612;p70"/>
            <p:cNvCxnSpPr/>
            <p:nvPr/>
          </p:nvCxnSpPr>
          <p:spPr>
            <a:xfrm rot="10800000">
              <a:off x="4448700" y="4492550"/>
              <a:ext cx="36501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13" name="Google Shape;1613;p70"/>
            <p:cNvSpPr txBox="1"/>
            <p:nvPr/>
          </p:nvSpPr>
          <p:spPr>
            <a:xfrm>
              <a:off x="7636501" y="4568750"/>
              <a:ext cx="233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14" name="Google Shape;1614;p70"/>
            <p:cNvCxnSpPr>
              <a:stCxn id="1615" idx="1"/>
              <a:endCxn id="1613" idx="0"/>
            </p:cNvCxnSpPr>
            <p:nvPr/>
          </p:nvCxnSpPr>
          <p:spPr>
            <a:xfrm>
              <a:off x="7753351" y="4415750"/>
              <a:ext cx="0" cy="153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16" name="Google Shape;1616;p70"/>
          <p:cNvCxnSpPr>
            <a:stCxn id="1617" idx="1"/>
            <a:endCxn id="1618" idx="2"/>
          </p:cNvCxnSpPr>
          <p:nvPr/>
        </p:nvCxnSpPr>
        <p:spPr>
          <a:xfrm>
            <a:off x="5306100" y="1179043"/>
            <a:ext cx="3303600" cy="3313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9" name="Google Shape;1619;p70"/>
          <p:cNvCxnSpPr>
            <a:endCxn id="1620" idx="3"/>
          </p:cNvCxnSpPr>
          <p:nvPr/>
        </p:nvCxnSpPr>
        <p:spPr>
          <a:xfrm flipH="1" rot="10800000">
            <a:off x="5306100" y="2835800"/>
            <a:ext cx="3303600" cy="16569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1" name="Google Shape;1621;p70"/>
          <p:cNvSpPr txBox="1"/>
          <p:nvPr/>
        </p:nvSpPr>
        <p:spPr>
          <a:xfrm>
            <a:off x="7331109" y="747940"/>
            <a:ext cx="118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airness Line: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r>
              <a:rPr i="1"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2" name="Google Shape;1622;p70"/>
          <p:cNvSpPr txBox="1"/>
          <p:nvPr/>
        </p:nvSpPr>
        <p:spPr>
          <a:xfrm>
            <a:off x="5543141" y="747949"/>
            <a:ext cx="118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Efficiency Line: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i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= 1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3" name="Google Shape;1623;p70"/>
          <p:cNvSpPr txBox="1"/>
          <p:nvPr/>
        </p:nvSpPr>
        <p:spPr>
          <a:xfrm>
            <a:off x="5843955" y="3195750"/>
            <a:ext cx="44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4" name="Google Shape;1624;p70"/>
          <p:cNvSpPr/>
          <p:nvPr/>
        </p:nvSpPr>
        <p:spPr>
          <a:xfrm>
            <a:off x="6317412" y="3233862"/>
            <a:ext cx="139200" cy="139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5" name="Google Shape;1625;p70"/>
          <p:cNvSpPr txBox="1"/>
          <p:nvPr/>
        </p:nvSpPr>
        <p:spPr>
          <a:xfrm>
            <a:off x="6970475" y="2286300"/>
            <a:ext cx="90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+2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6" name="Google Shape;1626;p70"/>
          <p:cNvSpPr/>
          <p:nvPr/>
        </p:nvSpPr>
        <p:spPr>
          <a:xfrm>
            <a:off x="7919571" y="2432820"/>
            <a:ext cx="139200" cy="139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7" name="Google Shape;1627;p70"/>
          <p:cNvCxnSpPr/>
          <p:nvPr/>
        </p:nvCxnSpPr>
        <p:spPr>
          <a:xfrm flipH="1" rot="10800000">
            <a:off x="6409132" y="2501696"/>
            <a:ext cx="1584300" cy="79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2" name="Google Shape;1632;p71"/>
          <p:cNvCxnSpPr/>
          <p:nvPr/>
        </p:nvCxnSpPr>
        <p:spPr>
          <a:xfrm flipH="1" rot="10800000">
            <a:off x="5312529" y="3177383"/>
            <a:ext cx="2057700" cy="1314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3" name="Google Shape;1633;p71"/>
          <p:cNvCxnSpPr/>
          <p:nvPr/>
        </p:nvCxnSpPr>
        <p:spPr>
          <a:xfrm flipH="1" rot="10800000">
            <a:off x="5312529" y="2497883"/>
            <a:ext cx="1538100" cy="1994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4" name="Google Shape;1634;p71"/>
          <p:cNvCxnSpPr/>
          <p:nvPr/>
        </p:nvCxnSpPr>
        <p:spPr>
          <a:xfrm flipH="1" rot="10800000">
            <a:off x="5312450" y="1610450"/>
            <a:ext cx="876600" cy="288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35" name="Google Shape;1635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AIMD (Additive Increase, Multiplicative Decrease) Adjustments on Graph</a:t>
            </a:r>
            <a:endParaRPr/>
          </a:p>
        </p:txBody>
      </p:sp>
      <p:sp>
        <p:nvSpPr>
          <p:cNvPr id="1636" name="Google Shape;1636;p71"/>
          <p:cNvSpPr txBox="1"/>
          <p:nvPr>
            <p:ph idx="1" type="body"/>
          </p:nvPr>
        </p:nvSpPr>
        <p:spPr>
          <a:xfrm>
            <a:off x="107050" y="402200"/>
            <a:ext cx="4729500" cy="3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Increase: +2 (X), +1(Y)		Decrease: ÷</a:t>
            </a:r>
            <a:r>
              <a:rPr lang="en"/>
              <a:t>2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Because X is cheating, AIMD converges toward a "fairness" line where X has twice as much bandwidth as Y.</a:t>
            </a:r>
            <a:endParaRPr/>
          </a:p>
        </p:txBody>
      </p:sp>
      <p:grpSp>
        <p:nvGrpSpPr>
          <p:cNvPr id="1637" name="Google Shape;1637;p71"/>
          <p:cNvGrpSpPr/>
          <p:nvPr/>
        </p:nvGrpSpPr>
        <p:grpSpPr>
          <a:xfrm>
            <a:off x="4996201" y="842450"/>
            <a:ext cx="387298" cy="3650100"/>
            <a:chOff x="4138801" y="842450"/>
            <a:chExt cx="387298" cy="3650100"/>
          </a:xfrm>
        </p:grpSpPr>
        <p:cxnSp>
          <p:nvCxnSpPr>
            <p:cNvPr id="1638" name="Google Shape;1638;p71"/>
            <p:cNvCxnSpPr/>
            <p:nvPr/>
          </p:nvCxnSpPr>
          <p:spPr>
            <a:xfrm>
              <a:off x="4448700" y="842450"/>
              <a:ext cx="0" cy="3650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39" name="Google Shape;1639;p71"/>
            <p:cNvSpPr txBox="1"/>
            <p:nvPr/>
          </p:nvSpPr>
          <p:spPr>
            <a:xfrm>
              <a:off x="4138801" y="1071050"/>
              <a:ext cx="233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40" name="Google Shape;1640;p71"/>
            <p:cNvCxnSpPr/>
            <p:nvPr/>
          </p:nvCxnSpPr>
          <p:spPr>
            <a:xfrm>
              <a:off x="4372500" y="1178750"/>
              <a:ext cx="153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41" name="Google Shape;1641;p71"/>
          <p:cNvGrpSpPr/>
          <p:nvPr/>
        </p:nvGrpSpPr>
        <p:grpSpPr>
          <a:xfrm>
            <a:off x="5306100" y="4415750"/>
            <a:ext cx="3650100" cy="368400"/>
            <a:chOff x="4448700" y="4415750"/>
            <a:chExt cx="3650100" cy="368400"/>
          </a:xfrm>
        </p:grpSpPr>
        <p:cxnSp>
          <p:nvCxnSpPr>
            <p:cNvPr id="1642" name="Google Shape;1642;p71"/>
            <p:cNvCxnSpPr/>
            <p:nvPr/>
          </p:nvCxnSpPr>
          <p:spPr>
            <a:xfrm rot="10800000">
              <a:off x="4448700" y="4492550"/>
              <a:ext cx="36501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43" name="Google Shape;1643;p71"/>
            <p:cNvSpPr txBox="1"/>
            <p:nvPr/>
          </p:nvSpPr>
          <p:spPr>
            <a:xfrm>
              <a:off x="7636501" y="4568750"/>
              <a:ext cx="233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44" name="Google Shape;1644;p71"/>
            <p:cNvCxnSpPr>
              <a:stCxn id="1645" idx="1"/>
              <a:endCxn id="1643" idx="0"/>
            </p:cNvCxnSpPr>
            <p:nvPr/>
          </p:nvCxnSpPr>
          <p:spPr>
            <a:xfrm>
              <a:off x="7753351" y="4415750"/>
              <a:ext cx="0" cy="153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46" name="Google Shape;1646;p71"/>
          <p:cNvCxnSpPr>
            <a:stCxn id="1647" idx="1"/>
            <a:endCxn id="1648" idx="2"/>
          </p:cNvCxnSpPr>
          <p:nvPr/>
        </p:nvCxnSpPr>
        <p:spPr>
          <a:xfrm>
            <a:off x="5306100" y="1179043"/>
            <a:ext cx="3303600" cy="3313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9" name="Google Shape;1649;p71"/>
          <p:cNvSpPr txBox="1"/>
          <p:nvPr/>
        </p:nvSpPr>
        <p:spPr>
          <a:xfrm>
            <a:off x="5543141" y="747949"/>
            <a:ext cx="118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Efficiency Line: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i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= 1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0" name="Google Shape;1650;p71"/>
          <p:cNvCxnSpPr/>
          <p:nvPr/>
        </p:nvCxnSpPr>
        <p:spPr>
          <a:xfrm flipH="1" rot="10800000">
            <a:off x="5306100" y="2835800"/>
            <a:ext cx="3303600" cy="16569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1" name="Google Shape;1651;p71"/>
          <p:cNvSpPr txBox="1"/>
          <p:nvPr/>
        </p:nvSpPr>
        <p:spPr>
          <a:xfrm>
            <a:off x="7331109" y="747940"/>
            <a:ext cx="118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Fairness Line: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r>
              <a:rPr i="1"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2" name="Google Shape;1652;p71"/>
          <p:cNvSpPr/>
          <p:nvPr/>
        </p:nvSpPr>
        <p:spPr>
          <a:xfrm>
            <a:off x="5561521" y="1851425"/>
            <a:ext cx="83400" cy="83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3" name="Google Shape;1653;p71"/>
          <p:cNvCxnSpPr/>
          <p:nvPr/>
        </p:nvCxnSpPr>
        <p:spPr>
          <a:xfrm flipH="1" rot="10800000">
            <a:off x="5634475" y="1609992"/>
            <a:ext cx="557400" cy="27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4" name="Google Shape;1654;p71"/>
          <p:cNvCxnSpPr/>
          <p:nvPr/>
        </p:nvCxnSpPr>
        <p:spPr>
          <a:xfrm flipH="1">
            <a:off x="5755000" y="1610850"/>
            <a:ext cx="434100" cy="142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5" name="Google Shape;1655;p71"/>
          <p:cNvCxnSpPr/>
          <p:nvPr/>
        </p:nvCxnSpPr>
        <p:spPr>
          <a:xfrm flipH="1" rot="10800000">
            <a:off x="5750537" y="2500974"/>
            <a:ext cx="1098600" cy="549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6" name="Google Shape;1656;p71"/>
          <p:cNvCxnSpPr/>
          <p:nvPr/>
        </p:nvCxnSpPr>
        <p:spPr>
          <a:xfrm flipH="1" rot="10800000">
            <a:off x="6073850" y="2497825"/>
            <a:ext cx="776700" cy="1006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57" name="Google Shape;1657;p71"/>
          <p:cNvCxnSpPr/>
          <p:nvPr/>
        </p:nvCxnSpPr>
        <p:spPr>
          <a:xfrm flipH="1" rot="10800000">
            <a:off x="5312529" y="2964983"/>
            <a:ext cx="1858800" cy="1527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58" name="Google Shape;1658;p71"/>
          <p:cNvCxnSpPr/>
          <p:nvPr/>
        </p:nvCxnSpPr>
        <p:spPr>
          <a:xfrm flipH="1" rot="10800000">
            <a:off x="6070816" y="2959027"/>
            <a:ext cx="1108500" cy="55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9" name="Google Shape;1659;p71"/>
          <p:cNvCxnSpPr/>
          <p:nvPr/>
        </p:nvCxnSpPr>
        <p:spPr>
          <a:xfrm flipH="1" rot="10800000">
            <a:off x="6255700" y="2959575"/>
            <a:ext cx="921300" cy="757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60" name="Google Shape;1660;p71"/>
          <p:cNvCxnSpPr/>
          <p:nvPr/>
        </p:nvCxnSpPr>
        <p:spPr>
          <a:xfrm flipH="1" rot="10800000">
            <a:off x="6268459" y="3175740"/>
            <a:ext cx="1105500" cy="5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1" name="Google Shape;1661;p71"/>
          <p:cNvCxnSpPr/>
          <p:nvPr/>
        </p:nvCxnSpPr>
        <p:spPr>
          <a:xfrm flipH="1" rot="10800000">
            <a:off x="6440727" y="3174552"/>
            <a:ext cx="932100" cy="598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Issues (4/5): Cheating</a:t>
            </a:r>
            <a:endParaRPr/>
          </a:p>
        </p:txBody>
      </p:sp>
      <p:sp>
        <p:nvSpPr>
          <p:cNvPr id="1667" name="Google Shape;1667;p7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hasn't the Internet suffered another congestion collapse? Some theories: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Cheaters might get an unfair share of bandwidth, but they still follow basic congestion control rules (e.g. slow down when loss occurs).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Contrast with the 1980s: Everybody sent at maximum rate, no adjusting.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is implemented in the operating system.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Most users probably aren't changing their OS code.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much cheating occurs in practice?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don't really know. </a:t>
            </a:r>
            <a:r>
              <a:rPr lang="en"/>
              <a:t>Measuring</a:t>
            </a:r>
            <a:r>
              <a:rPr lang="en"/>
              <a:t> cheating is hard.</a:t>
            </a:r>
            <a:endParaRPr/>
          </a:p>
        </p:txBody>
      </p:sp>
      <p:graphicFrame>
        <p:nvGraphicFramePr>
          <p:cNvPr id="1668" name="Google Shape;1668;p72"/>
          <p:cNvGraphicFramePr/>
          <p:nvPr/>
        </p:nvGraphicFramePr>
        <p:xfrm>
          <a:off x="1199700" y="3512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{F42FFB72-2E00-4C84-A838-785EF1CB27BB}</a:tableStyleId>
              </a:tblPr>
              <a:tblGrid>
                <a:gridCol w="3372300"/>
                <a:gridCol w="3372300"/>
              </a:tblGrid>
              <a:tr h="426700">
                <a:tc>
                  <a:txBody>
                    <a:bodyPr/>
                    <a:lstStyle/>
                    <a:p>
                      <a:pPr indent="0" lvl="0" marL="10858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Link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4026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</a:rPr>
                        <a:t>Google’s Network Congestion Algorithm Isn’t Fair, Researchers Say</a:t>
                      </a:r>
                      <a:endParaRPr b="1" sz="1600">
                        <a:solidFill>
                          <a:srgbClr val="595959"/>
                        </a:solidFill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</a:rPr>
                        <a:t>Karl Bode</a:t>
                      </a:r>
                      <a:endParaRPr i="1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</a:rPr>
                        <a:t>October 31, 2019</a:t>
                      </a:r>
                      <a:endParaRPr i="1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</a:tbl>
          </a:graphicData>
        </a:graphic>
      </p:graphicFrame>
      <p:pic>
        <p:nvPicPr>
          <p:cNvPr id="1669" name="Google Shape;166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2750" y="3586550"/>
            <a:ext cx="154305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(5/5): Congestion Control and Reliability are Intertwined</a:t>
            </a:r>
            <a:endParaRPr/>
          </a:p>
        </p:txBody>
      </p:sp>
      <p:sp>
        <p:nvSpPr>
          <p:cNvPr id="1675" name="Google Shape;1675;p7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Mechanisms for congestion control and reliability are tightly coupled.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design choice from the 1980s. (TCP was patched to stop congestion collapse.)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CWND is adjusted based on acks and timeouts.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We detect loss/congestion with duplicate acks, because TCP uses cumulative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complicates evolution.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If we wanted to switch from cumulative to selective acks, we'd have to change the congestion control algorithm too.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 failure of modularity, not layering.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Sometimes we only want one, but not the other.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Congestion control, no reliability: Video streaming.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Reliability, no congestion control: Lightweight application (one packet per hour).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7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Fast Recovery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State Machine and Variants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TCP Throughput Model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Issues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Router-Assisted Congestion Control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1" name="Google Shape;1681;p7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Router-Assisted Congestion Control</a:t>
            </a:r>
            <a:endParaRPr/>
          </a:p>
        </p:txBody>
      </p:sp>
      <p:sp>
        <p:nvSpPr>
          <p:cNvPr id="1682" name="Google Shape;1682;p7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Router-Assisted Congestion Control</a:t>
            </a:r>
            <a:endParaRPr/>
          </a:p>
        </p:txBody>
      </p:sp>
      <p:sp>
        <p:nvSpPr>
          <p:cNvPr id="1688" name="Google Shape;1688;p7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of our issues could be fixed with some help from routers!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Confusing corruption and congestion.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Short connections complete before discovering available capacity.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Router queues get filled up, causing high delays.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Cheating.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Congestion control and reliability are intertwined.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ways routers can help: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b="1" lang="en">
                <a:solidFill>
                  <a:schemeClr val="accent3"/>
                </a:solidFill>
              </a:rPr>
              <a:t>Enforce fairness. (Helps with 4.)</a:t>
            </a:r>
            <a:endParaRPr b="1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 information to hosts. (Helps with 1, 2, 3.)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Enforcing Fairness</a:t>
            </a:r>
            <a:endParaRPr/>
          </a:p>
        </p:txBody>
      </p:sp>
      <p:sp>
        <p:nvSpPr>
          <p:cNvPr id="1694" name="Google Shape;1694;p7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can routers ensure each flow gets its fair share?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a single router's actions.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 classifies incoming packets into flows (think: TCP connections).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flow has its own separate FIFO queue in the router.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 picks a queue (i.e. flow) in a fair order, and transmits packet from the front of that queue.</a:t>
            </a:r>
            <a:endParaRPr/>
          </a:p>
        </p:txBody>
      </p:sp>
      <p:cxnSp>
        <p:nvCxnSpPr>
          <p:cNvPr id="1695" name="Google Shape;1695;p76"/>
          <p:cNvCxnSpPr>
            <a:stCxn id="1696" idx="0"/>
          </p:cNvCxnSpPr>
          <p:nvPr/>
        </p:nvCxnSpPr>
        <p:spPr>
          <a:xfrm rot="10800000">
            <a:off x="4408725" y="2196600"/>
            <a:ext cx="219900" cy="325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6" name="Google Shape;1696;p76"/>
          <p:cNvSpPr txBox="1"/>
          <p:nvPr/>
        </p:nvSpPr>
        <p:spPr>
          <a:xfrm>
            <a:off x="3792975" y="2522100"/>
            <a:ext cx="167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What does fair mean exactly?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Round-Robin (</a:t>
            </a:r>
            <a:r>
              <a:rPr lang="en">
                <a:solidFill>
                  <a:schemeClr val="accent3"/>
                </a:solidFill>
              </a:rPr>
              <a:t>Equal Packet Size)</a:t>
            </a:r>
            <a:endParaRPr/>
          </a:p>
        </p:txBody>
      </p:sp>
      <p:sp>
        <p:nvSpPr>
          <p:cNvPr id="1702" name="Google Shape;1702;p7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now, assume all packets are the same size.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three connections: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has 8 packets to send: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has 6 packets to send: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has 2 packets to send: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Suppose we only have capacity to send 10 packets.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Round-robin service</a:t>
            </a:r>
            <a:r>
              <a:rPr lang="en"/>
              <a:t>: Take turns sending packets from each queue.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sent: 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sent: 4x A packets, 4x B packets, and 2x C packets.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not sent:</a:t>
            </a:r>
            <a:endParaRPr/>
          </a:p>
        </p:txBody>
      </p:sp>
      <p:sp>
        <p:nvSpPr>
          <p:cNvPr id="1703" name="Google Shape;1703;p77"/>
          <p:cNvSpPr/>
          <p:nvPr/>
        </p:nvSpPr>
        <p:spPr>
          <a:xfrm>
            <a:off x="32079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4" name="Google Shape;1704;p77"/>
          <p:cNvSpPr/>
          <p:nvPr/>
        </p:nvSpPr>
        <p:spPr>
          <a:xfrm>
            <a:off x="35187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5" name="Google Shape;1705;p77"/>
          <p:cNvSpPr/>
          <p:nvPr/>
        </p:nvSpPr>
        <p:spPr>
          <a:xfrm>
            <a:off x="38295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6" name="Google Shape;1706;p77"/>
          <p:cNvSpPr/>
          <p:nvPr/>
        </p:nvSpPr>
        <p:spPr>
          <a:xfrm>
            <a:off x="41403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7" name="Google Shape;1707;p77"/>
          <p:cNvSpPr/>
          <p:nvPr/>
        </p:nvSpPr>
        <p:spPr>
          <a:xfrm>
            <a:off x="44511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8" name="Google Shape;1708;p77"/>
          <p:cNvSpPr/>
          <p:nvPr/>
        </p:nvSpPr>
        <p:spPr>
          <a:xfrm>
            <a:off x="47619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9" name="Google Shape;1709;p77"/>
          <p:cNvSpPr/>
          <p:nvPr/>
        </p:nvSpPr>
        <p:spPr>
          <a:xfrm>
            <a:off x="50727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0" name="Google Shape;1710;p77"/>
          <p:cNvSpPr/>
          <p:nvPr/>
        </p:nvSpPr>
        <p:spPr>
          <a:xfrm>
            <a:off x="53835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1" name="Google Shape;1711;p77"/>
          <p:cNvSpPr/>
          <p:nvPr/>
        </p:nvSpPr>
        <p:spPr>
          <a:xfrm>
            <a:off x="3207975" y="17533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2" name="Google Shape;1712;p77"/>
          <p:cNvSpPr/>
          <p:nvPr/>
        </p:nvSpPr>
        <p:spPr>
          <a:xfrm>
            <a:off x="3518775" y="17533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3" name="Google Shape;1713;p77"/>
          <p:cNvSpPr/>
          <p:nvPr/>
        </p:nvSpPr>
        <p:spPr>
          <a:xfrm>
            <a:off x="3829575" y="17533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77"/>
          <p:cNvSpPr/>
          <p:nvPr/>
        </p:nvSpPr>
        <p:spPr>
          <a:xfrm>
            <a:off x="4140375" y="17533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5" name="Google Shape;1715;p77"/>
          <p:cNvSpPr/>
          <p:nvPr/>
        </p:nvSpPr>
        <p:spPr>
          <a:xfrm>
            <a:off x="4451175" y="17533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6" name="Google Shape;1716;p77"/>
          <p:cNvSpPr/>
          <p:nvPr/>
        </p:nvSpPr>
        <p:spPr>
          <a:xfrm>
            <a:off x="4761975" y="17533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7" name="Google Shape;1717;p77"/>
          <p:cNvSpPr/>
          <p:nvPr/>
        </p:nvSpPr>
        <p:spPr>
          <a:xfrm>
            <a:off x="3207975" y="2173396"/>
            <a:ext cx="310800" cy="3108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8" name="Google Shape;1718;p77"/>
          <p:cNvSpPr/>
          <p:nvPr/>
        </p:nvSpPr>
        <p:spPr>
          <a:xfrm>
            <a:off x="3518775" y="2173396"/>
            <a:ext cx="310800" cy="3108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9" name="Google Shape;1719;p77"/>
          <p:cNvSpPr/>
          <p:nvPr/>
        </p:nvSpPr>
        <p:spPr>
          <a:xfrm>
            <a:off x="2542425" y="428857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0" name="Google Shape;1720;p77"/>
          <p:cNvSpPr/>
          <p:nvPr/>
        </p:nvSpPr>
        <p:spPr>
          <a:xfrm>
            <a:off x="2853225" y="428857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1" name="Google Shape;1721;p77"/>
          <p:cNvSpPr/>
          <p:nvPr/>
        </p:nvSpPr>
        <p:spPr>
          <a:xfrm>
            <a:off x="3164025" y="428857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2" name="Google Shape;1722;p77"/>
          <p:cNvSpPr/>
          <p:nvPr/>
        </p:nvSpPr>
        <p:spPr>
          <a:xfrm>
            <a:off x="3474825" y="428857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3" name="Google Shape;1723;p77"/>
          <p:cNvSpPr/>
          <p:nvPr/>
        </p:nvSpPr>
        <p:spPr>
          <a:xfrm>
            <a:off x="4096425" y="42885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4" name="Google Shape;1724;p77"/>
          <p:cNvSpPr/>
          <p:nvPr/>
        </p:nvSpPr>
        <p:spPr>
          <a:xfrm>
            <a:off x="4407225" y="42885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5" name="Google Shape;1725;p77"/>
          <p:cNvSpPr/>
          <p:nvPr/>
        </p:nvSpPr>
        <p:spPr>
          <a:xfrm>
            <a:off x="2231625" y="338582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6" name="Google Shape;1726;p77"/>
          <p:cNvSpPr/>
          <p:nvPr/>
        </p:nvSpPr>
        <p:spPr>
          <a:xfrm>
            <a:off x="3164025" y="338582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7" name="Google Shape;1727;p77"/>
          <p:cNvSpPr/>
          <p:nvPr/>
        </p:nvSpPr>
        <p:spPr>
          <a:xfrm>
            <a:off x="4096425" y="338582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8" name="Google Shape;1728;p77"/>
          <p:cNvSpPr/>
          <p:nvPr/>
        </p:nvSpPr>
        <p:spPr>
          <a:xfrm>
            <a:off x="4718025" y="338582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77"/>
          <p:cNvSpPr/>
          <p:nvPr/>
        </p:nvSpPr>
        <p:spPr>
          <a:xfrm>
            <a:off x="2542425" y="338581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0" name="Google Shape;1730;p77"/>
          <p:cNvSpPr/>
          <p:nvPr/>
        </p:nvSpPr>
        <p:spPr>
          <a:xfrm>
            <a:off x="3474825" y="338581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1" name="Google Shape;1731;p77"/>
          <p:cNvSpPr/>
          <p:nvPr/>
        </p:nvSpPr>
        <p:spPr>
          <a:xfrm>
            <a:off x="4407225" y="338581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2" name="Google Shape;1732;p77"/>
          <p:cNvSpPr/>
          <p:nvPr/>
        </p:nvSpPr>
        <p:spPr>
          <a:xfrm>
            <a:off x="5028825" y="338581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3" name="Google Shape;1733;p77"/>
          <p:cNvSpPr/>
          <p:nvPr/>
        </p:nvSpPr>
        <p:spPr>
          <a:xfrm>
            <a:off x="2853225" y="3385821"/>
            <a:ext cx="310800" cy="3108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4" name="Google Shape;1734;p77"/>
          <p:cNvSpPr/>
          <p:nvPr/>
        </p:nvSpPr>
        <p:spPr>
          <a:xfrm>
            <a:off x="3785625" y="3385821"/>
            <a:ext cx="310800" cy="3108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Round-Robin (Equal Packet Size)</a:t>
            </a:r>
            <a:endParaRPr/>
          </a:p>
        </p:txBody>
      </p:sp>
      <p:sp>
        <p:nvSpPr>
          <p:cNvPr id="1740" name="Google Shape;1740;p7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round-robin service and capacity 10: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had 8 packets.		We sent 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had 6 packets.		We sent 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had 2 packets.		We sent 2.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Property: If you don't get your full demand, nobody gets more than you.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got its full demand.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and B did not, but they each got an equal share of the remainder.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max-min fairness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7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Instead of round-robin, we could mathematically solve max-min fairness.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Resource allocation problem: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Capacity is 10.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wants 8.	B wants 6.	C wants 2.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Intuitive solution: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split equally, everyone gets 10/3 = 3.33.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C only wants 2,</a:t>
            </a:r>
            <a:r>
              <a:rPr lang="en"/>
              <a:t> so let's give C its full demand</a:t>
            </a:r>
            <a:r>
              <a:rPr lang="en"/>
              <a:t>. </a:t>
            </a:r>
            <a:r>
              <a:rPr b="1" lang="en"/>
              <a:t>C = 2</a:t>
            </a:r>
            <a:r>
              <a:rPr lang="en"/>
              <a:t>. </a:t>
            </a:r>
            <a:r>
              <a:rPr lang="en"/>
              <a:t>Now we have 8 left.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split equally, A and B each get 8/2 = 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can't meet A or B's demands, so they each get a fair share of the remainder.</a:t>
            </a:r>
            <a:br>
              <a:rPr lang="en"/>
            </a:br>
            <a:r>
              <a:rPr b="1" lang="en"/>
              <a:t>A = 4</a:t>
            </a:r>
            <a:r>
              <a:rPr lang="en"/>
              <a:t>, </a:t>
            </a:r>
            <a:r>
              <a:rPr b="1" lang="en"/>
              <a:t>B = 4</a:t>
            </a:r>
            <a:r>
              <a:rPr lang="en"/>
              <a:t>.</a:t>
            </a:r>
            <a:endParaRPr/>
          </a:p>
        </p:txBody>
      </p:sp>
      <p:sp>
        <p:nvSpPr>
          <p:cNvPr id="1746" name="Google Shape;1746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Max-Min Fairness</a:t>
            </a:r>
            <a:r>
              <a:rPr lang="en">
                <a:solidFill>
                  <a:schemeClr val="accent3"/>
                </a:solidFill>
              </a:rPr>
              <a:t> (Equal Packet Size)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Max-Min Fairness (Equal Packet Size)</a:t>
            </a:r>
            <a:endParaRPr/>
          </a:p>
        </p:txBody>
      </p:sp>
      <p:sp>
        <p:nvSpPr>
          <p:cNvPr id="1752" name="Google Shape;1752;p8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Formal definition: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Input: Total available bandwidth is </a:t>
            </a:r>
            <a:r>
              <a:rPr i="1" lang="en"/>
              <a:t>C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Input: Each flow </a:t>
            </a:r>
            <a:r>
              <a:rPr i="1" lang="en"/>
              <a:t>i</a:t>
            </a:r>
            <a:r>
              <a:rPr lang="en"/>
              <a:t> has a bandwidth demand, </a:t>
            </a:r>
            <a:r>
              <a:rPr i="1" lang="en"/>
              <a:t>r</a:t>
            </a:r>
            <a:r>
              <a:rPr i="1" lang="en" sz="1200"/>
              <a:t>i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Output: Find a fair allocation </a:t>
            </a:r>
            <a:r>
              <a:rPr i="1" lang="en"/>
              <a:t>a</a:t>
            </a:r>
            <a:r>
              <a:rPr i="1" lang="en" sz="1200"/>
              <a:t>i</a:t>
            </a:r>
            <a:r>
              <a:rPr lang="en"/>
              <a:t> to each flow </a:t>
            </a:r>
            <a:r>
              <a:rPr i="1" lang="en"/>
              <a:t>i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Max-min allocations are defined as: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</a:t>
            </a:r>
            <a:r>
              <a:rPr i="1" lang="en" sz="1200"/>
              <a:t>i</a:t>
            </a:r>
            <a:r>
              <a:rPr lang="en"/>
              <a:t> = min(</a:t>
            </a:r>
            <a:r>
              <a:rPr i="1" lang="en"/>
              <a:t>f</a:t>
            </a:r>
            <a:r>
              <a:rPr lang="en"/>
              <a:t>, </a:t>
            </a:r>
            <a:r>
              <a:rPr i="1" lang="en"/>
              <a:t>r</a:t>
            </a:r>
            <a:r>
              <a:rPr i="1" lang="en" sz="1200"/>
              <a:t>i</a:t>
            </a:r>
            <a:r>
              <a:rPr lang="en"/>
              <a:t>), where </a:t>
            </a:r>
            <a:r>
              <a:rPr i="1" lang="en"/>
              <a:t>f</a:t>
            </a:r>
            <a:r>
              <a:rPr lang="en"/>
              <a:t> is the unique value such that ∑</a:t>
            </a:r>
            <a:r>
              <a:rPr i="1" lang="en"/>
              <a:t>a</a:t>
            </a:r>
            <a:r>
              <a:rPr i="1" lang="en" sz="1200"/>
              <a:t>i</a:t>
            </a:r>
            <a:r>
              <a:rPr lang="en"/>
              <a:t> = </a:t>
            </a:r>
            <a:r>
              <a:rPr i="1" lang="en"/>
              <a:t>C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Intuition: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f</a:t>
            </a:r>
            <a:r>
              <a:rPr lang="en"/>
              <a:t> is the fair share (same value for everybody) if you don't get full demand.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min term ensures that nobody gets more than they asked for.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sum ensures that all capacity is used.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Max-Min Fairness (Equal Packet Size)</a:t>
            </a:r>
            <a:endParaRPr/>
          </a:p>
        </p:txBody>
      </p:sp>
      <p:sp>
        <p:nvSpPr>
          <p:cNvPr id="1758" name="Google Shape;1758;p8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Max-min allocations are defined as: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</a:t>
            </a:r>
            <a:r>
              <a:rPr i="1" lang="en" sz="1200"/>
              <a:t>i</a:t>
            </a:r>
            <a:r>
              <a:rPr lang="en"/>
              <a:t> = min(</a:t>
            </a:r>
            <a:r>
              <a:rPr i="1" lang="en"/>
              <a:t>f</a:t>
            </a:r>
            <a:r>
              <a:rPr lang="en"/>
              <a:t>, </a:t>
            </a:r>
            <a:r>
              <a:rPr i="1" lang="en"/>
              <a:t>r</a:t>
            </a:r>
            <a:r>
              <a:rPr i="1" lang="en" sz="1200"/>
              <a:t>i</a:t>
            </a:r>
            <a:r>
              <a:rPr lang="en"/>
              <a:t>), where </a:t>
            </a:r>
            <a:r>
              <a:rPr i="1" lang="en"/>
              <a:t>f</a:t>
            </a:r>
            <a:r>
              <a:rPr lang="en"/>
              <a:t> is the unique value such that ∑</a:t>
            </a:r>
            <a:r>
              <a:rPr i="1" lang="en"/>
              <a:t>a</a:t>
            </a:r>
            <a:r>
              <a:rPr i="1" lang="en" sz="1200"/>
              <a:t>i</a:t>
            </a:r>
            <a:r>
              <a:rPr lang="en"/>
              <a:t> = </a:t>
            </a:r>
            <a:r>
              <a:rPr i="1" lang="en"/>
              <a:t>C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Applied to the previous 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</a:t>
            </a:r>
            <a:r>
              <a:rPr lang="en"/>
              <a:t> =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r</a:t>
            </a:r>
            <a:r>
              <a:rPr i="1" lang="en" sz="1200"/>
              <a:t>1</a:t>
            </a:r>
            <a:r>
              <a:rPr lang="en"/>
              <a:t> = 8	</a:t>
            </a:r>
            <a:r>
              <a:rPr i="1" lang="en"/>
              <a:t>r</a:t>
            </a:r>
            <a:r>
              <a:rPr i="1" lang="en" sz="1200"/>
              <a:t>2</a:t>
            </a:r>
            <a:r>
              <a:rPr lang="en"/>
              <a:t> = 6	</a:t>
            </a:r>
            <a:r>
              <a:rPr i="1" lang="en"/>
              <a:t>r</a:t>
            </a:r>
            <a:r>
              <a:rPr i="1" lang="en" sz="1200"/>
              <a:t>3</a:t>
            </a:r>
            <a:r>
              <a:rPr lang="en"/>
              <a:t> = 2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fair share is </a:t>
            </a:r>
            <a:r>
              <a:rPr i="1" lang="en"/>
              <a:t>f</a:t>
            </a:r>
            <a:r>
              <a:rPr lang="en"/>
              <a:t> = 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</a:t>
            </a:r>
            <a:r>
              <a:rPr i="1" lang="en" sz="1200"/>
              <a:t>1</a:t>
            </a:r>
            <a:r>
              <a:rPr lang="en"/>
              <a:t> = min(4, 8)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</a:t>
            </a:r>
            <a:r>
              <a:rPr i="1" lang="en" sz="1200"/>
              <a:t>2</a:t>
            </a:r>
            <a:r>
              <a:rPr lang="en"/>
              <a:t> = min(4, 6)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</a:t>
            </a:r>
            <a:r>
              <a:rPr i="1" lang="en" sz="1200"/>
              <a:t>3</a:t>
            </a:r>
            <a:r>
              <a:rPr lang="en"/>
              <a:t> = min(4, 2) = 2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Round-Robin (Unequal Packet Size)</a:t>
            </a:r>
            <a:endParaRPr/>
          </a:p>
        </p:txBody>
      </p:sp>
      <p:sp>
        <p:nvSpPr>
          <p:cNvPr id="1764" name="Google Shape;1764;p8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deal with packets of different sizes?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Mental model: bit-by-bit round-robin ("fluid flow").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can't actually do this in practice!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we can approximate it. This is what </a:t>
            </a:r>
            <a:r>
              <a:rPr b="1" lang="en"/>
              <a:t>fair queuing</a:t>
            </a:r>
            <a:r>
              <a:rPr lang="en"/>
              <a:t> routers do.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packet, compute the time when the last bit of the packet would have left the router, if flows were served bit-by-bit.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time is called the </a:t>
            </a:r>
            <a:r>
              <a:rPr i="1" lang="en"/>
              <a:t>deadline</a:t>
            </a:r>
            <a:r>
              <a:rPr lang="en"/>
              <a:t> for that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serve packets in order of their deadlines.</a:t>
            </a:r>
            <a:endParaRPr/>
          </a:p>
        </p:txBody>
      </p:sp>
      <p:graphicFrame>
        <p:nvGraphicFramePr>
          <p:cNvPr id="1765" name="Google Shape;1765;p82"/>
          <p:cNvGraphicFramePr/>
          <p:nvPr/>
        </p:nvGraphicFramePr>
        <p:xfrm>
          <a:off x="888000" y="41339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{F42FFB72-2E00-4C84-A838-785EF1CB27BB}</a:tableStyleId>
              </a:tblPr>
              <a:tblGrid>
                <a:gridCol w="5731950"/>
                <a:gridCol w="382850"/>
                <a:gridCol w="629800"/>
              </a:tblGrid>
              <a:tr h="4026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</a:rPr>
                        <a:t>Analysis and Simulation of a Fair Queueing Algorithm</a:t>
                      </a:r>
                      <a:endParaRPr b="1" sz="1600">
                        <a:solidFill>
                          <a:srgbClr val="595959"/>
                        </a:solidFill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</a:rPr>
                        <a:t>Alan Demers, Srinivasan Keshav, Scott Shenker</a:t>
                      </a:r>
                      <a:endParaRPr i="1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</a:rPr>
                        <a:t>1990</a:t>
                      </a:r>
                      <a:endParaRPr i="1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 Queuing (Unequal Packet Size)</a:t>
            </a:r>
            <a:endParaRPr/>
          </a:p>
        </p:txBody>
      </p:sp>
      <p:cxnSp>
        <p:nvCxnSpPr>
          <p:cNvPr id="1771" name="Google Shape;1771;p83"/>
          <p:cNvCxnSpPr/>
          <p:nvPr/>
        </p:nvCxnSpPr>
        <p:spPr>
          <a:xfrm>
            <a:off x="2679150" y="1485950"/>
            <a:ext cx="6185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2" name="Google Shape;1772;p83"/>
          <p:cNvSpPr/>
          <p:nvPr/>
        </p:nvSpPr>
        <p:spPr>
          <a:xfrm>
            <a:off x="4210275" y="8643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3" name="Google Shape;1773;p83"/>
          <p:cNvSpPr txBox="1"/>
          <p:nvPr/>
        </p:nvSpPr>
        <p:spPr>
          <a:xfrm>
            <a:off x="279450" y="1117525"/>
            <a:ext cx="23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Flow 1 (arrival traffic):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4" name="Google Shape;1774;p83"/>
          <p:cNvSpPr/>
          <p:nvPr/>
        </p:nvSpPr>
        <p:spPr>
          <a:xfrm>
            <a:off x="4287075" y="12202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5" name="Google Shape;1775;p83"/>
          <p:cNvSpPr/>
          <p:nvPr/>
        </p:nvSpPr>
        <p:spPr>
          <a:xfrm>
            <a:off x="2945050" y="19311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6" name="Google Shape;1776;p83"/>
          <p:cNvSpPr/>
          <p:nvPr/>
        </p:nvSpPr>
        <p:spPr>
          <a:xfrm>
            <a:off x="3043875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7" name="Google Shape;1777;p83"/>
          <p:cNvSpPr/>
          <p:nvPr/>
        </p:nvSpPr>
        <p:spPr>
          <a:xfrm>
            <a:off x="3310625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8" name="Google Shape;1778;p83"/>
          <p:cNvCxnSpPr/>
          <p:nvPr/>
        </p:nvCxnSpPr>
        <p:spPr>
          <a:xfrm>
            <a:off x="2679150" y="2552750"/>
            <a:ext cx="6185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9" name="Google Shape;1779;p83"/>
          <p:cNvSpPr txBox="1"/>
          <p:nvPr/>
        </p:nvSpPr>
        <p:spPr>
          <a:xfrm>
            <a:off x="279450" y="2184325"/>
            <a:ext cx="23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Flow 2 (arrival traffic):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0" name="Google Shape;1780;p83"/>
          <p:cNvSpPr/>
          <p:nvPr/>
        </p:nvSpPr>
        <p:spPr>
          <a:xfrm>
            <a:off x="3566638" y="19311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1" name="Google Shape;1781;p83"/>
          <p:cNvSpPr/>
          <p:nvPr/>
        </p:nvSpPr>
        <p:spPr>
          <a:xfrm>
            <a:off x="3665463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2" name="Google Shape;1782;p83"/>
          <p:cNvSpPr/>
          <p:nvPr/>
        </p:nvSpPr>
        <p:spPr>
          <a:xfrm>
            <a:off x="3932213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3" name="Google Shape;1783;p83"/>
          <p:cNvSpPr/>
          <p:nvPr/>
        </p:nvSpPr>
        <p:spPr>
          <a:xfrm>
            <a:off x="4188250" y="19311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4" name="Google Shape;1784;p83"/>
          <p:cNvSpPr/>
          <p:nvPr/>
        </p:nvSpPr>
        <p:spPr>
          <a:xfrm>
            <a:off x="4287075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5" name="Google Shape;1785;p83"/>
          <p:cNvSpPr/>
          <p:nvPr/>
        </p:nvSpPr>
        <p:spPr>
          <a:xfrm>
            <a:off x="4553825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6" name="Google Shape;1786;p83"/>
          <p:cNvSpPr/>
          <p:nvPr/>
        </p:nvSpPr>
        <p:spPr>
          <a:xfrm>
            <a:off x="4809838" y="19311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p83"/>
          <p:cNvSpPr/>
          <p:nvPr/>
        </p:nvSpPr>
        <p:spPr>
          <a:xfrm>
            <a:off x="4908663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83"/>
          <p:cNvSpPr/>
          <p:nvPr/>
        </p:nvSpPr>
        <p:spPr>
          <a:xfrm>
            <a:off x="5175413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83"/>
          <p:cNvSpPr/>
          <p:nvPr/>
        </p:nvSpPr>
        <p:spPr>
          <a:xfrm>
            <a:off x="5431438" y="19311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0" name="Google Shape;1790;p83"/>
          <p:cNvSpPr/>
          <p:nvPr/>
        </p:nvSpPr>
        <p:spPr>
          <a:xfrm>
            <a:off x="5530263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1" name="Google Shape;1791;p83"/>
          <p:cNvSpPr/>
          <p:nvPr/>
        </p:nvSpPr>
        <p:spPr>
          <a:xfrm>
            <a:off x="5797013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2" name="Google Shape;1792;p83"/>
          <p:cNvSpPr/>
          <p:nvPr/>
        </p:nvSpPr>
        <p:spPr>
          <a:xfrm>
            <a:off x="4809850" y="8643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p83"/>
          <p:cNvSpPr/>
          <p:nvPr/>
        </p:nvSpPr>
        <p:spPr>
          <a:xfrm>
            <a:off x="4886650" y="12202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4" name="Google Shape;1794;p83"/>
          <p:cNvSpPr/>
          <p:nvPr/>
        </p:nvSpPr>
        <p:spPr>
          <a:xfrm>
            <a:off x="5431450" y="8643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5" name="Google Shape;1795;p83"/>
          <p:cNvSpPr/>
          <p:nvPr/>
        </p:nvSpPr>
        <p:spPr>
          <a:xfrm>
            <a:off x="5508250" y="12202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6" name="Google Shape;1796;p83"/>
          <p:cNvCxnSpPr/>
          <p:nvPr/>
        </p:nvCxnSpPr>
        <p:spPr>
          <a:xfrm>
            <a:off x="2679150" y="3619550"/>
            <a:ext cx="6185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7" name="Google Shape;1797;p83"/>
          <p:cNvSpPr txBox="1"/>
          <p:nvPr/>
        </p:nvSpPr>
        <p:spPr>
          <a:xfrm>
            <a:off x="279450" y="3251125"/>
            <a:ext cx="23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Fluid system: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8" name="Google Shape;1798;p83"/>
          <p:cNvSpPr/>
          <p:nvPr/>
        </p:nvSpPr>
        <p:spPr>
          <a:xfrm>
            <a:off x="29450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9" name="Google Shape;1799;p83"/>
          <p:cNvSpPr/>
          <p:nvPr/>
        </p:nvSpPr>
        <p:spPr>
          <a:xfrm>
            <a:off x="30218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0" name="Google Shape;1800;p83"/>
          <p:cNvSpPr/>
          <p:nvPr/>
        </p:nvSpPr>
        <p:spPr>
          <a:xfrm>
            <a:off x="32558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1" name="Google Shape;1801;p83"/>
          <p:cNvSpPr/>
          <p:nvPr/>
        </p:nvSpPr>
        <p:spPr>
          <a:xfrm>
            <a:off x="33326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2" name="Google Shape;1802;p83"/>
          <p:cNvSpPr/>
          <p:nvPr/>
        </p:nvSpPr>
        <p:spPr>
          <a:xfrm>
            <a:off x="35666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3" name="Google Shape;1803;p83"/>
          <p:cNvSpPr/>
          <p:nvPr/>
        </p:nvSpPr>
        <p:spPr>
          <a:xfrm>
            <a:off x="36434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4" name="Google Shape;1804;p83"/>
          <p:cNvSpPr/>
          <p:nvPr/>
        </p:nvSpPr>
        <p:spPr>
          <a:xfrm>
            <a:off x="38774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5" name="Google Shape;1805;p83"/>
          <p:cNvSpPr/>
          <p:nvPr/>
        </p:nvSpPr>
        <p:spPr>
          <a:xfrm>
            <a:off x="39542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6" name="Google Shape;1806;p83"/>
          <p:cNvSpPr/>
          <p:nvPr/>
        </p:nvSpPr>
        <p:spPr>
          <a:xfrm>
            <a:off x="4499050" y="29979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7" name="Google Shape;1807;p83"/>
          <p:cNvSpPr/>
          <p:nvPr/>
        </p:nvSpPr>
        <p:spPr>
          <a:xfrm>
            <a:off x="4575850" y="33538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8" name="Google Shape;1808;p83"/>
          <p:cNvSpPr/>
          <p:nvPr/>
        </p:nvSpPr>
        <p:spPr>
          <a:xfrm>
            <a:off x="41882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9" name="Google Shape;1809;p83"/>
          <p:cNvSpPr/>
          <p:nvPr/>
        </p:nvSpPr>
        <p:spPr>
          <a:xfrm>
            <a:off x="42650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0" name="Google Shape;1810;p83"/>
          <p:cNvSpPr/>
          <p:nvPr/>
        </p:nvSpPr>
        <p:spPr>
          <a:xfrm>
            <a:off x="5120650" y="29979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1" name="Google Shape;1811;p83"/>
          <p:cNvSpPr/>
          <p:nvPr/>
        </p:nvSpPr>
        <p:spPr>
          <a:xfrm>
            <a:off x="5197450" y="33538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2" name="Google Shape;1812;p83"/>
          <p:cNvSpPr/>
          <p:nvPr/>
        </p:nvSpPr>
        <p:spPr>
          <a:xfrm>
            <a:off x="48098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3" name="Google Shape;1813;p83"/>
          <p:cNvSpPr/>
          <p:nvPr/>
        </p:nvSpPr>
        <p:spPr>
          <a:xfrm>
            <a:off x="48866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4" name="Google Shape;1814;p83"/>
          <p:cNvSpPr/>
          <p:nvPr/>
        </p:nvSpPr>
        <p:spPr>
          <a:xfrm>
            <a:off x="6053050" y="8643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5" name="Google Shape;1815;p83"/>
          <p:cNvSpPr/>
          <p:nvPr/>
        </p:nvSpPr>
        <p:spPr>
          <a:xfrm>
            <a:off x="6129850" y="12202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6" name="Google Shape;1816;p83"/>
          <p:cNvSpPr/>
          <p:nvPr/>
        </p:nvSpPr>
        <p:spPr>
          <a:xfrm>
            <a:off x="6674650" y="8643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7" name="Google Shape;1817;p83"/>
          <p:cNvSpPr/>
          <p:nvPr/>
        </p:nvSpPr>
        <p:spPr>
          <a:xfrm>
            <a:off x="6751450" y="12202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8" name="Google Shape;1818;p83"/>
          <p:cNvSpPr/>
          <p:nvPr/>
        </p:nvSpPr>
        <p:spPr>
          <a:xfrm>
            <a:off x="5742250" y="29979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9" name="Google Shape;1819;p83"/>
          <p:cNvSpPr/>
          <p:nvPr/>
        </p:nvSpPr>
        <p:spPr>
          <a:xfrm>
            <a:off x="5819050" y="33538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0" name="Google Shape;1820;p83"/>
          <p:cNvSpPr/>
          <p:nvPr/>
        </p:nvSpPr>
        <p:spPr>
          <a:xfrm>
            <a:off x="54314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1" name="Google Shape;1821;p83"/>
          <p:cNvSpPr/>
          <p:nvPr/>
        </p:nvSpPr>
        <p:spPr>
          <a:xfrm>
            <a:off x="55082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2" name="Google Shape;1822;p83"/>
          <p:cNvSpPr/>
          <p:nvPr/>
        </p:nvSpPr>
        <p:spPr>
          <a:xfrm>
            <a:off x="6363850" y="29979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3" name="Google Shape;1823;p83"/>
          <p:cNvSpPr/>
          <p:nvPr/>
        </p:nvSpPr>
        <p:spPr>
          <a:xfrm>
            <a:off x="6440650" y="33538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4" name="Google Shape;1824;p83"/>
          <p:cNvSpPr/>
          <p:nvPr/>
        </p:nvSpPr>
        <p:spPr>
          <a:xfrm>
            <a:off x="60530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5" name="Google Shape;1825;p83"/>
          <p:cNvSpPr/>
          <p:nvPr/>
        </p:nvSpPr>
        <p:spPr>
          <a:xfrm>
            <a:off x="61298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6" name="Google Shape;1826;p83"/>
          <p:cNvSpPr/>
          <p:nvPr/>
        </p:nvSpPr>
        <p:spPr>
          <a:xfrm>
            <a:off x="6985450" y="29979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7" name="Google Shape;1827;p83"/>
          <p:cNvSpPr/>
          <p:nvPr/>
        </p:nvSpPr>
        <p:spPr>
          <a:xfrm>
            <a:off x="7062250" y="33538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8" name="Google Shape;1828;p83"/>
          <p:cNvSpPr/>
          <p:nvPr/>
        </p:nvSpPr>
        <p:spPr>
          <a:xfrm>
            <a:off x="66746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9" name="Google Shape;1829;p83"/>
          <p:cNvSpPr/>
          <p:nvPr/>
        </p:nvSpPr>
        <p:spPr>
          <a:xfrm>
            <a:off x="67514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0" name="Google Shape;1830;p83"/>
          <p:cNvSpPr/>
          <p:nvPr/>
        </p:nvSpPr>
        <p:spPr>
          <a:xfrm>
            <a:off x="7607050" y="29979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1" name="Google Shape;1831;p83"/>
          <p:cNvSpPr/>
          <p:nvPr/>
        </p:nvSpPr>
        <p:spPr>
          <a:xfrm>
            <a:off x="7683850" y="33538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2" name="Google Shape;1832;p83"/>
          <p:cNvSpPr/>
          <p:nvPr/>
        </p:nvSpPr>
        <p:spPr>
          <a:xfrm>
            <a:off x="72962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3" name="Google Shape;1833;p83"/>
          <p:cNvSpPr/>
          <p:nvPr/>
        </p:nvSpPr>
        <p:spPr>
          <a:xfrm>
            <a:off x="73730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4" name="Google Shape;1834;p83"/>
          <p:cNvSpPr/>
          <p:nvPr/>
        </p:nvSpPr>
        <p:spPr>
          <a:xfrm>
            <a:off x="7296250" y="8643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5" name="Google Shape;1835;p83"/>
          <p:cNvSpPr/>
          <p:nvPr/>
        </p:nvSpPr>
        <p:spPr>
          <a:xfrm>
            <a:off x="7373050" y="12202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6" name="Google Shape;1836;p83"/>
          <p:cNvCxnSpPr/>
          <p:nvPr/>
        </p:nvCxnSpPr>
        <p:spPr>
          <a:xfrm>
            <a:off x="2679150" y="4686350"/>
            <a:ext cx="6185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7" name="Google Shape;1837;p83"/>
          <p:cNvSpPr txBox="1"/>
          <p:nvPr/>
        </p:nvSpPr>
        <p:spPr>
          <a:xfrm>
            <a:off x="279450" y="4317925"/>
            <a:ext cx="23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Fair queuing system: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8" name="Google Shape;1838;p83"/>
          <p:cNvSpPr/>
          <p:nvPr/>
        </p:nvSpPr>
        <p:spPr>
          <a:xfrm>
            <a:off x="2945050" y="40647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9" name="Google Shape;1839;p83"/>
          <p:cNvSpPr/>
          <p:nvPr/>
        </p:nvSpPr>
        <p:spPr>
          <a:xfrm>
            <a:off x="3043875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0" name="Google Shape;1840;p83"/>
          <p:cNvSpPr/>
          <p:nvPr/>
        </p:nvSpPr>
        <p:spPr>
          <a:xfrm>
            <a:off x="3310625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1" name="Google Shape;1841;p83"/>
          <p:cNvSpPr/>
          <p:nvPr/>
        </p:nvSpPr>
        <p:spPr>
          <a:xfrm>
            <a:off x="3566638" y="40647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2" name="Google Shape;1842;p83"/>
          <p:cNvSpPr/>
          <p:nvPr/>
        </p:nvSpPr>
        <p:spPr>
          <a:xfrm>
            <a:off x="3665463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3" name="Google Shape;1843;p83"/>
          <p:cNvSpPr/>
          <p:nvPr/>
        </p:nvSpPr>
        <p:spPr>
          <a:xfrm>
            <a:off x="3932213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4" name="Google Shape;1844;p83"/>
          <p:cNvSpPr/>
          <p:nvPr/>
        </p:nvSpPr>
        <p:spPr>
          <a:xfrm>
            <a:off x="4177238" y="40647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5" name="Google Shape;1845;p83"/>
          <p:cNvSpPr/>
          <p:nvPr/>
        </p:nvSpPr>
        <p:spPr>
          <a:xfrm>
            <a:off x="4254038" y="44206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6" name="Google Shape;1846;p83"/>
          <p:cNvSpPr/>
          <p:nvPr/>
        </p:nvSpPr>
        <p:spPr>
          <a:xfrm>
            <a:off x="5107338" y="40647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7" name="Google Shape;1847;p83"/>
          <p:cNvSpPr/>
          <p:nvPr/>
        </p:nvSpPr>
        <p:spPr>
          <a:xfrm>
            <a:off x="5184138" y="44206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8" name="Google Shape;1848;p83"/>
          <p:cNvSpPr/>
          <p:nvPr/>
        </p:nvSpPr>
        <p:spPr>
          <a:xfrm>
            <a:off x="5418138" y="40647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9" name="Google Shape;1849;p83"/>
          <p:cNvSpPr/>
          <p:nvPr/>
        </p:nvSpPr>
        <p:spPr>
          <a:xfrm>
            <a:off x="5494938" y="44206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0" name="Google Shape;1850;p83"/>
          <p:cNvSpPr/>
          <p:nvPr/>
        </p:nvSpPr>
        <p:spPr>
          <a:xfrm>
            <a:off x="6350538" y="40647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1" name="Google Shape;1851;p83"/>
          <p:cNvSpPr/>
          <p:nvPr/>
        </p:nvSpPr>
        <p:spPr>
          <a:xfrm>
            <a:off x="6427338" y="44206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2" name="Google Shape;1852;p83"/>
          <p:cNvSpPr/>
          <p:nvPr/>
        </p:nvSpPr>
        <p:spPr>
          <a:xfrm>
            <a:off x="6661338" y="40647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3" name="Google Shape;1853;p83"/>
          <p:cNvSpPr/>
          <p:nvPr/>
        </p:nvSpPr>
        <p:spPr>
          <a:xfrm>
            <a:off x="6738138" y="44206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4" name="Google Shape;1854;p83"/>
          <p:cNvSpPr/>
          <p:nvPr/>
        </p:nvSpPr>
        <p:spPr>
          <a:xfrm>
            <a:off x="7593738" y="40647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5" name="Google Shape;1855;p83"/>
          <p:cNvSpPr/>
          <p:nvPr/>
        </p:nvSpPr>
        <p:spPr>
          <a:xfrm>
            <a:off x="7670538" y="44206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6" name="Google Shape;1856;p83"/>
          <p:cNvSpPr/>
          <p:nvPr/>
        </p:nvSpPr>
        <p:spPr>
          <a:xfrm>
            <a:off x="4485738" y="40647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7" name="Google Shape;1857;p83"/>
          <p:cNvSpPr/>
          <p:nvPr/>
        </p:nvSpPr>
        <p:spPr>
          <a:xfrm>
            <a:off x="4584563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8" name="Google Shape;1858;p83"/>
          <p:cNvSpPr/>
          <p:nvPr/>
        </p:nvSpPr>
        <p:spPr>
          <a:xfrm>
            <a:off x="4851313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9" name="Google Shape;1859;p83"/>
          <p:cNvSpPr/>
          <p:nvPr/>
        </p:nvSpPr>
        <p:spPr>
          <a:xfrm>
            <a:off x="5728950" y="40647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0" name="Google Shape;1860;p83"/>
          <p:cNvSpPr/>
          <p:nvPr/>
        </p:nvSpPr>
        <p:spPr>
          <a:xfrm>
            <a:off x="5827775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1" name="Google Shape;1861;p83"/>
          <p:cNvSpPr/>
          <p:nvPr/>
        </p:nvSpPr>
        <p:spPr>
          <a:xfrm>
            <a:off x="6094525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2" name="Google Shape;1862;p83"/>
          <p:cNvSpPr/>
          <p:nvPr/>
        </p:nvSpPr>
        <p:spPr>
          <a:xfrm>
            <a:off x="6972150" y="40647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3" name="Google Shape;1863;p83"/>
          <p:cNvSpPr/>
          <p:nvPr/>
        </p:nvSpPr>
        <p:spPr>
          <a:xfrm>
            <a:off x="7070975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4" name="Google Shape;1864;p83"/>
          <p:cNvSpPr/>
          <p:nvPr/>
        </p:nvSpPr>
        <p:spPr>
          <a:xfrm>
            <a:off x="7337725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5" name="Google Shape;1865;p83"/>
          <p:cNvSpPr txBox="1"/>
          <p:nvPr/>
        </p:nvSpPr>
        <p:spPr>
          <a:xfrm>
            <a:off x="279450" y="2946325"/>
            <a:ext cx="239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(bold = packet deadline)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 Queuing in Practice</a:t>
            </a:r>
            <a:endParaRPr/>
          </a:p>
        </p:txBody>
      </p:sp>
      <p:sp>
        <p:nvSpPr>
          <p:cNvPr id="1871" name="Google Shape;1871;p8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Perfect fair queuing is too complex to implement at high speeds.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several approximations exist.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Deficit Round Robin (DRR)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typically implement approximate fair queuing (e.g. DRR).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only use a small number of queues.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results in coarser-grained isolation.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Separate queues per customer (not per flow).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 Queuing vs. FIFO Queues</a:t>
            </a:r>
            <a:endParaRPr/>
          </a:p>
        </p:txBody>
      </p:sp>
      <p:sp>
        <p:nvSpPr>
          <p:cNvPr id="1877" name="Google Shape;1877;p8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 pros: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Isolation: Cheating flows don't benefit.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Bandwidth share doesn't depend on 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Flows can pick any rate adjustment scheme they want.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 cons: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complex than FIFO.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Separate queues per flow.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Additional bookkeeping per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only be approximated in practice.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 Queuing Does Not Solve Congestion</a:t>
            </a:r>
            <a:endParaRPr/>
          </a:p>
        </p:txBody>
      </p:sp>
      <p:sp>
        <p:nvSpPr>
          <p:cNvPr id="1883" name="Google Shape;1883;p86"/>
          <p:cNvSpPr txBox="1"/>
          <p:nvPr>
            <p:ph idx="1" type="body"/>
          </p:nvPr>
        </p:nvSpPr>
        <p:spPr>
          <a:xfrm>
            <a:off x="107050" y="402200"/>
            <a:ext cx="8909700" cy="3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 does not </a:t>
            </a:r>
            <a:r>
              <a:rPr i="1" lang="en"/>
              <a:t>eliminate</a:t>
            </a:r>
            <a:r>
              <a:rPr lang="en"/>
              <a:t> congestion.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FF00FF"/>
                </a:solidFill>
              </a:rPr>
              <a:t>A → B</a:t>
            </a:r>
            <a:r>
              <a:rPr lang="en"/>
              <a:t> wants to send at 5 Gbps.	</a:t>
            </a:r>
            <a:r>
              <a:rPr lang="en">
                <a:solidFill>
                  <a:srgbClr val="F1C232"/>
                </a:solidFill>
              </a:rPr>
              <a:t>X → Y</a:t>
            </a:r>
            <a:r>
              <a:rPr lang="en"/>
              <a:t> wants to send at 1 Gbps.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implements fair queuing, and gives 0.5 Gbps to each flow.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</a:t>
            </a:r>
            <a:r>
              <a:rPr lang="en">
                <a:solidFill>
                  <a:srgbClr val="FF00FF"/>
                </a:solidFill>
              </a:rPr>
              <a:t>A → B</a:t>
            </a:r>
            <a:r>
              <a:rPr lang="en"/>
              <a:t> runs at 0.5 Gbps, then R2 ends up dropping 0.4 Gbps (sending only 0.1).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fairly allocating didn't help. A needs to slow down.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 can </a:t>
            </a:r>
            <a:r>
              <a:rPr i="1" lang="en"/>
              <a:t>manage</a:t>
            </a:r>
            <a:r>
              <a:rPr lang="en"/>
              <a:t> congestion.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Resilient to cheating, RTT variations,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Congestion and packet drops still occur.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still want end hosts to discover/adapt to their fair share.</a:t>
            </a:r>
            <a:endParaRPr/>
          </a:p>
        </p:txBody>
      </p:sp>
      <p:sp>
        <p:nvSpPr>
          <p:cNvPr id="1884" name="Google Shape;1884;p86"/>
          <p:cNvSpPr/>
          <p:nvPr/>
        </p:nvSpPr>
        <p:spPr>
          <a:xfrm>
            <a:off x="3930741" y="425258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5" name="Google Shape;1885;p86"/>
          <p:cNvSpPr/>
          <p:nvPr/>
        </p:nvSpPr>
        <p:spPr>
          <a:xfrm>
            <a:off x="2635338" y="38715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6" name="Google Shape;1886;p86"/>
          <p:cNvCxnSpPr>
            <a:stCxn id="1885" idx="6"/>
            <a:endCxn id="1884" idx="1"/>
          </p:cNvCxnSpPr>
          <p:nvPr/>
        </p:nvCxnSpPr>
        <p:spPr>
          <a:xfrm>
            <a:off x="2920338" y="4014089"/>
            <a:ext cx="1010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7" name="Google Shape;1887;p86"/>
          <p:cNvSpPr/>
          <p:nvPr/>
        </p:nvSpPr>
        <p:spPr>
          <a:xfrm>
            <a:off x="2635338" y="46335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8" name="Google Shape;1888;p86"/>
          <p:cNvCxnSpPr>
            <a:stCxn id="1887" idx="6"/>
            <a:endCxn id="1884" idx="1"/>
          </p:cNvCxnSpPr>
          <p:nvPr/>
        </p:nvCxnSpPr>
        <p:spPr>
          <a:xfrm flipH="1" rot="10800000">
            <a:off x="2920338" y="4395089"/>
            <a:ext cx="1010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9" name="Google Shape;1889;p86"/>
          <p:cNvSpPr/>
          <p:nvPr/>
        </p:nvSpPr>
        <p:spPr>
          <a:xfrm>
            <a:off x="4928266" y="425258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0" name="Google Shape;1890;p86"/>
          <p:cNvCxnSpPr>
            <a:stCxn id="1884" idx="3"/>
            <a:endCxn id="1889" idx="1"/>
          </p:cNvCxnSpPr>
          <p:nvPr/>
        </p:nvCxnSpPr>
        <p:spPr>
          <a:xfrm>
            <a:off x="4215741" y="4395089"/>
            <a:ext cx="712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1" name="Google Shape;1891;p86"/>
          <p:cNvSpPr/>
          <p:nvPr/>
        </p:nvSpPr>
        <p:spPr>
          <a:xfrm>
            <a:off x="6223663" y="38715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2" name="Google Shape;1892;p86"/>
          <p:cNvSpPr/>
          <p:nvPr/>
        </p:nvSpPr>
        <p:spPr>
          <a:xfrm>
            <a:off x="6223663" y="46335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3" name="Google Shape;1893;p86"/>
          <p:cNvCxnSpPr>
            <a:stCxn id="1889" idx="3"/>
            <a:endCxn id="1891" idx="2"/>
          </p:cNvCxnSpPr>
          <p:nvPr/>
        </p:nvCxnSpPr>
        <p:spPr>
          <a:xfrm flipH="1" rot="10800000">
            <a:off x="5213266" y="4014089"/>
            <a:ext cx="1010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4" name="Google Shape;1894;p86"/>
          <p:cNvCxnSpPr>
            <a:stCxn id="1889" idx="3"/>
            <a:endCxn id="1892" idx="2"/>
          </p:cNvCxnSpPr>
          <p:nvPr/>
        </p:nvCxnSpPr>
        <p:spPr>
          <a:xfrm>
            <a:off x="5213266" y="4395089"/>
            <a:ext cx="1010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5" name="Google Shape;1895;p86"/>
          <p:cNvSpPr/>
          <p:nvPr/>
        </p:nvSpPr>
        <p:spPr>
          <a:xfrm>
            <a:off x="2850738" y="3930700"/>
            <a:ext cx="3485525" cy="420850"/>
          </a:xfrm>
          <a:custGeom>
            <a:rect b="b" l="l" r="r" t="t"/>
            <a:pathLst>
              <a:path extrusionOk="0" h="16834" w="139421">
                <a:moveTo>
                  <a:pt x="0" y="1466"/>
                </a:moveTo>
                <a:cubicBezTo>
                  <a:pt x="8095" y="3664"/>
                  <a:pt x="33250" y="12351"/>
                  <a:pt x="48567" y="14654"/>
                </a:cubicBezTo>
                <a:cubicBezTo>
                  <a:pt x="63884" y="16957"/>
                  <a:pt x="76759" y="17724"/>
                  <a:pt x="91901" y="15282"/>
                </a:cubicBezTo>
                <a:cubicBezTo>
                  <a:pt x="107043" y="12840"/>
                  <a:pt x="131501" y="2547"/>
                  <a:pt x="139421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896" name="Google Shape;1896;p86"/>
          <p:cNvSpPr txBox="1"/>
          <p:nvPr/>
        </p:nvSpPr>
        <p:spPr>
          <a:xfrm>
            <a:off x="3232200" y="3878650"/>
            <a:ext cx="386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7" name="Google Shape;1897;p86"/>
          <p:cNvSpPr/>
          <p:nvPr/>
        </p:nvSpPr>
        <p:spPr>
          <a:xfrm flipH="1" rot="10800000">
            <a:off x="2850738" y="4464100"/>
            <a:ext cx="3485525" cy="420850"/>
          </a:xfrm>
          <a:custGeom>
            <a:rect b="b" l="l" r="r" t="t"/>
            <a:pathLst>
              <a:path extrusionOk="0" h="16834" w="139421">
                <a:moveTo>
                  <a:pt x="0" y="1466"/>
                </a:moveTo>
                <a:cubicBezTo>
                  <a:pt x="8095" y="3664"/>
                  <a:pt x="33250" y="12351"/>
                  <a:pt x="48567" y="14654"/>
                </a:cubicBezTo>
                <a:cubicBezTo>
                  <a:pt x="63884" y="16957"/>
                  <a:pt x="76759" y="17724"/>
                  <a:pt x="91901" y="15282"/>
                </a:cubicBezTo>
                <a:cubicBezTo>
                  <a:pt x="107043" y="12840"/>
                  <a:pt x="131501" y="2547"/>
                  <a:pt x="139421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898" name="Google Shape;1898;p86"/>
          <p:cNvSpPr txBox="1"/>
          <p:nvPr/>
        </p:nvSpPr>
        <p:spPr>
          <a:xfrm>
            <a:off x="3300800" y="4640650"/>
            <a:ext cx="386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9" name="Google Shape;1899;p86"/>
          <p:cNvSpPr txBox="1"/>
          <p:nvPr/>
        </p:nvSpPr>
        <p:spPr>
          <a:xfrm>
            <a:off x="4400163" y="4055200"/>
            <a:ext cx="386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0" name="Google Shape;1900;p86"/>
          <p:cNvSpPr txBox="1"/>
          <p:nvPr/>
        </p:nvSpPr>
        <p:spPr>
          <a:xfrm>
            <a:off x="5525113" y="4640650"/>
            <a:ext cx="386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1" name="Google Shape;1901;p86"/>
          <p:cNvSpPr txBox="1"/>
          <p:nvPr/>
        </p:nvSpPr>
        <p:spPr>
          <a:xfrm>
            <a:off x="5525113" y="3878650"/>
            <a:ext cx="386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0.1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 Queuing: Philosophy of Fairness</a:t>
            </a:r>
            <a:endParaRPr/>
          </a:p>
        </p:txBody>
      </p:sp>
      <p:sp>
        <p:nvSpPr>
          <p:cNvPr id="1907" name="Google Shape;1907;p8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 gives us per-flow fairness. But is that really what we want?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you have 8 flows, and I have 4?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Why do you get twice the bandwidth?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your flow goes over 4 congested hops, and mine only goes over 1?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Shouldn't you be penalized for using more scarce bandwidth?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granularity should we enforce fairness at?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 TCP connection?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 source-destination pair?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 source?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 is a great way to ensure </a:t>
            </a:r>
            <a:r>
              <a:rPr i="1" lang="en"/>
              <a:t>isolation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Ensures that no one person hogs all the bandwidth, even in the worst cases.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Router-Assisted Congestion Control</a:t>
            </a:r>
            <a:endParaRPr/>
          </a:p>
        </p:txBody>
      </p:sp>
      <p:sp>
        <p:nvSpPr>
          <p:cNvPr id="1913" name="Google Shape;1913;p8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ways routers can help: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Enforce fairness. (Helps with 4.)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Fair queuing (and approximations like DRR).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b="1" lang="en">
                <a:solidFill>
                  <a:schemeClr val="accent3"/>
                </a:solidFill>
              </a:rPr>
              <a:t>Send information to hosts. (Helps with 1, 2, 3.)</a:t>
            </a:r>
            <a:endParaRPr b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Router-Assisted Rate Adaptation</a:t>
            </a:r>
            <a:endParaRPr/>
          </a:p>
        </p:txBody>
      </p:sp>
      <p:sp>
        <p:nvSpPr>
          <p:cNvPr id="1919" name="Google Shape;1919;p8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not just let routers tell the end hosts what rate they should use?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Possible</a:t>
            </a:r>
            <a:r>
              <a:rPr lang="en"/>
              <a:t> design: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carry an extra "rate" field in the header.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insert a flow's fair share in the header.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End hosts set rate according to the header value.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Now, the sender doesn't need to dynamically adjust to find a good rate.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9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Router-Assisted Congestion Detection</a:t>
            </a:r>
            <a:endParaRPr/>
          </a:p>
        </p:txBody>
      </p:sp>
      <p:sp>
        <p:nvSpPr>
          <p:cNvPr id="1925" name="Google Shape;1925;p9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Explicit Congestion Notification (ECN) bit</a:t>
            </a:r>
            <a:r>
              <a:rPr lang="en"/>
              <a:t>: Single bit in the IP packet header.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Congested routers can set this bit.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recipient gets a packet with ECN on, the ack also has ECN 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options for </a:t>
            </a:r>
            <a:r>
              <a:rPr i="1" lang="en"/>
              <a:t>when</a:t>
            </a:r>
            <a:r>
              <a:rPr lang="en"/>
              <a:t> routers set the bit.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Trade-offs between high link utilization and packet delay.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could treat an ECN bit as a packet drop and adjust accordingly.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Doesn't confuse corruption and congestion.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Allows routers to warn about congestion earlier (e.g. before queue is full).</a:t>
            </a:r>
            <a:br>
              <a:rPr lang="en"/>
            </a:br>
            <a:r>
              <a:rPr lang="en"/>
              <a:t>Reduces delays.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Lightweight to implement.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Used in some, but not all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useful in local networks (e.g. datacenters) where all routers use the bit.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