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5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68" r:id="rId5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55"/>
      <p:bold r:id="rId56"/>
      <p:italic r:id="rId57"/>
      <p:boldItalic r:id="rId58"/>
    </p:embeddedFont>
    <p:embeddedFont>
      <p:font typeface="Roboto" panose="02000000000000000000" pitchFamily="2" charset="0"/>
      <p:regular r:id="rId59"/>
      <p:bold r:id="rId60"/>
      <p:italic r:id="rId61"/>
      <p:boldItalic r:id="rId62"/>
    </p:embeddedFont>
    <p:embeddedFont>
      <p:font typeface="Roboto Light" panose="02000000000000000000" pitchFamily="2" charset="0"/>
      <p:regular r:id="rId63"/>
      <p:bold r:id="rId64"/>
      <p:italic r:id="rId65"/>
      <p:boldItalic r:id="rId66"/>
    </p:embeddedFont>
    <p:embeddedFont>
      <p:font typeface="Roboto Medium" panose="02000000000000000000" pitchFamily="2" charset="0"/>
      <p:regular r:id="rId67"/>
      <p:bold r:id="rId68"/>
      <p:italic r:id="rId69"/>
      <p:boldItalic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1E5F90-31BD-494F-BFAE-8E850EED92B5}" v="3" dt="2026-01-30T04:06:30.555"/>
  </p1510:revLst>
</p1510:revInfo>
</file>

<file path=ppt/tableStyles.xml><?xml version="1.0" encoding="utf-8"?>
<a:tblStyleLst xmlns:a="http://schemas.openxmlformats.org/drawingml/2006/main" def="{9827013E-C202-4D27-A2D1-B1A861925892}">
  <a:tblStyle styleId="{9827013E-C202-4D27-A2D1-B1A8619258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3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9.fntdata"/><Relationship Id="rId68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4.fntdata"/><Relationship Id="rId66" Type="http://schemas.openxmlformats.org/officeDocument/2006/relationships/font" Target="fonts/font12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font" Target="fonts/font10.fntdata"/><Relationship Id="rId69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67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8.fntdata"/><Relationship Id="rId70" Type="http://schemas.openxmlformats.org/officeDocument/2006/relationships/font" Target="fonts/font16.fntdata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65" Type="http://schemas.openxmlformats.org/officeDocument/2006/relationships/font" Target="fonts/font11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76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delSld modSld">
      <pc:chgData name="Zonghua Gu" userId="9a7e1853e1951ef5" providerId="LiveId" clId="{CF1FAA12-072C-4ED5-BA76-0FFFAEFDB88A}" dt="2026-01-30T04:06:51.017" v="170" actId="1076"/>
      <pc:docMkLst>
        <pc:docMk/>
      </pc:docMkLst>
      <pc:sldChg chg="modSp mod">
        <pc:chgData name="Zonghua Gu" userId="9a7e1853e1951ef5" providerId="LiveId" clId="{CF1FAA12-072C-4ED5-BA76-0FFFAEFDB88A}" dt="2025-12-31T12:31:51.350" v="1" actId="20577"/>
        <pc:sldMkLst>
          <pc:docMk/>
          <pc:sldMk cId="0" sldId="257"/>
        </pc:sldMkLst>
        <pc:spChg chg="mod">
          <ac:chgData name="Zonghua Gu" userId="9a7e1853e1951ef5" providerId="LiveId" clId="{CF1FAA12-072C-4ED5-BA76-0FFFAEFDB88A}" dt="2025-12-31T12:31:51.350" v="1" actId="20577"/>
          <ac:spMkLst>
            <pc:docMk/>
            <pc:sldMk cId="0" sldId="257"/>
            <ac:spMk id="161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0T04:06:51.017" v="170" actId="1076"/>
        <pc:sldMkLst>
          <pc:docMk/>
          <pc:sldMk cId="0" sldId="277"/>
        </pc:sldMkLst>
        <pc:spChg chg="mod">
          <ac:chgData name="Zonghua Gu" userId="9a7e1853e1951ef5" providerId="LiveId" clId="{CF1FAA12-072C-4ED5-BA76-0FFFAEFDB88A}" dt="2026-01-30T04:06:11.624" v="162" actId="20577"/>
          <ac:spMkLst>
            <pc:docMk/>
            <pc:sldMk cId="0" sldId="277"/>
            <ac:spMk id="740" creationId="{00000000-0000-0000-0000-000000000000}"/>
          </ac:spMkLst>
        </pc:spChg>
        <pc:spChg chg="mod">
          <ac:chgData name="Zonghua Gu" userId="9a7e1853e1951ef5" providerId="LiveId" clId="{CF1FAA12-072C-4ED5-BA76-0FFFAEFDB88A}" dt="2026-01-30T04:01:36.194" v="47" actId="1038"/>
          <ac:spMkLst>
            <pc:docMk/>
            <pc:sldMk cId="0" sldId="277"/>
            <ac:spMk id="741" creationId="{00000000-0000-0000-0000-000000000000}"/>
          </ac:spMkLst>
        </pc:spChg>
        <pc:spChg chg="mod">
          <ac:chgData name="Zonghua Gu" userId="9a7e1853e1951ef5" providerId="LiveId" clId="{CF1FAA12-072C-4ED5-BA76-0FFFAEFDB88A}" dt="2026-01-30T04:06:18.472" v="164" actId="1076"/>
          <ac:spMkLst>
            <pc:docMk/>
            <pc:sldMk cId="0" sldId="277"/>
            <ac:spMk id="742" creationId="{00000000-0000-0000-0000-000000000000}"/>
          </ac:spMkLst>
        </pc:spChg>
        <pc:spChg chg="mod">
          <ac:chgData name="Zonghua Gu" userId="9a7e1853e1951ef5" providerId="LiveId" clId="{CF1FAA12-072C-4ED5-BA76-0FFFAEFDB88A}" dt="2026-01-30T04:05:52.766" v="146" actId="1076"/>
          <ac:spMkLst>
            <pc:docMk/>
            <pc:sldMk cId="0" sldId="277"/>
            <ac:spMk id="743" creationId="{00000000-0000-0000-0000-000000000000}"/>
          </ac:spMkLst>
        </pc:spChg>
        <pc:spChg chg="mod">
          <ac:chgData name="Zonghua Gu" userId="9a7e1853e1951ef5" providerId="LiveId" clId="{CF1FAA12-072C-4ED5-BA76-0FFFAEFDB88A}" dt="2026-01-30T04:06:51.017" v="170" actId="1076"/>
          <ac:spMkLst>
            <pc:docMk/>
            <pc:sldMk cId="0" sldId="277"/>
            <ac:spMk id="744" creationId="{00000000-0000-0000-0000-000000000000}"/>
          </ac:spMkLst>
        </pc:spChg>
        <pc:spChg chg="mod">
          <ac:chgData name="Zonghua Gu" userId="9a7e1853e1951ef5" providerId="LiveId" clId="{CF1FAA12-072C-4ED5-BA76-0FFFAEFDB88A}" dt="2026-01-30T04:05:40.925" v="144" actId="14100"/>
          <ac:spMkLst>
            <pc:docMk/>
            <pc:sldMk cId="0" sldId="277"/>
            <ac:spMk id="745" creationId="{00000000-0000-0000-0000-000000000000}"/>
          </ac:spMkLst>
        </pc:spChg>
        <pc:spChg chg="mod">
          <ac:chgData name="Zonghua Gu" userId="9a7e1853e1951ef5" providerId="LiveId" clId="{CF1FAA12-072C-4ED5-BA76-0FFFAEFDB88A}" dt="2026-01-30T04:06:31.919" v="169" actId="20577"/>
          <ac:spMkLst>
            <pc:docMk/>
            <pc:sldMk cId="0" sldId="277"/>
            <ac:spMk id="746" creationId="{00000000-0000-0000-0000-000000000000}"/>
          </ac:spMkLst>
        </pc:spChg>
      </pc:sldChg>
      <pc:sldChg chg="modSp mod modNotesTx">
        <pc:chgData name="Zonghua Gu" userId="9a7e1853e1951ef5" providerId="LiveId" clId="{CF1FAA12-072C-4ED5-BA76-0FFFAEFDB88A}" dt="2026-01-30T04:00:02.327" v="7" actId="20577"/>
        <pc:sldMkLst>
          <pc:docMk/>
          <pc:sldMk cId="0" sldId="307"/>
        </pc:sldMkLst>
        <pc:spChg chg="mod">
          <ac:chgData name="Zonghua Gu" userId="9a7e1853e1951ef5" providerId="LiveId" clId="{CF1FAA12-072C-4ED5-BA76-0FFFAEFDB88A}" dt="2026-01-30T03:59:49.606" v="4" actId="20577"/>
          <ac:spMkLst>
            <pc:docMk/>
            <pc:sldMk cId="0" sldId="307"/>
            <ac:spMk id="1180" creationId="{00000000-0000-0000-0000-000000000000}"/>
          </ac:spMkLst>
        </pc:spChg>
        <pc:spChg chg="mod">
          <ac:chgData name="Zonghua Gu" userId="9a7e1853e1951ef5" providerId="LiveId" clId="{CF1FAA12-072C-4ED5-BA76-0FFFAEFDB88A}" dt="2026-01-30T03:59:52.080" v="5" actId="20577"/>
          <ac:spMkLst>
            <pc:docMk/>
            <pc:sldMk cId="0" sldId="307"/>
            <ac:spMk id="1181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08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09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10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11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12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13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14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15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16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17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18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19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20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21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22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23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24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25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26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27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28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29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30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31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32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33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34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35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36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37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38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39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40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41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42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43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44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45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46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47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48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49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50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51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52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53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54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55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56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57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58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59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60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61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62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63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64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65"/>
        </pc:sldMkLst>
      </pc:sldChg>
      <pc:sldChg chg="del">
        <pc:chgData name="Zonghua Gu" userId="9a7e1853e1951ef5" providerId="LiveId" clId="{CF1FAA12-072C-4ED5-BA76-0FFFAEFDB88A}" dt="2026-01-30T03:59:10.744" v="2" actId="47"/>
        <pc:sldMkLst>
          <pc:docMk/>
          <pc:sldMk cId="0" sldId="366"/>
        </pc:sldMkLst>
      </pc:sldChg>
      <pc:sldChg chg="modSp del mod">
        <pc:chgData name="Zonghua Gu" userId="9a7e1853e1951ef5" providerId="LiveId" clId="{CF1FAA12-072C-4ED5-BA76-0FFFAEFDB88A}" dt="2026-01-30T04:00:03.868" v="8" actId="47"/>
        <pc:sldMkLst>
          <pc:docMk/>
          <pc:sldMk cId="0" sldId="367"/>
        </pc:sldMkLst>
        <pc:spChg chg="mod">
          <ac:chgData name="Zonghua Gu" userId="9a7e1853e1951ef5" providerId="LiveId" clId="{CF1FAA12-072C-4ED5-BA76-0FFFAEFDB88A}" dt="2026-01-30T04:00:00.110" v="6" actId="21"/>
          <ac:spMkLst>
            <pc:docMk/>
            <pc:sldMk cId="0" sldId="367"/>
            <ac:spMk id="2155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1-30T03:59:23.492" v="3" actId="20577"/>
        <pc:sldMkLst>
          <pc:docMk/>
          <pc:sldMk cId="0" sldId="368"/>
        </pc:sldMkLst>
        <pc:spChg chg="mod">
          <ac:chgData name="Zonghua Gu" userId="9a7e1853e1951ef5" providerId="LiveId" clId="{CF1FAA12-072C-4ED5-BA76-0FFFAEFDB88A}" dt="2026-01-30T03:59:23.492" v="3" actId="20577"/>
          <ac:spMkLst>
            <pc:docMk/>
            <pc:sldMk cId="0" sldId="368"/>
            <ac:spMk id="2161" creationId="{00000000-0000-0000-0000-000000000000}"/>
          </ac:spMkLst>
        </pc:spChg>
      </pc:sldChg>
      <pc:sldMasterChg chg="delSldLayout">
        <pc:chgData name="Zonghua Gu" userId="9a7e1853e1951ef5" providerId="LiveId" clId="{CF1FAA12-072C-4ED5-BA76-0FFFAEFDB88A}" dt="2025-12-31T12:31:48.893" v="0" actId="47"/>
        <pc:sldMasterMkLst>
          <pc:docMk/>
          <pc:sldMasterMk cId="0" sldId="214748367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86d2d46cd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86d2d46cd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to week 2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Finally, we get to build a routing protocol. Today will be entirely focused on Distance-Vector approach and then we’ll talk about an alternative approach hopefully tomorrow.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we're going to number them 1 through seven we'll come up with rules and when you put the seven rules together you get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 algorithm called the distance Vector protocol and it allows us to find shortest paths through the entire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812fc3e5d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812fc3e5d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let's Jump Right In so before we talk about any rules let me just give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29:41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a one slide one sentence version of this algorithm so all you have to do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if you hear about a path to a destination tell all your neighbors that's the oneliner version of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algorithm we're then going to spend a lot of time making it good but at a high level this is what it looks like so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 that mean let's say R1 wakes up one day and it sees that it has a hardcoded route to a so remember we said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static routes are the ones that are hardcoded if you're directly connected to a host then we will hardcode an entry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into r1's table saying that your next top to a is direct so R1 wakes up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day with this hardcoded entry and says I know a way to get to a so you know what I should do I should spread the love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should tell all of my neighbors that if they want to reach a they should come through me so R1 thinks I can reach a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 me go tell all of my neighbors so that if they want to reach a they can come through me as well so that's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ed56a414bf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ed56a414bf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R1 does R1 go goes ahead and tells all of its neighbors hey everyone I am R1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 can reach a so if you ever want to talk to a send it to me and I got it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I'll send it to a for you so R2 and R3 hear this and now they can update their forwarding tables therefore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 say if I want to send a packet to a I should forward it to R1 because R1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just told me that they can reach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ed56a414bf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ed56a414bf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likewise R3 thinks and says well I just heard this message from R1 saying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reach a so if I ever want to send packets to a I should just forward packets to R1 because they told me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can reach a so R2 and R3 can now program their forwarding tables with a path to a and because R2 and R3 can now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reach a they should also spread the love and tell their neighbors so R2 and R3 say we now know how to reach a let's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all of our neighbors how to reach a so that they can also join in on the fun and send packets to a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ed56a414bf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ed56a414bf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R2 and R3 send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31:39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packets to all of their neighbors and they say I can reach a as well so if you ever want to send packets to a send it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31:45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my way and R4 R5 R6 R7 they all hear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ed56a414bf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ed56a414bf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message saying R2 can reach a and R3 can reach a so now they can also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program entries into their forwork table so R4 says well R2 claims they can reach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so if I ever want to talk to a I should send packets that way and R5 here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well R2 says they can reach a so if I ever want to send packets to a I will send them this way and the same thing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ed56a414bf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ed56a414bf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should also spread the love and tell their neighbors so their neighbors can also reach a so they talk to 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their neighbors saying I can reach a if you ever want to talk to a come through me and these routers can now program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routes through a as well and if you do this enough times that you spread the love all across the network eventually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 should have a forwarding table entry that points toward a these blue arrows form a valid directed delivery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tree where all the arrows Point toward a and now regardless of who's sending packets anywhere all these routers can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coordinate and send the packets toward a so at a very high level with a single line this is what you're supposed to do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ed56a414bf_0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ed56a414bf_0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ed56a414bf_0_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2ed56a414bf_0_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remember there is a critical difference between routing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forwarding and remember routing is the process of all the routers talking to each other to form uh valid forwarding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tables and forwarding is the process of receiving a packet from a user and using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table to forward packets so routing is building the tables forwarding is using the tables that you just built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something you'll notice if you look at the demo is that the direction of packets being sent in routing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forwarding are opposites and this always trips people up so notice that when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 was sharing information with their friends about the fact that they can reach a that information propagated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outwards so it started at a and R1 at first these were the only two people who knew about a but slowly that information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radiated outwards and from a going F further and further and further away from a from the left side of your screen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the right side of your screen propagating outwards from a until everyone knew the information by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contrast when you are forwarding when you actually have the tables filled in and you're ready to use the tables when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someone sends you a packet and says please forward this packet toward a then the packets travel inwards toward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ed56a414bf_0_7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ed56a414bf_0_7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ed56a414bf_0_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ed56a414bf_0_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Pause to see if anyone can think of multipath, or expiring issues or other issues with the sketch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ed56a414bf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ed56a414bf_0_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the picture we showed you earlier everything was nice there was only a single path so when you heard about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way to reach a you just pointed your forwarding table in the direction toward a but that might not always be the case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sometimes there are multiple paths to reach a destination so in this example as before R1 is the only one that knows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a at the very beginning so it tells all its friends it tells R2 and R4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then R2 tells R3 and then R3 tells R5 and then R4 tells R5 so what happened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 is R3 and R4 both have a way to reach a so R5 is going to hear two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paths R3 is going to say I can reach a if you send packets to me I'll get to a but R4 will also say if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 packets to me I will also re J so R5 now has a choice it can either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program its forwarding table to go via R3 or to go via R4 the next top to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could either be R3 or R4 there's a choice and remember we said that both of these would be valid paths they would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 packets to a but one of them is better than the other in other words the cost is less and ultimately we want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least cost path so what R5 should really do is prefer the path with less cost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2812fc3e5d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2812fc3e5d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ed56a414bf_0_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2ed56a414bf_0_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more problem is that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might actually not hear about both of the paths at the same time so in the picture we had before everything was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nice R5 heard about two different paths and it got to pick the best one but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might not always happen what if the costs come in at different times for example you your R5 and you hear about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advertisement from R3 so R3 says I can reach a I'm 308 so what should R5 do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at this point because R5 hasn't heard the second path yet it only knows about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single path to a so what R5 has to do for now is say well is this the best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don't know but it's what I have right now so I'm going to go ahead and use this one for now and if I hear a better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later I can change my mind so routers are allowed to change their mind if they hear about something better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that means is because routers have to be able to change their minds when they hear better routes they should also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keep track of the routes so so far our forwarding tables just said a destination and a Next Top we are now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going to add a third column that used to not be there and the third column helps us keep track of the best known cost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destination so before this little packet came in R5 had no idea where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was or even that a existed but then it heard a message from R3 and R3 said I 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 three if you want to send packets to a send them through me I am cost three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away and R5 thinks well that's great if you're three away I must be four away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will write down that I can pass packets to R3 and they will reach a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I'll also leave a note to myself that this best known path has cost four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maybe I'll get a better one later who knows but for now at least I have a path to a I don't know if it's the best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maybe maybe better ones will come along maybe no other paths will come along but that's what I have right now and later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ed56a414bf_0_8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ed56a414bf_0_8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might hear a different path so now later down the line R4 sends a message to R5 and says I'm R4 I can reach a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send it to me I am two away from a so R5 now thinks and realizes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know what the old path that I had which was cost four is not the best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one is better R4 is 2 away so I must be three away so so actually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has cost three that's better than four three is better than four so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R5 can now do is R5 can change its mind it says actually I don't need that path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via R3 anymore with cost 4 I really want the path via R4 with cost three that's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better so R5 says I like the new one better and it's okay to change your mind and abandon old ones so this is what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to do because of the fact that there are multiple paths and they might not all be revealed to you at the same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time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2ed56a414bf_0_7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2ed56a414bf_0_7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we've actually already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started to build our algorithm so we'll piece it together and this slide will start from very empty to very full as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fill in all the rules so these rules are repeated once per destination that's why it says for each destination we just did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for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2ed56a414bf_0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2ed56a414bf_0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 all link costs are one so so far we were just kind of being lazy and saying all the links were one so if someone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says I am five away from a then you must be six away because your buddy was five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away you must be six away that's true of all the link costs are one but if the link costs are not all one you have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a little bit of math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ed56a414bf_0_8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ed56a414bf_0_8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ed56a414bf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ed56a414bf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so to take that rule that we just talked about and write it out that summation looks like this it's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advertised cost the cost that you received from your buddy plus the link cost to the neighbor that's what we just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rule one look familiar from other classes or algorithms that you’ve encountered? Can you think of any?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ed56a414bf_0_8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2ed56a414bf_0_8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this thing should hopefully look very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familiar if you've taken a data structures class because this is exactly what you do to run a shortest paths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algorithm like dyra algorithm do people know Dyer's algorithm do they remember it kind of sort of okay I saw my hands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 up that's good so this is the operation in dyra algorithm that actually makes it work if you really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remember your stuff you might remember it's called relaxation although I don't really what it's called but that's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term that people use and basically to run dyra algorithm to get the shortest paths in a graph you just do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operation over and over again so we could actually build a distance Vector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protocol based on dyis algorithm but I'm actually going to do it based on Bellman Ford which is another shortest pass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algorithm that does the same relaxation and the reason why I use one over the other will become more clear as we keep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going but if you remember either of these algorithms which you don't have to it's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if you don't remember exactly how they work Dyer's algorithm relaxes things in a very specific order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relax all the edges radiating outwards from The Source in order to get the shortest paths whereas Bellman Ford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you've ever seen it you can relax the edges in any order that you want as long as you relax everybody enough times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get the shortest path so the reason why I want to use Bellman Ford here instead of dstress is that b for doesn't impose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any order in which I visit all the edges I can relax all the edges in any order that I feel like whereas Dyas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53:04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 impose an order but both of them are based on this relaxation operation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2ed56a414bf_0_9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2ed56a414bf_0_9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the centralized bellman-ford algorithm in pseudo code. Let’s step through each component and then we’ll talk about how it’s distributed.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distributed version have to take out this for loop. Routers can’t get in line or have a guarantee all will do this in order.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ow the difference with our version is that our version is distributed so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58:35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don't have a list of all the routers we don't have a list of all the links no one is telling us that stuff so instead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58:42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still going to do the same thing but we're going to do it in a distributed way so this blue section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58:47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still exists but instead of initializing these dictionaries the way they did in their centralized version we'll just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58:53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every router initialize their forwarding tables to for example empty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ed56a414bf_0_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2ed56a414bf_0_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ed56a414bf_0_9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ed56a414bf_0_9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ed56a414bf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ed56a414bf_0_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ed56a414bf_0_9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ed56a414bf_0_9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ed56a414bf_0_9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2ed56a414bf_0_9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ed56a414bf_0_9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ed56a414bf_0_9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ed56a414bf_0_10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ed56a414bf_0_10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ed56a414bf_0_1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ed56a414bf_0_1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ed56a414bf_0_10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ed56a414bf_0_10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ed56a414bf_0_10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ed56a414bf_0_10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ed56a414bf_0_1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ed56a414bf_0_1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ed56a414bf_0_1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ed56a414bf_0_1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2ed56a414bf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2ed56a414bf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ed56a414bf_0_1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ed56a414bf_0_1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ed56a414bf_0_1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ed56a414bf_0_1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the topology might have changed maybe like a link went down or an operator changed the cost of one of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links so I know I said it's three earlier but I've actually changed my mind the graph itself has changed so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changed my mind and a should really be eight away so when you see a message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like this you're tempted to see it and say oh was a and nine that's worse than four reject but actually R2 might be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trying to tell you something it's trying to tell you hey the path has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changed because the network topology itself changed so you should really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listen to me because I'm trying to tell you new information so we need to change our rule to not just reject all things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are worse but we need to accept in a case like this so R3 really should say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well I currently am going via R2 but R2 has just come along and told me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changed their mind so this really shouldn't say four anymore what should it say this should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really say nine so I'm still forwarding via R2 to a but the new cost is nine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2ed56a414bf_0_1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2ed56a414bf_0_1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2ed56a414bf_0_1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ed56a414bf_0_1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ed56a414bf_0_1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ed56a414bf_0_1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2ed56a414bf_0_1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2ed56a414bf_0_1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2ed56a414bf_0_1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2ed56a414bf_0_1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2ed56a414bf_0_1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2ed56a414bf_0_1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let's take care of another one another problem with the routing protocol and routing protocols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general is that they are running on layer three which is best effort and best effort means that packets can get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dropped so it could be the case that R1 has this new shiny path to a it's all great but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it tries to tell R2 back it gets dropped R2 doesn't hear anything that's a problem R2 is not going to learn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 to a that's a problem and we're going to solve it with probably the simplest dumbest solution to best effort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that is to resend the advertisements every so often so instead of just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sending this advertisement once and saying saying I'm R1 I can reach a with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cost one you're going to send that exact same advertisement once every few seconds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number of seconds is the advertisement interval I think in practice it's like every 10 seconds 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 one second order of seconds as opposed to milliseconds or something that' be too fast but roughly the order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a couple seconds that's called the advertisement interval and you send it over and over and over again and even if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doesn't work the first time the second time or the third time it should work eventually assuming that something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gets through this packet or this link this should work eventually after some time if every single packet gets dropped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might ask if that link even counts because it's dropping everything there a link that drops everything even count 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link kind of philosophical not that important but basically that's our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 to ensuring reliability is just sending the same thing over and over and over again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so back to our favorite list of rule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2ed56a414bf_0_1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2ed56a414bf_0_1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2d5486c62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32d5486c62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2ed56a414bf_0_1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2ed56a414bf_0_1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ed56a414bf_0_1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2ed56a414bf_0_1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2ed56a414bf_0_1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2ed56a414bf_0_1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2ed56a414bf_0_1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2ed56a414bf_0_1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2ed56a414bf_0_1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ed56a414bf_0_1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2eee90cc2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2eee90cc2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2ed56a414bf_0_1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2ed56a414bf_0_1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Before we keep going. Can anyone think of any optimization ideas?? </a:t>
            </a:r>
            <a:r>
              <a:rPr lang="en-US" dirty="0"/>
              <a:t>For each destination: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If you hear an advertisement, update table and reset TTL if: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The destination isn't in the table.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Advertised cost + link cost to neighbor &lt; best-known cost. </a:t>
            </a:r>
            <a:r>
              <a:rPr lang="en-US" sz="1400" dirty="0">
                <a:solidFill>
                  <a:schemeClr val="accent3"/>
                </a:solidFill>
              </a:rPr>
              <a:t>(#1)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The advertisement is from current next-hop. </a:t>
            </a:r>
            <a:r>
              <a:rPr lang="en-US" sz="1400" dirty="0">
                <a:solidFill>
                  <a:schemeClr val="accent3"/>
                </a:solidFill>
              </a:rPr>
              <a:t>(#2)</a:t>
            </a:r>
            <a:br>
              <a:rPr lang="en-US" dirty="0"/>
            </a:br>
            <a:r>
              <a:rPr lang="en-US" dirty="0"/>
              <a:t>Includes poison advertisements. </a:t>
            </a:r>
            <a:r>
              <a:rPr lang="en-US" sz="1400" dirty="0">
                <a:solidFill>
                  <a:schemeClr val="accent3"/>
                </a:solidFill>
              </a:rPr>
              <a:t>(#5)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Advertise to all your neighbors when the table updates, and periodically. </a:t>
            </a:r>
            <a:r>
              <a:rPr lang="en-US" sz="1400" dirty="0">
                <a:solidFill>
                  <a:schemeClr val="accent3"/>
                </a:solidFill>
              </a:rPr>
              <a:t>(#3)</a:t>
            </a:r>
            <a:endParaRPr lang="en-US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But don't advertise back to the next-hop. </a:t>
            </a:r>
            <a:r>
              <a:rPr lang="en-US" sz="1400" dirty="0">
                <a:solidFill>
                  <a:schemeClr val="accent3"/>
                </a:solidFill>
              </a:rPr>
              <a:t>(#6A)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...Or, advertise poison back to the next-hop. </a:t>
            </a:r>
            <a:r>
              <a:rPr lang="en-US" sz="1400" dirty="0">
                <a:solidFill>
                  <a:schemeClr val="accent3"/>
                </a:solidFill>
              </a:rPr>
              <a:t>(#6B)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Any cost ≥ 16 is advertised as ∞.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sz="1400" dirty="0">
                <a:solidFill>
                  <a:schemeClr val="accent3"/>
                </a:solidFill>
              </a:rPr>
              <a:t>(#7)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If a table entry expires, make the entry poison and advertise it. </a:t>
            </a:r>
            <a:r>
              <a:rPr lang="en-US" sz="1400" dirty="0">
                <a:solidFill>
                  <a:schemeClr val="accent3"/>
                </a:solidFill>
              </a:rPr>
              <a:t>(#3, #5)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g337c67ec3e1_0_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8" name="Google Shape;2158;g337c67ec3e1_0_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SECTION_TITLE_AND_DESCRIPTION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SECTION_TITLE_AND_DESCRIPTION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SECTION_TITLE_AND_DESCRIPTION_2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SECTION_TITLE_AND_DESCRIPTION_2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SECTION_TITLE_AND_DESCRIPTION_2_1_1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SECTION_TITLE_AND_DESCRIPTION_2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SECTION_TITLE_AND_DESCRIPTION_1_3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SECTION_TITLE_AND_DESCRIPTION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Algorithm Sketch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0" name="Google Shape;160;p2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Lecture 5</a:t>
            </a:r>
            <a:r>
              <a:rPr lang="en"/>
              <a:t>, Spring </a:t>
            </a:r>
            <a:r>
              <a:rPr lang="en" dirty="0"/>
              <a:t>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168" name="Google Shape;168;p26"/>
          <p:cNvCxnSpPr>
            <a:stCxn id="169" idx="3"/>
            <a:endCxn id="170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26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6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" name="Google Shape;173;p26"/>
          <p:cNvCxnSpPr>
            <a:stCxn id="169" idx="3"/>
            <a:endCxn id="172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" name="Google Shape;169;p26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" name="Google Shape;174;p26"/>
          <p:cNvCxnSpPr>
            <a:stCxn id="171" idx="6"/>
            <a:endCxn id="169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26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" name="Google Shape;179;p26"/>
          <p:cNvCxnSpPr>
            <a:stCxn id="170" idx="3"/>
            <a:endCxn id="176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Google Shape;180;p26"/>
          <p:cNvCxnSpPr>
            <a:stCxn id="170" idx="3"/>
            <a:endCxn id="175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" name="Google Shape;181;p26"/>
          <p:cNvCxnSpPr>
            <a:stCxn id="172" idx="3"/>
            <a:endCxn id="177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182;p26"/>
          <p:cNvCxnSpPr>
            <a:stCxn id="172" idx="3"/>
            <a:endCxn id="178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" name="Google Shape;183;p26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" name="Google Shape;191;p26"/>
          <p:cNvCxnSpPr>
            <a:stCxn id="176" idx="3"/>
            <a:endCxn id="183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26"/>
          <p:cNvCxnSpPr>
            <a:stCxn id="176" idx="3"/>
            <a:endCxn id="184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26"/>
          <p:cNvCxnSpPr>
            <a:stCxn id="175" idx="3"/>
            <a:endCxn id="185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26"/>
          <p:cNvCxnSpPr>
            <a:stCxn id="175" idx="3"/>
            <a:endCxn id="186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26"/>
          <p:cNvCxnSpPr>
            <a:stCxn id="177" idx="3"/>
            <a:endCxn id="187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6"/>
          <p:cNvCxnSpPr>
            <a:stCxn id="177" idx="3"/>
            <a:endCxn id="188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6"/>
          <p:cNvCxnSpPr>
            <a:stCxn id="178" idx="3"/>
            <a:endCxn id="189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6"/>
          <p:cNvCxnSpPr>
            <a:stCxn id="178" idx="3"/>
            <a:endCxn id="190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" name="Google Shape;199;p26"/>
          <p:cNvSpPr/>
          <p:nvPr/>
        </p:nvSpPr>
        <p:spPr>
          <a:xfrm>
            <a:off x="1265650" y="2216525"/>
            <a:ext cx="1615500" cy="868200"/>
          </a:xfrm>
          <a:prstGeom prst="wedgeRoundRectCallout">
            <a:avLst>
              <a:gd name="adj1" fmla="val 43927"/>
              <a:gd name="adj2" fmla="val 7095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 is 1 away from me. I should tell my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" name="Google Shape;200;p26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1" name="Google Shape;201;p26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208" name="Google Shape;208;p27"/>
          <p:cNvCxnSpPr>
            <a:stCxn id="209" idx="3"/>
            <a:endCxn id="210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" name="Google Shape;210;p27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3" name="Google Shape;213;p27"/>
          <p:cNvCxnSpPr>
            <a:stCxn id="209" idx="3"/>
            <a:endCxn id="212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9" name="Google Shape;209;p27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4" name="Google Shape;214;p27"/>
          <p:cNvCxnSpPr>
            <a:stCxn id="211" idx="6"/>
            <a:endCxn id="209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" name="Google Shape;215;p27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7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9" name="Google Shape;219;p27"/>
          <p:cNvCxnSpPr>
            <a:stCxn id="210" idx="3"/>
            <a:endCxn id="216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7"/>
          <p:cNvCxnSpPr>
            <a:stCxn id="210" idx="3"/>
            <a:endCxn id="215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7"/>
          <p:cNvCxnSpPr>
            <a:stCxn id="212" idx="3"/>
            <a:endCxn id="217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7"/>
          <p:cNvCxnSpPr>
            <a:stCxn id="212" idx="3"/>
            <a:endCxn id="218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3" name="Google Shape;223;p27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27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1" name="Google Shape;231;p27"/>
          <p:cNvCxnSpPr>
            <a:stCxn id="216" idx="3"/>
            <a:endCxn id="223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7"/>
          <p:cNvCxnSpPr>
            <a:stCxn id="216" idx="3"/>
            <a:endCxn id="224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27"/>
          <p:cNvCxnSpPr>
            <a:stCxn id="215" idx="3"/>
            <a:endCxn id="225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34;p27"/>
          <p:cNvCxnSpPr>
            <a:stCxn id="215" idx="3"/>
            <a:endCxn id="226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27"/>
          <p:cNvCxnSpPr>
            <a:stCxn id="217" idx="3"/>
            <a:endCxn id="227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27"/>
          <p:cNvCxnSpPr>
            <a:stCxn id="217" idx="3"/>
            <a:endCxn id="228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7"/>
          <p:cNvCxnSpPr>
            <a:stCxn id="218" idx="3"/>
            <a:endCxn id="229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27"/>
          <p:cNvCxnSpPr>
            <a:stCxn id="218" idx="3"/>
            <a:endCxn id="230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27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0" name="Google Shape;240;p27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2666800" y="241670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1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2" name="Google Shape;242;p27"/>
          <p:cNvCxnSpPr/>
          <p:nvPr/>
        </p:nvCxnSpPr>
        <p:spPr>
          <a:xfrm rot="10800000" flipH="1">
            <a:off x="3104200" y="2776179"/>
            <a:ext cx="756900" cy="47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3" name="Google Shape;243;p27"/>
          <p:cNvSpPr/>
          <p:nvPr/>
        </p:nvSpPr>
        <p:spPr>
          <a:xfrm>
            <a:off x="2666800" y="416930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1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4" name="Google Shape;244;p27"/>
          <p:cNvCxnSpPr/>
          <p:nvPr/>
        </p:nvCxnSpPr>
        <p:spPr>
          <a:xfrm>
            <a:off x="3104200" y="3750904"/>
            <a:ext cx="756900" cy="47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/>
          <p:nvPr/>
        </p:nvSpPr>
        <p:spPr>
          <a:xfrm>
            <a:off x="4074550" y="2420500"/>
            <a:ext cx="517500" cy="206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252" name="Google Shape;252;p28"/>
          <p:cNvCxnSpPr>
            <a:stCxn id="253" idx="3"/>
            <a:endCxn id="254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4" name="Google Shape;254;p28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28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28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7" name="Google Shape;257;p28"/>
          <p:cNvCxnSpPr>
            <a:stCxn id="253" idx="3"/>
            <a:endCxn id="256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28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8" name="Google Shape;258;p28"/>
          <p:cNvCxnSpPr>
            <a:stCxn id="255" idx="6"/>
            <a:endCxn id="253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" name="Google Shape;259;p28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3" name="Google Shape;263;p28"/>
          <p:cNvCxnSpPr>
            <a:stCxn id="254" idx="3"/>
            <a:endCxn id="260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" name="Google Shape;264;p28"/>
          <p:cNvCxnSpPr>
            <a:stCxn id="254" idx="3"/>
            <a:endCxn id="259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8"/>
          <p:cNvCxnSpPr>
            <a:stCxn id="256" idx="3"/>
            <a:endCxn id="261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266;p28"/>
          <p:cNvCxnSpPr>
            <a:stCxn id="256" idx="3"/>
            <a:endCxn id="262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" name="Google Shape;267;p28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" name="Google Shape;275;p28"/>
          <p:cNvCxnSpPr>
            <a:stCxn id="260" idx="3"/>
            <a:endCxn id="267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28"/>
          <p:cNvCxnSpPr>
            <a:stCxn id="260" idx="3"/>
            <a:endCxn id="268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28"/>
          <p:cNvCxnSpPr>
            <a:stCxn id="259" idx="3"/>
            <a:endCxn id="269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28"/>
          <p:cNvCxnSpPr>
            <a:stCxn id="259" idx="3"/>
            <a:endCxn id="270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" name="Google Shape;279;p28"/>
          <p:cNvCxnSpPr>
            <a:stCxn id="261" idx="3"/>
            <a:endCxn id="271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28"/>
          <p:cNvCxnSpPr>
            <a:stCxn id="261" idx="3"/>
            <a:endCxn id="272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28"/>
          <p:cNvCxnSpPr>
            <a:stCxn id="262" idx="3"/>
            <a:endCxn id="273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28"/>
          <p:cNvCxnSpPr>
            <a:stCxn id="262" idx="3"/>
            <a:endCxn id="274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28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4" name="Google Shape;284;p28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2009375" y="1531013"/>
            <a:ext cx="2044500" cy="842700"/>
          </a:xfrm>
          <a:prstGeom prst="wedgeRoundRectCallout">
            <a:avLst>
              <a:gd name="adj1" fmla="val 43927"/>
              <a:gd name="adj2" fmla="val 7095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just found a way to reach A. We should tell our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6" name="Google Shape;286;p28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7" name="Google Shape;287;p28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8" name="Google Shape;288;p28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9" name="Google Shape;289;p28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295" name="Google Shape;295;p2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296" name="Google Shape;296;p29"/>
          <p:cNvCxnSpPr>
            <a:stCxn id="297" idx="3"/>
            <a:endCxn id="298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8" name="Google Shape;298;p29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29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1" name="Google Shape;301;p29"/>
          <p:cNvCxnSpPr>
            <a:stCxn id="297" idx="3"/>
            <a:endCxn id="300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7" name="Google Shape;297;p29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2" name="Google Shape;302;p29"/>
          <p:cNvCxnSpPr>
            <a:stCxn id="299" idx="6"/>
            <a:endCxn id="297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3" name="Google Shape;303;p29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29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7" name="Google Shape;307;p29"/>
          <p:cNvCxnSpPr>
            <a:stCxn id="298" idx="3"/>
            <a:endCxn id="304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29"/>
          <p:cNvCxnSpPr>
            <a:stCxn id="298" idx="3"/>
            <a:endCxn id="303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29"/>
          <p:cNvCxnSpPr>
            <a:stCxn id="300" idx="3"/>
            <a:endCxn id="305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29"/>
          <p:cNvCxnSpPr>
            <a:stCxn id="300" idx="3"/>
            <a:endCxn id="306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1" name="Google Shape;311;p29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" name="Google Shape;319;p29"/>
          <p:cNvCxnSpPr>
            <a:stCxn id="304" idx="3"/>
            <a:endCxn id="311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29"/>
          <p:cNvCxnSpPr>
            <a:stCxn id="304" idx="3"/>
            <a:endCxn id="312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29"/>
          <p:cNvCxnSpPr>
            <a:stCxn id="303" idx="3"/>
            <a:endCxn id="313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2" name="Google Shape;322;p29"/>
          <p:cNvCxnSpPr>
            <a:stCxn id="303" idx="3"/>
            <a:endCxn id="314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" name="Google Shape;323;p29"/>
          <p:cNvCxnSpPr>
            <a:stCxn id="305" idx="3"/>
            <a:endCxn id="315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29"/>
          <p:cNvCxnSpPr>
            <a:stCxn id="305" idx="3"/>
            <a:endCxn id="316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29"/>
          <p:cNvCxnSpPr>
            <a:stCxn id="306" idx="3"/>
            <a:endCxn id="317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29"/>
          <p:cNvCxnSpPr>
            <a:stCxn id="306" idx="3"/>
            <a:endCxn id="318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" name="Google Shape;327;p29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8" name="Google Shape;328;p29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4371650" y="1855038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0" name="Google Shape;330;p29"/>
          <p:cNvCxnSpPr/>
          <p:nvPr/>
        </p:nvCxnSpPr>
        <p:spPr>
          <a:xfrm rot="10800000" flipH="1">
            <a:off x="4658750" y="224332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1" name="Google Shape;331;p29"/>
          <p:cNvCxnSpPr/>
          <p:nvPr/>
        </p:nvCxnSpPr>
        <p:spPr>
          <a:xfrm>
            <a:off x="4658750" y="292912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2" name="Google Shape;332;p29"/>
          <p:cNvSpPr/>
          <p:nvPr/>
        </p:nvSpPr>
        <p:spPr>
          <a:xfrm>
            <a:off x="4371650" y="3150443"/>
            <a:ext cx="903300" cy="180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3" name="Google Shape;333;p29"/>
          <p:cNvCxnSpPr/>
          <p:nvPr/>
        </p:nvCxnSpPr>
        <p:spPr>
          <a:xfrm rot="10800000" flipH="1">
            <a:off x="4658750" y="382470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4" name="Google Shape;334;p29"/>
          <p:cNvCxnSpPr/>
          <p:nvPr/>
        </p:nvCxnSpPr>
        <p:spPr>
          <a:xfrm>
            <a:off x="4658750" y="445312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5" name="Google Shape;335;p29"/>
          <p:cNvSpPr/>
          <p:nvPr/>
        </p:nvSpPr>
        <p:spPr>
          <a:xfrm>
            <a:off x="4371650" y="3665023"/>
            <a:ext cx="903300" cy="180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4371650" y="4674443"/>
            <a:ext cx="903300" cy="180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7" name="Google Shape;337;p29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8" name="Google Shape;338;p29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9" name="Google Shape;339;p29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0" name="Google Shape;340;p29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"/>
          <p:cNvSpPr/>
          <p:nvPr/>
        </p:nvSpPr>
        <p:spPr>
          <a:xfrm>
            <a:off x="5598550" y="2016500"/>
            <a:ext cx="517500" cy="3025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347" name="Google Shape;347;p3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348" name="Google Shape;348;p30"/>
          <p:cNvCxnSpPr>
            <a:stCxn id="349" idx="3"/>
            <a:endCxn id="350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0" name="Google Shape;350;p30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3" name="Google Shape;353;p30"/>
          <p:cNvCxnSpPr>
            <a:stCxn id="349" idx="3"/>
            <a:endCxn id="352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9" name="Google Shape;349;p30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4" name="Google Shape;354;p30"/>
          <p:cNvCxnSpPr>
            <a:stCxn id="351" idx="6"/>
            <a:endCxn id="349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5" name="Google Shape;355;p30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9" name="Google Shape;359;p30"/>
          <p:cNvCxnSpPr>
            <a:stCxn id="350" idx="3"/>
            <a:endCxn id="356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0" name="Google Shape;360;p30"/>
          <p:cNvCxnSpPr>
            <a:stCxn id="350" idx="3"/>
            <a:endCxn id="355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1" name="Google Shape;361;p30"/>
          <p:cNvCxnSpPr>
            <a:stCxn id="352" idx="3"/>
            <a:endCxn id="357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30"/>
          <p:cNvCxnSpPr>
            <a:stCxn id="352" idx="3"/>
            <a:endCxn id="358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3" name="Google Shape;363;p30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0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0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30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30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0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0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1" name="Google Shape;371;p30"/>
          <p:cNvCxnSpPr>
            <a:stCxn id="356" idx="3"/>
            <a:endCxn id="363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2" name="Google Shape;372;p30"/>
          <p:cNvCxnSpPr>
            <a:stCxn id="356" idx="3"/>
            <a:endCxn id="364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3" name="Google Shape;373;p30"/>
          <p:cNvCxnSpPr>
            <a:stCxn id="355" idx="3"/>
            <a:endCxn id="365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4" name="Google Shape;374;p30"/>
          <p:cNvCxnSpPr>
            <a:stCxn id="355" idx="3"/>
            <a:endCxn id="366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5" name="Google Shape;375;p30"/>
          <p:cNvCxnSpPr>
            <a:stCxn id="357" idx="3"/>
            <a:endCxn id="367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6" name="Google Shape;376;p30"/>
          <p:cNvCxnSpPr>
            <a:stCxn id="357" idx="3"/>
            <a:endCxn id="368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7" name="Google Shape;377;p30"/>
          <p:cNvCxnSpPr>
            <a:stCxn id="358" idx="3"/>
            <a:endCxn id="369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8" name="Google Shape;378;p30"/>
          <p:cNvCxnSpPr>
            <a:stCxn id="358" idx="3"/>
            <a:endCxn id="370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9" name="Google Shape;379;p30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0" name="Google Shape;380;p30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30"/>
          <p:cNvSpPr/>
          <p:nvPr/>
        </p:nvSpPr>
        <p:spPr>
          <a:xfrm>
            <a:off x="3602450" y="1064688"/>
            <a:ext cx="2044500" cy="842700"/>
          </a:xfrm>
          <a:prstGeom prst="wedgeRoundRectCallout">
            <a:avLst>
              <a:gd name="adj1" fmla="val 43927"/>
              <a:gd name="adj2" fmla="val 7095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just found a way to reach A. We should tell our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2" name="Google Shape;382;p30"/>
          <p:cNvCxnSpPr/>
          <p:nvPr/>
        </p:nvCxnSpPr>
        <p:spPr>
          <a:xfrm flipH="1">
            <a:off x="4902875" y="2326325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3" name="Google Shape;383;p30"/>
          <p:cNvSpPr txBox="1"/>
          <p:nvPr/>
        </p:nvSpPr>
        <p:spPr>
          <a:xfrm rot="-1045209">
            <a:off x="4976223" y="2253586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4" name="Google Shape;384;p30"/>
          <p:cNvCxnSpPr/>
          <p:nvPr/>
        </p:nvCxnSpPr>
        <p:spPr>
          <a:xfrm rot="10800000">
            <a:off x="4902875" y="2914248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5" name="Google Shape;385;p30"/>
          <p:cNvSpPr txBox="1"/>
          <p:nvPr/>
        </p:nvSpPr>
        <p:spPr>
          <a:xfrm rot="1045209" flipH="1">
            <a:off x="4976223" y="3041188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6" name="Google Shape;386;p30"/>
          <p:cNvCxnSpPr/>
          <p:nvPr/>
        </p:nvCxnSpPr>
        <p:spPr>
          <a:xfrm flipH="1">
            <a:off x="4902875" y="3884931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7" name="Google Shape;387;p30"/>
          <p:cNvSpPr txBox="1"/>
          <p:nvPr/>
        </p:nvSpPr>
        <p:spPr>
          <a:xfrm rot="-1045209">
            <a:off x="4976223" y="3812192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8" name="Google Shape;388;p30"/>
          <p:cNvCxnSpPr/>
          <p:nvPr/>
        </p:nvCxnSpPr>
        <p:spPr>
          <a:xfrm rot="10800000">
            <a:off x="4902875" y="4472854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9" name="Google Shape;389;p30"/>
          <p:cNvSpPr txBox="1"/>
          <p:nvPr/>
        </p:nvSpPr>
        <p:spPr>
          <a:xfrm rot="1045209" flipH="1">
            <a:off x="4976223" y="4599794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0" name="Google Shape;390;p30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1" name="Google Shape;391;p30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" name="Google Shape;392;p30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3" name="Google Shape;393;p30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399" name="Google Shape;399;p3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400" name="Google Shape;400;p31"/>
          <p:cNvCxnSpPr>
            <a:stCxn id="401" idx="3"/>
            <a:endCxn id="402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2" name="Google Shape;402;p31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31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31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5" name="Google Shape;405;p31"/>
          <p:cNvCxnSpPr>
            <a:stCxn id="401" idx="3"/>
            <a:endCxn id="404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1" name="Google Shape;401;p31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6" name="Google Shape;406;p31"/>
          <p:cNvCxnSpPr>
            <a:stCxn id="403" idx="6"/>
            <a:endCxn id="401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7" name="Google Shape;407;p31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31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31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1" name="Google Shape;411;p31"/>
          <p:cNvCxnSpPr>
            <a:stCxn id="402" idx="3"/>
            <a:endCxn id="408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2" name="Google Shape;412;p31"/>
          <p:cNvCxnSpPr>
            <a:stCxn id="402" idx="3"/>
            <a:endCxn id="407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p31"/>
          <p:cNvCxnSpPr>
            <a:stCxn id="404" idx="3"/>
            <a:endCxn id="409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4" name="Google Shape;414;p31"/>
          <p:cNvCxnSpPr>
            <a:stCxn id="404" idx="3"/>
            <a:endCxn id="410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5" name="Google Shape;415;p31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31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31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31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31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31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31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31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3" name="Google Shape;423;p31"/>
          <p:cNvCxnSpPr>
            <a:stCxn id="408" idx="3"/>
            <a:endCxn id="415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4" name="Google Shape;424;p31"/>
          <p:cNvCxnSpPr>
            <a:stCxn id="408" idx="3"/>
            <a:endCxn id="416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5" name="Google Shape;425;p31"/>
          <p:cNvCxnSpPr>
            <a:stCxn id="407" idx="3"/>
            <a:endCxn id="417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6" name="Google Shape;426;p31"/>
          <p:cNvCxnSpPr>
            <a:stCxn id="407" idx="3"/>
            <a:endCxn id="418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7" name="Google Shape;427;p31"/>
          <p:cNvCxnSpPr>
            <a:stCxn id="409" idx="3"/>
            <a:endCxn id="419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8" name="Google Shape;428;p31"/>
          <p:cNvCxnSpPr>
            <a:stCxn id="409" idx="3"/>
            <a:endCxn id="420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9" name="Google Shape;429;p31"/>
          <p:cNvCxnSpPr>
            <a:stCxn id="410" idx="3"/>
            <a:endCxn id="421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0" name="Google Shape;430;p31"/>
          <p:cNvCxnSpPr>
            <a:stCxn id="410" idx="3"/>
            <a:endCxn id="422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1" name="Google Shape;431;p31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2" name="Google Shape;432;p31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3" name="Google Shape;433;p31"/>
          <p:cNvCxnSpPr/>
          <p:nvPr/>
        </p:nvCxnSpPr>
        <p:spPr>
          <a:xfrm flipH="1">
            <a:off x="4902875" y="2326325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4" name="Google Shape;434;p31"/>
          <p:cNvSpPr txBox="1"/>
          <p:nvPr/>
        </p:nvSpPr>
        <p:spPr>
          <a:xfrm rot="-1045209">
            <a:off x="4976223" y="2253586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5" name="Google Shape;435;p31"/>
          <p:cNvCxnSpPr/>
          <p:nvPr/>
        </p:nvCxnSpPr>
        <p:spPr>
          <a:xfrm rot="10800000">
            <a:off x="4902875" y="2914248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6" name="Google Shape;436;p31"/>
          <p:cNvSpPr txBox="1"/>
          <p:nvPr/>
        </p:nvSpPr>
        <p:spPr>
          <a:xfrm rot="1045209" flipH="1">
            <a:off x="4976223" y="3041188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7" name="Google Shape;437;p31"/>
          <p:cNvCxnSpPr/>
          <p:nvPr/>
        </p:nvCxnSpPr>
        <p:spPr>
          <a:xfrm flipH="1">
            <a:off x="4902875" y="3884931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8" name="Google Shape;438;p31"/>
          <p:cNvSpPr txBox="1"/>
          <p:nvPr/>
        </p:nvSpPr>
        <p:spPr>
          <a:xfrm rot="-1045209">
            <a:off x="4976223" y="3812192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9" name="Google Shape;439;p31"/>
          <p:cNvCxnSpPr/>
          <p:nvPr/>
        </p:nvCxnSpPr>
        <p:spPr>
          <a:xfrm rot="10800000">
            <a:off x="4902875" y="4472854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0" name="Google Shape;440;p31"/>
          <p:cNvSpPr txBox="1"/>
          <p:nvPr/>
        </p:nvSpPr>
        <p:spPr>
          <a:xfrm rot="1045209" flipH="1">
            <a:off x="4976223" y="4599794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1" name="Google Shape;441;p31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2" name="Google Shape;442;p31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3" name="Google Shape;443;p31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4" name="Google Shape;444;p31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5" name="Google Shape;445;p31"/>
          <p:cNvCxnSpPr/>
          <p:nvPr/>
        </p:nvCxnSpPr>
        <p:spPr>
          <a:xfrm rot="10800000" flipH="1">
            <a:off x="6248875" y="212427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6" name="Google Shape;446;p31"/>
          <p:cNvCxnSpPr/>
          <p:nvPr/>
        </p:nvCxnSpPr>
        <p:spPr>
          <a:xfrm>
            <a:off x="6248875" y="245463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7" name="Google Shape;447;p31"/>
          <p:cNvSpPr/>
          <p:nvPr/>
        </p:nvSpPr>
        <p:spPr>
          <a:xfrm>
            <a:off x="5929075" y="1725738"/>
            <a:ext cx="1043700" cy="3234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31"/>
          <p:cNvSpPr/>
          <p:nvPr/>
        </p:nvSpPr>
        <p:spPr>
          <a:xfrm>
            <a:off x="6146875" y="2556157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31"/>
          <p:cNvSpPr/>
          <p:nvPr/>
        </p:nvSpPr>
        <p:spPr>
          <a:xfrm>
            <a:off x="6146875" y="273938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0" name="Google Shape;450;p31"/>
          <p:cNvCxnSpPr/>
          <p:nvPr/>
        </p:nvCxnSpPr>
        <p:spPr>
          <a:xfrm rot="10800000" flipH="1">
            <a:off x="6248875" y="288627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1" name="Google Shape;451;p31"/>
          <p:cNvCxnSpPr/>
          <p:nvPr/>
        </p:nvCxnSpPr>
        <p:spPr>
          <a:xfrm>
            <a:off x="6248875" y="321663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2" name="Google Shape;452;p31"/>
          <p:cNvSpPr/>
          <p:nvPr/>
        </p:nvSpPr>
        <p:spPr>
          <a:xfrm>
            <a:off x="6146875" y="331199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31"/>
          <p:cNvSpPr/>
          <p:nvPr/>
        </p:nvSpPr>
        <p:spPr>
          <a:xfrm>
            <a:off x="6146875" y="354129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4" name="Google Shape;454;p31"/>
          <p:cNvCxnSpPr/>
          <p:nvPr/>
        </p:nvCxnSpPr>
        <p:spPr>
          <a:xfrm rot="10800000" flipH="1">
            <a:off x="6248875" y="368818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5" name="Google Shape;455;p31"/>
          <p:cNvCxnSpPr/>
          <p:nvPr/>
        </p:nvCxnSpPr>
        <p:spPr>
          <a:xfrm>
            <a:off x="6248875" y="401854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6" name="Google Shape;456;p31"/>
          <p:cNvSpPr/>
          <p:nvPr/>
        </p:nvSpPr>
        <p:spPr>
          <a:xfrm>
            <a:off x="6146875" y="411390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31"/>
          <p:cNvSpPr/>
          <p:nvPr/>
        </p:nvSpPr>
        <p:spPr>
          <a:xfrm>
            <a:off x="6146875" y="430329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8" name="Google Shape;458;p31"/>
          <p:cNvCxnSpPr/>
          <p:nvPr/>
        </p:nvCxnSpPr>
        <p:spPr>
          <a:xfrm rot="10800000" flipH="1">
            <a:off x="6248875" y="445018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9" name="Google Shape;459;p31"/>
          <p:cNvCxnSpPr/>
          <p:nvPr/>
        </p:nvCxnSpPr>
        <p:spPr>
          <a:xfrm>
            <a:off x="6248875" y="478054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0" name="Google Shape;460;p31"/>
          <p:cNvSpPr/>
          <p:nvPr/>
        </p:nvSpPr>
        <p:spPr>
          <a:xfrm>
            <a:off x="6146875" y="487590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466" name="Google Shape;466;p3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467" name="Google Shape;467;p32"/>
          <p:cNvCxnSpPr>
            <a:stCxn id="468" idx="3"/>
            <a:endCxn id="469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9" name="Google Shape;469;p32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32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32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32"/>
          <p:cNvCxnSpPr>
            <a:stCxn id="468" idx="3"/>
            <a:endCxn id="471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8" name="Google Shape;468;p32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3" name="Google Shape;473;p32"/>
          <p:cNvCxnSpPr>
            <a:stCxn id="470" idx="6"/>
            <a:endCxn id="468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4" name="Google Shape;474;p32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32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32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32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8" name="Google Shape;478;p32"/>
          <p:cNvCxnSpPr>
            <a:stCxn id="469" idx="3"/>
            <a:endCxn id="475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9" name="Google Shape;479;p32"/>
          <p:cNvCxnSpPr>
            <a:stCxn id="469" idx="3"/>
            <a:endCxn id="474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0" name="Google Shape;480;p32"/>
          <p:cNvCxnSpPr>
            <a:stCxn id="471" idx="3"/>
            <a:endCxn id="476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" name="Google Shape;481;p32"/>
          <p:cNvCxnSpPr>
            <a:stCxn id="471" idx="3"/>
            <a:endCxn id="477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2" name="Google Shape;482;p32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32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32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32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32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32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32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32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0" name="Google Shape;490;p32"/>
          <p:cNvCxnSpPr>
            <a:stCxn id="475" idx="3"/>
            <a:endCxn id="482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1" name="Google Shape;491;p32"/>
          <p:cNvCxnSpPr>
            <a:stCxn id="475" idx="3"/>
            <a:endCxn id="483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2" name="Google Shape;492;p32"/>
          <p:cNvCxnSpPr>
            <a:stCxn id="474" idx="3"/>
            <a:endCxn id="484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3" name="Google Shape;493;p32"/>
          <p:cNvCxnSpPr>
            <a:stCxn id="474" idx="3"/>
            <a:endCxn id="485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4" name="Google Shape;494;p32"/>
          <p:cNvCxnSpPr>
            <a:stCxn id="476" idx="3"/>
            <a:endCxn id="486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5" name="Google Shape;495;p32"/>
          <p:cNvCxnSpPr>
            <a:stCxn id="476" idx="3"/>
            <a:endCxn id="487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6" name="Google Shape;496;p32"/>
          <p:cNvCxnSpPr>
            <a:stCxn id="477" idx="3"/>
            <a:endCxn id="488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7" name="Google Shape;497;p32"/>
          <p:cNvCxnSpPr>
            <a:stCxn id="477" idx="3"/>
            <a:endCxn id="489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8" name="Google Shape;498;p32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9" name="Google Shape;499;p32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0" name="Google Shape;500;p32"/>
          <p:cNvCxnSpPr/>
          <p:nvPr/>
        </p:nvCxnSpPr>
        <p:spPr>
          <a:xfrm flipH="1">
            <a:off x="4902875" y="2326325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1" name="Google Shape;501;p32"/>
          <p:cNvSpPr txBox="1"/>
          <p:nvPr/>
        </p:nvSpPr>
        <p:spPr>
          <a:xfrm rot="-1045209">
            <a:off x="4976223" y="2253586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2" name="Google Shape;502;p32"/>
          <p:cNvCxnSpPr/>
          <p:nvPr/>
        </p:nvCxnSpPr>
        <p:spPr>
          <a:xfrm rot="10800000">
            <a:off x="4902875" y="2914248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3" name="Google Shape;503;p32"/>
          <p:cNvSpPr txBox="1"/>
          <p:nvPr/>
        </p:nvSpPr>
        <p:spPr>
          <a:xfrm rot="1045209" flipH="1">
            <a:off x="4976223" y="3041188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4" name="Google Shape;504;p32"/>
          <p:cNvCxnSpPr/>
          <p:nvPr/>
        </p:nvCxnSpPr>
        <p:spPr>
          <a:xfrm flipH="1">
            <a:off x="4902875" y="3884931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5" name="Google Shape;505;p32"/>
          <p:cNvSpPr txBox="1"/>
          <p:nvPr/>
        </p:nvSpPr>
        <p:spPr>
          <a:xfrm rot="-1045209">
            <a:off x="4976223" y="3812192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6" name="Google Shape;506;p32"/>
          <p:cNvCxnSpPr/>
          <p:nvPr/>
        </p:nvCxnSpPr>
        <p:spPr>
          <a:xfrm rot="10800000">
            <a:off x="4902875" y="4472854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7" name="Google Shape;507;p32"/>
          <p:cNvSpPr txBox="1"/>
          <p:nvPr/>
        </p:nvSpPr>
        <p:spPr>
          <a:xfrm rot="1045209" flipH="1">
            <a:off x="4976223" y="4599794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8" name="Google Shape;508;p32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9" name="Google Shape;509;p32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0" name="Google Shape;510;p32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1" name="Google Shape;511;p32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2" name="Google Shape;512;p32"/>
          <p:cNvCxnSpPr/>
          <p:nvPr/>
        </p:nvCxnSpPr>
        <p:spPr>
          <a:xfrm flipH="1">
            <a:off x="6455775" y="2105750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3" name="Google Shape;513;p32"/>
          <p:cNvSpPr txBox="1"/>
          <p:nvPr/>
        </p:nvSpPr>
        <p:spPr>
          <a:xfrm rot="-505875">
            <a:off x="6544869" y="19865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4" name="Google Shape;514;p32"/>
          <p:cNvCxnSpPr/>
          <p:nvPr/>
        </p:nvCxnSpPr>
        <p:spPr>
          <a:xfrm rot="10800000">
            <a:off x="6455775" y="2465686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5" name="Google Shape;515;p32"/>
          <p:cNvSpPr txBox="1"/>
          <p:nvPr/>
        </p:nvSpPr>
        <p:spPr>
          <a:xfrm rot="505875" flipH="1">
            <a:off x="6544869" y="2537377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6" name="Google Shape;516;p32"/>
          <p:cNvCxnSpPr/>
          <p:nvPr/>
        </p:nvCxnSpPr>
        <p:spPr>
          <a:xfrm flipH="1">
            <a:off x="6455775" y="2867750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7" name="Google Shape;517;p32"/>
          <p:cNvSpPr txBox="1"/>
          <p:nvPr/>
        </p:nvSpPr>
        <p:spPr>
          <a:xfrm rot="-505875">
            <a:off x="6544869" y="27485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8" name="Google Shape;518;p32"/>
          <p:cNvCxnSpPr/>
          <p:nvPr/>
        </p:nvCxnSpPr>
        <p:spPr>
          <a:xfrm rot="10800000">
            <a:off x="6455775" y="3227686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9" name="Google Shape;519;p32"/>
          <p:cNvSpPr txBox="1"/>
          <p:nvPr/>
        </p:nvSpPr>
        <p:spPr>
          <a:xfrm rot="505875" flipH="1">
            <a:off x="6544869" y="3299377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0" name="Google Shape;520;p32"/>
          <p:cNvCxnSpPr/>
          <p:nvPr/>
        </p:nvCxnSpPr>
        <p:spPr>
          <a:xfrm flipH="1">
            <a:off x="6455775" y="3668325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1" name="Google Shape;521;p32"/>
          <p:cNvSpPr txBox="1"/>
          <p:nvPr/>
        </p:nvSpPr>
        <p:spPr>
          <a:xfrm rot="-505875">
            <a:off x="6544869" y="3549126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2" name="Google Shape;522;p32"/>
          <p:cNvCxnSpPr/>
          <p:nvPr/>
        </p:nvCxnSpPr>
        <p:spPr>
          <a:xfrm rot="10800000">
            <a:off x="6455775" y="4028261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3" name="Google Shape;523;p32"/>
          <p:cNvSpPr txBox="1"/>
          <p:nvPr/>
        </p:nvSpPr>
        <p:spPr>
          <a:xfrm rot="505875" flipH="1">
            <a:off x="6544869" y="40999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" name="Google Shape;524;p32"/>
          <p:cNvCxnSpPr/>
          <p:nvPr/>
        </p:nvCxnSpPr>
        <p:spPr>
          <a:xfrm flipH="1">
            <a:off x="6455775" y="4430325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5" name="Google Shape;525;p32"/>
          <p:cNvSpPr txBox="1"/>
          <p:nvPr/>
        </p:nvSpPr>
        <p:spPr>
          <a:xfrm rot="-505875">
            <a:off x="6544869" y="4311126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6" name="Google Shape;526;p32"/>
          <p:cNvCxnSpPr/>
          <p:nvPr/>
        </p:nvCxnSpPr>
        <p:spPr>
          <a:xfrm rot="10800000">
            <a:off x="6455775" y="4790261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7" name="Google Shape;527;p32"/>
          <p:cNvSpPr txBox="1"/>
          <p:nvPr/>
        </p:nvSpPr>
        <p:spPr>
          <a:xfrm rot="505875" flipH="1">
            <a:off x="6544869" y="48619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32"/>
          <p:cNvSpPr txBox="1"/>
          <p:nvPr/>
        </p:nvSpPr>
        <p:spPr>
          <a:xfrm>
            <a:off x="1371400" y="1429500"/>
            <a:ext cx="6152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did it! Everybody knows the next-hop to A now.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 – Routing vs. Forwarding</a:t>
            </a:r>
            <a:endParaRPr/>
          </a:p>
        </p:txBody>
      </p:sp>
      <p:cxnSp>
        <p:nvCxnSpPr>
          <p:cNvPr id="534" name="Google Shape;534;p33"/>
          <p:cNvCxnSpPr>
            <a:stCxn id="535" idx="3"/>
            <a:endCxn id="536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6" name="Google Shape;536;p33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33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33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9" name="Google Shape;539;p33"/>
          <p:cNvCxnSpPr>
            <a:stCxn id="535" idx="3"/>
            <a:endCxn id="538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5" name="Google Shape;535;p33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0" name="Google Shape;540;p33"/>
          <p:cNvCxnSpPr>
            <a:stCxn id="537" idx="6"/>
            <a:endCxn id="535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1" name="Google Shape;541;p33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33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p33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33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5" name="Google Shape;545;p33"/>
          <p:cNvCxnSpPr>
            <a:stCxn id="536" idx="3"/>
            <a:endCxn id="542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6" name="Google Shape;546;p33"/>
          <p:cNvCxnSpPr>
            <a:stCxn id="536" idx="3"/>
            <a:endCxn id="541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7" name="Google Shape;547;p33"/>
          <p:cNvCxnSpPr>
            <a:stCxn id="538" idx="3"/>
            <a:endCxn id="543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8" name="Google Shape;548;p33"/>
          <p:cNvCxnSpPr>
            <a:stCxn id="538" idx="3"/>
            <a:endCxn id="544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9" name="Google Shape;549;p33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33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33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33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3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33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33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33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" name="Google Shape;557;p33"/>
          <p:cNvCxnSpPr>
            <a:stCxn id="542" idx="3"/>
            <a:endCxn id="549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8" name="Google Shape;558;p33"/>
          <p:cNvCxnSpPr>
            <a:stCxn id="542" idx="3"/>
            <a:endCxn id="550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9" name="Google Shape;559;p33"/>
          <p:cNvCxnSpPr>
            <a:stCxn id="541" idx="3"/>
            <a:endCxn id="551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0" name="Google Shape;560;p33"/>
          <p:cNvCxnSpPr>
            <a:stCxn id="541" idx="3"/>
            <a:endCxn id="552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1" name="Google Shape;561;p33"/>
          <p:cNvCxnSpPr>
            <a:stCxn id="543" idx="3"/>
            <a:endCxn id="553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2" name="Google Shape;562;p33"/>
          <p:cNvCxnSpPr>
            <a:stCxn id="543" idx="3"/>
            <a:endCxn id="554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3" name="Google Shape;563;p33"/>
          <p:cNvCxnSpPr>
            <a:stCxn id="544" idx="3"/>
            <a:endCxn id="555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4" name="Google Shape;564;p33"/>
          <p:cNvCxnSpPr>
            <a:stCxn id="544" idx="3"/>
            <a:endCxn id="556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5" name="Google Shape;565;p33"/>
          <p:cNvCxnSpPr/>
          <p:nvPr/>
        </p:nvCxnSpPr>
        <p:spPr>
          <a:xfrm>
            <a:off x="1259851" y="1074500"/>
            <a:ext cx="66243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6" name="Google Shape;566;p33"/>
          <p:cNvSpPr txBox="1"/>
          <p:nvPr/>
        </p:nvSpPr>
        <p:spPr>
          <a:xfrm>
            <a:off x="1259864" y="754575"/>
            <a:ext cx="6622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Routing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announcements ("I can reach A") propagated </a:t>
            </a:r>
            <a:r>
              <a:rPr lang="en" i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outward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, away from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" name="Google Shape;567;p33"/>
          <p:cNvCxnSpPr/>
          <p:nvPr/>
        </p:nvCxnSpPr>
        <p:spPr>
          <a:xfrm>
            <a:off x="1259851" y="1684100"/>
            <a:ext cx="6624300" cy="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568" name="Google Shape;568;p33"/>
          <p:cNvSpPr txBox="1"/>
          <p:nvPr/>
        </p:nvSpPr>
        <p:spPr>
          <a:xfrm>
            <a:off x="1259864" y="1364175"/>
            <a:ext cx="6622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When </a:t>
            </a:r>
            <a:r>
              <a:rPr lang="en" b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forwarding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packets toward A, packets travel </a:t>
            </a:r>
            <a:r>
              <a:rPr lang="en" i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inward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, toward A.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Distance-Vector Algorithm Sketch – Multiple Destinations</a:t>
            </a:r>
            <a:endParaRPr/>
          </a:p>
        </p:txBody>
      </p:sp>
      <p:sp>
        <p:nvSpPr>
          <p:cNvPr id="574" name="Google Shape;574;p3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there are multiple destinations?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the same path propagation algorithm, once per destination.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use </a:t>
            </a:r>
            <a:r>
              <a:rPr lang="en" b="1"/>
              <a:t>forwarding tables</a:t>
            </a:r>
            <a:r>
              <a:rPr lang="en"/>
              <a:t> to keep track of the next-hop of each destination.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focus on a single destination for simplicity.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 protocol can extend to multiple destinations.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1: Bellman-Ford Updates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80" name="Google Shape;580;p3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1: Bellman-Ford Updates</a:t>
            </a:r>
            <a:endParaRPr/>
          </a:p>
        </p:txBody>
      </p:sp>
      <p:sp>
        <p:nvSpPr>
          <p:cNvPr id="581" name="Google Shape;581;p3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587" name="Google Shape;587;p3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1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you hear about multiple paths to a single destination?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Accept the shorter path.</a:t>
            </a:r>
            <a:endParaRPr/>
          </a:p>
        </p:txBody>
      </p:sp>
      <p:sp>
        <p:nvSpPr>
          <p:cNvPr id="588" name="Google Shape;588;p36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9" name="Google Shape;589;p36"/>
          <p:cNvCxnSpPr>
            <a:endCxn id="588" idx="1"/>
          </p:cNvCxnSpPr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0" name="Google Shape;590;p36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1" name="Google Shape;591;p36"/>
          <p:cNvCxnSpPr>
            <a:stCxn id="590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2" name="Google Shape;592;p36"/>
          <p:cNvCxnSpPr>
            <a:endCxn id="588" idx="1"/>
          </p:cNvCxnSpPr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3" name="Google Shape;593;p36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4" name="Google Shape;594;p36"/>
          <p:cNvCxnSpPr>
            <a:stCxn id="593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5" name="Google Shape;595;p36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6" name="Google Shape;596;p36"/>
          <p:cNvCxnSpPr>
            <a:stCxn id="595" idx="3"/>
            <a:endCxn id="590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7" name="Google Shape;597;p36"/>
          <p:cNvCxnSpPr>
            <a:endCxn id="598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9" name="Google Shape;599;p36"/>
          <p:cNvCxnSpPr>
            <a:endCxn id="598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0" name="Google Shape;600;p36"/>
          <p:cNvCxnSpPr>
            <a:endCxn id="595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1" name="Google Shape;601;p36"/>
          <p:cNvCxnSpPr>
            <a:endCxn id="593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8" name="Google Shape;598;p36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" name="Google Shape;602;p36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3" name="Google Shape;603;p36"/>
          <p:cNvCxnSpPr>
            <a:stCxn id="602" idx="6"/>
            <a:endCxn id="598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4" name="Google Shape;604;p36"/>
          <p:cNvSpPr/>
          <p:nvPr/>
        </p:nvSpPr>
        <p:spPr>
          <a:xfrm>
            <a:off x="3898850" y="2568850"/>
            <a:ext cx="898150" cy="573900"/>
          </a:xfrm>
          <a:custGeom>
            <a:avLst/>
            <a:gdLst/>
            <a:ahLst/>
            <a:cxnLst/>
            <a:rect l="l" t="t" r="r" b="b"/>
            <a:pathLst>
              <a:path w="35926" h="22956" extrusionOk="0">
                <a:moveTo>
                  <a:pt x="0" y="0"/>
                </a:moveTo>
                <a:lnTo>
                  <a:pt x="22672" y="0"/>
                </a:lnTo>
                <a:lnTo>
                  <a:pt x="35926" y="22956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5" name="Google Shape;605;p36"/>
          <p:cNvSpPr/>
          <p:nvPr/>
        </p:nvSpPr>
        <p:spPr>
          <a:xfrm>
            <a:off x="3583600" y="3638900"/>
            <a:ext cx="1273750" cy="620350"/>
          </a:xfrm>
          <a:custGeom>
            <a:avLst/>
            <a:gdLst/>
            <a:ahLst/>
            <a:cxnLst/>
            <a:rect l="l" t="t" r="r" b="b"/>
            <a:pathLst>
              <a:path w="50950" h="24814" extrusionOk="0">
                <a:moveTo>
                  <a:pt x="0" y="24814"/>
                </a:moveTo>
                <a:lnTo>
                  <a:pt x="36624" y="24814"/>
                </a:lnTo>
                <a:lnTo>
                  <a:pt x="50950" y="0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6" name="Google Shape;606;p36"/>
          <p:cNvSpPr/>
          <p:nvPr/>
        </p:nvSpPr>
        <p:spPr>
          <a:xfrm>
            <a:off x="4056400" y="2064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3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36"/>
          <p:cNvSpPr/>
          <p:nvPr/>
        </p:nvSpPr>
        <p:spPr>
          <a:xfrm>
            <a:off x="4056400" y="4350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36"/>
          <p:cNvSpPr/>
          <p:nvPr/>
        </p:nvSpPr>
        <p:spPr>
          <a:xfrm>
            <a:off x="5290725" y="2639600"/>
            <a:ext cx="1382100" cy="688500"/>
          </a:xfrm>
          <a:prstGeom prst="wedgeRoundRectCallout">
            <a:avLst>
              <a:gd name="adj1" fmla="val -60451"/>
              <a:gd name="adj2" fmla="val 59041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prefer what R4 is offering.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9" name="Google Shape;609;p36"/>
          <p:cNvCxnSpPr/>
          <p:nvPr/>
        </p:nvCxnSpPr>
        <p:spPr>
          <a:xfrm flipH="1">
            <a:off x="4317075" y="3392600"/>
            <a:ext cx="349500" cy="605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0" name="Google Shape;610;p36"/>
          <p:cNvSpPr txBox="1"/>
          <p:nvPr/>
        </p:nvSpPr>
        <p:spPr>
          <a:xfrm rot="-3604017">
            <a:off x="4139328" y="3518986"/>
            <a:ext cx="589193" cy="1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616" name="Google Shape;616;p3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1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you hear about multiple paths to a single destination?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Accept the shorter path.</a:t>
            </a:r>
            <a:endParaRPr/>
          </a:p>
        </p:txBody>
      </p:sp>
      <p:sp>
        <p:nvSpPr>
          <p:cNvPr id="617" name="Google Shape;617;p37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8" name="Google Shape;618;p37"/>
          <p:cNvCxnSpPr>
            <a:endCxn id="617" idx="1"/>
          </p:cNvCxnSpPr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9" name="Google Shape;619;p37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0" name="Google Shape;620;p37"/>
          <p:cNvCxnSpPr>
            <a:stCxn id="619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1" name="Google Shape;621;p37"/>
          <p:cNvCxnSpPr>
            <a:endCxn id="617" idx="1"/>
          </p:cNvCxnSpPr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2" name="Google Shape;622;p37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3" name="Google Shape;623;p37"/>
          <p:cNvCxnSpPr>
            <a:stCxn id="622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4" name="Google Shape;624;p37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5" name="Google Shape;625;p37"/>
          <p:cNvCxnSpPr>
            <a:stCxn id="624" idx="3"/>
            <a:endCxn id="619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6" name="Google Shape;626;p37"/>
          <p:cNvCxnSpPr>
            <a:endCxn id="627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8" name="Google Shape;628;p37"/>
          <p:cNvCxnSpPr>
            <a:endCxn id="627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9" name="Google Shape;629;p37"/>
          <p:cNvCxnSpPr>
            <a:endCxn id="624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0" name="Google Shape;630;p37"/>
          <p:cNvCxnSpPr>
            <a:endCxn id="622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7" name="Google Shape;627;p37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37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2" name="Google Shape;632;p37"/>
          <p:cNvCxnSpPr>
            <a:stCxn id="631" idx="6"/>
            <a:endCxn id="627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638" name="Google Shape;638;p3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4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 might not hear about both paths simultaneously.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forwarding table, record the best-known cost to a destination.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table doesn't have a path to a destination, accept any path you hear about.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38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0" name="Google Shape;640;p38"/>
          <p:cNvCxnSpPr/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1" name="Google Shape;641;p38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2" name="Google Shape;642;p38"/>
          <p:cNvCxnSpPr>
            <a:stCxn id="641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3" name="Google Shape;643;p38"/>
          <p:cNvCxnSpPr/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4" name="Google Shape;644;p38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5" name="Google Shape;645;p38"/>
          <p:cNvCxnSpPr>
            <a:stCxn id="644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6" name="Google Shape;646;p38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7" name="Google Shape;647;p38"/>
          <p:cNvCxnSpPr>
            <a:stCxn id="646" idx="3"/>
            <a:endCxn id="641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38"/>
          <p:cNvCxnSpPr>
            <a:endCxn id="649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38"/>
          <p:cNvCxnSpPr>
            <a:endCxn id="649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1" name="Google Shape;651;p38"/>
          <p:cNvCxnSpPr>
            <a:endCxn id="646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2" name="Google Shape;652;p38"/>
          <p:cNvCxnSpPr>
            <a:endCxn id="644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9" name="Google Shape;649;p38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38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4" name="Google Shape;654;p38"/>
          <p:cNvCxnSpPr>
            <a:stCxn id="653" idx="6"/>
            <a:endCxn id="649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5" name="Google Shape;655;p38"/>
          <p:cNvSpPr/>
          <p:nvPr/>
        </p:nvSpPr>
        <p:spPr>
          <a:xfrm>
            <a:off x="3898850" y="2568850"/>
            <a:ext cx="898150" cy="573900"/>
          </a:xfrm>
          <a:custGeom>
            <a:avLst/>
            <a:gdLst/>
            <a:ahLst/>
            <a:cxnLst/>
            <a:rect l="l" t="t" r="r" b="b"/>
            <a:pathLst>
              <a:path w="35926" h="22956" extrusionOk="0">
                <a:moveTo>
                  <a:pt x="0" y="0"/>
                </a:moveTo>
                <a:lnTo>
                  <a:pt x="22672" y="0"/>
                </a:lnTo>
                <a:lnTo>
                  <a:pt x="35926" y="22956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6" name="Google Shape;656;p38"/>
          <p:cNvSpPr/>
          <p:nvPr/>
        </p:nvSpPr>
        <p:spPr>
          <a:xfrm>
            <a:off x="4056400" y="2064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3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57" name="Google Shape;657;p38"/>
          <p:cNvGraphicFramePr/>
          <p:nvPr/>
        </p:nvGraphicFramePr>
        <p:xfrm>
          <a:off x="7110582" y="2687500"/>
          <a:ext cx="18887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663" name="Google Shape;663;p3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6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 might not hear about both paths simultaneously.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forwarding table, record the best-known cost to a destination.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table doesn't have a path to a destination, accept any path you hear about.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about a better path later, update the table (next-hop and cost).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39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5" name="Google Shape;665;p39"/>
          <p:cNvCxnSpPr/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6" name="Google Shape;666;p39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7" name="Google Shape;667;p39"/>
          <p:cNvCxnSpPr>
            <a:stCxn id="666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8" name="Google Shape;668;p39"/>
          <p:cNvCxnSpPr/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9" name="Google Shape;669;p39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0" name="Google Shape;670;p39"/>
          <p:cNvCxnSpPr>
            <a:stCxn id="669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1" name="Google Shape;671;p39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2" name="Google Shape;672;p39"/>
          <p:cNvCxnSpPr>
            <a:stCxn id="671" idx="3"/>
            <a:endCxn id="666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3" name="Google Shape;673;p39"/>
          <p:cNvCxnSpPr>
            <a:endCxn id="674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5" name="Google Shape;675;p39"/>
          <p:cNvCxnSpPr>
            <a:endCxn id="674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39"/>
          <p:cNvCxnSpPr>
            <a:endCxn id="671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39"/>
          <p:cNvCxnSpPr>
            <a:endCxn id="669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4" name="Google Shape;674;p39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39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9" name="Google Shape;679;p39"/>
          <p:cNvCxnSpPr>
            <a:stCxn id="678" idx="6"/>
            <a:endCxn id="674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80" name="Google Shape;680;p39"/>
          <p:cNvGraphicFramePr/>
          <p:nvPr/>
        </p:nvGraphicFramePr>
        <p:xfrm>
          <a:off x="7110582" y="2687500"/>
          <a:ext cx="1888700" cy="90213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b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br>
                        <a:rPr lang="en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81" name="Google Shape;681;p39"/>
          <p:cNvSpPr/>
          <p:nvPr/>
        </p:nvSpPr>
        <p:spPr>
          <a:xfrm>
            <a:off x="3583600" y="3638900"/>
            <a:ext cx="1273750" cy="620350"/>
          </a:xfrm>
          <a:custGeom>
            <a:avLst/>
            <a:gdLst/>
            <a:ahLst/>
            <a:cxnLst/>
            <a:rect l="l" t="t" r="r" b="b"/>
            <a:pathLst>
              <a:path w="50950" h="24814" extrusionOk="0">
                <a:moveTo>
                  <a:pt x="0" y="24814"/>
                </a:moveTo>
                <a:lnTo>
                  <a:pt x="36624" y="24814"/>
                </a:lnTo>
                <a:lnTo>
                  <a:pt x="50950" y="0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82" name="Google Shape;682;p39"/>
          <p:cNvSpPr/>
          <p:nvPr/>
        </p:nvSpPr>
        <p:spPr>
          <a:xfrm>
            <a:off x="4056400" y="4350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39"/>
          <p:cNvSpPr/>
          <p:nvPr/>
        </p:nvSpPr>
        <p:spPr>
          <a:xfrm>
            <a:off x="5366925" y="2281350"/>
            <a:ext cx="1351500" cy="1046700"/>
          </a:xfrm>
          <a:prstGeom prst="wedgeRoundRectCallout">
            <a:avLst>
              <a:gd name="adj1" fmla="val -68383"/>
              <a:gd name="adj2" fmla="val 5386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like this new path better. I'll abandon the old one.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689" name="Google Shape;689;p4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about a path to that destination,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The destination isn't in the table.</a:t>
            </a:r>
            <a:endParaRPr>
              <a:solidFill>
                <a:schemeClr val="accent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The advertised cost is better than best-known cost.</a:t>
            </a:r>
            <a:endParaRPr>
              <a:solidFill>
                <a:schemeClr val="accent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tell all your neighbors.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Unequal Costs</a:t>
            </a:r>
            <a:endParaRPr/>
          </a:p>
        </p:txBody>
      </p:sp>
      <p:sp>
        <p:nvSpPr>
          <p:cNvPr id="695" name="Google Shape;695;p4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 all link costs are 1.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neighbor advertises a path, the cost via that path is the sum of: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Link cost from you to the neighbor.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Cost from neighbor to destination (as advertised by neighbor).</a:t>
            </a:r>
            <a:endParaRPr/>
          </a:p>
        </p:txBody>
      </p:sp>
      <p:sp>
        <p:nvSpPr>
          <p:cNvPr id="696" name="Google Shape;696;p41"/>
          <p:cNvSpPr/>
          <p:nvPr/>
        </p:nvSpPr>
        <p:spPr>
          <a:xfrm>
            <a:off x="3591425" y="33359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41"/>
          <p:cNvSpPr/>
          <p:nvPr/>
        </p:nvSpPr>
        <p:spPr>
          <a:xfrm>
            <a:off x="1984375" y="25717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8" name="Google Shape;698;p41"/>
          <p:cNvCxnSpPr>
            <a:stCxn id="697" idx="3"/>
            <a:endCxn id="696" idx="1"/>
          </p:cNvCxnSpPr>
          <p:nvPr/>
        </p:nvCxnSpPr>
        <p:spPr>
          <a:xfrm>
            <a:off x="2269375" y="27142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9" name="Google Shape;699;p41"/>
          <p:cNvCxnSpPr>
            <a:stCxn id="700" idx="3"/>
          </p:cNvCxnSpPr>
          <p:nvPr/>
        </p:nvCxnSpPr>
        <p:spPr>
          <a:xfrm rot="10800000" flipH="1">
            <a:off x="2269375" y="34785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0" name="Google Shape;700;p41"/>
          <p:cNvSpPr/>
          <p:nvPr/>
        </p:nvSpPr>
        <p:spPr>
          <a:xfrm>
            <a:off x="1984375" y="40989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41"/>
          <p:cNvSpPr txBox="1"/>
          <p:nvPr/>
        </p:nvSpPr>
        <p:spPr>
          <a:xfrm>
            <a:off x="2758675" y="3027400"/>
            <a:ext cx="114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41"/>
          <p:cNvSpPr txBox="1"/>
          <p:nvPr/>
        </p:nvSpPr>
        <p:spPr>
          <a:xfrm>
            <a:off x="2710225" y="3667827"/>
            <a:ext cx="21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41"/>
          <p:cNvSpPr/>
          <p:nvPr/>
        </p:nvSpPr>
        <p:spPr>
          <a:xfrm>
            <a:off x="2921725" y="2363025"/>
            <a:ext cx="1206000" cy="5355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is 5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4" name="Google Shape;704;p41"/>
          <p:cNvCxnSpPr/>
          <p:nvPr/>
        </p:nvCxnSpPr>
        <p:spPr>
          <a:xfrm>
            <a:off x="2490050" y="2690520"/>
            <a:ext cx="865200" cy="499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705" name="Google Shape;705;p41"/>
          <p:cNvGraphicFramePr/>
          <p:nvPr/>
        </p:nvGraphicFramePr>
        <p:xfrm>
          <a:off x="4780082" y="37996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1+5 =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Unequal Costs</a:t>
            </a:r>
            <a:endParaRPr/>
          </a:p>
        </p:txBody>
      </p:sp>
      <p:sp>
        <p:nvSpPr>
          <p:cNvPr id="711" name="Google Shape;711;p4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 all link costs are 1.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neighbor advertises a path, the cost via that path is the sum of: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Link cost from you to the neighbor.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Cost from neighbor to destination (as advertised by neighbor).</a:t>
            </a:r>
            <a:endParaRPr/>
          </a:p>
        </p:txBody>
      </p:sp>
      <p:sp>
        <p:nvSpPr>
          <p:cNvPr id="712" name="Google Shape;712;p42"/>
          <p:cNvSpPr/>
          <p:nvPr/>
        </p:nvSpPr>
        <p:spPr>
          <a:xfrm>
            <a:off x="3591425" y="33359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42"/>
          <p:cNvSpPr/>
          <p:nvPr/>
        </p:nvSpPr>
        <p:spPr>
          <a:xfrm>
            <a:off x="1984375" y="25717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4" name="Google Shape;714;p42"/>
          <p:cNvCxnSpPr>
            <a:stCxn id="713" idx="3"/>
            <a:endCxn id="712" idx="1"/>
          </p:cNvCxnSpPr>
          <p:nvPr/>
        </p:nvCxnSpPr>
        <p:spPr>
          <a:xfrm>
            <a:off x="2269375" y="27142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5" name="Google Shape;715;p42"/>
          <p:cNvCxnSpPr>
            <a:stCxn id="716" idx="3"/>
          </p:cNvCxnSpPr>
          <p:nvPr/>
        </p:nvCxnSpPr>
        <p:spPr>
          <a:xfrm rot="10800000" flipH="1">
            <a:off x="2269375" y="34785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6" name="Google Shape;716;p42"/>
          <p:cNvSpPr/>
          <p:nvPr/>
        </p:nvSpPr>
        <p:spPr>
          <a:xfrm>
            <a:off x="1984375" y="40989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42"/>
          <p:cNvSpPr txBox="1"/>
          <p:nvPr/>
        </p:nvSpPr>
        <p:spPr>
          <a:xfrm>
            <a:off x="2758675" y="3027400"/>
            <a:ext cx="114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8" name="Google Shape;718;p42"/>
          <p:cNvSpPr txBox="1"/>
          <p:nvPr/>
        </p:nvSpPr>
        <p:spPr>
          <a:xfrm>
            <a:off x="2710225" y="3667827"/>
            <a:ext cx="21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719" name="Google Shape;719;p42"/>
          <p:cNvGraphicFramePr/>
          <p:nvPr/>
        </p:nvGraphicFramePr>
        <p:xfrm>
          <a:off x="4780082" y="37996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1+5 =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0" name="Google Shape;720;p42"/>
          <p:cNvSpPr/>
          <p:nvPr/>
        </p:nvSpPr>
        <p:spPr>
          <a:xfrm>
            <a:off x="2921725" y="4115625"/>
            <a:ext cx="1206000" cy="5355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is 3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1" name="Google Shape;721;p42"/>
          <p:cNvCxnSpPr/>
          <p:nvPr/>
        </p:nvCxnSpPr>
        <p:spPr>
          <a:xfrm rot="10800000" flipH="1">
            <a:off x="2558725" y="3799600"/>
            <a:ext cx="796500" cy="459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2" name="Google Shape;722;p42"/>
          <p:cNvSpPr/>
          <p:nvPr/>
        </p:nvSpPr>
        <p:spPr>
          <a:xfrm>
            <a:off x="4127725" y="2221300"/>
            <a:ext cx="2481000" cy="919500"/>
          </a:xfrm>
          <a:prstGeom prst="wedgeRoundRectCallout">
            <a:avLst>
              <a:gd name="adj1" fmla="val -64779"/>
              <a:gd name="adj2" fmla="val 5994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path actually costs 10+3=13. I'll keep using the cost 6 path and reject this.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728" name="Google Shape;728;p4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about a path to that destination,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</a:t>
            </a:r>
            <a:r>
              <a:rPr lang="en">
                <a:solidFill>
                  <a:schemeClr val="accent2"/>
                </a:solidFill>
              </a:rPr>
              <a:t>+ link cost to neighbor</a:t>
            </a:r>
            <a:r>
              <a:rPr lang="en"/>
              <a:t>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tell all your neighbors.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Bellman-Ford Algorithm</a:t>
            </a:r>
            <a:endParaRPr/>
          </a:p>
        </p:txBody>
      </p:sp>
      <p:sp>
        <p:nvSpPr>
          <p:cNvPr id="734" name="Google Shape;734;p4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4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Careful viewers might have noticed this operation looks familiar.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"If cost to neighbor + cost from neighbor to destination &lt; best-known cost,</a:t>
            </a:r>
            <a:br>
              <a:rPr lang="en"/>
            </a:br>
            <a:r>
              <a:rPr lang="en"/>
              <a:t>accept update."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relaxation operation in Dijkstra's shortest path algorithm!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Bellman-Ford</a:t>
            </a:r>
            <a:r>
              <a:rPr lang="en"/>
              <a:t> is another relaxation-based shortest path algorithm.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Relax every edge repeatedly until we get shortest paths.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Unlike Dijkstra's, does not require relaxing the edges in any specific order.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Distance-vector algorithms are a </a:t>
            </a:r>
            <a:r>
              <a:rPr lang="en" i="1"/>
              <a:t>distributed</a:t>
            </a:r>
            <a:r>
              <a:rPr lang="en"/>
              <a:t>, </a:t>
            </a:r>
            <a:r>
              <a:rPr lang="en" i="1"/>
              <a:t>asynchronous</a:t>
            </a:r>
            <a:r>
              <a:rPr lang="en"/>
              <a:t> version of Bellman-Ford.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Distributed: Each router relaxes its own links. No global mastermind.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Asynchronous: Nobody is syncing when the routers do relaxations.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Bellman-Ford Algorithm</a:t>
            </a:r>
            <a:endParaRPr/>
          </a:p>
        </p:txBody>
      </p:sp>
      <p:sp>
        <p:nvSpPr>
          <p:cNvPr id="740" name="Google Shape;740;p4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7301400" cy="5411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centralized Bellman-Ford algorithm for a single destination: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def bellman_ford(dst, routers, links):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distance = {};	nexthop  = {}</a:t>
            </a:r>
            <a:endParaRPr sz="1600" dirty="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chemeClr val="accent3"/>
                </a:solidFill>
              </a:rPr>
              <a:t> </a:t>
            </a:r>
            <a:b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for r in routers:</a:t>
            </a:r>
            <a:b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	distance[r] = INFINITY</a:t>
            </a:r>
            <a:b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	nexthop[r]  = None</a:t>
            </a:r>
            <a:b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distance[dst] = 0</a:t>
            </a:r>
            <a:br>
              <a:rPr lang="en" sz="16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800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	for _ in range(len(routers)-1):</a:t>
            </a:r>
            <a:br>
              <a:rPr lang="en" sz="1600" dirty="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		for (r1, r2, linkcost) in links:</a:t>
            </a:r>
            <a:endParaRPr sz="1600" dirty="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	if distance[r1] + linkcost &lt; distance[r2]:</a:t>
            </a:r>
            <a:br>
              <a:rPr lang="en" sz="1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	      distance[r2] = distance[r1] + linkcost</a:t>
            </a:r>
            <a:br>
              <a:rPr lang="en" sz="1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	      nexthop[r2] = r1</a:t>
            </a:r>
            <a:endParaRPr sz="16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	return distance, nexthop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1" name="Google Shape;741;p45"/>
          <p:cNvSpPr/>
          <p:nvPr/>
        </p:nvSpPr>
        <p:spPr>
          <a:xfrm>
            <a:off x="964448" y="1338950"/>
            <a:ext cx="3600000" cy="1435200"/>
          </a:xfrm>
          <a:prstGeom prst="roundRect">
            <a:avLst>
              <a:gd name="adj" fmla="val 9435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p45"/>
          <p:cNvSpPr txBox="1"/>
          <p:nvPr/>
        </p:nvSpPr>
        <p:spPr>
          <a:xfrm>
            <a:off x="4896550" y="1169437"/>
            <a:ext cx="40200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Everyone starts infinity away from the destination, except for the destination itself (0 away).</a:t>
            </a:r>
            <a:endParaRPr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45"/>
          <p:cNvSpPr/>
          <p:nvPr/>
        </p:nvSpPr>
        <p:spPr>
          <a:xfrm>
            <a:off x="1999150" y="3387510"/>
            <a:ext cx="4907400" cy="824400"/>
          </a:xfrm>
          <a:prstGeom prst="roundRect">
            <a:avLst>
              <a:gd name="adj" fmla="val 943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45"/>
          <p:cNvSpPr txBox="1"/>
          <p:nvPr/>
        </p:nvSpPr>
        <p:spPr>
          <a:xfrm>
            <a:off x="6016322" y="3094295"/>
            <a:ext cx="2028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relaxation operation.</a:t>
            </a:r>
            <a:endParaRPr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45"/>
          <p:cNvSpPr/>
          <p:nvPr/>
        </p:nvSpPr>
        <p:spPr>
          <a:xfrm>
            <a:off x="1099678" y="2818780"/>
            <a:ext cx="4490799" cy="524100"/>
          </a:xfrm>
          <a:prstGeom prst="roundRect">
            <a:avLst>
              <a:gd name="adj" fmla="val 9435"/>
            </a:avLst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45"/>
          <p:cNvSpPr txBox="1"/>
          <p:nvPr/>
        </p:nvSpPr>
        <p:spPr>
          <a:xfrm>
            <a:off x="4896550" y="1728650"/>
            <a:ext cx="3915300" cy="829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" dirty="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oop through nodes and relaxes repeatedly. </a:t>
            </a:r>
            <a:endParaRPr dirty="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In distance-vector, each router relaxes in parallel, with both directions as links between routers.</a:t>
            </a:r>
            <a:endParaRPr dirty="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6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Bellman-Ford Demo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752" name="Google Shape;752;p46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53" name="Google Shape;753;p46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759" name="Google Shape;759;p4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For each destination: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you hear </a:t>
            </a:r>
            <a:r>
              <a:rPr lang="en">
                <a:solidFill>
                  <a:schemeClr val="accent2"/>
                </a:solidFill>
              </a:rPr>
              <a:t>an advertisement</a:t>
            </a:r>
            <a:r>
              <a:rPr lang="en">
                <a:solidFill>
                  <a:srgbClr val="000000"/>
                </a:solidFill>
              </a:rPr>
              <a:t>, update table if:</a:t>
            </a:r>
            <a:endParaRPr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The destination isn't in the table.</a:t>
            </a:r>
            <a:endParaRPr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/>
              <a:t>Advertised cost + link cost to neighbor &lt; best-known cost.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Then, advertise to all your neighbors.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Terminology note: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Sending "I'm R1, and I can reach A with cost 5" is called </a:t>
            </a:r>
            <a:r>
              <a:rPr lang="en" b="1">
                <a:solidFill>
                  <a:srgbClr val="000000"/>
                </a:solidFill>
              </a:rPr>
              <a:t>announcing</a:t>
            </a:r>
            <a:r>
              <a:rPr lang="en">
                <a:solidFill>
                  <a:srgbClr val="000000"/>
                </a:solidFill>
              </a:rPr>
              <a:t> or</a:t>
            </a:r>
            <a:r>
              <a:rPr lang="en" b="1"/>
              <a:t> advertising</a:t>
            </a:r>
            <a:r>
              <a:rPr lang="en"/>
              <a:t> a route.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65" name="Google Shape;765;p48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p48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7" name="Google Shape;767;p48"/>
          <p:cNvCxnSpPr>
            <a:stCxn id="766" idx="6"/>
            <a:endCxn id="765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8" name="Google Shape;768;p48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9" name="Google Shape;769;p48"/>
          <p:cNvCxnSpPr>
            <a:stCxn id="765" idx="3"/>
            <a:endCxn id="768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0" name="Google Shape;770;p48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1" name="Google Shape;771;p48"/>
          <p:cNvCxnSpPr>
            <a:stCxn id="768" idx="3"/>
            <a:endCxn id="770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772" name="Google Shape;772;p48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73" name="Google Shape;773;p48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74" name="Google Shape;774;p48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80" name="Google Shape;780;p49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49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2" name="Google Shape;782;p49"/>
          <p:cNvCxnSpPr>
            <a:stCxn id="781" idx="6"/>
            <a:endCxn id="780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3" name="Google Shape;783;p49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4" name="Google Shape;784;p49"/>
          <p:cNvCxnSpPr>
            <a:stCxn id="780" idx="3"/>
            <a:endCxn id="783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5" name="Google Shape;785;p49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6" name="Google Shape;786;p49"/>
          <p:cNvCxnSpPr>
            <a:stCxn id="783" idx="3"/>
            <a:endCxn id="785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787" name="Google Shape;787;p49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88" name="Google Shape;788;p49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89" name="Google Shape;789;p49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90" name="Google Shape;790;p49"/>
          <p:cNvSpPr txBox="1"/>
          <p:nvPr/>
        </p:nvSpPr>
        <p:spPr>
          <a:xfrm>
            <a:off x="1848600" y="4266375"/>
            <a:ext cx="20178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Static routing: Someone hard-codes R1's table to say it can reach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96" name="Google Shape;796;p50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50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8" name="Google Shape;798;p50"/>
          <p:cNvCxnSpPr>
            <a:stCxn id="797" idx="6"/>
            <a:endCxn id="796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9" name="Google Shape;799;p50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0" name="Google Shape;800;p50"/>
          <p:cNvCxnSpPr>
            <a:stCxn id="796" idx="3"/>
            <a:endCxn id="799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1" name="Google Shape;801;p50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2" name="Google Shape;802;p50"/>
          <p:cNvCxnSpPr>
            <a:stCxn id="799" idx="3"/>
            <a:endCxn id="801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03" name="Google Shape;803;p50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04" name="Google Shape;804;p50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05" name="Google Shape;805;p50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06" name="Google Shape;806;p50"/>
          <p:cNvSpPr/>
          <p:nvPr/>
        </p:nvSpPr>
        <p:spPr>
          <a:xfrm>
            <a:off x="3073800" y="2188525"/>
            <a:ext cx="2626800" cy="5676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found a way to reach A!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tell all my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12" name="Google Shape;812;p51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p51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4" name="Google Shape;814;p51"/>
          <p:cNvCxnSpPr>
            <a:stCxn id="813" idx="6"/>
            <a:endCxn id="812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5" name="Google Shape;815;p51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6" name="Google Shape;816;p51"/>
          <p:cNvCxnSpPr>
            <a:stCxn id="812" idx="3"/>
            <a:endCxn id="815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7" name="Google Shape;817;p51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8" name="Google Shape;818;p51"/>
          <p:cNvCxnSpPr>
            <a:stCxn id="815" idx="3"/>
            <a:endCxn id="817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19" name="Google Shape;819;p51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20" name="Google Shape;820;p51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21" name="Google Shape;821;p51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22" name="Google Shape;822;p51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3" name="Google Shape;823;p51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p51"/>
          <p:cNvSpPr/>
          <p:nvPr/>
        </p:nvSpPr>
        <p:spPr>
          <a:xfrm>
            <a:off x="5150100" y="1848800"/>
            <a:ext cx="2293200" cy="9072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don't have a way to reach A yet, so I'll accept.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25" name="Google Shape;825;p51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=2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26" name="Google Shape;826;p51"/>
          <p:cNvSpPr txBox="1"/>
          <p:nvPr/>
        </p:nvSpPr>
        <p:spPr>
          <a:xfrm>
            <a:off x="3975150" y="4211200"/>
            <a:ext cx="187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(link cost to R1), plus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(advertised cost).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32" name="Google Shape;832;p52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52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4" name="Google Shape;834;p52"/>
          <p:cNvCxnSpPr>
            <a:stCxn id="833" idx="6"/>
            <a:endCxn id="832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5" name="Google Shape;835;p52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6" name="Google Shape;836;p52"/>
          <p:cNvCxnSpPr>
            <a:stCxn id="832" idx="3"/>
            <a:endCxn id="835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7" name="Google Shape;837;p52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8" name="Google Shape;838;p52"/>
          <p:cNvCxnSpPr>
            <a:stCxn id="835" idx="3"/>
            <a:endCxn id="837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39" name="Google Shape;839;p52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40" name="Google Shape;840;p52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41" name="Google Shape;841;p52"/>
          <p:cNvSpPr/>
          <p:nvPr/>
        </p:nvSpPr>
        <p:spPr>
          <a:xfrm>
            <a:off x="5150100" y="2151975"/>
            <a:ext cx="2430000" cy="6039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tell everyone about my shiny new path to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42" name="Google Shape;842;p52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48" name="Google Shape;848;p53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53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0" name="Google Shape;850;p53"/>
          <p:cNvCxnSpPr>
            <a:stCxn id="849" idx="6"/>
            <a:endCxn id="848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1" name="Google Shape;851;p53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2" name="Google Shape;852;p53"/>
          <p:cNvCxnSpPr>
            <a:stCxn id="848" idx="3"/>
            <a:endCxn id="851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3" name="Google Shape;853;p53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4" name="Google Shape;854;p53"/>
          <p:cNvCxnSpPr>
            <a:stCxn id="851" idx="3"/>
            <a:endCxn id="853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55" name="Google Shape;855;p53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56" name="Google Shape;856;p53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57" name="Google Shape;857;p53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58" name="Google Shape;858;p53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59" name="Google Shape;859;p53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0" name="Google Shape;860;p53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1" name="Google Shape;861;p53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53"/>
          <p:cNvSpPr txBox="1"/>
          <p:nvPr/>
        </p:nvSpPr>
        <p:spPr>
          <a:xfrm>
            <a:off x="2419800" y="4261775"/>
            <a:ext cx="49902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Notice: R2's announcement doesn't include the next-hop.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Nobody else cares </a:t>
            </a:r>
            <a:r>
              <a:rPr lang="en" i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how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R2 reaches A, just that R2 </a:t>
            </a:r>
            <a:r>
              <a:rPr lang="en" i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can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reach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68" name="Google Shape;868;p54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54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0" name="Google Shape;870;p54"/>
          <p:cNvCxnSpPr>
            <a:stCxn id="869" idx="6"/>
            <a:endCxn id="868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1" name="Google Shape;871;p54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2" name="Google Shape;872;p54"/>
          <p:cNvCxnSpPr>
            <a:stCxn id="868" idx="3"/>
            <a:endCxn id="871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3" name="Google Shape;873;p54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4" name="Google Shape;874;p54"/>
          <p:cNvCxnSpPr>
            <a:stCxn id="871" idx="3"/>
            <a:endCxn id="873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75" name="Google Shape;875;p54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76" name="Google Shape;876;p54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77" name="Google Shape;877;p54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78" name="Google Shape;878;p54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79" name="Google Shape;879;p54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0" name="Google Shape;880;p54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1" name="Google Shape;881;p54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54"/>
          <p:cNvSpPr/>
          <p:nvPr/>
        </p:nvSpPr>
        <p:spPr>
          <a:xfrm>
            <a:off x="621925" y="1375350"/>
            <a:ext cx="2514900" cy="1196400"/>
          </a:xfrm>
          <a:prstGeom prst="wedgeRoundRectCallout">
            <a:avLst>
              <a:gd name="adj1" fmla="val 37901"/>
              <a:gd name="adj2" fmla="val 68963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advertisement?!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new path costs 1+2=3.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already have a cost 1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88" name="Google Shape;888;p55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55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0" name="Google Shape;890;p55"/>
          <p:cNvCxnSpPr>
            <a:stCxn id="889" idx="6"/>
            <a:endCxn id="888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1" name="Google Shape;891;p55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2" name="Google Shape;892;p55"/>
          <p:cNvCxnSpPr>
            <a:stCxn id="888" idx="3"/>
            <a:endCxn id="891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3" name="Google Shape;893;p55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4" name="Google Shape;894;p55"/>
          <p:cNvCxnSpPr>
            <a:stCxn id="891" idx="3"/>
            <a:endCxn id="893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95" name="Google Shape;895;p55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96" name="Google Shape;896;p55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97" name="Google Shape;897;p55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98" name="Google Shape;898;p55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99" name="Google Shape;899;p55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p55"/>
          <p:cNvSpPr/>
          <p:nvPr/>
        </p:nvSpPr>
        <p:spPr>
          <a:xfrm>
            <a:off x="6829800" y="1663775"/>
            <a:ext cx="2093100" cy="818100"/>
          </a:xfrm>
          <a:prstGeom prst="wedgeRoundRectCallout">
            <a:avLst>
              <a:gd name="adj1" fmla="val -43228"/>
              <a:gd name="adj2" fmla="val 85115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advertisement?!?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don't have a path to A yet, so I'll accept.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1" name="Google Shape;901;p55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2" name="Google Shape;902;p55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03" name="Google Shape;903;p55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=3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04" name="Google Shape;904;p55"/>
          <p:cNvSpPr txBox="1"/>
          <p:nvPr/>
        </p:nvSpPr>
        <p:spPr>
          <a:xfrm>
            <a:off x="6032550" y="4211200"/>
            <a:ext cx="187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(link cost to R2), plus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(advertised cost).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910" name="Google Shape;910;p56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56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2" name="Google Shape;912;p56"/>
          <p:cNvCxnSpPr>
            <a:stCxn id="911" idx="6"/>
            <a:endCxn id="910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3" name="Google Shape;913;p56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4" name="Google Shape;914;p56"/>
          <p:cNvCxnSpPr>
            <a:stCxn id="910" idx="3"/>
            <a:endCxn id="913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5" name="Google Shape;915;p56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6" name="Google Shape;916;p56"/>
          <p:cNvCxnSpPr>
            <a:stCxn id="913" idx="3"/>
            <a:endCxn id="915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917" name="Google Shape;917;p56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18" name="Google Shape;918;p56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19" name="Google Shape;919;p56"/>
          <p:cNvSpPr/>
          <p:nvPr/>
        </p:nvSpPr>
        <p:spPr>
          <a:xfrm>
            <a:off x="5104100" y="2007450"/>
            <a:ext cx="2093100" cy="564300"/>
          </a:xfrm>
          <a:prstGeom prst="wedgeRoundRectCallout">
            <a:avLst>
              <a:gd name="adj1" fmla="val 40754"/>
              <a:gd name="adj2" fmla="val 85035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advertise my exciting new path to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20" name="Google Shape;920;p56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926" name="Google Shape;926;p57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7" name="Google Shape;927;p57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8" name="Google Shape;928;p57"/>
          <p:cNvCxnSpPr>
            <a:stCxn id="927" idx="6"/>
            <a:endCxn id="926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9" name="Google Shape;929;p57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0" name="Google Shape;930;p57"/>
          <p:cNvCxnSpPr>
            <a:stCxn id="926" idx="3"/>
            <a:endCxn id="929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1" name="Google Shape;931;p57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2" name="Google Shape;932;p57"/>
          <p:cNvCxnSpPr>
            <a:stCxn id="929" idx="3"/>
            <a:endCxn id="931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933" name="Google Shape;933;p57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34" name="Google Shape;934;p57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35" name="Google Shape;935;p57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936" name="Google Shape;936;p57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37" name="Google Shape;937;p57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57"/>
          <p:cNvSpPr/>
          <p:nvPr/>
        </p:nvSpPr>
        <p:spPr>
          <a:xfrm>
            <a:off x="2715000" y="1375350"/>
            <a:ext cx="2514900" cy="1196400"/>
          </a:xfrm>
          <a:prstGeom prst="wedgeRoundRectCallout">
            <a:avLst>
              <a:gd name="adj1" fmla="val 37901"/>
              <a:gd name="adj2" fmla="val 68963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advertisement?!??!?!!!?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new path costs 1+3=4.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already have a cost 2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944" name="Google Shape;944;p58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58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6" name="Google Shape;946;p58"/>
          <p:cNvCxnSpPr>
            <a:stCxn id="945" idx="6"/>
            <a:endCxn id="944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7" name="Google Shape;947;p58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8" name="Google Shape;948;p58"/>
          <p:cNvCxnSpPr>
            <a:stCxn id="944" idx="3"/>
            <a:endCxn id="947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9" name="Google Shape;949;p58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0" name="Google Shape;950;p58"/>
          <p:cNvCxnSpPr>
            <a:stCxn id="947" idx="3"/>
            <a:endCxn id="949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951" name="Google Shape;951;p58"/>
          <p:cNvGraphicFramePr/>
          <p:nvPr/>
        </p:nvGraphicFramePr>
        <p:xfrm>
          <a:off x="19397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52" name="Google Shape;952;p58"/>
          <p:cNvGraphicFramePr/>
          <p:nvPr/>
        </p:nvGraphicFramePr>
        <p:xfrm>
          <a:off x="39971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53" name="Google Shape;953;p58"/>
          <p:cNvGraphicFramePr/>
          <p:nvPr/>
        </p:nvGraphicFramePr>
        <p:xfrm>
          <a:off x="6054544" y="33944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54" name="Google Shape;954;p58"/>
          <p:cNvSpPr txBox="1"/>
          <p:nvPr/>
        </p:nvSpPr>
        <p:spPr>
          <a:xfrm>
            <a:off x="2903100" y="2234500"/>
            <a:ext cx="4023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did it! Everybody has a way to reach A now.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5" name="Google Shape;955;p58"/>
          <p:cNvCxnSpPr/>
          <p:nvPr/>
        </p:nvCxnSpPr>
        <p:spPr>
          <a:xfrm rot="10800000">
            <a:off x="2066875" y="29558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6" name="Google Shape;956;p58"/>
          <p:cNvSpPr txBox="1"/>
          <p:nvPr/>
        </p:nvSpPr>
        <p:spPr>
          <a:xfrm>
            <a:off x="2072875" y="27787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7" name="Google Shape;957;p58"/>
          <p:cNvCxnSpPr/>
          <p:nvPr/>
        </p:nvCxnSpPr>
        <p:spPr>
          <a:xfrm rot="10800000">
            <a:off x="4124275" y="29558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8" name="Google Shape;958;p58"/>
          <p:cNvSpPr txBox="1"/>
          <p:nvPr/>
        </p:nvSpPr>
        <p:spPr>
          <a:xfrm>
            <a:off x="4130275" y="27787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9" name="Google Shape;959;p58"/>
          <p:cNvCxnSpPr/>
          <p:nvPr/>
        </p:nvCxnSpPr>
        <p:spPr>
          <a:xfrm rot="10800000">
            <a:off x="6181675" y="29558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0" name="Google Shape;960;p58"/>
          <p:cNvSpPr txBox="1"/>
          <p:nvPr/>
        </p:nvSpPr>
        <p:spPr>
          <a:xfrm>
            <a:off x="6187675" y="27787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59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2: Updates From Next-Hop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966" name="Google Shape;966;p59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2: Updates from Next-Hop</a:t>
            </a:r>
            <a:endParaRPr/>
          </a:p>
        </p:txBody>
      </p:sp>
      <p:sp>
        <p:nvSpPr>
          <p:cNvPr id="967" name="Google Shape;967;p59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From the Current Next-Hop</a:t>
            </a:r>
            <a:endParaRPr/>
          </a:p>
        </p:txBody>
      </p:sp>
      <p:sp>
        <p:nvSpPr>
          <p:cNvPr id="973" name="Google Shape;973;p6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Topology can change.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We update if we get a better path (or if we didn't have a path before).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Fix: If our current next hop sends us an announcement, accept it,</a:t>
            </a:r>
            <a:br>
              <a:rPr lang="en"/>
            </a:br>
            <a:r>
              <a:rPr lang="en" i="1"/>
              <a:t>even if the path is worse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lets the next-hop notify us if the topology changed.</a:t>
            </a:r>
            <a:endParaRPr/>
          </a:p>
        </p:txBody>
      </p:sp>
      <p:sp>
        <p:nvSpPr>
          <p:cNvPr id="974" name="Google Shape;974;p60"/>
          <p:cNvSpPr/>
          <p:nvPr/>
        </p:nvSpPr>
        <p:spPr>
          <a:xfrm>
            <a:off x="3591425" y="34883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5" name="Google Shape;975;p60"/>
          <p:cNvSpPr/>
          <p:nvPr/>
        </p:nvSpPr>
        <p:spPr>
          <a:xfrm>
            <a:off x="1984375" y="27241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6" name="Google Shape;976;p60"/>
          <p:cNvCxnSpPr>
            <a:stCxn id="975" idx="3"/>
            <a:endCxn id="974" idx="1"/>
          </p:cNvCxnSpPr>
          <p:nvPr/>
        </p:nvCxnSpPr>
        <p:spPr>
          <a:xfrm>
            <a:off x="2269375" y="28666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7" name="Google Shape;977;p60"/>
          <p:cNvCxnSpPr>
            <a:stCxn id="978" idx="3"/>
          </p:cNvCxnSpPr>
          <p:nvPr/>
        </p:nvCxnSpPr>
        <p:spPr>
          <a:xfrm rot="10800000" flipH="1">
            <a:off x="2269375" y="36309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8" name="Google Shape;978;p60"/>
          <p:cNvSpPr/>
          <p:nvPr/>
        </p:nvSpPr>
        <p:spPr>
          <a:xfrm>
            <a:off x="1984375" y="42513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79" name="Google Shape;979;p60"/>
          <p:cNvGraphicFramePr/>
          <p:nvPr/>
        </p:nvGraphicFramePr>
        <p:xfrm>
          <a:off x="6380282" y="32662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980" name="Google Shape;980;p60"/>
          <p:cNvCxnSpPr/>
          <p:nvPr/>
        </p:nvCxnSpPr>
        <p:spPr>
          <a:xfrm rot="10800000" flipH="1">
            <a:off x="2558725" y="3952000"/>
            <a:ext cx="796500" cy="459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981" name="Google Shape;981;p60"/>
          <p:cNvGraphicFramePr/>
          <p:nvPr/>
        </p:nvGraphicFramePr>
        <p:xfrm>
          <a:off x="6380282" y="32662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 =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82" name="Google Shape;982;p60"/>
          <p:cNvSpPr/>
          <p:nvPr/>
        </p:nvSpPr>
        <p:spPr>
          <a:xfrm>
            <a:off x="2899775" y="425130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3" name="Google Shape;983;p60"/>
          <p:cNvSpPr/>
          <p:nvPr/>
        </p:nvSpPr>
        <p:spPr>
          <a:xfrm>
            <a:off x="4166625" y="3094938"/>
            <a:ext cx="18921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 wasn't in my table. Accept!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From the Current Next-Hop</a:t>
            </a:r>
            <a:endParaRPr/>
          </a:p>
        </p:txBody>
      </p:sp>
      <p:sp>
        <p:nvSpPr>
          <p:cNvPr id="989" name="Google Shape;989;p6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Topology can change.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We update if we get a better path (or if we didn't have a path before).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Fix: If our current next hop sends us an announcement, accept it,</a:t>
            </a:r>
            <a:br>
              <a:rPr lang="en"/>
            </a:br>
            <a:r>
              <a:rPr lang="en" i="1"/>
              <a:t>even if the path is worse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lets the next-hop notify us if the topology changed.</a:t>
            </a:r>
            <a:endParaRPr/>
          </a:p>
        </p:txBody>
      </p:sp>
      <p:sp>
        <p:nvSpPr>
          <p:cNvPr id="990" name="Google Shape;990;p61"/>
          <p:cNvSpPr/>
          <p:nvPr/>
        </p:nvSpPr>
        <p:spPr>
          <a:xfrm>
            <a:off x="3591425" y="34883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1" name="Google Shape;991;p61"/>
          <p:cNvSpPr/>
          <p:nvPr/>
        </p:nvSpPr>
        <p:spPr>
          <a:xfrm>
            <a:off x="1984375" y="27241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2" name="Google Shape;992;p61"/>
          <p:cNvCxnSpPr>
            <a:stCxn id="991" idx="3"/>
            <a:endCxn id="990" idx="1"/>
          </p:cNvCxnSpPr>
          <p:nvPr/>
        </p:nvCxnSpPr>
        <p:spPr>
          <a:xfrm>
            <a:off x="2269375" y="28666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61"/>
          <p:cNvCxnSpPr>
            <a:stCxn id="994" idx="3"/>
          </p:cNvCxnSpPr>
          <p:nvPr/>
        </p:nvCxnSpPr>
        <p:spPr>
          <a:xfrm rot="10800000" flipH="1">
            <a:off x="2269375" y="36309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4" name="Google Shape;994;p61"/>
          <p:cNvSpPr/>
          <p:nvPr/>
        </p:nvSpPr>
        <p:spPr>
          <a:xfrm>
            <a:off x="1984375" y="42513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95" name="Google Shape;995;p61"/>
          <p:cNvGraphicFramePr/>
          <p:nvPr/>
        </p:nvGraphicFramePr>
        <p:xfrm>
          <a:off x="6380282" y="32662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96" name="Google Shape;996;p61"/>
          <p:cNvSpPr/>
          <p:nvPr/>
        </p:nvSpPr>
        <p:spPr>
          <a:xfrm>
            <a:off x="2996075" y="23572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7" name="Google Shape;997;p61"/>
          <p:cNvSpPr/>
          <p:nvPr/>
        </p:nvSpPr>
        <p:spPr>
          <a:xfrm>
            <a:off x="4166625" y="3094950"/>
            <a:ext cx="20835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1+8=9 is worse than 4.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Reject!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8" name="Google Shape;998;p61"/>
          <p:cNvCxnSpPr/>
          <p:nvPr/>
        </p:nvCxnSpPr>
        <p:spPr>
          <a:xfrm>
            <a:off x="2490050" y="2842920"/>
            <a:ext cx="865200" cy="499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From the Current Next-Hop</a:t>
            </a:r>
            <a:endParaRPr/>
          </a:p>
        </p:txBody>
      </p:sp>
      <p:sp>
        <p:nvSpPr>
          <p:cNvPr id="1004" name="Google Shape;1004;p6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Topology can change.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We update if we get a better path (or if we didn't have a path before).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Fix: If our current next hop sends us an announcement, accept it,</a:t>
            </a:r>
            <a:br>
              <a:rPr lang="en"/>
            </a:br>
            <a:r>
              <a:rPr lang="en" i="1"/>
              <a:t>even if the path is worse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lets the next-hop notify us if the topology changed.</a:t>
            </a:r>
            <a:endParaRPr/>
          </a:p>
        </p:txBody>
      </p:sp>
      <p:sp>
        <p:nvSpPr>
          <p:cNvPr id="1005" name="Google Shape;1005;p62"/>
          <p:cNvSpPr/>
          <p:nvPr/>
        </p:nvSpPr>
        <p:spPr>
          <a:xfrm>
            <a:off x="3591425" y="34883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62"/>
          <p:cNvSpPr/>
          <p:nvPr/>
        </p:nvSpPr>
        <p:spPr>
          <a:xfrm>
            <a:off x="1984375" y="27241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7" name="Google Shape;1007;p62"/>
          <p:cNvCxnSpPr>
            <a:stCxn id="1006" idx="3"/>
            <a:endCxn id="1005" idx="1"/>
          </p:cNvCxnSpPr>
          <p:nvPr/>
        </p:nvCxnSpPr>
        <p:spPr>
          <a:xfrm>
            <a:off x="2269375" y="28666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8" name="Google Shape;1008;p62"/>
          <p:cNvCxnSpPr>
            <a:stCxn id="1009" idx="3"/>
          </p:cNvCxnSpPr>
          <p:nvPr/>
        </p:nvCxnSpPr>
        <p:spPr>
          <a:xfrm rot="10800000" flipH="1">
            <a:off x="2269375" y="36309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9" name="Google Shape;1009;p62"/>
          <p:cNvSpPr/>
          <p:nvPr/>
        </p:nvSpPr>
        <p:spPr>
          <a:xfrm>
            <a:off x="1984375" y="42513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0" name="Google Shape;1010;p62"/>
          <p:cNvCxnSpPr/>
          <p:nvPr/>
        </p:nvCxnSpPr>
        <p:spPr>
          <a:xfrm rot="10800000" flipH="1">
            <a:off x="2558725" y="3952000"/>
            <a:ext cx="796500" cy="459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11" name="Google Shape;1011;p62"/>
          <p:cNvSpPr/>
          <p:nvPr/>
        </p:nvSpPr>
        <p:spPr>
          <a:xfrm>
            <a:off x="2899775" y="425130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62"/>
          <p:cNvSpPr/>
          <p:nvPr/>
        </p:nvSpPr>
        <p:spPr>
          <a:xfrm>
            <a:off x="4166625" y="3094938"/>
            <a:ext cx="18921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R2 is the next-hop. Accept!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13" name="Google Shape;1013;p62"/>
          <p:cNvGraphicFramePr/>
          <p:nvPr/>
        </p:nvGraphicFramePr>
        <p:xfrm>
          <a:off x="6380282" y="32662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14" name="Google Shape;1014;p62"/>
          <p:cNvGraphicFramePr/>
          <p:nvPr/>
        </p:nvGraphicFramePr>
        <p:xfrm>
          <a:off x="6380282" y="3266200"/>
          <a:ext cx="2392175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=9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15" name="Google Shape;1015;p62"/>
          <p:cNvSpPr/>
          <p:nvPr/>
        </p:nvSpPr>
        <p:spPr>
          <a:xfrm>
            <a:off x="4074475" y="4449300"/>
            <a:ext cx="3921900" cy="535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Hi, it's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again. I know I said A is 3 away from me earlier, but that's changed. Now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62"/>
          <p:cNvSpPr txBox="1"/>
          <p:nvPr/>
        </p:nvSpPr>
        <p:spPr>
          <a:xfrm>
            <a:off x="4074475" y="4185575"/>
            <a:ext cx="3335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What R2 is really saying: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Convergence</a:t>
            </a:r>
            <a:endParaRPr/>
          </a:p>
        </p:txBody>
      </p:sp>
      <p:sp>
        <p:nvSpPr>
          <p:cNvPr id="1022" name="Google Shape;1022;p6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 network never changes: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running this protocol for some time, it will </a:t>
            </a:r>
            <a:r>
              <a:rPr lang="en" b="1"/>
              <a:t>converge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Everyone's forwarding table has the least-cost next hop.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future announcements will be rejected.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a change happens (e.g. a link goes down):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new announcements are sent.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forwarding tables are updated.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Eventually, we converge again to the new routing state.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network topology is constantly changing, so routers run the protocol </a:t>
            </a:r>
            <a:r>
              <a:rPr lang="en" i="1"/>
              <a:t>indefinitely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Steady-state</a:t>
            </a:r>
            <a:r>
              <a:rPr lang="en"/>
              <a:t> occurs when the network has converged.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steady-state, everything stays the same until the next topology change.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028" name="Google Shape;1028;p6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For each destination: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Then, advertise to all your neighbors.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6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034" name="Google Shape;1034;p6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3: Resending</a:t>
            </a:r>
            <a:endParaRPr/>
          </a:p>
        </p:txBody>
      </p:sp>
      <p:sp>
        <p:nvSpPr>
          <p:cNvPr id="1035" name="Google Shape;1035;p6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Ensuring Reliability</a:t>
            </a:r>
            <a:endParaRPr/>
          </a:p>
        </p:txBody>
      </p:sp>
      <p:sp>
        <p:nvSpPr>
          <p:cNvPr id="1041" name="Google Shape;1041;p6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Packets can get dropped.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Resend advertisements every </a:t>
            </a:r>
            <a:r>
              <a:rPr lang="en" i="1"/>
              <a:t>X</a:t>
            </a:r>
            <a:r>
              <a:rPr lang="en"/>
              <a:t> seconds.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X</a:t>
            </a:r>
            <a:r>
              <a:rPr lang="en"/>
              <a:t> is the "advertisement interval."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should work eventually, assuming the link is functional (&gt;0% delivery rate).</a:t>
            </a:r>
            <a:endParaRPr/>
          </a:p>
        </p:txBody>
      </p:sp>
      <p:sp>
        <p:nvSpPr>
          <p:cNvPr id="1042" name="Google Shape;1042;p66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66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4" name="Google Shape;1044;p66"/>
          <p:cNvCxnSpPr>
            <a:stCxn id="1043" idx="6"/>
            <a:endCxn id="1042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5" name="Google Shape;1045;p66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6" name="Google Shape;1046;p66"/>
          <p:cNvCxnSpPr>
            <a:stCxn id="1042" idx="3"/>
            <a:endCxn id="1045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7" name="Google Shape;1047;p66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8" name="Google Shape;1048;p66"/>
          <p:cNvCxnSpPr>
            <a:stCxn id="1045" idx="3"/>
            <a:endCxn id="1047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049" name="Google Shape;1049;p66"/>
          <p:cNvGraphicFramePr/>
          <p:nvPr/>
        </p:nvGraphicFramePr>
        <p:xfrm>
          <a:off x="1939744" y="42326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50" name="Google Shape;1050;p66"/>
          <p:cNvGraphicFramePr/>
          <p:nvPr/>
        </p:nvGraphicFramePr>
        <p:xfrm>
          <a:off x="3997144" y="42326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51" name="Google Shape;1051;p66"/>
          <p:cNvGraphicFramePr/>
          <p:nvPr/>
        </p:nvGraphicFramePr>
        <p:xfrm>
          <a:off x="6054544" y="4232650"/>
          <a:ext cx="183550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052" name="Google Shape;1052;p66"/>
          <p:cNvCxnSpPr/>
          <p:nvPr/>
        </p:nvCxnSpPr>
        <p:spPr>
          <a:xfrm>
            <a:off x="3189445" y="3756475"/>
            <a:ext cx="13935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53" name="Google Shape;1053;p66"/>
          <p:cNvSpPr/>
          <p:nvPr/>
        </p:nvSpPr>
        <p:spPr>
          <a:xfrm>
            <a:off x="3336000" y="29207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66"/>
          <p:cNvSpPr/>
          <p:nvPr/>
        </p:nvSpPr>
        <p:spPr>
          <a:xfrm>
            <a:off x="5150100" y="3058513"/>
            <a:ext cx="18921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Huh? Did someone say something?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66"/>
          <p:cNvSpPr txBox="1"/>
          <p:nvPr/>
        </p:nvSpPr>
        <p:spPr>
          <a:xfrm rot="-2700000">
            <a:off x="3433510" y="3136822"/>
            <a:ext cx="905380" cy="301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Roboto"/>
                <a:ea typeface="Roboto"/>
                <a:cs typeface="Roboto"/>
                <a:sym typeface="Roboto"/>
              </a:rPr>
              <a:t>Dropped!</a:t>
            </a:r>
            <a:endParaRPr sz="1600"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6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061" name="Google Shape;1061;p6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</a:t>
            </a:r>
            <a:r>
              <a:rPr lang="en">
                <a:solidFill>
                  <a:schemeClr val="accent2"/>
                </a:solidFill>
              </a:rPr>
              <a:t>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68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4: Expiring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067" name="Google Shape;1067;p6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4: Expiring</a:t>
            </a:r>
            <a:endParaRPr/>
          </a:p>
        </p:txBody>
      </p:sp>
      <p:sp>
        <p:nvSpPr>
          <p:cNvPr id="1068" name="Google Shape;1068;p6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074" name="Google Shape;1074;p6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lang="en" b="1"/>
              <a:t>time to live (TTL)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sp>
        <p:nvSpPr>
          <p:cNvPr id="1075" name="Google Shape;1075;p69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6" name="Google Shape;1076;p69"/>
          <p:cNvCxnSpPr>
            <a:stCxn id="1077" idx="3"/>
            <a:endCxn id="107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7" name="Google Shape;1077;p69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8" name="Google Shape;1078;p69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Didn't have a path to A. Accept!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79" name="Google Shape;1079;p69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080" name="Google Shape;1080;p69"/>
          <p:cNvCxnSpPr/>
          <p:nvPr/>
        </p:nvCxnSpPr>
        <p:spPr>
          <a:xfrm>
            <a:off x="1466525" y="4170800"/>
            <a:ext cx="1066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81" name="Google Shape;1081;p69"/>
          <p:cNvSpPr/>
          <p:nvPr/>
        </p:nvSpPr>
        <p:spPr>
          <a:xfrm>
            <a:off x="1270925" y="431330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82" name="Google Shape;1082;p69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83" name="Google Shape;1083;p6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4" name="Google Shape;1084;p69"/>
          <p:cNvSpPr txBox="1"/>
          <p:nvPr/>
        </p:nvSpPr>
        <p:spPr>
          <a:xfrm>
            <a:off x="5313100" y="4419775"/>
            <a:ext cx="2893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Need another confirmation of this route in the next 11 seconds.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5" name="Google Shape;1085;p69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6" name="Google Shape;1086;p69"/>
          <p:cNvCxnSpPr>
            <a:stCxn id="1085" idx="6"/>
            <a:endCxn id="107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7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092" name="Google Shape;1092;p7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lang="en" b="1"/>
              <a:t>time to live (TTL)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graphicFrame>
        <p:nvGraphicFramePr>
          <p:cNvPr id="1093" name="Google Shape;1093;p70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94" name="Google Shape;1094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5" name="Google Shape;1095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70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70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9" name="Google Shape;1099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70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1" name="Google Shape;1101;p70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2" name="Google Shape;1102;p70"/>
          <p:cNvCxnSpPr>
            <a:stCxn id="1103" idx="3"/>
            <a:endCxn id="1101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3" name="Google Shape;1103;p70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70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5" name="Google Shape;1105;p70"/>
          <p:cNvCxnSpPr>
            <a:stCxn id="1104" idx="6"/>
            <a:endCxn id="1103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7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111" name="Google Shape;1111;p7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lang="en" b="1"/>
              <a:t>time to live (TTL)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graphicFrame>
        <p:nvGraphicFramePr>
          <p:cNvPr id="1112" name="Google Shape;1112;p71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13" name="Google Shape;1113;p7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71"/>
          <p:cNvSpPr txBox="1"/>
          <p:nvPr/>
        </p:nvSpPr>
        <p:spPr>
          <a:xfrm>
            <a:off x="5313100" y="4419775"/>
            <a:ext cx="2893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 got a confirmation!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Reset TTL back to 11.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5" name="Google Shape;1115;p71"/>
          <p:cNvSpPr/>
          <p:nvPr/>
        </p:nvSpPr>
        <p:spPr>
          <a:xfrm>
            <a:off x="1047875" y="4313300"/>
            <a:ext cx="19035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still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still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6" name="Google Shape;1116;p71"/>
          <p:cNvCxnSpPr/>
          <p:nvPr/>
        </p:nvCxnSpPr>
        <p:spPr>
          <a:xfrm>
            <a:off x="1466525" y="4170800"/>
            <a:ext cx="1066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7" name="Google Shape;1117;p71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8" name="Google Shape;1118;p71"/>
          <p:cNvCxnSpPr>
            <a:stCxn id="1119" idx="3"/>
            <a:endCxn id="1117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9" name="Google Shape;1119;p71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71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1" name="Google Shape;1121;p71"/>
          <p:cNvCxnSpPr>
            <a:stCxn id="1120" idx="6"/>
            <a:endCxn id="1119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7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127" name="Google Shape;1127;p7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lang="en" b="1"/>
              <a:t>time to live (TTL)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graphicFrame>
        <p:nvGraphicFramePr>
          <p:cNvPr id="1128" name="Google Shape;1128;p72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29" name="Google Shape;1129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0" name="Google Shape;1130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1" name="Google Shape;1131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2" name="Google Shape;1132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3" name="Google Shape;1133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5" name="Google Shape;1135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6" name="Google Shape;1136;p72"/>
          <p:cNvSpPr txBox="1"/>
          <p:nvPr/>
        </p:nvSpPr>
        <p:spPr>
          <a:xfrm>
            <a:off x="450125" y="4209000"/>
            <a:ext cx="5775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7" name="Google Shape;1137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9" name="Google Shape;1139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1" name="Google Shape;1141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3" name="Google Shape;1143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4" name="Google Shape;1144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6" name="Google Shape;1146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7" name="Google Shape;1147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9" name="Google Shape;1149;p72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0" name="Google Shape;1150;p72"/>
          <p:cNvCxnSpPr>
            <a:stCxn id="1151" idx="3"/>
            <a:endCxn id="1149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1" name="Google Shape;1151;p72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2" name="Google Shape;1152;p72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3" name="Google Shape;1153;p72"/>
          <p:cNvCxnSpPr>
            <a:stCxn id="1152" idx="6"/>
            <a:endCxn id="1151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7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159" name="Google Shape;1159;p7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lang="en" b="1"/>
              <a:t>time to live (TTL)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graphicFrame>
        <p:nvGraphicFramePr>
          <p:cNvPr id="1160" name="Google Shape;1160;p73"/>
          <p:cNvGraphicFramePr/>
          <p:nvPr/>
        </p:nvGraphicFramePr>
        <p:xfrm>
          <a:off x="5563769" y="3662700"/>
          <a:ext cx="2392150" cy="68877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61" name="Google Shape;1161;p73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2" name="Google Shape;1162;p73"/>
          <p:cNvSpPr txBox="1"/>
          <p:nvPr/>
        </p:nvSpPr>
        <p:spPr>
          <a:xfrm>
            <a:off x="5313100" y="4419775"/>
            <a:ext cx="28935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 Delete expired entry.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3" name="Google Shape;1163;p73"/>
          <p:cNvCxnSpPr/>
          <p:nvPr/>
        </p:nvCxnSpPr>
        <p:spPr>
          <a:xfrm>
            <a:off x="5503225" y="4233875"/>
            <a:ext cx="26481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4" name="Google Shape;1164;p73"/>
          <p:cNvSpPr txBox="1"/>
          <p:nvPr/>
        </p:nvSpPr>
        <p:spPr>
          <a:xfrm>
            <a:off x="450125" y="4209000"/>
            <a:ext cx="5775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5" name="Google Shape;1165;p73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6" name="Google Shape;1166;p73"/>
          <p:cNvCxnSpPr>
            <a:stCxn id="1167" idx="3"/>
            <a:endCxn id="116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7" name="Google Shape;1167;p73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73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9" name="Google Shape;1169;p73"/>
          <p:cNvCxnSpPr>
            <a:stCxn id="1168" idx="6"/>
            <a:endCxn id="116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7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Timers</a:t>
            </a:r>
            <a:endParaRPr/>
          </a:p>
        </p:txBody>
      </p:sp>
      <p:sp>
        <p:nvSpPr>
          <p:cNvPr id="1175" name="Google Shape;1175;p7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maintain multiple timers: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Advertisement interval: How long before we advertise routes to neighbors.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Usually one timer for all entries in the table.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TTL: How long before we expire a route.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Each table entry has its own TTL.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7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Distance-Vector Algorithm</a:t>
            </a:r>
            <a:endParaRPr dirty="0"/>
          </a:p>
        </p:txBody>
      </p:sp>
      <p:sp>
        <p:nvSpPr>
          <p:cNvPr id="1181" name="Google Shape;1181;p7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For each destination: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If you hear an advertisement, update table </a:t>
            </a:r>
            <a:r>
              <a:rPr lang="en" dirty="0">
                <a:solidFill>
                  <a:schemeClr val="accent2"/>
                </a:solidFill>
              </a:rPr>
              <a:t>and reset TTL </a:t>
            </a:r>
            <a:r>
              <a:rPr lang="en" dirty="0"/>
              <a:t>if: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The destination isn't in the table.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Advertised cost + link cost to neighbor &lt; best-known cost. </a:t>
            </a:r>
            <a:r>
              <a:rPr lang="en" sz="1400" dirty="0">
                <a:solidFill>
                  <a:schemeClr val="accent3"/>
                </a:solidFill>
              </a:rPr>
              <a:t>(#1)</a:t>
            </a:r>
            <a:endParaRPr sz="1400" dirty="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The advertisement is from current next-hop. </a:t>
            </a:r>
            <a:r>
              <a:rPr lang="en" sz="1400" dirty="0">
                <a:solidFill>
                  <a:schemeClr val="accent3"/>
                </a:solidFill>
              </a:rPr>
              <a:t>(#2)</a:t>
            </a:r>
            <a:endParaRPr sz="1400" dirty="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dirty="0">
                <a:solidFill>
                  <a:srgbClr val="000000"/>
                </a:solidFill>
              </a:rPr>
              <a:t>Advertise to all your neighbors when the table updates, and periodically. </a:t>
            </a:r>
            <a:r>
              <a:rPr lang="en" sz="1400" dirty="0">
                <a:solidFill>
                  <a:schemeClr val="accent3"/>
                </a:solidFill>
              </a:rPr>
              <a:t>(#3)</a:t>
            </a:r>
            <a:endParaRPr sz="1400" dirty="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 dirty="0">
                <a:solidFill>
                  <a:schemeClr val="accent2"/>
                </a:solidFill>
              </a:rPr>
              <a:t>If a table entry expires, delete it. </a:t>
            </a:r>
            <a:r>
              <a:rPr lang="en" sz="1400" dirty="0">
                <a:solidFill>
                  <a:schemeClr val="accent3"/>
                </a:solidFill>
              </a:rPr>
              <a:t>(#4)</a:t>
            </a: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1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Distance-Vector Rules</a:t>
            </a:r>
            <a:endParaRPr/>
          </a:p>
        </p:txBody>
      </p:sp>
      <p:sp>
        <p:nvSpPr>
          <p:cNvPr id="2161" name="Google Shape;2161;p13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1. Bellman-Ford Updates</a:t>
            </a:r>
            <a:r>
              <a:rPr lang="en" dirty="0"/>
              <a:t>: Accept if </a:t>
            </a:r>
            <a:r>
              <a:rPr lang="en" sz="1500" dirty="0"/>
              <a:t>advertised cost + link cost to neighbor &lt; best-known cost.</a:t>
            </a:r>
            <a:endParaRPr sz="15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2. Updates From Next-Hop</a:t>
            </a:r>
            <a:r>
              <a:rPr lang="en" dirty="0"/>
              <a:t>: Accept if advertisement is from next hop.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3. Resending</a:t>
            </a:r>
            <a:r>
              <a:rPr lang="en" dirty="0"/>
              <a:t>: Advertise periodically.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4. Expiring</a:t>
            </a:r>
            <a:r>
              <a:rPr lang="en" dirty="0"/>
              <a:t>: Expire an entry if TTL runs out.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7302</Words>
  <Application>Microsoft Office PowerPoint</Application>
  <PresentationFormat>On-screen Show (16:9)</PresentationFormat>
  <Paragraphs>1314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Consolas</vt:lpstr>
      <vt:lpstr>Roboto Medium</vt:lpstr>
      <vt:lpstr>Roboto</vt:lpstr>
      <vt:lpstr>Roboto Light</vt:lpstr>
      <vt:lpstr>Simple Lecture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 – Routing vs. Forwarding</vt:lpstr>
      <vt:lpstr>Distance-Vector Algorithm Sketch – Multiple Destinations</vt:lpstr>
      <vt:lpstr>Rule 1: Bellman-Ford Updates</vt:lpstr>
      <vt:lpstr>Multiple Paths Advertised</vt:lpstr>
      <vt:lpstr>Multiple Paths Advertised</vt:lpstr>
      <vt:lpstr>Multiple Paths Advertised</vt:lpstr>
      <vt:lpstr>Multiple Paths Advertised</vt:lpstr>
      <vt:lpstr>The Distance-Vector Algorithm So Far</vt:lpstr>
      <vt:lpstr>Unequal Costs</vt:lpstr>
      <vt:lpstr>Unequal Costs</vt:lpstr>
      <vt:lpstr>The Distance-Vector Algorithm So Far</vt:lpstr>
      <vt:lpstr>Distributed Bellman-Ford Algorithm</vt:lpstr>
      <vt:lpstr>Distributed Bellman-Ford Algorithm</vt:lpstr>
      <vt:lpstr>Bellman-Ford Demo</vt:lpstr>
      <vt:lpstr>The Distance-Vector Algorithm So Far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Rule 2: Updates from Next-Hop</vt:lpstr>
      <vt:lpstr>Updates From the Current Next-Hop</vt:lpstr>
      <vt:lpstr>Updates From the Current Next-Hop</vt:lpstr>
      <vt:lpstr>Updates From the Current Next-Hop</vt:lpstr>
      <vt:lpstr>Convergence</vt:lpstr>
      <vt:lpstr>The Distance-Vector Algorithm So Far</vt:lpstr>
      <vt:lpstr>Rule 3: Resending</vt:lpstr>
      <vt:lpstr>Ensuring Reliability</vt:lpstr>
      <vt:lpstr>The Distance-Vector Algorithm So Far</vt:lpstr>
      <vt:lpstr>Rule 4: Expiring</vt:lpstr>
      <vt:lpstr>Handling Failures</vt:lpstr>
      <vt:lpstr>Handling Failures</vt:lpstr>
      <vt:lpstr>Handling Failures</vt:lpstr>
      <vt:lpstr>Handling Failures</vt:lpstr>
      <vt:lpstr>Handling Failures</vt:lpstr>
      <vt:lpstr>Timers</vt:lpstr>
      <vt:lpstr>The Distance-Vector Algorithm</vt:lpstr>
      <vt:lpstr>Summary: Distance-Vector Rules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Zonghua Gu</cp:lastModifiedBy>
  <cp:revision>1</cp:revision>
  <dcterms:modified xsi:type="dcterms:W3CDTF">2026-01-30T04:07:01Z</dcterms:modified>
</cp:coreProperties>
</file>