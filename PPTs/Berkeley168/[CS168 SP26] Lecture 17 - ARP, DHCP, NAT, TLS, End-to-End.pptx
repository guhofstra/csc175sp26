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</p:sldIdLst>
  <p:sldSz cy="5143500" cx="9144000"/>
  <p:notesSz cx="6858000" cy="9144000"/>
  <p:embeddedFontLst>
    <p:embeddedFont>
      <p:font typeface="Roboto Medium"/>
      <p:regular r:id="rId98"/>
      <p:bold r:id="rId99"/>
      <p:italic r:id="rId100"/>
      <p:boldItalic r:id="rId101"/>
    </p:embeddedFont>
    <p:embeddedFont>
      <p:font typeface="Roboto"/>
      <p:regular r:id="rId102"/>
      <p:bold r:id="rId103"/>
      <p:italic r:id="rId104"/>
      <p:boldItalic r:id="rId105"/>
    </p:embeddedFont>
    <p:embeddedFont>
      <p:font typeface="Roboto Light"/>
      <p:regular r:id="rId106"/>
      <p:bold r:id="rId107"/>
      <p:italic r:id="rId108"/>
      <p:boldItalic r:id="rId10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C09171-EA2E-49D2-AE3A-FD3DA924B4D4}">
  <a:tblStyle styleId="{BBC09171-EA2E-49D2-AE3A-FD3DA924B4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font" Target="fonts/RobotoLight-bold.fntdata"/><Relationship Id="rId106" Type="http://schemas.openxmlformats.org/officeDocument/2006/relationships/font" Target="fonts/RobotoLight-regular.fntdata"/><Relationship Id="rId105" Type="http://schemas.openxmlformats.org/officeDocument/2006/relationships/font" Target="fonts/Roboto-boldItalic.fntdata"/><Relationship Id="rId104" Type="http://schemas.openxmlformats.org/officeDocument/2006/relationships/font" Target="fonts/Roboto-italic.fntdata"/><Relationship Id="rId109" Type="http://schemas.openxmlformats.org/officeDocument/2006/relationships/font" Target="fonts/RobotoLight-boldItalic.fntdata"/><Relationship Id="rId108" Type="http://schemas.openxmlformats.org/officeDocument/2006/relationships/font" Target="fonts/RobotoLight-italic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Roboto-bold.fntdata"/><Relationship Id="rId102" Type="http://schemas.openxmlformats.org/officeDocument/2006/relationships/font" Target="fonts/Roboto-regular.fntdata"/><Relationship Id="rId101" Type="http://schemas.openxmlformats.org/officeDocument/2006/relationships/font" Target="fonts/RobotoMedium-boldItalic.fntdata"/><Relationship Id="rId100" Type="http://schemas.openxmlformats.org/officeDocument/2006/relationships/font" Target="fonts/RobotoMedium-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font" Target="fonts/RobotoMedium-bold.fntdata"/><Relationship Id="rId10" Type="http://schemas.openxmlformats.org/officeDocument/2006/relationships/slide" Target="slides/slide4.xml"/><Relationship Id="rId98" Type="http://schemas.openxmlformats.org/officeDocument/2006/relationships/font" Target="fonts/RobotoMedium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a26c720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a26c720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4a26c72086_0_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4a26c7208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a26c7208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a26c7208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a26c7208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4a26c7208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4a26c7208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4a26c7208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a26c7208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4a26c7208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a26c7208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4a26c7208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a26c7208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4a26c7208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4a26c7208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4a26c7208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4a26c72086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4a26c7208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4a26c72086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4a26c72086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4a26c72086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4a26c7208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4a26c7208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4a26c7208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4a26c72086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4a26c72086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4a26c72086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4a26c72086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4a26c72086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4a26c72086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4a26c72086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4a26c72086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4a26c72086_0_26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4a26c72086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4a26c72086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4a26c72086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4a26c72086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4a26c72086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4a26c72086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4a26c72086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4a26c72086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4a26c72086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4a26c72086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4a26c72086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4a26c72086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4a26c72086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4a26c72086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4a26c72086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4a26c72086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4a26c72086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4a26c72086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34a26c72086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4a26c72086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4a26c72086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4a26c72086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34a26c72086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4a26c72086_0_39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4a26c72086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4a26c72086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4a26c72086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4a26c72086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4a26c72086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4a26c72086_0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4a26c72086_0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4a26c72086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4a26c72086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34a26c72086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34a26c72086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4a26c72086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4a26c72086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4a26c72086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34a26c72086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34a26c72086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34a26c72086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4a26c72086_0_60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34a26c72086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34a26c72086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34a26c72086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4a26c72086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4a26c72086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4a26c72086_0_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34a26c72086_0_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34a26c72086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34a26c72086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4a26c72086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34a26c72086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4a26c72086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4a26c72086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34a26c72086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34a26c72086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34a26c72086_0_81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34a26c72086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34a26c72086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34a26c72086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4a26c72086_0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34a26c72086_0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4a26c72086_0_8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2" name="Google Shape;1072;g34a26c72086_0_8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4a26c72086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34a26c72086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4a26c72086_0_9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34a26c72086_0_9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34a26c72086_0_9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34a26c72086_0_9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g34a26c72086_0_9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34a26c72086_0_9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4a26c72086_0_98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8" name="Google Shape;1178;g34a26c72086_0_9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4a26c72086_0_9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5" name="Google Shape;1185;g34a26c72086_0_9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34a26c72086_0_10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34a26c72086_0_10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4a26c72086_0_10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34a26c72086_0_10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34a26c72086_0_10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34a26c72086_0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34a26c72086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34a26c72086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34a26c72086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34a26c72086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4a26c72086_0_10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3" name="Google Shape;1283;g34a26c72086_0_10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games open up ports that listen 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34a26c72086_0_10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34a26c72086_0_10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34a26c72086_0_109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34a26c72086_0_1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34a26c72086_0_1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34a26c72086_0_1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34a26c72086_0_1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34a26c72086_0_1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34a26c72086_0_1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34a26c72086_0_1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34a26c72086_0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34a26c72086_0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34a26c72086_0_1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34a26c72086_0_1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34a26c72086_0_1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34a26c72086_0_1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34a26c72086_0_1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34a26c72086_0_1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34a26c72086_0_1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34a26c72086_0_1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g34a26c72086_0_1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0" name="Google Shape;1430;g34a26c72086_0_1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34a26c72086_0_124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34a26c72086_0_1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34a26c72086_0_1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34a26c72086_0_1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g34a26c72086_0_1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0" name="Google Shape;1490;g34a26c72086_0_1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34a26c72086_0_1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34a26c72086_0_1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34a26c72086_0_1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34a26c72086_0_1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34a26c72086_0_1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34a26c72086_0_1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34a26c72086_0_1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34a26c72086_0_1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34a26c72086_0_1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0" name="Google Shape;1670;g34a26c72086_0_1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g34a26c72086_0_1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3" name="Google Shape;1703;g34a26c72086_0_1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g34a26c72086_0_1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1" name="Google Shape;1741;g34a26c72086_0_1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6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g34a26c72086_0_1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8" name="Google Shape;1778;g34a26c72086_0_1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g34a26c72086_0_15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5" name="Google Shape;1815;g34a26c72086_0_15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g34a26c72086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3" name="Google Shape;1843;g34a26c72086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g34a26c72086_0_1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9" name="Google Shape;1849;g34a26c72086_0_1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34a26c72086_0_1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34a26c72086_0_1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34a26c72086_0_1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2" name="Google Shape;1862;g34a26c72086_0_1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34a26c72086_0_16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8" name="Google Shape;1868;g34a26c72086_0_1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34a26c72086_0_1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4" name="Google Shape;1874;g34a26c72086_0_1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7" name="Google Shape;27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6" name="Google Shape;36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3" name="Google Shape;43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1" name="Google Shape;51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" name="Google Shape;5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1" name="Google Shape;61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2" name="Google Shape;6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7" name="Google Shape;67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0" name="Google Shape;70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1" name="Google Shape;71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7" name="Google Shape;77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0" name="Google Shape;9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1" name="Google Shape;91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95" name="Google Shape;95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4" name="Google Shape;10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6" name="Google Shape;106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1" name="Google Shape;111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" name="Google Shape;120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28" name="Google Shape;12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1" name="Google Shape;13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4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 168, 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Spring 2026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rPr>
              <a:t>ARP, DHCP, NAT, TLS, and End-to-End</a:t>
            </a:r>
            <a:endParaRPr sz="3600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17 (End-to-End 2)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ARP: Connecting Layers 2 and 3</a:t>
            </a:r>
            <a:endParaRPr/>
          </a:p>
        </p:txBody>
      </p:sp>
      <p:sp>
        <p:nvSpPr>
          <p:cNvPr id="151" name="Google Shape;151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17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ARP: Connecting Layers 2 and 3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DHCP: Joining a New Network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NAT: Network Address Translation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Basic NAT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NAT with Ports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Rewriting Ports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NAT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TLS: Secure Bytestreams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End-to-End Walkthrough</a:t>
            </a:r>
            <a:endParaRPr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Connecting Layers 2 and 3</a:t>
            </a:r>
            <a:endParaRPr/>
          </a:p>
        </p:txBody>
      </p:sp>
      <p:sp>
        <p:nvSpPr>
          <p:cNvPr id="158" name="Google Shape;158;p26"/>
          <p:cNvSpPr/>
          <p:nvPr/>
        </p:nvSpPr>
        <p:spPr>
          <a:xfrm>
            <a:off x="3675963" y="4318325"/>
            <a:ext cx="18951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6"/>
          <p:cNvSpPr/>
          <p:nvPr/>
        </p:nvSpPr>
        <p:spPr>
          <a:xfrm>
            <a:off x="3675963" y="3924725"/>
            <a:ext cx="1895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Server's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107050" y="402200"/>
            <a:ext cx="8909700" cy="15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Packet gets passed down the stack, picking up more headers.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Layer 3 fills in the IP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Then, Layer 2 needs to fill in the MAC addresses.</a:t>
            </a:r>
            <a:endParaRPr/>
          </a:p>
        </p:txBody>
      </p:sp>
      <p:sp>
        <p:nvSpPr>
          <p:cNvPr id="161" name="Google Shape;161;p26"/>
          <p:cNvSpPr/>
          <p:nvPr/>
        </p:nvSpPr>
        <p:spPr>
          <a:xfrm>
            <a:off x="3675963" y="3531125"/>
            <a:ext cx="1895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My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3675963" y="3137525"/>
            <a:ext cx="1895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???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3675963" y="2743925"/>
            <a:ext cx="1895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My MAC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1910374" y="3916903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Destination IP: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6"/>
          <p:cNvSpPr txBox="1"/>
          <p:nvPr/>
        </p:nvSpPr>
        <p:spPr>
          <a:xfrm>
            <a:off x="1910374" y="3523306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 IP: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26"/>
          <p:cNvSpPr txBox="1"/>
          <p:nvPr/>
        </p:nvSpPr>
        <p:spPr>
          <a:xfrm>
            <a:off x="1910374" y="3137522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Destination MAC: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Google Shape;167;p26"/>
          <p:cNvSpPr txBox="1"/>
          <p:nvPr/>
        </p:nvSpPr>
        <p:spPr>
          <a:xfrm>
            <a:off x="1910374" y="2743925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 MAC: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" name="Google Shape;168;p26"/>
          <p:cNvCxnSpPr>
            <a:endCxn id="162" idx="3"/>
          </p:cNvCxnSpPr>
          <p:nvPr/>
        </p:nvCxnSpPr>
        <p:spPr>
          <a:xfrm rot="10800000">
            <a:off x="5571063" y="3334325"/>
            <a:ext cx="804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26"/>
          <p:cNvSpPr txBox="1"/>
          <p:nvPr/>
        </p:nvSpPr>
        <p:spPr>
          <a:xfrm>
            <a:off x="6375975" y="3134225"/>
            <a:ext cx="15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What goes here?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Connecting Layers 2 and 3</a:t>
            </a:r>
            <a:endParaRPr/>
          </a:p>
        </p:txBody>
      </p:sp>
      <p:sp>
        <p:nvSpPr>
          <p:cNvPr id="175" name="Google Shape;175;p27"/>
          <p:cNvSpPr/>
          <p:nvPr/>
        </p:nvSpPr>
        <p:spPr>
          <a:xfrm>
            <a:off x="3675963" y="4318325"/>
            <a:ext cx="18951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7"/>
          <p:cNvSpPr/>
          <p:nvPr/>
        </p:nvSpPr>
        <p:spPr>
          <a:xfrm>
            <a:off x="3675963" y="3924725"/>
            <a:ext cx="1895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Server's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7"/>
          <p:cNvSpPr/>
          <p:nvPr/>
        </p:nvSpPr>
        <p:spPr>
          <a:xfrm>
            <a:off x="3675963" y="3531125"/>
            <a:ext cx="1895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My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27"/>
          <p:cNvSpPr/>
          <p:nvPr/>
        </p:nvSpPr>
        <p:spPr>
          <a:xfrm>
            <a:off x="3675963" y="3137525"/>
            <a:ext cx="1895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???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3675963" y="2743925"/>
            <a:ext cx="1895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My MAC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1910374" y="3916903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Destination IP: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1910374" y="3523306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 IP: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1910374" y="3137522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Destination MAC: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" name="Google Shape;183;p27"/>
          <p:cNvSpPr txBox="1"/>
          <p:nvPr/>
        </p:nvSpPr>
        <p:spPr>
          <a:xfrm>
            <a:off x="1910374" y="2743925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 MAC: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" name="Google Shape;184;p27"/>
          <p:cNvCxnSpPr>
            <a:endCxn id="178" idx="3"/>
          </p:cNvCxnSpPr>
          <p:nvPr/>
        </p:nvCxnSpPr>
        <p:spPr>
          <a:xfrm rot="10800000">
            <a:off x="5571063" y="3334325"/>
            <a:ext cx="804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5" name="Google Shape;185;p27"/>
          <p:cNvSpPr txBox="1"/>
          <p:nvPr/>
        </p:nvSpPr>
        <p:spPr>
          <a:xfrm>
            <a:off x="6375975" y="3134225"/>
            <a:ext cx="15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What goes here?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107050" y="402200"/>
            <a:ext cx="8909700" cy="20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 destination IP is in our local network: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the destination's MAC address, and send to destination on Layer 2.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If the destination IP is </a:t>
            </a:r>
            <a:r>
              <a:rPr i="1" lang="en"/>
              <a:t>not</a:t>
            </a:r>
            <a:r>
              <a:rPr lang="en"/>
              <a:t> in our local network: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 the router's MAC address, and send to the router on Layer 2.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 can forward our packet toward the destination.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Connecting Layers 2 and 3</a:t>
            </a:r>
            <a:endParaRPr/>
          </a:p>
        </p:txBody>
      </p:sp>
      <p:sp>
        <p:nvSpPr>
          <p:cNvPr id="192" name="Google Shape;192;p28"/>
          <p:cNvSpPr/>
          <p:nvPr/>
        </p:nvSpPr>
        <p:spPr>
          <a:xfrm>
            <a:off x="3675963" y="4318325"/>
            <a:ext cx="18951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3675963" y="3924725"/>
            <a:ext cx="1895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Server's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8"/>
          <p:cNvSpPr txBox="1"/>
          <p:nvPr>
            <p:ph idx="1" type="body"/>
          </p:nvPr>
        </p:nvSpPr>
        <p:spPr>
          <a:xfrm>
            <a:off x="107050" y="402200"/>
            <a:ext cx="8909700" cy="22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we send packets to the destination (local) or the router (non-local)?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could broadcast: Put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FF:FF:FF:FF:FF:FF</a:t>
            </a:r>
            <a:r>
              <a:rPr lang="en"/>
              <a:t> as destination MAC.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But now, everybody else has to process this packet.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Need extra bandwidth to send the packet to everyone on local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really want to </a:t>
            </a:r>
            <a:r>
              <a:rPr i="1" lang="en"/>
              <a:t>unicast</a:t>
            </a:r>
            <a:r>
              <a:rPr lang="en"/>
              <a:t> the packet to the right MAC address.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 need some way to translate IP addresses to MAC addresses.</a:t>
            </a:r>
            <a:endParaRPr/>
          </a:p>
        </p:txBody>
      </p:sp>
      <p:sp>
        <p:nvSpPr>
          <p:cNvPr id="195" name="Google Shape;195;p28"/>
          <p:cNvSpPr/>
          <p:nvPr/>
        </p:nvSpPr>
        <p:spPr>
          <a:xfrm>
            <a:off x="3675963" y="3531125"/>
            <a:ext cx="1895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My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3675963" y="3137525"/>
            <a:ext cx="1895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???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8"/>
          <p:cNvSpPr/>
          <p:nvPr/>
        </p:nvSpPr>
        <p:spPr>
          <a:xfrm>
            <a:off x="3675963" y="2743925"/>
            <a:ext cx="1895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My MAC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1910374" y="3916903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Destination IP: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1910374" y="3523306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 IP: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28"/>
          <p:cNvSpPr txBox="1"/>
          <p:nvPr/>
        </p:nvSpPr>
        <p:spPr>
          <a:xfrm>
            <a:off x="1910374" y="3137522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Destination MAC: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1910374" y="2743925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 MAC: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2" name="Google Shape;202;p28"/>
          <p:cNvCxnSpPr>
            <a:endCxn id="196" idx="3"/>
          </p:cNvCxnSpPr>
          <p:nvPr/>
        </p:nvCxnSpPr>
        <p:spPr>
          <a:xfrm rot="10800000">
            <a:off x="5571063" y="3334325"/>
            <a:ext cx="804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" name="Google Shape;203;p28"/>
          <p:cNvSpPr txBox="1"/>
          <p:nvPr/>
        </p:nvSpPr>
        <p:spPr>
          <a:xfrm>
            <a:off x="6375975" y="3134225"/>
            <a:ext cx="15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What goes here?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ARP (Address Resolution Protocol) – Steps</a:t>
            </a:r>
            <a:endParaRPr/>
          </a:p>
        </p:txBody>
      </p:sp>
      <p:sp>
        <p:nvSpPr>
          <p:cNvPr id="209" name="Google Shape;209;p2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ARP</a:t>
            </a:r>
            <a:r>
              <a:rPr lang="en"/>
              <a:t> translates Layer 3 IP addresses to Layer 2 MAC addresses.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Alice knows Bob's IP address is 1.2.3.4.</a:t>
            </a:r>
            <a:br>
              <a:rPr lang="en"/>
            </a:br>
            <a:r>
              <a:rPr lang="en"/>
              <a:t>She wants to know Bob's MAC address.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Steps of the protocol: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Alice checks her cache to see if she already knows Bob's MAC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If Bob's MAC address is not in the cache, Alice broadcasts:</a:t>
            </a:r>
            <a:br>
              <a:rPr lang="en"/>
            </a:br>
            <a:r>
              <a:rPr lang="en"/>
              <a:t>"What is the MAC address of 1.2.3.4?"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Bob responds by unicasting to Alice:</a:t>
            </a:r>
            <a:br>
              <a:rPr lang="en"/>
            </a:br>
            <a:r>
              <a:rPr lang="en"/>
              <a:t>"My IP is 1.2.3.4 and my MAC address is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ca:fe:f0:0d:be:ef</a:t>
            </a:r>
            <a:r>
              <a:rPr lang="en"/>
              <a:t>."</a:t>
            </a:r>
            <a:br>
              <a:rPr lang="en"/>
            </a:br>
            <a:r>
              <a:rPr lang="en"/>
              <a:t>Everyone else does nothing.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Alice caches the result.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ARP (Address Resolution Protocol) – Step 1/4</a:t>
            </a:r>
            <a:endParaRPr/>
          </a:p>
        </p:txBody>
      </p:sp>
      <p:grpSp>
        <p:nvGrpSpPr>
          <p:cNvPr id="215" name="Google Shape;215;p30"/>
          <p:cNvGrpSpPr/>
          <p:nvPr/>
        </p:nvGrpSpPr>
        <p:grpSpPr>
          <a:xfrm>
            <a:off x="260500" y="3076200"/>
            <a:ext cx="3108300" cy="1820750"/>
            <a:chOff x="260500" y="3533400"/>
            <a:chExt cx="3108300" cy="1820750"/>
          </a:xfrm>
        </p:grpSpPr>
        <p:cxnSp>
          <p:nvCxnSpPr>
            <p:cNvPr id="216" name="Google Shape;216;p30"/>
            <p:cNvCxnSpPr/>
            <p:nvPr/>
          </p:nvCxnSpPr>
          <p:spPr>
            <a:xfrm rot="10800000">
              <a:off x="972325" y="3533400"/>
              <a:ext cx="0" cy="4593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7" name="Google Shape;217;p30"/>
            <p:cNvSpPr txBox="1"/>
            <p:nvPr/>
          </p:nvSpPr>
          <p:spPr>
            <a:xfrm>
              <a:off x="260500" y="3963650"/>
              <a:ext cx="3108300" cy="13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1. Alice checks her cache to see if she already knows the MAC address corresponding to </a:t>
              </a:r>
              <a:r>
                <a:rPr b="1"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1.2.3.4</a:t>
              </a: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Since her cache is empty, she must make a request to find out.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18" name="Google Shape;218;p30"/>
          <p:cNvSpPr/>
          <p:nvPr/>
        </p:nvSpPr>
        <p:spPr>
          <a:xfrm>
            <a:off x="3607650" y="24762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30"/>
          <p:cNvSpPr/>
          <p:nvPr/>
        </p:nvSpPr>
        <p:spPr>
          <a:xfrm>
            <a:off x="4750650" y="21895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30"/>
          <p:cNvSpPr/>
          <p:nvPr/>
        </p:nvSpPr>
        <p:spPr>
          <a:xfrm>
            <a:off x="4750650" y="27628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30"/>
          <p:cNvSpPr/>
          <p:nvPr/>
        </p:nvSpPr>
        <p:spPr>
          <a:xfrm>
            <a:off x="4750650" y="33360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30"/>
          <p:cNvSpPr txBox="1"/>
          <p:nvPr>
            <p:ph idx="1" type="body"/>
          </p:nvPr>
        </p:nvSpPr>
        <p:spPr>
          <a:xfrm>
            <a:off x="107050" y="402200"/>
            <a:ext cx="89097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Alice knows Bob's IP address is 1.2.3.4. She wants to learn Bob's MAC address.</a:t>
            </a:r>
            <a:endParaRPr/>
          </a:p>
        </p:txBody>
      </p:sp>
      <p:sp>
        <p:nvSpPr>
          <p:cNvPr id="223" name="Google Shape;223;p30"/>
          <p:cNvSpPr/>
          <p:nvPr/>
        </p:nvSpPr>
        <p:spPr>
          <a:xfrm>
            <a:off x="4750650" y="161631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24" name="Google Shape;224;p30"/>
          <p:cNvGraphicFramePr/>
          <p:nvPr/>
        </p:nvGraphicFramePr>
        <p:xfrm>
          <a:off x="303125" y="2161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731125"/>
                <a:gridCol w="1855900"/>
                <a:gridCol w="510275"/>
              </a:tblGrid>
              <a:tr h="253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Alice's cache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 hMerge="1"/>
                <a:tc hMerge="1"/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ARP (Address Resolution Protocol) – Step 2/4</a:t>
            </a:r>
            <a:endParaRPr/>
          </a:p>
        </p:txBody>
      </p:sp>
      <p:sp>
        <p:nvSpPr>
          <p:cNvPr id="230" name="Google Shape;230;p31"/>
          <p:cNvSpPr txBox="1"/>
          <p:nvPr/>
        </p:nvSpPr>
        <p:spPr>
          <a:xfrm>
            <a:off x="5660575" y="2203050"/>
            <a:ext cx="3053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2. Alice asks everyone else on the local network: "What is the MAC address of 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1.2.3.4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?"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31"/>
          <p:cNvSpPr txBox="1"/>
          <p:nvPr>
            <p:ph idx="1" type="body"/>
          </p:nvPr>
        </p:nvSpPr>
        <p:spPr>
          <a:xfrm>
            <a:off x="107050" y="402200"/>
            <a:ext cx="89097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Alice knows Bob's IP address is 1.2.3.4. She wants to learn Bob's MAC address.</a:t>
            </a:r>
            <a:endParaRPr/>
          </a:p>
        </p:txBody>
      </p:sp>
      <p:sp>
        <p:nvSpPr>
          <p:cNvPr id="232" name="Google Shape;232;p31"/>
          <p:cNvSpPr/>
          <p:nvPr/>
        </p:nvSpPr>
        <p:spPr>
          <a:xfrm>
            <a:off x="4750650" y="21895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31"/>
          <p:cNvSpPr/>
          <p:nvPr/>
        </p:nvSpPr>
        <p:spPr>
          <a:xfrm>
            <a:off x="4750650" y="27628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31"/>
          <p:cNvSpPr/>
          <p:nvPr/>
        </p:nvSpPr>
        <p:spPr>
          <a:xfrm>
            <a:off x="4750650" y="33360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31"/>
          <p:cNvSpPr/>
          <p:nvPr/>
        </p:nvSpPr>
        <p:spPr>
          <a:xfrm>
            <a:off x="4750650" y="161631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6" name="Google Shape;236;p31"/>
          <p:cNvCxnSpPr>
            <a:stCxn id="237" idx="6"/>
            <a:endCxn id="235" idx="2"/>
          </p:cNvCxnSpPr>
          <p:nvPr/>
        </p:nvCxnSpPr>
        <p:spPr>
          <a:xfrm flipH="1" rot="10800000">
            <a:off x="3892650" y="1758900"/>
            <a:ext cx="858000" cy="859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31"/>
          <p:cNvCxnSpPr>
            <a:stCxn id="237" idx="6"/>
            <a:endCxn id="232" idx="2"/>
          </p:cNvCxnSpPr>
          <p:nvPr/>
        </p:nvCxnSpPr>
        <p:spPr>
          <a:xfrm flipH="1" rot="10800000">
            <a:off x="3892650" y="2332200"/>
            <a:ext cx="858000" cy="286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9" name="Google Shape;239;p31"/>
          <p:cNvCxnSpPr>
            <a:stCxn id="237" idx="6"/>
            <a:endCxn id="233" idx="2"/>
          </p:cNvCxnSpPr>
          <p:nvPr/>
        </p:nvCxnSpPr>
        <p:spPr>
          <a:xfrm>
            <a:off x="3892650" y="2618700"/>
            <a:ext cx="858000" cy="286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0" name="Google Shape;240;p31"/>
          <p:cNvCxnSpPr>
            <a:stCxn id="237" idx="6"/>
            <a:endCxn id="234" idx="1"/>
          </p:cNvCxnSpPr>
          <p:nvPr/>
        </p:nvCxnSpPr>
        <p:spPr>
          <a:xfrm>
            <a:off x="3892650" y="2618700"/>
            <a:ext cx="858000" cy="859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31"/>
          <p:cNvSpPr/>
          <p:nvPr/>
        </p:nvSpPr>
        <p:spPr>
          <a:xfrm>
            <a:off x="3607650" y="24762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41" name="Google Shape;241;p31"/>
          <p:cNvGraphicFramePr/>
          <p:nvPr/>
        </p:nvGraphicFramePr>
        <p:xfrm>
          <a:off x="303125" y="2161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731125"/>
                <a:gridCol w="1855900"/>
                <a:gridCol w="510275"/>
              </a:tblGrid>
              <a:tr h="253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Alice's cache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 hMerge="1"/>
                <a:tc hMerge="1"/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ARP (Address Resolution Protocol) – Step 3/4</a:t>
            </a:r>
            <a:endParaRPr/>
          </a:p>
        </p:txBody>
      </p:sp>
      <p:sp>
        <p:nvSpPr>
          <p:cNvPr id="247" name="Google Shape;247;p32"/>
          <p:cNvSpPr txBox="1"/>
          <p:nvPr/>
        </p:nvSpPr>
        <p:spPr>
          <a:xfrm>
            <a:off x="5660575" y="1987650"/>
            <a:ext cx="3053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3. Bob responds: "My IP is 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1.2.3.4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 and my MAC address is 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ca:fe:f0:0d:be:ef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Everybody else ignores the request.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2"/>
          <p:cNvSpPr txBox="1"/>
          <p:nvPr>
            <p:ph idx="1" type="body"/>
          </p:nvPr>
        </p:nvSpPr>
        <p:spPr>
          <a:xfrm>
            <a:off x="107050" y="402200"/>
            <a:ext cx="89097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Alice knows Bob's IP address is 1.2.3.4. She wants to learn Bob's MAC address.</a:t>
            </a:r>
            <a:endParaRPr/>
          </a:p>
        </p:txBody>
      </p:sp>
      <p:sp>
        <p:nvSpPr>
          <p:cNvPr id="249" name="Google Shape;249;p32"/>
          <p:cNvSpPr/>
          <p:nvPr/>
        </p:nvSpPr>
        <p:spPr>
          <a:xfrm>
            <a:off x="4750650" y="21895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0" name="Google Shape;250;p32"/>
          <p:cNvSpPr/>
          <p:nvPr/>
        </p:nvSpPr>
        <p:spPr>
          <a:xfrm>
            <a:off x="4750650" y="27628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1" name="Google Shape;251;p32"/>
          <p:cNvSpPr/>
          <p:nvPr/>
        </p:nvSpPr>
        <p:spPr>
          <a:xfrm>
            <a:off x="4750650" y="33360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32"/>
          <p:cNvSpPr/>
          <p:nvPr/>
        </p:nvSpPr>
        <p:spPr>
          <a:xfrm>
            <a:off x="4750650" y="161631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53" name="Google Shape;253;p32"/>
          <p:cNvCxnSpPr>
            <a:stCxn id="254" idx="7"/>
            <a:endCxn id="252" idx="2"/>
          </p:cNvCxnSpPr>
          <p:nvPr/>
        </p:nvCxnSpPr>
        <p:spPr>
          <a:xfrm flipH="1" rot="10800000">
            <a:off x="3850913" y="1758937"/>
            <a:ext cx="899700" cy="759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254" name="Google Shape;254;p32"/>
          <p:cNvSpPr/>
          <p:nvPr/>
        </p:nvSpPr>
        <p:spPr>
          <a:xfrm>
            <a:off x="3607650" y="24762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55" name="Google Shape;255;p32"/>
          <p:cNvGraphicFramePr/>
          <p:nvPr/>
        </p:nvGraphicFramePr>
        <p:xfrm>
          <a:off x="303125" y="2161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731125"/>
                <a:gridCol w="1855900"/>
                <a:gridCol w="510275"/>
              </a:tblGrid>
              <a:tr h="253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Alice's cache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 hMerge="1"/>
                <a:tc hMerge="1"/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ARP (Address Resolution Protocol) – Step 4/4</a:t>
            </a:r>
            <a:endParaRPr/>
          </a:p>
        </p:txBody>
      </p:sp>
      <p:sp>
        <p:nvSpPr>
          <p:cNvPr id="261" name="Google Shape;261;p33"/>
          <p:cNvSpPr txBox="1"/>
          <p:nvPr>
            <p:ph idx="1" type="body"/>
          </p:nvPr>
        </p:nvSpPr>
        <p:spPr>
          <a:xfrm>
            <a:off x="107050" y="402200"/>
            <a:ext cx="89097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Alice knows Bob's IP address is 1.2.3.4. She wants to learn Bob's MAC address.</a:t>
            </a:r>
            <a:endParaRPr/>
          </a:p>
        </p:txBody>
      </p:sp>
      <p:graphicFrame>
        <p:nvGraphicFramePr>
          <p:cNvPr id="262" name="Google Shape;262;p33"/>
          <p:cNvGraphicFramePr/>
          <p:nvPr/>
        </p:nvGraphicFramePr>
        <p:xfrm>
          <a:off x="303125" y="2161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731125"/>
                <a:gridCol w="1855900"/>
                <a:gridCol w="510275"/>
              </a:tblGrid>
              <a:tr h="2530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Alice's cache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 hMerge="1"/>
                <a:tc hMerge="1"/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TTL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1.2.3.4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ca:fe:f0:0d:be:ef</a:t>
                      </a:r>
                      <a:endParaRPr>
                        <a:solidFill>
                          <a:schemeClr val="accent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 hr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263" name="Google Shape;263;p33"/>
          <p:cNvSpPr/>
          <p:nvPr/>
        </p:nvSpPr>
        <p:spPr>
          <a:xfrm>
            <a:off x="4750650" y="21895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33"/>
          <p:cNvSpPr/>
          <p:nvPr/>
        </p:nvSpPr>
        <p:spPr>
          <a:xfrm>
            <a:off x="4750650" y="27628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33"/>
          <p:cNvSpPr/>
          <p:nvPr/>
        </p:nvSpPr>
        <p:spPr>
          <a:xfrm>
            <a:off x="4750650" y="333607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33"/>
          <p:cNvSpPr/>
          <p:nvPr/>
        </p:nvSpPr>
        <p:spPr>
          <a:xfrm>
            <a:off x="4750650" y="161631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3"/>
          <p:cNvSpPr/>
          <p:nvPr/>
        </p:nvSpPr>
        <p:spPr>
          <a:xfrm>
            <a:off x="3607650" y="24762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68" name="Google Shape;268;p33"/>
          <p:cNvGrpSpPr/>
          <p:nvPr/>
        </p:nvGrpSpPr>
        <p:grpSpPr>
          <a:xfrm>
            <a:off x="260500" y="3079900"/>
            <a:ext cx="2528700" cy="1637900"/>
            <a:chOff x="260500" y="3384700"/>
            <a:chExt cx="2528700" cy="1637900"/>
          </a:xfrm>
        </p:grpSpPr>
        <p:cxnSp>
          <p:nvCxnSpPr>
            <p:cNvPr id="269" name="Google Shape;269;p33"/>
            <p:cNvCxnSpPr/>
            <p:nvPr/>
          </p:nvCxnSpPr>
          <p:spPr>
            <a:xfrm rot="10800000">
              <a:off x="972325" y="3384700"/>
              <a:ext cx="0" cy="5520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70" name="Google Shape;270;p33"/>
            <p:cNvSpPr txBox="1"/>
            <p:nvPr/>
          </p:nvSpPr>
          <p:spPr>
            <a:xfrm>
              <a:off x="260500" y="3847800"/>
              <a:ext cx="2528700" cy="11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4. Alice adds Bob's MAC address to her cache.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">
                  <a:solidFill>
                    <a:schemeClr val="accent2"/>
                  </a:solidFill>
                  <a:latin typeface="Roboto"/>
                  <a:ea typeface="Roboto"/>
                  <a:cs typeface="Roboto"/>
                  <a:sym typeface="Roboto"/>
                </a:rPr>
                <a:t>This mapping can be cached for some time (TTL).</a:t>
              </a:r>
              <a:endPara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Address Resolution Protocol (ARP)</a:t>
            </a:r>
            <a:endParaRPr/>
          </a:p>
        </p:txBody>
      </p:sp>
      <p:sp>
        <p:nvSpPr>
          <p:cNvPr id="276" name="Google Shape;276;p34"/>
          <p:cNvSpPr txBox="1"/>
          <p:nvPr>
            <p:ph idx="1" type="body"/>
          </p:nvPr>
        </p:nvSpPr>
        <p:spPr>
          <a:xfrm>
            <a:off x="107050" y="402200"/>
            <a:ext cx="8909700" cy="68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ARP runs directly on Layer 2 (not IP).</a:t>
            </a:r>
            <a:endParaRPr/>
          </a:p>
        </p:txBody>
      </p:sp>
      <p:sp>
        <p:nvSpPr>
          <p:cNvPr id="277" name="Google Shape;277;p34"/>
          <p:cNvSpPr/>
          <p:nvPr/>
        </p:nvSpPr>
        <p:spPr>
          <a:xfrm>
            <a:off x="2228738" y="1660675"/>
            <a:ext cx="1895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FF:FF:FF:FF:FF:FF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8" name="Google Shape;278;p34"/>
          <p:cNvSpPr/>
          <p:nvPr/>
        </p:nvSpPr>
        <p:spPr>
          <a:xfrm>
            <a:off x="2228738" y="1267075"/>
            <a:ext cx="1895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Alice's MAC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9" name="Google Shape;279;p34"/>
          <p:cNvSpPr txBox="1"/>
          <p:nvPr/>
        </p:nvSpPr>
        <p:spPr>
          <a:xfrm>
            <a:off x="463149" y="1660672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Destination MAC: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0" name="Google Shape;280;p34"/>
          <p:cNvSpPr txBox="1"/>
          <p:nvPr/>
        </p:nvSpPr>
        <p:spPr>
          <a:xfrm>
            <a:off x="463149" y="1267075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 MAC: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34"/>
          <p:cNvSpPr txBox="1"/>
          <p:nvPr/>
        </p:nvSpPr>
        <p:spPr>
          <a:xfrm>
            <a:off x="4815725" y="1292875"/>
            <a:ext cx="342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ARP 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requests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(aka 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solicitations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are broadcast.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34"/>
          <p:cNvSpPr/>
          <p:nvPr/>
        </p:nvSpPr>
        <p:spPr>
          <a:xfrm>
            <a:off x="2228738" y="2879875"/>
            <a:ext cx="1895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Alice's MAC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34"/>
          <p:cNvSpPr/>
          <p:nvPr/>
        </p:nvSpPr>
        <p:spPr>
          <a:xfrm>
            <a:off x="2228738" y="2486275"/>
            <a:ext cx="1895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Bob's MAC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34"/>
          <p:cNvSpPr txBox="1"/>
          <p:nvPr/>
        </p:nvSpPr>
        <p:spPr>
          <a:xfrm>
            <a:off x="463149" y="2879872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Destination MAC: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34"/>
          <p:cNvSpPr txBox="1"/>
          <p:nvPr/>
        </p:nvSpPr>
        <p:spPr>
          <a:xfrm>
            <a:off x="463149" y="2486275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 MAC: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34"/>
          <p:cNvSpPr txBox="1"/>
          <p:nvPr/>
        </p:nvSpPr>
        <p:spPr>
          <a:xfrm>
            <a:off x="4815725" y="2512075"/>
            <a:ext cx="398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ARP 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responses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(aka </a:t>
            </a:r>
            <a:r>
              <a:rPr i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advertisements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are unicast.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34"/>
          <p:cNvSpPr txBox="1"/>
          <p:nvPr>
            <p:ph idx="1" type="body"/>
          </p:nvPr>
        </p:nvSpPr>
        <p:spPr>
          <a:xfrm>
            <a:off x="107050" y="3755000"/>
            <a:ext cx="8909700" cy="10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Note: You can also broadcast an unsolicited response:</a:t>
            </a:r>
            <a:br>
              <a:rPr lang="en"/>
            </a:br>
            <a:r>
              <a:rPr lang="en"/>
              <a:t>"My IP is 1.2.3.4, and my MAC is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ca:fe:f0:0d:be:ef</a:t>
            </a:r>
            <a:r>
              <a:rPr lang="en"/>
              <a:t>...even though no one asked."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ARP in Routers</a:t>
            </a:r>
            <a:endParaRPr/>
          </a:p>
        </p:txBody>
      </p:sp>
      <p:sp>
        <p:nvSpPr>
          <p:cNvPr id="293" name="Google Shape;293;p35"/>
          <p:cNvSpPr/>
          <p:nvPr/>
        </p:nvSpPr>
        <p:spPr>
          <a:xfrm>
            <a:off x="1185825" y="1172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4" name="Google Shape;294;p35"/>
          <p:cNvCxnSpPr>
            <a:stCxn id="295" idx="7"/>
            <a:endCxn id="293" idx="2"/>
          </p:cNvCxnSpPr>
          <p:nvPr/>
        </p:nvCxnSpPr>
        <p:spPr>
          <a:xfrm flipH="1" rot="10800000">
            <a:off x="895675" y="1457062"/>
            <a:ext cx="432600" cy="29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35"/>
          <p:cNvSpPr/>
          <p:nvPr/>
        </p:nvSpPr>
        <p:spPr>
          <a:xfrm>
            <a:off x="652413" y="17054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35"/>
          <p:cNvSpPr/>
          <p:nvPr/>
        </p:nvSpPr>
        <p:spPr>
          <a:xfrm>
            <a:off x="1719213" y="17054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7" name="Google Shape;297;p35"/>
          <p:cNvCxnSpPr>
            <a:stCxn id="296" idx="1"/>
            <a:endCxn id="293" idx="2"/>
          </p:cNvCxnSpPr>
          <p:nvPr/>
        </p:nvCxnSpPr>
        <p:spPr>
          <a:xfrm rot="10800000">
            <a:off x="1328350" y="1457062"/>
            <a:ext cx="432600" cy="29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298" name="Google Shape;298;p35"/>
          <p:cNvGraphicFramePr/>
          <p:nvPr/>
        </p:nvGraphicFramePr>
        <p:xfrm>
          <a:off x="2779925" y="99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99050"/>
                <a:gridCol w="1338800"/>
              </a:tblGrid>
              <a:tr h="253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 (Conceptual)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 hMerge="1"/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299" name="Google Shape;299;p35"/>
          <p:cNvSpPr/>
          <p:nvPr/>
        </p:nvSpPr>
        <p:spPr>
          <a:xfrm>
            <a:off x="1185825" y="3458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0" name="Google Shape;300;p35"/>
          <p:cNvCxnSpPr>
            <a:stCxn id="301" idx="7"/>
            <a:endCxn id="299" idx="2"/>
          </p:cNvCxnSpPr>
          <p:nvPr/>
        </p:nvCxnSpPr>
        <p:spPr>
          <a:xfrm flipH="1" rot="10800000">
            <a:off x="895675" y="3743062"/>
            <a:ext cx="432600" cy="29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35"/>
          <p:cNvSpPr/>
          <p:nvPr/>
        </p:nvSpPr>
        <p:spPr>
          <a:xfrm>
            <a:off x="652413" y="39914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35"/>
          <p:cNvSpPr/>
          <p:nvPr/>
        </p:nvSpPr>
        <p:spPr>
          <a:xfrm>
            <a:off x="1719213" y="39914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3" name="Google Shape;303;p35"/>
          <p:cNvCxnSpPr>
            <a:stCxn id="302" idx="1"/>
            <a:endCxn id="299" idx="2"/>
          </p:cNvCxnSpPr>
          <p:nvPr/>
        </p:nvCxnSpPr>
        <p:spPr>
          <a:xfrm rot="10800000">
            <a:off x="1328350" y="3743062"/>
            <a:ext cx="432600" cy="29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04" name="Google Shape;304;p35"/>
          <p:cNvGraphicFramePr/>
          <p:nvPr/>
        </p:nvGraphicFramePr>
        <p:xfrm>
          <a:off x="2779925" y="327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99050"/>
                <a:gridCol w="1338800"/>
              </a:tblGrid>
              <a:tr h="253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 (Actual)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 hMerge="1"/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192.0.2.1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192.0.2.2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305" name="Google Shape;305;p35"/>
          <p:cNvSpPr txBox="1"/>
          <p:nvPr/>
        </p:nvSpPr>
        <p:spPr>
          <a:xfrm>
            <a:off x="6134050" y="1232650"/>
            <a:ext cx="240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routing, we showed direct routes like this.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35"/>
          <p:cNvSpPr txBox="1"/>
          <p:nvPr/>
        </p:nvSpPr>
        <p:spPr>
          <a:xfrm>
            <a:off x="6134050" y="3496400"/>
            <a:ext cx="263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reality, the table contains IP addresses...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35"/>
          <p:cNvSpPr txBox="1"/>
          <p:nvPr/>
        </p:nvSpPr>
        <p:spPr>
          <a:xfrm>
            <a:off x="834225" y="3196325"/>
            <a:ext cx="98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192.0.2.254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35"/>
          <p:cNvSpPr txBox="1"/>
          <p:nvPr/>
        </p:nvSpPr>
        <p:spPr>
          <a:xfrm>
            <a:off x="399975" y="4317300"/>
            <a:ext cx="78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35"/>
          <p:cNvSpPr txBox="1"/>
          <p:nvPr/>
        </p:nvSpPr>
        <p:spPr>
          <a:xfrm>
            <a:off x="1466775" y="4317300"/>
            <a:ext cx="78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0" name="Google Shape;310;p35"/>
          <p:cNvCxnSpPr/>
          <p:nvPr/>
        </p:nvCxnSpPr>
        <p:spPr>
          <a:xfrm>
            <a:off x="179025" y="2704825"/>
            <a:ext cx="883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Using ARP in Routers</a:t>
            </a:r>
            <a:endParaRPr/>
          </a:p>
        </p:txBody>
      </p:sp>
      <p:sp>
        <p:nvSpPr>
          <p:cNvPr id="316" name="Google Shape;316;p36"/>
          <p:cNvSpPr/>
          <p:nvPr/>
        </p:nvSpPr>
        <p:spPr>
          <a:xfrm>
            <a:off x="1185825" y="1172025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17" name="Google Shape;317;p36"/>
          <p:cNvCxnSpPr>
            <a:stCxn id="318" idx="7"/>
            <a:endCxn id="316" idx="2"/>
          </p:cNvCxnSpPr>
          <p:nvPr/>
        </p:nvCxnSpPr>
        <p:spPr>
          <a:xfrm flipH="1" rot="10800000">
            <a:off x="895675" y="1457062"/>
            <a:ext cx="432600" cy="29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8" name="Google Shape;318;p36"/>
          <p:cNvSpPr/>
          <p:nvPr/>
        </p:nvSpPr>
        <p:spPr>
          <a:xfrm>
            <a:off x="652413" y="17054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9" name="Google Shape;319;p36"/>
          <p:cNvSpPr/>
          <p:nvPr/>
        </p:nvSpPr>
        <p:spPr>
          <a:xfrm>
            <a:off x="1719213" y="170542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0" name="Google Shape;320;p36"/>
          <p:cNvCxnSpPr>
            <a:stCxn id="319" idx="1"/>
            <a:endCxn id="316" idx="2"/>
          </p:cNvCxnSpPr>
          <p:nvPr/>
        </p:nvCxnSpPr>
        <p:spPr>
          <a:xfrm rot="10800000">
            <a:off x="1328350" y="1457062"/>
            <a:ext cx="432600" cy="2901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21" name="Google Shape;321;p36"/>
          <p:cNvGraphicFramePr/>
          <p:nvPr/>
        </p:nvGraphicFramePr>
        <p:xfrm>
          <a:off x="2779925" y="99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99050"/>
                <a:gridCol w="1338800"/>
              </a:tblGrid>
              <a:tr h="253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 (Actual)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 hMerge="1"/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192.0.2.0/24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322" name="Google Shape;322;p36"/>
          <p:cNvSpPr txBox="1"/>
          <p:nvPr/>
        </p:nvSpPr>
        <p:spPr>
          <a:xfrm>
            <a:off x="6134050" y="1232650"/>
            <a:ext cx="240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...and addresses can be aggregated!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36"/>
          <p:cNvSpPr txBox="1"/>
          <p:nvPr/>
        </p:nvSpPr>
        <p:spPr>
          <a:xfrm>
            <a:off x="6134050" y="3267800"/>
            <a:ext cx="2637900" cy="14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if multiple hosts are on the same link?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ARP to send to correct MAC address.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36"/>
          <p:cNvSpPr txBox="1"/>
          <p:nvPr/>
        </p:nvSpPr>
        <p:spPr>
          <a:xfrm>
            <a:off x="834225" y="910325"/>
            <a:ext cx="98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192.0.2.254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36"/>
          <p:cNvSpPr txBox="1"/>
          <p:nvPr/>
        </p:nvSpPr>
        <p:spPr>
          <a:xfrm>
            <a:off x="399975" y="2031300"/>
            <a:ext cx="78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36"/>
          <p:cNvSpPr txBox="1"/>
          <p:nvPr/>
        </p:nvSpPr>
        <p:spPr>
          <a:xfrm>
            <a:off x="1466775" y="2031300"/>
            <a:ext cx="78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" name="Google Shape;327;p36"/>
          <p:cNvCxnSpPr/>
          <p:nvPr/>
        </p:nvCxnSpPr>
        <p:spPr>
          <a:xfrm rot="10800000">
            <a:off x="3473975" y="1953825"/>
            <a:ext cx="298200" cy="2982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8" name="Google Shape;328;p36"/>
          <p:cNvSpPr txBox="1"/>
          <p:nvPr/>
        </p:nvSpPr>
        <p:spPr>
          <a:xfrm>
            <a:off x="3197900" y="2252025"/>
            <a:ext cx="2601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Our 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subnet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The range of all IP addresses in our local network.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36"/>
          <p:cNvSpPr/>
          <p:nvPr/>
        </p:nvSpPr>
        <p:spPr>
          <a:xfrm>
            <a:off x="1185825" y="343043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0" name="Google Shape;330;p36"/>
          <p:cNvCxnSpPr/>
          <p:nvPr/>
        </p:nvCxnSpPr>
        <p:spPr>
          <a:xfrm>
            <a:off x="481725" y="4013750"/>
            <a:ext cx="169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" name="Google Shape;331;p36"/>
          <p:cNvSpPr/>
          <p:nvPr/>
        </p:nvSpPr>
        <p:spPr>
          <a:xfrm>
            <a:off x="652413" y="4304938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36"/>
          <p:cNvSpPr/>
          <p:nvPr/>
        </p:nvSpPr>
        <p:spPr>
          <a:xfrm>
            <a:off x="1719213" y="4304938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33" name="Google Shape;333;p36"/>
          <p:cNvCxnSpPr>
            <a:endCxn id="329" idx="2"/>
          </p:cNvCxnSpPr>
          <p:nvPr/>
        </p:nvCxnSpPr>
        <p:spPr>
          <a:xfrm rot="10800000">
            <a:off x="1328325" y="3715438"/>
            <a:ext cx="0" cy="303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36"/>
          <p:cNvCxnSpPr>
            <a:stCxn id="331" idx="0"/>
          </p:cNvCxnSpPr>
          <p:nvPr/>
        </p:nvCxnSpPr>
        <p:spPr>
          <a:xfrm rot="10800000">
            <a:off x="794913" y="4019338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36"/>
          <p:cNvCxnSpPr>
            <a:stCxn id="332" idx="0"/>
          </p:cNvCxnSpPr>
          <p:nvPr/>
        </p:nvCxnSpPr>
        <p:spPr>
          <a:xfrm rot="10800000">
            <a:off x="1861713" y="4019338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336" name="Google Shape;336;p36"/>
          <p:cNvGraphicFramePr/>
          <p:nvPr/>
        </p:nvGraphicFramePr>
        <p:xfrm>
          <a:off x="2779925" y="327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99050"/>
                <a:gridCol w="1338800"/>
              </a:tblGrid>
              <a:tr h="253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 (Actual)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 hMerge="1"/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192.0.2.0/24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cxnSp>
        <p:nvCxnSpPr>
          <p:cNvPr id="337" name="Google Shape;337;p36"/>
          <p:cNvCxnSpPr/>
          <p:nvPr/>
        </p:nvCxnSpPr>
        <p:spPr>
          <a:xfrm>
            <a:off x="179025" y="2933425"/>
            <a:ext cx="883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8" name="Google Shape;338;p36"/>
          <p:cNvSpPr txBox="1"/>
          <p:nvPr/>
        </p:nvSpPr>
        <p:spPr>
          <a:xfrm>
            <a:off x="834225" y="3196325"/>
            <a:ext cx="98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192.0.2.254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36"/>
          <p:cNvSpPr txBox="1"/>
          <p:nvPr/>
        </p:nvSpPr>
        <p:spPr>
          <a:xfrm>
            <a:off x="399975" y="4622100"/>
            <a:ext cx="78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36"/>
          <p:cNvSpPr txBox="1"/>
          <p:nvPr/>
        </p:nvSpPr>
        <p:spPr>
          <a:xfrm>
            <a:off x="1466775" y="4622100"/>
            <a:ext cx="78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Using ARP in Routers</a:t>
            </a:r>
            <a:endParaRPr/>
          </a:p>
        </p:txBody>
      </p:sp>
      <p:graphicFrame>
        <p:nvGraphicFramePr>
          <p:cNvPr id="346" name="Google Shape;346;p37"/>
          <p:cNvGraphicFramePr/>
          <p:nvPr/>
        </p:nvGraphicFramePr>
        <p:xfrm>
          <a:off x="2779925" y="327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99050"/>
                <a:gridCol w="1338800"/>
              </a:tblGrid>
              <a:tr h="253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Table (Actual)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 hMerge="1"/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192.0.2.0/24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347" name="Google Shape;347;p37"/>
          <p:cNvSpPr txBox="1"/>
          <p:nvPr>
            <p:ph idx="1" type="body"/>
          </p:nvPr>
        </p:nvSpPr>
        <p:spPr>
          <a:xfrm>
            <a:off x="107050" y="402200"/>
            <a:ext cx="8909700" cy="25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"Direct" really means: Send to the right Layer 2 address for the local destination.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 an ARP lookup (or look in our cached ARP table) to find the destination's MAC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Send unicast Ethernet frames to that MAC address.</a:t>
            </a:r>
            <a:endParaRPr/>
          </a:p>
        </p:txBody>
      </p:sp>
      <p:sp>
        <p:nvSpPr>
          <p:cNvPr id="348" name="Google Shape;348;p37"/>
          <p:cNvSpPr/>
          <p:nvPr/>
        </p:nvSpPr>
        <p:spPr>
          <a:xfrm>
            <a:off x="1185825" y="343043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9" name="Google Shape;349;p37"/>
          <p:cNvCxnSpPr/>
          <p:nvPr/>
        </p:nvCxnSpPr>
        <p:spPr>
          <a:xfrm>
            <a:off x="481725" y="4013750"/>
            <a:ext cx="169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37"/>
          <p:cNvSpPr/>
          <p:nvPr/>
        </p:nvSpPr>
        <p:spPr>
          <a:xfrm>
            <a:off x="652413" y="4304938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37"/>
          <p:cNvSpPr/>
          <p:nvPr/>
        </p:nvSpPr>
        <p:spPr>
          <a:xfrm>
            <a:off x="1719213" y="4304938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52" name="Google Shape;352;p37"/>
          <p:cNvCxnSpPr>
            <a:endCxn id="348" idx="2"/>
          </p:cNvCxnSpPr>
          <p:nvPr/>
        </p:nvCxnSpPr>
        <p:spPr>
          <a:xfrm rot="10800000">
            <a:off x="1328325" y="3715438"/>
            <a:ext cx="0" cy="303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7"/>
          <p:cNvCxnSpPr>
            <a:stCxn id="350" idx="0"/>
          </p:cNvCxnSpPr>
          <p:nvPr/>
        </p:nvCxnSpPr>
        <p:spPr>
          <a:xfrm rot="10800000">
            <a:off x="794913" y="4019338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7"/>
          <p:cNvCxnSpPr>
            <a:stCxn id="351" idx="0"/>
          </p:cNvCxnSpPr>
          <p:nvPr/>
        </p:nvCxnSpPr>
        <p:spPr>
          <a:xfrm rot="10800000">
            <a:off x="1861713" y="4019338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Using ARP in Hosts</a:t>
            </a:r>
            <a:endParaRPr/>
          </a:p>
        </p:txBody>
      </p:sp>
      <p:graphicFrame>
        <p:nvGraphicFramePr>
          <p:cNvPr id="360" name="Google Shape;360;p38"/>
          <p:cNvGraphicFramePr/>
          <p:nvPr/>
        </p:nvGraphicFramePr>
        <p:xfrm>
          <a:off x="3084725" y="327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99050"/>
                <a:gridCol w="1338800"/>
              </a:tblGrid>
              <a:tr h="253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A's Table (Actual)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 hMerge="1"/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Destination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 Hop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192.0.2.0/24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Direct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0.0.0.0/0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192.0.2.254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361" name="Google Shape;361;p38"/>
          <p:cNvSpPr txBox="1"/>
          <p:nvPr>
            <p:ph idx="1" type="body"/>
          </p:nvPr>
        </p:nvSpPr>
        <p:spPr>
          <a:xfrm>
            <a:off x="107050" y="402200"/>
            <a:ext cx="8909700" cy="21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do hosts forward packets?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destination IP is local: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 ARP to find MAC of destination. Send to destination.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destination IP is non-local: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 ARP to find MAC of router. Send to router.</a:t>
            </a:r>
            <a:endParaRPr/>
          </a:p>
        </p:txBody>
      </p:sp>
      <p:sp>
        <p:nvSpPr>
          <p:cNvPr id="362" name="Google Shape;362;p38"/>
          <p:cNvSpPr/>
          <p:nvPr/>
        </p:nvSpPr>
        <p:spPr>
          <a:xfrm>
            <a:off x="1490625" y="3430438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3" name="Google Shape;363;p38"/>
          <p:cNvCxnSpPr/>
          <p:nvPr/>
        </p:nvCxnSpPr>
        <p:spPr>
          <a:xfrm>
            <a:off x="786525" y="4013750"/>
            <a:ext cx="1693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38"/>
          <p:cNvSpPr/>
          <p:nvPr/>
        </p:nvSpPr>
        <p:spPr>
          <a:xfrm>
            <a:off x="957213" y="4304938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38"/>
          <p:cNvSpPr/>
          <p:nvPr/>
        </p:nvSpPr>
        <p:spPr>
          <a:xfrm>
            <a:off x="2024013" y="4304938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66" name="Google Shape;366;p38"/>
          <p:cNvCxnSpPr>
            <a:endCxn id="362" idx="2"/>
          </p:cNvCxnSpPr>
          <p:nvPr/>
        </p:nvCxnSpPr>
        <p:spPr>
          <a:xfrm rot="10800000">
            <a:off x="1633125" y="3715438"/>
            <a:ext cx="0" cy="303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38"/>
          <p:cNvCxnSpPr>
            <a:stCxn id="364" idx="0"/>
          </p:cNvCxnSpPr>
          <p:nvPr/>
        </p:nvCxnSpPr>
        <p:spPr>
          <a:xfrm rot="10800000">
            <a:off x="1099713" y="4019338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38"/>
          <p:cNvCxnSpPr>
            <a:stCxn id="365" idx="0"/>
          </p:cNvCxnSpPr>
          <p:nvPr/>
        </p:nvCxnSpPr>
        <p:spPr>
          <a:xfrm rot="10800000">
            <a:off x="2166513" y="4019338"/>
            <a:ext cx="0" cy="285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38"/>
          <p:cNvSpPr txBox="1"/>
          <p:nvPr/>
        </p:nvSpPr>
        <p:spPr>
          <a:xfrm>
            <a:off x="1139025" y="3196325"/>
            <a:ext cx="988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192.0.2.254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38"/>
          <p:cNvSpPr txBox="1"/>
          <p:nvPr/>
        </p:nvSpPr>
        <p:spPr>
          <a:xfrm>
            <a:off x="704775" y="4622100"/>
            <a:ext cx="78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192.0.2.1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38"/>
          <p:cNvSpPr txBox="1"/>
          <p:nvPr/>
        </p:nvSpPr>
        <p:spPr>
          <a:xfrm>
            <a:off x="1771575" y="4622100"/>
            <a:ext cx="78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192.0.2.2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" name="Google Shape;372;p38"/>
          <p:cNvCxnSpPr>
            <a:stCxn id="373" idx="1"/>
          </p:cNvCxnSpPr>
          <p:nvPr/>
        </p:nvCxnSpPr>
        <p:spPr>
          <a:xfrm rot="10800000">
            <a:off x="5715823" y="4051026"/>
            <a:ext cx="556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3" name="Google Shape;373;p38"/>
          <p:cNvSpPr txBox="1"/>
          <p:nvPr/>
        </p:nvSpPr>
        <p:spPr>
          <a:xfrm>
            <a:off x="6272623" y="3915576"/>
            <a:ext cx="2390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Local destinations are direct.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4" name="Google Shape;374;p38"/>
          <p:cNvCxnSpPr/>
          <p:nvPr/>
        </p:nvCxnSpPr>
        <p:spPr>
          <a:xfrm rot="10800000">
            <a:off x="5715823" y="4352265"/>
            <a:ext cx="5568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5" name="Google Shape;375;p38"/>
          <p:cNvSpPr txBox="1"/>
          <p:nvPr/>
        </p:nvSpPr>
        <p:spPr>
          <a:xfrm>
            <a:off x="6272623" y="4202845"/>
            <a:ext cx="2390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Non-local destinations get forwarded to router.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Using ARP in Hosts</a:t>
            </a:r>
            <a:endParaRPr/>
          </a:p>
        </p:txBody>
      </p:sp>
      <p:sp>
        <p:nvSpPr>
          <p:cNvPr id="381" name="Google Shape;381;p39"/>
          <p:cNvSpPr/>
          <p:nvPr/>
        </p:nvSpPr>
        <p:spPr>
          <a:xfrm>
            <a:off x="3675963" y="4318325"/>
            <a:ext cx="18951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39"/>
          <p:cNvSpPr/>
          <p:nvPr/>
        </p:nvSpPr>
        <p:spPr>
          <a:xfrm>
            <a:off x="3675963" y="3924725"/>
            <a:ext cx="1895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Server's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39"/>
          <p:cNvSpPr txBox="1"/>
          <p:nvPr>
            <p:ph idx="1" type="body"/>
          </p:nvPr>
        </p:nvSpPr>
        <p:spPr>
          <a:xfrm>
            <a:off x="107050" y="402200"/>
            <a:ext cx="8909700" cy="16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Notice: Each hop changes the Layer 2 destination, but not the Layer 3 destination.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Hosts and routers use ARP to find the MAC address of the next hop.</a:t>
            </a:r>
            <a:endParaRPr/>
          </a:p>
        </p:txBody>
      </p:sp>
      <p:sp>
        <p:nvSpPr>
          <p:cNvPr id="384" name="Google Shape;384;p39"/>
          <p:cNvSpPr/>
          <p:nvPr/>
        </p:nvSpPr>
        <p:spPr>
          <a:xfrm>
            <a:off x="3675963" y="3531125"/>
            <a:ext cx="1895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My 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39"/>
          <p:cNvSpPr/>
          <p:nvPr/>
        </p:nvSpPr>
        <p:spPr>
          <a:xfrm>
            <a:off x="3675963" y="3137525"/>
            <a:ext cx="1895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???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39"/>
          <p:cNvSpPr/>
          <p:nvPr/>
        </p:nvSpPr>
        <p:spPr>
          <a:xfrm>
            <a:off x="3675963" y="2743925"/>
            <a:ext cx="1895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My MAC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39"/>
          <p:cNvSpPr txBox="1"/>
          <p:nvPr/>
        </p:nvSpPr>
        <p:spPr>
          <a:xfrm>
            <a:off x="1910374" y="3916903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Destination IP: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39"/>
          <p:cNvSpPr txBox="1"/>
          <p:nvPr/>
        </p:nvSpPr>
        <p:spPr>
          <a:xfrm>
            <a:off x="1910374" y="3523306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 IP: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39"/>
          <p:cNvSpPr txBox="1"/>
          <p:nvPr/>
        </p:nvSpPr>
        <p:spPr>
          <a:xfrm>
            <a:off x="1910374" y="3137522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Destination MAC: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39"/>
          <p:cNvSpPr txBox="1"/>
          <p:nvPr/>
        </p:nvSpPr>
        <p:spPr>
          <a:xfrm>
            <a:off x="1910374" y="2743925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 MAC: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91" name="Google Shape;391;p39"/>
          <p:cNvCxnSpPr>
            <a:endCxn id="385" idx="3"/>
          </p:cNvCxnSpPr>
          <p:nvPr/>
        </p:nvCxnSpPr>
        <p:spPr>
          <a:xfrm rot="10800000">
            <a:off x="5571063" y="3334325"/>
            <a:ext cx="8049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2" name="Google Shape;392;p39"/>
          <p:cNvSpPr txBox="1"/>
          <p:nvPr/>
        </p:nvSpPr>
        <p:spPr>
          <a:xfrm>
            <a:off x="6375975" y="3134225"/>
            <a:ext cx="246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MAC of destination (if local), or router (if non-local). Learned from ARP.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0"/>
          <p:cNvSpPr/>
          <p:nvPr/>
        </p:nvSpPr>
        <p:spPr>
          <a:xfrm>
            <a:off x="5349350" y="2385625"/>
            <a:ext cx="2643300" cy="1721700"/>
          </a:xfrm>
          <a:prstGeom prst="roundRect">
            <a:avLst>
              <a:gd fmla="val 7230" name="adj"/>
            </a:avLst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40"/>
          <p:cNvSpPr/>
          <p:nvPr/>
        </p:nvSpPr>
        <p:spPr>
          <a:xfrm>
            <a:off x="5665050" y="249436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40"/>
          <p:cNvSpPr/>
          <p:nvPr/>
        </p:nvSpPr>
        <p:spPr>
          <a:xfrm>
            <a:off x="929750" y="2385625"/>
            <a:ext cx="2643300" cy="1721700"/>
          </a:xfrm>
          <a:prstGeom prst="roundRect">
            <a:avLst>
              <a:gd fmla="val 7230" name="adj"/>
            </a:avLst>
          </a:prstGeom>
          <a:noFill/>
          <a:ln cap="flat" cmpd="sng" w="19050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4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Neighbor Discovery in IPv6</a:t>
            </a:r>
            <a:endParaRPr/>
          </a:p>
        </p:txBody>
      </p:sp>
      <p:sp>
        <p:nvSpPr>
          <p:cNvPr id="401" name="Google Shape;401;p40"/>
          <p:cNvSpPr txBox="1"/>
          <p:nvPr>
            <p:ph idx="1" type="body"/>
          </p:nvPr>
        </p:nvSpPr>
        <p:spPr>
          <a:xfrm>
            <a:off x="107050" y="402200"/>
            <a:ext cx="8909700" cy="13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ARP translates IPv4 to MAC. </a:t>
            </a:r>
            <a:r>
              <a:rPr b="1" lang="en"/>
              <a:t>Neighbor discovery</a:t>
            </a:r>
            <a:r>
              <a:rPr lang="en"/>
              <a:t> translates IPv6 to MAC.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broadcasting requests, </a:t>
            </a:r>
            <a:r>
              <a:rPr i="1" lang="en"/>
              <a:t>multicast</a:t>
            </a:r>
            <a:r>
              <a:rPr lang="en"/>
              <a:t> request to the group that Bob is in.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 joins a group based on their IPv6 address.</a:t>
            </a:r>
            <a:endParaRPr/>
          </a:p>
        </p:txBody>
      </p:sp>
      <p:sp>
        <p:nvSpPr>
          <p:cNvPr id="402" name="Google Shape;402;p40"/>
          <p:cNvSpPr/>
          <p:nvPr/>
        </p:nvSpPr>
        <p:spPr>
          <a:xfrm>
            <a:off x="2972515" y="310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40"/>
          <p:cNvSpPr/>
          <p:nvPr/>
        </p:nvSpPr>
        <p:spPr>
          <a:xfrm>
            <a:off x="2972515" y="249436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40"/>
          <p:cNvSpPr/>
          <p:nvPr/>
        </p:nvSpPr>
        <p:spPr>
          <a:xfrm>
            <a:off x="5665050" y="310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Y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40"/>
          <p:cNvSpPr txBox="1"/>
          <p:nvPr/>
        </p:nvSpPr>
        <p:spPr>
          <a:xfrm>
            <a:off x="5950050" y="2529175"/>
            <a:ext cx="19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2001:0DB8::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92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12:3456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40"/>
          <p:cNvSpPr/>
          <p:nvPr/>
        </p:nvSpPr>
        <p:spPr>
          <a:xfrm>
            <a:off x="2972515" y="371356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40"/>
          <p:cNvSpPr/>
          <p:nvPr/>
        </p:nvSpPr>
        <p:spPr>
          <a:xfrm>
            <a:off x="5665050" y="3713563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40"/>
          <p:cNvSpPr txBox="1"/>
          <p:nvPr/>
        </p:nvSpPr>
        <p:spPr>
          <a:xfrm>
            <a:off x="5950050" y="3138775"/>
            <a:ext cx="19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2001:0DB8::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75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12:3456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9" name="Google Shape;409;p40"/>
          <p:cNvSpPr txBox="1"/>
          <p:nvPr/>
        </p:nvSpPr>
        <p:spPr>
          <a:xfrm>
            <a:off x="5950050" y="3748375"/>
            <a:ext cx="19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2001:0DB8::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83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12:3456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40"/>
          <p:cNvSpPr txBox="1"/>
          <p:nvPr/>
        </p:nvSpPr>
        <p:spPr>
          <a:xfrm>
            <a:off x="997050" y="2529175"/>
            <a:ext cx="19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2001:0DB8::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10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78:90AB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40"/>
          <p:cNvSpPr txBox="1"/>
          <p:nvPr/>
        </p:nvSpPr>
        <p:spPr>
          <a:xfrm>
            <a:off x="997050" y="3138775"/>
            <a:ext cx="19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2001:0DB8::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04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78:90AB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40"/>
          <p:cNvSpPr txBox="1"/>
          <p:nvPr/>
        </p:nvSpPr>
        <p:spPr>
          <a:xfrm>
            <a:off x="997050" y="3748375"/>
            <a:ext cx="1952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2001:0DB8::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2A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78:90AB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40"/>
          <p:cNvSpPr txBox="1"/>
          <p:nvPr/>
        </p:nvSpPr>
        <p:spPr>
          <a:xfrm>
            <a:off x="353750" y="1770025"/>
            <a:ext cx="379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Everyone with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IP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ending in 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78:90AB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listens on multicast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MAC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address 33:33:FF:</a:t>
            </a: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78:90:AB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40"/>
          <p:cNvSpPr txBox="1"/>
          <p:nvPr/>
        </p:nvSpPr>
        <p:spPr>
          <a:xfrm>
            <a:off x="4773350" y="1770025"/>
            <a:ext cx="3795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Everyone with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IP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ending in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12:3456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listens on multicast 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MAC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address 33:33:FF: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12:34:56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40"/>
          <p:cNvSpPr txBox="1"/>
          <p:nvPr/>
        </p:nvSpPr>
        <p:spPr>
          <a:xfrm>
            <a:off x="3808925" y="4323175"/>
            <a:ext cx="468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If A wants the MAC matching IP </a:t>
            </a:r>
            <a:r>
              <a:rPr lang="en">
                <a:solidFill>
                  <a:srgbClr val="B7B7B7"/>
                </a:solidFill>
                <a:latin typeface="Roboto"/>
                <a:ea typeface="Roboto"/>
                <a:cs typeface="Roboto"/>
                <a:sym typeface="Roboto"/>
              </a:rPr>
              <a:t>2001:0DB8::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92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12:3456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, A multicasts to only the 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12:3456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group.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16" name="Google Shape;416;p40"/>
          <p:cNvCxnSpPr>
            <a:stCxn id="417" idx="6"/>
            <a:endCxn id="398" idx="2"/>
          </p:cNvCxnSpPr>
          <p:nvPr/>
        </p:nvCxnSpPr>
        <p:spPr>
          <a:xfrm flipH="1" rot="10800000">
            <a:off x="4578450" y="2636875"/>
            <a:ext cx="1086600" cy="609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p40"/>
          <p:cNvCxnSpPr>
            <a:stCxn id="417" idx="6"/>
            <a:endCxn id="404" idx="2"/>
          </p:cNvCxnSpPr>
          <p:nvPr/>
        </p:nvCxnSpPr>
        <p:spPr>
          <a:xfrm>
            <a:off x="4578450" y="3246475"/>
            <a:ext cx="10866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9" name="Google Shape;419;p40"/>
          <p:cNvCxnSpPr>
            <a:stCxn id="417" idx="6"/>
            <a:endCxn id="407" idx="2"/>
          </p:cNvCxnSpPr>
          <p:nvPr/>
        </p:nvCxnSpPr>
        <p:spPr>
          <a:xfrm>
            <a:off x="4578450" y="3246475"/>
            <a:ext cx="1086600" cy="6096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17" name="Google Shape;417;p40"/>
          <p:cNvSpPr/>
          <p:nvPr/>
        </p:nvSpPr>
        <p:spPr>
          <a:xfrm>
            <a:off x="4293450" y="310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1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ARP: Connecting Layers 2 and 3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DHCP: Joining a New Network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NAT: Network Address Translation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Basic NAT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NAT with Ports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Rewriting Ports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NAT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TLS: Secure Bytestreams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End-to-End Walkthrough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425" name="Google Shape;425;p4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DHCP: Joining a New Network</a:t>
            </a:r>
            <a:endParaRPr/>
          </a:p>
        </p:txBody>
      </p:sp>
      <p:sp>
        <p:nvSpPr>
          <p:cNvPr id="426" name="Google Shape;426;p4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17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Joining a New Network</a:t>
            </a:r>
            <a:endParaRPr/>
          </a:p>
        </p:txBody>
      </p:sp>
      <p:sp>
        <p:nvSpPr>
          <p:cNvPr id="432" name="Google Shape;432;p4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we connect to a new Ethernet network, we need to learn:</a:t>
            </a:r>
            <a:endParaRPr b="1"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Subnet mask</a:t>
            </a:r>
            <a:r>
              <a:rPr lang="en"/>
              <a:t>: What range of addresses are local?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Default gateway</a:t>
            </a:r>
            <a:r>
              <a:rPr lang="en"/>
              <a:t>: Where is the router? So I can send non-local packets to them.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DNS server</a:t>
            </a:r>
            <a:r>
              <a:rPr lang="en"/>
              <a:t>: Where is the recursive resolver?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also need to get an </a:t>
            </a:r>
            <a:r>
              <a:rPr b="1" lang="en"/>
              <a:t>IP address</a:t>
            </a:r>
            <a:r>
              <a:rPr lang="en"/>
              <a:t> that we can use for this network.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Note: We already have a MAC address (burnt into hardware).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could configure this information manually.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Need to reconfigure every time we join a different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want an automatic protocol to learn this information.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Note: Manual configuration is okay for routers, which rarely move.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DHCP (Dynamic Host Configuration Protocol) – Steps</a:t>
            </a:r>
            <a:endParaRPr/>
          </a:p>
        </p:txBody>
      </p:sp>
      <p:sp>
        <p:nvSpPr>
          <p:cNvPr id="438" name="Google Shape;438;p4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Client Discover</a:t>
            </a:r>
            <a:r>
              <a:rPr lang="en"/>
              <a:t>: The client broadcasts a request for a configuration.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DHCP Offer</a:t>
            </a:r>
            <a:r>
              <a:rPr lang="en"/>
              <a:t>: One or more DHCP servers respond with a configuration offer.</a:t>
            </a:r>
            <a:br>
              <a:rPr lang="en"/>
            </a:br>
            <a:r>
              <a:rPr lang="en"/>
              <a:t>Offer includes subnet mask, router's IP address, DNS resolver, and IP for client.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Client Request</a:t>
            </a:r>
            <a:r>
              <a:rPr lang="en"/>
              <a:t>: The client broadcasts which configuration it has chosen.</a:t>
            </a:r>
            <a:br>
              <a:rPr lang="en"/>
            </a:br>
            <a:r>
              <a:rPr lang="en"/>
              <a:t>If multiple DHCP servers made offers, the ones that were not chosen discard their offer.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DHCP Acknowledgement</a:t>
            </a:r>
            <a:r>
              <a:rPr lang="en"/>
              <a:t>: The chosen server confirms that its configuration has been given to the client.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DHCP (Dynamic Host Configuration Protocol) – Step 1/4</a:t>
            </a:r>
            <a:endParaRPr/>
          </a:p>
        </p:txBody>
      </p:sp>
      <p:sp>
        <p:nvSpPr>
          <p:cNvPr id="444" name="Google Shape;444;p44"/>
          <p:cNvSpPr/>
          <p:nvPr/>
        </p:nvSpPr>
        <p:spPr>
          <a:xfrm>
            <a:off x="5284050" y="35430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44"/>
          <p:cNvSpPr/>
          <p:nvPr/>
        </p:nvSpPr>
        <p:spPr>
          <a:xfrm>
            <a:off x="5284050" y="2933400"/>
            <a:ext cx="14103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DHCP Server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44"/>
          <p:cNvSpPr txBox="1"/>
          <p:nvPr>
            <p:ph idx="1" type="body"/>
          </p:nvPr>
        </p:nvSpPr>
        <p:spPr>
          <a:xfrm>
            <a:off x="107050" y="402200"/>
            <a:ext cx="89097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Alice wants to join the network.</a:t>
            </a:r>
            <a:endParaRPr/>
          </a:p>
        </p:txBody>
      </p:sp>
      <p:sp>
        <p:nvSpPr>
          <p:cNvPr id="447" name="Google Shape;447;p44"/>
          <p:cNvSpPr/>
          <p:nvPr/>
        </p:nvSpPr>
        <p:spPr>
          <a:xfrm>
            <a:off x="5284050" y="1409388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48" name="Google Shape;448;p44"/>
          <p:cNvGraphicFramePr/>
          <p:nvPr/>
        </p:nvGraphicFramePr>
        <p:xfrm>
          <a:off x="303125" y="2161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337275"/>
                <a:gridCol w="1518200"/>
              </a:tblGrid>
              <a:tr h="253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Alice's configuration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 hMerge="1"/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Subnet mask: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???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Router IP: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???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DNS Resolver: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???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My IP: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???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449" name="Google Shape;449;p44"/>
          <p:cNvSpPr/>
          <p:nvPr/>
        </p:nvSpPr>
        <p:spPr>
          <a:xfrm>
            <a:off x="5284050" y="2019000"/>
            <a:ext cx="14103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DHCP Server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0" name="Google Shape;450;p44"/>
          <p:cNvCxnSpPr>
            <a:stCxn id="451" idx="6"/>
            <a:endCxn id="447" idx="2"/>
          </p:cNvCxnSpPr>
          <p:nvPr/>
        </p:nvCxnSpPr>
        <p:spPr>
          <a:xfrm flipH="1" rot="10800000">
            <a:off x="3892650" y="1551900"/>
            <a:ext cx="1391400" cy="1066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2" name="Google Shape;452;p44"/>
          <p:cNvCxnSpPr>
            <a:stCxn id="451" idx="6"/>
            <a:endCxn id="449" idx="1"/>
          </p:cNvCxnSpPr>
          <p:nvPr/>
        </p:nvCxnSpPr>
        <p:spPr>
          <a:xfrm flipH="1" rot="10800000">
            <a:off x="3892650" y="2161500"/>
            <a:ext cx="1391400" cy="457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3" name="Google Shape;453;p44"/>
          <p:cNvCxnSpPr>
            <a:stCxn id="451" idx="6"/>
            <a:endCxn id="445" idx="1"/>
          </p:cNvCxnSpPr>
          <p:nvPr/>
        </p:nvCxnSpPr>
        <p:spPr>
          <a:xfrm>
            <a:off x="3892650" y="2618700"/>
            <a:ext cx="1391400" cy="457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4" name="Google Shape;454;p44"/>
          <p:cNvCxnSpPr>
            <a:stCxn id="451" idx="6"/>
            <a:endCxn id="444" idx="2"/>
          </p:cNvCxnSpPr>
          <p:nvPr/>
        </p:nvCxnSpPr>
        <p:spPr>
          <a:xfrm>
            <a:off x="3892650" y="2618700"/>
            <a:ext cx="1391400" cy="1066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1" name="Google Shape;451;p44"/>
          <p:cNvSpPr/>
          <p:nvPr/>
        </p:nvSpPr>
        <p:spPr>
          <a:xfrm>
            <a:off x="3607650" y="24762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44"/>
          <p:cNvSpPr txBox="1"/>
          <p:nvPr/>
        </p:nvSpPr>
        <p:spPr>
          <a:xfrm>
            <a:off x="3607650" y="4152600"/>
            <a:ext cx="393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Client discover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Alice broadcasts a request: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"Can anyone give me a configuration?"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DHCP (Dynamic Host Configuration Protocol) – Step 2/4</a:t>
            </a:r>
            <a:endParaRPr/>
          </a:p>
        </p:txBody>
      </p:sp>
      <p:sp>
        <p:nvSpPr>
          <p:cNvPr id="461" name="Google Shape;461;p45"/>
          <p:cNvSpPr/>
          <p:nvPr/>
        </p:nvSpPr>
        <p:spPr>
          <a:xfrm>
            <a:off x="5284050" y="35430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45"/>
          <p:cNvSpPr/>
          <p:nvPr/>
        </p:nvSpPr>
        <p:spPr>
          <a:xfrm>
            <a:off x="5284050" y="2933400"/>
            <a:ext cx="14103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DHCP Server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45"/>
          <p:cNvSpPr txBox="1"/>
          <p:nvPr>
            <p:ph idx="1" type="body"/>
          </p:nvPr>
        </p:nvSpPr>
        <p:spPr>
          <a:xfrm>
            <a:off x="107050" y="402200"/>
            <a:ext cx="89097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Alice wants to join the network.</a:t>
            </a:r>
            <a:endParaRPr/>
          </a:p>
        </p:txBody>
      </p:sp>
      <p:sp>
        <p:nvSpPr>
          <p:cNvPr id="464" name="Google Shape;464;p45"/>
          <p:cNvSpPr/>
          <p:nvPr/>
        </p:nvSpPr>
        <p:spPr>
          <a:xfrm>
            <a:off x="5284050" y="1409388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65" name="Google Shape;465;p45"/>
          <p:cNvGraphicFramePr/>
          <p:nvPr/>
        </p:nvGraphicFramePr>
        <p:xfrm>
          <a:off x="303125" y="2161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337275"/>
                <a:gridCol w="1518200"/>
              </a:tblGrid>
              <a:tr h="253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Alice's configuration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 hMerge="1"/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Subnet mask: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???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Router IP: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???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DNS Resolver: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???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My IP: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???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466" name="Google Shape;466;p45"/>
          <p:cNvSpPr/>
          <p:nvPr/>
        </p:nvSpPr>
        <p:spPr>
          <a:xfrm>
            <a:off x="5284050" y="2019000"/>
            <a:ext cx="14103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DHCP Server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7" name="Google Shape;467;p45"/>
          <p:cNvCxnSpPr>
            <a:endCxn id="466" idx="1"/>
          </p:cNvCxnSpPr>
          <p:nvPr/>
        </p:nvCxnSpPr>
        <p:spPr>
          <a:xfrm flipH="1" rot="10800000">
            <a:off x="3910350" y="2161500"/>
            <a:ext cx="1373700" cy="4233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468" name="Google Shape;468;p45"/>
          <p:cNvCxnSpPr>
            <a:endCxn id="462" idx="1"/>
          </p:cNvCxnSpPr>
          <p:nvPr/>
        </p:nvCxnSpPr>
        <p:spPr>
          <a:xfrm>
            <a:off x="3909150" y="2639400"/>
            <a:ext cx="1374900" cy="436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69" name="Google Shape;469;p45"/>
          <p:cNvSpPr/>
          <p:nvPr/>
        </p:nvSpPr>
        <p:spPr>
          <a:xfrm>
            <a:off x="3607650" y="24762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45"/>
          <p:cNvSpPr txBox="1"/>
          <p:nvPr/>
        </p:nvSpPr>
        <p:spPr>
          <a:xfrm>
            <a:off x="3607650" y="4152600"/>
            <a:ext cx="328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DHCP Offer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One or more DHCP servers reply with an offer for Alice.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DHCP (Dynamic Host Configuration Protocol) – Step 3/4</a:t>
            </a:r>
            <a:endParaRPr/>
          </a:p>
        </p:txBody>
      </p:sp>
      <p:sp>
        <p:nvSpPr>
          <p:cNvPr id="476" name="Google Shape;476;p46"/>
          <p:cNvSpPr/>
          <p:nvPr/>
        </p:nvSpPr>
        <p:spPr>
          <a:xfrm>
            <a:off x="5284050" y="35430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46"/>
          <p:cNvSpPr/>
          <p:nvPr/>
        </p:nvSpPr>
        <p:spPr>
          <a:xfrm>
            <a:off x="5284050" y="2933400"/>
            <a:ext cx="14103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DHCP Server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8" name="Google Shape;478;p46"/>
          <p:cNvSpPr txBox="1"/>
          <p:nvPr>
            <p:ph idx="1" type="body"/>
          </p:nvPr>
        </p:nvSpPr>
        <p:spPr>
          <a:xfrm>
            <a:off x="107050" y="402200"/>
            <a:ext cx="89097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Alice wants to join the network.</a:t>
            </a:r>
            <a:endParaRPr/>
          </a:p>
        </p:txBody>
      </p:sp>
      <p:sp>
        <p:nvSpPr>
          <p:cNvPr id="479" name="Google Shape;479;p46"/>
          <p:cNvSpPr/>
          <p:nvPr/>
        </p:nvSpPr>
        <p:spPr>
          <a:xfrm>
            <a:off x="5284050" y="1409388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80" name="Google Shape;480;p46"/>
          <p:cNvGraphicFramePr/>
          <p:nvPr/>
        </p:nvGraphicFramePr>
        <p:xfrm>
          <a:off x="303125" y="2161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337275"/>
                <a:gridCol w="1518200"/>
              </a:tblGrid>
              <a:tr h="253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Alice's configuration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 hMerge="1"/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Subnet mask: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???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Router IP: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???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DNS Resolver: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???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My IP: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???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481" name="Google Shape;481;p46"/>
          <p:cNvSpPr/>
          <p:nvPr/>
        </p:nvSpPr>
        <p:spPr>
          <a:xfrm>
            <a:off x="5284050" y="2019000"/>
            <a:ext cx="14103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DHCP Server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2" name="Google Shape;482;p46"/>
          <p:cNvCxnSpPr>
            <a:stCxn id="483" idx="6"/>
            <a:endCxn id="479" idx="2"/>
          </p:cNvCxnSpPr>
          <p:nvPr/>
        </p:nvCxnSpPr>
        <p:spPr>
          <a:xfrm flipH="1" rot="10800000">
            <a:off x="3892650" y="1551900"/>
            <a:ext cx="1391400" cy="1066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4" name="Google Shape;484;p46"/>
          <p:cNvCxnSpPr>
            <a:stCxn id="483" idx="6"/>
            <a:endCxn id="481" idx="1"/>
          </p:cNvCxnSpPr>
          <p:nvPr/>
        </p:nvCxnSpPr>
        <p:spPr>
          <a:xfrm flipH="1" rot="10800000">
            <a:off x="3892650" y="2161500"/>
            <a:ext cx="1391400" cy="457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5" name="Google Shape;485;p46"/>
          <p:cNvCxnSpPr>
            <a:stCxn id="483" idx="6"/>
            <a:endCxn id="477" idx="1"/>
          </p:cNvCxnSpPr>
          <p:nvPr/>
        </p:nvCxnSpPr>
        <p:spPr>
          <a:xfrm>
            <a:off x="3892650" y="2618700"/>
            <a:ext cx="1391400" cy="457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86" name="Google Shape;486;p46"/>
          <p:cNvCxnSpPr>
            <a:stCxn id="483" idx="6"/>
            <a:endCxn id="476" idx="2"/>
          </p:cNvCxnSpPr>
          <p:nvPr/>
        </p:nvCxnSpPr>
        <p:spPr>
          <a:xfrm>
            <a:off x="3892650" y="2618700"/>
            <a:ext cx="1391400" cy="1066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3" name="Google Shape;483;p46"/>
          <p:cNvSpPr/>
          <p:nvPr/>
        </p:nvSpPr>
        <p:spPr>
          <a:xfrm>
            <a:off x="3607650" y="24762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46"/>
          <p:cNvSpPr txBox="1"/>
          <p:nvPr/>
        </p:nvSpPr>
        <p:spPr>
          <a:xfrm>
            <a:off x="3607650" y="4152600"/>
            <a:ext cx="496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3. 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Client Request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Alice broadcasts which offer she chose: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"I'll use the offer from DHCP Server 1."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DHCP (Dynamic Host Configuration Protocol) – Step 4/4</a:t>
            </a:r>
            <a:endParaRPr/>
          </a:p>
        </p:txBody>
      </p:sp>
      <p:sp>
        <p:nvSpPr>
          <p:cNvPr id="493" name="Google Shape;493;p47"/>
          <p:cNvSpPr/>
          <p:nvPr/>
        </p:nvSpPr>
        <p:spPr>
          <a:xfrm>
            <a:off x="5284050" y="35430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47"/>
          <p:cNvSpPr/>
          <p:nvPr/>
        </p:nvSpPr>
        <p:spPr>
          <a:xfrm>
            <a:off x="5284050" y="2933400"/>
            <a:ext cx="14103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DHCP Server 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5" name="Google Shape;495;p47"/>
          <p:cNvSpPr txBox="1"/>
          <p:nvPr>
            <p:ph idx="1" type="body"/>
          </p:nvPr>
        </p:nvSpPr>
        <p:spPr>
          <a:xfrm>
            <a:off x="107050" y="402200"/>
            <a:ext cx="89097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Alice wants to join the network.</a:t>
            </a:r>
            <a:endParaRPr/>
          </a:p>
        </p:txBody>
      </p:sp>
      <p:sp>
        <p:nvSpPr>
          <p:cNvPr id="496" name="Google Shape;496;p47"/>
          <p:cNvSpPr/>
          <p:nvPr/>
        </p:nvSpPr>
        <p:spPr>
          <a:xfrm>
            <a:off x="5284050" y="1409388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97" name="Google Shape;497;p47"/>
          <p:cNvGraphicFramePr/>
          <p:nvPr/>
        </p:nvGraphicFramePr>
        <p:xfrm>
          <a:off x="303125" y="2161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337275"/>
                <a:gridCol w="1518200"/>
              </a:tblGrid>
              <a:tr h="253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Alice's configuration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 hMerge="1"/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Subnet mask: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/24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Router IP: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192.168.86.254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DNS Resolver: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8.8.8.8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  <a:tr h="253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My IP: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192.168.86.38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498" name="Google Shape;498;p47"/>
          <p:cNvSpPr/>
          <p:nvPr/>
        </p:nvSpPr>
        <p:spPr>
          <a:xfrm>
            <a:off x="5284050" y="2019000"/>
            <a:ext cx="14103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DHCP Server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99" name="Google Shape;499;p47"/>
          <p:cNvCxnSpPr>
            <a:stCxn id="500" idx="6"/>
            <a:endCxn id="498" idx="1"/>
          </p:cNvCxnSpPr>
          <p:nvPr/>
        </p:nvCxnSpPr>
        <p:spPr>
          <a:xfrm flipH="1" rot="10800000">
            <a:off x="3892650" y="2161500"/>
            <a:ext cx="1391400" cy="457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00" name="Google Shape;500;p47"/>
          <p:cNvSpPr/>
          <p:nvPr/>
        </p:nvSpPr>
        <p:spPr>
          <a:xfrm>
            <a:off x="3607650" y="247620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3607650" y="4152600"/>
            <a:ext cx="496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4. </a:t>
            </a:r>
            <a:r>
              <a:rPr b="1"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DHCP Acknowledgment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: The chosen DHCP server confirms that the configuration has been set for Alice.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DHCP Servers</a:t>
            </a:r>
            <a:endParaRPr/>
          </a:p>
        </p:txBody>
      </p:sp>
      <p:sp>
        <p:nvSpPr>
          <p:cNvPr id="507" name="Google Shape;507;p4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DHCP servers offer configurations to new hosts.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Listen on UDP port 67 for requests.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DHCP servers are configured with required information: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Subnet mask, gateway router IP address, DNS resolver IP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i="1" lang="en"/>
              <a:t>pool</a:t>
            </a:r>
            <a:r>
              <a:rPr lang="en"/>
              <a:t> of usable IP addresses.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DHCP is extensible to provide other information.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Where are the DHCP servers?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small network: Your home router.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larger network: Could be a separate machine.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Must be in same local network as the clients.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 larger networks, router could relay requests to a remote DHCP server.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Leasing IP Addresses</a:t>
            </a:r>
            <a:endParaRPr/>
          </a:p>
        </p:txBody>
      </p:sp>
      <p:sp>
        <p:nvSpPr>
          <p:cNvPr id="513" name="Google Shape;513;p4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DHCP servers temporarily </a:t>
            </a:r>
            <a:r>
              <a:rPr i="1" lang="en"/>
              <a:t>lease</a:t>
            </a:r>
            <a:r>
              <a:rPr lang="en"/>
              <a:t> IP addresses to hosts.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 can only use that IP address for a limited time (hours or days).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 must renew the lease to keep using the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Servers don't offer the same address to other clients if leased.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Avoids two hosts getting the same address.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DHCP Implementation</a:t>
            </a:r>
            <a:endParaRPr/>
          </a:p>
        </p:txBody>
      </p:sp>
      <p:sp>
        <p:nvSpPr>
          <p:cNvPr id="519" name="Google Shape;519;p50"/>
          <p:cNvSpPr txBox="1"/>
          <p:nvPr>
            <p:ph idx="1" type="body"/>
          </p:nvPr>
        </p:nvSpPr>
        <p:spPr>
          <a:xfrm>
            <a:off x="107050" y="402200"/>
            <a:ext cx="8909700" cy="5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DHCP is a Layer 7 protocol, running on top of UDP/IP.</a:t>
            </a:r>
            <a:endParaRPr/>
          </a:p>
        </p:txBody>
      </p:sp>
      <p:sp>
        <p:nvSpPr>
          <p:cNvPr id="520" name="Google Shape;520;p50"/>
          <p:cNvSpPr/>
          <p:nvPr/>
        </p:nvSpPr>
        <p:spPr>
          <a:xfrm>
            <a:off x="2504138" y="3890850"/>
            <a:ext cx="18951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Payload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(Client Discover)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50"/>
          <p:cNvSpPr/>
          <p:nvPr/>
        </p:nvSpPr>
        <p:spPr>
          <a:xfrm>
            <a:off x="2504138" y="3497250"/>
            <a:ext cx="18951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67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2" name="Google Shape;522;p50"/>
          <p:cNvSpPr/>
          <p:nvPr/>
        </p:nvSpPr>
        <p:spPr>
          <a:xfrm>
            <a:off x="2504138" y="3103650"/>
            <a:ext cx="18951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50239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50"/>
          <p:cNvSpPr/>
          <p:nvPr/>
        </p:nvSpPr>
        <p:spPr>
          <a:xfrm>
            <a:off x="2504138" y="2710050"/>
            <a:ext cx="1895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255.255.255.255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50"/>
          <p:cNvSpPr/>
          <p:nvPr/>
        </p:nvSpPr>
        <p:spPr>
          <a:xfrm>
            <a:off x="2504138" y="2316450"/>
            <a:ext cx="1895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0.0.0.0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738549" y="3489428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Destination Port: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50"/>
          <p:cNvSpPr txBox="1"/>
          <p:nvPr/>
        </p:nvSpPr>
        <p:spPr>
          <a:xfrm>
            <a:off x="738549" y="3095831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 Port: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50"/>
          <p:cNvSpPr txBox="1"/>
          <p:nvPr/>
        </p:nvSpPr>
        <p:spPr>
          <a:xfrm>
            <a:off x="738549" y="2710047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Destination IP: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50"/>
          <p:cNvSpPr txBox="1"/>
          <p:nvPr/>
        </p:nvSpPr>
        <p:spPr>
          <a:xfrm>
            <a:off x="738549" y="2316450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 IP: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29" name="Google Shape;529;p50"/>
          <p:cNvCxnSpPr>
            <a:endCxn id="523" idx="3"/>
          </p:cNvCxnSpPr>
          <p:nvPr/>
        </p:nvCxnSpPr>
        <p:spPr>
          <a:xfrm rot="10800000">
            <a:off x="4399238" y="2906850"/>
            <a:ext cx="8049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0" name="Google Shape;530;p50"/>
          <p:cNvSpPr txBox="1"/>
          <p:nvPr/>
        </p:nvSpPr>
        <p:spPr>
          <a:xfrm>
            <a:off x="5204150" y="2706750"/>
            <a:ext cx="23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IPv4 broadcast address.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1" name="Google Shape;531;p50"/>
          <p:cNvCxnSpPr/>
          <p:nvPr/>
        </p:nvCxnSpPr>
        <p:spPr>
          <a:xfrm rot="10800000">
            <a:off x="4399238" y="3287850"/>
            <a:ext cx="804900" cy="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2" name="Google Shape;532;p50"/>
          <p:cNvSpPr txBox="1"/>
          <p:nvPr/>
        </p:nvSpPr>
        <p:spPr>
          <a:xfrm>
            <a:off x="5204150" y="3087750"/>
            <a:ext cx="278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Client picks random source port.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50"/>
          <p:cNvSpPr/>
          <p:nvPr/>
        </p:nvSpPr>
        <p:spPr>
          <a:xfrm>
            <a:off x="2504138" y="1923113"/>
            <a:ext cx="1895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FF:FF:FF:FF:FF:FF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4" name="Google Shape;534;p50"/>
          <p:cNvSpPr/>
          <p:nvPr/>
        </p:nvSpPr>
        <p:spPr>
          <a:xfrm>
            <a:off x="2504138" y="1529513"/>
            <a:ext cx="1895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My MAC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50"/>
          <p:cNvSpPr txBox="1"/>
          <p:nvPr/>
        </p:nvSpPr>
        <p:spPr>
          <a:xfrm>
            <a:off x="738549" y="1923109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Destination MAC: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p50"/>
          <p:cNvSpPr txBox="1"/>
          <p:nvPr/>
        </p:nvSpPr>
        <p:spPr>
          <a:xfrm>
            <a:off x="738549" y="1529513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Source MAC: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7" name="Google Shape;537;p50"/>
          <p:cNvCxnSpPr>
            <a:endCxn id="533" idx="3"/>
          </p:cNvCxnSpPr>
          <p:nvPr/>
        </p:nvCxnSpPr>
        <p:spPr>
          <a:xfrm rot="10800000">
            <a:off x="4399238" y="2119913"/>
            <a:ext cx="8049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8" name="Google Shape;538;p50"/>
          <p:cNvSpPr txBox="1"/>
          <p:nvPr/>
        </p:nvSpPr>
        <p:spPr>
          <a:xfrm>
            <a:off x="5204150" y="1919825"/>
            <a:ext cx="245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Ethernet broadcast address.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9" name="Google Shape;539;p50"/>
          <p:cNvCxnSpPr/>
          <p:nvPr/>
        </p:nvCxnSpPr>
        <p:spPr>
          <a:xfrm rot="10800000">
            <a:off x="4399238" y="2525850"/>
            <a:ext cx="8049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0" name="Google Shape;540;p50"/>
          <p:cNvSpPr txBox="1"/>
          <p:nvPr/>
        </p:nvSpPr>
        <p:spPr>
          <a:xfrm>
            <a:off x="5204150" y="2325750"/>
            <a:ext cx="320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Client doesn't have an IP address yet.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1" name="Google Shape;541;p50"/>
          <p:cNvCxnSpPr/>
          <p:nvPr/>
        </p:nvCxnSpPr>
        <p:spPr>
          <a:xfrm rot="10800000">
            <a:off x="4399238" y="3693775"/>
            <a:ext cx="804900" cy="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2" name="Google Shape;542;p50"/>
          <p:cNvSpPr txBox="1"/>
          <p:nvPr/>
        </p:nvSpPr>
        <p:spPr>
          <a:xfrm>
            <a:off x="5204150" y="3493675"/>
            <a:ext cx="30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DHCP servers listening on port 67.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43" name="Google Shape;543;p50"/>
          <p:cNvCxnSpPr/>
          <p:nvPr/>
        </p:nvCxnSpPr>
        <p:spPr>
          <a:xfrm rot="10800000">
            <a:off x="4399238" y="1725683"/>
            <a:ext cx="8049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4" name="Google Shape;544;p50"/>
          <p:cNvSpPr txBox="1"/>
          <p:nvPr/>
        </p:nvSpPr>
        <p:spPr>
          <a:xfrm>
            <a:off x="5204150" y="1296996"/>
            <a:ext cx="2781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DHCP server can send unicast responses to this MAC address.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Autoconfiguration in IPv6</a:t>
            </a:r>
            <a:endParaRPr/>
          </a:p>
        </p:txBody>
      </p:sp>
      <p:sp>
        <p:nvSpPr>
          <p:cNvPr id="550" name="Google Shape;550;p5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Step 1: Use Neighbor Discovery (IPv6 ARP) to learn the other information.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 address, DNS resolver address, and subnet (aka local network prefix).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Neighbor Discovery can be extended: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Router Solicitation</a:t>
            </a:r>
            <a:r>
              <a:rPr lang="en"/>
              <a:t>: Broadcast request for the information.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"/>
              <a:t>Router Advertisement</a:t>
            </a:r>
            <a:r>
              <a:rPr lang="en"/>
              <a:t>: Routers reply with the information.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Autoconfiguration in IPv6</a:t>
            </a:r>
            <a:endParaRPr/>
          </a:p>
        </p:txBody>
      </p:sp>
      <p:sp>
        <p:nvSpPr>
          <p:cNvPr id="556" name="Google Shape;556;p52"/>
          <p:cNvSpPr txBox="1"/>
          <p:nvPr>
            <p:ph idx="1" type="body"/>
          </p:nvPr>
        </p:nvSpPr>
        <p:spPr>
          <a:xfrm>
            <a:off x="107050" y="402200"/>
            <a:ext cx="8909700" cy="23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Step 2: Use SLAAC (Stateless Address Autoconfiguration) to give yourself a unique IPv6 address.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for servers to manage and lease addresses!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Trick: MAC addresses are unique, so we can just copy those bits to form a unique IPv6 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Additional mechanisms in place for duplicate address detection, just in case.</a:t>
            </a:r>
            <a:endParaRPr/>
          </a:p>
        </p:txBody>
      </p:sp>
      <p:sp>
        <p:nvSpPr>
          <p:cNvPr id="557" name="Google Shape;557;p52"/>
          <p:cNvSpPr/>
          <p:nvPr/>
        </p:nvSpPr>
        <p:spPr>
          <a:xfrm>
            <a:off x="1948350" y="4444200"/>
            <a:ext cx="34713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ID (64 bits)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52"/>
          <p:cNvSpPr/>
          <p:nvPr/>
        </p:nvSpPr>
        <p:spPr>
          <a:xfrm>
            <a:off x="5419650" y="4444200"/>
            <a:ext cx="34713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Host ID (64 bits)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52"/>
          <p:cNvSpPr txBox="1"/>
          <p:nvPr/>
        </p:nvSpPr>
        <p:spPr>
          <a:xfrm>
            <a:off x="384663" y="4440900"/>
            <a:ext cx="156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My IPv6 Address: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52"/>
          <p:cNvSpPr/>
          <p:nvPr/>
        </p:nvSpPr>
        <p:spPr>
          <a:xfrm>
            <a:off x="5993250" y="2910450"/>
            <a:ext cx="23241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My MAC address (48 bits)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1" name="Google Shape;561;p52"/>
          <p:cNvCxnSpPr>
            <a:stCxn id="562" idx="2"/>
            <a:endCxn id="557" idx="0"/>
          </p:cNvCxnSpPr>
          <p:nvPr/>
        </p:nvCxnSpPr>
        <p:spPr>
          <a:xfrm>
            <a:off x="3684000" y="3767250"/>
            <a:ext cx="0" cy="6771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2" name="Google Shape;562;p52"/>
          <p:cNvSpPr txBox="1"/>
          <p:nvPr/>
        </p:nvSpPr>
        <p:spPr>
          <a:xfrm>
            <a:off x="2517900" y="3151650"/>
            <a:ext cx="233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Got this from the router in Neighbor Discovery.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3" name="Google Shape;563;p52"/>
          <p:cNvCxnSpPr/>
          <p:nvPr/>
        </p:nvCxnSpPr>
        <p:spPr>
          <a:xfrm>
            <a:off x="6393300" y="3304050"/>
            <a:ext cx="0" cy="114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4" name="Google Shape;564;p52"/>
          <p:cNvSpPr txBox="1"/>
          <p:nvPr/>
        </p:nvSpPr>
        <p:spPr>
          <a:xfrm>
            <a:off x="6503525" y="3458475"/>
            <a:ext cx="2112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Run some algorithm (e.g. add padding bits) to derive host ID bits.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ARP: Connecting Layers 2 and 3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DHCP: Joining a New Network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NAT: Network Address Translation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Basic NAT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NAT with Ports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Rewriting Ports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NAT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TLS: Secure Bytestreams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End-to-End Walkthrough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570" name="Google Shape;570;p5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NAT: Network Address Translation</a:t>
            </a:r>
            <a:endParaRPr/>
          </a:p>
        </p:txBody>
      </p:sp>
      <p:sp>
        <p:nvSpPr>
          <p:cNvPr id="571" name="Google Shape;571;p5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17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Problem: IPv4 Address Exhaustion</a:t>
            </a:r>
            <a:endParaRPr/>
          </a:p>
        </p:txBody>
      </p:sp>
      <p:sp>
        <p:nvSpPr>
          <p:cNvPr id="577" name="Google Shape;577;p5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Recall: 2</a:t>
            </a:r>
            <a:r>
              <a:rPr baseline="30000" lang="en"/>
              <a:t>32</a:t>
            </a:r>
            <a:r>
              <a:rPr lang="en"/>
              <a:t> IPv4 address is not enough for every host on the Internet.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IPv6 adoption is slow (and ongoing).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Private IP addresses help us conserve addresses.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Private ranges allocated for networks that don't require Internet access.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192.168.0.0/16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10.0.0.0/8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172.16.0.0/12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Weird fact: Your home network uses private IP addresses to conserve addresses.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But...you do need Internet access!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 (Network Address Translation)</a:t>
            </a:r>
            <a:endParaRPr/>
          </a:p>
        </p:txBody>
      </p:sp>
      <p:sp>
        <p:nvSpPr>
          <p:cNvPr id="583" name="Google Shape;583;p55"/>
          <p:cNvSpPr txBox="1"/>
          <p:nvPr>
            <p:ph idx="1" type="body"/>
          </p:nvPr>
        </p:nvSpPr>
        <p:spPr>
          <a:xfrm>
            <a:off x="107050" y="402200"/>
            <a:ext cx="8909700" cy="17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NAT (Network Address Translation)</a:t>
            </a:r>
            <a:r>
              <a:rPr lang="en"/>
              <a:t>: Use a single public IP address to represent many hosts in the local network.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Outgoing packets: Router changes </a:t>
            </a:r>
            <a:r>
              <a:rPr i="1" lang="en"/>
              <a:t>private </a:t>
            </a:r>
            <a:r>
              <a:rPr lang="en"/>
              <a:t>addresses to the </a:t>
            </a:r>
            <a:r>
              <a:rPr i="1" lang="en"/>
              <a:t>public </a:t>
            </a:r>
            <a:r>
              <a:rPr lang="en"/>
              <a:t>address.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Incoming packets: Router changes the </a:t>
            </a:r>
            <a:r>
              <a:rPr i="1" lang="en"/>
              <a:t>public </a:t>
            </a:r>
            <a:r>
              <a:rPr lang="en"/>
              <a:t>address back to </a:t>
            </a:r>
            <a:r>
              <a:rPr i="1" lang="en"/>
              <a:t>private </a:t>
            </a:r>
            <a:r>
              <a:rPr lang="en"/>
              <a:t>addresses.</a:t>
            </a:r>
            <a:endParaRPr/>
          </a:p>
        </p:txBody>
      </p:sp>
      <p:sp>
        <p:nvSpPr>
          <p:cNvPr id="584" name="Google Shape;584;p55"/>
          <p:cNvSpPr/>
          <p:nvPr/>
        </p:nvSpPr>
        <p:spPr>
          <a:xfrm>
            <a:off x="0" y="3377525"/>
            <a:ext cx="3084000" cy="177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addresses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(inside network)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55"/>
          <p:cNvSpPr/>
          <p:nvPr/>
        </p:nvSpPr>
        <p:spPr>
          <a:xfrm>
            <a:off x="3084075" y="3377525"/>
            <a:ext cx="6060000" cy="17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addresses (the Internet)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55"/>
          <p:cNvSpPr/>
          <p:nvPr/>
        </p:nvSpPr>
        <p:spPr>
          <a:xfrm>
            <a:off x="1202538" y="3537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55"/>
          <p:cNvSpPr/>
          <p:nvPr/>
        </p:nvSpPr>
        <p:spPr>
          <a:xfrm>
            <a:off x="1202538" y="3930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55"/>
          <p:cNvSpPr/>
          <p:nvPr/>
        </p:nvSpPr>
        <p:spPr>
          <a:xfrm>
            <a:off x="1202538" y="4311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55"/>
          <p:cNvSpPr/>
          <p:nvPr/>
        </p:nvSpPr>
        <p:spPr>
          <a:xfrm>
            <a:off x="2930450" y="39300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0" name="Google Shape;590;p55"/>
          <p:cNvCxnSpPr>
            <a:stCxn id="586" idx="6"/>
            <a:endCxn id="589" idx="1"/>
          </p:cNvCxnSpPr>
          <p:nvPr/>
        </p:nvCxnSpPr>
        <p:spPr>
          <a:xfrm>
            <a:off x="1487538" y="3679975"/>
            <a:ext cx="14430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55"/>
          <p:cNvCxnSpPr>
            <a:stCxn id="587" idx="6"/>
            <a:endCxn id="589" idx="1"/>
          </p:cNvCxnSpPr>
          <p:nvPr/>
        </p:nvCxnSpPr>
        <p:spPr>
          <a:xfrm>
            <a:off x="1487538" y="4072591"/>
            <a:ext cx="1443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55"/>
          <p:cNvCxnSpPr>
            <a:stCxn id="588" idx="6"/>
            <a:endCxn id="589" idx="1"/>
          </p:cNvCxnSpPr>
          <p:nvPr/>
        </p:nvCxnSpPr>
        <p:spPr>
          <a:xfrm flipH="1" rot="10800000">
            <a:off x="1487538" y="4072591"/>
            <a:ext cx="1443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3" name="Google Shape;593;p55"/>
          <p:cNvSpPr/>
          <p:nvPr/>
        </p:nvSpPr>
        <p:spPr>
          <a:xfrm>
            <a:off x="7045238" y="37014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55"/>
          <p:cNvSpPr/>
          <p:nvPr/>
        </p:nvSpPr>
        <p:spPr>
          <a:xfrm>
            <a:off x="42971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p55"/>
          <p:cNvSpPr/>
          <p:nvPr/>
        </p:nvSpPr>
        <p:spPr>
          <a:xfrm>
            <a:off x="65069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6" name="Google Shape;596;p55"/>
          <p:cNvCxnSpPr>
            <a:stCxn id="589" idx="3"/>
            <a:endCxn id="594" idx="1"/>
          </p:cNvCxnSpPr>
          <p:nvPr/>
        </p:nvCxnSpPr>
        <p:spPr>
          <a:xfrm>
            <a:off x="3215450" y="4072591"/>
            <a:ext cx="10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55"/>
          <p:cNvCxnSpPr>
            <a:stCxn id="598" idx="3"/>
            <a:endCxn id="595" idx="1"/>
          </p:cNvCxnSpPr>
          <p:nvPr/>
        </p:nvCxnSpPr>
        <p:spPr>
          <a:xfrm>
            <a:off x="5587700" y="4072591"/>
            <a:ext cx="91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55"/>
          <p:cNvCxnSpPr>
            <a:stCxn id="595" idx="3"/>
            <a:endCxn id="593" idx="2"/>
          </p:cNvCxnSpPr>
          <p:nvPr/>
        </p:nvCxnSpPr>
        <p:spPr>
          <a:xfrm flipH="1" rot="10800000">
            <a:off x="6649400" y="38439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0" name="Google Shape;600;p55"/>
          <p:cNvSpPr/>
          <p:nvPr/>
        </p:nvSpPr>
        <p:spPr>
          <a:xfrm>
            <a:off x="7045238" y="41586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1" name="Google Shape;601;p55"/>
          <p:cNvCxnSpPr>
            <a:stCxn id="595" idx="3"/>
            <a:endCxn id="600" idx="2"/>
          </p:cNvCxnSpPr>
          <p:nvPr/>
        </p:nvCxnSpPr>
        <p:spPr>
          <a:xfrm>
            <a:off x="6649400" y="40725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2" name="Google Shape;602;p55"/>
          <p:cNvSpPr txBox="1"/>
          <p:nvPr/>
        </p:nvSpPr>
        <p:spPr>
          <a:xfrm>
            <a:off x="161550" y="2919450"/>
            <a:ext cx="2367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A, B, C are private addresses.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55"/>
          <p:cNvSpPr/>
          <p:nvPr/>
        </p:nvSpPr>
        <p:spPr>
          <a:xfrm>
            <a:off x="54452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03" name="Google Shape;603;p55"/>
          <p:cNvCxnSpPr>
            <a:stCxn id="594" idx="3"/>
            <a:endCxn id="598" idx="1"/>
          </p:cNvCxnSpPr>
          <p:nvPr/>
        </p:nvCxnSpPr>
        <p:spPr>
          <a:xfrm>
            <a:off x="4439600" y="4072591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55"/>
          <p:cNvSpPr txBox="1"/>
          <p:nvPr/>
        </p:nvSpPr>
        <p:spPr>
          <a:xfrm>
            <a:off x="3698900" y="2919438"/>
            <a:ext cx="30204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R1, S, T are unique public addresses.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6"/>
          <p:cNvSpPr/>
          <p:nvPr/>
        </p:nvSpPr>
        <p:spPr>
          <a:xfrm>
            <a:off x="0" y="3377525"/>
            <a:ext cx="3084000" cy="177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addresses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(inside network)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56"/>
          <p:cNvSpPr/>
          <p:nvPr/>
        </p:nvSpPr>
        <p:spPr>
          <a:xfrm>
            <a:off x="3084075" y="3377525"/>
            <a:ext cx="6060000" cy="17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addresses (the Internet)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5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Without NAT</a:t>
            </a:r>
            <a:endParaRPr/>
          </a:p>
        </p:txBody>
      </p:sp>
      <p:sp>
        <p:nvSpPr>
          <p:cNvPr id="612" name="Google Shape;612;p56"/>
          <p:cNvSpPr txBox="1"/>
          <p:nvPr>
            <p:ph idx="1" type="body"/>
          </p:nvPr>
        </p:nvSpPr>
        <p:spPr>
          <a:xfrm>
            <a:off x="107050" y="402200"/>
            <a:ext cx="8909700" cy="11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Without NAT, if A sends a packet, replying to A is impossible.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Because A's IP address is private.</a:t>
            </a:r>
            <a:endParaRPr/>
          </a:p>
        </p:txBody>
      </p:sp>
      <p:sp>
        <p:nvSpPr>
          <p:cNvPr id="613" name="Google Shape;613;p56"/>
          <p:cNvSpPr/>
          <p:nvPr/>
        </p:nvSpPr>
        <p:spPr>
          <a:xfrm>
            <a:off x="1202538" y="3537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56"/>
          <p:cNvSpPr/>
          <p:nvPr/>
        </p:nvSpPr>
        <p:spPr>
          <a:xfrm>
            <a:off x="1202538" y="3930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56"/>
          <p:cNvSpPr/>
          <p:nvPr/>
        </p:nvSpPr>
        <p:spPr>
          <a:xfrm>
            <a:off x="1202538" y="4311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56"/>
          <p:cNvSpPr/>
          <p:nvPr/>
        </p:nvSpPr>
        <p:spPr>
          <a:xfrm>
            <a:off x="2930450" y="39300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17" name="Google Shape;617;p56"/>
          <p:cNvCxnSpPr>
            <a:stCxn id="613" idx="6"/>
            <a:endCxn id="616" idx="1"/>
          </p:cNvCxnSpPr>
          <p:nvPr/>
        </p:nvCxnSpPr>
        <p:spPr>
          <a:xfrm>
            <a:off x="1487538" y="3679975"/>
            <a:ext cx="14430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56"/>
          <p:cNvCxnSpPr>
            <a:stCxn id="614" idx="6"/>
            <a:endCxn id="616" idx="1"/>
          </p:cNvCxnSpPr>
          <p:nvPr/>
        </p:nvCxnSpPr>
        <p:spPr>
          <a:xfrm>
            <a:off x="1487538" y="4072591"/>
            <a:ext cx="1443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9" name="Google Shape;619;p56"/>
          <p:cNvCxnSpPr>
            <a:stCxn id="615" idx="6"/>
            <a:endCxn id="616" idx="1"/>
          </p:cNvCxnSpPr>
          <p:nvPr/>
        </p:nvCxnSpPr>
        <p:spPr>
          <a:xfrm flipH="1" rot="10800000">
            <a:off x="1487538" y="4072591"/>
            <a:ext cx="1443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0" name="Google Shape;620;p56"/>
          <p:cNvSpPr/>
          <p:nvPr/>
        </p:nvSpPr>
        <p:spPr>
          <a:xfrm>
            <a:off x="7045238" y="37014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56"/>
          <p:cNvSpPr/>
          <p:nvPr/>
        </p:nvSpPr>
        <p:spPr>
          <a:xfrm>
            <a:off x="42971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p56"/>
          <p:cNvSpPr/>
          <p:nvPr/>
        </p:nvSpPr>
        <p:spPr>
          <a:xfrm>
            <a:off x="65069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3" name="Google Shape;623;p56"/>
          <p:cNvCxnSpPr>
            <a:stCxn id="616" idx="3"/>
            <a:endCxn id="621" idx="1"/>
          </p:cNvCxnSpPr>
          <p:nvPr/>
        </p:nvCxnSpPr>
        <p:spPr>
          <a:xfrm>
            <a:off x="3215450" y="4072591"/>
            <a:ext cx="10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56"/>
          <p:cNvCxnSpPr>
            <a:stCxn id="625" idx="3"/>
            <a:endCxn id="622" idx="1"/>
          </p:cNvCxnSpPr>
          <p:nvPr/>
        </p:nvCxnSpPr>
        <p:spPr>
          <a:xfrm>
            <a:off x="5587700" y="4072591"/>
            <a:ext cx="91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56"/>
          <p:cNvCxnSpPr>
            <a:stCxn id="622" idx="3"/>
            <a:endCxn id="620" idx="2"/>
          </p:cNvCxnSpPr>
          <p:nvPr/>
        </p:nvCxnSpPr>
        <p:spPr>
          <a:xfrm flipH="1" rot="10800000">
            <a:off x="6649400" y="38439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7" name="Google Shape;627;p56"/>
          <p:cNvSpPr/>
          <p:nvPr/>
        </p:nvSpPr>
        <p:spPr>
          <a:xfrm>
            <a:off x="7045238" y="41586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8" name="Google Shape;628;p56"/>
          <p:cNvCxnSpPr>
            <a:stCxn id="622" idx="3"/>
            <a:endCxn id="627" idx="2"/>
          </p:cNvCxnSpPr>
          <p:nvPr/>
        </p:nvCxnSpPr>
        <p:spPr>
          <a:xfrm>
            <a:off x="6649400" y="40725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5" name="Google Shape;625;p56"/>
          <p:cNvSpPr/>
          <p:nvPr/>
        </p:nvSpPr>
        <p:spPr>
          <a:xfrm>
            <a:off x="54452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29" name="Google Shape;629;p56"/>
          <p:cNvCxnSpPr>
            <a:stCxn id="621" idx="3"/>
            <a:endCxn id="625" idx="1"/>
          </p:cNvCxnSpPr>
          <p:nvPr/>
        </p:nvCxnSpPr>
        <p:spPr>
          <a:xfrm>
            <a:off x="4439600" y="4072591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" name="Google Shape;630;p56"/>
          <p:cNvSpPr/>
          <p:nvPr/>
        </p:nvSpPr>
        <p:spPr>
          <a:xfrm>
            <a:off x="896850" y="3042010"/>
            <a:ext cx="8964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1" name="Google Shape;631;p56"/>
          <p:cNvSpPr/>
          <p:nvPr/>
        </p:nvSpPr>
        <p:spPr>
          <a:xfrm>
            <a:off x="6739550" y="3193535"/>
            <a:ext cx="8964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56"/>
          <p:cNvSpPr/>
          <p:nvPr/>
        </p:nvSpPr>
        <p:spPr>
          <a:xfrm>
            <a:off x="7655000" y="3882100"/>
            <a:ext cx="1236300" cy="560400"/>
          </a:xfrm>
          <a:prstGeom prst="wedgeRoundRectCallout">
            <a:avLst>
              <a:gd fmla="val -72302" name="adj1"/>
              <a:gd fmla="val -48184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Who the heck is A??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56"/>
          <p:cNvSpPr/>
          <p:nvPr/>
        </p:nvSpPr>
        <p:spPr>
          <a:xfrm>
            <a:off x="2624750" y="4143860"/>
            <a:ext cx="8964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7"/>
          <p:cNvSpPr/>
          <p:nvPr/>
        </p:nvSpPr>
        <p:spPr>
          <a:xfrm>
            <a:off x="0" y="3377525"/>
            <a:ext cx="3084000" cy="177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addresses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(inside network)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57"/>
          <p:cNvSpPr/>
          <p:nvPr/>
        </p:nvSpPr>
        <p:spPr>
          <a:xfrm>
            <a:off x="3084075" y="3377525"/>
            <a:ext cx="6060000" cy="17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addresses (the Internet)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57"/>
          <p:cNvSpPr/>
          <p:nvPr/>
        </p:nvSpPr>
        <p:spPr>
          <a:xfrm>
            <a:off x="1202538" y="3537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57"/>
          <p:cNvSpPr/>
          <p:nvPr/>
        </p:nvSpPr>
        <p:spPr>
          <a:xfrm>
            <a:off x="1202538" y="3930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57"/>
          <p:cNvSpPr/>
          <p:nvPr/>
        </p:nvSpPr>
        <p:spPr>
          <a:xfrm>
            <a:off x="1202538" y="4311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57"/>
          <p:cNvSpPr/>
          <p:nvPr/>
        </p:nvSpPr>
        <p:spPr>
          <a:xfrm>
            <a:off x="2930450" y="39300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4" name="Google Shape;644;p57"/>
          <p:cNvCxnSpPr>
            <a:stCxn id="640" idx="6"/>
            <a:endCxn id="643" idx="1"/>
          </p:cNvCxnSpPr>
          <p:nvPr/>
        </p:nvCxnSpPr>
        <p:spPr>
          <a:xfrm>
            <a:off x="1487538" y="3679975"/>
            <a:ext cx="14430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57"/>
          <p:cNvCxnSpPr>
            <a:stCxn id="641" idx="6"/>
            <a:endCxn id="643" idx="1"/>
          </p:cNvCxnSpPr>
          <p:nvPr/>
        </p:nvCxnSpPr>
        <p:spPr>
          <a:xfrm>
            <a:off x="1487538" y="4072591"/>
            <a:ext cx="1443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57"/>
          <p:cNvCxnSpPr>
            <a:stCxn id="642" idx="6"/>
            <a:endCxn id="643" idx="1"/>
          </p:cNvCxnSpPr>
          <p:nvPr/>
        </p:nvCxnSpPr>
        <p:spPr>
          <a:xfrm flipH="1" rot="10800000">
            <a:off x="1487538" y="4072591"/>
            <a:ext cx="1443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7" name="Google Shape;647;p57"/>
          <p:cNvSpPr/>
          <p:nvPr/>
        </p:nvSpPr>
        <p:spPr>
          <a:xfrm>
            <a:off x="7045238" y="37014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57"/>
          <p:cNvSpPr/>
          <p:nvPr/>
        </p:nvSpPr>
        <p:spPr>
          <a:xfrm>
            <a:off x="42971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57"/>
          <p:cNvSpPr/>
          <p:nvPr/>
        </p:nvSpPr>
        <p:spPr>
          <a:xfrm>
            <a:off x="65069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0" name="Google Shape;650;p57"/>
          <p:cNvCxnSpPr>
            <a:stCxn id="643" idx="3"/>
            <a:endCxn id="648" idx="1"/>
          </p:cNvCxnSpPr>
          <p:nvPr/>
        </p:nvCxnSpPr>
        <p:spPr>
          <a:xfrm>
            <a:off x="3215450" y="4072591"/>
            <a:ext cx="10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57"/>
          <p:cNvCxnSpPr>
            <a:stCxn id="652" idx="3"/>
            <a:endCxn id="649" idx="1"/>
          </p:cNvCxnSpPr>
          <p:nvPr/>
        </p:nvCxnSpPr>
        <p:spPr>
          <a:xfrm>
            <a:off x="5587700" y="4072591"/>
            <a:ext cx="91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57"/>
          <p:cNvCxnSpPr>
            <a:stCxn id="649" idx="3"/>
            <a:endCxn id="647" idx="2"/>
          </p:cNvCxnSpPr>
          <p:nvPr/>
        </p:nvCxnSpPr>
        <p:spPr>
          <a:xfrm flipH="1" rot="10800000">
            <a:off x="6649400" y="38439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4" name="Google Shape;654;p57"/>
          <p:cNvSpPr/>
          <p:nvPr/>
        </p:nvSpPr>
        <p:spPr>
          <a:xfrm>
            <a:off x="7045238" y="41586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5" name="Google Shape;655;p57"/>
          <p:cNvCxnSpPr>
            <a:stCxn id="649" idx="3"/>
            <a:endCxn id="654" idx="2"/>
          </p:cNvCxnSpPr>
          <p:nvPr/>
        </p:nvCxnSpPr>
        <p:spPr>
          <a:xfrm>
            <a:off x="6649400" y="40725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2" name="Google Shape;652;p57"/>
          <p:cNvSpPr/>
          <p:nvPr/>
        </p:nvSpPr>
        <p:spPr>
          <a:xfrm>
            <a:off x="54452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56" name="Google Shape;656;p57"/>
          <p:cNvCxnSpPr>
            <a:stCxn id="648" idx="3"/>
            <a:endCxn id="652" idx="1"/>
          </p:cNvCxnSpPr>
          <p:nvPr/>
        </p:nvCxnSpPr>
        <p:spPr>
          <a:xfrm>
            <a:off x="4439600" y="4072591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7" name="Google Shape;657;p5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Basic NAT</a:t>
            </a:r>
            <a:endParaRPr/>
          </a:p>
        </p:txBody>
      </p:sp>
      <p:sp>
        <p:nvSpPr>
          <p:cNvPr id="658" name="Google Shape;658;p57"/>
          <p:cNvSpPr txBox="1"/>
          <p:nvPr>
            <p:ph idx="1" type="body"/>
          </p:nvPr>
        </p:nvSpPr>
        <p:spPr>
          <a:xfrm>
            <a:off x="107050" y="402200"/>
            <a:ext cx="8909700" cy="13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sends an outgoing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R1 </a:t>
            </a:r>
            <a:r>
              <a:rPr i="1" lang="en"/>
              <a:t>rewrites</a:t>
            </a:r>
            <a:r>
              <a:rPr lang="en"/>
              <a:t> the header so it's coming from a public IP instead of a private IP.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R1 keeps a table, so it remembers where to send any replies.</a:t>
            </a:r>
            <a:endParaRPr/>
          </a:p>
        </p:txBody>
      </p:sp>
      <p:graphicFrame>
        <p:nvGraphicFramePr>
          <p:cNvPr id="659" name="Google Shape;659;p57"/>
          <p:cNvGraphicFramePr/>
          <p:nvPr/>
        </p:nvGraphicFramePr>
        <p:xfrm>
          <a:off x="2207025" y="215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865925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</a:tbl>
          </a:graphicData>
        </a:graphic>
      </p:graphicFrame>
      <p:cxnSp>
        <p:nvCxnSpPr>
          <p:cNvPr id="660" name="Google Shape;660;p57"/>
          <p:cNvCxnSpPr>
            <a:stCxn id="661" idx="1"/>
            <a:endCxn id="662" idx="3"/>
          </p:cNvCxnSpPr>
          <p:nvPr/>
        </p:nvCxnSpPr>
        <p:spPr>
          <a:xfrm rot="10800000">
            <a:off x="3607700" y="4451175"/>
            <a:ext cx="5892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1" name="Google Shape;661;p57"/>
          <p:cNvSpPr txBox="1"/>
          <p:nvPr/>
        </p:nvSpPr>
        <p:spPr>
          <a:xfrm>
            <a:off x="4196900" y="4315725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Header rewritten!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63" name="Google Shape;663;p57"/>
          <p:cNvCxnSpPr>
            <a:stCxn id="664" idx="1"/>
          </p:cNvCxnSpPr>
          <p:nvPr/>
        </p:nvCxnSpPr>
        <p:spPr>
          <a:xfrm rot="10800000">
            <a:off x="3938875" y="2832081"/>
            <a:ext cx="681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4" name="Google Shape;664;p57"/>
          <p:cNvSpPr txBox="1"/>
          <p:nvPr/>
        </p:nvSpPr>
        <p:spPr>
          <a:xfrm>
            <a:off x="4620175" y="2481081"/>
            <a:ext cx="17319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R1 leaves a note: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If I get replies from S, send them to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5" name="Google Shape;665;p57"/>
          <p:cNvSpPr/>
          <p:nvPr/>
        </p:nvSpPr>
        <p:spPr>
          <a:xfrm>
            <a:off x="2531899" y="4170975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57"/>
          <p:cNvSpPr/>
          <p:nvPr/>
        </p:nvSpPr>
        <p:spPr>
          <a:xfrm>
            <a:off x="2531899" y="4170975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b="1" lang="en" strike="sngStrike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R1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6" name="Google Shape;666;p57"/>
          <p:cNvSpPr/>
          <p:nvPr/>
        </p:nvSpPr>
        <p:spPr>
          <a:xfrm>
            <a:off x="183249" y="3399772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A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57"/>
          <p:cNvSpPr/>
          <p:nvPr/>
        </p:nvSpPr>
        <p:spPr>
          <a:xfrm>
            <a:off x="7290950" y="3563800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58"/>
          <p:cNvSpPr/>
          <p:nvPr/>
        </p:nvSpPr>
        <p:spPr>
          <a:xfrm>
            <a:off x="0" y="3377525"/>
            <a:ext cx="3084000" cy="177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addresses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(inside network)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58"/>
          <p:cNvSpPr/>
          <p:nvPr/>
        </p:nvSpPr>
        <p:spPr>
          <a:xfrm>
            <a:off x="3084075" y="3377525"/>
            <a:ext cx="6060000" cy="17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addresses (the Internet)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58"/>
          <p:cNvSpPr/>
          <p:nvPr/>
        </p:nvSpPr>
        <p:spPr>
          <a:xfrm>
            <a:off x="1202538" y="3537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58"/>
          <p:cNvSpPr/>
          <p:nvPr/>
        </p:nvSpPr>
        <p:spPr>
          <a:xfrm>
            <a:off x="1202538" y="3930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58"/>
          <p:cNvSpPr/>
          <p:nvPr/>
        </p:nvSpPr>
        <p:spPr>
          <a:xfrm>
            <a:off x="1202538" y="4311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58"/>
          <p:cNvSpPr/>
          <p:nvPr/>
        </p:nvSpPr>
        <p:spPr>
          <a:xfrm>
            <a:off x="2930450" y="39300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78" name="Google Shape;678;p58"/>
          <p:cNvCxnSpPr>
            <a:stCxn id="674" idx="6"/>
            <a:endCxn id="677" idx="1"/>
          </p:cNvCxnSpPr>
          <p:nvPr/>
        </p:nvCxnSpPr>
        <p:spPr>
          <a:xfrm>
            <a:off x="1487538" y="3679975"/>
            <a:ext cx="14430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58"/>
          <p:cNvCxnSpPr>
            <a:stCxn id="675" idx="6"/>
            <a:endCxn id="677" idx="1"/>
          </p:cNvCxnSpPr>
          <p:nvPr/>
        </p:nvCxnSpPr>
        <p:spPr>
          <a:xfrm>
            <a:off x="1487538" y="4072591"/>
            <a:ext cx="1443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58"/>
          <p:cNvCxnSpPr>
            <a:stCxn id="676" idx="6"/>
            <a:endCxn id="677" idx="1"/>
          </p:cNvCxnSpPr>
          <p:nvPr/>
        </p:nvCxnSpPr>
        <p:spPr>
          <a:xfrm flipH="1" rot="10800000">
            <a:off x="1487538" y="4072591"/>
            <a:ext cx="1443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1" name="Google Shape;681;p58"/>
          <p:cNvSpPr/>
          <p:nvPr/>
        </p:nvSpPr>
        <p:spPr>
          <a:xfrm>
            <a:off x="7045238" y="37014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58"/>
          <p:cNvSpPr/>
          <p:nvPr/>
        </p:nvSpPr>
        <p:spPr>
          <a:xfrm>
            <a:off x="42971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58"/>
          <p:cNvSpPr/>
          <p:nvPr/>
        </p:nvSpPr>
        <p:spPr>
          <a:xfrm>
            <a:off x="65069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4" name="Google Shape;684;p58"/>
          <p:cNvCxnSpPr>
            <a:stCxn id="677" idx="3"/>
            <a:endCxn id="682" idx="1"/>
          </p:cNvCxnSpPr>
          <p:nvPr/>
        </p:nvCxnSpPr>
        <p:spPr>
          <a:xfrm>
            <a:off x="3215450" y="4072591"/>
            <a:ext cx="10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5" name="Google Shape;685;p58"/>
          <p:cNvCxnSpPr>
            <a:stCxn id="686" idx="3"/>
            <a:endCxn id="683" idx="1"/>
          </p:cNvCxnSpPr>
          <p:nvPr/>
        </p:nvCxnSpPr>
        <p:spPr>
          <a:xfrm>
            <a:off x="5587700" y="4072591"/>
            <a:ext cx="91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58"/>
          <p:cNvCxnSpPr>
            <a:stCxn id="683" idx="3"/>
            <a:endCxn id="681" idx="2"/>
          </p:cNvCxnSpPr>
          <p:nvPr/>
        </p:nvCxnSpPr>
        <p:spPr>
          <a:xfrm flipH="1" rot="10800000">
            <a:off x="6649400" y="38439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8" name="Google Shape;688;p58"/>
          <p:cNvSpPr/>
          <p:nvPr/>
        </p:nvSpPr>
        <p:spPr>
          <a:xfrm>
            <a:off x="7045238" y="41586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89" name="Google Shape;689;p58"/>
          <p:cNvCxnSpPr>
            <a:stCxn id="683" idx="3"/>
            <a:endCxn id="688" idx="2"/>
          </p:cNvCxnSpPr>
          <p:nvPr/>
        </p:nvCxnSpPr>
        <p:spPr>
          <a:xfrm>
            <a:off x="6649400" y="40725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6" name="Google Shape;686;p58"/>
          <p:cNvSpPr/>
          <p:nvPr/>
        </p:nvSpPr>
        <p:spPr>
          <a:xfrm>
            <a:off x="54452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0" name="Google Shape;690;p58"/>
          <p:cNvCxnSpPr>
            <a:stCxn id="682" idx="3"/>
            <a:endCxn id="686" idx="1"/>
          </p:cNvCxnSpPr>
          <p:nvPr/>
        </p:nvCxnSpPr>
        <p:spPr>
          <a:xfrm>
            <a:off x="4439600" y="4072591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1" name="Google Shape;691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Basic NAT</a:t>
            </a:r>
            <a:endParaRPr/>
          </a:p>
        </p:txBody>
      </p:sp>
      <p:sp>
        <p:nvSpPr>
          <p:cNvPr id="692" name="Google Shape;692;p58"/>
          <p:cNvSpPr txBox="1"/>
          <p:nvPr>
            <p:ph idx="1" type="body"/>
          </p:nvPr>
        </p:nvSpPr>
        <p:spPr>
          <a:xfrm>
            <a:off x="107050" y="402200"/>
            <a:ext cx="8909700" cy="11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 sends an incoming reply, addressed to R1 (public).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 uses the table to replace R1 (public) with A (private).</a:t>
            </a:r>
            <a:endParaRPr/>
          </a:p>
        </p:txBody>
      </p:sp>
      <p:graphicFrame>
        <p:nvGraphicFramePr>
          <p:cNvPr id="693" name="Google Shape;693;p58"/>
          <p:cNvGraphicFramePr/>
          <p:nvPr/>
        </p:nvGraphicFramePr>
        <p:xfrm>
          <a:off x="2207025" y="215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865925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</a:tbl>
          </a:graphicData>
        </a:graphic>
      </p:graphicFrame>
      <p:sp>
        <p:nvSpPr>
          <p:cNvPr id="694" name="Google Shape;694;p58"/>
          <p:cNvSpPr/>
          <p:nvPr/>
        </p:nvSpPr>
        <p:spPr>
          <a:xfrm>
            <a:off x="7290950" y="3563800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5" name="Google Shape;695;p58"/>
          <p:cNvCxnSpPr>
            <a:stCxn id="696" idx="1"/>
            <a:endCxn id="697" idx="3"/>
          </p:cNvCxnSpPr>
          <p:nvPr/>
        </p:nvCxnSpPr>
        <p:spPr>
          <a:xfrm rot="10800000">
            <a:off x="3607700" y="4451175"/>
            <a:ext cx="589200" cy="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6" name="Google Shape;696;p58"/>
          <p:cNvSpPr txBox="1"/>
          <p:nvPr/>
        </p:nvSpPr>
        <p:spPr>
          <a:xfrm>
            <a:off x="4196900" y="4315725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Header rewritten!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58"/>
          <p:cNvSpPr/>
          <p:nvPr/>
        </p:nvSpPr>
        <p:spPr>
          <a:xfrm>
            <a:off x="2531899" y="4170975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58"/>
          <p:cNvSpPr/>
          <p:nvPr/>
        </p:nvSpPr>
        <p:spPr>
          <a:xfrm>
            <a:off x="2531899" y="4170975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</a:t>
            </a:r>
            <a:r>
              <a:rPr b="1" lang="en" strike="sng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9" name="Google Shape;699;p58"/>
          <p:cNvSpPr/>
          <p:nvPr/>
        </p:nvSpPr>
        <p:spPr>
          <a:xfrm>
            <a:off x="183249" y="3399772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4" name="Google Shape;704;p59"/>
          <p:cNvGraphicFramePr/>
          <p:nvPr/>
        </p:nvGraphicFramePr>
        <p:xfrm>
          <a:off x="2207025" y="215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865925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</a:tbl>
          </a:graphicData>
        </a:graphic>
      </p:graphicFrame>
      <p:sp>
        <p:nvSpPr>
          <p:cNvPr id="705" name="Google Shape;705;p59"/>
          <p:cNvSpPr/>
          <p:nvPr/>
        </p:nvSpPr>
        <p:spPr>
          <a:xfrm>
            <a:off x="0" y="3377525"/>
            <a:ext cx="3084000" cy="177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addresses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(inside network)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p59"/>
          <p:cNvSpPr/>
          <p:nvPr/>
        </p:nvSpPr>
        <p:spPr>
          <a:xfrm>
            <a:off x="3084075" y="3377525"/>
            <a:ext cx="6060000" cy="17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addresses (the Internet)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7" name="Google Shape;707;p59"/>
          <p:cNvSpPr/>
          <p:nvPr/>
        </p:nvSpPr>
        <p:spPr>
          <a:xfrm>
            <a:off x="1202538" y="3537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8" name="Google Shape;708;p59"/>
          <p:cNvSpPr/>
          <p:nvPr/>
        </p:nvSpPr>
        <p:spPr>
          <a:xfrm>
            <a:off x="1202538" y="3930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9" name="Google Shape;709;p59"/>
          <p:cNvSpPr/>
          <p:nvPr/>
        </p:nvSpPr>
        <p:spPr>
          <a:xfrm>
            <a:off x="1202538" y="4311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59"/>
          <p:cNvSpPr/>
          <p:nvPr/>
        </p:nvSpPr>
        <p:spPr>
          <a:xfrm>
            <a:off x="2930450" y="39300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1" name="Google Shape;711;p59"/>
          <p:cNvCxnSpPr>
            <a:stCxn id="707" idx="6"/>
            <a:endCxn id="710" idx="1"/>
          </p:cNvCxnSpPr>
          <p:nvPr/>
        </p:nvCxnSpPr>
        <p:spPr>
          <a:xfrm>
            <a:off x="1487538" y="3679975"/>
            <a:ext cx="14430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2" name="Google Shape;712;p59"/>
          <p:cNvCxnSpPr>
            <a:stCxn id="708" idx="6"/>
            <a:endCxn id="710" idx="1"/>
          </p:cNvCxnSpPr>
          <p:nvPr/>
        </p:nvCxnSpPr>
        <p:spPr>
          <a:xfrm>
            <a:off x="1487538" y="4072591"/>
            <a:ext cx="1443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59"/>
          <p:cNvCxnSpPr>
            <a:stCxn id="709" idx="6"/>
            <a:endCxn id="710" idx="1"/>
          </p:cNvCxnSpPr>
          <p:nvPr/>
        </p:nvCxnSpPr>
        <p:spPr>
          <a:xfrm flipH="1" rot="10800000">
            <a:off x="1487538" y="4072591"/>
            <a:ext cx="1443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" name="Google Shape;714;p59"/>
          <p:cNvSpPr/>
          <p:nvPr/>
        </p:nvSpPr>
        <p:spPr>
          <a:xfrm>
            <a:off x="7045238" y="37014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59"/>
          <p:cNvSpPr/>
          <p:nvPr/>
        </p:nvSpPr>
        <p:spPr>
          <a:xfrm>
            <a:off x="42971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59"/>
          <p:cNvSpPr/>
          <p:nvPr/>
        </p:nvSpPr>
        <p:spPr>
          <a:xfrm>
            <a:off x="65069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17" name="Google Shape;717;p59"/>
          <p:cNvCxnSpPr>
            <a:stCxn id="710" idx="3"/>
            <a:endCxn id="715" idx="1"/>
          </p:cNvCxnSpPr>
          <p:nvPr/>
        </p:nvCxnSpPr>
        <p:spPr>
          <a:xfrm>
            <a:off x="3215450" y="4072591"/>
            <a:ext cx="10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59"/>
          <p:cNvCxnSpPr>
            <a:stCxn id="719" idx="3"/>
            <a:endCxn id="716" idx="1"/>
          </p:cNvCxnSpPr>
          <p:nvPr/>
        </p:nvCxnSpPr>
        <p:spPr>
          <a:xfrm>
            <a:off x="5587700" y="4072591"/>
            <a:ext cx="91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0" name="Google Shape;720;p59"/>
          <p:cNvCxnSpPr>
            <a:stCxn id="716" idx="3"/>
            <a:endCxn id="714" idx="2"/>
          </p:cNvCxnSpPr>
          <p:nvPr/>
        </p:nvCxnSpPr>
        <p:spPr>
          <a:xfrm flipH="1" rot="10800000">
            <a:off x="6649400" y="38439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1" name="Google Shape;721;p59"/>
          <p:cNvSpPr/>
          <p:nvPr/>
        </p:nvSpPr>
        <p:spPr>
          <a:xfrm>
            <a:off x="7045238" y="41586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2" name="Google Shape;722;p59"/>
          <p:cNvCxnSpPr>
            <a:stCxn id="716" idx="3"/>
            <a:endCxn id="721" idx="2"/>
          </p:cNvCxnSpPr>
          <p:nvPr/>
        </p:nvCxnSpPr>
        <p:spPr>
          <a:xfrm>
            <a:off x="6649400" y="40725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9" name="Google Shape;719;p59"/>
          <p:cNvSpPr/>
          <p:nvPr/>
        </p:nvSpPr>
        <p:spPr>
          <a:xfrm>
            <a:off x="54452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23" name="Google Shape;723;p59"/>
          <p:cNvCxnSpPr>
            <a:stCxn id="715" idx="3"/>
            <a:endCxn id="719" idx="1"/>
          </p:cNvCxnSpPr>
          <p:nvPr/>
        </p:nvCxnSpPr>
        <p:spPr>
          <a:xfrm>
            <a:off x="4439600" y="4072591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4" name="Google Shape;724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Basic NAT</a:t>
            </a:r>
            <a:endParaRPr/>
          </a:p>
        </p:txBody>
      </p:sp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107050" y="402200"/>
            <a:ext cx="8909700" cy="11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Later, B sends an outgoing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R1 </a:t>
            </a:r>
            <a:r>
              <a:rPr i="1" lang="en"/>
              <a:t>rewrites</a:t>
            </a:r>
            <a:r>
              <a:rPr lang="en"/>
              <a:t> the header and adds another entry to the table.</a:t>
            </a:r>
            <a:endParaRPr/>
          </a:p>
        </p:txBody>
      </p:sp>
      <p:graphicFrame>
        <p:nvGraphicFramePr>
          <p:cNvPr id="726" name="Google Shape;726;p59"/>
          <p:cNvGraphicFramePr/>
          <p:nvPr/>
        </p:nvGraphicFramePr>
        <p:xfrm>
          <a:off x="2207025" y="215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865925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727" name="Google Shape;727;p59"/>
          <p:cNvCxnSpPr>
            <a:stCxn id="728" idx="1"/>
            <a:endCxn id="729" idx="3"/>
          </p:cNvCxnSpPr>
          <p:nvPr/>
        </p:nvCxnSpPr>
        <p:spPr>
          <a:xfrm rot="10800000">
            <a:off x="3607700" y="4451175"/>
            <a:ext cx="5892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28" name="Google Shape;728;p59"/>
          <p:cNvSpPr txBox="1"/>
          <p:nvPr/>
        </p:nvSpPr>
        <p:spPr>
          <a:xfrm>
            <a:off x="4196900" y="4315725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Header rewritten!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30" name="Google Shape;730;p59"/>
          <p:cNvCxnSpPr>
            <a:stCxn id="731" idx="1"/>
          </p:cNvCxnSpPr>
          <p:nvPr/>
        </p:nvCxnSpPr>
        <p:spPr>
          <a:xfrm rot="10800000">
            <a:off x="3938875" y="3105231"/>
            <a:ext cx="681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31" name="Google Shape;731;p59"/>
          <p:cNvSpPr txBox="1"/>
          <p:nvPr/>
        </p:nvSpPr>
        <p:spPr>
          <a:xfrm>
            <a:off x="4620175" y="2862081"/>
            <a:ext cx="1731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If I get replies from T, send them to 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2531899" y="4170975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2531899" y="4170975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b="1" lang="en" strike="sngStrike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R1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183249" y="3780772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7290950" y="4021000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60"/>
          <p:cNvSpPr/>
          <p:nvPr/>
        </p:nvSpPr>
        <p:spPr>
          <a:xfrm>
            <a:off x="0" y="3377525"/>
            <a:ext cx="3084000" cy="177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addresses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(inside network)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60"/>
          <p:cNvSpPr/>
          <p:nvPr/>
        </p:nvSpPr>
        <p:spPr>
          <a:xfrm>
            <a:off x="3084075" y="3377525"/>
            <a:ext cx="6060000" cy="17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addresses (the Internet)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1" name="Google Shape;741;p60"/>
          <p:cNvSpPr/>
          <p:nvPr/>
        </p:nvSpPr>
        <p:spPr>
          <a:xfrm>
            <a:off x="1202538" y="3537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2" name="Google Shape;742;p60"/>
          <p:cNvSpPr/>
          <p:nvPr/>
        </p:nvSpPr>
        <p:spPr>
          <a:xfrm>
            <a:off x="1202538" y="3930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3" name="Google Shape;743;p60"/>
          <p:cNvSpPr/>
          <p:nvPr/>
        </p:nvSpPr>
        <p:spPr>
          <a:xfrm>
            <a:off x="1202538" y="4311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p60"/>
          <p:cNvSpPr/>
          <p:nvPr/>
        </p:nvSpPr>
        <p:spPr>
          <a:xfrm>
            <a:off x="2930450" y="39300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45" name="Google Shape;745;p60"/>
          <p:cNvCxnSpPr>
            <a:stCxn id="741" idx="6"/>
            <a:endCxn id="744" idx="1"/>
          </p:cNvCxnSpPr>
          <p:nvPr/>
        </p:nvCxnSpPr>
        <p:spPr>
          <a:xfrm>
            <a:off x="1487538" y="3679975"/>
            <a:ext cx="14430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6" name="Google Shape;746;p60"/>
          <p:cNvCxnSpPr>
            <a:stCxn id="742" idx="6"/>
            <a:endCxn id="744" idx="1"/>
          </p:cNvCxnSpPr>
          <p:nvPr/>
        </p:nvCxnSpPr>
        <p:spPr>
          <a:xfrm>
            <a:off x="1487538" y="4072591"/>
            <a:ext cx="1443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7" name="Google Shape;747;p60"/>
          <p:cNvCxnSpPr>
            <a:stCxn id="743" idx="6"/>
            <a:endCxn id="744" idx="1"/>
          </p:cNvCxnSpPr>
          <p:nvPr/>
        </p:nvCxnSpPr>
        <p:spPr>
          <a:xfrm flipH="1" rot="10800000">
            <a:off x="1487538" y="4072591"/>
            <a:ext cx="1443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8" name="Google Shape;748;p60"/>
          <p:cNvSpPr/>
          <p:nvPr/>
        </p:nvSpPr>
        <p:spPr>
          <a:xfrm>
            <a:off x="7045238" y="37014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9" name="Google Shape;749;p60"/>
          <p:cNvSpPr/>
          <p:nvPr/>
        </p:nvSpPr>
        <p:spPr>
          <a:xfrm>
            <a:off x="42971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0" name="Google Shape;750;p60"/>
          <p:cNvSpPr/>
          <p:nvPr/>
        </p:nvSpPr>
        <p:spPr>
          <a:xfrm>
            <a:off x="65069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1" name="Google Shape;751;p60"/>
          <p:cNvCxnSpPr>
            <a:stCxn id="744" idx="3"/>
            <a:endCxn id="749" idx="1"/>
          </p:cNvCxnSpPr>
          <p:nvPr/>
        </p:nvCxnSpPr>
        <p:spPr>
          <a:xfrm>
            <a:off x="3215450" y="4072591"/>
            <a:ext cx="10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2" name="Google Shape;752;p60"/>
          <p:cNvCxnSpPr>
            <a:stCxn id="753" idx="3"/>
            <a:endCxn id="750" idx="1"/>
          </p:cNvCxnSpPr>
          <p:nvPr/>
        </p:nvCxnSpPr>
        <p:spPr>
          <a:xfrm>
            <a:off x="5587700" y="4072591"/>
            <a:ext cx="91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4" name="Google Shape;754;p60"/>
          <p:cNvCxnSpPr>
            <a:stCxn id="750" idx="3"/>
            <a:endCxn id="748" idx="2"/>
          </p:cNvCxnSpPr>
          <p:nvPr/>
        </p:nvCxnSpPr>
        <p:spPr>
          <a:xfrm flipH="1" rot="10800000">
            <a:off x="6649400" y="38439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5" name="Google Shape;755;p60"/>
          <p:cNvSpPr/>
          <p:nvPr/>
        </p:nvSpPr>
        <p:spPr>
          <a:xfrm>
            <a:off x="7045238" y="41586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6" name="Google Shape;756;p60"/>
          <p:cNvCxnSpPr>
            <a:stCxn id="750" idx="3"/>
            <a:endCxn id="755" idx="2"/>
          </p:cNvCxnSpPr>
          <p:nvPr/>
        </p:nvCxnSpPr>
        <p:spPr>
          <a:xfrm>
            <a:off x="6649400" y="40725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3" name="Google Shape;753;p60"/>
          <p:cNvSpPr/>
          <p:nvPr/>
        </p:nvSpPr>
        <p:spPr>
          <a:xfrm>
            <a:off x="54452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7" name="Google Shape;757;p60"/>
          <p:cNvCxnSpPr>
            <a:stCxn id="749" idx="3"/>
            <a:endCxn id="753" idx="1"/>
          </p:cNvCxnSpPr>
          <p:nvPr/>
        </p:nvCxnSpPr>
        <p:spPr>
          <a:xfrm>
            <a:off x="4439600" y="4072591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8" name="Google Shape;758;p6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Basic NAT</a:t>
            </a:r>
            <a:endParaRPr/>
          </a:p>
        </p:txBody>
      </p:sp>
      <p:sp>
        <p:nvSpPr>
          <p:cNvPr id="759" name="Google Shape;759;p60"/>
          <p:cNvSpPr txBox="1"/>
          <p:nvPr>
            <p:ph idx="1" type="body"/>
          </p:nvPr>
        </p:nvSpPr>
        <p:spPr>
          <a:xfrm>
            <a:off x="107050" y="402200"/>
            <a:ext cx="8909700" cy="11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 sends an incoming reply, addressed to R1 (public).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 uses the table to replace R1 (public) with B (private).</a:t>
            </a:r>
            <a:endParaRPr/>
          </a:p>
        </p:txBody>
      </p:sp>
      <p:graphicFrame>
        <p:nvGraphicFramePr>
          <p:cNvPr id="760" name="Google Shape;760;p60"/>
          <p:cNvGraphicFramePr/>
          <p:nvPr/>
        </p:nvGraphicFramePr>
        <p:xfrm>
          <a:off x="2207025" y="215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865925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</a:tbl>
          </a:graphicData>
        </a:graphic>
      </p:graphicFrame>
      <p:sp>
        <p:nvSpPr>
          <p:cNvPr id="761" name="Google Shape;761;p60"/>
          <p:cNvSpPr/>
          <p:nvPr/>
        </p:nvSpPr>
        <p:spPr>
          <a:xfrm>
            <a:off x="7290950" y="4021000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62" name="Google Shape;762;p60"/>
          <p:cNvCxnSpPr>
            <a:stCxn id="763" idx="1"/>
            <a:endCxn id="764" idx="3"/>
          </p:cNvCxnSpPr>
          <p:nvPr/>
        </p:nvCxnSpPr>
        <p:spPr>
          <a:xfrm rot="10800000">
            <a:off x="3607700" y="4451175"/>
            <a:ext cx="589200" cy="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3" name="Google Shape;763;p60"/>
          <p:cNvSpPr txBox="1"/>
          <p:nvPr/>
        </p:nvSpPr>
        <p:spPr>
          <a:xfrm>
            <a:off x="4196900" y="4315725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Header rewritten!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5" name="Google Shape;765;p60"/>
          <p:cNvSpPr/>
          <p:nvPr/>
        </p:nvSpPr>
        <p:spPr>
          <a:xfrm>
            <a:off x="2531899" y="4170975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4" name="Google Shape;764;p60"/>
          <p:cNvSpPr/>
          <p:nvPr/>
        </p:nvSpPr>
        <p:spPr>
          <a:xfrm>
            <a:off x="2531899" y="4170975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</a:t>
            </a:r>
            <a:r>
              <a:rPr b="1" lang="en" strike="sng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6" name="Google Shape;766;p60"/>
          <p:cNvSpPr/>
          <p:nvPr/>
        </p:nvSpPr>
        <p:spPr>
          <a:xfrm>
            <a:off x="183249" y="3780772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NAT</a:t>
            </a:r>
            <a:endParaRPr/>
          </a:p>
        </p:txBody>
      </p:sp>
      <p:sp>
        <p:nvSpPr>
          <p:cNvPr id="772" name="Google Shape;772;p61"/>
          <p:cNvSpPr txBox="1"/>
          <p:nvPr>
            <p:ph idx="1" type="body"/>
          </p:nvPr>
        </p:nvSpPr>
        <p:spPr>
          <a:xfrm>
            <a:off x="107050" y="402200"/>
            <a:ext cx="8909700" cy="29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Outgoing packet: Replace </a:t>
            </a:r>
            <a:r>
              <a:rPr i="1" lang="en"/>
              <a:t>private</a:t>
            </a:r>
            <a:r>
              <a:rPr lang="en"/>
              <a:t> IP with </a:t>
            </a:r>
            <a:r>
              <a:rPr i="1" lang="en"/>
              <a:t>public</a:t>
            </a:r>
            <a:r>
              <a:rPr lang="en"/>
              <a:t> IP.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Incoming packet: Replace </a:t>
            </a:r>
            <a:r>
              <a:rPr i="1" lang="en"/>
              <a:t>public</a:t>
            </a:r>
            <a:r>
              <a:rPr lang="en"/>
              <a:t> IP with </a:t>
            </a:r>
            <a:r>
              <a:rPr i="1" lang="en"/>
              <a:t>private</a:t>
            </a:r>
            <a:r>
              <a:rPr lang="en"/>
              <a:t> IP.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to restore B's original, private IP.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 has no idea we rewrote the packet.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Router must give B the illusion that it's sending/receiving packets with its own IP.</a:t>
            </a:r>
            <a:endParaRPr/>
          </a:p>
        </p:txBody>
      </p:sp>
      <p:graphicFrame>
        <p:nvGraphicFramePr>
          <p:cNvPr id="773" name="Google Shape;773;p61"/>
          <p:cNvGraphicFramePr/>
          <p:nvPr/>
        </p:nvGraphicFramePr>
        <p:xfrm>
          <a:off x="3695975" y="3621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865925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</a:tbl>
          </a:graphicData>
        </a:graphic>
      </p:graphicFrame>
      <p:sp>
        <p:nvSpPr>
          <p:cNvPr id="774" name="Google Shape;774;p61"/>
          <p:cNvSpPr/>
          <p:nvPr/>
        </p:nvSpPr>
        <p:spPr>
          <a:xfrm>
            <a:off x="6847399" y="3877475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T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</a:t>
            </a:r>
            <a:r>
              <a:rPr b="1" lang="en" strike="sng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5" name="Google Shape;775;p61"/>
          <p:cNvSpPr/>
          <p:nvPr/>
        </p:nvSpPr>
        <p:spPr>
          <a:xfrm>
            <a:off x="1220774" y="3877475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b="1" lang="en" strike="sngStrike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R1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6" name="Google Shape;776;p61"/>
          <p:cNvSpPr txBox="1"/>
          <p:nvPr/>
        </p:nvSpPr>
        <p:spPr>
          <a:xfrm>
            <a:off x="6487700" y="4582600"/>
            <a:ext cx="179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Incoming packet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7" name="Google Shape;777;p61"/>
          <p:cNvSpPr txBox="1"/>
          <p:nvPr/>
        </p:nvSpPr>
        <p:spPr>
          <a:xfrm>
            <a:off x="861075" y="4582600"/>
            <a:ext cx="179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Outgoing packet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2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ARP: Connecting Layers 2 and 3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DHCP: Joining a New Network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NAT: Network Address Translation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Basic NAT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NAT with Ports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Rewriting Ports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NAT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TLS: Secure Bytestreams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End-to-End Walkthrough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783" name="Google Shape;783;p6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 with Ports</a:t>
            </a:r>
            <a:endParaRPr/>
          </a:p>
        </p:txBody>
      </p:sp>
      <p:sp>
        <p:nvSpPr>
          <p:cNvPr id="784" name="Google Shape;784;p6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17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9" name="Google Shape;789;p63"/>
          <p:cNvGraphicFramePr/>
          <p:nvPr/>
        </p:nvGraphicFramePr>
        <p:xfrm>
          <a:off x="2207025" y="215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865925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</a:tbl>
          </a:graphicData>
        </a:graphic>
      </p:graphicFrame>
      <p:sp>
        <p:nvSpPr>
          <p:cNvPr id="790" name="Google Shape;790;p63"/>
          <p:cNvSpPr/>
          <p:nvPr/>
        </p:nvSpPr>
        <p:spPr>
          <a:xfrm>
            <a:off x="0" y="3377525"/>
            <a:ext cx="3084000" cy="177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addresses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(inside network)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1" name="Google Shape;791;p63"/>
          <p:cNvSpPr/>
          <p:nvPr/>
        </p:nvSpPr>
        <p:spPr>
          <a:xfrm>
            <a:off x="3084075" y="3377525"/>
            <a:ext cx="6060000" cy="17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addresses (the Internet)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2" name="Google Shape;792;p63"/>
          <p:cNvSpPr/>
          <p:nvPr/>
        </p:nvSpPr>
        <p:spPr>
          <a:xfrm>
            <a:off x="1202538" y="3537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3" name="Google Shape;793;p63"/>
          <p:cNvSpPr/>
          <p:nvPr/>
        </p:nvSpPr>
        <p:spPr>
          <a:xfrm>
            <a:off x="1202538" y="3930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4" name="Google Shape;794;p63"/>
          <p:cNvSpPr/>
          <p:nvPr/>
        </p:nvSpPr>
        <p:spPr>
          <a:xfrm>
            <a:off x="1202538" y="4311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5" name="Google Shape;795;p63"/>
          <p:cNvSpPr/>
          <p:nvPr/>
        </p:nvSpPr>
        <p:spPr>
          <a:xfrm>
            <a:off x="2930450" y="39300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96" name="Google Shape;796;p63"/>
          <p:cNvCxnSpPr>
            <a:stCxn id="792" idx="6"/>
            <a:endCxn id="795" idx="1"/>
          </p:cNvCxnSpPr>
          <p:nvPr/>
        </p:nvCxnSpPr>
        <p:spPr>
          <a:xfrm>
            <a:off x="1487538" y="3679975"/>
            <a:ext cx="14430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63"/>
          <p:cNvCxnSpPr>
            <a:stCxn id="793" idx="6"/>
            <a:endCxn id="795" idx="1"/>
          </p:cNvCxnSpPr>
          <p:nvPr/>
        </p:nvCxnSpPr>
        <p:spPr>
          <a:xfrm>
            <a:off x="1487538" y="4072591"/>
            <a:ext cx="1443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63"/>
          <p:cNvCxnSpPr>
            <a:stCxn id="794" idx="6"/>
            <a:endCxn id="795" idx="1"/>
          </p:cNvCxnSpPr>
          <p:nvPr/>
        </p:nvCxnSpPr>
        <p:spPr>
          <a:xfrm flipH="1" rot="10800000">
            <a:off x="1487538" y="4072591"/>
            <a:ext cx="1443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9" name="Google Shape;799;p63"/>
          <p:cNvSpPr/>
          <p:nvPr/>
        </p:nvSpPr>
        <p:spPr>
          <a:xfrm>
            <a:off x="7045238" y="37014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p63"/>
          <p:cNvSpPr/>
          <p:nvPr/>
        </p:nvSpPr>
        <p:spPr>
          <a:xfrm>
            <a:off x="42971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1" name="Google Shape;801;p63"/>
          <p:cNvSpPr/>
          <p:nvPr/>
        </p:nvSpPr>
        <p:spPr>
          <a:xfrm>
            <a:off x="65069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2" name="Google Shape;802;p63"/>
          <p:cNvCxnSpPr>
            <a:stCxn id="795" idx="3"/>
            <a:endCxn id="800" idx="1"/>
          </p:cNvCxnSpPr>
          <p:nvPr/>
        </p:nvCxnSpPr>
        <p:spPr>
          <a:xfrm>
            <a:off x="3215450" y="4072591"/>
            <a:ext cx="10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63"/>
          <p:cNvCxnSpPr>
            <a:stCxn id="804" idx="3"/>
            <a:endCxn id="801" idx="1"/>
          </p:cNvCxnSpPr>
          <p:nvPr/>
        </p:nvCxnSpPr>
        <p:spPr>
          <a:xfrm>
            <a:off x="5587700" y="4072591"/>
            <a:ext cx="91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63"/>
          <p:cNvCxnSpPr>
            <a:stCxn id="801" idx="3"/>
            <a:endCxn id="799" idx="2"/>
          </p:cNvCxnSpPr>
          <p:nvPr/>
        </p:nvCxnSpPr>
        <p:spPr>
          <a:xfrm flipH="1" rot="10800000">
            <a:off x="6649400" y="38439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6" name="Google Shape;806;p63"/>
          <p:cNvSpPr/>
          <p:nvPr/>
        </p:nvSpPr>
        <p:spPr>
          <a:xfrm>
            <a:off x="7045238" y="41586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7" name="Google Shape;807;p63"/>
          <p:cNvCxnSpPr>
            <a:stCxn id="801" idx="3"/>
            <a:endCxn id="806" idx="2"/>
          </p:cNvCxnSpPr>
          <p:nvPr/>
        </p:nvCxnSpPr>
        <p:spPr>
          <a:xfrm>
            <a:off x="6649400" y="40725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4" name="Google Shape;804;p63"/>
          <p:cNvSpPr/>
          <p:nvPr/>
        </p:nvSpPr>
        <p:spPr>
          <a:xfrm>
            <a:off x="54452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8" name="Google Shape;808;p63"/>
          <p:cNvCxnSpPr>
            <a:stCxn id="800" idx="3"/>
            <a:endCxn id="804" idx="1"/>
          </p:cNvCxnSpPr>
          <p:nvPr/>
        </p:nvCxnSpPr>
        <p:spPr>
          <a:xfrm>
            <a:off x="4439600" y="4072591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9" name="Google Shape;809;p6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Problem with Basic NAT</a:t>
            </a:r>
            <a:endParaRPr/>
          </a:p>
        </p:txBody>
      </p:sp>
      <p:sp>
        <p:nvSpPr>
          <p:cNvPr id="810" name="Google Shape;810;p63"/>
          <p:cNvSpPr txBox="1"/>
          <p:nvPr>
            <p:ph idx="1" type="body"/>
          </p:nvPr>
        </p:nvSpPr>
        <p:spPr>
          <a:xfrm>
            <a:off x="107050" y="402200"/>
            <a:ext cx="8909700" cy="11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A and B both wanted to talk to 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Table is ambiguous! We don't know where to send packets from S.</a:t>
            </a:r>
            <a:endParaRPr/>
          </a:p>
        </p:txBody>
      </p:sp>
      <p:graphicFrame>
        <p:nvGraphicFramePr>
          <p:cNvPr id="811" name="Google Shape;811;p63"/>
          <p:cNvGraphicFramePr/>
          <p:nvPr/>
        </p:nvGraphicFramePr>
        <p:xfrm>
          <a:off x="2207025" y="215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865925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812" name="Google Shape;812;p63"/>
          <p:cNvCxnSpPr>
            <a:stCxn id="813" idx="1"/>
            <a:endCxn id="814" idx="3"/>
          </p:cNvCxnSpPr>
          <p:nvPr/>
        </p:nvCxnSpPr>
        <p:spPr>
          <a:xfrm rot="10800000">
            <a:off x="3607700" y="4451175"/>
            <a:ext cx="5892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3" name="Google Shape;813;p63"/>
          <p:cNvSpPr txBox="1"/>
          <p:nvPr/>
        </p:nvSpPr>
        <p:spPr>
          <a:xfrm>
            <a:off x="4196900" y="4315725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Header rewritten!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15" name="Google Shape;815;p63"/>
          <p:cNvCxnSpPr>
            <a:stCxn id="816" idx="1"/>
          </p:cNvCxnSpPr>
          <p:nvPr/>
        </p:nvCxnSpPr>
        <p:spPr>
          <a:xfrm rot="10800000">
            <a:off x="3938875" y="3105231"/>
            <a:ext cx="681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6" name="Google Shape;816;p63"/>
          <p:cNvSpPr txBox="1"/>
          <p:nvPr/>
        </p:nvSpPr>
        <p:spPr>
          <a:xfrm>
            <a:off x="4620175" y="2862081"/>
            <a:ext cx="1731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If I get replies from S, send them to 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7" name="Google Shape;817;p63"/>
          <p:cNvSpPr/>
          <p:nvPr/>
        </p:nvSpPr>
        <p:spPr>
          <a:xfrm>
            <a:off x="2531899" y="4170975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4" name="Google Shape;814;p63"/>
          <p:cNvSpPr/>
          <p:nvPr/>
        </p:nvSpPr>
        <p:spPr>
          <a:xfrm>
            <a:off x="2531899" y="4170975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b="1" lang="en" strike="sngStrike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 R1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8" name="Google Shape;818;p63"/>
          <p:cNvSpPr/>
          <p:nvPr/>
        </p:nvSpPr>
        <p:spPr>
          <a:xfrm>
            <a:off x="183249" y="3780772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B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9" name="Google Shape;819;p63"/>
          <p:cNvSpPr/>
          <p:nvPr/>
        </p:nvSpPr>
        <p:spPr>
          <a:xfrm>
            <a:off x="7290950" y="3563800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R1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64"/>
          <p:cNvSpPr/>
          <p:nvPr/>
        </p:nvSpPr>
        <p:spPr>
          <a:xfrm>
            <a:off x="0" y="3377525"/>
            <a:ext cx="3084000" cy="177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addresses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(inside network)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64"/>
          <p:cNvSpPr/>
          <p:nvPr/>
        </p:nvSpPr>
        <p:spPr>
          <a:xfrm>
            <a:off x="3084075" y="3377525"/>
            <a:ext cx="6060000" cy="17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addresses (the Internet)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6" name="Google Shape;826;p64"/>
          <p:cNvSpPr/>
          <p:nvPr/>
        </p:nvSpPr>
        <p:spPr>
          <a:xfrm>
            <a:off x="1202538" y="3537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7" name="Google Shape;827;p64"/>
          <p:cNvSpPr/>
          <p:nvPr/>
        </p:nvSpPr>
        <p:spPr>
          <a:xfrm>
            <a:off x="1202538" y="3930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8" name="Google Shape;828;p64"/>
          <p:cNvSpPr/>
          <p:nvPr/>
        </p:nvSpPr>
        <p:spPr>
          <a:xfrm>
            <a:off x="1202538" y="4311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9" name="Google Shape;829;p64"/>
          <p:cNvSpPr/>
          <p:nvPr/>
        </p:nvSpPr>
        <p:spPr>
          <a:xfrm>
            <a:off x="2930450" y="39300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0" name="Google Shape;830;p64"/>
          <p:cNvCxnSpPr>
            <a:stCxn id="826" idx="6"/>
            <a:endCxn id="829" idx="1"/>
          </p:cNvCxnSpPr>
          <p:nvPr/>
        </p:nvCxnSpPr>
        <p:spPr>
          <a:xfrm>
            <a:off x="1487538" y="3679975"/>
            <a:ext cx="14430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1" name="Google Shape;831;p64"/>
          <p:cNvCxnSpPr>
            <a:stCxn id="827" idx="6"/>
            <a:endCxn id="829" idx="1"/>
          </p:cNvCxnSpPr>
          <p:nvPr/>
        </p:nvCxnSpPr>
        <p:spPr>
          <a:xfrm>
            <a:off x="1487538" y="4072591"/>
            <a:ext cx="1443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64"/>
          <p:cNvCxnSpPr>
            <a:stCxn id="828" idx="6"/>
            <a:endCxn id="829" idx="1"/>
          </p:cNvCxnSpPr>
          <p:nvPr/>
        </p:nvCxnSpPr>
        <p:spPr>
          <a:xfrm flipH="1" rot="10800000">
            <a:off x="1487538" y="4072591"/>
            <a:ext cx="1443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3" name="Google Shape;833;p64"/>
          <p:cNvSpPr/>
          <p:nvPr/>
        </p:nvSpPr>
        <p:spPr>
          <a:xfrm>
            <a:off x="7045238" y="37014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4" name="Google Shape;834;p64"/>
          <p:cNvSpPr/>
          <p:nvPr/>
        </p:nvSpPr>
        <p:spPr>
          <a:xfrm>
            <a:off x="42971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5" name="Google Shape;835;p64"/>
          <p:cNvSpPr/>
          <p:nvPr/>
        </p:nvSpPr>
        <p:spPr>
          <a:xfrm>
            <a:off x="65069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36" name="Google Shape;836;p64"/>
          <p:cNvCxnSpPr>
            <a:stCxn id="829" idx="3"/>
            <a:endCxn id="834" idx="1"/>
          </p:cNvCxnSpPr>
          <p:nvPr/>
        </p:nvCxnSpPr>
        <p:spPr>
          <a:xfrm>
            <a:off x="3215450" y="4072591"/>
            <a:ext cx="10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7" name="Google Shape;837;p64"/>
          <p:cNvCxnSpPr>
            <a:stCxn id="838" idx="3"/>
            <a:endCxn id="835" idx="1"/>
          </p:cNvCxnSpPr>
          <p:nvPr/>
        </p:nvCxnSpPr>
        <p:spPr>
          <a:xfrm>
            <a:off x="5587700" y="4072591"/>
            <a:ext cx="91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64"/>
          <p:cNvCxnSpPr>
            <a:stCxn id="835" idx="3"/>
            <a:endCxn id="833" idx="2"/>
          </p:cNvCxnSpPr>
          <p:nvPr/>
        </p:nvCxnSpPr>
        <p:spPr>
          <a:xfrm flipH="1" rot="10800000">
            <a:off x="6649400" y="38439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0" name="Google Shape;840;p64"/>
          <p:cNvSpPr/>
          <p:nvPr/>
        </p:nvSpPr>
        <p:spPr>
          <a:xfrm>
            <a:off x="7045238" y="41586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1" name="Google Shape;841;p64"/>
          <p:cNvCxnSpPr>
            <a:stCxn id="835" idx="3"/>
            <a:endCxn id="840" idx="2"/>
          </p:cNvCxnSpPr>
          <p:nvPr/>
        </p:nvCxnSpPr>
        <p:spPr>
          <a:xfrm>
            <a:off x="6649400" y="40725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8" name="Google Shape;838;p64"/>
          <p:cNvSpPr/>
          <p:nvPr/>
        </p:nvSpPr>
        <p:spPr>
          <a:xfrm>
            <a:off x="54452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2" name="Google Shape;842;p64"/>
          <p:cNvCxnSpPr>
            <a:stCxn id="834" idx="3"/>
            <a:endCxn id="838" idx="1"/>
          </p:cNvCxnSpPr>
          <p:nvPr/>
        </p:nvCxnSpPr>
        <p:spPr>
          <a:xfrm>
            <a:off x="4439600" y="4072591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3" name="Google Shape;843;p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Problem with Basic NAT</a:t>
            </a:r>
            <a:endParaRPr/>
          </a:p>
        </p:txBody>
      </p:sp>
      <p:sp>
        <p:nvSpPr>
          <p:cNvPr id="844" name="Google Shape;844;p64"/>
          <p:cNvSpPr txBox="1"/>
          <p:nvPr>
            <p:ph idx="1" type="body"/>
          </p:nvPr>
        </p:nvSpPr>
        <p:spPr>
          <a:xfrm>
            <a:off x="107050" y="402200"/>
            <a:ext cx="8909700" cy="11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A and B both wanted to talk to S?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Table is ambiguous! We don't know where to send packets from S.</a:t>
            </a:r>
            <a:endParaRPr/>
          </a:p>
        </p:txBody>
      </p:sp>
      <p:graphicFrame>
        <p:nvGraphicFramePr>
          <p:cNvPr id="845" name="Google Shape;845;p64"/>
          <p:cNvGraphicFramePr/>
          <p:nvPr/>
        </p:nvGraphicFramePr>
        <p:xfrm>
          <a:off x="2207025" y="215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865925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</a:tbl>
          </a:graphicData>
        </a:graphic>
      </p:graphicFrame>
      <p:sp>
        <p:nvSpPr>
          <p:cNvPr id="846" name="Google Shape;846;p64"/>
          <p:cNvSpPr/>
          <p:nvPr/>
        </p:nvSpPr>
        <p:spPr>
          <a:xfrm>
            <a:off x="7290950" y="3563800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47" name="Google Shape;847;p64"/>
          <p:cNvCxnSpPr>
            <a:stCxn id="848" idx="1"/>
            <a:endCxn id="849" idx="3"/>
          </p:cNvCxnSpPr>
          <p:nvPr/>
        </p:nvCxnSpPr>
        <p:spPr>
          <a:xfrm rot="10800000">
            <a:off x="3607700" y="4451175"/>
            <a:ext cx="589200" cy="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8" name="Google Shape;848;p64"/>
          <p:cNvSpPr txBox="1"/>
          <p:nvPr/>
        </p:nvSpPr>
        <p:spPr>
          <a:xfrm>
            <a:off x="4196900" y="4315725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Is this for A or B?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64"/>
          <p:cNvSpPr/>
          <p:nvPr/>
        </p:nvSpPr>
        <p:spPr>
          <a:xfrm>
            <a:off x="2531899" y="4170975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5" name="Google Shape;855;p65"/>
          <p:cNvGraphicFramePr/>
          <p:nvPr/>
        </p:nvGraphicFramePr>
        <p:xfrm>
          <a:off x="2033513" y="18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12950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56" name="Google Shape;856;p65"/>
          <p:cNvSpPr/>
          <p:nvPr/>
        </p:nvSpPr>
        <p:spPr>
          <a:xfrm>
            <a:off x="0" y="3377525"/>
            <a:ext cx="3084000" cy="177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addresses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(inside network)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7" name="Google Shape;857;p65"/>
          <p:cNvSpPr/>
          <p:nvPr/>
        </p:nvSpPr>
        <p:spPr>
          <a:xfrm>
            <a:off x="3084075" y="3377525"/>
            <a:ext cx="6060000" cy="17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addresses (the Internet)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8" name="Google Shape;858;p65"/>
          <p:cNvSpPr/>
          <p:nvPr/>
        </p:nvSpPr>
        <p:spPr>
          <a:xfrm>
            <a:off x="1659738" y="3537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9" name="Google Shape;859;p65"/>
          <p:cNvSpPr/>
          <p:nvPr/>
        </p:nvSpPr>
        <p:spPr>
          <a:xfrm>
            <a:off x="1659738" y="3930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0" name="Google Shape;860;p65"/>
          <p:cNvSpPr/>
          <p:nvPr/>
        </p:nvSpPr>
        <p:spPr>
          <a:xfrm>
            <a:off x="1659738" y="4311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1" name="Google Shape;861;p65"/>
          <p:cNvSpPr/>
          <p:nvPr/>
        </p:nvSpPr>
        <p:spPr>
          <a:xfrm>
            <a:off x="2930450" y="39300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2" name="Google Shape;862;p65"/>
          <p:cNvCxnSpPr>
            <a:stCxn id="858" idx="6"/>
            <a:endCxn id="861" idx="1"/>
          </p:cNvCxnSpPr>
          <p:nvPr/>
        </p:nvCxnSpPr>
        <p:spPr>
          <a:xfrm>
            <a:off x="1944738" y="3679975"/>
            <a:ext cx="9858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3" name="Google Shape;863;p65"/>
          <p:cNvCxnSpPr>
            <a:stCxn id="859" idx="6"/>
            <a:endCxn id="861" idx="1"/>
          </p:cNvCxnSpPr>
          <p:nvPr/>
        </p:nvCxnSpPr>
        <p:spPr>
          <a:xfrm>
            <a:off x="1944738" y="4072591"/>
            <a:ext cx="9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4" name="Google Shape;864;p65"/>
          <p:cNvCxnSpPr>
            <a:stCxn id="860" idx="6"/>
            <a:endCxn id="861" idx="1"/>
          </p:cNvCxnSpPr>
          <p:nvPr/>
        </p:nvCxnSpPr>
        <p:spPr>
          <a:xfrm flipH="1" rot="10800000">
            <a:off x="1944738" y="4072591"/>
            <a:ext cx="9858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5" name="Google Shape;865;p65"/>
          <p:cNvSpPr/>
          <p:nvPr/>
        </p:nvSpPr>
        <p:spPr>
          <a:xfrm>
            <a:off x="7045238" y="37014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6" name="Google Shape;866;p65"/>
          <p:cNvSpPr/>
          <p:nvPr/>
        </p:nvSpPr>
        <p:spPr>
          <a:xfrm>
            <a:off x="42971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7" name="Google Shape;867;p65"/>
          <p:cNvSpPr/>
          <p:nvPr/>
        </p:nvSpPr>
        <p:spPr>
          <a:xfrm>
            <a:off x="65069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68" name="Google Shape;868;p65"/>
          <p:cNvCxnSpPr>
            <a:stCxn id="861" idx="3"/>
            <a:endCxn id="866" idx="1"/>
          </p:cNvCxnSpPr>
          <p:nvPr/>
        </p:nvCxnSpPr>
        <p:spPr>
          <a:xfrm>
            <a:off x="3215450" y="4072591"/>
            <a:ext cx="10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9" name="Google Shape;869;p65"/>
          <p:cNvCxnSpPr>
            <a:stCxn id="870" idx="3"/>
            <a:endCxn id="867" idx="1"/>
          </p:cNvCxnSpPr>
          <p:nvPr/>
        </p:nvCxnSpPr>
        <p:spPr>
          <a:xfrm>
            <a:off x="5587700" y="4072591"/>
            <a:ext cx="91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1" name="Google Shape;871;p65"/>
          <p:cNvCxnSpPr>
            <a:stCxn id="867" idx="3"/>
            <a:endCxn id="865" idx="2"/>
          </p:cNvCxnSpPr>
          <p:nvPr/>
        </p:nvCxnSpPr>
        <p:spPr>
          <a:xfrm flipH="1" rot="10800000">
            <a:off x="6649400" y="38439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65"/>
          <p:cNvSpPr/>
          <p:nvPr/>
        </p:nvSpPr>
        <p:spPr>
          <a:xfrm>
            <a:off x="7045238" y="41586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3" name="Google Shape;873;p65"/>
          <p:cNvCxnSpPr>
            <a:stCxn id="867" idx="3"/>
            <a:endCxn id="872" idx="2"/>
          </p:cNvCxnSpPr>
          <p:nvPr/>
        </p:nvCxnSpPr>
        <p:spPr>
          <a:xfrm>
            <a:off x="6649400" y="40725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0" name="Google Shape;870;p65"/>
          <p:cNvSpPr/>
          <p:nvPr/>
        </p:nvSpPr>
        <p:spPr>
          <a:xfrm>
            <a:off x="54452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74" name="Google Shape;874;p65"/>
          <p:cNvCxnSpPr>
            <a:stCxn id="866" idx="3"/>
            <a:endCxn id="870" idx="1"/>
          </p:cNvCxnSpPr>
          <p:nvPr/>
        </p:nvCxnSpPr>
        <p:spPr>
          <a:xfrm>
            <a:off x="4439600" y="4072591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5" name="Google Shape;875;p6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NAT with Ports</a:t>
            </a:r>
            <a:endParaRPr/>
          </a:p>
        </p:txBody>
      </p:sp>
      <p:sp>
        <p:nvSpPr>
          <p:cNvPr id="876" name="Google Shape;876;p65"/>
          <p:cNvSpPr txBox="1"/>
          <p:nvPr>
            <p:ph idx="1" type="body"/>
          </p:nvPr>
        </p:nvSpPr>
        <p:spPr>
          <a:xfrm>
            <a:off x="107050" y="402200"/>
            <a:ext cx="8909700" cy="11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Keep track of port numbers in the table.</a:t>
            </a:r>
            <a:endParaRPr/>
          </a:p>
        </p:txBody>
      </p:sp>
      <p:cxnSp>
        <p:nvCxnSpPr>
          <p:cNvPr id="877" name="Google Shape;877;p65"/>
          <p:cNvCxnSpPr>
            <a:stCxn id="878" idx="1"/>
            <a:endCxn id="879" idx="3"/>
          </p:cNvCxnSpPr>
          <p:nvPr/>
        </p:nvCxnSpPr>
        <p:spPr>
          <a:xfrm rot="10800000">
            <a:off x="3924100" y="4394350"/>
            <a:ext cx="429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8" name="Google Shape;878;p65"/>
          <p:cNvSpPr txBox="1"/>
          <p:nvPr/>
        </p:nvSpPr>
        <p:spPr>
          <a:xfrm>
            <a:off x="4353400" y="4258900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Header rewritten!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80" name="Google Shape;880;p65"/>
          <p:cNvCxnSpPr>
            <a:stCxn id="881" idx="1"/>
          </p:cNvCxnSpPr>
          <p:nvPr/>
        </p:nvCxnSpPr>
        <p:spPr>
          <a:xfrm rot="10800000">
            <a:off x="4112975" y="2547482"/>
            <a:ext cx="681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1" name="Google Shape;881;p65"/>
          <p:cNvSpPr txBox="1"/>
          <p:nvPr/>
        </p:nvSpPr>
        <p:spPr>
          <a:xfrm>
            <a:off x="4794275" y="2304332"/>
            <a:ext cx="2878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If I get replies from S, Port 80,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to me, Port 50000, send them to A.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2" name="Google Shape;882;p65"/>
          <p:cNvSpPr/>
          <p:nvPr/>
        </p:nvSpPr>
        <p:spPr>
          <a:xfrm>
            <a:off x="2221850" y="4158700"/>
            <a:ext cx="1702200" cy="471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Port 50000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To: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9" name="Google Shape;879;p65"/>
          <p:cNvSpPr/>
          <p:nvPr/>
        </p:nvSpPr>
        <p:spPr>
          <a:xfrm>
            <a:off x="2221850" y="4158700"/>
            <a:ext cx="1702200" cy="471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b="1" lang="en" sz="1200" strike="sngStrike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 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Port 50000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To: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83" name="Google Shape;883;p65"/>
          <p:cNvGraphicFramePr/>
          <p:nvPr/>
        </p:nvGraphicFramePr>
        <p:xfrm>
          <a:off x="2033513" y="18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12950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</a:tbl>
          </a:graphicData>
        </a:graphic>
      </p:graphicFrame>
      <p:graphicFrame>
        <p:nvGraphicFramePr>
          <p:cNvPr id="884" name="Google Shape;884;p65"/>
          <p:cNvGraphicFramePr/>
          <p:nvPr/>
        </p:nvGraphicFramePr>
        <p:xfrm>
          <a:off x="2033513" y="18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12950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A, Port 50000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85" name="Google Shape;885;p65"/>
          <p:cNvSpPr/>
          <p:nvPr/>
        </p:nvSpPr>
        <p:spPr>
          <a:xfrm>
            <a:off x="207300" y="3455950"/>
            <a:ext cx="1506600" cy="471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A, Port 50000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To: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6" name="Google Shape;886;p65"/>
          <p:cNvSpPr/>
          <p:nvPr/>
        </p:nvSpPr>
        <p:spPr>
          <a:xfrm>
            <a:off x="7280925" y="3608350"/>
            <a:ext cx="1584000" cy="471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R1, Port 50000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To: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66"/>
          <p:cNvSpPr/>
          <p:nvPr/>
        </p:nvSpPr>
        <p:spPr>
          <a:xfrm>
            <a:off x="0" y="3377525"/>
            <a:ext cx="3084000" cy="177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addresses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(inside network)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66"/>
          <p:cNvSpPr/>
          <p:nvPr/>
        </p:nvSpPr>
        <p:spPr>
          <a:xfrm>
            <a:off x="3084075" y="3377525"/>
            <a:ext cx="6060000" cy="17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addresses (the Internet)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3" name="Google Shape;893;p66"/>
          <p:cNvSpPr/>
          <p:nvPr/>
        </p:nvSpPr>
        <p:spPr>
          <a:xfrm>
            <a:off x="1659738" y="3537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4" name="Google Shape;894;p66"/>
          <p:cNvSpPr/>
          <p:nvPr/>
        </p:nvSpPr>
        <p:spPr>
          <a:xfrm>
            <a:off x="1659738" y="3930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5" name="Google Shape;895;p66"/>
          <p:cNvSpPr/>
          <p:nvPr/>
        </p:nvSpPr>
        <p:spPr>
          <a:xfrm>
            <a:off x="1659738" y="4311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6" name="Google Shape;896;p66"/>
          <p:cNvSpPr/>
          <p:nvPr/>
        </p:nvSpPr>
        <p:spPr>
          <a:xfrm>
            <a:off x="2930450" y="39300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97" name="Google Shape;897;p66"/>
          <p:cNvCxnSpPr>
            <a:stCxn id="893" idx="6"/>
            <a:endCxn id="896" idx="1"/>
          </p:cNvCxnSpPr>
          <p:nvPr/>
        </p:nvCxnSpPr>
        <p:spPr>
          <a:xfrm>
            <a:off x="1944738" y="3679975"/>
            <a:ext cx="9858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66"/>
          <p:cNvCxnSpPr>
            <a:stCxn id="894" idx="6"/>
            <a:endCxn id="896" idx="1"/>
          </p:cNvCxnSpPr>
          <p:nvPr/>
        </p:nvCxnSpPr>
        <p:spPr>
          <a:xfrm>
            <a:off x="1944738" y="4072591"/>
            <a:ext cx="9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66"/>
          <p:cNvCxnSpPr>
            <a:stCxn id="895" idx="6"/>
            <a:endCxn id="896" idx="1"/>
          </p:cNvCxnSpPr>
          <p:nvPr/>
        </p:nvCxnSpPr>
        <p:spPr>
          <a:xfrm flipH="1" rot="10800000">
            <a:off x="1944738" y="4072591"/>
            <a:ext cx="9858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0" name="Google Shape;900;p66"/>
          <p:cNvSpPr/>
          <p:nvPr/>
        </p:nvSpPr>
        <p:spPr>
          <a:xfrm>
            <a:off x="7045238" y="37014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1" name="Google Shape;901;p66"/>
          <p:cNvSpPr/>
          <p:nvPr/>
        </p:nvSpPr>
        <p:spPr>
          <a:xfrm>
            <a:off x="42971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2" name="Google Shape;902;p66"/>
          <p:cNvSpPr/>
          <p:nvPr/>
        </p:nvSpPr>
        <p:spPr>
          <a:xfrm>
            <a:off x="65069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3" name="Google Shape;903;p66"/>
          <p:cNvCxnSpPr>
            <a:stCxn id="896" idx="3"/>
            <a:endCxn id="901" idx="1"/>
          </p:cNvCxnSpPr>
          <p:nvPr/>
        </p:nvCxnSpPr>
        <p:spPr>
          <a:xfrm>
            <a:off x="3215450" y="4072591"/>
            <a:ext cx="10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66"/>
          <p:cNvCxnSpPr>
            <a:stCxn id="905" idx="3"/>
            <a:endCxn id="902" idx="1"/>
          </p:cNvCxnSpPr>
          <p:nvPr/>
        </p:nvCxnSpPr>
        <p:spPr>
          <a:xfrm>
            <a:off x="5587700" y="4072591"/>
            <a:ext cx="91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6" name="Google Shape;906;p66"/>
          <p:cNvCxnSpPr>
            <a:stCxn id="902" idx="3"/>
            <a:endCxn id="900" idx="2"/>
          </p:cNvCxnSpPr>
          <p:nvPr/>
        </p:nvCxnSpPr>
        <p:spPr>
          <a:xfrm flipH="1" rot="10800000">
            <a:off x="6649400" y="38439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7" name="Google Shape;907;p66"/>
          <p:cNvSpPr/>
          <p:nvPr/>
        </p:nvSpPr>
        <p:spPr>
          <a:xfrm>
            <a:off x="7045238" y="41586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8" name="Google Shape;908;p66"/>
          <p:cNvCxnSpPr>
            <a:stCxn id="902" idx="3"/>
            <a:endCxn id="907" idx="2"/>
          </p:cNvCxnSpPr>
          <p:nvPr/>
        </p:nvCxnSpPr>
        <p:spPr>
          <a:xfrm>
            <a:off x="6649400" y="40725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5" name="Google Shape;905;p66"/>
          <p:cNvSpPr/>
          <p:nvPr/>
        </p:nvSpPr>
        <p:spPr>
          <a:xfrm>
            <a:off x="54452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09" name="Google Shape;909;p66"/>
          <p:cNvCxnSpPr>
            <a:stCxn id="901" idx="3"/>
            <a:endCxn id="905" idx="1"/>
          </p:cNvCxnSpPr>
          <p:nvPr/>
        </p:nvCxnSpPr>
        <p:spPr>
          <a:xfrm>
            <a:off x="4439600" y="4072591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0" name="Google Shape;910;p6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NAT with Ports</a:t>
            </a:r>
            <a:endParaRPr/>
          </a:p>
        </p:txBody>
      </p:sp>
      <p:sp>
        <p:nvSpPr>
          <p:cNvPr id="911" name="Google Shape;911;p66"/>
          <p:cNvSpPr txBox="1"/>
          <p:nvPr>
            <p:ph idx="1" type="body"/>
          </p:nvPr>
        </p:nvSpPr>
        <p:spPr>
          <a:xfrm>
            <a:off x="107050" y="402200"/>
            <a:ext cx="8909700" cy="11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Keep track of port numbers in the table.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IPs </a:t>
            </a:r>
            <a:r>
              <a:rPr i="1" lang="en"/>
              <a:t>and inside source port</a:t>
            </a:r>
            <a:r>
              <a:rPr lang="en"/>
              <a:t> to rewrite incoming packets.</a:t>
            </a:r>
            <a:endParaRPr/>
          </a:p>
        </p:txBody>
      </p:sp>
      <p:graphicFrame>
        <p:nvGraphicFramePr>
          <p:cNvPr id="912" name="Google Shape;912;p66"/>
          <p:cNvGraphicFramePr/>
          <p:nvPr/>
        </p:nvGraphicFramePr>
        <p:xfrm>
          <a:off x="2033513" y="18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12950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3" name="Google Shape;913;p66"/>
          <p:cNvSpPr/>
          <p:nvPr/>
        </p:nvSpPr>
        <p:spPr>
          <a:xfrm>
            <a:off x="2221863" y="4158700"/>
            <a:ext cx="1702200" cy="471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To: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R1, Port 50000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4" name="Google Shape;914;p66"/>
          <p:cNvCxnSpPr>
            <a:stCxn id="915" idx="1"/>
          </p:cNvCxnSpPr>
          <p:nvPr/>
        </p:nvCxnSpPr>
        <p:spPr>
          <a:xfrm rot="10800000">
            <a:off x="3924100" y="4394350"/>
            <a:ext cx="429300" cy="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5" name="Google Shape;915;p66"/>
          <p:cNvSpPr txBox="1"/>
          <p:nvPr/>
        </p:nvSpPr>
        <p:spPr>
          <a:xfrm>
            <a:off x="4353400" y="4258900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Header rewritten!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6" name="Google Shape;916;p66"/>
          <p:cNvSpPr/>
          <p:nvPr/>
        </p:nvSpPr>
        <p:spPr>
          <a:xfrm>
            <a:off x="2221863" y="4158700"/>
            <a:ext cx="1702200" cy="471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To: </a:t>
            </a:r>
            <a:r>
              <a:rPr b="1" lang="en" sz="1200" strike="sng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Port 50000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7" name="Google Shape;917;p66"/>
          <p:cNvSpPr/>
          <p:nvPr/>
        </p:nvSpPr>
        <p:spPr>
          <a:xfrm>
            <a:off x="7280925" y="3608350"/>
            <a:ext cx="1584000" cy="471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To: R1, Port 50000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8" name="Google Shape;918;p66"/>
          <p:cNvSpPr/>
          <p:nvPr/>
        </p:nvSpPr>
        <p:spPr>
          <a:xfrm>
            <a:off x="207300" y="3455950"/>
            <a:ext cx="1506600" cy="471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A, Port 50000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3" name="Google Shape;923;p67"/>
          <p:cNvGraphicFramePr/>
          <p:nvPr/>
        </p:nvGraphicFramePr>
        <p:xfrm>
          <a:off x="2033513" y="18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12950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24" name="Google Shape;924;p67"/>
          <p:cNvGraphicFramePr/>
          <p:nvPr/>
        </p:nvGraphicFramePr>
        <p:xfrm>
          <a:off x="2033513" y="18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12950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5" name="Google Shape;925;p67"/>
          <p:cNvSpPr/>
          <p:nvPr/>
        </p:nvSpPr>
        <p:spPr>
          <a:xfrm>
            <a:off x="0" y="3377525"/>
            <a:ext cx="3084000" cy="177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addresses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(inside network)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6" name="Google Shape;926;p67"/>
          <p:cNvSpPr/>
          <p:nvPr/>
        </p:nvSpPr>
        <p:spPr>
          <a:xfrm>
            <a:off x="3084075" y="3377525"/>
            <a:ext cx="6060000" cy="17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addresses (the Internet)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7" name="Google Shape;927;p67"/>
          <p:cNvSpPr/>
          <p:nvPr/>
        </p:nvSpPr>
        <p:spPr>
          <a:xfrm>
            <a:off x="1659738" y="3537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8" name="Google Shape;928;p67"/>
          <p:cNvSpPr/>
          <p:nvPr/>
        </p:nvSpPr>
        <p:spPr>
          <a:xfrm>
            <a:off x="1659738" y="3930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9" name="Google Shape;929;p67"/>
          <p:cNvSpPr/>
          <p:nvPr/>
        </p:nvSpPr>
        <p:spPr>
          <a:xfrm>
            <a:off x="1659738" y="4311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0" name="Google Shape;930;p67"/>
          <p:cNvSpPr/>
          <p:nvPr/>
        </p:nvSpPr>
        <p:spPr>
          <a:xfrm>
            <a:off x="2930450" y="39300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1" name="Google Shape;931;p67"/>
          <p:cNvCxnSpPr>
            <a:stCxn id="927" idx="6"/>
            <a:endCxn id="930" idx="1"/>
          </p:cNvCxnSpPr>
          <p:nvPr/>
        </p:nvCxnSpPr>
        <p:spPr>
          <a:xfrm>
            <a:off x="1944738" y="3679975"/>
            <a:ext cx="9858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2" name="Google Shape;932;p67"/>
          <p:cNvCxnSpPr>
            <a:stCxn id="928" idx="6"/>
            <a:endCxn id="930" idx="1"/>
          </p:cNvCxnSpPr>
          <p:nvPr/>
        </p:nvCxnSpPr>
        <p:spPr>
          <a:xfrm>
            <a:off x="1944738" y="4072591"/>
            <a:ext cx="9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3" name="Google Shape;933;p67"/>
          <p:cNvCxnSpPr>
            <a:stCxn id="929" idx="6"/>
            <a:endCxn id="930" idx="1"/>
          </p:cNvCxnSpPr>
          <p:nvPr/>
        </p:nvCxnSpPr>
        <p:spPr>
          <a:xfrm flipH="1" rot="10800000">
            <a:off x="1944738" y="4072591"/>
            <a:ext cx="9858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4" name="Google Shape;934;p67"/>
          <p:cNvSpPr/>
          <p:nvPr/>
        </p:nvSpPr>
        <p:spPr>
          <a:xfrm>
            <a:off x="7045238" y="37014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5" name="Google Shape;935;p67"/>
          <p:cNvSpPr/>
          <p:nvPr/>
        </p:nvSpPr>
        <p:spPr>
          <a:xfrm>
            <a:off x="42971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6" name="Google Shape;936;p67"/>
          <p:cNvSpPr/>
          <p:nvPr/>
        </p:nvSpPr>
        <p:spPr>
          <a:xfrm>
            <a:off x="65069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7" name="Google Shape;937;p67"/>
          <p:cNvCxnSpPr>
            <a:stCxn id="930" idx="3"/>
            <a:endCxn id="935" idx="1"/>
          </p:cNvCxnSpPr>
          <p:nvPr/>
        </p:nvCxnSpPr>
        <p:spPr>
          <a:xfrm>
            <a:off x="3215450" y="4072591"/>
            <a:ext cx="10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8" name="Google Shape;938;p67"/>
          <p:cNvCxnSpPr>
            <a:stCxn id="939" idx="3"/>
            <a:endCxn id="936" idx="1"/>
          </p:cNvCxnSpPr>
          <p:nvPr/>
        </p:nvCxnSpPr>
        <p:spPr>
          <a:xfrm>
            <a:off x="5587700" y="4072591"/>
            <a:ext cx="91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0" name="Google Shape;940;p67"/>
          <p:cNvCxnSpPr>
            <a:stCxn id="936" idx="3"/>
            <a:endCxn id="934" idx="2"/>
          </p:cNvCxnSpPr>
          <p:nvPr/>
        </p:nvCxnSpPr>
        <p:spPr>
          <a:xfrm flipH="1" rot="10800000">
            <a:off x="6649400" y="38439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1" name="Google Shape;941;p67"/>
          <p:cNvSpPr/>
          <p:nvPr/>
        </p:nvSpPr>
        <p:spPr>
          <a:xfrm>
            <a:off x="7045238" y="41586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2" name="Google Shape;942;p67"/>
          <p:cNvCxnSpPr>
            <a:stCxn id="936" idx="3"/>
            <a:endCxn id="941" idx="2"/>
          </p:cNvCxnSpPr>
          <p:nvPr/>
        </p:nvCxnSpPr>
        <p:spPr>
          <a:xfrm>
            <a:off x="6649400" y="40725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9" name="Google Shape;939;p67"/>
          <p:cNvSpPr/>
          <p:nvPr/>
        </p:nvSpPr>
        <p:spPr>
          <a:xfrm>
            <a:off x="54452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3" name="Google Shape;943;p67"/>
          <p:cNvCxnSpPr>
            <a:stCxn id="935" idx="3"/>
            <a:endCxn id="939" idx="1"/>
          </p:cNvCxnSpPr>
          <p:nvPr/>
        </p:nvCxnSpPr>
        <p:spPr>
          <a:xfrm>
            <a:off x="4439600" y="4072591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4" name="Google Shape;944;p6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NAT with Ports</a:t>
            </a:r>
            <a:endParaRPr/>
          </a:p>
        </p:txBody>
      </p:sp>
      <p:sp>
        <p:nvSpPr>
          <p:cNvPr id="945" name="Google Shape;945;p67"/>
          <p:cNvSpPr txBox="1"/>
          <p:nvPr>
            <p:ph idx="1" type="body"/>
          </p:nvPr>
        </p:nvSpPr>
        <p:spPr>
          <a:xfrm>
            <a:off x="107050" y="402200"/>
            <a:ext cx="8909700" cy="13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Keep track of port numbers in the table.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IPs </a:t>
            </a:r>
            <a:r>
              <a:rPr i="1" lang="en"/>
              <a:t>and inside source port</a:t>
            </a:r>
            <a:r>
              <a:rPr lang="en"/>
              <a:t> to rewrite incoming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inside port number will help us distinguish incoming packets.</a:t>
            </a:r>
            <a:endParaRPr/>
          </a:p>
        </p:txBody>
      </p:sp>
      <p:cxnSp>
        <p:nvCxnSpPr>
          <p:cNvPr id="946" name="Google Shape;946;p67"/>
          <p:cNvCxnSpPr>
            <a:stCxn id="947" idx="1"/>
            <a:endCxn id="948" idx="3"/>
          </p:cNvCxnSpPr>
          <p:nvPr/>
        </p:nvCxnSpPr>
        <p:spPr>
          <a:xfrm rot="10800000">
            <a:off x="3924100" y="4394350"/>
            <a:ext cx="429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7" name="Google Shape;947;p67"/>
          <p:cNvSpPr txBox="1"/>
          <p:nvPr/>
        </p:nvSpPr>
        <p:spPr>
          <a:xfrm>
            <a:off x="4353400" y="4258900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Header rewritten!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49" name="Google Shape;949;p67"/>
          <p:cNvCxnSpPr>
            <a:stCxn id="950" idx="1"/>
          </p:cNvCxnSpPr>
          <p:nvPr/>
        </p:nvCxnSpPr>
        <p:spPr>
          <a:xfrm rot="10800000">
            <a:off x="4112975" y="2812717"/>
            <a:ext cx="681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0" name="Google Shape;950;p67"/>
          <p:cNvSpPr txBox="1"/>
          <p:nvPr/>
        </p:nvSpPr>
        <p:spPr>
          <a:xfrm>
            <a:off x="4794275" y="2569567"/>
            <a:ext cx="2878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If I get replies from S, Port 80,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to me, Port 60000, send them to 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1" name="Google Shape;951;p67"/>
          <p:cNvSpPr/>
          <p:nvPr/>
        </p:nvSpPr>
        <p:spPr>
          <a:xfrm>
            <a:off x="2221850" y="4158700"/>
            <a:ext cx="1702200" cy="471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Port 60000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8" name="Google Shape;948;p67"/>
          <p:cNvSpPr/>
          <p:nvPr/>
        </p:nvSpPr>
        <p:spPr>
          <a:xfrm>
            <a:off x="2221850" y="4158700"/>
            <a:ext cx="1702200" cy="471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b="1" lang="en" sz="1200" strike="sngStrike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 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Port 60000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To: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952" name="Google Shape;952;p67"/>
          <p:cNvGraphicFramePr/>
          <p:nvPr/>
        </p:nvGraphicFramePr>
        <p:xfrm>
          <a:off x="2033513" y="18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12950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953" name="Google Shape;953;p67"/>
          <p:cNvGraphicFramePr/>
          <p:nvPr/>
        </p:nvGraphicFramePr>
        <p:xfrm>
          <a:off x="2033513" y="18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12950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B, Port 60000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4" name="Google Shape;954;p67"/>
          <p:cNvSpPr/>
          <p:nvPr/>
        </p:nvSpPr>
        <p:spPr>
          <a:xfrm>
            <a:off x="207300" y="3836950"/>
            <a:ext cx="1506600" cy="471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Port 60000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5" name="Google Shape;955;p67"/>
          <p:cNvSpPr/>
          <p:nvPr/>
        </p:nvSpPr>
        <p:spPr>
          <a:xfrm>
            <a:off x="7280925" y="3608350"/>
            <a:ext cx="1584000" cy="471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R1, Port 60000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To: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68"/>
          <p:cNvSpPr/>
          <p:nvPr/>
        </p:nvSpPr>
        <p:spPr>
          <a:xfrm>
            <a:off x="0" y="3377525"/>
            <a:ext cx="3084000" cy="177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addresses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(inside network)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1" name="Google Shape;961;p68"/>
          <p:cNvSpPr/>
          <p:nvPr/>
        </p:nvSpPr>
        <p:spPr>
          <a:xfrm>
            <a:off x="3084075" y="3377525"/>
            <a:ext cx="6060000" cy="17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addresses (the Internet)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2" name="Google Shape;962;p68"/>
          <p:cNvSpPr/>
          <p:nvPr/>
        </p:nvSpPr>
        <p:spPr>
          <a:xfrm>
            <a:off x="1659738" y="3537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3" name="Google Shape;963;p68"/>
          <p:cNvSpPr/>
          <p:nvPr/>
        </p:nvSpPr>
        <p:spPr>
          <a:xfrm>
            <a:off x="1659738" y="3930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4" name="Google Shape;964;p68"/>
          <p:cNvSpPr/>
          <p:nvPr/>
        </p:nvSpPr>
        <p:spPr>
          <a:xfrm>
            <a:off x="1659738" y="4311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5" name="Google Shape;965;p68"/>
          <p:cNvSpPr/>
          <p:nvPr/>
        </p:nvSpPr>
        <p:spPr>
          <a:xfrm>
            <a:off x="2930450" y="39300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6" name="Google Shape;966;p68"/>
          <p:cNvCxnSpPr>
            <a:stCxn id="962" idx="6"/>
            <a:endCxn id="965" idx="1"/>
          </p:cNvCxnSpPr>
          <p:nvPr/>
        </p:nvCxnSpPr>
        <p:spPr>
          <a:xfrm>
            <a:off x="1944738" y="3679975"/>
            <a:ext cx="9858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7" name="Google Shape;967;p68"/>
          <p:cNvCxnSpPr>
            <a:stCxn id="963" idx="6"/>
            <a:endCxn id="965" idx="1"/>
          </p:cNvCxnSpPr>
          <p:nvPr/>
        </p:nvCxnSpPr>
        <p:spPr>
          <a:xfrm>
            <a:off x="1944738" y="4072591"/>
            <a:ext cx="9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8" name="Google Shape;968;p68"/>
          <p:cNvCxnSpPr>
            <a:stCxn id="964" idx="6"/>
            <a:endCxn id="965" idx="1"/>
          </p:cNvCxnSpPr>
          <p:nvPr/>
        </p:nvCxnSpPr>
        <p:spPr>
          <a:xfrm flipH="1" rot="10800000">
            <a:off x="1944738" y="4072591"/>
            <a:ext cx="9858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9" name="Google Shape;969;p68"/>
          <p:cNvSpPr/>
          <p:nvPr/>
        </p:nvSpPr>
        <p:spPr>
          <a:xfrm>
            <a:off x="7045238" y="37014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0" name="Google Shape;970;p68"/>
          <p:cNvSpPr/>
          <p:nvPr/>
        </p:nvSpPr>
        <p:spPr>
          <a:xfrm>
            <a:off x="42971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1" name="Google Shape;971;p68"/>
          <p:cNvSpPr/>
          <p:nvPr/>
        </p:nvSpPr>
        <p:spPr>
          <a:xfrm>
            <a:off x="65069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2" name="Google Shape;972;p68"/>
          <p:cNvCxnSpPr>
            <a:stCxn id="965" idx="3"/>
            <a:endCxn id="970" idx="1"/>
          </p:cNvCxnSpPr>
          <p:nvPr/>
        </p:nvCxnSpPr>
        <p:spPr>
          <a:xfrm>
            <a:off x="3215450" y="4072591"/>
            <a:ext cx="10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68"/>
          <p:cNvCxnSpPr>
            <a:stCxn id="974" idx="3"/>
            <a:endCxn id="971" idx="1"/>
          </p:cNvCxnSpPr>
          <p:nvPr/>
        </p:nvCxnSpPr>
        <p:spPr>
          <a:xfrm>
            <a:off x="5587700" y="4072591"/>
            <a:ext cx="91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68"/>
          <p:cNvCxnSpPr>
            <a:stCxn id="971" idx="3"/>
            <a:endCxn id="969" idx="2"/>
          </p:cNvCxnSpPr>
          <p:nvPr/>
        </p:nvCxnSpPr>
        <p:spPr>
          <a:xfrm flipH="1" rot="10800000">
            <a:off x="6649400" y="38439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6" name="Google Shape;976;p68"/>
          <p:cNvSpPr/>
          <p:nvPr/>
        </p:nvSpPr>
        <p:spPr>
          <a:xfrm>
            <a:off x="7045238" y="41586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7" name="Google Shape;977;p68"/>
          <p:cNvCxnSpPr>
            <a:stCxn id="971" idx="3"/>
            <a:endCxn id="976" idx="2"/>
          </p:cNvCxnSpPr>
          <p:nvPr/>
        </p:nvCxnSpPr>
        <p:spPr>
          <a:xfrm>
            <a:off x="6649400" y="40725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4" name="Google Shape;974;p68"/>
          <p:cNvSpPr/>
          <p:nvPr/>
        </p:nvSpPr>
        <p:spPr>
          <a:xfrm>
            <a:off x="54452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78" name="Google Shape;978;p68"/>
          <p:cNvCxnSpPr>
            <a:stCxn id="970" idx="3"/>
            <a:endCxn id="974" idx="1"/>
          </p:cNvCxnSpPr>
          <p:nvPr/>
        </p:nvCxnSpPr>
        <p:spPr>
          <a:xfrm>
            <a:off x="4439600" y="4072591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9" name="Google Shape;979;p6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NAT with Ports</a:t>
            </a:r>
            <a:endParaRPr/>
          </a:p>
        </p:txBody>
      </p:sp>
      <p:sp>
        <p:nvSpPr>
          <p:cNvPr id="980" name="Google Shape;980;p68"/>
          <p:cNvSpPr txBox="1"/>
          <p:nvPr>
            <p:ph idx="1" type="body"/>
          </p:nvPr>
        </p:nvSpPr>
        <p:spPr>
          <a:xfrm>
            <a:off x="107050" y="402200"/>
            <a:ext cx="8909700" cy="13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Solution: Keep track of port numbers in the table.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IPs </a:t>
            </a:r>
            <a:r>
              <a:rPr i="1" lang="en"/>
              <a:t>and inside source port</a:t>
            </a:r>
            <a:r>
              <a:rPr lang="en"/>
              <a:t> to rewrite incoming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inside port number will help us distinguish incoming packets.</a:t>
            </a:r>
            <a:endParaRPr/>
          </a:p>
        </p:txBody>
      </p:sp>
      <p:graphicFrame>
        <p:nvGraphicFramePr>
          <p:cNvPr id="981" name="Google Shape;981;p68"/>
          <p:cNvGraphicFramePr/>
          <p:nvPr/>
        </p:nvGraphicFramePr>
        <p:xfrm>
          <a:off x="2033513" y="18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12950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B, Port 60000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82" name="Google Shape;982;p68"/>
          <p:cNvSpPr/>
          <p:nvPr/>
        </p:nvSpPr>
        <p:spPr>
          <a:xfrm>
            <a:off x="2221863" y="4158700"/>
            <a:ext cx="1702200" cy="471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R1, Port 60000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3" name="Google Shape;983;p68"/>
          <p:cNvCxnSpPr>
            <a:stCxn id="984" idx="1"/>
          </p:cNvCxnSpPr>
          <p:nvPr/>
        </p:nvCxnSpPr>
        <p:spPr>
          <a:xfrm rot="10800000">
            <a:off x="3924100" y="4394350"/>
            <a:ext cx="429300" cy="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4" name="Google Shape;984;p68"/>
          <p:cNvSpPr txBox="1"/>
          <p:nvPr/>
        </p:nvSpPr>
        <p:spPr>
          <a:xfrm>
            <a:off x="4353400" y="4258900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Header rewritten!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5" name="Google Shape;985;p68"/>
          <p:cNvSpPr/>
          <p:nvPr/>
        </p:nvSpPr>
        <p:spPr>
          <a:xfrm>
            <a:off x="2221863" y="4158700"/>
            <a:ext cx="1702200" cy="471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</a:t>
            </a:r>
            <a:r>
              <a:rPr b="1" lang="en" sz="1200" strike="sng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R1</a:t>
            </a: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Port 60000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6" name="Google Shape;986;p68"/>
          <p:cNvSpPr/>
          <p:nvPr/>
        </p:nvSpPr>
        <p:spPr>
          <a:xfrm>
            <a:off x="7280925" y="3608350"/>
            <a:ext cx="1584000" cy="471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R1, Port 60000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7" name="Google Shape;987;p68"/>
          <p:cNvSpPr/>
          <p:nvPr/>
        </p:nvSpPr>
        <p:spPr>
          <a:xfrm>
            <a:off x="207300" y="3836950"/>
            <a:ext cx="1506600" cy="471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B, Port 60000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6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 with Ports</a:t>
            </a:r>
            <a:endParaRPr/>
          </a:p>
        </p:txBody>
      </p:sp>
      <p:sp>
        <p:nvSpPr>
          <p:cNvPr id="993" name="Google Shape;993;p69"/>
          <p:cNvSpPr txBox="1"/>
          <p:nvPr>
            <p:ph idx="1" type="body"/>
          </p:nvPr>
        </p:nvSpPr>
        <p:spPr>
          <a:xfrm>
            <a:off x="107050" y="402200"/>
            <a:ext cx="8909700" cy="26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Ports help distinguish connections to the same outside server.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IPs </a:t>
            </a:r>
            <a:r>
              <a:rPr i="1" lang="en"/>
              <a:t>and inside source port</a:t>
            </a:r>
            <a:r>
              <a:rPr lang="en"/>
              <a:t> to rewrite incoming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More generally, each entry of the table represents a </a:t>
            </a:r>
            <a:r>
              <a:rPr i="1" lang="en"/>
              <a:t>connection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Recall: A Layer 4 connection is uniquely identified by a 5-tuple:</a:t>
            </a:r>
            <a:br>
              <a:rPr lang="en"/>
            </a:br>
            <a:r>
              <a:rPr lang="en"/>
              <a:t>(inside IP, inside port, protocol, outside IP, outside port).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the table to associate incoming packets with a connection.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94" name="Google Shape;994;p69"/>
          <p:cNvGraphicFramePr/>
          <p:nvPr/>
        </p:nvGraphicFramePr>
        <p:xfrm>
          <a:off x="1293400" y="3395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460525"/>
                <a:gridCol w="1042650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 (Conceptual)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B, Port 60000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5" name="Google Shape;995;p69"/>
          <p:cNvGraphicFramePr/>
          <p:nvPr/>
        </p:nvGraphicFramePr>
        <p:xfrm>
          <a:off x="4762225" y="3395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460525"/>
                <a:gridCol w="1042650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 (Actual)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5-tuples: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(A, 50000, TCP, S, 80)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(B, 60000, TCP, S, 80)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7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ARP: Connecting Layers 2 and 3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DHCP: Joining a New Network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NAT: Network Address Translation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Basic NAT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NAT with Ports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Rewriting Ports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NAT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TLS: Secure Bytestreams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End-to-End Walkthrough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001" name="Google Shape;1001;p7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Rewriting Ports</a:t>
            </a:r>
            <a:endParaRPr/>
          </a:p>
        </p:txBody>
      </p:sp>
      <p:sp>
        <p:nvSpPr>
          <p:cNvPr id="1002" name="Google Shape;1002;p7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17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7" name="Google Shape;1007;p71"/>
          <p:cNvGraphicFramePr/>
          <p:nvPr/>
        </p:nvGraphicFramePr>
        <p:xfrm>
          <a:off x="2033513" y="18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12950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08" name="Google Shape;1008;p71"/>
          <p:cNvGraphicFramePr/>
          <p:nvPr/>
        </p:nvGraphicFramePr>
        <p:xfrm>
          <a:off x="2033513" y="18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12950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9" name="Google Shape;1009;p71"/>
          <p:cNvSpPr/>
          <p:nvPr/>
        </p:nvSpPr>
        <p:spPr>
          <a:xfrm>
            <a:off x="0" y="3377525"/>
            <a:ext cx="3084000" cy="177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addresses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(inside network)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0" name="Google Shape;1010;p71"/>
          <p:cNvSpPr/>
          <p:nvPr/>
        </p:nvSpPr>
        <p:spPr>
          <a:xfrm>
            <a:off x="3084075" y="3377525"/>
            <a:ext cx="6060000" cy="17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addresses (the Internet)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1" name="Google Shape;1011;p71"/>
          <p:cNvSpPr/>
          <p:nvPr/>
        </p:nvSpPr>
        <p:spPr>
          <a:xfrm>
            <a:off x="1659738" y="3537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2" name="Google Shape;1012;p71"/>
          <p:cNvSpPr/>
          <p:nvPr/>
        </p:nvSpPr>
        <p:spPr>
          <a:xfrm>
            <a:off x="1659738" y="3930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3" name="Google Shape;1013;p71"/>
          <p:cNvSpPr/>
          <p:nvPr/>
        </p:nvSpPr>
        <p:spPr>
          <a:xfrm>
            <a:off x="1659738" y="4311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4" name="Google Shape;1014;p71"/>
          <p:cNvSpPr/>
          <p:nvPr/>
        </p:nvSpPr>
        <p:spPr>
          <a:xfrm>
            <a:off x="2930450" y="39300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15" name="Google Shape;1015;p71"/>
          <p:cNvCxnSpPr>
            <a:stCxn id="1011" idx="6"/>
            <a:endCxn id="1014" idx="1"/>
          </p:cNvCxnSpPr>
          <p:nvPr/>
        </p:nvCxnSpPr>
        <p:spPr>
          <a:xfrm>
            <a:off x="1944738" y="3679975"/>
            <a:ext cx="9858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" name="Google Shape;1016;p71"/>
          <p:cNvCxnSpPr>
            <a:stCxn id="1012" idx="6"/>
            <a:endCxn id="1014" idx="1"/>
          </p:cNvCxnSpPr>
          <p:nvPr/>
        </p:nvCxnSpPr>
        <p:spPr>
          <a:xfrm>
            <a:off x="1944738" y="4072591"/>
            <a:ext cx="9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7" name="Google Shape;1017;p71"/>
          <p:cNvCxnSpPr>
            <a:stCxn id="1013" idx="6"/>
            <a:endCxn id="1014" idx="1"/>
          </p:cNvCxnSpPr>
          <p:nvPr/>
        </p:nvCxnSpPr>
        <p:spPr>
          <a:xfrm flipH="1" rot="10800000">
            <a:off x="1944738" y="4072591"/>
            <a:ext cx="9858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8" name="Google Shape;1018;p71"/>
          <p:cNvSpPr/>
          <p:nvPr/>
        </p:nvSpPr>
        <p:spPr>
          <a:xfrm>
            <a:off x="7045238" y="37014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9" name="Google Shape;1019;p71"/>
          <p:cNvSpPr/>
          <p:nvPr/>
        </p:nvSpPr>
        <p:spPr>
          <a:xfrm>
            <a:off x="42971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Google Shape;1020;p71"/>
          <p:cNvSpPr/>
          <p:nvPr/>
        </p:nvSpPr>
        <p:spPr>
          <a:xfrm>
            <a:off x="65069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1" name="Google Shape;1021;p71"/>
          <p:cNvCxnSpPr>
            <a:stCxn id="1014" idx="3"/>
            <a:endCxn id="1019" idx="1"/>
          </p:cNvCxnSpPr>
          <p:nvPr/>
        </p:nvCxnSpPr>
        <p:spPr>
          <a:xfrm>
            <a:off x="3215450" y="4072591"/>
            <a:ext cx="10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2" name="Google Shape;1022;p71"/>
          <p:cNvCxnSpPr>
            <a:stCxn id="1023" idx="3"/>
            <a:endCxn id="1020" idx="1"/>
          </p:cNvCxnSpPr>
          <p:nvPr/>
        </p:nvCxnSpPr>
        <p:spPr>
          <a:xfrm>
            <a:off x="5587700" y="4072591"/>
            <a:ext cx="91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4" name="Google Shape;1024;p71"/>
          <p:cNvCxnSpPr>
            <a:stCxn id="1020" idx="3"/>
            <a:endCxn id="1018" idx="2"/>
          </p:cNvCxnSpPr>
          <p:nvPr/>
        </p:nvCxnSpPr>
        <p:spPr>
          <a:xfrm flipH="1" rot="10800000">
            <a:off x="6649400" y="38439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5" name="Google Shape;1025;p71"/>
          <p:cNvSpPr/>
          <p:nvPr/>
        </p:nvSpPr>
        <p:spPr>
          <a:xfrm>
            <a:off x="7045238" y="41586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6" name="Google Shape;1026;p71"/>
          <p:cNvCxnSpPr>
            <a:stCxn id="1020" idx="3"/>
            <a:endCxn id="1025" idx="2"/>
          </p:cNvCxnSpPr>
          <p:nvPr/>
        </p:nvCxnSpPr>
        <p:spPr>
          <a:xfrm>
            <a:off x="6649400" y="40725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3" name="Google Shape;1023;p71"/>
          <p:cNvSpPr/>
          <p:nvPr/>
        </p:nvSpPr>
        <p:spPr>
          <a:xfrm>
            <a:off x="54452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7" name="Google Shape;1027;p71"/>
          <p:cNvCxnSpPr>
            <a:stCxn id="1019" idx="3"/>
            <a:endCxn id="1023" idx="1"/>
          </p:cNvCxnSpPr>
          <p:nvPr/>
        </p:nvCxnSpPr>
        <p:spPr>
          <a:xfrm>
            <a:off x="4439600" y="4072591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8" name="Google Shape;1028;p7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Problem with NAT with Ports</a:t>
            </a:r>
            <a:endParaRPr/>
          </a:p>
        </p:txBody>
      </p:sp>
      <p:sp>
        <p:nvSpPr>
          <p:cNvPr id="1029" name="Google Shape;1029;p71"/>
          <p:cNvSpPr txBox="1"/>
          <p:nvPr>
            <p:ph idx="1" type="body"/>
          </p:nvPr>
        </p:nvSpPr>
        <p:spPr>
          <a:xfrm>
            <a:off x="107050" y="402200"/>
            <a:ext cx="8909700" cy="13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A and B both use the </a:t>
            </a:r>
            <a:r>
              <a:rPr i="1" lang="en"/>
              <a:t>same inside port</a:t>
            </a:r>
            <a:r>
              <a:rPr lang="en"/>
              <a:t>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only distinguishing value is the inside IP, and the router is rewriting it!</a:t>
            </a:r>
            <a:endParaRPr/>
          </a:p>
        </p:txBody>
      </p:sp>
      <p:cxnSp>
        <p:nvCxnSpPr>
          <p:cNvPr id="1030" name="Google Shape;1030;p71"/>
          <p:cNvCxnSpPr>
            <a:stCxn id="1031" idx="1"/>
            <a:endCxn id="1032" idx="3"/>
          </p:cNvCxnSpPr>
          <p:nvPr/>
        </p:nvCxnSpPr>
        <p:spPr>
          <a:xfrm rot="10800000">
            <a:off x="3924100" y="4394350"/>
            <a:ext cx="429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1" name="Google Shape;1031;p71"/>
          <p:cNvSpPr txBox="1"/>
          <p:nvPr/>
        </p:nvSpPr>
        <p:spPr>
          <a:xfrm>
            <a:off x="4353400" y="4258900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Header rewritten!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33" name="Google Shape;1033;p71"/>
          <p:cNvCxnSpPr>
            <a:stCxn id="1034" idx="1"/>
          </p:cNvCxnSpPr>
          <p:nvPr/>
        </p:nvCxnSpPr>
        <p:spPr>
          <a:xfrm rot="10800000">
            <a:off x="4112975" y="2812717"/>
            <a:ext cx="681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4" name="Google Shape;1034;p71"/>
          <p:cNvSpPr txBox="1"/>
          <p:nvPr/>
        </p:nvSpPr>
        <p:spPr>
          <a:xfrm>
            <a:off x="4794275" y="2569567"/>
            <a:ext cx="2878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If I get replies from S, Port 80,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to me, Port 50000, send them to 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5" name="Google Shape;1035;p71"/>
          <p:cNvSpPr/>
          <p:nvPr/>
        </p:nvSpPr>
        <p:spPr>
          <a:xfrm>
            <a:off x="2221850" y="4158700"/>
            <a:ext cx="1702200" cy="471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Port 50000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2" name="Google Shape;1032;p71"/>
          <p:cNvSpPr/>
          <p:nvPr/>
        </p:nvSpPr>
        <p:spPr>
          <a:xfrm>
            <a:off x="2221850" y="4158700"/>
            <a:ext cx="1702200" cy="471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</a:t>
            </a:r>
            <a:r>
              <a:rPr b="1" lang="en" sz="1200" strike="sngStrike"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b="1" lang="en" sz="1200">
                <a:latin typeface="Roboto"/>
                <a:ea typeface="Roboto"/>
                <a:cs typeface="Roboto"/>
                <a:sym typeface="Roboto"/>
              </a:rPr>
              <a:t> R1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, Port 50000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To: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36" name="Google Shape;1036;p71"/>
          <p:cNvGraphicFramePr/>
          <p:nvPr/>
        </p:nvGraphicFramePr>
        <p:xfrm>
          <a:off x="2033513" y="18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12950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graphicFrame>
        <p:nvGraphicFramePr>
          <p:cNvPr id="1037" name="Google Shape;1037;p71"/>
          <p:cNvGraphicFramePr/>
          <p:nvPr/>
        </p:nvGraphicFramePr>
        <p:xfrm>
          <a:off x="2033513" y="18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12950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B, Port 50000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38" name="Google Shape;1038;p71"/>
          <p:cNvSpPr/>
          <p:nvPr/>
        </p:nvSpPr>
        <p:spPr>
          <a:xfrm>
            <a:off x="207300" y="3836950"/>
            <a:ext cx="1506600" cy="471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Port 50000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71"/>
          <p:cNvSpPr/>
          <p:nvPr/>
        </p:nvSpPr>
        <p:spPr>
          <a:xfrm>
            <a:off x="7280925" y="3608350"/>
            <a:ext cx="1584000" cy="471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R1, Port 50000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To: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72"/>
          <p:cNvSpPr/>
          <p:nvPr/>
        </p:nvSpPr>
        <p:spPr>
          <a:xfrm>
            <a:off x="0" y="3377525"/>
            <a:ext cx="3084000" cy="177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addresses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(inside network)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5" name="Google Shape;1045;p72"/>
          <p:cNvSpPr/>
          <p:nvPr/>
        </p:nvSpPr>
        <p:spPr>
          <a:xfrm>
            <a:off x="3084075" y="3377525"/>
            <a:ext cx="6060000" cy="17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addresses (the Internet)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6" name="Google Shape;1046;p72"/>
          <p:cNvSpPr/>
          <p:nvPr/>
        </p:nvSpPr>
        <p:spPr>
          <a:xfrm>
            <a:off x="1659738" y="3537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7" name="Google Shape;1047;p72"/>
          <p:cNvSpPr/>
          <p:nvPr/>
        </p:nvSpPr>
        <p:spPr>
          <a:xfrm>
            <a:off x="1659738" y="3930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8" name="Google Shape;1048;p72"/>
          <p:cNvSpPr/>
          <p:nvPr/>
        </p:nvSpPr>
        <p:spPr>
          <a:xfrm>
            <a:off x="1659738" y="4311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9" name="Google Shape;1049;p72"/>
          <p:cNvSpPr/>
          <p:nvPr/>
        </p:nvSpPr>
        <p:spPr>
          <a:xfrm>
            <a:off x="2930450" y="39300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0" name="Google Shape;1050;p72"/>
          <p:cNvCxnSpPr>
            <a:stCxn id="1046" idx="6"/>
            <a:endCxn id="1049" idx="1"/>
          </p:cNvCxnSpPr>
          <p:nvPr/>
        </p:nvCxnSpPr>
        <p:spPr>
          <a:xfrm>
            <a:off x="1944738" y="3679975"/>
            <a:ext cx="9858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" name="Google Shape;1051;p72"/>
          <p:cNvCxnSpPr>
            <a:stCxn id="1047" idx="6"/>
            <a:endCxn id="1049" idx="1"/>
          </p:cNvCxnSpPr>
          <p:nvPr/>
        </p:nvCxnSpPr>
        <p:spPr>
          <a:xfrm>
            <a:off x="1944738" y="4072591"/>
            <a:ext cx="9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2" name="Google Shape;1052;p72"/>
          <p:cNvCxnSpPr>
            <a:stCxn id="1048" idx="6"/>
            <a:endCxn id="1049" idx="1"/>
          </p:cNvCxnSpPr>
          <p:nvPr/>
        </p:nvCxnSpPr>
        <p:spPr>
          <a:xfrm flipH="1" rot="10800000">
            <a:off x="1944738" y="4072591"/>
            <a:ext cx="9858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3" name="Google Shape;1053;p72"/>
          <p:cNvSpPr/>
          <p:nvPr/>
        </p:nvSpPr>
        <p:spPr>
          <a:xfrm>
            <a:off x="7045238" y="37014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72"/>
          <p:cNvSpPr/>
          <p:nvPr/>
        </p:nvSpPr>
        <p:spPr>
          <a:xfrm>
            <a:off x="42971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72"/>
          <p:cNvSpPr/>
          <p:nvPr/>
        </p:nvSpPr>
        <p:spPr>
          <a:xfrm>
            <a:off x="65069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56" name="Google Shape;1056;p72"/>
          <p:cNvCxnSpPr>
            <a:stCxn id="1049" idx="3"/>
            <a:endCxn id="1054" idx="1"/>
          </p:cNvCxnSpPr>
          <p:nvPr/>
        </p:nvCxnSpPr>
        <p:spPr>
          <a:xfrm>
            <a:off x="3215450" y="4072591"/>
            <a:ext cx="10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72"/>
          <p:cNvCxnSpPr>
            <a:stCxn id="1058" idx="3"/>
            <a:endCxn id="1055" idx="1"/>
          </p:cNvCxnSpPr>
          <p:nvPr/>
        </p:nvCxnSpPr>
        <p:spPr>
          <a:xfrm>
            <a:off x="5587700" y="4072591"/>
            <a:ext cx="91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9" name="Google Shape;1059;p72"/>
          <p:cNvCxnSpPr>
            <a:stCxn id="1055" idx="3"/>
            <a:endCxn id="1053" idx="2"/>
          </p:cNvCxnSpPr>
          <p:nvPr/>
        </p:nvCxnSpPr>
        <p:spPr>
          <a:xfrm flipH="1" rot="10800000">
            <a:off x="6649400" y="38439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0" name="Google Shape;1060;p72"/>
          <p:cNvSpPr/>
          <p:nvPr/>
        </p:nvSpPr>
        <p:spPr>
          <a:xfrm>
            <a:off x="7045238" y="41586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1" name="Google Shape;1061;p72"/>
          <p:cNvCxnSpPr>
            <a:stCxn id="1055" idx="3"/>
            <a:endCxn id="1060" idx="2"/>
          </p:cNvCxnSpPr>
          <p:nvPr/>
        </p:nvCxnSpPr>
        <p:spPr>
          <a:xfrm>
            <a:off x="6649400" y="40725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8" name="Google Shape;1058;p72"/>
          <p:cNvSpPr/>
          <p:nvPr/>
        </p:nvSpPr>
        <p:spPr>
          <a:xfrm>
            <a:off x="54452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2" name="Google Shape;1062;p72"/>
          <p:cNvCxnSpPr>
            <a:stCxn id="1054" idx="3"/>
            <a:endCxn id="1058" idx="1"/>
          </p:cNvCxnSpPr>
          <p:nvPr/>
        </p:nvCxnSpPr>
        <p:spPr>
          <a:xfrm>
            <a:off x="4439600" y="4072591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3" name="Google Shape;1063;p7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Problem with NAT with Ports</a:t>
            </a:r>
            <a:endParaRPr/>
          </a:p>
        </p:txBody>
      </p:sp>
      <p:sp>
        <p:nvSpPr>
          <p:cNvPr id="1064" name="Google Shape;1064;p72"/>
          <p:cNvSpPr txBox="1"/>
          <p:nvPr>
            <p:ph idx="1" type="body"/>
          </p:nvPr>
        </p:nvSpPr>
        <p:spPr>
          <a:xfrm>
            <a:off x="107050" y="402200"/>
            <a:ext cx="8909700" cy="13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A and B both use the </a:t>
            </a:r>
            <a:r>
              <a:rPr i="1" lang="en"/>
              <a:t>same inside port</a:t>
            </a:r>
            <a:r>
              <a:rPr lang="en"/>
              <a:t>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only distinguishing value is the inside IP, and the router is rewriting it!</a:t>
            </a:r>
            <a:endParaRPr/>
          </a:p>
        </p:txBody>
      </p:sp>
      <p:graphicFrame>
        <p:nvGraphicFramePr>
          <p:cNvPr id="1065" name="Google Shape;1065;p72"/>
          <p:cNvGraphicFramePr/>
          <p:nvPr/>
        </p:nvGraphicFramePr>
        <p:xfrm>
          <a:off x="2033513" y="18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12950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66" name="Google Shape;1066;p72"/>
          <p:cNvSpPr/>
          <p:nvPr/>
        </p:nvSpPr>
        <p:spPr>
          <a:xfrm>
            <a:off x="2221863" y="4158700"/>
            <a:ext cx="1702200" cy="471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R1, Port 50000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7" name="Google Shape;1067;p72"/>
          <p:cNvCxnSpPr>
            <a:stCxn id="1068" idx="1"/>
          </p:cNvCxnSpPr>
          <p:nvPr/>
        </p:nvCxnSpPr>
        <p:spPr>
          <a:xfrm rot="10800000">
            <a:off x="3924100" y="4394350"/>
            <a:ext cx="429300" cy="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8" name="Google Shape;1068;p72"/>
          <p:cNvSpPr txBox="1"/>
          <p:nvPr/>
        </p:nvSpPr>
        <p:spPr>
          <a:xfrm>
            <a:off x="4353400" y="4258900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Is this for A or B?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9" name="Google Shape;1069;p72"/>
          <p:cNvSpPr/>
          <p:nvPr/>
        </p:nvSpPr>
        <p:spPr>
          <a:xfrm>
            <a:off x="7280925" y="3608350"/>
            <a:ext cx="1584000" cy="471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R1, Port 50000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7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Problem with NAT with Ports</a:t>
            </a:r>
            <a:endParaRPr/>
          </a:p>
        </p:txBody>
      </p:sp>
      <p:sp>
        <p:nvSpPr>
          <p:cNvPr id="1075" name="Google Shape;1075;p73"/>
          <p:cNvSpPr txBox="1"/>
          <p:nvPr>
            <p:ph idx="1" type="body"/>
          </p:nvPr>
        </p:nvSpPr>
        <p:spPr>
          <a:xfrm>
            <a:off x="107050" y="402200"/>
            <a:ext cx="8909700" cy="26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both cases, outside IP and port are the same.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both cases, inside port is the same.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Inside IP is the only difference...but the router rewrote it! Incoming packets all say R1.</a:t>
            </a:r>
            <a:endParaRPr/>
          </a:p>
        </p:txBody>
      </p:sp>
      <p:graphicFrame>
        <p:nvGraphicFramePr>
          <p:cNvPr id="1076" name="Google Shape;1076;p73"/>
          <p:cNvGraphicFramePr/>
          <p:nvPr/>
        </p:nvGraphicFramePr>
        <p:xfrm>
          <a:off x="1548613" y="304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212950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77" name="Google Shape;1077;p73"/>
          <p:cNvSpPr/>
          <p:nvPr/>
        </p:nvSpPr>
        <p:spPr>
          <a:xfrm>
            <a:off x="4218663" y="3043864"/>
            <a:ext cx="1702200" cy="471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R1, Port 50000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8" name="Google Shape;1078;p73"/>
          <p:cNvCxnSpPr>
            <a:stCxn id="1079" idx="1"/>
          </p:cNvCxnSpPr>
          <p:nvPr/>
        </p:nvCxnSpPr>
        <p:spPr>
          <a:xfrm rot="10800000">
            <a:off x="5920900" y="3279514"/>
            <a:ext cx="429300" cy="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9" name="Google Shape;1079;p73"/>
          <p:cNvSpPr txBox="1"/>
          <p:nvPr/>
        </p:nvSpPr>
        <p:spPr>
          <a:xfrm>
            <a:off x="6350200" y="3144064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Is this for A or B?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0" name="Google Shape;1080;p73"/>
          <p:cNvSpPr/>
          <p:nvPr/>
        </p:nvSpPr>
        <p:spPr>
          <a:xfrm>
            <a:off x="4218663" y="3645364"/>
            <a:ext cx="1702200" cy="471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R1, Port 50000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81" name="Google Shape;1081;p73"/>
          <p:cNvCxnSpPr>
            <a:stCxn id="1082" idx="1"/>
          </p:cNvCxnSpPr>
          <p:nvPr/>
        </p:nvCxnSpPr>
        <p:spPr>
          <a:xfrm rot="10800000">
            <a:off x="5920900" y="3881014"/>
            <a:ext cx="429300" cy="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2" name="Google Shape;1082;p73"/>
          <p:cNvSpPr txBox="1"/>
          <p:nvPr/>
        </p:nvSpPr>
        <p:spPr>
          <a:xfrm>
            <a:off x="6350200" y="3745564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Is this for A or B?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7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Solution: "Fake" Port Numbers</a:t>
            </a:r>
            <a:endParaRPr/>
          </a:p>
        </p:txBody>
      </p:sp>
      <p:sp>
        <p:nvSpPr>
          <p:cNvPr id="1088" name="Google Shape;1088;p74"/>
          <p:cNvSpPr txBox="1"/>
          <p:nvPr>
            <p:ph idx="1" type="body"/>
          </p:nvPr>
        </p:nvSpPr>
        <p:spPr>
          <a:xfrm>
            <a:off x="107050" y="402200"/>
            <a:ext cx="8909700" cy="26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Solution: The router can rewrite the </a:t>
            </a:r>
            <a:r>
              <a:rPr i="1" lang="en"/>
              <a:t>inside port</a:t>
            </a:r>
            <a:r>
              <a:rPr lang="en"/>
              <a:t> too.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 and B use the same inside port, make up a "fake" port number for B.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Rewrite B's outgoing packets to use the fake port number.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Incoming packets: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they have the fake port number, they're for B.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they have the original port number, they're for A.</a:t>
            </a:r>
            <a:endParaRPr/>
          </a:p>
        </p:txBody>
      </p:sp>
      <p:graphicFrame>
        <p:nvGraphicFramePr>
          <p:cNvPr id="1089" name="Google Shape;1089;p74"/>
          <p:cNvGraphicFramePr/>
          <p:nvPr/>
        </p:nvGraphicFramePr>
        <p:xfrm>
          <a:off x="1124313" y="304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460525"/>
                <a:gridCol w="1042650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Fake Port 60000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90" name="Google Shape;1090;p74"/>
          <p:cNvSpPr/>
          <p:nvPr/>
        </p:nvSpPr>
        <p:spPr>
          <a:xfrm>
            <a:off x="4218663" y="3043864"/>
            <a:ext cx="1702200" cy="471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R1, Port 50000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1" name="Google Shape;1091;p74"/>
          <p:cNvCxnSpPr>
            <a:stCxn id="1092" idx="1"/>
          </p:cNvCxnSpPr>
          <p:nvPr/>
        </p:nvCxnSpPr>
        <p:spPr>
          <a:xfrm rot="10800000">
            <a:off x="5920900" y="3279514"/>
            <a:ext cx="429300" cy="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2" name="Google Shape;1092;p74"/>
          <p:cNvSpPr txBox="1"/>
          <p:nvPr/>
        </p:nvSpPr>
        <p:spPr>
          <a:xfrm>
            <a:off x="6350200" y="3144064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This is for A!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3" name="Google Shape;1093;p74"/>
          <p:cNvSpPr/>
          <p:nvPr/>
        </p:nvSpPr>
        <p:spPr>
          <a:xfrm>
            <a:off x="4218663" y="3645364"/>
            <a:ext cx="1702200" cy="471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R1, Port 60000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4" name="Google Shape;1094;p74"/>
          <p:cNvCxnSpPr>
            <a:stCxn id="1095" idx="1"/>
          </p:cNvCxnSpPr>
          <p:nvPr/>
        </p:nvCxnSpPr>
        <p:spPr>
          <a:xfrm rot="10800000">
            <a:off x="5920900" y="3881014"/>
            <a:ext cx="429300" cy="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5" name="Google Shape;1095;p74"/>
          <p:cNvSpPr txBox="1"/>
          <p:nvPr/>
        </p:nvSpPr>
        <p:spPr>
          <a:xfrm>
            <a:off x="6350200" y="3745564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This is for B!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74"/>
          <p:cNvSpPr txBox="1"/>
          <p:nvPr/>
        </p:nvSpPr>
        <p:spPr>
          <a:xfrm>
            <a:off x="6170025" y="4863525"/>
            <a:ext cx="2931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"Fake" is not an official term for this.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1" name="Google Shape;1101;p75"/>
          <p:cNvGraphicFramePr/>
          <p:nvPr/>
        </p:nvGraphicFramePr>
        <p:xfrm>
          <a:off x="1659738" y="18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431025"/>
                <a:gridCol w="10216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02" name="Google Shape;1102;p75"/>
          <p:cNvGraphicFramePr/>
          <p:nvPr/>
        </p:nvGraphicFramePr>
        <p:xfrm>
          <a:off x="1659738" y="18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431025"/>
                <a:gridCol w="10216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B, Port 50000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Fake Port 60000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solidFill>
                          <a:schemeClr val="accen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03" name="Google Shape;1103;p75"/>
          <p:cNvSpPr/>
          <p:nvPr/>
        </p:nvSpPr>
        <p:spPr>
          <a:xfrm>
            <a:off x="0" y="3377525"/>
            <a:ext cx="3084000" cy="177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addresses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(inside network)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4" name="Google Shape;1104;p75"/>
          <p:cNvSpPr/>
          <p:nvPr/>
        </p:nvSpPr>
        <p:spPr>
          <a:xfrm>
            <a:off x="3084075" y="3377525"/>
            <a:ext cx="6060000" cy="17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addresses (the Internet)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5" name="Google Shape;1105;p75"/>
          <p:cNvSpPr/>
          <p:nvPr/>
        </p:nvSpPr>
        <p:spPr>
          <a:xfrm>
            <a:off x="1659738" y="3537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6" name="Google Shape;1106;p75"/>
          <p:cNvSpPr/>
          <p:nvPr/>
        </p:nvSpPr>
        <p:spPr>
          <a:xfrm>
            <a:off x="1659738" y="3930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7" name="Google Shape;1107;p75"/>
          <p:cNvSpPr/>
          <p:nvPr/>
        </p:nvSpPr>
        <p:spPr>
          <a:xfrm>
            <a:off x="1659738" y="4311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8" name="Google Shape;1108;p75"/>
          <p:cNvSpPr/>
          <p:nvPr/>
        </p:nvSpPr>
        <p:spPr>
          <a:xfrm>
            <a:off x="2930450" y="39300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09" name="Google Shape;1109;p75"/>
          <p:cNvCxnSpPr>
            <a:stCxn id="1105" idx="6"/>
            <a:endCxn id="1108" idx="1"/>
          </p:cNvCxnSpPr>
          <p:nvPr/>
        </p:nvCxnSpPr>
        <p:spPr>
          <a:xfrm>
            <a:off x="1944738" y="3679975"/>
            <a:ext cx="9858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0" name="Google Shape;1110;p75"/>
          <p:cNvCxnSpPr>
            <a:stCxn id="1106" idx="6"/>
            <a:endCxn id="1108" idx="1"/>
          </p:cNvCxnSpPr>
          <p:nvPr/>
        </p:nvCxnSpPr>
        <p:spPr>
          <a:xfrm>
            <a:off x="1944738" y="4072591"/>
            <a:ext cx="9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1" name="Google Shape;1111;p75"/>
          <p:cNvCxnSpPr>
            <a:stCxn id="1107" idx="6"/>
            <a:endCxn id="1108" idx="1"/>
          </p:cNvCxnSpPr>
          <p:nvPr/>
        </p:nvCxnSpPr>
        <p:spPr>
          <a:xfrm flipH="1" rot="10800000">
            <a:off x="1944738" y="4072591"/>
            <a:ext cx="9858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2" name="Google Shape;1112;p75"/>
          <p:cNvSpPr/>
          <p:nvPr/>
        </p:nvSpPr>
        <p:spPr>
          <a:xfrm>
            <a:off x="7045238" y="37014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3" name="Google Shape;1113;p75"/>
          <p:cNvSpPr/>
          <p:nvPr/>
        </p:nvSpPr>
        <p:spPr>
          <a:xfrm>
            <a:off x="42971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4" name="Google Shape;1114;p75"/>
          <p:cNvSpPr/>
          <p:nvPr/>
        </p:nvSpPr>
        <p:spPr>
          <a:xfrm>
            <a:off x="65069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15" name="Google Shape;1115;p75"/>
          <p:cNvCxnSpPr>
            <a:stCxn id="1108" idx="3"/>
            <a:endCxn id="1113" idx="1"/>
          </p:cNvCxnSpPr>
          <p:nvPr/>
        </p:nvCxnSpPr>
        <p:spPr>
          <a:xfrm>
            <a:off x="3215450" y="4072591"/>
            <a:ext cx="10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6" name="Google Shape;1116;p75"/>
          <p:cNvCxnSpPr>
            <a:stCxn id="1117" idx="3"/>
            <a:endCxn id="1114" idx="1"/>
          </p:cNvCxnSpPr>
          <p:nvPr/>
        </p:nvCxnSpPr>
        <p:spPr>
          <a:xfrm>
            <a:off x="5587700" y="4072591"/>
            <a:ext cx="91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8" name="Google Shape;1118;p75"/>
          <p:cNvCxnSpPr>
            <a:stCxn id="1114" idx="3"/>
            <a:endCxn id="1112" idx="2"/>
          </p:cNvCxnSpPr>
          <p:nvPr/>
        </p:nvCxnSpPr>
        <p:spPr>
          <a:xfrm flipH="1" rot="10800000">
            <a:off x="6649400" y="38439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9" name="Google Shape;1119;p75"/>
          <p:cNvSpPr/>
          <p:nvPr/>
        </p:nvSpPr>
        <p:spPr>
          <a:xfrm>
            <a:off x="7045238" y="41586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0" name="Google Shape;1120;p75"/>
          <p:cNvCxnSpPr>
            <a:stCxn id="1114" idx="3"/>
            <a:endCxn id="1119" idx="2"/>
          </p:cNvCxnSpPr>
          <p:nvPr/>
        </p:nvCxnSpPr>
        <p:spPr>
          <a:xfrm>
            <a:off x="6649400" y="40725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7" name="Google Shape;1117;p75"/>
          <p:cNvSpPr/>
          <p:nvPr/>
        </p:nvSpPr>
        <p:spPr>
          <a:xfrm>
            <a:off x="54452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1" name="Google Shape;1121;p75"/>
          <p:cNvCxnSpPr>
            <a:stCxn id="1113" idx="3"/>
            <a:endCxn id="1117" idx="1"/>
          </p:cNvCxnSpPr>
          <p:nvPr/>
        </p:nvCxnSpPr>
        <p:spPr>
          <a:xfrm>
            <a:off x="4439600" y="4072591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2" name="Google Shape;1122;p7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NAT with Rewritten Ports</a:t>
            </a:r>
            <a:endParaRPr/>
          </a:p>
        </p:txBody>
      </p:sp>
      <p:sp>
        <p:nvSpPr>
          <p:cNvPr id="1123" name="Google Shape;1123;p75"/>
          <p:cNvSpPr txBox="1"/>
          <p:nvPr>
            <p:ph idx="1" type="body"/>
          </p:nvPr>
        </p:nvSpPr>
        <p:spPr>
          <a:xfrm>
            <a:off x="107050" y="402200"/>
            <a:ext cx="8909700" cy="13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router rewrites the port number to help distinguish connections</a:t>
            </a:r>
            <a:br>
              <a:rPr lang="en"/>
            </a:br>
            <a:r>
              <a:rPr lang="en"/>
              <a:t>that are otherwise identical.</a:t>
            </a:r>
            <a:endParaRPr/>
          </a:p>
        </p:txBody>
      </p:sp>
      <p:cxnSp>
        <p:nvCxnSpPr>
          <p:cNvPr id="1124" name="Google Shape;1124;p75"/>
          <p:cNvCxnSpPr>
            <a:stCxn id="1125" idx="1"/>
            <a:endCxn id="1126" idx="3"/>
          </p:cNvCxnSpPr>
          <p:nvPr/>
        </p:nvCxnSpPr>
        <p:spPr>
          <a:xfrm rot="10800000">
            <a:off x="3924150" y="4448650"/>
            <a:ext cx="429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5" name="Google Shape;1125;p75"/>
          <p:cNvSpPr txBox="1"/>
          <p:nvPr/>
        </p:nvSpPr>
        <p:spPr>
          <a:xfrm>
            <a:off x="4353450" y="4313200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Header rewritten!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27" name="Google Shape;1127;p75"/>
          <p:cNvCxnSpPr>
            <a:stCxn id="1128" idx="1"/>
          </p:cNvCxnSpPr>
          <p:nvPr/>
        </p:nvCxnSpPr>
        <p:spPr>
          <a:xfrm rot="10800000">
            <a:off x="4112975" y="2919324"/>
            <a:ext cx="681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8" name="Google Shape;1128;p75"/>
          <p:cNvSpPr txBox="1"/>
          <p:nvPr/>
        </p:nvSpPr>
        <p:spPr>
          <a:xfrm>
            <a:off x="4794275" y="2676174"/>
            <a:ext cx="28782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If I get replies from S, Port 80,</a:t>
            </a:r>
            <a:b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to me, Port 60000, send them to B.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9" name="Google Shape;1129;p75"/>
          <p:cNvSpPr/>
          <p:nvPr/>
        </p:nvSpPr>
        <p:spPr>
          <a:xfrm>
            <a:off x="2221850" y="4158700"/>
            <a:ext cx="1702200" cy="5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Port 50000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S, Port 80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6" name="Google Shape;1126;p75"/>
          <p:cNvSpPr/>
          <p:nvPr/>
        </p:nvSpPr>
        <p:spPr>
          <a:xfrm>
            <a:off x="2221850" y="4158700"/>
            <a:ext cx="1702200" cy="5799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strike="sng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Port 50000</a:t>
            </a:r>
            <a:endParaRPr sz="1200" strike="sng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R1, Port 60000</a:t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0" name="Google Shape;1130;p75"/>
          <p:cNvSpPr/>
          <p:nvPr/>
        </p:nvSpPr>
        <p:spPr>
          <a:xfrm>
            <a:off x="207300" y="3836950"/>
            <a:ext cx="1506600" cy="471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B, Port 50000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1" name="Google Shape;1131;p75"/>
          <p:cNvSpPr/>
          <p:nvPr/>
        </p:nvSpPr>
        <p:spPr>
          <a:xfrm>
            <a:off x="7280925" y="3608350"/>
            <a:ext cx="1584000" cy="471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From: R1, Port 60000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To: S, Port 80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6" name="Google Shape;1136;p76"/>
          <p:cNvGraphicFramePr/>
          <p:nvPr/>
        </p:nvGraphicFramePr>
        <p:xfrm>
          <a:off x="1659738" y="18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431025"/>
                <a:gridCol w="10216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Fake Port 60000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37" name="Google Shape;1137;p76"/>
          <p:cNvSpPr/>
          <p:nvPr/>
        </p:nvSpPr>
        <p:spPr>
          <a:xfrm>
            <a:off x="0" y="3377525"/>
            <a:ext cx="3084000" cy="177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addresses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(inside network)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8" name="Google Shape;1138;p76"/>
          <p:cNvSpPr/>
          <p:nvPr/>
        </p:nvSpPr>
        <p:spPr>
          <a:xfrm>
            <a:off x="3084075" y="3377525"/>
            <a:ext cx="6060000" cy="17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addresses (the Internet)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9" name="Google Shape;1139;p76"/>
          <p:cNvSpPr/>
          <p:nvPr/>
        </p:nvSpPr>
        <p:spPr>
          <a:xfrm>
            <a:off x="1659738" y="3537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0" name="Google Shape;1140;p76"/>
          <p:cNvSpPr/>
          <p:nvPr/>
        </p:nvSpPr>
        <p:spPr>
          <a:xfrm>
            <a:off x="1659738" y="3930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1" name="Google Shape;1141;p76"/>
          <p:cNvSpPr/>
          <p:nvPr/>
        </p:nvSpPr>
        <p:spPr>
          <a:xfrm>
            <a:off x="1659738" y="4311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76"/>
          <p:cNvSpPr/>
          <p:nvPr/>
        </p:nvSpPr>
        <p:spPr>
          <a:xfrm>
            <a:off x="2930450" y="39300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3" name="Google Shape;1143;p76"/>
          <p:cNvCxnSpPr>
            <a:stCxn id="1139" idx="6"/>
            <a:endCxn id="1142" idx="1"/>
          </p:cNvCxnSpPr>
          <p:nvPr/>
        </p:nvCxnSpPr>
        <p:spPr>
          <a:xfrm>
            <a:off x="1944738" y="3679975"/>
            <a:ext cx="9858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4" name="Google Shape;1144;p76"/>
          <p:cNvCxnSpPr>
            <a:stCxn id="1140" idx="6"/>
            <a:endCxn id="1142" idx="1"/>
          </p:cNvCxnSpPr>
          <p:nvPr/>
        </p:nvCxnSpPr>
        <p:spPr>
          <a:xfrm>
            <a:off x="1944738" y="4072591"/>
            <a:ext cx="9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5" name="Google Shape;1145;p76"/>
          <p:cNvCxnSpPr>
            <a:stCxn id="1141" idx="6"/>
            <a:endCxn id="1142" idx="1"/>
          </p:cNvCxnSpPr>
          <p:nvPr/>
        </p:nvCxnSpPr>
        <p:spPr>
          <a:xfrm flipH="1" rot="10800000">
            <a:off x="1944738" y="4072591"/>
            <a:ext cx="9858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6" name="Google Shape;1146;p76"/>
          <p:cNvSpPr/>
          <p:nvPr/>
        </p:nvSpPr>
        <p:spPr>
          <a:xfrm>
            <a:off x="7045238" y="37014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7" name="Google Shape;1147;p76"/>
          <p:cNvSpPr/>
          <p:nvPr/>
        </p:nvSpPr>
        <p:spPr>
          <a:xfrm>
            <a:off x="42971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8" name="Google Shape;1148;p76"/>
          <p:cNvSpPr/>
          <p:nvPr/>
        </p:nvSpPr>
        <p:spPr>
          <a:xfrm>
            <a:off x="65069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49" name="Google Shape;1149;p76"/>
          <p:cNvCxnSpPr>
            <a:stCxn id="1142" idx="3"/>
            <a:endCxn id="1147" idx="1"/>
          </p:cNvCxnSpPr>
          <p:nvPr/>
        </p:nvCxnSpPr>
        <p:spPr>
          <a:xfrm>
            <a:off x="3215450" y="4072591"/>
            <a:ext cx="10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0" name="Google Shape;1150;p76"/>
          <p:cNvCxnSpPr>
            <a:stCxn id="1151" idx="3"/>
            <a:endCxn id="1148" idx="1"/>
          </p:cNvCxnSpPr>
          <p:nvPr/>
        </p:nvCxnSpPr>
        <p:spPr>
          <a:xfrm>
            <a:off x="5587700" y="4072591"/>
            <a:ext cx="91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2" name="Google Shape;1152;p76"/>
          <p:cNvCxnSpPr>
            <a:stCxn id="1148" idx="3"/>
            <a:endCxn id="1146" idx="2"/>
          </p:cNvCxnSpPr>
          <p:nvPr/>
        </p:nvCxnSpPr>
        <p:spPr>
          <a:xfrm flipH="1" rot="10800000">
            <a:off x="6649400" y="38439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3" name="Google Shape;1153;p76"/>
          <p:cNvSpPr/>
          <p:nvPr/>
        </p:nvSpPr>
        <p:spPr>
          <a:xfrm>
            <a:off x="7045238" y="41586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4" name="Google Shape;1154;p76"/>
          <p:cNvCxnSpPr>
            <a:stCxn id="1148" idx="3"/>
            <a:endCxn id="1153" idx="2"/>
          </p:cNvCxnSpPr>
          <p:nvPr/>
        </p:nvCxnSpPr>
        <p:spPr>
          <a:xfrm>
            <a:off x="6649400" y="40725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1" name="Google Shape;1151;p76"/>
          <p:cNvSpPr/>
          <p:nvPr/>
        </p:nvSpPr>
        <p:spPr>
          <a:xfrm>
            <a:off x="54452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5" name="Google Shape;1155;p76"/>
          <p:cNvCxnSpPr>
            <a:stCxn id="1147" idx="3"/>
            <a:endCxn id="1151" idx="1"/>
          </p:cNvCxnSpPr>
          <p:nvPr/>
        </p:nvCxnSpPr>
        <p:spPr>
          <a:xfrm>
            <a:off x="4439600" y="4072591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6" name="Google Shape;1156;p7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NAT with Rewritten Ports</a:t>
            </a:r>
            <a:endParaRPr/>
          </a:p>
        </p:txBody>
      </p:sp>
      <p:sp>
        <p:nvSpPr>
          <p:cNvPr id="1157" name="Google Shape;1157;p76"/>
          <p:cNvSpPr txBox="1"/>
          <p:nvPr>
            <p:ph idx="1" type="body"/>
          </p:nvPr>
        </p:nvSpPr>
        <p:spPr>
          <a:xfrm>
            <a:off x="107050" y="402200"/>
            <a:ext cx="8909700" cy="13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router rewrites the port number to help distinguish connections</a:t>
            </a:r>
            <a:br>
              <a:rPr lang="en"/>
            </a:br>
            <a:r>
              <a:rPr lang="en"/>
              <a:t>that are otherwise identical.</a:t>
            </a:r>
            <a:endParaRPr/>
          </a:p>
        </p:txBody>
      </p:sp>
      <p:sp>
        <p:nvSpPr>
          <p:cNvPr id="1158" name="Google Shape;1158;p76"/>
          <p:cNvSpPr/>
          <p:nvPr/>
        </p:nvSpPr>
        <p:spPr>
          <a:xfrm>
            <a:off x="2221875" y="4158700"/>
            <a:ext cx="1702200" cy="579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R1, Port 60000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9" name="Google Shape;1159;p76"/>
          <p:cNvCxnSpPr>
            <a:stCxn id="1160" idx="1"/>
          </p:cNvCxnSpPr>
          <p:nvPr/>
        </p:nvCxnSpPr>
        <p:spPr>
          <a:xfrm rot="10800000">
            <a:off x="3924075" y="4453600"/>
            <a:ext cx="429300" cy="0"/>
          </a:xfrm>
          <a:prstGeom prst="straightConnector1">
            <a:avLst/>
          </a:prstGeom>
          <a:noFill/>
          <a:ln cap="flat" cmpd="sng" w="952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0" name="Google Shape;1160;p76"/>
          <p:cNvSpPr txBox="1"/>
          <p:nvPr/>
        </p:nvSpPr>
        <p:spPr>
          <a:xfrm>
            <a:off x="4353375" y="4318150"/>
            <a:ext cx="1752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IP and port rewritten!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1" name="Google Shape;1161;p76"/>
          <p:cNvSpPr/>
          <p:nvPr/>
        </p:nvSpPr>
        <p:spPr>
          <a:xfrm>
            <a:off x="2221875" y="4158700"/>
            <a:ext cx="1702200" cy="5799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strike="sng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R1, Port 60000</a:t>
            </a:r>
            <a:endParaRPr sz="1200" strike="sng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B, Port 50000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p76"/>
          <p:cNvSpPr/>
          <p:nvPr/>
        </p:nvSpPr>
        <p:spPr>
          <a:xfrm>
            <a:off x="7280925" y="3608350"/>
            <a:ext cx="1584000" cy="471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R1, Port 60000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3" name="Google Shape;1163;p76"/>
          <p:cNvSpPr/>
          <p:nvPr/>
        </p:nvSpPr>
        <p:spPr>
          <a:xfrm>
            <a:off x="207300" y="3836950"/>
            <a:ext cx="1506600" cy="4713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B, Port 50000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4" name="Google Shape;1164;p76"/>
          <p:cNvSpPr txBox="1"/>
          <p:nvPr/>
        </p:nvSpPr>
        <p:spPr>
          <a:xfrm>
            <a:off x="4249100" y="2087781"/>
            <a:ext cx="4341600" cy="8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Incoming packets are S, Port 80 in both cases.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If the inside port is 50000, packet is for A.</a:t>
            </a:r>
            <a:b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If the inside port is 60000 (fake port), packet is for B.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7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NAT with "Fake" Ports</a:t>
            </a:r>
            <a:endParaRPr/>
          </a:p>
        </p:txBody>
      </p:sp>
      <p:sp>
        <p:nvSpPr>
          <p:cNvPr id="1170" name="Google Shape;1170;p77"/>
          <p:cNvSpPr txBox="1"/>
          <p:nvPr>
            <p:ph idx="1" type="body"/>
          </p:nvPr>
        </p:nvSpPr>
        <p:spPr>
          <a:xfrm>
            <a:off x="107050" y="402200"/>
            <a:ext cx="8909700" cy="23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Outgoing packet: Replace </a:t>
            </a:r>
            <a:r>
              <a:rPr i="1" lang="en"/>
              <a:t>original</a:t>
            </a:r>
            <a:r>
              <a:rPr lang="en"/>
              <a:t> port with </a:t>
            </a:r>
            <a:r>
              <a:rPr i="1" lang="en"/>
              <a:t>fake</a:t>
            </a:r>
            <a:r>
              <a:rPr lang="en"/>
              <a:t> port.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Incoming packet: Replace </a:t>
            </a:r>
            <a:r>
              <a:rPr i="1" lang="en"/>
              <a:t>fake</a:t>
            </a:r>
            <a:r>
              <a:rPr lang="en"/>
              <a:t> port with </a:t>
            </a:r>
            <a:r>
              <a:rPr i="1" lang="en"/>
              <a:t>original</a:t>
            </a:r>
            <a:r>
              <a:rPr lang="en"/>
              <a:t> port.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to restore the original port. B doesn't know we added the fake port.</a:t>
            </a:r>
            <a:endParaRPr/>
          </a:p>
        </p:txBody>
      </p:sp>
      <p:graphicFrame>
        <p:nvGraphicFramePr>
          <p:cNvPr id="1171" name="Google Shape;1171;p77"/>
          <p:cNvGraphicFramePr/>
          <p:nvPr/>
        </p:nvGraphicFramePr>
        <p:xfrm>
          <a:off x="3320400" y="3501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460525"/>
                <a:gridCol w="1042650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B, Port 50000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Fake Port 60000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S, Port 80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72" name="Google Shape;1172;p77"/>
          <p:cNvSpPr/>
          <p:nvPr/>
        </p:nvSpPr>
        <p:spPr>
          <a:xfrm>
            <a:off x="6432038" y="3624700"/>
            <a:ext cx="1906500" cy="886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From: S, Port 80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R1, Port 60000</a:t>
            </a:r>
            <a:endParaRPr strike="sng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To: B, Port 50000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3" name="Google Shape;1173;p77"/>
          <p:cNvSpPr/>
          <p:nvPr/>
        </p:nvSpPr>
        <p:spPr>
          <a:xfrm>
            <a:off x="805463" y="3624700"/>
            <a:ext cx="1906500" cy="8865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trike="sngStrike">
                <a:latin typeface="Roboto"/>
                <a:ea typeface="Roboto"/>
                <a:cs typeface="Roboto"/>
                <a:sym typeface="Roboto"/>
              </a:rPr>
              <a:t>From: B, Port 50000</a:t>
            </a:r>
            <a:endParaRPr strike="sngStrike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From: R1, Port 60000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S, Port 80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4" name="Google Shape;1174;p77"/>
          <p:cNvSpPr txBox="1"/>
          <p:nvPr/>
        </p:nvSpPr>
        <p:spPr>
          <a:xfrm>
            <a:off x="6487700" y="4582600"/>
            <a:ext cx="179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Incoming packet</a:t>
            </a:r>
            <a:endParaRPr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5" name="Google Shape;1175;p77"/>
          <p:cNvSpPr txBox="1"/>
          <p:nvPr/>
        </p:nvSpPr>
        <p:spPr>
          <a:xfrm>
            <a:off x="861075" y="4582600"/>
            <a:ext cx="17952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Outgoing packet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78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ARP: Connecting Layers 2 and 3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DHCP: Joining a New Network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NAT: Network Address Translation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Basic NAT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NAT with Ports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Rewriting Ports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Implementing NAT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TLS: Secure Bytestreams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End-to-End Walkthrough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181" name="Google Shape;1181;p7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NAT</a:t>
            </a:r>
            <a:endParaRPr/>
          </a:p>
        </p:txBody>
      </p:sp>
      <p:sp>
        <p:nvSpPr>
          <p:cNvPr id="1182" name="Google Shape;1182;p7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17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79"/>
          <p:cNvSpPr/>
          <p:nvPr/>
        </p:nvSpPr>
        <p:spPr>
          <a:xfrm>
            <a:off x="1087425" y="346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8" name="Google Shape;1188;p79"/>
          <p:cNvSpPr/>
          <p:nvPr/>
        </p:nvSpPr>
        <p:spPr>
          <a:xfrm>
            <a:off x="1087425" y="38565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9" name="Google Shape;1189;p79"/>
          <p:cNvSpPr/>
          <p:nvPr/>
        </p:nvSpPr>
        <p:spPr>
          <a:xfrm>
            <a:off x="1087425" y="42375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0" name="Google Shape;1190;p79"/>
          <p:cNvSpPr/>
          <p:nvPr/>
        </p:nvSpPr>
        <p:spPr>
          <a:xfrm>
            <a:off x="2358138" y="38565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91" name="Google Shape;1191;p79"/>
          <p:cNvCxnSpPr>
            <a:stCxn id="1187" idx="6"/>
            <a:endCxn id="1190" idx="1"/>
          </p:cNvCxnSpPr>
          <p:nvPr/>
        </p:nvCxnSpPr>
        <p:spPr>
          <a:xfrm>
            <a:off x="1372425" y="3606475"/>
            <a:ext cx="9858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2" name="Google Shape;1192;p79"/>
          <p:cNvCxnSpPr>
            <a:stCxn id="1188" idx="6"/>
            <a:endCxn id="1190" idx="1"/>
          </p:cNvCxnSpPr>
          <p:nvPr/>
        </p:nvCxnSpPr>
        <p:spPr>
          <a:xfrm>
            <a:off x="1372425" y="3999091"/>
            <a:ext cx="9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3" name="Google Shape;1193;p79"/>
          <p:cNvCxnSpPr>
            <a:stCxn id="1189" idx="6"/>
            <a:endCxn id="1190" idx="1"/>
          </p:cNvCxnSpPr>
          <p:nvPr/>
        </p:nvCxnSpPr>
        <p:spPr>
          <a:xfrm flipH="1" rot="10800000">
            <a:off x="1372425" y="3999091"/>
            <a:ext cx="9858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4" name="Google Shape;1194;p79"/>
          <p:cNvCxnSpPr>
            <a:stCxn id="1190" idx="3"/>
            <a:endCxn id="1195" idx="1"/>
          </p:cNvCxnSpPr>
          <p:nvPr/>
        </p:nvCxnSpPr>
        <p:spPr>
          <a:xfrm>
            <a:off x="2643138" y="3999091"/>
            <a:ext cx="1234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6" name="Google Shape;1196;p7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Implementing NAT</a:t>
            </a:r>
            <a:endParaRPr/>
          </a:p>
        </p:txBody>
      </p:sp>
      <p:sp>
        <p:nvSpPr>
          <p:cNvPr id="1197" name="Google Shape;1197;p79"/>
          <p:cNvSpPr txBox="1"/>
          <p:nvPr>
            <p:ph idx="1" type="body"/>
          </p:nvPr>
        </p:nvSpPr>
        <p:spPr>
          <a:xfrm>
            <a:off x="107050" y="402200"/>
            <a:ext cx="8909700" cy="13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 Home router sends a DHCP request. Asks ISP for an IP address.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2. ISP sends a DHCP response. Allocates an IP address to the home router.</a:t>
            </a:r>
            <a:endParaRPr/>
          </a:p>
        </p:txBody>
      </p:sp>
      <p:sp>
        <p:nvSpPr>
          <p:cNvPr id="1195" name="Google Shape;1195;p79"/>
          <p:cNvSpPr/>
          <p:nvPr/>
        </p:nvSpPr>
        <p:spPr>
          <a:xfrm>
            <a:off x="3877338" y="38565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8" name="Google Shape;1198;p79"/>
          <p:cNvSpPr/>
          <p:nvPr/>
        </p:nvSpPr>
        <p:spPr>
          <a:xfrm>
            <a:off x="2808250" y="2877125"/>
            <a:ext cx="2913000" cy="834900"/>
          </a:xfrm>
          <a:prstGeom prst="wedgeRoundRectCallout">
            <a:avLst>
              <a:gd fmla="val -61728" name="adj1"/>
              <a:gd fmla="val 6143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1. DHCP Request: Hi, I'm a new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router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connecting to this ISP. Please give me an address.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9" name="Google Shape;1199;p79"/>
          <p:cNvSpPr/>
          <p:nvPr/>
        </p:nvSpPr>
        <p:spPr>
          <a:xfrm>
            <a:off x="4355176" y="4280850"/>
            <a:ext cx="2359500" cy="629100"/>
          </a:xfrm>
          <a:prstGeom prst="wedgeRoundRectCallout">
            <a:avLst>
              <a:gd fmla="val -64383" name="adj1"/>
              <a:gd fmla="val -61127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2. DHCP response: Your IP address is 42.40.1.32.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00" name="Google Shape;1200;p79"/>
          <p:cNvCxnSpPr>
            <a:stCxn id="1201" idx="1"/>
          </p:cNvCxnSpPr>
          <p:nvPr/>
        </p:nvCxnSpPr>
        <p:spPr>
          <a:xfrm rot="10800000">
            <a:off x="6764325" y="4686250"/>
            <a:ext cx="601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1" name="Google Shape;1201;p79"/>
          <p:cNvSpPr txBox="1"/>
          <p:nvPr/>
        </p:nvSpPr>
        <p:spPr>
          <a:xfrm>
            <a:off x="7365825" y="4550800"/>
            <a:ext cx="8427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Public IP!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80"/>
          <p:cNvSpPr/>
          <p:nvPr/>
        </p:nvSpPr>
        <p:spPr>
          <a:xfrm>
            <a:off x="1087425" y="34639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80"/>
          <p:cNvSpPr/>
          <p:nvPr/>
        </p:nvSpPr>
        <p:spPr>
          <a:xfrm>
            <a:off x="1087425" y="38565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80"/>
          <p:cNvSpPr/>
          <p:nvPr/>
        </p:nvSpPr>
        <p:spPr>
          <a:xfrm>
            <a:off x="1087425" y="42375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9" name="Google Shape;1209;p80"/>
          <p:cNvSpPr/>
          <p:nvPr/>
        </p:nvSpPr>
        <p:spPr>
          <a:xfrm>
            <a:off x="2358138" y="38565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0" name="Google Shape;1210;p80"/>
          <p:cNvCxnSpPr>
            <a:stCxn id="1206" idx="6"/>
            <a:endCxn id="1209" idx="1"/>
          </p:cNvCxnSpPr>
          <p:nvPr/>
        </p:nvCxnSpPr>
        <p:spPr>
          <a:xfrm>
            <a:off x="1372425" y="3606475"/>
            <a:ext cx="9858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1" name="Google Shape;1211;p80"/>
          <p:cNvCxnSpPr>
            <a:stCxn id="1207" idx="6"/>
            <a:endCxn id="1209" idx="1"/>
          </p:cNvCxnSpPr>
          <p:nvPr/>
        </p:nvCxnSpPr>
        <p:spPr>
          <a:xfrm>
            <a:off x="1372425" y="3999091"/>
            <a:ext cx="9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2" name="Google Shape;1212;p80"/>
          <p:cNvCxnSpPr>
            <a:stCxn id="1208" idx="6"/>
            <a:endCxn id="1209" idx="1"/>
          </p:cNvCxnSpPr>
          <p:nvPr/>
        </p:nvCxnSpPr>
        <p:spPr>
          <a:xfrm flipH="1" rot="10800000">
            <a:off x="1372425" y="3999091"/>
            <a:ext cx="9858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3" name="Google Shape;1213;p80"/>
          <p:cNvCxnSpPr>
            <a:stCxn id="1209" idx="3"/>
            <a:endCxn id="1214" idx="1"/>
          </p:cNvCxnSpPr>
          <p:nvPr/>
        </p:nvCxnSpPr>
        <p:spPr>
          <a:xfrm>
            <a:off x="2643138" y="3999091"/>
            <a:ext cx="1234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5" name="Google Shape;1215;p8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Implementing NAT</a:t>
            </a:r>
            <a:endParaRPr/>
          </a:p>
        </p:txBody>
      </p:sp>
      <p:sp>
        <p:nvSpPr>
          <p:cNvPr id="1216" name="Google Shape;1216;p80"/>
          <p:cNvSpPr txBox="1"/>
          <p:nvPr>
            <p:ph idx="1" type="body"/>
          </p:nvPr>
        </p:nvSpPr>
        <p:spPr>
          <a:xfrm>
            <a:off x="107050" y="402200"/>
            <a:ext cx="8909700" cy="17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3. Host sends a DHCP request. Asks home router for an IP.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4. Home router sends a DHCP response. Gives a private IP to the home router.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Home router uses NAT to convert private IP to public IP.</a:t>
            </a:r>
            <a:endParaRPr/>
          </a:p>
        </p:txBody>
      </p:sp>
      <p:sp>
        <p:nvSpPr>
          <p:cNvPr id="1214" name="Google Shape;1214;p80"/>
          <p:cNvSpPr/>
          <p:nvPr/>
        </p:nvSpPr>
        <p:spPr>
          <a:xfrm>
            <a:off x="3877338" y="38565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7" name="Google Shape;1217;p80"/>
          <p:cNvSpPr/>
          <p:nvPr/>
        </p:nvSpPr>
        <p:spPr>
          <a:xfrm>
            <a:off x="1545900" y="2467700"/>
            <a:ext cx="2809200" cy="834900"/>
          </a:xfrm>
          <a:prstGeom prst="wedgeRoundRectCallout">
            <a:avLst>
              <a:gd fmla="val -61728" name="adj1"/>
              <a:gd fmla="val 61434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3. DHCP Request: Hi, I'm a new </a:t>
            </a:r>
            <a:r>
              <a:rPr i="1" lang="en">
                <a:latin typeface="Roboto"/>
                <a:ea typeface="Roboto"/>
                <a:cs typeface="Roboto"/>
                <a:sym typeface="Roboto"/>
              </a:rPr>
              <a:t>host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connecting to this network. Please give me an address.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8" name="Google Shape;1218;p80"/>
          <p:cNvSpPr/>
          <p:nvPr/>
        </p:nvSpPr>
        <p:spPr>
          <a:xfrm>
            <a:off x="2815875" y="4289375"/>
            <a:ext cx="2366400" cy="629100"/>
          </a:xfrm>
          <a:prstGeom prst="wedgeRoundRectCallout">
            <a:avLst>
              <a:gd fmla="val -64383" name="adj1"/>
              <a:gd fmla="val -61127" name="adj2"/>
              <a:gd fmla="val 0" name="adj3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 DHCP response: Your IP address is 192.168.2.42.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9" name="Google Shape;1219;p80"/>
          <p:cNvCxnSpPr>
            <a:stCxn id="1220" idx="1"/>
          </p:cNvCxnSpPr>
          <p:nvPr/>
        </p:nvCxnSpPr>
        <p:spPr>
          <a:xfrm rot="10800000">
            <a:off x="5240325" y="4711100"/>
            <a:ext cx="601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0" name="Google Shape;1220;p80"/>
          <p:cNvSpPr txBox="1"/>
          <p:nvPr/>
        </p:nvSpPr>
        <p:spPr>
          <a:xfrm>
            <a:off x="5841825" y="4575650"/>
            <a:ext cx="925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Private IP!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8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NAT</a:t>
            </a:r>
            <a:endParaRPr/>
          </a:p>
        </p:txBody>
      </p:sp>
      <p:sp>
        <p:nvSpPr>
          <p:cNvPr id="1226" name="Google Shape;1226;p81"/>
          <p:cNvSpPr txBox="1"/>
          <p:nvPr>
            <p:ph idx="1" type="body"/>
          </p:nvPr>
        </p:nvSpPr>
        <p:spPr>
          <a:xfrm>
            <a:off x="107050" y="402200"/>
            <a:ext cx="8909700" cy="185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just saw Port Address Translation (PAT).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most complex, widely-used mode of NAT.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Other modes of NAT exist.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Simpler modes for one-to-one address translation.</a:t>
            </a:r>
            <a:endParaRPr/>
          </a:p>
        </p:txBody>
      </p:sp>
      <p:sp>
        <p:nvSpPr>
          <p:cNvPr id="1227" name="Google Shape;1227;p81"/>
          <p:cNvSpPr/>
          <p:nvPr/>
        </p:nvSpPr>
        <p:spPr>
          <a:xfrm>
            <a:off x="872325" y="3913950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8" name="Google Shape;1228;p81"/>
          <p:cNvSpPr/>
          <p:nvPr/>
        </p:nvSpPr>
        <p:spPr>
          <a:xfrm>
            <a:off x="872325" y="43065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9" name="Google Shape;1229;p81"/>
          <p:cNvSpPr/>
          <p:nvPr/>
        </p:nvSpPr>
        <p:spPr>
          <a:xfrm>
            <a:off x="872325" y="46875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0" name="Google Shape;1230;p81"/>
          <p:cNvSpPr/>
          <p:nvPr/>
        </p:nvSpPr>
        <p:spPr>
          <a:xfrm>
            <a:off x="2143038" y="430656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31" name="Google Shape;1231;p81"/>
          <p:cNvCxnSpPr>
            <a:stCxn id="1227" idx="6"/>
            <a:endCxn id="1230" idx="1"/>
          </p:cNvCxnSpPr>
          <p:nvPr/>
        </p:nvCxnSpPr>
        <p:spPr>
          <a:xfrm>
            <a:off x="1157325" y="4056450"/>
            <a:ext cx="9858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2" name="Google Shape;1232;p81"/>
          <p:cNvCxnSpPr>
            <a:stCxn id="1228" idx="6"/>
            <a:endCxn id="1230" idx="1"/>
          </p:cNvCxnSpPr>
          <p:nvPr/>
        </p:nvCxnSpPr>
        <p:spPr>
          <a:xfrm>
            <a:off x="1157325" y="4449066"/>
            <a:ext cx="98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3" name="Google Shape;1233;p81"/>
          <p:cNvCxnSpPr>
            <a:stCxn id="1229" idx="6"/>
            <a:endCxn id="1230" idx="1"/>
          </p:cNvCxnSpPr>
          <p:nvPr/>
        </p:nvCxnSpPr>
        <p:spPr>
          <a:xfrm flipH="1" rot="10800000">
            <a:off x="1157325" y="4449066"/>
            <a:ext cx="9858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4" name="Google Shape;1234;p81"/>
          <p:cNvCxnSpPr>
            <a:stCxn id="1230" idx="3"/>
          </p:cNvCxnSpPr>
          <p:nvPr/>
        </p:nvCxnSpPr>
        <p:spPr>
          <a:xfrm>
            <a:off x="2428038" y="4449066"/>
            <a:ext cx="689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235" name="Google Shape;1235;p81"/>
          <p:cNvGraphicFramePr/>
          <p:nvPr/>
        </p:nvGraphicFramePr>
        <p:xfrm>
          <a:off x="687338" y="2417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065475"/>
                <a:gridCol w="1065475"/>
                <a:gridCol w="1065475"/>
              </a:tblGrid>
              <a:tr h="246925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 hMerge="1"/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Host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Private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Public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10.0.0.1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42.0.2.1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10.0.0.2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42.0.2.2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10.0.0.3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42.0.2.3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236" name="Google Shape;1236;p81"/>
          <p:cNvCxnSpPr/>
          <p:nvPr/>
        </p:nvCxnSpPr>
        <p:spPr>
          <a:xfrm>
            <a:off x="3174200" y="4449066"/>
            <a:ext cx="3915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37" name="Google Shape;1237;p81"/>
          <p:cNvSpPr txBox="1"/>
          <p:nvPr/>
        </p:nvSpPr>
        <p:spPr>
          <a:xfrm>
            <a:off x="4572000" y="2500525"/>
            <a:ext cx="35007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this simpler NAT mode, every host has its own private and public IP.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 R1 just needs to change the private IP to that host's corresponding public IP.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8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NAT</a:t>
            </a:r>
            <a:endParaRPr/>
          </a:p>
        </p:txBody>
      </p:sp>
      <p:sp>
        <p:nvSpPr>
          <p:cNvPr id="1243" name="Google Shape;1243;p8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NAT requires routers to do extra work.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Rewrite headers.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(and maybe rewrite) the Layer 4 header.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 a </a:t>
            </a:r>
            <a:r>
              <a:rPr i="1" lang="en"/>
              <a:t>connection state</a:t>
            </a:r>
            <a:r>
              <a:rPr lang="en"/>
              <a:t> table.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NAT increases complexity of packet forwarding.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CPU cycles per packet.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memory per connection.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8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is NAT Used?</a:t>
            </a:r>
            <a:endParaRPr/>
          </a:p>
        </p:txBody>
      </p:sp>
      <p:sp>
        <p:nvSpPr>
          <p:cNvPr id="1249" name="Google Shape;1249;p8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NAT increases complexity, so it's performed as close to the edge of the network as possible.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Small-scale NAT is used in almost every IPv4 network.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As IPv4 addresses ran out, ISPs didn't have enough addresses for each customer.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ISPs had to run Carrier Grade NAT (CGNAT).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complex – many more connections to maintain state for.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NAT is generally not used for IPv6. There are enough addresses!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84"/>
          <p:cNvSpPr/>
          <p:nvPr/>
        </p:nvSpPr>
        <p:spPr>
          <a:xfrm>
            <a:off x="0" y="3377525"/>
            <a:ext cx="3084000" cy="17775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Private addresses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(inside network)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5" name="Google Shape;1255;p84"/>
          <p:cNvSpPr/>
          <p:nvPr/>
        </p:nvSpPr>
        <p:spPr>
          <a:xfrm>
            <a:off x="3084075" y="3377525"/>
            <a:ext cx="6060000" cy="177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addresses (the Internet)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6" name="Google Shape;1256;p84"/>
          <p:cNvSpPr/>
          <p:nvPr/>
        </p:nvSpPr>
        <p:spPr>
          <a:xfrm>
            <a:off x="1202538" y="3537475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7" name="Google Shape;1257;p84"/>
          <p:cNvSpPr/>
          <p:nvPr/>
        </p:nvSpPr>
        <p:spPr>
          <a:xfrm>
            <a:off x="1202538" y="3930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8" name="Google Shape;1258;p84"/>
          <p:cNvSpPr/>
          <p:nvPr/>
        </p:nvSpPr>
        <p:spPr>
          <a:xfrm>
            <a:off x="1202538" y="43110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9" name="Google Shape;1259;p84"/>
          <p:cNvSpPr/>
          <p:nvPr/>
        </p:nvSpPr>
        <p:spPr>
          <a:xfrm>
            <a:off x="2930450" y="3930091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0" name="Google Shape;1260;p84"/>
          <p:cNvCxnSpPr>
            <a:stCxn id="1256" idx="6"/>
            <a:endCxn id="1259" idx="1"/>
          </p:cNvCxnSpPr>
          <p:nvPr/>
        </p:nvCxnSpPr>
        <p:spPr>
          <a:xfrm>
            <a:off x="1487538" y="3679975"/>
            <a:ext cx="1443000" cy="392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1" name="Google Shape;1261;p84"/>
          <p:cNvCxnSpPr>
            <a:stCxn id="1257" idx="6"/>
            <a:endCxn id="1259" idx="1"/>
          </p:cNvCxnSpPr>
          <p:nvPr/>
        </p:nvCxnSpPr>
        <p:spPr>
          <a:xfrm>
            <a:off x="1487538" y="4072591"/>
            <a:ext cx="1443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2" name="Google Shape;1262;p84"/>
          <p:cNvCxnSpPr>
            <a:stCxn id="1258" idx="6"/>
            <a:endCxn id="1259" idx="1"/>
          </p:cNvCxnSpPr>
          <p:nvPr/>
        </p:nvCxnSpPr>
        <p:spPr>
          <a:xfrm flipH="1" rot="10800000">
            <a:off x="1487538" y="4072591"/>
            <a:ext cx="1443000" cy="381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3" name="Google Shape;1263;p84"/>
          <p:cNvSpPr/>
          <p:nvPr/>
        </p:nvSpPr>
        <p:spPr>
          <a:xfrm>
            <a:off x="7045238" y="37014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4" name="Google Shape;1264;p84"/>
          <p:cNvSpPr/>
          <p:nvPr/>
        </p:nvSpPr>
        <p:spPr>
          <a:xfrm>
            <a:off x="42971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5" name="Google Shape;1265;p84"/>
          <p:cNvSpPr/>
          <p:nvPr/>
        </p:nvSpPr>
        <p:spPr>
          <a:xfrm>
            <a:off x="65069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6" name="Google Shape;1266;p84"/>
          <p:cNvCxnSpPr>
            <a:stCxn id="1259" idx="3"/>
            <a:endCxn id="1264" idx="1"/>
          </p:cNvCxnSpPr>
          <p:nvPr/>
        </p:nvCxnSpPr>
        <p:spPr>
          <a:xfrm>
            <a:off x="3215450" y="4072591"/>
            <a:ext cx="1081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7" name="Google Shape;1267;p84"/>
          <p:cNvCxnSpPr>
            <a:stCxn id="1268" idx="3"/>
            <a:endCxn id="1265" idx="1"/>
          </p:cNvCxnSpPr>
          <p:nvPr/>
        </p:nvCxnSpPr>
        <p:spPr>
          <a:xfrm>
            <a:off x="5587700" y="4072591"/>
            <a:ext cx="919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9" name="Google Shape;1269;p84"/>
          <p:cNvCxnSpPr>
            <a:stCxn id="1265" idx="3"/>
            <a:endCxn id="1263" idx="2"/>
          </p:cNvCxnSpPr>
          <p:nvPr/>
        </p:nvCxnSpPr>
        <p:spPr>
          <a:xfrm flipH="1" rot="10800000">
            <a:off x="6649400" y="38439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0" name="Google Shape;1270;p84"/>
          <p:cNvSpPr/>
          <p:nvPr/>
        </p:nvSpPr>
        <p:spPr>
          <a:xfrm>
            <a:off x="7045238" y="4158691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1" name="Google Shape;1271;p84"/>
          <p:cNvCxnSpPr>
            <a:stCxn id="1265" idx="3"/>
            <a:endCxn id="1270" idx="2"/>
          </p:cNvCxnSpPr>
          <p:nvPr/>
        </p:nvCxnSpPr>
        <p:spPr>
          <a:xfrm>
            <a:off x="6649400" y="4072591"/>
            <a:ext cx="395700" cy="228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68" name="Google Shape;1268;p84"/>
          <p:cNvSpPr/>
          <p:nvPr/>
        </p:nvSpPr>
        <p:spPr>
          <a:xfrm>
            <a:off x="5445200" y="4001341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2" name="Google Shape;1272;p84"/>
          <p:cNvCxnSpPr>
            <a:stCxn id="1264" idx="3"/>
            <a:endCxn id="1268" idx="1"/>
          </p:cNvCxnSpPr>
          <p:nvPr/>
        </p:nvCxnSpPr>
        <p:spPr>
          <a:xfrm>
            <a:off x="4439600" y="4072591"/>
            <a:ext cx="10056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3" name="Google Shape;1273;p8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Inbound Connections</a:t>
            </a:r>
            <a:endParaRPr/>
          </a:p>
        </p:txBody>
      </p:sp>
      <p:sp>
        <p:nvSpPr>
          <p:cNvPr id="1274" name="Google Shape;1274;p84"/>
          <p:cNvSpPr txBox="1"/>
          <p:nvPr>
            <p:ph idx="1" type="body"/>
          </p:nvPr>
        </p:nvSpPr>
        <p:spPr>
          <a:xfrm>
            <a:off x="107050" y="402200"/>
            <a:ext cx="8909700" cy="17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 far, we've assumed connections are initiated by the client (inside).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if someone from outside initiates a connection?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NAT doesn't support inbound connections!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Can't initiate a connection to someone with a private address.</a:t>
            </a:r>
            <a:endParaRPr/>
          </a:p>
        </p:txBody>
      </p:sp>
      <p:graphicFrame>
        <p:nvGraphicFramePr>
          <p:cNvPr id="1275" name="Google Shape;1275;p84"/>
          <p:cNvGraphicFramePr/>
          <p:nvPr/>
        </p:nvGraphicFramePr>
        <p:xfrm>
          <a:off x="2207025" y="215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865925"/>
                <a:gridCol w="865925"/>
              </a:tblGrid>
              <a:tr h="2469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R1's NAT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 hMerge="1"/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Outside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7425" marB="27425" marR="27425" marL="27425" anchor="ctr"/>
                </a:tc>
              </a:tr>
              <a:tr h="246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 anchor="ctr"/>
                </a:tc>
              </a:tr>
            </a:tbl>
          </a:graphicData>
        </a:graphic>
      </p:graphicFrame>
      <p:sp>
        <p:nvSpPr>
          <p:cNvPr id="1276" name="Google Shape;1276;p84"/>
          <p:cNvSpPr/>
          <p:nvPr/>
        </p:nvSpPr>
        <p:spPr>
          <a:xfrm>
            <a:off x="7290950" y="3563800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77" name="Google Shape;1277;p84"/>
          <p:cNvCxnSpPr>
            <a:stCxn id="1278" idx="1"/>
            <a:endCxn id="1279" idx="3"/>
          </p:cNvCxnSpPr>
          <p:nvPr/>
        </p:nvCxnSpPr>
        <p:spPr>
          <a:xfrm rot="10800000">
            <a:off x="3607700" y="4451175"/>
            <a:ext cx="5892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8" name="Google Shape;1278;p84"/>
          <p:cNvSpPr txBox="1"/>
          <p:nvPr/>
        </p:nvSpPr>
        <p:spPr>
          <a:xfrm>
            <a:off x="4196900" y="4315725"/>
            <a:ext cx="1491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Who is this for?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0" name="Google Shape;1280;p84"/>
          <p:cNvSpPr/>
          <p:nvPr/>
        </p:nvSpPr>
        <p:spPr>
          <a:xfrm>
            <a:off x="2531899" y="4170975"/>
            <a:ext cx="1075800" cy="5604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425" lIns="27425" spcFirstLastPara="1" rIns="27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From: 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To: 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8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Inbound Connections</a:t>
            </a:r>
            <a:endParaRPr/>
          </a:p>
        </p:txBody>
      </p:sp>
      <p:sp>
        <p:nvSpPr>
          <p:cNvPr id="1286" name="Google Shape;1286;p8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Basic NAT doesn't support inbound connections.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Breaks the end-to-end principle!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usually okay.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 your computer, you usually initiate all the connections.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To support inbound connections, the router needs a </a:t>
            </a:r>
            <a:r>
              <a:rPr i="1" lang="en"/>
              <a:t>port mapping table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"If someone initiates a connection on Port 50000, it's for A."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can manually specify the port it's listening 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 protocols exist for auto-configuring open ports.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UPnP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Universal Plug-n-Play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NAT-PMP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NAT Port Mapping Protocol</a:t>
            </a:r>
            <a:r>
              <a:rPr lang="en" sz="1400">
                <a:solidFill>
                  <a:schemeClr val="accent3"/>
                </a:solidFill>
              </a:rPr>
              <a:t>)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8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NAT: Security Implications</a:t>
            </a:r>
            <a:endParaRPr/>
          </a:p>
        </p:txBody>
      </p:sp>
      <p:sp>
        <p:nvSpPr>
          <p:cNvPr id="1292" name="Google Shape;1292;p86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NAT disallows inbound connections by default.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Could be thought of as a security feature, similar to firewalls.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of a side effect than an intentional security policy.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NAT can help preserve client privacy.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Without NAT: Server sees host's address.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From: A, To: 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If IP address is derived from MAC address, server can learn the exact computer being used.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 NAT: Server sees router IP address.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From: R1, To: S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Again, more of a side effect.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Temporary/privacy addresses exist for IPv6.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8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ARP: Connecting Layers 2 and 3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DHCP: Joining a New Network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NAT: Network Address Translation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Basic NAT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NAT with Ports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Rewriting Ports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NAT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TLS: Secure Bytestreams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End-to-End Walkthrough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298" name="Google Shape;1298;p8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TLS: Secure Bytestreams</a:t>
            </a:r>
            <a:endParaRPr/>
          </a:p>
        </p:txBody>
      </p:sp>
      <p:sp>
        <p:nvSpPr>
          <p:cNvPr id="1299" name="Google Shape;1299;p8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17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8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 is Vulnerable</a:t>
            </a:r>
            <a:endParaRPr/>
          </a:p>
        </p:txBody>
      </p:sp>
      <p:sp>
        <p:nvSpPr>
          <p:cNvPr id="1305" name="Google Shape;1305;p8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 attacker could read or modify TCP packets.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Malicious router.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Attacker sniffing packets on a wire.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 attacker could impersonate a server.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do a DNS lookup for www.bank.com.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Attacker changes the DNS response, mapping www.bank.com to 6.6.6.6.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you connect to the website, you're talking to the attacker!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8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 Bytestreams</a:t>
            </a:r>
            <a:endParaRPr/>
          </a:p>
        </p:txBody>
      </p:sp>
      <p:sp>
        <p:nvSpPr>
          <p:cNvPr id="1311" name="Google Shape;1311;p89"/>
          <p:cNvSpPr txBox="1"/>
          <p:nvPr>
            <p:ph idx="1" type="body"/>
          </p:nvPr>
        </p:nvSpPr>
        <p:spPr>
          <a:xfrm>
            <a:off x="107050" y="402200"/>
            <a:ext cx="48225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TLS adds security on top of TCP.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Relies on Layer 4 bytestream.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Provides a </a:t>
            </a:r>
            <a:r>
              <a:rPr i="1" lang="en"/>
              <a:t>secure</a:t>
            </a:r>
            <a:r>
              <a:rPr lang="en"/>
              <a:t> bytestream to Layer 7.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Same abstraction, but data in the bytestream is now encrypted.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HTTPS runs on top of TLS.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Uses port 443.</a:t>
            </a:r>
            <a:r>
              <a:rPr lang="en" sz="1400">
                <a:solidFill>
                  <a:schemeClr val="accent3"/>
                </a:solidFill>
              </a:rPr>
              <a:t>)</a:t>
            </a:r>
            <a:br>
              <a:rPr lang="en"/>
            </a:br>
            <a:r>
              <a:rPr lang="en"/>
              <a:t>HTTP runs on top of TCP.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Uses port 80.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(Note: It's Layer 4.5 because 5 and 6 are obsolete, and unrelated to security.)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312" name="Google Shape;1312;p89"/>
          <p:cNvSpPr/>
          <p:nvPr/>
        </p:nvSpPr>
        <p:spPr>
          <a:xfrm>
            <a:off x="5462600" y="3424850"/>
            <a:ext cx="1548900" cy="5049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Physical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3" name="Google Shape;1313;p89"/>
          <p:cNvSpPr/>
          <p:nvPr/>
        </p:nvSpPr>
        <p:spPr>
          <a:xfrm>
            <a:off x="5462600" y="2919950"/>
            <a:ext cx="1548900" cy="504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Data Link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4" name="Google Shape;1314;p89"/>
          <p:cNvSpPr/>
          <p:nvPr/>
        </p:nvSpPr>
        <p:spPr>
          <a:xfrm>
            <a:off x="5462600" y="2415050"/>
            <a:ext cx="1548900" cy="504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5" name="Google Shape;1315;p89"/>
          <p:cNvSpPr/>
          <p:nvPr/>
        </p:nvSpPr>
        <p:spPr>
          <a:xfrm>
            <a:off x="5462600" y="1910150"/>
            <a:ext cx="1548900" cy="504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6" name="Google Shape;1316;p89"/>
          <p:cNvSpPr/>
          <p:nvPr/>
        </p:nvSpPr>
        <p:spPr>
          <a:xfrm>
            <a:off x="5462600" y="1405250"/>
            <a:ext cx="1548900" cy="50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Secure Transport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7" name="Google Shape;1317;p89"/>
          <p:cNvSpPr txBox="1"/>
          <p:nvPr/>
        </p:nvSpPr>
        <p:spPr>
          <a:xfrm>
            <a:off x="4962050" y="1457600"/>
            <a:ext cx="46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4.5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8" name="Google Shape;1318;p89"/>
          <p:cNvSpPr txBox="1"/>
          <p:nvPr/>
        </p:nvSpPr>
        <p:spPr>
          <a:xfrm>
            <a:off x="5130670" y="19625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9" name="Google Shape;1319;p89"/>
          <p:cNvSpPr txBox="1"/>
          <p:nvPr/>
        </p:nvSpPr>
        <p:spPr>
          <a:xfrm>
            <a:off x="5130670" y="24674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0" name="Google Shape;1320;p89"/>
          <p:cNvSpPr txBox="1"/>
          <p:nvPr/>
        </p:nvSpPr>
        <p:spPr>
          <a:xfrm>
            <a:off x="5130670" y="29723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1" name="Google Shape;1321;p89"/>
          <p:cNvSpPr txBox="1"/>
          <p:nvPr/>
        </p:nvSpPr>
        <p:spPr>
          <a:xfrm>
            <a:off x="5130670" y="3477200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2" name="Google Shape;1322;p89"/>
          <p:cNvSpPr txBox="1"/>
          <p:nvPr/>
        </p:nvSpPr>
        <p:spPr>
          <a:xfrm>
            <a:off x="7011425" y="14576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(TLS)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3" name="Google Shape;1323;p89"/>
          <p:cNvSpPr txBox="1"/>
          <p:nvPr/>
        </p:nvSpPr>
        <p:spPr>
          <a:xfrm>
            <a:off x="7011425" y="19625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(TCP, UDP)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4" name="Google Shape;1324;p89"/>
          <p:cNvSpPr txBox="1"/>
          <p:nvPr/>
        </p:nvSpPr>
        <p:spPr>
          <a:xfrm>
            <a:off x="7011425" y="24674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(IP)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5" name="Google Shape;1325;p89"/>
          <p:cNvSpPr txBox="1"/>
          <p:nvPr/>
        </p:nvSpPr>
        <p:spPr>
          <a:xfrm>
            <a:off x="7011425" y="29723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(Ethernet)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6" name="Google Shape;1326;p89"/>
          <p:cNvSpPr txBox="1"/>
          <p:nvPr/>
        </p:nvSpPr>
        <p:spPr>
          <a:xfrm>
            <a:off x="7011425" y="3477200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(Optical fiber, copper)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7" name="Google Shape;1327;p89"/>
          <p:cNvSpPr/>
          <p:nvPr/>
        </p:nvSpPr>
        <p:spPr>
          <a:xfrm>
            <a:off x="5462600" y="899425"/>
            <a:ext cx="1548900" cy="504900"/>
          </a:xfrm>
          <a:prstGeom prst="rect">
            <a:avLst/>
          </a:prstGeom>
          <a:solidFill>
            <a:srgbClr val="B4A7D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Application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8" name="Google Shape;1328;p89"/>
          <p:cNvSpPr txBox="1"/>
          <p:nvPr/>
        </p:nvSpPr>
        <p:spPr>
          <a:xfrm>
            <a:off x="5130670" y="951775"/>
            <a:ext cx="29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9" name="Google Shape;1329;p89"/>
          <p:cNvSpPr txBox="1"/>
          <p:nvPr/>
        </p:nvSpPr>
        <p:spPr>
          <a:xfrm>
            <a:off x="7011425" y="951775"/>
            <a:ext cx="194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(DNS, HTTP)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9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TLS Handshake</a:t>
            </a:r>
            <a:endParaRPr/>
          </a:p>
        </p:txBody>
      </p:sp>
      <p:sp>
        <p:nvSpPr>
          <p:cNvPr id="1335" name="Google Shape;1335;p9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TLS uses cryptography to protect messages sent over the bytestream.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Messages are encrypted.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Messages are tamper-proof. </a:t>
            </a:r>
            <a:r>
              <a:rPr lang="en" sz="1400">
                <a:solidFill>
                  <a:schemeClr val="accent3"/>
                </a:solidFill>
              </a:rPr>
              <a:t>(</a:t>
            </a:r>
            <a:r>
              <a:rPr i="1" lang="en" sz="1400">
                <a:solidFill>
                  <a:schemeClr val="accent3"/>
                </a:solidFill>
              </a:rPr>
              <a:t>Look up "message authentication codes" if curious.</a:t>
            </a:r>
            <a:r>
              <a:rPr lang="en" sz="1400">
                <a:solidFill>
                  <a:schemeClr val="accent3"/>
                </a:solidFill>
              </a:rPr>
              <a:t>)</a:t>
            </a:r>
            <a:endParaRPr sz="1400"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TLS starts with a handshake.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Exchanges secret keys.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Verifies identity of the server (stops impersonators).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Handshake runs over TCP bytestream. No need to think about packets!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9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TLS Handshake (1/5)</a:t>
            </a:r>
            <a:endParaRPr/>
          </a:p>
        </p:txBody>
      </p:sp>
      <p:sp>
        <p:nvSpPr>
          <p:cNvPr id="1341" name="Google Shape;1341;p91"/>
          <p:cNvSpPr txBox="1"/>
          <p:nvPr>
            <p:ph idx="1" type="body"/>
          </p:nvPr>
        </p:nvSpPr>
        <p:spPr>
          <a:xfrm>
            <a:off x="107050" y="402200"/>
            <a:ext cx="55815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Step 1: Client and server exchange hellos.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Exchange random numbers, to ensure that every handshake results in different keys.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Don't want to use the same key every time (e.g. if attacker hacks us and learns the key).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Agree on which cryptographic schemes to use.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Client sends a list of schemes it can use.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 picks one.</a:t>
            </a:r>
            <a:endParaRPr/>
          </a:p>
        </p:txBody>
      </p:sp>
      <p:cxnSp>
        <p:nvCxnSpPr>
          <p:cNvPr id="1342" name="Google Shape;1342;p91"/>
          <p:cNvCxnSpPr/>
          <p:nvPr/>
        </p:nvCxnSpPr>
        <p:spPr>
          <a:xfrm>
            <a:off x="6221125" y="548350"/>
            <a:ext cx="0" cy="411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3" name="Google Shape;1343;p91"/>
          <p:cNvSpPr txBox="1"/>
          <p:nvPr/>
        </p:nvSpPr>
        <p:spPr>
          <a:xfrm>
            <a:off x="5889625" y="4661900"/>
            <a:ext cx="663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44" name="Google Shape;1344;p91"/>
          <p:cNvCxnSpPr/>
          <p:nvPr/>
        </p:nvCxnSpPr>
        <p:spPr>
          <a:xfrm>
            <a:off x="8632925" y="548350"/>
            <a:ext cx="0" cy="411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5" name="Google Shape;1345;p91"/>
          <p:cNvSpPr txBox="1"/>
          <p:nvPr/>
        </p:nvSpPr>
        <p:spPr>
          <a:xfrm>
            <a:off x="8271275" y="4661900"/>
            <a:ext cx="723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46" name="Google Shape;1346;p91"/>
          <p:cNvCxnSpPr/>
          <p:nvPr/>
        </p:nvCxnSpPr>
        <p:spPr>
          <a:xfrm>
            <a:off x="6223100" y="7647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7" name="Google Shape;1347;p91"/>
          <p:cNvSpPr txBox="1"/>
          <p:nvPr/>
        </p:nvSpPr>
        <p:spPr>
          <a:xfrm rot="509547">
            <a:off x="6277266" y="6924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ClientHello</a:t>
            </a:r>
            <a:endParaRPr i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48" name="Google Shape;1348;p91"/>
          <p:cNvCxnSpPr/>
          <p:nvPr/>
        </p:nvCxnSpPr>
        <p:spPr>
          <a:xfrm flipH="1">
            <a:off x="6223100" y="12981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9" name="Google Shape;1349;p91"/>
          <p:cNvSpPr txBox="1"/>
          <p:nvPr/>
        </p:nvSpPr>
        <p:spPr>
          <a:xfrm flipH="1" rot="-509547">
            <a:off x="6277266" y="12258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ServerHello</a:t>
            </a:r>
            <a:endParaRPr i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92"/>
          <p:cNvSpPr txBox="1"/>
          <p:nvPr>
            <p:ph idx="1" type="body"/>
          </p:nvPr>
        </p:nvSpPr>
        <p:spPr>
          <a:xfrm>
            <a:off x="107050" y="402200"/>
            <a:ext cx="55815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Step 2: Server sends certificate of authenticity.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client to verify it's talking to the real server, and not an impersonator.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additional steps needed to verify.</a:t>
            </a:r>
            <a:br>
              <a:rPr lang="en"/>
            </a:br>
            <a:r>
              <a:rPr lang="en"/>
              <a:t>Not described here.</a:t>
            </a:r>
            <a:endParaRPr/>
          </a:p>
        </p:txBody>
      </p:sp>
      <p:sp>
        <p:nvSpPr>
          <p:cNvPr id="1355" name="Google Shape;1355;p9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TLS Handshake (2/5)</a:t>
            </a:r>
            <a:endParaRPr/>
          </a:p>
        </p:txBody>
      </p:sp>
      <p:cxnSp>
        <p:nvCxnSpPr>
          <p:cNvPr id="1356" name="Google Shape;1356;p92"/>
          <p:cNvCxnSpPr/>
          <p:nvPr/>
        </p:nvCxnSpPr>
        <p:spPr>
          <a:xfrm>
            <a:off x="6221125" y="548350"/>
            <a:ext cx="0" cy="411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7" name="Google Shape;1357;p92"/>
          <p:cNvSpPr txBox="1"/>
          <p:nvPr/>
        </p:nvSpPr>
        <p:spPr>
          <a:xfrm>
            <a:off x="5889625" y="4661900"/>
            <a:ext cx="663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58" name="Google Shape;1358;p92"/>
          <p:cNvCxnSpPr/>
          <p:nvPr/>
        </p:nvCxnSpPr>
        <p:spPr>
          <a:xfrm>
            <a:off x="8632925" y="548350"/>
            <a:ext cx="0" cy="411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9" name="Google Shape;1359;p92"/>
          <p:cNvSpPr txBox="1"/>
          <p:nvPr/>
        </p:nvSpPr>
        <p:spPr>
          <a:xfrm>
            <a:off x="8271275" y="4661900"/>
            <a:ext cx="723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0" name="Google Shape;1360;p92"/>
          <p:cNvCxnSpPr/>
          <p:nvPr/>
        </p:nvCxnSpPr>
        <p:spPr>
          <a:xfrm flipH="1">
            <a:off x="6223100" y="16791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1" name="Google Shape;1361;p92"/>
          <p:cNvSpPr txBox="1"/>
          <p:nvPr/>
        </p:nvSpPr>
        <p:spPr>
          <a:xfrm flipH="1" rot="-509547">
            <a:off x="6277266" y="16068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2. Server Certificate</a:t>
            </a:r>
            <a:endParaRPr i="1"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2" name="Google Shape;1362;p92"/>
          <p:cNvCxnSpPr/>
          <p:nvPr/>
        </p:nvCxnSpPr>
        <p:spPr>
          <a:xfrm>
            <a:off x="6223100" y="7647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3" name="Google Shape;1363;p92"/>
          <p:cNvSpPr txBox="1"/>
          <p:nvPr/>
        </p:nvSpPr>
        <p:spPr>
          <a:xfrm rot="509547">
            <a:off x="6277266" y="6924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1. ClientHello</a:t>
            </a:r>
            <a:endParaRPr i="1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4" name="Google Shape;1364;p92"/>
          <p:cNvCxnSpPr/>
          <p:nvPr/>
        </p:nvCxnSpPr>
        <p:spPr>
          <a:xfrm flipH="1">
            <a:off x="6223100" y="12981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5" name="Google Shape;1365;p92"/>
          <p:cNvSpPr txBox="1"/>
          <p:nvPr/>
        </p:nvSpPr>
        <p:spPr>
          <a:xfrm flipH="1" rot="-509547">
            <a:off x="6277266" y="12258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1. ServerHello</a:t>
            </a:r>
            <a:endParaRPr i="1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93"/>
          <p:cNvSpPr txBox="1"/>
          <p:nvPr>
            <p:ph idx="1" type="body"/>
          </p:nvPr>
        </p:nvSpPr>
        <p:spPr>
          <a:xfrm>
            <a:off x="107050" y="402200"/>
            <a:ext cx="55815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Step 3: Secret exchange.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Client and server use cryptography to derive a secret key that only the two of them know.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Use RSA public-key encryption.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Client encrypts secret with server's public key.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 can use private key to learn the secret.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Attacker cannot learn the secret (doesn't know server's private key).</a:t>
            </a:r>
            <a:endParaRPr/>
          </a:p>
        </p:txBody>
      </p:sp>
      <p:sp>
        <p:nvSpPr>
          <p:cNvPr id="1371" name="Google Shape;1371;p9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TLS Handshake (3/5)</a:t>
            </a:r>
            <a:endParaRPr/>
          </a:p>
        </p:txBody>
      </p:sp>
      <p:cxnSp>
        <p:nvCxnSpPr>
          <p:cNvPr id="1372" name="Google Shape;1372;p93"/>
          <p:cNvCxnSpPr/>
          <p:nvPr/>
        </p:nvCxnSpPr>
        <p:spPr>
          <a:xfrm>
            <a:off x="6221125" y="548350"/>
            <a:ext cx="0" cy="411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3" name="Google Shape;1373;p93"/>
          <p:cNvSpPr txBox="1"/>
          <p:nvPr/>
        </p:nvSpPr>
        <p:spPr>
          <a:xfrm>
            <a:off x="5889625" y="4661900"/>
            <a:ext cx="663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4" name="Google Shape;1374;p93"/>
          <p:cNvCxnSpPr/>
          <p:nvPr/>
        </p:nvCxnSpPr>
        <p:spPr>
          <a:xfrm>
            <a:off x="8632925" y="548350"/>
            <a:ext cx="0" cy="411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5" name="Google Shape;1375;p93"/>
          <p:cNvSpPr txBox="1"/>
          <p:nvPr/>
        </p:nvSpPr>
        <p:spPr>
          <a:xfrm>
            <a:off x="8271275" y="4661900"/>
            <a:ext cx="723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6" name="Google Shape;1376;p93"/>
          <p:cNvCxnSpPr/>
          <p:nvPr/>
        </p:nvCxnSpPr>
        <p:spPr>
          <a:xfrm>
            <a:off x="6223100" y="22887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7" name="Google Shape;1377;p93"/>
          <p:cNvSpPr txBox="1"/>
          <p:nvPr/>
        </p:nvSpPr>
        <p:spPr>
          <a:xfrm rot="509547">
            <a:off x="6277266" y="22164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3. Secret Exchange</a:t>
            </a:r>
            <a:endParaRPr i="1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78" name="Google Shape;1378;p93"/>
          <p:cNvCxnSpPr/>
          <p:nvPr/>
        </p:nvCxnSpPr>
        <p:spPr>
          <a:xfrm>
            <a:off x="6223100" y="7647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9" name="Google Shape;1379;p93"/>
          <p:cNvSpPr txBox="1"/>
          <p:nvPr/>
        </p:nvSpPr>
        <p:spPr>
          <a:xfrm rot="509547">
            <a:off x="6277266" y="6924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1. ClientHello</a:t>
            </a:r>
            <a:endParaRPr i="1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0" name="Google Shape;1380;p93"/>
          <p:cNvCxnSpPr/>
          <p:nvPr/>
        </p:nvCxnSpPr>
        <p:spPr>
          <a:xfrm flipH="1">
            <a:off x="6223100" y="12981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1" name="Google Shape;1381;p93"/>
          <p:cNvSpPr txBox="1"/>
          <p:nvPr/>
        </p:nvSpPr>
        <p:spPr>
          <a:xfrm flipH="1" rot="-509547">
            <a:off x="6277266" y="12258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1. ServerHello</a:t>
            </a:r>
            <a:endParaRPr i="1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2" name="Google Shape;1382;p93"/>
          <p:cNvCxnSpPr/>
          <p:nvPr/>
        </p:nvCxnSpPr>
        <p:spPr>
          <a:xfrm flipH="1">
            <a:off x="6223100" y="16791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3" name="Google Shape;1383;p93"/>
          <p:cNvSpPr txBox="1"/>
          <p:nvPr/>
        </p:nvSpPr>
        <p:spPr>
          <a:xfrm flipH="1" rot="-509547">
            <a:off x="6277266" y="16068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2. Server Certificate</a:t>
            </a:r>
            <a:endParaRPr i="1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94"/>
          <p:cNvSpPr txBox="1"/>
          <p:nvPr>
            <p:ph idx="1" type="body"/>
          </p:nvPr>
        </p:nvSpPr>
        <p:spPr>
          <a:xfrm>
            <a:off x="107050" y="402200"/>
            <a:ext cx="55815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Step 4: Secret key derivation.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 and client each derive key based on random numbers and the shared secret.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Derivation is done locally and independently by the client and server.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messages sent over network in this step!</a:t>
            </a:r>
            <a:endParaRPr/>
          </a:p>
        </p:txBody>
      </p:sp>
      <p:sp>
        <p:nvSpPr>
          <p:cNvPr id="1389" name="Google Shape;1389;p9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TLS Handshake (4/5)</a:t>
            </a:r>
            <a:endParaRPr/>
          </a:p>
        </p:txBody>
      </p:sp>
      <p:cxnSp>
        <p:nvCxnSpPr>
          <p:cNvPr id="1390" name="Google Shape;1390;p94"/>
          <p:cNvCxnSpPr/>
          <p:nvPr/>
        </p:nvCxnSpPr>
        <p:spPr>
          <a:xfrm>
            <a:off x="6221125" y="548350"/>
            <a:ext cx="0" cy="411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1" name="Google Shape;1391;p94"/>
          <p:cNvSpPr txBox="1"/>
          <p:nvPr/>
        </p:nvSpPr>
        <p:spPr>
          <a:xfrm>
            <a:off x="5889625" y="4661900"/>
            <a:ext cx="663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2" name="Google Shape;1392;p94"/>
          <p:cNvCxnSpPr/>
          <p:nvPr/>
        </p:nvCxnSpPr>
        <p:spPr>
          <a:xfrm>
            <a:off x="8632925" y="548350"/>
            <a:ext cx="0" cy="411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3" name="Google Shape;1393;p94"/>
          <p:cNvSpPr txBox="1"/>
          <p:nvPr/>
        </p:nvSpPr>
        <p:spPr>
          <a:xfrm>
            <a:off x="8271275" y="4661900"/>
            <a:ext cx="723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4" name="Google Shape;1394;p94"/>
          <p:cNvSpPr txBox="1"/>
          <p:nvPr/>
        </p:nvSpPr>
        <p:spPr>
          <a:xfrm>
            <a:off x="6268550" y="2864490"/>
            <a:ext cx="1028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4. Derive Secret Keys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5" name="Google Shape;1395;p94"/>
          <p:cNvSpPr txBox="1"/>
          <p:nvPr/>
        </p:nvSpPr>
        <p:spPr>
          <a:xfrm>
            <a:off x="7560875" y="2864490"/>
            <a:ext cx="1028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4. Derive Secret Keys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6" name="Google Shape;1396;p94"/>
          <p:cNvCxnSpPr/>
          <p:nvPr/>
        </p:nvCxnSpPr>
        <p:spPr>
          <a:xfrm>
            <a:off x="6223100" y="7647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7" name="Google Shape;1397;p94"/>
          <p:cNvSpPr txBox="1"/>
          <p:nvPr/>
        </p:nvSpPr>
        <p:spPr>
          <a:xfrm rot="509547">
            <a:off x="6277266" y="6924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1. ClientHello</a:t>
            </a:r>
            <a:endParaRPr i="1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8" name="Google Shape;1398;p94"/>
          <p:cNvCxnSpPr/>
          <p:nvPr/>
        </p:nvCxnSpPr>
        <p:spPr>
          <a:xfrm flipH="1">
            <a:off x="6223100" y="12981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9" name="Google Shape;1399;p94"/>
          <p:cNvSpPr txBox="1"/>
          <p:nvPr/>
        </p:nvSpPr>
        <p:spPr>
          <a:xfrm flipH="1" rot="-509547">
            <a:off x="6277266" y="12258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1. ServerHello</a:t>
            </a:r>
            <a:endParaRPr i="1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0" name="Google Shape;1400;p94"/>
          <p:cNvCxnSpPr/>
          <p:nvPr/>
        </p:nvCxnSpPr>
        <p:spPr>
          <a:xfrm flipH="1">
            <a:off x="6223100" y="16791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1" name="Google Shape;1401;p94"/>
          <p:cNvSpPr txBox="1"/>
          <p:nvPr/>
        </p:nvSpPr>
        <p:spPr>
          <a:xfrm flipH="1" rot="-509547">
            <a:off x="6277266" y="16068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2. Server Certificate</a:t>
            </a:r>
            <a:endParaRPr i="1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02" name="Google Shape;1402;p94"/>
          <p:cNvCxnSpPr/>
          <p:nvPr/>
        </p:nvCxnSpPr>
        <p:spPr>
          <a:xfrm>
            <a:off x="6223100" y="22887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3" name="Google Shape;1403;p94"/>
          <p:cNvSpPr txBox="1"/>
          <p:nvPr/>
        </p:nvSpPr>
        <p:spPr>
          <a:xfrm rot="509547">
            <a:off x="6277266" y="22164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3. Secret Exchange</a:t>
            </a:r>
            <a:endParaRPr i="1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95"/>
          <p:cNvSpPr txBox="1"/>
          <p:nvPr>
            <p:ph idx="1" type="body"/>
          </p:nvPr>
        </p:nvSpPr>
        <p:spPr>
          <a:xfrm>
            <a:off x="107050" y="402200"/>
            <a:ext cx="55815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Step 5: Exchange acknowledgments.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cryptography to make sure client and server derived the same secret keys.</a:t>
            </a:r>
            <a:endParaRPr/>
          </a:p>
        </p:txBody>
      </p:sp>
      <p:sp>
        <p:nvSpPr>
          <p:cNvPr id="1409" name="Google Shape;1409;p9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TLS Handshake (5/5)</a:t>
            </a:r>
            <a:endParaRPr/>
          </a:p>
        </p:txBody>
      </p:sp>
      <p:cxnSp>
        <p:nvCxnSpPr>
          <p:cNvPr id="1410" name="Google Shape;1410;p95"/>
          <p:cNvCxnSpPr/>
          <p:nvPr/>
        </p:nvCxnSpPr>
        <p:spPr>
          <a:xfrm>
            <a:off x="6221125" y="548350"/>
            <a:ext cx="0" cy="411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1" name="Google Shape;1411;p95"/>
          <p:cNvSpPr txBox="1"/>
          <p:nvPr/>
        </p:nvSpPr>
        <p:spPr>
          <a:xfrm>
            <a:off x="5889625" y="4661900"/>
            <a:ext cx="663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2" name="Google Shape;1412;p95"/>
          <p:cNvCxnSpPr/>
          <p:nvPr/>
        </p:nvCxnSpPr>
        <p:spPr>
          <a:xfrm>
            <a:off x="8632925" y="548350"/>
            <a:ext cx="0" cy="411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3" name="Google Shape;1413;p95"/>
          <p:cNvSpPr txBox="1"/>
          <p:nvPr/>
        </p:nvSpPr>
        <p:spPr>
          <a:xfrm>
            <a:off x="8271275" y="4661900"/>
            <a:ext cx="723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4" name="Google Shape;1414;p95"/>
          <p:cNvCxnSpPr/>
          <p:nvPr/>
        </p:nvCxnSpPr>
        <p:spPr>
          <a:xfrm>
            <a:off x="6223100" y="7647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5" name="Google Shape;1415;p95"/>
          <p:cNvSpPr txBox="1"/>
          <p:nvPr/>
        </p:nvSpPr>
        <p:spPr>
          <a:xfrm rot="509547">
            <a:off x="6277266" y="6924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1. ClientHello</a:t>
            </a:r>
            <a:endParaRPr i="1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6" name="Google Shape;1416;p95"/>
          <p:cNvSpPr txBox="1"/>
          <p:nvPr/>
        </p:nvSpPr>
        <p:spPr>
          <a:xfrm>
            <a:off x="6268550" y="2864490"/>
            <a:ext cx="1028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4. Derive Secret Keys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7" name="Google Shape;1417;p95"/>
          <p:cNvSpPr txBox="1"/>
          <p:nvPr/>
        </p:nvSpPr>
        <p:spPr>
          <a:xfrm>
            <a:off x="7560875" y="2864490"/>
            <a:ext cx="1028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4. Derive Secret Keys</a:t>
            </a:r>
            <a:endParaRPr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8" name="Google Shape;1418;p95"/>
          <p:cNvCxnSpPr/>
          <p:nvPr/>
        </p:nvCxnSpPr>
        <p:spPr>
          <a:xfrm flipH="1">
            <a:off x="6223100" y="12981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9" name="Google Shape;1419;p95"/>
          <p:cNvSpPr txBox="1"/>
          <p:nvPr/>
        </p:nvSpPr>
        <p:spPr>
          <a:xfrm flipH="1" rot="-509547">
            <a:off x="6277266" y="12258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1. ServerHello</a:t>
            </a:r>
            <a:endParaRPr i="1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0" name="Google Shape;1420;p95"/>
          <p:cNvCxnSpPr/>
          <p:nvPr/>
        </p:nvCxnSpPr>
        <p:spPr>
          <a:xfrm flipH="1">
            <a:off x="6223100" y="16791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1" name="Google Shape;1421;p95"/>
          <p:cNvSpPr txBox="1"/>
          <p:nvPr/>
        </p:nvSpPr>
        <p:spPr>
          <a:xfrm flipH="1" rot="-509547">
            <a:off x="6277266" y="16068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2. Server Certificate</a:t>
            </a:r>
            <a:endParaRPr i="1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2" name="Google Shape;1422;p95"/>
          <p:cNvCxnSpPr/>
          <p:nvPr/>
        </p:nvCxnSpPr>
        <p:spPr>
          <a:xfrm>
            <a:off x="6223100" y="22887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3" name="Google Shape;1423;p95"/>
          <p:cNvSpPr txBox="1"/>
          <p:nvPr/>
        </p:nvSpPr>
        <p:spPr>
          <a:xfrm rot="509547">
            <a:off x="6277266" y="22164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3. Secret Exchange</a:t>
            </a:r>
            <a:endParaRPr i="1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4" name="Google Shape;1424;p95"/>
          <p:cNvCxnSpPr/>
          <p:nvPr/>
        </p:nvCxnSpPr>
        <p:spPr>
          <a:xfrm>
            <a:off x="6223100" y="36603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5" name="Google Shape;1425;p95"/>
          <p:cNvSpPr txBox="1"/>
          <p:nvPr/>
        </p:nvSpPr>
        <p:spPr>
          <a:xfrm rot="509547">
            <a:off x="6277266" y="35880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5. Ack</a:t>
            </a:r>
            <a:endParaRPr i="1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6" name="Google Shape;1426;p95"/>
          <p:cNvCxnSpPr/>
          <p:nvPr/>
        </p:nvCxnSpPr>
        <p:spPr>
          <a:xfrm flipH="1">
            <a:off x="6223100" y="41175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7" name="Google Shape;1427;p95"/>
          <p:cNvSpPr txBox="1"/>
          <p:nvPr/>
        </p:nvSpPr>
        <p:spPr>
          <a:xfrm flipH="1" rot="-509547">
            <a:off x="6277266" y="40452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5. Ack</a:t>
            </a:r>
            <a:endParaRPr i="1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96"/>
          <p:cNvSpPr txBox="1"/>
          <p:nvPr>
            <p:ph idx="1" type="body"/>
          </p:nvPr>
        </p:nvSpPr>
        <p:spPr>
          <a:xfrm>
            <a:off x="107050" y="402200"/>
            <a:ext cx="55815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After the handshake, all future messages are protected by the secret keys.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Encrypted and tamper-proof.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Applications can send data over the secured bytestream.</a:t>
            </a:r>
            <a:endParaRPr/>
          </a:p>
        </p:txBody>
      </p:sp>
      <p:sp>
        <p:nvSpPr>
          <p:cNvPr id="1433" name="Google Shape;1433;p9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TLS Handshake</a:t>
            </a:r>
            <a:endParaRPr/>
          </a:p>
        </p:txBody>
      </p:sp>
      <p:cxnSp>
        <p:nvCxnSpPr>
          <p:cNvPr id="1434" name="Google Shape;1434;p96"/>
          <p:cNvCxnSpPr/>
          <p:nvPr/>
        </p:nvCxnSpPr>
        <p:spPr>
          <a:xfrm>
            <a:off x="6221125" y="548350"/>
            <a:ext cx="0" cy="411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5" name="Google Shape;1435;p96"/>
          <p:cNvSpPr txBox="1"/>
          <p:nvPr/>
        </p:nvSpPr>
        <p:spPr>
          <a:xfrm>
            <a:off x="5889625" y="4661900"/>
            <a:ext cx="6630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Client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6" name="Google Shape;1436;p96"/>
          <p:cNvCxnSpPr/>
          <p:nvPr/>
        </p:nvCxnSpPr>
        <p:spPr>
          <a:xfrm>
            <a:off x="8632925" y="548350"/>
            <a:ext cx="0" cy="411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7" name="Google Shape;1437;p96"/>
          <p:cNvSpPr txBox="1"/>
          <p:nvPr/>
        </p:nvSpPr>
        <p:spPr>
          <a:xfrm>
            <a:off x="8271275" y="4661900"/>
            <a:ext cx="7233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91425" spcFirstLastPara="1" rIns="91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Server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38" name="Google Shape;1438;p96"/>
          <p:cNvCxnSpPr/>
          <p:nvPr/>
        </p:nvCxnSpPr>
        <p:spPr>
          <a:xfrm>
            <a:off x="6223100" y="7647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9" name="Google Shape;1439;p96"/>
          <p:cNvSpPr txBox="1"/>
          <p:nvPr/>
        </p:nvSpPr>
        <p:spPr>
          <a:xfrm rot="509547">
            <a:off x="6277266" y="6924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ClientHello</a:t>
            </a:r>
            <a:endParaRPr i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0" name="Google Shape;1440;p96"/>
          <p:cNvSpPr txBox="1"/>
          <p:nvPr/>
        </p:nvSpPr>
        <p:spPr>
          <a:xfrm>
            <a:off x="6268550" y="2864490"/>
            <a:ext cx="1028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4. Derive Secret Keys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1" name="Google Shape;1441;p96"/>
          <p:cNvSpPr txBox="1"/>
          <p:nvPr/>
        </p:nvSpPr>
        <p:spPr>
          <a:xfrm>
            <a:off x="7560875" y="2864490"/>
            <a:ext cx="10281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4. Derive Secret Keys</a:t>
            </a:r>
            <a:endParaRPr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2" name="Google Shape;1442;p96"/>
          <p:cNvCxnSpPr/>
          <p:nvPr/>
        </p:nvCxnSpPr>
        <p:spPr>
          <a:xfrm flipH="1">
            <a:off x="6223100" y="12981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3" name="Google Shape;1443;p96"/>
          <p:cNvSpPr txBox="1"/>
          <p:nvPr/>
        </p:nvSpPr>
        <p:spPr>
          <a:xfrm flipH="1" rot="-509547">
            <a:off x="6277266" y="12258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1. ServerHello</a:t>
            </a:r>
            <a:endParaRPr i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4" name="Google Shape;1444;p96"/>
          <p:cNvCxnSpPr/>
          <p:nvPr/>
        </p:nvCxnSpPr>
        <p:spPr>
          <a:xfrm flipH="1">
            <a:off x="6223100" y="16791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5" name="Google Shape;1445;p96"/>
          <p:cNvSpPr txBox="1"/>
          <p:nvPr/>
        </p:nvSpPr>
        <p:spPr>
          <a:xfrm flipH="1" rot="-509547">
            <a:off x="6277266" y="16068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2. Server Certificate</a:t>
            </a:r>
            <a:endParaRPr i="1"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6" name="Google Shape;1446;p96"/>
          <p:cNvCxnSpPr/>
          <p:nvPr/>
        </p:nvCxnSpPr>
        <p:spPr>
          <a:xfrm>
            <a:off x="6223100" y="22887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7" name="Google Shape;1447;p96"/>
          <p:cNvSpPr txBox="1"/>
          <p:nvPr/>
        </p:nvSpPr>
        <p:spPr>
          <a:xfrm rot="509547">
            <a:off x="6277266" y="22164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3. Secret Exchange</a:t>
            </a:r>
            <a:endParaRPr i="1">
              <a:solidFill>
                <a:srgbClr val="38761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8" name="Google Shape;1448;p96"/>
          <p:cNvCxnSpPr/>
          <p:nvPr/>
        </p:nvCxnSpPr>
        <p:spPr>
          <a:xfrm>
            <a:off x="6223100" y="36603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9" name="Google Shape;1449;p96"/>
          <p:cNvSpPr txBox="1"/>
          <p:nvPr/>
        </p:nvSpPr>
        <p:spPr>
          <a:xfrm rot="509547">
            <a:off x="6277266" y="35880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5. Ack</a:t>
            </a:r>
            <a:endParaRPr i="1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50" name="Google Shape;1450;p96"/>
          <p:cNvCxnSpPr/>
          <p:nvPr/>
        </p:nvCxnSpPr>
        <p:spPr>
          <a:xfrm flipH="1">
            <a:off x="6223100" y="4117549"/>
            <a:ext cx="2398800" cy="3597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1" name="Google Shape;1451;p96"/>
          <p:cNvSpPr txBox="1"/>
          <p:nvPr/>
        </p:nvSpPr>
        <p:spPr>
          <a:xfrm flipH="1" rot="-509547">
            <a:off x="6277266" y="4045249"/>
            <a:ext cx="2240668" cy="28422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5. Ack</a:t>
            </a:r>
            <a:endParaRPr i="1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9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End-to-End Walkthrough</a:t>
            </a:r>
            <a:endParaRPr/>
          </a:p>
        </p:txBody>
      </p:sp>
      <p:sp>
        <p:nvSpPr>
          <p:cNvPr id="1457" name="Google Shape;1457;p9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17</a:t>
            </a:r>
            <a:r>
              <a:rPr lang="en"/>
              <a:t>, CS 168, </a:t>
            </a:r>
            <a:r>
              <a:rPr lang="en"/>
              <a:t>Spring 2026</a:t>
            </a:r>
            <a:endParaRPr/>
          </a:p>
        </p:txBody>
      </p:sp>
      <p:sp>
        <p:nvSpPr>
          <p:cNvPr id="1458" name="Google Shape;1458;p97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B7B7B7"/>
                </a:solidFill>
              </a:rPr>
              <a:t>ARP: Connecting Layers 2 and 3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DHCP: Joining a New Network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NAT: Network Address Translation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Basic NAT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NAT with Ports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Rewriting Ports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Implementing NAT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TLS: Secure Bytestreams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End-to-End Walkthrough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9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End-to-End Walkthrough</a:t>
            </a:r>
            <a:endParaRPr/>
          </a:p>
        </p:txBody>
      </p:sp>
      <p:sp>
        <p:nvSpPr>
          <p:cNvPr id="1464" name="Google Shape;1464;p98"/>
          <p:cNvSpPr txBox="1"/>
          <p:nvPr>
            <p:ph idx="1" type="body"/>
          </p:nvPr>
        </p:nvSpPr>
        <p:spPr>
          <a:xfrm>
            <a:off x="107050" y="402200"/>
            <a:ext cx="8909700" cy="27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Goal: See exactly what happens when we: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Turn on our computer, and plug it into an Ethernet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 www.berkeley.edu into our web browser.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We'll assume we don't need to turn on the Internet from scratch.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Routers' forwarding tables already populated.</a:t>
            </a:r>
            <a:endParaRPr/>
          </a:p>
        </p:txBody>
      </p:sp>
      <p:sp>
        <p:nvSpPr>
          <p:cNvPr id="1465" name="Google Shape;1465;p98"/>
          <p:cNvSpPr/>
          <p:nvPr/>
        </p:nvSpPr>
        <p:spPr>
          <a:xfrm>
            <a:off x="3217650" y="3870125"/>
            <a:ext cx="16893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6" name="Google Shape;1466;p98"/>
          <p:cNvSpPr/>
          <p:nvPr/>
        </p:nvSpPr>
        <p:spPr>
          <a:xfrm>
            <a:off x="7166775" y="3870125"/>
            <a:ext cx="16893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7" name="Google Shape;1467;p98"/>
          <p:cNvSpPr/>
          <p:nvPr/>
        </p:nvSpPr>
        <p:spPr>
          <a:xfrm>
            <a:off x="5064900" y="3870125"/>
            <a:ext cx="19494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8" name="Google Shape;1468;p98"/>
          <p:cNvSpPr/>
          <p:nvPr/>
        </p:nvSpPr>
        <p:spPr>
          <a:xfrm>
            <a:off x="3315725" y="43981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9" name="Google Shape;1469;p98"/>
          <p:cNvSpPr/>
          <p:nvPr/>
        </p:nvSpPr>
        <p:spPr>
          <a:xfrm>
            <a:off x="4839738" y="439816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0" name="Google Shape;1470;p98"/>
          <p:cNvCxnSpPr>
            <a:stCxn id="1468" idx="6"/>
            <a:endCxn id="1469" idx="1"/>
          </p:cNvCxnSpPr>
          <p:nvPr/>
        </p:nvCxnSpPr>
        <p:spPr>
          <a:xfrm>
            <a:off x="3600725" y="4540666"/>
            <a:ext cx="1239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1" name="Google Shape;1471;p98"/>
          <p:cNvSpPr/>
          <p:nvPr/>
        </p:nvSpPr>
        <p:spPr>
          <a:xfrm>
            <a:off x="8487625" y="43981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2" name="Google Shape;1472;p98"/>
          <p:cNvSpPr/>
          <p:nvPr/>
        </p:nvSpPr>
        <p:spPr>
          <a:xfrm>
            <a:off x="55819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73" name="Google Shape;1473;p98"/>
          <p:cNvCxnSpPr>
            <a:stCxn id="1469" idx="3"/>
            <a:endCxn id="1472" idx="1"/>
          </p:cNvCxnSpPr>
          <p:nvPr/>
        </p:nvCxnSpPr>
        <p:spPr>
          <a:xfrm>
            <a:off x="5124738" y="4540666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4" name="Google Shape;1474;p98"/>
          <p:cNvCxnSpPr>
            <a:stCxn id="1475" idx="3"/>
            <a:endCxn id="1476" idx="1"/>
          </p:cNvCxnSpPr>
          <p:nvPr/>
        </p:nvCxnSpPr>
        <p:spPr>
          <a:xfrm>
            <a:off x="7414108" y="4540666"/>
            <a:ext cx="459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7" name="Google Shape;1477;p98"/>
          <p:cNvCxnSpPr>
            <a:stCxn id="1476" idx="3"/>
            <a:endCxn id="1471" idx="2"/>
          </p:cNvCxnSpPr>
          <p:nvPr/>
        </p:nvCxnSpPr>
        <p:spPr>
          <a:xfrm>
            <a:off x="8015583" y="4540666"/>
            <a:ext cx="471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8" name="Google Shape;1478;p98"/>
          <p:cNvCxnSpPr>
            <a:stCxn id="1472" idx="3"/>
            <a:endCxn id="1479" idx="1"/>
          </p:cNvCxnSpPr>
          <p:nvPr/>
        </p:nvCxnSpPr>
        <p:spPr>
          <a:xfrm>
            <a:off x="5724438" y="4540666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9" name="Google Shape;1479;p98"/>
          <p:cNvSpPr/>
          <p:nvPr/>
        </p:nvSpPr>
        <p:spPr>
          <a:xfrm>
            <a:off x="61816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0" name="Google Shape;1480;p98"/>
          <p:cNvCxnSpPr>
            <a:stCxn id="1479" idx="3"/>
            <a:endCxn id="1481" idx="1"/>
          </p:cNvCxnSpPr>
          <p:nvPr/>
        </p:nvCxnSpPr>
        <p:spPr>
          <a:xfrm>
            <a:off x="6324138" y="4540666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1" name="Google Shape;1481;p98"/>
          <p:cNvSpPr/>
          <p:nvPr/>
        </p:nvSpPr>
        <p:spPr>
          <a:xfrm>
            <a:off x="67813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5" name="Google Shape;1475;p98"/>
          <p:cNvSpPr/>
          <p:nvPr/>
        </p:nvSpPr>
        <p:spPr>
          <a:xfrm>
            <a:off x="727160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6" name="Google Shape;1476;p98"/>
          <p:cNvSpPr/>
          <p:nvPr/>
        </p:nvSpPr>
        <p:spPr>
          <a:xfrm>
            <a:off x="7873083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2" name="Google Shape;1482;p98"/>
          <p:cNvCxnSpPr>
            <a:stCxn id="1481" idx="3"/>
            <a:endCxn id="1475" idx="1"/>
          </p:cNvCxnSpPr>
          <p:nvPr/>
        </p:nvCxnSpPr>
        <p:spPr>
          <a:xfrm>
            <a:off x="6923838" y="4540666"/>
            <a:ext cx="347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3" name="Google Shape;1483;p98"/>
          <p:cNvSpPr/>
          <p:nvPr/>
        </p:nvSpPr>
        <p:spPr>
          <a:xfrm>
            <a:off x="6016938" y="3984525"/>
            <a:ext cx="471900" cy="211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4" name="Google Shape;1484;p98"/>
          <p:cNvCxnSpPr>
            <a:stCxn id="1483" idx="2"/>
            <a:endCxn id="1479" idx="0"/>
          </p:cNvCxnSpPr>
          <p:nvPr/>
        </p:nvCxnSpPr>
        <p:spPr>
          <a:xfrm>
            <a:off x="6252888" y="4196325"/>
            <a:ext cx="0" cy="27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5" name="Google Shape;1485;p98"/>
          <p:cNvSpPr txBox="1"/>
          <p:nvPr/>
        </p:nvSpPr>
        <p:spPr>
          <a:xfrm>
            <a:off x="5065074" y="4745606"/>
            <a:ext cx="1949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ISP Network</a:t>
            </a:r>
            <a:endParaRPr sz="1200"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6" name="Google Shape;1486;p98"/>
          <p:cNvSpPr txBox="1"/>
          <p:nvPr/>
        </p:nvSpPr>
        <p:spPr>
          <a:xfrm>
            <a:off x="7166800" y="4745606"/>
            <a:ext cx="168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Berkeley Network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7" name="Google Shape;1487;p98"/>
          <p:cNvSpPr txBox="1"/>
          <p:nvPr/>
        </p:nvSpPr>
        <p:spPr>
          <a:xfrm>
            <a:off x="3210675" y="4745606"/>
            <a:ext cx="168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Home Network</a:t>
            </a:r>
            <a:endParaRPr sz="12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99"/>
          <p:cNvSpPr/>
          <p:nvPr/>
        </p:nvSpPr>
        <p:spPr>
          <a:xfrm>
            <a:off x="3217650" y="3870125"/>
            <a:ext cx="16893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3" name="Google Shape;1493;p99"/>
          <p:cNvSpPr/>
          <p:nvPr/>
        </p:nvSpPr>
        <p:spPr>
          <a:xfrm>
            <a:off x="7166775" y="3870125"/>
            <a:ext cx="16893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4" name="Google Shape;1494;p99"/>
          <p:cNvSpPr/>
          <p:nvPr/>
        </p:nvSpPr>
        <p:spPr>
          <a:xfrm>
            <a:off x="5064900" y="3870125"/>
            <a:ext cx="19494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5" name="Google Shape;1495;p9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1/4: DHCP</a:t>
            </a:r>
            <a:endParaRPr/>
          </a:p>
        </p:txBody>
      </p:sp>
      <p:sp>
        <p:nvSpPr>
          <p:cNvPr id="1496" name="Google Shape;1496;p99"/>
          <p:cNvSpPr txBox="1"/>
          <p:nvPr>
            <p:ph idx="1" type="body"/>
          </p:nvPr>
        </p:nvSpPr>
        <p:spPr>
          <a:xfrm>
            <a:off x="107050" y="402200"/>
            <a:ext cx="8909700" cy="10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connect to the Ethernet network and make a DHCP request.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router responds with: IP address, subnet mask, default gateway, DNS server.</a:t>
            </a:r>
            <a:endParaRPr/>
          </a:p>
        </p:txBody>
      </p:sp>
      <p:cxnSp>
        <p:nvCxnSpPr>
          <p:cNvPr id="1497" name="Google Shape;1497;p99"/>
          <p:cNvCxnSpPr>
            <a:stCxn id="1498" idx="6"/>
            <a:endCxn id="1499" idx="1"/>
          </p:cNvCxnSpPr>
          <p:nvPr/>
        </p:nvCxnSpPr>
        <p:spPr>
          <a:xfrm>
            <a:off x="3600725" y="4540666"/>
            <a:ext cx="1239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0" name="Google Shape;1500;p99"/>
          <p:cNvSpPr/>
          <p:nvPr/>
        </p:nvSpPr>
        <p:spPr>
          <a:xfrm>
            <a:off x="8487625" y="43981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1" name="Google Shape;1501;p99"/>
          <p:cNvSpPr/>
          <p:nvPr/>
        </p:nvSpPr>
        <p:spPr>
          <a:xfrm>
            <a:off x="55819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2" name="Google Shape;1502;p99"/>
          <p:cNvCxnSpPr>
            <a:stCxn id="1499" idx="3"/>
            <a:endCxn id="1501" idx="1"/>
          </p:cNvCxnSpPr>
          <p:nvPr/>
        </p:nvCxnSpPr>
        <p:spPr>
          <a:xfrm>
            <a:off x="5124738" y="4540666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3" name="Google Shape;1503;p99"/>
          <p:cNvCxnSpPr>
            <a:stCxn id="1504" idx="3"/>
            <a:endCxn id="1505" idx="1"/>
          </p:cNvCxnSpPr>
          <p:nvPr/>
        </p:nvCxnSpPr>
        <p:spPr>
          <a:xfrm>
            <a:off x="7414108" y="4540666"/>
            <a:ext cx="459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6" name="Google Shape;1506;p99"/>
          <p:cNvCxnSpPr>
            <a:stCxn id="1505" idx="3"/>
            <a:endCxn id="1500" idx="2"/>
          </p:cNvCxnSpPr>
          <p:nvPr/>
        </p:nvCxnSpPr>
        <p:spPr>
          <a:xfrm>
            <a:off x="8015583" y="4540666"/>
            <a:ext cx="471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7" name="Google Shape;1507;p99"/>
          <p:cNvCxnSpPr>
            <a:stCxn id="1501" idx="3"/>
            <a:endCxn id="1508" idx="1"/>
          </p:cNvCxnSpPr>
          <p:nvPr/>
        </p:nvCxnSpPr>
        <p:spPr>
          <a:xfrm>
            <a:off x="5724438" y="4540666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8" name="Google Shape;1508;p99"/>
          <p:cNvSpPr/>
          <p:nvPr/>
        </p:nvSpPr>
        <p:spPr>
          <a:xfrm>
            <a:off x="61816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9" name="Google Shape;1509;p99"/>
          <p:cNvCxnSpPr>
            <a:stCxn id="1508" idx="3"/>
            <a:endCxn id="1510" idx="1"/>
          </p:cNvCxnSpPr>
          <p:nvPr/>
        </p:nvCxnSpPr>
        <p:spPr>
          <a:xfrm>
            <a:off x="6324138" y="4540666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0" name="Google Shape;1510;p99"/>
          <p:cNvSpPr/>
          <p:nvPr/>
        </p:nvSpPr>
        <p:spPr>
          <a:xfrm>
            <a:off x="67813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4" name="Google Shape;1504;p99"/>
          <p:cNvSpPr/>
          <p:nvPr/>
        </p:nvSpPr>
        <p:spPr>
          <a:xfrm>
            <a:off x="727160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5" name="Google Shape;1505;p99"/>
          <p:cNvSpPr/>
          <p:nvPr/>
        </p:nvSpPr>
        <p:spPr>
          <a:xfrm>
            <a:off x="7873083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1" name="Google Shape;1511;p99"/>
          <p:cNvCxnSpPr>
            <a:stCxn id="1510" idx="3"/>
            <a:endCxn id="1504" idx="1"/>
          </p:cNvCxnSpPr>
          <p:nvPr/>
        </p:nvCxnSpPr>
        <p:spPr>
          <a:xfrm>
            <a:off x="6923838" y="4540666"/>
            <a:ext cx="347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2" name="Google Shape;1512;p99"/>
          <p:cNvSpPr/>
          <p:nvPr/>
        </p:nvSpPr>
        <p:spPr>
          <a:xfrm>
            <a:off x="6016938" y="3984525"/>
            <a:ext cx="471900" cy="211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3" name="Google Shape;1513;p99"/>
          <p:cNvCxnSpPr>
            <a:stCxn id="1512" idx="2"/>
            <a:endCxn id="1508" idx="0"/>
          </p:cNvCxnSpPr>
          <p:nvPr/>
        </p:nvCxnSpPr>
        <p:spPr>
          <a:xfrm>
            <a:off x="6252888" y="4196325"/>
            <a:ext cx="0" cy="27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4" name="Google Shape;1514;p99"/>
          <p:cNvSpPr txBox="1"/>
          <p:nvPr/>
        </p:nvSpPr>
        <p:spPr>
          <a:xfrm>
            <a:off x="5065074" y="4745606"/>
            <a:ext cx="1949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ISP Network</a:t>
            </a:r>
            <a:endParaRPr sz="1200"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5" name="Google Shape;1515;p99"/>
          <p:cNvSpPr txBox="1"/>
          <p:nvPr/>
        </p:nvSpPr>
        <p:spPr>
          <a:xfrm>
            <a:off x="7166800" y="4745606"/>
            <a:ext cx="168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Berkeley Network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6" name="Google Shape;1516;p99"/>
          <p:cNvSpPr txBox="1"/>
          <p:nvPr/>
        </p:nvSpPr>
        <p:spPr>
          <a:xfrm>
            <a:off x="3210675" y="4745606"/>
            <a:ext cx="168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Home Network</a:t>
            </a:r>
            <a:endParaRPr sz="12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17" name="Google Shape;1517;p99"/>
          <p:cNvCxnSpPr/>
          <p:nvPr/>
        </p:nvCxnSpPr>
        <p:spPr>
          <a:xfrm>
            <a:off x="2985075" y="2550775"/>
            <a:ext cx="21948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18" name="Google Shape;1518;p99"/>
          <p:cNvCxnSpPr/>
          <p:nvPr/>
        </p:nvCxnSpPr>
        <p:spPr>
          <a:xfrm>
            <a:off x="2985075" y="3084175"/>
            <a:ext cx="21948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9" name="Google Shape;1519;p99"/>
          <p:cNvCxnSpPr/>
          <p:nvPr/>
        </p:nvCxnSpPr>
        <p:spPr>
          <a:xfrm>
            <a:off x="2985075" y="3617575"/>
            <a:ext cx="21948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20" name="Google Shape;1520;p99"/>
          <p:cNvCxnSpPr/>
          <p:nvPr/>
        </p:nvCxnSpPr>
        <p:spPr>
          <a:xfrm>
            <a:off x="2985075" y="2017375"/>
            <a:ext cx="21948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1" name="Google Shape;1521;p99"/>
          <p:cNvSpPr txBox="1"/>
          <p:nvPr/>
        </p:nvSpPr>
        <p:spPr>
          <a:xfrm>
            <a:off x="2985075" y="1748277"/>
            <a:ext cx="1990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Discover (broadcast)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2" name="Google Shape;1522;p99"/>
          <p:cNvSpPr txBox="1"/>
          <p:nvPr/>
        </p:nvSpPr>
        <p:spPr>
          <a:xfrm>
            <a:off x="3185956" y="2281677"/>
            <a:ext cx="1990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Offer (unicast)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3" name="Google Shape;1523;p99"/>
          <p:cNvSpPr txBox="1"/>
          <p:nvPr/>
        </p:nvSpPr>
        <p:spPr>
          <a:xfrm>
            <a:off x="2985075" y="2815077"/>
            <a:ext cx="1990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Request (broadcast)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4" name="Google Shape;1524;p99"/>
          <p:cNvSpPr txBox="1"/>
          <p:nvPr/>
        </p:nvSpPr>
        <p:spPr>
          <a:xfrm>
            <a:off x="3185956" y="3348477"/>
            <a:ext cx="19908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Ack (unicast)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25" name="Google Shape;1525;p99"/>
          <p:cNvGraphicFramePr/>
          <p:nvPr/>
        </p:nvGraphicFramePr>
        <p:xfrm>
          <a:off x="325150" y="366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138275"/>
                <a:gridCol w="1138275"/>
              </a:tblGrid>
              <a:tr h="1771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A's Configuration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 hMerge="1"/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My IP: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192.168.1.2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Subnet: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/24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Gateway: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192.168.1.1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DNS: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8.8.8.8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498" name="Google Shape;1498;p99"/>
          <p:cNvSpPr/>
          <p:nvPr/>
        </p:nvSpPr>
        <p:spPr>
          <a:xfrm>
            <a:off x="3315725" y="43981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9" name="Google Shape;1499;p99"/>
          <p:cNvSpPr/>
          <p:nvPr/>
        </p:nvSpPr>
        <p:spPr>
          <a:xfrm>
            <a:off x="4839738" y="439816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10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2/4: ARP</a:t>
            </a:r>
            <a:endParaRPr/>
          </a:p>
        </p:txBody>
      </p:sp>
      <p:sp>
        <p:nvSpPr>
          <p:cNvPr id="1531" name="Google Shape;1531;p100"/>
          <p:cNvSpPr txBox="1"/>
          <p:nvPr>
            <p:ph idx="1" type="body"/>
          </p:nvPr>
        </p:nvSpPr>
        <p:spPr>
          <a:xfrm>
            <a:off x="107050" y="402200"/>
            <a:ext cx="8909700" cy="11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We're about to send some non-local packets, e.g. DNS request to 8.8.8.8.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need to find the router on our local network. We can use ARP!</a:t>
            </a:r>
            <a:endParaRPr/>
          </a:p>
        </p:txBody>
      </p:sp>
      <p:graphicFrame>
        <p:nvGraphicFramePr>
          <p:cNvPr id="1532" name="Google Shape;1532;p100"/>
          <p:cNvGraphicFramePr/>
          <p:nvPr/>
        </p:nvGraphicFramePr>
        <p:xfrm>
          <a:off x="325150" y="366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138275"/>
                <a:gridCol w="1138275"/>
              </a:tblGrid>
              <a:tr h="1771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A's Configuration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 hMerge="1"/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My IP: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192.168.1.2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Subnet: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/24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Gateway: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192.168.1.1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DNS: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8.8.8.8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</a:tbl>
          </a:graphicData>
        </a:graphic>
      </p:graphicFrame>
      <p:cxnSp>
        <p:nvCxnSpPr>
          <p:cNvPr id="1533" name="Google Shape;1533;p100"/>
          <p:cNvCxnSpPr/>
          <p:nvPr/>
        </p:nvCxnSpPr>
        <p:spPr>
          <a:xfrm>
            <a:off x="2869500" y="3489348"/>
            <a:ext cx="2385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534" name="Google Shape;1534;p100"/>
          <p:cNvCxnSpPr/>
          <p:nvPr/>
        </p:nvCxnSpPr>
        <p:spPr>
          <a:xfrm>
            <a:off x="2869500" y="2651148"/>
            <a:ext cx="2385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5" name="Google Shape;1535;p100"/>
          <p:cNvSpPr txBox="1"/>
          <p:nvPr/>
        </p:nvSpPr>
        <p:spPr>
          <a:xfrm>
            <a:off x="2869500" y="2166150"/>
            <a:ext cx="2163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Broadcast: Who has IP 192.168.1.1?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6" name="Google Shape;1536;p100"/>
          <p:cNvSpPr txBox="1"/>
          <p:nvPr/>
        </p:nvSpPr>
        <p:spPr>
          <a:xfrm>
            <a:off x="3087839" y="2991650"/>
            <a:ext cx="2163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Unicast: I'm 192.168.1.1 with MAC </a:t>
            </a:r>
            <a:r>
              <a:rPr lang="en" sz="12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01:ab:cd:ef:42:01</a:t>
            </a: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537" name="Google Shape;1537;p100"/>
          <p:cNvGraphicFramePr/>
          <p:nvPr/>
        </p:nvGraphicFramePr>
        <p:xfrm>
          <a:off x="325150" y="267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039050"/>
                <a:gridCol w="1237500"/>
              </a:tblGrid>
              <a:tr h="1771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A's ARP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 hMerge="1"/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IP: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MAC: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192.168.1.1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01:ab:cd:ef:42:01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538" name="Google Shape;1538;p100"/>
          <p:cNvSpPr/>
          <p:nvPr/>
        </p:nvSpPr>
        <p:spPr>
          <a:xfrm>
            <a:off x="3217650" y="3870125"/>
            <a:ext cx="16893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9" name="Google Shape;1539;p100"/>
          <p:cNvSpPr/>
          <p:nvPr/>
        </p:nvSpPr>
        <p:spPr>
          <a:xfrm>
            <a:off x="7166775" y="3870125"/>
            <a:ext cx="16893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0" name="Google Shape;1540;p100"/>
          <p:cNvSpPr/>
          <p:nvPr/>
        </p:nvSpPr>
        <p:spPr>
          <a:xfrm>
            <a:off x="5064900" y="3870125"/>
            <a:ext cx="19494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1" name="Google Shape;1541;p100"/>
          <p:cNvCxnSpPr>
            <a:stCxn id="1542" idx="6"/>
            <a:endCxn id="1543" idx="1"/>
          </p:cNvCxnSpPr>
          <p:nvPr/>
        </p:nvCxnSpPr>
        <p:spPr>
          <a:xfrm>
            <a:off x="3600725" y="4540666"/>
            <a:ext cx="1239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4" name="Google Shape;1544;p100"/>
          <p:cNvSpPr/>
          <p:nvPr/>
        </p:nvSpPr>
        <p:spPr>
          <a:xfrm>
            <a:off x="8487625" y="43981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5" name="Google Shape;1545;p100"/>
          <p:cNvSpPr/>
          <p:nvPr/>
        </p:nvSpPr>
        <p:spPr>
          <a:xfrm>
            <a:off x="55819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6" name="Google Shape;1546;p100"/>
          <p:cNvCxnSpPr>
            <a:stCxn id="1543" idx="3"/>
            <a:endCxn id="1545" idx="1"/>
          </p:cNvCxnSpPr>
          <p:nvPr/>
        </p:nvCxnSpPr>
        <p:spPr>
          <a:xfrm>
            <a:off x="5124738" y="4540666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7" name="Google Shape;1547;p100"/>
          <p:cNvCxnSpPr>
            <a:stCxn id="1548" idx="3"/>
            <a:endCxn id="1549" idx="1"/>
          </p:cNvCxnSpPr>
          <p:nvPr/>
        </p:nvCxnSpPr>
        <p:spPr>
          <a:xfrm>
            <a:off x="7414108" y="4540666"/>
            <a:ext cx="459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0" name="Google Shape;1550;p100"/>
          <p:cNvCxnSpPr>
            <a:stCxn id="1549" idx="3"/>
            <a:endCxn id="1544" idx="2"/>
          </p:cNvCxnSpPr>
          <p:nvPr/>
        </p:nvCxnSpPr>
        <p:spPr>
          <a:xfrm>
            <a:off x="8015583" y="4540666"/>
            <a:ext cx="471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1" name="Google Shape;1551;p100"/>
          <p:cNvCxnSpPr>
            <a:stCxn id="1545" idx="3"/>
            <a:endCxn id="1552" idx="1"/>
          </p:cNvCxnSpPr>
          <p:nvPr/>
        </p:nvCxnSpPr>
        <p:spPr>
          <a:xfrm>
            <a:off x="5724438" y="4540666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2" name="Google Shape;1552;p100"/>
          <p:cNvSpPr/>
          <p:nvPr/>
        </p:nvSpPr>
        <p:spPr>
          <a:xfrm>
            <a:off x="61816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3" name="Google Shape;1553;p100"/>
          <p:cNvCxnSpPr>
            <a:stCxn id="1552" idx="3"/>
            <a:endCxn id="1554" idx="1"/>
          </p:cNvCxnSpPr>
          <p:nvPr/>
        </p:nvCxnSpPr>
        <p:spPr>
          <a:xfrm>
            <a:off x="6324138" y="4540666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4" name="Google Shape;1554;p100"/>
          <p:cNvSpPr/>
          <p:nvPr/>
        </p:nvSpPr>
        <p:spPr>
          <a:xfrm>
            <a:off x="67813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8" name="Google Shape;1548;p100"/>
          <p:cNvSpPr/>
          <p:nvPr/>
        </p:nvSpPr>
        <p:spPr>
          <a:xfrm>
            <a:off x="727160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9" name="Google Shape;1549;p100"/>
          <p:cNvSpPr/>
          <p:nvPr/>
        </p:nvSpPr>
        <p:spPr>
          <a:xfrm>
            <a:off x="7873083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5" name="Google Shape;1555;p100"/>
          <p:cNvCxnSpPr>
            <a:stCxn id="1554" idx="3"/>
            <a:endCxn id="1548" idx="1"/>
          </p:cNvCxnSpPr>
          <p:nvPr/>
        </p:nvCxnSpPr>
        <p:spPr>
          <a:xfrm>
            <a:off x="6923838" y="4540666"/>
            <a:ext cx="347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6" name="Google Shape;1556;p100"/>
          <p:cNvSpPr/>
          <p:nvPr/>
        </p:nvSpPr>
        <p:spPr>
          <a:xfrm>
            <a:off x="6016938" y="3984525"/>
            <a:ext cx="471900" cy="211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7" name="Google Shape;1557;p100"/>
          <p:cNvCxnSpPr>
            <a:stCxn id="1556" idx="2"/>
            <a:endCxn id="1552" idx="0"/>
          </p:cNvCxnSpPr>
          <p:nvPr/>
        </p:nvCxnSpPr>
        <p:spPr>
          <a:xfrm>
            <a:off x="6252888" y="4196325"/>
            <a:ext cx="0" cy="27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8" name="Google Shape;1558;p100"/>
          <p:cNvSpPr txBox="1"/>
          <p:nvPr/>
        </p:nvSpPr>
        <p:spPr>
          <a:xfrm>
            <a:off x="5065074" y="4745606"/>
            <a:ext cx="1949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ISP Network</a:t>
            </a:r>
            <a:endParaRPr sz="1200"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9" name="Google Shape;1559;p100"/>
          <p:cNvSpPr txBox="1"/>
          <p:nvPr/>
        </p:nvSpPr>
        <p:spPr>
          <a:xfrm>
            <a:off x="7166800" y="4745606"/>
            <a:ext cx="168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Berkeley Network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0" name="Google Shape;1560;p100"/>
          <p:cNvSpPr txBox="1"/>
          <p:nvPr/>
        </p:nvSpPr>
        <p:spPr>
          <a:xfrm>
            <a:off x="3210675" y="4745606"/>
            <a:ext cx="168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Home Network</a:t>
            </a:r>
            <a:endParaRPr sz="12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2" name="Google Shape;1542;p100"/>
          <p:cNvSpPr/>
          <p:nvPr/>
        </p:nvSpPr>
        <p:spPr>
          <a:xfrm>
            <a:off x="3315725" y="43981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3" name="Google Shape;1543;p100"/>
          <p:cNvSpPr/>
          <p:nvPr/>
        </p:nvSpPr>
        <p:spPr>
          <a:xfrm>
            <a:off x="4839738" y="439816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0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3/4: DNS Lookup</a:t>
            </a:r>
            <a:endParaRPr/>
          </a:p>
        </p:txBody>
      </p:sp>
      <p:sp>
        <p:nvSpPr>
          <p:cNvPr id="1566" name="Google Shape;1566;p101"/>
          <p:cNvSpPr txBox="1"/>
          <p:nvPr>
            <p:ph idx="1" type="body"/>
          </p:nvPr>
        </p:nvSpPr>
        <p:spPr>
          <a:xfrm>
            <a:off x="107050" y="402200"/>
            <a:ext cx="89097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now build a DNS request packet, to find the IP address of www.berkeley.edu.</a:t>
            </a:r>
            <a:endParaRPr/>
          </a:p>
        </p:txBody>
      </p:sp>
      <p:sp>
        <p:nvSpPr>
          <p:cNvPr id="1567" name="Google Shape;1567;p101"/>
          <p:cNvSpPr/>
          <p:nvPr/>
        </p:nvSpPr>
        <p:spPr>
          <a:xfrm>
            <a:off x="2504138" y="3890850"/>
            <a:ext cx="18951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 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8" name="Google Shape;1568;p101"/>
          <p:cNvSpPr/>
          <p:nvPr/>
        </p:nvSpPr>
        <p:spPr>
          <a:xfrm>
            <a:off x="2504138" y="3497250"/>
            <a:ext cx="18951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53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9" name="Google Shape;1569;p101"/>
          <p:cNvSpPr/>
          <p:nvPr/>
        </p:nvSpPr>
        <p:spPr>
          <a:xfrm>
            <a:off x="2504138" y="3103650"/>
            <a:ext cx="18951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50239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0" name="Google Shape;1570;p101"/>
          <p:cNvSpPr/>
          <p:nvPr/>
        </p:nvSpPr>
        <p:spPr>
          <a:xfrm>
            <a:off x="2504138" y="2710050"/>
            <a:ext cx="1895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8.8.8.8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1" name="Google Shape;1571;p101"/>
          <p:cNvSpPr/>
          <p:nvPr/>
        </p:nvSpPr>
        <p:spPr>
          <a:xfrm>
            <a:off x="2504138" y="2316450"/>
            <a:ext cx="1895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192.168.1.2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2" name="Google Shape;1572;p101"/>
          <p:cNvSpPr txBox="1"/>
          <p:nvPr/>
        </p:nvSpPr>
        <p:spPr>
          <a:xfrm>
            <a:off x="738549" y="3489428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Destination Port: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3" name="Google Shape;1573;p101"/>
          <p:cNvSpPr txBox="1"/>
          <p:nvPr/>
        </p:nvSpPr>
        <p:spPr>
          <a:xfrm>
            <a:off x="738549" y="3095831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Source Port: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4" name="Google Shape;1574;p101"/>
          <p:cNvSpPr txBox="1"/>
          <p:nvPr/>
        </p:nvSpPr>
        <p:spPr>
          <a:xfrm>
            <a:off x="738549" y="2710047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Destination IP: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5" name="Google Shape;1575;p101"/>
          <p:cNvSpPr txBox="1"/>
          <p:nvPr/>
        </p:nvSpPr>
        <p:spPr>
          <a:xfrm>
            <a:off x="738549" y="2316450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Source IP: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6" name="Google Shape;1576;p101"/>
          <p:cNvCxnSpPr>
            <a:endCxn id="1570" idx="3"/>
          </p:cNvCxnSpPr>
          <p:nvPr/>
        </p:nvCxnSpPr>
        <p:spPr>
          <a:xfrm rot="10800000">
            <a:off x="4399238" y="2906850"/>
            <a:ext cx="8049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7" name="Google Shape;1577;p101"/>
          <p:cNvSpPr txBox="1"/>
          <p:nvPr/>
        </p:nvSpPr>
        <p:spPr>
          <a:xfrm>
            <a:off x="5204150" y="2706750"/>
            <a:ext cx="309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DNS server IP (learned from DHCP).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8" name="Google Shape;1578;p101"/>
          <p:cNvCxnSpPr/>
          <p:nvPr/>
        </p:nvCxnSpPr>
        <p:spPr>
          <a:xfrm rot="10800000">
            <a:off x="4399238" y="3287850"/>
            <a:ext cx="804900" cy="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9" name="Google Shape;1579;p101"/>
          <p:cNvSpPr txBox="1"/>
          <p:nvPr/>
        </p:nvSpPr>
        <p:spPr>
          <a:xfrm>
            <a:off x="5204150" y="3087750"/>
            <a:ext cx="278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Random ephemeral source port.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0" name="Google Shape;1580;p101"/>
          <p:cNvSpPr/>
          <p:nvPr/>
        </p:nvSpPr>
        <p:spPr>
          <a:xfrm>
            <a:off x="2504138" y="1923113"/>
            <a:ext cx="1895100" cy="3936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01:ab:cd:ef:42:01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1" name="Google Shape;1581;p101"/>
          <p:cNvSpPr/>
          <p:nvPr/>
        </p:nvSpPr>
        <p:spPr>
          <a:xfrm>
            <a:off x="2504138" y="1529513"/>
            <a:ext cx="1895100" cy="3936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23:45:67:89:ab:cd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82" name="Google Shape;1582;p101"/>
          <p:cNvSpPr txBox="1"/>
          <p:nvPr/>
        </p:nvSpPr>
        <p:spPr>
          <a:xfrm>
            <a:off x="738549" y="1923109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Destination MAC: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3" name="Google Shape;1583;p101"/>
          <p:cNvSpPr txBox="1"/>
          <p:nvPr/>
        </p:nvSpPr>
        <p:spPr>
          <a:xfrm>
            <a:off x="738549" y="1529513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Source MAC: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4" name="Google Shape;1584;p101"/>
          <p:cNvCxnSpPr>
            <a:endCxn id="1580" idx="3"/>
          </p:cNvCxnSpPr>
          <p:nvPr/>
        </p:nvCxnSpPr>
        <p:spPr>
          <a:xfrm rot="10800000">
            <a:off x="4399238" y="2119913"/>
            <a:ext cx="804900" cy="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5" name="Google Shape;1585;p101"/>
          <p:cNvSpPr txBox="1"/>
          <p:nvPr/>
        </p:nvSpPr>
        <p:spPr>
          <a:xfrm>
            <a:off x="5204150" y="1919825"/>
            <a:ext cx="278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Router MAC (learned from ARP).</a:t>
            </a:r>
            <a:endParaRPr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6" name="Google Shape;1586;p101"/>
          <p:cNvCxnSpPr/>
          <p:nvPr/>
        </p:nvCxnSpPr>
        <p:spPr>
          <a:xfrm rot="10800000">
            <a:off x="4399238" y="2525850"/>
            <a:ext cx="8049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7" name="Google Shape;1587;p101"/>
          <p:cNvSpPr txBox="1"/>
          <p:nvPr/>
        </p:nvSpPr>
        <p:spPr>
          <a:xfrm>
            <a:off x="5204150" y="2325750"/>
            <a:ext cx="320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Our IP (learned from DHCP).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8" name="Google Shape;1588;p101"/>
          <p:cNvCxnSpPr/>
          <p:nvPr/>
        </p:nvCxnSpPr>
        <p:spPr>
          <a:xfrm rot="10800000">
            <a:off x="4399238" y="3693775"/>
            <a:ext cx="804900" cy="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9" name="Google Shape;1589;p101"/>
          <p:cNvSpPr txBox="1"/>
          <p:nvPr/>
        </p:nvSpPr>
        <p:spPr>
          <a:xfrm>
            <a:off x="5204150" y="3493675"/>
            <a:ext cx="30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Well-known DNS port.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0" name="Google Shape;1590;p101"/>
          <p:cNvCxnSpPr/>
          <p:nvPr/>
        </p:nvCxnSpPr>
        <p:spPr>
          <a:xfrm rot="10800000">
            <a:off x="4399238" y="1725683"/>
            <a:ext cx="804900" cy="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1" name="Google Shape;1591;p101"/>
          <p:cNvSpPr txBox="1"/>
          <p:nvPr/>
        </p:nvSpPr>
        <p:spPr>
          <a:xfrm>
            <a:off x="5204150" y="1525575"/>
            <a:ext cx="292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Our MAC (burned into hardware).</a:t>
            </a:r>
            <a:endParaRPr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92" name="Google Shape;1592;p101"/>
          <p:cNvCxnSpPr/>
          <p:nvPr/>
        </p:nvCxnSpPr>
        <p:spPr>
          <a:xfrm rot="10800000">
            <a:off x="4399238" y="4206764"/>
            <a:ext cx="80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3" name="Google Shape;1593;p101"/>
          <p:cNvSpPr txBox="1"/>
          <p:nvPr/>
        </p:nvSpPr>
        <p:spPr>
          <a:xfrm>
            <a:off x="5204150" y="4006675"/>
            <a:ext cx="329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record in Question section.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Name=www.berkeley.edu, Value=blank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10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Step 3/4: DNS Lookup</a:t>
            </a:r>
            <a:endParaRPr/>
          </a:p>
        </p:txBody>
      </p:sp>
      <p:sp>
        <p:nvSpPr>
          <p:cNvPr id="1599" name="Google Shape;1599;p102"/>
          <p:cNvSpPr txBox="1"/>
          <p:nvPr>
            <p:ph idx="1" type="body"/>
          </p:nvPr>
        </p:nvSpPr>
        <p:spPr>
          <a:xfrm>
            <a:off x="107050" y="402200"/>
            <a:ext cx="8909700" cy="11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Note: NAT might rewrite headers, but we never see this.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Note: Recursive resolver might have to ask other name servers.</a:t>
            </a:r>
            <a:endParaRPr/>
          </a:p>
        </p:txBody>
      </p:sp>
      <p:cxnSp>
        <p:nvCxnSpPr>
          <p:cNvPr id="1600" name="Google Shape;1600;p102"/>
          <p:cNvCxnSpPr/>
          <p:nvPr/>
        </p:nvCxnSpPr>
        <p:spPr>
          <a:xfrm>
            <a:off x="3480300" y="3617573"/>
            <a:ext cx="2772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01" name="Google Shape;1601;p102"/>
          <p:cNvCxnSpPr/>
          <p:nvPr/>
        </p:nvCxnSpPr>
        <p:spPr>
          <a:xfrm>
            <a:off x="3480300" y="3084173"/>
            <a:ext cx="2772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2" name="Google Shape;1602;p102"/>
          <p:cNvSpPr txBox="1"/>
          <p:nvPr/>
        </p:nvSpPr>
        <p:spPr>
          <a:xfrm>
            <a:off x="3480300" y="2815075"/>
            <a:ext cx="251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DNS Request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3" name="Google Shape;1603;p102"/>
          <p:cNvSpPr txBox="1"/>
          <p:nvPr/>
        </p:nvSpPr>
        <p:spPr>
          <a:xfrm>
            <a:off x="3734065" y="3348475"/>
            <a:ext cx="2514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DNS Response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04" name="Google Shape;1604;p102"/>
          <p:cNvGraphicFramePr/>
          <p:nvPr/>
        </p:nvGraphicFramePr>
        <p:xfrm>
          <a:off x="325150" y="366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138275"/>
                <a:gridCol w="1138275"/>
              </a:tblGrid>
              <a:tr h="1771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A's Configuration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 hMerge="1"/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My IP: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192.168.1.2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Subnet: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/24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Gateway: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192.168.1.1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DNS: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8.8.8.8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</a:tbl>
          </a:graphicData>
        </a:graphic>
      </p:graphicFrame>
      <p:graphicFrame>
        <p:nvGraphicFramePr>
          <p:cNvPr id="1605" name="Google Shape;1605;p102"/>
          <p:cNvGraphicFramePr/>
          <p:nvPr/>
        </p:nvGraphicFramePr>
        <p:xfrm>
          <a:off x="325150" y="267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039050"/>
                <a:gridCol w="1237500"/>
              </a:tblGrid>
              <a:tr h="1771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A's ARP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 hMerge="1"/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IP: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MAC: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192.168.1.1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01:ab:cd:ef:42:01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</a:tbl>
          </a:graphicData>
        </a:graphic>
      </p:graphicFrame>
      <p:graphicFrame>
        <p:nvGraphicFramePr>
          <p:cNvPr id="1606" name="Google Shape;1606;p102"/>
          <p:cNvGraphicFramePr/>
          <p:nvPr/>
        </p:nvGraphicFramePr>
        <p:xfrm>
          <a:off x="325150" y="168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304775"/>
                <a:gridCol w="1155600"/>
              </a:tblGrid>
              <a:tr h="1771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A's DNS Cache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 hMerge="1"/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Domain: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IP: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www.berkeley.edu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141.193.213.21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sp>
        <p:nvSpPr>
          <p:cNvPr id="1607" name="Google Shape;1607;p102"/>
          <p:cNvSpPr/>
          <p:nvPr/>
        </p:nvSpPr>
        <p:spPr>
          <a:xfrm>
            <a:off x="3217650" y="3870125"/>
            <a:ext cx="16893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8" name="Google Shape;1608;p102"/>
          <p:cNvSpPr/>
          <p:nvPr/>
        </p:nvSpPr>
        <p:spPr>
          <a:xfrm>
            <a:off x="7166775" y="3870125"/>
            <a:ext cx="16893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9" name="Google Shape;1609;p102"/>
          <p:cNvSpPr/>
          <p:nvPr/>
        </p:nvSpPr>
        <p:spPr>
          <a:xfrm>
            <a:off x="5064900" y="3870125"/>
            <a:ext cx="19494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0" name="Google Shape;1610;p102"/>
          <p:cNvCxnSpPr>
            <a:stCxn id="1611" idx="6"/>
            <a:endCxn id="1612" idx="1"/>
          </p:cNvCxnSpPr>
          <p:nvPr/>
        </p:nvCxnSpPr>
        <p:spPr>
          <a:xfrm>
            <a:off x="3600725" y="4540666"/>
            <a:ext cx="1239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3" name="Google Shape;1613;p102"/>
          <p:cNvSpPr/>
          <p:nvPr/>
        </p:nvSpPr>
        <p:spPr>
          <a:xfrm>
            <a:off x="8487625" y="43981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14" name="Google Shape;1614;p102"/>
          <p:cNvCxnSpPr>
            <a:stCxn id="1612" idx="3"/>
            <a:endCxn id="1615" idx="1"/>
          </p:cNvCxnSpPr>
          <p:nvPr/>
        </p:nvCxnSpPr>
        <p:spPr>
          <a:xfrm>
            <a:off x="5124738" y="4540666"/>
            <a:ext cx="457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6" name="Google Shape;1616;p102"/>
          <p:cNvCxnSpPr>
            <a:stCxn id="1617" idx="3"/>
            <a:endCxn id="1618" idx="1"/>
          </p:cNvCxnSpPr>
          <p:nvPr/>
        </p:nvCxnSpPr>
        <p:spPr>
          <a:xfrm>
            <a:off x="7414108" y="4540666"/>
            <a:ext cx="4590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9" name="Google Shape;1619;p102"/>
          <p:cNvCxnSpPr>
            <a:stCxn id="1618" idx="3"/>
            <a:endCxn id="1613" idx="2"/>
          </p:cNvCxnSpPr>
          <p:nvPr/>
        </p:nvCxnSpPr>
        <p:spPr>
          <a:xfrm>
            <a:off x="8015583" y="4540666"/>
            <a:ext cx="4719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0" name="Google Shape;1620;p102"/>
          <p:cNvCxnSpPr>
            <a:stCxn id="1615" idx="3"/>
            <a:endCxn id="1621" idx="1"/>
          </p:cNvCxnSpPr>
          <p:nvPr/>
        </p:nvCxnSpPr>
        <p:spPr>
          <a:xfrm>
            <a:off x="5724438" y="4540666"/>
            <a:ext cx="457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2" name="Google Shape;1622;p102"/>
          <p:cNvCxnSpPr>
            <a:stCxn id="1621" idx="3"/>
            <a:endCxn id="1623" idx="1"/>
          </p:cNvCxnSpPr>
          <p:nvPr/>
        </p:nvCxnSpPr>
        <p:spPr>
          <a:xfrm>
            <a:off x="6324138" y="4540666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3" name="Google Shape;1623;p102"/>
          <p:cNvSpPr/>
          <p:nvPr/>
        </p:nvSpPr>
        <p:spPr>
          <a:xfrm>
            <a:off x="67813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7" name="Google Shape;1617;p102"/>
          <p:cNvSpPr/>
          <p:nvPr/>
        </p:nvSpPr>
        <p:spPr>
          <a:xfrm>
            <a:off x="727160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8" name="Google Shape;1618;p102"/>
          <p:cNvSpPr/>
          <p:nvPr/>
        </p:nvSpPr>
        <p:spPr>
          <a:xfrm>
            <a:off x="7873083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4" name="Google Shape;1624;p102"/>
          <p:cNvCxnSpPr>
            <a:stCxn id="1623" idx="3"/>
            <a:endCxn id="1617" idx="1"/>
          </p:cNvCxnSpPr>
          <p:nvPr/>
        </p:nvCxnSpPr>
        <p:spPr>
          <a:xfrm>
            <a:off x="6923838" y="4540666"/>
            <a:ext cx="3477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5" name="Google Shape;1625;p102"/>
          <p:cNvCxnSpPr>
            <a:stCxn id="1626" idx="2"/>
            <a:endCxn id="1621" idx="0"/>
          </p:cNvCxnSpPr>
          <p:nvPr/>
        </p:nvCxnSpPr>
        <p:spPr>
          <a:xfrm>
            <a:off x="6252888" y="4196325"/>
            <a:ext cx="0" cy="2730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7" name="Google Shape;1627;p102"/>
          <p:cNvSpPr txBox="1"/>
          <p:nvPr/>
        </p:nvSpPr>
        <p:spPr>
          <a:xfrm>
            <a:off x="5065074" y="4745606"/>
            <a:ext cx="1949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ISP Network</a:t>
            </a:r>
            <a:endParaRPr sz="1200"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8" name="Google Shape;1628;p102"/>
          <p:cNvSpPr txBox="1"/>
          <p:nvPr/>
        </p:nvSpPr>
        <p:spPr>
          <a:xfrm>
            <a:off x="7166800" y="4745606"/>
            <a:ext cx="168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Berkeley Network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9" name="Google Shape;1629;p102"/>
          <p:cNvSpPr txBox="1"/>
          <p:nvPr/>
        </p:nvSpPr>
        <p:spPr>
          <a:xfrm>
            <a:off x="3210675" y="4745606"/>
            <a:ext cx="168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Home Network</a:t>
            </a:r>
            <a:endParaRPr sz="12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1" name="Google Shape;1611;p102"/>
          <p:cNvSpPr/>
          <p:nvPr/>
        </p:nvSpPr>
        <p:spPr>
          <a:xfrm>
            <a:off x="3315725" y="43981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5" name="Google Shape;1615;p102"/>
          <p:cNvSpPr/>
          <p:nvPr/>
        </p:nvSpPr>
        <p:spPr>
          <a:xfrm>
            <a:off x="55819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1" name="Google Shape;1621;p102"/>
          <p:cNvSpPr/>
          <p:nvPr/>
        </p:nvSpPr>
        <p:spPr>
          <a:xfrm>
            <a:off x="61816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6" name="Google Shape;1626;p102"/>
          <p:cNvSpPr/>
          <p:nvPr/>
        </p:nvSpPr>
        <p:spPr>
          <a:xfrm>
            <a:off x="6016938" y="3984525"/>
            <a:ext cx="471900" cy="211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2" name="Google Shape;1612;p102"/>
          <p:cNvSpPr/>
          <p:nvPr/>
        </p:nvSpPr>
        <p:spPr>
          <a:xfrm>
            <a:off x="4839738" y="439816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10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Step 4/4: Connect to Website</a:t>
            </a:r>
            <a:endParaRPr/>
          </a:p>
        </p:txBody>
      </p:sp>
      <p:sp>
        <p:nvSpPr>
          <p:cNvPr id="1635" name="Google Shape;1635;p103"/>
          <p:cNvSpPr txBox="1"/>
          <p:nvPr>
            <p:ph idx="1" type="body"/>
          </p:nvPr>
        </p:nvSpPr>
        <p:spPr>
          <a:xfrm>
            <a:off x="107050" y="402200"/>
            <a:ext cx="8909700" cy="11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Now that we know www.berkeley.edu's IP address, we can send packets there.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 3-way handshake to start a TCP connection.</a:t>
            </a:r>
            <a:endParaRPr/>
          </a:p>
        </p:txBody>
      </p:sp>
      <p:cxnSp>
        <p:nvCxnSpPr>
          <p:cNvPr id="1636" name="Google Shape;1636;p103"/>
          <p:cNvCxnSpPr/>
          <p:nvPr/>
        </p:nvCxnSpPr>
        <p:spPr>
          <a:xfrm>
            <a:off x="3480300" y="3160373"/>
            <a:ext cx="5187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37" name="Google Shape;1637;p103"/>
          <p:cNvCxnSpPr/>
          <p:nvPr/>
        </p:nvCxnSpPr>
        <p:spPr>
          <a:xfrm>
            <a:off x="3480300" y="2703173"/>
            <a:ext cx="5187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8" name="Google Shape;1638;p103"/>
          <p:cNvSpPr txBox="1"/>
          <p:nvPr/>
        </p:nvSpPr>
        <p:spPr>
          <a:xfrm>
            <a:off x="3480300" y="2434075"/>
            <a:ext cx="497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TCP SYN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9" name="Google Shape;1639;p103"/>
          <p:cNvSpPr txBox="1"/>
          <p:nvPr/>
        </p:nvSpPr>
        <p:spPr>
          <a:xfrm>
            <a:off x="3682025" y="2891275"/>
            <a:ext cx="497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TCP SYN-ACK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640" name="Google Shape;1640;p103"/>
          <p:cNvGraphicFramePr/>
          <p:nvPr/>
        </p:nvGraphicFramePr>
        <p:xfrm>
          <a:off x="325150" y="3662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138275"/>
                <a:gridCol w="1138275"/>
              </a:tblGrid>
              <a:tr h="1771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A's Configuration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 hMerge="1"/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My IP: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192.168.1.2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Subnet: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/24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Gateway: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192.168.1.1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DNS: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8.8.8.8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</a:tbl>
          </a:graphicData>
        </a:graphic>
      </p:graphicFrame>
      <p:graphicFrame>
        <p:nvGraphicFramePr>
          <p:cNvPr id="1641" name="Google Shape;1641;p103"/>
          <p:cNvGraphicFramePr/>
          <p:nvPr/>
        </p:nvGraphicFramePr>
        <p:xfrm>
          <a:off x="325150" y="267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039050"/>
                <a:gridCol w="1237500"/>
              </a:tblGrid>
              <a:tr h="1771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A's ARP Table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 hMerge="1"/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IP: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MAC: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192.168.1.1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01:ab:cd:ef:42:01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</a:tbl>
          </a:graphicData>
        </a:graphic>
      </p:graphicFrame>
      <p:graphicFrame>
        <p:nvGraphicFramePr>
          <p:cNvPr id="1642" name="Google Shape;1642;p103"/>
          <p:cNvGraphicFramePr/>
          <p:nvPr/>
        </p:nvGraphicFramePr>
        <p:xfrm>
          <a:off x="325150" y="168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{BBC09171-EA2E-49D2-AE3A-FD3DA924B4D4}</a:tableStyleId>
              </a:tblPr>
              <a:tblGrid>
                <a:gridCol w="1304775"/>
                <a:gridCol w="1155600"/>
              </a:tblGrid>
              <a:tr h="17717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A's DNS Cache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 hMerge="1"/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Domain: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IP: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  <a:tr h="177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www.berkeley.edu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141.193.213.21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27425" marB="27425" marR="27425" marL="27425"/>
                </a:tc>
              </a:tr>
            </a:tbl>
          </a:graphicData>
        </a:graphic>
      </p:graphicFrame>
      <p:cxnSp>
        <p:nvCxnSpPr>
          <p:cNvPr id="1643" name="Google Shape;1643;p103"/>
          <p:cNvCxnSpPr/>
          <p:nvPr/>
        </p:nvCxnSpPr>
        <p:spPr>
          <a:xfrm>
            <a:off x="3480300" y="3617573"/>
            <a:ext cx="5187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4" name="Google Shape;1644;p103"/>
          <p:cNvSpPr txBox="1"/>
          <p:nvPr/>
        </p:nvSpPr>
        <p:spPr>
          <a:xfrm>
            <a:off x="3480300" y="3348475"/>
            <a:ext cx="497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TCP ACK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5" name="Google Shape;1645;p103"/>
          <p:cNvSpPr/>
          <p:nvPr/>
        </p:nvSpPr>
        <p:spPr>
          <a:xfrm>
            <a:off x="3217650" y="3870125"/>
            <a:ext cx="16893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6" name="Google Shape;1646;p103"/>
          <p:cNvSpPr/>
          <p:nvPr/>
        </p:nvSpPr>
        <p:spPr>
          <a:xfrm>
            <a:off x="7166775" y="3870125"/>
            <a:ext cx="16893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7" name="Google Shape;1647;p103"/>
          <p:cNvSpPr/>
          <p:nvPr/>
        </p:nvSpPr>
        <p:spPr>
          <a:xfrm>
            <a:off x="5064900" y="3870125"/>
            <a:ext cx="19494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8" name="Google Shape;1648;p103"/>
          <p:cNvCxnSpPr>
            <a:stCxn id="1649" idx="6"/>
            <a:endCxn id="1650" idx="1"/>
          </p:cNvCxnSpPr>
          <p:nvPr/>
        </p:nvCxnSpPr>
        <p:spPr>
          <a:xfrm>
            <a:off x="3600725" y="4540666"/>
            <a:ext cx="1239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1" name="Google Shape;1651;p103"/>
          <p:cNvCxnSpPr>
            <a:stCxn id="1650" idx="3"/>
            <a:endCxn id="1652" idx="1"/>
          </p:cNvCxnSpPr>
          <p:nvPr/>
        </p:nvCxnSpPr>
        <p:spPr>
          <a:xfrm>
            <a:off x="5124738" y="4540666"/>
            <a:ext cx="457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3" name="Google Shape;1653;p103"/>
          <p:cNvCxnSpPr>
            <a:stCxn id="1654" idx="3"/>
            <a:endCxn id="1655" idx="1"/>
          </p:cNvCxnSpPr>
          <p:nvPr/>
        </p:nvCxnSpPr>
        <p:spPr>
          <a:xfrm>
            <a:off x="7414108" y="4540666"/>
            <a:ext cx="459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6" name="Google Shape;1656;p103"/>
          <p:cNvCxnSpPr>
            <a:stCxn id="1655" idx="3"/>
            <a:endCxn id="1657" idx="2"/>
          </p:cNvCxnSpPr>
          <p:nvPr/>
        </p:nvCxnSpPr>
        <p:spPr>
          <a:xfrm>
            <a:off x="8015583" y="4540666"/>
            <a:ext cx="4719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8" name="Google Shape;1658;p103"/>
          <p:cNvCxnSpPr>
            <a:stCxn id="1652" idx="3"/>
            <a:endCxn id="1659" idx="1"/>
          </p:cNvCxnSpPr>
          <p:nvPr/>
        </p:nvCxnSpPr>
        <p:spPr>
          <a:xfrm>
            <a:off x="5724438" y="4540666"/>
            <a:ext cx="457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0" name="Google Shape;1660;p103"/>
          <p:cNvCxnSpPr>
            <a:stCxn id="1659" idx="3"/>
            <a:endCxn id="1661" idx="1"/>
          </p:cNvCxnSpPr>
          <p:nvPr/>
        </p:nvCxnSpPr>
        <p:spPr>
          <a:xfrm>
            <a:off x="6324138" y="4540666"/>
            <a:ext cx="457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2" name="Google Shape;1662;p103"/>
          <p:cNvCxnSpPr>
            <a:stCxn id="1661" idx="3"/>
            <a:endCxn id="1654" idx="1"/>
          </p:cNvCxnSpPr>
          <p:nvPr/>
        </p:nvCxnSpPr>
        <p:spPr>
          <a:xfrm>
            <a:off x="6923838" y="4540666"/>
            <a:ext cx="3477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3" name="Google Shape;1663;p103"/>
          <p:cNvSpPr/>
          <p:nvPr/>
        </p:nvSpPr>
        <p:spPr>
          <a:xfrm>
            <a:off x="6016938" y="3984525"/>
            <a:ext cx="471900" cy="211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64" name="Google Shape;1664;p103"/>
          <p:cNvCxnSpPr>
            <a:stCxn id="1663" idx="2"/>
            <a:endCxn id="1659" idx="0"/>
          </p:cNvCxnSpPr>
          <p:nvPr/>
        </p:nvCxnSpPr>
        <p:spPr>
          <a:xfrm>
            <a:off x="6252888" y="4196325"/>
            <a:ext cx="0" cy="27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5" name="Google Shape;1665;p103"/>
          <p:cNvSpPr txBox="1"/>
          <p:nvPr/>
        </p:nvSpPr>
        <p:spPr>
          <a:xfrm>
            <a:off x="5065074" y="4745606"/>
            <a:ext cx="1949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ISP Network</a:t>
            </a:r>
            <a:endParaRPr sz="1200"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6" name="Google Shape;1666;p103"/>
          <p:cNvSpPr txBox="1"/>
          <p:nvPr/>
        </p:nvSpPr>
        <p:spPr>
          <a:xfrm>
            <a:off x="7166800" y="4745606"/>
            <a:ext cx="168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Berkeley Network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7" name="Google Shape;1667;p103"/>
          <p:cNvSpPr txBox="1"/>
          <p:nvPr/>
        </p:nvSpPr>
        <p:spPr>
          <a:xfrm>
            <a:off x="3210675" y="4745606"/>
            <a:ext cx="168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Home Network</a:t>
            </a:r>
            <a:endParaRPr sz="12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9" name="Google Shape;1649;p103"/>
          <p:cNvSpPr/>
          <p:nvPr/>
        </p:nvSpPr>
        <p:spPr>
          <a:xfrm>
            <a:off x="3315725" y="43981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0" name="Google Shape;1650;p103"/>
          <p:cNvSpPr/>
          <p:nvPr/>
        </p:nvSpPr>
        <p:spPr>
          <a:xfrm>
            <a:off x="4839738" y="439816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7" name="Google Shape;1657;p103"/>
          <p:cNvSpPr/>
          <p:nvPr/>
        </p:nvSpPr>
        <p:spPr>
          <a:xfrm>
            <a:off x="8487625" y="43981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2" name="Google Shape;1652;p103"/>
          <p:cNvSpPr/>
          <p:nvPr/>
        </p:nvSpPr>
        <p:spPr>
          <a:xfrm>
            <a:off x="55819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9" name="Google Shape;1659;p103"/>
          <p:cNvSpPr/>
          <p:nvPr/>
        </p:nvSpPr>
        <p:spPr>
          <a:xfrm>
            <a:off x="61816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1" name="Google Shape;1661;p103"/>
          <p:cNvSpPr/>
          <p:nvPr/>
        </p:nvSpPr>
        <p:spPr>
          <a:xfrm>
            <a:off x="67813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4" name="Google Shape;1654;p103"/>
          <p:cNvSpPr/>
          <p:nvPr/>
        </p:nvSpPr>
        <p:spPr>
          <a:xfrm>
            <a:off x="727160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5" name="Google Shape;1655;p103"/>
          <p:cNvSpPr/>
          <p:nvPr/>
        </p:nvSpPr>
        <p:spPr>
          <a:xfrm>
            <a:off x="7873083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10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Step 4/4: Connect to Website</a:t>
            </a:r>
            <a:endParaRPr/>
          </a:p>
        </p:txBody>
      </p:sp>
      <p:sp>
        <p:nvSpPr>
          <p:cNvPr id="1673" name="Google Shape;1673;p104"/>
          <p:cNvSpPr txBox="1"/>
          <p:nvPr>
            <p:ph idx="1" type="body"/>
          </p:nvPr>
        </p:nvSpPr>
        <p:spPr>
          <a:xfrm>
            <a:off x="107050" y="402200"/>
            <a:ext cx="89097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now build an HTTP request packet.</a:t>
            </a:r>
            <a:endParaRPr/>
          </a:p>
        </p:txBody>
      </p:sp>
      <p:sp>
        <p:nvSpPr>
          <p:cNvPr id="1674" name="Google Shape;1674;p104"/>
          <p:cNvSpPr/>
          <p:nvPr/>
        </p:nvSpPr>
        <p:spPr>
          <a:xfrm>
            <a:off x="2504138" y="3890850"/>
            <a:ext cx="1895100" cy="6186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HTTP payload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5" name="Google Shape;1675;p104"/>
          <p:cNvSpPr/>
          <p:nvPr/>
        </p:nvSpPr>
        <p:spPr>
          <a:xfrm>
            <a:off x="2504138" y="3497250"/>
            <a:ext cx="18951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80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6" name="Google Shape;1676;p104"/>
          <p:cNvSpPr/>
          <p:nvPr/>
        </p:nvSpPr>
        <p:spPr>
          <a:xfrm>
            <a:off x="2504138" y="3103650"/>
            <a:ext cx="1895100" cy="3936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61098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7" name="Google Shape;1677;p104"/>
          <p:cNvSpPr/>
          <p:nvPr/>
        </p:nvSpPr>
        <p:spPr>
          <a:xfrm>
            <a:off x="2504138" y="2710050"/>
            <a:ext cx="1895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141.193.213.21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8" name="Google Shape;1678;p104"/>
          <p:cNvSpPr/>
          <p:nvPr/>
        </p:nvSpPr>
        <p:spPr>
          <a:xfrm>
            <a:off x="2504138" y="2316450"/>
            <a:ext cx="1895100" cy="3936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192.168.1.2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9" name="Google Shape;1679;p104"/>
          <p:cNvSpPr txBox="1"/>
          <p:nvPr/>
        </p:nvSpPr>
        <p:spPr>
          <a:xfrm>
            <a:off x="738549" y="3489428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Destination Port: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0" name="Google Shape;1680;p104"/>
          <p:cNvSpPr txBox="1"/>
          <p:nvPr/>
        </p:nvSpPr>
        <p:spPr>
          <a:xfrm>
            <a:off x="738549" y="3095831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Source Port: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1" name="Google Shape;1681;p104"/>
          <p:cNvSpPr txBox="1"/>
          <p:nvPr/>
        </p:nvSpPr>
        <p:spPr>
          <a:xfrm>
            <a:off x="738549" y="2710047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Destination IP: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2" name="Google Shape;1682;p104"/>
          <p:cNvSpPr txBox="1"/>
          <p:nvPr/>
        </p:nvSpPr>
        <p:spPr>
          <a:xfrm>
            <a:off x="738549" y="2316450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Source IP: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3" name="Google Shape;1683;p104"/>
          <p:cNvCxnSpPr>
            <a:endCxn id="1677" idx="3"/>
          </p:cNvCxnSpPr>
          <p:nvPr/>
        </p:nvCxnSpPr>
        <p:spPr>
          <a:xfrm rot="10800000">
            <a:off x="4399238" y="2906850"/>
            <a:ext cx="8049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4" name="Google Shape;1684;p104"/>
          <p:cNvSpPr txBox="1"/>
          <p:nvPr/>
        </p:nvSpPr>
        <p:spPr>
          <a:xfrm>
            <a:off x="5204150" y="2706750"/>
            <a:ext cx="345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www.berkeley.edu IP (learned from DNS).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5" name="Google Shape;1685;p104"/>
          <p:cNvCxnSpPr/>
          <p:nvPr/>
        </p:nvCxnSpPr>
        <p:spPr>
          <a:xfrm rot="10800000">
            <a:off x="4399238" y="3287850"/>
            <a:ext cx="804900" cy="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6" name="Google Shape;1686;p104"/>
          <p:cNvSpPr txBox="1"/>
          <p:nvPr/>
        </p:nvSpPr>
        <p:spPr>
          <a:xfrm>
            <a:off x="5204150" y="3087750"/>
            <a:ext cx="278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Random ephemeral source port.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7" name="Google Shape;1687;p104"/>
          <p:cNvSpPr/>
          <p:nvPr/>
        </p:nvSpPr>
        <p:spPr>
          <a:xfrm>
            <a:off x="2504138" y="1923113"/>
            <a:ext cx="1895100" cy="3936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01:ab:cd:ef:42:01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8" name="Google Shape;1688;p104"/>
          <p:cNvSpPr/>
          <p:nvPr/>
        </p:nvSpPr>
        <p:spPr>
          <a:xfrm>
            <a:off x="2504138" y="1529513"/>
            <a:ext cx="1895100" cy="3936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23:45:67:89:ab:cd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9" name="Google Shape;1689;p104"/>
          <p:cNvSpPr txBox="1"/>
          <p:nvPr/>
        </p:nvSpPr>
        <p:spPr>
          <a:xfrm>
            <a:off x="738549" y="1923109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Destination MAC: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0" name="Google Shape;1690;p104"/>
          <p:cNvSpPr txBox="1"/>
          <p:nvPr/>
        </p:nvSpPr>
        <p:spPr>
          <a:xfrm>
            <a:off x="738549" y="1529513"/>
            <a:ext cx="173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Source MAC:</a:t>
            </a:r>
            <a:endParaRPr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1" name="Google Shape;1691;p104"/>
          <p:cNvCxnSpPr>
            <a:endCxn id="1687" idx="3"/>
          </p:cNvCxnSpPr>
          <p:nvPr/>
        </p:nvCxnSpPr>
        <p:spPr>
          <a:xfrm rot="10800000">
            <a:off x="4399238" y="2119913"/>
            <a:ext cx="804900" cy="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2" name="Google Shape;1692;p104"/>
          <p:cNvSpPr txBox="1"/>
          <p:nvPr/>
        </p:nvSpPr>
        <p:spPr>
          <a:xfrm>
            <a:off x="5204150" y="1919825"/>
            <a:ext cx="278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Router MAC (learned from ARP).</a:t>
            </a:r>
            <a:endParaRPr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3" name="Google Shape;1693;p104"/>
          <p:cNvCxnSpPr/>
          <p:nvPr/>
        </p:nvCxnSpPr>
        <p:spPr>
          <a:xfrm rot="10800000">
            <a:off x="4399238" y="2525850"/>
            <a:ext cx="804900" cy="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4" name="Google Shape;1694;p104"/>
          <p:cNvSpPr txBox="1"/>
          <p:nvPr/>
        </p:nvSpPr>
        <p:spPr>
          <a:xfrm>
            <a:off x="5204150" y="2325750"/>
            <a:ext cx="320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Our IP (learned from DHCP).</a:t>
            </a:r>
            <a:endParaRPr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5" name="Google Shape;1695;p104"/>
          <p:cNvCxnSpPr/>
          <p:nvPr/>
        </p:nvCxnSpPr>
        <p:spPr>
          <a:xfrm rot="10800000">
            <a:off x="4399238" y="3693775"/>
            <a:ext cx="804900" cy="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6" name="Google Shape;1696;p104"/>
          <p:cNvSpPr txBox="1"/>
          <p:nvPr/>
        </p:nvSpPr>
        <p:spPr>
          <a:xfrm>
            <a:off x="5204150" y="3493675"/>
            <a:ext cx="30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Well-known HTTP port.</a:t>
            </a:r>
            <a:endParaRPr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7" name="Google Shape;1697;p104"/>
          <p:cNvCxnSpPr/>
          <p:nvPr/>
        </p:nvCxnSpPr>
        <p:spPr>
          <a:xfrm rot="10800000">
            <a:off x="4399238" y="1725683"/>
            <a:ext cx="804900" cy="0"/>
          </a:xfrm>
          <a:prstGeom prst="straightConnector1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8" name="Google Shape;1698;p104"/>
          <p:cNvSpPr txBox="1"/>
          <p:nvPr/>
        </p:nvSpPr>
        <p:spPr>
          <a:xfrm>
            <a:off x="5204150" y="1525575"/>
            <a:ext cx="292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Our MAC (burned into hardware).</a:t>
            </a:r>
            <a:endParaRPr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99" name="Google Shape;1699;p104"/>
          <p:cNvCxnSpPr/>
          <p:nvPr/>
        </p:nvCxnSpPr>
        <p:spPr>
          <a:xfrm rot="10800000">
            <a:off x="4399238" y="4206764"/>
            <a:ext cx="804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0" name="Google Shape;1700;p104"/>
          <p:cNvSpPr txBox="1"/>
          <p:nvPr/>
        </p:nvSpPr>
        <p:spPr>
          <a:xfrm>
            <a:off x="5204150" y="4006675"/>
            <a:ext cx="329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 / HTTP/1.1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10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Step 4/4: Connect to Website</a:t>
            </a:r>
            <a:endParaRPr/>
          </a:p>
        </p:txBody>
      </p:sp>
      <p:sp>
        <p:nvSpPr>
          <p:cNvPr id="1706" name="Google Shape;1706;p105"/>
          <p:cNvSpPr txBox="1"/>
          <p:nvPr>
            <p:ph idx="1" type="body"/>
          </p:nvPr>
        </p:nvSpPr>
        <p:spPr>
          <a:xfrm>
            <a:off x="107050" y="402200"/>
            <a:ext cx="8909700" cy="11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Server sends an HTTP response with an HTML page.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Page might trigger further HTTP requests, pipelined in the same TCP connection.</a:t>
            </a:r>
            <a:endParaRPr/>
          </a:p>
        </p:txBody>
      </p:sp>
      <p:cxnSp>
        <p:nvCxnSpPr>
          <p:cNvPr id="1707" name="Google Shape;1707;p105"/>
          <p:cNvCxnSpPr/>
          <p:nvPr/>
        </p:nvCxnSpPr>
        <p:spPr>
          <a:xfrm>
            <a:off x="3480300" y="2703173"/>
            <a:ext cx="5187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08" name="Google Shape;1708;p105"/>
          <p:cNvCxnSpPr/>
          <p:nvPr/>
        </p:nvCxnSpPr>
        <p:spPr>
          <a:xfrm>
            <a:off x="3480300" y="2245973"/>
            <a:ext cx="5187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9" name="Google Shape;1709;p105"/>
          <p:cNvSpPr txBox="1"/>
          <p:nvPr/>
        </p:nvSpPr>
        <p:spPr>
          <a:xfrm>
            <a:off x="3480300" y="1976875"/>
            <a:ext cx="497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HTTP request: 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GET / HTTP/1.1</a:t>
            </a:r>
            <a:endParaRPr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10" name="Google Shape;1710;p105"/>
          <p:cNvSpPr txBox="1"/>
          <p:nvPr/>
        </p:nvSpPr>
        <p:spPr>
          <a:xfrm>
            <a:off x="3682025" y="2434075"/>
            <a:ext cx="497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HTTP response: 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HTTP/1.1 200 OK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1" name="Google Shape;1711;p105"/>
          <p:cNvCxnSpPr/>
          <p:nvPr/>
        </p:nvCxnSpPr>
        <p:spPr>
          <a:xfrm>
            <a:off x="3480300" y="3160373"/>
            <a:ext cx="5187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2" name="Google Shape;1712;p105"/>
          <p:cNvSpPr txBox="1"/>
          <p:nvPr/>
        </p:nvSpPr>
        <p:spPr>
          <a:xfrm>
            <a:off x="3480300" y="2891275"/>
            <a:ext cx="497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HTTP request: 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GET /img.png HTTP/1.1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3" name="Google Shape;1713;p105"/>
          <p:cNvSpPr/>
          <p:nvPr/>
        </p:nvSpPr>
        <p:spPr>
          <a:xfrm>
            <a:off x="3217650" y="3870125"/>
            <a:ext cx="16893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4" name="Google Shape;1714;p105"/>
          <p:cNvSpPr/>
          <p:nvPr/>
        </p:nvSpPr>
        <p:spPr>
          <a:xfrm>
            <a:off x="7166775" y="3870125"/>
            <a:ext cx="16893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5" name="Google Shape;1715;p105"/>
          <p:cNvSpPr/>
          <p:nvPr/>
        </p:nvSpPr>
        <p:spPr>
          <a:xfrm>
            <a:off x="5064900" y="3870125"/>
            <a:ext cx="19494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6" name="Google Shape;1716;p105"/>
          <p:cNvCxnSpPr>
            <a:stCxn id="1717" idx="6"/>
            <a:endCxn id="1718" idx="1"/>
          </p:cNvCxnSpPr>
          <p:nvPr/>
        </p:nvCxnSpPr>
        <p:spPr>
          <a:xfrm>
            <a:off x="3600725" y="4540666"/>
            <a:ext cx="1239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9" name="Google Shape;1719;p105"/>
          <p:cNvCxnSpPr>
            <a:stCxn id="1718" idx="3"/>
            <a:endCxn id="1720" idx="1"/>
          </p:cNvCxnSpPr>
          <p:nvPr/>
        </p:nvCxnSpPr>
        <p:spPr>
          <a:xfrm>
            <a:off x="5124738" y="4540666"/>
            <a:ext cx="457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1" name="Google Shape;1721;p105"/>
          <p:cNvCxnSpPr>
            <a:stCxn id="1722" idx="3"/>
            <a:endCxn id="1723" idx="1"/>
          </p:cNvCxnSpPr>
          <p:nvPr/>
        </p:nvCxnSpPr>
        <p:spPr>
          <a:xfrm>
            <a:off x="7414108" y="4540666"/>
            <a:ext cx="459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4" name="Google Shape;1724;p105"/>
          <p:cNvCxnSpPr>
            <a:stCxn id="1723" idx="3"/>
            <a:endCxn id="1725" idx="2"/>
          </p:cNvCxnSpPr>
          <p:nvPr/>
        </p:nvCxnSpPr>
        <p:spPr>
          <a:xfrm>
            <a:off x="8015583" y="4540666"/>
            <a:ext cx="4719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6" name="Google Shape;1726;p105"/>
          <p:cNvCxnSpPr>
            <a:stCxn id="1720" idx="3"/>
            <a:endCxn id="1727" idx="1"/>
          </p:cNvCxnSpPr>
          <p:nvPr/>
        </p:nvCxnSpPr>
        <p:spPr>
          <a:xfrm>
            <a:off x="5724438" y="4540666"/>
            <a:ext cx="457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8" name="Google Shape;1728;p105"/>
          <p:cNvCxnSpPr>
            <a:stCxn id="1727" idx="3"/>
            <a:endCxn id="1729" idx="1"/>
          </p:cNvCxnSpPr>
          <p:nvPr/>
        </p:nvCxnSpPr>
        <p:spPr>
          <a:xfrm>
            <a:off x="6324138" y="4540666"/>
            <a:ext cx="457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0" name="Google Shape;1730;p105"/>
          <p:cNvCxnSpPr>
            <a:stCxn id="1729" idx="3"/>
            <a:endCxn id="1722" idx="1"/>
          </p:cNvCxnSpPr>
          <p:nvPr/>
        </p:nvCxnSpPr>
        <p:spPr>
          <a:xfrm>
            <a:off x="6923838" y="4540666"/>
            <a:ext cx="3477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1" name="Google Shape;1731;p105"/>
          <p:cNvSpPr/>
          <p:nvPr/>
        </p:nvSpPr>
        <p:spPr>
          <a:xfrm>
            <a:off x="6016938" y="3984525"/>
            <a:ext cx="471900" cy="211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2" name="Google Shape;1732;p105"/>
          <p:cNvCxnSpPr>
            <a:stCxn id="1731" idx="2"/>
            <a:endCxn id="1727" idx="0"/>
          </p:cNvCxnSpPr>
          <p:nvPr/>
        </p:nvCxnSpPr>
        <p:spPr>
          <a:xfrm>
            <a:off x="6252888" y="4196325"/>
            <a:ext cx="0" cy="27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3" name="Google Shape;1733;p105"/>
          <p:cNvSpPr txBox="1"/>
          <p:nvPr/>
        </p:nvSpPr>
        <p:spPr>
          <a:xfrm>
            <a:off x="5065074" y="4745606"/>
            <a:ext cx="1949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ISP Network</a:t>
            </a:r>
            <a:endParaRPr sz="1200"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4" name="Google Shape;1734;p105"/>
          <p:cNvSpPr txBox="1"/>
          <p:nvPr/>
        </p:nvSpPr>
        <p:spPr>
          <a:xfrm>
            <a:off x="7166800" y="4745606"/>
            <a:ext cx="168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Berkeley Network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5" name="Google Shape;1735;p105"/>
          <p:cNvSpPr txBox="1"/>
          <p:nvPr/>
        </p:nvSpPr>
        <p:spPr>
          <a:xfrm>
            <a:off x="3210675" y="4745606"/>
            <a:ext cx="168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Home Network</a:t>
            </a:r>
            <a:endParaRPr sz="12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7" name="Google Shape;1717;p105"/>
          <p:cNvSpPr/>
          <p:nvPr/>
        </p:nvSpPr>
        <p:spPr>
          <a:xfrm>
            <a:off x="3315725" y="43981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8" name="Google Shape;1718;p105"/>
          <p:cNvSpPr/>
          <p:nvPr/>
        </p:nvSpPr>
        <p:spPr>
          <a:xfrm>
            <a:off x="4839738" y="439816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5" name="Google Shape;1725;p105"/>
          <p:cNvSpPr/>
          <p:nvPr/>
        </p:nvSpPr>
        <p:spPr>
          <a:xfrm>
            <a:off x="8487625" y="43981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0" name="Google Shape;1720;p105"/>
          <p:cNvSpPr/>
          <p:nvPr/>
        </p:nvSpPr>
        <p:spPr>
          <a:xfrm>
            <a:off x="55819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7" name="Google Shape;1727;p105"/>
          <p:cNvSpPr/>
          <p:nvPr/>
        </p:nvSpPr>
        <p:spPr>
          <a:xfrm>
            <a:off x="61816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9" name="Google Shape;1729;p105"/>
          <p:cNvSpPr/>
          <p:nvPr/>
        </p:nvSpPr>
        <p:spPr>
          <a:xfrm>
            <a:off x="67813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2" name="Google Shape;1722;p105"/>
          <p:cNvSpPr/>
          <p:nvPr/>
        </p:nvSpPr>
        <p:spPr>
          <a:xfrm>
            <a:off x="727160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3" name="Google Shape;1723;p105"/>
          <p:cNvSpPr/>
          <p:nvPr/>
        </p:nvSpPr>
        <p:spPr>
          <a:xfrm>
            <a:off x="7873083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36" name="Google Shape;1736;p105"/>
          <p:cNvCxnSpPr/>
          <p:nvPr/>
        </p:nvCxnSpPr>
        <p:spPr>
          <a:xfrm>
            <a:off x="3480300" y="3617573"/>
            <a:ext cx="5187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37" name="Google Shape;1737;p105"/>
          <p:cNvSpPr txBox="1"/>
          <p:nvPr/>
        </p:nvSpPr>
        <p:spPr>
          <a:xfrm>
            <a:off x="3682025" y="3348475"/>
            <a:ext cx="497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HTTP response: 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HTTP/1.1 200 OK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8" name="Google Shape;1738;p105"/>
          <p:cNvSpPr txBox="1"/>
          <p:nvPr/>
        </p:nvSpPr>
        <p:spPr>
          <a:xfrm>
            <a:off x="283950" y="2302525"/>
            <a:ext cx="28065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Note: TCP provides a bytestream abstraction, so each HTTP request/response could be multiple packets.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10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Step 4/4: Connect to Website</a:t>
            </a:r>
            <a:endParaRPr/>
          </a:p>
        </p:txBody>
      </p:sp>
      <p:sp>
        <p:nvSpPr>
          <p:cNvPr id="1744" name="Google Shape;1744;p106"/>
          <p:cNvSpPr txBox="1"/>
          <p:nvPr>
            <p:ph idx="1" type="body"/>
          </p:nvPr>
        </p:nvSpPr>
        <p:spPr>
          <a:xfrm>
            <a:off x="107050" y="402200"/>
            <a:ext cx="8909700" cy="11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HTTP messages end in newlines. Lets us separate messages in the bytestream.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Headers (e.g. Content-Length) tell us how much memory to allocate for the payload.</a:t>
            </a:r>
            <a:endParaRPr/>
          </a:p>
        </p:txBody>
      </p:sp>
      <p:cxnSp>
        <p:nvCxnSpPr>
          <p:cNvPr id="1745" name="Google Shape;1745;p106"/>
          <p:cNvCxnSpPr/>
          <p:nvPr/>
        </p:nvCxnSpPr>
        <p:spPr>
          <a:xfrm>
            <a:off x="3480300" y="2703173"/>
            <a:ext cx="5187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46" name="Google Shape;1746;p106"/>
          <p:cNvCxnSpPr/>
          <p:nvPr/>
        </p:nvCxnSpPr>
        <p:spPr>
          <a:xfrm>
            <a:off x="3480300" y="2245973"/>
            <a:ext cx="5187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7" name="Google Shape;1747;p106"/>
          <p:cNvSpPr txBox="1"/>
          <p:nvPr/>
        </p:nvSpPr>
        <p:spPr>
          <a:xfrm>
            <a:off x="3480300" y="1976875"/>
            <a:ext cx="497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HTTP request: 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GET / HTTP/1.1</a:t>
            </a:r>
            <a:endParaRPr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48" name="Google Shape;1748;p106"/>
          <p:cNvSpPr txBox="1"/>
          <p:nvPr/>
        </p:nvSpPr>
        <p:spPr>
          <a:xfrm>
            <a:off x="3682025" y="2434075"/>
            <a:ext cx="497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HTTP response: 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HTTP/1.1 200 OK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49" name="Google Shape;1749;p106"/>
          <p:cNvCxnSpPr/>
          <p:nvPr/>
        </p:nvCxnSpPr>
        <p:spPr>
          <a:xfrm>
            <a:off x="3480300" y="3160373"/>
            <a:ext cx="5187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0" name="Google Shape;1750;p106"/>
          <p:cNvSpPr txBox="1"/>
          <p:nvPr/>
        </p:nvSpPr>
        <p:spPr>
          <a:xfrm>
            <a:off x="3480300" y="2891275"/>
            <a:ext cx="497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HTTP request: 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GET /img.png HTTP/1.1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1" name="Google Shape;1751;p106"/>
          <p:cNvSpPr/>
          <p:nvPr/>
        </p:nvSpPr>
        <p:spPr>
          <a:xfrm>
            <a:off x="3217650" y="3870125"/>
            <a:ext cx="16893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2" name="Google Shape;1752;p106"/>
          <p:cNvSpPr/>
          <p:nvPr/>
        </p:nvSpPr>
        <p:spPr>
          <a:xfrm>
            <a:off x="7166775" y="3870125"/>
            <a:ext cx="16893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3" name="Google Shape;1753;p106"/>
          <p:cNvSpPr/>
          <p:nvPr/>
        </p:nvSpPr>
        <p:spPr>
          <a:xfrm>
            <a:off x="5064900" y="3870125"/>
            <a:ext cx="19494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4" name="Google Shape;1754;p106"/>
          <p:cNvCxnSpPr>
            <a:stCxn id="1755" idx="6"/>
            <a:endCxn id="1756" idx="1"/>
          </p:cNvCxnSpPr>
          <p:nvPr/>
        </p:nvCxnSpPr>
        <p:spPr>
          <a:xfrm>
            <a:off x="3600725" y="4540666"/>
            <a:ext cx="1239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7" name="Google Shape;1757;p106"/>
          <p:cNvCxnSpPr>
            <a:stCxn id="1756" idx="3"/>
            <a:endCxn id="1758" idx="1"/>
          </p:cNvCxnSpPr>
          <p:nvPr/>
        </p:nvCxnSpPr>
        <p:spPr>
          <a:xfrm>
            <a:off x="5124738" y="4540666"/>
            <a:ext cx="457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9" name="Google Shape;1759;p106"/>
          <p:cNvCxnSpPr>
            <a:stCxn id="1760" idx="3"/>
            <a:endCxn id="1761" idx="1"/>
          </p:cNvCxnSpPr>
          <p:nvPr/>
        </p:nvCxnSpPr>
        <p:spPr>
          <a:xfrm>
            <a:off x="7414108" y="4540666"/>
            <a:ext cx="459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2" name="Google Shape;1762;p106"/>
          <p:cNvCxnSpPr>
            <a:stCxn id="1761" idx="3"/>
            <a:endCxn id="1763" idx="2"/>
          </p:cNvCxnSpPr>
          <p:nvPr/>
        </p:nvCxnSpPr>
        <p:spPr>
          <a:xfrm>
            <a:off x="8015583" y="4540666"/>
            <a:ext cx="4719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4" name="Google Shape;1764;p106"/>
          <p:cNvCxnSpPr>
            <a:stCxn id="1758" idx="3"/>
            <a:endCxn id="1765" idx="1"/>
          </p:cNvCxnSpPr>
          <p:nvPr/>
        </p:nvCxnSpPr>
        <p:spPr>
          <a:xfrm>
            <a:off x="5724438" y="4540666"/>
            <a:ext cx="457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6" name="Google Shape;1766;p106"/>
          <p:cNvCxnSpPr>
            <a:stCxn id="1765" idx="3"/>
            <a:endCxn id="1767" idx="1"/>
          </p:cNvCxnSpPr>
          <p:nvPr/>
        </p:nvCxnSpPr>
        <p:spPr>
          <a:xfrm>
            <a:off x="6324138" y="4540666"/>
            <a:ext cx="457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8" name="Google Shape;1768;p106"/>
          <p:cNvCxnSpPr>
            <a:stCxn id="1767" idx="3"/>
            <a:endCxn id="1760" idx="1"/>
          </p:cNvCxnSpPr>
          <p:nvPr/>
        </p:nvCxnSpPr>
        <p:spPr>
          <a:xfrm>
            <a:off x="6923838" y="4540666"/>
            <a:ext cx="3477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9" name="Google Shape;1769;p106"/>
          <p:cNvSpPr/>
          <p:nvPr/>
        </p:nvSpPr>
        <p:spPr>
          <a:xfrm>
            <a:off x="6016938" y="3984525"/>
            <a:ext cx="471900" cy="211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0" name="Google Shape;1770;p106"/>
          <p:cNvCxnSpPr>
            <a:stCxn id="1769" idx="2"/>
            <a:endCxn id="1765" idx="0"/>
          </p:cNvCxnSpPr>
          <p:nvPr/>
        </p:nvCxnSpPr>
        <p:spPr>
          <a:xfrm>
            <a:off x="6252888" y="4196325"/>
            <a:ext cx="0" cy="27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1" name="Google Shape;1771;p106"/>
          <p:cNvSpPr txBox="1"/>
          <p:nvPr/>
        </p:nvSpPr>
        <p:spPr>
          <a:xfrm>
            <a:off x="5065074" y="4745606"/>
            <a:ext cx="1949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ISP Network</a:t>
            </a:r>
            <a:endParaRPr sz="1200"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2" name="Google Shape;1772;p106"/>
          <p:cNvSpPr txBox="1"/>
          <p:nvPr/>
        </p:nvSpPr>
        <p:spPr>
          <a:xfrm>
            <a:off x="7166800" y="4745606"/>
            <a:ext cx="168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Berkeley Network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3" name="Google Shape;1773;p106"/>
          <p:cNvSpPr txBox="1"/>
          <p:nvPr/>
        </p:nvSpPr>
        <p:spPr>
          <a:xfrm>
            <a:off x="3210675" y="4745606"/>
            <a:ext cx="168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Home Network</a:t>
            </a:r>
            <a:endParaRPr sz="12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5" name="Google Shape;1755;p106"/>
          <p:cNvSpPr/>
          <p:nvPr/>
        </p:nvSpPr>
        <p:spPr>
          <a:xfrm>
            <a:off x="3315725" y="43981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6" name="Google Shape;1756;p106"/>
          <p:cNvSpPr/>
          <p:nvPr/>
        </p:nvSpPr>
        <p:spPr>
          <a:xfrm>
            <a:off x="4839738" y="439816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3" name="Google Shape;1763;p106"/>
          <p:cNvSpPr/>
          <p:nvPr/>
        </p:nvSpPr>
        <p:spPr>
          <a:xfrm>
            <a:off x="8487625" y="43981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8" name="Google Shape;1758;p106"/>
          <p:cNvSpPr/>
          <p:nvPr/>
        </p:nvSpPr>
        <p:spPr>
          <a:xfrm>
            <a:off x="55819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5" name="Google Shape;1765;p106"/>
          <p:cNvSpPr/>
          <p:nvPr/>
        </p:nvSpPr>
        <p:spPr>
          <a:xfrm>
            <a:off x="61816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7" name="Google Shape;1767;p106"/>
          <p:cNvSpPr/>
          <p:nvPr/>
        </p:nvSpPr>
        <p:spPr>
          <a:xfrm>
            <a:off x="67813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0" name="Google Shape;1760;p106"/>
          <p:cNvSpPr/>
          <p:nvPr/>
        </p:nvSpPr>
        <p:spPr>
          <a:xfrm>
            <a:off x="727160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1" name="Google Shape;1761;p106"/>
          <p:cNvSpPr/>
          <p:nvPr/>
        </p:nvSpPr>
        <p:spPr>
          <a:xfrm>
            <a:off x="7873083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4" name="Google Shape;1774;p106"/>
          <p:cNvCxnSpPr/>
          <p:nvPr/>
        </p:nvCxnSpPr>
        <p:spPr>
          <a:xfrm>
            <a:off x="3480300" y="3617573"/>
            <a:ext cx="5187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75" name="Google Shape;1775;p106"/>
          <p:cNvSpPr txBox="1"/>
          <p:nvPr/>
        </p:nvSpPr>
        <p:spPr>
          <a:xfrm>
            <a:off x="3682025" y="3348475"/>
            <a:ext cx="497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HTTP response: </a:t>
            </a:r>
            <a:r>
              <a:rPr lang="en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HTTP/1.1 200 OK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10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Step 4/4: Connect to Website</a:t>
            </a:r>
            <a:endParaRPr/>
          </a:p>
        </p:txBody>
      </p:sp>
      <p:sp>
        <p:nvSpPr>
          <p:cNvPr id="1781" name="Google Shape;1781;p107"/>
          <p:cNvSpPr txBox="1"/>
          <p:nvPr>
            <p:ph idx="1" type="body"/>
          </p:nvPr>
        </p:nvSpPr>
        <p:spPr>
          <a:xfrm>
            <a:off x="107050" y="402200"/>
            <a:ext cx="8909700" cy="11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TCP connection stays open for pipelining requests.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Eventually, client or server decides to close the connection.</a:t>
            </a:r>
            <a:endParaRPr/>
          </a:p>
        </p:txBody>
      </p:sp>
      <p:cxnSp>
        <p:nvCxnSpPr>
          <p:cNvPr id="1782" name="Google Shape;1782;p107"/>
          <p:cNvCxnSpPr/>
          <p:nvPr/>
        </p:nvCxnSpPr>
        <p:spPr>
          <a:xfrm>
            <a:off x="3480300" y="2703173"/>
            <a:ext cx="5187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83" name="Google Shape;1783;p107"/>
          <p:cNvCxnSpPr/>
          <p:nvPr/>
        </p:nvCxnSpPr>
        <p:spPr>
          <a:xfrm>
            <a:off x="3480300" y="2245973"/>
            <a:ext cx="5187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4" name="Google Shape;1784;p107"/>
          <p:cNvSpPr txBox="1"/>
          <p:nvPr/>
        </p:nvSpPr>
        <p:spPr>
          <a:xfrm>
            <a:off x="3480300" y="1976875"/>
            <a:ext cx="497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TCP FIN</a:t>
            </a:r>
            <a:endParaRPr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85" name="Google Shape;1785;p107"/>
          <p:cNvSpPr txBox="1"/>
          <p:nvPr/>
        </p:nvSpPr>
        <p:spPr>
          <a:xfrm>
            <a:off x="3682025" y="2434075"/>
            <a:ext cx="497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TCP ACK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6" name="Google Shape;1786;p107"/>
          <p:cNvCxnSpPr/>
          <p:nvPr/>
        </p:nvCxnSpPr>
        <p:spPr>
          <a:xfrm>
            <a:off x="3480300" y="3160373"/>
            <a:ext cx="5187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87" name="Google Shape;1787;p107"/>
          <p:cNvSpPr txBox="1"/>
          <p:nvPr/>
        </p:nvSpPr>
        <p:spPr>
          <a:xfrm>
            <a:off x="3689400" y="2891275"/>
            <a:ext cx="497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TCP FIN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8" name="Google Shape;1788;p107"/>
          <p:cNvSpPr/>
          <p:nvPr/>
        </p:nvSpPr>
        <p:spPr>
          <a:xfrm>
            <a:off x="3217650" y="3870125"/>
            <a:ext cx="16893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rgbClr val="6AA84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9" name="Google Shape;1789;p107"/>
          <p:cNvSpPr/>
          <p:nvPr/>
        </p:nvSpPr>
        <p:spPr>
          <a:xfrm>
            <a:off x="7166775" y="3870125"/>
            <a:ext cx="16893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chemeClr val="accent3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0" name="Google Shape;1790;p107"/>
          <p:cNvSpPr/>
          <p:nvPr/>
        </p:nvSpPr>
        <p:spPr>
          <a:xfrm>
            <a:off x="5064900" y="3870125"/>
            <a:ext cx="1949400" cy="1162500"/>
          </a:xfrm>
          <a:prstGeom prst="roundRect">
            <a:avLst>
              <a:gd fmla="val 9073" name="adj"/>
            </a:avLst>
          </a:prstGeom>
          <a:noFill/>
          <a:ln cap="flat" cmpd="sng" w="9525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91" name="Google Shape;1791;p107"/>
          <p:cNvCxnSpPr>
            <a:stCxn id="1792" idx="6"/>
            <a:endCxn id="1793" idx="1"/>
          </p:cNvCxnSpPr>
          <p:nvPr/>
        </p:nvCxnSpPr>
        <p:spPr>
          <a:xfrm>
            <a:off x="3600725" y="4540666"/>
            <a:ext cx="1239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4" name="Google Shape;1794;p107"/>
          <p:cNvCxnSpPr>
            <a:stCxn id="1793" idx="3"/>
            <a:endCxn id="1795" idx="1"/>
          </p:cNvCxnSpPr>
          <p:nvPr/>
        </p:nvCxnSpPr>
        <p:spPr>
          <a:xfrm>
            <a:off x="5124738" y="4540666"/>
            <a:ext cx="457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6" name="Google Shape;1796;p107"/>
          <p:cNvCxnSpPr>
            <a:stCxn id="1797" idx="3"/>
            <a:endCxn id="1798" idx="1"/>
          </p:cNvCxnSpPr>
          <p:nvPr/>
        </p:nvCxnSpPr>
        <p:spPr>
          <a:xfrm>
            <a:off x="7414108" y="4540666"/>
            <a:ext cx="459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9" name="Google Shape;1799;p107"/>
          <p:cNvCxnSpPr>
            <a:stCxn id="1798" idx="3"/>
            <a:endCxn id="1800" idx="2"/>
          </p:cNvCxnSpPr>
          <p:nvPr/>
        </p:nvCxnSpPr>
        <p:spPr>
          <a:xfrm>
            <a:off x="8015583" y="4540666"/>
            <a:ext cx="4719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1" name="Google Shape;1801;p107"/>
          <p:cNvCxnSpPr>
            <a:stCxn id="1795" idx="3"/>
            <a:endCxn id="1802" idx="1"/>
          </p:cNvCxnSpPr>
          <p:nvPr/>
        </p:nvCxnSpPr>
        <p:spPr>
          <a:xfrm>
            <a:off x="5724438" y="4540666"/>
            <a:ext cx="457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3" name="Google Shape;1803;p107"/>
          <p:cNvCxnSpPr>
            <a:stCxn id="1802" idx="3"/>
            <a:endCxn id="1804" idx="1"/>
          </p:cNvCxnSpPr>
          <p:nvPr/>
        </p:nvCxnSpPr>
        <p:spPr>
          <a:xfrm>
            <a:off x="6324138" y="4540666"/>
            <a:ext cx="457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5" name="Google Shape;1805;p107"/>
          <p:cNvCxnSpPr>
            <a:stCxn id="1804" idx="3"/>
            <a:endCxn id="1797" idx="1"/>
          </p:cNvCxnSpPr>
          <p:nvPr/>
        </p:nvCxnSpPr>
        <p:spPr>
          <a:xfrm>
            <a:off x="6923838" y="4540666"/>
            <a:ext cx="3477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6" name="Google Shape;1806;p107"/>
          <p:cNvSpPr/>
          <p:nvPr/>
        </p:nvSpPr>
        <p:spPr>
          <a:xfrm>
            <a:off x="6016938" y="3984525"/>
            <a:ext cx="471900" cy="211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DNS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07" name="Google Shape;1807;p107"/>
          <p:cNvCxnSpPr>
            <a:stCxn id="1806" idx="2"/>
            <a:endCxn id="1802" idx="0"/>
          </p:cNvCxnSpPr>
          <p:nvPr/>
        </p:nvCxnSpPr>
        <p:spPr>
          <a:xfrm>
            <a:off x="6252888" y="4196325"/>
            <a:ext cx="0" cy="273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8" name="Google Shape;1808;p107"/>
          <p:cNvSpPr txBox="1"/>
          <p:nvPr/>
        </p:nvSpPr>
        <p:spPr>
          <a:xfrm>
            <a:off x="5065074" y="4745606"/>
            <a:ext cx="1949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E69138"/>
                </a:solidFill>
                <a:latin typeface="Roboto"/>
                <a:ea typeface="Roboto"/>
                <a:cs typeface="Roboto"/>
                <a:sym typeface="Roboto"/>
              </a:rPr>
              <a:t>ISP Network</a:t>
            </a:r>
            <a:endParaRPr sz="1200">
              <a:solidFill>
                <a:srgbClr val="E6913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9" name="Google Shape;1809;p107"/>
          <p:cNvSpPr txBox="1"/>
          <p:nvPr/>
        </p:nvSpPr>
        <p:spPr>
          <a:xfrm>
            <a:off x="7166800" y="4745606"/>
            <a:ext cx="168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Berkeley Network</a:t>
            </a:r>
            <a:endParaRPr sz="12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0" name="Google Shape;1810;p107"/>
          <p:cNvSpPr txBox="1"/>
          <p:nvPr/>
        </p:nvSpPr>
        <p:spPr>
          <a:xfrm>
            <a:off x="3210675" y="4745606"/>
            <a:ext cx="1689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Home Network</a:t>
            </a:r>
            <a:endParaRPr sz="12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2" name="Google Shape;1792;p107"/>
          <p:cNvSpPr/>
          <p:nvPr/>
        </p:nvSpPr>
        <p:spPr>
          <a:xfrm>
            <a:off x="3315725" y="43981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3" name="Google Shape;1793;p107"/>
          <p:cNvSpPr/>
          <p:nvPr/>
        </p:nvSpPr>
        <p:spPr>
          <a:xfrm>
            <a:off x="4839738" y="4398166"/>
            <a:ext cx="285000" cy="285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R1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0" name="Google Shape;1800;p107"/>
          <p:cNvSpPr/>
          <p:nvPr/>
        </p:nvSpPr>
        <p:spPr>
          <a:xfrm>
            <a:off x="8487625" y="4398166"/>
            <a:ext cx="285000" cy="2850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5" name="Google Shape;1795;p107"/>
          <p:cNvSpPr/>
          <p:nvPr/>
        </p:nvSpPr>
        <p:spPr>
          <a:xfrm>
            <a:off x="55819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2" name="Google Shape;1802;p107"/>
          <p:cNvSpPr/>
          <p:nvPr/>
        </p:nvSpPr>
        <p:spPr>
          <a:xfrm>
            <a:off x="61816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04" name="Google Shape;1804;p107"/>
          <p:cNvSpPr/>
          <p:nvPr/>
        </p:nvSpPr>
        <p:spPr>
          <a:xfrm>
            <a:off x="678133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7" name="Google Shape;1797;p107"/>
          <p:cNvSpPr/>
          <p:nvPr/>
        </p:nvSpPr>
        <p:spPr>
          <a:xfrm>
            <a:off x="7271608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98" name="Google Shape;1798;p107"/>
          <p:cNvSpPr/>
          <p:nvPr/>
        </p:nvSpPr>
        <p:spPr>
          <a:xfrm>
            <a:off x="7873083" y="4469416"/>
            <a:ext cx="142500" cy="1425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11" name="Google Shape;1811;p107"/>
          <p:cNvCxnSpPr/>
          <p:nvPr/>
        </p:nvCxnSpPr>
        <p:spPr>
          <a:xfrm>
            <a:off x="3480300" y="3617573"/>
            <a:ext cx="5187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2" name="Google Shape;1812;p107"/>
          <p:cNvSpPr txBox="1"/>
          <p:nvPr/>
        </p:nvSpPr>
        <p:spPr>
          <a:xfrm>
            <a:off x="3480425" y="3348475"/>
            <a:ext cx="49785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27425" lIns="27425" spcFirstLastPara="1" rIns="27425" wrap="square" tIns="27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TCP ACK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108"/>
          <p:cNvSpPr/>
          <p:nvPr/>
        </p:nvSpPr>
        <p:spPr>
          <a:xfrm>
            <a:off x="2370450" y="2929400"/>
            <a:ext cx="3779700" cy="14184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Operating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System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8" name="Google Shape;1818;p10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End-to-End Walkthrough – Operating System View</a:t>
            </a:r>
            <a:endParaRPr/>
          </a:p>
        </p:txBody>
      </p:sp>
      <p:sp>
        <p:nvSpPr>
          <p:cNvPr id="1819" name="Google Shape;1819;p108"/>
          <p:cNvSpPr txBox="1"/>
          <p:nvPr>
            <p:ph idx="1" type="body"/>
          </p:nvPr>
        </p:nvSpPr>
        <p:spPr>
          <a:xfrm>
            <a:off x="107050" y="402200"/>
            <a:ext cx="8909700" cy="16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Layer 1–2 are implemented on the Network Interface Card (NIC), in hardware.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Layers 3–4 are implemented in the operating system (OS), in software.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Layer 7 are the applications running on top of the OS, in software.</a:t>
            </a:r>
            <a:endParaRPr/>
          </a:p>
        </p:txBody>
      </p:sp>
      <p:sp>
        <p:nvSpPr>
          <p:cNvPr id="1820" name="Google Shape;1820;p108"/>
          <p:cNvSpPr/>
          <p:nvPr/>
        </p:nvSpPr>
        <p:spPr>
          <a:xfrm>
            <a:off x="3096300" y="4585400"/>
            <a:ext cx="2328000" cy="3936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Network Interface Card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1" name="Google Shape;1821;p108"/>
          <p:cNvSpPr/>
          <p:nvPr/>
        </p:nvSpPr>
        <p:spPr>
          <a:xfrm>
            <a:off x="3874650" y="37778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2" name="Google Shape;1822;p108"/>
          <p:cNvSpPr/>
          <p:nvPr/>
        </p:nvSpPr>
        <p:spPr>
          <a:xfrm>
            <a:off x="3288450" y="31046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TCP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3" name="Google Shape;1823;p108"/>
          <p:cNvSpPr/>
          <p:nvPr/>
        </p:nvSpPr>
        <p:spPr>
          <a:xfrm>
            <a:off x="4460850" y="31046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UDP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4" name="Google Shape;1824;p108"/>
          <p:cNvSpPr/>
          <p:nvPr/>
        </p:nvSpPr>
        <p:spPr>
          <a:xfrm>
            <a:off x="38746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Firefox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5" name="Google Shape;1825;p108"/>
          <p:cNvSpPr/>
          <p:nvPr/>
        </p:nvSpPr>
        <p:spPr>
          <a:xfrm>
            <a:off x="50470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Zoom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6" name="Google Shape;1826;p108"/>
          <p:cNvSpPr/>
          <p:nvPr/>
        </p:nvSpPr>
        <p:spPr>
          <a:xfrm>
            <a:off x="27022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Email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7" name="Google Shape;1827;p108"/>
          <p:cNvSpPr/>
          <p:nvPr/>
        </p:nvSpPr>
        <p:spPr>
          <a:xfrm>
            <a:off x="15298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Slack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8" name="Google Shape;1828;p108"/>
          <p:cNvSpPr/>
          <p:nvPr/>
        </p:nvSpPr>
        <p:spPr>
          <a:xfrm>
            <a:off x="6219450" y="2124200"/>
            <a:ext cx="771300" cy="3936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Game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9" name="Google Shape;1829;p108"/>
          <p:cNvSpPr txBox="1"/>
          <p:nvPr/>
        </p:nvSpPr>
        <p:spPr>
          <a:xfrm>
            <a:off x="297450" y="45821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Layers 1–2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0" name="Google Shape;1830;p108"/>
          <p:cNvSpPr txBox="1"/>
          <p:nvPr/>
        </p:nvSpPr>
        <p:spPr>
          <a:xfrm>
            <a:off x="297450" y="377450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3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1" name="Google Shape;1831;p108"/>
          <p:cNvSpPr txBox="1"/>
          <p:nvPr/>
        </p:nvSpPr>
        <p:spPr>
          <a:xfrm>
            <a:off x="297450" y="30996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4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32" name="Google Shape;1832;p108"/>
          <p:cNvSpPr txBox="1"/>
          <p:nvPr/>
        </p:nvSpPr>
        <p:spPr>
          <a:xfrm>
            <a:off x="297450" y="2135350"/>
            <a:ext cx="10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Layer 7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33" name="Google Shape;1833;p108"/>
          <p:cNvCxnSpPr>
            <a:stCxn id="1821" idx="0"/>
            <a:endCxn id="1822" idx="2"/>
          </p:cNvCxnSpPr>
          <p:nvPr/>
        </p:nvCxnSpPr>
        <p:spPr>
          <a:xfrm rot="10800000">
            <a:off x="3674100" y="3498200"/>
            <a:ext cx="586200" cy="27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4" name="Google Shape;1834;p108"/>
          <p:cNvCxnSpPr>
            <a:stCxn id="1821" idx="0"/>
            <a:endCxn id="1823" idx="2"/>
          </p:cNvCxnSpPr>
          <p:nvPr/>
        </p:nvCxnSpPr>
        <p:spPr>
          <a:xfrm flipH="1" rot="10800000">
            <a:off x="4260300" y="3498200"/>
            <a:ext cx="586200" cy="27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5" name="Google Shape;1835;p108"/>
          <p:cNvCxnSpPr>
            <a:stCxn id="1820" idx="0"/>
            <a:endCxn id="1821" idx="2"/>
          </p:cNvCxnSpPr>
          <p:nvPr/>
        </p:nvCxnSpPr>
        <p:spPr>
          <a:xfrm rot="10800000">
            <a:off x="4260300" y="4171400"/>
            <a:ext cx="0" cy="41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6" name="Google Shape;1836;p108"/>
          <p:cNvCxnSpPr>
            <a:stCxn id="1822" idx="0"/>
            <a:endCxn id="1827" idx="2"/>
          </p:cNvCxnSpPr>
          <p:nvPr/>
        </p:nvCxnSpPr>
        <p:spPr>
          <a:xfrm rot="10800000">
            <a:off x="1915500" y="2517800"/>
            <a:ext cx="1758600" cy="5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7" name="Google Shape;1837;p108"/>
          <p:cNvCxnSpPr>
            <a:stCxn id="1822" idx="0"/>
            <a:endCxn id="1826" idx="2"/>
          </p:cNvCxnSpPr>
          <p:nvPr/>
        </p:nvCxnSpPr>
        <p:spPr>
          <a:xfrm rot="10800000">
            <a:off x="3087900" y="2517800"/>
            <a:ext cx="586200" cy="5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8" name="Google Shape;1838;p108"/>
          <p:cNvCxnSpPr>
            <a:stCxn id="1822" idx="0"/>
            <a:endCxn id="1824" idx="2"/>
          </p:cNvCxnSpPr>
          <p:nvPr/>
        </p:nvCxnSpPr>
        <p:spPr>
          <a:xfrm flipH="1" rot="10800000">
            <a:off x="3674100" y="2517800"/>
            <a:ext cx="586200" cy="5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9" name="Google Shape;1839;p108"/>
          <p:cNvCxnSpPr>
            <a:stCxn id="1823" idx="0"/>
            <a:endCxn id="1825" idx="2"/>
          </p:cNvCxnSpPr>
          <p:nvPr/>
        </p:nvCxnSpPr>
        <p:spPr>
          <a:xfrm flipH="1" rot="10800000">
            <a:off x="4846500" y="2517800"/>
            <a:ext cx="586200" cy="5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0" name="Google Shape;1840;p108"/>
          <p:cNvCxnSpPr>
            <a:stCxn id="1823" idx="0"/>
            <a:endCxn id="1828" idx="2"/>
          </p:cNvCxnSpPr>
          <p:nvPr/>
        </p:nvCxnSpPr>
        <p:spPr>
          <a:xfrm flipH="1" rot="10800000">
            <a:off x="4846500" y="2517800"/>
            <a:ext cx="1758600" cy="58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10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End-to-End Walkthrough – Operating System View</a:t>
            </a:r>
            <a:endParaRPr/>
          </a:p>
        </p:txBody>
      </p:sp>
      <p:sp>
        <p:nvSpPr>
          <p:cNvPr id="1846" name="Google Shape;1846;p109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Step 1: DHCP.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Done in the operating system (OS). Application (browser) doesn't need to know.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Step 2: ARP.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 done in the OS.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Step 3: DNS lookup.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Browser calls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getaddrinfo</a:t>
            </a:r>
            <a:r>
              <a:rPr lang="en"/>
              <a:t> to make the OS perform the lookup.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Step 4: Connect to website.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Browser opens a TCP connection.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Browser sends HTTP requests and receives HTTP responses over the bytestream.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OS implements TCP, e.g. splitting/reordering packets.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11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Socket API</a:t>
            </a:r>
            <a:endParaRPr/>
          </a:p>
        </p:txBody>
      </p:sp>
      <p:sp>
        <p:nvSpPr>
          <p:cNvPr id="1852" name="Google Shape;1852;p11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socket</a:t>
            </a:r>
            <a:r>
              <a:rPr lang="en"/>
              <a:t> abstraction lets programmers interact with the network.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Create</a:t>
            </a:r>
            <a:r>
              <a:rPr lang="en"/>
              <a:t>: Constructor for a new socket object.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Connect</a:t>
            </a:r>
            <a:r>
              <a:rPr lang="en"/>
              <a:t>: Initiate a TCP connection.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Listen</a:t>
            </a:r>
            <a:r>
              <a:rPr lang="en"/>
              <a:t>: Allows others to connect to us on a specific port.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Write</a:t>
            </a:r>
            <a:r>
              <a:rPr lang="en"/>
              <a:t>: Send bytes into the bytestream.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Read</a:t>
            </a:r>
            <a:r>
              <a:rPr lang="en"/>
              <a:t>: Read </a:t>
            </a:r>
            <a:r>
              <a:rPr i="1" lang="en"/>
              <a:t>N</a:t>
            </a:r>
            <a:r>
              <a:rPr lang="en"/>
              <a:t> bytes from the bytestream.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OS associates each socket with a port number.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OS uses port number to send incoming packets to the correct socket.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Note: Sockets exist entirely in software.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11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Viewing Packets</a:t>
            </a:r>
            <a:endParaRPr/>
          </a:p>
        </p:txBody>
      </p:sp>
      <p:sp>
        <p:nvSpPr>
          <p:cNvPr id="1858" name="Google Shape;1858;p111"/>
          <p:cNvSpPr txBox="1"/>
          <p:nvPr>
            <p:ph idx="1" type="body"/>
          </p:nvPr>
        </p:nvSpPr>
        <p:spPr>
          <a:xfrm>
            <a:off x="107050" y="402200"/>
            <a:ext cx="8909700" cy="108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You can use programs like tshark and wireshark to look at packets.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Often real-world complexities like TLS, or HTTP/3.0 over QUIC.</a:t>
            </a:r>
            <a:endParaRPr/>
          </a:p>
        </p:txBody>
      </p:sp>
      <p:pic>
        <p:nvPicPr>
          <p:cNvPr id="1859" name="Google Shape;1859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1225" y="1657800"/>
            <a:ext cx="4984757" cy="3113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1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Revisiting Layering</a:t>
            </a:r>
            <a:endParaRPr/>
          </a:p>
        </p:txBody>
      </p:sp>
      <p:sp>
        <p:nvSpPr>
          <p:cNvPr id="1865" name="Google Shape;1865;p11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Layering gives us a powerful way to solve specific problems, without exposing everyone to the complexity of solving them.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didn't discuss the electrical engineering and physics at Layer 1.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we relied on Layer 1 working when discussing higher layers.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Layering lets us evolve networking for new applications.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11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Revisiting Layering</a:t>
            </a:r>
            <a:endParaRPr/>
          </a:p>
        </p:txBody>
      </p:sp>
      <p:sp>
        <p:nvSpPr>
          <p:cNvPr id="1871" name="Google Shape;1871;p113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build more layers on top of Layer 7.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applications build the same things on top of HTTP.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Multiplexing multiple data retrievals on the same HTTP connection.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Bi-directionally streaming data between a client and a server.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Common frameworks exist, so you don't always have to start from basic HTTP.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Remote Procedure Call (RPC) libraries.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RPC: Call a function that runs on a remote computer.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Examples: Apache Thrift, gRPC.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Allows us to build applications without repeating ourselves.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11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Revisiting Layering</a:t>
            </a:r>
            <a:endParaRPr/>
          </a:p>
        </p:txBody>
      </p:sp>
      <p:sp>
        <p:nvSpPr>
          <p:cNvPr id="1877" name="Google Shape;1877;p11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Layering allows us to abstract away lower-level details.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to say hello to a remote server is two function calls!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Did not need to think about: Addressing, headers, DNS, TCP, HTTP, gRPC, etc.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func main() {</a:t>
            </a:r>
            <a:endParaRPr sz="13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	flag.Parse()</a:t>
            </a:r>
            <a:endParaRPr sz="13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	// Set up a connection to the server.</a:t>
            </a:r>
            <a:endParaRPr sz="13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	conn, err := </a:t>
            </a:r>
            <a:r>
              <a:rPr b="1" lang="en" sz="13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grpc.Dial(*addr, grpc.WithTransportCredentials(insecure.NewCredentials()))</a:t>
            </a:r>
            <a:endParaRPr b="1" sz="13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	if err != nil { log.Fatalf("did not connect: %v", err) }</a:t>
            </a:r>
            <a:endParaRPr sz="13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	defer conn.Close()</a:t>
            </a:r>
            <a:endParaRPr sz="13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	c := pb.NewGreeterClient(conn)</a:t>
            </a:r>
            <a:endParaRPr sz="13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	// Contact the server and print out its response.</a:t>
            </a:r>
            <a:endParaRPr sz="13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	ctx, cancel := context.WithTimeout(context.Background(), time.Second)</a:t>
            </a:r>
            <a:endParaRPr sz="13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	defer cancel()</a:t>
            </a:r>
            <a:endParaRPr sz="13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	r, err := </a:t>
            </a:r>
            <a:r>
              <a:rPr b="1" lang="en" sz="13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c.SayHello(ctx, &amp;pb.HelloRequest{Name: *name})</a:t>
            </a:r>
            <a:endParaRPr b="1" sz="13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	if err != nil { log.Fatalf("could not greet: %v", err)	}</a:t>
            </a:r>
            <a:endParaRPr sz="13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	log.Printf("Greeting: %s", r.GetMessage())</a:t>
            </a:r>
            <a:endParaRPr sz="1300">
              <a:solidFill>
                <a:srgbClr val="CCCCC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cxnSp>
        <p:nvCxnSpPr>
          <p:cNvPr id="1878" name="Google Shape;1878;p114"/>
          <p:cNvCxnSpPr>
            <a:stCxn id="1879" idx="0"/>
          </p:cNvCxnSpPr>
          <p:nvPr/>
        </p:nvCxnSpPr>
        <p:spPr>
          <a:xfrm rot="10800000">
            <a:off x="7120750" y="2726850"/>
            <a:ext cx="649800" cy="1223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9" name="Google Shape;1879;p114"/>
          <p:cNvSpPr txBox="1"/>
          <p:nvPr/>
        </p:nvSpPr>
        <p:spPr>
          <a:xfrm>
            <a:off x="6651250" y="3950550"/>
            <a:ext cx="223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Programmer can ignore everything at lower layers, and focus on their own application logic.</a:t>
            </a:r>
            <a:endParaRPr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0" name="Google Shape;1880;p114"/>
          <p:cNvCxnSpPr>
            <a:stCxn id="1879" idx="1"/>
          </p:cNvCxnSpPr>
          <p:nvPr/>
        </p:nvCxnSpPr>
        <p:spPr>
          <a:xfrm rot="10800000">
            <a:off x="5830750" y="4124700"/>
            <a:ext cx="820500" cy="349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