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</p:sldIdLst>
  <p:sldSz cy="5143500" cx="9144000"/>
  <p:notesSz cx="6858000" cy="9144000"/>
  <p:embeddedFontLst>
    <p:embeddedFont>
      <p:font typeface="Roboto Medium"/>
      <p:regular r:id="rId93"/>
      <p:bold r:id="rId94"/>
      <p:italic r:id="rId95"/>
      <p:boldItalic r:id="rId96"/>
    </p:embeddedFont>
    <p:embeddedFont>
      <p:font typeface="Roboto"/>
      <p:regular r:id="rId97"/>
      <p:bold r:id="rId98"/>
      <p:italic r:id="rId99"/>
      <p:boldItalic r:id="rId100"/>
    </p:embeddedFont>
    <p:embeddedFont>
      <p:font typeface="Roboto Light"/>
      <p:regular r:id="rId101"/>
      <p:bold r:id="rId102"/>
      <p:italic r:id="rId103"/>
      <p:boldItalic r:id="rId10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DF56E96-C611-46F5-A6CB-BA45FF09DDB4}">
  <a:tblStyle styleId="{EDF56E96-C611-46F5-A6CB-BA45FF09DD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4" Type="http://schemas.openxmlformats.org/officeDocument/2006/relationships/font" Target="fonts/RobotoLight-boldItalic.fntdata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font" Target="fonts/RobotoLight-italic.fntdata"/><Relationship Id="rId102" Type="http://schemas.openxmlformats.org/officeDocument/2006/relationships/font" Target="fonts/RobotoLight-bold.fntdata"/><Relationship Id="rId101" Type="http://schemas.openxmlformats.org/officeDocument/2006/relationships/font" Target="fonts/RobotoLight-regular.fntdata"/><Relationship Id="rId100" Type="http://schemas.openxmlformats.org/officeDocument/2006/relationships/font" Target="fonts/Roboto-boldItalic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font" Target="fonts/RobotoMedium-italic.fntdata"/><Relationship Id="rId94" Type="http://schemas.openxmlformats.org/officeDocument/2006/relationships/font" Target="fonts/RobotoMedium-bold.fntdata"/><Relationship Id="rId97" Type="http://schemas.openxmlformats.org/officeDocument/2006/relationships/font" Target="fonts/Roboto-regular.fntdata"/><Relationship Id="rId96" Type="http://schemas.openxmlformats.org/officeDocument/2006/relationships/font" Target="fonts/RobotoMedium-boldItalic.fntdata"/><Relationship Id="rId11" Type="http://schemas.openxmlformats.org/officeDocument/2006/relationships/slide" Target="slides/slide5.xml"/><Relationship Id="rId99" Type="http://schemas.openxmlformats.org/officeDocument/2006/relationships/font" Target="fonts/Roboto-italic.fntdata"/><Relationship Id="rId10" Type="http://schemas.openxmlformats.org/officeDocument/2006/relationships/slide" Target="slides/slide4.xml"/><Relationship Id="rId98" Type="http://schemas.openxmlformats.org/officeDocument/2006/relationships/font" Target="fonts/Robot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font" Target="fonts/RobotoMedium-regular.fntdata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atatracker.ietf.org/doc/html/rfc4271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atatracker.ietf.org/doc/html/rfc4271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atatracker.ietf.org/doc/html/rfc4271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atatracker.ietf.org/doc/html/rfc4271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atatracker.ietf.org/doc/html/rfc4271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atatracker.ietf.org/doc/html/rfc4271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ons.wikimedia.org/wiki/File:PNGedUSoutline.png" TargetMode="Externa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ons.wikimedia.org/wiki/File:PNGedUSoutline.png" TargetMode="Externa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ons.wikimedia.org/wiki/File:PNGedUSoutline.png" TargetMode="Externa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ons.wikimedia.org/wiki/File:PNGedUSoutline.png" TargetMode="Externa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ons.wikimedia.org/wiki/File:PNGedUSoutline.png" TargetMode="Externa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ons.wikimedia.org/wiki/File:PNGedUSoutline.png" TargetMode="Externa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ons.wikimedia.org/wiki/File:PNGedUSoutline.png" TargetMode="Externa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ons.wikimedia.org/wiki/File:PNGedUSoutline.png" TargetMode="Externa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ons.wikimedia.org/wiki/File:PNGedUSoutline.png" TargetMode="Externa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ons.wikimedia.org/wiki/File:PNGedUSoutline.png" TargetMode="Externa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ons.wikimedia.org/wiki/File:PNGedUSoutline.png" TargetMode="Externa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ons.wikimedia.org/wiki/File:PNGedUSoutline.png" TargetMode="Externa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a07261ad5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ea07261ad5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Last routing lecture! Last lecture with midterm material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ea07261ad5_0_27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ea07261ad5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we'll be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discussing bgp implementation and the IP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header so it's a two-part lecture let's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start by talking about how bgp 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actually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implemented so far we've talked about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bgp at a conceptual level and we've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thought about the autonomous system as 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single unit and it talks with other as's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ea07261ad5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ea07261ad5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far you've seen graphs like this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where as's talk to other as's and they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exchange routes between each other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however as we know the internet 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really a network of networks so what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means is within each as there's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actually all these different routers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our goal today when implementing bgp 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figure out what these routers do 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they all act as one single unit 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our conceptual picture the as was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just a single unit and it thought for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itself and made some decisions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ea07261ad5_0_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ea07261ad5_0_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today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will see how all of these routers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actually work together to act as 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single brain doing the things that this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as needs to do exchanging routes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exporting them importing them so our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goal is to get all of these routers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coordinate with each other in some way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that they all act as one single brain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when it comes to bgp and interdomain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routing we're also going to see how bgp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combines with intra domain routing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those are the protocols like distance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vector and Link State and when you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combine both of those protocols we'll be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able to find routes to any destination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the entire internet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ea07261ad5_0_7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ea07261ad5_0_7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before we get started let's go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through some terms one term that you'll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see is a border router these are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routers that have links to other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autonomous systems so in this picture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routers a B and G are border routers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because they have links to routers 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other autonomous systems by contrast an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interior router is only linked to other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routers inside the same as so in this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picture c d e and f are the interior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routers because they do not have links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outside and other as's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ea07261ad5_0_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ea07261ad5_0_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RFC for BGP is here if you're curious: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https://datatracker.ietf.org/doc/html/rfc4271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another term that you'll see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2:25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throughout today is bgp Speaker you can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2:29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think of the GP speakers as the routers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are speaking on behalf of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current as and advertising paths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other as's so remember the goal is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have all of these routers work together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as a single unit and the way that they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will do that is routers a B and G will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 the bgp speakers and they will talk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 behalf of as number one sending out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advertisements and receiving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advertisements from the neighboring as's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bgp speakers need to also understand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bgp protocol we have to add extra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code inside of these routers so that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they understand how to exchange routes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with other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as's so in summary the bgp speakers are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Border routers inside each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ea07261ad5_0_8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2ea07261ad5_0_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RFC for BGP is here if you're curious: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https://datatracker.ietf.org/doc/html/rfc4271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one note that you might have already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seen from the last lecture but we want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mention it one more time is that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stub as is an as that only has a single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provider it's kind of like the as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equivalent of a host in intra domain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routing so remember when we talked about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routing inside of a network we said that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hosts don't participate in routing they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simply send packets to their next top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 and the next top router handles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packet for them well similarly if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have a stub as the stub as doesn't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have to participate in routing it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doesn't have to learn any paths 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exchange any advertisements it simply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sends every packet that it wants to send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its one and only provider and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provider does all the work for them 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4:10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as a result the stub as's don't have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4:13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speak bgp they don't have to participate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4:15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the routing protocol all that they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4:18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have to do is send all packets to their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4:20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one and only provider as a default route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4:23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they're all done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ea07261ad5_0_8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ea07261ad5_0_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RFC for BGP is here if you're curious: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https://datatracker.ietf.org/doc/html/rfc4271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bgp session 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4:39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bgp session is a longlived connection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4:42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between two routers that will want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4:44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exchange bgp information between each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4:47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other any two routers can form a bgp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4:50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session and that will be a longlived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4:53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connection where they can exchange lots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4:55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of information about routes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4:57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advertisements anything like that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5:00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bgp sessions can be formed between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5:02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adjacent routers so for example A and 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5:05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might form a longlived bgp connection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5:08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where they send packets between each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5:09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other but you can also form bgp sessions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5:12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between routers that are further away 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5:15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 example A and G could form a bgp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5:18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session they would forward packets back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5:20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forth between each other and it's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5:22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true that the packets would have to take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5:24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multiple hops to get from a to G but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5:27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ultimately that is still a bgp session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5:30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think of it like a long lift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5:31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connection sort of like the connections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5:34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at layers 4 and seven but instead of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5:36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sending user data they are sending bgp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information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ea07261ad5_0_9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ea07261ad5_0_9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RFC for BGP is here if you're curious: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https://datatracker.ietf.org/doc/html/rfc4271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actually implement bgp we are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going to need two types of sessions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these two sessions together will help us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ensure that all of these routers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coordinate to give the illusion that as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number one is working as a single brain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even though it's made up of lots of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separate routers the first type of bgp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session is called external bgp session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these are the sessions where routers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different as's exchange paths between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each other so the arrows in blue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represent external bgp sessions for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example there might be a session between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 and some router in as number five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they're talking to each other across two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different as's and they're exchanging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routes between each other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ea07261ad5_0_10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2ea07261ad5_0_1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RFC for BGP is here if you're curious: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https://datatracker.ietf.org/doc/html/rfc4271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if only G knows about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path to Z that is not enough because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remember there are all these routers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inside as number one one and we want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them to act as one cohesive unit so what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means is if G learns a piece of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information in order for everyone to act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as one cohesive unit G needs to share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information with the class it needs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stand up and tell everyone else in as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number one hey everyone I just found 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way to reach G sorry I found a way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reach Z that's what G says and so if 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stands up and announces this information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everyone now everyone in the as also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knows about the way to reach Z and all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of them are working in sync so in order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 everyone to be coherent and cohesive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when someone learns about a path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another as they need to stand up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announce it to the rest of the class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way that we do that is using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internal bgp or ibgp sessions these are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2:23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sessions that happen between two routers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2:25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the same autonomous system and these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2:28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allow the Border routers to distribute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routes that they have learned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everyone else inside the as so you use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ebgp for the Border routers to learn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 and then you use ibgp to announce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your findings to the whole class so that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everyone inside the as is working as one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cohesive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unit so those are the two types of bgp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sessions that can be formed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ea07261ad5_0_1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2ea07261ad5_0_1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RFC for BGP is here if you're curious: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https://datatracker.ietf.org/doc/html/rfc4271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 careful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not to confuse them with igp because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because igp is the interior Gateway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protocol these are the ones that allow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to find paths inside of the as 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remember when we talked about distance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vector and Link State protocols those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were igp protocols they allow you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find paths inside of the network so here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we're drawing the arrows in red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denote that these are the routing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advertisements that would get exchanged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that you learn paths inside of your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network so bgp was used to learn paths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outside of the network and igp is used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learn paths inside of the network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distinction still applies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2ea07261ad5_0_1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2ea07261ad5_0_1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all of the pieces together we have 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taxonomy that looks something like this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there are two types of routing protocols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there's the interdomain protocol for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finding external routes and the int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domain protocol for finding internal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routes the intro domain protocol that's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igp that's distance Vector link state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allows you to find the next Toops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inside of the current Network and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inter domain protocol is bgp for finding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routes outside of the network and that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4:10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consists of two parts ebgp for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4:13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Border routers to learn the routes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4:15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 ibgp to distribute those routes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2ea07261ad5_0_1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2ea07261ad5_0_1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let's look at how you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use all three of them together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combine intra domain and Inter domain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routing to achieve paths to every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destination internal or external now do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remember that routing Protocols are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always constantly running and converging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Recon converging so technically 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not an order to how you run these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protocols but for Simplicity let's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consider them one at a time so the first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one we'll consider is igp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2ea07261ad5_0_1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2ea07261ad5_0_1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learn external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destinations we have to use bgp and bgp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now know is a two-step process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first step is to use ebgp for the Border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routers to discover external routes 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think of this as a B and G talking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outside world and learning external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routes for example G the Border router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might have learned that there is a path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to Z via as number 5 so the Border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routers learn about some external routes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but remember that it's not enough for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Border routers to know these routes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need everyone in the as to know about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these routes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2ea07261ad5_0_1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2ea07261ad5_0_1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last step is to use ibgp to take those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EXT dnal routes that were learned by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border routers and share them with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whole class so for example G will tell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whole class hey everyone I learned 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way to reach Z so if you ever want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reach Z come talk to me and I will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forward the packet to Z for you that 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something that ibgp can announce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notice that router e can now write that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2:21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information down router e writes down if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2:24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 ever want to talk to Z my buddy 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2:27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apparently knows how to reach Z so if 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ever want to talk to Z I will talk to my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buddy G and they will forward the packet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 me that is a route learned via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ibgp so in summary you use igp to learn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internal routes ebgp allows the Border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routers to learn the external routes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 ibgp allows everyone to learn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external routes because the Border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 announces it to the whole class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that's what the picture looks like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when you put all the pieces together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ea07261ad5_0_20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ea07261ad5_0_2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also introduces a term that you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haven't seen before called egress router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an egress router is like the way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exit the current as to reach an external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destination so if we look at the entry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e wrote down as a result of ibgp 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wrote down if I ever want to talk to Z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person I should talk to is G because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they can forward packets outside of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current Network and closer to Z so 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other words G is the egress router for z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 is the way that you exit the current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Network to get closer to Z so the egress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routers are the Border routers you have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 choice between a B and G in this case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 is the egress router that you use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exit the network and get closer to Z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 example B would be the egress router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I want to send packets to as number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two those packets would exit the current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network via B so everyone remembers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egress routers for various destinations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2ea07261ad5_0_20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2ea07261ad5_0_2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our routing tables will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actually now be two Separate Tables we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will have an igp table and that's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one you've already seen from distance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vector or link state that Maps each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internal destination to a next toop it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says something like if you want to reach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internal destination H please send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packets to the next toop of e so it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tells me the direct next toop for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internal destinations the bgp table this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is the new one and the difference here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is we are now listing external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destinations ones outside of the network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instead of listing a direct next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toop we instead list the egress router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write down which exit do we take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leave the current Network and get closer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that external destination one thing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note is that the egress router does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not need to be a direct neighbor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that's actually okay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2ea07261ad5_0_2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2ea07261ad5_0_2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it obvious I ran out of letters.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for example 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picture notice that e writes down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the exit to reach Z is G and G 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not a direct neighbor of e but that's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okay the egress router does not have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 one of your direct neighbors you just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have to write down where you are exiting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network to get closer to the Final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Destination so those are the two two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tables we are going to use and you can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combine using them to find destinations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the next tops for any destination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you want so if you want to find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next toop for an internal destination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that's simple you just use the igp table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look up the next top just like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you've been doing for distance vector 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link state for external destinations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it's a two-step process First Look up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exit using the bgp table it tells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what egress router to use to exit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network and get closer to your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current destination and that erress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 might not be directly connected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you and because that egress router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might not be directly connected to you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 use the igp table to find the next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top to get closer to the exit so the two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steps are where is the exit and what 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2:21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next top to get closer to the exit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2ea07261ad5_0_2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2ea07261ad5_0_2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it obvious I ran out of letters.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let's say you are router D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want to send packets somewhere well then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what you can do is use one of these two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tables and maybe both of them to find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next top for any possible packet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someone sends to you notice that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internal destination table Maps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internal destinations b w x y g those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are all destinations inside of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current Network and those are all mapped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direct next Toops c e or a by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contrast the external destination table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is describing external destinations like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 v and z in other networks and there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instead of writing direct next Toops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we're writing the exit routers and some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of the exit routers like B and G are not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directly connected to us but that's okay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we're writing down the exit routers even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they are far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away so how do you use these tables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let's say I want to send a packet to V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well the first thing I notice V is not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 internal destination it's an external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one so I go into my external destination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table and I look up the way to exit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get closer to V it turns out that b 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egress router that I should use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exit the network and get closer to V 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other words to get closer to V I must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exit via B that's what I learned from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bgp table unfortunately B is not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directly connected to me so I can't just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forward this to B right away I need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figure out how do I get this packet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closer to the exit closer to B to do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I look in my internal destination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4:11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table and it says that the next hop to 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4:15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is C that's using the internal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4:18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destination table because B is an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4:20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internal destination so using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4:23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internal destination table I realized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4:25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the way to get closer to the exit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4:28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is to forward the table to 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2ea07261ad5_0_2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2ea07261ad5_0_2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one final note about ibgp and ebgp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before we move on is how ibgp 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actually implemented so far we've been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describing it very conceptually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we've said if a border router like 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learns a way to reach Z what it should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do is just stand up and announce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everyone else in the as that there is 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way to reach C and if you want to reach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 if you want to reach Z please exit via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 that's what we're doing so far when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learn a route and you're a border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 stand up announce it to the whole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class how do you actually do that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there's lots of different approaches you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can look up something called route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reflectors if you want to find a more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sophisticated approach but let's use 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relatively simple one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2ea07261ad5_0_2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2ea07261ad5_0_2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our approach 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going to be to run an ibgp session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between every pair of routers remember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an ibgp session is two routers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constantly communicating data between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each other so for example we can start 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session between G and a and another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session between G and B and another one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between G and C G and D G and E GN F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when you want to announce something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class you send a packet to a you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send one to B you send one to C another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one to D another one to e and another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one to F so G is going to send six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separate packets in order to announce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new information to the six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different routers in the as this works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 doesn't scale terribly well because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 requires having a lot of bgp sessions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fact you need one between every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border router and everyone else so 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would need sessions with everyone else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B would also need sessions for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everyone else on a larger Network this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could present scaling issues but that's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simple approach that we will use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remember that when you create an ibgp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session you were not building a new link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between G and a you are just saying that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 and a are going to exchange data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data that they exchange still has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travel multiple hops so for example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 to a packet would travel g f e d a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 G sends a separate packet to 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which travels the path g f e c b and 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2:21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 and so forth so there's no new links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2ea07261ad5_0_246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2ea07261ad5_0_2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let's talk about installing multiple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links between a pair of as's and how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changes some of the assumptions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we've seen so far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2ea07261ad5_0_2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2ea07261ad5_0_2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consider these two as's Verizon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AT&amp;T they are very big as's they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span the entire country and let's say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there's only one link between them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link is on the west coast of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United States between a and F so because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there's only one link between these as's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it's on the west coast this means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if e wants to send a message to J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way that it would do so is actually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send the packet all the way across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country to a and then a will forward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 to F in AT&amp;T's network and then f 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going to have to forward the packet all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way back across the country to J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is quite wasteful this packet 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taking an unnecessarily long route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 wastes the resources of Verizon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AT&amp;T because they have to carry this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packet all the way across the country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then all the way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back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2ea07261ad5_0_2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2ea07261ad5_0_2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 better approach would be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actually have two links between this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pair of as's so there's one link on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west coast and one link on the east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coast and now if e and J want to talk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each other we no longer have to send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packet all the way across the country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back so this is a better approach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but do notice that we are now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introducing something we haven't seen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before these are two as's and we've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drawn two parallel lines between them 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unlike all the pictures so far where any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pair of as's are connected by just 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single line there could now be a case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where I draw two parallel lines between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as number 3 and as number four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that's going to introduce some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tiebreaking scenarios that we haven't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seen before namely which of those two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links do you use they look the same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they're two lines between the same pair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of as's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2ea07261ad5_0_2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2ea07261ad5_0_2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existence of multiple links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between as's creates some tiebreaking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scenarios that we haven't seen before if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think about the conceptual picture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 bgp from last time we were always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thinking at the as level we were drawing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out paths between as's and we would draw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path that says something like 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number three to as number 10 to Asos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number 25 you'd write out the path as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list of as's the problem is if you have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two parallel links between two as's well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then the path that you create looks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same if you're thinking at the as level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for example if there's two parallel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links between A&amp;T and Verizon which link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use is indifferent at the as level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create the same as path so for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 if Verizon is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customer both of these links point at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customer if Verizon is a peer both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these links point at appear because they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are pointing at the same as so you can't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 the xer rules to pick the customer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over the pier since the links 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between the same pair of as's it's going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say customer customer or peer peer 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provider provider you can't use the gxf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rules to help you tiebreak so we need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additional tie Breakers to help 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2ea07261ad5_0_26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2ea07261ad5_0_2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first tiebreak we'll see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something called Hot Potato routing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this example let's say x wants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send packets to Y and it turns out there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are two paths that the packet can take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from the as perspective they look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identical they go from AT&amp;T to Verizon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we need to use a tiebreaking scheme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decide which path we like better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 AT&amp;T let's say you're router 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inside of AT&amp;T's network and you need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forward this packet how should you do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 you want to forward the packet along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Gold Path or the pink one well let's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think in terms of AT&amp;T AT&amp;T is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it likes making money and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doesn't like wasting money when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doesn't have to if we allow this packet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take the path in Gold we are dumping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packet off to Verizon and forcing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Verizon to carry the packet most of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way so if you imagine these networks 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spanning the entire country then what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would happen in the Gold Path is we give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packet to Verizon in San Francisco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we force Verizon to carry the packet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 the way across the country to New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York by contrast in the pink path AT&amp;T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doing most of the work AT&amp;T is using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its own resources and paying to carry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packet all the way across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country to New York and only dumping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 off to Verizon once it reaches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New York so if you're AT&amp;T you prefer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Gold Path because it's cheaper for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2ea07261ad5_0_26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2ea07261ad5_0_2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way that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actually Implement Hot Potato routing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find the nearest exit if there 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multiple exits to the same as so in this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case f and I are both exits to Verizon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if we're router e we prefer for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closer one because that allows us to get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rid of the packet and make someone else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namely Verizon do all of the work so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might look something like this first we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 ebgp to learn about the routes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Verizon A and D both announce that they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 reach Y and that information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propagates to AT&amp;T so F and I both know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they can now reach y but it's not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enough for f and I to know they also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to announce their findings to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rest of the class using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ibgp so F and I both use ibgp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announce to everyone hey everyone inside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 AT&amp;T I have a path to Y so if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want to forward packets to Y you can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send them to me f and I'll dump them off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you or you can send the packets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 I and router I will forward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packets to Y for you so both of them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announc that they can reach y and e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now aware of both exits e knows that 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a valid exit to Y and I is also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valid exit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 so now when e receives a packet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destined for y it can choose either f 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3:43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 as a valid exit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2ea07261ad5_0_27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2ea07261ad5_0_2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2ea07261ad5_0_29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2ea07261ad5_0_29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2ea07261ad5_0_30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4" name="Google Shape;1234;g2ea07261ad5_0_30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from AT&amp;T's perspective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both of these routes are equally good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now let's think about Verizon if you're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Verizon do you have a preference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which path it takes the gold one or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pink one well you sure do if you're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Verizon you have the same business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incentive of not using resources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carry this packet so if you're a Verizon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don't like this Gold Path because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requires you to send the packet all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way across the country you really prefer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pink path so what we can do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resolve this type breaker because AT&amp;T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has no preference we're going to ask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Verizon for its opinions and let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Verizon's preferences take over so when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AT&amp;T doesn't have its own preference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we're going to ask Verizon what its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preference is and follow what Verizon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says in order to encode Verizon's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preference that it prefers the pink path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over the Gold Path Verizon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advertisements will now contain an extra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value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2ea07261ad5_0_3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2ea07261ad5_0_3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2ea07261ad5_0_3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6" name="Google Shape;1306;g2ea07261ad5_0_3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g2ea07261ad5_0_3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2" name="Google Shape;1342;g2ea07261ad5_0_3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2ea07261ad5_0_3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8" name="Google Shape;1378;g2ea07261ad5_0_3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2ea07261ad5_0_3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4" name="Google Shape;1414;g2ea07261ad5_0_3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g2ea07261ad5_0_3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0" name="Google Shape;1420;g2ea07261ad5_0_3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ea07261ad5_0_3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ea07261ad5_0_3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g2ea07261ad5_0_3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1" name="Google Shape;1491;g2ea07261ad5_0_3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g2ea07261ad5_0_3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7" name="Google Shape;1527;g2ea07261ad5_0_3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g2ea07261ad5_0_343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1" name="Google Shape;1561;g2ea07261ad5_0_3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now have all the pieces we need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implement bgp with multiple routers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inside of an as working together as 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cohesive brain but everything we've done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far is in English and using speech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bubbles so for example we had pictures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like this or we said send it this way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further eress router but of course real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life routers cannot use speech bubbles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communicate and they cannot write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plain English so the final thing we need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do is Implement all of our policies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actual 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g2ea07261ad5_0_3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8" name="Google Shape;1568;g2ea07261ad5_0_3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to do that we're going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need to specify the syntax and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semantics of pgp remember that protocols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require syntax and semantics the syntax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tells us what the ones and zeros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represents and the semantics tell 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to do when we receive a message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now we're going to focus on how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actually write bgp syntax how do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write these messages that we've been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writing in plain English in actual ones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zeros to do so we need to Define bgp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message types these are the messages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the routers exchange during bgp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there are four types we'll just focus 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 but do know that other message types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exist there's the open message for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starting bgp sessions the keep aive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message for maintaining a bgp session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it's like when you're talking on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phone and neither person is talking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might occasionally want to say hey I'm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still here don't hang up yet we might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more to say there's also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somewhat strangely named notification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message for errors I don't know why they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called it that but as far as I can tell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is for processing errors but we're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going to focus on the update message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because the update message is how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encode the announcements so all of those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announcements that we've been seeing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ebgp ibgp sharing with the class all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those are bgp announcements and they're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going to be encoded in bgp update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messages so that's what we're going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look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g2ea07261ad5_0_3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4" name="Google Shape;1574;g2ea07261ad5_0_3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bgp update messages how do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actually encode them every bgp update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message will first have a destination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prefix indicating what destination we're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talking about so every advertisement has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say something like I can reach Z or 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 reach V or I can reach 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is the destination prefix that we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to include but of course instead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saying Z or w we actually use IP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prefixes so the destination prefix might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 something like 1 19211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12.0.0 sl16 it's a range of IP addresses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like we've already seen and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indicates what destination you 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announcing that you can reach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addition to the destination prefix we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will also include include one or more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 attributes and this incudes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additional information that we've been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talking about things like the path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packet will take or the me value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those are going to be encoded in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 attributes you can think of these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like name value pairs like a python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dictionary where the name tells us what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attribute is and the value tells 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actual value of the attribute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particular advertisement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g2ea07261ad5_0_3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0" name="Google Shape;1580;g2ea07261ad5_0_3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2ea07261ad5_0_3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" name="Google Shape;1595;g2ea07261ad5_0_3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g2ea07261ad5_0_3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2" name="Google Shape;1622;g2ea07261ad5_0_3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g2ea07261ad5_0_3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6" name="Google Shape;1656;g2ea07261ad5_0_3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g2ea07261ad5_0_361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2" name="Google Shape;1662;g2ea07261ad5_0_3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g2ea07261ad5_0_3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9" name="Google Shape;1669;g2ea07261ad5_0_3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wrap up bgp let's talk about some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issues with it so it turns out bgp is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remarkably good protocol it has stood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test of time it's been around for 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 years and everyone on the internet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uses it so it's pretty impressive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entire internet uses bgp and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still working I find that a very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impressive achievement that being said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there are still some issues that we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should talk about one issue is security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there is no built-in security measures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into BG P so it means that as's 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allowed to lie and specifically some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things it might lie about maybe it lies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about being able to reach a destination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it actually cannot so the as says 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 reach destination Z but it actually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can't that could be a security issue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another security issue might be that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 says it's going to follow One path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but ends up following a different one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advertises an as path and it says I'm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forwarding this packet from 9 to 7 to 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but when it receives the packet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actually forwards it along a different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path of as's so as's are allowed to lie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protocol by itself doesn't stop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there is some ongoing research about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ways to actually build security into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protocol but the base protocol does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not stop Asis from lying another issue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performance and this is one that's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not really an issue in that it's not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problem but it's a conscious tradeoff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the designers of bgp made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because bgp values the autonomy and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privacy of each as it means that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paths that are chosen are often not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least cost we're respecting everyone's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policies of making money or whatever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other weird policy they have and as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result we are not strictly optimizing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cost you can imagine a different bgp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design where we ignore everyone's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autonomy and we go for the least cost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paths but that is not what the bgp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designers did they chose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intentionally sacrifice a little bit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performance in exchange for allowing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everyone to have their own special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policy also because of the privacy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autonomy concerns we list the as paths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terms of the as's that the packet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passes through so the advertisement says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 can reach Z via as 7 12 and 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but we have no idea how big those as's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are there could be one hop inside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 that as could be carrying the packet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across hundreds of hops from our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perspective this is length three either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way because it passes through three as's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regardless of their length so the 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path length can be misleading this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another case where we did a tradeoff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designer said it's okay if the paths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are a little bit too long or longer than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optimal but at least we're respecting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everyone's privacy and not forcing Asis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reveal their internal structure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while you could call this an issue 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think it's more of a trade-off where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intentionally sacrific performance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exchange for autonomy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privacy another issue with bgp it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quite complicated we're just showing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basics there's a lot of edge cases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we haven't talked about and also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lot of bgp has to be manually configured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example when we talked about local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where you indicate the gal rexord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by saying that customers are 3,000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peers are 1,000 someone has to go in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manually type those numbers and if they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make a mistake well suddenly the policy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3:43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might not be what you expect and often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times Internet outages are caused by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manual operators messing up bgp there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 research into automatically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configuring bgp but the base protocol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requires a manual configuration and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prone to human errors and the final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issue with bgp is that it does not come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with any guarantees we did have a proof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said if everyone follows the 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Rexford rules we are going to be able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reach every destination and the routes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will converge but that proof assumed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everyone was following the gal Rexford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rules if someone is not following those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rules we can't use that proof and 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bets are off is it actually possible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reach all internet destinations we no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longer have that guarantee so that's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another issue with bgp but despite these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issues I still think it's a very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impressive protocol given that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entire internet uses it and it's one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4:43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backbone protocols for making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everything work so that's actually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bgp hope you enjoyed all of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intricacies of the protocol I think it's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pretty fun protocol that talks about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real life business goals in addition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know leas cost routing and other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things we've seen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3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g2ea07261ad5_0_362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5" name="Google Shape;1675;g2ea07261ad5_0_3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the second half of today we'll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conclude our discussion of layer three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protocols by talking about all of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different fields in the IP headers we'll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start with ipv4 then we'll talk about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IPv6 and then we'll be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g2ea07261ad5_0_3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2" name="Google Shape;1682;g2ea07261ad5_0_3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this is the IP header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probably already recognize a lot of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fields but we're going to methodically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 through all of the fields introducing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 new ones along the way and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addition to just telling you what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fields are we're also going to go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through the design choices that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designers of Ip made when they designed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header why did they decide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include these fields could they have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chosen to not include some of these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fields were there additional fields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should have included we're going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think about the design tradeoffs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IP designers made when they designed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header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g2ea07261ad5_0_3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9" name="Google Shape;1689;g2ea07261ad5_0_3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if we're getting into the heads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IP designers and we're thinking like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designer we can think of the IP header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 the way that routers and hosts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communicate at layer 3 so if we're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forwarding a packet across the network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the end host has to say something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router it would do so by filling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IP header with some data or if 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router wants to say something to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later routers it would do so by filling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an IP field and then forwarding the 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 so if routers or hosts want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communicate they have to use the fields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the IP header to talk to each other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therefore one way to design the IP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header is to think about what things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routers and the hosts might want to say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each other what do they want to talk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about what functionality do they have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they need to express in the header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can give us a clue as to what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Fields have to be in the headers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Fields don't so we're going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split up the header into various tasks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have to happen at layer three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each task we'll see what headers 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relevant for that task by breaking down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problem like this it allows us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think about what fields are there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also why they were added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g2ea07261ad5_0_3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5" name="Google Shape;1695;g2ea07261ad5_0_3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g2ea07261ad5_0_36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1" name="Google Shape;1701;g2ea07261ad5_0_3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g2ea07261ad5_0_36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g2ea07261ad5_0_3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g2ea07261ad5_0_36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5" name="Google Shape;1715;g2ea07261ad5_0_3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g2ea07261ad5_0_3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2" name="Google Shape;1722;g2ea07261ad5_0_3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7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g2ea07261ad5_0_3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9" name="Google Shape;1739;g2ea07261ad5_0_3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g2ea07261ad5_0_3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6" name="Google Shape;1746;g2ea07261ad5_0_3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g2ea07261ad5_0_3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3" name="Google Shape;1753;g2ea07261ad5_0_3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8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g2ea07261ad5_0_37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0" name="Google Shape;1760;g2ea07261ad5_0_3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g2ea07261ad5_0_3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6" name="Google Shape;1766;g2ea07261ad5_0_3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0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g2ea07261ad5_0_37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2" name="Google Shape;1772;g2ea07261ad5_0_3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g2ea07261ad5_0_3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9" name="Google Shape;1779;g2ea07261ad5_0_3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g2ea07261ad5_0_3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5" name="Google Shape;1805;g2ea07261ad5_0_3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0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g2ea07261ad5_0_37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2" name="Google Shape;1812;g2ea07261ad5_0_3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g2ea07261ad5_0_3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8" name="Google Shape;1818;g2ea07261ad5_0_3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2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g2ea07261ad5_0_37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4" name="Google Shape;1824;g2ea07261ad5_0_37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9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g2ea07261ad5_0_380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1" name="Google Shape;1831;g2ea07261ad5_0_3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6" name="Shape 1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7" name="Google Shape;1837;g2ea07261ad5_0_3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8" name="Google Shape;1838;g2ea07261ad5_0_3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g2ea07261ad5_0_38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g2ea07261ad5_0_3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g2ea07261ad5_0_3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0" name="Google Shape;1850;g2ea07261ad5_0_3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g2ea07261ad5_0_38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6" name="Google Shape;1856;g2ea07261ad5_0_38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6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g2ea07261ad5_0_38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8" name="Google Shape;1868;g2ea07261ad5_0_3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g2ea07261ad5_0_38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2" name="Google Shape;1882;g2ea07261ad5_0_3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2ea07261ad5_0_38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2ea07261ad5_0_3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g2ea07261ad5_0_3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7" name="Google Shape;1897;g2ea07261ad5_0_3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Google Shape;1902;g2ea07261ad5_0_387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3" name="Google Shape;1903;g2ea07261ad5_0_38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8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g2ea07261ad5_0_3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0" name="Google Shape;1910;g2ea07261ad5_0_3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4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Google Shape;1915;g2ea07261ad5_0_38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6" name="Google Shape;1916;g2ea07261ad5_0_38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0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g2ea07261ad5_0_3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2" name="Google Shape;1922;g2ea07261ad5_0_3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6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g2ea07261ad5_0_3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8" name="Google Shape;1928;g2ea07261ad5_0_3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6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g2ea495e6a3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8" name="Google Shape;1948;g2ea495e6a3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6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967;g2ea495e6a3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8" name="Google Shape;1968;g2ea495e6a3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6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g2ea495e6a34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8" name="Google Shape;1988;g2ea495e6a3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2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g2ea495e6a34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4" name="Google Shape;1994;g2ea495e6a34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9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g2ea495e6a34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1" name="Google Shape;2001;g2ea495e6a3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3854350"/>
            <a:ext cx="8520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 168, 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Spring 2026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Sylvia Ratnasamy, Rob Shakir, Peyrin Kao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BGP Implementation and IP Header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9 (Routing 6)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6" name="Google Shape;146;p24"/>
          <p:cNvSpPr/>
          <p:nvPr/>
        </p:nvSpPr>
        <p:spPr>
          <a:xfrm>
            <a:off x="4981467" y="396500"/>
            <a:ext cx="3633300" cy="8634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4"/>
          <p:cNvSpPr/>
          <p:nvPr/>
        </p:nvSpPr>
        <p:spPr>
          <a:xfrm>
            <a:off x="3694525" y="1469254"/>
            <a:ext cx="4489800" cy="8634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4"/>
          <p:cNvSpPr/>
          <p:nvPr/>
        </p:nvSpPr>
        <p:spPr>
          <a:xfrm>
            <a:off x="5304095" y="768182"/>
            <a:ext cx="222900" cy="2229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24"/>
          <p:cNvSpPr/>
          <p:nvPr/>
        </p:nvSpPr>
        <p:spPr>
          <a:xfrm>
            <a:off x="6037529" y="768182"/>
            <a:ext cx="222900" cy="22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" name="Google Shape;150;p24"/>
          <p:cNvCxnSpPr>
            <a:stCxn id="148" idx="3"/>
            <a:endCxn id="149" idx="1"/>
          </p:cNvCxnSpPr>
          <p:nvPr/>
        </p:nvCxnSpPr>
        <p:spPr>
          <a:xfrm>
            <a:off x="5526995" y="879632"/>
            <a:ext cx="510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" name="Google Shape;151;p24"/>
          <p:cNvSpPr/>
          <p:nvPr/>
        </p:nvSpPr>
        <p:spPr>
          <a:xfrm>
            <a:off x="4570660" y="1721742"/>
            <a:ext cx="222900" cy="22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2" name="Google Shape;152;p24"/>
          <p:cNvCxnSpPr>
            <a:stCxn id="151" idx="3"/>
            <a:endCxn id="153" idx="1"/>
          </p:cNvCxnSpPr>
          <p:nvPr/>
        </p:nvCxnSpPr>
        <p:spPr>
          <a:xfrm>
            <a:off x="4793560" y="1833192"/>
            <a:ext cx="510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" name="Google Shape;153;p24"/>
          <p:cNvSpPr/>
          <p:nvPr/>
        </p:nvSpPr>
        <p:spPr>
          <a:xfrm>
            <a:off x="5304095" y="1721742"/>
            <a:ext cx="222900" cy="2229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6037529" y="1721742"/>
            <a:ext cx="222900" cy="22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" name="Google Shape;155;p24"/>
          <p:cNvCxnSpPr>
            <a:stCxn id="153" idx="3"/>
            <a:endCxn id="154" idx="1"/>
          </p:cNvCxnSpPr>
          <p:nvPr/>
        </p:nvCxnSpPr>
        <p:spPr>
          <a:xfrm>
            <a:off x="5526995" y="1833192"/>
            <a:ext cx="510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" name="Google Shape;156;p24"/>
          <p:cNvSpPr/>
          <p:nvPr/>
        </p:nvSpPr>
        <p:spPr>
          <a:xfrm>
            <a:off x="6770964" y="768182"/>
            <a:ext cx="222900" cy="22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4"/>
          <p:cNvSpPr/>
          <p:nvPr/>
        </p:nvSpPr>
        <p:spPr>
          <a:xfrm>
            <a:off x="6770964" y="1721742"/>
            <a:ext cx="222900" cy="22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" name="Google Shape;158;p24"/>
          <p:cNvCxnSpPr>
            <a:stCxn id="149" idx="3"/>
            <a:endCxn id="156" idx="1"/>
          </p:cNvCxnSpPr>
          <p:nvPr/>
        </p:nvCxnSpPr>
        <p:spPr>
          <a:xfrm>
            <a:off x="6260429" y="879632"/>
            <a:ext cx="510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24"/>
          <p:cNvCxnSpPr>
            <a:stCxn id="154" idx="3"/>
            <a:endCxn id="157" idx="1"/>
          </p:cNvCxnSpPr>
          <p:nvPr/>
        </p:nvCxnSpPr>
        <p:spPr>
          <a:xfrm>
            <a:off x="6260429" y="1833192"/>
            <a:ext cx="510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24"/>
          <p:cNvCxnSpPr>
            <a:stCxn id="148" idx="2"/>
            <a:endCxn id="153" idx="0"/>
          </p:cNvCxnSpPr>
          <p:nvPr/>
        </p:nvCxnSpPr>
        <p:spPr>
          <a:xfrm>
            <a:off x="5415545" y="991082"/>
            <a:ext cx="0" cy="73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" name="Google Shape;161;p24"/>
          <p:cNvSpPr/>
          <p:nvPr/>
        </p:nvSpPr>
        <p:spPr>
          <a:xfrm>
            <a:off x="7504399" y="768182"/>
            <a:ext cx="222900" cy="2229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4"/>
          <p:cNvSpPr/>
          <p:nvPr/>
        </p:nvSpPr>
        <p:spPr>
          <a:xfrm>
            <a:off x="7504399" y="1721742"/>
            <a:ext cx="222900" cy="2229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" name="Google Shape;163;p24"/>
          <p:cNvCxnSpPr>
            <a:stCxn id="156" idx="3"/>
            <a:endCxn id="161" idx="1"/>
          </p:cNvCxnSpPr>
          <p:nvPr/>
        </p:nvCxnSpPr>
        <p:spPr>
          <a:xfrm>
            <a:off x="6993864" y="879632"/>
            <a:ext cx="510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24"/>
          <p:cNvCxnSpPr>
            <a:stCxn id="157" idx="3"/>
            <a:endCxn id="162" idx="1"/>
          </p:cNvCxnSpPr>
          <p:nvPr/>
        </p:nvCxnSpPr>
        <p:spPr>
          <a:xfrm>
            <a:off x="6993864" y="1833192"/>
            <a:ext cx="510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24"/>
          <p:cNvCxnSpPr>
            <a:stCxn id="161" idx="2"/>
            <a:endCxn id="162" idx="0"/>
          </p:cNvCxnSpPr>
          <p:nvPr/>
        </p:nvCxnSpPr>
        <p:spPr>
          <a:xfrm>
            <a:off x="7615849" y="991082"/>
            <a:ext cx="0" cy="73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24"/>
          <p:cNvSpPr/>
          <p:nvPr/>
        </p:nvSpPr>
        <p:spPr>
          <a:xfrm>
            <a:off x="4045375" y="1721742"/>
            <a:ext cx="222900" cy="2229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7" name="Google Shape;167;p24"/>
          <p:cNvCxnSpPr>
            <a:stCxn id="166" idx="6"/>
            <a:endCxn id="151" idx="1"/>
          </p:cNvCxnSpPr>
          <p:nvPr/>
        </p:nvCxnSpPr>
        <p:spPr>
          <a:xfrm>
            <a:off x="4268275" y="1833192"/>
            <a:ext cx="30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" name="Google Shape;168;p24"/>
          <p:cNvSpPr/>
          <p:nvPr/>
        </p:nvSpPr>
        <p:spPr>
          <a:xfrm>
            <a:off x="8029737" y="768182"/>
            <a:ext cx="222900" cy="2229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9" name="Google Shape;169;p24"/>
          <p:cNvCxnSpPr>
            <a:stCxn id="161" idx="3"/>
            <a:endCxn id="168" idx="2"/>
          </p:cNvCxnSpPr>
          <p:nvPr/>
        </p:nvCxnSpPr>
        <p:spPr>
          <a:xfrm>
            <a:off x="7727299" y="879632"/>
            <a:ext cx="30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24"/>
          <p:cNvSpPr/>
          <p:nvPr/>
        </p:nvSpPr>
        <p:spPr>
          <a:xfrm>
            <a:off x="4159379" y="946329"/>
            <a:ext cx="3865412" cy="959167"/>
          </a:xfrm>
          <a:custGeom>
            <a:rect b="b" l="l" r="r" t="t"/>
            <a:pathLst>
              <a:path extrusionOk="0" h="49056" w="197694">
                <a:moveTo>
                  <a:pt x="0" y="49056"/>
                </a:moveTo>
                <a:lnTo>
                  <a:pt x="180525" y="49056"/>
                </a:lnTo>
                <a:lnTo>
                  <a:pt x="180525" y="0"/>
                </a:lnTo>
                <a:lnTo>
                  <a:pt x="197694" y="0"/>
                </a:lnTo>
              </a:path>
            </a:pathLst>
          </a:cu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sp>
      <p:sp>
        <p:nvSpPr>
          <p:cNvPr id="171" name="Google Shape;171;p24"/>
          <p:cNvSpPr/>
          <p:nvPr/>
        </p:nvSpPr>
        <p:spPr>
          <a:xfrm>
            <a:off x="4163251" y="807034"/>
            <a:ext cx="3843063" cy="955980"/>
          </a:xfrm>
          <a:custGeom>
            <a:rect b="b" l="l" r="r" t="t"/>
            <a:pathLst>
              <a:path extrusionOk="0" h="48893" w="196551">
                <a:moveTo>
                  <a:pt x="0" y="48893"/>
                </a:moveTo>
                <a:lnTo>
                  <a:pt x="61157" y="48893"/>
                </a:lnTo>
                <a:lnTo>
                  <a:pt x="61157" y="0"/>
                </a:lnTo>
                <a:lnTo>
                  <a:pt x="196551" y="0"/>
                </a:lnTo>
              </a:path>
            </a:pathLst>
          </a:custGeom>
          <a:noFill/>
          <a:ln cap="flat" cmpd="sng" w="19050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BGP 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External BGP and Internal BGP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Links Between ASes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Message Types and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Route Attributes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Issues with BGP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Header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IPv4 Header Fields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IPv6 Changes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Security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77" name="Google Shape;177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External BGP and Internal BGP</a:t>
            </a:r>
            <a:endParaRPr/>
          </a:p>
        </p:txBody>
      </p:sp>
      <p:sp>
        <p:nvSpPr>
          <p:cNvPr id="178" name="Google Shape;178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9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Combining Intra-Domain and Inter-Domain Routing</a:t>
            </a:r>
            <a:endParaRPr/>
          </a:p>
        </p:txBody>
      </p:sp>
      <p:sp>
        <p:nvSpPr>
          <p:cNvPr id="184" name="Google Shape;184;p26"/>
          <p:cNvSpPr txBox="1"/>
          <p:nvPr>
            <p:ph idx="1" type="body"/>
          </p:nvPr>
        </p:nvSpPr>
        <p:spPr>
          <a:xfrm>
            <a:off x="107050" y="402200"/>
            <a:ext cx="8909700" cy="12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 far, we've shown BGP in terms of ASes talking to each other.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 AS advertises routes to its neighbor ASes.</a:t>
            </a:r>
            <a:endParaRPr/>
          </a:p>
        </p:txBody>
      </p:sp>
      <p:sp>
        <p:nvSpPr>
          <p:cNvPr id="185" name="Google Shape;185;p26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26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" name="Google Shape;193;p26"/>
          <p:cNvCxnSpPr>
            <a:stCxn id="186" idx="3"/>
            <a:endCxn id="187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26"/>
          <p:cNvCxnSpPr>
            <a:stCxn id="187" idx="3"/>
            <a:endCxn id="188" idx="1"/>
          </p:cNvCxnSpPr>
          <p:nvPr/>
        </p:nvCxnSpPr>
        <p:spPr>
          <a:xfrm flipH="1" rot="10800000">
            <a:off x="3015950" y="3710025"/>
            <a:ext cx="693300" cy="4275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26"/>
          <p:cNvCxnSpPr>
            <a:stCxn id="187" idx="0"/>
            <a:endCxn id="189" idx="2"/>
          </p:cNvCxnSpPr>
          <p:nvPr/>
        </p:nvCxnSpPr>
        <p:spPr>
          <a:xfrm flipH="1" rot="10800000">
            <a:off x="2873450" y="3207825"/>
            <a:ext cx="285000" cy="7872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26"/>
          <p:cNvCxnSpPr>
            <a:stCxn id="189" idx="3"/>
            <a:endCxn id="188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26"/>
          <p:cNvCxnSpPr>
            <a:stCxn id="187" idx="3"/>
            <a:endCxn id="190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26"/>
          <p:cNvCxnSpPr>
            <a:stCxn id="190" idx="0"/>
            <a:endCxn id="188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26"/>
          <p:cNvCxnSpPr>
            <a:stCxn id="190" idx="3"/>
            <a:endCxn id="191" idx="1"/>
          </p:cNvCxnSpPr>
          <p:nvPr/>
        </p:nvCxnSpPr>
        <p:spPr>
          <a:xfrm flipH="1" rot="10800000">
            <a:off x="4605925" y="3936950"/>
            <a:ext cx="544800" cy="244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26"/>
          <p:cNvCxnSpPr>
            <a:stCxn id="191" idx="3"/>
            <a:endCxn id="192" idx="1"/>
          </p:cNvCxnSpPr>
          <p:nvPr/>
        </p:nvCxnSpPr>
        <p:spPr>
          <a:xfrm flipH="1" rot="10800000">
            <a:off x="5435775" y="3776375"/>
            <a:ext cx="771600" cy="1605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26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4" name="Google Shape;204;p26"/>
          <p:cNvCxnSpPr>
            <a:stCxn id="187" idx="2"/>
            <a:endCxn id="202" idx="1"/>
          </p:cNvCxnSpPr>
          <p:nvPr/>
        </p:nvCxnSpPr>
        <p:spPr>
          <a:xfrm>
            <a:off x="2873450" y="4280025"/>
            <a:ext cx="284400" cy="2379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26"/>
          <p:cNvCxnSpPr>
            <a:stCxn id="201" idx="7"/>
            <a:endCxn id="190" idx="2"/>
          </p:cNvCxnSpPr>
          <p:nvPr/>
        </p:nvCxnSpPr>
        <p:spPr>
          <a:xfrm flipH="1" rot="10800000">
            <a:off x="4237400" y="4324212"/>
            <a:ext cx="225900" cy="2394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26"/>
          <p:cNvCxnSpPr>
            <a:stCxn id="191" idx="0"/>
            <a:endCxn id="203" idx="4"/>
          </p:cNvCxnSpPr>
          <p:nvPr/>
        </p:nvCxnSpPr>
        <p:spPr>
          <a:xfrm rot="10800000">
            <a:off x="5293275" y="3426575"/>
            <a:ext cx="0" cy="367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" name="Google Shape;207;p26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8" name="Google Shape;208;p26"/>
          <p:cNvCxnSpPr>
            <a:stCxn id="207" idx="1"/>
            <a:endCxn id="192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" name="Google Shape;209;p26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1" name="Google Shape;211;p26"/>
          <p:cNvCxnSpPr>
            <a:stCxn id="209" idx="3"/>
            <a:endCxn id="192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26"/>
          <p:cNvCxnSpPr>
            <a:stCxn id="209" idx="2"/>
            <a:endCxn id="210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6"/>
          <p:cNvCxnSpPr>
            <a:stCxn id="210" idx="2"/>
            <a:endCxn id="189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26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5" name="Google Shape;215;p26"/>
          <p:cNvCxnSpPr>
            <a:stCxn id="214" idx="4"/>
            <a:endCxn id="186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26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Combining Intra-Domain and Inter-Domain Routing</a:t>
            </a:r>
            <a:endParaRPr/>
          </a:p>
        </p:txBody>
      </p:sp>
      <p:sp>
        <p:nvSpPr>
          <p:cNvPr id="222" name="Google Shape;222;p27"/>
          <p:cNvSpPr txBox="1"/>
          <p:nvPr>
            <p:ph idx="1" type="body"/>
          </p:nvPr>
        </p:nvSpPr>
        <p:spPr>
          <a:xfrm>
            <a:off x="107050" y="402200"/>
            <a:ext cx="8909700" cy="13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reality, an AS is made up of a bunch of routers.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have to ensure the routers "act as one."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Today, we'll also see how BGP interacts with intra-domain </a:t>
            </a:r>
            <a:r>
              <a:rPr lang="en"/>
              <a:t>routing.</a:t>
            </a:r>
            <a:endParaRPr/>
          </a:p>
        </p:txBody>
      </p:sp>
      <p:sp>
        <p:nvSpPr>
          <p:cNvPr id="223" name="Google Shape;223;p27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27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27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27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8" name="Google Shape;228;p27"/>
          <p:cNvCxnSpPr>
            <a:stCxn id="224" idx="3"/>
            <a:endCxn id="229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27"/>
          <p:cNvCxnSpPr>
            <a:stCxn id="229" idx="3"/>
            <a:endCxn id="225" idx="1"/>
          </p:cNvCxnSpPr>
          <p:nvPr/>
        </p:nvCxnSpPr>
        <p:spPr>
          <a:xfrm flipH="1" rot="10800000">
            <a:off x="3015950" y="3710025"/>
            <a:ext cx="693300" cy="4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27"/>
          <p:cNvCxnSpPr>
            <a:stCxn id="229" idx="0"/>
            <a:endCxn id="226" idx="2"/>
          </p:cNvCxnSpPr>
          <p:nvPr/>
        </p:nvCxnSpPr>
        <p:spPr>
          <a:xfrm flipH="1" rot="10800000">
            <a:off x="2873450" y="3207825"/>
            <a:ext cx="285000" cy="78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27"/>
          <p:cNvCxnSpPr>
            <a:stCxn id="226" idx="3"/>
            <a:endCxn id="225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27"/>
          <p:cNvCxnSpPr>
            <a:stCxn id="229" idx="3"/>
            <a:endCxn id="234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27"/>
          <p:cNvCxnSpPr>
            <a:stCxn id="234" idx="0"/>
            <a:endCxn id="225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27"/>
          <p:cNvCxnSpPr>
            <a:stCxn id="234" idx="3"/>
            <a:endCxn id="237" idx="1"/>
          </p:cNvCxnSpPr>
          <p:nvPr/>
        </p:nvCxnSpPr>
        <p:spPr>
          <a:xfrm flipH="1" rot="10800000">
            <a:off x="4605925" y="3936950"/>
            <a:ext cx="544800" cy="24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7"/>
          <p:cNvCxnSpPr>
            <a:stCxn id="237" idx="3"/>
            <a:endCxn id="227" idx="1"/>
          </p:cNvCxnSpPr>
          <p:nvPr/>
        </p:nvCxnSpPr>
        <p:spPr>
          <a:xfrm flipH="1" rot="10800000">
            <a:off x="5435775" y="3776375"/>
            <a:ext cx="771600" cy="16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27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27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27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3" name="Google Shape;243;p27"/>
          <p:cNvCxnSpPr>
            <a:endCxn id="241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" name="Google Shape;244;p27"/>
          <p:cNvCxnSpPr>
            <a:stCxn id="240" idx="7"/>
          </p:cNvCxnSpPr>
          <p:nvPr/>
        </p:nvCxnSpPr>
        <p:spPr>
          <a:xfrm flipH="1" rot="10800000">
            <a:off x="4237400" y="4324212"/>
            <a:ext cx="225900" cy="2394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" name="Google Shape;245;p27"/>
          <p:cNvCxnSpPr>
            <a:endCxn id="242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" name="Google Shape;229;p27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27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27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6" name="Google Shape;246;p27"/>
          <p:cNvCxnSpPr>
            <a:stCxn id="247" idx="1"/>
            <a:endCxn id="227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27"/>
          <p:cNvCxnSpPr>
            <a:stCxn id="249" idx="3"/>
            <a:endCxn id="227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27"/>
          <p:cNvCxnSpPr>
            <a:stCxn id="249" idx="2"/>
            <a:endCxn id="251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27"/>
          <p:cNvCxnSpPr>
            <a:stCxn id="251" idx="2"/>
            <a:endCxn id="226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27"/>
          <p:cNvCxnSpPr>
            <a:stCxn id="254" idx="4"/>
            <a:endCxn id="224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27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27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p27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27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Border Routers and Interior Routers</a:t>
            </a:r>
            <a:endParaRPr/>
          </a:p>
        </p:txBody>
      </p:sp>
      <p:sp>
        <p:nvSpPr>
          <p:cNvPr id="260" name="Google Shape;260;p28"/>
          <p:cNvSpPr txBox="1"/>
          <p:nvPr>
            <p:ph idx="1" type="body"/>
          </p:nvPr>
        </p:nvSpPr>
        <p:spPr>
          <a:xfrm>
            <a:off x="107050" y="402200"/>
            <a:ext cx="8909700" cy="13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Border routers</a:t>
            </a:r>
            <a:r>
              <a:rPr lang="en"/>
              <a:t>: At least one link to a router in a different AS. (A, B, G)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Interior routers</a:t>
            </a:r>
            <a:r>
              <a:rPr lang="en"/>
              <a:t>: Only linked to other routers in the same AS. (C, D, E, F)</a:t>
            </a:r>
            <a:endParaRPr/>
          </a:p>
        </p:txBody>
      </p:sp>
      <p:sp>
        <p:nvSpPr>
          <p:cNvPr id="261" name="Google Shape;261;p28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28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28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28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28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6" name="Google Shape;266;p28"/>
          <p:cNvCxnSpPr>
            <a:stCxn id="262" idx="3"/>
            <a:endCxn id="267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" name="Google Shape;268;p28"/>
          <p:cNvCxnSpPr>
            <a:stCxn id="267" idx="3"/>
            <a:endCxn id="263" idx="1"/>
          </p:cNvCxnSpPr>
          <p:nvPr/>
        </p:nvCxnSpPr>
        <p:spPr>
          <a:xfrm flipH="1" rot="10800000">
            <a:off x="3015950" y="3710025"/>
            <a:ext cx="693300" cy="4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" name="Google Shape;269;p28"/>
          <p:cNvCxnSpPr>
            <a:stCxn id="267" idx="0"/>
            <a:endCxn id="264" idx="2"/>
          </p:cNvCxnSpPr>
          <p:nvPr/>
        </p:nvCxnSpPr>
        <p:spPr>
          <a:xfrm flipH="1" rot="10800000">
            <a:off x="2873450" y="3207825"/>
            <a:ext cx="285000" cy="78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" name="Google Shape;270;p28"/>
          <p:cNvCxnSpPr>
            <a:stCxn id="264" idx="3"/>
            <a:endCxn id="263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" name="Google Shape;271;p28"/>
          <p:cNvCxnSpPr>
            <a:stCxn id="267" idx="3"/>
            <a:endCxn id="272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28"/>
          <p:cNvCxnSpPr>
            <a:stCxn id="272" idx="0"/>
            <a:endCxn id="263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" name="Google Shape;274;p28"/>
          <p:cNvCxnSpPr>
            <a:stCxn id="272" idx="3"/>
            <a:endCxn id="275" idx="1"/>
          </p:cNvCxnSpPr>
          <p:nvPr/>
        </p:nvCxnSpPr>
        <p:spPr>
          <a:xfrm flipH="1" rot="10800000">
            <a:off x="4605925" y="3936950"/>
            <a:ext cx="544800" cy="24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28"/>
          <p:cNvCxnSpPr>
            <a:stCxn id="275" idx="3"/>
            <a:endCxn id="265" idx="1"/>
          </p:cNvCxnSpPr>
          <p:nvPr/>
        </p:nvCxnSpPr>
        <p:spPr>
          <a:xfrm flipH="1" rot="10800000">
            <a:off x="5435775" y="3776375"/>
            <a:ext cx="771600" cy="16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" name="Google Shape;277;p28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28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" name="Google Shape;279;p28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p28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1" name="Google Shape;281;p28"/>
          <p:cNvCxnSpPr>
            <a:endCxn id="279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8"/>
          <p:cNvCxnSpPr>
            <a:stCxn id="278" idx="7"/>
          </p:cNvCxnSpPr>
          <p:nvPr/>
        </p:nvCxnSpPr>
        <p:spPr>
          <a:xfrm flipH="1" rot="10800000">
            <a:off x="4237400" y="4324212"/>
            <a:ext cx="225900" cy="2394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8"/>
          <p:cNvCxnSpPr>
            <a:endCxn id="280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28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28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4" name="Google Shape;284;p28"/>
          <p:cNvCxnSpPr>
            <a:stCxn id="285" idx="1"/>
            <a:endCxn id="265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28"/>
          <p:cNvCxnSpPr>
            <a:stCxn id="287" idx="3"/>
            <a:endCxn id="265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28"/>
          <p:cNvCxnSpPr>
            <a:stCxn id="287" idx="2"/>
            <a:endCxn id="289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28"/>
          <p:cNvCxnSpPr>
            <a:stCxn id="289" idx="2"/>
            <a:endCxn id="264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28"/>
          <p:cNvCxnSpPr>
            <a:stCxn id="292" idx="4"/>
            <a:endCxn id="262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28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28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28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p28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Border Routers and Interior Routers</a:t>
            </a:r>
            <a:endParaRPr/>
          </a:p>
        </p:txBody>
      </p:sp>
      <p:sp>
        <p:nvSpPr>
          <p:cNvPr id="298" name="Google Shape;298;p29"/>
          <p:cNvSpPr txBox="1"/>
          <p:nvPr>
            <p:ph idx="1" type="body"/>
          </p:nvPr>
        </p:nvSpPr>
        <p:spPr>
          <a:xfrm>
            <a:off x="107050" y="402200"/>
            <a:ext cx="8909700" cy="13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BGP speakers</a:t>
            </a:r>
            <a:r>
              <a:rPr lang="en"/>
              <a:t>: The routers that advertise BGP paths to other ASes.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Who speaks BGP? All the border routers inside each AS.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Speakers must understand BGP syntax and semantics.</a:t>
            </a:r>
            <a:endParaRPr/>
          </a:p>
        </p:txBody>
      </p:sp>
      <p:sp>
        <p:nvSpPr>
          <p:cNvPr id="299" name="Google Shape;299;p29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9FC5E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29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29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9FC5E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29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9FC5E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4" name="Google Shape;304;p29"/>
          <p:cNvCxnSpPr>
            <a:stCxn id="300" idx="3"/>
            <a:endCxn id="305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29"/>
          <p:cNvCxnSpPr>
            <a:stCxn id="305" idx="3"/>
            <a:endCxn id="301" idx="1"/>
          </p:cNvCxnSpPr>
          <p:nvPr/>
        </p:nvCxnSpPr>
        <p:spPr>
          <a:xfrm flipH="1" rot="10800000">
            <a:off x="3015950" y="3710025"/>
            <a:ext cx="693300" cy="4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29"/>
          <p:cNvCxnSpPr>
            <a:stCxn id="305" idx="0"/>
            <a:endCxn id="302" idx="2"/>
          </p:cNvCxnSpPr>
          <p:nvPr/>
        </p:nvCxnSpPr>
        <p:spPr>
          <a:xfrm flipH="1" rot="10800000">
            <a:off x="2873450" y="3207825"/>
            <a:ext cx="285000" cy="78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29"/>
          <p:cNvCxnSpPr>
            <a:stCxn id="302" idx="3"/>
            <a:endCxn id="301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29"/>
          <p:cNvCxnSpPr>
            <a:stCxn id="305" idx="3"/>
            <a:endCxn id="310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" name="Google Shape;311;p29"/>
          <p:cNvCxnSpPr>
            <a:stCxn id="310" idx="0"/>
            <a:endCxn id="301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" name="Google Shape;312;p29"/>
          <p:cNvCxnSpPr>
            <a:stCxn id="310" idx="3"/>
            <a:endCxn id="313" idx="1"/>
          </p:cNvCxnSpPr>
          <p:nvPr/>
        </p:nvCxnSpPr>
        <p:spPr>
          <a:xfrm flipH="1" rot="10800000">
            <a:off x="4605925" y="3936950"/>
            <a:ext cx="544800" cy="24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" name="Google Shape;314;p29"/>
          <p:cNvCxnSpPr>
            <a:stCxn id="313" idx="3"/>
            <a:endCxn id="303" idx="1"/>
          </p:cNvCxnSpPr>
          <p:nvPr/>
        </p:nvCxnSpPr>
        <p:spPr>
          <a:xfrm flipH="1" rot="10800000">
            <a:off x="5435775" y="3776375"/>
            <a:ext cx="771600" cy="16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5" name="Google Shape;315;p29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29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29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29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9" name="Google Shape;319;p29"/>
          <p:cNvCxnSpPr>
            <a:endCxn id="317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29"/>
          <p:cNvCxnSpPr>
            <a:stCxn id="316" idx="7"/>
          </p:cNvCxnSpPr>
          <p:nvPr/>
        </p:nvCxnSpPr>
        <p:spPr>
          <a:xfrm flipH="1" rot="10800000">
            <a:off x="4237400" y="4324212"/>
            <a:ext cx="225900" cy="2394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29"/>
          <p:cNvCxnSpPr>
            <a:endCxn id="318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" name="Google Shape;305;p29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29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2" name="Google Shape;322;p29"/>
          <p:cNvCxnSpPr>
            <a:stCxn id="323" idx="1"/>
            <a:endCxn id="303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29"/>
          <p:cNvCxnSpPr>
            <a:stCxn id="325" idx="3"/>
            <a:endCxn id="303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29"/>
          <p:cNvCxnSpPr>
            <a:stCxn id="325" idx="2"/>
            <a:endCxn id="327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29"/>
          <p:cNvCxnSpPr>
            <a:stCxn id="327" idx="2"/>
            <a:endCxn id="302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29"/>
          <p:cNvCxnSpPr>
            <a:stCxn id="330" idx="4"/>
            <a:endCxn id="300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3" name="Google Shape;323;p29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29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29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29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0"/>
          <p:cNvSpPr/>
          <p:nvPr/>
        </p:nvSpPr>
        <p:spPr>
          <a:xfrm>
            <a:off x="3415500" y="3952045"/>
            <a:ext cx="1689600" cy="972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783300" y="4421350"/>
            <a:ext cx="95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Stub AS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3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Border Routers and Interior Routers</a:t>
            </a:r>
            <a:endParaRPr/>
          </a:p>
        </p:txBody>
      </p:sp>
      <p:sp>
        <p:nvSpPr>
          <p:cNvPr id="338" name="Google Shape;338;p30"/>
          <p:cNvSpPr txBox="1"/>
          <p:nvPr>
            <p:ph idx="1" type="body"/>
          </p:nvPr>
        </p:nvSpPr>
        <p:spPr>
          <a:xfrm>
            <a:off x="107050" y="402200"/>
            <a:ext cx="8909700" cy="13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BGP speakers</a:t>
            </a:r>
            <a:r>
              <a:rPr lang="en"/>
              <a:t>: The routers that advertise BGP paths to other ASes.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Stub ASes don't need to speak BGP.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border router can default-route everything to the provider AS.</a:t>
            </a:r>
            <a:endParaRPr/>
          </a:p>
        </p:txBody>
      </p:sp>
      <p:sp>
        <p:nvSpPr>
          <p:cNvPr id="339" name="Google Shape;339;p30"/>
          <p:cNvSpPr/>
          <p:nvPr/>
        </p:nvSpPr>
        <p:spPr>
          <a:xfrm>
            <a:off x="4117791" y="39520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0" name="Google Shape;340;p30"/>
          <p:cNvCxnSpPr>
            <a:stCxn id="341" idx="4"/>
            <a:endCxn id="339" idx="0"/>
          </p:cNvCxnSpPr>
          <p:nvPr/>
        </p:nvCxnSpPr>
        <p:spPr>
          <a:xfrm>
            <a:off x="4260300" y="3328550"/>
            <a:ext cx="0" cy="62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" name="Google Shape;341;p30"/>
          <p:cNvSpPr/>
          <p:nvPr/>
        </p:nvSpPr>
        <p:spPr>
          <a:xfrm>
            <a:off x="3415500" y="2355650"/>
            <a:ext cx="1689600" cy="972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Provider 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1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" name="Google Shape;347;p31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31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" name="Google Shape;349;p31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31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1" name="Google Shape;351;p31"/>
          <p:cNvCxnSpPr>
            <a:stCxn id="347" idx="3"/>
            <a:endCxn id="352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31"/>
          <p:cNvCxnSpPr>
            <a:stCxn id="352" idx="3"/>
            <a:endCxn id="348" idx="1"/>
          </p:cNvCxnSpPr>
          <p:nvPr/>
        </p:nvCxnSpPr>
        <p:spPr>
          <a:xfrm flipH="1" rot="10800000">
            <a:off x="3015950" y="3710025"/>
            <a:ext cx="693300" cy="4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31"/>
          <p:cNvCxnSpPr>
            <a:stCxn id="352" idx="0"/>
            <a:endCxn id="349" idx="2"/>
          </p:cNvCxnSpPr>
          <p:nvPr/>
        </p:nvCxnSpPr>
        <p:spPr>
          <a:xfrm flipH="1" rot="10800000">
            <a:off x="2873450" y="3207825"/>
            <a:ext cx="285000" cy="78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31"/>
          <p:cNvCxnSpPr>
            <a:stCxn id="349" idx="3"/>
            <a:endCxn id="348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31"/>
          <p:cNvCxnSpPr>
            <a:stCxn id="352" idx="3"/>
            <a:endCxn id="357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31"/>
          <p:cNvCxnSpPr>
            <a:stCxn id="357" idx="0"/>
            <a:endCxn id="348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31"/>
          <p:cNvCxnSpPr>
            <a:stCxn id="357" idx="3"/>
            <a:endCxn id="360" idx="1"/>
          </p:cNvCxnSpPr>
          <p:nvPr/>
        </p:nvCxnSpPr>
        <p:spPr>
          <a:xfrm flipH="1" rot="10800000">
            <a:off x="4605925" y="3936950"/>
            <a:ext cx="544800" cy="24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31"/>
          <p:cNvCxnSpPr>
            <a:stCxn id="360" idx="3"/>
            <a:endCxn id="350" idx="1"/>
          </p:cNvCxnSpPr>
          <p:nvPr/>
        </p:nvCxnSpPr>
        <p:spPr>
          <a:xfrm flipH="1" rot="10800000">
            <a:off x="5435775" y="3776375"/>
            <a:ext cx="771600" cy="16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" name="Google Shape;362;p31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p31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31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31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6" name="Google Shape;366;p31"/>
          <p:cNvCxnSpPr>
            <a:endCxn id="364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31"/>
          <p:cNvCxnSpPr>
            <a:stCxn id="363" idx="7"/>
          </p:cNvCxnSpPr>
          <p:nvPr/>
        </p:nvCxnSpPr>
        <p:spPr>
          <a:xfrm flipH="1" rot="10800000">
            <a:off x="4237400" y="4324212"/>
            <a:ext cx="225900" cy="2394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31"/>
          <p:cNvCxnSpPr>
            <a:endCxn id="365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2" name="Google Shape;352;p31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31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" name="Google Shape;360;p31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3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External BGP, Internal BGP, and IGP</a:t>
            </a:r>
            <a:endParaRPr/>
          </a:p>
        </p:txBody>
      </p:sp>
      <p:sp>
        <p:nvSpPr>
          <p:cNvPr id="370" name="Google Shape;370;p31"/>
          <p:cNvSpPr txBox="1"/>
          <p:nvPr>
            <p:ph idx="1" type="body"/>
          </p:nvPr>
        </p:nvSpPr>
        <p:spPr>
          <a:xfrm>
            <a:off x="107050" y="402200"/>
            <a:ext cx="8909700" cy="13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BGP session</a:t>
            </a:r>
            <a:r>
              <a:rPr lang="en"/>
              <a:t>: Two routers exchanging BGP information between each other.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1" name="Google Shape;371;p31"/>
          <p:cNvCxnSpPr/>
          <p:nvPr/>
        </p:nvCxnSpPr>
        <p:spPr>
          <a:xfrm>
            <a:off x="1970873" y="4041689"/>
            <a:ext cx="622200" cy="207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2" name="Google Shape;372;p31"/>
          <p:cNvCxnSpPr/>
          <p:nvPr/>
        </p:nvCxnSpPr>
        <p:spPr>
          <a:xfrm>
            <a:off x="3246925" y="4281919"/>
            <a:ext cx="867300" cy="30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3" name="Google Shape;373;p31"/>
          <p:cNvCxnSpPr/>
          <p:nvPr/>
        </p:nvCxnSpPr>
        <p:spPr>
          <a:xfrm flipH="1" rot="10800000">
            <a:off x="4703593" y="4086243"/>
            <a:ext cx="391200" cy="1764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4" name="Google Shape;374;p31"/>
          <p:cNvCxnSpPr/>
          <p:nvPr/>
        </p:nvCxnSpPr>
        <p:spPr>
          <a:xfrm flipH="1" rot="10800000">
            <a:off x="5603500" y="3943425"/>
            <a:ext cx="496800" cy="102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5" name="Google Shape;375;p31"/>
          <p:cNvCxnSpPr/>
          <p:nvPr/>
        </p:nvCxnSpPr>
        <p:spPr>
          <a:xfrm rot="10800000">
            <a:off x="4121000" y="3612825"/>
            <a:ext cx="434400" cy="306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6" name="Google Shape;376;p31"/>
          <p:cNvCxnSpPr/>
          <p:nvPr/>
        </p:nvCxnSpPr>
        <p:spPr>
          <a:xfrm flipH="1" rot="10800000">
            <a:off x="3083400" y="3613875"/>
            <a:ext cx="525900" cy="324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7" name="Google Shape;377;p31"/>
          <p:cNvCxnSpPr/>
          <p:nvPr/>
        </p:nvCxnSpPr>
        <p:spPr>
          <a:xfrm flipH="1" rot="10800000">
            <a:off x="2797250" y="3314625"/>
            <a:ext cx="191700" cy="528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8" name="Google Shape;378;p31"/>
          <p:cNvCxnSpPr/>
          <p:nvPr/>
        </p:nvCxnSpPr>
        <p:spPr>
          <a:xfrm>
            <a:off x="3473125" y="3067875"/>
            <a:ext cx="378600" cy="347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9" name="Google Shape;379;p31"/>
          <p:cNvCxnSpPr>
            <a:stCxn id="380" idx="1"/>
            <a:endCxn id="350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" name="Google Shape;381;p31"/>
          <p:cNvCxnSpPr>
            <a:stCxn id="382" idx="3"/>
            <a:endCxn id="350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" name="Google Shape;383;p31"/>
          <p:cNvCxnSpPr>
            <a:stCxn id="382" idx="2"/>
            <a:endCxn id="384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31"/>
          <p:cNvCxnSpPr>
            <a:stCxn id="384" idx="2"/>
            <a:endCxn id="349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" name="Google Shape;386;p31"/>
          <p:cNvCxnSpPr>
            <a:stCxn id="387" idx="4"/>
            <a:endCxn id="347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0" name="Google Shape;380;p31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31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p31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31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8" name="Google Shape;388;p31"/>
          <p:cNvCxnSpPr/>
          <p:nvPr/>
        </p:nvCxnSpPr>
        <p:spPr>
          <a:xfrm>
            <a:off x="780775" y="3660781"/>
            <a:ext cx="620400" cy="266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89" name="Google Shape;389;p31"/>
          <p:cNvCxnSpPr/>
          <p:nvPr/>
        </p:nvCxnSpPr>
        <p:spPr>
          <a:xfrm flipH="1">
            <a:off x="3285275" y="2387375"/>
            <a:ext cx="1115700" cy="343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90" name="Google Shape;390;p31"/>
          <p:cNvCxnSpPr/>
          <p:nvPr/>
        </p:nvCxnSpPr>
        <p:spPr>
          <a:xfrm rot="10800000">
            <a:off x="6063425" y="2346975"/>
            <a:ext cx="646800" cy="326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91" name="Google Shape;391;p31"/>
          <p:cNvCxnSpPr/>
          <p:nvPr/>
        </p:nvCxnSpPr>
        <p:spPr>
          <a:xfrm flipH="1">
            <a:off x="6754325" y="3289000"/>
            <a:ext cx="272400" cy="373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92" name="Google Shape;392;p31"/>
          <p:cNvCxnSpPr/>
          <p:nvPr/>
        </p:nvCxnSpPr>
        <p:spPr>
          <a:xfrm rot="10800000">
            <a:off x="6754328" y="3845349"/>
            <a:ext cx="339600" cy="288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93" name="Google Shape;393;p31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2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32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32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32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32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3" name="Google Shape;403;p32"/>
          <p:cNvCxnSpPr>
            <a:stCxn id="399" idx="3"/>
            <a:endCxn id="404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" name="Google Shape;405;p32"/>
          <p:cNvCxnSpPr>
            <a:stCxn id="404" idx="3"/>
            <a:endCxn id="400" idx="1"/>
          </p:cNvCxnSpPr>
          <p:nvPr/>
        </p:nvCxnSpPr>
        <p:spPr>
          <a:xfrm flipH="1" rot="10800000">
            <a:off x="3015950" y="3710025"/>
            <a:ext cx="693300" cy="4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" name="Google Shape;406;p32"/>
          <p:cNvCxnSpPr>
            <a:stCxn id="404" idx="0"/>
            <a:endCxn id="401" idx="2"/>
          </p:cNvCxnSpPr>
          <p:nvPr/>
        </p:nvCxnSpPr>
        <p:spPr>
          <a:xfrm flipH="1" rot="10800000">
            <a:off x="2873450" y="3207825"/>
            <a:ext cx="285000" cy="78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32"/>
          <p:cNvCxnSpPr>
            <a:stCxn id="401" idx="3"/>
            <a:endCxn id="400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" name="Google Shape;408;p32"/>
          <p:cNvCxnSpPr>
            <a:stCxn id="404" idx="3"/>
            <a:endCxn id="409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32"/>
          <p:cNvCxnSpPr>
            <a:stCxn id="409" idx="0"/>
            <a:endCxn id="400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32"/>
          <p:cNvCxnSpPr>
            <a:stCxn id="409" idx="3"/>
            <a:endCxn id="412" idx="1"/>
          </p:cNvCxnSpPr>
          <p:nvPr/>
        </p:nvCxnSpPr>
        <p:spPr>
          <a:xfrm flipH="1" rot="10800000">
            <a:off x="4605925" y="3936950"/>
            <a:ext cx="544800" cy="24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32"/>
          <p:cNvCxnSpPr>
            <a:stCxn id="412" idx="3"/>
            <a:endCxn id="402" idx="1"/>
          </p:cNvCxnSpPr>
          <p:nvPr/>
        </p:nvCxnSpPr>
        <p:spPr>
          <a:xfrm flipH="1" rot="10800000">
            <a:off x="5435775" y="3776375"/>
            <a:ext cx="771600" cy="16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4" name="Google Shape;414;p32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" name="Google Shape;415;p32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p32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p32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8" name="Google Shape;418;p32"/>
          <p:cNvCxnSpPr>
            <a:endCxn id="416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32"/>
          <p:cNvCxnSpPr>
            <a:stCxn id="415" idx="7"/>
          </p:cNvCxnSpPr>
          <p:nvPr/>
        </p:nvCxnSpPr>
        <p:spPr>
          <a:xfrm flipH="1" rot="10800000">
            <a:off x="4237400" y="4324212"/>
            <a:ext cx="225900" cy="2394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32"/>
          <p:cNvCxnSpPr>
            <a:endCxn id="417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4" name="Google Shape;404;p32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32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" name="Google Shape;412;p32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" name="Google Shape;421;p3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External BGP, Internal BGP, and IGP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422" name="Google Shape;422;p32"/>
          <p:cNvSpPr txBox="1"/>
          <p:nvPr>
            <p:ph idx="1" type="body"/>
          </p:nvPr>
        </p:nvSpPr>
        <p:spPr>
          <a:xfrm>
            <a:off x="107050" y="402200"/>
            <a:ext cx="8909700" cy="13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External BGP (eBGP) session</a:t>
            </a:r>
            <a:r>
              <a:rPr lang="en"/>
              <a:t>: Between two routers in </a:t>
            </a:r>
            <a:r>
              <a:rPr i="1" lang="en"/>
              <a:t>different</a:t>
            </a:r>
            <a:r>
              <a:rPr lang="en"/>
              <a:t> ASes.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Border routers use eBGP to exchange inter-domain routes.</a:t>
            </a:r>
            <a:endParaRPr/>
          </a:p>
        </p:txBody>
      </p:sp>
      <p:cxnSp>
        <p:nvCxnSpPr>
          <p:cNvPr id="423" name="Google Shape;423;p32"/>
          <p:cNvCxnSpPr/>
          <p:nvPr/>
        </p:nvCxnSpPr>
        <p:spPr>
          <a:xfrm>
            <a:off x="1970873" y="4041689"/>
            <a:ext cx="622200" cy="207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24" name="Google Shape;424;p32"/>
          <p:cNvCxnSpPr/>
          <p:nvPr/>
        </p:nvCxnSpPr>
        <p:spPr>
          <a:xfrm>
            <a:off x="3246925" y="4281919"/>
            <a:ext cx="867300" cy="30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25" name="Google Shape;425;p32"/>
          <p:cNvCxnSpPr/>
          <p:nvPr/>
        </p:nvCxnSpPr>
        <p:spPr>
          <a:xfrm flipH="1" rot="10800000">
            <a:off x="4703593" y="4086243"/>
            <a:ext cx="391200" cy="176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26" name="Google Shape;426;p32"/>
          <p:cNvCxnSpPr/>
          <p:nvPr/>
        </p:nvCxnSpPr>
        <p:spPr>
          <a:xfrm flipH="1" rot="10800000">
            <a:off x="5603500" y="3943425"/>
            <a:ext cx="496800" cy="102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27" name="Google Shape;427;p32"/>
          <p:cNvCxnSpPr/>
          <p:nvPr/>
        </p:nvCxnSpPr>
        <p:spPr>
          <a:xfrm rot="10800000">
            <a:off x="4121000" y="3612825"/>
            <a:ext cx="434400" cy="306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28" name="Google Shape;428;p32"/>
          <p:cNvCxnSpPr/>
          <p:nvPr/>
        </p:nvCxnSpPr>
        <p:spPr>
          <a:xfrm flipH="1" rot="10800000">
            <a:off x="3083400" y="3613875"/>
            <a:ext cx="525900" cy="324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29" name="Google Shape;429;p32"/>
          <p:cNvCxnSpPr/>
          <p:nvPr/>
        </p:nvCxnSpPr>
        <p:spPr>
          <a:xfrm flipH="1" rot="10800000">
            <a:off x="2797250" y="3314625"/>
            <a:ext cx="191700" cy="528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30" name="Google Shape;430;p32"/>
          <p:cNvCxnSpPr/>
          <p:nvPr/>
        </p:nvCxnSpPr>
        <p:spPr>
          <a:xfrm>
            <a:off x="3473125" y="3067875"/>
            <a:ext cx="378600" cy="347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31" name="Google Shape;431;p32"/>
          <p:cNvCxnSpPr>
            <a:stCxn id="432" idx="1"/>
            <a:endCxn id="402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" name="Google Shape;433;p32"/>
          <p:cNvCxnSpPr>
            <a:stCxn id="434" idx="3"/>
            <a:endCxn id="402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" name="Google Shape;435;p32"/>
          <p:cNvCxnSpPr>
            <a:stCxn id="434" idx="2"/>
            <a:endCxn id="436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" name="Google Shape;437;p32"/>
          <p:cNvCxnSpPr>
            <a:stCxn id="436" idx="2"/>
            <a:endCxn id="401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" name="Google Shape;438;p32"/>
          <p:cNvCxnSpPr>
            <a:stCxn id="439" idx="4"/>
            <a:endCxn id="399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2" name="Google Shape;432;p32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p32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" name="Google Shape;436;p32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" name="Google Shape;439;p32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0" name="Google Shape;440;p32"/>
          <p:cNvCxnSpPr/>
          <p:nvPr/>
        </p:nvCxnSpPr>
        <p:spPr>
          <a:xfrm>
            <a:off x="780775" y="3660781"/>
            <a:ext cx="620400" cy="266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41" name="Google Shape;441;p32"/>
          <p:cNvCxnSpPr/>
          <p:nvPr/>
        </p:nvCxnSpPr>
        <p:spPr>
          <a:xfrm flipH="1">
            <a:off x="3285275" y="2387375"/>
            <a:ext cx="1115700" cy="343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42" name="Google Shape;442;p32"/>
          <p:cNvCxnSpPr/>
          <p:nvPr/>
        </p:nvCxnSpPr>
        <p:spPr>
          <a:xfrm rot="10800000">
            <a:off x="6063425" y="2346975"/>
            <a:ext cx="646800" cy="326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43" name="Google Shape;443;p32"/>
          <p:cNvCxnSpPr/>
          <p:nvPr/>
        </p:nvCxnSpPr>
        <p:spPr>
          <a:xfrm flipH="1">
            <a:off x="6754325" y="3289000"/>
            <a:ext cx="272400" cy="373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44" name="Google Shape;444;p32"/>
          <p:cNvCxnSpPr/>
          <p:nvPr/>
        </p:nvCxnSpPr>
        <p:spPr>
          <a:xfrm rot="10800000">
            <a:off x="6754328" y="3845349"/>
            <a:ext cx="339600" cy="288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45" name="Google Shape;445;p32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32"/>
          <p:cNvSpPr/>
          <p:nvPr/>
        </p:nvSpPr>
        <p:spPr>
          <a:xfrm>
            <a:off x="7378975" y="3298250"/>
            <a:ext cx="1572600" cy="624300"/>
          </a:xfrm>
          <a:prstGeom prst="wedgeRoundRectCallout">
            <a:avLst>
              <a:gd fmla="val -38616" name="adj1"/>
              <a:gd fmla="val 75905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Hi AS#1. Did you know y</a:t>
            </a: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ou can reach Z via AS#5?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External BGP, Internal BGP, and IGP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452" name="Google Shape;452;p33"/>
          <p:cNvSpPr txBox="1"/>
          <p:nvPr>
            <p:ph idx="1" type="body"/>
          </p:nvPr>
        </p:nvSpPr>
        <p:spPr>
          <a:xfrm>
            <a:off x="107050" y="402200"/>
            <a:ext cx="8909700" cy="13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Internal </a:t>
            </a:r>
            <a:r>
              <a:rPr b="1" lang="en"/>
              <a:t>BGP (iBGP) session</a:t>
            </a:r>
            <a:r>
              <a:rPr lang="en"/>
              <a:t>: Between two routers in the </a:t>
            </a:r>
            <a:r>
              <a:rPr i="1" lang="en"/>
              <a:t>same</a:t>
            </a:r>
            <a:r>
              <a:rPr lang="en"/>
              <a:t> AS.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Border routers use iBGP to distribute the routes it discovers to everyone else in the AS.</a:t>
            </a:r>
            <a:endParaRPr/>
          </a:p>
        </p:txBody>
      </p:sp>
      <p:sp>
        <p:nvSpPr>
          <p:cNvPr id="453" name="Google Shape;453;p33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33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33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p33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33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8" name="Google Shape;458;p33"/>
          <p:cNvCxnSpPr>
            <a:stCxn id="454" idx="3"/>
            <a:endCxn id="459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" name="Google Shape;460;p33"/>
          <p:cNvCxnSpPr>
            <a:stCxn id="459" idx="3"/>
            <a:endCxn id="455" idx="1"/>
          </p:cNvCxnSpPr>
          <p:nvPr/>
        </p:nvCxnSpPr>
        <p:spPr>
          <a:xfrm flipH="1" rot="10800000">
            <a:off x="3015950" y="3710025"/>
            <a:ext cx="693300" cy="4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" name="Google Shape;461;p33"/>
          <p:cNvCxnSpPr>
            <a:stCxn id="459" idx="0"/>
            <a:endCxn id="456" idx="2"/>
          </p:cNvCxnSpPr>
          <p:nvPr/>
        </p:nvCxnSpPr>
        <p:spPr>
          <a:xfrm flipH="1" rot="10800000">
            <a:off x="2873450" y="3207825"/>
            <a:ext cx="285000" cy="78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" name="Google Shape;462;p33"/>
          <p:cNvCxnSpPr>
            <a:stCxn id="456" idx="3"/>
            <a:endCxn id="455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3" name="Google Shape;463;p33"/>
          <p:cNvCxnSpPr>
            <a:stCxn id="459" idx="3"/>
            <a:endCxn id="464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" name="Google Shape;465;p33"/>
          <p:cNvCxnSpPr>
            <a:stCxn id="464" idx="0"/>
            <a:endCxn id="455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" name="Google Shape;466;p33"/>
          <p:cNvCxnSpPr>
            <a:stCxn id="464" idx="3"/>
            <a:endCxn id="467" idx="1"/>
          </p:cNvCxnSpPr>
          <p:nvPr/>
        </p:nvCxnSpPr>
        <p:spPr>
          <a:xfrm flipH="1" rot="10800000">
            <a:off x="4605925" y="3936950"/>
            <a:ext cx="544800" cy="24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" name="Google Shape;468;p33"/>
          <p:cNvCxnSpPr>
            <a:stCxn id="467" idx="3"/>
            <a:endCxn id="457" idx="1"/>
          </p:cNvCxnSpPr>
          <p:nvPr/>
        </p:nvCxnSpPr>
        <p:spPr>
          <a:xfrm flipH="1" rot="10800000">
            <a:off x="5435775" y="3776375"/>
            <a:ext cx="771600" cy="16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9" name="Google Shape;469;p33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33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Google Shape;471;p33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2" name="Google Shape;472;p33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3" name="Google Shape;473;p33"/>
          <p:cNvCxnSpPr>
            <a:endCxn id="471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4" name="Google Shape;474;p33"/>
          <p:cNvCxnSpPr>
            <a:stCxn id="470" idx="7"/>
          </p:cNvCxnSpPr>
          <p:nvPr/>
        </p:nvCxnSpPr>
        <p:spPr>
          <a:xfrm flipH="1" rot="10800000">
            <a:off x="4237400" y="4324212"/>
            <a:ext cx="225900" cy="2394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33"/>
          <p:cNvCxnSpPr>
            <a:endCxn id="472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9" name="Google Shape;459;p33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p33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" name="Google Shape;467;p33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6" name="Google Shape;476;p33"/>
          <p:cNvCxnSpPr/>
          <p:nvPr/>
        </p:nvCxnSpPr>
        <p:spPr>
          <a:xfrm>
            <a:off x="1970873" y="4041689"/>
            <a:ext cx="622200" cy="207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77" name="Google Shape;477;p33"/>
          <p:cNvCxnSpPr/>
          <p:nvPr/>
        </p:nvCxnSpPr>
        <p:spPr>
          <a:xfrm>
            <a:off x="3246925" y="4281919"/>
            <a:ext cx="867300" cy="30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78" name="Google Shape;478;p33"/>
          <p:cNvCxnSpPr/>
          <p:nvPr/>
        </p:nvCxnSpPr>
        <p:spPr>
          <a:xfrm flipH="1" rot="10800000">
            <a:off x="4703593" y="4086243"/>
            <a:ext cx="391200" cy="1764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79" name="Google Shape;479;p33"/>
          <p:cNvCxnSpPr/>
          <p:nvPr/>
        </p:nvCxnSpPr>
        <p:spPr>
          <a:xfrm flipH="1" rot="10800000">
            <a:off x="5603500" y="3943425"/>
            <a:ext cx="496800" cy="102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80" name="Google Shape;480;p33"/>
          <p:cNvCxnSpPr/>
          <p:nvPr/>
        </p:nvCxnSpPr>
        <p:spPr>
          <a:xfrm rot="10800000">
            <a:off x="4121000" y="3612825"/>
            <a:ext cx="434400" cy="306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81" name="Google Shape;481;p33"/>
          <p:cNvCxnSpPr/>
          <p:nvPr/>
        </p:nvCxnSpPr>
        <p:spPr>
          <a:xfrm flipH="1" rot="10800000">
            <a:off x="3083400" y="3613875"/>
            <a:ext cx="525900" cy="324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82" name="Google Shape;482;p33"/>
          <p:cNvCxnSpPr/>
          <p:nvPr/>
        </p:nvCxnSpPr>
        <p:spPr>
          <a:xfrm flipH="1" rot="10800000">
            <a:off x="2797250" y="3314625"/>
            <a:ext cx="191700" cy="528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83" name="Google Shape;483;p33"/>
          <p:cNvCxnSpPr/>
          <p:nvPr/>
        </p:nvCxnSpPr>
        <p:spPr>
          <a:xfrm>
            <a:off x="3473125" y="3067875"/>
            <a:ext cx="378600" cy="347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84" name="Google Shape;484;p33"/>
          <p:cNvCxnSpPr>
            <a:stCxn id="485" idx="1"/>
            <a:endCxn id="457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" name="Google Shape;486;p33"/>
          <p:cNvCxnSpPr>
            <a:stCxn id="487" idx="3"/>
            <a:endCxn id="457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" name="Google Shape;488;p33"/>
          <p:cNvCxnSpPr>
            <a:stCxn id="487" idx="2"/>
            <a:endCxn id="489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0" name="Google Shape;490;p33"/>
          <p:cNvCxnSpPr>
            <a:stCxn id="489" idx="2"/>
            <a:endCxn id="456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" name="Google Shape;491;p33"/>
          <p:cNvCxnSpPr>
            <a:stCxn id="492" idx="4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5" name="Google Shape;485;p33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33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33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" name="Google Shape;492;p33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3" name="Google Shape;493;p33"/>
          <p:cNvCxnSpPr/>
          <p:nvPr/>
        </p:nvCxnSpPr>
        <p:spPr>
          <a:xfrm>
            <a:off x="780775" y="3660781"/>
            <a:ext cx="620400" cy="2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94" name="Google Shape;494;p33"/>
          <p:cNvCxnSpPr/>
          <p:nvPr/>
        </p:nvCxnSpPr>
        <p:spPr>
          <a:xfrm flipH="1">
            <a:off x="3285275" y="2387375"/>
            <a:ext cx="1115700" cy="343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95" name="Google Shape;495;p33"/>
          <p:cNvCxnSpPr/>
          <p:nvPr/>
        </p:nvCxnSpPr>
        <p:spPr>
          <a:xfrm rot="10800000">
            <a:off x="6063425" y="2346975"/>
            <a:ext cx="646800" cy="326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96" name="Google Shape;496;p33"/>
          <p:cNvCxnSpPr/>
          <p:nvPr/>
        </p:nvCxnSpPr>
        <p:spPr>
          <a:xfrm flipH="1">
            <a:off x="6754325" y="3289000"/>
            <a:ext cx="272400" cy="373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97" name="Google Shape;497;p33"/>
          <p:cNvCxnSpPr/>
          <p:nvPr/>
        </p:nvCxnSpPr>
        <p:spPr>
          <a:xfrm rot="10800000">
            <a:off x="6754328" y="3845349"/>
            <a:ext cx="339600" cy="288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98" name="Google Shape;498;p33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9" name="Google Shape;499;p33"/>
          <p:cNvSpPr/>
          <p:nvPr/>
        </p:nvSpPr>
        <p:spPr>
          <a:xfrm>
            <a:off x="5210488" y="4286750"/>
            <a:ext cx="1341000" cy="624300"/>
          </a:xfrm>
          <a:prstGeom prst="wedgeRoundRectCallout">
            <a:avLst>
              <a:gd fmla="val 35053" name="adj1"/>
              <a:gd fmla="val -95935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Hey everyone, I just </a:t>
            </a: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found a way to reach Z.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4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" name="Google Shape;505;p34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34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7" name="Google Shape;507;p34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8" name="Google Shape;508;p34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9" name="Google Shape;509;p34"/>
          <p:cNvCxnSpPr>
            <a:stCxn id="505" idx="3"/>
            <a:endCxn id="510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" name="Google Shape;511;p34"/>
          <p:cNvCxnSpPr>
            <a:stCxn id="510" idx="3"/>
            <a:endCxn id="506" idx="1"/>
          </p:cNvCxnSpPr>
          <p:nvPr/>
        </p:nvCxnSpPr>
        <p:spPr>
          <a:xfrm flipH="1" rot="10800000">
            <a:off x="3015950" y="3710025"/>
            <a:ext cx="693300" cy="4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34"/>
          <p:cNvCxnSpPr>
            <a:stCxn id="510" idx="0"/>
            <a:endCxn id="507" idx="2"/>
          </p:cNvCxnSpPr>
          <p:nvPr/>
        </p:nvCxnSpPr>
        <p:spPr>
          <a:xfrm flipH="1" rot="10800000">
            <a:off x="2873450" y="3207825"/>
            <a:ext cx="285000" cy="78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" name="Google Shape;513;p34"/>
          <p:cNvCxnSpPr>
            <a:stCxn id="507" idx="3"/>
            <a:endCxn id="506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34"/>
          <p:cNvCxnSpPr>
            <a:stCxn id="510" idx="3"/>
            <a:endCxn id="515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" name="Google Shape;516;p34"/>
          <p:cNvCxnSpPr>
            <a:stCxn id="515" idx="0"/>
            <a:endCxn id="506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7" name="Google Shape;517;p34"/>
          <p:cNvCxnSpPr>
            <a:stCxn id="515" idx="3"/>
            <a:endCxn id="518" idx="1"/>
          </p:cNvCxnSpPr>
          <p:nvPr/>
        </p:nvCxnSpPr>
        <p:spPr>
          <a:xfrm flipH="1" rot="10800000">
            <a:off x="4605925" y="3936950"/>
            <a:ext cx="544800" cy="24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34"/>
          <p:cNvCxnSpPr>
            <a:stCxn id="518" idx="3"/>
            <a:endCxn id="508" idx="1"/>
          </p:cNvCxnSpPr>
          <p:nvPr/>
        </p:nvCxnSpPr>
        <p:spPr>
          <a:xfrm flipH="1" rot="10800000">
            <a:off x="5435775" y="3776375"/>
            <a:ext cx="771600" cy="16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0" name="Google Shape;520;p34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" name="Google Shape;521;p34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3" name="Google Shape;523;p34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4" name="Google Shape;524;p34"/>
          <p:cNvCxnSpPr>
            <a:endCxn id="522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4"/>
          <p:cNvCxnSpPr>
            <a:stCxn id="521" idx="7"/>
          </p:cNvCxnSpPr>
          <p:nvPr/>
        </p:nvCxnSpPr>
        <p:spPr>
          <a:xfrm flipH="1" rot="10800000">
            <a:off x="4237400" y="4324212"/>
            <a:ext cx="225900" cy="2394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4"/>
          <p:cNvCxnSpPr>
            <a:endCxn id="523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" name="Google Shape;510;p34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34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8" name="Google Shape;518;p34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Google Shape;527;p3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External BGP, Internal BGP, and IGP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528" name="Google Shape;528;p34"/>
          <p:cNvSpPr txBox="1"/>
          <p:nvPr>
            <p:ph idx="1" type="body"/>
          </p:nvPr>
        </p:nvSpPr>
        <p:spPr>
          <a:xfrm>
            <a:off x="107050" y="402200"/>
            <a:ext cx="8909700" cy="13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Interior </a:t>
            </a:r>
            <a:r>
              <a:rPr b="1" lang="en"/>
              <a:t>gateway protocol</a:t>
            </a:r>
            <a:r>
              <a:rPr lang="en"/>
              <a:t>: Between two routers in the </a:t>
            </a:r>
            <a:r>
              <a:rPr i="1" lang="en"/>
              <a:t>same </a:t>
            </a:r>
            <a:r>
              <a:rPr lang="en"/>
              <a:t>AS.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Used to find paths inside the AS (e.g. distance-vector, link-state).</a:t>
            </a:r>
            <a:endParaRPr/>
          </a:p>
        </p:txBody>
      </p:sp>
      <p:cxnSp>
        <p:nvCxnSpPr>
          <p:cNvPr id="529" name="Google Shape;529;p34"/>
          <p:cNvCxnSpPr/>
          <p:nvPr/>
        </p:nvCxnSpPr>
        <p:spPr>
          <a:xfrm>
            <a:off x="1970873" y="4041689"/>
            <a:ext cx="622200" cy="207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30" name="Google Shape;530;p34"/>
          <p:cNvCxnSpPr/>
          <p:nvPr/>
        </p:nvCxnSpPr>
        <p:spPr>
          <a:xfrm>
            <a:off x="3246925" y="4281919"/>
            <a:ext cx="867300" cy="30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31" name="Google Shape;531;p34"/>
          <p:cNvCxnSpPr/>
          <p:nvPr/>
        </p:nvCxnSpPr>
        <p:spPr>
          <a:xfrm flipH="1" rot="10800000">
            <a:off x="4703593" y="4086243"/>
            <a:ext cx="391200" cy="176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32" name="Google Shape;532;p34"/>
          <p:cNvCxnSpPr/>
          <p:nvPr/>
        </p:nvCxnSpPr>
        <p:spPr>
          <a:xfrm flipH="1" rot="10800000">
            <a:off x="5603500" y="3943425"/>
            <a:ext cx="496800" cy="102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33" name="Google Shape;533;p34"/>
          <p:cNvCxnSpPr/>
          <p:nvPr/>
        </p:nvCxnSpPr>
        <p:spPr>
          <a:xfrm rot="10800000">
            <a:off x="4121000" y="3612825"/>
            <a:ext cx="434400" cy="306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34" name="Google Shape;534;p34"/>
          <p:cNvCxnSpPr/>
          <p:nvPr/>
        </p:nvCxnSpPr>
        <p:spPr>
          <a:xfrm flipH="1" rot="10800000">
            <a:off x="3083400" y="3613875"/>
            <a:ext cx="525900" cy="324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35" name="Google Shape;535;p34"/>
          <p:cNvCxnSpPr/>
          <p:nvPr/>
        </p:nvCxnSpPr>
        <p:spPr>
          <a:xfrm flipH="1" rot="10800000">
            <a:off x="2797250" y="3314625"/>
            <a:ext cx="191700" cy="528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36" name="Google Shape;536;p34"/>
          <p:cNvCxnSpPr/>
          <p:nvPr/>
        </p:nvCxnSpPr>
        <p:spPr>
          <a:xfrm>
            <a:off x="3473125" y="3067875"/>
            <a:ext cx="378600" cy="347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37" name="Google Shape;537;p34"/>
          <p:cNvCxnSpPr/>
          <p:nvPr/>
        </p:nvCxnSpPr>
        <p:spPr>
          <a:xfrm>
            <a:off x="1970873" y="4194089"/>
            <a:ext cx="622200" cy="2079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38" name="Google Shape;538;p34"/>
          <p:cNvCxnSpPr/>
          <p:nvPr/>
        </p:nvCxnSpPr>
        <p:spPr>
          <a:xfrm flipH="1" rot="10800000">
            <a:off x="2644850" y="3314625"/>
            <a:ext cx="191700" cy="5280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39" name="Google Shape;539;p34"/>
          <p:cNvCxnSpPr/>
          <p:nvPr/>
        </p:nvCxnSpPr>
        <p:spPr>
          <a:xfrm flipH="1" rot="10800000">
            <a:off x="3083400" y="3461475"/>
            <a:ext cx="525900" cy="3249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40" name="Google Shape;540;p34"/>
          <p:cNvCxnSpPr/>
          <p:nvPr/>
        </p:nvCxnSpPr>
        <p:spPr>
          <a:xfrm>
            <a:off x="3473125" y="2915475"/>
            <a:ext cx="378600" cy="3471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41" name="Google Shape;541;p34"/>
          <p:cNvCxnSpPr/>
          <p:nvPr/>
        </p:nvCxnSpPr>
        <p:spPr>
          <a:xfrm rot="10800000">
            <a:off x="4121000" y="3460425"/>
            <a:ext cx="434400" cy="3060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42" name="Google Shape;542;p34"/>
          <p:cNvCxnSpPr/>
          <p:nvPr/>
        </p:nvCxnSpPr>
        <p:spPr>
          <a:xfrm>
            <a:off x="3246925" y="4399572"/>
            <a:ext cx="867300" cy="300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43" name="Google Shape;543;p34"/>
          <p:cNvCxnSpPr/>
          <p:nvPr/>
        </p:nvCxnSpPr>
        <p:spPr>
          <a:xfrm flipH="1" rot="10800000">
            <a:off x="4703593" y="4238643"/>
            <a:ext cx="391200" cy="1764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44" name="Google Shape;544;p34"/>
          <p:cNvCxnSpPr/>
          <p:nvPr/>
        </p:nvCxnSpPr>
        <p:spPr>
          <a:xfrm flipH="1" rot="10800000">
            <a:off x="5603500" y="4095825"/>
            <a:ext cx="496800" cy="1026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45" name="Google Shape;545;p34"/>
          <p:cNvCxnSpPr>
            <a:stCxn id="546" idx="1"/>
            <a:endCxn id="508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" name="Google Shape;547;p34"/>
          <p:cNvCxnSpPr>
            <a:stCxn id="548" idx="3"/>
            <a:endCxn id="508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9" name="Google Shape;549;p34"/>
          <p:cNvCxnSpPr>
            <a:stCxn id="548" idx="2"/>
            <a:endCxn id="550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" name="Google Shape;551;p34"/>
          <p:cNvCxnSpPr>
            <a:stCxn id="550" idx="2"/>
            <a:endCxn id="507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34"/>
          <p:cNvCxnSpPr>
            <a:stCxn id="553" idx="4"/>
            <a:endCxn id="505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6" name="Google Shape;546;p34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8" name="Google Shape;548;p34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p34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" name="Google Shape;553;p34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4" name="Google Shape;554;p34"/>
          <p:cNvCxnSpPr/>
          <p:nvPr/>
        </p:nvCxnSpPr>
        <p:spPr>
          <a:xfrm>
            <a:off x="780775" y="3660781"/>
            <a:ext cx="620400" cy="2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55" name="Google Shape;555;p34"/>
          <p:cNvCxnSpPr/>
          <p:nvPr/>
        </p:nvCxnSpPr>
        <p:spPr>
          <a:xfrm flipH="1">
            <a:off x="3285275" y="2387375"/>
            <a:ext cx="1115700" cy="343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56" name="Google Shape;556;p34"/>
          <p:cNvCxnSpPr/>
          <p:nvPr/>
        </p:nvCxnSpPr>
        <p:spPr>
          <a:xfrm rot="10800000">
            <a:off x="6063425" y="2346975"/>
            <a:ext cx="646800" cy="326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57" name="Google Shape;557;p34"/>
          <p:cNvCxnSpPr/>
          <p:nvPr/>
        </p:nvCxnSpPr>
        <p:spPr>
          <a:xfrm flipH="1">
            <a:off x="6754325" y="3289000"/>
            <a:ext cx="272400" cy="373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58" name="Google Shape;558;p34"/>
          <p:cNvCxnSpPr/>
          <p:nvPr/>
        </p:nvCxnSpPr>
        <p:spPr>
          <a:xfrm rot="10800000">
            <a:off x="6754328" y="3845349"/>
            <a:ext cx="339600" cy="288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59" name="Google Shape;559;p34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External BGP, Internal BGP, and IGP</a:t>
            </a:r>
            <a:endParaRPr/>
          </a:p>
        </p:txBody>
      </p:sp>
      <p:sp>
        <p:nvSpPr>
          <p:cNvPr id="565" name="Google Shape;565;p35"/>
          <p:cNvSpPr txBox="1"/>
          <p:nvPr>
            <p:ph idx="1" type="body"/>
          </p:nvPr>
        </p:nvSpPr>
        <p:spPr>
          <a:xfrm>
            <a:off x="107050" y="402200"/>
            <a:ext cx="8909700" cy="25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Three types of communications between routers: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eBGP</a:t>
            </a:r>
            <a:r>
              <a:rPr lang="en"/>
              <a:t>: Routers in different ASes exchanging routes.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iBGP</a:t>
            </a:r>
            <a:r>
              <a:rPr lang="en"/>
              <a:t>: Router </a:t>
            </a:r>
            <a:r>
              <a:rPr lang="en"/>
              <a:t>distributing externally-learned routes to interior routers.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IGP</a:t>
            </a:r>
            <a:r>
              <a:rPr lang="en"/>
              <a:t>: Intra-domain routing protocols for internal reachability.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Be careful not to confuse iBGP and IGP.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Both are between interior routers.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iBGP is for external routes, and IGP is for internal routes.</a:t>
            </a:r>
            <a:endParaRPr/>
          </a:p>
        </p:txBody>
      </p:sp>
      <p:cxnSp>
        <p:nvCxnSpPr>
          <p:cNvPr id="566" name="Google Shape;566;p35"/>
          <p:cNvCxnSpPr>
            <a:stCxn id="567" idx="3"/>
            <a:endCxn id="568" idx="1"/>
          </p:cNvCxnSpPr>
          <p:nvPr/>
        </p:nvCxnSpPr>
        <p:spPr>
          <a:xfrm>
            <a:off x="5927575" y="3534163"/>
            <a:ext cx="1261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7" name="Google Shape;567;p35"/>
          <p:cNvSpPr/>
          <p:nvPr/>
        </p:nvSpPr>
        <p:spPr>
          <a:xfrm>
            <a:off x="5642575" y="339166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8" name="Google Shape;568;p35"/>
          <p:cNvSpPr/>
          <p:nvPr/>
        </p:nvSpPr>
        <p:spPr>
          <a:xfrm>
            <a:off x="7188725" y="339166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9" name="Google Shape;569;p35"/>
          <p:cNvCxnSpPr/>
          <p:nvPr/>
        </p:nvCxnSpPr>
        <p:spPr>
          <a:xfrm>
            <a:off x="6116950" y="3678563"/>
            <a:ext cx="8667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70" name="Google Shape;570;p35"/>
          <p:cNvSpPr txBox="1"/>
          <p:nvPr/>
        </p:nvSpPr>
        <p:spPr>
          <a:xfrm>
            <a:off x="717525" y="3265725"/>
            <a:ext cx="3243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0" spcFirstLastPara="1" rIns="0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Routing protocols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1" name="Google Shape;571;p35"/>
          <p:cNvSpPr txBox="1"/>
          <p:nvPr/>
        </p:nvSpPr>
        <p:spPr>
          <a:xfrm>
            <a:off x="717525" y="3930275"/>
            <a:ext cx="137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0" spcFirstLastPara="1" rIns="0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Inter-domain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2" name="Google Shape;572;p35"/>
          <p:cNvSpPr txBox="1"/>
          <p:nvPr/>
        </p:nvSpPr>
        <p:spPr>
          <a:xfrm>
            <a:off x="2589900" y="3930275"/>
            <a:ext cx="137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0" spcFirstLastPara="1" rIns="0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Intra-domain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3" name="Google Shape;573;p35"/>
          <p:cNvSpPr txBox="1"/>
          <p:nvPr/>
        </p:nvSpPr>
        <p:spPr>
          <a:xfrm>
            <a:off x="717525" y="4594825"/>
            <a:ext cx="633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0" spcFirstLastPara="1" rIns="0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eBGP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4" name="Google Shape;574;p35"/>
          <p:cNvSpPr txBox="1"/>
          <p:nvPr/>
        </p:nvSpPr>
        <p:spPr>
          <a:xfrm>
            <a:off x="1454625" y="4594825"/>
            <a:ext cx="633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0" spcFirstLastPara="1" rIns="0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iBGP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" name="Google Shape;575;p35"/>
          <p:cNvSpPr txBox="1"/>
          <p:nvPr/>
        </p:nvSpPr>
        <p:spPr>
          <a:xfrm>
            <a:off x="2958450" y="4594825"/>
            <a:ext cx="633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0" spcFirstLastPara="1" rIns="0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IGP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6" name="Google Shape;576;p35"/>
          <p:cNvCxnSpPr/>
          <p:nvPr/>
        </p:nvCxnSpPr>
        <p:spPr>
          <a:xfrm>
            <a:off x="6116950" y="3830963"/>
            <a:ext cx="8667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77" name="Google Shape;577;p35"/>
          <p:cNvCxnSpPr>
            <a:stCxn id="570" idx="2"/>
            <a:endCxn id="571" idx="0"/>
          </p:cNvCxnSpPr>
          <p:nvPr/>
        </p:nvCxnSpPr>
        <p:spPr>
          <a:xfrm flipH="1">
            <a:off x="1403175" y="3536625"/>
            <a:ext cx="936000" cy="39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" name="Google Shape;578;p35"/>
          <p:cNvCxnSpPr>
            <a:stCxn id="570" idx="2"/>
            <a:endCxn id="572" idx="0"/>
          </p:cNvCxnSpPr>
          <p:nvPr/>
        </p:nvCxnSpPr>
        <p:spPr>
          <a:xfrm>
            <a:off x="2339175" y="3536625"/>
            <a:ext cx="936300" cy="39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35"/>
          <p:cNvCxnSpPr>
            <a:stCxn id="571" idx="2"/>
            <a:endCxn id="573" idx="0"/>
          </p:cNvCxnSpPr>
          <p:nvPr/>
        </p:nvCxnSpPr>
        <p:spPr>
          <a:xfrm flipH="1">
            <a:off x="1034625" y="4201175"/>
            <a:ext cx="368400" cy="39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" name="Google Shape;580;p35"/>
          <p:cNvCxnSpPr>
            <a:stCxn id="571" idx="2"/>
            <a:endCxn id="574" idx="0"/>
          </p:cNvCxnSpPr>
          <p:nvPr/>
        </p:nvCxnSpPr>
        <p:spPr>
          <a:xfrm>
            <a:off x="1403025" y="4201175"/>
            <a:ext cx="368700" cy="39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" name="Google Shape;581;p35"/>
          <p:cNvCxnSpPr>
            <a:stCxn id="572" idx="2"/>
            <a:endCxn id="575" idx="0"/>
          </p:cNvCxnSpPr>
          <p:nvPr/>
        </p:nvCxnSpPr>
        <p:spPr>
          <a:xfrm>
            <a:off x="3275400" y="4201175"/>
            <a:ext cx="0" cy="39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2" name="Google Shape;582;p35"/>
          <p:cNvSpPr txBox="1"/>
          <p:nvPr/>
        </p:nvSpPr>
        <p:spPr>
          <a:xfrm>
            <a:off x="4572000" y="4037788"/>
            <a:ext cx="39723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0" spcFirstLastPara="1" rIns="0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iBGP: "I can reach AS#5 via [AS#7, AS#9]."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IGP: "I can reach C with cost 3."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Combining Intra-Domain and Inter-Domain Routing</a:t>
            </a:r>
            <a:endParaRPr/>
          </a:p>
        </p:txBody>
      </p:sp>
      <p:sp>
        <p:nvSpPr>
          <p:cNvPr id="588" name="Google Shape;588;p36"/>
          <p:cNvSpPr txBox="1"/>
          <p:nvPr>
            <p:ph idx="1" type="body"/>
          </p:nvPr>
        </p:nvSpPr>
        <p:spPr>
          <a:xfrm>
            <a:off x="107050" y="402200"/>
            <a:ext cx="8909700" cy="15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Use </a:t>
            </a:r>
            <a:r>
              <a:rPr lang="en">
                <a:solidFill>
                  <a:schemeClr val="accent2"/>
                </a:solidFill>
              </a:rPr>
              <a:t>IGP</a:t>
            </a:r>
            <a:r>
              <a:rPr lang="en"/>
              <a:t> to learn </a:t>
            </a:r>
            <a:r>
              <a:rPr i="1" lang="en"/>
              <a:t>internal</a:t>
            </a:r>
            <a:r>
              <a:rPr lang="en"/>
              <a:t> routes to others in the AS.</a:t>
            </a:r>
            <a:endParaRPr/>
          </a:p>
        </p:txBody>
      </p:sp>
      <p:sp>
        <p:nvSpPr>
          <p:cNvPr id="589" name="Google Shape;589;p36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0" name="Google Shape;590;p36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1" name="Google Shape;591;p36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2" name="Google Shape;592;p36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3" name="Google Shape;593;p36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4" name="Google Shape;594;p36"/>
          <p:cNvCxnSpPr>
            <a:stCxn id="590" idx="3"/>
            <a:endCxn id="595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" name="Google Shape;596;p36"/>
          <p:cNvCxnSpPr>
            <a:stCxn id="595" idx="3"/>
            <a:endCxn id="591" idx="1"/>
          </p:cNvCxnSpPr>
          <p:nvPr/>
        </p:nvCxnSpPr>
        <p:spPr>
          <a:xfrm flipH="1" rot="10800000">
            <a:off x="3015950" y="3710025"/>
            <a:ext cx="693300" cy="4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" name="Google Shape;597;p36"/>
          <p:cNvCxnSpPr>
            <a:stCxn id="595" idx="0"/>
            <a:endCxn id="592" idx="2"/>
          </p:cNvCxnSpPr>
          <p:nvPr/>
        </p:nvCxnSpPr>
        <p:spPr>
          <a:xfrm flipH="1" rot="10800000">
            <a:off x="2873450" y="3207825"/>
            <a:ext cx="285000" cy="78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8" name="Google Shape;598;p36"/>
          <p:cNvCxnSpPr>
            <a:stCxn id="592" idx="3"/>
            <a:endCxn id="591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9" name="Google Shape;599;p36"/>
          <p:cNvCxnSpPr>
            <a:stCxn id="595" idx="3"/>
            <a:endCxn id="600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" name="Google Shape;601;p36"/>
          <p:cNvCxnSpPr>
            <a:stCxn id="600" idx="0"/>
            <a:endCxn id="591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2" name="Google Shape;602;p36"/>
          <p:cNvCxnSpPr>
            <a:stCxn id="600" idx="3"/>
            <a:endCxn id="603" idx="1"/>
          </p:cNvCxnSpPr>
          <p:nvPr/>
        </p:nvCxnSpPr>
        <p:spPr>
          <a:xfrm flipH="1" rot="10800000">
            <a:off x="4605925" y="3936950"/>
            <a:ext cx="544800" cy="24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" name="Google Shape;604;p36"/>
          <p:cNvCxnSpPr>
            <a:stCxn id="603" idx="3"/>
            <a:endCxn id="593" idx="1"/>
          </p:cNvCxnSpPr>
          <p:nvPr/>
        </p:nvCxnSpPr>
        <p:spPr>
          <a:xfrm flipH="1" rot="10800000">
            <a:off x="5435775" y="3776375"/>
            <a:ext cx="771600" cy="16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5" name="Google Shape;605;p36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6" name="Google Shape;606;p36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p36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36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9" name="Google Shape;609;p36"/>
          <p:cNvCxnSpPr>
            <a:endCxn id="607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" name="Google Shape;610;p36"/>
          <p:cNvCxnSpPr>
            <a:stCxn id="606" idx="7"/>
          </p:cNvCxnSpPr>
          <p:nvPr/>
        </p:nvCxnSpPr>
        <p:spPr>
          <a:xfrm flipH="1" rot="10800000">
            <a:off x="4237400" y="4324212"/>
            <a:ext cx="225900" cy="2394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" name="Google Shape;611;p36"/>
          <p:cNvCxnSpPr>
            <a:endCxn id="608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5" name="Google Shape;595;p36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p36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3" name="Google Shape;603;p36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2" name="Google Shape;612;p36"/>
          <p:cNvCxnSpPr/>
          <p:nvPr/>
        </p:nvCxnSpPr>
        <p:spPr>
          <a:xfrm>
            <a:off x="1970873" y="4041689"/>
            <a:ext cx="622200" cy="207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13" name="Google Shape;613;p36"/>
          <p:cNvCxnSpPr/>
          <p:nvPr/>
        </p:nvCxnSpPr>
        <p:spPr>
          <a:xfrm>
            <a:off x="3246925" y="4281919"/>
            <a:ext cx="867300" cy="30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14" name="Google Shape;614;p36"/>
          <p:cNvCxnSpPr/>
          <p:nvPr/>
        </p:nvCxnSpPr>
        <p:spPr>
          <a:xfrm flipH="1" rot="10800000">
            <a:off x="4703593" y="4086243"/>
            <a:ext cx="391200" cy="176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15" name="Google Shape;615;p36"/>
          <p:cNvCxnSpPr/>
          <p:nvPr/>
        </p:nvCxnSpPr>
        <p:spPr>
          <a:xfrm flipH="1" rot="10800000">
            <a:off x="5603500" y="3943425"/>
            <a:ext cx="496800" cy="102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16" name="Google Shape;616;p36"/>
          <p:cNvCxnSpPr/>
          <p:nvPr/>
        </p:nvCxnSpPr>
        <p:spPr>
          <a:xfrm rot="10800000">
            <a:off x="4121000" y="3612825"/>
            <a:ext cx="434400" cy="306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17" name="Google Shape;617;p36"/>
          <p:cNvCxnSpPr/>
          <p:nvPr/>
        </p:nvCxnSpPr>
        <p:spPr>
          <a:xfrm flipH="1" rot="10800000">
            <a:off x="3083400" y="3613875"/>
            <a:ext cx="525900" cy="324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18" name="Google Shape;618;p36"/>
          <p:cNvCxnSpPr/>
          <p:nvPr/>
        </p:nvCxnSpPr>
        <p:spPr>
          <a:xfrm flipH="1" rot="10800000">
            <a:off x="2797250" y="3314625"/>
            <a:ext cx="191700" cy="528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19" name="Google Shape;619;p36"/>
          <p:cNvCxnSpPr/>
          <p:nvPr/>
        </p:nvCxnSpPr>
        <p:spPr>
          <a:xfrm>
            <a:off x="3473125" y="3067875"/>
            <a:ext cx="378600" cy="347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20" name="Google Shape;620;p36"/>
          <p:cNvCxnSpPr/>
          <p:nvPr/>
        </p:nvCxnSpPr>
        <p:spPr>
          <a:xfrm>
            <a:off x="1970873" y="4194089"/>
            <a:ext cx="622200" cy="2079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21" name="Google Shape;621;p36"/>
          <p:cNvCxnSpPr/>
          <p:nvPr/>
        </p:nvCxnSpPr>
        <p:spPr>
          <a:xfrm flipH="1" rot="10800000">
            <a:off x="2644850" y="3314625"/>
            <a:ext cx="191700" cy="5280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22" name="Google Shape;622;p36"/>
          <p:cNvCxnSpPr/>
          <p:nvPr/>
        </p:nvCxnSpPr>
        <p:spPr>
          <a:xfrm flipH="1" rot="10800000">
            <a:off x="3083400" y="3461475"/>
            <a:ext cx="525900" cy="3249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23" name="Google Shape;623;p36"/>
          <p:cNvCxnSpPr/>
          <p:nvPr/>
        </p:nvCxnSpPr>
        <p:spPr>
          <a:xfrm>
            <a:off x="3473125" y="2915475"/>
            <a:ext cx="378600" cy="3471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24" name="Google Shape;624;p36"/>
          <p:cNvCxnSpPr/>
          <p:nvPr/>
        </p:nvCxnSpPr>
        <p:spPr>
          <a:xfrm rot="10800000">
            <a:off x="4121000" y="3460425"/>
            <a:ext cx="434400" cy="3060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25" name="Google Shape;625;p36"/>
          <p:cNvCxnSpPr/>
          <p:nvPr/>
        </p:nvCxnSpPr>
        <p:spPr>
          <a:xfrm>
            <a:off x="3246925" y="4399572"/>
            <a:ext cx="867300" cy="300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26" name="Google Shape;626;p36"/>
          <p:cNvCxnSpPr/>
          <p:nvPr/>
        </p:nvCxnSpPr>
        <p:spPr>
          <a:xfrm flipH="1" rot="10800000">
            <a:off x="4703593" y="4238643"/>
            <a:ext cx="391200" cy="1764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27" name="Google Shape;627;p36"/>
          <p:cNvCxnSpPr/>
          <p:nvPr/>
        </p:nvCxnSpPr>
        <p:spPr>
          <a:xfrm flipH="1" rot="10800000">
            <a:off x="5603500" y="4095825"/>
            <a:ext cx="496800" cy="1026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28" name="Google Shape;628;p36"/>
          <p:cNvCxnSpPr>
            <a:stCxn id="629" idx="1"/>
            <a:endCxn id="593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0" name="Google Shape;630;p36"/>
          <p:cNvCxnSpPr>
            <a:stCxn id="631" idx="3"/>
            <a:endCxn id="593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2" name="Google Shape;632;p36"/>
          <p:cNvCxnSpPr>
            <a:stCxn id="631" idx="2"/>
            <a:endCxn id="633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4" name="Google Shape;634;p36"/>
          <p:cNvCxnSpPr>
            <a:stCxn id="633" idx="2"/>
            <a:endCxn id="592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5" name="Google Shape;635;p36"/>
          <p:cNvCxnSpPr>
            <a:stCxn id="636" idx="4"/>
            <a:endCxn id="590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9" name="Google Shape;629;p36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1" name="Google Shape;631;p36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3" name="Google Shape;633;p36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6" name="Google Shape;636;p36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7" name="Google Shape;637;p36"/>
          <p:cNvCxnSpPr/>
          <p:nvPr/>
        </p:nvCxnSpPr>
        <p:spPr>
          <a:xfrm>
            <a:off x="780775" y="3660781"/>
            <a:ext cx="620400" cy="2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38" name="Google Shape;638;p36"/>
          <p:cNvCxnSpPr/>
          <p:nvPr/>
        </p:nvCxnSpPr>
        <p:spPr>
          <a:xfrm flipH="1">
            <a:off x="3285275" y="2387375"/>
            <a:ext cx="1115700" cy="343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39" name="Google Shape;639;p36"/>
          <p:cNvCxnSpPr/>
          <p:nvPr/>
        </p:nvCxnSpPr>
        <p:spPr>
          <a:xfrm rot="10800000">
            <a:off x="6063425" y="2346975"/>
            <a:ext cx="646800" cy="326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40" name="Google Shape;640;p36"/>
          <p:cNvCxnSpPr/>
          <p:nvPr/>
        </p:nvCxnSpPr>
        <p:spPr>
          <a:xfrm flipH="1">
            <a:off x="6754325" y="3289000"/>
            <a:ext cx="272400" cy="373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41" name="Google Shape;641;p36"/>
          <p:cNvCxnSpPr/>
          <p:nvPr/>
        </p:nvCxnSpPr>
        <p:spPr>
          <a:xfrm rot="10800000">
            <a:off x="6754328" y="3845349"/>
            <a:ext cx="339600" cy="288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42" name="Google Shape;642;p36"/>
          <p:cNvSpPr/>
          <p:nvPr/>
        </p:nvSpPr>
        <p:spPr>
          <a:xfrm>
            <a:off x="4044050" y="4517225"/>
            <a:ext cx="2684400" cy="528000"/>
          </a:xfrm>
          <a:prstGeom prst="wedgeRoundRectCallout">
            <a:avLst>
              <a:gd fmla="val -33046" name="adj1"/>
              <a:gd fmla="val -72098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1. To reach G, my next-hop is F.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3" name="Google Shape;643;p36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Combining Intra-Domain and Inter-Domain Routing</a:t>
            </a:r>
            <a:endParaRPr/>
          </a:p>
        </p:txBody>
      </p:sp>
      <p:sp>
        <p:nvSpPr>
          <p:cNvPr id="649" name="Google Shape;649;p37"/>
          <p:cNvSpPr txBox="1"/>
          <p:nvPr>
            <p:ph idx="1" type="body"/>
          </p:nvPr>
        </p:nvSpPr>
        <p:spPr>
          <a:xfrm>
            <a:off x="107050" y="402200"/>
            <a:ext cx="8909700" cy="15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1. Use </a:t>
            </a:r>
            <a:r>
              <a:rPr lang="en">
                <a:solidFill>
                  <a:schemeClr val="accent2"/>
                </a:solidFill>
              </a:rPr>
              <a:t>IGP</a:t>
            </a:r>
            <a:r>
              <a:rPr lang="en"/>
              <a:t> to learn </a:t>
            </a:r>
            <a:r>
              <a:rPr i="1" lang="en"/>
              <a:t>internal</a:t>
            </a:r>
            <a:r>
              <a:rPr lang="en"/>
              <a:t> routes to others in the AS.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2. Use </a:t>
            </a:r>
            <a:r>
              <a:rPr lang="en">
                <a:solidFill>
                  <a:srgbClr val="0000FF"/>
                </a:solidFill>
              </a:rPr>
              <a:t>eBGP</a:t>
            </a:r>
            <a:r>
              <a:rPr lang="en"/>
              <a:t> to learn </a:t>
            </a:r>
            <a:r>
              <a:rPr i="1" lang="en"/>
              <a:t>external</a:t>
            </a:r>
            <a:r>
              <a:rPr lang="en"/>
              <a:t> routes to other ASes.</a:t>
            </a:r>
            <a:endParaRPr/>
          </a:p>
        </p:txBody>
      </p:sp>
      <p:sp>
        <p:nvSpPr>
          <p:cNvPr id="650" name="Google Shape;650;p37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1" name="Google Shape;651;p37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9FC5E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p37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37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9FC5E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4" name="Google Shape;654;p37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9FC5E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5" name="Google Shape;655;p37"/>
          <p:cNvCxnSpPr>
            <a:stCxn id="651" idx="3"/>
            <a:endCxn id="656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7" name="Google Shape;657;p37"/>
          <p:cNvCxnSpPr>
            <a:stCxn id="656" idx="3"/>
            <a:endCxn id="652" idx="1"/>
          </p:cNvCxnSpPr>
          <p:nvPr/>
        </p:nvCxnSpPr>
        <p:spPr>
          <a:xfrm flipH="1" rot="10800000">
            <a:off x="3015950" y="3710025"/>
            <a:ext cx="693300" cy="4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8" name="Google Shape;658;p37"/>
          <p:cNvCxnSpPr>
            <a:stCxn id="656" idx="0"/>
            <a:endCxn id="653" idx="2"/>
          </p:cNvCxnSpPr>
          <p:nvPr/>
        </p:nvCxnSpPr>
        <p:spPr>
          <a:xfrm flipH="1" rot="10800000">
            <a:off x="2873450" y="3207825"/>
            <a:ext cx="285000" cy="78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" name="Google Shape;659;p37"/>
          <p:cNvCxnSpPr>
            <a:stCxn id="653" idx="3"/>
            <a:endCxn id="652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0" name="Google Shape;660;p37"/>
          <p:cNvCxnSpPr>
            <a:stCxn id="656" idx="3"/>
            <a:endCxn id="661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2" name="Google Shape;662;p37"/>
          <p:cNvCxnSpPr>
            <a:stCxn id="661" idx="0"/>
            <a:endCxn id="652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3" name="Google Shape;663;p37"/>
          <p:cNvCxnSpPr>
            <a:stCxn id="661" idx="3"/>
            <a:endCxn id="664" idx="1"/>
          </p:cNvCxnSpPr>
          <p:nvPr/>
        </p:nvCxnSpPr>
        <p:spPr>
          <a:xfrm flipH="1" rot="10800000">
            <a:off x="4605925" y="3936950"/>
            <a:ext cx="544800" cy="24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5" name="Google Shape;665;p37"/>
          <p:cNvCxnSpPr>
            <a:stCxn id="664" idx="3"/>
            <a:endCxn id="654" idx="1"/>
          </p:cNvCxnSpPr>
          <p:nvPr/>
        </p:nvCxnSpPr>
        <p:spPr>
          <a:xfrm flipH="1" rot="10800000">
            <a:off x="5435775" y="3776375"/>
            <a:ext cx="771600" cy="16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6" name="Google Shape;666;p37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Google Shape;667;p37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37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9" name="Google Shape;669;p37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0" name="Google Shape;670;p37"/>
          <p:cNvCxnSpPr>
            <a:endCxn id="668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" name="Google Shape;671;p37"/>
          <p:cNvCxnSpPr>
            <a:stCxn id="667" idx="7"/>
          </p:cNvCxnSpPr>
          <p:nvPr/>
        </p:nvCxnSpPr>
        <p:spPr>
          <a:xfrm flipH="1" rot="10800000">
            <a:off x="4237400" y="4324212"/>
            <a:ext cx="225900" cy="2394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2" name="Google Shape;672;p37"/>
          <p:cNvCxnSpPr>
            <a:endCxn id="669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6" name="Google Shape;656;p37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1" name="Google Shape;661;p37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4" name="Google Shape;664;p37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3" name="Google Shape;673;p37"/>
          <p:cNvCxnSpPr/>
          <p:nvPr/>
        </p:nvCxnSpPr>
        <p:spPr>
          <a:xfrm>
            <a:off x="1970873" y="4041689"/>
            <a:ext cx="622200" cy="207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74" name="Google Shape;674;p37"/>
          <p:cNvCxnSpPr/>
          <p:nvPr/>
        </p:nvCxnSpPr>
        <p:spPr>
          <a:xfrm>
            <a:off x="3246925" y="4281919"/>
            <a:ext cx="867300" cy="30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75" name="Google Shape;675;p37"/>
          <p:cNvCxnSpPr/>
          <p:nvPr/>
        </p:nvCxnSpPr>
        <p:spPr>
          <a:xfrm flipH="1" rot="10800000">
            <a:off x="4703593" y="4086243"/>
            <a:ext cx="391200" cy="176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76" name="Google Shape;676;p37"/>
          <p:cNvCxnSpPr/>
          <p:nvPr/>
        </p:nvCxnSpPr>
        <p:spPr>
          <a:xfrm flipH="1" rot="10800000">
            <a:off x="5603500" y="3943425"/>
            <a:ext cx="496800" cy="102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77" name="Google Shape;677;p37"/>
          <p:cNvCxnSpPr/>
          <p:nvPr/>
        </p:nvCxnSpPr>
        <p:spPr>
          <a:xfrm rot="10800000">
            <a:off x="4121000" y="3612825"/>
            <a:ext cx="434400" cy="306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78" name="Google Shape;678;p37"/>
          <p:cNvCxnSpPr/>
          <p:nvPr/>
        </p:nvCxnSpPr>
        <p:spPr>
          <a:xfrm flipH="1" rot="10800000">
            <a:off x="3083400" y="3613875"/>
            <a:ext cx="525900" cy="324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79" name="Google Shape;679;p37"/>
          <p:cNvCxnSpPr/>
          <p:nvPr/>
        </p:nvCxnSpPr>
        <p:spPr>
          <a:xfrm flipH="1" rot="10800000">
            <a:off x="2797250" y="3314625"/>
            <a:ext cx="191700" cy="528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80" name="Google Shape;680;p37"/>
          <p:cNvCxnSpPr/>
          <p:nvPr/>
        </p:nvCxnSpPr>
        <p:spPr>
          <a:xfrm>
            <a:off x="3473125" y="3067875"/>
            <a:ext cx="378600" cy="347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81" name="Google Shape;681;p37"/>
          <p:cNvCxnSpPr>
            <a:stCxn id="682" idx="1"/>
            <a:endCxn id="654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3" name="Google Shape;683;p37"/>
          <p:cNvCxnSpPr>
            <a:stCxn id="684" idx="3"/>
            <a:endCxn id="654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37"/>
          <p:cNvCxnSpPr>
            <a:stCxn id="684" idx="2"/>
            <a:endCxn id="686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" name="Google Shape;687;p37"/>
          <p:cNvCxnSpPr>
            <a:stCxn id="686" idx="2"/>
            <a:endCxn id="653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8" name="Google Shape;688;p37"/>
          <p:cNvCxnSpPr>
            <a:stCxn id="689" idx="4"/>
            <a:endCxn id="651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2" name="Google Shape;682;p37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4" name="Google Shape;684;p37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37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9" name="Google Shape;689;p37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0" name="Google Shape;690;p37"/>
          <p:cNvSpPr/>
          <p:nvPr/>
        </p:nvSpPr>
        <p:spPr>
          <a:xfrm>
            <a:off x="4044050" y="4517225"/>
            <a:ext cx="2684400" cy="528000"/>
          </a:xfrm>
          <a:prstGeom prst="wedgeRoundRectCallout">
            <a:avLst>
              <a:gd fmla="val -33046" name="adj1"/>
              <a:gd fmla="val -72098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1. To reach G, my next-hop is F.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1" name="Google Shape;691;p37"/>
          <p:cNvSpPr/>
          <p:nvPr/>
        </p:nvSpPr>
        <p:spPr>
          <a:xfrm>
            <a:off x="6944500" y="3613875"/>
            <a:ext cx="2047200" cy="324900"/>
          </a:xfrm>
          <a:prstGeom prst="wedgeRoundRectCallout">
            <a:avLst>
              <a:gd fmla="val -66893" name="adj1"/>
              <a:gd fmla="val -4355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2. To reach Z, go via AS#5.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2" name="Google Shape;692;p37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93" name="Google Shape;693;p37"/>
          <p:cNvCxnSpPr/>
          <p:nvPr/>
        </p:nvCxnSpPr>
        <p:spPr>
          <a:xfrm>
            <a:off x="780775" y="3660781"/>
            <a:ext cx="620400" cy="266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94" name="Google Shape;694;p37"/>
          <p:cNvCxnSpPr/>
          <p:nvPr/>
        </p:nvCxnSpPr>
        <p:spPr>
          <a:xfrm flipH="1">
            <a:off x="3285275" y="2387375"/>
            <a:ext cx="1115700" cy="343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95" name="Google Shape;695;p37"/>
          <p:cNvCxnSpPr/>
          <p:nvPr/>
        </p:nvCxnSpPr>
        <p:spPr>
          <a:xfrm rot="10800000">
            <a:off x="6063425" y="2346975"/>
            <a:ext cx="646800" cy="326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96" name="Google Shape;696;p37"/>
          <p:cNvCxnSpPr/>
          <p:nvPr/>
        </p:nvCxnSpPr>
        <p:spPr>
          <a:xfrm flipH="1">
            <a:off x="6754325" y="3289000"/>
            <a:ext cx="272400" cy="373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97" name="Google Shape;697;p37"/>
          <p:cNvCxnSpPr/>
          <p:nvPr/>
        </p:nvCxnSpPr>
        <p:spPr>
          <a:xfrm rot="10800000">
            <a:off x="6754328" y="3845349"/>
            <a:ext cx="339600" cy="288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98" name="Google Shape;698;p37"/>
          <p:cNvCxnSpPr/>
          <p:nvPr/>
        </p:nvCxnSpPr>
        <p:spPr>
          <a:xfrm>
            <a:off x="1970873" y="4194089"/>
            <a:ext cx="622200" cy="207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99" name="Google Shape;699;p37"/>
          <p:cNvCxnSpPr/>
          <p:nvPr/>
        </p:nvCxnSpPr>
        <p:spPr>
          <a:xfrm flipH="1" rot="10800000">
            <a:off x="2644850" y="3314625"/>
            <a:ext cx="191700" cy="528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00" name="Google Shape;700;p37"/>
          <p:cNvCxnSpPr/>
          <p:nvPr/>
        </p:nvCxnSpPr>
        <p:spPr>
          <a:xfrm flipH="1" rot="10800000">
            <a:off x="3083400" y="3461475"/>
            <a:ext cx="525900" cy="324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01" name="Google Shape;701;p37"/>
          <p:cNvCxnSpPr/>
          <p:nvPr/>
        </p:nvCxnSpPr>
        <p:spPr>
          <a:xfrm>
            <a:off x="3473125" y="2915475"/>
            <a:ext cx="378600" cy="347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02" name="Google Shape;702;p37"/>
          <p:cNvCxnSpPr/>
          <p:nvPr/>
        </p:nvCxnSpPr>
        <p:spPr>
          <a:xfrm rot="10800000">
            <a:off x="4121000" y="3460425"/>
            <a:ext cx="434400" cy="306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03" name="Google Shape;703;p37"/>
          <p:cNvCxnSpPr/>
          <p:nvPr/>
        </p:nvCxnSpPr>
        <p:spPr>
          <a:xfrm>
            <a:off x="3246925" y="4399572"/>
            <a:ext cx="867300" cy="30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04" name="Google Shape;704;p37"/>
          <p:cNvCxnSpPr/>
          <p:nvPr/>
        </p:nvCxnSpPr>
        <p:spPr>
          <a:xfrm flipH="1" rot="10800000">
            <a:off x="4703593" y="4238643"/>
            <a:ext cx="391200" cy="176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05" name="Google Shape;705;p37"/>
          <p:cNvCxnSpPr/>
          <p:nvPr/>
        </p:nvCxnSpPr>
        <p:spPr>
          <a:xfrm flipH="1" rot="10800000">
            <a:off x="5603500" y="4095825"/>
            <a:ext cx="496800" cy="102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3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Combining Intra-Domain and Inter-Domain Routing</a:t>
            </a:r>
            <a:endParaRPr/>
          </a:p>
        </p:txBody>
      </p:sp>
      <p:sp>
        <p:nvSpPr>
          <p:cNvPr id="711" name="Google Shape;711;p38"/>
          <p:cNvSpPr txBox="1"/>
          <p:nvPr>
            <p:ph idx="1" type="body"/>
          </p:nvPr>
        </p:nvSpPr>
        <p:spPr>
          <a:xfrm>
            <a:off x="107050" y="402200"/>
            <a:ext cx="8909700" cy="15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Use </a:t>
            </a:r>
            <a:r>
              <a:rPr lang="en">
                <a:solidFill>
                  <a:schemeClr val="accent2"/>
                </a:solidFill>
              </a:rPr>
              <a:t>IGP</a:t>
            </a:r>
            <a:r>
              <a:rPr lang="en">
                <a:solidFill>
                  <a:srgbClr val="000000"/>
                </a:solidFill>
              </a:rPr>
              <a:t> to learn </a:t>
            </a:r>
            <a:r>
              <a:rPr i="1" lang="en">
                <a:solidFill>
                  <a:srgbClr val="000000"/>
                </a:solidFill>
              </a:rPr>
              <a:t>internal</a:t>
            </a:r>
            <a:r>
              <a:rPr lang="en">
                <a:solidFill>
                  <a:srgbClr val="000000"/>
                </a:solidFill>
              </a:rPr>
              <a:t> routes to others in the AS.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2. Use </a:t>
            </a:r>
            <a:r>
              <a:rPr lang="en">
                <a:solidFill>
                  <a:srgbClr val="0000FF"/>
                </a:solidFill>
              </a:rPr>
              <a:t>eBGP</a:t>
            </a:r>
            <a:r>
              <a:rPr lang="en">
                <a:solidFill>
                  <a:srgbClr val="000000"/>
                </a:solidFill>
              </a:rPr>
              <a:t> to learn </a:t>
            </a:r>
            <a:r>
              <a:rPr i="1" lang="en">
                <a:solidFill>
                  <a:srgbClr val="000000"/>
                </a:solidFill>
              </a:rPr>
              <a:t>external</a:t>
            </a:r>
            <a:r>
              <a:rPr lang="en">
                <a:solidFill>
                  <a:srgbClr val="000000"/>
                </a:solidFill>
              </a:rPr>
              <a:t> routes to other ASes.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3. Use </a:t>
            </a:r>
            <a:r>
              <a:rPr lang="en">
                <a:solidFill>
                  <a:srgbClr val="0000FF"/>
                </a:solidFill>
              </a:rPr>
              <a:t>iBGP</a:t>
            </a:r>
            <a:r>
              <a:rPr lang="en">
                <a:solidFill>
                  <a:srgbClr val="000000"/>
                </a:solidFill>
              </a:rPr>
              <a:t> to distribute </a:t>
            </a:r>
            <a:r>
              <a:rPr i="1" lang="en">
                <a:solidFill>
                  <a:srgbClr val="000000"/>
                </a:solidFill>
              </a:rPr>
              <a:t>external</a:t>
            </a:r>
            <a:r>
              <a:rPr lang="en">
                <a:solidFill>
                  <a:srgbClr val="000000"/>
                </a:solidFill>
              </a:rPr>
              <a:t> routes to others in the AS.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12" name="Google Shape;712;p38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3" name="Google Shape;713;p38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4" name="Google Shape;714;p38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5" name="Google Shape;715;p38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6" name="Google Shape;716;p38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17" name="Google Shape;717;p38"/>
          <p:cNvCxnSpPr>
            <a:stCxn id="713" idx="3"/>
            <a:endCxn id="718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9" name="Google Shape;719;p38"/>
          <p:cNvCxnSpPr>
            <a:stCxn id="718" idx="3"/>
            <a:endCxn id="714" idx="1"/>
          </p:cNvCxnSpPr>
          <p:nvPr/>
        </p:nvCxnSpPr>
        <p:spPr>
          <a:xfrm flipH="1" rot="10800000">
            <a:off x="3015950" y="3710025"/>
            <a:ext cx="693300" cy="4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0" name="Google Shape;720;p38"/>
          <p:cNvCxnSpPr>
            <a:stCxn id="718" idx="0"/>
            <a:endCxn id="715" idx="2"/>
          </p:cNvCxnSpPr>
          <p:nvPr/>
        </p:nvCxnSpPr>
        <p:spPr>
          <a:xfrm flipH="1" rot="10800000">
            <a:off x="2873450" y="3207825"/>
            <a:ext cx="285000" cy="78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" name="Google Shape;721;p38"/>
          <p:cNvCxnSpPr>
            <a:stCxn id="715" idx="3"/>
            <a:endCxn id="714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" name="Google Shape;722;p38"/>
          <p:cNvCxnSpPr>
            <a:stCxn id="718" idx="3"/>
            <a:endCxn id="723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" name="Google Shape;724;p38"/>
          <p:cNvCxnSpPr>
            <a:stCxn id="723" idx="0"/>
            <a:endCxn id="714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5" name="Google Shape;725;p38"/>
          <p:cNvCxnSpPr>
            <a:stCxn id="723" idx="3"/>
            <a:endCxn id="726" idx="1"/>
          </p:cNvCxnSpPr>
          <p:nvPr/>
        </p:nvCxnSpPr>
        <p:spPr>
          <a:xfrm flipH="1" rot="10800000">
            <a:off x="4605925" y="3936950"/>
            <a:ext cx="544800" cy="24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7" name="Google Shape;727;p38"/>
          <p:cNvCxnSpPr>
            <a:stCxn id="726" idx="3"/>
            <a:endCxn id="716" idx="1"/>
          </p:cNvCxnSpPr>
          <p:nvPr/>
        </p:nvCxnSpPr>
        <p:spPr>
          <a:xfrm flipH="1" rot="10800000">
            <a:off x="5435775" y="3776375"/>
            <a:ext cx="771600" cy="16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8" name="Google Shape;728;p38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9" name="Google Shape;729;p38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0" name="Google Shape;730;p38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1" name="Google Shape;731;p38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2" name="Google Shape;732;p38"/>
          <p:cNvCxnSpPr>
            <a:endCxn id="730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" name="Google Shape;733;p38"/>
          <p:cNvCxnSpPr>
            <a:stCxn id="729" idx="7"/>
          </p:cNvCxnSpPr>
          <p:nvPr/>
        </p:nvCxnSpPr>
        <p:spPr>
          <a:xfrm flipH="1" rot="10800000">
            <a:off x="4237400" y="4324212"/>
            <a:ext cx="225900" cy="2394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4" name="Google Shape;734;p38"/>
          <p:cNvCxnSpPr>
            <a:endCxn id="731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8" name="Google Shape;718;p38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3" name="Google Shape;723;p38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6" name="Google Shape;726;p38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5" name="Google Shape;735;p38"/>
          <p:cNvCxnSpPr/>
          <p:nvPr/>
        </p:nvCxnSpPr>
        <p:spPr>
          <a:xfrm>
            <a:off x="1970873" y="4041689"/>
            <a:ext cx="622200" cy="207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36" name="Google Shape;736;p38"/>
          <p:cNvCxnSpPr/>
          <p:nvPr/>
        </p:nvCxnSpPr>
        <p:spPr>
          <a:xfrm>
            <a:off x="3246925" y="4281919"/>
            <a:ext cx="867300" cy="30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37" name="Google Shape;737;p38"/>
          <p:cNvCxnSpPr/>
          <p:nvPr/>
        </p:nvCxnSpPr>
        <p:spPr>
          <a:xfrm flipH="1" rot="10800000">
            <a:off x="4703593" y="4086243"/>
            <a:ext cx="391200" cy="1764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38" name="Google Shape;738;p38"/>
          <p:cNvCxnSpPr/>
          <p:nvPr/>
        </p:nvCxnSpPr>
        <p:spPr>
          <a:xfrm flipH="1" rot="10800000">
            <a:off x="5603500" y="3943425"/>
            <a:ext cx="496800" cy="102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39" name="Google Shape;739;p38"/>
          <p:cNvCxnSpPr/>
          <p:nvPr/>
        </p:nvCxnSpPr>
        <p:spPr>
          <a:xfrm rot="10800000">
            <a:off x="4121000" y="3612825"/>
            <a:ext cx="434400" cy="306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40" name="Google Shape;740;p38"/>
          <p:cNvCxnSpPr/>
          <p:nvPr/>
        </p:nvCxnSpPr>
        <p:spPr>
          <a:xfrm flipH="1" rot="10800000">
            <a:off x="3083400" y="3613875"/>
            <a:ext cx="525900" cy="324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41" name="Google Shape;741;p38"/>
          <p:cNvCxnSpPr/>
          <p:nvPr/>
        </p:nvCxnSpPr>
        <p:spPr>
          <a:xfrm flipH="1" rot="10800000">
            <a:off x="2797250" y="3314625"/>
            <a:ext cx="191700" cy="528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42" name="Google Shape;742;p38"/>
          <p:cNvCxnSpPr/>
          <p:nvPr/>
        </p:nvCxnSpPr>
        <p:spPr>
          <a:xfrm>
            <a:off x="3473125" y="3067875"/>
            <a:ext cx="378600" cy="347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43" name="Google Shape;743;p38"/>
          <p:cNvCxnSpPr/>
          <p:nvPr/>
        </p:nvCxnSpPr>
        <p:spPr>
          <a:xfrm>
            <a:off x="1970873" y="4194089"/>
            <a:ext cx="622200" cy="207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44" name="Google Shape;744;p38"/>
          <p:cNvCxnSpPr/>
          <p:nvPr/>
        </p:nvCxnSpPr>
        <p:spPr>
          <a:xfrm flipH="1" rot="10800000">
            <a:off x="2644850" y="3314625"/>
            <a:ext cx="191700" cy="528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45" name="Google Shape;745;p38"/>
          <p:cNvCxnSpPr/>
          <p:nvPr/>
        </p:nvCxnSpPr>
        <p:spPr>
          <a:xfrm flipH="1" rot="10800000">
            <a:off x="3083400" y="3461475"/>
            <a:ext cx="525900" cy="324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46" name="Google Shape;746;p38"/>
          <p:cNvCxnSpPr/>
          <p:nvPr/>
        </p:nvCxnSpPr>
        <p:spPr>
          <a:xfrm>
            <a:off x="3473125" y="2915475"/>
            <a:ext cx="378600" cy="347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47" name="Google Shape;747;p38"/>
          <p:cNvCxnSpPr/>
          <p:nvPr/>
        </p:nvCxnSpPr>
        <p:spPr>
          <a:xfrm rot="10800000">
            <a:off x="4121000" y="3460425"/>
            <a:ext cx="434400" cy="306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48" name="Google Shape;748;p38"/>
          <p:cNvCxnSpPr/>
          <p:nvPr/>
        </p:nvCxnSpPr>
        <p:spPr>
          <a:xfrm>
            <a:off x="3246925" y="4399572"/>
            <a:ext cx="867300" cy="30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49" name="Google Shape;749;p38"/>
          <p:cNvCxnSpPr/>
          <p:nvPr/>
        </p:nvCxnSpPr>
        <p:spPr>
          <a:xfrm flipH="1" rot="10800000">
            <a:off x="4703593" y="4238643"/>
            <a:ext cx="391200" cy="176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50" name="Google Shape;750;p38"/>
          <p:cNvCxnSpPr/>
          <p:nvPr/>
        </p:nvCxnSpPr>
        <p:spPr>
          <a:xfrm flipH="1" rot="10800000">
            <a:off x="5603500" y="4095825"/>
            <a:ext cx="496800" cy="102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51" name="Google Shape;751;p38"/>
          <p:cNvCxnSpPr>
            <a:stCxn id="752" idx="1"/>
            <a:endCxn id="716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" name="Google Shape;753;p38"/>
          <p:cNvCxnSpPr>
            <a:stCxn id="754" idx="3"/>
            <a:endCxn id="716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" name="Google Shape;755;p38"/>
          <p:cNvCxnSpPr>
            <a:stCxn id="754" idx="2"/>
            <a:endCxn id="756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7" name="Google Shape;757;p38"/>
          <p:cNvCxnSpPr>
            <a:stCxn id="756" idx="2"/>
            <a:endCxn id="715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8" name="Google Shape;758;p38"/>
          <p:cNvCxnSpPr>
            <a:stCxn id="759" idx="4"/>
            <a:endCxn id="713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2" name="Google Shape;752;p38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4" name="Google Shape;754;p38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6" name="Google Shape;756;p38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9" name="Google Shape;759;p38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0" name="Google Shape;760;p38"/>
          <p:cNvCxnSpPr/>
          <p:nvPr/>
        </p:nvCxnSpPr>
        <p:spPr>
          <a:xfrm>
            <a:off x="780775" y="3660781"/>
            <a:ext cx="620400" cy="2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61" name="Google Shape;761;p38"/>
          <p:cNvCxnSpPr/>
          <p:nvPr/>
        </p:nvCxnSpPr>
        <p:spPr>
          <a:xfrm flipH="1">
            <a:off x="3285275" y="2387375"/>
            <a:ext cx="1115700" cy="343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62" name="Google Shape;762;p38"/>
          <p:cNvCxnSpPr/>
          <p:nvPr/>
        </p:nvCxnSpPr>
        <p:spPr>
          <a:xfrm rot="10800000">
            <a:off x="6063425" y="2346975"/>
            <a:ext cx="646800" cy="326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63" name="Google Shape;763;p38"/>
          <p:cNvCxnSpPr/>
          <p:nvPr/>
        </p:nvCxnSpPr>
        <p:spPr>
          <a:xfrm flipH="1">
            <a:off x="6754325" y="3289000"/>
            <a:ext cx="272400" cy="373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64" name="Google Shape;764;p38"/>
          <p:cNvCxnSpPr/>
          <p:nvPr/>
        </p:nvCxnSpPr>
        <p:spPr>
          <a:xfrm rot="10800000">
            <a:off x="6754328" y="3845349"/>
            <a:ext cx="339600" cy="288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65" name="Google Shape;765;p38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6" name="Google Shape;766;p38"/>
          <p:cNvSpPr/>
          <p:nvPr/>
        </p:nvSpPr>
        <p:spPr>
          <a:xfrm>
            <a:off x="4044050" y="4517225"/>
            <a:ext cx="2684400" cy="528000"/>
          </a:xfrm>
          <a:prstGeom prst="wedgeRoundRectCallout">
            <a:avLst>
              <a:gd fmla="val -33046" name="adj1"/>
              <a:gd fmla="val -72098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3. To reach Z, exit via G.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1. To reach G, my next-hop is F.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7" name="Google Shape;767;p38"/>
          <p:cNvSpPr/>
          <p:nvPr/>
        </p:nvSpPr>
        <p:spPr>
          <a:xfrm>
            <a:off x="6944500" y="3613875"/>
            <a:ext cx="2047200" cy="324900"/>
          </a:xfrm>
          <a:prstGeom prst="wedgeRoundRectCallout">
            <a:avLst>
              <a:gd fmla="val -66893" name="adj1"/>
              <a:gd fmla="val -4355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2. To reach Z, go via AS#5.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3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Combining Intra-Domain and Inter-Domain Routing</a:t>
            </a:r>
            <a:endParaRPr/>
          </a:p>
        </p:txBody>
      </p:sp>
      <p:sp>
        <p:nvSpPr>
          <p:cNvPr id="773" name="Google Shape;773;p39"/>
          <p:cNvSpPr txBox="1"/>
          <p:nvPr>
            <p:ph idx="1" type="body"/>
          </p:nvPr>
        </p:nvSpPr>
        <p:spPr>
          <a:xfrm>
            <a:off x="107050" y="402200"/>
            <a:ext cx="8909700" cy="15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 </a:t>
            </a:r>
            <a:r>
              <a:rPr b="1" lang="en"/>
              <a:t>egress router</a:t>
            </a:r>
            <a:r>
              <a:rPr lang="en"/>
              <a:t> for a destination is a border router who can reach that destination.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Inside AS#1, G is an egress router for Z.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 uses iBGP to tell local routers: "If you have packets for Z, send them to me."</a:t>
            </a:r>
            <a:endParaRPr/>
          </a:p>
        </p:txBody>
      </p:sp>
      <p:sp>
        <p:nvSpPr>
          <p:cNvPr id="774" name="Google Shape;774;p39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5" name="Google Shape;775;p39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6" name="Google Shape;776;p39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7" name="Google Shape;777;p39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8" name="Google Shape;778;p39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9" name="Google Shape;779;p39"/>
          <p:cNvCxnSpPr>
            <a:stCxn id="775" idx="3"/>
            <a:endCxn id="780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1" name="Google Shape;781;p39"/>
          <p:cNvCxnSpPr>
            <a:stCxn id="780" idx="3"/>
            <a:endCxn id="776" idx="1"/>
          </p:cNvCxnSpPr>
          <p:nvPr/>
        </p:nvCxnSpPr>
        <p:spPr>
          <a:xfrm flipH="1" rot="10800000">
            <a:off x="3015950" y="3710025"/>
            <a:ext cx="693300" cy="4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" name="Google Shape;782;p39"/>
          <p:cNvCxnSpPr>
            <a:stCxn id="780" idx="0"/>
            <a:endCxn id="777" idx="2"/>
          </p:cNvCxnSpPr>
          <p:nvPr/>
        </p:nvCxnSpPr>
        <p:spPr>
          <a:xfrm flipH="1" rot="10800000">
            <a:off x="2873450" y="3207825"/>
            <a:ext cx="285000" cy="78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3" name="Google Shape;783;p39"/>
          <p:cNvCxnSpPr>
            <a:stCxn id="777" idx="3"/>
            <a:endCxn id="776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4" name="Google Shape;784;p39"/>
          <p:cNvCxnSpPr>
            <a:stCxn id="780" idx="3"/>
            <a:endCxn id="785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" name="Google Shape;786;p39"/>
          <p:cNvCxnSpPr>
            <a:stCxn id="785" idx="0"/>
            <a:endCxn id="776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" name="Google Shape;787;p39"/>
          <p:cNvCxnSpPr>
            <a:stCxn id="785" idx="3"/>
            <a:endCxn id="788" idx="1"/>
          </p:cNvCxnSpPr>
          <p:nvPr/>
        </p:nvCxnSpPr>
        <p:spPr>
          <a:xfrm flipH="1" rot="10800000">
            <a:off x="4605925" y="3936950"/>
            <a:ext cx="544800" cy="24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9" name="Google Shape;789;p39"/>
          <p:cNvCxnSpPr>
            <a:stCxn id="788" idx="3"/>
            <a:endCxn id="778" idx="1"/>
          </p:cNvCxnSpPr>
          <p:nvPr/>
        </p:nvCxnSpPr>
        <p:spPr>
          <a:xfrm flipH="1" rot="10800000">
            <a:off x="5435775" y="3776375"/>
            <a:ext cx="771600" cy="16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0" name="Google Shape;790;p39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1" name="Google Shape;791;p39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2" name="Google Shape;792;p39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3" name="Google Shape;793;p39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4" name="Google Shape;794;p39"/>
          <p:cNvCxnSpPr>
            <a:endCxn id="792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5" name="Google Shape;795;p39"/>
          <p:cNvCxnSpPr>
            <a:stCxn id="791" idx="7"/>
          </p:cNvCxnSpPr>
          <p:nvPr/>
        </p:nvCxnSpPr>
        <p:spPr>
          <a:xfrm flipH="1" rot="10800000">
            <a:off x="4237400" y="4324212"/>
            <a:ext cx="225900" cy="2394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6" name="Google Shape;796;p39"/>
          <p:cNvCxnSpPr>
            <a:endCxn id="793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0" name="Google Shape;780;p39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5" name="Google Shape;785;p39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8" name="Google Shape;788;p39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7" name="Google Shape;797;p39"/>
          <p:cNvCxnSpPr>
            <a:stCxn id="798" idx="1"/>
            <a:endCxn id="778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9" name="Google Shape;799;p39"/>
          <p:cNvCxnSpPr>
            <a:stCxn id="800" idx="3"/>
            <a:endCxn id="778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1" name="Google Shape;801;p39"/>
          <p:cNvCxnSpPr>
            <a:stCxn id="800" idx="2"/>
            <a:endCxn id="802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3" name="Google Shape;803;p39"/>
          <p:cNvCxnSpPr>
            <a:stCxn id="802" idx="2"/>
            <a:endCxn id="777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4" name="Google Shape;804;p39"/>
          <p:cNvCxnSpPr>
            <a:stCxn id="805" idx="4"/>
            <a:endCxn id="775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8" name="Google Shape;798;p39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0" name="Google Shape;800;p39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2" name="Google Shape;802;p39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5" name="Google Shape;805;p39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6" name="Google Shape;806;p39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7" name="Google Shape;807;p39"/>
          <p:cNvSpPr/>
          <p:nvPr/>
        </p:nvSpPr>
        <p:spPr>
          <a:xfrm>
            <a:off x="4044050" y="4517225"/>
            <a:ext cx="2684400" cy="528000"/>
          </a:xfrm>
          <a:prstGeom prst="wedgeRoundRectCallout">
            <a:avLst>
              <a:gd fmla="val -33046" name="adj1"/>
              <a:gd fmla="val -72098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3. To reach Z, exit via G.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1. To reach G, my next-hop is F.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8" name="Google Shape;808;p39"/>
          <p:cNvSpPr/>
          <p:nvPr/>
        </p:nvSpPr>
        <p:spPr>
          <a:xfrm>
            <a:off x="6944500" y="3613875"/>
            <a:ext cx="2047200" cy="324900"/>
          </a:xfrm>
          <a:prstGeom prst="wedgeRoundRectCallout">
            <a:avLst>
              <a:gd fmla="val -66893" name="adj1"/>
              <a:gd fmla="val -4355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2. To reach Z, go via AS#5.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9" name="Google Shape;809;p39"/>
          <p:cNvSpPr/>
          <p:nvPr/>
        </p:nvSpPr>
        <p:spPr>
          <a:xfrm>
            <a:off x="4570825" y="3875028"/>
            <a:ext cx="2752725" cy="732250"/>
          </a:xfrm>
          <a:custGeom>
            <a:rect b="b" l="l" r="r" t="t"/>
            <a:pathLst>
              <a:path extrusionOk="0" h="29290" w="110109">
                <a:moveTo>
                  <a:pt x="0" y="16337"/>
                </a:moveTo>
                <a:cubicBezTo>
                  <a:pt x="11642" y="13649"/>
                  <a:pt x="51499" y="-1951"/>
                  <a:pt x="69850" y="208"/>
                </a:cubicBezTo>
                <a:cubicBezTo>
                  <a:pt x="88202" y="2367"/>
                  <a:pt x="103399" y="24444"/>
                  <a:pt x="110109" y="29291"/>
                </a:cubicBez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BGP and IGP Routing Tables</a:t>
            </a:r>
            <a:endParaRPr/>
          </a:p>
        </p:txBody>
      </p:sp>
      <p:sp>
        <p:nvSpPr>
          <p:cNvPr id="815" name="Google Shape;815;p4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Every router now has two routing tables: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IGP table: Maps each </a:t>
            </a:r>
            <a:r>
              <a:rPr i="1" lang="en"/>
              <a:t>internal</a:t>
            </a:r>
            <a:r>
              <a:rPr lang="en"/>
              <a:t> destination to a next-hop.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BGP table</a:t>
            </a:r>
            <a:r>
              <a:rPr lang="en"/>
              <a:t>: Maps each </a:t>
            </a:r>
            <a:r>
              <a:rPr i="1" lang="en"/>
              <a:t>external</a:t>
            </a:r>
            <a:r>
              <a:rPr lang="en"/>
              <a:t> destination to an egress router.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egress router is not </a:t>
            </a:r>
            <a:r>
              <a:rPr lang="en"/>
              <a:t>necessarily</a:t>
            </a:r>
            <a:r>
              <a:rPr lang="en"/>
              <a:t> a direct neighbor.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two tables can be used to find the next hop for any destination.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Internal destinations: Just use the IGP table to find the next hop.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External destinations: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First, use the BGP table to find the egress router.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Then, use the IGP table to find the next-hop to the egress.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4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BGP and IGP Routing Tables</a:t>
            </a:r>
            <a:endParaRPr/>
          </a:p>
        </p:txBody>
      </p:sp>
      <p:sp>
        <p:nvSpPr>
          <p:cNvPr id="821" name="Google Shape;821;p41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2" name="Google Shape;822;p41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3" name="Google Shape;823;p41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E59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4" name="Google Shape;824;p41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5" name="Google Shape;825;p41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26" name="Google Shape;826;p41"/>
          <p:cNvCxnSpPr>
            <a:stCxn id="822" idx="3"/>
            <a:endCxn id="827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8" name="Google Shape;828;p41"/>
          <p:cNvCxnSpPr>
            <a:stCxn id="827" idx="3"/>
            <a:endCxn id="823" idx="1"/>
          </p:cNvCxnSpPr>
          <p:nvPr/>
        </p:nvCxnSpPr>
        <p:spPr>
          <a:xfrm flipH="1" rot="10800000">
            <a:off x="3015950" y="3710025"/>
            <a:ext cx="693300" cy="4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9" name="Google Shape;829;p41"/>
          <p:cNvCxnSpPr>
            <a:stCxn id="827" idx="0"/>
            <a:endCxn id="824" idx="2"/>
          </p:cNvCxnSpPr>
          <p:nvPr/>
        </p:nvCxnSpPr>
        <p:spPr>
          <a:xfrm flipH="1" rot="10800000">
            <a:off x="2873450" y="3207825"/>
            <a:ext cx="285000" cy="78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0" name="Google Shape;830;p41"/>
          <p:cNvCxnSpPr>
            <a:stCxn id="824" idx="3"/>
            <a:endCxn id="823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1" name="Google Shape;831;p41"/>
          <p:cNvCxnSpPr>
            <a:stCxn id="827" idx="3"/>
            <a:endCxn id="832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3" name="Google Shape;833;p41"/>
          <p:cNvCxnSpPr>
            <a:stCxn id="832" idx="0"/>
            <a:endCxn id="823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4" name="Google Shape;834;p41"/>
          <p:cNvCxnSpPr>
            <a:stCxn id="832" idx="3"/>
            <a:endCxn id="835" idx="1"/>
          </p:cNvCxnSpPr>
          <p:nvPr/>
        </p:nvCxnSpPr>
        <p:spPr>
          <a:xfrm flipH="1" rot="10800000">
            <a:off x="4605925" y="3936950"/>
            <a:ext cx="544800" cy="24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6" name="Google Shape;836;p41"/>
          <p:cNvCxnSpPr>
            <a:stCxn id="835" idx="3"/>
            <a:endCxn id="825" idx="1"/>
          </p:cNvCxnSpPr>
          <p:nvPr/>
        </p:nvCxnSpPr>
        <p:spPr>
          <a:xfrm flipH="1" rot="10800000">
            <a:off x="5435775" y="3776375"/>
            <a:ext cx="771600" cy="16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7" name="Google Shape;837;p41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8" name="Google Shape;838;p41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9" name="Google Shape;839;p41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0" name="Google Shape;840;p41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1" name="Google Shape;841;p41"/>
          <p:cNvCxnSpPr>
            <a:endCxn id="839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2" name="Google Shape;842;p41"/>
          <p:cNvCxnSpPr>
            <a:stCxn id="838" idx="7"/>
          </p:cNvCxnSpPr>
          <p:nvPr/>
        </p:nvCxnSpPr>
        <p:spPr>
          <a:xfrm flipH="1" rot="10800000">
            <a:off x="4237400" y="4324212"/>
            <a:ext cx="225900" cy="239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41"/>
          <p:cNvCxnSpPr>
            <a:endCxn id="840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7" name="Google Shape;827;p41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2" name="Google Shape;832;p41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5" name="Google Shape;835;p41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4" name="Google Shape;844;p41"/>
          <p:cNvCxnSpPr>
            <a:stCxn id="845" idx="1"/>
            <a:endCxn id="825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6" name="Google Shape;846;p41"/>
          <p:cNvCxnSpPr>
            <a:stCxn id="847" idx="3"/>
            <a:endCxn id="825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8" name="Google Shape;848;p41"/>
          <p:cNvCxnSpPr>
            <a:stCxn id="847" idx="2"/>
            <a:endCxn id="849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0" name="Google Shape;850;p41"/>
          <p:cNvCxnSpPr>
            <a:stCxn id="849" idx="2"/>
            <a:endCxn id="824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1" name="Google Shape;851;p41"/>
          <p:cNvCxnSpPr>
            <a:stCxn id="852" idx="4"/>
            <a:endCxn id="822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5" name="Google Shape;845;p41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7" name="Google Shape;847;p41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9" name="Google Shape;849;p41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2" name="Google Shape;852;p41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3" name="Google Shape;853;p41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4" name="Google Shape;854;p41"/>
          <p:cNvSpPr/>
          <p:nvPr/>
        </p:nvSpPr>
        <p:spPr>
          <a:xfrm>
            <a:off x="638263" y="31739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855" name="Google Shape;855;p41"/>
          <p:cNvGraphicFramePr/>
          <p:nvPr/>
        </p:nvGraphicFramePr>
        <p:xfrm>
          <a:off x="239725" y="59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{EDF56E96-C611-46F5-A6CB-BA45FF09DDB4}</a:tableStyleId>
              </a:tblPr>
              <a:tblGrid>
                <a:gridCol w="1023825"/>
                <a:gridCol w="1023825"/>
              </a:tblGrid>
              <a:tr h="8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Internal Destinations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  <a:tc hMerge="1"/>
              </a:tr>
              <a:tr h="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</a:tr>
              <a:tr h="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</a:tr>
              <a:tr h="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W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</a:tr>
              <a:tr h="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</a:tr>
              <a:tr h="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</a:tr>
              <a:tr h="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</a:tr>
              <a:tr h="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</a:tr>
            </a:tbl>
          </a:graphicData>
        </a:graphic>
      </p:graphicFrame>
      <p:graphicFrame>
        <p:nvGraphicFramePr>
          <p:cNvPr id="856" name="Google Shape;856;p41"/>
          <p:cNvGraphicFramePr/>
          <p:nvPr/>
        </p:nvGraphicFramePr>
        <p:xfrm>
          <a:off x="2463175" y="581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{EDF56E96-C611-46F5-A6CB-BA45FF09DDB4}</a:tableStyleId>
              </a:tblPr>
              <a:tblGrid>
                <a:gridCol w="1023825"/>
                <a:gridCol w="1023825"/>
              </a:tblGrid>
              <a:tr h="108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External 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  <a:tc hMerge="1"/>
              </a:tr>
              <a:tr h="10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Egress via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</a:tr>
              <a:tr h="10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U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</a:tr>
              <a:tr h="10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</a:tr>
              <a:tr h="10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Z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</a:tr>
            </a:tbl>
          </a:graphicData>
        </a:graphic>
      </p:graphicFrame>
      <p:sp>
        <p:nvSpPr>
          <p:cNvPr id="857" name="Google Shape;857;p41"/>
          <p:cNvSpPr/>
          <p:nvPr/>
        </p:nvSpPr>
        <p:spPr>
          <a:xfrm>
            <a:off x="5150763" y="24292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8" name="Google Shape;858;p41"/>
          <p:cNvSpPr txBox="1"/>
          <p:nvPr>
            <p:ph idx="1" type="body"/>
          </p:nvPr>
        </p:nvSpPr>
        <p:spPr>
          <a:xfrm>
            <a:off x="4768250" y="402200"/>
            <a:ext cx="4248600" cy="14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← D's two routing tables.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4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BGP and IGP Routing Tables</a:t>
            </a:r>
            <a:endParaRPr/>
          </a:p>
        </p:txBody>
      </p:sp>
      <p:sp>
        <p:nvSpPr>
          <p:cNvPr id="864" name="Google Shape;864;p42"/>
          <p:cNvSpPr txBox="1"/>
          <p:nvPr>
            <p:ph idx="1" type="body"/>
          </p:nvPr>
        </p:nvSpPr>
        <p:spPr>
          <a:xfrm>
            <a:off x="4768250" y="402200"/>
            <a:ext cx="4248600" cy="14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reach V, the egress router is B.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reach B, the next hop is C.</a:t>
            </a:r>
            <a:endParaRPr/>
          </a:p>
        </p:txBody>
      </p:sp>
      <p:graphicFrame>
        <p:nvGraphicFramePr>
          <p:cNvPr id="865" name="Google Shape;865;p42"/>
          <p:cNvGraphicFramePr/>
          <p:nvPr/>
        </p:nvGraphicFramePr>
        <p:xfrm>
          <a:off x="239725" y="59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{EDF56E96-C611-46F5-A6CB-BA45FF09DDB4}</a:tableStyleId>
              </a:tblPr>
              <a:tblGrid>
                <a:gridCol w="1023825"/>
                <a:gridCol w="1023825"/>
              </a:tblGrid>
              <a:tr h="8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Internal Destinations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W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66" name="Google Shape;866;p42"/>
          <p:cNvGraphicFramePr/>
          <p:nvPr/>
        </p:nvGraphicFramePr>
        <p:xfrm>
          <a:off x="2463175" y="581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{EDF56E96-C611-46F5-A6CB-BA45FF09DDB4}</a:tableStyleId>
              </a:tblPr>
              <a:tblGrid>
                <a:gridCol w="1023825"/>
                <a:gridCol w="1023825"/>
              </a:tblGrid>
              <a:tr h="108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External Destinations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  <a:tc hMerge="1"/>
              </a:tr>
              <a:tr h="10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Egress via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</a:tr>
              <a:tr h="10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U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</a:tr>
              <a:tr h="10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solidFill>
                      <a:srgbClr val="A4C2F4"/>
                    </a:solidFill>
                  </a:tcPr>
                </a:tc>
              </a:tr>
              <a:tr h="10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Z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</a:tr>
            </a:tbl>
          </a:graphicData>
        </a:graphic>
      </p:graphicFrame>
      <p:sp>
        <p:nvSpPr>
          <p:cNvPr id="867" name="Google Shape;867;p42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8" name="Google Shape;868;p42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9" name="Google Shape;869;p42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E59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0" name="Google Shape;870;p42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1" name="Google Shape;871;p42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2" name="Google Shape;872;p42"/>
          <p:cNvCxnSpPr>
            <a:stCxn id="868" idx="3"/>
            <a:endCxn id="873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4" name="Google Shape;874;p42"/>
          <p:cNvCxnSpPr>
            <a:stCxn id="873" idx="3"/>
            <a:endCxn id="869" idx="1"/>
          </p:cNvCxnSpPr>
          <p:nvPr/>
        </p:nvCxnSpPr>
        <p:spPr>
          <a:xfrm flipH="1" rot="10800000">
            <a:off x="3015950" y="3710025"/>
            <a:ext cx="693300" cy="4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5" name="Google Shape;875;p42"/>
          <p:cNvCxnSpPr>
            <a:stCxn id="873" idx="0"/>
            <a:endCxn id="870" idx="2"/>
          </p:cNvCxnSpPr>
          <p:nvPr/>
        </p:nvCxnSpPr>
        <p:spPr>
          <a:xfrm flipH="1" rot="10800000">
            <a:off x="2873450" y="3207825"/>
            <a:ext cx="285000" cy="78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6" name="Google Shape;876;p42"/>
          <p:cNvCxnSpPr>
            <a:stCxn id="870" idx="3"/>
            <a:endCxn id="869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7" name="Google Shape;877;p42"/>
          <p:cNvCxnSpPr>
            <a:stCxn id="873" idx="3"/>
            <a:endCxn id="878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9" name="Google Shape;879;p42"/>
          <p:cNvCxnSpPr>
            <a:stCxn id="878" idx="0"/>
            <a:endCxn id="869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0" name="Google Shape;880;p42"/>
          <p:cNvCxnSpPr>
            <a:stCxn id="878" idx="3"/>
            <a:endCxn id="881" idx="1"/>
          </p:cNvCxnSpPr>
          <p:nvPr/>
        </p:nvCxnSpPr>
        <p:spPr>
          <a:xfrm flipH="1" rot="10800000">
            <a:off x="4605925" y="3936950"/>
            <a:ext cx="544800" cy="24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2" name="Google Shape;882;p42"/>
          <p:cNvCxnSpPr>
            <a:stCxn id="881" idx="3"/>
            <a:endCxn id="871" idx="1"/>
          </p:cNvCxnSpPr>
          <p:nvPr/>
        </p:nvCxnSpPr>
        <p:spPr>
          <a:xfrm flipH="1" rot="10800000">
            <a:off x="5435775" y="3776375"/>
            <a:ext cx="771600" cy="16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3" name="Google Shape;883;p42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4" name="Google Shape;884;p42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5" name="Google Shape;885;p42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6" name="Google Shape;886;p42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87" name="Google Shape;887;p42"/>
          <p:cNvCxnSpPr>
            <a:endCxn id="885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8" name="Google Shape;888;p42"/>
          <p:cNvCxnSpPr>
            <a:stCxn id="884" idx="7"/>
          </p:cNvCxnSpPr>
          <p:nvPr/>
        </p:nvCxnSpPr>
        <p:spPr>
          <a:xfrm flipH="1" rot="10800000">
            <a:off x="4237400" y="4324212"/>
            <a:ext cx="225900" cy="239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9" name="Google Shape;889;p42"/>
          <p:cNvCxnSpPr>
            <a:endCxn id="886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3" name="Google Shape;873;p42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8" name="Google Shape;878;p42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1" name="Google Shape;881;p42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0" name="Google Shape;890;p42"/>
          <p:cNvCxnSpPr>
            <a:stCxn id="891" idx="1"/>
            <a:endCxn id="871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2" name="Google Shape;892;p42"/>
          <p:cNvCxnSpPr>
            <a:stCxn id="893" idx="3"/>
            <a:endCxn id="871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4" name="Google Shape;894;p42"/>
          <p:cNvCxnSpPr>
            <a:stCxn id="893" idx="2"/>
            <a:endCxn id="895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6" name="Google Shape;896;p42"/>
          <p:cNvCxnSpPr>
            <a:stCxn id="895" idx="2"/>
            <a:endCxn id="870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7" name="Google Shape;897;p42"/>
          <p:cNvCxnSpPr>
            <a:stCxn id="898" idx="4"/>
            <a:endCxn id="868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1" name="Google Shape;891;p42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3" name="Google Shape;893;p42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5" name="Google Shape;895;p42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8" name="Google Shape;898;p42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9" name="Google Shape;899;p42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0" name="Google Shape;900;p42"/>
          <p:cNvSpPr/>
          <p:nvPr/>
        </p:nvSpPr>
        <p:spPr>
          <a:xfrm>
            <a:off x="638263" y="31739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1" name="Google Shape;901;p42"/>
          <p:cNvSpPr/>
          <p:nvPr/>
        </p:nvSpPr>
        <p:spPr>
          <a:xfrm>
            <a:off x="5150763" y="24292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2" name="Google Shape;902;p42"/>
          <p:cNvSpPr/>
          <p:nvPr/>
        </p:nvSpPr>
        <p:spPr>
          <a:xfrm>
            <a:off x="805550" y="3412025"/>
            <a:ext cx="2966350" cy="842900"/>
          </a:xfrm>
          <a:custGeom>
            <a:rect b="b" l="l" r="r" t="t"/>
            <a:pathLst>
              <a:path extrusionOk="0" h="33716" w="118654">
                <a:moveTo>
                  <a:pt x="118654" y="14587"/>
                </a:moveTo>
                <a:cubicBezTo>
                  <a:pt x="112921" y="17744"/>
                  <a:pt x="98370" y="32258"/>
                  <a:pt x="84255" y="33528"/>
                </a:cubicBezTo>
                <a:cubicBezTo>
                  <a:pt x="70140" y="34798"/>
                  <a:pt x="48006" y="27795"/>
                  <a:pt x="33963" y="22207"/>
                </a:cubicBezTo>
                <a:cubicBezTo>
                  <a:pt x="19921" y="16619"/>
                  <a:pt x="5661" y="3701"/>
                  <a:pt x="0" y="0"/>
                </a:cubicBez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4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Implementing iBGP</a:t>
            </a:r>
            <a:endParaRPr/>
          </a:p>
        </p:txBody>
      </p:sp>
      <p:sp>
        <p:nvSpPr>
          <p:cNvPr id="908" name="Google Shape;908;p43"/>
          <p:cNvSpPr txBox="1"/>
          <p:nvPr>
            <p:ph idx="1" type="body"/>
          </p:nvPr>
        </p:nvSpPr>
        <p:spPr>
          <a:xfrm>
            <a:off x="107050" y="402200"/>
            <a:ext cx="8909700" cy="15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Border routers use iBGP to distribute the routes it discovers to everyone else in the AS.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is this actually implemented?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Many different approaches, though we'll assume a simple one.</a:t>
            </a:r>
            <a:endParaRPr/>
          </a:p>
        </p:txBody>
      </p:sp>
      <p:sp>
        <p:nvSpPr>
          <p:cNvPr id="909" name="Google Shape;909;p43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0" name="Google Shape;910;p43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1" name="Google Shape;911;p43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2" name="Google Shape;912;p43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3" name="Google Shape;913;p43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4" name="Google Shape;914;p43"/>
          <p:cNvCxnSpPr>
            <a:stCxn id="910" idx="3"/>
            <a:endCxn id="915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43"/>
          <p:cNvCxnSpPr>
            <a:stCxn id="915" idx="3"/>
            <a:endCxn id="911" idx="1"/>
          </p:cNvCxnSpPr>
          <p:nvPr/>
        </p:nvCxnSpPr>
        <p:spPr>
          <a:xfrm flipH="1" rot="10800000">
            <a:off x="3015950" y="3710025"/>
            <a:ext cx="693300" cy="4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43"/>
          <p:cNvCxnSpPr>
            <a:stCxn id="915" idx="0"/>
            <a:endCxn id="912" idx="2"/>
          </p:cNvCxnSpPr>
          <p:nvPr/>
        </p:nvCxnSpPr>
        <p:spPr>
          <a:xfrm flipH="1" rot="10800000">
            <a:off x="2873450" y="3207825"/>
            <a:ext cx="285000" cy="78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43"/>
          <p:cNvCxnSpPr>
            <a:stCxn id="912" idx="3"/>
            <a:endCxn id="911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9" name="Google Shape;919;p43"/>
          <p:cNvCxnSpPr>
            <a:stCxn id="915" idx="3"/>
            <a:endCxn id="920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1" name="Google Shape;921;p43"/>
          <p:cNvCxnSpPr>
            <a:stCxn id="920" idx="0"/>
            <a:endCxn id="911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2" name="Google Shape;922;p43"/>
          <p:cNvCxnSpPr>
            <a:stCxn id="920" idx="3"/>
            <a:endCxn id="923" idx="1"/>
          </p:cNvCxnSpPr>
          <p:nvPr/>
        </p:nvCxnSpPr>
        <p:spPr>
          <a:xfrm flipH="1" rot="10800000">
            <a:off x="4605925" y="3936950"/>
            <a:ext cx="544800" cy="24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4" name="Google Shape;924;p43"/>
          <p:cNvCxnSpPr>
            <a:stCxn id="923" idx="3"/>
            <a:endCxn id="913" idx="1"/>
          </p:cNvCxnSpPr>
          <p:nvPr/>
        </p:nvCxnSpPr>
        <p:spPr>
          <a:xfrm flipH="1" rot="10800000">
            <a:off x="5435775" y="3776375"/>
            <a:ext cx="771600" cy="16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5" name="Google Shape;925;p43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6" name="Google Shape;926;p43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7" name="Google Shape;927;p43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8" name="Google Shape;928;p43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9" name="Google Shape;929;p43"/>
          <p:cNvCxnSpPr>
            <a:stCxn id="915" idx="2"/>
            <a:endCxn id="927" idx="1"/>
          </p:cNvCxnSpPr>
          <p:nvPr/>
        </p:nvCxnSpPr>
        <p:spPr>
          <a:xfrm>
            <a:off x="2873450" y="4280025"/>
            <a:ext cx="284400" cy="2379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0" name="Google Shape;930;p43"/>
          <p:cNvCxnSpPr>
            <a:stCxn id="926" idx="7"/>
            <a:endCxn id="920" idx="2"/>
          </p:cNvCxnSpPr>
          <p:nvPr/>
        </p:nvCxnSpPr>
        <p:spPr>
          <a:xfrm flipH="1" rot="10800000">
            <a:off x="4237400" y="4324212"/>
            <a:ext cx="225900" cy="2394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1" name="Google Shape;931;p43"/>
          <p:cNvCxnSpPr>
            <a:stCxn id="923" idx="0"/>
            <a:endCxn id="928" idx="4"/>
          </p:cNvCxnSpPr>
          <p:nvPr/>
        </p:nvCxnSpPr>
        <p:spPr>
          <a:xfrm rot="10800000">
            <a:off x="5293275" y="3426575"/>
            <a:ext cx="0" cy="367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5" name="Google Shape;915;p43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0" name="Google Shape;920;p43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3" name="Google Shape;923;p43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2" name="Google Shape;932;p43"/>
          <p:cNvCxnSpPr>
            <a:stCxn id="933" idx="1"/>
            <a:endCxn id="913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4" name="Google Shape;934;p43"/>
          <p:cNvCxnSpPr>
            <a:stCxn id="935" idx="3"/>
            <a:endCxn id="913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6" name="Google Shape;936;p43"/>
          <p:cNvCxnSpPr>
            <a:stCxn id="935" idx="2"/>
            <a:endCxn id="937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8" name="Google Shape;938;p43"/>
          <p:cNvCxnSpPr>
            <a:stCxn id="937" idx="2"/>
            <a:endCxn id="912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9" name="Google Shape;939;p43"/>
          <p:cNvCxnSpPr>
            <a:stCxn id="940" idx="4"/>
            <a:endCxn id="910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3" name="Google Shape;933;p43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5" name="Google Shape;935;p43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7" name="Google Shape;937;p43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0" name="Google Shape;940;p43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1" name="Google Shape;941;p43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2" name="Google Shape;942;p43"/>
          <p:cNvSpPr/>
          <p:nvPr/>
        </p:nvSpPr>
        <p:spPr>
          <a:xfrm>
            <a:off x="5210488" y="4286750"/>
            <a:ext cx="1341000" cy="624300"/>
          </a:xfrm>
          <a:prstGeom prst="wedgeRoundRectCallout">
            <a:avLst>
              <a:gd fmla="val 35053" name="adj1"/>
              <a:gd fmla="val -95935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Hey everyone, I just found a way to reach Z.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3" name="Google Shape;943;p43"/>
          <p:cNvCxnSpPr>
            <a:stCxn id="944" idx="0"/>
          </p:cNvCxnSpPr>
          <p:nvPr/>
        </p:nvCxnSpPr>
        <p:spPr>
          <a:xfrm flipH="1" rot="10800000">
            <a:off x="1964125" y="1970585"/>
            <a:ext cx="69900" cy="40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4" name="Google Shape;944;p43"/>
          <p:cNvSpPr txBox="1"/>
          <p:nvPr/>
        </p:nvSpPr>
        <p:spPr>
          <a:xfrm>
            <a:off x="716275" y="2371685"/>
            <a:ext cx="2495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Look up "route reflectors" if curious.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44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0" name="Google Shape;950;p44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1" name="Google Shape;951;p44"/>
          <p:cNvCxnSpPr>
            <a:stCxn id="952" idx="0"/>
            <a:endCxn id="950" idx="4"/>
          </p:cNvCxnSpPr>
          <p:nvPr/>
        </p:nvCxnSpPr>
        <p:spPr>
          <a:xfrm rot="10800000">
            <a:off x="5293275" y="3426575"/>
            <a:ext cx="0" cy="367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3" name="Google Shape;953;p4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Implementing iBGP</a:t>
            </a:r>
            <a:endParaRPr/>
          </a:p>
        </p:txBody>
      </p:sp>
      <p:sp>
        <p:nvSpPr>
          <p:cNvPr id="954" name="Google Shape;954;p44"/>
          <p:cNvSpPr txBox="1"/>
          <p:nvPr>
            <p:ph idx="1" type="body"/>
          </p:nvPr>
        </p:nvSpPr>
        <p:spPr>
          <a:xfrm>
            <a:off x="107050" y="402200"/>
            <a:ext cx="8909700" cy="15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simple approach: Run an iBGP session between every pair of routers.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N total routers and B border routers, </a:t>
            </a:r>
            <a:r>
              <a:rPr lang="en"/>
              <a:t>requires</a:t>
            </a:r>
            <a:r>
              <a:rPr lang="en"/>
              <a:t> ~ N × B sessions.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N = 7, B = 3 inside AS#1.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Could be a scaling issue on larger networks.</a:t>
            </a:r>
            <a:endParaRPr/>
          </a:p>
        </p:txBody>
      </p:sp>
      <p:cxnSp>
        <p:nvCxnSpPr>
          <p:cNvPr id="955" name="Google Shape;955;p44"/>
          <p:cNvCxnSpPr>
            <a:stCxn id="956" idx="3"/>
            <a:endCxn id="957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8" name="Google Shape;958;p44"/>
          <p:cNvCxnSpPr>
            <a:stCxn id="957" idx="3"/>
            <a:endCxn id="959" idx="1"/>
          </p:cNvCxnSpPr>
          <p:nvPr/>
        </p:nvCxnSpPr>
        <p:spPr>
          <a:xfrm flipH="1" rot="10800000">
            <a:off x="3015950" y="3710025"/>
            <a:ext cx="693300" cy="4275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0" name="Google Shape;960;p44"/>
          <p:cNvCxnSpPr>
            <a:stCxn id="957" idx="0"/>
            <a:endCxn id="961" idx="2"/>
          </p:cNvCxnSpPr>
          <p:nvPr/>
        </p:nvCxnSpPr>
        <p:spPr>
          <a:xfrm flipH="1" rot="10800000">
            <a:off x="2873450" y="3207825"/>
            <a:ext cx="285000" cy="7872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2" name="Google Shape;962;p44"/>
          <p:cNvCxnSpPr>
            <a:stCxn id="961" idx="3"/>
            <a:endCxn id="959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3" name="Google Shape;963;p44"/>
          <p:cNvCxnSpPr>
            <a:stCxn id="957" idx="3"/>
            <a:endCxn id="964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5" name="Google Shape;965;p44"/>
          <p:cNvCxnSpPr>
            <a:stCxn id="964" idx="0"/>
            <a:endCxn id="959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6" name="Google Shape;966;p44"/>
          <p:cNvCxnSpPr>
            <a:stCxn id="964" idx="3"/>
            <a:endCxn id="952" idx="1"/>
          </p:cNvCxnSpPr>
          <p:nvPr/>
        </p:nvCxnSpPr>
        <p:spPr>
          <a:xfrm flipH="1" rot="10800000">
            <a:off x="4605925" y="3936950"/>
            <a:ext cx="544800" cy="244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7" name="Google Shape;967;p44"/>
          <p:cNvCxnSpPr>
            <a:stCxn id="952" idx="3"/>
            <a:endCxn id="968" idx="1"/>
          </p:cNvCxnSpPr>
          <p:nvPr/>
        </p:nvCxnSpPr>
        <p:spPr>
          <a:xfrm flipH="1" rot="10800000">
            <a:off x="5435775" y="3776375"/>
            <a:ext cx="771600" cy="1605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9" name="Google Shape;969;p44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0" name="Google Shape;970;p44"/>
          <p:cNvCxnSpPr>
            <a:stCxn id="971" idx="1"/>
            <a:endCxn id="968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2" name="Google Shape;972;p44"/>
          <p:cNvCxnSpPr>
            <a:stCxn id="973" idx="3"/>
            <a:endCxn id="968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4" name="Google Shape;974;p44"/>
          <p:cNvCxnSpPr>
            <a:stCxn id="973" idx="2"/>
            <a:endCxn id="975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6" name="Google Shape;976;p44"/>
          <p:cNvCxnSpPr>
            <a:stCxn id="975" idx="2"/>
            <a:endCxn id="961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7" name="Google Shape;977;p44"/>
          <p:cNvCxnSpPr>
            <a:stCxn id="978" idx="4"/>
            <a:endCxn id="956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1" name="Google Shape;971;p44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3" name="Google Shape;973;p44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5" name="Google Shape;975;p44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8" name="Google Shape;978;p44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9" name="Google Shape;979;p44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6" name="Google Shape;956;p44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9" name="Google Shape;959;p44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1" name="Google Shape;961;p44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8" name="Google Shape;968;p44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2" name="Google Shape;952;p44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0" name="Google Shape;980;p44"/>
          <p:cNvCxnSpPr>
            <a:stCxn id="968" idx="1"/>
            <a:endCxn id="952" idx="3"/>
          </p:cNvCxnSpPr>
          <p:nvPr/>
        </p:nvCxnSpPr>
        <p:spPr>
          <a:xfrm flipH="1">
            <a:off x="5435900" y="3776325"/>
            <a:ext cx="771600" cy="160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1" name="Google Shape;981;p44"/>
          <p:cNvCxnSpPr>
            <a:stCxn id="968" idx="1"/>
            <a:endCxn id="964" idx="3"/>
          </p:cNvCxnSpPr>
          <p:nvPr/>
        </p:nvCxnSpPr>
        <p:spPr>
          <a:xfrm flipH="1">
            <a:off x="4605800" y="3776325"/>
            <a:ext cx="1601700" cy="4053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2" name="Google Shape;982;p44"/>
          <p:cNvCxnSpPr>
            <a:stCxn id="968" idx="1"/>
            <a:endCxn id="959" idx="3"/>
          </p:cNvCxnSpPr>
          <p:nvPr/>
        </p:nvCxnSpPr>
        <p:spPr>
          <a:xfrm rot="10800000">
            <a:off x="3994100" y="3710025"/>
            <a:ext cx="2213400" cy="663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3" name="Google Shape;983;p44"/>
          <p:cNvCxnSpPr>
            <a:stCxn id="968" idx="1"/>
            <a:endCxn id="957" idx="3"/>
          </p:cNvCxnSpPr>
          <p:nvPr/>
        </p:nvCxnSpPr>
        <p:spPr>
          <a:xfrm flipH="1">
            <a:off x="3016100" y="3776325"/>
            <a:ext cx="3191400" cy="3612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4" name="Google Shape;984;p44"/>
          <p:cNvCxnSpPr>
            <a:stCxn id="968" idx="1"/>
            <a:endCxn id="956" idx="3"/>
          </p:cNvCxnSpPr>
          <p:nvPr/>
        </p:nvCxnSpPr>
        <p:spPr>
          <a:xfrm flipH="1">
            <a:off x="1863500" y="3776325"/>
            <a:ext cx="4344000" cy="75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5" name="Google Shape;985;p44"/>
          <p:cNvCxnSpPr>
            <a:stCxn id="968" idx="1"/>
            <a:endCxn id="961" idx="3"/>
          </p:cNvCxnSpPr>
          <p:nvPr/>
        </p:nvCxnSpPr>
        <p:spPr>
          <a:xfrm rot="10800000">
            <a:off x="3300800" y="3065325"/>
            <a:ext cx="2906700" cy="711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6" name="Google Shape;986;p44"/>
          <p:cNvSpPr/>
          <p:nvPr/>
        </p:nvSpPr>
        <p:spPr>
          <a:xfrm>
            <a:off x="5210488" y="4286750"/>
            <a:ext cx="1341000" cy="624300"/>
          </a:xfrm>
          <a:prstGeom prst="wedgeRoundRectCallout">
            <a:avLst>
              <a:gd fmla="val 35053" name="adj1"/>
              <a:gd fmla="val -95935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Hey everyone, I just found a way to reach Z.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7" name="Google Shape;987;p44"/>
          <p:cNvSpPr txBox="1"/>
          <p:nvPr/>
        </p:nvSpPr>
        <p:spPr>
          <a:xfrm>
            <a:off x="140425" y="2099900"/>
            <a:ext cx="37113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 iBGP sessions are still forwarding packets across multiple hops  (we aren't building new links).</a:t>
            </a:r>
            <a:endParaRPr sz="1200"/>
          </a:p>
        </p:txBody>
      </p:sp>
      <p:sp>
        <p:nvSpPr>
          <p:cNvPr id="988" name="Google Shape;988;p44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9" name="Google Shape;989;p44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0" name="Google Shape;990;p44"/>
          <p:cNvCxnSpPr>
            <a:stCxn id="957" idx="2"/>
            <a:endCxn id="989" idx="1"/>
          </p:cNvCxnSpPr>
          <p:nvPr/>
        </p:nvCxnSpPr>
        <p:spPr>
          <a:xfrm>
            <a:off x="2873450" y="4280025"/>
            <a:ext cx="284400" cy="2379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1" name="Google Shape;991;p44"/>
          <p:cNvCxnSpPr>
            <a:stCxn id="988" idx="7"/>
            <a:endCxn id="964" idx="2"/>
          </p:cNvCxnSpPr>
          <p:nvPr/>
        </p:nvCxnSpPr>
        <p:spPr>
          <a:xfrm flipH="1" rot="10800000">
            <a:off x="4237400" y="4324212"/>
            <a:ext cx="225900" cy="2394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4" name="Google Shape;964;p44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7" name="Google Shape;957;p44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4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BGP 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External BGP and Internal BGP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Multiple Links Between ASes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Message Types and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Route Attributes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Issues with BGP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Header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IPv4 Header Fields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IPv6 Changes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Security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997" name="Google Shape;997;p4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Links Between ASes</a:t>
            </a:r>
            <a:endParaRPr/>
          </a:p>
        </p:txBody>
      </p:sp>
      <p:sp>
        <p:nvSpPr>
          <p:cNvPr id="998" name="Google Shape;998;p4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9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" name="Google Shape;100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838" y="1230125"/>
            <a:ext cx="7036124" cy="3913376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46"/>
          <p:cNvSpPr txBox="1"/>
          <p:nvPr>
            <p:ph idx="1" type="body"/>
          </p:nvPr>
        </p:nvSpPr>
        <p:spPr>
          <a:xfrm>
            <a:off x="107050" y="402200"/>
            <a:ext cx="8909700" cy="7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With only a single link between AT&amp;T and Verizon, packets might travel long routes.</a:t>
            </a:r>
            <a:endParaRPr/>
          </a:p>
        </p:txBody>
      </p:sp>
      <p:sp>
        <p:nvSpPr>
          <p:cNvPr id="1005" name="Google Shape;1005;p46"/>
          <p:cNvSpPr/>
          <p:nvPr/>
        </p:nvSpPr>
        <p:spPr>
          <a:xfrm>
            <a:off x="1916013" y="3264026"/>
            <a:ext cx="4958700" cy="925200"/>
          </a:xfrm>
          <a:prstGeom prst="ellipse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6" name="Google Shape;1006;p4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Links Between ASes</a:t>
            </a:r>
            <a:endParaRPr/>
          </a:p>
        </p:txBody>
      </p:sp>
      <p:sp>
        <p:nvSpPr>
          <p:cNvPr id="1007" name="Google Shape;1007;p46"/>
          <p:cNvSpPr/>
          <p:nvPr/>
        </p:nvSpPr>
        <p:spPr>
          <a:xfrm>
            <a:off x="1916013" y="1987075"/>
            <a:ext cx="4958700" cy="925200"/>
          </a:xfrm>
          <a:prstGeom prst="ellipse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8" name="Google Shape;1008;p46"/>
          <p:cNvSpPr/>
          <p:nvPr/>
        </p:nvSpPr>
        <p:spPr>
          <a:xfrm>
            <a:off x="2183978" y="2340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9" name="Google Shape;1009;p46"/>
          <p:cNvCxnSpPr>
            <a:stCxn id="1008" idx="3"/>
            <a:endCxn id="1010" idx="1"/>
          </p:cNvCxnSpPr>
          <p:nvPr/>
        </p:nvCxnSpPr>
        <p:spPr>
          <a:xfrm>
            <a:off x="2468978" y="2483075"/>
            <a:ext cx="72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0" name="Google Shape;1010;p46"/>
          <p:cNvSpPr/>
          <p:nvPr/>
        </p:nvSpPr>
        <p:spPr>
          <a:xfrm>
            <a:off x="3197928" y="2340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1" name="Google Shape;1011;p46"/>
          <p:cNvSpPr/>
          <p:nvPr/>
        </p:nvSpPr>
        <p:spPr>
          <a:xfrm>
            <a:off x="4211878" y="2340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2" name="Google Shape;1012;p46"/>
          <p:cNvCxnSpPr>
            <a:stCxn id="1010" idx="3"/>
            <a:endCxn id="1011" idx="1"/>
          </p:cNvCxnSpPr>
          <p:nvPr/>
        </p:nvCxnSpPr>
        <p:spPr>
          <a:xfrm>
            <a:off x="3482928" y="2483075"/>
            <a:ext cx="72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3" name="Google Shape;1013;p46"/>
          <p:cNvSpPr/>
          <p:nvPr/>
        </p:nvSpPr>
        <p:spPr>
          <a:xfrm>
            <a:off x="2183978" y="3559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4" name="Google Shape;1014;p46"/>
          <p:cNvCxnSpPr>
            <a:stCxn id="1013" idx="3"/>
            <a:endCxn id="1015" idx="1"/>
          </p:cNvCxnSpPr>
          <p:nvPr/>
        </p:nvCxnSpPr>
        <p:spPr>
          <a:xfrm>
            <a:off x="2468978" y="3702275"/>
            <a:ext cx="72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5" name="Google Shape;1015;p46"/>
          <p:cNvSpPr/>
          <p:nvPr/>
        </p:nvSpPr>
        <p:spPr>
          <a:xfrm>
            <a:off x="3197928" y="3559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6" name="Google Shape;1016;p46"/>
          <p:cNvSpPr/>
          <p:nvPr/>
        </p:nvSpPr>
        <p:spPr>
          <a:xfrm>
            <a:off x="4211878" y="3559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7" name="Google Shape;1017;p46"/>
          <p:cNvCxnSpPr>
            <a:stCxn id="1015" idx="3"/>
            <a:endCxn id="1016" idx="1"/>
          </p:cNvCxnSpPr>
          <p:nvPr/>
        </p:nvCxnSpPr>
        <p:spPr>
          <a:xfrm>
            <a:off x="3482928" y="3702275"/>
            <a:ext cx="72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8" name="Google Shape;1018;p46"/>
          <p:cNvSpPr/>
          <p:nvPr/>
        </p:nvSpPr>
        <p:spPr>
          <a:xfrm>
            <a:off x="5225828" y="2340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9" name="Google Shape;1019;p46"/>
          <p:cNvSpPr/>
          <p:nvPr/>
        </p:nvSpPr>
        <p:spPr>
          <a:xfrm>
            <a:off x="5225828" y="3559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20" name="Google Shape;1020;p46"/>
          <p:cNvCxnSpPr>
            <a:stCxn id="1011" idx="3"/>
            <a:endCxn id="1018" idx="1"/>
          </p:cNvCxnSpPr>
          <p:nvPr/>
        </p:nvCxnSpPr>
        <p:spPr>
          <a:xfrm>
            <a:off x="4496878" y="2483075"/>
            <a:ext cx="72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1" name="Google Shape;1021;p46"/>
          <p:cNvCxnSpPr>
            <a:stCxn id="1016" idx="3"/>
            <a:endCxn id="1019" idx="1"/>
          </p:cNvCxnSpPr>
          <p:nvPr/>
        </p:nvCxnSpPr>
        <p:spPr>
          <a:xfrm>
            <a:off x="4496878" y="3702275"/>
            <a:ext cx="72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2" name="Google Shape;1022;p46"/>
          <p:cNvCxnSpPr>
            <a:stCxn id="1008" idx="2"/>
            <a:endCxn id="1013" idx="0"/>
          </p:cNvCxnSpPr>
          <p:nvPr/>
        </p:nvCxnSpPr>
        <p:spPr>
          <a:xfrm>
            <a:off x="2326478" y="26255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3" name="Google Shape;1023;p46"/>
          <p:cNvSpPr/>
          <p:nvPr/>
        </p:nvSpPr>
        <p:spPr>
          <a:xfrm>
            <a:off x="6239778" y="2340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4" name="Google Shape;1024;p46"/>
          <p:cNvSpPr/>
          <p:nvPr/>
        </p:nvSpPr>
        <p:spPr>
          <a:xfrm>
            <a:off x="6239778" y="3559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J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25" name="Google Shape;1025;p46"/>
          <p:cNvCxnSpPr>
            <a:stCxn id="1018" idx="3"/>
            <a:endCxn id="1023" idx="1"/>
          </p:cNvCxnSpPr>
          <p:nvPr/>
        </p:nvCxnSpPr>
        <p:spPr>
          <a:xfrm>
            <a:off x="5510828" y="2483075"/>
            <a:ext cx="72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46"/>
          <p:cNvCxnSpPr>
            <a:stCxn id="1019" idx="3"/>
            <a:endCxn id="1024" idx="1"/>
          </p:cNvCxnSpPr>
          <p:nvPr/>
        </p:nvCxnSpPr>
        <p:spPr>
          <a:xfrm>
            <a:off x="5510828" y="3702275"/>
            <a:ext cx="72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7" name="Google Shape;1027;p46"/>
          <p:cNvSpPr/>
          <p:nvPr/>
        </p:nvSpPr>
        <p:spPr>
          <a:xfrm>
            <a:off x="2432525" y="2728325"/>
            <a:ext cx="3955900" cy="712550"/>
          </a:xfrm>
          <a:custGeom>
            <a:rect b="b" l="l" r="r" t="t"/>
            <a:pathLst>
              <a:path extrusionOk="0" h="28502" w="158236">
                <a:moveTo>
                  <a:pt x="158236" y="0"/>
                </a:moveTo>
                <a:lnTo>
                  <a:pt x="0" y="0"/>
                </a:lnTo>
                <a:lnTo>
                  <a:pt x="0" y="28502"/>
                </a:lnTo>
                <a:lnTo>
                  <a:pt x="157581" y="28502"/>
                </a:ln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028" name="Google Shape;1028;p46"/>
          <p:cNvSpPr txBox="1"/>
          <p:nvPr/>
        </p:nvSpPr>
        <p:spPr>
          <a:xfrm>
            <a:off x="1915925" y="2015774"/>
            <a:ext cx="4958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9" name="Google Shape;1029;p46"/>
          <p:cNvSpPr txBox="1"/>
          <p:nvPr/>
        </p:nvSpPr>
        <p:spPr>
          <a:xfrm>
            <a:off x="1915925" y="3879822"/>
            <a:ext cx="4958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Google Shape;103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838" y="1230125"/>
            <a:ext cx="7036124" cy="3913376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47"/>
          <p:cNvSpPr txBox="1"/>
          <p:nvPr>
            <p:ph idx="1" type="body"/>
          </p:nvPr>
        </p:nvSpPr>
        <p:spPr>
          <a:xfrm>
            <a:off x="107050" y="402200"/>
            <a:ext cx="8909700" cy="7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Adding a second link between AT&amp;T and Verizon creates shorter routes.</a:t>
            </a:r>
            <a:endParaRPr/>
          </a:p>
        </p:txBody>
      </p:sp>
      <p:sp>
        <p:nvSpPr>
          <p:cNvPr id="1036" name="Google Shape;1036;p47"/>
          <p:cNvSpPr/>
          <p:nvPr/>
        </p:nvSpPr>
        <p:spPr>
          <a:xfrm>
            <a:off x="1916013" y="3264026"/>
            <a:ext cx="4958700" cy="925200"/>
          </a:xfrm>
          <a:prstGeom prst="ellipse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7" name="Google Shape;1037;p4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Links Between ASes</a:t>
            </a:r>
            <a:endParaRPr/>
          </a:p>
        </p:txBody>
      </p:sp>
      <p:sp>
        <p:nvSpPr>
          <p:cNvPr id="1038" name="Google Shape;1038;p47"/>
          <p:cNvSpPr/>
          <p:nvPr/>
        </p:nvSpPr>
        <p:spPr>
          <a:xfrm>
            <a:off x="1916013" y="1987075"/>
            <a:ext cx="4958700" cy="925200"/>
          </a:xfrm>
          <a:prstGeom prst="ellipse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9" name="Google Shape;1039;p47"/>
          <p:cNvSpPr/>
          <p:nvPr/>
        </p:nvSpPr>
        <p:spPr>
          <a:xfrm>
            <a:off x="2183978" y="2340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0" name="Google Shape;1040;p47"/>
          <p:cNvCxnSpPr>
            <a:stCxn id="1039" idx="3"/>
            <a:endCxn id="1041" idx="1"/>
          </p:cNvCxnSpPr>
          <p:nvPr/>
        </p:nvCxnSpPr>
        <p:spPr>
          <a:xfrm>
            <a:off x="2468978" y="2483075"/>
            <a:ext cx="72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1" name="Google Shape;1041;p47"/>
          <p:cNvSpPr/>
          <p:nvPr/>
        </p:nvSpPr>
        <p:spPr>
          <a:xfrm>
            <a:off x="3197928" y="2340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2" name="Google Shape;1042;p47"/>
          <p:cNvSpPr/>
          <p:nvPr/>
        </p:nvSpPr>
        <p:spPr>
          <a:xfrm>
            <a:off x="4211878" y="2340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3" name="Google Shape;1043;p47"/>
          <p:cNvCxnSpPr>
            <a:stCxn id="1041" idx="3"/>
            <a:endCxn id="1042" idx="1"/>
          </p:cNvCxnSpPr>
          <p:nvPr/>
        </p:nvCxnSpPr>
        <p:spPr>
          <a:xfrm>
            <a:off x="3482928" y="2483075"/>
            <a:ext cx="72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4" name="Google Shape;1044;p47"/>
          <p:cNvSpPr/>
          <p:nvPr/>
        </p:nvSpPr>
        <p:spPr>
          <a:xfrm>
            <a:off x="2183978" y="3559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5" name="Google Shape;1045;p47"/>
          <p:cNvCxnSpPr>
            <a:stCxn id="1044" idx="3"/>
            <a:endCxn id="1046" idx="1"/>
          </p:cNvCxnSpPr>
          <p:nvPr/>
        </p:nvCxnSpPr>
        <p:spPr>
          <a:xfrm>
            <a:off x="2468978" y="3702275"/>
            <a:ext cx="72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6" name="Google Shape;1046;p47"/>
          <p:cNvSpPr/>
          <p:nvPr/>
        </p:nvSpPr>
        <p:spPr>
          <a:xfrm>
            <a:off x="3197928" y="3559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7" name="Google Shape;1047;p47"/>
          <p:cNvSpPr/>
          <p:nvPr/>
        </p:nvSpPr>
        <p:spPr>
          <a:xfrm>
            <a:off x="4211878" y="3559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8" name="Google Shape;1048;p47"/>
          <p:cNvCxnSpPr>
            <a:stCxn id="1046" idx="3"/>
            <a:endCxn id="1047" idx="1"/>
          </p:cNvCxnSpPr>
          <p:nvPr/>
        </p:nvCxnSpPr>
        <p:spPr>
          <a:xfrm>
            <a:off x="3482928" y="3702275"/>
            <a:ext cx="72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9" name="Google Shape;1049;p47"/>
          <p:cNvSpPr/>
          <p:nvPr/>
        </p:nvSpPr>
        <p:spPr>
          <a:xfrm>
            <a:off x="5225828" y="2340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0" name="Google Shape;1050;p47"/>
          <p:cNvSpPr/>
          <p:nvPr/>
        </p:nvSpPr>
        <p:spPr>
          <a:xfrm>
            <a:off x="5225828" y="3559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51" name="Google Shape;1051;p47"/>
          <p:cNvCxnSpPr>
            <a:stCxn id="1042" idx="3"/>
            <a:endCxn id="1049" idx="1"/>
          </p:cNvCxnSpPr>
          <p:nvPr/>
        </p:nvCxnSpPr>
        <p:spPr>
          <a:xfrm>
            <a:off x="4496878" y="2483075"/>
            <a:ext cx="72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2" name="Google Shape;1052;p47"/>
          <p:cNvCxnSpPr>
            <a:stCxn id="1047" idx="3"/>
            <a:endCxn id="1050" idx="1"/>
          </p:cNvCxnSpPr>
          <p:nvPr/>
        </p:nvCxnSpPr>
        <p:spPr>
          <a:xfrm>
            <a:off x="4496878" y="3702275"/>
            <a:ext cx="72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3" name="Google Shape;1053;p47"/>
          <p:cNvCxnSpPr>
            <a:stCxn id="1039" idx="2"/>
            <a:endCxn id="1044" idx="0"/>
          </p:cNvCxnSpPr>
          <p:nvPr/>
        </p:nvCxnSpPr>
        <p:spPr>
          <a:xfrm>
            <a:off x="2326478" y="26255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4" name="Google Shape;1054;p47"/>
          <p:cNvSpPr/>
          <p:nvPr/>
        </p:nvSpPr>
        <p:spPr>
          <a:xfrm>
            <a:off x="6239778" y="2340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5" name="Google Shape;1055;p47"/>
          <p:cNvSpPr/>
          <p:nvPr/>
        </p:nvSpPr>
        <p:spPr>
          <a:xfrm>
            <a:off x="6239778" y="3559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J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56" name="Google Shape;1056;p47"/>
          <p:cNvCxnSpPr>
            <a:stCxn id="1049" idx="3"/>
            <a:endCxn id="1054" idx="1"/>
          </p:cNvCxnSpPr>
          <p:nvPr/>
        </p:nvCxnSpPr>
        <p:spPr>
          <a:xfrm>
            <a:off x="5510828" y="2483075"/>
            <a:ext cx="72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7" name="Google Shape;1057;p47"/>
          <p:cNvCxnSpPr>
            <a:stCxn id="1050" idx="3"/>
            <a:endCxn id="1055" idx="1"/>
          </p:cNvCxnSpPr>
          <p:nvPr/>
        </p:nvCxnSpPr>
        <p:spPr>
          <a:xfrm>
            <a:off x="5510828" y="3702275"/>
            <a:ext cx="72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8" name="Google Shape;1058;p47"/>
          <p:cNvSpPr txBox="1"/>
          <p:nvPr/>
        </p:nvSpPr>
        <p:spPr>
          <a:xfrm>
            <a:off x="1915925" y="2015774"/>
            <a:ext cx="4958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9" name="Google Shape;1059;p47"/>
          <p:cNvSpPr txBox="1"/>
          <p:nvPr/>
        </p:nvSpPr>
        <p:spPr>
          <a:xfrm>
            <a:off x="1915925" y="3879822"/>
            <a:ext cx="4958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60" name="Google Shape;1060;p47"/>
          <p:cNvCxnSpPr>
            <a:stCxn id="1054" idx="2"/>
            <a:endCxn id="1055" idx="0"/>
          </p:cNvCxnSpPr>
          <p:nvPr/>
        </p:nvCxnSpPr>
        <p:spPr>
          <a:xfrm>
            <a:off x="6382278" y="26255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1" name="Google Shape;1061;p47"/>
          <p:cNvCxnSpPr/>
          <p:nvPr/>
        </p:nvCxnSpPr>
        <p:spPr>
          <a:xfrm>
            <a:off x="6240928" y="2711918"/>
            <a:ext cx="0" cy="779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8"/>
          <p:cNvSpPr/>
          <p:nvPr/>
        </p:nvSpPr>
        <p:spPr>
          <a:xfrm>
            <a:off x="3014025" y="2398750"/>
            <a:ext cx="46452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7" name="Google Shape;1067;p48"/>
          <p:cNvSpPr txBox="1"/>
          <p:nvPr/>
        </p:nvSpPr>
        <p:spPr>
          <a:xfrm>
            <a:off x="3014025" y="2429950"/>
            <a:ext cx="4715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8" name="Google Shape;1068;p48"/>
          <p:cNvSpPr txBox="1"/>
          <p:nvPr>
            <p:ph idx="1" type="body"/>
          </p:nvPr>
        </p:nvSpPr>
        <p:spPr>
          <a:xfrm>
            <a:off x="107050" y="402200"/>
            <a:ext cx="8909700" cy="18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There can be multiple paths between the same two ASes.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the AS graph perspective, both routes are identical.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you're AT&amp;T, which route do you prefer?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Gao-Rexford rules won't help – the next AS is Verizon in both routes.</a:t>
            </a:r>
            <a:endParaRPr/>
          </a:p>
        </p:txBody>
      </p:sp>
      <p:sp>
        <p:nvSpPr>
          <p:cNvPr id="1069" name="Google Shape;1069;p48"/>
          <p:cNvSpPr/>
          <p:nvPr/>
        </p:nvSpPr>
        <p:spPr>
          <a:xfrm>
            <a:off x="1368575" y="37703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0" name="Google Shape;1070;p4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Links Between ASes</a:t>
            </a:r>
            <a:endParaRPr/>
          </a:p>
        </p:txBody>
      </p:sp>
      <p:sp>
        <p:nvSpPr>
          <p:cNvPr id="1071" name="Google Shape;1071;p48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2" name="Google Shape;1072;p48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3" name="Google Shape;1073;p48"/>
          <p:cNvCxnSpPr>
            <a:stCxn id="1071" idx="3"/>
            <a:endCxn id="1072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4" name="Google Shape;1074;p48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5" name="Google Shape;1075;p48"/>
          <p:cNvCxnSpPr>
            <a:stCxn id="1074" idx="3"/>
            <a:endCxn id="1076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6" name="Google Shape;1076;p48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7" name="Google Shape;1077;p48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8" name="Google Shape;1078;p48"/>
          <p:cNvCxnSpPr>
            <a:stCxn id="1076" idx="3"/>
            <a:endCxn id="1077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9" name="Google Shape;1079;p48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0" name="Google Shape;1080;p48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1" name="Google Shape;1081;p48"/>
          <p:cNvCxnSpPr>
            <a:stCxn id="1072" idx="3"/>
            <a:endCxn id="1079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2" name="Google Shape;1082;p48"/>
          <p:cNvCxnSpPr>
            <a:stCxn id="1077" idx="3"/>
            <a:endCxn id="1080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3" name="Google Shape;1083;p48"/>
          <p:cNvCxnSpPr>
            <a:stCxn id="1071" idx="2"/>
            <a:endCxn id="1076" idx="0"/>
          </p:cNvCxnSpPr>
          <p:nvPr/>
        </p:nvCxnSpPr>
        <p:spPr>
          <a:xfrm>
            <a:off x="356902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4" name="Google Shape;1084;p48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5" name="Google Shape;1085;p48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6" name="Google Shape;1086;p48"/>
          <p:cNvCxnSpPr>
            <a:stCxn id="1079" idx="3"/>
            <a:endCxn id="1084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7" name="Google Shape;1087;p48"/>
          <p:cNvCxnSpPr>
            <a:stCxn id="1080" idx="3"/>
            <a:endCxn id="1085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8" name="Google Shape;1088;p48"/>
          <p:cNvSpPr txBox="1"/>
          <p:nvPr/>
        </p:nvSpPr>
        <p:spPr>
          <a:xfrm>
            <a:off x="13685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9" name="Google Shape;1089;p48"/>
          <p:cNvCxnSpPr>
            <a:stCxn id="1084" idx="2"/>
            <a:endCxn id="1085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0" name="Google Shape;1090;p48"/>
          <p:cNvSpPr/>
          <p:nvPr/>
        </p:nvSpPr>
        <p:spPr>
          <a:xfrm>
            <a:off x="1817163" y="40931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91" name="Google Shape;1091;p48"/>
          <p:cNvCxnSpPr>
            <a:stCxn id="1090" idx="6"/>
            <a:endCxn id="1074" idx="1"/>
          </p:cNvCxnSpPr>
          <p:nvPr/>
        </p:nvCxnSpPr>
        <p:spPr>
          <a:xfrm>
            <a:off x="2102163" y="42356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2" name="Google Shape;1092;p48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93" name="Google Shape;1093;p48"/>
          <p:cNvCxnSpPr>
            <a:stCxn id="1084" idx="3"/>
            <a:endCxn id="1092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4" name="Google Shape;1094;p48"/>
          <p:cNvSpPr/>
          <p:nvPr/>
        </p:nvSpPr>
        <p:spPr>
          <a:xfrm>
            <a:off x="1962925" y="3101750"/>
            <a:ext cx="4942350" cy="1226400"/>
          </a:xfrm>
          <a:custGeom>
            <a:rect b="b" l="l" r="r" t="t"/>
            <a:pathLst>
              <a:path extrusionOk="0" h="49056" w="197694">
                <a:moveTo>
                  <a:pt x="0" y="49056"/>
                </a:moveTo>
                <a:lnTo>
                  <a:pt x="180525" y="49056"/>
                </a:lnTo>
                <a:lnTo>
                  <a:pt x="180525" y="0"/>
                </a:lnTo>
                <a:lnTo>
                  <a:pt x="197694" y="0"/>
                </a:lnTo>
              </a:path>
            </a:pathLst>
          </a:cu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095" name="Google Shape;1095;p48"/>
          <p:cNvSpPr/>
          <p:nvPr/>
        </p:nvSpPr>
        <p:spPr>
          <a:xfrm>
            <a:off x="1967875" y="2923650"/>
            <a:ext cx="4913775" cy="1222325"/>
          </a:xfrm>
          <a:custGeom>
            <a:rect b="b" l="l" r="r" t="t"/>
            <a:pathLst>
              <a:path extrusionOk="0" h="48893" w="196551">
                <a:moveTo>
                  <a:pt x="0" y="48893"/>
                </a:moveTo>
                <a:lnTo>
                  <a:pt x="61157" y="48893"/>
                </a:lnTo>
                <a:lnTo>
                  <a:pt x="61157" y="0"/>
                </a:lnTo>
                <a:lnTo>
                  <a:pt x="196551" y="0"/>
                </a:lnTo>
              </a:path>
            </a:pathLst>
          </a:custGeom>
          <a:noFill/>
          <a:ln cap="flat" cmpd="sng" w="19050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49"/>
          <p:cNvSpPr txBox="1"/>
          <p:nvPr>
            <p:ph idx="1" type="body"/>
          </p:nvPr>
        </p:nvSpPr>
        <p:spPr>
          <a:xfrm>
            <a:off x="107050" y="402200"/>
            <a:ext cx="8909700" cy="19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else equal, an AS prefers the route that uses the least of its own resources.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AT&amp;T prefers the gold path, where the packet mostly travels on Verizon's 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Hot potato routing</a:t>
            </a:r>
            <a:r>
              <a:rPr lang="en"/>
              <a:t>: Get rid of the packet ASAP, and make someone else carry it the rest of the way.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AS prefers the nearest egress router (if there are multiple).</a:t>
            </a:r>
            <a:endParaRPr/>
          </a:p>
        </p:txBody>
      </p:sp>
      <p:sp>
        <p:nvSpPr>
          <p:cNvPr id="1101" name="Google Shape;1101;p4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Hot Potato Routing</a:t>
            </a:r>
            <a:endParaRPr/>
          </a:p>
        </p:txBody>
      </p:sp>
      <p:sp>
        <p:nvSpPr>
          <p:cNvPr id="1102" name="Google Shape;1102;p49"/>
          <p:cNvSpPr/>
          <p:nvPr/>
        </p:nvSpPr>
        <p:spPr>
          <a:xfrm>
            <a:off x="3014025" y="2398750"/>
            <a:ext cx="46452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3" name="Google Shape;1103;p49"/>
          <p:cNvSpPr txBox="1"/>
          <p:nvPr/>
        </p:nvSpPr>
        <p:spPr>
          <a:xfrm>
            <a:off x="3014025" y="2429950"/>
            <a:ext cx="4715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4" name="Google Shape;1104;p49"/>
          <p:cNvSpPr/>
          <p:nvPr/>
        </p:nvSpPr>
        <p:spPr>
          <a:xfrm>
            <a:off x="1368575" y="37703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5" name="Google Shape;1105;p49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6" name="Google Shape;1106;p49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7" name="Google Shape;1107;p49"/>
          <p:cNvCxnSpPr>
            <a:stCxn id="1105" idx="3"/>
            <a:endCxn id="1106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8" name="Google Shape;1108;p49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9" name="Google Shape;1109;p49"/>
          <p:cNvCxnSpPr>
            <a:stCxn id="1108" idx="3"/>
            <a:endCxn id="1110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0" name="Google Shape;1110;p49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1" name="Google Shape;1111;p49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2" name="Google Shape;1112;p49"/>
          <p:cNvCxnSpPr>
            <a:stCxn id="1110" idx="3"/>
            <a:endCxn id="1111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3" name="Google Shape;1113;p49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4" name="Google Shape;1114;p49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5" name="Google Shape;1115;p49"/>
          <p:cNvCxnSpPr>
            <a:stCxn id="1106" idx="3"/>
            <a:endCxn id="1113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6" name="Google Shape;1116;p49"/>
          <p:cNvCxnSpPr>
            <a:stCxn id="1111" idx="3"/>
            <a:endCxn id="1114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7" name="Google Shape;1117;p49"/>
          <p:cNvCxnSpPr>
            <a:stCxn id="1105" idx="2"/>
            <a:endCxn id="1110" idx="0"/>
          </p:cNvCxnSpPr>
          <p:nvPr/>
        </p:nvCxnSpPr>
        <p:spPr>
          <a:xfrm>
            <a:off x="356902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8" name="Google Shape;1118;p49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9" name="Google Shape;1119;p49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0" name="Google Shape;1120;p49"/>
          <p:cNvCxnSpPr>
            <a:stCxn id="1113" idx="3"/>
            <a:endCxn id="1118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1" name="Google Shape;1121;p49"/>
          <p:cNvCxnSpPr>
            <a:stCxn id="1114" idx="3"/>
            <a:endCxn id="1119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2" name="Google Shape;1122;p49"/>
          <p:cNvSpPr txBox="1"/>
          <p:nvPr/>
        </p:nvSpPr>
        <p:spPr>
          <a:xfrm>
            <a:off x="13685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3" name="Google Shape;1123;p49"/>
          <p:cNvCxnSpPr>
            <a:stCxn id="1118" idx="2"/>
            <a:endCxn id="1119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4" name="Google Shape;1124;p49"/>
          <p:cNvSpPr/>
          <p:nvPr/>
        </p:nvSpPr>
        <p:spPr>
          <a:xfrm>
            <a:off x="1817163" y="40931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5" name="Google Shape;1125;p49"/>
          <p:cNvCxnSpPr>
            <a:stCxn id="1124" idx="6"/>
            <a:endCxn id="1108" idx="1"/>
          </p:cNvCxnSpPr>
          <p:nvPr/>
        </p:nvCxnSpPr>
        <p:spPr>
          <a:xfrm>
            <a:off x="2102163" y="42356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6" name="Google Shape;1126;p49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7" name="Google Shape;1127;p49"/>
          <p:cNvCxnSpPr>
            <a:stCxn id="1118" idx="3"/>
            <a:endCxn id="1126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8" name="Google Shape;1128;p49"/>
          <p:cNvSpPr/>
          <p:nvPr/>
        </p:nvSpPr>
        <p:spPr>
          <a:xfrm>
            <a:off x="1962925" y="3101750"/>
            <a:ext cx="4942350" cy="1226400"/>
          </a:xfrm>
          <a:custGeom>
            <a:rect b="b" l="l" r="r" t="t"/>
            <a:pathLst>
              <a:path extrusionOk="0" h="49056" w="197694">
                <a:moveTo>
                  <a:pt x="0" y="49056"/>
                </a:moveTo>
                <a:lnTo>
                  <a:pt x="180525" y="49056"/>
                </a:lnTo>
                <a:lnTo>
                  <a:pt x="180525" y="0"/>
                </a:lnTo>
                <a:lnTo>
                  <a:pt x="197694" y="0"/>
                </a:lnTo>
              </a:path>
            </a:pathLst>
          </a:cu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129" name="Google Shape;1129;p49"/>
          <p:cNvSpPr/>
          <p:nvPr/>
        </p:nvSpPr>
        <p:spPr>
          <a:xfrm>
            <a:off x="1967875" y="2923650"/>
            <a:ext cx="4913775" cy="1222325"/>
          </a:xfrm>
          <a:custGeom>
            <a:rect b="b" l="l" r="r" t="t"/>
            <a:pathLst>
              <a:path extrusionOk="0" h="48893" w="196551">
                <a:moveTo>
                  <a:pt x="0" y="48893"/>
                </a:moveTo>
                <a:lnTo>
                  <a:pt x="61157" y="48893"/>
                </a:lnTo>
                <a:lnTo>
                  <a:pt x="61157" y="0"/>
                </a:lnTo>
                <a:lnTo>
                  <a:pt x="196551" y="0"/>
                </a:lnTo>
              </a:path>
            </a:pathLst>
          </a:custGeom>
          <a:noFill/>
          <a:ln cap="flat" cmpd="sng" w="19050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50"/>
          <p:cNvSpPr txBox="1"/>
          <p:nvPr>
            <p:ph idx="1" type="body"/>
          </p:nvPr>
        </p:nvSpPr>
        <p:spPr>
          <a:xfrm>
            <a:off x="107050" y="402200"/>
            <a:ext cx="8909700" cy="19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else equal, an AS prefers the route that uses the least of its own resources.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AT&amp;T prefers the gold path, where the packet mostly travels on Verizon's 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Hot potato routing</a:t>
            </a:r>
            <a:r>
              <a:rPr lang="en"/>
              <a:t>: Get rid of the packet ASAP, and make someone else carry it the rest of the way.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AS prefers the nearest egress router (if there are multiple).</a:t>
            </a:r>
            <a:endParaRPr/>
          </a:p>
        </p:txBody>
      </p:sp>
      <p:sp>
        <p:nvSpPr>
          <p:cNvPr id="1135" name="Google Shape;1135;p5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Hot Potato Routing</a:t>
            </a:r>
            <a:endParaRPr/>
          </a:p>
        </p:txBody>
      </p:sp>
      <p:sp>
        <p:nvSpPr>
          <p:cNvPr id="1136" name="Google Shape;1136;p50"/>
          <p:cNvSpPr/>
          <p:nvPr/>
        </p:nvSpPr>
        <p:spPr>
          <a:xfrm>
            <a:off x="3014025" y="2398750"/>
            <a:ext cx="46452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7" name="Google Shape;1137;p50"/>
          <p:cNvSpPr txBox="1"/>
          <p:nvPr/>
        </p:nvSpPr>
        <p:spPr>
          <a:xfrm>
            <a:off x="3014025" y="2429950"/>
            <a:ext cx="4715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8" name="Google Shape;1138;p50"/>
          <p:cNvSpPr/>
          <p:nvPr/>
        </p:nvSpPr>
        <p:spPr>
          <a:xfrm>
            <a:off x="1368575" y="37703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9" name="Google Shape;1139;p50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0" name="Google Shape;1140;p50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1" name="Google Shape;1141;p50"/>
          <p:cNvCxnSpPr>
            <a:stCxn id="1139" idx="3"/>
            <a:endCxn id="1140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2" name="Google Shape;1142;p50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3" name="Google Shape;1143;p50"/>
          <p:cNvCxnSpPr>
            <a:stCxn id="1142" idx="3"/>
            <a:endCxn id="1144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4" name="Google Shape;1144;p50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5" name="Google Shape;1145;p50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6" name="Google Shape;1146;p50"/>
          <p:cNvCxnSpPr>
            <a:stCxn id="1144" idx="3"/>
            <a:endCxn id="1145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7" name="Google Shape;1147;p50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8" name="Google Shape;1148;p50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9" name="Google Shape;1149;p50"/>
          <p:cNvCxnSpPr>
            <a:stCxn id="1140" idx="3"/>
            <a:endCxn id="1147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0" name="Google Shape;1150;p50"/>
          <p:cNvCxnSpPr>
            <a:stCxn id="1145" idx="3"/>
            <a:endCxn id="1148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1" name="Google Shape;1151;p50"/>
          <p:cNvCxnSpPr>
            <a:stCxn id="1139" idx="2"/>
            <a:endCxn id="1144" idx="0"/>
          </p:cNvCxnSpPr>
          <p:nvPr/>
        </p:nvCxnSpPr>
        <p:spPr>
          <a:xfrm>
            <a:off x="356902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2" name="Google Shape;1152;p50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3" name="Google Shape;1153;p50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4" name="Google Shape;1154;p50"/>
          <p:cNvCxnSpPr>
            <a:stCxn id="1147" idx="3"/>
            <a:endCxn id="1152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5" name="Google Shape;1155;p50"/>
          <p:cNvCxnSpPr>
            <a:stCxn id="1148" idx="3"/>
            <a:endCxn id="1153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6" name="Google Shape;1156;p50"/>
          <p:cNvSpPr txBox="1"/>
          <p:nvPr/>
        </p:nvSpPr>
        <p:spPr>
          <a:xfrm>
            <a:off x="13685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7" name="Google Shape;1157;p50"/>
          <p:cNvCxnSpPr>
            <a:stCxn id="1152" idx="2"/>
            <a:endCxn id="1153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8" name="Google Shape;1158;p50"/>
          <p:cNvSpPr/>
          <p:nvPr/>
        </p:nvSpPr>
        <p:spPr>
          <a:xfrm>
            <a:off x="1817163" y="40931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9" name="Google Shape;1159;p50"/>
          <p:cNvCxnSpPr>
            <a:stCxn id="1158" idx="6"/>
            <a:endCxn id="1142" idx="1"/>
          </p:cNvCxnSpPr>
          <p:nvPr/>
        </p:nvCxnSpPr>
        <p:spPr>
          <a:xfrm>
            <a:off x="2102163" y="42356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0" name="Google Shape;1160;p50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1" name="Google Shape;1161;p50"/>
          <p:cNvCxnSpPr>
            <a:stCxn id="1152" idx="3"/>
            <a:endCxn id="1160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2" name="Google Shape;1162;p50"/>
          <p:cNvSpPr/>
          <p:nvPr/>
        </p:nvSpPr>
        <p:spPr>
          <a:xfrm>
            <a:off x="1563250" y="3110488"/>
            <a:ext cx="1611900" cy="333600"/>
          </a:xfrm>
          <a:prstGeom prst="wedgeRoundRectCallout">
            <a:avLst>
              <a:gd fmla="val 62361" name="adj1"/>
              <a:gd fmla="val -58985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[eBGP] I can reach Y.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3" name="Google Shape;1163;p50"/>
          <p:cNvSpPr/>
          <p:nvPr/>
        </p:nvSpPr>
        <p:spPr>
          <a:xfrm>
            <a:off x="6687025" y="3237250"/>
            <a:ext cx="1611900" cy="333600"/>
          </a:xfrm>
          <a:prstGeom prst="wedgeRoundRectCallout">
            <a:avLst>
              <a:gd fmla="val -63054" name="adj1"/>
              <a:gd fmla="val -59255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[eBGP] I can reach Y.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51"/>
          <p:cNvSpPr/>
          <p:nvPr/>
        </p:nvSpPr>
        <p:spPr>
          <a:xfrm>
            <a:off x="3014025" y="2398750"/>
            <a:ext cx="46452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9" name="Google Shape;1169;p51"/>
          <p:cNvSpPr txBox="1"/>
          <p:nvPr/>
        </p:nvSpPr>
        <p:spPr>
          <a:xfrm>
            <a:off x="3014025" y="2429950"/>
            <a:ext cx="4715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0" name="Google Shape;1170;p51"/>
          <p:cNvSpPr/>
          <p:nvPr/>
        </p:nvSpPr>
        <p:spPr>
          <a:xfrm>
            <a:off x="1368575" y="37703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1" name="Google Shape;1171;p51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2" name="Google Shape;1172;p51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3" name="Google Shape;1173;p51"/>
          <p:cNvCxnSpPr>
            <a:stCxn id="1171" idx="3"/>
            <a:endCxn id="1172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4" name="Google Shape;1174;p51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5" name="Google Shape;1175;p51"/>
          <p:cNvCxnSpPr>
            <a:stCxn id="1174" idx="3"/>
            <a:endCxn id="1176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6" name="Google Shape;1176;p51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7" name="Google Shape;1177;p51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8" name="Google Shape;1178;p51"/>
          <p:cNvCxnSpPr>
            <a:stCxn id="1176" idx="3"/>
            <a:endCxn id="1177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9" name="Google Shape;1179;p51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0" name="Google Shape;1180;p51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81" name="Google Shape;1181;p51"/>
          <p:cNvCxnSpPr>
            <a:stCxn id="1172" idx="3"/>
            <a:endCxn id="1179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2" name="Google Shape;1182;p51"/>
          <p:cNvCxnSpPr>
            <a:stCxn id="1177" idx="3"/>
            <a:endCxn id="1180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3" name="Google Shape;1183;p51"/>
          <p:cNvCxnSpPr>
            <a:stCxn id="1171" idx="2"/>
            <a:endCxn id="1176" idx="0"/>
          </p:cNvCxnSpPr>
          <p:nvPr/>
        </p:nvCxnSpPr>
        <p:spPr>
          <a:xfrm>
            <a:off x="356902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4" name="Google Shape;1184;p51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5" name="Google Shape;1185;p51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86" name="Google Shape;1186;p51"/>
          <p:cNvCxnSpPr>
            <a:stCxn id="1179" idx="3"/>
            <a:endCxn id="1184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7" name="Google Shape;1187;p51"/>
          <p:cNvCxnSpPr>
            <a:stCxn id="1180" idx="3"/>
            <a:endCxn id="1185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8" name="Google Shape;1188;p51"/>
          <p:cNvSpPr txBox="1"/>
          <p:nvPr/>
        </p:nvSpPr>
        <p:spPr>
          <a:xfrm>
            <a:off x="13685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89" name="Google Shape;1189;p51"/>
          <p:cNvCxnSpPr>
            <a:stCxn id="1184" idx="2"/>
            <a:endCxn id="1185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0" name="Google Shape;1190;p51"/>
          <p:cNvSpPr/>
          <p:nvPr/>
        </p:nvSpPr>
        <p:spPr>
          <a:xfrm>
            <a:off x="1817163" y="40931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91" name="Google Shape;1191;p51"/>
          <p:cNvCxnSpPr>
            <a:stCxn id="1190" idx="6"/>
            <a:endCxn id="1174" idx="1"/>
          </p:cNvCxnSpPr>
          <p:nvPr/>
        </p:nvCxnSpPr>
        <p:spPr>
          <a:xfrm>
            <a:off x="2102163" y="42356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2" name="Google Shape;1192;p51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93" name="Google Shape;1193;p51"/>
          <p:cNvCxnSpPr>
            <a:stCxn id="1184" idx="3"/>
            <a:endCxn id="1192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4" name="Google Shape;1194;p51"/>
          <p:cNvSpPr txBox="1"/>
          <p:nvPr>
            <p:ph idx="1" type="body"/>
          </p:nvPr>
        </p:nvSpPr>
        <p:spPr>
          <a:xfrm>
            <a:off x="107050" y="402200"/>
            <a:ext cx="8909700" cy="19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else equal, an AS prefers the route that uses the least of its own resources.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AT&amp;T prefers the gold path, where the packet mostly travels on Verizon's 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Hot potato routing</a:t>
            </a:r>
            <a:r>
              <a:rPr lang="en"/>
              <a:t>: Get rid of the packet ASAP, and make someone else carry it the rest of the way.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AS prefers the nearest egress router (if there are multiple).</a:t>
            </a:r>
            <a:endParaRPr/>
          </a:p>
        </p:txBody>
      </p:sp>
      <p:sp>
        <p:nvSpPr>
          <p:cNvPr id="1195" name="Google Shape;1195;p5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Hot Potato Routing</a:t>
            </a:r>
            <a:endParaRPr/>
          </a:p>
        </p:txBody>
      </p:sp>
      <p:sp>
        <p:nvSpPr>
          <p:cNvPr id="1196" name="Google Shape;1196;p51"/>
          <p:cNvSpPr/>
          <p:nvPr/>
        </p:nvSpPr>
        <p:spPr>
          <a:xfrm>
            <a:off x="2102175" y="4551300"/>
            <a:ext cx="1611900" cy="433500"/>
          </a:xfrm>
          <a:prstGeom prst="wedgeRoundRectCallout">
            <a:avLst>
              <a:gd fmla="val 41529" name="adj1"/>
              <a:gd fmla="val -75640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[iBGP] Hi everyone, I have a path to Y.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7" name="Google Shape;1197;p51"/>
          <p:cNvSpPr/>
          <p:nvPr/>
        </p:nvSpPr>
        <p:spPr>
          <a:xfrm>
            <a:off x="6349950" y="4551300"/>
            <a:ext cx="1611900" cy="433500"/>
          </a:xfrm>
          <a:prstGeom prst="wedgeRoundRectCallout">
            <a:avLst>
              <a:gd fmla="val -47072" name="adj1"/>
              <a:gd fmla="val -76897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[iBGP] Hi everyone, I have a path to Y.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52"/>
          <p:cNvSpPr txBox="1"/>
          <p:nvPr>
            <p:ph idx="1" type="body"/>
          </p:nvPr>
        </p:nvSpPr>
        <p:spPr>
          <a:xfrm>
            <a:off x="107050" y="402200"/>
            <a:ext cx="8909700" cy="19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else equal, an AS prefers the route that uses the least of its own resources.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AT&amp;T prefers the gold path, where the packet mostly travels on Verizon's 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Hot potato routing</a:t>
            </a:r>
            <a:r>
              <a:rPr lang="en"/>
              <a:t>: Get rid of the packet ASAP, and make someone else carry it the rest of the way.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AS prefers the nearest egress router (if there are multiple).</a:t>
            </a:r>
            <a:endParaRPr/>
          </a:p>
        </p:txBody>
      </p:sp>
      <p:sp>
        <p:nvSpPr>
          <p:cNvPr id="1203" name="Google Shape;1203;p5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Hot Potato Routing</a:t>
            </a:r>
            <a:endParaRPr/>
          </a:p>
        </p:txBody>
      </p:sp>
      <p:sp>
        <p:nvSpPr>
          <p:cNvPr id="1204" name="Google Shape;1204;p52"/>
          <p:cNvSpPr/>
          <p:nvPr/>
        </p:nvSpPr>
        <p:spPr>
          <a:xfrm>
            <a:off x="3014025" y="2398750"/>
            <a:ext cx="46452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5" name="Google Shape;1205;p52"/>
          <p:cNvSpPr txBox="1"/>
          <p:nvPr/>
        </p:nvSpPr>
        <p:spPr>
          <a:xfrm>
            <a:off x="3014025" y="2429950"/>
            <a:ext cx="4715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6" name="Google Shape;1206;p52"/>
          <p:cNvSpPr/>
          <p:nvPr/>
        </p:nvSpPr>
        <p:spPr>
          <a:xfrm>
            <a:off x="1368575" y="37703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7" name="Google Shape;1207;p52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8" name="Google Shape;1208;p52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9" name="Google Shape;1209;p52"/>
          <p:cNvCxnSpPr>
            <a:stCxn id="1207" idx="3"/>
            <a:endCxn id="1208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0" name="Google Shape;1210;p52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1" name="Google Shape;1211;p52"/>
          <p:cNvCxnSpPr>
            <a:stCxn id="1210" idx="3"/>
            <a:endCxn id="1212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2" name="Google Shape;1212;p52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3" name="Google Shape;1213;p52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4" name="Google Shape;1214;p52"/>
          <p:cNvCxnSpPr>
            <a:stCxn id="1212" idx="3"/>
            <a:endCxn id="1213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5" name="Google Shape;1215;p52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6" name="Google Shape;1216;p52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7" name="Google Shape;1217;p52"/>
          <p:cNvCxnSpPr>
            <a:stCxn id="1208" idx="3"/>
            <a:endCxn id="1215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8" name="Google Shape;1218;p52"/>
          <p:cNvCxnSpPr>
            <a:stCxn id="1213" idx="3"/>
            <a:endCxn id="1216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9" name="Google Shape;1219;p52"/>
          <p:cNvCxnSpPr>
            <a:stCxn id="1207" idx="2"/>
            <a:endCxn id="1212" idx="0"/>
          </p:cNvCxnSpPr>
          <p:nvPr/>
        </p:nvCxnSpPr>
        <p:spPr>
          <a:xfrm>
            <a:off x="356902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0" name="Google Shape;1220;p52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1" name="Google Shape;1221;p52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2" name="Google Shape;1222;p52"/>
          <p:cNvCxnSpPr>
            <a:stCxn id="1215" idx="3"/>
            <a:endCxn id="1220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3" name="Google Shape;1223;p52"/>
          <p:cNvCxnSpPr>
            <a:stCxn id="1216" idx="3"/>
            <a:endCxn id="1221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4" name="Google Shape;1224;p52"/>
          <p:cNvSpPr txBox="1"/>
          <p:nvPr/>
        </p:nvSpPr>
        <p:spPr>
          <a:xfrm>
            <a:off x="13685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5" name="Google Shape;1225;p52"/>
          <p:cNvCxnSpPr>
            <a:stCxn id="1220" idx="2"/>
            <a:endCxn id="1221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6" name="Google Shape;1226;p52"/>
          <p:cNvSpPr/>
          <p:nvPr/>
        </p:nvSpPr>
        <p:spPr>
          <a:xfrm>
            <a:off x="1817163" y="40931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7" name="Google Shape;1227;p52"/>
          <p:cNvCxnSpPr>
            <a:stCxn id="1226" idx="6"/>
            <a:endCxn id="1210" idx="1"/>
          </p:cNvCxnSpPr>
          <p:nvPr/>
        </p:nvCxnSpPr>
        <p:spPr>
          <a:xfrm>
            <a:off x="2102163" y="42356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8" name="Google Shape;1228;p52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9" name="Google Shape;1229;p52"/>
          <p:cNvCxnSpPr>
            <a:stCxn id="1220" idx="3"/>
            <a:endCxn id="1228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0" name="Google Shape;1230;p52"/>
          <p:cNvSpPr/>
          <p:nvPr/>
        </p:nvSpPr>
        <p:spPr>
          <a:xfrm>
            <a:off x="2199000" y="4551300"/>
            <a:ext cx="3542400" cy="433500"/>
          </a:xfrm>
          <a:prstGeom prst="wedgeRoundRectCallout">
            <a:avLst>
              <a:gd fmla="val -37641" name="adj1"/>
              <a:gd fmla="val -75652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 and F can both reach Y using the same AS path.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I'll use F to exit since it's closer.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1" name="Google Shape;1231;p52"/>
          <p:cNvSpPr/>
          <p:nvPr/>
        </p:nvSpPr>
        <p:spPr>
          <a:xfrm>
            <a:off x="1967875" y="2923650"/>
            <a:ext cx="4913775" cy="1222325"/>
          </a:xfrm>
          <a:custGeom>
            <a:rect b="b" l="l" r="r" t="t"/>
            <a:pathLst>
              <a:path extrusionOk="0" h="48893" w="196551">
                <a:moveTo>
                  <a:pt x="0" y="48893"/>
                </a:moveTo>
                <a:lnTo>
                  <a:pt x="61157" y="48893"/>
                </a:lnTo>
                <a:lnTo>
                  <a:pt x="61157" y="0"/>
                </a:lnTo>
                <a:lnTo>
                  <a:pt x="196551" y="0"/>
                </a:lnTo>
              </a:path>
            </a:pathLst>
          </a:custGeom>
          <a:noFill/>
          <a:ln cap="flat" cmpd="sng" w="19050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53"/>
          <p:cNvSpPr/>
          <p:nvPr/>
        </p:nvSpPr>
        <p:spPr>
          <a:xfrm>
            <a:off x="1901975" y="24749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7" name="Google Shape;1237;p53"/>
          <p:cNvSpPr txBox="1"/>
          <p:nvPr/>
        </p:nvSpPr>
        <p:spPr>
          <a:xfrm>
            <a:off x="1901975" y="25061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8" name="Google Shape;1238;p53"/>
          <p:cNvSpPr txBox="1"/>
          <p:nvPr>
            <p:ph idx="1" type="body"/>
          </p:nvPr>
        </p:nvSpPr>
        <p:spPr>
          <a:xfrm>
            <a:off x="107050" y="402200"/>
            <a:ext cx="8909700" cy="18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two egress routers are equally close?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AT&amp;T is indifferent between the paths.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you're Verizon, which route do you prefer?</a:t>
            </a:r>
            <a:endParaRPr/>
          </a:p>
        </p:txBody>
      </p:sp>
      <p:sp>
        <p:nvSpPr>
          <p:cNvPr id="1239" name="Google Shape;1239;p53"/>
          <p:cNvSpPr/>
          <p:nvPr/>
        </p:nvSpPr>
        <p:spPr>
          <a:xfrm>
            <a:off x="1597175" y="37703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0" name="Google Shape;1240;p5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Multiple Links Between ASes</a:t>
            </a:r>
            <a:endParaRPr/>
          </a:p>
        </p:txBody>
      </p:sp>
      <p:sp>
        <p:nvSpPr>
          <p:cNvPr id="1241" name="Google Shape;1241;p53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2" name="Google Shape;1242;p53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3" name="Google Shape;1243;p53"/>
          <p:cNvCxnSpPr>
            <a:stCxn id="1241" idx="3"/>
            <a:endCxn id="1242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4" name="Google Shape;1244;p53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5" name="Google Shape;1245;p53"/>
          <p:cNvCxnSpPr>
            <a:stCxn id="1244" idx="3"/>
            <a:endCxn id="1246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6" name="Google Shape;1246;p53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7" name="Google Shape;1247;p53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8" name="Google Shape;1248;p53"/>
          <p:cNvCxnSpPr>
            <a:stCxn id="1246" idx="3"/>
            <a:endCxn id="1247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9" name="Google Shape;1249;p53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0" name="Google Shape;1250;p53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1" name="Google Shape;1251;p53"/>
          <p:cNvCxnSpPr>
            <a:stCxn id="1242" idx="3"/>
            <a:endCxn id="1249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2" name="Google Shape;1252;p53"/>
          <p:cNvCxnSpPr>
            <a:stCxn id="1247" idx="3"/>
            <a:endCxn id="1250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3" name="Google Shape;1253;p53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4" name="Google Shape;1254;p53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J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5" name="Google Shape;1255;p53"/>
          <p:cNvCxnSpPr>
            <a:stCxn id="1249" idx="3"/>
            <a:endCxn id="1253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6" name="Google Shape;1256;p53"/>
          <p:cNvCxnSpPr>
            <a:stCxn id="1250" idx="3"/>
            <a:endCxn id="1254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7" name="Google Shape;1257;p53"/>
          <p:cNvSpPr txBox="1"/>
          <p:nvPr/>
        </p:nvSpPr>
        <p:spPr>
          <a:xfrm>
            <a:off x="15971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8" name="Google Shape;1258;p53"/>
          <p:cNvCxnSpPr>
            <a:stCxn id="1253" idx="2"/>
            <a:endCxn id="1254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9" name="Google Shape;1259;p53"/>
          <p:cNvSpPr/>
          <p:nvPr/>
        </p:nvSpPr>
        <p:spPr>
          <a:xfrm>
            <a:off x="4364263" y="45584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0" name="Google Shape;1260;p53"/>
          <p:cNvCxnSpPr>
            <a:stCxn id="1259" idx="0"/>
            <a:endCxn id="1247" idx="2"/>
          </p:cNvCxnSpPr>
          <p:nvPr/>
        </p:nvCxnSpPr>
        <p:spPr>
          <a:xfrm rot="10800000">
            <a:off x="4506763" y="4378100"/>
            <a:ext cx="0" cy="180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1" name="Google Shape;1261;p53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2" name="Google Shape;1262;p53"/>
          <p:cNvCxnSpPr>
            <a:stCxn id="1253" idx="3"/>
            <a:endCxn id="1261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3" name="Google Shape;1263;p53"/>
          <p:cNvSpPr/>
          <p:nvPr/>
        </p:nvSpPr>
        <p:spPr>
          <a:xfrm>
            <a:off x="2488778" y="28710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4" name="Google Shape;1264;p53"/>
          <p:cNvCxnSpPr>
            <a:stCxn id="1263" idx="3"/>
            <a:endCxn id="1241" idx="1"/>
          </p:cNvCxnSpPr>
          <p:nvPr/>
        </p:nvCxnSpPr>
        <p:spPr>
          <a:xfrm>
            <a:off x="2773778" y="3013575"/>
            <a:ext cx="652800" cy="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5" name="Google Shape;1265;p53"/>
          <p:cNvCxnSpPr>
            <a:stCxn id="1263" idx="2"/>
            <a:endCxn id="1244" idx="0"/>
          </p:cNvCxnSpPr>
          <p:nvPr/>
        </p:nvCxnSpPr>
        <p:spPr>
          <a:xfrm>
            <a:off x="2631278" y="3156075"/>
            <a:ext cx="0" cy="93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6" name="Google Shape;1266;p53"/>
          <p:cNvSpPr/>
          <p:nvPr/>
        </p:nvSpPr>
        <p:spPr>
          <a:xfrm>
            <a:off x="2530725" y="2918275"/>
            <a:ext cx="4365975" cy="1402175"/>
          </a:xfrm>
          <a:custGeom>
            <a:rect b="b" l="l" r="r" t="t"/>
            <a:pathLst>
              <a:path extrusionOk="0" h="56087" w="174639">
                <a:moveTo>
                  <a:pt x="75873" y="56087"/>
                </a:moveTo>
                <a:lnTo>
                  <a:pt x="0" y="56087"/>
                </a:lnTo>
                <a:lnTo>
                  <a:pt x="0" y="0"/>
                </a:lnTo>
                <a:lnTo>
                  <a:pt x="174639" y="0"/>
                </a:lnTo>
              </a:path>
            </a:pathLst>
          </a:custGeom>
          <a:noFill/>
          <a:ln cap="flat" cmpd="sng" w="19050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267" name="Google Shape;1267;p53"/>
          <p:cNvSpPr/>
          <p:nvPr/>
        </p:nvSpPr>
        <p:spPr>
          <a:xfrm>
            <a:off x="4595175" y="3085875"/>
            <a:ext cx="2268825" cy="1238691"/>
          </a:xfrm>
          <a:custGeom>
            <a:rect b="b" l="l" r="r" t="t"/>
            <a:pathLst>
              <a:path extrusionOk="0" h="48729" w="90753">
                <a:moveTo>
                  <a:pt x="0" y="48729"/>
                </a:moveTo>
                <a:lnTo>
                  <a:pt x="75546" y="48729"/>
                </a:lnTo>
                <a:lnTo>
                  <a:pt x="75546" y="0"/>
                </a:lnTo>
                <a:lnTo>
                  <a:pt x="90753" y="0"/>
                </a:lnTo>
              </a:path>
            </a:pathLst>
          </a:cu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54"/>
          <p:cNvSpPr/>
          <p:nvPr/>
        </p:nvSpPr>
        <p:spPr>
          <a:xfrm>
            <a:off x="1901975" y="24749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3" name="Google Shape;1273;p54"/>
          <p:cNvSpPr txBox="1"/>
          <p:nvPr/>
        </p:nvSpPr>
        <p:spPr>
          <a:xfrm>
            <a:off x="1901975" y="25061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4" name="Google Shape;1274;p54"/>
          <p:cNvSpPr txBox="1"/>
          <p:nvPr>
            <p:ph idx="1" type="body"/>
          </p:nvPr>
        </p:nvSpPr>
        <p:spPr>
          <a:xfrm>
            <a:off x="107050" y="402200"/>
            <a:ext cx="8909700" cy="20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 else equal, an AS prefers the route that uses the least of its own resources.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Verizon prefers the pink path, because E is closer to the destination than 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Using the closer border router = Verizon uses less bandwidth.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announcing routes, include a </a:t>
            </a:r>
            <a:r>
              <a:rPr b="1" lang="en"/>
              <a:t>Multi-Exit Discriminator (MED)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MED represents distance from router to destination. Lower number is preferred.</a:t>
            </a:r>
            <a:endParaRPr/>
          </a:p>
        </p:txBody>
      </p:sp>
      <p:sp>
        <p:nvSpPr>
          <p:cNvPr id="1275" name="Google Shape;1275;p54"/>
          <p:cNvSpPr/>
          <p:nvPr/>
        </p:nvSpPr>
        <p:spPr>
          <a:xfrm>
            <a:off x="1597175" y="37703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6" name="Google Shape;1276;p5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Multi-Exit Discriminator (MED)</a:t>
            </a:r>
            <a:endParaRPr/>
          </a:p>
        </p:txBody>
      </p:sp>
      <p:sp>
        <p:nvSpPr>
          <p:cNvPr id="1277" name="Google Shape;1277;p54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8" name="Google Shape;1278;p54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79" name="Google Shape;1279;p54"/>
          <p:cNvCxnSpPr>
            <a:stCxn id="1277" idx="3"/>
            <a:endCxn id="1278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0" name="Google Shape;1280;p54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81" name="Google Shape;1281;p54"/>
          <p:cNvCxnSpPr>
            <a:stCxn id="1280" idx="3"/>
            <a:endCxn id="1282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2" name="Google Shape;1282;p54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3" name="Google Shape;1283;p54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84" name="Google Shape;1284;p54"/>
          <p:cNvCxnSpPr>
            <a:stCxn id="1282" idx="3"/>
            <a:endCxn id="1283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5" name="Google Shape;1285;p54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6" name="Google Shape;1286;p54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87" name="Google Shape;1287;p54"/>
          <p:cNvCxnSpPr>
            <a:stCxn id="1278" idx="3"/>
            <a:endCxn id="1285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8" name="Google Shape;1288;p54"/>
          <p:cNvCxnSpPr>
            <a:stCxn id="1283" idx="3"/>
            <a:endCxn id="1286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9" name="Google Shape;1289;p54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0" name="Google Shape;1290;p54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J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1" name="Google Shape;1291;p54"/>
          <p:cNvCxnSpPr>
            <a:stCxn id="1285" idx="3"/>
            <a:endCxn id="1289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2" name="Google Shape;1292;p54"/>
          <p:cNvCxnSpPr>
            <a:stCxn id="1286" idx="3"/>
            <a:endCxn id="1290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3" name="Google Shape;1293;p54"/>
          <p:cNvSpPr txBox="1"/>
          <p:nvPr/>
        </p:nvSpPr>
        <p:spPr>
          <a:xfrm>
            <a:off x="15971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4" name="Google Shape;1294;p54"/>
          <p:cNvCxnSpPr>
            <a:stCxn id="1289" idx="2"/>
            <a:endCxn id="1290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5" name="Google Shape;1295;p54"/>
          <p:cNvSpPr/>
          <p:nvPr/>
        </p:nvSpPr>
        <p:spPr>
          <a:xfrm>
            <a:off x="4364263" y="45584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6" name="Google Shape;1296;p54"/>
          <p:cNvCxnSpPr>
            <a:stCxn id="1295" idx="0"/>
            <a:endCxn id="1283" idx="2"/>
          </p:cNvCxnSpPr>
          <p:nvPr/>
        </p:nvCxnSpPr>
        <p:spPr>
          <a:xfrm rot="10800000">
            <a:off x="4506763" y="4378100"/>
            <a:ext cx="0" cy="180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7" name="Google Shape;1297;p54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8" name="Google Shape;1298;p54"/>
          <p:cNvCxnSpPr>
            <a:stCxn id="1289" idx="3"/>
            <a:endCxn id="1297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9" name="Google Shape;1299;p54"/>
          <p:cNvSpPr/>
          <p:nvPr/>
        </p:nvSpPr>
        <p:spPr>
          <a:xfrm>
            <a:off x="2488778" y="28710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00" name="Google Shape;1300;p54"/>
          <p:cNvCxnSpPr>
            <a:stCxn id="1299" idx="3"/>
            <a:endCxn id="1277" idx="1"/>
          </p:cNvCxnSpPr>
          <p:nvPr/>
        </p:nvCxnSpPr>
        <p:spPr>
          <a:xfrm>
            <a:off x="2773778" y="3013575"/>
            <a:ext cx="652800" cy="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1" name="Google Shape;1301;p54"/>
          <p:cNvCxnSpPr>
            <a:stCxn id="1299" idx="2"/>
            <a:endCxn id="1280" idx="0"/>
          </p:cNvCxnSpPr>
          <p:nvPr/>
        </p:nvCxnSpPr>
        <p:spPr>
          <a:xfrm>
            <a:off x="2631278" y="3156075"/>
            <a:ext cx="0" cy="93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2" name="Google Shape;1302;p54"/>
          <p:cNvSpPr/>
          <p:nvPr/>
        </p:nvSpPr>
        <p:spPr>
          <a:xfrm>
            <a:off x="2530725" y="2918275"/>
            <a:ext cx="4365975" cy="1402175"/>
          </a:xfrm>
          <a:custGeom>
            <a:rect b="b" l="l" r="r" t="t"/>
            <a:pathLst>
              <a:path extrusionOk="0" h="56087" w="174639">
                <a:moveTo>
                  <a:pt x="75873" y="56087"/>
                </a:moveTo>
                <a:lnTo>
                  <a:pt x="0" y="56087"/>
                </a:lnTo>
                <a:lnTo>
                  <a:pt x="0" y="0"/>
                </a:lnTo>
                <a:lnTo>
                  <a:pt x="174639" y="0"/>
                </a:lnTo>
              </a:path>
            </a:pathLst>
          </a:custGeom>
          <a:noFill/>
          <a:ln cap="flat" cmpd="sng" w="19050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303" name="Google Shape;1303;p54"/>
          <p:cNvSpPr/>
          <p:nvPr/>
        </p:nvSpPr>
        <p:spPr>
          <a:xfrm>
            <a:off x="4595175" y="3085875"/>
            <a:ext cx="2268825" cy="1238691"/>
          </a:xfrm>
          <a:custGeom>
            <a:rect b="b" l="l" r="r" t="t"/>
            <a:pathLst>
              <a:path extrusionOk="0" h="48729" w="90753">
                <a:moveTo>
                  <a:pt x="0" y="48729"/>
                </a:moveTo>
                <a:lnTo>
                  <a:pt x="75546" y="48729"/>
                </a:lnTo>
                <a:lnTo>
                  <a:pt x="75546" y="0"/>
                </a:lnTo>
                <a:lnTo>
                  <a:pt x="90753" y="0"/>
                </a:lnTo>
              </a:path>
            </a:pathLst>
          </a:cu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55"/>
          <p:cNvSpPr/>
          <p:nvPr/>
        </p:nvSpPr>
        <p:spPr>
          <a:xfrm>
            <a:off x="1901975" y="24749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9" name="Google Shape;1309;p55"/>
          <p:cNvSpPr txBox="1"/>
          <p:nvPr/>
        </p:nvSpPr>
        <p:spPr>
          <a:xfrm>
            <a:off x="1901975" y="25061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0" name="Google Shape;1310;p55"/>
          <p:cNvSpPr txBox="1"/>
          <p:nvPr>
            <p:ph idx="1" type="body"/>
          </p:nvPr>
        </p:nvSpPr>
        <p:spPr>
          <a:xfrm>
            <a:off x="107050" y="402200"/>
            <a:ext cx="8909700" cy="20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else equal, an AS prefers the route that uses the least of its own resources.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Verizon prefers the pink path, because E is closer to the destination than 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Using the closer border router = Verizon uses less bandwidth.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announcing routes, include a </a:t>
            </a:r>
            <a:r>
              <a:rPr b="1" lang="en"/>
              <a:t>Multi-Exit Discriminator (MED)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MED represents distance from router to destination. Lower number is preferred.</a:t>
            </a:r>
            <a:endParaRPr/>
          </a:p>
        </p:txBody>
      </p:sp>
      <p:sp>
        <p:nvSpPr>
          <p:cNvPr id="1311" name="Google Shape;1311;p55"/>
          <p:cNvSpPr/>
          <p:nvPr/>
        </p:nvSpPr>
        <p:spPr>
          <a:xfrm>
            <a:off x="1597175" y="37703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2" name="Google Shape;1312;p5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Multi-Exit Discriminator (MED)</a:t>
            </a:r>
            <a:endParaRPr/>
          </a:p>
        </p:txBody>
      </p:sp>
      <p:sp>
        <p:nvSpPr>
          <p:cNvPr id="1313" name="Google Shape;1313;p55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4" name="Google Shape;1314;p55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5" name="Google Shape;1315;p55"/>
          <p:cNvCxnSpPr>
            <a:stCxn id="1313" idx="3"/>
            <a:endCxn id="1314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6" name="Google Shape;1316;p55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7" name="Google Shape;1317;p55"/>
          <p:cNvCxnSpPr>
            <a:stCxn id="1316" idx="3"/>
            <a:endCxn id="1318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8" name="Google Shape;1318;p55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9" name="Google Shape;1319;p55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0" name="Google Shape;1320;p55"/>
          <p:cNvCxnSpPr>
            <a:stCxn id="1318" idx="3"/>
            <a:endCxn id="1319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1" name="Google Shape;1321;p55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2" name="Google Shape;1322;p55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3" name="Google Shape;1323;p55"/>
          <p:cNvCxnSpPr>
            <a:stCxn id="1314" idx="3"/>
            <a:endCxn id="1321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4" name="Google Shape;1324;p55"/>
          <p:cNvCxnSpPr>
            <a:stCxn id="1319" idx="3"/>
            <a:endCxn id="1322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5" name="Google Shape;1325;p55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6" name="Google Shape;1326;p55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J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7" name="Google Shape;1327;p55"/>
          <p:cNvCxnSpPr>
            <a:stCxn id="1321" idx="3"/>
            <a:endCxn id="1325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8" name="Google Shape;1328;p55"/>
          <p:cNvCxnSpPr>
            <a:stCxn id="1322" idx="3"/>
            <a:endCxn id="1326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9" name="Google Shape;1329;p55"/>
          <p:cNvSpPr txBox="1"/>
          <p:nvPr/>
        </p:nvSpPr>
        <p:spPr>
          <a:xfrm>
            <a:off x="15971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0" name="Google Shape;1330;p55"/>
          <p:cNvCxnSpPr>
            <a:stCxn id="1325" idx="2"/>
            <a:endCxn id="1326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1" name="Google Shape;1331;p55"/>
          <p:cNvSpPr/>
          <p:nvPr/>
        </p:nvSpPr>
        <p:spPr>
          <a:xfrm>
            <a:off x="4364263" y="45584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2" name="Google Shape;1332;p55"/>
          <p:cNvCxnSpPr>
            <a:stCxn id="1331" idx="0"/>
            <a:endCxn id="1319" idx="2"/>
          </p:cNvCxnSpPr>
          <p:nvPr/>
        </p:nvCxnSpPr>
        <p:spPr>
          <a:xfrm rot="10800000">
            <a:off x="4506763" y="4378100"/>
            <a:ext cx="0" cy="180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3" name="Google Shape;1333;p55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4" name="Google Shape;1334;p55"/>
          <p:cNvCxnSpPr>
            <a:stCxn id="1325" idx="3"/>
            <a:endCxn id="1333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5" name="Google Shape;1335;p55"/>
          <p:cNvSpPr/>
          <p:nvPr/>
        </p:nvSpPr>
        <p:spPr>
          <a:xfrm>
            <a:off x="2488778" y="28710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6" name="Google Shape;1336;p55"/>
          <p:cNvCxnSpPr>
            <a:stCxn id="1335" idx="3"/>
            <a:endCxn id="1313" idx="1"/>
          </p:cNvCxnSpPr>
          <p:nvPr/>
        </p:nvCxnSpPr>
        <p:spPr>
          <a:xfrm>
            <a:off x="2773778" y="3013575"/>
            <a:ext cx="652800" cy="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7" name="Google Shape;1337;p55"/>
          <p:cNvCxnSpPr>
            <a:stCxn id="1335" idx="2"/>
            <a:endCxn id="1316" idx="0"/>
          </p:cNvCxnSpPr>
          <p:nvPr/>
        </p:nvCxnSpPr>
        <p:spPr>
          <a:xfrm>
            <a:off x="2631278" y="3156075"/>
            <a:ext cx="0" cy="93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8" name="Google Shape;1338;p55"/>
          <p:cNvSpPr/>
          <p:nvPr/>
        </p:nvSpPr>
        <p:spPr>
          <a:xfrm>
            <a:off x="540575" y="3110350"/>
            <a:ext cx="1668000" cy="468300"/>
          </a:xfrm>
          <a:prstGeom prst="wedgeRoundRectCallout">
            <a:avLst>
              <a:gd fmla="val 62361" name="adj1"/>
              <a:gd fmla="val -58985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[eBGP] I can reach Y. It's 5 away from me.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9" name="Google Shape;1339;p55"/>
          <p:cNvSpPr/>
          <p:nvPr/>
        </p:nvSpPr>
        <p:spPr>
          <a:xfrm>
            <a:off x="6656975" y="3230513"/>
            <a:ext cx="1668000" cy="468300"/>
          </a:xfrm>
          <a:prstGeom prst="wedgeRoundRectCallout">
            <a:avLst>
              <a:gd fmla="val -58648" name="adj1"/>
              <a:gd fmla="val -55800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[eBGP] I can reach Y. It's 1 away from me.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56"/>
          <p:cNvSpPr/>
          <p:nvPr/>
        </p:nvSpPr>
        <p:spPr>
          <a:xfrm>
            <a:off x="1901975" y="24749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5" name="Google Shape;1345;p56"/>
          <p:cNvSpPr txBox="1"/>
          <p:nvPr/>
        </p:nvSpPr>
        <p:spPr>
          <a:xfrm>
            <a:off x="1901975" y="25061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6" name="Google Shape;1346;p56"/>
          <p:cNvSpPr txBox="1"/>
          <p:nvPr>
            <p:ph idx="1" type="body"/>
          </p:nvPr>
        </p:nvSpPr>
        <p:spPr>
          <a:xfrm>
            <a:off x="107050" y="402200"/>
            <a:ext cx="8909700" cy="20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else equal, an AS prefers the route that uses the least of its own resources.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Verizon prefers the pink path, because E is closer to the destination than 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Using the closer border router = Verizon uses less bandwidth.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announcing routes, include a </a:t>
            </a:r>
            <a:r>
              <a:rPr b="1" lang="en"/>
              <a:t>Multi-Exit Discriminator (MED)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MED represents distance from router to destination. Lower number is preferred.</a:t>
            </a:r>
            <a:endParaRPr/>
          </a:p>
        </p:txBody>
      </p:sp>
      <p:sp>
        <p:nvSpPr>
          <p:cNvPr id="1347" name="Google Shape;1347;p56"/>
          <p:cNvSpPr/>
          <p:nvPr/>
        </p:nvSpPr>
        <p:spPr>
          <a:xfrm>
            <a:off x="1597175" y="37703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8" name="Google Shape;1348;p5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Multi-Exit Discriminator (MED)</a:t>
            </a:r>
            <a:endParaRPr/>
          </a:p>
        </p:txBody>
      </p:sp>
      <p:sp>
        <p:nvSpPr>
          <p:cNvPr id="1349" name="Google Shape;1349;p56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0" name="Google Shape;1350;p56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1" name="Google Shape;1351;p56"/>
          <p:cNvCxnSpPr>
            <a:stCxn id="1349" idx="3"/>
            <a:endCxn id="1350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2" name="Google Shape;1352;p56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3" name="Google Shape;1353;p56"/>
          <p:cNvCxnSpPr>
            <a:stCxn id="1352" idx="3"/>
            <a:endCxn id="1354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4" name="Google Shape;1354;p56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5" name="Google Shape;1355;p56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6" name="Google Shape;1356;p56"/>
          <p:cNvCxnSpPr>
            <a:stCxn id="1354" idx="3"/>
            <a:endCxn id="1355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7" name="Google Shape;1357;p56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8" name="Google Shape;1358;p56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9" name="Google Shape;1359;p56"/>
          <p:cNvCxnSpPr>
            <a:stCxn id="1350" idx="3"/>
            <a:endCxn id="1357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0" name="Google Shape;1360;p56"/>
          <p:cNvCxnSpPr>
            <a:stCxn id="1355" idx="3"/>
            <a:endCxn id="1358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1" name="Google Shape;1361;p56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2" name="Google Shape;1362;p56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J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3" name="Google Shape;1363;p56"/>
          <p:cNvCxnSpPr>
            <a:stCxn id="1357" idx="3"/>
            <a:endCxn id="1361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4" name="Google Shape;1364;p56"/>
          <p:cNvCxnSpPr>
            <a:stCxn id="1358" idx="3"/>
            <a:endCxn id="1362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5" name="Google Shape;1365;p56"/>
          <p:cNvSpPr txBox="1"/>
          <p:nvPr/>
        </p:nvSpPr>
        <p:spPr>
          <a:xfrm>
            <a:off x="15971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6" name="Google Shape;1366;p56"/>
          <p:cNvCxnSpPr>
            <a:stCxn id="1361" idx="2"/>
            <a:endCxn id="1362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7" name="Google Shape;1367;p56"/>
          <p:cNvSpPr/>
          <p:nvPr/>
        </p:nvSpPr>
        <p:spPr>
          <a:xfrm>
            <a:off x="4364263" y="45584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8" name="Google Shape;1368;p56"/>
          <p:cNvCxnSpPr>
            <a:stCxn id="1367" idx="0"/>
            <a:endCxn id="1355" idx="2"/>
          </p:cNvCxnSpPr>
          <p:nvPr/>
        </p:nvCxnSpPr>
        <p:spPr>
          <a:xfrm rot="10800000">
            <a:off x="4506763" y="4378100"/>
            <a:ext cx="0" cy="180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9" name="Google Shape;1369;p56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0" name="Google Shape;1370;p56"/>
          <p:cNvCxnSpPr>
            <a:stCxn id="1361" idx="3"/>
            <a:endCxn id="1369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1" name="Google Shape;1371;p56"/>
          <p:cNvSpPr/>
          <p:nvPr/>
        </p:nvSpPr>
        <p:spPr>
          <a:xfrm>
            <a:off x="2488778" y="28710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2" name="Google Shape;1372;p56"/>
          <p:cNvCxnSpPr>
            <a:stCxn id="1371" idx="3"/>
            <a:endCxn id="1349" idx="1"/>
          </p:cNvCxnSpPr>
          <p:nvPr/>
        </p:nvCxnSpPr>
        <p:spPr>
          <a:xfrm>
            <a:off x="2773778" y="3013575"/>
            <a:ext cx="652800" cy="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3" name="Google Shape;1373;p56"/>
          <p:cNvCxnSpPr>
            <a:stCxn id="1371" idx="2"/>
            <a:endCxn id="1352" idx="0"/>
          </p:cNvCxnSpPr>
          <p:nvPr/>
        </p:nvCxnSpPr>
        <p:spPr>
          <a:xfrm>
            <a:off x="2631278" y="3156075"/>
            <a:ext cx="0" cy="93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4" name="Google Shape;1374;p56"/>
          <p:cNvSpPr/>
          <p:nvPr/>
        </p:nvSpPr>
        <p:spPr>
          <a:xfrm>
            <a:off x="739625" y="4551300"/>
            <a:ext cx="2913300" cy="433500"/>
          </a:xfrm>
          <a:prstGeom prst="wedgeRoundRectCallout">
            <a:avLst>
              <a:gd fmla="val 13362" name="adj1"/>
              <a:gd fmla="val -79435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[iBGP] Hi everyone, I have a path to Y.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The other AS said this path has MED=5.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5" name="Google Shape;1375;p56"/>
          <p:cNvSpPr/>
          <p:nvPr/>
        </p:nvSpPr>
        <p:spPr>
          <a:xfrm>
            <a:off x="5749725" y="4551300"/>
            <a:ext cx="2913300" cy="433500"/>
          </a:xfrm>
          <a:prstGeom prst="wedgeRoundRectCallout">
            <a:avLst>
              <a:gd fmla="val -26952" name="adj1"/>
              <a:gd fmla="val -79435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[iBGP] Hi everyone, I have a path to Y.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The other AS said this path has MED=1.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57"/>
          <p:cNvSpPr/>
          <p:nvPr/>
        </p:nvSpPr>
        <p:spPr>
          <a:xfrm>
            <a:off x="1901975" y="24749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1" name="Google Shape;1381;p57"/>
          <p:cNvSpPr txBox="1"/>
          <p:nvPr/>
        </p:nvSpPr>
        <p:spPr>
          <a:xfrm>
            <a:off x="1901975" y="25061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2" name="Google Shape;1382;p57"/>
          <p:cNvSpPr txBox="1"/>
          <p:nvPr>
            <p:ph idx="1" type="body"/>
          </p:nvPr>
        </p:nvSpPr>
        <p:spPr>
          <a:xfrm>
            <a:off x="107050" y="402200"/>
            <a:ext cx="8909700" cy="20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else equal, an AS prefers the route that uses the least of its own resources.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Verizon prefers the pink path, because E is closer to the destination than 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Using the closer border router = Verizon uses less bandwidth.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announcing routes, include a </a:t>
            </a:r>
            <a:r>
              <a:rPr b="1" lang="en"/>
              <a:t>Multi-Exit Discriminator (MED)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MED represents distance from router to destination. Lower number is preferred.</a:t>
            </a:r>
            <a:endParaRPr/>
          </a:p>
        </p:txBody>
      </p:sp>
      <p:sp>
        <p:nvSpPr>
          <p:cNvPr id="1383" name="Google Shape;1383;p57"/>
          <p:cNvSpPr/>
          <p:nvPr/>
        </p:nvSpPr>
        <p:spPr>
          <a:xfrm>
            <a:off x="1597175" y="37703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4" name="Google Shape;1384;p5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Multi-Exit Discriminator (MED)</a:t>
            </a:r>
            <a:endParaRPr/>
          </a:p>
        </p:txBody>
      </p:sp>
      <p:sp>
        <p:nvSpPr>
          <p:cNvPr id="1385" name="Google Shape;1385;p57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6" name="Google Shape;1386;p57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7" name="Google Shape;1387;p57"/>
          <p:cNvCxnSpPr>
            <a:stCxn id="1385" idx="3"/>
            <a:endCxn id="1386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8" name="Google Shape;1388;p57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9" name="Google Shape;1389;p57"/>
          <p:cNvCxnSpPr>
            <a:stCxn id="1388" idx="3"/>
            <a:endCxn id="1390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0" name="Google Shape;1390;p57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1" name="Google Shape;1391;p57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92" name="Google Shape;1392;p57"/>
          <p:cNvCxnSpPr>
            <a:stCxn id="1390" idx="3"/>
            <a:endCxn id="1391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3" name="Google Shape;1393;p57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4" name="Google Shape;1394;p57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95" name="Google Shape;1395;p57"/>
          <p:cNvCxnSpPr>
            <a:stCxn id="1386" idx="3"/>
            <a:endCxn id="1393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6" name="Google Shape;1396;p57"/>
          <p:cNvCxnSpPr>
            <a:stCxn id="1391" idx="3"/>
            <a:endCxn id="1394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7" name="Google Shape;1397;p57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8" name="Google Shape;1398;p57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J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99" name="Google Shape;1399;p57"/>
          <p:cNvCxnSpPr>
            <a:stCxn id="1393" idx="3"/>
            <a:endCxn id="1397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0" name="Google Shape;1400;p57"/>
          <p:cNvCxnSpPr>
            <a:stCxn id="1394" idx="3"/>
            <a:endCxn id="1398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1" name="Google Shape;1401;p57"/>
          <p:cNvSpPr txBox="1"/>
          <p:nvPr/>
        </p:nvSpPr>
        <p:spPr>
          <a:xfrm>
            <a:off x="15971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02" name="Google Shape;1402;p57"/>
          <p:cNvCxnSpPr>
            <a:stCxn id="1397" idx="2"/>
            <a:endCxn id="1398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3" name="Google Shape;1403;p57"/>
          <p:cNvSpPr/>
          <p:nvPr/>
        </p:nvSpPr>
        <p:spPr>
          <a:xfrm>
            <a:off x="4364263" y="45584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04" name="Google Shape;1404;p57"/>
          <p:cNvCxnSpPr>
            <a:stCxn id="1403" idx="0"/>
            <a:endCxn id="1391" idx="2"/>
          </p:cNvCxnSpPr>
          <p:nvPr/>
        </p:nvCxnSpPr>
        <p:spPr>
          <a:xfrm rot="10800000">
            <a:off x="4506763" y="4378100"/>
            <a:ext cx="0" cy="180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5" name="Google Shape;1405;p57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06" name="Google Shape;1406;p57"/>
          <p:cNvCxnSpPr>
            <a:stCxn id="1397" idx="3"/>
            <a:endCxn id="1405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7" name="Google Shape;1407;p57"/>
          <p:cNvSpPr/>
          <p:nvPr/>
        </p:nvSpPr>
        <p:spPr>
          <a:xfrm>
            <a:off x="2488778" y="28710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08" name="Google Shape;1408;p57"/>
          <p:cNvCxnSpPr>
            <a:stCxn id="1407" idx="3"/>
            <a:endCxn id="1385" idx="1"/>
          </p:cNvCxnSpPr>
          <p:nvPr/>
        </p:nvCxnSpPr>
        <p:spPr>
          <a:xfrm>
            <a:off x="2773778" y="3013575"/>
            <a:ext cx="652800" cy="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9" name="Google Shape;1409;p57"/>
          <p:cNvCxnSpPr>
            <a:stCxn id="1407" idx="2"/>
            <a:endCxn id="1388" idx="0"/>
          </p:cNvCxnSpPr>
          <p:nvPr/>
        </p:nvCxnSpPr>
        <p:spPr>
          <a:xfrm>
            <a:off x="2631278" y="3156075"/>
            <a:ext cx="0" cy="93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0" name="Google Shape;1410;p57"/>
          <p:cNvSpPr/>
          <p:nvPr/>
        </p:nvSpPr>
        <p:spPr>
          <a:xfrm>
            <a:off x="1394850" y="4558400"/>
            <a:ext cx="2643000" cy="433500"/>
          </a:xfrm>
          <a:prstGeom prst="wedgeRoundRectCallout">
            <a:avLst>
              <a:gd fmla="val 60845" name="adj1"/>
              <a:gd fmla="val -16834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F and J are equally far away.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I'll use J, since it's got a lower MED.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1" name="Google Shape;1411;p57"/>
          <p:cNvSpPr/>
          <p:nvPr/>
        </p:nvSpPr>
        <p:spPr>
          <a:xfrm>
            <a:off x="4595175" y="3085875"/>
            <a:ext cx="2268825" cy="1238691"/>
          </a:xfrm>
          <a:custGeom>
            <a:rect b="b" l="l" r="r" t="t"/>
            <a:pathLst>
              <a:path extrusionOk="0" h="48729" w="90753">
                <a:moveTo>
                  <a:pt x="0" y="48729"/>
                </a:moveTo>
                <a:lnTo>
                  <a:pt x="75546" y="48729"/>
                </a:lnTo>
                <a:lnTo>
                  <a:pt x="75546" y="0"/>
                </a:lnTo>
                <a:lnTo>
                  <a:pt x="90753" y="0"/>
                </a:lnTo>
              </a:path>
            </a:pathLst>
          </a:cu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5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Importing and Exporting with Tiebreaking Policies</a:t>
            </a:r>
            <a:endParaRPr/>
          </a:p>
        </p:txBody>
      </p:sp>
      <p:sp>
        <p:nvSpPr>
          <p:cNvPr id="1417" name="Google Shape;1417;p5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Exporting rules: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Gao-Rexford rules to decide which ASes hear about this route.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announcement, include the MED (distance from router to destination).</a:t>
            </a:r>
            <a:br>
              <a:rPr lang="en"/>
            </a:br>
            <a:r>
              <a:rPr lang="en"/>
              <a:t>Lower MED = Prefer </a:t>
            </a:r>
            <a:r>
              <a:rPr lang="en"/>
              <a:t>to use </a:t>
            </a:r>
            <a:r>
              <a:rPr lang="en"/>
              <a:t>this</a:t>
            </a:r>
            <a:r>
              <a:rPr lang="en"/>
              <a:t> router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Importing rules, in order of priority: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Use Gao-Rexford rules (customer &gt; peer &gt; provider).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Goal: Save money.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If 1 tied: Pick the shorter path (the path passing through fewer ASes).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Goal: Maximize performance.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If 1-2 tied: Pick the path with the nearest egress router (hot potato routing).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Goal: Minimize use of my network bandwidth.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If 1-3 tied: Pick the path with the lower MED.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If 1-4 tied: Arbitrary tiebreaker (e.g. pick router with lower IP address).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5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Hot Potato Routing and MED are Contradictory</a:t>
            </a:r>
            <a:endParaRPr/>
          </a:p>
        </p:txBody>
      </p:sp>
      <p:sp>
        <p:nvSpPr>
          <p:cNvPr id="1423" name="Google Shape;1423;p59"/>
          <p:cNvSpPr txBox="1"/>
          <p:nvPr>
            <p:ph idx="1" type="body"/>
          </p:nvPr>
        </p:nvSpPr>
        <p:spPr>
          <a:xfrm>
            <a:off x="107050" y="402200"/>
            <a:ext cx="8909700" cy="12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importing and exporting ASes </a:t>
            </a:r>
            <a:r>
              <a:rPr i="1" lang="en"/>
              <a:t>both</a:t>
            </a:r>
            <a:r>
              <a:rPr lang="en"/>
              <a:t> want to minimize their own link usage.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Importing AS does this with hot potato routing: Pick the nearest egress.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Exporting AS does this with MED: Send me the packet on the closest router.</a:t>
            </a:r>
            <a:endParaRPr/>
          </a:p>
        </p:txBody>
      </p:sp>
      <p:sp>
        <p:nvSpPr>
          <p:cNvPr id="1424" name="Google Shape;1424;p59"/>
          <p:cNvSpPr/>
          <p:nvPr/>
        </p:nvSpPr>
        <p:spPr>
          <a:xfrm>
            <a:off x="3014025" y="2398750"/>
            <a:ext cx="46452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5" name="Google Shape;1425;p59"/>
          <p:cNvSpPr txBox="1"/>
          <p:nvPr/>
        </p:nvSpPr>
        <p:spPr>
          <a:xfrm>
            <a:off x="3014025" y="2429950"/>
            <a:ext cx="4715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6" name="Google Shape;1426;p59"/>
          <p:cNvSpPr/>
          <p:nvPr/>
        </p:nvSpPr>
        <p:spPr>
          <a:xfrm>
            <a:off x="1368575" y="37703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7" name="Google Shape;1427;p59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8" name="Google Shape;1428;p59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9" name="Google Shape;1429;p59"/>
          <p:cNvCxnSpPr>
            <a:stCxn id="1427" idx="3"/>
            <a:endCxn id="1428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0" name="Google Shape;1430;p59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1" name="Google Shape;1431;p59"/>
          <p:cNvCxnSpPr>
            <a:stCxn id="1430" idx="3"/>
            <a:endCxn id="1432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2" name="Google Shape;1432;p59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3" name="Google Shape;1433;p59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4" name="Google Shape;1434;p59"/>
          <p:cNvCxnSpPr>
            <a:stCxn id="1432" idx="3"/>
            <a:endCxn id="1433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5" name="Google Shape;1435;p59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6" name="Google Shape;1436;p59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7" name="Google Shape;1437;p59"/>
          <p:cNvCxnSpPr>
            <a:stCxn id="1428" idx="3"/>
            <a:endCxn id="1435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8" name="Google Shape;1438;p59"/>
          <p:cNvCxnSpPr>
            <a:stCxn id="1433" idx="3"/>
            <a:endCxn id="1436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9" name="Google Shape;1439;p59"/>
          <p:cNvCxnSpPr>
            <a:stCxn id="1427" idx="2"/>
            <a:endCxn id="1432" idx="0"/>
          </p:cNvCxnSpPr>
          <p:nvPr/>
        </p:nvCxnSpPr>
        <p:spPr>
          <a:xfrm>
            <a:off x="356902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0" name="Google Shape;1440;p59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1" name="Google Shape;1441;p59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2" name="Google Shape;1442;p59"/>
          <p:cNvCxnSpPr>
            <a:stCxn id="1435" idx="3"/>
            <a:endCxn id="1440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3" name="Google Shape;1443;p59"/>
          <p:cNvCxnSpPr>
            <a:stCxn id="1436" idx="3"/>
            <a:endCxn id="1441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4" name="Google Shape;1444;p59"/>
          <p:cNvSpPr txBox="1"/>
          <p:nvPr/>
        </p:nvSpPr>
        <p:spPr>
          <a:xfrm>
            <a:off x="13685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5" name="Google Shape;1445;p59"/>
          <p:cNvCxnSpPr>
            <a:stCxn id="1440" idx="2"/>
            <a:endCxn id="1441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6" name="Google Shape;1446;p59"/>
          <p:cNvSpPr/>
          <p:nvPr/>
        </p:nvSpPr>
        <p:spPr>
          <a:xfrm>
            <a:off x="1817163" y="40931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7" name="Google Shape;1447;p59"/>
          <p:cNvCxnSpPr>
            <a:stCxn id="1446" idx="6"/>
            <a:endCxn id="1430" idx="1"/>
          </p:cNvCxnSpPr>
          <p:nvPr/>
        </p:nvCxnSpPr>
        <p:spPr>
          <a:xfrm>
            <a:off x="2102163" y="42356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8" name="Google Shape;1448;p59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9" name="Google Shape;1449;p59"/>
          <p:cNvCxnSpPr>
            <a:stCxn id="1440" idx="3"/>
            <a:endCxn id="1448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0" name="Google Shape;1450;p59"/>
          <p:cNvSpPr/>
          <p:nvPr/>
        </p:nvSpPr>
        <p:spPr>
          <a:xfrm>
            <a:off x="1962925" y="3101750"/>
            <a:ext cx="4942350" cy="1226400"/>
          </a:xfrm>
          <a:custGeom>
            <a:rect b="b" l="l" r="r" t="t"/>
            <a:pathLst>
              <a:path extrusionOk="0" h="49056" w="197694">
                <a:moveTo>
                  <a:pt x="0" y="49056"/>
                </a:moveTo>
                <a:lnTo>
                  <a:pt x="180525" y="49056"/>
                </a:lnTo>
                <a:lnTo>
                  <a:pt x="180525" y="0"/>
                </a:lnTo>
                <a:lnTo>
                  <a:pt x="197694" y="0"/>
                </a:lnTo>
              </a:path>
            </a:pathLst>
          </a:cu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451" name="Google Shape;1451;p59"/>
          <p:cNvSpPr/>
          <p:nvPr/>
        </p:nvSpPr>
        <p:spPr>
          <a:xfrm>
            <a:off x="1967875" y="2923650"/>
            <a:ext cx="4913775" cy="1222325"/>
          </a:xfrm>
          <a:custGeom>
            <a:rect b="b" l="l" r="r" t="t"/>
            <a:pathLst>
              <a:path extrusionOk="0" h="48893" w="196551">
                <a:moveTo>
                  <a:pt x="0" y="48893"/>
                </a:moveTo>
                <a:lnTo>
                  <a:pt x="61157" y="48893"/>
                </a:lnTo>
                <a:lnTo>
                  <a:pt x="61157" y="0"/>
                </a:lnTo>
                <a:lnTo>
                  <a:pt x="196551" y="0"/>
                </a:lnTo>
              </a:path>
            </a:pathLst>
          </a:custGeom>
          <a:noFill/>
          <a:ln cap="flat" cmpd="sng" w="19050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452" name="Google Shape;1452;p59"/>
          <p:cNvSpPr txBox="1"/>
          <p:nvPr>
            <p:ph idx="1" type="body"/>
          </p:nvPr>
        </p:nvSpPr>
        <p:spPr>
          <a:xfrm>
            <a:off x="192275" y="1698088"/>
            <a:ext cx="2276700" cy="8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1C232"/>
                </a:solidFill>
              </a:rPr>
              <a:t>AT&amp;T </a:t>
            </a:r>
            <a:r>
              <a:rPr lang="en" sz="1400">
                <a:solidFill>
                  <a:srgbClr val="F1C232"/>
                </a:solidFill>
              </a:rPr>
              <a:t>prefers gold path.</a:t>
            </a:r>
            <a:endParaRPr sz="1400">
              <a:solidFill>
                <a:srgbClr val="F1C23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FF"/>
                </a:solidFill>
              </a:rPr>
              <a:t>Verizon prefers pink path.</a:t>
            </a:r>
            <a:endParaRPr sz="14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6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Hot Potato Routing and MED are Contradictory</a:t>
            </a:r>
            <a:endParaRPr/>
          </a:p>
        </p:txBody>
      </p:sp>
      <p:sp>
        <p:nvSpPr>
          <p:cNvPr id="1458" name="Google Shape;1458;p60"/>
          <p:cNvSpPr txBox="1"/>
          <p:nvPr>
            <p:ph idx="1" type="body"/>
          </p:nvPr>
        </p:nvSpPr>
        <p:spPr>
          <a:xfrm>
            <a:off x="107050" y="402200"/>
            <a:ext cx="8909700" cy="12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importing and exporting ASes </a:t>
            </a:r>
            <a:r>
              <a:rPr i="1" lang="en"/>
              <a:t>both</a:t>
            </a:r>
            <a:r>
              <a:rPr lang="en"/>
              <a:t> want to minimize their own link usage.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Importing AS does this with hot potato routing: Pick the nearest egress.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Exporting AS does this with MED: Send me the packet on the closest router.</a:t>
            </a:r>
            <a:endParaRPr/>
          </a:p>
        </p:txBody>
      </p:sp>
      <p:sp>
        <p:nvSpPr>
          <p:cNvPr id="1459" name="Google Shape;1459;p60"/>
          <p:cNvSpPr/>
          <p:nvPr/>
        </p:nvSpPr>
        <p:spPr>
          <a:xfrm>
            <a:off x="3014025" y="2398750"/>
            <a:ext cx="46452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0" name="Google Shape;1460;p60"/>
          <p:cNvSpPr txBox="1"/>
          <p:nvPr/>
        </p:nvSpPr>
        <p:spPr>
          <a:xfrm>
            <a:off x="3014025" y="2429950"/>
            <a:ext cx="4715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1" name="Google Shape;1461;p60"/>
          <p:cNvSpPr/>
          <p:nvPr/>
        </p:nvSpPr>
        <p:spPr>
          <a:xfrm>
            <a:off x="1368575" y="37703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2" name="Google Shape;1462;p60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3" name="Google Shape;1463;p60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4" name="Google Shape;1464;p60"/>
          <p:cNvCxnSpPr>
            <a:stCxn id="1462" idx="3"/>
            <a:endCxn id="1463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5" name="Google Shape;1465;p60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6" name="Google Shape;1466;p60"/>
          <p:cNvCxnSpPr>
            <a:stCxn id="1465" idx="3"/>
            <a:endCxn id="1467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7" name="Google Shape;1467;p60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8" name="Google Shape;1468;p60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9" name="Google Shape;1469;p60"/>
          <p:cNvCxnSpPr>
            <a:stCxn id="1467" idx="3"/>
            <a:endCxn id="1468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0" name="Google Shape;1470;p60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1" name="Google Shape;1471;p60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2" name="Google Shape;1472;p60"/>
          <p:cNvCxnSpPr>
            <a:stCxn id="1463" idx="3"/>
            <a:endCxn id="1470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3" name="Google Shape;1473;p60"/>
          <p:cNvCxnSpPr>
            <a:stCxn id="1468" idx="3"/>
            <a:endCxn id="1471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4" name="Google Shape;1474;p60"/>
          <p:cNvCxnSpPr>
            <a:stCxn id="1462" idx="2"/>
            <a:endCxn id="1467" idx="0"/>
          </p:cNvCxnSpPr>
          <p:nvPr/>
        </p:nvCxnSpPr>
        <p:spPr>
          <a:xfrm>
            <a:off x="356902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5" name="Google Shape;1475;p60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6" name="Google Shape;1476;p60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7" name="Google Shape;1477;p60"/>
          <p:cNvCxnSpPr>
            <a:stCxn id="1470" idx="3"/>
            <a:endCxn id="1475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8" name="Google Shape;1478;p60"/>
          <p:cNvCxnSpPr>
            <a:stCxn id="1471" idx="3"/>
            <a:endCxn id="1476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9" name="Google Shape;1479;p60"/>
          <p:cNvSpPr txBox="1"/>
          <p:nvPr/>
        </p:nvSpPr>
        <p:spPr>
          <a:xfrm>
            <a:off x="13685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80" name="Google Shape;1480;p60"/>
          <p:cNvCxnSpPr>
            <a:stCxn id="1475" idx="2"/>
            <a:endCxn id="1476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1" name="Google Shape;1481;p60"/>
          <p:cNvSpPr/>
          <p:nvPr/>
        </p:nvSpPr>
        <p:spPr>
          <a:xfrm>
            <a:off x="1817163" y="40931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82" name="Google Shape;1482;p60"/>
          <p:cNvCxnSpPr>
            <a:stCxn id="1481" idx="6"/>
            <a:endCxn id="1465" idx="1"/>
          </p:cNvCxnSpPr>
          <p:nvPr/>
        </p:nvCxnSpPr>
        <p:spPr>
          <a:xfrm>
            <a:off x="2102163" y="42356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3" name="Google Shape;1483;p60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84" name="Google Shape;1484;p60"/>
          <p:cNvCxnSpPr>
            <a:stCxn id="1475" idx="3"/>
            <a:endCxn id="1483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5" name="Google Shape;1485;p60"/>
          <p:cNvSpPr/>
          <p:nvPr/>
        </p:nvSpPr>
        <p:spPr>
          <a:xfrm>
            <a:off x="1417425" y="3091300"/>
            <a:ext cx="1756200" cy="468300"/>
          </a:xfrm>
          <a:prstGeom prst="wedgeRoundRectCallout">
            <a:avLst>
              <a:gd fmla="val 62361" name="adj1"/>
              <a:gd fmla="val -58985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MED = 5</a:t>
            </a:r>
            <a:b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Don't send it this way.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6" name="Google Shape;1486;p60"/>
          <p:cNvSpPr/>
          <p:nvPr/>
        </p:nvSpPr>
        <p:spPr>
          <a:xfrm>
            <a:off x="1417425" y="4481950"/>
            <a:ext cx="1908600" cy="468300"/>
          </a:xfrm>
          <a:prstGeom prst="wedgeRoundRectCallout">
            <a:avLst>
              <a:gd fmla="val 62361" name="adj1"/>
              <a:gd fmla="val -58985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Closer egress router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Send it this way please.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7" name="Google Shape;1487;p60"/>
          <p:cNvSpPr/>
          <p:nvPr/>
        </p:nvSpPr>
        <p:spPr>
          <a:xfrm>
            <a:off x="1967875" y="2923650"/>
            <a:ext cx="4913775" cy="1222325"/>
          </a:xfrm>
          <a:custGeom>
            <a:rect b="b" l="l" r="r" t="t"/>
            <a:pathLst>
              <a:path extrusionOk="0" h="48893" w="196551">
                <a:moveTo>
                  <a:pt x="0" y="48893"/>
                </a:moveTo>
                <a:lnTo>
                  <a:pt x="61157" y="48893"/>
                </a:lnTo>
                <a:lnTo>
                  <a:pt x="61157" y="0"/>
                </a:lnTo>
                <a:lnTo>
                  <a:pt x="196551" y="0"/>
                </a:lnTo>
              </a:path>
            </a:pathLst>
          </a:custGeom>
          <a:noFill/>
          <a:ln cap="flat" cmpd="sng" w="19050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488" name="Google Shape;1488;p60"/>
          <p:cNvSpPr txBox="1"/>
          <p:nvPr>
            <p:ph idx="1" type="body"/>
          </p:nvPr>
        </p:nvSpPr>
        <p:spPr>
          <a:xfrm>
            <a:off x="192275" y="1698088"/>
            <a:ext cx="2276700" cy="8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1C232"/>
                </a:solidFill>
              </a:rPr>
              <a:t>AT&amp;T prefers gold path.</a:t>
            </a:r>
            <a:endParaRPr sz="1400">
              <a:solidFill>
                <a:srgbClr val="F1C23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FF"/>
                </a:solidFill>
              </a:rPr>
              <a:t>Verizon prefers pink path.</a:t>
            </a:r>
            <a:endParaRPr sz="14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6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Hot Potato Routing and MED are Contradictory</a:t>
            </a:r>
            <a:endParaRPr/>
          </a:p>
        </p:txBody>
      </p:sp>
      <p:sp>
        <p:nvSpPr>
          <p:cNvPr id="1494" name="Google Shape;1494;p61"/>
          <p:cNvSpPr txBox="1"/>
          <p:nvPr>
            <p:ph idx="1" type="body"/>
          </p:nvPr>
        </p:nvSpPr>
        <p:spPr>
          <a:xfrm>
            <a:off x="107050" y="402200"/>
            <a:ext cx="8909700" cy="12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importing and exporting ASes </a:t>
            </a:r>
            <a:r>
              <a:rPr i="1" lang="en"/>
              <a:t>both</a:t>
            </a:r>
            <a:r>
              <a:rPr lang="en"/>
              <a:t> want to minimize their own link usage.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Importing AS does this with hot potato routing: Pick the nearest egress.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Exporting AS does this with MED: Send me the packet on the closest router.</a:t>
            </a:r>
            <a:endParaRPr/>
          </a:p>
        </p:txBody>
      </p:sp>
      <p:sp>
        <p:nvSpPr>
          <p:cNvPr id="1495" name="Google Shape;1495;p61"/>
          <p:cNvSpPr/>
          <p:nvPr/>
        </p:nvSpPr>
        <p:spPr>
          <a:xfrm>
            <a:off x="3014025" y="2398750"/>
            <a:ext cx="46452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6" name="Google Shape;1496;p61"/>
          <p:cNvSpPr txBox="1"/>
          <p:nvPr/>
        </p:nvSpPr>
        <p:spPr>
          <a:xfrm>
            <a:off x="3014025" y="2429950"/>
            <a:ext cx="4715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7" name="Google Shape;1497;p61"/>
          <p:cNvSpPr/>
          <p:nvPr/>
        </p:nvSpPr>
        <p:spPr>
          <a:xfrm>
            <a:off x="1368575" y="37703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8" name="Google Shape;1498;p61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9" name="Google Shape;1499;p61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0" name="Google Shape;1500;p61"/>
          <p:cNvCxnSpPr>
            <a:stCxn id="1498" idx="3"/>
            <a:endCxn id="1499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1" name="Google Shape;1501;p61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2" name="Google Shape;1502;p61"/>
          <p:cNvCxnSpPr>
            <a:stCxn id="1501" idx="3"/>
            <a:endCxn id="1503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3" name="Google Shape;1503;p61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4" name="Google Shape;1504;p61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5" name="Google Shape;1505;p61"/>
          <p:cNvCxnSpPr>
            <a:stCxn id="1503" idx="3"/>
            <a:endCxn id="1504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6" name="Google Shape;1506;p61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7" name="Google Shape;1507;p61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8" name="Google Shape;1508;p61"/>
          <p:cNvCxnSpPr>
            <a:stCxn id="1499" idx="3"/>
            <a:endCxn id="1506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9" name="Google Shape;1509;p61"/>
          <p:cNvCxnSpPr>
            <a:stCxn id="1504" idx="3"/>
            <a:endCxn id="1507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0" name="Google Shape;1510;p61"/>
          <p:cNvCxnSpPr>
            <a:stCxn id="1498" idx="2"/>
            <a:endCxn id="1503" idx="0"/>
          </p:cNvCxnSpPr>
          <p:nvPr/>
        </p:nvCxnSpPr>
        <p:spPr>
          <a:xfrm>
            <a:off x="356902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1" name="Google Shape;1511;p61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2" name="Google Shape;1512;p61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3" name="Google Shape;1513;p61"/>
          <p:cNvCxnSpPr>
            <a:stCxn id="1506" idx="3"/>
            <a:endCxn id="1511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4" name="Google Shape;1514;p61"/>
          <p:cNvCxnSpPr>
            <a:stCxn id="1507" idx="3"/>
            <a:endCxn id="1512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5" name="Google Shape;1515;p61"/>
          <p:cNvSpPr txBox="1"/>
          <p:nvPr/>
        </p:nvSpPr>
        <p:spPr>
          <a:xfrm>
            <a:off x="13685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6" name="Google Shape;1516;p61"/>
          <p:cNvCxnSpPr>
            <a:stCxn id="1511" idx="2"/>
            <a:endCxn id="1512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7" name="Google Shape;1517;p61"/>
          <p:cNvSpPr/>
          <p:nvPr/>
        </p:nvSpPr>
        <p:spPr>
          <a:xfrm>
            <a:off x="1817163" y="40931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8" name="Google Shape;1518;p61"/>
          <p:cNvCxnSpPr>
            <a:stCxn id="1517" idx="6"/>
            <a:endCxn id="1501" idx="1"/>
          </p:cNvCxnSpPr>
          <p:nvPr/>
        </p:nvCxnSpPr>
        <p:spPr>
          <a:xfrm>
            <a:off x="2102163" y="42356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9" name="Google Shape;1519;p61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20" name="Google Shape;1520;p61"/>
          <p:cNvCxnSpPr>
            <a:stCxn id="1511" idx="3"/>
            <a:endCxn id="1519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1" name="Google Shape;1521;p61"/>
          <p:cNvSpPr/>
          <p:nvPr/>
        </p:nvSpPr>
        <p:spPr>
          <a:xfrm>
            <a:off x="6656975" y="3230525"/>
            <a:ext cx="1863600" cy="468300"/>
          </a:xfrm>
          <a:prstGeom prst="wedgeRoundRectCallout">
            <a:avLst>
              <a:gd fmla="val -58648" name="adj1"/>
              <a:gd fmla="val -55800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MED = 1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Send it this way please.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2" name="Google Shape;1522;p61"/>
          <p:cNvSpPr/>
          <p:nvPr/>
        </p:nvSpPr>
        <p:spPr>
          <a:xfrm>
            <a:off x="6524775" y="4481950"/>
            <a:ext cx="1863600" cy="468300"/>
          </a:xfrm>
          <a:prstGeom prst="wedgeRoundRectCallout">
            <a:avLst>
              <a:gd fmla="val -58648" name="adj1"/>
              <a:gd fmla="val -55800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Further egress router</a:t>
            </a:r>
            <a:b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Don't send it this way.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3" name="Google Shape;1523;p61"/>
          <p:cNvSpPr txBox="1"/>
          <p:nvPr>
            <p:ph idx="1" type="body"/>
          </p:nvPr>
        </p:nvSpPr>
        <p:spPr>
          <a:xfrm>
            <a:off x="192275" y="1698088"/>
            <a:ext cx="2276700" cy="8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1C232"/>
                </a:solidFill>
              </a:rPr>
              <a:t>AT&amp;T prefers gold path.</a:t>
            </a:r>
            <a:endParaRPr sz="1400">
              <a:solidFill>
                <a:srgbClr val="F1C23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FF"/>
                </a:solidFill>
              </a:rPr>
              <a:t>Verizon prefers pink path.</a:t>
            </a:r>
            <a:endParaRPr sz="1400">
              <a:solidFill>
                <a:srgbClr val="FF00FF"/>
              </a:solidFill>
            </a:endParaRPr>
          </a:p>
        </p:txBody>
      </p:sp>
      <p:sp>
        <p:nvSpPr>
          <p:cNvPr id="1524" name="Google Shape;1524;p61"/>
          <p:cNvSpPr/>
          <p:nvPr/>
        </p:nvSpPr>
        <p:spPr>
          <a:xfrm>
            <a:off x="1962925" y="3101750"/>
            <a:ext cx="4942350" cy="1226400"/>
          </a:xfrm>
          <a:custGeom>
            <a:rect b="b" l="l" r="r" t="t"/>
            <a:pathLst>
              <a:path extrusionOk="0" h="49056" w="197694">
                <a:moveTo>
                  <a:pt x="0" y="49056"/>
                </a:moveTo>
                <a:lnTo>
                  <a:pt x="180525" y="49056"/>
                </a:lnTo>
                <a:lnTo>
                  <a:pt x="180525" y="0"/>
                </a:lnTo>
                <a:lnTo>
                  <a:pt x="197694" y="0"/>
                </a:lnTo>
              </a:path>
            </a:pathLst>
          </a:cu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6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Hot Potato Routing </a:t>
            </a:r>
            <a:r>
              <a:rPr lang="en"/>
              <a:t>and MED are Contradictory</a:t>
            </a:r>
            <a:endParaRPr/>
          </a:p>
        </p:txBody>
      </p:sp>
      <p:sp>
        <p:nvSpPr>
          <p:cNvPr id="1530" name="Google Shape;1530;p62"/>
          <p:cNvSpPr txBox="1"/>
          <p:nvPr>
            <p:ph idx="1" type="body"/>
          </p:nvPr>
        </p:nvSpPr>
        <p:spPr>
          <a:xfrm>
            <a:off x="107050" y="402200"/>
            <a:ext cx="8909700" cy="12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Hot potato routing can lead to </a:t>
            </a:r>
            <a:r>
              <a:rPr lang="en"/>
              <a:t>asymmetric</a:t>
            </a:r>
            <a:r>
              <a:rPr lang="en"/>
              <a:t> paths.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X → Y traffic: AT&amp;T ditches packet quickly, Verizon carries it most of the way.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 → X traffic: Verizon </a:t>
            </a:r>
            <a:r>
              <a:rPr lang="en"/>
              <a:t>ditches</a:t>
            </a:r>
            <a:r>
              <a:rPr lang="en"/>
              <a:t> packet quickly, AT&amp;T carries it most of the way.</a:t>
            </a:r>
            <a:endParaRPr/>
          </a:p>
        </p:txBody>
      </p:sp>
      <p:sp>
        <p:nvSpPr>
          <p:cNvPr id="1531" name="Google Shape;1531;p62"/>
          <p:cNvSpPr/>
          <p:nvPr/>
        </p:nvSpPr>
        <p:spPr>
          <a:xfrm>
            <a:off x="3014025" y="2398750"/>
            <a:ext cx="46452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2" name="Google Shape;1532;p62"/>
          <p:cNvSpPr txBox="1"/>
          <p:nvPr/>
        </p:nvSpPr>
        <p:spPr>
          <a:xfrm>
            <a:off x="3014025" y="2429950"/>
            <a:ext cx="4715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3" name="Google Shape;1533;p62"/>
          <p:cNvSpPr/>
          <p:nvPr/>
        </p:nvSpPr>
        <p:spPr>
          <a:xfrm>
            <a:off x="1368575" y="37703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4" name="Google Shape;1534;p62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5" name="Google Shape;1535;p62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36" name="Google Shape;1536;p62"/>
          <p:cNvCxnSpPr>
            <a:stCxn id="1534" idx="3"/>
            <a:endCxn id="1535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7" name="Google Shape;1537;p62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38" name="Google Shape;1538;p62"/>
          <p:cNvCxnSpPr>
            <a:stCxn id="1537" idx="3"/>
            <a:endCxn id="1539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9" name="Google Shape;1539;p62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0" name="Google Shape;1540;p62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41" name="Google Shape;1541;p62"/>
          <p:cNvCxnSpPr>
            <a:stCxn id="1539" idx="3"/>
            <a:endCxn id="1540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2" name="Google Shape;1542;p62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3" name="Google Shape;1543;p62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44" name="Google Shape;1544;p62"/>
          <p:cNvCxnSpPr>
            <a:stCxn id="1535" idx="3"/>
            <a:endCxn id="1542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5" name="Google Shape;1545;p62"/>
          <p:cNvCxnSpPr>
            <a:stCxn id="1540" idx="3"/>
            <a:endCxn id="1543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6" name="Google Shape;1546;p62"/>
          <p:cNvCxnSpPr>
            <a:stCxn id="1534" idx="2"/>
            <a:endCxn id="1539" idx="0"/>
          </p:cNvCxnSpPr>
          <p:nvPr/>
        </p:nvCxnSpPr>
        <p:spPr>
          <a:xfrm>
            <a:off x="356902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7" name="Google Shape;1547;p62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8" name="Google Shape;1548;p62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49" name="Google Shape;1549;p62"/>
          <p:cNvCxnSpPr>
            <a:stCxn id="1542" idx="3"/>
            <a:endCxn id="1547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0" name="Google Shape;1550;p62"/>
          <p:cNvCxnSpPr>
            <a:stCxn id="1543" idx="3"/>
            <a:endCxn id="1548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1" name="Google Shape;1551;p62"/>
          <p:cNvSpPr txBox="1"/>
          <p:nvPr/>
        </p:nvSpPr>
        <p:spPr>
          <a:xfrm>
            <a:off x="13685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2" name="Google Shape;1552;p62"/>
          <p:cNvCxnSpPr>
            <a:stCxn id="1547" idx="2"/>
            <a:endCxn id="1548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3" name="Google Shape;1553;p62"/>
          <p:cNvSpPr/>
          <p:nvPr/>
        </p:nvSpPr>
        <p:spPr>
          <a:xfrm>
            <a:off x="1817163" y="40931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4" name="Google Shape;1554;p62"/>
          <p:cNvCxnSpPr>
            <a:stCxn id="1553" idx="6"/>
            <a:endCxn id="1537" idx="1"/>
          </p:cNvCxnSpPr>
          <p:nvPr/>
        </p:nvCxnSpPr>
        <p:spPr>
          <a:xfrm>
            <a:off x="2102163" y="42356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5" name="Google Shape;1555;p62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6" name="Google Shape;1556;p62"/>
          <p:cNvCxnSpPr>
            <a:stCxn id="1547" idx="3"/>
            <a:endCxn id="1555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7" name="Google Shape;1557;p62"/>
          <p:cNvSpPr/>
          <p:nvPr/>
        </p:nvSpPr>
        <p:spPr>
          <a:xfrm>
            <a:off x="1962925" y="3101750"/>
            <a:ext cx="4942350" cy="1226400"/>
          </a:xfrm>
          <a:custGeom>
            <a:rect b="b" l="l" r="r" t="t"/>
            <a:pathLst>
              <a:path extrusionOk="0" h="49056" w="197694">
                <a:moveTo>
                  <a:pt x="0" y="49056"/>
                </a:moveTo>
                <a:lnTo>
                  <a:pt x="180525" y="49056"/>
                </a:lnTo>
                <a:lnTo>
                  <a:pt x="180525" y="0"/>
                </a:lnTo>
                <a:lnTo>
                  <a:pt x="197694" y="0"/>
                </a:lnTo>
              </a:path>
            </a:pathLst>
          </a:cu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sp>
      <p:sp>
        <p:nvSpPr>
          <p:cNvPr id="1558" name="Google Shape;1558;p62"/>
          <p:cNvSpPr/>
          <p:nvPr/>
        </p:nvSpPr>
        <p:spPr>
          <a:xfrm>
            <a:off x="1967875" y="2923650"/>
            <a:ext cx="4913775" cy="1222325"/>
          </a:xfrm>
          <a:custGeom>
            <a:rect b="b" l="l" r="r" t="t"/>
            <a:pathLst>
              <a:path extrusionOk="0" h="48893" w="196551">
                <a:moveTo>
                  <a:pt x="0" y="48893"/>
                </a:moveTo>
                <a:lnTo>
                  <a:pt x="61157" y="48893"/>
                </a:lnTo>
                <a:lnTo>
                  <a:pt x="61157" y="0"/>
                </a:lnTo>
                <a:lnTo>
                  <a:pt x="196551" y="0"/>
                </a:lnTo>
              </a:path>
            </a:pathLst>
          </a:custGeom>
          <a:noFill/>
          <a:ln cap="flat" cmpd="sng" w="19050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p63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BGP 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External BGP and Internal BGP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Links Between ASes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Message Types and</a:t>
            </a:r>
            <a:b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Route Attributes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Issues with BGP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Header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IPv4 Header Fields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IPv6 Changes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Security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564" name="Google Shape;1564;p63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Message Types, Route Attributes</a:t>
            </a:r>
            <a:endParaRPr/>
          </a:p>
        </p:txBody>
      </p:sp>
      <p:sp>
        <p:nvSpPr>
          <p:cNvPr id="1565" name="Google Shape;1565;p63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9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p6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BGP: Message Types</a:t>
            </a:r>
            <a:endParaRPr/>
          </a:p>
        </p:txBody>
      </p:sp>
      <p:sp>
        <p:nvSpPr>
          <p:cNvPr id="1571" name="Google Shape;1571;p6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actually implement BGP, we need to specify: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Syntax: Format of BGP message.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Semantics: How to process BGP messages.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There are 4 BGP message types: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Open: Start a BGP session.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KeepAlive: I'm still here, don't close the BGP session.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Notification: An error occurred.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Update: Announce a route.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Could be a new route, an update to an old route, or withdrawing a route.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We'll focus on this one.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6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BGP Update Message Format</a:t>
            </a:r>
            <a:endParaRPr/>
          </a:p>
        </p:txBody>
      </p:sp>
      <p:sp>
        <p:nvSpPr>
          <p:cNvPr id="1577" name="Google Shape;1577;p6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Update message encodes an </a:t>
            </a:r>
            <a:r>
              <a:rPr lang="en"/>
              <a:t>announcement</a:t>
            </a:r>
            <a:r>
              <a:rPr lang="en"/>
              <a:t> using two values: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Destination prefix.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or more </a:t>
            </a:r>
            <a:r>
              <a:rPr b="1" lang="en"/>
              <a:t>route attributes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 attributes: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to express properties about routes.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used in route import/export decisions.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Written as name-value pairs.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attributes are local: Only announced in iBGP.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attributes are global: Announced in eBGP.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many standardized attributes, but we'll look at 3.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6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 Attribute #1: ASPATH</a:t>
            </a:r>
            <a:endParaRPr/>
          </a:p>
        </p:txBody>
      </p:sp>
      <p:sp>
        <p:nvSpPr>
          <p:cNvPr id="1583" name="Google Shape;1583;p66"/>
          <p:cNvSpPr txBox="1"/>
          <p:nvPr>
            <p:ph idx="1" type="body"/>
          </p:nvPr>
        </p:nvSpPr>
        <p:spPr>
          <a:xfrm>
            <a:off x="107050" y="402200"/>
            <a:ext cx="8909700" cy="16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Name: </a:t>
            </a:r>
            <a:r>
              <a:rPr b="1" lang="en"/>
              <a:t>ASPATH</a:t>
            </a:r>
            <a:r>
              <a:rPr lang="en"/>
              <a:t>.     Value: List of all ASes in this route, in reverse order.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Scope: Global (included in both eBGP and iBGP announcements).</a:t>
            </a:r>
            <a:endParaRPr/>
          </a:p>
        </p:txBody>
      </p:sp>
      <p:cxnSp>
        <p:nvCxnSpPr>
          <p:cNvPr id="1584" name="Google Shape;1584;p66"/>
          <p:cNvCxnSpPr>
            <a:stCxn id="1585" idx="2"/>
            <a:endCxn id="1586" idx="6"/>
          </p:cNvCxnSpPr>
          <p:nvPr/>
        </p:nvCxnSpPr>
        <p:spPr>
          <a:xfrm rot="10800000">
            <a:off x="5178825" y="4326725"/>
            <a:ext cx="540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5" name="Google Shape;1585;p66"/>
          <p:cNvSpPr/>
          <p:nvPr/>
        </p:nvSpPr>
        <p:spPr>
          <a:xfrm>
            <a:off x="5719125" y="4032575"/>
            <a:ext cx="2034300" cy="5883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128.112.0.0/16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6" name="Google Shape;1586;p66"/>
          <p:cNvSpPr/>
          <p:nvPr/>
        </p:nvSpPr>
        <p:spPr>
          <a:xfrm>
            <a:off x="4068475" y="4032575"/>
            <a:ext cx="1110300" cy="5883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AS#72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7" name="Google Shape;1587;p66"/>
          <p:cNvCxnSpPr>
            <a:stCxn id="1586" idx="2"/>
            <a:endCxn id="1588" idx="6"/>
          </p:cNvCxnSpPr>
          <p:nvPr/>
        </p:nvCxnSpPr>
        <p:spPr>
          <a:xfrm rot="10800000">
            <a:off x="3528175" y="4326725"/>
            <a:ext cx="540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8" name="Google Shape;1588;p66"/>
          <p:cNvSpPr/>
          <p:nvPr/>
        </p:nvSpPr>
        <p:spPr>
          <a:xfrm>
            <a:off x="2417825" y="4032575"/>
            <a:ext cx="1110300" cy="5883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9" name="Google Shape;1589;p66"/>
          <p:cNvCxnSpPr>
            <a:stCxn id="1588" idx="2"/>
            <a:endCxn id="1590" idx="6"/>
          </p:cNvCxnSpPr>
          <p:nvPr/>
        </p:nvCxnSpPr>
        <p:spPr>
          <a:xfrm rot="10800000">
            <a:off x="1877525" y="4326725"/>
            <a:ext cx="540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0" name="Google Shape;1590;p66"/>
          <p:cNvSpPr/>
          <p:nvPr/>
        </p:nvSpPr>
        <p:spPr>
          <a:xfrm>
            <a:off x="767175" y="4032575"/>
            <a:ext cx="1110300" cy="5883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AS#91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1" name="Google Shape;1591;p66"/>
          <p:cNvCxnSpPr/>
          <p:nvPr/>
        </p:nvCxnSpPr>
        <p:spPr>
          <a:xfrm rot="10800000">
            <a:off x="1396925" y="3913350"/>
            <a:ext cx="15015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2" name="Google Shape;1592;p66"/>
          <p:cNvSpPr/>
          <p:nvPr/>
        </p:nvSpPr>
        <p:spPr>
          <a:xfrm>
            <a:off x="817625" y="2905225"/>
            <a:ext cx="2660100" cy="808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eBGP Announcement: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Destination = 128.112.0.0/16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ASPATH = [3, 72, 25]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67"/>
          <p:cNvSpPr/>
          <p:nvPr/>
        </p:nvSpPr>
        <p:spPr>
          <a:xfrm>
            <a:off x="741050" y="2860975"/>
            <a:ext cx="2526600" cy="11328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AS#91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8" name="Google Shape;1598;p6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 Attribute #2: LOCAL PREFERENCE</a:t>
            </a:r>
            <a:endParaRPr/>
          </a:p>
        </p:txBody>
      </p:sp>
      <p:sp>
        <p:nvSpPr>
          <p:cNvPr id="1599" name="Google Shape;1599;p67"/>
          <p:cNvSpPr txBox="1"/>
          <p:nvPr>
            <p:ph idx="1" type="body"/>
          </p:nvPr>
        </p:nvSpPr>
        <p:spPr>
          <a:xfrm>
            <a:off x="107050" y="402200"/>
            <a:ext cx="8909700" cy="16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Name: </a:t>
            </a:r>
            <a:r>
              <a:rPr b="1" lang="en"/>
              <a:t>LOCAL PREFERENCE</a:t>
            </a:r>
            <a:r>
              <a:rPr lang="en"/>
              <a:t>.     </a:t>
            </a:r>
            <a:r>
              <a:rPr lang="en"/>
              <a:t>Value: A number, </a:t>
            </a:r>
            <a:r>
              <a:rPr i="1" lang="en"/>
              <a:t>higher</a:t>
            </a:r>
            <a:r>
              <a:rPr lang="en"/>
              <a:t> is better.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Scope: Local (only included in iBGP announcements).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Used to encode policy preference between AS paths (e.g. Gao-Rexford rules).</a:t>
            </a:r>
            <a:endParaRPr/>
          </a:p>
        </p:txBody>
      </p:sp>
      <p:sp>
        <p:nvSpPr>
          <p:cNvPr id="1600" name="Google Shape;1600;p67"/>
          <p:cNvSpPr/>
          <p:nvPr/>
        </p:nvSpPr>
        <p:spPr>
          <a:xfrm>
            <a:off x="1861850" y="32838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1" name="Google Shape;1601;p67"/>
          <p:cNvSpPr/>
          <p:nvPr/>
        </p:nvSpPr>
        <p:spPr>
          <a:xfrm>
            <a:off x="4147175" y="2315350"/>
            <a:ext cx="15279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AS#79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02" name="Google Shape;1602;p67"/>
          <p:cNvCxnSpPr>
            <a:stCxn id="1603" idx="3"/>
            <a:endCxn id="1601" idx="2"/>
          </p:cNvCxnSpPr>
          <p:nvPr/>
        </p:nvCxnSpPr>
        <p:spPr>
          <a:xfrm flipH="1" rot="10800000">
            <a:off x="2861766" y="2656750"/>
            <a:ext cx="1285500" cy="48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604" name="Google Shape;1604;p67"/>
          <p:cNvSpPr/>
          <p:nvPr/>
        </p:nvSpPr>
        <p:spPr>
          <a:xfrm>
            <a:off x="1538725" y="1874475"/>
            <a:ext cx="2147400" cy="811500"/>
          </a:xfrm>
          <a:prstGeom prst="wedgeRoundRectCallout">
            <a:avLst>
              <a:gd fmla="val 5698" name="adj1"/>
              <a:gd fmla="val 80989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iBGP Announcement: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Destination = 128.112.0.0/16 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ASPATH = [79, 25]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LOCAL PREF = 1000</a:t>
            </a:r>
            <a:endParaRPr b="1"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3" name="Google Shape;1603;p67"/>
          <p:cNvSpPr/>
          <p:nvPr/>
        </p:nvSpPr>
        <p:spPr>
          <a:xfrm>
            <a:off x="2576766" y="2998450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5" name="Google Shape;1605;p67"/>
          <p:cNvSpPr/>
          <p:nvPr/>
        </p:nvSpPr>
        <p:spPr>
          <a:xfrm>
            <a:off x="2576766" y="3556400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6" name="Google Shape;1606;p67"/>
          <p:cNvSpPr/>
          <p:nvPr/>
        </p:nvSpPr>
        <p:spPr>
          <a:xfrm>
            <a:off x="1332375" y="299844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7" name="Google Shape;1607;p67"/>
          <p:cNvSpPr/>
          <p:nvPr/>
        </p:nvSpPr>
        <p:spPr>
          <a:xfrm>
            <a:off x="1146925" y="355639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08" name="Google Shape;1608;p67"/>
          <p:cNvCxnSpPr>
            <a:stCxn id="1606" idx="2"/>
            <a:endCxn id="1607" idx="0"/>
          </p:cNvCxnSpPr>
          <p:nvPr/>
        </p:nvCxnSpPr>
        <p:spPr>
          <a:xfrm flipH="1">
            <a:off x="1289475" y="3283448"/>
            <a:ext cx="185400" cy="27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9" name="Google Shape;1609;p67"/>
          <p:cNvCxnSpPr>
            <a:stCxn id="1600" idx="1"/>
            <a:endCxn id="1607" idx="3"/>
          </p:cNvCxnSpPr>
          <p:nvPr/>
        </p:nvCxnSpPr>
        <p:spPr>
          <a:xfrm flipH="1">
            <a:off x="1431950" y="3426373"/>
            <a:ext cx="429900" cy="27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0" name="Google Shape;1610;p67"/>
          <p:cNvCxnSpPr>
            <a:stCxn id="1606" idx="3"/>
            <a:endCxn id="1600" idx="0"/>
          </p:cNvCxnSpPr>
          <p:nvPr/>
        </p:nvCxnSpPr>
        <p:spPr>
          <a:xfrm>
            <a:off x="1617375" y="3140948"/>
            <a:ext cx="387000" cy="14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1" name="Google Shape;1611;p67"/>
          <p:cNvCxnSpPr>
            <a:stCxn id="1600" idx="3"/>
            <a:endCxn id="1603" idx="1"/>
          </p:cNvCxnSpPr>
          <p:nvPr/>
        </p:nvCxnSpPr>
        <p:spPr>
          <a:xfrm flipH="1" rot="10800000">
            <a:off x="2146850" y="3141073"/>
            <a:ext cx="429900" cy="285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2" name="Google Shape;1612;p67"/>
          <p:cNvCxnSpPr>
            <a:stCxn id="1600" idx="3"/>
            <a:endCxn id="1605" idx="1"/>
          </p:cNvCxnSpPr>
          <p:nvPr/>
        </p:nvCxnSpPr>
        <p:spPr>
          <a:xfrm>
            <a:off x="2146850" y="3426373"/>
            <a:ext cx="429900" cy="27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3" name="Google Shape;1613;p67"/>
          <p:cNvSpPr/>
          <p:nvPr/>
        </p:nvSpPr>
        <p:spPr>
          <a:xfrm>
            <a:off x="4147175" y="3840400"/>
            <a:ext cx="15279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AS#7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(Customer)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4" name="Google Shape;1614;p67"/>
          <p:cNvCxnSpPr>
            <a:stCxn id="1605" idx="3"/>
            <a:endCxn id="1613" idx="2"/>
          </p:cNvCxnSpPr>
          <p:nvPr/>
        </p:nvCxnSpPr>
        <p:spPr>
          <a:xfrm>
            <a:off x="2861766" y="3698900"/>
            <a:ext cx="1285500" cy="48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5" name="Google Shape;1615;p67"/>
          <p:cNvSpPr/>
          <p:nvPr/>
        </p:nvSpPr>
        <p:spPr>
          <a:xfrm>
            <a:off x="6368650" y="3132225"/>
            <a:ext cx="2034300" cy="5883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128.112.0.0/16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6" name="Google Shape;1616;p67"/>
          <p:cNvCxnSpPr>
            <a:stCxn id="1601" idx="6"/>
            <a:endCxn id="1615" idx="1"/>
          </p:cNvCxnSpPr>
          <p:nvPr/>
        </p:nvCxnSpPr>
        <p:spPr>
          <a:xfrm>
            <a:off x="5675075" y="2656900"/>
            <a:ext cx="991500" cy="56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7" name="Google Shape;1617;p67"/>
          <p:cNvCxnSpPr>
            <a:stCxn id="1613" idx="6"/>
            <a:endCxn id="1615" idx="3"/>
          </p:cNvCxnSpPr>
          <p:nvPr/>
        </p:nvCxnSpPr>
        <p:spPr>
          <a:xfrm flipH="1" rot="10800000">
            <a:off x="5675075" y="3634450"/>
            <a:ext cx="991500" cy="54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8" name="Google Shape;1618;p67"/>
          <p:cNvSpPr/>
          <p:nvPr/>
        </p:nvSpPr>
        <p:spPr>
          <a:xfrm>
            <a:off x="871725" y="4080675"/>
            <a:ext cx="2147400" cy="811500"/>
          </a:xfrm>
          <a:prstGeom prst="wedgeRoundRectCallout">
            <a:avLst>
              <a:gd fmla="val 35895" name="adj1"/>
              <a:gd fmla="val -76830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iBGP Announcement: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Destination = 128.112.0.0/16 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ASPATH = [7, 25]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LOCAL PREF = 3000</a:t>
            </a:r>
            <a:endParaRPr b="1"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9" name="Google Shape;1619;p67"/>
          <p:cNvSpPr txBox="1"/>
          <p:nvPr/>
        </p:nvSpPr>
        <p:spPr>
          <a:xfrm>
            <a:off x="5765350" y="4276575"/>
            <a:ext cx="3240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100 and 300 would have worked, too. Only the relative ranking matters.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p68"/>
          <p:cNvSpPr/>
          <p:nvPr/>
        </p:nvSpPr>
        <p:spPr>
          <a:xfrm>
            <a:off x="2348675" y="3777850"/>
            <a:ext cx="4352100" cy="9372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5" name="Google Shape;1625;p6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 Attribute #3: MED</a:t>
            </a:r>
            <a:endParaRPr/>
          </a:p>
        </p:txBody>
      </p:sp>
      <p:sp>
        <p:nvSpPr>
          <p:cNvPr id="1626" name="Google Shape;1626;p68"/>
          <p:cNvSpPr txBox="1"/>
          <p:nvPr>
            <p:ph idx="1" type="body"/>
          </p:nvPr>
        </p:nvSpPr>
        <p:spPr>
          <a:xfrm>
            <a:off x="107050" y="402200"/>
            <a:ext cx="8909700" cy="16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Name: </a:t>
            </a:r>
            <a:r>
              <a:rPr b="1" lang="en"/>
              <a:t>MED</a:t>
            </a:r>
            <a:r>
              <a:rPr lang="en"/>
              <a:t>.     Value: A number, </a:t>
            </a:r>
            <a:r>
              <a:rPr i="1" lang="en"/>
              <a:t>lower</a:t>
            </a:r>
            <a:r>
              <a:rPr lang="en"/>
              <a:t> is better.</a:t>
            </a:r>
            <a:br>
              <a:rPr lang="en"/>
            </a:br>
            <a:r>
              <a:rPr lang="en"/>
              <a:t>Scope: Global (included in both eBGP and iBGP announcements).</a:t>
            </a:r>
            <a:br>
              <a:rPr lang="en"/>
            </a:br>
            <a:r>
              <a:rPr lang="en"/>
              <a:t>Used when there are multiple links between ASes.</a:t>
            </a:r>
            <a:br>
              <a:rPr lang="en"/>
            </a:br>
            <a:r>
              <a:rPr lang="en"/>
              <a:t>Specifies distance from announcing router to destination.</a:t>
            </a:r>
            <a:endParaRPr/>
          </a:p>
        </p:txBody>
      </p:sp>
      <p:sp>
        <p:nvSpPr>
          <p:cNvPr id="1627" name="Google Shape;1627;p68"/>
          <p:cNvSpPr/>
          <p:nvPr/>
        </p:nvSpPr>
        <p:spPr>
          <a:xfrm>
            <a:off x="2348675" y="2558650"/>
            <a:ext cx="4352100" cy="9372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8" name="Google Shape;1628;p68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9" name="Google Shape;1629;p68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0" name="Google Shape;1630;p68"/>
          <p:cNvCxnSpPr>
            <a:stCxn id="1628" idx="3"/>
            <a:endCxn id="1629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1" name="Google Shape;1631;p68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2" name="Google Shape;1632;p68"/>
          <p:cNvCxnSpPr>
            <a:stCxn id="1631" idx="3"/>
            <a:endCxn id="1633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3" name="Google Shape;1633;p68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4" name="Google Shape;1634;p68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5" name="Google Shape;1635;p68"/>
          <p:cNvCxnSpPr>
            <a:stCxn id="1633" idx="3"/>
            <a:endCxn id="1634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6" name="Google Shape;1636;p68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7" name="Google Shape;1637;p68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8" name="Google Shape;1638;p68"/>
          <p:cNvCxnSpPr>
            <a:stCxn id="1629" idx="3"/>
            <a:endCxn id="1636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9" name="Google Shape;1639;p68"/>
          <p:cNvCxnSpPr>
            <a:stCxn id="1634" idx="3"/>
            <a:endCxn id="1637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0" name="Google Shape;1640;p68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1" name="Google Shape;1641;p68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J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42" name="Google Shape;1642;p68"/>
          <p:cNvCxnSpPr>
            <a:stCxn id="1636" idx="3"/>
            <a:endCxn id="1640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3" name="Google Shape;1643;p68"/>
          <p:cNvCxnSpPr>
            <a:stCxn id="1637" idx="3"/>
            <a:endCxn id="1641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4" name="Google Shape;1644;p68"/>
          <p:cNvSpPr txBox="1"/>
          <p:nvPr/>
        </p:nvSpPr>
        <p:spPr>
          <a:xfrm>
            <a:off x="2348675" y="3801550"/>
            <a:ext cx="4352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AS#19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45" name="Google Shape;1645;p68"/>
          <p:cNvCxnSpPr>
            <a:stCxn id="1640" idx="2"/>
            <a:endCxn id="1641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6" name="Google Shape;1646;p68"/>
          <p:cNvCxnSpPr>
            <a:stCxn id="1640" idx="3"/>
            <a:endCxn id="1647" idx="3"/>
          </p:cNvCxnSpPr>
          <p:nvPr/>
        </p:nvCxnSpPr>
        <p:spPr>
          <a:xfrm flipH="1" rot="10800000">
            <a:off x="6524778" y="2420075"/>
            <a:ext cx="849000" cy="596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8" name="Google Shape;1648;p68"/>
          <p:cNvSpPr/>
          <p:nvPr/>
        </p:nvSpPr>
        <p:spPr>
          <a:xfrm>
            <a:off x="2488778" y="28710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49" name="Google Shape;1649;p68"/>
          <p:cNvCxnSpPr>
            <a:stCxn id="1648" idx="3"/>
            <a:endCxn id="1628" idx="1"/>
          </p:cNvCxnSpPr>
          <p:nvPr/>
        </p:nvCxnSpPr>
        <p:spPr>
          <a:xfrm>
            <a:off x="2773778" y="3013575"/>
            <a:ext cx="652800" cy="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0" name="Google Shape;1650;p68"/>
          <p:cNvCxnSpPr>
            <a:stCxn id="1648" idx="2"/>
            <a:endCxn id="1631" idx="0"/>
          </p:cNvCxnSpPr>
          <p:nvPr/>
        </p:nvCxnSpPr>
        <p:spPr>
          <a:xfrm>
            <a:off x="2631278" y="3156075"/>
            <a:ext cx="0" cy="93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1" name="Google Shape;1651;p68"/>
          <p:cNvSpPr txBox="1"/>
          <p:nvPr/>
        </p:nvSpPr>
        <p:spPr>
          <a:xfrm>
            <a:off x="2348675" y="2582350"/>
            <a:ext cx="4352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AS#72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7" name="Google Shape;1647;p68"/>
          <p:cNvSpPr/>
          <p:nvPr/>
        </p:nvSpPr>
        <p:spPr>
          <a:xfrm>
            <a:off x="7075775" y="1917850"/>
            <a:ext cx="2034300" cy="5883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128.112.0.0/16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2" name="Google Shape;1652;p68"/>
          <p:cNvSpPr/>
          <p:nvPr/>
        </p:nvSpPr>
        <p:spPr>
          <a:xfrm>
            <a:off x="107050" y="2966350"/>
            <a:ext cx="2147400" cy="811500"/>
          </a:xfrm>
          <a:prstGeom prst="wedgeRoundRectCallout">
            <a:avLst>
              <a:gd fmla="val 57412" name="adj1"/>
              <a:gd fmla="val -43432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425" spcFirstLastPara="1" rIns="27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BGP Announcement: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Destination = 128.112.0.0/16 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ASPATH = [72, 25]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MED = 4</a:t>
            </a:r>
            <a:endParaRPr b="1"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3" name="Google Shape;1653;p68"/>
          <p:cNvSpPr/>
          <p:nvPr/>
        </p:nvSpPr>
        <p:spPr>
          <a:xfrm>
            <a:off x="6795000" y="3059825"/>
            <a:ext cx="2147400" cy="811500"/>
          </a:xfrm>
          <a:prstGeom prst="wedgeRoundRectCallout">
            <a:avLst>
              <a:gd fmla="val -59480" name="adj1"/>
              <a:gd fmla="val -45188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425" spcFirstLastPara="1" rIns="27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eBGP Announcement: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Destination = 128.112.0.0/16 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ASPATH = [72, 25]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MED = 1</a:t>
            </a:r>
            <a:endParaRPr b="1"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6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 Policy with Attributes</a:t>
            </a:r>
            <a:endParaRPr/>
          </a:p>
        </p:txBody>
      </p:sp>
      <p:graphicFrame>
        <p:nvGraphicFramePr>
          <p:cNvPr id="1659" name="Google Shape;1659;p69"/>
          <p:cNvGraphicFramePr/>
          <p:nvPr/>
        </p:nvGraphicFramePr>
        <p:xfrm>
          <a:off x="505175" y="116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{EDF56E96-C611-46F5-A6CB-BA45FF09DDB4}</a:tableStyleId>
              </a:tblPr>
              <a:tblGrid>
                <a:gridCol w="833675"/>
                <a:gridCol w="2442175"/>
                <a:gridCol w="2185150"/>
                <a:gridCol w="2672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Priority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Rule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Implementation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Goal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Gao-Rexford rules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Highest LOCAL PREF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Make/save money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Shortest path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Shortest ASPATH length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Maximize performance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Hot potato routing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Nearest egress router (lowest IGP cost)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Minimize use of my bandwidth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Multiple links: Send to router closer to destination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Smallest MED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Minimize use of other AS's bandwidth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Arbitrary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Lowest router IP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N/A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p70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BGP 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External BGP and Internal BGP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Links Between ASes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Message Types and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Route Attributes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Issues with BGP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Header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IPv4 Header Fields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IPv6 Changes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Security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665" name="Google Shape;1665;p70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 with BGP</a:t>
            </a:r>
            <a:endParaRPr/>
          </a:p>
        </p:txBody>
      </p:sp>
      <p:sp>
        <p:nvSpPr>
          <p:cNvPr id="1666" name="Google Shape;1666;p70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9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7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 with BGP</a:t>
            </a:r>
            <a:endParaRPr/>
          </a:p>
        </p:txBody>
      </p:sp>
      <p:sp>
        <p:nvSpPr>
          <p:cNvPr id="1672" name="Google Shape;1672;p7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Security: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guarantee that an AS owns the prefixes it advertises.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guarantee that an AS will follow the path it advertises.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Performance trade-offs: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Policy-based paths are not always least-cost.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path </a:t>
            </a:r>
            <a:r>
              <a:rPr lang="en"/>
              <a:t>length</a:t>
            </a:r>
            <a:r>
              <a:rPr lang="en"/>
              <a:t> can be misleading (path inside an AS could be 1 hop or 100 hops).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Complicated and prone to misconfiguration: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BGP attributes. Configuration is often manual and ad-hoc.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BGP misconfiguration is a major source of Internet outages!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Invalid routes: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Reachability and convergence are not guaranteed without Gao-Rexford.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p72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BGP Implementation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External BGP and Internal BGP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Links Between ASes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Message Types and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Route Attributes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Issues with BGP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 Header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IPv4 Header Fields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IPv6 Changes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Security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678" name="Google Shape;1678;p72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IPv4 Header Fields</a:t>
            </a:r>
            <a:endParaRPr/>
          </a:p>
        </p:txBody>
      </p:sp>
      <p:sp>
        <p:nvSpPr>
          <p:cNvPr id="1679" name="Google Shape;1679;p72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9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p7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Introducing the IP Header</a:t>
            </a:r>
            <a:endParaRPr/>
          </a:p>
        </p:txBody>
      </p:sp>
      <p:graphicFrame>
        <p:nvGraphicFramePr>
          <p:cNvPr id="1685" name="Google Shape;1685;p73"/>
          <p:cNvGraphicFramePr/>
          <p:nvPr/>
        </p:nvGraphicFramePr>
        <p:xfrm>
          <a:off x="750600" y="294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{EDF56E96-C611-46F5-A6CB-BA45FF09DDB4}</a:tableStyleId>
              </a:tblPr>
              <a:tblGrid>
                <a:gridCol w="952825"/>
                <a:gridCol w="952825"/>
                <a:gridCol w="952825"/>
                <a:gridCol w="952825"/>
                <a:gridCol w="791400"/>
                <a:gridCol w="1114250"/>
                <a:gridCol w="952825"/>
                <a:gridCol w="952825"/>
              </a:tblGrid>
              <a:tr h="296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</a:tr>
              <a:tr h="2969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1686" name="Google Shape;1686;p73"/>
          <p:cNvSpPr txBox="1"/>
          <p:nvPr>
            <p:ph idx="1" type="body"/>
          </p:nvPr>
        </p:nvSpPr>
        <p:spPr>
          <a:xfrm>
            <a:off x="107050" y="402200"/>
            <a:ext cx="8909700" cy="13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goal: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Understand all of the fields in this header.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Understand the design choices in making this header.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0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7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 Header Design Goals</a:t>
            </a:r>
            <a:endParaRPr/>
          </a:p>
        </p:txBody>
      </p:sp>
      <p:sp>
        <p:nvSpPr>
          <p:cNvPr id="1692" name="Google Shape;1692;p7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Think of the IP header as an interface.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Allows the source and intermediate routers to exchange information.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Allows the source and destination to exchange information.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Design goals: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Small. A larger IP header makes every single packet larger.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Simple. Routers have to process packets quickly.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fields are in the IP header?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depends on what tasks IP needs to perform.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6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p7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 Tasks</a:t>
            </a:r>
            <a:endParaRPr/>
          </a:p>
        </p:txBody>
      </p:sp>
      <p:sp>
        <p:nvSpPr>
          <p:cNvPr id="1698" name="Google Shape;1698;p7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IP functionality can be classified into 6 tasks.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Some tasks are done by only routers or the destination host. Others are done by both.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Parse the packet. </a:t>
            </a:r>
            <a:r>
              <a:rPr lang="en" sz="1400">
                <a:solidFill>
                  <a:schemeClr val="accent3"/>
                </a:solidFill>
              </a:rPr>
              <a:t>(both router and destination)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Forward packet to the next hop. </a:t>
            </a:r>
            <a:r>
              <a:rPr lang="en" sz="1400">
                <a:solidFill>
                  <a:schemeClr val="accent3"/>
                </a:solidFill>
              </a:rPr>
              <a:t>(router only)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Tell the destination what to do next. </a:t>
            </a:r>
            <a:r>
              <a:rPr lang="en" sz="1400">
                <a:solidFill>
                  <a:schemeClr val="accent3"/>
                </a:solidFill>
              </a:rPr>
              <a:t>(destination only)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Send responses back to the source. </a:t>
            </a:r>
            <a:r>
              <a:rPr lang="en"/>
              <a:t> </a:t>
            </a:r>
            <a:r>
              <a:rPr lang="en" sz="1400">
                <a:solidFill>
                  <a:schemeClr val="accent3"/>
                </a:solidFill>
              </a:rPr>
              <a:t>(both router and destination)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Handle errors.</a:t>
            </a:r>
            <a:r>
              <a:rPr lang="en"/>
              <a:t> </a:t>
            </a:r>
            <a:r>
              <a:rPr lang="en" sz="1400">
                <a:solidFill>
                  <a:schemeClr val="accent3"/>
                </a:solidFill>
              </a:rPr>
              <a:t>(both router and destination)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Specify any </a:t>
            </a:r>
            <a:r>
              <a:rPr lang="en"/>
              <a:t>special</a:t>
            </a:r>
            <a:r>
              <a:rPr lang="en"/>
              <a:t> packet handling. </a:t>
            </a:r>
            <a:r>
              <a:rPr lang="en" sz="1400">
                <a:solidFill>
                  <a:schemeClr val="accent3"/>
                </a:solidFill>
              </a:rPr>
              <a:t>(both router and destination)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2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p7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#1: Parse the Packet</a:t>
            </a:r>
            <a:endParaRPr/>
          </a:p>
        </p:txBody>
      </p:sp>
      <p:sp>
        <p:nvSpPr>
          <p:cNvPr id="1704" name="Google Shape;1704;p76"/>
          <p:cNvSpPr txBox="1"/>
          <p:nvPr>
            <p:ph idx="1" type="body"/>
          </p:nvPr>
        </p:nvSpPr>
        <p:spPr>
          <a:xfrm>
            <a:off x="107050" y="402200"/>
            <a:ext cx="8909700" cy="13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Version: What version of IP?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Header length (measured in 4-byte words): Where does the header end?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Total length (measured in bytes): Where does the packet end?</a:t>
            </a:r>
            <a:endParaRPr/>
          </a:p>
        </p:txBody>
      </p:sp>
      <p:graphicFrame>
        <p:nvGraphicFramePr>
          <p:cNvPr id="1705" name="Google Shape;1705;p76"/>
          <p:cNvGraphicFramePr/>
          <p:nvPr/>
        </p:nvGraphicFramePr>
        <p:xfrm>
          <a:off x="750600" y="294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{EDF56E96-C611-46F5-A6CB-BA45FF09DDB4}</a:tableStyleId>
              </a:tblPr>
              <a:tblGrid>
                <a:gridCol w="952825"/>
                <a:gridCol w="952825"/>
                <a:gridCol w="952825"/>
                <a:gridCol w="952825"/>
                <a:gridCol w="791400"/>
                <a:gridCol w="1114250"/>
                <a:gridCol w="952825"/>
                <a:gridCol w="952825"/>
              </a:tblGrid>
              <a:tr h="296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</a:tr>
              <a:tr h="2969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7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#2: Forward Packet to Next Hop</a:t>
            </a:r>
            <a:endParaRPr/>
          </a:p>
        </p:txBody>
      </p:sp>
      <p:sp>
        <p:nvSpPr>
          <p:cNvPr id="1711" name="Google Shape;1711;p77"/>
          <p:cNvSpPr txBox="1"/>
          <p:nvPr>
            <p:ph idx="1" type="body"/>
          </p:nvPr>
        </p:nvSpPr>
        <p:spPr>
          <a:xfrm>
            <a:off x="107050" y="402200"/>
            <a:ext cx="8909700" cy="13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Destination IP address.</a:t>
            </a:r>
            <a:endParaRPr/>
          </a:p>
        </p:txBody>
      </p:sp>
      <p:graphicFrame>
        <p:nvGraphicFramePr>
          <p:cNvPr id="1712" name="Google Shape;1712;p77"/>
          <p:cNvGraphicFramePr/>
          <p:nvPr/>
        </p:nvGraphicFramePr>
        <p:xfrm>
          <a:off x="750600" y="294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{EDF56E96-C611-46F5-A6CB-BA45FF09DDB4}</a:tableStyleId>
              </a:tblPr>
              <a:tblGrid>
                <a:gridCol w="952825"/>
                <a:gridCol w="952825"/>
                <a:gridCol w="952825"/>
                <a:gridCol w="952825"/>
                <a:gridCol w="791400"/>
                <a:gridCol w="1114250"/>
                <a:gridCol w="952825"/>
                <a:gridCol w="952825"/>
              </a:tblGrid>
              <a:tr h="296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</a:tr>
              <a:tr h="2969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6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1717;p7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Task #3: Tell Destination What to Do Next</a:t>
            </a:r>
            <a:endParaRPr/>
          </a:p>
        </p:txBody>
      </p:sp>
      <p:sp>
        <p:nvSpPr>
          <p:cNvPr id="1718" name="Google Shape;1718;p78"/>
          <p:cNvSpPr txBox="1"/>
          <p:nvPr>
            <p:ph idx="1" type="body"/>
          </p:nvPr>
        </p:nvSpPr>
        <p:spPr>
          <a:xfrm>
            <a:off x="107050" y="402200"/>
            <a:ext cx="8909700" cy="13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Protocol field: Identify the Layer 4 protocol to pass the payload to.</a:t>
            </a:r>
            <a:endParaRPr/>
          </a:p>
        </p:txBody>
      </p:sp>
      <p:graphicFrame>
        <p:nvGraphicFramePr>
          <p:cNvPr id="1719" name="Google Shape;1719;p78"/>
          <p:cNvGraphicFramePr/>
          <p:nvPr/>
        </p:nvGraphicFramePr>
        <p:xfrm>
          <a:off x="750600" y="294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{EDF56E96-C611-46F5-A6CB-BA45FF09DDB4}</a:tableStyleId>
              </a:tblPr>
              <a:tblGrid>
                <a:gridCol w="952825"/>
                <a:gridCol w="952825"/>
                <a:gridCol w="952825"/>
                <a:gridCol w="952825"/>
                <a:gridCol w="791400"/>
                <a:gridCol w="1114250"/>
                <a:gridCol w="952825"/>
                <a:gridCol w="952825"/>
              </a:tblGrid>
              <a:tr h="296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</a:tr>
              <a:tr h="2969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7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#3: Tell Destination What to Do Next</a:t>
            </a:r>
            <a:endParaRPr/>
          </a:p>
        </p:txBody>
      </p:sp>
      <p:sp>
        <p:nvSpPr>
          <p:cNvPr id="1725" name="Google Shape;1725;p79"/>
          <p:cNvSpPr txBox="1"/>
          <p:nvPr>
            <p:ph idx="1" type="body"/>
          </p:nvPr>
        </p:nvSpPr>
        <p:spPr>
          <a:xfrm>
            <a:off x="107050" y="402200"/>
            <a:ext cx="6909900" cy="1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need to indicate which protocol should handle the packet next.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De-multiplexing: Picking one of several possible L4 protocols.</a:t>
            </a:r>
            <a:endParaRPr/>
          </a:p>
        </p:txBody>
      </p:sp>
      <p:sp>
        <p:nvSpPr>
          <p:cNvPr id="1726" name="Google Shape;1726;p79"/>
          <p:cNvSpPr/>
          <p:nvPr/>
        </p:nvSpPr>
        <p:spPr>
          <a:xfrm>
            <a:off x="788075" y="1453900"/>
            <a:ext cx="1683900" cy="77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Header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7" name="Google Shape;1727;p79"/>
          <p:cNvSpPr/>
          <p:nvPr/>
        </p:nvSpPr>
        <p:spPr>
          <a:xfrm>
            <a:off x="788075" y="2230850"/>
            <a:ext cx="1683900" cy="17280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8" name="Google Shape;1728;p79"/>
          <p:cNvSpPr txBox="1"/>
          <p:nvPr/>
        </p:nvSpPr>
        <p:spPr>
          <a:xfrm>
            <a:off x="447875" y="4093625"/>
            <a:ext cx="2364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Without the protocol field, we have no idea what to do with the bits in red.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9" name="Google Shape;1729;p79"/>
          <p:cNvSpPr/>
          <p:nvPr/>
        </p:nvSpPr>
        <p:spPr>
          <a:xfrm>
            <a:off x="3418350" y="1453888"/>
            <a:ext cx="1683900" cy="77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Header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Protocol = 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0" name="Google Shape;1730;p79"/>
          <p:cNvSpPr/>
          <p:nvPr/>
        </p:nvSpPr>
        <p:spPr>
          <a:xfrm>
            <a:off x="3418350" y="2659797"/>
            <a:ext cx="1683900" cy="1299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1" name="Google Shape;1731;p79"/>
          <p:cNvSpPr txBox="1"/>
          <p:nvPr/>
        </p:nvSpPr>
        <p:spPr>
          <a:xfrm>
            <a:off x="2979300" y="4093625"/>
            <a:ext cx="256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we see protocol = 6: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Pass the red bits to TCP code.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2" name="Google Shape;1732;p79"/>
          <p:cNvSpPr/>
          <p:nvPr/>
        </p:nvSpPr>
        <p:spPr>
          <a:xfrm>
            <a:off x="6388825" y="1453888"/>
            <a:ext cx="1683900" cy="77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Header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Protocol = 17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3" name="Google Shape;1733;p79"/>
          <p:cNvSpPr/>
          <p:nvPr/>
        </p:nvSpPr>
        <p:spPr>
          <a:xfrm>
            <a:off x="6388825" y="2659797"/>
            <a:ext cx="1683900" cy="1299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UDP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4" name="Google Shape;1734;p79"/>
          <p:cNvSpPr/>
          <p:nvPr/>
        </p:nvSpPr>
        <p:spPr>
          <a:xfrm>
            <a:off x="3418350" y="2230898"/>
            <a:ext cx="1683900" cy="429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5" name="Google Shape;1735;p79"/>
          <p:cNvSpPr/>
          <p:nvPr/>
        </p:nvSpPr>
        <p:spPr>
          <a:xfrm>
            <a:off x="6388825" y="2230898"/>
            <a:ext cx="1683900" cy="429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UDP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6" name="Google Shape;1736;p79"/>
          <p:cNvSpPr txBox="1"/>
          <p:nvPr/>
        </p:nvSpPr>
        <p:spPr>
          <a:xfrm>
            <a:off x="5894725" y="4093625"/>
            <a:ext cx="267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we see protocol = 17: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Pass the red bits to UDP code.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p8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Task #4: Send Responses Back to Source</a:t>
            </a:r>
            <a:endParaRPr/>
          </a:p>
        </p:txBody>
      </p:sp>
      <p:sp>
        <p:nvSpPr>
          <p:cNvPr id="1742" name="Google Shape;1742;p80"/>
          <p:cNvSpPr txBox="1"/>
          <p:nvPr>
            <p:ph idx="1" type="body"/>
          </p:nvPr>
        </p:nvSpPr>
        <p:spPr>
          <a:xfrm>
            <a:off x="107050" y="402200"/>
            <a:ext cx="8909700" cy="15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Source IP address.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Note: We said both the router and destination might do this.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router might want to send a response back to the source too</a:t>
            </a:r>
            <a:br>
              <a:rPr lang="en"/>
            </a:br>
            <a:r>
              <a:rPr lang="en"/>
              <a:t>(e.g. if an error occurs).</a:t>
            </a:r>
            <a:endParaRPr/>
          </a:p>
        </p:txBody>
      </p:sp>
      <p:graphicFrame>
        <p:nvGraphicFramePr>
          <p:cNvPr id="1743" name="Google Shape;1743;p80"/>
          <p:cNvGraphicFramePr/>
          <p:nvPr/>
        </p:nvGraphicFramePr>
        <p:xfrm>
          <a:off x="750600" y="294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{EDF56E96-C611-46F5-A6CB-BA45FF09DDB4}</a:tableStyleId>
              </a:tblPr>
              <a:tblGrid>
                <a:gridCol w="952825"/>
                <a:gridCol w="952825"/>
                <a:gridCol w="952825"/>
                <a:gridCol w="952825"/>
                <a:gridCol w="791400"/>
                <a:gridCol w="1114250"/>
                <a:gridCol w="952825"/>
                <a:gridCol w="952825"/>
              </a:tblGrid>
              <a:tr h="296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</a:tr>
              <a:tr h="2969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8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Task #5: Handle Errors: TTL</a:t>
            </a:r>
            <a:endParaRPr/>
          </a:p>
        </p:txBody>
      </p:sp>
      <p:sp>
        <p:nvSpPr>
          <p:cNvPr id="1749" name="Google Shape;1749;p81"/>
          <p:cNvSpPr txBox="1"/>
          <p:nvPr>
            <p:ph idx="1" type="body"/>
          </p:nvPr>
        </p:nvSpPr>
        <p:spPr>
          <a:xfrm>
            <a:off x="107050" y="402200"/>
            <a:ext cx="8909700" cy="23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Forwarding loops cause packets to cycle indefinitely. Wastes bandwidth.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Time-to-live (TTL): Specifies maximum number of hops a packet can take.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TTL is decremented at every hop by the router.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router receives packet with TTL 1: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Discard packet.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Send a "time exceeded" message back to the source.</a:t>
            </a:r>
            <a:endParaRPr/>
          </a:p>
        </p:txBody>
      </p:sp>
      <p:graphicFrame>
        <p:nvGraphicFramePr>
          <p:cNvPr id="1750" name="Google Shape;1750;p81"/>
          <p:cNvGraphicFramePr/>
          <p:nvPr/>
        </p:nvGraphicFramePr>
        <p:xfrm>
          <a:off x="750600" y="294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{EDF56E96-C611-46F5-A6CB-BA45FF09DDB4}</a:tableStyleId>
              </a:tblPr>
              <a:tblGrid>
                <a:gridCol w="952825"/>
                <a:gridCol w="952825"/>
                <a:gridCol w="952825"/>
                <a:gridCol w="952825"/>
                <a:gridCol w="791400"/>
                <a:gridCol w="1114250"/>
                <a:gridCol w="952825"/>
                <a:gridCol w="952825"/>
              </a:tblGrid>
              <a:tr h="296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</a:tr>
              <a:tr h="2969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4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p8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Task #5: Handle Errors: Checksum</a:t>
            </a:r>
            <a:endParaRPr/>
          </a:p>
        </p:txBody>
      </p:sp>
      <p:sp>
        <p:nvSpPr>
          <p:cNvPr id="1756" name="Google Shape;1756;p82"/>
          <p:cNvSpPr txBox="1"/>
          <p:nvPr>
            <p:ph idx="1" type="body"/>
          </p:nvPr>
        </p:nvSpPr>
        <p:spPr>
          <a:xfrm>
            <a:off x="107050" y="402200"/>
            <a:ext cx="8909700" cy="23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The packet could get corrupted in transit.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Checksum: Small number of bits used to verify that data hasn't been corrupted.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checksum is incorrect, router/destination discards packet.</a:t>
            </a:r>
            <a:endParaRPr/>
          </a:p>
        </p:txBody>
      </p:sp>
      <p:graphicFrame>
        <p:nvGraphicFramePr>
          <p:cNvPr id="1757" name="Google Shape;1757;p82"/>
          <p:cNvGraphicFramePr/>
          <p:nvPr/>
        </p:nvGraphicFramePr>
        <p:xfrm>
          <a:off x="750600" y="294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{EDF56E96-C611-46F5-A6CB-BA45FF09DDB4}</a:tableStyleId>
              </a:tblPr>
              <a:tblGrid>
                <a:gridCol w="952825"/>
                <a:gridCol w="952825"/>
                <a:gridCol w="952825"/>
                <a:gridCol w="952825"/>
                <a:gridCol w="791400"/>
                <a:gridCol w="1114250"/>
                <a:gridCol w="952825"/>
                <a:gridCol w="952825"/>
              </a:tblGrid>
              <a:tr h="296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</a:tr>
              <a:tr h="2969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p8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Task #5: Handle Errors: Checksum</a:t>
            </a:r>
            <a:endParaRPr/>
          </a:p>
        </p:txBody>
      </p:sp>
      <p:sp>
        <p:nvSpPr>
          <p:cNvPr id="1763" name="Google Shape;1763;p8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checksum is only computed on the IP header, not the payload.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IP header can't detect the </a:t>
            </a:r>
            <a:r>
              <a:rPr lang="en"/>
              <a:t>payload</a:t>
            </a:r>
            <a:r>
              <a:rPr lang="en"/>
              <a:t> being corrupted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this design? End-to-end principle.</a:t>
            </a:r>
            <a:br>
              <a:rPr lang="en"/>
            </a:br>
            <a:r>
              <a:rPr lang="en"/>
              <a:t>The </a:t>
            </a:r>
            <a:r>
              <a:rPr lang="en"/>
              <a:t>payload</a:t>
            </a:r>
            <a:r>
              <a:rPr lang="en"/>
              <a:t> should be checked by the end hosts, not intermediate routers.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checksum has to be updated at every router.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Why? B</a:t>
            </a:r>
            <a:r>
              <a:rPr lang="en"/>
              <a:t>ecause the TTL changes.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Alternate design: Don't include the TTL in the checksum.</a:t>
            </a:r>
            <a:br>
              <a:rPr lang="en"/>
            </a:br>
            <a:r>
              <a:rPr lang="en"/>
              <a:t>Now, routers don't have to recompute checksum (less work for routers).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8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Task #5: Handle Errors: Fragmentation</a:t>
            </a:r>
            <a:endParaRPr/>
          </a:p>
        </p:txBody>
      </p:sp>
      <p:sp>
        <p:nvSpPr>
          <p:cNvPr id="1769" name="Google Shape;1769;p84"/>
          <p:cNvSpPr txBox="1"/>
          <p:nvPr>
            <p:ph idx="1" type="body"/>
          </p:nvPr>
        </p:nvSpPr>
        <p:spPr>
          <a:xfrm>
            <a:off x="107050" y="402200"/>
            <a:ext cx="8909700" cy="23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The packet might be too large for a link.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 link has a </a:t>
            </a:r>
            <a:r>
              <a:rPr b="1" lang="en"/>
              <a:t>Maximum Transmission Unit (MTU)</a:t>
            </a:r>
            <a:r>
              <a:rPr lang="en"/>
              <a:t>:</a:t>
            </a:r>
            <a:br>
              <a:rPr lang="en"/>
            </a:br>
            <a:r>
              <a:rPr lang="en"/>
              <a:t>Largest number of bits the link can carry as one unit.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packet size exceeds a link's MTU, the router must split the packet into multiple </a:t>
            </a:r>
            <a:r>
              <a:rPr b="1" lang="en"/>
              <a:t>fragments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the host has to reassemble the fragments to recover the original packet.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3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p8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Task #5: Handle Errors: Fragmentation</a:t>
            </a:r>
            <a:endParaRPr/>
          </a:p>
        </p:txBody>
      </p:sp>
      <p:sp>
        <p:nvSpPr>
          <p:cNvPr id="1775" name="Google Shape;1775;p85"/>
          <p:cNvSpPr txBox="1"/>
          <p:nvPr>
            <p:ph idx="1" type="body"/>
          </p:nvPr>
        </p:nvSpPr>
        <p:spPr>
          <a:xfrm>
            <a:off x="107050" y="402200"/>
            <a:ext cx="8909700" cy="24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The packet might be too large for a link.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ID: Each fragment of the same packet has the same ID.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Flags (3 bits, 1 bit unused):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DF: Don't Fragment. If this packet is too large, just drop it.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MF: More Fragments. There's more data after this fragment.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Offset: Identifies which bytes of the original packet are in this fragment.</a:t>
            </a:r>
            <a:endParaRPr/>
          </a:p>
        </p:txBody>
      </p:sp>
      <p:graphicFrame>
        <p:nvGraphicFramePr>
          <p:cNvPr id="1776" name="Google Shape;1776;p85"/>
          <p:cNvGraphicFramePr/>
          <p:nvPr/>
        </p:nvGraphicFramePr>
        <p:xfrm>
          <a:off x="750600" y="294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{EDF56E96-C611-46F5-A6CB-BA45FF09DDB4}</a:tableStyleId>
              </a:tblPr>
              <a:tblGrid>
                <a:gridCol w="952825"/>
                <a:gridCol w="952825"/>
                <a:gridCol w="952825"/>
                <a:gridCol w="952825"/>
                <a:gridCol w="791400"/>
                <a:gridCol w="1114250"/>
                <a:gridCol w="952825"/>
                <a:gridCol w="952825"/>
              </a:tblGrid>
              <a:tr h="296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</a:tr>
              <a:tr h="2969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0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p8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Task #5: Handle Errors: Fragmentation</a:t>
            </a:r>
            <a:endParaRPr/>
          </a:p>
        </p:txBody>
      </p:sp>
      <p:sp>
        <p:nvSpPr>
          <p:cNvPr id="1782" name="Google Shape;1782;p86"/>
          <p:cNvSpPr/>
          <p:nvPr/>
        </p:nvSpPr>
        <p:spPr>
          <a:xfrm>
            <a:off x="3146850" y="574700"/>
            <a:ext cx="1330500" cy="103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Header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ID: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DF = F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MF = F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Offset: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3" name="Google Shape;1783;p86"/>
          <p:cNvSpPr/>
          <p:nvPr/>
        </p:nvSpPr>
        <p:spPr>
          <a:xfrm>
            <a:off x="181051" y="1918200"/>
            <a:ext cx="1330500" cy="103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Header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ID: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25930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DF = F, MF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T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Offset: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4" name="Google Shape;1784;p86"/>
          <p:cNvSpPr/>
          <p:nvPr/>
        </p:nvSpPr>
        <p:spPr>
          <a:xfrm>
            <a:off x="1511550" y="1918200"/>
            <a:ext cx="1495200" cy="1033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Payload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(Bytes 0~1000)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5" name="Google Shape;1785;p86"/>
          <p:cNvSpPr/>
          <p:nvPr/>
        </p:nvSpPr>
        <p:spPr>
          <a:xfrm>
            <a:off x="4489655" y="1918200"/>
            <a:ext cx="1495200" cy="1033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Payload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(Bytes 1000~2000)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6" name="Google Shape;1786;p86"/>
          <p:cNvSpPr/>
          <p:nvPr/>
        </p:nvSpPr>
        <p:spPr>
          <a:xfrm>
            <a:off x="3159151" y="1918200"/>
            <a:ext cx="1330500" cy="103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Header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ID: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25930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DF = F, MF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T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Offset: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125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7" name="Google Shape;1787;p86"/>
          <p:cNvSpPr/>
          <p:nvPr/>
        </p:nvSpPr>
        <p:spPr>
          <a:xfrm>
            <a:off x="7467760" y="1918200"/>
            <a:ext cx="1495200" cy="1033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Payload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(Bytes 2000~3000)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8" name="Google Shape;1788;p86"/>
          <p:cNvSpPr/>
          <p:nvPr/>
        </p:nvSpPr>
        <p:spPr>
          <a:xfrm>
            <a:off x="6137251" y="1918200"/>
            <a:ext cx="1330500" cy="103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Header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ID: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25930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DF = F, MF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F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Offset: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250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9" name="Google Shape;1789;p86"/>
          <p:cNvSpPr/>
          <p:nvPr/>
        </p:nvSpPr>
        <p:spPr>
          <a:xfrm>
            <a:off x="4477350" y="574700"/>
            <a:ext cx="4485600" cy="1033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Payload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(Bytes 0~3000)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0" name="Google Shape;1790;p86"/>
          <p:cNvCxnSpPr>
            <a:stCxn id="1791" idx="0"/>
          </p:cNvCxnSpPr>
          <p:nvPr/>
        </p:nvCxnSpPr>
        <p:spPr>
          <a:xfrm rot="10800000">
            <a:off x="1355200" y="2637925"/>
            <a:ext cx="1980000" cy="9702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1" name="Google Shape;1791;p86"/>
          <p:cNvSpPr txBox="1"/>
          <p:nvPr/>
        </p:nvSpPr>
        <p:spPr>
          <a:xfrm>
            <a:off x="2098450" y="3608125"/>
            <a:ext cx="24735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More Fragments = True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on all but the last fragment.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2" name="Google Shape;1792;p86"/>
          <p:cNvCxnSpPr>
            <a:stCxn id="1791" idx="0"/>
          </p:cNvCxnSpPr>
          <p:nvPr/>
        </p:nvCxnSpPr>
        <p:spPr>
          <a:xfrm flipH="1" rot="10800000">
            <a:off x="3335200" y="2695225"/>
            <a:ext cx="942900" cy="9129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3" name="Google Shape;1793;p86"/>
          <p:cNvSpPr txBox="1"/>
          <p:nvPr/>
        </p:nvSpPr>
        <p:spPr>
          <a:xfrm>
            <a:off x="297750" y="953050"/>
            <a:ext cx="2070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Don't Fragment = False allows us to 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fragment.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4" name="Google Shape;1794;p86"/>
          <p:cNvCxnSpPr>
            <a:stCxn id="1793" idx="3"/>
          </p:cNvCxnSpPr>
          <p:nvPr/>
        </p:nvCxnSpPr>
        <p:spPr>
          <a:xfrm>
            <a:off x="2367750" y="1196200"/>
            <a:ext cx="7791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5" name="Google Shape;1795;p86"/>
          <p:cNvSpPr txBox="1"/>
          <p:nvPr/>
        </p:nvSpPr>
        <p:spPr>
          <a:xfrm>
            <a:off x="6961125" y="3989125"/>
            <a:ext cx="2019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More Fragments = False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on the last fragment.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6" name="Google Shape;1796;p86"/>
          <p:cNvCxnSpPr>
            <a:stCxn id="1795" idx="0"/>
          </p:cNvCxnSpPr>
          <p:nvPr/>
        </p:nvCxnSpPr>
        <p:spPr>
          <a:xfrm rot="10800000">
            <a:off x="7274325" y="2678725"/>
            <a:ext cx="696600" cy="13104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7" name="Google Shape;1797;p86"/>
          <p:cNvSpPr txBox="1"/>
          <p:nvPr/>
        </p:nvSpPr>
        <p:spPr>
          <a:xfrm>
            <a:off x="4887675" y="3725150"/>
            <a:ext cx="17577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Offset measured in multiples of 8 bytes. 1000 / 8 = 125.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2000 / 8 = 250.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8" name="Google Shape;1798;p86"/>
          <p:cNvCxnSpPr>
            <a:stCxn id="1797" idx="0"/>
          </p:cNvCxnSpPr>
          <p:nvPr/>
        </p:nvCxnSpPr>
        <p:spPr>
          <a:xfrm rot="10800000">
            <a:off x="4115325" y="2901350"/>
            <a:ext cx="1651200" cy="8238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9" name="Google Shape;1799;p86"/>
          <p:cNvCxnSpPr>
            <a:stCxn id="1797" idx="0"/>
          </p:cNvCxnSpPr>
          <p:nvPr/>
        </p:nvCxnSpPr>
        <p:spPr>
          <a:xfrm flipH="1" rot="10800000">
            <a:off x="5766525" y="2907350"/>
            <a:ext cx="805800" cy="8178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00" name="Google Shape;1800;p86"/>
          <p:cNvSpPr txBox="1"/>
          <p:nvPr/>
        </p:nvSpPr>
        <p:spPr>
          <a:xfrm>
            <a:off x="181050" y="4329300"/>
            <a:ext cx="1896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IP header size = 20 bytes, </a:t>
            </a: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payload</a:t>
            </a: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size = 1000 bytes. Extremely not to scale.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1" name="Google Shape;1801;p86"/>
          <p:cNvSpPr txBox="1"/>
          <p:nvPr/>
        </p:nvSpPr>
        <p:spPr>
          <a:xfrm>
            <a:off x="181050" y="3278850"/>
            <a:ext cx="14601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Same ID on each fragment of this packet.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02" name="Google Shape;1802;p86"/>
          <p:cNvCxnSpPr>
            <a:stCxn id="1801" idx="0"/>
          </p:cNvCxnSpPr>
          <p:nvPr/>
        </p:nvCxnSpPr>
        <p:spPr>
          <a:xfrm rot="10800000">
            <a:off x="795000" y="2432850"/>
            <a:ext cx="116100" cy="8460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8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Task #6: Specify Special Packet Handling</a:t>
            </a:r>
            <a:endParaRPr/>
          </a:p>
        </p:txBody>
      </p:sp>
      <p:sp>
        <p:nvSpPr>
          <p:cNvPr id="1808" name="Google Shape;1808;p87"/>
          <p:cNvSpPr txBox="1"/>
          <p:nvPr>
            <p:ph idx="1" type="body"/>
          </p:nvPr>
        </p:nvSpPr>
        <p:spPr>
          <a:xfrm>
            <a:off x="107050" y="402200"/>
            <a:ext cx="8909700" cy="24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Type of Service: Treat packets differently depending on application/customer needs.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Options: Request advanced functionality for this packet.</a:t>
            </a:r>
            <a:endParaRPr/>
          </a:p>
        </p:txBody>
      </p:sp>
      <p:graphicFrame>
        <p:nvGraphicFramePr>
          <p:cNvPr id="1809" name="Google Shape;1809;p87"/>
          <p:cNvGraphicFramePr/>
          <p:nvPr/>
        </p:nvGraphicFramePr>
        <p:xfrm>
          <a:off x="750600" y="294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{EDF56E96-C611-46F5-A6CB-BA45FF09DDB4}</a:tableStyleId>
              </a:tblPr>
              <a:tblGrid>
                <a:gridCol w="952825"/>
                <a:gridCol w="952825"/>
                <a:gridCol w="952825"/>
                <a:gridCol w="952825"/>
                <a:gridCol w="791400"/>
                <a:gridCol w="1114250"/>
                <a:gridCol w="952825"/>
                <a:gridCol w="952825"/>
              </a:tblGrid>
              <a:tr h="296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b="1"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</a:tr>
              <a:tr h="2969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3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p8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Task #6: Specify Special Packet Handling</a:t>
            </a:r>
            <a:endParaRPr/>
          </a:p>
        </p:txBody>
      </p:sp>
      <p:sp>
        <p:nvSpPr>
          <p:cNvPr id="1815" name="Google Shape;1815;p8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Type of Service: Treat packets differently depending on application/customer needs.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Original idea: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Request different forms of delivery depending on these bits.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Based on priority, delay, throughput, reliability, cost,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bits were frequently re-defined and never fully deployed.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Only the notion of priorities remained.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Modern usage: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Differentiated Services Code Point (DSCP): Defines "classes" of traffic.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Explicit Congestion Notification (ECN): Used in congestion control (coming soon).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9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p8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Task #6: Specify Special Packet Handling</a:t>
            </a:r>
            <a:endParaRPr/>
          </a:p>
        </p:txBody>
      </p:sp>
      <p:sp>
        <p:nvSpPr>
          <p:cNvPr id="1821" name="Google Shape;1821;p8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Options: Request advanced functionality for this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Record Route: Tell me the path that this packet took (useful for diagnostics).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Source Route: Send the packet along the route I provide.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Timestamp: Record when each router processes this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Options lead to more complex implementation.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Options are variable-length, so routers have to check header length.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Higher processing overhead for routers.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On the modern Internet, we avoid options when possible.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p9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Introducing the IP Header</a:t>
            </a:r>
            <a:endParaRPr/>
          </a:p>
        </p:txBody>
      </p:sp>
      <p:graphicFrame>
        <p:nvGraphicFramePr>
          <p:cNvPr id="1827" name="Google Shape;1827;p90"/>
          <p:cNvGraphicFramePr/>
          <p:nvPr/>
        </p:nvGraphicFramePr>
        <p:xfrm>
          <a:off x="750600" y="294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{EDF56E96-C611-46F5-A6CB-BA45FF09DDB4}</a:tableStyleId>
              </a:tblPr>
              <a:tblGrid>
                <a:gridCol w="952825"/>
                <a:gridCol w="952825"/>
                <a:gridCol w="952825"/>
                <a:gridCol w="952825"/>
                <a:gridCol w="791400"/>
                <a:gridCol w="1114250"/>
                <a:gridCol w="952825"/>
                <a:gridCol w="952825"/>
              </a:tblGrid>
              <a:tr h="296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4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D2E9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4CCCC"/>
                    </a:solidFill>
                  </a:tcPr>
                </a:tc>
                <a:tc hMerge="1"/>
                <a:tc hMerge="1"/>
                <a:tc hMerge="1"/>
              </a:tr>
              <a:tr h="2969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C9DAF8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C9DAF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C9DAF8"/>
                    </a:solidFill>
                  </a:tcPr>
                </a:tc>
                <a:tc hMerge="1"/>
                <a:tc hMerge="1"/>
              </a:tr>
              <a:tr h="2969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C9DAF8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EAD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C9DAF8"/>
                    </a:solidFill>
                  </a:tcPr>
                </a:tc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EAD1D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CE5CD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D2E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1828" name="Google Shape;1828;p90"/>
          <p:cNvSpPr txBox="1"/>
          <p:nvPr>
            <p:ph idx="1" type="body"/>
          </p:nvPr>
        </p:nvSpPr>
        <p:spPr>
          <a:xfrm>
            <a:off x="107050" y="402200"/>
            <a:ext cx="8909700" cy="23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F4CCCC"/>
                </a:highlight>
              </a:rPr>
              <a:t>Parse the packet.</a:t>
            </a:r>
            <a:r>
              <a:rPr lang="en"/>
              <a:t> </a:t>
            </a:r>
            <a:r>
              <a:rPr lang="en" sz="1400">
                <a:solidFill>
                  <a:schemeClr val="accent3"/>
                </a:solidFill>
              </a:rPr>
              <a:t>(both router and destination)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FCE5CD"/>
                </a:highlight>
              </a:rPr>
              <a:t>Forward packet to the next hop.</a:t>
            </a:r>
            <a:r>
              <a:rPr lang="en"/>
              <a:t> </a:t>
            </a:r>
            <a:r>
              <a:rPr lang="en" sz="1400">
                <a:solidFill>
                  <a:schemeClr val="accent3"/>
                </a:solidFill>
              </a:rPr>
              <a:t>(router only)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D9EAD3"/>
                </a:highlight>
              </a:rPr>
              <a:t>Tell the destination what to do next.</a:t>
            </a:r>
            <a:r>
              <a:rPr lang="en"/>
              <a:t> </a:t>
            </a:r>
            <a:r>
              <a:rPr lang="en" sz="1400">
                <a:solidFill>
                  <a:schemeClr val="accent3"/>
                </a:solidFill>
              </a:rPr>
              <a:t>(destination only)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EAD1DC"/>
                </a:highlight>
              </a:rPr>
              <a:t>Send responses back to the source.</a:t>
            </a:r>
            <a:r>
              <a:rPr lang="en"/>
              <a:t>  </a:t>
            </a:r>
            <a:r>
              <a:rPr lang="en" sz="1400">
                <a:solidFill>
                  <a:schemeClr val="accent3"/>
                </a:solidFill>
              </a:rPr>
              <a:t>(both router and destination)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C9DAF8"/>
                </a:highlight>
              </a:rPr>
              <a:t>Handle errors.</a:t>
            </a:r>
            <a:r>
              <a:rPr lang="en"/>
              <a:t> </a:t>
            </a:r>
            <a:r>
              <a:rPr lang="en" sz="1400">
                <a:solidFill>
                  <a:schemeClr val="accent3"/>
                </a:solidFill>
              </a:rPr>
              <a:t>(both router and destination)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D9D2E9"/>
                </a:highlight>
              </a:rPr>
              <a:t>Specify any special packet handling.</a:t>
            </a:r>
            <a:r>
              <a:rPr lang="en"/>
              <a:t> </a:t>
            </a:r>
            <a:r>
              <a:rPr lang="en" sz="1400">
                <a:solidFill>
                  <a:schemeClr val="accent3"/>
                </a:solidFill>
              </a:rPr>
              <a:t>(both router and destination)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p91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BGP Implementation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External BGP and Internal BGP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Links Between ASes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Message Types and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Route Attributes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Issues with BGP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 Header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IPv4 Header Fields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IPv6 Changes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Security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834" name="Google Shape;1834;p91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IPv6 Changes</a:t>
            </a:r>
            <a:endParaRPr/>
          </a:p>
        </p:txBody>
      </p:sp>
      <p:sp>
        <p:nvSpPr>
          <p:cNvPr id="1835" name="Google Shape;1835;p91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9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9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Google Shape;1840;p9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IPv6?</a:t>
            </a:r>
            <a:endParaRPr/>
          </a:p>
        </p:txBody>
      </p:sp>
      <p:sp>
        <p:nvSpPr>
          <p:cNvPr id="1841" name="Google Shape;1841;p9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Main motivation: IP address </a:t>
            </a:r>
            <a:r>
              <a:rPr lang="en"/>
              <a:t>exhaustion.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IPv4 addresses are 32 bits long.</a:t>
            </a:r>
            <a:br>
              <a:rPr lang="en"/>
            </a:br>
            <a:r>
              <a:rPr lang="en"/>
              <a:t>There are 2</a:t>
            </a:r>
            <a:r>
              <a:rPr baseline="30000" lang="en"/>
              <a:t>32</a:t>
            </a:r>
            <a:r>
              <a:rPr lang="en"/>
              <a:t> ≈ 4.2 billion IPv4 addresses.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We're running out of IPv4 addresses.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IPv6 addresses are 128 bits long.</a:t>
            </a:r>
            <a:br>
              <a:rPr lang="en"/>
            </a:br>
            <a:r>
              <a:rPr lang="en"/>
              <a:t>2</a:t>
            </a:r>
            <a:r>
              <a:rPr baseline="30000" lang="en"/>
              <a:t>128</a:t>
            </a:r>
            <a:r>
              <a:rPr lang="en"/>
              <a:t> &gt; number of atoms in the universe. We won't run out.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Took the opportunity to do some spring cleaning.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Modernize (update or remove) outdated fields.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IPv6 was originally supposed to be more ambitious, but additional features were never realized.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result is an elegant, if unambitious, protocol.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p9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Cleanup #1: Eliminate Checksums</a:t>
            </a:r>
            <a:endParaRPr/>
          </a:p>
        </p:txBody>
      </p:sp>
      <p:sp>
        <p:nvSpPr>
          <p:cNvPr id="1847" name="Google Shape;1847;p9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IPv6 eliminates checksums in the IP header.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Benefit of checksum: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a packet is corrupted but not detected, we keep sending it, which wastes bandwidth.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Checksum lets us drop the packet early.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IPv6 made the change: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Today, bandwidth is less of a bottleneck.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It's okay if a few corrupt packets are sent through the network.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Benefit of no checksum: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Less work for routers to do. Routers can process packets faster.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p9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Cleanup #2: Eliminate Fragmentation</a:t>
            </a:r>
            <a:endParaRPr/>
          </a:p>
        </p:txBody>
      </p:sp>
      <p:sp>
        <p:nvSpPr>
          <p:cNvPr id="1853" name="Google Shape;1853;p9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IPv6 eliminates fragmentation.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packet is too large for a link: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Drop the packet.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Send an error back to the source with the maximum packet size (MTU).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It's the sender's job to split up data into smaller packets.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Benefit of this change: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Less work for routers to do. Routers can process packets faster.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7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p9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Cleanup #3: Eliminate Options</a:t>
            </a:r>
            <a:endParaRPr/>
          </a:p>
        </p:txBody>
      </p:sp>
      <p:sp>
        <p:nvSpPr>
          <p:cNvPr id="1859" name="Google Shape;1859;p95"/>
          <p:cNvSpPr txBox="1"/>
          <p:nvPr>
            <p:ph idx="1" type="body"/>
          </p:nvPr>
        </p:nvSpPr>
        <p:spPr>
          <a:xfrm>
            <a:off x="107050" y="402200"/>
            <a:ext cx="8909700" cy="29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IPv6 eliminates options.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IP header is now fixed size.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Benefit: </a:t>
            </a:r>
            <a:r>
              <a:rPr lang="en"/>
              <a:t>Less work for routers to do. Routers can process packets faster.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Replacement mechanism: Next Header.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Generalization of the IPv4 Protocol field.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want extra processing, put the protocol ID in the Next Header field.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IPv6 will pass the packet to the protocol for extra processing.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the extra processing is done, the protocol passes the packet to Layer 4.</a:t>
            </a:r>
            <a:endParaRPr/>
          </a:p>
        </p:txBody>
      </p:sp>
      <p:sp>
        <p:nvSpPr>
          <p:cNvPr id="1860" name="Google Shape;1860;p95"/>
          <p:cNvSpPr/>
          <p:nvPr/>
        </p:nvSpPr>
        <p:spPr>
          <a:xfrm>
            <a:off x="1204200" y="3639288"/>
            <a:ext cx="1683900" cy="77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IPv6 Header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Next Header = 43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1" name="Google Shape;1861;p95"/>
          <p:cNvSpPr/>
          <p:nvPr/>
        </p:nvSpPr>
        <p:spPr>
          <a:xfrm>
            <a:off x="2888100" y="3639301"/>
            <a:ext cx="1683900" cy="7770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Bonus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2" name="Google Shape;1862;p95"/>
          <p:cNvSpPr/>
          <p:nvPr/>
        </p:nvSpPr>
        <p:spPr>
          <a:xfrm>
            <a:off x="4572000" y="3639301"/>
            <a:ext cx="1683900" cy="777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3" name="Google Shape;1863;p95"/>
          <p:cNvSpPr/>
          <p:nvPr/>
        </p:nvSpPr>
        <p:spPr>
          <a:xfrm>
            <a:off x="6255900" y="3639301"/>
            <a:ext cx="1683900" cy="7770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64" name="Google Shape;1864;p95"/>
          <p:cNvCxnSpPr>
            <a:stCxn id="1860" idx="2"/>
            <a:endCxn id="1861" idx="2"/>
          </p:cNvCxnSpPr>
          <p:nvPr/>
        </p:nvCxnSpPr>
        <p:spPr>
          <a:xfrm flipH="1" rot="-5400000">
            <a:off x="2887800" y="3574638"/>
            <a:ext cx="600" cy="1683900"/>
          </a:xfrm>
          <a:prstGeom prst="curvedConnector3">
            <a:avLst>
              <a:gd fmla="val 10271875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5" name="Google Shape;1865;p95"/>
          <p:cNvCxnSpPr/>
          <p:nvPr/>
        </p:nvCxnSpPr>
        <p:spPr>
          <a:xfrm flipH="1" rot="-5400000">
            <a:off x="4767875" y="3574638"/>
            <a:ext cx="600" cy="1683900"/>
          </a:xfrm>
          <a:prstGeom prst="curvedConnector3">
            <a:avLst>
              <a:gd fmla="val 10271875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p9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Cleanup #3: Eliminate Options</a:t>
            </a:r>
            <a:endParaRPr/>
          </a:p>
        </p:txBody>
      </p:sp>
      <p:sp>
        <p:nvSpPr>
          <p:cNvPr id="1871" name="Google Shape;1871;p96"/>
          <p:cNvSpPr txBox="1"/>
          <p:nvPr>
            <p:ph idx="1" type="body"/>
          </p:nvPr>
        </p:nvSpPr>
        <p:spPr>
          <a:xfrm>
            <a:off x="107050" y="402200"/>
            <a:ext cx="8909700" cy="29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Next Header can be generalized to multiple extra protocols in between Layer 3 and 4.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IPv6 and the extra protocols all include a Next Header field to pass the packet to the appropriate next protocol.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Eventually, someone's Next Header is a Layer 4 protocol (6 = TCP, 17 = UDP).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Future-proofing: Elegant way to support new protocols as they're invented.</a:t>
            </a:r>
            <a:endParaRPr/>
          </a:p>
        </p:txBody>
      </p:sp>
      <p:sp>
        <p:nvSpPr>
          <p:cNvPr id="1872" name="Google Shape;1872;p96"/>
          <p:cNvSpPr/>
          <p:nvPr/>
        </p:nvSpPr>
        <p:spPr>
          <a:xfrm>
            <a:off x="315925" y="3486888"/>
            <a:ext cx="1683900" cy="77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IPv6 Header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Next Header = 43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3" name="Google Shape;1873;p96"/>
          <p:cNvSpPr/>
          <p:nvPr/>
        </p:nvSpPr>
        <p:spPr>
          <a:xfrm>
            <a:off x="3683725" y="3486901"/>
            <a:ext cx="1683900" cy="7770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Bonus Header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Next Header: 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4" name="Google Shape;1874;p96"/>
          <p:cNvSpPr/>
          <p:nvPr/>
        </p:nvSpPr>
        <p:spPr>
          <a:xfrm>
            <a:off x="5367625" y="3486901"/>
            <a:ext cx="1683900" cy="777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5" name="Google Shape;1875;p96"/>
          <p:cNvSpPr/>
          <p:nvPr/>
        </p:nvSpPr>
        <p:spPr>
          <a:xfrm>
            <a:off x="7051525" y="3486901"/>
            <a:ext cx="1683900" cy="7770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6" name="Google Shape;1876;p96"/>
          <p:cNvCxnSpPr/>
          <p:nvPr/>
        </p:nvCxnSpPr>
        <p:spPr>
          <a:xfrm flipH="1" rot="-5400000">
            <a:off x="5563500" y="3422238"/>
            <a:ext cx="600" cy="1683900"/>
          </a:xfrm>
          <a:prstGeom prst="curvedConnector3">
            <a:avLst>
              <a:gd fmla="val 10271875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77" name="Google Shape;1877;p96"/>
          <p:cNvSpPr/>
          <p:nvPr/>
        </p:nvSpPr>
        <p:spPr>
          <a:xfrm>
            <a:off x="1999825" y="3486901"/>
            <a:ext cx="1683900" cy="777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Bonus Header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Next Header: 51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8" name="Google Shape;1878;p96"/>
          <p:cNvCxnSpPr/>
          <p:nvPr/>
        </p:nvCxnSpPr>
        <p:spPr>
          <a:xfrm flipH="1" rot="-5400000">
            <a:off x="3658500" y="3422238"/>
            <a:ext cx="600" cy="1683900"/>
          </a:xfrm>
          <a:prstGeom prst="curvedConnector3">
            <a:avLst>
              <a:gd fmla="val 10271875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9" name="Google Shape;1879;p96"/>
          <p:cNvCxnSpPr/>
          <p:nvPr/>
        </p:nvCxnSpPr>
        <p:spPr>
          <a:xfrm flipH="1" rot="-5400000">
            <a:off x="1753500" y="3422238"/>
            <a:ext cx="600" cy="1683900"/>
          </a:xfrm>
          <a:prstGeom prst="curvedConnector3">
            <a:avLst>
              <a:gd fmla="val 10271875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9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Cleanup #4: Flow Label</a:t>
            </a:r>
            <a:endParaRPr/>
          </a:p>
        </p:txBody>
      </p:sp>
      <p:sp>
        <p:nvSpPr>
          <p:cNvPr id="1885" name="Google Shape;1885;p9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lang="en"/>
              <a:t>flow label</a:t>
            </a:r>
            <a:r>
              <a:rPr lang="en"/>
              <a:t> field lets us denote when packets are related to each other.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Original Layer 3 design: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Every packet is sent independently.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Only higher layers need to think about grouping packets into flows.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IPv6 made the change: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Modern routers often install </a:t>
            </a:r>
            <a:r>
              <a:rPr b="1" lang="en"/>
              <a:t>middlebox</a:t>
            </a:r>
            <a:r>
              <a:rPr lang="en"/>
              <a:t> systems to peek at IP packets,</a:t>
            </a:r>
            <a:br>
              <a:rPr lang="en"/>
            </a:br>
            <a:r>
              <a:rPr lang="en"/>
              <a:t>even if the router is not the destination.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Firewall on the </a:t>
            </a:r>
            <a:r>
              <a:rPr lang="en"/>
              <a:t>router</a:t>
            </a:r>
            <a:r>
              <a:rPr lang="en"/>
              <a:t> peeks at packets to block malicious traffic.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Middleboxes might want to consider packets in a flow together.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Flow label gives us a way to tell middleboxes when packets are related.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9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IPv4 → IPv6 Header</a:t>
            </a:r>
            <a:endParaRPr/>
          </a:p>
        </p:txBody>
      </p:sp>
      <p:sp>
        <p:nvSpPr>
          <p:cNvPr id="1891" name="Google Shape;1891;p98"/>
          <p:cNvSpPr txBox="1"/>
          <p:nvPr>
            <p:ph idx="1" type="body"/>
          </p:nvPr>
        </p:nvSpPr>
        <p:spPr>
          <a:xfrm>
            <a:off x="4798700" y="402200"/>
            <a:ext cx="4193100" cy="15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F4CCCC"/>
                </a:highlight>
              </a:rPr>
              <a:t>Eliminate checksums</a:t>
            </a:r>
            <a:r>
              <a:rPr lang="en">
                <a:highlight>
                  <a:srgbClr val="F4CCCC"/>
                </a:highlight>
              </a:rPr>
              <a:t>.</a:t>
            </a:r>
            <a:endParaRPr sz="1400">
              <a:solidFill>
                <a:schemeClr val="accent3"/>
              </a:solidFill>
              <a:highlight>
                <a:srgbClr val="F4CCCC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D9EAD3"/>
                </a:highlight>
              </a:rPr>
              <a:t>Eliminate fragmentation.</a:t>
            </a:r>
            <a:endParaRPr sz="1400">
              <a:solidFill>
                <a:schemeClr val="accent3"/>
              </a:solidFill>
              <a:highlight>
                <a:srgbClr val="D9EAD3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CFE2F3"/>
                </a:highlight>
              </a:rPr>
              <a:t>Eliminate options, add next header.</a:t>
            </a:r>
            <a:endParaRPr sz="1400">
              <a:solidFill>
                <a:schemeClr val="accent3"/>
              </a:solidFill>
              <a:highlight>
                <a:srgbClr val="CFE2F3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FCE5CD"/>
                </a:highlight>
              </a:rPr>
              <a:t>Add flow label.</a:t>
            </a:r>
            <a:endParaRPr>
              <a:highlight>
                <a:srgbClr val="FCE5CD"/>
              </a:highlight>
            </a:endParaRPr>
          </a:p>
        </p:txBody>
      </p:sp>
      <p:graphicFrame>
        <p:nvGraphicFramePr>
          <p:cNvPr id="1892" name="Google Shape;1892;p98"/>
          <p:cNvGraphicFramePr/>
          <p:nvPr/>
        </p:nvGraphicFramePr>
        <p:xfrm>
          <a:off x="246350" y="294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{EDF56E96-C611-46F5-A6CB-BA45FF09DDB4}</a:tableStyleId>
              </a:tblPr>
              <a:tblGrid>
                <a:gridCol w="569050"/>
                <a:gridCol w="569050"/>
                <a:gridCol w="569050"/>
                <a:gridCol w="569050"/>
                <a:gridCol w="472650"/>
                <a:gridCol w="665400"/>
                <a:gridCol w="569050"/>
                <a:gridCol w="569050"/>
              </a:tblGrid>
              <a:tr h="296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strike="sng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</a:t>
                      </a:r>
                      <a:endParaRPr sz="1200" strike="sng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EAD3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D9D9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D9D9"/>
                    </a:solidFill>
                  </a:tcPr>
                </a:tc>
                <a:tc hMerge="1"/>
                <a:tc hMerge="1"/>
                <a:tc hMerge="1"/>
              </a:tr>
              <a:tr h="2969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strike="sng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</a:t>
                      </a:r>
                      <a:endParaRPr sz="1200" strike="sng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EAD3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strike="sng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</a:t>
                      </a:r>
                      <a:endParaRPr sz="1200" strike="sng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EAD3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strike="sng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</a:t>
                      </a:r>
                      <a:endParaRPr sz="1200" strike="sng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EAD3"/>
                    </a:solidFill>
                  </a:tcPr>
                </a:tc>
                <a:tc hMerge="1"/>
                <a:tc hMerge="1"/>
              </a:tr>
              <a:tr h="2969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D9D9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CFE2F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strike="sng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</a:t>
                      </a:r>
                      <a:endParaRPr sz="1200" strike="sng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4CCCC"/>
                    </a:solidFill>
                  </a:tcPr>
                </a:tc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 bits)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 bits)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CFE2F3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1893" name="Google Shape;1893;p98"/>
          <p:cNvGraphicFramePr/>
          <p:nvPr/>
        </p:nvGraphicFramePr>
        <p:xfrm>
          <a:off x="5172475" y="2058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{EDF56E96-C611-46F5-A6CB-BA45FF09DDB4}</a:tableStyleId>
              </a:tblPr>
              <a:tblGrid>
                <a:gridCol w="459800"/>
                <a:gridCol w="459800"/>
                <a:gridCol w="459800"/>
                <a:gridCol w="459800"/>
                <a:gridCol w="459800"/>
                <a:gridCol w="459800"/>
                <a:gridCol w="459800"/>
                <a:gridCol w="459800"/>
              </a:tblGrid>
              <a:tr h="296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Traffic Class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D9D9"/>
                    </a:solidFill>
                  </a:tcPr>
                </a:tc>
                <a:tc hMerge="1"/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Flow Label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CE5CD"/>
                    </a:solidFill>
                  </a:tcPr>
                </a:tc>
                <a:tc hMerge="1"/>
                <a:tc hMerge="1"/>
                <a:tc hMerge="1"/>
                <a:tc hMerge="1"/>
              </a:tr>
              <a:tr h="2969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 Length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D9D9"/>
                    </a:solidFill>
                  </a:tcPr>
                </a:tc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Header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CFE2F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Hop Limit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D9D9"/>
                    </a:solidFill>
                  </a:tcPr>
                </a:tc>
                <a:tc hMerge="1"/>
              </a:tr>
              <a:tr h="296900">
                <a:tc gridSpan="8"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(128 bits)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rowSpan="4" hMerge="1"/>
                <a:tc rowSpan="4" hMerge="1"/>
                <a:tc rowSpan="4" hMerge="1"/>
                <a:tc rowSpan="4" hMerge="1"/>
                <a:tc rowSpan="4" hMerge="1"/>
                <a:tc rowSpan="4" hMerge="1"/>
                <a:tc rowSpan="4" hMerge="1"/>
              </a:tr>
              <a:tr h="2969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</a:tr>
              <a:tr h="2969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</a:tr>
              <a:tr h="2969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</a:tr>
              <a:tr h="296900">
                <a:tc gridSpan="8"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Address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(128 bits)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rowSpan="4" hMerge="1"/>
                <a:tc rowSpan="4" hMerge="1"/>
                <a:tc rowSpan="4" hMerge="1"/>
                <a:tc rowSpan="4" hMerge="1"/>
                <a:tc rowSpan="4" hMerge="1"/>
                <a:tc rowSpan="4" hMerge="1"/>
                <a:tc rowSpan="4" hMerge="1"/>
              </a:tr>
              <a:tr h="2969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</a:tr>
              <a:tr h="2969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</a:tr>
              <a:tr h="2969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</a:tr>
            </a:tbl>
          </a:graphicData>
        </a:graphic>
      </p:graphicFrame>
      <p:sp>
        <p:nvSpPr>
          <p:cNvPr id="1894" name="Google Shape;1894;p98"/>
          <p:cNvSpPr txBox="1"/>
          <p:nvPr>
            <p:ph idx="1" type="body"/>
          </p:nvPr>
        </p:nvSpPr>
        <p:spPr>
          <a:xfrm>
            <a:off x="246350" y="402200"/>
            <a:ext cx="4431300" cy="1656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highlight>
                  <a:srgbClr val="D9D9D9"/>
                </a:highlight>
              </a:rPr>
              <a:t>Renamed and moved:</a:t>
            </a:r>
            <a:endParaRPr>
              <a:highlight>
                <a:srgbClr val="D9D9D9"/>
              </a:highlight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 of Service → Traffic Class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Total Length → Payload Length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TTL → Hop Limit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8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p9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Philosophy of IPv6 Changes</a:t>
            </a:r>
            <a:endParaRPr/>
          </a:p>
        </p:txBody>
      </p:sp>
      <p:sp>
        <p:nvSpPr>
          <p:cNvPr id="1900" name="Google Shape;1900;p9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Leave problems to end hosts.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Eliminated fragmentation.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Eliminated checksum.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Could we eliminate TTL and leave that to end hosts?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No, avoiding loops is fundamentally a router problem.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Simplify: Less work for routers.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Eliminated options.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Fixed-size header length.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Future-proof: Allow for extensibility.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Generalized next-header approach.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Generalized flow label for packets.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4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p100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BGP Implementation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External BGP and Internal BGP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Links Between ASes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Message Types and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Route Attributes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Issues with BGP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 Header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IPv4 Header Fields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IPv6 Changes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Security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6" name="Google Shape;1906;p100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 Security</a:t>
            </a:r>
            <a:endParaRPr/>
          </a:p>
        </p:txBody>
      </p:sp>
      <p:sp>
        <p:nvSpPr>
          <p:cNvPr id="1907" name="Google Shape;1907;p100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9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p10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Exploiting Source IP: Spoofing</a:t>
            </a:r>
            <a:endParaRPr/>
          </a:p>
        </p:txBody>
      </p:sp>
      <p:sp>
        <p:nvSpPr>
          <p:cNvPr id="1913" name="Google Shape;1913;p10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Spoofing</a:t>
            </a:r>
            <a:r>
              <a:rPr lang="en"/>
              <a:t>: Lie about the source address.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Attacker pretends to be somebody else and sends the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Using spoofing to attack a destination: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Denial-of-service (DoS) attack: Overwhelm a service by flooding it with packets.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Without spoofing: The service can block your source address.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Spoofing makes DoS more effective: Server doesn't know which packets to block.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Using spoofing to attack the impersonated user: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Attacker pretends to be Bob and sends a virus.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Now Bob is wrongly blamed for sending the virus.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Return traffic (e.g. angry messages) goes to Bob instead.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7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Google Shape;1918;p10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Exploiting Type of Service</a:t>
            </a:r>
            <a:endParaRPr/>
          </a:p>
        </p:txBody>
      </p:sp>
      <p:sp>
        <p:nvSpPr>
          <p:cNvPr id="1919" name="Google Shape;1919;p10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type of service (ToS): Bits indicating priority of the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Attack: Prioritize your own traffic.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anybody can set ToS bits, attackers can make their own packets high-priority.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 prefers attacker traffic.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Today, ToS bits are mostly set/used by operators, not end hosts.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Attack: Use spoofing to make someone else pay for priority traffic.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Suppose the network charges for high-priority traffic.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Attacker sends a spoofed packet: "I am Bob and this packet is high-priority."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 makes Bob pay for that packet.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3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p10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Exploiting Fragmentation and Options</a:t>
            </a:r>
            <a:endParaRPr/>
          </a:p>
        </p:txBody>
      </p:sp>
      <p:sp>
        <p:nvSpPr>
          <p:cNvPr id="1925" name="Google Shape;1925;p10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Fragmentation and options are more work for the router.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Denial-of-service (DoS) attack: Overwhelm routers by making them do more work.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Fragmentation: Send large packets on purpose.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Options: Send packets with complicated options on purpose.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Defense: Routers often ignore options, or drop packets with options.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9" name="Shape 1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Google Shape;1930;p10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Exploiting TTL: Traceroute</a:t>
            </a:r>
            <a:endParaRPr/>
          </a:p>
        </p:txBody>
      </p:sp>
      <p:sp>
        <p:nvSpPr>
          <p:cNvPr id="1931" name="Google Shape;1931;p104"/>
          <p:cNvSpPr txBox="1"/>
          <p:nvPr>
            <p:ph idx="1" type="body"/>
          </p:nvPr>
        </p:nvSpPr>
        <p:spPr>
          <a:xfrm>
            <a:off x="107050" y="402200"/>
            <a:ext cx="8909700" cy="21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Traceroute</a:t>
            </a:r>
            <a:r>
              <a:rPr lang="en"/>
              <a:t>: Exploiting the TTL to discover the path a packet travels along.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You'll do this in Project 1.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idea: When TTL expires, the router sends back a "TTL Exceeded" error.</a:t>
            </a:r>
            <a:br>
              <a:rPr lang="en"/>
            </a:br>
            <a:r>
              <a:rPr lang="en"/>
              <a:t>This allows you to learn the identity one of the routers on the path.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approach: Send packets with TTL=1, TTL=2, TTL=3,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all routers respond with the "TTL Exceeded" message.</a:t>
            </a:r>
            <a:endParaRPr/>
          </a:p>
        </p:txBody>
      </p:sp>
      <p:sp>
        <p:nvSpPr>
          <p:cNvPr id="1932" name="Google Shape;1932;p104"/>
          <p:cNvSpPr/>
          <p:nvPr/>
        </p:nvSpPr>
        <p:spPr>
          <a:xfrm>
            <a:off x="3180053" y="3654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3" name="Google Shape;1933;p104"/>
          <p:cNvSpPr/>
          <p:nvPr/>
        </p:nvSpPr>
        <p:spPr>
          <a:xfrm>
            <a:off x="4117803" y="3654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4" name="Google Shape;1934;p104"/>
          <p:cNvCxnSpPr>
            <a:stCxn id="1932" idx="3"/>
            <a:endCxn id="1933" idx="1"/>
          </p:cNvCxnSpPr>
          <p:nvPr/>
        </p:nvCxnSpPr>
        <p:spPr>
          <a:xfrm>
            <a:off x="3465053" y="3797050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5" name="Google Shape;1935;p104"/>
          <p:cNvCxnSpPr>
            <a:stCxn id="1933" idx="3"/>
            <a:endCxn id="1936" idx="1"/>
          </p:cNvCxnSpPr>
          <p:nvPr/>
        </p:nvCxnSpPr>
        <p:spPr>
          <a:xfrm>
            <a:off x="4402803" y="3797050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7" name="Google Shape;1937;p104"/>
          <p:cNvSpPr/>
          <p:nvPr/>
        </p:nvSpPr>
        <p:spPr>
          <a:xfrm>
            <a:off x="5055553" y="3654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8" name="Google Shape;1938;p104"/>
          <p:cNvSpPr/>
          <p:nvPr/>
        </p:nvSpPr>
        <p:spPr>
          <a:xfrm>
            <a:off x="2242288" y="36545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9" name="Google Shape;1939;p104"/>
          <p:cNvCxnSpPr>
            <a:stCxn id="1932" idx="1"/>
            <a:endCxn id="1938" idx="6"/>
          </p:cNvCxnSpPr>
          <p:nvPr/>
        </p:nvCxnSpPr>
        <p:spPr>
          <a:xfrm rot="10800000">
            <a:off x="2527253" y="3797050"/>
            <a:ext cx="65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0" name="Google Shape;1940;p104"/>
          <p:cNvCxnSpPr>
            <a:stCxn id="1941" idx="2"/>
            <a:endCxn id="1937" idx="3"/>
          </p:cNvCxnSpPr>
          <p:nvPr/>
        </p:nvCxnSpPr>
        <p:spPr>
          <a:xfrm rot="10800000">
            <a:off x="5340488" y="3797050"/>
            <a:ext cx="65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1" name="Google Shape;1941;p104"/>
          <p:cNvSpPr/>
          <p:nvPr/>
        </p:nvSpPr>
        <p:spPr>
          <a:xfrm>
            <a:off x="5993288" y="36545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2" name="Google Shape;1942;p104"/>
          <p:cNvSpPr/>
          <p:nvPr/>
        </p:nvSpPr>
        <p:spPr>
          <a:xfrm>
            <a:off x="2104100" y="2729500"/>
            <a:ext cx="1499100" cy="592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     To: 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TTL =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43" name="Google Shape;1943;p104"/>
          <p:cNvCxnSpPr/>
          <p:nvPr/>
        </p:nvCxnSpPr>
        <p:spPr>
          <a:xfrm>
            <a:off x="2355500" y="3482625"/>
            <a:ext cx="996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4" name="Google Shape;1944;p104"/>
          <p:cNvCxnSpPr/>
          <p:nvPr/>
        </p:nvCxnSpPr>
        <p:spPr>
          <a:xfrm rot="10800000">
            <a:off x="2377700" y="4178700"/>
            <a:ext cx="9519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45" name="Google Shape;1945;p104"/>
          <p:cNvSpPr/>
          <p:nvPr/>
        </p:nvSpPr>
        <p:spPr>
          <a:xfrm>
            <a:off x="2104100" y="4301650"/>
            <a:ext cx="1499100" cy="592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    To: 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TTL Exceeded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p10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Exploiting TTL: Traceroute</a:t>
            </a:r>
            <a:endParaRPr/>
          </a:p>
        </p:txBody>
      </p:sp>
      <p:sp>
        <p:nvSpPr>
          <p:cNvPr id="1951" name="Google Shape;1951;p105"/>
          <p:cNvSpPr/>
          <p:nvPr/>
        </p:nvSpPr>
        <p:spPr>
          <a:xfrm>
            <a:off x="3180053" y="3654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2" name="Google Shape;1952;p105"/>
          <p:cNvSpPr/>
          <p:nvPr/>
        </p:nvSpPr>
        <p:spPr>
          <a:xfrm>
            <a:off x="4117803" y="3654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53" name="Google Shape;1953;p105"/>
          <p:cNvCxnSpPr>
            <a:stCxn id="1951" idx="3"/>
            <a:endCxn id="1952" idx="1"/>
          </p:cNvCxnSpPr>
          <p:nvPr/>
        </p:nvCxnSpPr>
        <p:spPr>
          <a:xfrm>
            <a:off x="3465053" y="3797050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4" name="Google Shape;1954;p105"/>
          <p:cNvCxnSpPr>
            <a:stCxn id="1952" idx="3"/>
            <a:endCxn id="1955" idx="1"/>
          </p:cNvCxnSpPr>
          <p:nvPr/>
        </p:nvCxnSpPr>
        <p:spPr>
          <a:xfrm>
            <a:off x="4402803" y="3797050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6" name="Google Shape;1956;p105"/>
          <p:cNvSpPr/>
          <p:nvPr/>
        </p:nvSpPr>
        <p:spPr>
          <a:xfrm>
            <a:off x="5055553" y="3654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7" name="Google Shape;1957;p105"/>
          <p:cNvSpPr/>
          <p:nvPr/>
        </p:nvSpPr>
        <p:spPr>
          <a:xfrm>
            <a:off x="2242288" y="36545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58" name="Google Shape;1958;p105"/>
          <p:cNvCxnSpPr>
            <a:stCxn id="1951" idx="1"/>
            <a:endCxn id="1957" idx="6"/>
          </p:cNvCxnSpPr>
          <p:nvPr/>
        </p:nvCxnSpPr>
        <p:spPr>
          <a:xfrm rot="10800000">
            <a:off x="2527253" y="3797050"/>
            <a:ext cx="65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9" name="Google Shape;1959;p105"/>
          <p:cNvCxnSpPr>
            <a:stCxn id="1960" idx="2"/>
            <a:endCxn id="1956" idx="3"/>
          </p:cNvCxnSpPr>
          <p:nvPr/>
        </p:nvCxnSpPr>
        <p:spPr>
          <a:xfrm rot="10800000">
            <a:off x="5340488" y="3797050"/>
            <a:ext cx="65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0" name="Google Shape;1960;p105"/>
          <p:cNvSpPr/>
          <p:nvPr/>
        </p:nvSpPr>
        <p:spPr>
          <a:xfrm>
            <a:off x="5993288" y="36545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1" name="Google Shape;1961;p105"/>
          <p:cNvSpPr/>
          <p:nvPr/>
        </p:nvSpPr>
        <p:spPr>
          <a:xfrm>
            <a:off x="2561300" y="2729500"/>
            <a:ext cx="1499100" cy="592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     To: 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TTL =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62" name="Google Shape;1962;p105"/>
          <p:cNvCxnSpPr/>
          <p:nvPr/>
        </p:nvCxnSpPr>
        <p:spPr>
          <a:xfrm>
            <a:off x="2355500" y="3482625"/>
            <a:ext cx="1899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3" name="Google Shape;1963;p105"/>
          <p:cNvCxnSpPr/>
          <p:nvPr/>
        </p:nvCxnSpPr>
        <p:spPr>
          <a:xfrm rot="10800000">
            <a:off x="2397803" y="4178700"/>
            <a:ext cx="1814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64" name="Google Shape;1964;p105"/>
          <p:cNvSpPr/>
          <p:nvPr/>
        </p:nvSpPr>
        <p:spPr>
          <a:xfrm>
            <a:off x="2561300" y="4301650"/>
            <a:ext cx="1499100" cy="592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    To: 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TTL Exceeded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5" name="Google Shape;1965;p105"/>
          <p:cNvSpPr txBox="1"/>
          <p:nvPr>
            <p:ph idx="1" type="body"/>
          </p:nvPr>
        </p:nvSpPr>
        <p:spPr>
          <a:xfrm>
            <a:off x="107050" y="402200"/>
            <a:ext cx="8909700" cy="21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Traceroute</a:t>
            </a:r>
            <a:r>
              <a:rPr lang="en"/>
              <a:t>: Exploiting the TTL to discover the path a packet travels along.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You'll do this in Project 1.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idea: When TTL expires, the router sends back a "TTL Exceeded" error.</a:t>
            </a:r>
            <a:br>
              <a:rPr lang="en"/>
            </a:br>
            <a:r>
              <a:rPr lang="en"/>
              <a:t>This allows you to learn the identity one of the routers on the path.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approach: Send packets with TTL=1, TTL=2, TTL=3,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all routers respond with the "TTL Exceeded" message.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9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p10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Exploiting TTL: Traceroute</a:t>
            </a:r>
            <a:endParaRPr/>
          </a:p>
        </p:txBody>
      </p:sp>
      <p:sp>
        <p:nvSpPr>
          <p:cNvPr id="1971" name="Google Shape;1971;p106"/>
          <p:cNvSpPr/>
          <p:nvPr/>
        </p:nvSpPr>
        <p:spPr>
          <a:xfrm>
            <a:off x="3180053" y="3654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2" name="Google Shape;1972;p106"/>
          <p:cNvSpPr/>
          <p:nvPr/>
        </p:nvSpPr>
        <p:spPr>
          <a:xfrm>
            <a:off x="4117803" y="3654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73" name="Google Shape;1973;p106"/>
          <p:cNvCxnSpPr>
            <a:stCxn id="1971" idx="3"/>
            <a:endCxn id="1972" idx="1"/>
          </p:cNvCxnSpPr>
          <p:nvPr/>
        </p:nvCxnSpPr>
        <p:spPr>
          <a:xfrm>
            <a:off x="3465053" y="3797050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4" name="Google Shape;1974;p106"/>
          <p:cNvCxnSpPr>
            <a:stCxn id="1972" idx="3"/>
            <a:endCxn id="1975" idx="1"/>
          </p:cNvCxnSpPr>
          <p:nvPr/>
        </p:nvCxnSpPr>
        <p:spPr>
          <a:xfrm>
            <a:off x="4402803" y="3797050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6" name="Google Shape;1976;p106"/>
          <p:cNvSpPr/>
          <p:nvPr/>
        </p:nvSpPr>
        <p:spPr>
          <a:xfrm>
            <a:off x="5055553" y="3654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7" name="Google Shape;1977;p106"/>
          <p:cNvSpPr/>
          <p:nvPr/>
        </p:nvSpPr>
        <p:spPr>
          <a:xfrm>
            <a:off x="2242288" y="36545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78" name="Google Shape;1978;p106"/>
          <p:cNvCxnSpPr>
            <a:stCxn id="1971" idx="1"/>
            <a:endCxn id="1977" idx="6"/>
          </p:cNvCxnSpPr>
          <p:nvPr/>
        </p:nvCxnSpPr>
        <p:spPr>
          <a:xfrm rot="10800000">
            <a:off x="2527253" y="3797050"/>
            <a:ext cx="65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9" name="Google Shape;1979;p106"/>
          <p:cNvCxnSpPr>
            <a:stCxn id="1980" idx="2"/>
            <a:endCxn id="1976" idx="3"/>
          </p:cNvCxnSpPr>
          <p:nvPr/>
        </p:nvCxnSpPr>
        <p:spPr>
          <a:xfrm rot="10800000">
            <a:off x="5340488" y="3797050"/>
            <a:ext cx="65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0" name="Google Shape;1980;p106"/>
          <p:cNvSpPr/>
          <p:nvPr/>
        </p:nvSpPr>
        <p:spPr>
          <a:xfrm>
            <a:off x="5993288" y="36545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1" name="Google Shape;1981;p106"/>
          <p:cNvSpPr/>
          <p:nvPr/>
        </p:nvSpPr>
        <p:spPr>
          <a:xfrm>
            <a:off x="3018500" y="2729500"/>
            <a:ext cx="1499100" cy="592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     To: 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TTL = 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2" name="Google Shape;1982;p106"/>
          <p:cNvCxnSpPr/>
          <p:nvPr/>
        </p:nvCxnSpPr>
        <p:spPr>
          <a:xfrm>
            <a:off x="2355500" y="3482625"/>
            <a:ext cx="28329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3" name="Google Shape;1983;p106"/>
          <p:cNvCxnSpPr/>
          <p:nvPr/>
        </p:nvCxnSpPr>
        <p:spPr>
          <a:xfrm rot="10800000">
            <a:off x="2418688" y="4178700"/>
            <a:ext cx="27066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84" name="Google Shape;1984;p106"/>
          <p:cNvSpPr/>
          <p:nvPr/>
        </p:nvSpPr>
        <p:spPr>
          <a:xfrm>
            <a:off x="3018500" y="4301650"/>
            <a:ext cx="1499100" cy="592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    To: 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TTL Exceeded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5" name="Google Shape;1985;p106"/>
          <p:cNvSpPr txBox="1"/>
          <p:nvPr>
            <p:ph idx="1" type="body"/>
          </p:nvPr>
        </p:nvSpPr>
        <p:spPr>
          <a:xfrm>
            <a:off x="107050" y="402200"/>
            <a:ext cx="8909700" cy="21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Traceroute</a:t>
            </a:r>
            <a:r>
              <a:rPr lang="en"/>
              <a:t>: Exploiting the TTL to discover the path a packet travels along.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did this in Project 1!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idea: When TTL expires, the router sends back a "TTL Exceeded" error.</a:t>
            </a:r>
            <a:br>
              <a:rPr lang="en"/>
            </a:br>
            <a:r>
              <a:rPr lang="en"/>
              <a:t>This allows you to learn the identity one of the routers on the path.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approach: Send packets with TTL=1, TTL=2, TTL=3,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all routers respond with the "TTL Exceeded" message.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9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p10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Exploiting Other Fields?</a:t>
            </a:r>
            <a:endParaRPr/>
          </a:p>
        </p:txBody>
      </p:sp>
      <p:sp>
        <p:nvSpPr>
          <p:cNvPr id="1991" name="Google Shape;1991;p10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Exploiting protocol field?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protocol is set incorrectly, the next layer will find the packet malformed.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Exploiting checksum?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bad checksum causes the </a:t>
            </a:r>
            <a:r>
              <a:rPr lang="en"/>
              <a:t>network</a:t>
            </a:r>
            <a:r>
              <a:rPr lang="en"/>
              <a:t> to drop the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These are not effective attacks.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5" name="Shape 1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" name="Google Shape;1996;p10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IP Attacks</a:t>
            </a:r>
            <a:endParaRPr/>
          </a:p>
        </p:txBody>
      </p:sp>
      <p:sp>
        <p:nvSpPr>
          <p:cNvPr id="1997" name="Google Shape;1997;p108"/>
          <p:cNvSpPr txBox="1"/>
          <p:nvPr>
            <p:ph idx="1" type="body"/>
          </p:nvPr>
        </p:nvSpPr>
        <p:spPr>
          <a:xfrm>
            <a:off x="107050" y="402200"/>
            <a:ext cx="8909700" cy="22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4CCCC"/>
                </a:highlight>
              </a:rPr>
              <a:t>Source IP address: Spoofing.</a:t>
            </a:r>
            <a:endParaRPr>
              <a:highlight>
                <a:srgbClr val="F4CCCC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CE5CD"/>
                </a:highlight>
              </a:rPr>
              <a:t>Type of service: Prioritize attacker traffic.</a:t>
            </a:r>
            <a:endParaRPr>
              <a:highlight>
                <a:srgbClr val="FCE5CD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highlight>
                  <a:srgbClr val="D9EAD3"/>
                </a:highlight>
              </a:rPr>
              <a:t>Fragmentation, Options: Denial-of-service.</a:t>
            </a:r>
            <a:endParaRPr>
              <a:highlight>
                <a:srgbClr val="D9EAD3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highlight>
                  <a:srgbClr val="C9DAF8"/>
                </a:highlight>
              </a:rPr>
              <a:t>TTL: Traceroute.</a:t>
            </a:r>
            <a:endParaRPr>
              <a:highlight>
                <a:srgbClr val="C9DAF8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highlight>
                  <a:srgbClr val="D9D9D9"/>
                </a:highlight>
              </a:rPr>
              <a:t>Protocol, Checksum: No apparent problems.</a:t>
            </a:r>
            <a:endParaRPr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998" name="Google Shape;1998;p108"/>
          <p:cNvGraphicFramePr/>
          <p:nvPr/>
        </p:nvGraphicFramePr>
        <p:xfrm>
          <a:off x="1984125" y="285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{EDF56E96-C611-46F5-A6CB-BA45FF09DDB4}</a:tableStyleId>
              </a:tblPr>
              <a:tblGrid>
                <a:gridCol w="569050"/>
                <a:gridCol w="569050"/>
                <a:gridCol w="569050"/>
                <a:gridCol w="569050"/>
                <a:gridCol w="472650"/>
                <a:gridCol w="665400"/>
                <a:gridCol w="569050"/>
                <a:gridCol w="569050"/>
              </a:tblGrid>
              <a:tr h="296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CE5CD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EAD3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EAD3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EAD3"/>
                    </a:solidFill>
                  </a:tcPr>
                </a:tc>
                <a:tc hMerge="1"/>
                <a:tc hMerge="1"/>
              </a:tr>
              <a:tr h="2969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C9DAF8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D9D9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D9D9"/>
                    </a:solidFill>
                  </a:tcPr>
                </a:tc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 bits)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4CC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 bits)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EAD3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2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p10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Recap: IP Header Design</a:t>
            </a:r>
            <a:endParaRPr/>
          </a:p>
        </p:txBody>
      </p:sp>
      <p:sp>
        <p:nvSpPr>
          <p:cNvPr id="2004" name="Google Shape;2004;p10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Header design is more nuanced than it first seems!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have to juggle multiple goals: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Efficient implementation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Security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Future needs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