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369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7"/>
      <p:bold r:id="rId118"/>
      <p:italic r:id="rId119"/>
      <p:boldItalic r:id="rId120"/>
    </p:embeddedFont>
    <p:embeddedFont>
      <p:font typeface="Roboto" panose="02000000000000000000" pitchFamily="2" charset="0"/>
      <p:regular r:id="rId121"/>
      <p:bold r:id="rId122"/>
      <p:italic r:id="rId123"/>
      <p:boldItalic r:id="rId124"/>
    </p:embeddedFont>
    <p:embeddedFont>
      <p:font typeface="Roboto Light" panose="02000000000000000000" pitchFamily="2" charset="0"/>
      <p:regular r:id="rId125"/>
      <p:bold r:id="rId126"/>
      <p:italic r:id="rId127"/>
      <p:boldItalic r:id="rId128"/>
    </p:embeddedFont>
    <p:embeddedFont>
      <p:font typeface="Roboto Medium" panose="02000000000000000000" pitchFamily="2" charset="0"/>
      <p:regular r:id="rId129"/>
      <p:bold r:id="rId130"/>
      <p:italic r:id="rId131"/>
      <p:boldItalic r:id="rId1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4AED7C-ED2F-4A29-8AF1-92B1282AC53A}">
  <a:tblStyle styleId="{074AED7C-ED2F-4A29-8AF1-92B1282AC5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8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7.fntdata"/><Relationship Id="rId128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8.fntdata"/><Relationship Id="rId129" Type="http://schemas.openxmlformats.org/officeDocument/2006/relationships/font" Target="fonts/font1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3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4.fntdata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4.fntdata"/><Relationship Id="rId125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font" Target="fonts/font15.fntdata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13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font" Target="fonts/font1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modSld">
      <pc:chgData name="Zonghua Gu" userId="9a7e1853e1951ef5" providerId="LiveId" clId="{CF1FAA12-072C-4ED5-BA76-0FFFAEFDB88A}" dt="2026-02-01T06:01:04.524" v="14" actId="14100"/>
      <pc:docMkLst>
        <pc:docMk/>
      </pc:docMkLst>
      <pc:sldChg chg="addSp modSp new mod">
        <pc:chgData name="Zonghua Gu" userId="9a7e1853e1951ef5" providerId="LiveId" clId="{CF1FAA12-072C-4ED5-BA76-0FFFAEFDB88A}" dt="2026-02-01T06:01:04.524" v="14" actId="14100"/>
        <pc:sldMkLst>
          <pc:docMk/>
          <pc:sldMk cId="2379019245" sldId="369"/>
        </pc:sldMkLst>
        <pc:picChg chg="add mod">
          <ac:chgData name="Zonghua Gu" userId="9a7e1853e1951ef5" providerId="LiveId" clId="{CF1FAA12-072C-4ED5-BA76-0FFFAEFDB88A}" dt="2026-02-01T06:01:03.111" v="13" actId="1076"/>
          <ac:picMkLst>
            <pc:docMk/>
            <pc:sldMk cId="2379019245" sldId="369"/>
            <ac:picMk id="5" creationId="{F3591BFD-A2FC-587D-D99F-CCD0185D7D7D}"/>
          </ac:picMkLst>
        </pc:picChg>
        <pc:picChg chg="add mod">
          <ac:chgData name="Zonghua Gu" userId="9a7e1853e1951ef5" providerId="LiveId" clId="{CF1FAA12-072C-4ED5-BA76-0FFFAEFDB88A}" dt="2026-02-01T06:01:04.524" v="14" actId="14100"/>
          <ac:picMkLst>
            <pc:docMk/>
            <pc:sldMk cId="2379019245" sldId="369"/>
            <ac:picMk id="7" creationId="{A1CC1F92-DD01-99F9-6F4F-4F8D433DA2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86d2d46cd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86d2d46cd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week 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get to build a routing protocol. Today will be entirely focused on Distance-Vector approach and then we’ll talk about an alternative approach hopefully tomorrow.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 going to number them 1 through seven we'll come up with rules and when you put the seven rules together you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algorithm called the distance Vector protocol and it allows us to find shortest paths through the entire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let's Jump Right In so before we talk about any rules let me just give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29:41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a one slide one sentence version of this algorithm so all you have to do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if you hear about a path to a destination tell all your neighbors that's the oneliner version of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we're then going to spend a lot of time making it good but at a high level this is what it looks like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that mean let's say R1 wakes up one day and it sees that it has a hardcoded route to a so remember we said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static routes are the ones that are hardcoded if you're directly connected to a host then we will hardcode an entry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r1's table saying that your next top to a is direct so R1 wakes up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with this hardcoded entry and says I know a way to get to a so you know what I should do I should spread the love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tell all of my neighbors that if they want to reach a they should come through me so R1 thinks I can reach a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me go tell all of my neighbors so that if they want to reach a they can come through me as well so that's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does R1 go goes ahead and tells all of its neighbors hey everyone I am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 can reach a so if you ever want to talk to a send it to me and I got it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I'll send it to a for you so R2 and R3 hear this and now they can update their forwarding tables therefore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say if I want to send a packet to a I should forward it to R1 because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told me that they can reach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likewise R3 thinks and says well I just heard this message from R1 saying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a so if I ever want to send packets to a I should just forward packets to R1 because they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reach a so R2 and R3 can now program their forwarding tables with a path to a and because R2 and R3 can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they should also spread the love and tell their neighbors so R2 and R3 say we now know how to reach a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all of our neighbors how to reach a so that they can also join in on the fun and send packets to a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R2 and R3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all of their neighbors and they say I can reach a as well so if you ever want to send packets to a send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way and R4 R5 R6 R7 they all hear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message saying R2 can reach a and R3 can reach a so now they can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entries into their forwork table so R4 says well R2 claims they can reach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so if I ever want to talk to a I should send packets that way and R5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well R2 says they can reach a so if I ever want to send packets to a I will send them this way and the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also spread the love and tell their neighbors so their neighbors can also reach a so they talk to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neighbors saying I can reach a if you ever want to talk to a come through me and these routers can now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through a as well and if you do this enough times that you spread the love all across the network eventually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should have a forwarding table entry that points toward a these blue arrows form a valid directed delivery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 where all the arrows Point toward a and now regardless of who's sending packets anywhere all these routers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coordinate and send the packets toward a so at a very high level with a single line this is what you're supposed to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there is a critical difference between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and remember routing is the process of all the routers talking to each other to form uh valid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tables and forwarding is the process of receiving a packet from a user and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table to forward packets so routing is building the tables forwarding is using the tables that you just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you'll notice if you look at the demo is that the direction of packets being sent in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are opposites and this always trips people up so notice that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sharing information with their friends about the fact that they can reach a that information propagated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so it started at a and R1 at first these were the only two people who knew about a but slowly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radiated outwards and from a going F further and further and further away from a from the left side of your screen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right side of your screen propagating outwards from a until everyone knew the information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when you are forwarding when you actually have the tables filled in and you're ready to use the tables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sends you a packet and says please forward this packet toward a then the packets travel inwards toward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to see if anyone can think of multipath, or expiring issues or other issues with the sketch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picture we showed you earlier everything was nice there was only a single path so when you heard about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to reach a you just pointed your forwarding table in the direction toward a but that might not always be the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there are multiple paths to reach a destination so in this example as before R1 is the only one that knows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a at the very beginning so it tells all its friends it tells R2 and R4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R2 tells R3 and then R3 tells R5 and then R4 tells R5 so what happened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R3 and R4 both have a way to reach a so R5 is going to hear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paths R3 is going to say I can reach a if you send packets to me I'll get to a but R4 will also say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me I will also re J so R5 now has a choice it can either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its forwarding table to go via R3 or to go via R4 the next top to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could either be R3 or R4 there's a choice and remember we said that both of these would be valid paths they would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a but one of them is better than the other in other words the cost is less and ultimately we want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path so what R5 should really do is prefer the path with less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more problem is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actually not hear about both of the paths at the same time so in the picture we had before everything was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R5 heard about two different paths and it got to pick the best one but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always happen what if the costs come in at different times for example you your R5 and you hear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advertisement from R3 so R3 says I can reach a I'm 308 so what should R5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this point because R5 hasn't heard the second path yet it only knows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single path to a so what R5 has to do for now is say well is this the best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but it's what I have right now so I'm going to go ahead and use this one for now and if I hear a better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later I can change my mind so routers are allowed to change their mind if they hear about something better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that means is because routers have to be able to change their minds when they hear better routes they should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track of the routes so so far our forwarding tables just said a destination and a Next Top we are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add a third column that used to not be there and the third column helps us keep track of the best known cost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destination so before this little packet came in R5 had no idea where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 or even that a existed but then it heard a message from R3 and R3 said I 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 three if you want to send packets to a send them through me I am cost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and R5 thinks well that's great if you're three away I must be four away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will write down that I can pass packets to R3 and they will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I'll also leave a note to myself that this best known path has cost four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I'll get a better one later who knows but for now at least I have a path to a I don't know if it's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maybe better ones will come along maybe no other paths will come along but that's what I have right now and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hear a different path so now later down the line R4 sends a message to R5 and says I'm R4 I can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send it to me I am two away from a so R5 now thinks and realizes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what the old path that I had which was cost four is not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one is better R4 is 2 away so I must be three away so so actually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has cost three that's better than four three is better than four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R5 can now do is R5 can change its mind it says actually I don't need that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via R3 anymore with cost 4 I really want the path via R4 with cost three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better so R5 says I like the new one better and it's okay to change your mind and abandon old ones so this is what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do because of the fact that there are multiple paths and they might not all be revealed to you at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actually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build our algorithm so we'll piece it together and this slide will start from very empty to very full as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 in all the rules so these rules are repeated once per destination that's why it says for each destination we just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for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all link costs are one so so far we were just kind of being lazy and saying all the links were one so if someone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 am five away from a then you must be six away because your buddy was five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you must be six away that's true of all the link costs are one but if the link costs are not all one you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a little bit of math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take that rule that we just talked about and write it out that summation looks like this it's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advertised cost the cost that you received from your buddy plus the link cost to the neighbor that's what we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rule one look familiar from other classes or algorithms that you’ve encountered? Can you think of any?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this thing should hopefully look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familiar if you've taken a data structures class because this is exactly what you do to run a shortest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like dyra algorithm do people know Dyer's algorithm do they remember it kind of sort of okay I saw my hands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up that's good so this is the operation in dyra algorithm that actually makes it work if you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your stuff you might remember it's called relaxation although I don't really what it's called but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 that people use and basically to run dyra algorithm to get the shortest paths in a graph you just do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 over and over again so we could actually build a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based on dyis algorithm but I'm actually going to do it based on Bellman Ford which is another shortest pass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that does the same relaxation and the reason why I use one over the other will become more clear as we keep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but if you remember either of these algorithms which you don't have to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if you don't remember exactly how they work Dyer's algorithm relaxes things in a very specific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relax all the edges radiating outwards from The Source in order to get the shortest paths whereas Bellman 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you've ever seen it you can relax the edges in any order that you want as long as you relax everybody enough times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shortest path so the reason why I want to use Bellman Ford here instead of dstress is that b for doesn't impose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order in which I visit all the edges I can relax all the edges in any order that I feel like whereas Dyas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impose an order but both of them are based on this relaxation operation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the centralized bellman-ford algorithm in pseudo code. Let’s step through each component and then we’ll talk about how it’s distributed.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the distributed version have to take out this for loop. Routers can’t get in line or have a guarantee all will do this in order.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ow the difference with our version is that our version is distributed so we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58:35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don't have a list of all the routers we don't have a list of all the links no one is telling us that stuff so instead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58:42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we're still going to do the same thing but we're going to do it in a distributed way so this blue section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58:47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still exists but instead of initializing these dictionaries the way they did in their centralized version we'll just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58:53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have every router initialize their forwarding tables to for example empty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the topology might have changed maybe like a link went down or an operator changed the cost of one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so I know I said it's three earlier but I've actually changed my mind the graph itself has changed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changed my mind and a should really be eight away so when you see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you're tempted to see it and say oh was a and nine that's worse than four reject but actually R2 might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trying to tell you something it's trying to tell you hey the path has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changed because the network topology itself changed so you should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listen to me because I'm trying to tell you new information so we need to change our rule to not just reject all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worse but we need to accept in a case like this so R3 really should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I currently am going via R2 but R2 has just come along and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changed their mind so this really shouldn't say four anymore what should it say this should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say nine so I'm still forwarding via R2 to a but the new cost is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take care of another one another problem with the routing protocol and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general is that they are running on layer three which is best effort and best effort means that packets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so it could be the case that R1 has this new shiny path to a it's all great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it tries to tell R2 back it gets dropped R2 doesn't hear anything that's a problem R2 is not going to learn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to a that's a problem and we're going to solve it with probably the simplest dumbest solution to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 is to resend the advertisements every so often so instead of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this advertisement once and saying saying I'm R1 I can reach a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cost one you're going to send that exact same advertisement once every few seconds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 of seconds is the advertisement interval I think in practice it's like every 10 seconds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one second order of seconds as opposed to milliseconds or something that' be too fast but roughly the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 couple seconds that's called the advertisement interval and you send it over and over and over again and even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doesn't work the first time the second time or the third time it should work eventually assuming that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through this packet or this link this should work eventually after some time if every single packet gets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ask if that link even counts because it's dropping everything there a link that drops everything even count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link kind of philosophical not that important but basically that's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to ensuring reliability is just sending the same thing over and over and over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back to our favorite list of rule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ed56a414bf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ed56a414bf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eee90cc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eee90cc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ed56a414bf_0_1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ed56a414bf_0_1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keep going. Can anyone think of any optimization ideas?? 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37c67ec3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37c67ec3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37c67ec3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37c67ec3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37c67ec3e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37c67ec3e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7c67ec3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37c67ec3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37c67ec3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37c67ec3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7c67ec3e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37c67ec3e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37c67ec3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37c67ec3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37c67ec3e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37c67ec3e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37c67ec3e1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37c67ec3e1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37c67ec3e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37c67ec3e1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37c67ec3e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37c67ec3e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7c67ec3e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7c67ec3e1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37c67ec3e1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37c67ec3e1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37c67ec3e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37c67ec3e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37c67ec3e1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37c67ec3e1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37c67ec3e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37c67ec3e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37c67ec3e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37c67ec3e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c67ec3e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c67ec3e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37c67ec3e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37c67ec3e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37c67ec3e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37c67ec3e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37c67ec3e1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37c67ec3e1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37c67ec3e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37c67ec3e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7c67ec3e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7c67ec3e1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37c67ec3e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37c67ec3e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7c67ec3e1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7c67ec3e1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37c67ec3e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37c67ec3e1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37c67ec3e1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37c67ec3e1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37c67ec3e1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37c67ec3e1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7c67ec3e1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7c67ec3e1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37c67ec3e1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37c67ec3e1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37c67ec3e1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37c67ec3e1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37c67ec3e1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37c67ec3e1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37c67ec3e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37c67ec3e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37c67ec3e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37c67ec3e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37c67ec3e1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37c67ec3e1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337c67ec3e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337c67ec3e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37c67ec3e1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37c67ec3e1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37c67ec3e1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37c67ec3e1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37c67ec3e1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37c67ec3e1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37c67ec3e1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37c67ec3e1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7c67ec3e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37c67ec3e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37c67ec3e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37c67ec3e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37c67ec3e1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37c67ec3e1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37c67ec3e1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37c67ec3e1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7c67ec3e1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7c67ec3e1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37c67ec3e1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37c67ec3e1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37c67ec3e1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37c67ec3e1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37c67ec3e1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37c67ec3e1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37c67ec3e1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37c67ec3e1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37c67ec3e1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37c67ec3e1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37c67ec3e1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37c67ec3e1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7c67ec3e1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7c67ec3e1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37c67ec3e1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37c67ec3e1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37c67ec3e1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37c67ec3e1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37c67ec3e1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37c67ec3e1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37c67ec3e1_0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37c67ec3e1_0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37c67ec3e1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337c67ec3e1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37c67ec3e1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337c67ec3e1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37c67ec3e1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37c67ec3e1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37c67ec3e1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37c67ec3e1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latin typeface="Roboto Medium"/>
                <a:ea typeface="Roboto Medium"/>
                <a:cs typeface="Roboto Medium"/>
                <a:sym typeface="Roboto Medium"/>
              </a:rPr>
              <a:t>CS 168, Spring 2026 </a:t>
            </a:r>
            <a:r>
              <a:rPr lang="en" sz="16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 dirty="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Iuniana Oprescu</a:t>
            </a:r>
            <a:endParaRPr sz="1600" dirty="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Distance-Vector Protocols</a:t>
            </a:r>
            <a:endParaRPr sz="360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5 </a:t>
            </a:r>
            <a:r>
              <a:rPr lang="en" sz="1200">
                <a:solidFill>
                  <a:schemeClr val="accent4"/>
                </a:solidFill>
                <a:latin typeface="Roboto Medium"/>
                <a:ea typeface="Roboto Medium"/>
                <a:cs typeface="Roboto Medium"/>
                <a:sym typeface="Roboto Medium"/>
              </a:rPr>
              <a:t>(Routing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/>
          <p:nvPr/>
        </p:nvCxnSpPr>
        <p:spPr>
          <a:xfrm>
            <a:off x="6393650" y="110342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24"/>
          <p:cNvSpPr/>
          <p:nvPr/>
        </p:nvSpPr>
        <p:spPr>
          <a:xfrm>
            <a:off x="7623813" y="1776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" name="Google Shape;148;p24"/>
          <p:cNvCxnSpPr>
            <a:stCxn id="149" idx="3"/>
            <a:endCxn id="147" idx="1"/>
          </p:cNvCxnSpPr>
          <p:nvPr/>
        </p:nvCxnSpPr>
        <p:spPr>
          <a:xfrm rot="10800000" flipH="1">
            <a:off x="6073163" y="191945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24"/>
          <p:cNvSpPr/>
          <p:nvPr/>
        </p:nvSpPr>
        <p:spPr>
          <a:xfrm>
            <a:off x="5788163" y="177785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5788163" y="93965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" name="Google Shape;151;p24"/>
          <p:cNvCxnSpPr>
            <a:stCxn id="150" idx="3"/>
            <a:endCxn id="147" idx="1"/>
          </p:cNvCxnSpPr>
          <p:nvPr/>
        </p:nvCxnSpPr>
        <p:spPr>
          <a:xfrm>
            <a:off x="6073163" y="108215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p24"/>
          <p:cNvSpPr/>
          <p:nvPr/>
        </p:nvSpPr>
        <p:spPr>
          <a:xfrm>
            <a:off x="5102363" y="177785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" name="Google Shape;153;p24"/>
          <p:cNvCxnSpPr>
            <a:stCxn id="152" idx="6"/>
            <a:endCxn id="149" idx="1"/>
          </p:cNvCxnSpPr>
          <p:nvPr/>
        </p:nvCxnSpPr>
        <p:spPr>
          <a:xfrm>
            <a:off x="5387363" y="192035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4" name="Google Shape;154;p24"/>
          <p:cNvCxnSpPr>
            <a:stCxn id="152" idx="0"/>
            <a:endCxn id="150" idx="1"/>
          </p:cNvCxnSpPr>
          <p:nvPr/>
        </p:nvCxnSpPr>
        <p:spPr>
          <a:xfrm rot="10800000" flipH="1">
            <a:off x="5244863" y="108215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rot="10800000" flipH="1">
            <a:off x="3104200" y="2776179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 flipH="1">
            <a:off x="4658750" y="22433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rot="10800000" flipH="1">
            <a:off x="4658750" y="382470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0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30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30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" name="Google Shape;436;p31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1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rot="10800000" flipH="1">
            <a:off x="6248875" y="2124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rot="10800000" flipH="1">
            <a:off x="6248875" y="2886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rot="10800000" flipH="1">
            <a:off x="6248875" y="3688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rot="10800000" flipH="1">
            <a:off x="6248875" y="4450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2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2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2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2"/>
          <p:cNvSpPr txBox="1"/>
          <p:nvPr/>
        </p:nvSpPr>
        <p:spPr>
          <a:xfrm rot="505875" flipH="1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32"/>
          <p:cNvSpPr txBox="1"/>
          <p:nvPr/>
        </p:nvSpPr>
        <p:spPr>
          <a:xfrm rot="505875" flipH="1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32"/>
          <p:cNvSpPr txBox="1"/>
          <p:nvPr/>
        </p:nvSpPr>
        <p:spPr>
          <a:xfrm rot="505875" flipH="1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2"/>
          <p:cNvSpPr txBox="1"/>
          <p:nvPr/>
        </p:nvSpPr>
        <p:spPr>
          <a:xfrm rot="505875" flipH="1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reach A") propagated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packets toward A, packets travel </a:t>
            </a:r>
            <a:r>
              <a:rPr lang="en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lang="en" b="1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name="adj1" fmla="val -60451"/>
              <a:gd name="adj2" fmla="val 59041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8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8" name="Google Shape;668;p39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name="adj1" fmla="val -68383"/>
              <a:gd name="adj2" fmla="val 5386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rot="10800000" flipH="1">
            <a:off x="2558725" y="37996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name="adj1" fmla="val -64779"/>
              <a:gd name="adj2" fmla="val 5994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Distributed Bellman-Ford Algorithm</a:t>
            </a:r>
            <a:endParaRPr dirty="0"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Careful viewers might have noticed this operation looks familiar.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"If cost to neighbor + cost from neighbor to destination &lt; best-known cost,</a:t>
            </a:r>
            <a:br>
              <a:rPr lang="en" dirty="0"/>
            </a:br>
            <a:r>
              <a:rPr lang="en" dirty="0"/>
              <a:t>accept update."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This is the relaxation operation in Dijkstra's shortest path algorithm!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Bellman-Ford</a:t>
            </a:r>
            <a:r>
              <a:rPr lang="en" dirty="0"/>
              <a:t> is another relaxation-based shortest path algorithm.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Relax every edge repeatedly until we get shortest paths.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Unlike Dijkstra's, does not require relaxing the edges in any specific order.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Distance-vector algorithms are a </a:t>
            </a:r>
            <a:r>
              <a:rPr lang="en" i="1" dirty="0"/>
              <a:t>distributed</a:t>
            </a:r>
            <a:r>
              <a:rPr lang="en" dirty="0"/>
              <a:t>, </a:t>
            </a:r>
            <a:r>
              <a:rPr lang="en" i="1" dirty="0"/>
              <a:t>asynchronous</a:t>
            </a:r>
            <a:r>
              <a:rPr lang="en" dirty="0"/>
              <a:t> version of Bellman-Ford.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Distributed: Each router relaxes its own links. No global mastermind.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Asynchronous: Nobody is syncing when the routers do relaxations.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Distributed Bellman-Ford Algorithm</a:t>
            </a:r>
            <a:endParaRPr dirty="0"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73014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centralized Bellman-Ford algorithm for a single destination: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</a:rPr>
              <a:t> 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if distance[r1] + linkcost &lt; distance[r2]: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distance[r2] = distance[r1] + linkcost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nexthop[r2] = r1</a:t>
            </a:r>
            <a:endParaRPr sz="16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518400" y="1338950"/>
            <a:ext cx="3600000" cy="14352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314375" y="1432400"/>
            <a:ext cx="402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464775" y="3447175"/>
            <a:ext cx="4907400" cy="8244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488750" y="3719500"/>
            <a:ext cx="2028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564425" y="2855950"/>
            <a:ext cx="4181400" cy="5241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4896550" y="2278397"/>
            <a:ext cx="39153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Bellman-Ford loops through nodes and relaxes repeatedly. 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both directions as links between routers.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CCB2-AD25-EEA2-B6C4-413BF5C6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9D4C8-B2F0-0D85-871C-FFB083FE4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91BFD-A2FC-587D-D99F-CCD0185D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6" y="2652544"/>
            <a:ext cx="5507833" cy="2490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C1F92-DD01-99F9-6F4F-4F8D433DA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0" y="0"/>
            <a:ext cx="5629183" cy="26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19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 Demo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lang="en" b="1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lang="en" b="1"/>
              <a:t> advertising</a:t>
            </a:r>
            <a:r>
              <a:rPr lang="en"/>
              <a:t> a route.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name="adj1" fmla="val -43228"/>
              <a:gd name="adj2" fmla="val 8511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name="adj1" fmla="val 40754"/>
              <a:gd name="adj2" fmla="val 8503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lang="en" b="1"/>
              <a:t>converge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lang="en" i="1"/>
              <a:t>indefinitely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Steady-state</a:t>
            </a:r>
            <a:r>
              <a:rPr lang="en"/>
              <a:t> occurs when the network has converged.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lang="en" i="1"/>
              <a:t>X</a:t>
            </a:r>
            <a:r>
              <a:rPr lang="en"/>
              <a:t> seconds.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X</a:t>
            </a:r>
            <a:r>
              <a:rPr lang="en"/>
              <a:t> is the "advertisement interval."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4" name="Google Shape;1074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92" name="Google Shape;1092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11" name="Google Shape;1111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back to 11.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27" name="Google Shape;1127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59" name="Google Shape;1159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60" name="Google Shape;1160;p73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3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Timers</a:t>
            </a:r>
            <a:endParaRPr/>
          </a:p>
        </p:txBody>
      </p:sp>
      <p:sp>
        <p:nvSpPr>
          <p:cNvPr id="1175" name="Google Shape;1175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maintain multiple timers: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Advertisement interval: How long before we advertise routes to neighbors.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Usually one timer for all entries in the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TTL: How long before we expire a route.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table entry has its own TTL.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181" name="Google Shape;1181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</a:t>
            </a:r>
            <a:r>
              <a:rPr lang="en">
                <a:solidFill>
                  <a:schemeClr val="accent2"/>
                </a:solidFill>
              </a:rPr>
              <a:t>and reset TTL </a:t>
            </a:r>
            <a:r>
              <a:rPr lang="en"/>
              <a:t>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If a table entry expires, delete it. </a:t>
            </a:r>
            <a:r>
              <a:rPr lang="en" sz="1400">
                <a:solidFill>
                  <a:schemeClr val="accent3"/>
                </a:solidFill>
              </a:rPr>
              <a:t>(#4)</a:t>
            </a:r>
            <a:endParaRPr sz="140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is a mostly-functional protocol now.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Let's add some optimizations for faster convergence.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5: Poison Expired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87" name="Google Shape;1187;p7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5: Poison Expired Routes</a:t>
            </a:r>
            <a:endParaRPr/>
          </a:p>
        </p:txBody>
      </p:sp>
      <p:sp>
        <p:nvSpPr>
          <p:cNvPr id="1188" name="Google Shape;1188;p7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194" name="Google Shape;1194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195" name="Google Shape;1195;p77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6" name="Google Shape;1196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9" name="Google Shape;1199;p77"/>
          <p:cNvCxnSpPr>
            <a:stCxn id="1200" idx="3"/>
            <a:endCxn id="1198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0" name="Google Shape;1200;p77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7"/>
          <p:cNvCxnSpPr>
            <a:stCxn id="1201" idx="3"/>
            <a:endCxn id="1198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3" name="Google Shape;1203;p77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77"/>
          <p:cNvCxnSpPr>
            <a:stCxn id="1203" idx="6"/>
            <a:endCxn id="1200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77"/>
          <p:cNvCxnSpPr>
            <a:stCxn id="1203" idx="0"/>
            <a:endCxn id="1201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77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15" name="Google Shape;1215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16" name="Google Shape;1216;p78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17" name="Google Shape;1217;p78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78"/>
          <p:cNvSpPr txBox="1"/>
          <p:nvPr/>
        </p:nvSpPr>
        <p:spPr>
          <a:xfrm>
            <a:off x="4219450" y="1785000"/>
            <a:ext cx="4363500" cy="13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Pause right here.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this point, we know the path via R2 is busted.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But R3 won't know until the timeout 10s later.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R3 knew now, it could accept the new path. Instead, R3 rejects the new path, thinking the busted path is still valid.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8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1" name="Google Shape;1221;p78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2" name="Google Shape;1222;p78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8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8"/>
          <p:cNvCxnSpPr>
            <a:stCxn id="1225" idx="3"/>
            <a:endCxn id="1223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78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78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78"/>
          <p:cNvCxnSpPr>
            <a:stCxn id="1226" idx="3"/>
            <a:endCxn id="1223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78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78"/>
          <p:cNvCxnSpPr>
            <a:stCxn id="1228" idx="6"/>
            <a:endCxn id="1225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78"/>
          <p:cNvCxnSpPr>
            <a:stCxn id="1228" idx="0"/>
            <a:endCxn id="1226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5" name="Google Shape;1235;p7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6" name="Google Shape;1236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44" name="Google Shape;1244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45" name="Google Shape;1245;p7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6" name="Google Shape;1246;p79"/>
          <p:cNvCxnSpPr>
            <a:stCxn id="1247" idx="3"/>
            <a:endCxn id="124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7" name="Google Shape;1247;p7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9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9" name="Google Shape;1249;p79"/>
          <p:cNvCxnSpPr>
            <a:stCxn id="1248" idx="3"/>
            <a:endCxn id="124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7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79"/>
          <p:cNvCxnSpPr>
            <a:stCxn id="1250" idx="6"/>
            <a:endCxn id="124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79"/>
          <p:cNvCxnSpPr>
            <a:stCxn id="1250" idx="0"/>
            <a:endCxn id="124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58" name="Google Shape;1258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59" name="Google Shape;1259;p8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60" name="Google Shape;1260;p8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Again, R3 is forced to reject this new path, because it's still waiting for the busted path to time out.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80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80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4" name="Google Shape;1264;p80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0"/>
          <p:cNvCxnSpPr>
            <a:stCxn id="1267" idx="3"/>
            <a:endCxn id="12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7" name="Google Shape;1267;p8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80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80"/>
          <p:cNvCxnSpPr>
            <a:stCxn id="1268" idx="3"/>
            <a:endCxn id="126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0" name="Google Shape;1270;p8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0"/>
          <p:cNvCxnSpPr>
            <a:stCxn id="1270" idx="6"/>
            <a:endCxn id="12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80"/>
          <p:cNvCxnSpPr>
            <a:stCxn id="1270" idx="0"/>
            <a:endCxn id="126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7" name="Google Shape;1277;p8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78" name="Google Shape;1278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86" name="Google Shape;1286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87" name="Google Shape;1287;p8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8" name="Google Shape;1288;p81"/>
          <p:cNvCxnSpPr>
            <a:stCxn id="1289" idx="3"/>
            <a:endCxn id="128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8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81"/>
          <p:cNvCxnSpPr>
            <a:stCxn id="1290" idx="3"/>
            <a:endCxn id="1287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8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81"/>
          <p:cNvCxnSpPr>
            <a:stCxn id="1292" idx="6"/>
            <a:endCxn id="128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81"/>
          <p:cNvCxnSpPr>
            <a:stCxn id="1292" idx="0"/>
            <a:endCxn id="1290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300" name="Google Shape;1300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301" name="Google Shape;1301;p8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2" name="Google Shape;1302;p8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82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82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8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6" name="Google Shape;1306;p82"/>
          <p:cNvCxnSpPr>
            <a:stCxn id="1307" idx="3"/>
            <a:endCxn id="130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7" name="Google Shape;1307;p8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2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82"/>
          <p:cNvCxnSpPr>
            <a:stCxn id="1308" idx="3"/>
            <a:endCxn id="130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0" name="Google Shape;1310;p8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82"/>
          <p:cNvCxnSpPr>
            <a:stCxn id="1310" idx="6"/>
            <a:endCxn id="130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12" name="Google Shape;1312;p82"/>
          <p:cNvCxnSpPr>
            <a:stCxn id="1310" idx="0"/>
            <a:endCxn id="130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3" name="Google Shape;1313;p82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my old path just expired.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82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5" name="Google Shape;1315;p82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2"/>
          <p:cNvSpPr txBox="1"/>
          <p:nvPr/>
        </p:nvSpPr>
        <p:spPr>
          <a:xfrm>
            <a:off x="4981450" y="2166000"/>
            <a:ext cx="3268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we alert R3 of the failure </a:t>
            </a:r>
            <a:r>
              <a:rPr lang="en" i="1">
                <a:latin typeface="Roboto"/>
                <a:ea typeface="Roboto"/>
                <a:cs typeface="Roboto"/>
                <a:sym typeface="Roboto"/>
              </a:rPr>
              <a:t>sooner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so it can delete the old busted path earlier (and start accepting new paths)?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2" name="Google Shape;1322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keep a busted path in the forwarding table for a long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Packets might get lost during this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might advertise that busted route to other people.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might reject new paths, thinking the busted path is still valid.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have converged on a better path earlier.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problem: When something fails, nobody's reporting 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</a:t>
            </a:r>
            <a:r>
              <a:rPr lang="en" b="1"/>
              <a:t>Poison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advertise that a path is busted.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path with cost infinity represents a busted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path propagates just like any other path.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accept the poison path to invalidate the route.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much faster than waiting for timeouts!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8" name="Google Shape;1328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graphicFrame>
        <p:nvGraphicFramePr>
          <p:cNvPr id="1329" name="Google Shape;1329;p84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0" name="Google Shape;1330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3" name="Google Shape;1333;p84"/>
          <p:cNvCxnSpPr>
            <a:stCxn id="1334" idx="3"/>
            <a:endCxn id="1332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4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84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84"/>
          <p:cNvCxnSpPr>
            <a:stCxn id="1335" idx="3"/>
            <a:endCxn id="1332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84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8" name="Google Shape;1338;p84"/>
          <p:cNvCxnSpPr>
            <a:stCxn id="1337" idx="6"/>
            <a:endCxn id="1334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84"/>
          <p:cNvCxnSpPr>
            <a:stCxn id="1337" idx="0"/>
            <a:endCxn id="1335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0" name="Google Shape;1340;p84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Google Shape;1348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50" name="Google Shape;1350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51" name="Google Shape;1351;p85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4397500" y="4455575"/>
            <a:ext cx="4078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updates the table to indicate the path is busted. TTL recharges, just like any other update.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85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3350125" y="3491450"/>
            <a:ext cx="18057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Looks like the path via R2 is busted.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85"/>
          <p:cNvCxnSpPr>
            <a:stCxn id="1357" idx="3"/>
            <a:endCxn id="135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85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85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85"/>
          <p:cNvCxnSpPr>
            <a:stCxn id="1358" idx="3"/>
            <a:endCxn id="135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85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85"/>
          <p:cNvCxnSpPr>
            <a:stCxn id="1360" idx="6"/>
            <a:endCxn id="135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85"/>
          <p:cNvCxnSpPr>
            <a:stCxn id="1360" idx="0"/>
            <a:endCxn id="135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85"/>
          <p:cNvSpPr/>
          <p:nvPr/>
        </p:nvSpPr>
        <p:spPr>
          <a:xfrm>
            <a:off x="1224275" y="4313300"/>
            <a:ext cx="15507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65" name="Google Shape;1365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0" name="Google Shape;1370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73" name="Google Shape;1373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74" name="Google Shape;1374;p86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was able to accept the new route way earlier!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t=6 with poison, t=16 without poison.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86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that's better than infinity.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86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9" name="Google Shape;1379;p86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86"/>
          <p:cNvCxnSpPr>
            <a:stCxn id="1382" idx="3"/>
            <a:endCxn id="1380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2" name="Google Shape;1382;p86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6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86"/>
          <p:cNvCxnSpPr>
            <a:stCxn id="1383" idx="3"/>
            <a:endCxn id="1380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5" name="Google Shape;1385;p86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6" name="Google Shape;1386;p86"/>
          <p:cNvCxnSpPr>
            <a:stCxn id="1385" idx="6"/>
            <a:endCxn id="1382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86"/>
          <p:cNvCxnSpPr>
            <a:stCxn id="1385" idx="0"/>
            <a:endCxn id="1383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3" name="Google Shape;1393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does poison come from?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your routes times 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notice a local failure, e.g. one of your links goes down.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one of those occurs: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the entry: Set cost to infinity, reset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9" name="Google Shape;1399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get a poison advertisement from the current next-hop: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it, even if you have a better path.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Because the next-hop is telling you that the route no longer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Similar to Rule #2: accept worse paths from current next-hop.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update the table with a poison route: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the TTL, just like any other table update.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neighbors, so they also know about the busted route.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Don't forward packets along a poisoned route.</a:t>
            </a:r>
            <a:endParaRPr/>
          </a:p>
        </p:txBody>
      </p:sp>
      <p:graphicFrame>
        <p:nvGraphicFramePr>
          <p:cNvPr id="1400" name="Google Shape;1400;p88"/>
          <p:cNvGraphicFramePr/>
          <p:nvPr/>
        </p:nvGraphicFramePr>
        <p:xfrm>
          <a:off x="1288844" y="427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01" name="Google Shape;1401;p88"/>
          <p:cNvCxnSpPr/>
          <p:nvPr/>
        </p:nvCxnSpPr>
        <p:spPr>
          <a:xfrm rot="10800000">
            <a:off x="3293000" y="4493925"/>
            <a:ext cx="59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2" name="Google Shape;1402;p88"/>
          <p:cNvSpPr txBox="1"/>
          <p:nvPr/>
        </p:nvSpPr>
        <p:spPr>
          <a:xfrm>
            <a:off x="3927375" y="4358475"/>
            <a:ext cx="166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forward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408" name="Google Shape;1408;p8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>
                <a:solidFill>
                  <a:schemeClr val="accent2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</a:t>
            </a:r>
            <a:r>
              <a:rPr lang="en">
                <a:solidFill>
                  <a:schemeClr val="accent2"/>
                </a:solidFill>
              </a:rPr>
              <a:t>make the entry poison and advertise it</a:t>
            </a:r>
            <a:r>
              <a:rPr lang="en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6A:</a:t>
            </a:r>
            <a:br>
              <a:rPr lang="en"/>
            </a:br>
            <a:r>
              <a:rPr lang="en"/>
              <a:t>Split Horizon</a:t>
            </a:r>
            <a:endParaRPr/>
          </a:p>
        </p:txBody>
      </p:sp>
      <p:sp>
        <p:nvSpPr>
          <p:cNvPr id="1414" name="Google Shape;1414;p9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6A: Split Horizon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15" name="Google Shape;1415;p9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91"/>
          <p:cNvCxnSpPr>
            <a:stCxn id="1422" idx="6"/>
            <a:endCxn id="142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91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91"/>
          <p:cNvCxnSpPr>
            <a:stCxn id="1421" idx="3"/>
            <a:endCxn id="142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91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91"/>
          <p:cNvCxnSpPr>
            <a:stCxn id="1424" idx="3"/>
            <a:endCxn id="142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28" name="Google Shape;1428;p91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91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91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1" name="Google Shape;1431;p91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ran the algorithm for some time, and we converged to this steady-state.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subsequent advertisements will be rejected.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9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92"/>
          <p:cNvCxnSpPr>
            <a:stCxn id="1438" idx="6"/>
            <a:endCxn id="143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0" name="Google Shape;1440;p9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1" name="Google Shape;1441;p92"/>
          <p:cNvCxnSpPr>
            <a:stCxn id="1437" idx="3"/>
            <a:endCxn id="1440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9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92"/>
          <p:cNvCxnSpPr>
            <a:stCxn id="1440" idx="3"/>
            <a:endCxn id="144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44" name="Google Shape;1444;p9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5" name="Google Shape;1445;p9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6" name="Google Shape;1446;p9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47" name="Google Shape;1447;p92"/>
          <p:cNvCxnSpPr/>
          <p:nvPr/>
        </p:nvCxnSpPr>
        <p:spPr>
          <a:xfrm>
            <a:off x="5246845" y="3680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48" name="Google Shape;1448;p92"/>
          <p:cNvSpPr/>
          <p:nvPr/>
        </p:nvSpPr>
        <p:spPr>
          <a:xfrm>
            <a:off x="5393400" y="2844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92"/>
          <p:cNvSpPr/>
          <p:nvPr/>
        </p:nvSpPr>
        <p:spPr>
          <a:xfrm>
            <a:off x="2888650" y="27802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Rejected. I have cost 2, and you're offering cost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Google Shape;145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55" name="Google Shape;1455;p93"/>
          <p:cNvCxnSpPr>
            <a:stCxn id="1456" idx="3"/>
            <a:endCxn id="1457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58" name="Google Shape;1458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9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93"/>
          <p:cNvCxnSpPr>
            <a:stCxn id="1459" idx="6"/>
            <a:endCxn id="1456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7" name="Google Shape;1457;p9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9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93"/>
          <p:cNvCxnSpPr>
            <a:stCxn id="1457" idx="3"/>
            <a:endCxn id="1461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63" name="Google Shape;1463;p9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6" name="Google Shape;1466;p9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1" name="Google Shape;1471;p94"/>
          <p:cNvCxnSpPr>
            <a:stCxn id="1472" idx="3"/>
            <a:endCxn id="147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74" name="Google Shape;1474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72" name="Google Shape;1472;p9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94"/>
          <p:cNvCxnSpPr>
            <a:stCxn id="1475" idx="6"/>
            <a:endCxn id="147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3" name="Google Shape;1473;p9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9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8" name="Google Shape;1478;p94"/>
          <p:cNvCxnSpPr>
            <a:stCxn id="1473" idx="3"/>
            <a:endCxn id="147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79" name="Google Shape;1479;p9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0" name="Google Shape;1480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9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82" name="Google Shape;1482;p9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83" name="Google Shape;1483;p9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9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5" name="Google Shape;1485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0" name="Google Shape;1490;p95"/>
          <p:cNvCxnSpPr>
            <a:stCxn id="1491" idx="3"/>
            <a:endCxn id="149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1493" name="Google Shape;1493;p95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4" name="Google Shape;1494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91" name="Google Shape;1491;p95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95"/>
          <p:cNvCxnSpPr>
            <a:stCxn id="1495" idx="6"/>
            <a:endCxn id="149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2" name="Google Shape;1492;p95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95"/>
          <p:cNvCxnSpPr>
            <a:stCxn id="1492" idx="3"/>
            <a:endCxn id="149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99" name="Google Shape;1499;p95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0" name="Google Shape;1500;p95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01" name="Google Shape;1501;p95"/>
          <p:cNvCxnSpPr/>
          <p:nvPr/>
        </p:nvCxnSpPr>
        <p:spPr>
          <a:xfrm rot="10800000">
            <a:off x="51148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51208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95"/>
          <p:cNvCxnSpPr/>
          <p:nvPr/>
        </p:nvCxnSpPr>
        <p:spPr>
          <a:xfrm rot="10800000">
            <a:off x="61816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4" name="Google Shape;1504;p95"/>
          <p:cNvSpPr txBox="1"/>
          <p:nvPr/>
        </p:nvSpPr>
        <p:spPr>
          <a:xfrm>
            <a:off x="61876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5"/>
          <p:cNvSpPr txBox="1"/>
          <p:nvPr/>
        </p:nvSpPr>
        <p:spPr>
          <a:xfrm>
            <a:off x="4855650" y="3084450"/>
            <a:ext cx="217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made a routing loop!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0" name="Google Shape;1510;p96"/>
          <p:cNvCxnSpPr>
            <a:stCxn id="1511" idx="3"/>
            <a:endCxn id="151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13" name="Google Shape;1513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511" name="Google Shape;1511;p9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96"/>
          <p:cNvCxnSpPr>
            <a:stCxn id="1514" idx="6"/>
            <a:endCxn id="151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2" name="Google Shape;1512;p9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6"/>
          <p:cNvCxnSpPr>
            <a:stCxn id="1512" idx="3"/>
            <a:endCxn id="151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18" name="Google Shape;1518;p9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9" name="Google Shape;1519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0" name="Google Shape;1520;p9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1" name="Google Shape;1521;p96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22" name="Google Shape;1522;p96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6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4" name="Google Shape;1524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25" name="Google Shape;1525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("me" = R2):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gave R3 a path via me, and R3 accepted.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R3 turned around and gave me that same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being offered a path that goes through myself!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Normally, I would never accept, because a path with a loop is longer.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route, I might accept and create a loop.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Split Horizon – The Problem</a:t>
            </a:r>
            <a:endParaRPr/>
          </a:p>
        </p:txBody>
      </p:sp>
      <p:sp>
        <p:nvSpPr>
          <p:cNvPr id="1531" name="Google Shape;1531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split horizon problem: When I give someone a path, they advertise it back to me.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goes from me → them → 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with extra loop is always longer, so I'd never accept.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routes, I might accept.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might not realize the path is going through me.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Don't advertise a path back to the person who gave it to you.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advertises a route to 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can advertise that route to everybody </a:t>
            </a:r>
            <a:r>
              <a:rPr lang="en" i="1"/>
              <a:t>except A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 Don't advertise paths back to the next-hop (the person who gave you the path).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537" name="Google Shape;1537;p9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6B:</a:t>
            </a:r>
            <a:br>
              <a:rPr lang="en"/>
            </a:br>
            <a:r>
              <a:rPr lang="en"/>
              <a:t>Poison Reverse</a:t>
            </a:r>
            <a:endParaRPr/>
          </a:p>
        </p:txBody>
      </p:sp>
      <p:sp>
        <p:nvSpPr>
          <p:cNvPr id="1543" name="Google Shape;1543;p9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6B: Poison Reverse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44" name="Google Shape;1544;p9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550" name="Google Shape;1550;p10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If R1 gives me a route, don't advertise it to R1.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tell R1 anything.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If R1 gives me a route, advertise poison back to R1.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tell R1: "Do not forward packets to me."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 is an alternative way to avoid routing loops.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556" name="Google Shape;1556;p101"/>
          <p:cNvSpPr/>
          <p:nvPr/>
        </p:nvSpPr>
        <p:spPr>
          <a:xfrm>
            <a:off x="19711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1"/>
          <p:cNvCxnSpPr>
            <a:stCxn id="1558" idx="3"/>
            <a:endCxn id="1556" idx="1"/>
          </p:cNvCxnSpPr>
          <p:nvPr/>
        </p:nvCxnSpPr>
        <p:spPr>
          <a:xfrm>
            <a:off x="605888" y="18720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101"/>
          <p:cNvCxnSpPr/>
          <p:nvPr/>
        </p:nvCxnSpPr>
        <p:spPr>
          <a:xfrm>
            <a:off x="736438" y="17701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0" name="Google Shape;1560;p101"/>
          <p:cNvSpPr/>
          <p:nvPr/>
        </p:nvSpPr>
        <p:spPr>
          <a:xfrm>
            <a:off x="834288" y="11333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01"/>
          <p:cNvCxnSpPr>
            <a:stCxn id="1556" idx="3"/>
          </p:cNvCxnSpPr>
          <p:nvPr/>
        </p:nvCxnSpPr>
        <p:spPr>
          <a:xfrm rot="10800000" flipH="1">
            <a:off x="2256188" y="12159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62;p101"/>
          <p:cNvCxnSpPr>
            <a:stCxn id="1556" idx="3"/>
          </p:cNvCxnSpPr>
          <p:nvPr/>
        </p:nvCxnSpPr>
        <p:spPr>
          <a:xfrm rot="10800000" flipH="1">
            <a:off x="2256188" y="16593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63;p101"/>
          <p:cNvCxnSpPr>
            <a:stCxn id="1556" idx="3"/>
          </p:cNvCxnSpPr>
          <p:nvPr/>
        </p:nvCxnSpPr>
        <p:spPr>
          <a:xfrm>
            <a:off x="2256188" y="18720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4" name="Google Shape;1564;p101"/>
          <p:cNvCxnSpPr>
            <a:stCxn id="1556" idx="3"/>
          </p:cNvCxnSpPr>
          <p:nvPr/>
        </p:nvCxnSpPr>
        <p:spPr>
          <a:xfrm>
            <a:off x="2256188" y="18720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5" name="Google Shape;1565;p101"/>
          <p:cNvSpPr txBox="1"/>
          <p:nvPr/>
        </p:nvSpPr>
        <p:spPr>
          <a:xfrm>
            <a:off x="605975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Horizon: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101"/>
          <p:cNvCxnSpPr>
            <a:stCxn id="1567" idx="3"/>
            <a:endCxn id="1568" idx="1"/>
          </p:cNvCxnSpPr>
          <p:nvPr/>
        </p:nvCxnSpPr>
        <p:spPr>
          <a:xfrm>
            <a:off x="5189988" y="18720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9" name="Google Shape;1569;p101"/>
          <p:cNvCxnSpPr/>
          <p:nvPr/>
        </p:nvCxnSpPr>
        <p:spPr>
          <a:xfrm>
            <a:off x="5320538" y="17713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101"/>
          <p:cNvSpPr/>
          <p:nvPr/>
        </p:nvSpPr>
        <p:spPr>
          <a:xfrm>
            <a:off x="5418388" y="11345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 txBox="1"/>
          <p:nvPr/>
        </p:nvSpPr>
        <p:spPr>
          <a:xfrm>
            <a:off x="5190000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Poison Reverse: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65552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101"/>
          <p:cNvCxnSpPr>
            <a:stCxn id="1568" idx="3"/>
          </p:cNvCxnSpPr>
          <p:nvPr/>
        </p:nvCxnSpPr>
        <p:spPr>
          <a:xfrm rot="10800000" flipH="1">
            <a:off x="6840288" y="12159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3" name="Google Shape;1573;p101"/>
          <p:cNvCxnSpPr>
            <a:stCxn id="1568" idx="3"/>
          </p:cNvCxnSpPr>
          <p:nvPr/>
        </p:nvCxnSpPr>
        <p:spPr>
          <a:xfrm rot="10800000" flipH="1">
            <a:off x="6840288" y="16593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4" name="Google Shape;1574;p101"/>
          <p:cNvCxnSpPr>
            <a:stCxn id="1568" idx="3"/>
          </p:cNvCxnSpPr>
          <p:nvPr/>
        </p:nvCxnSpPr>
        <p:spPr>
          <a:xfrm>
            <a:off x="6840288" y="18720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5" name="Google Shape;1575;p101"/>
          <p:cNvCxnSpPr>
            <a:stCxn id="1568" idx="3"/>
          </p:cNvCxnSpPr>
          <p:nvPr/>
        </p:nvCxnSpPr>
        <p:spPr>
          <a:xfrm>
            <a:off x="6840288" y="18720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6" name="Google Shape;1576;p101"/>
          <p:cNvSpPr/>
          <p:nvPr/>
        </p:nvSpPr>
        <p:spPr>
          <a:xfrm>
            <a:off x="1971188" y="340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101"/>
          <p:cNvCxnSpPr>
            <a:stCxn id="1578" idx="3"/>
            <a:endCxn id="1576" idx="1"/>
          </p:cNvCxnSpPr>
          <p:nvPr/>
        </p:nvCxnSpPr>
        <p:spPr>
          <a:xfrm>
            <a:off x="605888" y="35484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9" name="Google Shape;1579;p101"/>
          <p:cNvCxnSpPr/>
          <p:nvPr/>
        </p:nvCxnSpPr>
        <p:spPr>
          <a:xfrm rot="10800000" flipH="1">
            <a:off x="2441450" y="2866075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0" name="Google Shape;1580;p101"/>
          <p:cNvCxnSpPr>
            <a:stCxn id="1576" idx="3"/>
          </p:cNvCxnSpPr>
          <p:nvPr/>
        </p:nvCxnSpPr>
        <p:spPr>
          <a:xfrm rot="10800000" flipH="1">
            <a:off x="2256188" y="28923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101"/>
          <p:cNvCxnSpPr>
            <a:stCxn id="1576" idx="3"/>
          </p:cNvCxnSpPr>
          <p:nvPr/>
        </p:nvCxnSpPr>
        <p:spPr>
          <a:xfrm rot="10800000" flipH="1">
            <a:off x="2256188" y="33357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101"/>
          <p:cNvCxnSpPr>
            <a:stCxn id="1576" idx="3"/>
          </p:cNvCxnSpPr>
          <p:nvPr/>
        </p:nvCxnSpPr>
        <p:spPr>
          <a:xfrm>
            <a:off x="2256188" y="35484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101"/>
          <p:cNvCxnSpPr>
            <a:stCxn id="1576" idx="3"/>
          </p:cNvCxnSpPr>
          <p:nvPr/>
        </p:nvCxnSpPr>
        <p:spPr>
          <a:xfrm>
            <a:off x="2256188" y="35484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101"/>
          <p:cNvCxnSpPr/>
          <p:nvPr/>
        </p:nvCxnSpPr>
        <p:spPr>
          <a:xfrm rot="10800000" flipH="1">
            <a:off x="2493238" y="3273050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5" name="Google Shape;1585;p101"/>
          <p:cNvCxnSpPr/>
          <p:nvPr/>
        </p:nvCxnSpPr>
        <p:spPr>
          <a:xfrm>
            <a:off x="2510488" y="3549650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6" name="Google Shape;1586;p101"/>
          <p:cNvSpPr/>
          <p:nvPr/>
        </p:nvSpPr>
        <p:spPr>
          <a:xfrm>
            <a:off x="3143288" y="289235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101"/>
          <p:cNvCxnSpPr/>
          <p:nvPr/>
        </p:nvCxnSpPr>
        <p:spPr>
          <a:xfrm>
            <a:off x="2511650" y="3690950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8" name="Google Shape;1588;p101"/>
          <p:cNvSpPr/>
          <p:nvPr/>
        </p:nvSpPr>
        <p:spPr>
          <a:xfrm>
            <a:off x="6555288" y="3427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101"/>
          <p:cNvCxnSpPr>
            <a:stCxn id="1590" idx="3"/>
            <a:endCxn id="1588" idx="1"/>
          </p:cNvCxnSpPr>
          <p:nvPr/>
        </p:nvCxnSpPr>
        <p:spPr>
          <a:xfrm>
            <a:off x="5189988" y="3570425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1" name="Google Shape;1591;p101"/>
          <p:cNvCxnSpPr/>
          <p:nvPr/>
        </p:nvCxnSpPr>
        <p:spPr>
          <a:xfrm rot="10800000" flipH="1">
            <a:off x="7025550" y="2888050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2" name="Google Shape;1592;p101"/>
          <p:cNvCxnSpPr>
            <a:stCxn id="1588" idx="3"/>
          </p:cNvCxnSpPr>
          <p:nvPr/>
        </p:nvCxnSpPr>
        <p:spPr>
          <a:xfrm rot="10800000" flipH="1">
            <a:off x="6840288" y="2914325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3" name="Google Shape;1593;p101"/>
          <p:cNvCxnSpPr>
            <a:stCxn id="1588" idx="3"/>
          </p:cNvCxnSpPr>
          <p:nvPr/>
        </p:nvCxnSpPr>
        <p:spPr>
          <a:xfrm rot="10800000" flipH="1">
            <a:off x="6840288" y="3357725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4" name="Google Shape;1594;p101"/>
          <p:cNvCxnSpPr>
            <a:stCxn id="1588" idx="3"/>
          </p:cNvCxnSpPr>
          <p:nvPr/>
        </p:nvCxnSpPr>
        <p:spPr>
          <a:xfrm>
            <a:off x="6840288" y="3570425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5" name="Google Shape;1595;p101"/>
          <p:cNvCxnSpPr>
            <a:stCxn id="1588" idx="3"/>
          </p:cNvCxnSpPr>
          <p:nvPr/>
        </p:nvCxnSpPr>
        <p:spPr>
          <a:xfrm>
            <a:off x="6840288" y="3570425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101"/>
          <p:cNvCxnSpPr/>
          <p:nvPr/>
        </p:nvCxnSpPr>
        <p:spPr>
          <a:xfrm rot="10800000" flipH="1">
            <a:off x="7077338" y="3295025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7094588" y="3571625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8" name="Google Shape;1598;p101"/>
          <p:cNvSpPr/>
          <p:nvPr/>
        </p:nvSpPr>
        <p:spPr>
          <a:xfrm>
            <a:off x="7727388" y="2914325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101"/>
          <p:cNvCxnSpPr/>
          <p:nvPr/>
        </p:nvCxnSpPr>
        <p:spPr>
          <a:xfrm>
            <a:off x="7095750" y="3712925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0" name="Google Shape;1600;p101"/>
          <p:cNvCxnSpPr/>
          <p:nvPr/>
        </p:nvCxnSpPr>
        <p:spPr>
          <a:xfrm>
            <a:off x="5320538" y="34477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01" name="Google Shape;1601;p101"/>
          <p:cNvSpPr/>
          <p:nvPr/>
        </p:nvSpPr>
        <p:spPr>
          <a:xfrm>
            <a:off x="5418388" y="28109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605975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advertise anything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5190000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Explicitly advertise poison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01"/>
          <p:cNvSpPr/>
          <p:nvPr/>
        </p:nvSpPr>
        <p:spPr>
          <a:xfrm>
            <a:off x="3208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01"/>
          <p:cNvSpPr/>
          <p:nvPr/>
        </p:nvSpPr>
        <p:spPr>
          <a:xfrm>
            <a:off x="49049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8" name="Google Shape;1578;p101"/>
          <p:cNvSpPr/>
          <p:nvPr/>
        </p:nvSpPr>
        <p:spPr>
          <a:xfrm>
            <a:off x="320888" y="340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101"/>
          <p:cNvSpPr/>
          <p:nvPr/>
        </p:nvSpPr>
        <p:spPr>
          <a:xfrm>
            <a:off x="4904988" y="3427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101"/>
          <p:cNvCxnSpPr/>
          <p:nvPr/>
        </p:nvCxnSpPr>
        <p:spPr>
          <a:xfrm>
            <a:off x="4376350" y="506275"/>
            <a:ext cx="0" cy="44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610" name="Google Shape;1610;p10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2" name="Google Shape;1612;p102"/>
          <p:cNvCxnSpPr>
            <a:stCxn id="1611" idx="6"/>
            <a:endCxn id="1610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10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0" idx="3"/>
            <a:endCxn id="161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5" name="Google Shape;1615;p10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102"/>
          <p:cNvCxnSpPr>
            <a:stCxn id="1613" idx="3"/>
            <a:endCxn id="1615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17" name="Google Shape;1617;p10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8" name="Google Shape;1618;p10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9" name="Google Shape;1619;p10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20" name="Google Shape;1620;p102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Let's watch the demo again, but with poison reverse this time.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 before, we first reach steady 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5" name="Google Shape;162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26" name="Google Shape;1626;p103"/>
          <p:cNvCxnSpPr>
            <a:stCxn id="1627" idx="3"/>
            <a:endCxn id="1628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29" name="Google Shape;1629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27" name="Google Shape;1627;p10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1" name="Google Shape;1631;p103"/>
          <p:cNvCxnSpPr>
            <a:stCxn id="1630" idx="6"/>
            <a:endCxn id="162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8" name="Google Shape;1628;p10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103"/>
          <p:cNvCxnSpPr>
            <a:stCxn id="1628" idx="3"/>
            <a:endCxn id="163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34" name="Google Shape;1634;p10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5" name="Google Shape;163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6" name="Google Shape;1636;p10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37" name="Google Shape;1637;p10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2" name="Google Shape;1642;p104"/>
          <p:cNvCxnSpPr>
            <a:stCxn id="1643" idx="3"/>
            <a:endCxn id="164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45" name="Google Shape;164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43" name="Google Shape;1643;p10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7" name="Google Shape;1647;p104"/>
          <p:cNvCxnSpPr>
            <a:stCxn id="1646" idx="6"/>
            <a:endCxn id="1643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10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104"/>
          <p:cNvCxnSpPr>
            <a:stCxn id="1644" idx="3"/>
            <a:endCxn id="1648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0" name="Google Shape;1650;p10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1" name="Google Shape;1651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2" name="Google Shape;1652;p10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53" name="Google Shape;1653;p10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54" name="Google Shape;1654;p10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6" name="Google Shape;1656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7" name="Google Shape;1657;p10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R2's table now explicitly says: Do not send packets to R3.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R3 would just send the packet back to R2.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63" name="Google Shape;1663;p10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No poison is sent.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stays until the routes expire.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64" name="Google Shape;1664;p105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5" name="Google Shape;1665;p105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105"/>
          <p:cNvCxnSpPr>
            <a:stCxn id="1665" idx="3"/>
            <a:endCxn id="1666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68" name="Google Shape;1668;p105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9" name="Google Shape;1669;p105"/>
          <p:cNvSpPr/>
          <p:nvPr/>
        </p:nvSpPr>
        <p:spPr>
          <a:xfrm>
            <a:off x="696600" y="2957025"/>
            <a:ext cx="2054400" cy="5529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R3, so don't send it to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05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don't send it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76" name="Google Shape;1676;p10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R3 explicitly sends poison back to R2.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is immediately eliminated!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than split horizon.</a:t>
            </a:r>
            <a:endParaRPr/>
          </a:p>
        </p:txBody>
      </p:sp>
      <p:graphicFrame>
        <p:nvGraphicFramePr>
          <p:cNvPr id="1677" name="Google Shape;1677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8" name="Google Shape;1678;p106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106"/>
          <p:cNvCxnSpPr>
            <a:stCxn id="1678" idx="3"/>
            <a:endCxn id="1679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81" name="Google Shape;1681;p106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82" name="Google Shape;1682;p106"/>
          <p:cNvCxnSpPr/>
          <p:nvPr/>
        </p:nvCxnSpPr>
        <p:spPr>
          <a:xfrm>
            <a:off x="4561045" y="3658950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83" name="Google Shape;1683;p106"/>
          <p:cNvSpPr/>
          <p:nvPr/>
        </p:nvSpPr>
        <p:spPr>
          <a:xfrm>
            <a:off x="4707600" y="2823225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06"/>
          <p:cNvSpPr/>
          <p:nvPr/>
        </p:nvSpPr>
        <p:spPr>
          <a:xfrm>
            <a:off x="1026275" y="2955900"/>
            <a:ext cx="1724700" cy="5538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is my next-hop, so I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5" name="Google Shape;1685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86" name="Google Shape;1686;p106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send poison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692" name="Google Shape;1692;p10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7: Count to Infinity</a:t>
            </a:r>
            <a:endParaRPr/>
          </a:p>
        </p:txBody>
      </p:sp>
      <p:sp>
        <p:nvSpPr>
          <p:cNvPr id="1698" name="Google Shape;1698;p10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7: Count To Infinity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99" name="Google Shape;1699;p10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705" name="Google Shape;1705;p10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(or poison reverse) helps us avoid length-2 loops.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forwards to R2.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R2 forwards to R1.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can still get routing loops with 3 or more routers.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11" name="Google Shape;1711;p11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the tables reach steady-state.</a:t>
            </a:r>
            <a:endParaRPr/>
          </a:p>
        </p:txBody>
      </p:sp>
      <p:sp>
        <p:nvSpPr>
          <p:cNvPr id="1712" name="Google Shape;1712;p11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3" name="Google Shape;1713;p110"/>
          <p:cNvCxnSpPr>
            <a:stCxn id="1714" idx="1"/>
            <a:endCxn id="1712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15" name="Google Shape;1715;p11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6" name="Google Shape;1716;p11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7" name="Google Shape;1717;p11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18" name="Google Shape;1718;p11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110"/>
          <p:cNvCxnSpPr>
            <a:stCxn id="1718" idx="2"/>
            <a:endCxn id="1720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0" name="Google Shape;1720;p11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1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110"/>
          <p:cNvCxnSpPr>
            <a:stCxn id="1718" idx="1"/>
            <a:endCxn id="1714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2" name="Google Shape;1722;p110"/>
          <p:cNvCxnSpPr>
            <a:stCxn id="1720" idx="1"/>
            <a:endCxn id="1714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111"/>
          <p:cNvCxnSpPr>
            <a:stCxn id="1729" idx="1"/>
            <a:endCxn id="17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31" name="Google Shape;1731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32" name="Google Shape;1732;p11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 goes down! A now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updates table and sends poison.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reaches R2, but not R1!</a:t>
            </a:r>
            <a:endParaRPr/>
          </a:p>
        </p:txBody>
      </p:sp>
      <p:sp>
        <p:nvSpPr>
          <p:cNvPr id="1733" name="Google Shape;1733;p11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4" name="Google Shape;1734;p111"/>
          <p:cNvCxnSpPr>
            <a:stCxn id="1733" idx="2"/>
            <a:endCxn id="17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5" name="Google Shape;1735;p11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1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11"/>
          <p:cNvCxnSpPr>
            <a:stCxn id="1733" idx="1"/>
            <a:endCxn id="17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111"/>
          <p:cNvCxnSpPr>
            <a:stCxn id="1735" idx="1"/>
            <a:endCxn id="17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0" name="Google Shape;1730;p11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8" name="Google Shape;1738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39" name="Google Shape;1739;p11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0" name="Google Shape;1740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1" name="Google Shape;1741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" name="Google Shape;1742;p111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3" name="Google Shape;1743;p111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4" name="Google Shape;1744;p111"/>
          <p:cNvSpPr txBox="1"/>
          <p:nvPr/>
        </p:nvSpPr>
        <p:spPr>
          <a:xfrm rot="-899921">
            <a:off x="3320851" y="2695145"/>
            <a:ext cx="905343" cy="30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5" name="Google Shape;1745;p111"/>
          <p:cNvCxnSpPr/>
          <p:nvPr/>
        </p:nvCxnSpPr>
        <p:spPr>
          <a:xfrm rot="10800000" flipH="1">
            <a:off x="4115675" y="2842818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46" name="Google Shape;1746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1" name="Google Shape;1751;p112"/>
          <p:cNvCxnSpPr>
            <a:stCxn id="1752" idx="1"/>
            <a:endCxn id="1753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54" name="Google Shape;1754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55" name="Google Shape;1755;p11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this point, R3 and R2 know A is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R1 still thinks there's a path to A!</a:t>
            </a:r>
            <a:endParaRPr/>
          </a:p>
        </p:txBody>
      </p:sp>
      <p:sp>
        <p:nvSpPr>
          <p:cNvPr id="1753" name="Google Shape;1753;p112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1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7" name="Google Shape;1757;p112"/>
          <p:cNvCxnSpPr>
            <a:stCxn id="1756" idx="2"/>
            <a:endCxn id="1758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8" name="Google Shape;1758;p11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1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12"/>
          <p:cNvCxnSpPr>
            <a:stCxn id="1756" idx="1"/>
            <a:endCxn id="1752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112"/>
          <p:cNvCxnSpPr>
            <a:stCxn id="1758" idx="1"/>
            <a:endCxn id="1752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1" name="Google Shape;1761;p112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2" name="Google Shape;1762;p112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3" name="Google Shape;1763;p112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8" name="Google Shape;1768;p113"/>
          <p:cNvCxnSpPr>
            <a:stCxn id="1769" idx="1"/>
            <a:endCxn id="17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71" name="Google Shape;1771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72" name="Google Shape;1772;p11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R1's path came from R3, so don't tell R3.</a:t>
            </a:r>
            <a:endParaRPr/>
          </a:p>
        </p:txBody>
      </p:sp>
      <p:sp>
        <p:nvSpPr>
          <p:cNvPr id="1770" name="Google Shape;1770;p113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13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13"/>
          <p:cNvCxnSpPr>
            <a:stCxn id="1773" idx="2"/>
            <a:endCxn id="17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5" name="Google Shape;1775;p113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13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113"/>
          <p:cNvCxnSpPr>
            <a:stCxn id="1773" idx="1"/>
            <a:endCxn id="17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7" name="Google Shape;1777;p113"/>
          <p:cNvCxnSpPr>
            <a:stCxn id="1775" idx="1"/>
            <a:endCxn id="17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78" name="Google Shape;1778;p113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79" name="Google Shape;1779;p113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80" name="Google Shape;1780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1" name="Google Shape;1781;p113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113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83" name="Google Shape;1783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114"/>
          <p:cNvCxnSpPr>
            <a:stCxn id="1789" idx="1"/>
            <a:endCxn id="17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1" name="Google Shape;1791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92" name="Google Shape;1792;p11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R2's path came from R1, so don't tell R1.</a:t>
            </a:r>
            <a:endParaRPr/>
          </a:p>
        </p:txBody>
      </p:sp>
      <p:sp>
        <p:nvSpPr>
          <p:cNvPr id="1790" name="Google Shape;1790;p11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1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114"/>
          <p:cNvCxnSpPr>
            <a:stCxn id="1793" idx="2"/>
            <a:endCxn id="17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5" name="Google Shape;1795;p11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1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114"/>
          <p:cNvCxnSpPr>
            <a:stCxn id="1793" idx="1"/>
            <a:endCxn id="17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7" name="Google Shape;1797;p114"/>
          <p:cNvCxnSpPr>
            <a:stCxn id="1795" idx="1"/>
            <a:endCxn id="17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98" name="Google Shape;1798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9" name="Google Shape;1799;p11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0" name="Google Shape;1800;p11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1" name="Google Shape;1801;p114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114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03" name="Google Shape;1803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8" name="Google Shape;1808;p115"/>
          <p:cNvCxnSpPr>
            <a:stCxn id="1809" idx="1"/>
            <a:endCxn id="18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11" name="Google Shape;1811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12" name="Google Shape;1812;p11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R3's path came from R2, so don't tell R2.</a:t>
            </a:r>
            <a:endParaRPr/>
          </a:p>
        </p:txBody>
      </p:sp>
      <p:sp>
        <p:nvSpPr>
          <p:cNvPr id="1810" name="Google Shape;1810;p11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11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4" name="Google Shape;1814;p115"/>
          <p:cNvCxnSpPr>
            <a:stCxn id="1813" idx="2"/>
            <a:endCxn id="18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5" name="Google Shape;1815;p11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1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115"/>
          <p:cNvCxnSpPr>
            <a:stCxn id="1813" idx="1"/>
            <a:endCxn id="18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115"/>
          <p:cNvCxnSpPr>
            <a:stCxn id="1815" idx="1"/>
            <a:endCxn id="18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18" name="Google Shape;1818;p11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19" name="Google Shape;1819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0" name="Google Shape;1820;p11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21" name="Google Shape;1821;p115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2" name="Google Shape;1822;p115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23" name="Google Shape;1823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8" name="Google Shape;1828;p116"/>
          <p:cNvCxnSpPr>
            <a:stCxn id="1829" idx="1"/>
            <a:endCxn id="18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1" name="Google Shape;1831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32" name="Google Shape;1832;p11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30" name="Google Shape;1830;p11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11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4" name="Google Shape;1834;p116"/>
          <p:cNvCxnSpPr>
            <a:stCxn id="1833" idx="2"/>
            <a:endCxn id="18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5" name="Google Shape;1835;p11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1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116"/>
          <p:cNvCxnSpPr>
            <a:stCxn id="1833" idx="1"/>
            <a:endCxn id="18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116"/>
          <p:cNvCxnSpPr>
            <a:stCxn id="1835" idx="1"/>
            <a:endCxn id="18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38" name="Google Shape;1838;p11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9" name="Google Shape;1839;p11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0" name="Google Shape;1840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1" name="Google Shape;1841;p116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116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43" name="Google Shape;1843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8" name="Google Shape;1848;p117"/>
          <p:cNvCxnSpPr>
            <a:stCxn id="1849" idx="1"/>
            <a:endCxn id="185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1" name="Google Shape;1851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52" name="Google Shape;1852;p11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50" name="Google Shape;1850;p11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11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117"/>
          <p:cNvCxnSpPr>
            <a:stCxn id="1853" idx="2"/>
            <a:endCxn id="185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5" name="Google Shape;1855;p11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6" name="Google Shape;1856;p117"/>
          <p:cNvCxnSpPr>
            <a:stCxn id="1853" idx="1"/>
            <a:endCxn id="184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117"/>
          <p:cNvCxnSpPr>
            <a:stCxn id="1855" idx="1"/>
            <a:endCxn id="184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58" name="Google Shape;1858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9" name="Google Shape;1859;p11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0" name="Google Shape;1860;p11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61" name="Google Shape;1861;p117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2" name="Google Shape;1862;p117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63" name="Google Shape;1863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8" name="Google Shape;1868;p118"/>
          <p:cNvCxnSpPr>
            <a:stCxn id="1869" idx="1"/>
            <a:endCxn id="18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71" name="Google Shape;1871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72" name="Google Shape;1872;p11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70" name="Google Shape;1870;p11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11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118"/>
          <p:cNvCxnSpPr>
            <a:stCxn id="1873" idx="2"/>
            <a:endCxn id="18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5" name="Google Shape;1875;p11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1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118"/>
          <p:cNvCxnSpPr>
            <a:stCxn id="1873" idx="1"/>
            <a:endCxn id="18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7" name="Google Shape;1877;p118"/>
          <p:cNvCxnSpPr>
            <a:stCxn id="1875" idx="1"/>
            <a:endCxn id="18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78" name="Google Shape;1878;p11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9" name="Google Shape;1879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80" name="Google Shape;1880;p11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1" name="Google Shape;1881;p118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2" name="Google Shape;1882;p118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83" name="Google Shape;1883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8" name="Google Shape;1888;p119"/>
          <p:cNvCxnSpPr>
            <a:stCxn id="1889" idx="1"/>
            <a:endCxn id="18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91" name="Google Shape;1891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92" name="Google Shape;1892;p11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90" name="Google Shape;1890;p11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11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4" name="Google Shape;1894;p119"/>
          <p:cNvCxnSpPr>
            <a:stCxn id="1893" idx="2"/>
            <a:endCxn id="18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5" name="Google Shape;1895;p11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1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6" name="Google Shape;1896;p119"/>
          <p:cNvCxnSpPr>
            <a:stCxn id="1893" idx="1"/>
            <a:endCxn id="18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7" name="Google Shape;1897;p119"/>
          <p:cNvCxnSpPr>
            <a:stCxn id="1895" idx="1"/>
            <a:endCxn id="18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98" name="Google Shape;1898;p11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99" name="Google Shape;1899;p11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00" name="Google Shape;1900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1" name="Google Shape;1901;p119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119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03" name="Google Shape;1903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8" name="Google Shape;1908;p120"/>
          <p:cNvCxnSpPr>
            <a:stCxn id="1909" idx="1"/>
            <a:endCxn id="19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1" name="Google Shape;1911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10" name="Google Shape;1910;p12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12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4" name="Google Shape;1914;p120"/>
          <p:cNvCxnSpPr>
            <a:stCxn id="1913" idx="2"/>
            <a:endCxn id="19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5" name="Google Shape;1915;p12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12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6" name="Google Shape;1916;p120"/>
          <p:cNvCxnSpPr>
            <a:stCxn id="1913" idx="1"/>
            <a:endCxn id="19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7" name="Google Shape;1917;p120"/>
          <p:cNvCxnSpPr>
            <a:stCxn id="1915" idx="1"/>
            <a:endCxn id="19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18" name="Google Shape;1918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19" name="Google Shape;1919;p12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20" name="Google Shape;1920;p12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1" name="Google Shape;1921;p120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120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923" name="Google Shape;1923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8" name="Google Shape;1928;p121"/>
          <p:cNvCxnSpPr>
            <a:stCxn id="1929" idx="1"/>
            <a:endCxn id="19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1" name="Google Shape;1931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32" name="Google Shape;1932;p12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30" name="Google Shape;1930;p12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2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21"/>
          <p:cNvCxnSpPr>
            <a:stCxn id="1933" idx="2"/>
            <a:endCxn id="19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5" name="Google Shape;1935;p12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12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6" name="Google Shape;1936;p121"/>
          <p:cNvCxnSpPr>
            <a:stCxn id="1933" idx="1"/>
            <a:endCxn id="19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121"/>
          <p:cNvCxnSpPr>
            <a:stCxn id="1935" idx="1"/>
            <a:endCxn id="19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38" name="Google Shape;1938;p12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9" name="Google Shape;1939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40" name="Google Shape;1940;p12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1" name="Google Shape;1941;p12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2" name="Google Shape;1942;p121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43" name="Google Shape;1943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949" name="Google Shape;1949;p12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problem, restated: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wasn't propagated properly. A router had a busted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is advertised in a loop.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won't save us.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never advertising a path back to the next-hop.</a:t>
            </a:r>
            <a:endParaRPr/>
          </a:p>
        </p:txBody>
      </p:sp>
      <p:sp>
        <p:nvSpPr>
          <p:cNvPr id="1950" name="Google Shape;1950;p12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122"/>
          <p:cNvCxnSpPr>
            <a:stCxn id="1950" idx="2"/>
            <a:endCxn id="1952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2" name="Google Shape;1952;p12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12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4" name="Google Shape;1954;p122"/>
          <p:cNvCxnSpPr>
            <a:stCxn id="1950" idx="1"/>
            <a:endCxn id="1953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5" name="Google Shape;1955;p122"/>
          <p:cNvCxnSpPr>
            <a:stCxn id="1952" idx="1"/>
            <a:endCxn id="1953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6" name="Google Shape;1956;p122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7" name="Google Shape;1957;p122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58" name="Google Shape;1958;p122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9" name="Google Shape;1959;p122"/>
          <p:cNvSpPr/>
          <p:nvPr/>
        </p:nvSpPr>
        <p:spPr>
          <a:xfrm>
            <a:off x="5735475" y="32218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122"/>
          <p:cNvSpPr/>
          <p:nvPr/>
        </p:nvSpPr>
        <p:spPr>
          <a:xfrm>
            <a:off x="5735475" y="35266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22"/>
          <p:cNvSpPr/>
          <p:nvPr/>
        </p:nvSpPr>
        <p:spPr>
          <a:xfrm>
            <a:off x="5735475" y="38314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122"/>
          <p:cNvSpPr/>
          <p:nvPr/>
        </p:nvSpPr>
        <p:spPr>
          <a:xfrm>
            <a:off x="4643350" y="44136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122"/>
          <p:cNvSpPr/>
          <p:nvPr/>
        </p:nvSpPr>
        <p:spPr>
          <a:xfrm>
            <a:off x="4338550" y="42612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122"/>
          <p:cNvSpPr/>
          <p:nvPr/>
        </p:nvSpPr>
        <p:spPr>
          <a:xfrm>
            <a:off x="4033750" y="4108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9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22"/>
          <p:cNvSpPr/>
          <p:nvPr/>
        </p:nvSpPr>
        <p:spPr>
          <a:xfrm>
            <a:off x="4643350" y="26610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122"/>
          <p:cNvSpPr/>
          <p:nvPr/>
        </p:nvSpPr>
        <p:spPr>
          <a:xfrm>
            <a:off x="4338550" y="28134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122"/>
          <p:cNvSpPr/>
          <p:nvPr/>
        </p:nvSpPr>
        <p:spPr>
          <a:xfrm>
            <a:off x="4033750" y="2965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Solution</a:t>
            </a:r>
            <a:endParaRPr/>
          </a:p>
        </p:txBody>
      </p:sp>
      <p:sp>
        <p:nvSpPr>
          <p:cNvPr id="1973" name="Google Shape;1973;p12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Enforce a maximum cost.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 is a common choice.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numbers ≥ 16 are considered infinity.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will stop when all costs reach 16.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will expire, or get replaced by another non-infinite-cost path.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8" name="Google Shape;1978;p124"/>
          <p:cNvCxnSpPr>
            <a:stCxn id="1979" idx="1"/>
            <a:endCxn id="19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1" name="Google Shape;1981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1982" name="Google Shape;1982;p12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1980" name="Google Shape;1980;p12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12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4" name="Google Shape;1984;p124"/>
          <p:cNvCxnSpPr>
            <a:stCxn id="1983" idx="2"/>
            <a:endCxn id="19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5" name="Google Shape;1985;p12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12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6" name="Google Shape;1986;p124"/>
          <p:cNvCxnSpPr>
            <a:stCxn id="1983" idx="1"/>
            <a:endCxn id="19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124"/>
          <p:cNvCxnSpPr>
            <a:stCxn id="1985" idx="1"/>
            <a:endCxn id="19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88" name="Google Shape;1988;p12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89" name="Google Shape;1989;p12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90" name="Google Shape;1990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91" name="Google Shape;1991;p124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2" name="Google Shape;1992;p124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93" name="Google Shape;1993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8" name="Google Shape;1998;p125"/>
          <p:cNvCxnSpPr>
            <a:stCxn id="1999" idx="1"/>
            <a:endCxn id="20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01" name="Google Shape;2001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02" name="Google Shape;2002;p12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00" name="Google Shape;2000;p12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2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4" name="Google Shape;2004;p125"/>
          <p:cNvCxnSpPr>
            <a:stCxn id="2003" idx="2"/>
            <a:endCxn id="20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5" name="Google Shape;2005;p12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12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125"/>
          <p:cNvCxnSpPr>
            <a:stCxn id="2003" idx="1"/>
            <a:endCxn id="19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7" name="Google Shape;2007;p125"/>
          <p:cNvCxnSpPr>
            <a:stCxn id="2005" idx="1"/>
            <a:endCxn id="19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08" name="Google Shape;2008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09" name="Google Shape;2009;p12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0" name="Google Shape;2010;p12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11" name="Google Shape;2011;p125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25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13" name="Google Shape;2013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8" name="Google Shape;2018;p126"/>
          <p:cNvCxnSpPr>
            <a:stCxn id="2019" idx="1"/>
            <a:endCxn id="20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21" name="Google Shape;2021;p1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22" name="Google Shape;2022;p1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20" name="Google Shape;2020;p12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2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4" name="Google Shape;2024;p126"/>
          <p:cNvCxnSpPr>
            <a:stCxn id="2023" idx="2"/>
            <a:endCxn id="20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5" name="Google Shape;2025;p12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2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6" name="Google Shape;2026;p126"/>
          <p:cNvCxnSpPr>
            <a:stCxn id="2023" idx="1"/>
            <a:endCxn id="20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7" name="Google Shape;2027;p126"/>
          <p:cNvCxnSpPr>
            <a:stCxn id="2025" idx="1"/>
            <a:endCxn id="20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28" name="Google Shape;2028;p12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9" name="Google Shape;2029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12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1" name="Google Shape;2031;p126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2" name="Google Shape;2032;p126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33" name="Google Shape;2033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8" name="Google Shape;2038;p127"/>
          <p:cNvCxnSpPr>
            <a:stCxn id="2039" idx="1"/>
            <a:endCxn id="204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41" name="Google Shape;2041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42" name="Google Shape;2042;p1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40" name="Google Shape;2040;p12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2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4" name="Google Shape;2044;p127"/>
          <p:cNvCxnSpPr>
            <a:stCxn id="2043" idx="2"/>
            <a:endCxn id="204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5" name="Google Shape;2045;p12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2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6" name="Google Shape;2046;p127"/>
          <p:cNvCxnSpPr>
            <a:stCxn id="2043" idx="1"/>
            <a:endCxn id="203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127"/>
          <p:cNvCxnSpPr>
            <a:stCxn id="2045" idx="1"/>
            <a:endCxn id="203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48" name="Google Shape;2048;p12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49" name="Google Shape;2049;p12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50" name="Google Shape;2050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1" name="Google Shape;2051;p127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127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53" name="Google Shape;2053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8" name="Google Shape;2058;p128"/>
          <p:cNvCxnSpPr>
            <a:stCxn id="2059" idx="1"/>
            <a:endCxn id="206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61" name="Google Shape;2061;p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62" name="Google Shape;2062;p1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60" name="Google Shape;2060;p12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12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4" name="Google Shape;2064;p128"/>
          <p:cNvCxnSpPr>
            <a:stCxn id="2063" idx="2"/>
            <a:endCxn id="206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5" name="Google Shape;2065;p12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12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128"/>
          <p:cNvCxnSpPr>
            <a:stCxn id="2063" idx="1"/>
            <a:endCxn id="205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128"/>
          <p:cNvCxnSpPr>
            <a:stCxn id="2065" idx="1"/>
            <a:endCxn id="205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68" name="Google Shape;2068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" name="Google Shape;2069;p12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70" name="Google Shape;2070;p12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71" name="Google Shape;2071;p128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72" name="Google Shape;2072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3" name="Google Shape;2073;p128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8" name="Google Shape;2078;p129"/>
          <p:cNvCxnSpPr>
            <a:stCxn id="2079" idx="1"/>
            <a:endCxn id="20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81" name="Google Shape;2081;p1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82" name="Google Shape;2082;p1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80" name="Google Shape;2080;p12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12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29"/>
          <p:cNvCxnSpPr>
            <a:stCxn id="2083" idx="2"/>
            <a:endCxn id="20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5" name="Google Shape;2085;p12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12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6" name="Google Shape;2086;p129"/>
          <p:cNvCxnSpPr>
            <a:stCxn id="2083" idx="1"/>
            <a:endCxn id="20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7" name="Google Shape;2087;p129"/>
          <p:cNvCxnSpPr>
            <a:stCxn id="2085" idx="1"/>
            <a:endCxn id="20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88" name="Google Shape;2088;p12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89" name="Google Shape;2089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" name="Google Shape;2090;p12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91" name="Google Shape;2091;p129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129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3" name="Google Shape;2093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Google Shape;2098;p130"/>
          <p:cNvCxnSpPr>
            <a:stCxn id="2099" idx="1"/>
            <a:endCxn id="21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01" name="Google Shape;2101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02" name="Google Shape;2102;p1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3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4" name="Google Shape;2104;p130"/>
          <p:cNvCxnSpPr>
            <a:stCxn id="2103" idx="2"/>
            <a:endCxn id="21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13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9" name="Google Shape;2099;p13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6" name="Google Shape;2106;p130"/>
          <p:cNvCxnSpPr>
            <a:stCxn id="2103" idx="1"/>
            <a:endCxn id="20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7" name="Google Shape;2107;p130"/>
          <p:cNvCxnSpPr>
            <a:stCxn id="2105" idx="1"/>
            <a:endCxn id="20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08" name="Google Shape;2108;p13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09" name="Google Shape;2109;p13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10" name="Google Shape;2110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1" name="Google Shape;2111;p130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2" name="Google Shape;2112;p130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13" name="Google Shape;2113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8" name="Google Shape;2118;p131"/>
          <p:cNvCxnSpPr>
            <a:stCxn id="2119" idx="1"/>
            <a:endCxn id="21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21" name="Google Shape;2121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22" name="Google Shape;2122;p1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reached steady state!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advertisements won't change the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for A will soon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Or, if another route to A appears, it'll replace the infinite-cost entry.</a:t>
            </a:r>
            <a:endParaRPr/>
          </a:p>
        </p:txBody>
      </p:sp>
      <p:sp>
        <p:nvSpPr>
          <p:cNvPr id="2120" name="Google Shape;2120;p13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13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4" name="Google Shape;2124;p131"/>
          <p:cNvCxnSpPr>
            <a:stCxn id="2123" idx="2"/>
            <a:endCxn id="21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5" name="Google Shape;2125;p13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9" name="Google Shape;2119;p13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6" name="Google Shape;2126;p131"/>
          <p:cNvCxnSpPr>
            <a:stCxn id="2123" idx="1"/>
            <a:endCxn id="21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7" name="Google Shape;2127;p131"/>
          <p:cNvCxnSpPr>
            <a:stCxn id="2125" idx="1"/>
            <a:endCxn id="21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28" name="Google Shape;2128;p13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3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3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{074AED7C-ED2F-4A29-8AF1-92B1282AC53A}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2136" name="Google Shape;2136;p1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Any cost ≥ 16 is advertised as ∞.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3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2" name="Google Shape;2142;p13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Eventful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13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9" name="Google Shape;2149;p1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do we send advertisements?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table changes (</a:t>
            </a:r>
            <a:r>
              <a:rPr lang="en" b="1"/>
              <a:t>triggered updates</a:t>
            </a:r>
            <a:r>
              <a:rPr lang="en"/>
              <a:t>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accept a new advertisement.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new link is added.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Add static routes and advertise them.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link goes down.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Poison routes and advertise poison.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Periodically (once every "advertisement interval").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table entry expires.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Triggered updates are an optimization.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advertising when the table changes, we could just wait for the interval. Protocol is still correct.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Triggered updates help us converge faster.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Completed Distance-Vector Algorithm</a:t>
            </a:r>
            <a:endParaRPr/>
          </a:p>
        </p:txBody>
      </p:sp>
      <p:sp>
        <p:nvSpPr>
          <p:cNvPr id="2155" name="Google Shape;2155;p1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Any cost ≥ 16 is advertised as ∞.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(#3, #5)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1. Bellman-Ford Updates</a:t>
            </a:r>
            <a:r>
              <a:rPr lang="en"/>
              <a:t>: Accept if </a:t>
            </a:r>
            <a:r>
              <a:rPr lang="en" sz="1500"/>
              <a:t>advertised cost + link cost to neighbor &lt; best-known cost.</a:t>
            </a:r>
            <a:endParaRPr sz="15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2. Updates From Next-Hop</a:t>
            </a:r>
            <a:r>
              <a:rPr lang="en"/>
              <a:t>: Accept if advertisement is from next 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3. Resending</a:t>
            </a:r>
            <a:r>
              <a:rPr lang="en"/>
              <a:t>: Advertise periodically.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4. Expiring</a:t>
            </a:r>
            <a:r>
              <a:rPr lang="en"/>
              <a:t>: Expire an entry if TTL runs 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5. Poison Expired Routes</a:t>
            </a:r>
            <a:r>
              <a:rPr lang="en"/>
              <a:t>: Send poison if an entry expires.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6A. Split Horizon</a:t>
            </a:r>
            <a:r>
              <a:rPr lang="en"/>
              <a:t>: Don't advertise path back to the person who gave it to you.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6B. Poison Reverse</a:t>
            </a:r>
            <a:r>
              <a:rPr lang="en"/>
              <a:t>: Send poison back to the person who gave you the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7. Count To Infinity</a:t>
            </a:r>
            <a:r>
              <a:rPr lang="en"/>
              <a:t>: Any cost ≥ 16 is advertised as ∞.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now a pretty good routing protocol!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12358</Words>
  <Application>Microsoft Office PowerPoint</Application>
  <PresentationFormat>On-screen Show (16:9)</PresentationFormat>
  <Paragraphs>2809</Paragraphs>
  <Slides>114</Slides>
  <Notes>113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Roboto</vt:lpstr>
      <vt:lpstr>Consolas</vt:lpstr>
      <vt:lpstr>Roboto Medium</vt:lpstr>
      <vt:lpstr>Roboto Light</vt:lpstr>
      <vt:lpstr>Arial</vt:lpstr>
      <vt:lpstr>Simple Lecture</vt:lpstr>
      <vt:lpstr>PowerPoint Presentation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 – Routing vs. Forwarding</vt:lpstr>
      <vt:lpstr>Distance-Vector Algorithm Sketch – Multiple Destinations</vt:lpstr>
      <vt:lpstr>Rule 1: Bellman-Ford Updates</vt:lpstr>
      <vt:lpstr>Multiple Paths Advertised</vt:lpstr>
      <vt:lpstr>Multiple Paths Advertised</vt:lpstr>
      <vt:lpstr>Multiple Paths Advertised</vt:lpstr>
      <vt:lpstr>Multiple Paths Advertised</vt:lpstr>
      <vt:lpstr>The Distance-Vector Algorithm So Far</vt:lpstr>
      <vt:lpstr>Unequal Costs</vt:lpstr>
      <vt:lpstr>Unequal Costs</vt:lpstr>
      <vt:lpstr>The Distance-Vector Algorithm So Far</vt:lpstr>
      <vt:lpstr>Distributed Bellman-Ford Algorithm</vt:lpstr>
      <vt:lpstr>Distributed Bellman-Ford Algorithm</vt:lpstr>
      <vt:lpstr>PowerPoint Presentation</vt:lpstr>
      <vt:lpstr>Bellman-Ford Demo</vt:lpstr>
      <vt:lpstr>The Distance-Vector Algorithm So Far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Rule 2: Updates from Next-Hop</vt:lpstr>
      <vt:lpstr>Updates From the Current Next-Hop</vt:lpstr>
      <vt:lpstr>Updates From the Current Next-Hop</vt:lpstr>
      <vt:lpstr>Updates From the Current Next-Hop</vt:lpstr>
      <vt:lpstr>Convergence</vt:lpstr>
      <vt:lpstr>The Distance-Vector Algorithm So Far</vt:lpstr>
      <vt:lpstr>Rule 3: Resending</vt:lpstr>
      <vt:lpstr>Ensuring Reliability</vt:lpstr>
      <vt:lpstr>The Distance-Vector Algorithm So Far</vt:lpstr>
      <vt:lpstr>Rule 4: Expiring</vt:lpstr>
      <vt:lpstr>Handling Failures</vt:lpstr>
      <vt:lpstr>Handling Failures</vt:lpstr>
      <vt:lpstr>Handling Failures</vt:lpstr>
      <vt:lpstr>Handling Failures</vt:lpstr>
      <vt:lpstr>Handling Failures</vt:lpstr>
      <vt:lpstr>Timers</vt:lpstr>
      <vt:lpstr>The Distance-Vector Algorithm So Far</vt:lpstr>
      <vt:lpstr>Rule 5: Poison Expired Routes</vt:lpstr>
      <vt:lpstr>Route Expiry is Slow</vt:lpstr>
      <vt:lpstr>Route Expiry is Slow</vt:lpstr>
      <vt:lpstr>Route Expiry is Slow</vt:lpstr>
      <vt:lpstr>Route Expiry is Slow</vt:lpstr>
      <vt:lpstr>Route Expiry is Slow</vt:lpstr>
      <vt:lpstr>Route Expiry is Slow</vt:lpstr>
      <vt:lpstr>Poison for Fast Route Expiry</vt:lpstr>
      <vt:lpstr>Poison for Fast Route Expiry</vt:lpstr>
      <vt:lpstr>Poison for Fast Route Expiry</vt:lpstr>
      <vt:lpstr>Poison for Fast Route Expiry</vt:lpstr>
      <vt:lpstr>Accepting and Advertising Poison</vt:lpstr>
      <vt:lpstr>Accepting and Advertising Poison</vt:lpstr>
      <vt:lpstr>The Distance-Vector Algorithm So Far</vt:lpstr>
      <vt:lpstr>Rule 6A: Split Horizon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The Distance-Vector Algorithm So Far</vt:lpstr>
      <vt:lpstr>Rule 6B: Poison Reverse</vt:lpstr>
      <vt:lpstr>Poison Reverse</vt:lpstr>
      <vt:lpstr>Poison Reverse vs. Split Horizon</vt:lpstr>
      <vt:lpstr>Poison Reverse</vt:lpstr>
      <vt:lpstr>Poison Reverse</vt:lpstr>
      <vt:lpstr>Poison Reverse</vt:lpstr>
      <vt:lpstr>Poison Reverse vs. Split Horizon</vt:lpstr>
      <vt:lpstr>Poison Reverse vs. Split Horizon</vt:lpstr>
      <vt:lpstr>The Distance-Vector Algorithm So Far</vt:lpstr>
      <vt:lpstr>Rule 7: Count to Infinity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The Distance-Vector Algorithm So Far</vt:lpstr>
      <vt:lpstr>Eventful Updates</vt:lpstr>
      <vt:lpstr>Eventful Updates</vt:lpstr>
      <vt:lpstr>Our Completed Distance-Vector Algorithm</vt:lpstr>
      <vt:lpstr>Summary: Distance-Vector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2026-02-01T06:01:05Z</dcterms:modified>
</cp:coreProperties>
</file>