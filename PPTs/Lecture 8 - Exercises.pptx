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4"/>
  </p:notesMasterIdLst>
  <p:sldIdLst>
    <p:sldId id="256" r:id="rId2"/>
    <p:sldId id="285" r:id="rId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5"/>
      <p:bold r:id="rId6"/>
      <p:italic r:id="rId7"/>
      <p:boldItalic r:id="rId8"/>
    </p:embeddedFont>
    <p:embeddedFont>
      <p:font typeface="Roboto Light" panose="02000000000000000000" pitchFamily="2" charset="0"/>
      <p:regular r:id="rId9"/>
      <p:bold r:id="rId10"/>
      <p:italic r:id="rId11"/>
      <p:boldItalic r:id="rId12"/>
    </p:embeddedFont>
    <p:embeddedFont>
      <p:font typeface="Roboto Medium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0098EA-F5DE-4482-BE86-79975F08261D}">
  <a:tblStyle styleId="{640098EA-F5DE-4482-BE86-79975F0826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delSld">
      <pc:chgData name="Zonghua Gu" userId="9a7e1853e1951ef5" providerId="LiveId" clId="{CF1FAA12-072C-4ED5-BA76-0FFFAEFDB88A}" dt="2026-01-31T23:38:55.624" v="0" actId="47"/>
      <pc:docMkLst>
        <pc:docMk/>
      </pc:docMkLst>
      <pc:sldChg chg="del">
        <pc:chgData name="Zonghua Gu" userId="9a7e1853e1951ef5" providerId="LiveId" clId="{CF1FAA12-072C-4ED5-BA76-0FFFAEFDB88A}" dt="2026-01-31T23:38:55.624" v="0" actId="47"/>
        <pc:sldMkLst>
          <pc:docMk/>
          <pc:sldMk cId="20097595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9db0c4538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9db0c4538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2efee653596_1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2efee653596_1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after that after the midterm maybe we switch into layer four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we start thinking about how do you actually build a reliable protocol so we showed you that little super simple Bob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sending 10 packets reliability protocol and some people pointed out there are some bugs in that that we didn't really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14:27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address and you're right a real solid state-of-the-art reli reliability protocol will take us four lectures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build so we're going to spend two lectures building TCP to ensure reliability and then we'll spend two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more lectures talking about congestion control so that we ensure that the NH host don't overload the links and these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are associated with the third project which is all about transport and implementing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14:52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TCP and then after that two lectures at layer seven so we're basically moving up the stack and at layer seven there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14:59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there's two applications that we'll talk about one of them is DNS one of them is HTTP I won't talk about them any further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15:05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 because you'll get them a lot later but there are examples of things that we can build on top of the network to make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everything work and once we've traveled across all the layers in lecture 16 and 17 we'll go back and clean up all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little missing pieces that we haven't really touched yet to form what we call the end to endend picture so by lecture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17 you will finally get the ultimate picture of what exactly happens when I send a packet from point A to point B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all of the missing pieces will get filled in we'll go through all these protocols that didn't really fit anywhere else but have to be covered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we'll also spend a little bit of time at Layer Two and everything will be connected up so we'll spend a lot of time at layers three four and seven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once we do that we'll Circle back and tie it all together in lectures 16 and 17 so that's the next part of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15:57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semester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8910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1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44" name="Google Shape;144;p24"/>
          <p:cNvSpPr txBox="1"/>
          <p:nvPr/>
        </p:nvSpPr>
        <p:spPr>
          <a:xfrm>
            <a:off x="311558" y="2144986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Inter-Domain Routing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Exercises ANS</a:t>
            </a:r>
            <a:endParaRPr sz="3600" dirty="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8 (Routing 5)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5278830" y="308750"/>
            <a:ext cx="777300" cy="443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6751641" y="308750"/>
            <a:ext cx="777300" cy="443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4741423" y="1195601"/>
            <a:ext cx="777300" cy="443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6158001" y="1195601"/>
            <a:ext cx="777300" cy="443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7323345" y="1195631"/>
            <a:ext cx="777300" cy="443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4741423" y="2003000"/>
            <a:ext cx="777300" cy="443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5876556" y="2003000"/>
            <a:ext cx="777300" cy="443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7323345" y="2003030"/>
            <a:ext cx="777300" cy="443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" name="Google Shape;154;p24"/>
          <p:cNvCxnSpPr>
            <a:stCxn id="146" idx="4"/>
            <a:endCxn id="148" idx="0"/>
          </p:cNvCxnSpPr>
          <p:nvPr/>
        </p:nvCxnSpPr>
        <p:spPr>
          <a:xfrm flipH="1">
            <a:off x="5130180" y="752150"/>
            <a:ext cx="537300" cy="44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5" name="Google Shape;155;p24"/>
          <p:cNvCxnSpPr>
            <a:stCxn id="146" idx="4"/>
            <a:endCxn id="149" idx="0"/>
          </p:cNvCxnSpPr>
          <p:nvPr/>
        </p:nvCxnSpPr>
        <p:spPr>
          <a:xfrm>
            <a:off x="5667480" y="752150"/>
            <a:ext cx="879300" cy="44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" name="Google Shape;156;p24"/>
          <p:cNvCxnSpPr>
            <a:stCxn id="148" idx="4"/>
            <a:endCxn id="151" idx="0"/>
          </p:cNvCxnSpPr>
          <p:nvPr/>
        </p:nvCxnSpPr>
        <p:spPr>
          <a:xfrm>
            <a:off x="5130073" y="1639001"/>
            <a:ext cx="0" cy="363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157;p24"/>
          <p:cNvCxnSpPr>
            <a:stCxn id="148" idx="5"/>
            <a:endCxn id="152" idx="1"/>
          </p:cNvCxnSpPr>
          <p:nvPr/>
        </p:nvCxnSpPr>
        <p:spPr>
          <a:xfrm>
            <a:off x="5404890" y="1574066"/>
            <a:ext cx="585600" cy="493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" name="Google Shape;158;p24"/>
          <p:cNvCxnSpPr>
            <a:stCxn id="149" idx="4"/>
            <a:endCxn id="152" idx="0"/>
          </p:cNvCxnSpPr>
          <p:nvPr/>
        </p:nvCxnSpPr>
        <p:spPr>
          <a:xfrm flipH="1">
            <a:off x="6265251" y="1639001"/>
            <a:ext cx="281400" cy="363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" name="Google Shape;159;p24"/>
          <p:cNvCxnSpPr>
            <a:stCxn id="150" idx="4"/>
            <a:endCxn id="153" idx="0"/>
          </p:cNvCxnSpPr>
          <p:nvPr/>
        </p:nvCxnSpPr>
        <p:spPr>
          <a:xfrm>
            <a:off x="7711995" y="1639031"/>
            <a:ext cx="0" cy="363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" name="Google Shape;160;p24"/>
          <p:cNvCxnSpPr>
            <a:stCxn id="149" idx="6"/>
            <a:endCxn id="150" idx="2"/>
          </p:cNvCxnSpPr>
          <p:nvPr/>
        </p:nvCxnSpPr>
        <p:spPr>
          <a:xfrm>
            <a:off x="6935301" y="1417301"/>
            <a:ext cx="387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61" name="Google Shape;161;p24"/>
          <p:cNvCxnSpPr>
            <a:stCxn id="147" idx="4"/>
            <a:endCxn id="150" idx="0"/>
          </p:cNvCxnSpPr>
          <p:nvPr/>
        </p:nvCxnSpPr>
        <p:spPr>
          <a:xfrm>
            <a:off x="7140291" y="752150"/>
            <a:ext cx="571800" cy="44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DCD0B49-0F78-39FF-F288-5A32CBB998E7}"/>
              </a:ext>
            </a:extLst>
          </p:cNvPr>
          <p:cNvSpPr txBox="1"/>
          <p:nvPr/>
        </p:nvSpPr>
        <p:spPr>
          <a:xfrm>
            <a:off x="3526681" y="4865536"/>
            <a:ext cx="20906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Slides credit: CS 168 @ UC Berkeley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accent3"/>
                </a:solidFill>
              </a:rPr>
              <a:t>Q1. BGP</a:t>
            </a:r>
            <a:endParaRPr dirty="0"/>
          </a:p>
        </p:txBody>
      </p:sp>
      <p:sp>
        <p:nvSpPr>
          <p:cNvPr id="1822" name="Google Shape;1822;p5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666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dirty="0"/>
              <a:t>Consider the following configuration of autonomous systems and their relationships.</a:t>
            </a:r>
          </a:p>
          <a:p>
            <a:pPr marL="0" lvl="0" indent="0">
              <a:buNone/>
            </a:pPr>
            <a:r>
              <a:rPr lang="en-US" dirty="0"/>
              <a:t>A square-triangle line indicates a provider-customer relationship, and a circle-circle line indicates a peer relationship. We have two tier 1 providers (AS1 and AS7). Assume we are using the following selection and export rules for all </a:t>
            </a:r>
            <a:r>
              <a:rPr lang="en-US" dirty="0" err="1"/>
              <a:t>ASes</a:t>
            </a:r>
            <a:r>
              <a:rPr lang="en-US" dirty="0"/>
              <a:t>: </a:t>
            </a:r>
          </a:p>
          <a:p>
            <a:pPr marL="0" lvl="0" indent="0">
              <a:buNone/>
            </a:pPr>
            <a:r>
              <a:rPr lang="en-US" b="1" dirty="0"/>
              <a:t>Selection:</a:t>
            </a:r>
            <a:r>
              <a:rPr lang="en-US" dirty="0"/>
              <a:t> Prefer to send data through customers &gt; peers &gt; providers in order to minimize costs. </a:t>
            </a:r>
          </a:p>
          <a:p>
            <a:pPr marL="0" lvl="0" indent="0">
              <a:buNone/>
            </a:pPr>
            <a:r>
              <a:rPr lang="en-US" b="1" dirty="0"/>
              <a:t>Export: </a:t>
            </a:r>
            <a:r>
              <a:rPr lang="en-US" dirty="0"/>
              <a:t>To customers, advertise all paths. To all other </a:t>
            </a:r>
            <a:r>
              <a:rPr lang="en-US" dirty="0" err="1"/>
              <a:t>ASes</a:t>
            </a:r>
            <a:r>
              <a:rPr lang="en-US" dirty="0"/>
              <a:t>, advertise only paths to customers (and paths to your own AS, of course).</a:t>
            </a:r>
          </a:p>
          <a:p>
            <a:pPr marL="0" lvl="0" indent="0">
              <a:buNone/>
            </a:pPr>
            <a:r>
              <a:rPr lang="en-US" dirty="0"/>
              <a:t>1) A user in AS4 tries to send data to a friend in AS5. What path (if any) would the data take to get to the friend?</a:t>
            </a:r>
          </a:p>
          <a:p>
            <a:pPr marL="0" lvl="0" indent="0">
              <a:buNone/>
            </a:pPr>
            <a:r>
              <a:rPr lang="en-US" dirty="0"/>
              <a:t>2) A user in AS6 tries to send data to a friend in AS5. What path (if any) would the data take to get to the friend?</a:t>
            </a:r>
          </a:p>
          <a:p>
            <a:pPr marL="0" lvl="0" indent="0">
              <a:buNone/>
            </a:pPr>
            <a:r>
              <a:rPr lang="en-US" dirty="0"/>
              <a:t>3) A user in AS1 tries to send data to another user in AS9. What path (if any) would the data take?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DFB041-BB88-F60F-06EA-82433024A6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6AF53-1090-46BF-4B97-4DD6AA47E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588" y="2676821"/>
            <a:ext cx="4398624" cy="24666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584</Words>
  <Application>Microsoft Office PowerPoint</Application>
  <PresentationFormat>On-screen Show (16:9)</PresentationFormat>
  <Paragraphs>48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Roboto</vt:lpstr>
      <vt:lpstr>Roboto Light</vt:lpstr>
      <vt:lpstr>Arial</vt:lpstr>
      <vt:lpstr>Roboto Medium</vt:lpstr>
      <vt:lpstr>Simple Lecture</vt:lpstr>
      <vt:lpstr>PowerPoint Presentation</vt:lpstr>
      <vt:lpstr>Q1. BGP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Zonghua Gu</dc:creator>
  <cp:lastModifiedBy>Zonghua Gu</cp:lastModifiedBy>
  <cp:revision>2</cp:revision>
  <dcterms:modified xsi:type="dcterms:W3CDTF">2026-01-31T23:38:56Z</dcterms:modified>
</cp:coreProperties>
</file>