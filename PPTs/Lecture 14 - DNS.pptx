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y="5143500" cx="9144000"/>
  <p:notesSz cx="6858000" cy="9144000"/>
  <p:embeddedFontLst>
    <p:embeddedFont>
      <p:font typeface="Roboto Medium"/>
      <p:regular r:id="rId88"/>
      <p:bold r:id="rId89"/>
      <p:italic r:id="rId90"/>
      <p:boldItalic r:id="rId91"/>
    </p:embeddedFont>
    <p:embeddedFont>
      <p:font typeface="Roboto"/>
      <p:regular r:id="rId92"/>
      <p:bold r:id="rId93"/>
      <p:italic r:id="rId94"/>
      <p:boldItalic r:id="rId95"/>
    </p:embeddedFont>
    <p:embeddedFont>
      <p:font typeface="Roboto Light"/>
      <p:regular r:id="rId96"/>
      <p:bold r:id="rId97"/>
      <p:italic r:id="rId98"/>
      <p:boldItalic r:id="rId9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181F944-6428-4EBA-9F01-A79046E7B7B3}">
  <a:tblStyle styleId="{8181F944-6428-4EBA-9F01-A79046E7B7B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95" Type="http://schemas.openxmlformats.org/officeDocument/2006/relationships/font" Target="fonts/Roboto-boldItalic.fntdata"/><Relationship Id="rId94" Type="http://schemas.openxmlformats.org/officeDocument/2006/relationships/font" Target="fonts/Roboto-italic.fntdata"/><Relationship Id="rId97" Type="http://schemas.openxmlformats.org/officeDocument/2006/relationships/font" Target="fonts/RobotoLight-bold.fntdata"/><Relationship Id="rId96" Type="http://schemas.openxmlformats.org/officeDocument/2006/relationships/font" Target="fonts/RobotoLight-regular.fntdata"/><Relationship Id="rId11" Type="http://schemas.openxmlformats.org/officeDocument/2006/relationships/slide" Target="slides/slide5.xml"/><Relationship Id="rId99" Type="http://schemas.openxmlformats.org/officeDocument/2006/relationships/font" Target="fonts/RobotoLight-boldItalic.fntdata"/><Relationship Id="rId10" Type="http://schemas.openxmlformats.org/officeDocument/2006/relationships/slide" Target="slides/slide4.xml"/><Relationship Id="rId98" Type="http://schemas.openxmlformats.org/officeDocument/2006/relationships/font" Target="fonts/RobotoLight-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91" Type="http://schemas.openxmlformats.org/officeDocument/2006/relationships/font" Target="fonts/RobotoMedium-boldItalic.fntdata"/><Relationship Id="rId90" Type="http://schemas.openxmlformats.org/officeDocument/2006/relationships/font" Target="fonts/RobotoMedium-italic.fntdata"/><Relationship Id="rId93" Type="http://schemas.openxmlformats.org/officeDocument/2006/relationships/font" Target="fonts/Roboto-bold.fntdata"/><Relationship Id="rId92" Type="http://schemas.openxmlformats.org/officeDocument/2006/relationships/font" Target="fonts/Roboto-regular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84" Type="http://schemas.openxmlformats.org/officeDocument/2006/relationships/slide" Target="slides/slide78.xml"/><Relationship Id="rId83" Type="http://schemas.openxmlformats.org/officeDocument/2006/relationships/slide" Target="slides/slide77.xml"/><Relationship Id="rId86" Type="http://schemas.openxmlformats.org/officeDocument/2006/relationships/slide" Target="slides/slide80.xml"/><Relationship Id="rId85" Type="http://schemas.openxmlformats.org/officeDocument/2006/relationships/slide" Target="slides/slide79.xml"/><Relationship Id="rId88" Type="http://schemas.openxmlformats.org/officeDocument/2006/relationships/font" Target="fonts/RobotoMedium-regular.fntdata"/><Relationship Id="rId87" Type="http://schemas.openxmlformats.org/officeDocument/2006/relationships/slide" Target="slides/slide81.xml"/><Relationship Id="rId89" Type="http://schemas.openxmlformats.org/officeDocument/2006/relationships/font" Target="fonts/RobotoMedium-bold.fntdata"/><Relationship Id="rId80" Type="http://schemas.openxmlformats.org/officeDocument/2006/relationships/slide" Target="slides/slide74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9" Type="http://schemas.openxmlformats.org/officeDocument/2006/relationships/slide" Target="slides/slide73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69" Type="http://schemas.openxmlformats.org/officeDocument/2006/relationships/slide" Target="slides/slide6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9" Type="http://schemas.openxmlformats.org/officeDocument/2006/relationships/slide" Target="slides/slide53.xml"/><Relationship Id="rId58" Type="http://schemas.openxmlformats.org/officeDocument/2006/relationships/slide" Target="slides/slide5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elists.isoc.org/pipermail/internet-history/2008-January/000702.html" TargetMode="Externa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cloudflarestatus.com/incidents/28r0vbbxsh8f" TargetMode="External"/><Relationship Id="rId3" Type="http://schemas.openxmlformats.org/officeDocument/2006/relationships/hyperlink" Target="https://radar.cloudflare.com/routing/anomalies/hijack-107469" TargetMode="Externa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ripe.net/analyse/dns/k-root/" TargetMode="Externa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c0f97ab98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c0f97ab98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ec0f97ab98_0_140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2ec0f97ab98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ec0f97ab98_0_38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2ec0f97ab98_0_38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ec0f97ab98_0_16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ec0f97ab98_0_16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ec0f97ab98_0_30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2ec0f97ab98_0_30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ec0f97ab98_0_38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ec0f97ab98_0_38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ec0f97ab98_0_38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2ec0f97ab98_0_38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ec0f97ab98_0_38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2ec0f97ab98_0_38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https://elists.isoc.org/pipermail/internet-history/2008-January/000702.html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ec0f97ab98_0_38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ec0f97ab98_0_38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ec0f97ab98_0_38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2ec0f97ab98_0_38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2ec0f97ab98_0_39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2ec0f97ab98_0_39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ec0f97ab98_0_39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2ec0f97ab98_0_39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ec0f97ab98_0_3098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ec0f97ab98_0_30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ec0f97ab98_0_30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ec0f97ab98_0_30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ec0f97ab98_0_30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2ec0f97ab98_0_30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2ec0f97ab98_0_3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2ec0f97ab98_0_3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2ec0f97ab98_0_3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2ec0f97ab98_0_3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ec0f97ab98_0_41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ec0f97ab98_0_41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ec0f97ab98_0_31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2ec0f97ab98_0_31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2ec0f97ab98_0_32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2ec0f97ab98_0_3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2ec0f97ab98_0_32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2ec0f97ab98_0_32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2ec0f97ab98_0_32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2ec0f97ab98_0_3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2ec0f97ab98_0_33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2ec0f97ab98_0_33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2ec0f97ab98_0_34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2ec0f97ab98_0_34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2ec0f97ab98_0_34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2ec0f97ab98_0_34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2ec0f97ab98_0_34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2ec0f97ab98_0_34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2ec0f97ab98_0_35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2ec0f97ab98_0_35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2ec0f97ab98_0_35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2ec0f97ab98_0_35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2ec0f97ab98_0_42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2ec0f97ab98_0_4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6dd3358215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1" name="Google Shape;641;g36dd3358215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https://www.cloudflarestatus.com/incidents/28r0vbbxsh8f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https://radar.cloudflare.com/routing/anomalies/hijack-107469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2ec0f97ab98_0_3587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9" name="Google Shape;649;g2ec0f97ab98_0_35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2ec0f97ab98_0_42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Google Shape;656;g2ec0f97ab98_0_42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2ec0f97ab98_0_35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" name="Google Shape;662;g2ec0f97ab98_0_35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2ec0f97ab98_0_42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2ec0f97ab98_0_42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2ec0f97ab98_0_35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2ec0f97ab98_0_35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2ec0f97ab98_0_36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5" name="Google Shape;685;g2ec0f97ab98_0_36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g2ec0f97ab98_0_42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7" name="Google Shape;697;g2ec0f97ab98_0_42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ec0f97ab98_0_36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ec0f97ab98_0_36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g2ec0f97ab98_0_36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1" name="Google Shape;721;g2ec0f97ab98_0_36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2ec0f97ab98_0_36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7" name="Google Shape;727;g2ec0f97ab98_0_36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2ec0f97ab98_0_36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3" name="Google Shape;733;g2ec0f97ab98_0_36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g2ec0f97ab98_0_36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9" name="Google Shape;739;g2ec0f97ab98_0_36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2ec0f97ab98_0_36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9" name="Google Shape;749;g2ec0f97ab98_0_36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7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g2ec0f97ab98_0_36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9" name="Google Shape;759;g2ec0f97ab98_0_36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ec0f97ab98_0_37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ec0f97ab98_0_37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2ec0f97ab98_0_3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2ec0f97ab98_0_3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2ec0f97ab98_0_37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0" name="Google Shape;790;g2ec0f97ab98_0_37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2ec0f97ab98_0_37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2ec0f97ab98_0_37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g2ec0f97ab98_0_37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4" name="Google Shape;814;g2ec0f97ab98_0_37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2ec0f97ab98_0_37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" name="Google Shape;824;g2ec0f97ab98_0_37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2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g2ec0f97ab98_0_37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4" name="Google Shape;834;g2ec0f97ab98_0_37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2ec0f97ab98_0_37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2ec0f97ab98_0_37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2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2ec0f97ab98_0_37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2ec0f97ab98_0_37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2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g2ec0f97ab98_0_38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4" name="Google Shape;864;g2ec0f97ab98_0_38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2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2ec0f97ab98_0_38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4" name="Google Shape;874;g2ec0f97ab98_0_38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g2ec0f97ab98_0_38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4" name="Google Shape;884;g2ec0f97ab98_0_38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9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2ec0f97ab98_0_38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1" name="Google Shape;891;g2ec0f97ab98_0_38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9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g2ec0f97ab98_0_38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1" name="Google Shape;901;g2ec0f97ab98_0_38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ec0f97ab98_0_38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ec0f97ab98_0_38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0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g2ec0f97ab98_0_42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2" name="Google Shape;922;g2ec0f97ab98_0_42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ec0f97ab98_0_43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ec0f97ab98_0_4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2ec0f97ab98_0_3925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2ec0f97ab98_0_39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8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2ec0f97ab98_0_39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0" name="Google Shape;960;g2ec0f97ab98_0_39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5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g2ec0f97ab98_0_40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7" name="Google Shape;987;g2ec0f97ab98_0_40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0" name="Shape 1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Google Shape;1011;g2ec0f97ab98_0_39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2" name="Google Shape;1012;g2ec0f97ab98_0_39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4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g2ec0f97ab98_0_40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6" name="Google Shape;1036;g2ec0f97ab98_0_40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5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g2ec0f97ab98_0_40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7" name="Google Shape;1047;g2ec0f97ab98_0_40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g2ec0f97ab98_0_40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3" name="Google Shape;1053;g2ec0f97ab98_0_40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0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g2ec0f97ab98_0_4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2" name="Google Shape;1082;g2ec0f97ab98_0_4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g2ec0f97ab98_0_4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3" name="Google Shape;1113;g2ec0f97ab98_0_4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6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g2ec0f97ab98_0_41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8" name="Google Shape;1148;g2ec0f97ab98_0_4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2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g2ec0f97ab98_0_42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4" name="Google Shape;1154;g2ec0f97ab98_0_42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9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Google Shape;1160;g2ec0f97ab98_0_42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1" name="Google Shape;1161;g2ec0f97ab98_0_42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5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g2ec0f97ab98_0_42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7" name="Google Shape;1167;g2ec0f97ab98_0_4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https://www.ripe.net/analyse/dns/k-root/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3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2ec0f97ab98_0_4255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2ec0f97ab98_0_42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0" name="Shape 1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g2ec0f97ab98_0_43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2" name="Google Shape;1182;g2ec0f97ab98_0_43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the old days, email servers used to run on computers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 to convert mail addresses into ip addresses</a:t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3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g2ec0f97ab98_0_43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5" name="Google Shape;1195;g2ec0f97ab98_0_43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0" name="Shape 1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g2ec0f97ab98_0_43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2" name="Google Shape;1202;g2ec0f97ab98_0_43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0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g2ec0f97ab98_0_43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2" name="Google Shape;1212;g2ec0f97ab98_0_43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6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Google Shape;1217;g2ec0f97ab98_0_43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8" name="Google Shape;1218;g2ec0f97ab98_0_43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4" name="Shape 1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g2ec0f97ab98_0_43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6" name="Google Shape;1226;g2ec0f97ab98_0_43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">
  <p:cSld name="SECTION_TITLE_AND_DESCRIPTION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" name="Google Shape;28;p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mo slide right">
  <p:cSld name="SECTION_TITLE_AND_DESCRIPTION_2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 txBox="1"/>
          <p:nvPr>
            <p:ph idx="1" type="subTitle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mo slide left">
  <p:cSld name="SECTION_TITLE_AND_DESCRIPTION_2_1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/>
          <p:cNvSpPr txBox="1"/>
          <p:nvPr>
            <p:ph idx="1" type="subTitle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42" name="Google Shape;42;p7"/>
          <p:cNvSpPr txBox="1"/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">
  <p:cSld name="SECTION_TITLE_AND_DESCRIPTION_2_1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8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9" name="Google Shape;49;p8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 1">
  <p:cSld name="SECTION_TITLE_AND_DESCRIPTION_2_1_1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9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60" name="Google Shape;60;p9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 Solution">
  <p:cSld name="SECTION_TITLE_AND_DESCRIPTION_2_1_1_1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0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69" name="Google Shape;69;p10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" type="body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76" name="Google Shape;76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TITLE_AND_DESCRIPTION_3">
  <p:cSld name="SECTION_TITLE_AND_DESCRIPTION_3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9" name="Google Shape;89;p1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0" name="Google Shape;90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/>
          <p:nvPr>
            <p:ph idx="2" type="body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/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dark">
  <p:cSld name="BLANK_1"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lude">
  <p:cSld name="SECTION_TITLE_AND_DESCRIPTION_1_3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" name="Google Shape;107;p18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11" name="Google Shape;111;p1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12" name="Google Shape;112;p1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3" name="Google Shape;11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on left">
  <p:cSld name="SECTION_TITLE_AND_DESCRIPTION_1_1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/>
          <p:nvPr>
            <p:ph idx="1" type="body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20"/>
          <p:cNvSpPr txBox="1"/>
          <p:nvPr>
            <p:ph idx="2" type="body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left, Heading">
  <p:cSld name="SECTION_TITLE_AND_DESCRIPTION_1_1_1_1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/>
          <p:nvPr>
            <p:ph idx="1" type="body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21"/>
          <p:cNvSpPr txBox="1"/>
          <p:nvPr>
            <p:ph idx="2" type="body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21"/>
          <p:cNvSpPr txBox="1"/>
          <p:nvPr>
            <p:ph idx="3" type="subTitle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7" name="Google Shape;127;p21"/>
          <p:cNvSpPr txBox="1"/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1" name="Google Shape;131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on right">
  <p:cSld name="SECTION_TITLE_AND_DESCRIPTION_1_2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23"/>
          <p:cNvSpPr txBox="1"/>
          <p:nvPr>
            <p:ph idx="2" type="body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7" name="Google Shape;137;p23"/>
          <p:cNvSpPr txBox="1"/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23" Type="http://schemas.openxmlformats.org/officeDocument/2006/relationships/theme" Target="../theme/theme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42900" lvl="1" marL="9144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42900" lvl="2" marL="13716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42900" lvl="3" marL="18288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42900" lvl="4" marL="22860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42900" lvl="5" marL="27432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42900" lvl="6" marL="32004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42900" lvl="7" marL="36576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42900" lvl="8" marL="41148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ww.rfc-editor.org/rfc/rfc606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rfc-editor.org/rfc/rfc608" TargetMode="External"/><Relationship Id="rId4" Type="http://schemas.openxmlformats.org/officeDocument/2006/relationships/hyperlink" Target="https://emaillab.jp/pub/hosts/19830527/HOSTS.TXT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www2.eecs.berkeley.edu/Pubs/TechRpts/1984/CSD-84-182.pdf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www.internic.net/domain/named.root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5.png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8.xml"/><Relationship Id="rId3" Type="http://schemas.openxmlformats.org/officeDocument/2006/relationships/hyperlink" Target="https://www.maxmind.com/en/geoip-demo" TargetMode="Externa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CS 168, </a:t>
            </a: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Spring 2026</a:t>
            </a: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 </a:t>
            </a:r>
            <a:r>
              <a:rPr lang="en" sz="160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@ UC Berkeley</a:t>
            </a:r>
            <a:endParaRPr sz="160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Light"/>
                <a:ea typeface="Roboto Light"/>
                <a:cs typeface="Roboto Light"/>
                <a:sym typeface="Roboto Light"/>
              </a:rPr>
              <a:t>Slides credit: Sylvia Ratnasamy, Rob Shakir, Peyrin Kao, Nicholas Ngai, Nicholas Weaver</a:t>
            </a:r>
            <a:endParaRPr sz="160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DNS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14 (Applications 1)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46" name="Google Shape;14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0325" y="460975"/>
            <a:ext cx="3442847" cy="2052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What is DNS For?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Implementation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Scaling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Other Uses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52" name="Google Shape;152;p2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DNS For?</a:t>
            </a:r>
            <a:endParaRPr/>
          </a:p>
        </p:txBody>
      </p:sp>
      <p:sp>
        <p:nvSpPr>
          <p:cNvPr id="153" name="Google Shape;153;p2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14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Application Layer</a:t>
            </a:r>
            <a:endParaRPr/>
          </a:p>
        </p:txBody>
      </p:sp>
      <p:sp>
        <p:nvSpPr>
          <p:cNvPr id="159" name="Google Shape;159;p26"/>
          <p:cNvSpPr txBox="1"/>
          <p:nvPr>
            <p:ph idx="1" type="body"/>
          </p:nvPr>
        </p:nvSpPr>
        <p:spPr>
          <a:xfrm>
            <a:off x="107050" y="402200"/>
            <a:ext cx="48024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Lots of applications are built on the Internet infrastructure we've seen.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We'll focus on some common ones: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DNS (today).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HTTP (next time).</a:t>
            </a:r>
            <a:endParaRPr/>
          </a:p>
        </p:txBody>
      </p:sp>
      <p:sp>
        <p:nvSpPr>
          <p:cNvPr id="160" name="Google Shape;160;p26"/>
          <p:cNvSpPr/>
          <p:nvPr/>
        </p:nvSpPr>
        <p:spPr>
          <a:xfrm>
            <a:off x="5462600" y="3424850"/>
            <a:ext cx="1369200" cy="5049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Physical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" name="Google Shape;161;p26"/>
          <p:cNvSpPr/>
          <p:nvPr/>
        </p:nvSpPr>
        <p:spPr>
          <a:xfrm>
            <a:off x="5462600" y="2919950"/>
            <a:ext cx="1369200" cy="5049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Data Link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" name="Google Shape;162;p26"/>
          <p:cNvSpPr/>
          <p:nvPr/>
        </p:nvSpPr>
        <p:spPr>
          <a:xfrm>
            <a:off x="5462600" y="2415050"/>
            <a:ext cx="1369200" cy="5049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26"/>
          <p:cNvSpPr/>
          <p:nvPr/>
        </p:nvSpPr>
        <p:spPr>
          <a:xfrm>
            <a:off x="5462600" y="1910150"/>
            <a:ext cx="1369200" cy="504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Transport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26"/>
          <p:cNvSpPr/>
          <p:nvPr/>
        </p:nvSpPr>
        <p:spPr>
          <a:xfrm>
            <a:off x="5462600" y="1405250"/>
            <a:ext cx="1369200" cy="504900"/>
          </a:xfrm>
          <a:prstGeom prst="rect">
            <a:avLst/>
          </a:prstGeom>
          <a:solidFill>
            <a:srgbClr val="B4A7D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26"/>
          <p:cNvSpPr txBox="1"/>
          <p:nvPr/>
        </p:nvSpPr>
        <p:spPr>
          <a:xfrm>
            <a:off x="5130670" y="1457600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26"/>
          <p:cNvSpPr txBox="1"/>
          <p:nvPr/>
        </p:nvSpPr>
        <p:spPr>
          <a:xfrm>
            <a:off x="5130670" y="1962500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26"/>
          <p:cNvSpPr txBox="1"/>
          <p:nvPr/>
        </p:nvSpPr>
        <p:spPr>
          <a:xfrm>
            <a:off x="5130670" y="2467400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" name="Google Shape;168;p26"/>
          <p:cNvSpPr txBox="1"/>
          <p:nvPr/>
        </p:nvSpPr>
        <p:spPr>
          <a:xfrm>
            <a:off x="5130670" y="2972300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6"/>
          <p:cNvSpPr txBox="1"/>
          <p:nvPr/>
        </p:nvSpPr>
        <p:spPr>
          <a:xfrm>
            <a:off x="5130670" y="3477200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" name="Google Shape;170;p26"/>
          <p:cNvSpPr txBox="1"/>
          <p:nvPr/>
        </p:nvSpPr>
        <p:spPr>
          <a:xfrm>
            <a:off x="6859025" y="14576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(DNS, HTTP)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6"/>
          <p:cNvSpPr txBox="1"/>
          <p:nvPr/>
        </p:nvSpPr>
        <p:spPr>
          <a:xfrm>
            <a:off x="6859025" y="19625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(TCP, UDP)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6"/>
          <p:cNvSpPr txBox="1"/>
          <p:nvPr/>
        </p:nvSpPr>
        <p:spPr>
          <a:xfrm>
            <a:off x="6859025" y="24674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(IP)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26"/>
          <p:cNvSpPr txBox="1"/>
          <p:nvPr/>
        </p:nvSpPr>
        <p:spPr>
          <a:xfrm>
            <a:off x="6859025" y="29723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(Ethernet)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26"/>
          <p:cNvSpPr txBox="1"/>
          <p:nvPr/>
        </p:nvSpPr>
        <p:spPr>
          <a:xfrm>
            <a:off x="6859025" y="34772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(Optical fiber, copper)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Domain Names</a:t>
            </a:r>
            <a:endParaRPr/>
          </a:p>
        </p:txBody>
      </p:sp>
      <p:sp>
        <p:nvSpPr>
          <p:cNvPr id="180" name="Google Shape;180;p2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Computers are addressed by IP address.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74.125.25.99.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Useful for machines: Helps making routing scalable.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useful for humans: Numbers not meaningful to humans. Hard to remember.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Alternative addressing system: Human-readable domain names.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www.google.com.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useful for machines: Contains no relevant routing information.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Useful for humans: Meaningful words and phrases, easy to remember.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DNS: Definition</a:t>
            </a:r>
            <a:endParaRPr/>
          </a:p>
        </p:txBody>
      </p:sp>
      <p:sp>
        <p:nvSpPr>
          <p:cNvPr id="186" name="Google Shape;186;p28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DNS (Domain Name System)</a:t>
            </a:r>
            <a:r>
              <a:rPr lang="en"/>
              <a:t>: An Internet protocol for translating human-readable domain names to IP addresses.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Usage: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want to send a packet to a certain domain (e.g. you type a domain into your browser).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Your computer performs a </a:t>
            </a:r>
            <a:r>
              <a:rPr b="1" lang="en"/>
              <a:t>DNS lookup</a:t>
            </a:r>
            <a:r>
              <a:rPr lang="en"/>
              <a:t> to translate the domain name to an IP address.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Your computer sends the packet to the corresponding IP address.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8"/>
          <p:cNvSpPr txBox="1"/>
          <p:nvPr/>
        </p:nvSpPr>
        <p:spPr>
          <a:xfrm>
            <a:off x="5697525" y="4184775"/>
            <a:ext cx="1942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74.125.25.99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8"/>
          <p:cNvSpPr txBox="1"/>
          <p:nvPr/>
        </p:nvSpPr>
        <p:spPr>
          <a:xfrm>
            <a:off x="1231150" y="4184775"/>
            <a:ext cx="2188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www.google.com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" name="Google Shape;189;p28"/>
          <p:cNvCxnSpPr>
            <a:endCxn id="187" idx="1"/>
          </p:cNvCxnSpPr>
          <p:nvPr/>
        </p:nvCxnSpPr>
        <p:spPr>
          <a:xfrm>
            <a:off x="3419925" y="4415625"/>
            <a:ext cx="22776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0" name="Google Shape;190;p28"/>
          <p:cNvSpPr txBox="1"/>
          <p:nvPr/>
        </p:nvSpPr>
        <p:spPr>
          <a:xfrm>
            <a:off x="3419875" y="4082175"/>
            <a:ext cx="2229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DNS</a:t>
            </a:r>
            <a:endParaRPr/>
          </a:p>
        </p:txBody>
      </p:sp>
      <p:sp>
        <p:nvSpPr>
          <p:cNvPr id="196" name="Google Shape;196;p2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 the Internet and ARPANET (its predecessor), three main applications.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Remote terminal (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telnet 34.8.12.0</a:t>
            </a:r>
            <a:r>
              <a:rPr lang="en"/>
              <a:t>):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 to someone else's machine remotely. SSH is a modern successor.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File transfer (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ftp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74.1.254.1</a:t>
            </a:r>
            <a:r>
              <a:rPr lang="en"/>
              <a:t>):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Copy files across the network.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Email (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mail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alice@88.1.24.0</a:t>
            </a:r>
            <a:r>
              <a:rPr lang="en"/>
              <a:t>):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 a message to another user.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Remembering the remote host address is difficult for humans.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DNS</a:t>
            </a:r>
            <a:endParaRPr/>
          </a:p>
        </p:txBody>
      </p:sp>
      <p:sp>
        <p:nvSpPr>
          <p:cNvPr id="202" name="Google Shape;202;p30"/>
          <p:cNvSpPr txBox="1"/>
          <p:nvPr>
            <p:ph idx="1" type="body"/>
          </p:nvPr>
        </p:nvSpPr>
        <p:spPr>
          <a:xfrm>
            <a:off x="107050" y="402200"/>
            <a:ext cx="8909700" cy="264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Original design: Computers had a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hosts.txt</a:t>
            </a:r>
            <a:r>
              <a:rPr lang="en"/>
              <a:t> file that mapped names to IP addresses.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ucb-arpa</a:t>
            </a:r>
            <a:r>
              <a:rPr lang="en"/>
              <a:t> maps to 10.0.0.78.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IP address: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mail mosher@10.0.0.78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hostname: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mail mosher@ucb-arpa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Originally </a:t>
            </a:r>
            <a:r>
              <a:rPr lang="en"/>
              <a:t>maintained by Elizabeth Jocelyn "Jake" Feinler.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file was photocopied and exchanged between users.</a:t>
            </a:r>
            <a:endParaRPr/>
          </a:p>
        </p:txBody>
      </p:sp>
      <p:pic>
        <p:nvPicPr>
          <p:cNvPr id="203" name="Google Shape;203;p30"/>
          <p:cNvPicPr preferRelativeResize="0"/>
          <p:nvPr/>
        </p:nvPicPr>
        <p:blipFill rotWithShape="1">
          <a:blip r:embed="rId3">
            <a:alphaModFix/>
          </a:blip>
          <a:srcRect b="8674" l="0" r="0" t="2994"/>
          <a:stretch/>
        </p:blipFill>
        <p:spPr>
          <a:xfrm>
            <a:off x="672949" y="3197450"/>
            <a:ext cx="7798098" cy="155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History of DNS</a:t>
            </a:r>
            <a:endParaRPr/>
          </a:p>
        </p:txBody>
      </p:sp>
      <p:sp>
        <p:nvSpPr>
          <p:cNvPr id="209" name="Google Shape;209;p31"/>
          <p:cNvSpPr txBox="1"/>
          <p:nvPr>
            <p:ph idx="1" type="body"/>
          </p:nvPr>
        </p:nvSpPr>
        <p:spPr>
          <a:xfrm>
            <a:off x="107050" y="402200"/>
            <a:ext cx="8909700" cy="6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Originally,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hosts.txt</a:t>
            </a:r>
            <a:r>
              <a:rPr lang="en"/>
              <a:t> was human-readable.</a:t>
            </a:r>
            <a:endParaRPr/>
          </a:p>
        </p:txBody>
      </p:sp>
      <p:pic>
        <p:nvPicPr>
          <p:cNvPr id="210" name="Google Shape;210;p31"/>
          <p:cNvPicPr preferRelativeResize="0"/>
          <p:nvPr/>
        </p:nvPicPr>
        <p:blipFill rotWithShape="1">
          <a:blip r:embed="rId3">
            <a:alphaModFix/>
          </a:blip>
          <a:srcRect b="6646" l="0" r="0" t="0"/>
          <a:stretch/>
        </p:blipFill>
        <p:spPr>
          <a:xfrm>
            <a:off x="1617688" y="1013438"/>
            <a:ext cx="5888425" cy="3159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31"/>
          <p:cNvSpPr txBox="1"/>
          <p:nvPr/>
        </p:nvSpPr>
        <p:spPr>
          <a:xfrm>
            <a:off x="922900" y="4278275"/>
            <a:ext cx="7278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"I remembered that back then we simply xeroxed the hosts.txt file and put it into the Arpanet Directory, so I copied that." –Elizabeth Feiner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DNS</a:t>
            </a:r>
            <a:endParaRPr/>
          </a:p>
        </p:txBody>
      </p:sp>
      <p:sp>
        <p:nvSpPr>
          <p:cNvPr id="217" name="Google Shape;217;p32"/>
          <p:cNvSpPr txBox="1"/>
          <p:nvPr>
            <p:ph idx="1" type="body"/>
          </p:nvPr>
        </p:nvSpPr>
        <p:spPr>
          <a:xfrm>
            <a:off x="107050" y="402200"/>
            <a:ext cx="8909700" cy="208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Problems with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hosts.txt</a:t>
            </a:r>
            <a:r>
              <a:rPr lang="en"/>
              <a:t>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Everyone needs to use the same file.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you type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mail mosher@ucb-arpa</a:t>
            </a:r>
            <a:r>
              <a:rPr lang="en"/>
              <a:t> on different computers, you should be emailing the same person.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Users might have an outdated file.</a:t>
            </a:r>
            <a:endParaRPr/>
          </a:p>
        </p:txBody>
      </p:sp>
      <p:sp>
        <p:nvSpPr>
          <p:cNvPr id="218" name="Google Shape;218;p32"/>
          <p:cNvSpPr txBox="1"/>
          <p:nvPr/>
        </p:nvSpPr>
        <p:spPr>
          <a:xfrm>
            <a:off x="1542300" y="3348250"/>
            <a:ext cx="6059400" cy="895800"/>
          </a:xfrm>
          <a:prstGeom prst="rect">
            <a:avLst/>
          </a:prstGeom>
          <a:solidFill>
            <a:srgbClr val="FFFAF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It seems about time to put an end to the absurd situation where each site on the network must maintain a different, generally out-of-date, host list.</a:t>
            </a:r>
            <a:endParaRPr>
              <a:solidFill>
                <a:srgbClr val="595959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–RFC 606 (1973)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DNS</a:t>
            </a:r>
            <a:endParaRPr/>
          </a:p>
        </p:txBody>
      </p:sp>
      <p:sp>
        <p:nvSpPr>
          <p:cNvPr id="224" name="Google Shape;224;p33"/>
          <p:cNvSpPr txBox="1"/>
          <p:nvPr>
            <p:ph idx="1" type="body"/>
          </p:nvPr>
        </p:nvSpPr>
        <p:spPr>
          <a:xfrm>
            <a:off x="107050" y="402200"/>
            <a:ext cx="8909700" cy="172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First step: Make the file machine-readable.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use FTP to transfer the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hosts.txt</a:t>
            </a:r>
            <a:r>
              <a:rPr lang="en"/>
              <a:t> file between computers.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Scaling is still an issue as the Internet grew.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Could end up with a partial file if the download breaks halfway through.</a:t>
            </a:r>
            <a:endParaRPr/>
          </a:p>
        </p:txBody>
      </p:sp>
      <p:sp>
        <p:nvSpPr>
          <p:cNvPr id="225" name="Google Shape;225;p33"/>
          <p:cNvSpPr txBox="1"/>
          <p:nvPr/>
        </p:nvSpPr>
        <p:spPr>
          <a:xfrm>
            <a:off x="107050" y="4689800"/>
            <a:ext cx="3591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Check out </a:t>
            </a:r>
            <a:r>
              <a:rPr lang="en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RFC608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this 1983 hosts file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33"/>
          <p:cNvSpPr txBox="1"/>
          <p:nvPr/>
        </p:nvSpPr>
        <p:spPr>
          <a:xfrm>
            <a:off x="1369150" y="2354525"/>
            <a:ext cx="63855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NET :  44.0.0.0  : AMPRNET 	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NET :  45.0.0.0  : C3-PR   	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NET :  46.0.0.0  : UCB-ETHER   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NET :  47.0.0.0  : SAC-PR-TEMP 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HOST : 46.0.0.4  : UCBARPA 	: VAX-11/780 : UNIX : TCP/TELNET,TCP/FTP,UDP 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HOST : 46.0.0.5  : UCBCAD  	: VAX-11/780 : UNIX : TCP/TELNET,TCP/FTP,UDP 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HOST : 46.0.0.6  : UCBERNIE	: VAX-11/780 : UNIX : TCP/TELNET,TCP/FTP,UDP 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HOST : 46.0.0.7  : UCBMONET	: VAX-11/750 : UNIX : TCP/TELNET,TCP/FTP,UDP 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HOST : 46.0.0.9  : UCBESVAX	: VAX-11/780 : UNIX : TCP/TELNET,TCP/FTP,UDP 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HOST : 46.0.0.10 : UCBVAX  	: VAX-11/780 : UNIX : TCP/TELNET,TCP/FTP,UDP 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DNS</a:t>
            </a:r>
            <a:endParaRPr/>
          </a:p>
        </p:txBody>
      </p:sp>
      <p:sp>
        <p:nvSpPr>
          <p:cNvPr id="232" name="Google Shape;232;p34"/>
          <p:cNvSpPr txBox="1"/>
          <p:nvPr>
            <p:ph idx="1" type="body"/>
          </p:nvPr>
        </p:nvSpPr>
        <p:spPr>
          <a:xfrm>
            <a:off x="107050" y="402200"/>
            <a:ext cx="8909700" cy="237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DNS was first proposed in RFC882 (1983).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use this system (with some modifications – but not many) today.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There's a huge amount of DNS history here at UC Berkeley!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First DNS server written for Unix was BIND.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berkeley.edu is the oldest .edu domain!</a:t>
            </a:r>
            <a:endParaRPr/>
          </a:p>
        </p:txBody>
      </p:sp>
      <p:graphicFrame>
        <p:nvGraphicFramePr>
          <p:cNvPr id="233" name="Google Shape;233;p34"/>
          <p:cNvGraphicFramePr/>
          <p:nvPr/>
        </p:nvGraphicFramePr>
        <p:xfrm>
          <a:off x="1141388" y="398073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{8181F944-6428-4EBA-9F01-A79046E7B7B3}</a:tableStyleId>
              </a:tblPr>
              <a:tblGrid>
                <a:gridCol w="5527975"/>
                <a:gridCol w="707775"/>
                <a:gridCol w="605250"/>
              </a:tblGrid>
              <a:tr h="277225">
                <a:tc gridSpan="2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rgbClr val="59595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Berkeley Internet Name Domain Server</a:t>
                      </a:r>
                      <a:endParaRPr b="1" sz="1600">
                        <a:solidFill>
                          <a:srgbClr val="59595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AF0"/>
                    </a:solidFill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u="sng">
                          <a:solidFill>
                            <a:schemeClr val="hlink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  <a:hlinkClick r:id="rId3"/>
                        </a:rPr>
                        <a:t>Link</a:t>
                      </a:r>
                      <a:endParaRPr b="1" sz="1600">
                        <a:solidFill>
                          <a:srgbClr val="59595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0" marR="91425" marL="91425">
                    <a:lnL cap="flat" cmpd="sng" w="1905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AF0"/>
                    </a:solidFill>
                  </a:tcPr>
                </a:tc>
              </a:tr>
              <a:tr h="254250">
                <a:tc gridSpan="2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>
                          <a:solidFill>
                            <a:srgbClr val="59595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Douglas B. Terry, Mark Painter, David W. Riggle, Songnian Zhou (UC Berkeley)</a:t>
                      </a:r>
                      <a:endParaRPr i="1">
                        <a:solidFill>
                          <a:srgbClr val="59595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AF0"/>
                    </a:solidFill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>
                          <a:solidFill>
                            <a:srgbClr val="59595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1984</a:t>
                      </a:r>
                      <a:endParaRPr i="1">
                        <a:solidFill>
                          <a:srgbClr val="59595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A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of DNS</a:t>
            </a:r>
            <a:endParaRPr/>
          </a:p>
        </p:txBody>
      </p:sp>
      <p:sp>
        <p:nvSpPr>
          <p:cNvPr id="239" name="Google Shape;239;p35"/>
          <p:cNvSpPr txBox="1"/>
          <p:nvPr>
            <p:ph idx="1" type="body"/>
          </p:nvPr>
        </p:nvSpPr>
        <p:spPr>
          <a:xfrm>
            <a:off x="107050" y="402200"/>
            <a:ext cx="8909700" cy="376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DNS must be </a:t>
            </a:r>
            <a:r>
              <a:rPr b="1" lang="en"/>
              <a:t>scalable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Many hosts/names. Many lookups. Many updates.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DNS must be </a:t>
            </a:r>
            <a:r>
              <a:rPr b="1" lang="en"/>
              <a:t>highly available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single point of failure.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DNS must be </a:t>
            </a:r>
            <a:r>
              <a:rPr b="1" lang="en"/>
              <a:t>lightweight</a:t>
            </a:r>
            <a:r>
              <a:rPr lang="en"/>
              <a:t> and </a:t>
            </a:r>
            <a:r>
              <a:rPr b="1" lang="en"/>
              <a:t>fast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often start with a name lookup (e.g. user typing domain in browser).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DNS is slow, every connection is slow.</a:t>
            </a:r>
            <a:endParaRPr/>
          </a:p>
        </p:txBody>
      </p:sp>
      <p:sp>
        <p:nvSpPr>
          <p:cNvPr id="240" name="Google Shape;240;p35"/>
          <p:cNvSpPr txBox="1"/>
          <p:nvPr/>
        </p:nvSpPr>
        <p:spPr>
          <a:xfrm>
            <a:off x="5697525" y="4184775"/>
            <a:ext cx="1942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74.125.25.99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35"/>
          <p:cNvSpPr txBox="1"/>
          <p:nvPr/>
        </p:nvSpPr>
        <p:spPr>
          <a:xfrm>
            <a:off x="1231150" y="4184775"/>
            <a:ext cx="2188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www.google.com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2" name="Google Shape;242;p35"/>
          <p:cNvCxnSpPr>
            <a:endCxn id="240" idx="1"/>
          </p:cNvCxnSpPr>
          <p:nvPr/>
        </p:nvCxnSpPr>
        <p:spPr>
          <a:xfrm>
            <a:off x="3419925" y="4415625"/>
            <a:ext cx="22776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3" name="Google Shape;243;p35"/>
          <p:cNvSpPr txBox="1"/>
          <p:nvPr/>
        </p:nvSpPr>
        <p:spPr>
          <a:xfrm>
            <a:off x="3419875" y="4082175"/>
            <a:ext cx="2229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6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is DNS For?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Design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Implementation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Scaling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Other Uses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49" name="Google Shape;249;p36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Design</a:t>
            </a:r>
            <a:endParaRPr/>
          </a:p>
        </p:txBody>
      </p:sp>
      <p:sp>
        <p:nvSpPr>
          <p:cNvPr id="250" name="Google Shape;250;p36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14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Name Servers</a:t>
            </a:r>
            <a:endParaRPr/>
          </a:p>
        </p:txBody>
      </p:sp>
      <p:sp>
        <p:nvSpPr>
          <p:cNvPr id="256" name="Google Shape;256;p3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Name server</a:t>
            </a:r>
            <a:r>
              <a:rPr lang="en"/>
              <a:t>: A server on the Internet responsible for answering DNS requests.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 servers have domain names and IP addresses too.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There's a name server with name a.edu-servers.net and IP 192.5.6.30.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DNS is a client-server, request-response protocol.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perform a DNS lookup, you (the client) send a DNS query:</a:t>
            </a:r>
            <a:br>
              <a:rPr lang="en"/>
            </a:br>
            <a:r>
              <a:rPr lang="en"/>
              <a:t>"What is the IP address of www.google.com?"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name server sends a DNS response with the answer:</a:t>
            </a:r>
            <a:br>
              <a:rPr lang="en"/>
            </a:br>
            <a:r>
              <a:rPr lang="en"/>
              <a:t>"The IP address of www.google.com is 74.125.25.99."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Issues: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name server can't handle every DNS request from the entire Internet.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there are many name servers, how do you know which one to contact?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Name Server Hierarchy</a:t>
            </a:r>
            <a:endParaRPr/>
          </a:p>
        </p:txBody>
      </p:sp>
      <p:sp>
        <p:nvSpPr>
          <p:cNvPr id="262" name="Google Shape;262;p38"/>
          <p:cNvSpPr txBox="1"/>
          <p:nvPr>
            <p:ph idx="1" type="body"/>
          </p:nvPr>
        </p:nvSpPr>
        <p:spPr>
          <a:xfrm>
            <a:off x="107050" y="402200"/>
            <a:ext cx="8909700" cy="265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Idea #1: If one name server doesn't know the answer to your query, the name server can direct you to another name server.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If I don't know the answer to your question, I will direct you to a friend who can help.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Idea #2: Arrange the name servers in a tree hierarchy.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Intuition: Name servers will direct you down the tree until you receive the answer to your query.</a:t>
            </a:r>
            <a:endParaRPr/>
          </a:p>
        </p:txBody>
      </p:sp>
      <p:grpSp>
        <p:nvGrpSpPr>
          <p:cNvPr id="263" name="Google Shape;263;p38"/>
          <p:cNvGrpSpPr/>
          <p:nvPr/>
        </p:nvGrpSpPr>
        <p:grpSpPr>
          <a:xfrm>
            <a:off x="1590000" y="3073639"/>
            <a:ext cx="6073725" cy="1890236"/>
            <a:chOff x="1590000" y="3073639"/>
            <a:chExt cx="6073725" cy="1890236"/>
          </a:xfrm>
        </p:grpSpPr>
        <p:sp>
          <p:nvSpPr>
            <p:cNvPr id="264" name="Google Shape;264;p38"/>
            <p:cNvSpPr txBox="1"/>
            <p:nvPr/>
          </p:nvSpPr>
          <p:spPr>
            <a:xfrm>
              <a:off x="3922400" y="3073639"/>
              <a:ext cx="12381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5" name="Google Shape;265;p38"/>
            <p:cNvSpPr txBox="1"/>
            <p:nvPr/>
          </p:nvSpPr>
          <p:spPr>
            <a:xfrm>
              <a:off x="2576875" y="3905309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6" name="Google Shape;266;p38"/>
            <p:cNvSpPr txBox="1"/>
            <p:nvPr/>
          </p:nvSpPr>
          <p:spPr>
            <a:xfrm>
              <a:off x="4207250" y="3905309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7" name="Google Shape;267;p38"/>
            <p:cNvSpPr txBox="1"/>
            <p:nvPr/>
          </p:nvSpPr>
          <p:spPr>
            <a:xfrm>
              <a:off x="5837625" y="3905309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.com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8" name="Google Shape;268;p38"/>
            <p:cNvSpPr txBox="1"/>
            <p:nvPr/>
          </p:nvSpPr>
          <p:spPr>
            <a:xfrm>
              <a:off x="6506025" y="4570275"/>
              <a:ext cx="11577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google.com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9" name="Google Shape;269;p38"/>
            <p:cNvSpPr txBox="1"/>
            <p:nvPr/>
          </p:nvSpPr>
          <p:spPr>
            <a:xfrm>
              <a:off x="5208400" y="4570275"/>
              <a:ext cx="11577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piazza.com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70" name="Google Shape;270;p38"/>
            <p:cNvSpPr txBox="1"/>
            <p:nvPr/>
          </p:nvSpPr>
          <p:spPr>
            <a:xfrm>
              <a:off x="4024975" y="4570275"/>
              <a:ext cx="1043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71" name="Google Shape;271;p38"/>
            <p:cNvSpPr txBox="1"/>
            <p:nvPr/>
          </p:nvSpPr>
          <p:spPr>
            <a:xfrm>
              <a:off x="3026350" y="4570275"/>
              <a:ext cx="8586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72" name="Google Shape;272;p38"/>
            <p:cNvSpPr txBox="1"/>
            <p:nvPr/>
          </p:nvSpPr>
          <p:spPr>
            <a:xfrm>
              <a:off x="1590000" y="4570275"/>
              <a:ext cx="12963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berkeley.edu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273" name="Google Shape;273;p38"/>
            <p:cNvCxnSpPr>
              <a:stCxn id="264" idx="2"/>
              <a:endCxn id="265" idx="0"/>
            </p:cNvCxnSpPr>
            <p:nvPr/>
          </p:nvCxnSpPr>
          <p:spPr>
            <a:xfrm flipH="1">
              <a:off x="2910950" y="3467239"/>
              <a:ext cx="1630500" cy="4380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74" name="Google Shape;274;p38"/>
            <p:cNvCxnSpPr>
              <a:stCxn id="264" idx="2"/>
              <a:endCxn id="266" idx="0"/>
            </p:cNvCxnSpPr>
            <p:nvPr/>
          </p:nvCxnSpPr>
          <p:spPr>
            <a:xfrm>
              <a:off x="4541450" y="3467239"/>
              <a:ext cx="0" cy="4380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75" name="Google Shape;275;p38"/>
            <p:cNvCxnSpPr>
              <a:stCxn id="264" idx="2"/>
              <a:endCxn id="267" idx="0"/>
            </p:cNvCxnSpPr>
            <p:nvPr/>
          </p:nvCxnSpPr>
          <p:spPr>
            <a:xfrm>
              <a:off x="4541450" y="3467239"/>
              <a:ext cx="1630500" cy="4380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76" name="Google Shape;276;p38"/>
            <p:cNvCxnSpPr>
              <a:stCxn id="265" idx="2"/>
              <a:endCxn id="272" idx="0"/>
            </p:cNvCxnSpPr>
            <p:nvPr/>
          </p:nvCxnSpPr>
          <p:spPr>
            <a:xfrm flipH="1">
              <a:off x="2238175" y="4298909"/>
              <a:ext cx="672900" cy="2715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77" name="Google Shape;277;p38"/>
            <p:cNvCxnSpPr>
              <a:stCxn id="265" idx="2"/>
              <a:endCxn id="271" idx="0"/>
            </p:cNvCxnSpPr>
            <p:nvPr/>
          </p:nvCxnSpPr>
          <p:spPr>
            <a:xfrm>
              <a:off x="2911075" y="4298909"/>
              <a:ext cx="544500" cy="2715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78" name="Google Shape;278;p38"/>
            <p:cNvCxnSpPr>
              <a:stCxn id="266" idx="2"/>
              <a:endCxn id="270" idx="0"/>
            </p:cNvCxnSpPr>
            <p:nvPr/>
          </p:nvCxnSpPr>
          <p:spPr>
            <a:xfrm>
              <a:off x="4541450" y="4298909"/>
              <a:ext cx="5100" cy="2715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79" name="Google Shape;279;p38"/>
            <p:cNvCxnSpPr>
              <a:stCxn id="267" idx="2"/>
              <a:endCxn id="269" idx="0"/>
            </p:cNvCxnSpPr>
            <p:nvPr/>
          </p:nvCxnSpPr>
          <p:spPr>
            <a:xfrm flipH="1">
              <a:off x="5787225" y="4298909"/>
              <a:ext cx="384600" cy="2715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80" name="Google Shape;280;p38"/>
            <p:cNvCxnSpPr>
              <a:stCxn id="267" idx="2"/>
              <a:endCxn id="268" idx="0"/>
            </p:cNvCxnSpPr>
            <p:nvPr/>
          </p:nvCxnSpPr>
          <p:spPr>
            <a:xfrm>
              <a:off x="6171825" y="4298909"/>
              <a:ext cx="913200" cy="2715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Name Server Hierarchy</a:t>
            </a:r>
            <a:endParaRPr/>
          </a:p>
        </p:txBody>
      </p:sp>
      <p:sp>
        <p:nvSpPr>
          <p:cNvPr id="286" name="Google Shape;286;p39"/>
          <p:cNvSpPr txBox="1"/>
          <p:nvPr>
            <p:ph idx="1" type="body"/>
          </p:nvPr>
        </p:nvSpPr>
        <p:spPr>
          <a:xfrm>
            <a:off x="107050" y="402200"/>
            <a:ext cx="8909700" cy="9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box is a name server. The label represents which queries the name server is responsible for answering.</a:t>
            </a:r>
            <a:endParaRPr/>
          </a:p>
        </p:txBody>
      </p:sp>
      <p:grpSp>
        <p:nvGrpSpPr>
          <p:cNvPr id="287" name="Google Shape;287;p39"/>
          <p:cNvGrpSpPr/>
          <p:nvPr/>
        </p:nvGrpSpPr>
        <p:grpSpPr>
          <a:xfrm>
            <a:off x="1590000" y="3073639"/>
            <a:ext cx="6073725" cy="1890236"/>
            <a:chOff x="1590000" y="3073639"/>
            <a:chExt cx="6073725" cy="1890236"/>
          </a:xfrm>
        </p:grpSpPr>
        <p:sp>
          <p:nvSpPr>
            <p:cNvPr id="288" name="Google Shape;288;p39"/>
            <p:cNvSpPr txBox="1"/>
            <p:nvPr/>
          </p:nvSpPr>
          <p:spPr>
            <a:xfrm>
              <a:off x="3922400" y="3073639"/>
              <a:ext cx="12381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89" name="Google Shape;289;p39"/>
            <p:cNvSpPr txBox="1"/>
            <p:nvPr/>
          </p:nvSpPr>
          <p:spPr>
            <a:xfrm>
              <a:off x="2576875" y="3905309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0" name="Google Shape;290;p39"/>
            <p:cNvSpPr txBox="1"/>
            <p:nvPr/>
          </p:nvSpPr>
          <p:spPr>
            <a:xfrm>
              <a:off x="4207250" y="3905309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1" name="Google Shape;291;p39"/>
            <p:cNvSpPr txBox="1"/>
            <p:nvPr/>
          </p:nvSpPr>
          <p:spPr>
            <a:xfrm>
              <a:off x="5837625" y="3905309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.com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2" name="Google Shape;292;p39"/>
            <p:cNvSpPr txBox="1"/>
            <p:nvPr/>
          </p:nvSpPr>
          <p:spPr>
            <a:xfrm>
              <a:off x="6506025" y="4570275"/>
              <a:ext cx="11577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google.com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3" name="Google Shape;293;p39"/>
            <p:cNvSpPr txBox="1"/>
            <p:nvPr/>
          </p:nvSpPr>
          <p:spPr>
            <a:xfrm>
              <a:off x="5208400" y="4570275"/>
              <a:ext cx="11577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piazza.com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4" name="Google Shape;294;p39"/>
            <p:cNvSpPr txBox="1"/>
            <p:nvPr/>
          </p:nvSpPr>
          <p:spPr>
            <a:xfrm>
              <a:off x="4024975" y="4570275"/>
              <a:ext cx="1043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5" name="Google Shape;295;p39"/>
            <p:cNvSpPr txBox="1"/>
            <p:nvPr/>
          </p:nvSpPr>
          <p:spPr>
            <a:xfrm>
              <a:off x="3026350" y="4570275"/>
              <a:ext cx="8586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6" name="Google Shape;296;p39"/>
            <p:cNvSpPr txBox="1"/>
            <p:nvPr/>
          </p:nvSpPr>
          <p:spPr>
            <a:xfrm>
              <a:off x="1590000" y="4570275"/>
              <a:ext cx="12963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berkeley.edu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297" name="Google Shape;297;p39"/>
            <p:cNvCxnSpPr>
              <a:stCxn id="288" idx="2"/>
              <a:endCxn id="289" idx="0"/>
            </p:cNvCxnSpPr>
            <p:nvPr/>
          </p:nvCxnSpPr>
          <p:spPr>
            <a:xfrm flipH="1">
              <a:off x="2910950" y="3467239"/>
              <a:ext cx="1630500" cy="4380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98" name="Google Shape;298;p39"/>
            <p:cNvCxnSpPr>
              <a:stCxn id="288" idx="2"/>
              <a:endCxn id="290" idx="0"/>
            </p:cNvCxnSpPr>
            <p:nvPr/>
          </p:nvCxnSpPr>
          <p:spPr>
            <a:xfrm>
              <a:off x="4541450" y="3467239"/>
              <a:ext cx="0" cy="4380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99" name="Google Shape;299;p39"/>
            <p:cNvCxnSpPr>
              <a:stCxn id="288" idx="2"/>
              <a:endCxn id="291" idx="0"/>
            </p:cNvCxnSpPr>
            <p:nvPr/>
          </p:nvCxnSpPr>
          <p:spPr>
            <a:xfrm>
              <a:off x="4541450" y="3467239"/>
              <a:ext cx="1630500" cy="4380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00" name="Google Shape;300;p39"/>
            <p:cNvCxnSpPr>
              <a:stCxn id="289" idx="2"/>
              <a:endCxn id="296" idx="0"/>
            </p:cNvCxnSpPr>
            <p:nvPr/>
          </p:nvCxnSpPr>
          <p:spPr>
            <a:xfrm flipH="1">
              <a:off x="2238175" y="4298909"/>
              <a:ext cx="672900" cy="2715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01" name="Google Shape;301;p39"/>
            <p:cNvCxnSpPr>
              <a:stCxn id="289" idx="2"/>
              <a:endCxn id="295" idx="0"/>
            </p:cNvCxnSpPr>
            <p:nvPr/>
          </p:nvCxnSpPr>
          <p:spPr>
            <a:xfrm>
              <a:off x="2911075" y="4298909"/>
              <a:ext cx="544500" cy="2715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02" name="Google Shape;302;p39"/>
            <p:cNvCxnSpPr>
              <a:stCxn id="290" idx="2"/>
              <a:endCxn id="294" idx="0"/>
            </p:cNvCxnSpPr>
            <p:nvPr/>
          </p:nvCxnSpPr>
          <p:spPr>
            <a:xfrm>
              <a:off x="4541450" y="4298909"/>
              <a:ext cx="5100" cy="2715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03" name="Google Shape;303;p39"/>
            <p:cNvCxnSpPr>
              <a:stCxn id="291" idx="2"/>
              <a:endCxn id="293" idx="0"/>
            </p:cNvCxnSpPr>
            <p:nvPr/>
          </p:nvCxnSpPr>
          <p:spPr>
            <a:xfrm flipH="1">
              <a:off x="5787225" y="4298909"/>
              <a:ext cx="384600" cy="2715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04" name="Google Shape;304;p39"/>
            <p:cNvCxnSpPr>
              <a:stCxn id="291" idx="2"/>
              <a:endCxn id="292" idx="0"/>
            </p:cNvCxnSpPr>
            <p:nvPr/>
          </p:nvCxnSpPr>
          <p:spPr>
            <a:xfrm>
              <a:off x="6171825" y="4298909"/>
              <a:ext cx="913200" cy="2715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05" name="Google Shape;305;p39"/>
          <p:cNvSpPr txBox="1"/>
          <p:nvPr/>
        </p:nvSpPr>
        <p:spPr>
          <a:xfrm>
            <a:off x="492675" y="2217550"/>
            <a:ext cx="3183900" cy="8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his name server is responsible for .edu queries like eecs.berkeley.edu, but not a query like mail.google.com.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306" name="Google Shape;306;p39"/>
          <p:cNvSpPr/>
          <p:nvPr/>
        </p:nvSpPr>
        <p:spPr>
          <a:xfrm>
            <a:off x="2084650" y="3118975"/>
            <a:ext cx="492100" cy="984150"/>
          </a:xfrm>
          <a:custGeom>
            <a:rect b="b" l="l" r="r" t="t"/>
            <a:pathLst>
              <a:path extrusionOk="0" h="39366" w="19684">
                <a:moveTo>
                  <a:pt x="0" y="0"/>
                </a:moveTo>
                <a:lnTo>
                  <a:pt x="0" y="39366"/>
                </a:lnTo>
                <a:lnTo>
                  <a:pt x="19684" y="39366"/>
                </a:lnTo>
              </a:path>
            </a:pathLst>
          </a:cu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312" name="Google Shape;312;p40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313" name="Google Shape;313;p40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4" name="Google Shape;314;p40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5" name="Google Shape;315;p40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6" name="Google Shape;316;p40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7" name="Google Shape;317;p40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8" name="Google Shape;318;p40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berkeley.edu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319" name="Google Shape;319;p40"/>
            <p:cNvCxnSpPr>
              <a:stCxn id="313" idx="2"/>
              <a:endCxn id="314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20" name="Google Shape;320;p40"/>
            <p:cNvCxnSpPr>
              <a:stCxn id="313" idx="2"/>
              <a:endCxn id="315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21" name="Google Shape;321;p40"/>
            <p:cNvCxnSpPr>
              <a:stCxn id="314" idx="2"/>
              <a:endCxn id="318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22" name="Google Shape;322;p40"/>
            <p:cNvCxnSpPr>
              <a:stCxn id="314" idx="2"/>
              <a:endCxn id="317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23" name="Google Shape;323;p40"/>
            <p:cNvCxnSpPr>
              <a:stCxn id="315" idx="2"/>
              <a:endCxn id="316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24" name="Google Shape;324;p40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40"/>
          <p:cNvSpPr txBox="1"/>
          <p:nvPr>
            <p:ph idx="1" type="body"/>
          </p:nvPr>
        </p:nvSpPr>
        <p:spPr>
          <a:xfrm>
            <a:off x="107050" y="402200"/>
            <a:ext cx="8909700" cy="61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Let's walk through a DNS query for the IP address of eecs.berkeley.edu.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331" name="Google Shape;331;p41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332" name="Google Shape;332;p41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3" name="Google Shape;333;p41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4" name="Google Shape;334;p41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5" name="Google Shape;335;p41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6" name="Google Shape;336;p41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7" name="Google Shape;337;p41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berkeley.edu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338" name="Google Shape;338;p41"/>
            <p:cNvCxnSpPr>
              <a:stCxn id="332" idx="2"/>
              <a:endCxn id="333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39" name="Google Shape;339;p41"/>
            <p:cNvCxnSpPr>
              <a:stCxn id="332" idx="2"/>
              <a:endCxn id="334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40" name="Google Shape;340;p41"/>
            <p:cNvCxnSpPr>
              <a:stCxn id="333" idx="2"/>
              <a:endCxn id="337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41" name="Google Shape;341;p41"/>
            <p:cNvCxnSpPr>
              <a:stCxn id="333" idx="2"/>
              <a:endCxn id="336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42" name="Google Shape;342;p41"/>
            <p:cNvCxnSpPr>
              <a:stCxn id="334" idx="2"/>
              <a:endCxn id="335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43" name="Google Shape;343;p41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4" name="Google Shape;344;p41"/>
          <p:cNvSpPr txBox="1"/>
          <p:nvPr>
            <p:ph idx="1" type="body"/>
          </p:nvPr>
        </p:nvSpPr>
        <p:spPr>
          <a:xfrm>
            <a:off x="107050" y="402200"/>
            <a:ext cx="89097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First, you check your cache to see if you already know the answer to your query.</a:t>
            </a:r>
            <a:endParaRPr/>
          </a:p>
        </p:txBody>
      </p:sp>
      <p:sp>
        <p:nvSpPr>
          <p:cNvPr id="345" name="Google Shape;345;p41"/>
          <p:cNvSpPr/>
          <p:nvPr/>
        </p:nvSpPr>
        <p:spPr>
          <a:xfrm>
            <a:off x="1538300" y="1657350"/>
            <a:ext cx="2621100" cy="817800"/>
          </a:xfrm>
          <a:prstGeom prst="wedgeRoundRectCallout">
            <a:avLst>
              <a:gd fmla="val -62727" name="adj1"/>
              <a:gd fmla="val 42015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Hmm, I don't remember previously seeing the IP address of eecs.berkeley.edu.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351" name="Google Shape;351;p42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352" name="Google Shape;352;p42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3" name="Google Shape;353;p42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4" name="Google Shape;354;p42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5" name="Google Shape;355;p42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6" name="Google Shape;356;p42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7" name="Google Shape;357;p42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berkeley.edu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358" name="Google Shape;358;p42"/>
            <p:cNvCxnSpPr>
              <a:stCxn id="352" idx="2"/>
              <a:endCxn id="353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59" name="Google Shape;359;p42"/>
            <p:cNvCxnSpPr>
              <a:stCxn id="352" idx="2"/>
              <a:endCxn id="354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0" name="Google Shape;360;p42"/>
            <p:cNvCxnSpPr>
              <a:stCxn id="353" idx="2"/>
              <a:endCxn id="357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1" name="Google Shape;361;p42"/>
            <p:cNvCxnSpPr>
              <a:stCxn id="353" idx="2"/>
              <a:endCxn id="356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2" name="Google Shape;362;p42"/>
            <p:cNvCxnSpPr>
              <a:stCxn id="354" idx="2"/>
              <a:endCxn id="355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63" name="Google Shape;363;p42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42"/>
          <p:cNvSpPr txBox="1"/>
          <p:nvPr>
            <p:ph idx="1" type="body"/>
          </p:nvPr>
        </p:nvSpPr>
        <p:spPr>
          <a:xfrm>
            <a:off x="107050" y="402200"/>
            <a:ext cx="8909700" cy="9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DNS queries always start with a request to the root name server, which is responsible for all requests.</a:t>
            </a:r>
            <a:endParaRPr/>
          </a:p>
        </p:txBody>
      </p:sp>
      <p:grpSp>
        <p:nvGrpSpPr>
          <p:cNvPr id="365" name="Google Shape;365;p42"/>
          <p:cNvGrpSpPr/>
          <p:nvPr/>
        </p:nvGrpSpPr>
        <p:grpSpPr>
          <a:xfrm>
            <a:off x="1193025" y="1822474"/>
            <a:ext cx="5609100" cy="656100"/>
            <a:chOff x="812025" y="2279674"/>
            <a:chExt cx="5609100" cy="656100"/>
          </a:xfrm>
        </p:grpSpPr>
        <p:cxnSp>
          <p:nvCxnSpPr>
            <p:cNvPr id="366" name="Google Shape;366;p42"/>
            <p:cNvCxnSpPr/>
            <p:nvPr/>
          </p:nvCxnSpPr>
          <p:spPr>
            <a:xfrm flipH="1" rot="10800000">
              <a:off x="812025" y="2279674"/>
              <a:ext cx="5609100" cy="6561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367" name="Google Shape;367;p42"/>
            <p:cNvSpPr txBox="1"/>
            <p:nvPr/>
          </p:nvSpPr>
          <p:spPr>
            <a:xfrm>
              <a:off x="1983450" y="2473075"/>
              <a:ext cx="410100" cy="39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68" name="Google Shape;368;p42"/>
          <p:cNvSpPr/>
          <p:nvPr/>
        </p:nvSpPr>
        <p:spPr>
          <a:xfrm>
            <a:off x="3033225" y="1311450"/>
            <a:ext cx="2120700" cy="6561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"What is the IP address of eecs.berkeley.edu?"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374" name="Google Shape;374;p43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375" name="Google Shape;375;p43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6" name="Google Shape;376;p43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7" name="Google Shape;377;p43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8" name="Google Shape;378;p43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9" name="Google Shape;379;p43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0" name="Google Shape;380;p43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berkeley.edu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381" name="Google Shape;381;p43"/>
            <p:cNvCxnSpPr>
              <a:stCxn id="375" idx="2"/>
              <a:endCxn id="376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82" name="Google Shape;382;p43"/>
            <p:cNvCxnSpPr>
              <a:stCxn id="375" idx="2"/>
              <a:endCxn id="377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83" name="Google Shape;383;p43"/>
            <p:cNvCxnSpPr>
              <a:stCxn id="376" idx="2"/>
              <a:endCxn id="380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84" name="Google Shape;384;p43"/>
            <p:cNvCxnSpPr>
              <a:stCxn id="376" idx="2"/>
              <a:endCxn id="379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85" name="Google Shape;385;p43"/>
            <p:cNvCxnSpPr>
              <a:stCxn id="377" idx="2"/>
              <a:endCxn id="378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86" name="Google Shape;386;p43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7" name="Google Shape;387;p43"/>
          <p:cNvSpPr txBox="1"/>
          <p:nvPr>
            <p:ph idx="1" type="body"/>
          </p:nvPr>
        </p:nvSpPr>
        <p:spPr>
          <a:xfrm>
            <a:off x="107050" y="402200"/>
            <a:ext cx="8909700" cy="9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root name server responds by directing you to the correct child name server (in this case, the .edu name server).</a:t>
            </a:r>
            <a:endParaRPr/>
          </a:p>
        </p:txBody>
      </p:sp>
      <p:grpSp>
        <p:nvGrpSpPr>
          <p:cNvPr id="388" name="Google Shape;388;p43"/>
          <p:cNvGrpSpPr/>
          <p:nvPr/>
        </p:nvGrpSpPr>
        <p:grpSpPr>
          <a:xfrm>
            <a:off x="1193025" y="1822474"/>
            <a:ext cx="5609100" cy="656100"/>
            <a:chOff x="812025" y="2279674"/>
            <a:chExt cx="5609100" cy="656100"/>
          </a:xfrm>
        </p:grpSpPr>
        <p:cxnSp>
          <p:nvCxnSpPr>
            <p:cNvPr id="389" name="Google Shape;389;p43"/>
            <p:cNvCxnSpPr/>
            <p:nvPr/>
          </p:nvCxnSpPr>
          <p:spPr>
            <a:xfrm flipH="1" rot="10800000">
              <a:off x="812025" y="2279674"/>
              <a:ext cx="5609100" cy="6561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390" name="Google Shape;390;p43"/>
            <p:cNvSpPr txBox="1"/>
            <p:nvPr/>
          </p:nvSpPr>
          <p:spPr>
            <a:xfrm>
              <a:off x="1983450" y="2473075"/>
              <a:ext cx="410100" cy="39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91" name="Google Shape;391;p43"/>
          <p:cNvSpPr/>
          <p:nvPr/>
        </p:nvSpPr>
        <p:spPr>
          <a:xfrm>
            <a:off x="2968125" y="2430850"/>
            <a:ext cx="2185800" cy="8322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"I don't know, but I have delegated authority to the .edu name server."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92" name="Google Shape;392;p43"/>
          <p:cNvGrpSpPr/>
          <p:nvPr/>
        </p:nvGrpSpPr>
        <p:grpSpPr>
          <a:xfrm>
            <a:off x="1193025" y="1943772"/>
            <a:ext cx="5609100" cy="808872"/>
            <a:chOff x="812025" y="2400972"/>
            <a:chExt cx="5609100" cy="808872"/>
          </a:xfrm>
        </p:grpSpPr>
        <p:cxnSp>
          <p:nvCxnSpPr>
            <p:cNvPr id="393" name="Google Shape;393;p43"/>
            <p:cNvCxnSpPr/>
            <p:nvPr/>
          </p:nvCxnSpPr>
          <p:spPr>
            <a:xfrm flipH="1" rot="10800000">
              <a:off x="812025" y="2400972"/>
              <a:ext cx="5609100" cy="6561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sp>
          <p:nvSpPr>
            <p:cNvPr id="394" name="Google Shape;394;p43"/>
            <p:cNvSpPr txBox="1"/>
            <p:nvPr/>
          </p:nvSpPr>
          <p:spPr>
            <a:xfrm>
              <a:off x="2046705" y="2813245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4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400" name="Google Shape;400;p44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401" name="Google Shape;401;p44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2" name="Google Shape;402;p44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3" name="Google Shape;403;p44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4" name="Google Shape;404;p44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5" name="Google Shape;405;p44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6" name="Google Shape;406;p44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berkeley.edu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407" name="Google Shape;407;p44"/>
            <p:cNvCxnSpPr>
              <a:stCxn id="401" idx="2"/>
              <a:endCxn id="402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08" name="Google Shape;408;p44"/>
            <p:cNvCxnSpPr>
              <a:stCxn id="401" idx="2"/>
              <a:endCxn id="403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09" name="Google Shape;409;p44"/>
            <p:cNvCxnSpPr>
              <a:stCxn id="402" idx="2"/>
              <a:endCxn id="406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10" name="Google Shape;410;p44"/>
            <p:cNvCxnSpPr>
              <a:stCxn id="402" idx="2"/>
              <a:endCxn id="405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11" name="Google Shape;411;p44"/>
            <p:cNvCxnSpPr>
              <a:stCxn id="403" idx="2"/>
              <a:endCxn id="404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12" name="Google Shape;412;p44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3" name="Google Shape;413;p44"/>
          <p:cNvSpPr txBox="1"/>
          <p:nvPr>
            <p:ph idx="1" type="body"/>
          </p:nvPr>
        </p:nvSpPr>
        <p:spPr>
          <a:xfrm>
            <a:off x="107050" y="402200"/>
            <a:ext cx="8909700" cy="9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Next, you ask the same question, but now to the .edu name server.</a:t>
            </a:r>
            <a:endParaRPr/>
          </a:p>
        </p:txBody>
      </p:sp>
      <p:grpSp>
        <p:nvGrpSpPr>
          <p:cNvPr id="414" name="Google Shape;414;p44"/>
          <p:cNvGrpSpPr/>
          <p:nvPr/>
        </p:nvGrpSpPr>
        <p:grpSpPr>
          <a:xfrm>
            <a:off x="1193025" y="1822474"/>
            <a:ext cx="5609100" cy="656100"/>
            <a:chOff x="812025" y="2279674"/>
            <a:chExt cx="5609100" cy="656100"/>
          </a:xfrm>
        </p:grpSpPr>
        <p:cxnSp>
          <p:nvCxnSpPr>
            <p:cNvPr id="415" name="Google Shape;415;p44"/>
            <p:cNvCxnSpPr/>
            <p:nvPr/>
          </p:nvCxnSpPr>
          <p:spPr>
            <a:xfrm flipH="1" rot="10800000">
              <a:off x="812025" y="2279674"/>
              <a:ext cx="5609100" cy="6561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416" name="Google Shape;416;p44"/>
            <p:cNvSpPr txBox="1"/>
            <p:nvPr/>
          </p:nvSpPr>
          <p:spPr>
            <a:xfrm>
              <a:off x="1983450" y="2473075"/>
              <a:ext cx="410100" cy="39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17" name="Google Shape;417;p44"/>
          <p:cNvGrpSpPr/>
          <p:nvPr/>
        </p:nvGrpSpPr>
        <p:grpSpPr>
          <a:xfrm>
            <a:off x="1193025" y="1943772"/>
            <a:ext cx="5609100" cy="808872"/>
            <a:chOff x="812025" y="2400972"/>
            <a:chExt cx="5609100" cy="808872"/>
          </a:xfrm>
        </p:grpSpPr>
        <p:cxnSp>
          <p:nvCxnSpPr>
            <p:cNvPr id="418" name="Google Shape;418;p44"/>
            <p:cNvCxnSpPr/>
            <p:nvPr/>
          </p:nvCxnSpPr>
          <p:spPr>
            <a:xfrm flipH="1" rot="10800000">
              <a:off x="812025" y="2400972"/>
              <a:ext cx="5609100" cy="6561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sp>
          <p:nvSpPr>
            <p:cNvPr id="419" name="Google Shape;419;p44"/>
            <p:cNvSpPr txBox="1"/>
            <p:nvPr/>
          </p:nvSpPr>
          <p:spPr>
            <a:xfrm>
              <a:off x="2046705" y="2813245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0" name="Google Shape;420;p44"/>
          <p:cNvGrpSpPr/>
          <p:nvPr/>
        </p:nvGrpSpPr>
        <p:grpSpPr>
          <a:xfrm>
            <a:off x="1193025" y="2813606"/>
            <a:ext cx="5116200" cy="396600"/>
            <a:chOff x="812025" y="3270806"/>
            <a:chExt cx="5116200" cy="396600"/>
          </a:xfrm>
        </p:grpSpPr>
        <p:cxnSp>
          <p:nvCxnSpPr>
            <p:cNvPr id="421" name="Google Shape;421;p44"/>
            <p:cNvCxnSpPr/>
            <p:nvPr/>
          </p:nvCxnSpPr>
          <p:spPr>
            <a:xfrm flipH="1" rot="10800000">
              <a:off x="812025" y="3399151"/>
              <a:ext cx="5116200" cy="2493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422" name="Google Shape;422;p44"/>
            <p:cNvSpPr txBox="1"/>
            <p:nvPr/>
          </p:nvSpPr>
          <p:spPr>
            <a:xfrm>
              <a:off x="2046701" y="327080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23" name="Google Shape;423;p44"/>
          <p:cNvSpPr/>
          <p:nvPr/>
        </p:nvSpPr>
        <p:spPr>
          <a:xfrm>
            <a:off x="3033225" y="3140250"/>
            <a:ext cx="2120700" cy="6561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"What is the IP address of eecs.berkeley.edu?"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4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429" name="Google Shape;429;p45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430" name="Google Shape;430;p45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1" name="Google Shape;431;p45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2" name="Google Shape;432;p45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3" name="Google Shape;433;p45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4" name="Google Shape;434;p45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5" name="Google Shape;435;p45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berkeley.edu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436" name="Google Shape;436;p45"/>
            <p:cNvCxnSpPr>
              <a:stCxn id="430" idx="2"/>
              <a:endCxn id="431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7" name="Google Shape;437;p45"/>
            <p:cNvCxnSpPr>
              <a:stCxn id="430" idx="2"/>
              <a:endCxn id="432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8" name="Google Shape;438;p45"/>
            <p:cNvCxnSpPr>
              <a:stCxn id="431" idx="2"/>
              <a:endCxn id="435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9" name="Google Shape;439;p45"/>
            <p:cNvCxnSpPr>
              <a:stCxn id="431" idx="2"/>
              <a:endCxn id="434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0" name="Google Shape;440;p45"/>
            <p:cNvCxnSpPr>
              <a:stCxn id="432" idx="2"/>
              <a:endCxn id="433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41" name="Google Shape;441;p45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2" name="Google Shape;442;p45"/>
          <p:cNvSpPr txBox="1"/>
          <p:nvPr>
            <p:ph idx="1" type="body"/>
          </p:nvPr>
        </p:nvSpPr>
        <p:spPr>
          <a:xfrm>
            <a:off x="107050" y="402200"/>
            <a:ext cx="8909700" cy="9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.edu name server redirects you to the berkeley.edu name server.</a:t>
            </a:r>
            <a:endParaRPr/>
          </a:p>
        </p:txBody>
      </p:sp>
      <p:grpSp>
        <p:nvGrpSpPr>
          <p:cNvPr id="443" name="Google Shape;443;p45"/>
          <p:cNvGrpSpPr/>
          <p:nvPr/>
        </p:nvGrpSpPr>
        <p:grpSpPr>
          <a:xfrm>
            <a:off x="1193025" y="1822474"/>
            <a:ext cx="5609100" cy="656100"/>
            <a:chOff x="812025" y="2279674"/>
            <a:chExt cx="5609100" cy="656100"/>
          </a:xfrm>
        </p:grpSpPr>
        <p:cxnSp>
          <p:nvCxnSpPr>
            <p:cNvPr id="444" name="Google Shape;444;p45"/>
            <p:cNvCxnSpPr/>
            <p:nvPr/>
          </p:nvCxnSpPr>
          <p:spPr>
            <a:xfrm flipH="1" rot="10800000">
              <a:off x="812025" y="2279674"/>
              <a:ext cx="5609100" cy="6561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445" name="Google Shape;445;p45"/>
            <p:cNvSpPr txBox="1"/>
            <p:nvPr/>
          </p:nvSpPr>
          <p:spPr>
            <a:xfrm>
              <a:off x="1983450" y="2473075"/>
              <a:ext cx="410100" cy="39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46" name="Google Shape;446;p45"/>
          <p:cNvGrpSpPr/>
          <p:nvPr/>
        </p:nvGrpSpPr>
        <p:grpSpPr>
          <a:xfrm>
            <a:off x="1193025" y="1943772"/>
            <a:ext cx="5609100" cy="808872"/>
            <a:chOff x="812025" y="2400972"/>
            <a:chExt cx="5609100" cy="808872"/>
          </a:xfrm>
        </p:grpSpPr>
        <p:cxnSp>
          <p:nvCxnSpPr>
            <p:cNvPr id="447" name="Google Shape;447;p45"/>
            <p:cNvCxnSpPr/>
            <p:nvPr/>
          </p:nvCxnSpPr>
          <p:spPr>
            <a:xfrm flipH="1" rot="10800000">
              <a:off x="812025" y="2400972"/>
              <a:ext cx="5609100" cy="6561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sp>
          <p:nvSpPr>
            <p:cNvPr id="448" name="Google Shape;448;p45"/>
            <p:cNvSpPr txBox="1"/>
            <p:nvPr/>
          </p:nvSpPr>
          <p:spPr>
            <a:xfrm>
              <a:off x="2046705" y="2813245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49" name="Google Shape;449;p45"/>
          <p:cNvGrpSpPr/>
          <p:nvPr/>
        </p:nvGrpSpPr>
        <p:grpSpPr>
          <a:xfrm>
            <a:off x="1193025" y="2813606"/>
            <a:ext cx="5116200" cy="396600"/>
            <a:chOff x="812025" y="3270806"/>
            <a:chExt cx="5116200" cy="396600"/>
          </a:xfrm>
        </p:grpSpPr>
        <p:cxnSp>
          <p:nvCxnSpPr>
            <p:cNvPr id="450" name="Google Shape;450;p45"/>
            <p:cNvCxnSpPr/>
            <p:nvPr/>
          </p:nvCxnSpPr>
          <p:spPr>
            <a:xfrm flipH="1" rot="10800000">
              <a:off x="812025" y="3399151"/>
              <a:ext cx="5116200" cy="2493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451" name="Google Shape;451;p45"/>
            <p:cNvSpPr txBox="1"/>
            <p:nvPr/>
          </p:nvSpPr>
          <p:spPr>
            <a:xfrm>
              <a:off x="2046701" y="327080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52" name="Google Shape;452;p45"/>
          <p:cNvGrpSpPr/>
          <p:nvPr/>
        </p:nvGrpSpPr>
        <p:grpSpPr>
          <a:xfrm>
            <a:off x="1159384" y="3057425"/>
            <a:ext cx="5116200" cy="493113"/>
            <a:chOff x="854584" y="3514625"/>
            <a:chExt cx="5116200" cy="493113"/>
          </a:xfrm>
        </p:grpSpPr>
        <p:cxnSp>
          <p:nvCxnSpPr>
            <p:cNvPr id="453" name="Google Shape;453;p45"/>
            <p:cNvCxnSpPr/>
            <p:nvPr/>
          </p:nvCxnSpPr>
          <p:spPr>
            <a:xfrm flipH="1" rot="10800000">
              <a:off x="854584" y="3514625"/>
              <a:ext cx="5116200" cy="2493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sp>
          <p:nvSpPr>
            <p:cNvPr id="454" name="Google Shape;454;p45"/>
            <p:cNvSpPr txBox="1"/>
            <p:nvPr/>
          </p:nvSpPr>
          <p:spPr>
            <a:xfrm>
              <a:off x="2113676" y="3611138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55" name="Google Shape;455;p45"/>
          <p:cNvSpPr/>
          <p:nvPr/>
        </p:nvSpPr>
        <p:spPr>
          <a:xfrm>
            <a:off x="2891925" y="3345250"/>
            <a:ext cx="2391000" cy="8322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"I don't know. But I have delegated authority to the berkeley.edu name server."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461" name="Google Shape;461;p46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462" name="Google Shape;462;p46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3" name="Google Shape;463;p46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4" name="Google Shape;464;p46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5" name="Google Shape;465;p46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6" name="Google Shape;466;p46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7" name="Google Shape;467;p46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berkeley.edu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468" name="Google Shape;468;p46"/>
            <p:cNvCxnSpPr>
              <a:stCxn id="462" idx="2"/>
              <a:endCxn id="463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9" name="Google Shape;469;p46"/>
            <p:cNvCxnSpPr>
              <a:stCxn id="462" idx="2"/>
              <a:endCxn id="464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70" name="Google Shape;470;p46"/>
            <p:cNvCxnSpPr>
              <a:stCxn id="463" idx="2"/>
              <a:endCxn id="467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71" name="Google Shape;471;p46"/>
            <p:cNvCxnSpPr>
              <a:stCxn id="463" idx="2"/>
              <a:endCxn id="466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72" name="Google Shape;472;p46"/>
            <p:cNvCxnSpPr>
              <a:stCxn id="464" idx="2"/>
              <a:endCxn id="465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73" name="Google Shape;473;p46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4" name="Google Shape;474;p46"/>
          <p:cNvSpPr txBox="1"/>
          <p:nvPr>
            <p:ph idx="1" type="body"/>
          </p:nvPr>
        </p:nvSpPr>
        <p:spPr>
          <a:xfrm>
            <a:off x="107050" y="402200"/>
            <a:ext cx="8909700" cy="9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Next, you ask the same question, but now to the berkeley.edu name server.</a:t>
            </a:r>
            <a:endParaRPr/>
          </a:p>
        </p:txBody>
      </p:sp>
      <p:grpSp>
        <p:nvGrpSpPr>
          <p:cNvPr id="475" name="Google Shape;475;p46"/>
          <p:cNvGrpSpPr/>
          <p:nvPr/>
        </p:nvGrpSpPr>
        <p:grpSpPr>
          <a:xfrm>
            <a:off x="1193025" y="1822474"/>
            <a:ext cx="5609100" cy="656100"/>
            <a:chOff x="812025" y="2279674"/>
            <a:chExt cx="5609100" cy="656100"/>
          </a:xfrm>
        </p:grpSpPr>
        <p:cxnSp>
          <p:nvCxnSpPr>
            <p:cNvPr id="476" name="Google Shape;476;p46"/>
            <p:cNvCxnSpPr/>
            <p:nvPr/>
          </p:nvCxnSpPr>
          <p:spPr>
            <a:xfrm flipH="1" rot="10800000">
              <a:off x="812025" y="2279674"/>
              <a:ext cx="5609100" cy="6561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477" name="Google Shape;477;p46"/>
            <p:cNvSpPr txBox="1"/>
            <p:nvPr/>
          </p:nvSpPr>
          <p:spPr>
            <a:xfrm>
              <a:off x="1983450" y="2473075"/>
              <a:ext cx="410100" cy="39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78" name="Google Shape;478;p46"/>
          <p:cNvGrpSpPr/>
          <p:nvPr/>
        </p:nvGrpSpPr>
        <p:grpSpPr>
          <a:xfrm>
            <a:off x="1193025" y="1943772"/>
            <a:ext cx="5609100" cy="808872"/>
            <a:chOff x="812025" y="2400972"/>
            <a:chExt cx="5609100" cy="808872"/>
          </a:xfrm>
        </p:grpSpPr>
        <p:cxnSp>
          <p:nvCxnSpPr>
            <p:cNvPr id="479" name="Google Shape;479;p46"/>
            <p:cNvCxnSpPr/>
            <p:nvPr/>
          </p:nvCxnSpPr>
          <p:spPr>
            <a:xfrm flipH="1" rot="10800000">
              <a:off x="812025" y="2400972"/>
              <a:ext cx="5609100" cy="6561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sp>
          <p:nvSpPr>
            <p:cNvPr id="480" name="Google Shape;480;p46"/>
            <p:cNvSpPr txBox="1"/>
            <p:nvPr/>
          </p:nvSpPr>
          <p:spPr>
            <a:xfrm>
              <a:off x="2046705" y="2813245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1" name="Google Shape;481;p46"/>
          <p:cNvGrpSpPr/>
          <p:nvPr/>
        </p:nvGrpSpPr>
        <p:grpSpPr>
          <a:xfrm>
            <a:off x="1193025" y="2813606"/>
            <a:ext cx="5116200" cy="396600"/>
            <a:chOff x="812025" y="3270806"/>
            <a:chExt cx="5116200" cy="396600"/>
          </a:xfrm>
        </p:grpSpPr>
        <p:cxnSp>
          <p:nvCxnSpPr>
            <p:cNvPr id="482" name="Google Shape;482;p46"/>
            <p:cNvCxnSpPr/>
            <p:nvPr/>
          </p:nvCxnSpPr>
          <p:spPr>
            <a:xfrm flipH="1" rot="10800000">
              <a:off x="812025" y="3399151"/>
              <a:ext cx="5116200" cy="2493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483" name="Google Shape;483;p46"/>
            <p:cNvSpPr txBox="1"/>
            <p:nvPr/>
          </p:nvSpPr>
          <p:spPr>
            <a:xfrm>
              <a:off x="2046701" y="327080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84" name="Google Shape;484;p46"/>
          <p:cNvSpPr/>
          <p:nvPr/>
        </p:nvSpPr>
        <p:spPr>
          <a:xfrm>
            <a:off x="1737825" y="3826050"/>
            <a:ext cx="2120700" cy="6561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"What is the IP address of eecs.berkeley.edu?"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85" name="Google Shape;485;p46"/>
          <p:cNvGrpSpPr/>
          <p:nvPr/>
        </p:nvGrpSpPr>
        <p:grpSpPr>
          <a:xfrm>
            <a:off x="1159384" y="3057425"/>
            <a:ext cx="5116200" cy="493113"/>
            <a:chOff x="854584" y="3514625"/>
            <a:chExt cx="5116200" cy="493113"/>
          </a:xfrm>
        </p:grpSpPr>
        <p:cxnSp>
          <p:nvCxnSpPr>
            <p:cNvPr id="486" name="Google Shape;486;p46"/>
            <p:cNvCxnSpPr/>
            <p:nvPr/>
          </p:nvCxnSpPr>
          <p:spPr>
            <a:xfrm flipH="1" rot="10800000">
              <a:off x="854584" y="3514625"/>
              <a:ext cx="5116200" cy="2493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sp>
          <p:nvSpPr>
            <p:cNvPr id="487" name="Google Shape;487;p46"/>
            <p:cNvSpPr txBox="1"/>
            <p:nvPr/>
          </p:nvSpPr>
          <p:spPr>
            <a:xfrm>
              <a:off x="2113676" y="3611138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8" name="Google Shape;488;p46"/>
          <p:cNvGrpSpPr/>
          <p:nvPr/>
        </p:nvGrpSpPr>
        <p:grpSpPr>
          <a:xfrm>
            <a:off x="1236927" y="3327066"/>
            <a:ext cx="4073100" cy="546584"/>
            <a:chOff x="932127" y="3784266"/>
            <a:chExt cx="4073100" cy="546584"/>
          </a:xfrm>
        </p:grpSpPr>
        <p:cxnSp>
          <p:nvCxnSpPr>
            <p:cNvPr id="489" name="Google Shape;489;p46"/>
            <p:cNvCxnSpPr/>
            <p:nvPr/>
          </p:nvCxnSpPr>
          <p:spPr>
            <a:xfrm>
              <a:off x="932127" y="4059050"/>
              <a:ext cx="4073100" cy="2718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490" name="Google Shape;490;p46"/>
            <p:cNvSpPr txBox="1"/>
            <p:nvPr/>
          </p:nvSpPr>
          <p:spPr>
            <a:xfrm>
              <a:off x="1758297" y="378426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5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4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496" name="Google Shape;496;p47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497" name="Google Shape;497;p47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8" name="Google Shape;498;p47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9" name="Google Shape;499;p47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0" name="Google Shape;500;p47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1" name="Google Shape;501;p47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2" name="Google Shape;502;p47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berkeley.edu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503" name="Google Shape;503;p47"/>
            <p:cNvCxnSpPr>
              <a:stCxn id="497" idx="2"/>
              <a:endCxn id="498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04" name="Google Shape;504;p47"/>
            <p:cNvCxnSpPr>
              <a:stCxn id="497" idx="2"/>
              <a:endCxn id="499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05" name="Google Shape;505;p47"/>
            <p:cNvCxnSpPr>
              <a:stCxn id="498" idx="2"/>
              <a:endCxn id="502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06" name="Google Shape;506;p47"/>
            <p:cNvCxnSpPr>
              <a:stCxn id="498" idx="2"/>
              <a:endCxn id="501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07" name="Google Shape;507;p47"/>
            <p:cNvCxnSpPr>
              <a:stCxn id="499" idx="2"/>
              <a:endCxn id="500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508" name="Google Shape;508;p47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9" name="Google Shape;509;p47"/>
          <p:cNvSpPr txBox="1"/>
          <p:nvPr>
            <p:ph idx="1" type="body"/>
          </p:nvPr>
        </p:nvSpPr>
        <p:spPr>
          <a:xfrm>
            <a:off x="107050" y="402200"/>
            <a:ext cx="8909700" cy="9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berkeley.edu name server responds with the answer.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You can cache the answer to avoid having to ask again later.</a:t>
            </a:r>
            <a:endParaRPr/>
          </a:p>
        </p:txBody>
      </p:sp>
      <p:grpSp>
        <p:nvGrpSpPr>
          <p:cNvPr id="510" name="Google Shape;510;p47"/>
          <p:cNvGrpSpPr/>
          <p:nvPr/>
        </p:nvGrpSpPr>
        <p:grpSpPr>
          <a:xfrm>
            <a:off x="1193025" y="1822474"/>
            <a:ext cx="5609100" cy="656100"/>
            <a:chOff x="812025" y="2279674"/>
            <a:chExt cx="5609100" cy="656100"/>
          </a:xfrm>
        </p:grpSpPr>
        <p:cxnSp>
          <p:nvCxnSpPr>
            <p:cNvPr id="511" name="Google Shape;511;p47"/>
            <p:cNvCxnSpPr/>
            <p:nvPr/>
          </p:nvCxnSpPr>
          <p:spPr>
            <a:xfrm flipH="1" rot="10800000">
              <a:off x="812025" y="2279674"/>
              <a:ext cx="5609100" cy="6561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512" name="Google Shape;512;p47"/>
            <p:cNvSpPr txBox="1"/>
            <p:nvPr/>
          </p:nvSpPr>
          <p:spPr>
            <a:xfrm>
              <a:off x="1983450" y="2473075"/>
              <a:ext cx="410100" cy="39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3" name="Google Shape;513;p47"/>
          <p:cNvGrpSpPr/>
          <p:nvPr/>
        </p:nvGrpSpPr>
        <p:grpSpPr>
          <a:xfrm>
            <a:off x="1193025" y="1943772"/>
            <a:ext cx="5609100" cy="808872"/>
            <a:chOff x="812025" y="2400972"/>
            <a:chExt cx="5609100" cy="808872"/>
          </a:xfrm>
        </p:grpSpPr>
        <p:cxnSp>
          <p:nvCxnSpPr>
            <p:cNvPr id="514" name="Google Shape;514;p47"/>
            <p:cNvCxnSpPr/>
            <p:nvPr/>
          </p:nvCxnSpPr>
          <p:spPr>
            <a:xfrm flipH="1" rot="10800000">
              <a:off x="812025" y="2400972"/>
              <a:ext cx="5609100" cy="6561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sp>
          <p:nvSpPr>
            <p:cNvPr id="515" name="Google Shape;515;p47"/>
            <p:cNvSpPr txBox="1"/>
            <p:nvPr/>
          </p:nvSpPr>
          <p:spPr>
            <a:xfrm>
              <a:off x="2046705" y="2813245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6" name="Google Shape;516;p47"/>
          <p:cNvGrpSpPr/>
          <p:nvPr/>
        </p:nvGrpSpPr>
        <p:grpSpPr>
          <a:xfrm>
            <a:off x="1193025" y="2813606"/>
            <a:ext cx="5116200" cy="396600"/>
            <a:chOff x="812025" y="3270806"/>
            <a:chExt cx="5116200" cy="396600"/>
          </a:xfrm>
        </p:grpSpPr>
        <p:cxnSp>
          <p:nvCxnSpPr>
            <p:cNvPr id="517" name="Google Shape;517;p47"/>
            <p:cNvCxnSpPr/>
            <p:nvPr/>
          </p:nvCxnSpPr>
          <p:spPr>
            <a:xfrm flipH="1" rot="10800000">
              <a:off x="812025" y="3399151"/>
              <a:ext cx="5116200" cy="2493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518" name="Google Shape;518;p47"/>
            <p:cNvSpPr txBox="1"/>
            <p:nvPr/>
          </p:nvSpPr>
          <p:spPr>
            <a:xfrm>
              <a:off x="2046701" y="327080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19" name="Google Shape;519;p47"/>
          <p:cNvSpPr/>
          <p:nvPr/>
        </p:nvSpPr>
        <p:spPr>
          <a:xfrm>
            <a:off x="1737825" y="4130400"/>
            <a:ext cx="1769700" cy="808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"The IP address of eecs.berkeley.edu is 23.185.0.1."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520" name="Google Shape;520;p47"/>
          <p:cNvGrpSpPr/>
          <p:nvPr/>
        </p:nvGrpSpPr>
        <p:grpSpPr>
          <a:xfrm>
            <a:off x="1159384" y="3057425"/>
            <a:ext cx="5116200" cy="493113"/>
            <a:chOff x="854584" y="3514625"/>
            <a:chExt cx="5116200" cy="493113"/>
          </a:xfrm>
        </p:grpSpPr>
        <p:cxnSp>
          <p:nvCxnSpPr>
            <p:cNvPr id="521" name="Google Shape;521;p47"/>
            <p:cNvCxnSpPr/>
            <p:nvPr/>
          </p:nvCxnSpPr>
          <p:spPr>
            <a:xfrm flipH="1" rot="10800000">
              <a:off x="854584" y="3514625"/>
              <a:ext cx="5116200" cy="2493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sp>
          <p:nvSpPr>
            <p:cNvPr id="522" name="Google Shape;522;p47"/>
            <p:cNvSpPr txBox="1"/>
            <p:nvPr/>
          </p:nvSpPr>
          <p:spPr>
            <a:xfrm>
              <a:off x="2113676" y="3611138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3" name="Google Shape;523;p47"/>
          <p:cNvGrpSpPr/>
          <p:nvPr/>
        </p:nvGrpSpPr>
        <p:grpSpPr>
          <a:xfrm>
            <a:off x="1236927" y="3327066"/>
            <a:ext cx="4073100" cy="546584"/>
            <a:chOff x="932127" y="3784266"/>
            <a:chExt cx="4073100" cy="546584"/>
          </a:xfrm>
        </p:grpSpPr>
        <p:cxnSp>
          <p:nvCxnSpPr>
            <p:cNvPr id="524" name="Google Shape;524;p47"/>
            <p:cNvCxnSpPr/>
            <p:nvPr/>
          </p:nvCxnSpPr>
          <p:spPr>
            <a:xfrm>
              <a:off x="932127" y="4059050"/>
              <a:ext cx="4073100" cy="2718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525" name="Google Shape;525;p47"/>
            <p:cNvSpPr txBox="1"/>
            <p:nvPr/>
          </p:nvSpPr>
          <p:spPr>
            <a:xfrm>
              <a:off x="1758297" y="378426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5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6" name="Google Shape;526;p47"/>
          <p:cNvGrpSpPr/>
          <p:nvPr/>
        </p:nvGrpSpPr>
        <p:grpSpPr>
          <a:xfrm>
            <a:off x="1193025" y="3697525"/>
            <a:ext cx="4073100" cy="396600"/>
            <a:chOff x="812025" y="4154725"/>
            <a:chExt cx="4073100" cy="396600"/>
          </a:xfrm>
        </p:grpSpPr>
        <p:cxnSp>
          <p:nvCxnSpPr>
            <p:cNvPr id="527" name="Google Shape;527;p47"/>
            <p:cNvCxnSpPr/>
            <p:nvPr/>
          </p:nvCxnSpPr>
          <p:spPr>
            <a:xfrm>
              <a:off x="812025" y="4180882"/>
              <a:ext cx="4073100" cy="2718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sp>
          <p:nvSpPr>
            <p:cNvPr id="528" name="Google Shape;528;p47"/>
            <p:cNvSpPr txBox="1"/>
            <p:nvPr/>
          </p:nvSpPr>
          <p:spPr>
            <a:xfrm>
              <a:off x="1758306" y="4154725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6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29" name="Google Shape;529;p47"/>
          <p:cNvSpPr/>
          <p:nvPr/>
        </p:nvSpPr>
        <p:spPr>
          <a:xfrm>
            <a:off x="3589400" y="4129400"/>
            <a:ext cx="2934600" cy="808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Store this in your cache for the next 24 hours so you don't bother me again with the same request.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48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practice, your computer usually tells another resolver to perform the query for you.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Stub resolver</a:t>
            </a:r>
            <a:r>
              <a:rPr lang="en"/>
              <a:t>: The resolver on your computer.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contacts the recursive resolver and receives the answer.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Recursive resolver</a:t>
            </a:r>
            <a:r>
              <a:rPr lang="en"/>
              <a:t>: The resolver that makes the actual DNS queries.</a:t>
            </a:r>
            <a:endParaRPr/>
          </a:p>
        </p:txBody>
      </p:sp>
      <p:sp>
        <p:nvSpPr>
          <p:cNvPr id="535" name="Google Shape;535;p4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Stub Resolvers and Recursive Resolvers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4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r>
              <a:rPr lang="en"/>
              <a:t> of a DNS Lookup (With Recursive Resolver)</a:t>
            </a:r>
            <a:endParaRPr/>
          </a:p>
        </p:txBody>
      </p:sp>
      <p:sp>
        <p:nvSpPr>
          <p:cNvPr id="541" name="Google Shape;541;p49"/>
          <p:cNvSpPr txBox="1"/>
          <p:nvPr/>
        </p:nvSpPr>
        <p:spPr>
          <a:xfrm>
            <a:off x="6802875" y="2190748"/>
            <a:ext cx="1238100" cy="3648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49"/>
          <p:cNvSpPr txBox="1"/>
          <p:nvPr/>
        </p:nvSpPr>
        <p:spPr>
          <a:xfrm>
            <a:off x="6269925" y="3209977"/>
            <a:ext cx="6684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49"/>
          <p:cNvSpPr txBox="1"/>
          <p:nvPr/>
        </p:nvSpPr>
        <p:spPr>
          <a:xfrm>
            <a:off x="7900300" y="3209977"/>
            <a:ext cx="6684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49"/>
          <p:cNvSpPr txBox="1"/>
          <p:nvPr/>
        </p:nvSpPr>
        <p:spPr>
          <a:xfrm>
            <a:off x="7717875" y="4156225"/>
            <a:ext cx="10434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cs161.org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49"/>
          <p:cNvSpPr txBox="1"/>
          <p:nvPr/>
        </p:nvSpPr>
        <p:spPr>
          <a:xfrm>
            <a:off x="6719250" y="4156225"/>
            <a:ext cx="858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mit.edu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9"/>
          <p:cNvSpPr txBox="1"/>
          <p:nvPr/>
        </p:nvSpPr>
        <p:spPr>
          <a:xfrm>
            <a:off x="5282900" y="4156225"/>
            <a:ext cx="12963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berkeley.edu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7" name="Google Shape;547;p49"/>
          <p:cNvCxnSpPr>
            <a:stCxn id="541" idx="2"/>
            <a:endCxn id="542" idx="0"/>
          </p:cNvCxnSpPr>
          <p:nvPr/>
        </p:nvCxnSpPr>
        <p:spPr>
          <a:xfrm flipH="1">
            <a:off x="6604125" y="2555548"/>
            <a:ext cx="817800" cy="6543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48" name="Google Shape;548;p49"/>
          <p:cNvCxnSpPr>
            <a:stCxn id="541" idx="2"/>
            <a:endCxn id="543" idx="0"/>
          </p:cNvCxnSpPr>
          <p:nvPr/>
        </p:nvCxnSpPr>
        <p:spPr>
          <a:xfrm>
            <a:off x="7421925" y="2555548"/>
            <a:ext cx="812700" cy="6543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49" name="Google Shape;549;p49"/>
          <p:cNvCxnSpPr>
            <a:stCxn id="542" idx="2"/>
            <a:endCxn id="546" idx="0"/>
          </p:cNvCxnSpPr>
          <p:nvPr/>
        </p:nvCxnSpPr>
        <p:spPr>
          <a:xfrm flipH="1">
            <a:off x="5930925" y="3603577"/>
            <a:ext cx="673200" cy="5526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50" name="Google Shape;550;p49"/>
          <p:cNvCxnSpPr>
            <a:stCxn id="542" idx="2"/>
            <a:endCxn id="545" idx="0"/>
          </p:cNvCxnSpPr>
          <p:nvPr/>
        </p:nvCxnSpPr>
        <p:spPr>
          <a:xfrm>
            <a:off x="6604125" y="3603577"/>
            <a:ext cx="544500" cy="5526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51" name="Google Shape;551;p49"/>
          <p:cNvSpPr txBox="1"/>
          <p:nvPr/>
        </p:nvSpPr>
        <p:spPr>
          <a:xfrm>
            <a:off x="425275" y="1350350"/>
            <a:ext cx="1238100" cy="6543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Stub Resolver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552" name="Google Shape;552;p49"/>
          <p:cNvGrpSpPr/>
          <p:nvPr/>
        </p:nvGrpSpPr>
        <p:grpSpPr>
          <a:xfrm>
            <a:off x="487535" y="2049228"/>
            <a:ext cx="410100" cy="762900"/>
            <a:chOff x="258935" y="2049228"/>
            <a:chExt cx="410100" cy="762900"/>
          </a:xfrm>
        </p:grpSpPr>
        <p:sp>
          <p:nvSpPr>
            <p:cNvPr id="553" name="Google Shape;553;p49"/>
            <p:cNvSpPr txBox="1"/>
            <p:nvPr/>
          </p:nvSpPr>
          <p:spPr>
            <a:xfrm>
              <a:off x="258935" y="2174852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554" name="Google Shape;554;p49"/>
            <p:cNvCxnSpPr/>
            <p:nvPr/>
          </p:nvCxnSpPr>
          <p:spPr>
            <a:xfrm rot="10800000">
              <a:off x="530725" y="2049228"/>
              <a:ext cx="0" cy="7629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</p:grpSp>
      <p:sp>
        <p:nvSpPr>
          <p:cNvPr id="555" name="Google Shape;555;p49"/>
          <p:cNvSpPr txBox="1"/>
          <p:nvPr/>
        </p:nvSpPr>
        <p:spPr>
          <a:xfrm>
            <a:off x="425275" y="2856700"/>
            <a:ext cx="1238100" cy="15399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Recursive Resolver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6" name="Google Shape;556;p49"/>
          <p:cNvSpPr txBox="1"/>
          <p:nvPr/>
        </p:nvSpPr>
        <p:spPr>
          <a:xfrm>
            <a:off x="2604025" y="2112350"/>
            <a:ext cx="26244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stub resolver sends the query to the recursive resolver.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7" name="Google Shape;557;p49"/>
          <p:cNvCxnSpPr>
            <a:stCxn id="556" idx="1"/>
          </p:cNvCxnSpPr>
          <p:nvPr/>
        </p:nvCxnSpPr>
        <p:spPr>
          <a:xfrm rot="10800000">
            <a:off x="1250425" y="2436350"/>
            <a:ext cx="1353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5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Steps of a DNS Lookup (With Recursive Resolver)</a:t>
            </a:r>
            <a:endParaRPr/>
          </a:p>
        </p:txBody>
      </p:sp>
      <p:sp>
        <p:nvSpPr>
          <p:cNvPr id="563" name="Google Shape;563;p50"/>
          <p:cNvSpPr txBox="1"/>
          <p:nvPr/>
        </p:nvSpPr>
        <p:spPr>
          <a:xfrm>
            <a:off x="6802875" y="2190748"/>
            <a:ext cx="1238100" cy="3648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50"/>
          <p:cNvSpPr txBox="1"/>
          <p:nvPr/>
        </p:nvSpPr>
        <p:spPr>
          <a:xfrm>
            <a:off x="6269925" y="3209977"/>
            <a:ext cx="6684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5" name="Google Shape;565;p50"/>
          <p:cNvSpPr txBox="1"/>
          <p:nvPr/>
        </p:nvSpPr>
        <p:spPr>
          <a:xfrm>
            <a:off x="7900300" y="3209977"/>
            <a:ext cx="6684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6" name="Google Shape;566;p50"/>
          <p:cNvSpPr txBox="1"/>
          <p:nvPr/>
        </p:nvSpPr>
        <p:spPr>
          <a:xfrm>
            <a:off x="7717875" y="4156225"/>
            <a:ext cx="10434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cs161.org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7" name="Google Shape;567;p50"/>
          <p:cNvSpPr txBox="1"/>
          <p:nvPr/>
        </p:nvSpPr>
        <p:spPr>
          <a:xfrm>
            <a:off x="6719250" y="4156225"/>
            <a:ext cx="858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mit.edu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8" name="Google Shape;568;p50"/>
          <p:cNvSpPr txBox="1"/>
          <p:nvPr/>
        </p:nvSpPr>
        <p:spPr>
          <a:xfrm>
            <a:off x="5282900" y="4156225"/>
            <a:ext cx="12963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berkeley.edu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9" name="Google Shape;569;p50"/>
          <p:cNvCxnSpPr>
            <a:stCxn id="563" idx="2"/>
            <a:endCxn id="564" idx="0"/>
          </p:cNvCxnSpPr>
          <p:nvPr/>
        </p:nvCxnSpPr>
        <p:spPr>
          <a:xfrm flipH="1">
            <a:off x="6604125" y="2555548"/>
            <a:ext cx="817800" cy="6543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70" name="Google Shape;570;p50"/>
          <p:cNvCxnSpPr>
            <a:stCxn id="563" idx="2"/>
            <a:endCxn id="565" idx="0"/>
          </p:cNvCxnSpPr>
          <p:nvPr/>
        </p:nvCxnSpPr>
        <p:spPr>
          <a:xfrm>
            <a:off x="7421925" y="2555548"/>
            <a:ext cx="812700" cy="6543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71" name="Google Shape;571;p50"/>
          <p:cNvCxnSpPr>
            <a:stCxn id="564" idx="2"/>
            <a:endCxn id="568" idx="0"/>
          </p:cNvCxnSpPr>
          <p:nvPr/>
        </p:nvCxnSpPr>
        <p:spPr>
          <a:xfrm flipH="1">
            <a:off x="5930925" y="3603577"/>
            <a:ext cx="673200" cy="5526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72" name="Google Shape;572;p50"/>
          <p:cNvCxnSpPr>
            <a:stCxn id="564" idx="2"/>
            <a:endCxn id="567" idx="0"/>
          </p:cNvCxnSpPr>
          <p:nvPr/>
        </p:nvCxnSpPr>
        <p:spPr>
          <a:xfrm>
            <a:off x="6604125" y="3603577"/>
            <a:ext cx="544500" cy="5526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73" name="Google Shape;573;p50"/>
          <p:cNvCxnSpPr>
            <a:stCxn id="565" idx="2"/>
            <a:endCxn id="566" idx="0"/>
          </p:cNvCxnSpPr>
          <p:nvPr/>
        </p:nvCxnSpPr>
        <p:spPr>
          <a:xfrm>
            <a:off x="8234500" y="3603577"/>
            <a:ext cx="5100" cy="5526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74" name="Google Shape;574;p50"/>
          <p:cNvSpPr txBox="1"/>
          <p:nvPr/>
        </p:nvSpPr>
        <p:spPr>
          <a:xfrm>
            <a:off x="425275" y="1350350"/>
            <a:ext cx="1238100" cy="6543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Stub Resolver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5" name="Google Shape;575;p50"/>
          <p:cNvSpPr txBox="1"/>
          <p:nvPr/>
        </p:nvSpPr>
        <p:spPr>
          <a:xfrm>
            <a:off x="425275" y="2856700"/>
            <a:ext cx="1238100" cy="15399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Recursive Resolver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576" name="Google Shape;576;p50"/>
          <p:cNvGrpSpPr/>
          <p:nvPr/>
        </p:nvGrpSpPr>
        <p:grpSpPr>
          <a:xfrm>
            <a:off x="487535" y="2049228"/>
            <a:ext cx="410100" cy="762900"/>
            <a:chOff x="258935" y="2049228"/>
            <a:chExt cx="410100" cy="762900"/>
          </a:xfrm>
        </p:grpSpPr>
        <p:sp>
          <p:nvSpPr>
            <p:cNvPr id="577" name="Google Shape;577;p50"/>
            <p:cNvSpPr txBox="1"/>
            <p:nvPr/>
          </p:nvSpPr>
          <p:spPr>
            <a:xfrm>
              <a:off x="258935" y="2174852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578" name="Google Shape;578;p50"/>
            <p:cNvCxnSpPr/>
            <p:nvPr/>
          </p:nvCxnSpPr>
          <p:spPr>
            <a:xfrm rot="10800000">
              <a:off x="530725" y="2049228"/>
              <a:ext cx="0" cy="7629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</p:grpSp>
      <p:grpSp>
        <p:nvGrpSpPr>
          <p:cNvPr id="579" name="Google Shape;579;p50"/>
          <p:cNvGrpSpPr/>
          <p:nvPr/>
        </p:nvGrpSpPr>
        <p:grpSpPr>
          <a:xfrm>
            <a:off x="1743839" y="2279753"/>
            <a:ext cx="4905786" cy="2394397"/>
            <a:chOff x="1515239" y="2279753"/>
            <a:chExt cx="4905786" cy="2394397"/>
          </a:xfrm>
        </p:grpSpPr>
        <p:cxnSp>
          <p:nvCxnSpPr>
            <p:cNvPr id="580" name="Google Shape;580;p50"/>
            <p:cNvCxnSpPr/>
            <p:nvPr/>
          </p:nvCxnSpPr>
          <p:spPr>
            <a:xfrm flipH="1" rot="10800000">
              <a:off x="1564325" y="2279753"/>
              <a:ext cx="4856700" cy="8364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cxnSp>
          <p:nvCxnSpPr>
            <p:cNvPr id="581" name="Google Shape;581;p50"/>
            <p:cNvCxnSpPr/>
            <p:nvPr/>
          </p:nvCxnSpPr>
          <p:spPr>
            <a:xfrm flipH="1" rot="10800000">
              <a:off x="1564325" y="2434400"/>
              <a:ext cx="4856700" cy="8364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cxnSp>
          <p:nvCxnSpPr>
            <p:cNvPr id="582" name="Google Shape;582;p50"/>
            <p:cNvCxnSpPr/>
            <p:nvPr/>
          </p:nvCxnSpPr>
          <p:spPr>
            <a:xfrm flipH="1" rot="10800000">
              <a:off x="1515239" y="3399151"/>
              <a:ext cx="4418700" cy="2493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cxnSp>
          <p:nvCxnSpPr>
            <p:cNvPr id="583" name="Google Shape;583;p50"/>
            <p:cNvCxnSpPr/>
            <p:nvPr/>
          </p:nvCxnSpPr>
          <p:spPr>
            <a:xfrm flipH="1" rot="10800000">
              <a:off x="1528696" y="3540275"/>
              <a:ext cx="4418700" cy="2493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cxnSp>
          <p:nvCxnSpPr>
            <p:cNvPr id="584" name="Google Shape;584;p50"/>
            <p:cNvCxnSpPr/>
            <p:nvPr/>
          </p:nvCxnSpPr>
          <p:spPr>
            <a:xfrm>
              <a:off x="1628275" y="4059050"/>
              <a:ext cx="3377100" cy="2718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cxnSp>
          <p:nvCxnSpPr>
            <p:cNvPr id="585" name="Google Shape;585;p50"/>
            <p:cNvCxnSpPr/>
            <p:nvPr/>
          </p:nvCxnSpPr>
          <p:spPr>
            <a:xfrm>
              <a:off x="1528700" y="4180880"/>
              <a:ext cx="3377100" cy="2718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sp>
          <p:nvSpPr>
            <p:cNvPr id="586" name="Google Shape;586;p50"/>
            <p:cNvSpPr txBox="1"/>
            <p:nvPr/>
          </p:nvSpPr>
          <p:spPr>
            <a:xfrm>
              <a:off x="3532997" y="3860291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6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7" name="Google Shape;587;p50"/>
            <p:cNvSpPr txBox="1"/>
            <p:nvPr/>
          </p:nvSpPr>
          <p:spPr>
            <a:xfrm>
              <a:off x="3505531" y="4277550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7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8" name="Google Shape;588;p50"/>
            <p:cNvSpPr txBox="1"/>
            <p:nvPr/>
          </p:nvSpPr>
          <p:spPr>
            <a:xfrm>
              <a:off x="3661851" y="321625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9" name="Google Shape;589;p50"/>
            <p:cNvSpPr txBox="1"/>
            <p:nvPr/>
          </p:nvSpPr>
          <p:spPr>
            <a:xfrm>
              <a:off x="3730313" y="3612838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5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0" name="Google Shape;590;p50"/>
            <p:cNvSpPr txBox="1"/>
            <p:nvPr/>
          </p:nvSpPr>
          <p:spPr>
            <a:xfrm>
              <a:off x="3700105" y="2814582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1" name="Google Shape;591;p50"/>
            <p:cNvSpPr txBox="1"/>
            <p:nvPr/>
          </p:nvSpPr>
          <p:spPr>
            <a:xfrm>
              <a:off x="3656980" y="2423720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92" name="Google Shape;592;p50"/>
          <p:cNvSpPr txBox="1"/>
          <p:nvPr/>
        </p:nvSpPr>
        <p:spPr>
          <a:xfrm>
            <a:off x="2836550" y="721475"/>
            <a:ext cx="2717400" cy="8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recursive resolver contacts all the name servers to answer the query, as we saw earlier.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3" name="Google Shape;593;p50"/>
          <p:cNvCxnSpPr>
            <a:stCxn id="592" idx="2"/>
          </p:cNvCxnSpPr>
          <p:nvPr/>
        </p:nvCxnSpPr>
        <p:spPr>
          <a:xfrm>
            <a:off x="4195250" y="1617275"/>
            <a:ext cx="0" cy="7536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5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Steps of a DNS Lookup (With Recursive Resolver)</a:t>
            </a:r>
            <a:endParaRPr/>
          </a:p>
        </p:txBody>
      </p:sp>
      <p:sp>
        <p:nvSpPr>
          <p:cNvPr id="599" name="Google Shape;599;p51"/>
          <p:cNvSpPr txBox="1"/>
          <p:nvPr/>
        </p:nvSpPr>
        <p:spPr>
          <a:xfrm>
            <a:off x="6802875" y="2190748"/>
            <a:ext cx="1238100" cy="3648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0" name="Google Shape;600;p51"/>
          <p:cNvSpPr txBox="1"/>
          <p:nvPr/>
        </p:nvSpPr>
        <p:spPr>
          <a:xfrm>
            <a:off x="6269925" y="3209977"/>
            <a:ext cx="6684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1" name="Google Shape;601;p51"/>
          <p:cNvSpPr txBox="1"/>
          <p:nvPr/>
        </p:nvSpPr>
        <p:spPr>
          <a:xfrm>
            <a:off x="7900300" y="3209977"/>
            <a:ext cx="6684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51"/>
          <p:cNvSpPr txBox="1"/>
          <p:nvPr/>
        </p:nvSpPr>
        <p:spPr>
          <a:xfrm>
            <a:off x="7717875" y="4156225"/>
            <a:ext cx="10434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cs161.org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51"/>
          <p:cNvSpPr txBox="1"/>
          <p:nvPr/>
        </p:nvSpPr>
        <p:spPr>
          <a:xfrm>
            <a:off x="6719250" y="4156225"/>
            <a:ext cx="858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mit.edu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4" name="Google Shape;604;p51"/>
          <p:cNvSpPr txBox="1"/>
          <p:nvPr/>
        </p:nvSpPr>
        <p:spPr>
          <a:xfrm>
            <a:off x="5282900" y="4156225"/>
            <a:ext cx="12963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berkeley.edu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5" name="Google Shape;605;p51"/>
          <p:cNvCxnSpPr>
            <a:stCxn id="599" idx="2"/>
            <a:endCxn id="600" idx="0"/>
          </p:cNvCxnSpPr>
          <p:nvPr/>
        </p:nvCxnSpPr>
        <p:spPr>
          <a:xfrm flipH="1">
            <a:off x="6604125" y="2555548"/>
            <a:ext cx="817800" cy="6543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6" name="Google Shape;606;p51"/>
          <p:cNvCxnSpPr>
            <a:stCxn id="599" idx="2"/>
            <a:endCxn id="601" idx="0"/>
          </p:cNvCxnSpPr>
          <p:nvPr/>
        </p:nvCxnSpPr>
        <p:spPr>
          <a:xfrm>
            <a:off x="7421925" y="2555548"/>
            <a:ext cx="812700" cy="6543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7" name="Google Shape;607;p51"/>
          <p:cNvCxnSpPr>
            <a:stCxn id="600" idx="2"/>
            <a:endCxn id="604" idx="0"/>
          </p:cNvCxnSpPr>
          <p:nvPr/>
        </p:nvCxnSpPr>
        <p:spPr>
          <a:xfrm flipH="1">
            <a:off x="5930925" y="3603577"/>
            <a:ext cx="673200" cy="5526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8" name="Google Shape;608;p51"/>
          <p:cNvCxnSpPr>
            <a:stCxn id="600" idx="2"/>
            <a:endCxn id="603" idx="0"/>
          </p:cNvCxnSpPr>
          <p:nvPr/>
        </p:nvCxnSpPr>
        <p:spPr>
          <a:xfrm>
            <a:off x="6604125" y="3603577"/>
            <a:ext cx="544500" cy="5526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9" name="Google Shape;609;p51"/>
          <p:cNvCxnSpPr>
            <a:stCxn id="601" idx="2"/>
            <a:endCxn id="602" idx="0"/>
          </p:cNvCxnSpPr>
          <p:nvPr/>
        </p:nvCxnSpPr>
        <p:spPr>
          <a:xfrm>
            <a:off x="8234500" y="3603577"/>
            <a:ext cx="5100" cy="5526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0" name="Google Shape;610;p51"/>
          <p:cNvSpPr txBox="1"/>
          <p:nvPr/>
        </p:nvSpPr>
        <p:spPr>
          <a:xfrm>
            <a:off x="425275" y="1350350"/>
            <a:ext cx="1238100" cy="6543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Stub Resolver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51"/>
          <p:cNvSpPr txBox="1"/>
          <p:nvPr/>
        </p:nvSpPr>
        <p:spPr>
          <a:xfrm>
            <a:off x="425275" y="2856700"/>
            <a:ext cx="1238100" cy="15399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Recursive Resolver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12" name="Google Shape;612;p51"/>
          <p:cNvGrpSpPr/>
          <p:nvPr/>
        </p:nvGrpSpPr>
        <p:grpSpPr>
          <a:xfrm>
            <a:off x="487535" y="2049228"/>
            <a:ext cx="410100" cy="762900"/>
            <a:chOff x="258935" y="2049228"/>
            <a:chExt cx="410100" cy="762900"/>
          </a:xfrm>
        </p:grpSpPr>
        <p:sp>
          <p:nvSpPr>
            <p:cNvPr id="613" name="Google Shape;613;p51"/>
            <p:cNvSpPr txBox="1"/>
            <p:nvPr/>
          </p:nvSpPr>
          <p:spPr>
            <a:xfrm>
              <a:off x="258935" y="2174852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614" name="Google Shape;614;p51"/>
            <p:cNvCxnSpPr/>
            <p:nvPr/>
          </p:nvCxnSpPr>
          <p:spPr>
            <a:xfrm rot="10800000">
              <a:off x="530725" y="2049228"/>
              <a:ext cx="0" cy="7629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</p:grpSp>
      <p:grpSp>
        <p:nvGrpSpPr>
          <p:cNvPr id="615" name="Google Shape;615;p51"/>
          <p:cNvGrpSpPr/>
          <p:nvPr/>
        </p:nvGrpSpPr>
        <p:grpSpPr>
          <a:xfrm>
            <a:off x="1276125" y="2049228"/>
            <a:ext cx="410110" cy="762900"/>
            <a:chOff x="1047525" y="2049228"/>
            <a:chExt cx="410110" cy="762900"/>
          </a:xfrm>
        </p:grpSpPr>
        <p:cxnSp>
          <p:nvCxnSpPr>
            <p:cNvPr id="616" name="Google Shape;616;p51"/>
            <p:cNvCxnSpPr/>
            <p:nvPr/>
          </p:nvCxnSpPr>
          <p:spPr>
            <a:xfrm rot="10800000">
              <a:off x="1047525" y="2049228"/>
              <a:ext cx="0" cy="7629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617" name="Google Shape;617;p51"/>
            <p:cNvSpPr txBox="1"/>
            <p:nvPr/>
          </p:nvSpPr>
          <p:spPr>
            <a:xfrm>
              <a:off x="1047535" y="2174852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8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18" name="Google Shape;618;p51"/>
          <p:cNvGrpSpPr/>
          <p:nvPr/>
        </p:nvGrpSpPr>
        <p:grpSpPr>
          <a:xfrm>
            <a:off x="1743839" y="2279753"/>
            <a:ext cx="4905786" cy="2394397"/>
            <a:chOff x="1515239" y="2279753"/>
            <a:chExt cx="4905786" cy="2394397"/>
          </a:xfrm>
        </p:grpSpPr>
        <p:cxnSp>
          <p:nvCxnSpPr>
            <p:cNvPr id="619" name="Google Shape;619;p51"/>
            <p:cNvCxnSpPr/>
            <p:nvPr/>
          </p:nvCxnSpPr>
          <p:spPr>
            <a:xfrm flipH="1" rot="10800000">
              <a:off x="1564325" y="2279753"/>
              <a:ext cx="4856700" cy="8364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cxnSp>
          <p:nvCxnSpPr>
            <p:cNvPr id="620" name="Google Shape;620;p51"/>
            <p:cNvCxnSpPr/>
            <p:nvPr/>
          </p:nvCxnSpPr>
          <p:spPr>
            <a:xfrm flipH="1" rot="10800000">
              <a:off x="1564325" y="2434400"/>
              <a:ext cx="4856700" cy="8364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cxnSp>
          <p:nvCxnSpPr>
            <p:cNvPr id="621" name="Google Shape;621;p51"/>
            <p:cNvCxnSpPr/>
            <p:nvPr/>
          </p:nvCxnSpPr>
          <p:spPr>
            <a:xfrm flipH="1" rot="10800000">
              <a:off x="1515239" y="3399151"/>
              <a:ext cx="4418700" cy="2493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cxnSp>
          <p:nvCxnSpPr>
            <p:cNvPr id="622" name="Google Shape;622;p51"/>
            <p:cNvCxnSpPr/>
            <p:nvPr/>
          </p:nvCxnSpPr>
          <p:spPr>
            <a:xfrm flipH="1" rot="10800000">
              <a:off x="1528696" y="3540275"/>
              <a:ext cx="4418700" cy="2493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cxnSp>
          <p:nvCxnSpPr>
            <p:cNvPr id="623" name="Google Shape;623;p51"/>
            <p:cNvCxnSpPr/>
            <p:nvPr/>
          </p:nvCxnSpPr>
          <p:spPr>
            <a:xfrm>
              <a:off x="1628275" y="4059050"/>
              <a:ext cx="3377100" cy="2718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cxnSp>
          <p:nvCxnSpPr>
            <p:cNvPr id="624" name="Google Shape;624;p51"/>
            <p:cNvCxnSpPr/>
            <p:nvPr/>
          </p:nvCxnSpPr>
          <p:spPr>
            <a:xfrm>
              <a:off x="1528700" y="4180880"/>
              <a:ext cx="3377100" cy="2718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triangle"/>
              <a:tailEnd len="med" w="med" type="none"/>
            </a:ln>
          </p:spPr>
        </p:cxnSp>
        <p:sp>
          <p:nvSpPr>
            <p:cNvPr id="625" name="Google Shape;625;p51"/>
            <p:cNvSpPr txBox="1"/>
            <p:nvPr/>
          </p:nvSpPr>
          <p:spPr>
            <a:xfrm>
              <a:off x="3532997" y="3860291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6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6" name="Google Shape;626;p51"/>
            <p:cNvSpPr txBox="1"/>
            <p:nvPr/>
          </p:nvSpPr>
          <p:spPr>
            <a:xfrm>
              <a:off x="3505531" y="4277550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7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7" name="Google Shape;627;p51"/>
            <p:cNvSpPr txBox="1"/>
            <p:nvPr/>
          </p:nvSpPr>
          <p:spPr>
            <a:xfrm>
              <a:off x="3661851" y="321625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8" name="Google Shape;628;p51"/>
            <p:cNvSpPr txBox="1"/>
            <p:nvPr/>
          </p:nvSpPr>
          <p:spPr>
            <a:xfrm>
              <a:off x="3730313" y="3612838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5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9" name="Google Shape;629;p51"/>
            <p:cNvSpPr txBox="1"/>
            <p:nvPr/>
          </p:nvSpPr>
          <p:spPr>
            <a:xfrm>
              <a:off x="3700105" y="2814582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0" name="Google Shape;630;p51"/>
            <p:cNvSpPr txBox="1"/>
            <p:nvPr/>
          </p:nvSpPr>
          <p:spPr>
            <a:xfrm>
              <a:off x="3656980" y="2423720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631" name="Google Shape;631;p51"/>
          <p:cNvCxnSpPr>
            <a:stCxn id="632" idx="1"/>
            <a:endCxn id="617" idx="3"/>
          </p:cNvCxnSpPr>
          <p:nvPr/>
        </p:nvCxnSpPr>
        <p:spPr>
          <a:xfrm flipH="1">
            <a:off x="1686325" y="1674350"/>
            <a:ext cx="917700" cy="698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32" name="Google Shape;632;p51"/>
          <p:cNvSpPr txBox="1"/>
          <p:nvPr/>
        </p:nvSpPr>
        <p:spPr>
          <a:xfrm>
            <a:off x="2604025" y="1350350"/>
            <a:ext cx="28314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recursive resolver returns the final answer to the stub resolver.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5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Recursive Resolvers</a:t>
            </a:r>
            <a:endParaRPr/>
          </a:p>
        </p:txBody>
      </p:sp>
      <p:sp>
        <p:nvSpPr>
          <p:cNvPr id="638" name="Google Shape;638;p5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know where the recursive resolver is?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first join the network, somebody can tell you a resolver address.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can use a well-known resolver with a memorable IP address.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1.1.1.1 (operated by Cloudflare).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8.8.8.8 (operated by Google).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Why are recursive resolvers useful?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recursive resolver can build a larger cache from multiple users' requests.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you query for www.google.com for the first time, the recursive resolver might have the answer cached from somebody else's query.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Reduces load on name servers.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Recursive resolver asks the name server for www.google.com once, and can serve the answer to many users.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Recursive resolvers usually run by ISPs or application providers (Google, Cloudflare).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5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Recursive Resolver Failures</a:t>
            </a:r>
            <a:endParaRPr/>
          </a:p>
        </p:txBody>
      </p:sp>
      <p:sp>
        <p:nvSpPr>
          <p:cNvPr id="644" name="Google Shape;644;p53"/>
          <p:cNvSpPr txBox="1"/>
          <p:nvPr>
            <p:ph idx="1" type="body"/>
          </p:nvPr>
        </p:nvSpPr>
        <p:spPr>
          <a:xfrm>
            <a:off x="94175" y="440875"/>
            <a:ext cx="4693500" cy="439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happens if a resolver breaks?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Anyone relying on 1.1.1.1 to resolve DNS queries cannot access webpages.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Resolvers can be a single point of failure!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Yesterday</a:t>
            </a:r>
            <a:r>
              <a:rPr lang="en"/>
              <a:t>, 1.1.1.1 stopped responding.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Maybe</a:t>
            </a:r>
            <a:r>
              <a:rPr lang="en"/>
              <a:t> a BPG issue?</a:t>
            </a:r>
            <a:endParaRPr/>
          </a:p>
        </p:txBody>
      </p:sp>
      <p:pic>
        <p:nvPicPr>
          <p:cNvPr id="645" name="Google Shape;645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5700" y="543475"/>
            <a:ext cx="4356174" cy="4490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646" name="Google Shape;646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426" y="2776650"/>
            <a:ext cx="4106124" cy="225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54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is DNS For?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Implementation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Scaling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Other Uses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652" name="Google Shape;652;p54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Implementation</a:t>
            </a:r>
            <a:endParaRPr/>
          </a:p>
        </p:txBody>
      </p:sp>
      <p:sp>
        <p:nvSpPr>
          <p:cNvPr id="653" name="Google Shape;653;p54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14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5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APIs for Developers</a:t>
            </a:r>
            <a:endParaRPr/>
          </a:p>
        </p:txBody>
      </p:sp>
      <p:sp>
        <p:nvSpPr>
          <p:cNvPr id="659" name="Google Shape;659;p55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</a:t>
            </a:r>
            <a:r>
              <a:rPr lang="en"/>
              <a:t> does DNS look like from a developer perspective?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Relatively simple, common APIs that are available in almost all languages.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Example API in C: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Font typeface="Consolas"/>
              <a:buChar char="●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result = gethostbyname("foo.com")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Limited to IPv4.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Deprecated, but still used.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Consolas"/>
              <a:buChar char="●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error = getaddrinfo("example.com", NULL, NULL, &amp;result)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Replaces the deprecated method.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Supports more than IPv4.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Functions usually just make requests to the OS's configured resolving DNS server.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the complexities of DNS hidden from the end developer.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5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Uses UDP</a:t>
            </a:r>
            <a:endParaRPr/>
          </a:p>
        </p:txBody>
      </p:sp>
      <p:sp>
        <p:nvSpPr>
          <p:cNvPr id="665" name="Google Shape;665;p56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UDP vs. TCP: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UDP: Unreliable, but faster.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TCP: Reliable, but slower.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DNS should be lightweight and fast, so it uses UDP.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3-way handshake needed.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need for servers to maintain connection state.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Most queries/responses fit in a single UDP packet (no bytestream needed).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5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Uses UDP</a:t>
            </a:r>
            <a:endParaRPr/>
          </a:p>
        </p:txBody>
      </p:sp>
      <p:sp>
        <p:nvSpPr>
          <p:cNvPr id="671" name="Google Shape;671;p5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a packet is dropped?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a timer, and retry on timeout.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Varies on different OSes, but can be fairly slow.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This is why resolvers need to be highly-available.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a message doesn't fit in a UDP packet?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Generally never happens on typical requests and responses.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Larger messages can be sent over TCP.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Recent advances in DNS use a secure transport protocol, with encryption.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and UDP are vulnerable to attackers.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5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Packet Format: UDP Header</a:t>
            </a:r>
            <a:endParaRPr/>
          </a:p>
        </p:txBody>
      </p:sp>
      <p:sp>
        <p:nvSpPr>
          <p:cNvPr id="677" name="Google Shape;677;p58"/>
          <p:cNvSpPr txBox="1"/>
          <p:nvPr>
            <p:ph idx="1" type="body"/>
          </p:nvPr>
        </p:nvSpPr>
        <p:spPr>
          <a:xfrm>
            <a:off x="107050" y="402200"/>
            <a:ext cx="51444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Source port</a:t>
            </a:r>
            <a:r>
              <a:rPr lang="en"/>
              <a:t> (16 bits): Chosen by the client.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Destination port</a:t>
            </a:r>
            <a:r>
              <a:rPr lang="en"/>
              <a:t> (16 bits): Usually 53.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Servers typically </a:t>
            </a:r>
            <a:r>
              <a:rPr lang="en"/>
              <a:t>listen</a:t>
            </a:r>
            <a:r>
              <a:rPr lang="en"/>
              <a:t> for queries on a well-known UDP port (53).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Checksum on UDP payload.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Length of UDP payload.</a:t>
            </a:r>
            <a:endParaRPr/>
          </a:p>
        </p:txBody>
      </p:sp>
      <p:graphicFrame>
        <p:nvGraphicFramePr>
          <p:cNvPr id="678" name="Google Shape;678;p58"/>
          <p:cNvGraphicFramePr/>
          <p:nvPr/>
        </p:nvGraphicFramePr>
        <p:xfrm>
          <a:off x="5417350" y="919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{8181F944-6428-4EBA-9F01-A79046E7B7B3}</a:tableStyleId>
              </a:tblPr>
              <a:tblGrid>
                <a:gridCol w="1451350"/>
                <a:gridCol w="1451350"/>
              </a:tblGrid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Port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Port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Checksum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Length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ID number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Question count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Answer count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Authority count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Additional count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Question Records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 hMerge="1"/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Answer Records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 hMerge="1"/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Authority Records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 hMerge="1"/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Additional Records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 hMerge="1"/>
              </a:tr>
            </a:tbl>
          </a:graphicData>
        </a:graphic>
      </p:graphicFrame>
      <p:sp>
        <p:nvSpPr>
          <p:cNvPr id="679" name="Google Shape;679;p58"/>
          <p:cNvSpPr txBox="1"/>
          <p:nvPr/>
        </p:nvSpPr>
        <p:spPr>
          <a:xfrm rot="5400000">
            <a:off x="7130400" y="2899475"/>
            <a:ext cx="2779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 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58"/>
          <p:cNvCxnSpPr>
            <a:stCxn id="679" idx="1"/>
          </p:cNvCxnSpPr>
          <p:nvPr/>
        </p:nvCxnSpPr>
        <p:spPr>
          <a:xfrm>
            <a:off x="8520150" y="1709825"/>
            <a:ext cx="0" cy="786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1" name="Google Shape;681;p58"/>
          <p:cNvCxnSpPr>
            <a:endCxn id="679" idx="3"/>
          </p:cNvCxnSpPr>
          <p:nvPr/>
        </p:nvCxnSpPr>
        <p:spPr>
          <a:xfrm>
            <a:off x="8520150" y="3693425"/>
            <a:ext cx="0" cy="795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2" name="Google Shape;682;p58"/>
          <p:cNvSpPr txBox="1"/>
          <p:nvPr/>
        </p:nvSpPr>
        <p:spPr>
          <a:xfrm rot="5400000">
            <a:off x="8230950" y="1008975"/>
            <a:ext cx="793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6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p59"/>
          <p:cNvSpPr txBox="1"/>
          <p:nvPr>
            <p:ph idx="1" type="body"/>
          </p:nvPr>
        </p:nvSpPr>
        <p:spPr>
          <a:xfrm>
            <a:off x="107050" y="402200"/>
            <a:ext cx="51102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ID number</a:t>
            </a:r>
            <a:r>
              <a:rPr lang="en"/>
              <a:t> (16 bits): Used to associate queries with responses.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Client picks an ID number in the query.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 server uses the same ID number in the response.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Should be randomly chosen for security purposes (not discussed further).</a:t>
            </a:r>
            <a:endParaRPr/>
          </a:p>
        </p:txBody>
      </p:sp>
      <p:sp>
        <p:nvSpPr>
          <p:cNvPr id="688" name="Google Shape;688;p5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Packet Format: DNS Header</a:t>
            </a:r>
            <a:endParaRPr/>
          </a:p>
        </p:txBody>
      </p:sp>
      <p:graphicFrame>
        <p:nvGraphicFramePr>
          <p:cNvPr id="689" name="Google Shape;689;p59"/>
          <p:cNvGraphicFramePr/>
          <p:nvPr/>
        </p:nvGraphicFramePr>
        <p:xfrm>
          <a:off x="5417350" y="919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{8181F944-6428-4EBA-9F01-A79046E7B7B3}</a:tableStyleId>
              </a:tblPr>
              <a:tblGrid>
                <a:gridCol w="1451350"/>
                <a:gridCol w="1451350"/>
              </a:tblGrid>
              <a:tr h="396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Port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Port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Checksum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Length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ID number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Question count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Answer count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Authority count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Additional count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Question Records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 hMerge="1"/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Answer Records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 hMerge="1"/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Authority Records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 hMerge="1"/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Additional Records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 hMerge="1"/>
              </a:tr>
            </a:tbl>
          </a:graphicData>
        </a:graphic>
      </p:graphicFrame>
      <p:sp>
        <p:nvSpPr>
          <p:cNvPr id="690" name="Google Shape;690;p59"/>
          <p:cNvSpPr txBox="1"/>
          <p:nvPr/>
        </p:nvSpPr>
        <p:spPr>
          <a:xfrm rot="5400000">
            <a:off x="7731600" y="3500600"/>
            <a:ext cx="1577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 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1" name="Google Shape;691;p59"/>
          <p:cNvCxnSpPr>
            <a:stCxn id="690" idx="1"/>
          </p:cNvCxnSpPr>
          <p:nvPr/>
        </p:nvCxnSpPr>
        <p:spPr>
          <a:xfrm>
            <a:off x="8520150" y="2912150"/>
            <a:ext cx="0" cy="241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92" name="Google Shape;692;p59"/>
          <p:cNvSpPr txBox="1"/>
          <p:nvPr/>
        </p:nvSpPr>
        <p:spPr>
          <a:xfrm rot="5400000">
            <a:off x="8230950" y="1008975"/>
            <a:ext cx="793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59"/>
          <p:cNvSpPr txBox="1"/>
          <p:nvPr/>
        </p:nvSpPr>
        <p:spPr>
          <a:xfrm rot="5400000">
            <a:off x="7920900" y="2096100"/>
            <a:ext cx="119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4" name="Google Shape;694;p59"/>
          <p:cNvCxnSpPr/>
          <p:nvPr/>
        </p:nvCxnSpPr>
        <p:spPr>
          <a:xfrm>
            <a:off x="8520150" y="4273850"/>
            <a:ext cx="0" cy="215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60"/>
          <p:cNvSpPr txBox="1"/>
          <p:nvPr>
            <p:ph idx="1" type="body"/>
          </p:nvPr>
        </p:nvSpPr>
        <p:spPr>
          <a:xfrm>
            <a:off x="107050" y="402200"/>
            <a:ext cx="51102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Flags</a:t>
            </a:r>
            <a:r>
              <a:rPr lang="en"/>
              <a:t>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QR bit: 0 in queries, 1 in responses.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RD bit: 1 if we want the recursive resolver to do the lookup for us, and 0 otherwise.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theory, there are different query types.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IQUERY: Obsolete.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STATUS: Not really defined.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QUERY: Used for basically everything.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Counts</a:t>
            </a:r>
            <a:r>
              <a:rPr lang="en"/>
              <a:t>: The number of records of each type in the DNS payload.</a:t>
            </a:r>
            <a:endParaRPr/>
          </a:p>
        </p:txBody>
      </p:sp>
      <p:sp>
        <p:nvSpPr>
          <p:cNvPr id="700" name="Google Shape;700;p6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Packet Format: DNS Header</a:t>
            </a:r>
            <a:endParaRPr/>
          </a:p>
        </p:txBody>
      </p:sp>
      <p:graphicFrame>
        <p:nvGraphicFramePr>
          <p:cNvPr id="701" name="Google Shape;701;p60"/>
          <p:cNvGraphicFramePr/>
          <p:nvPr/>
        </p:nvGraphicFramePr>
        <p:xfrm>
          <a:off x="5417350" y="919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{8181F944-6428-4EBA-9F01-A79046E7B7B3}</a:tableStyleId>
              </a:tblPr>
              <a:tblGrid>
                <a:gridCol w="1451350"/>
                <a:gridCol w="1451350"/>
              </a:tblGrid>
              <a:tr h="396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Port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Port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Checksum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Length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ID number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Question count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Answer count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Authority count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Additional count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Question Records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 hMerge="1"/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Answer Records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 hMerge="1"/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Authority Records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 hMerge="1"/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Additional Records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 hMerge="1"/>
              </a:tr>
            </a:tbl>
          </a:graphicData>
        </a:graphic>
      </p:graphicFrame>
      <p:sp>
        <p:nvSpPr>
          <p:cNvPr id="702" name="Google Shape;702;p60"/>
          <p:cNvSpPr txBox="1"/>
          <p:nvPr/>
        </p:nvSpPr>
        <p:spPr>
          <a:xfrm rot="5400000">
            <a:off x="7731600" y="3500600"/>
            <a:ext cx="1577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 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03" name="Google Shape;703;p60"/>
          <p:cNvCxnSpPr>
            <a:stCxn id="702" idx="1"/>
          </p:cNvCxnSpPr>
          <p:nvPr/>
        </p:nvCxnSpPr>
        <p:spPr>
          <a:xfrm>
            <a:off x="8520150" y="2912150"/>
            <a:ext cx="0" cy="241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04" name="Google Shape;704;p60"/>
          <p:cNvSpPr txBox="1"/>
          <p:nvPr/>
        </p:nvSpPr>
        <p:spPr>
          <a:xfrm rot="5400000">
            <a:off x="8230950" y="1008975"/>
            <a:ext cx="793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5" name="Google Shape;705;p60"/>
          <p:cNvSpPr txBox="1"/>
          <p:nvPr/>
        </p:nvSpPr>
        <p:spPr>
          <a:xfrm rot="5400000">
            <a:off x="7920900" y="2096100"/>
            <a:ext cx="119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06" name="Google Shape;706;p60"/>
          <p:cNvCxnSpPr/>
          <p:nvPr/>
        </p:nvCxnSpPr>
        <p:spPr>
          <a:xfrm>
            <a:off x="8520150" y="4273850"/>
            <a:ext cx="0" cy="215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61"/>
          <p:cNvSpPr txBox="1"/>
          <p:nvPr>
            <p:ph idx="1" type="body"/>
          </p:nvPr>
        </p:nvSpPr>
        <p:spPr>
          <a:xfrm>
            <a:off x="107050" y="402200"/>
            <a:ext cx="4464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DNS payload contains a variable number of </a:t>
            </a:r>
            <a:r>
              <a:rPr b="1" lang="en"/>
              <a:t>resource records (RRs)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Each RR is a name-value pair.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RRs are sorted into four sections: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Question section.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Answer section.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Authority section.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Additional section.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2" name="Google Shape;712;p6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Packet Format: DNS Payload</a:t>
            </a:r>
            <a:endParaRPr/>
          </a:p>
        </p:txBody>
      </p:sp>
      <p:graphicFrame>
        <p:nvGraphicFramePr>
          <p:cNvPr id="713" name="Google Shape;713;p61"/>
          <p:cNvGraphicFramePr/>
          <p:nvPr/>
        </p:nvGraphicFramePr>
        <p:xfrm>
          <a:off x="5417350" y="919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{8181F944-6428-4EBA-9F01-A79046E7B7B3}</a:tableStyleId>
              </a:tblPr>
              <a:tblGrid>
                <a:gridCol w="1451350"/>
                <a:gridCol w="1451350"/>
              </a:tblGrid>
              <a:tr h="396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Port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Port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Checksum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Length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ID number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Question count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Answer count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</a:tr>
              <a:tr h="39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Authority count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99999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Additional count</a:t>
                      </a:r>
                      <a:endParaRPr>
                        <a:solidFill>
                          <a:srgbClr val="99999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>
                    <a:solidFill>
                      <a:srgbClr val="D9D9D9"/>
                    </a:solidFill>
                  </a:tcPr>
                </a:tc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Question Records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  <a:tc hMerge="1"/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Answer Records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  <a:tc hMerge="1"/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Authority Records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  <a:tc hMerge="1"/>
              </a:tr>
              <a:tr h="3962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Additional Records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45700" marL="45700"/>
                </a:tc>
                <a:tc hMerge="1"/>
              </a:tr>
            </a:tbl>
          </a:graphicData>
        </a:graphic>
      </p:graphicFrame>
      <p:sp>
        <p:nvSpPr>
          <p:cNvPr id="714" name="Google Shape;714;p61"/>
          <p:cNvSpPr txBox="1"/>
          <p:nvPr/>
        </p:nvSpPr>
        <p:spPr>
          <a:xfrm rot="5400000">
            <a:off x="7731600" y="3500600"/>
            <a:ext cx="1577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 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5" name="Google Shape;715;p61"/>
          <p:cNvCxnSpPr>
            <a:stCxn id="714" idx="1"/>
          </p:cNvCxnSpPr>
          <p:nvPr/>
        </p:nvCxnSpPr>
        <p:spPr>
          <a:xfrm>
            <a:off x="8520150" y="2912150"/>
            <a:ext cx="0" cy="241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6" name="Google Shape;716;p61"/>
          <p:cNvSpPr txBox="1"/>
          <p:nvPr/>
        </p:nvSpPr>
        <p:spPr>
          <a:xfrm rot="5400000">
            <a:off x="8230950" y="1008975"/>
            <a:ext cx="793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7" name="Google Shape;717;p61"/>
          <p:cNvSpPr txBox="1"/>
          <p:nvPr/>
        </p:nvSpPr>
        <p:spPr>
          <a:xfrm rot="5400000">
            <a:off x="7920900" y="2096100"/>
            <a:ext cx="119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8" name="Google Shape;718;p61"/>
          <p:cNvCxnSpPr/>
          <p:nvPr/>
        </p:nvCxnSpPr>
        <p:spPr>
          <a:xfrm>
            <a:off x="8520150" y="4273850"/>
            <a:ext cx="0" cy="215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p6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Record Format</a:t>
            </a:r>
            <a:endParaRPr/>
          </a:p>
        </p:txBody>
      </p:sp>
      <p:sp>
        <p:nvSpPr>
          <p:cNvPr id="724" name="Google Shape;724;p6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Each record is a name-value pair with a type.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A (answer) type records</a:t>
            </a:r>
            <a:r>
              <a:rPr lang="en"/>
              <a:t>: Maps a domain name to an IPv4 address.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AAAA </a:t>
            </a:r>
            <a:r>
              <a:rPr b="1" lang="en"/>
              <a:t>type</a:t>
            </a:r>
            <a:r>
              <a:rPr b="1" lang="en"/>
              <a:t> records</a:t>
            </a:r>
            <a:r>
              <a:rPr lang="en"/>
              <a:t>: Maps a domain name to an IPv6 address.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NS (name server) type records</a:t>
            </a:r>
            <a:r>
              <a:rPr lang="en"/>
              <a:t>: Designates another DNS server to handle a domain.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 types exist, but these are the ones you need to know for now.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Each record also contains some metadata.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Time to live (TTL)</a:t>
            </a:r>
            <a:r>
              <a:rPr lang="en"/>
              <a:t>: How long the record can be cached.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Class</a:t>
            </a:r>
            <a:r>
              <a:rPr lang="en"/>
              <a:t>: We'll ignore this. Basically always set to IN (Internet).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6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Record Sections</a:t>
            </a:r>
            <a:endParaRPr/>
          </a:p>
        </p:txBody>
      </p:sp>
      <p:sp>
        <p:nvSpPr>
          <p:cNvPr id="730" name="Google Shape;730;p6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Question section: What is being asked.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Included in both requests and responses.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Usually an A type record with the domain being looked up.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Answer section: A direct response to the question.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Empty in requests.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Used if the name server responds with the answer.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Usually an A type record with the IP address of the domain being looked up.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6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Record Sections</a:t>
            </a:r>
            <a:endParaRPr/>
          </a:p>
        </p:txBody>
      </p:sp>
      <p:sp>
        <p:nvSpPr>
          <p:cNvPr id="736" name="Google Shape;736;p6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Authority section: A delegation of authority for the question.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Empty in requests.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Used to direct the resolver to the next name server.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Usually an NS type record with the zone and domain of the child name server.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Additional section: Additional information to help with the response, sometimes called glue records.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Empty in requests.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Provides helpful, non-authoritative records for domains.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Usually an A type record with the domain and IP address of the child name server (since the NS record provides the child name server as a domain).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6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Lookup Walkthrough</a:t>
            </a:r>
            <a:endParaRPr/>
          </a:p>
        </p:txBody>
      </p:sp>
      <p:sp>
        <p:nvSpPr>
          <p:cNvPr id="742" name="Google Shape;742;p65"/>
          <p:cNvSpPr txBox="1"/>
          <p:nvPr>
            <p:ph idx="4294967295" type="body"/>
          </p:nvPr>
        </p:nvSpPr>
        <p:spPr>
          <a:xfrm>
            <a:off x="198500" y="1246825"/>
            <a:ext cx="57231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@198.41.0.4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743" name="Google Shape;743;p65"/>
          <p:cNvGrpSpPr/>
          <p:nvPr/>
        </p:nvGrpSpPr>
        <p:grpSpPr>
          <a:xfrm>
            <a:off x="233450" y="1299475"/>
            <a:ext cx="7089250" cy="2011025"/>
            <a:chOff x="233450" y="1299475"/>
            <a:chExt cx="7089250" cy="2011025"/>
          </a:xfrm>
        </p:grpSpPr>
        <p:sp>
          <p:nvSpPr>
            <p:cNvPr id="744" name="Google Shape;744;p65"/>
            <p:cNvSpPr/>
            <p:nvPr/>
          </p:nvSpPr>
          <p:spPr>
            <a:xfrm>
              <a:off x="233450" y="1299475"/>
              <a:ext cx="1564200" cy="264600"/>
            </a:xfrm>
            <a:prstGeom prst="roundRect">
              <a:avLst>
                <a:gd fmla="val 16667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65"/>
            <p:cNvSpPr/>
            <p:nvPr/>
          </p:nvSpPr>
          <p:spPr>
            <a:xfrm flipH="1">
              <a:off x="964967" y="1564075"/>
              <a:ext cx="3607033" cy="723752"/>
            </a:xfrm>
            <a:custGeom>
              <a:rect b="b" l="l" r="r" t="t"/>
              <a:pathLst>
                <a:path extrusionOk="0" h="35172" w="75635">
                  <a:moveTo>
                    <a:pt x="75635" y="0"/>
                  </a:moveTo>
                  <a:lnTo>
                    <a:pt x="75635" y="35172"/>
                  </a:lnTo>
                  <a:lnTo>
                    <a:pt x="0" y="35172"/>
                  </a:lnTo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triangle"/>
              <a:tailEnd len="med" w="med" type="none"/>
            </a:ln>
          </p:spPr>
        </p:sp>
        <p:sp>
          <p:nvSpPr>
            <p:cNvPr id="746" name="Google Shape;746;p65"/>
            <p:cNvSpPr txBox="1"/>
            <p:nvPr/>
          </p:nvSpPr>
          <p:spPr>
            <a:xfrm>
              <a:off x="4572000" y="1833000"/>
              <a:ext cx="2750700" cy="147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You can try this at home! Use the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dig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utility in your terminal, and remember to set the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+norecurse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flag so you can traverse the name server hierarchy yourself.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0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6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752" name="Google Shape;752;p66"/>
          <p:cNvSpPr txBox="1"/>
          <p:nvPr>
            <p:ph idx="4294967295" type="body"/>
          </p:nvPr>
        </p:nvSpPr>
        <p:spPr>
          <a:xfrm>
            <a:off x="198500" y="1246825"/>
            <a:ext cx="57231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@198.41.0.4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753" name="Google Shape;753;p66"/>
          <p:cNvGrpSpPr/>
          <p:nvPr/>
        </p:nvGrpSpPr>
        <p:grpSpPr>
          <a:xfrm>
            <a:off x="1813050" y="1299475"/>
            <a:ext cx="6388550" cy="1500500"/>
            <a:chOff x="1813050" y="1299475"/>
            <a:chExt cx="6388550" cy="1500500"/>
          </a:xfrm>
        </p:grpSpPr>
        <p:sp>
          <p:nvSpPr>
            <p:cNvPr id="754" name="Google Shape;754;p66"/>
            <p:cNvSpPr/>
            <p:nvPr/>
          </p:nvSpPr>
          <p:spPr>
            <a:xfrm>
              <a:off x="1813050" y="1299475"/>
              <a:ext cx="1649700" cy="264600"/>
            </a:xfrm>
            <a:prstGeom prst="roundRect">
              <a:avLst>
                <a:gd fmla="val 16667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66"/>
            <p:cNvSpPr/>
            <p:nvPr/>
          </p:nvSpPr>
          <p:spPr>
            <a:xfrm flipH="1">
              <a:off x="2645720" y="1564075"/>
              <a:ext cx="2750656" cy="723752"/>
            </a:xfrm>
            <a:custGeom>
              <a:rect b="b" l="l" r="r" t="t"/>
              <a:pathLst>
                <a:path extrusionOk="0" h="35172" w="75635">
                  <a:moveTo>
                    <a:pt x="75635" y="0"/>
                  </a:moveTo>
                  <a:lnTo>
                    <a:pt x="75635" y="35172"/>
                  </a:lnTo>
                  <a:lnTo>
                    <a:pt x="0" y="35172"/>
                  </a:lnTo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triangle"/>
              <a:tailEnd len="med" w="med" type="none"/>
            </a:ln>
          </p:spPr>
        </p:sp>
        <p:sp>
          <p:nvSpPr>
            <p:cNvPr id="756" name="Google Shape;756;p66"/>
            <p:cNvSpPr txBox="1"/>
            <p:nvPr/>
          </p:nvSpPr>
          <p:spPr>
            <a:xfrm>
              <a:off x="5450900" y="1968675"/>
              <a:ext cx="2750700" cy="831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We are performing a DNS lookup for the IP address of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eecs.berkeley.edu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6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762" name="Google Shape;762;p67"/>
          <p:cNvSpPr txBox="1"/>
          <p:nvPr>
            <p:ph idx="4294967295" type="body"/>
          </p:nvPr>
        </p:nvSpPr>
        <p:spPr>
          <a:xfrm>
            <a:off x="198500" y="1246825"/>
            <a:ext cx="57231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@198.41.0.4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763" name="Google Shape;763;p67"/>
          <p:cNvGrpSpPr/>
          <p:nvPr/>
        </p:nvGrpSpPr>
        <p:grpSpPr>
          <a:xfrm>
            <a:off x="3439375" y="1223275"/>
            <a:ext cx="5306925" cy="1262100"/>
            <a:chOff x="3439375" y="1223275"/>
            <a:chExt cx="5306925" cy="1262100"/>
          </a:xfrm>
        </p:grpSpPr>
        <p:sp>
          <p:nvSpPr>
            <p:cNvPr id="764" name="Google Shape;764;p67"/>
            <p:cNvSpPr/>
            <p:nvPr/>
          </p:nvSpPr>
          <p:spPr>
            <a:xfrm>
              <a:off x="3439375" y="1299475"/>
              <a:ext cx="1132500" cy="264600"/>
            </a:xfrm>
            <a:prstGeom prst="roundRect">
              <a:avLst>
                <a:gd fmla="val 16667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765" name="Google Shape;765;p67"/>
            <p:cNvCxnSpPr>
              <a:endCxn id="764" idx="3"/>
            </p:cNvCxnSpPr>
            <p:nvPr/>
          </p:nvCxnSpPr>
          <p:spPr>
            <a:xfrm rot="10800000">
              <a:off x="4571875" y="1431775"/>
              <a:ext cx="1454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766" name="Google Shape;766;p67"/>
            <p:cNvSpPr txBox="1"/>
            <p:nvPr/>
          </p:nvSpPr>
          <p:spPr>
            <a:xfrm>
              <a:off x="5995600" y="1223275"/>
              <a:ext cx="2750700" cy="126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DNS queries always start with a request to the root name server. The IP address of the root name server is usually hard-coded into recursive resolvers.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767" name="Google Shape;767;p67"/>
          <p:cNvSpPr txBox="1"/>
          <p:nvPr/>
        </p:nvSpPr>
        <p:spPr>
          <a:xfrm>
            <a:off x="5995600" y="2571750"/>
            <a:ext cx="28182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Operators can also configure a </a:t>
            </a:r>
            <a:r>
              <a:rPr i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root hints file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with the root addresses, like this: </a:t>
            </a:r>
            <a:r>
              <a:rPr lang="en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https://www.internic.net/domain/named.root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6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773" name="Google Shape;773;p68"/>
          <p:cNvSpPr txBox="1"/>
          <p:nvPr>
            <p:ph idx="4294967295" type="body"/>
          </p:nvPr>
        </p:nvSpPr>
        <p:spPr>
          <a:xfrm>
            <a:off x="198500" y="1246825"/>
            <a:ext cx="61380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@198.41.0.4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26114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qr; QUERY: 1, ANSWER: 0, AUTHORITY: 13, ADDITIONAL: 27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;eecs.berkeley.edu.          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AUTHORITY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a.edu-servers.net.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b.edu-servers.net.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c.edu-servers.net.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ADDITIONAL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a.edu-servers.net.  172800   IN   A	192.5.6.30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b.edu-servers.net.  172800   IN   A	192.33.14.30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c.edu-servers.net.  172800   IN   A	192.26.92.30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774" name="Google Shape;774;p68"/>
          <p:cNvGrpSpPr/>
          <p:nvPr/>
        </p:nvGrpSpPr>
        <p:grpSpPr>
          <a:xfrm>
            <a:off x="198500" y="1665225"/>
            <a:ext cx="8654800" cy="3112500"/>
            <a:chOff x="198500" y="1665225"/>
            <a:chExt cx="8654800" cy="3112500"/>
          </a:xfrm>
        </p:grpSpPr>
        <p:sp>
          <p:nvSpPr>
            <p:cNvPr id="775" name="Google Shape;775;p68"/>
            <p:cNvSpPr/>
            <p:nvPr/>
          </p:nvSpPr>
          <p:spPr>
            <a:xfrm>
              <a:off x="198500" y="1665225"/>
              <a:ext cx="6073200" cy="3112500"/>
            </a:xfrm>
            <a:prstGeom prst="roundRect">
              <a:avLst>
                <a:gd fmla="val 4102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776" name="Google Shape;776;p68"/>
            <p:cNvCxnSpPr>
              <a:endCxn id="775" idx="3"/>
            </p:cNvCxnSpPr>
            <p:nvPr/>
          </p:nvCxnSpPr>
          <p:spPr>
            <a:xfrm rot="10800000">
              <a:off x="6271700" y="3221475"/>
              <a:ext cx="8169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777" name="Google Shape;777;p68"/>
            <p:cNvSpPr txBox="1"/>
            <p:nvPr/>
          </p:nvSpPr>
          <p:spPr>
            <a:xfrm>
              <a:off x="7095000" y="2805825"/>
              <a:ext cx="1758300" cy="831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Here's the DNS response from the root name server.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6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783" name="Google Shape;783;p69"/>
          <p:cNvSpPr txBox="1"/>
          <p:nvPr>
            <p:ph idx="4294967295" type="body"/>
          </p:nvPr>
        </p:nvSpPr>
        <p:spPr>
          <a:xfrm>
            <a:off x="198500" y="1246825"/>
            <a:ext cx="61122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@198.41.0.4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26114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qr; QUERY: 1, ANSWER: 0, AUTHORITY: 13, ADDITIONAL: 27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;eecs.berkeley.edu.          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AUTHORITY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a.edu-servers.net.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b.edu-servers.net.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c.edu-servers.net.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ADDITIONAL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a.edu-servers.net.  172800   IN   A	192.5.6.30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b.edu-servers.net.  172800   IN   A	192.33.14.30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c.edu-servers.net.  172800   IN   A	192.26.92.30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784" name="Google Shape;784;p69"/>
          <p:cNvGrpSpPr/>
          <p:nvPr/>
        </p:nvGrpSpPr>
        <p:grpSpPr>
          <a:xfrm>
            <a:off x="248825" y="1807475"/>
            <a:ext cx="8536375" cy="400200"/>
            <a:chOff x="248825" y="1807475"/>
            <a:chExt cx="8536375" cy="400200"/>
          </a:xfrm>
        </p:grpSpPr>
        <p:sp>
          <p:nvSpPr>
            <p:cNvPr id="785" name="Google Shape;785;p69"/>
            <p:cNvSpPr/>
            <p:nvPr/>
          </p:nvSpPr>
          <p:spPr>
            <a:xfrm>
              <a:off x="248825" y="1810775"/>
              <a:ext cx="5929500" cy="393600"/>
            </a:xfrm>
            <a:prstGeom prst="roundRect">
              <a:avLst>
                <a:gd fmla="val 16667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786" name="Google Shape;786;p69"/>
            <p:cNvCxnSpPr>
              <a:stCxn id="787" idx="1"/>
              <a:endCxn id="785" idx="3"/>
            </p:cNvCxnSpPr>
            <p:nvPr/>
          </p:nvCxnSpPr>
          <p:spPr>
            <a:xfrm rot="10800000">
              <a:off x="6178200" y="2007575"/>
              <a:ext cx="486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787" name="Google Shape;787;p69"/>
            <p:cNvSpPr txBox="1"/>
            <p:nvPr/>
          </p:nvSpPr>
          <p:spPr>
            <a:xfrm>
              <a:off x="6664800" y="1807475"/>
              <a:ext cx="21204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Here's the DNS header.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p7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793" name="Google Shape;793;p70"/>
          <p:cNvSpPr txBox="1"/>
          <p:nvPr>
            <p:ph idx="4294967295" type="body"/>
          </p:nvPr>
        </p:nvSpPr>
        <p:spPr>
          <a:xfrm>
            <a:off x="198500" y="1246825"/>
            <a:ext cx="62211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@198.41.0.4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26114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qr; QUERY: 1, ANSWER: 0, AUTHORITY: 13, ADDITIONAL: 27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;eecs.berkeley.edu.          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AUTHORITY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a.edu-servers.net.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b.edu-servers.net.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c.edu-servers.net.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ADDITIONAL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a.edu-servers.net.  172800   IN   A	192.5.6.30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b.edu-servers.net.  172800   IN   A	192.33.14.30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c.edu-servers.net.  172800   IN   A	192.26.92.30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794" name="Google Shape;794;p70"/>
          <p:cNvGrpSpPr/>
          <p:nvPr/>
        </p:nvGrpSpPr>
        <p:grpSpPr>
          <a:xfrm>
            <a:off x="4661175" y="1625825"/>
            <a:ext cx="4085350" cy="831300"/>
            <a:chOff x="4661175" y="1625825"/>
            <a:chExt cx="4085350" cy="831300"/>
          </a:xfrm>
        </p:grpSpPr>
        <p:sp>
          <p:nvSpPr>
            <p:cNvPr id="795" name="Google Shape;795;p70"/>
            <p:cNvSpPr/>
            <p:nvPr/>
          </p:nvSpPr>
          <p:spPr>
            <a:xfrm>
              <a:off x="4661175" y="1828625"/>
              <a:ext cx="894900" cy="210000"/>
            </a:xfrm>
            <a:prstGeom prst="roundRect">
              <a:avLst>
                <a:gd fmla="val 16667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796" name="Google Shape;796;p70"/>
            <p:cNvCxnSpPr/>
            <p:nvPr/>
          </p:nvCxnSpPr>
          <p:spPr>
            <a:xfrm rot="10800000">
              <a:off x="5555900" y="1933775"/>
              <a:ext cx="13719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797" name="Google Shape;797;p70"/>
            <p:cNvSpPr txBox="1"/>
            <p:nvPr/>
          </p:nvSpPr>
          <p:spPr>
            <a:xfrm>
              <a:off x="6894325" y="1625825"/>
              <a:ext cx="1852200" cy="831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Here's the 16-bit ID number in the DNS header.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7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803" name="Google Shape;803;p71"/>
          <p:cNvSpPr txBox="1"/>
          <p:nvPr>
            <p:ph idx="4294967295" type="body"/>
          </p:nvPr>
        </p:nvSpPr>
        <p:spPr>
          <a:xfrm>
            <a:off x="198500" y="1246825"/>
            <a:ext cx="61200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@198.41.0.4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26114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qr; QUERY: 1, ANSWER: 0, AUTHORITY: 13, ADDITIONAL: 27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;eecs.berkeley.edu.          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AUTHORITY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a.edu-servers.net.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b.edu-servers.net.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c.edu-servers.net.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ADDITIONAL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a.edu-servers.net.  172800   IN   A	192.5.6.30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b.edu-servers.net.  172800   IN   A	192.33.14.30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c.edu-servers.net.  172800   IN   A	192.26.92.30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1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804" name="Google Shape;804;p71"/>
          <p:cNvGrpSpPr/>
          <p:nvPr/>
        </p:nvGrpSpPr>
        <p:grpSpPr>
          <a:xfrm>
            <a:off x="521225" y="1999825"/>
            <a:ext cx="7563700" cy="1981850"/>
            <a:chOff x="521225" y="1999825"/>
            <a:chExt cx="7563700" cy="1981850"/>
          </a:xfrm>
        </p:grpSpPr>
        <p:sp>
          <p:nvSpPr>
            <p:cNvPr id="805" name="Google Shape;805;p71"/>
            <p:cNvSpPr/>
            <p:nvPr/>
          </p:nvSpPr>
          <p:spPr>
            <a:xfrm flipH="1">
              <a:off x="980310" y="2250275"/>
              <a:ext cx="4816815" cy="1453659"/>
            </a:xfrm>
            <a:custGeom>
              <a:rect b="b" l="l" r="r" t="t"/>
              <a:pathLst>
                <a:path extrusionOk="0" h="35172" w="75635">
                  <a:moveTo>
                    <a:pt x="75635" y="0"/>
                  </a:moveTo>
                  <a:lnTo>
                    <a:pt x="75635" y="35172"/>
                  </a:lnTo>
                  <a:lnTo>
                    <a:pt x="0" y="35172"/>
                  </a:lnTo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triangle"/>
              <a:tailEnd len="med" w="med" type="none"/>
            </a:ln>
          </p:spPr>
        </p:sp>
        <p:sp>
          <p:nvSpPr>
            <p:cNvPr id="806" name="Google Shape;806;p71"/>
            <p:cNvSpPr/>
            <p:nvPr/>
          </p:nvSpPr>
          <p:spPr>
            <a:xfrm>
              <a:off x="521225" y="1999825"/>
              <a:ext cx="957300" cy="210000"/>
            </a:xfrm>
            <a:prstGeom prst="roundRect">
              <a:avLst>
                <a:gd fmla="val 16667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" name="Google Shape;807;p71"/>
            <p:cNvSpPr txBox="1"/>
            <p:nvPr/>
          </p:nvSpPr>
          <p:spPr>
            <a:xfrm>
              <a:off x="5797125" y="3366075"/>
              <a:ext cx="22878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Here are the flags in the DNS header.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08" name="Google Shape;808;p71"/>
          <p:cNvGrpSpPr/>
          <p:nvPr/>
        </p:nvGrpSpPr>
        <p:grpSpPr>
          <a:xfrm>
            <a:off x="1517375" y="1999825"/>
            <a:ext cx="7267850" cy="1187525"/>
            <a:chOff x="1517375" y="1999825"/>
            <a:chExt cx="7267850" cy="1187525"/>
          </a:xfrm>
        </p:grpSpPr>
        <p:sp>
          <p:nvSpPr>
            <p:cNvPr id="809" name="Google Shape;809;p71"/>
            <p:cNvSpPr/>
            <p:nvPr/>
          </p:nvSpPr>
          <p:spPr>
            <a:xfrm flipH="1">
              <a:off x="3781677" y="2209825"/>
              <a:ext cx="2634745" cy="723752"/>
            </a:xfrm>
            <a:custGeom>
              <a:rect b="b" l="l" r="r" t="t"/>
              <a:pathLst>
                <a:path extrusionOk="0" h="35172" w="75635">
                  <a:moveTo>
                    <a:pt x="75635" y="0"/>
                  </a:moveTo>
                  <a:lnTo>
                    <a:pt x="75635" y="35172"/>
                  </a:lnTo>
                  <a:lnTo>
                    <a:pt x="0" y="35172"/>
                  </a:lnTo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triangle"/>
              <a:tailEnd len="med" w="med" type="none"/>
            </a:ln>
          </p:spPr>
        </p:sp>
        <p:sp>
          <p:nvSpPr>
            <p:cNvPr id="810" name="Google Shape;810;p71"/>
            <p:cNvSpPr txBox="1"/>
            <p:nvPr/>
          </p:nvSpPr>
          <p:spPr>
            <a:xfrm>
              <a:off x="6416425" y="2571750"/>
              <a:ext cx="23688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Here are the record counts in the DNS header.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1" name="Google Shape;811;p71"/>
            <p:cNvSpPr/>
            <p:nvPr/>
          </p:nvSpPr>
          <p:spPr>
            <a:xfrm>
              <a:off x="1517375" y="1999825"/>
              <a:ext cx="4715400" cy="210000"/>
            </a:xfrm>
            <a:prstGeom prst="roundRect">
              <a:avLst>
                <a:gd fmla="val 16667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5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p7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817" name="Google Shape;817;p72"/>
          <p:cNvSpPr txBox="1"/>
          <p:nvPr>
            <p:ph idx="4294967295" type="body"/>
          </p:nvPr>
        </p:nvSpPr>
        <p:spPr>
          <a:xfrm>
            <a:off x="198500" y="1246825"/>
            <a:ext cx="61899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@198.41.0.4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26114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qr; QUERY: 1, ANSWER: 0, AUTHORITY: 13, ADDITIONAL: 27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;eecs.berkeley.edu.          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AUTHORITY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a.edu-servers.net.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b.edu-servers.net.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c.edu-servers.net.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ADDITIONAL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a.edu-servers.net.  172800   IN   A	192.5.6.30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b.edu-servers.net.  172800   IN   A	192.33.14.30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c.edu-servers.net.  172800   IN   A	192.26.92.30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1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818" name="Google Shape;818;p72"/>
          <p:cNvGrpSpPr/>
          <p:nvPr/>
        </p:nvGrpSpPr>
        <p:grpSpPr>
          <a:xfrm>
            <a:off x="198500" y="2256600"/>
            <a:ext cx="8656550" cy="2536500"/>
            <a:chOff x="198500" y="2256600"/>
            <a:chExt cx="8656550" cy="2536500"/>
          </a:xfrm>
        </p:grpSpPr>
        <p:sp>
          <p:nvSpPr>
            <p:cNvPr id="819" name="Google Shape;819;p72"/>
            <p:cNvSpPr/>
            <p:nvPr/>
          </p:nvSpPr>
          <p:spPr>
            <a:xfrm>
              <a:off x="198500" y="2256600"/>
              <a:ext cx="5501700" cy="2536500"/>
            </a:xfrm>
            <a:prstGeom prst="roundRect">
              <a:avLst>
                <a:gd fmla="val 5302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820" name="Google Shape;820;p72"/>
            <p:cNvCxnSpPr>
              <a:endCxn id="819" idx="3"/>
            </p:cNvCxnSpPr>
            <p:nvPr/>
          </p:nvCxnSpPr>
          <p:spPr>
            <a:xfrm rot="10800000">
              <a:off x="5700200" y="3524850"/>
              <a:ext cx="6705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821" name="Google Shape;821;p72"/>
            <p:cNvSpPr txBox="1"/>
            <p:nvPr/>
          </p:nvSpPr>
          <p:spPr>
            <a:xfrm>
              <a:off x="6305350" y="3040475"/>
              <a:ext cx="25497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Here's the DNS payload. It's a collection of resource records (one per line), sorted into four sections.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5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7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827" name="Google Shape;827;p73"/>
          <p:cNvSpPr txBox="1"/>
          <p:nvPr>
            <p:ph idx="4294967295" type="body"/>
          </p:nvPr>
        </p:nvSpPr>
        <p:spPr>
          <a:xfrm>
            <a:off x="198500" y="1246825"/>
            <a:ext cx="62445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@198.41.0.4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26114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qr; QUERY: 1, ANSWER: 0, AUTHORITY: 13, ADDITIONAL: 27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;eecs.berkeley.edu.          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AUTHORITY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a.edu-servers.net.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b.edu-servers.net.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c.edu-servers.net.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ADDITIONAL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a.edu-servers.net.  172800   IN   A	192.5.6.30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b.edu-servers.net.  172800   IN   A	192.33.14.30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c.edu-servers.net.  172800   IN   A	192.26.92.30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1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828" name="Google Shape;828;p73"/>
          <p:cNvGrpSpPr/>
          <p:nvPr/>
        </p:nvGrpSpPr>
        <p:grpSpPr>
          <a:xfrm>
            <a:off x="198500" y="2283025"/>
            <a:ext cx="8594300" cy="1693200"/>
            <a:chOff x="198500" y="2283025"/>
            <a:chExt cx="8594300" cy="1693200"/>
          </a:xfrm>
        </p:grpSpPr>
        <p:sp>
          <p:nvSpPr>
            <p:cNvPr id="829" name="Google Shape;829;p73"/>
            <p:cNvSpPr/>
            <p:nvPr/>
          </p:nvSpPr>
          <p:spPr>
            <a:xfrm>
              <a:off x="198500" y="2324400"/>
              <a:ext cx="3528900" cy="393600"/>
            </a:xfrm>
            <a:prstGeom prst="roundRect">
              <a:avLst>
                <a:gd fmla="val 22713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830" name="Google Shape;830;p73"/>
            <p:cNvCxnSpPr>
              <a:endCxn id="829" idx="3"/>
            </p:cNvCxnSpPr>
            <p:nvPr/>
          </p:nvCxnSpPr>
          <p:spPr>
            <a:xfrm rot="10800000">
              <a:off x="3727400" y="2521200"/>
              <a:ext cx="25125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831" name="Google Shape;831;p73"/>
            <p:cNvSpPr txBox="1"/>
            <p:nvPr/>
          </p:nvSpPr>
          <p:spPr>
            <a:xfrm>
              <a:off x="6243100" y="2283025"/>
              <a:ext cx="2549700" cy="169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Here's the question section. The name is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eecs.berkeley.edu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, the type is A, and the value is blank. It shows that we are looking for the IP address of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eecs.berkeley.edu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5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p7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837" name="Google Shape;837;p74"/>
          <p:cNvSpPr txBox="1"/>
          <p:nvPr>
            <p:ph idx="4294967295" type="body"/>
          </p:nvPr>
        </p:nvSpPr>
        <p:spPr>
          <a:xfrm>
            <a:off x="198500" y="1246825"/>
            <a:ext cx="62295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@198.41.0.4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26114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qr; QUERY: 1, ANSWER: 0, AUTHORITY: 13, ADDITIONAL: 27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;eecs.berkeley.edu.          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AUTHORITY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a.edu-servers.net.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b.edu-servers.net.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c.edu-servers.net.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ADDITIONAL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a.edu-servers.net.  172800   IN   A	192.5.6.30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b.edu-servers.net.  172800   IN   A	192.33.14.30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c.edu-servers.net.  172800   IN   A	192.26.92.30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1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838" name="Google Shape;838;p74"/>
          <p:cNvGrpSpPr/>
          <p:nvPr/>
        </p:nvGrpSpPr>
        <p:grpSpPr>
          <a:xfrm>
            <a:off x="2406600" y="1999825"/>
            <a:ext cx="6487550" cy="2465950"/>
            <a:chOff x="2406600" y="1999825"/>
            <a:chExt cx="6487550" cy="2465950"/>
          </a:xfrm>
        </p:grpSpPr>
        <p:sp>
          <p:nvSpPr>
            <p:cNvPr id="839" name="Google Shape;839;p74"/>
            <p:cNvSpPr/>
            <p:nvPr/>
          </p:nvSpPr>
          <p:spPr>
            <a:xfrm>
              <a:off x="2406600" y="1999825"/>
              <a:ext cx="1028700" cy="210000"/>
            </a:xfrm>
            <a:prstGeom prst="roundRect">
              <a:avLst>
                <a:gd fmla="val 16667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" name="Google Shape;840;p74"/>
            <p:cNvSpPr/>
            <p:nvPr/>
          </p:nvSpPr>
          <p:spPr>
            <a:xfrm flipH="1">
              <a:off x="2898822" y="2209875"/>
              <a:ext cx="3485828" cy="723752"/>
            </a:xfrm>
            <a:custGeom>
              <a:rect b="b" l="l" r="r" t="t"/>
              <a:pathLst>
                <a:path extrusionOk="0" h="35172" w="75635">
                  <a:moveTo>
                    <a:pt x="75635" y="0"/>
                  </a:moveTo>
                  <a:lnTo>
                    <a:pt x="75635" y="35172"/>
                  </a:lnTo>
                  <a:lnTo>
                    <a:pt x="0" y="35172"/>
                  </a:lnTo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triangle"/>
              <a:tailEnd len="med" w="med" type="none"/>
            </a:ln>
          </p:spPr>
        </p:sp>
        <p:sp>
          <p:nvSpPr>
            <p:cNvPr id="841" name="Google Shape;841;p74"/>
            <p:cNvSpPr txBox="1"/>
            <p:nvPr/>
          </p:nvSpPr>
          <p:spPr>
            <a:xfrm>
              <a:off x="6384650" y="2341775"/>
              <a:ext cx="2509500" cy="21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The answer section is blank, because the root name server did not return the answer we're looking for.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We can confirm this by checking the header, which says there are 0 records in the answer section.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5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7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847" name="Google Shape;847;p75"/>
          <p:cNvSpPr txBox="1"/>
          <p:nvPr>
            <p:ph idx="4294967295" type="body"/>
          </p:nvPr>
        </p:nvSpPr>
        <p:spPr>
          <a:xfrm>
            <a:off x="198500" y="1246825"/>
            <a:ext cx="62445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@198.41.0.4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26114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qr; QUERY: 1, ANSWER: 0, AUTHORITY: 13, ADDITIONAL: 27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;eecs.berkeley.edu.          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AUTHORITY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a.edu-servers.net.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b.edu-servers.net.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c.edu-servers.net.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ADDITIONAL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a.edu-servers.net.  172800   IN   A	192.5.6.30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b.edu-servers.net.  172800   IN   A	192.33.14.30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c.edu-servers.net.  172800   IN   A	192.26.92.30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1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848" name="Google Shape;848;p75"/>
          <p:cNvGrpSpPr/>
          <p:nvPr/>
        </p:nvGrpSpPr>
        <p:grpSpPr>
          <a:xfrm>
            <a:off x="198500" y="2775725"/>
            <a:ext cx="8602075" cy="2095650"/>
            <a:chOff x="198500" y="2775725"/>
            <a:chExt cx="8602075" cy="2095650"/>
          </a:xfrm>
        </p:grpSpPr>
        <p:sp>
          <p:nvSpPr>
            <p:cNvPr id="849" name="Google Shape;849;p75"/>
            <p:cNvSpPr/>
            <p:nvPr/>
          </p:nvSpPr>
          <p:spPr>
            <a:xfrm>
              <a:off x="198500" y="2775725"/>
              <a:ext cx="5334000" cy="2040900"/>
            </a:xfrm>
            <a:prstGeom prst="roundRect">
              <a:avLst>
                <a:gd fmla="val 7638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850" name="Google Shape;850;p75"/>
            <p:cNvCxnSpPr>
              <a:endCxn id="849" idx="3"/>
            </p:cNvCxnSpPr>
            <p:nvPr/>
          </p:nvCxnSpPr>
          <p:spPr>
            <a:xfrm rot="10800000">
              <a:off x="5532500" y="3796175"/>
              <a:ext cx="774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851" name="Google Shape;851;p75"/>
            <p:cNvSpPr txBox="1"/>
            <p:nvPr/>
          </p:nvSpPr>
          <p:spPr>
            <a:xfrm>
              <a:off x="6250875" y="3178175"/>
              <a:ext cx="2549700" cy="169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The authority and additional sections tell the resolver where to look next.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Note that there are multiple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.edu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name servers for redundancy.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5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7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857" name="Google Shape;857;p76"/>
          <p:cNvSpPr txBox="1"/>
          <p:nvPr>
            <p:ph idx="4294967295" type="body"/>
          </p:nvPr>
        </p:nvSpPr>
        <p:spPr>
          <a:xfrm>
            <a:off x="198500" y="1246825"/>
            <a:ext cx="62445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@198.41.0.4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26114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qr; QUERY: 1, ANSWER: 0, AUTHORITY: 13, ADDITIONAL: 27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;eecs.berkeley.edu.          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AUTHORITY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a.edu-servers.net.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b.edu-servers.net.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c.edu-servers.net.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ADDITIONAL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a.edu-servers.net.  172800   IN   A	192.5.6.30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b.edu-servers.net.  172800   IN   A	192.33.14.30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c.edu-servers.net.  172800   IN   A	192.26.92.30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1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858" name="Google Shape;858;p76"/>
          <p:cNvGrpSpPr/>
          <p:nvPr/>
        </p:nvGrpSpPr>
        <p:grpSpPr>
          <a:xfrm>
            <a:off x="198500" y="2067625"/>
            <a:ext cx="8655825" cy="2124000"/>
            <a:chOff x="198500" y="2067625"/>
            <a:chExt cx="8655825" cy="2124000"/>
          </a:xfrm>
        </p:grpSpPr>
        <p:sp>
          <p:nvSpPr>
            <p:cNvPr id="859" name="Google Shape;859;p76"/>
            <p:cNvSpPr/>
            <p:nvPr/>
          </p:nvSpPr>
          <p:spPr>
            <a:xfrm>
              <a:off x="198500" y="3002425"/>
              <a:ext cx="5370000" cy="162600"/>
            </a:xfrm>
            <a:prstGeom prst="roundRect">
              <a:avLst>
                <a:gd fmla="val 7638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860" name="Google Shape;860;p76"/>
            <p:cNvCxnSpPr>
              <a:endCxn id="859" idx="3"/>
            </p:cNvCxnSpPr>
            <p:nvPr/>
          </p:nvCxnSpPr>
          <p:spPr>
            <a:xfrm rot="10800000">
              <a:off x="5568500" y="3083725"/>
              <a:ext cx="978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861" name="Google Shape;861;p76"/>
            <p:cNvSpPr txBox="1"/>
            <p:nvPr/>
          </p:nvSpPr>
          <p:spPr>
            <a:xfrm>
              <a:off x="6516125" y="2067625"/>
              <a:ext cx="2338200" cy="21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For redundancy, there are usually several name servers for each zone. Any of them will usually work. Let's pick the first one.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This NS record says that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a.edu-servers.net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is a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.edu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name server.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5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p7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867" name="Google Shape;867;p77"/>
          <p:cNvSpPr txBox="1"/>
          <p:nvPr>
            <p:ph idx="4294967295" type="body"/>
          </p:nvPr>
        </p:nvSpPr>
        <p:spPr>
          <a:xfrm>
            <a:off x="198500" y="1246825"/>
            <a:ext cx="62445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@198.41.0.4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26114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qr; QUERY: 1, ANSWER: 0, AUTHORITY: 13, ADDITIONAL: 27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;eecs.berkeley.edu.          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AUTHORITY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a.edu-servers.net.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b.edu-servers.net.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edu.            	172800   IN   NS   c.edu-servers.net.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ADDITIONAL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a.edu-servers.net.  172800   IN   A	</a:t>
            </a:r>
            <a:r>
              <a:rPr b="1" lang="en" sz="120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192.5.6.30</a:t>
            </a:r>
            <a:endParaRPr b="1" sz="1200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b.edu-servers.net.  172800   IN   A	192.33.14.30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c.edu-servers.net.  172800   IN   A	192.26.92.30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1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868" name="Google Shape;868;p77"/>
          <p:cNvGrpSpPr/>
          <p:nvPr/>
        </p:nvGrpSpPr>
        <p:grpSpPr>
          <a:xfrm>
            <a:off x="198500" y="3586975"/>
            <a:ext cx="8256000" cy="1046700"/>
            <a:chOff x="198500" y="3586975"/>
            <a:chExt cx="8256000" cy="1046700"/>
          </a:xfrm>
        </p:grpSpPr>
        <p:sp>
          <p:nvSpPr>
            <p:cNvPr id="869" name="Google Shape;869;p77"/>
            <p:cNvSpPr/>
            <p:nvPr/>
          </p:nvSpPr>
          <p:spPr>
            <a:xfrm>
              <a:off x="198500" y="4029025"/>
              <a:ext cx="4851600" cy="162600"/>
            </a:xfrm>
            <a:prstGeom prst="roundRect">
              <a:avLst>
                <a:gd fmla="val 7638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870" name="Google Shape;870;p77"/>
            <p:cNvCxnSpPr>
              <a:endCxn id="869" idx="3"/>
            </p:cNvCxnSpPr>
            <p:nvPr/>
          </p:nvCxnSpPr>
          <p:spPr>
            <a:xfrm rot="10800000">
              <a:off x="5050100" y="4110325"/>
              <a:ext cx="10662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871" name="Google Shape;871;p77"/>
            <p:cNvSpPr txBox="1"/>
            <p:nvPr/>
          </p:nvSpPr>
          <p:spPr>
            <a:xfrm>
              <a:off x="6116300" y="3586975"/>
              <a:ext cx="23382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This A record helpfully tells us the IP address of the next name server we mean to contact.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5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7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877" name="Google Shape;877;p78"/>
          <p:cNvSpPr txBox="1"/>
          <p:nvPr>
            <p:ph idx="4294967295" type="body"/>
          </p:nvPr>
        </p:nvSpPr>
        <p:spPr>
          <a:xfrm>
            <a:off x="198500" y="1246825"/>
            <a:ext cx="62445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</a:t>
            </a:r>
            <a:r>
              <a:rPr b="1" lang="en" sz="120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192.5.6.30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878" name="Google Shape;878;p78"/>
          <p:cNvGrpSpPr/>
          <p:nvPr/>
        </p:nvGrpSpPr>
        <p:grpSpPr>
          <a:xfrm>
            <a:off x="3439375" y="1223275"/>
            <a:ext cx="5306925" cy="1262100"/>
            <a:chOff x="3439375" y="1223275"/>
            <a:chExt cx="5306925" cy="1262100"/>
          </a:xfrm>
        </p:grpSpPr>
        <p:sp>
          <p:nvSpPr>
            <p:cNvPr id="879" name="Google Shape;879;p78"/>
            <p:cNvSpPr/>
            <p:nvPr/>
          </p:nvSpPr>
          <p:spPr>
            <a:xfrm>
              <a:off x="3439375" y="1299475"/>
              <a:ext cx="1132500" cy="264600"/>
            </a:xfrm>
            <a:prstGeom prst="roundRect">
              <a:avLst>
                <a:gd fmla="val 16667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880" name="Google Shape;880;p78"/>
            <p:cNvCxnSpPr>
              <a:endCxn id="879" idx="3"/>
            </p:cNvCxnSpPr>
            <p:nvPr/>
          </p:nvCxnSpPr>
          <p:spPr>
            <a:xfrm rot="10800000">
              <a:off x="4571875" y="1431775"/>
              <a:ext cx="14673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881" name="Google Shape;881;p78"/>
            <p:cNvSpPr txBox="1"/>
            <p:nvPr/>
          </p:nvSpPr>
          <p:spPr>
            <a:xfrm>
              <a:off x="5995600" y="1223275"/>
              <a:ext cx="2750700" cy="126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Next, we query the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.edu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name server. We know the IP address of the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.edu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name server because the root name server gave the information to us.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7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887" name="Google Shape;887;p79"/>
          <p:cNvSpPr txBox="1"/>
          <p:nvPr>
            <p:ph idx="4294967295" type="body"/>
          </p:nvPr>
        </p:nvSpPr>
        <p:spPr>
          <a:xfrm>
            <a:off x="198500" y="1246825"/>
            <a:ext cx="62445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@192.5.6.30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36257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qr; QUERY: 1, ANSWER: 0, AUTHORITY: 3, ADDITIONAL: 5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;eecs.berkeley.edu.       	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AUTHORITY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berkeley.edu.    	 172800   IN   NS   adns1.berkeley.edu.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berkeley.edu.    	 172800   IN   NS   adns2.berkeley.edu.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berkeley.edu.    	 172800   IN   NS   adns3.berkeley.edu.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ADDITIONAL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adns1.berkeley.edu.  172800   IN   A	</a:t>
            </a:r>
            <a:r>
              <a:rPr b="1" lang="en" sz="120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128.32.136.3</a:t>
            </a:r>
            <a:endParaRPr b="1" sz="1200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adns2.berkeley.edu.  172800   IN   A	128.32.136.14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adns3.berkeley.edu.  172800   IN   A	192.107.102.142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888" name="Google Shape;888;p79"/>
          <p:cNvSpPr txBox="1"/>
          <p:nvPr/>
        </p:nvSpPr>
        <p:spPr>
          <a:xfrm>
            <a:off x="5972250" y="2466700"/>
            <a:ext cx="27507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answer section is blank again. The authority and additional section tell us to query a </a:t>
            </a: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berkeley.edu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name server, and provide us with the IP address of the next name server.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2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p8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894" name="Google Shape;894;p80"/>
          <p:cNvSpPr txBox="1"/>
          <p:nvPr>
            <p:ph idx="4294967295" type="body"/>
          </p:nvPr>
        </p:nvSpPr>
        <p:spPr>
          <a:xfrm>
            <a:off x="198500" y="1246825"/>
            <a:ext cx="62445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</a:t>
            </a:r>
            <a:r>
              <a:rPr b="1" lang="en" sz="120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128.32.136.3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895" name="Google Shape;895;p80"/>
          <p:cNvGrpSpPr/>
          <p:nvPr/>
        </p:nvGrpSpPr>
        <p:grpSpPr>
          <a:xfrm>
            <a:off x="3439375" y="1223275"/>
            <a:ext cx="5033025" cy="2124000"/>
            <a:chOff x="3439375" y="1223275"/>
            <a:chExt cx="5033025" cy="2124000"/>
          </a:xfrm>
        </p:grpSpPr>
        <p:sp>
          <p:nvSpPr>
            <p:cNvPr id="896" name="Google Shape;896;p80"/>
            <p:cNvSpPr/>
            <p:nvPr/>
          </p:nvSpPr>
          <p:spPr>
            <a:xfrm>
              <a:off x="3439375" y="1299475"/>
              <a:ext cx="1353900" cy="264600"/>
            </a:xfrm>
            <a:prstGeom prst="roundRect">
              <a:avLst>
                <a:gd fmla="val 16667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897" name="Google Shape;897;p80"/>
            <p:cNvCxnSpPr>
              <a:endCxn id="896" idx="3"/>
            </p:cNvCxnSpPr>
            <p:nvPr/>
          </p:nvCxnSpPr>
          <p:spPr>
            <a:xfrm rot="10800000">
              <a:off x="4793275" y="1431775"/>
              <a:ext cx="11643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898" name="Google Shape;898;p80"/>
            <p:cNvSpPr txBox="1"/>
            <p:nvPr/>
          </p:nvSpPr>
          <p:spPr>
            <a:xfrm>
              <a:off x="5995600" y="1223275"/>
              <a:ext cx="2476800" cy="21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Next, we query the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berkeley.edu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name server for the IP address of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eecs.berkeley.edu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. We know the IP address of the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berkeley.edu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name server because the root name server gave the information to us.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2" name="Shape 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Google Shape;903;p8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904" name="Google Shape;904;p81"/>
          <p:cNvSpPr txBox="1"/>
          <p:nvPr>
            <p:ph idx="4294967295" type="body"/>
          </p:nvPr>
        </p:nvSpPr>
        <p:spPr>
          <a:xfrm>
            <a:off x="198500" y="1246825"/>
            <a:ext cx="62445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@128.32.136.3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52788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 aa; QUERY: 1, ANSWER: 1, AUTHORITY: 0, ADDITIONAL: 1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;eecs.berkeley.edu.     	   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ANSWER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eecs.berkeley.edu.  86400   IN   A   23.185.0.1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905" name="Google Shape;905;p81"/>
          <p:cNvGrpSpPr/>
          <p:nvPr/>
        </p:nvGrpSpPr>
        <p:grpSpPr>
          <a:xfrm>
            <a:off x="198500" y="2925775"/>
            <a:ext cx="4509300" cy="2034900"/>
            <a:chOff x="198500" y="2925775"/>
            <a:chExt cx="4509300" cy="2034900"/>
          </a:xfrm>
        </p:grpSpPr>
        <p:sp>
          <p:nvSpPr>
            <p:cNvPr id="906" name="Google Shape;906;p81"/>
            <p:cNvSpPr/>
            <p:nvPr/>
          </p:nvSpPr>
          <p:spPr>
            <a:xfrm>
              <a:off x="198500" y="2925775"/>
              <a:ext cx="4509300" cy="482400"/>
            </a:xfrm>
            <a:prstGeom prst="roundRect">
              <a:avLst>
                <a:gd fmla="val 16667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907" name="Google Shape;907;p81"/>
            <p:cNvCxnSpPr/>
            <p:nvPr/>
          </p:nvCxnSpPr>
          <p:spPr>
            <a:xfrm rot="10800000">
              <a:off x="1046875" y="3408200"/>
              <a:ext cx="0" cy="5049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908" name="Google Shape;908;p81"/>
            <p:cNvSpPr txBox="1"/>
            <p:nvPr/>
          </p:nvSpPr>
          <p:spPr>
            <a:xfrm>
              <a:off x="727600" y="3913975"/>
              <a:ext cx="2945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The answer section has one A type record. It tells us that the IP address of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eecs.berkeley.edu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is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23.185.0.1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8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914" name="Google Shape;914;p82"/>
          <p:cNvSpPr txBox="1"/>
          <p:nvPr>
            <p:ph idx="4294967295" type="body"/>
          </p:nvPr>
        </p:nvSpPr>
        <p:spPr>
          <a:xfrm>
            <a:off x="198500" y="1246825"/>
            <a:ext cx="62445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eecs.berkeley.edu @128.32.136.3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52788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 aa; QUERY: 1, ANSWER: 1, AUTHORITY: 0, ADDITIONAL: 1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;eecs.berkeley.edu.     	   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ANSWER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eecs.berkeley.edu.  86400   IN   A   23.185.0.1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915" name="Google Shape;915;p82"/>
          <p:cNvGrpSpPr/>
          <p:nvPr/>
        </p:nvGrpSpPr>
        <p:grpSpPr>
          <a:xfrm>
            <a:off x="881325" y="3143575"/>
            <a:ext cx="3538500" cy="1593900"/>
            <a:chOff x="881325" y="3143575"/>
            <a:chExt cx="3538500" cy="1593900"/>
          </a:xfrm>
        </p:grpSpPr>
        <p:cxnSp>
          <p:nvCxnSpPr>
            <p:cNvPr id="916" name="Google Shape;916;p82"/>
            <p:cNvCxnSpPr/>
            <p:nvPr/>
          </p:nvCxnSpPr>
          <p:spPr>
            <a:xfrm rot="10800000">
              <a:off x="2353875" y="3408075"/>
              <a:ext cx="0" cy="5307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917" name="Google Shape;917;p82"/>
            <p:cNvSpPr txBox="1"/>
            <p:nvPr/>
          </p:nvSpPr>
          <p:spPr>
            <a:xfrm>
              <a:off x="881325" y="3906175"/>
              <a:ext cx="3538500" cy="831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Here's the time-to-live (TTL) field in the record. It tells us that we can cache this answer for 86,400 seconds (24 hours).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8" name="Google Shape;918;p82"/>
            <p:cNvSpPr/>
            <p:nvPr/>
          </p:nvSpPr>
          <p:spPr>
            <a:xfrm>
              <a:off x="2046525" y="3143575"/>
              <a:ext cx="614700" cy="221700"/>
            </a:xfrm>
            <a:prstGeom prst="roundRect">
              <a:avLst>
                <a:gd fmla="val 16667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19" name="Google Shape;919;p82"/>
          <p:cNvSpPr txBox="1"/>
          <p:nvPr/>
        </p:nvSpPr>
        <p:spPr>
          <a:xfrm>
            <a:off x="4691325" y="3906175"/>
            <a:ext cx="2637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 finished our original query!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Let's try a few other queries.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3" name="Shape 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Google Shape;924;p8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925" name="Google Shape;925;p83"/>
          <p:cNvSpPr txBox="1"/>
          <p:nvPr>
            <p:ph idx="4294967295" type="body"/>
          </p:nvPr>
        </p:nvSpPr>
        <p:spPr>
          <a:xfrm>
            <a:off x="198500" y="1246825"/>
            <a:ext cx="6658800" cy="247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repo.eecs.berkeley.edu @128.32.136.3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25192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 aa; QUERY: 1, ANSWER: 1, AUTHORITY: 0, ADDITIONAL: 1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;repo.eecs.berkeley.edu.	 	  IN   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ANSWER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repo.eecs.berkeley.edu.  21600  IN   CNAME   repo-2.eecs.berkeley.edu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repo-2.eecs.berkeley.edu	21600  IN   A		128.32.138.46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926" name="Google Shape;926;p83"/>
          <p:cNvCxnSpPr>
            <a:endCxn id="927" idx="2"/>
          </p:cNvCxnSpPr>
          <p:nvPr/>
        </p:nvCxnSpPr>
        <p:spPr>
          <a:xfrm rot="10800000">
            <a:off x="2985125" y="3709100"/>
            <a:ext cx="0" cy="4686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28" name="Google Shape;928;p83"/>
          <p:cNvSpPr txBox="1"/>
          <p:nvPr/>
        </p:nvSpPr>
        <p:spPr>
          <a:xfrm>
            <a:off x="6522200" y="1246825"/>
            <a:ext cx="22488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record type: CNAME tells us that repo.eecs.berkeley.edu is actually an alias (alternate name) for repo-2.eecs.berkeley.edu.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9" name="Google Shape;929;p83"/>
          <p:cNvSpPr/>
          <p:nvPr/>
        </p:nvSpPr>
        <p:spPr>
          <a:xfrm>
            <a:off x="3613025" y="3127825"/>
            <a:ext cx="614700" cy="2097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30" name="Google Shape;930;p83"/>
          <p:cNvCxnSpPr>
            <a:stCxn id="931" idx="2"/>
            <a:endCxn id="932" idx="0"/>
          </p:cNvCxnSpPr>
          <p:nvPr/>
        </p:nvCxnSpPr>
        <p:spPr>
          <a:xfrm>
            <a:off x="2843675" y="892800"/>
            <a:ext cx="0" cy="4353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31" name="Google Shape;931;p83"/>
          <p:cNvSpPr txBox="1"/>
          <p:nvPr/>
        </p:nvSpPr>
        <p:spPr>
          <a:xfrm>
            <a:off x="1242575" y="492600"/>
            <a:ext cx="3202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Let's try asking for a different domain.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83"/>
          <p:cNvSpPr/>
          <p:nvPr/>
        </p:nvSpPr>
        <p:spPr>
          <a:xfrm>
            <a:off x="1805675" y="1328000"/>
            <a:ext cx="2076000" cy="2217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3" name="Google Shape;933;p83"/>
          <p:cNvSpPr/>
          <p:nvPr/>
        </p:nvSpPr>
        <p:spPr>
          <a:xfrm rot="10800000">
            <a:off x="3920363" y="2510588"/>
            <a:ext cx="2611487" cy="587812"/>
          </a:xfrm>
          <a:custGeom>
            <a:rect b="b" l="l" r="r" t="t"/>
            <a:pathLst>
              <a:path extrusionOk="0" h="35172" w="75635">
                <a:moveTo>
                  <a:pt x="75635" y="0"/>
                </a:moveTo>
                <a:lnTo>
                  <a:pt x="75635" y="35172"/>
                </a:lnTo>
                <a:lnTo>
                  <a:pt x="0" y="35172"/>
                </a:ln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sp>
      <p:sp>
        <p:nvSpPr>
          <p:cNvPr id="927" name="Google Shape;927;p83"/>
          <p:cNvSpPr/>
          <p:nvPr/>
        </p:nvSpPr>
        <p:spPr>
          <a:xfrm>
            <a:off x="268175" y="3499400"/>
            <a:ext cx="5433900" cy="2097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4" name="Google Shape;934;p83"/>
          <p:cNvSpPr txBox="1"/>
          <p:nvPr/>
        </p:nvSpPr>
        <p:spPr>
          <a:xfrm>
            <a:off x="2611375" y="4093000"/>
            <a:ext cx="2794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Then, the A record tells us the IP address for the true name, repo-2.eecs.berkeley.edu.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8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DNS Lookup Walkthrough</a:t>
            </a:r>
            <a:endParaRPr/>
          </a:p>
        </p:txBody>
      </p:sp>
      <p:sp>
        <p:nvSpPr>
          <p:cNvPr id="940" name="Google Shape;940;p84"/>
          <p:cNvSpPr txBox="1"/>
          <p:nvPr>
            <p:ph idx="4294967295" type="body"/>
          </p:nvPr>
        </p:nvSpPr>
        <p:spPr>
          <a:xfrm>
            <a:off x="198500" y="1246825"/>
            <a:ext cx="6658800" cy="37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$ dig +norecurse repo.eecs.berkeley.edu AAAA @128.32.136.3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Got answer: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-&gt;&gt;HEADER&lt;&lt;- opcode: QUERY, status: NOERROR, id: 25192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flags: qr aa; QUERY: 1, ANSWER: 0, AUTHORITY: 1, ADDITIONAL: 1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QUESTION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;repo.eecs.berkeley.edu.	 	  IN   AAAA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;; AUTHORITY SECTION: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Courier New"/>
                <a:ea typeface="Courier New"/>
                <a:cs typeface="Courier New"/>
                <a:sym typeface="Courier New"/>
              </a:rPr>
              <a:t>eecs.berkeley.edu. 1971		  IN   SOA   ns.eecs.berkeley.edu, dns.eecs.berkeley.edu, 100012225 10887 3600 604800 86400</a:t>
            </a:r>
            <a:endParaRPr b="1"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941" name="Google Shape;941;p84"/>
          <p:cNvCxnSpPr>
            <a:stCxn id="942" idx="2"/>
            <a:endCxn id="943" idx="0"/>
          </p:cNvCxnSpPr>
          <p:nvPr/>
        </p:nvCxnSpPr>
        <p:spPr>
          <a:xfrm>
            <a:off x="4125825" y="892800"/>
            <a:ext cx="0" cy="4353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42" name="Google Shape;942;p84"/>
          <p:cNvSpPr txBox="1"/>
          <p:nvPr/>
        </p:nvSpPr>
        <p:spPr>
          <a:xfrm>
            <a:off x="2082075" y="492600"/>
            <a:ext cx="4087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Let's try specifically requesting the IPv6 address.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3" name="Google Shape;943;p84"/>
          <p:cNvSpPr/>
          <p:nvPr/>
        </p:nvSpPr>
        <p:spPr>
          <a:xfrm>
            <a:off x="3866025" y="1328000"/>
            <a:ext cx="519600" cy="2217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44" name="Google Shape;944;p84"/>
          <p:cNvGrpSpPr/>
          <p:nvPr/>
        </p:nvGrpSpPr>
        <p:grpSpPr>
          <a:xfrm>
            <a:off x="2677683" y="2050737"/>
            <a:ext cx="6335150" cy="1173250"/>
            <a:chOff x="2406600" y="1999825"/>
            <a:chExt cx="6335150" cy="1173250"/>
          </a:xfrm>
        </p:grpSpPr>
        <p:sp>
          <p:nvSpPr>
            <p:cNvPr id="945" name="Google Shape;945;p84"/>
            <p:cNvSpPr/>
            <p:nvPr/>
          </p:nvSpPr>
          <p:spPr>
            <a:xfrm>
              <a:off x="2406600" y="1999825"/>
              <a:ext cx="1028700" cy="210000"/>
            </a:xfrm>
            <a:prstGeom prst="roundRect">
              <a:avLst>
                <a:gd fmla="val 16667" name="adj"/>
              </a:avLst>
            </a:prstGeom>
            <a:noFill/>
            <a:ln cap="flat" cmpd="sng" w="2857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" name="Google Shape;946;p84"/>
            <p:cNvSpPr/>
            <p:nvPr/>
          </p:nvSpPr>
          <p:spPr>
            <a:xfrm flipH="1">
              <a:off x="2898904" y="2209863"/>
              <a:ext cx="3373888" cy="723752"/>
            </a:xfrm>
            <a:custGeom>
              <a:rect b="b" l="l" r="r" t="t"/>
              <a:pathLst>
                <a:path extrusionOk="0" h="35172" w="75635">
                  <a:moveTo>
                    <a:pt x="75635" y="0"/>
                  </a:moveTo>
                  <a:lnTo>
                    <a:pt x="75635" y="35172"/>
                  </a:lnTo>
                  <a:lnTo>
                    <a:pt x="0" y="35172"/>
                  </a:lnTo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triangle"/>
              <a:tailEnd len="med" w="med" type="none"/>
            </a:ln>
          </p:spPr>
        </p:sp>
        <p:sp>
          <p:nvSpPr>
            <p:cNvPr id="947" name="Google Shape;947;p84"/>
            <p:cNvSpPr txBox="1"/>
            <p:nvPr/>
          </p:nvSpPr>
          <p:spPr>
            <a:xfrm>
              <a:off x="6232250" y="2341775"/>
              <a:ext cx="2509500" cy="831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The answer section is blank, because this domain does not have an IPv6 address.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948" name="Google Shape;948;p84"/>
          <p:cNvCxnSpPr>
            <a:endCxn id="949" idx="2"/>
          </p:cNvCxnSpPr>
          <p:nvPr/>
        </p:nvCxnSpPr>
        <p:spPr>
          <a:xfrm rot="10800000">
            <a:off x="3218825" y="3546900"/>
            <a:ext cx="0" cy="5460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49" name="Google Shape;949;p84"/>
          <p:cNvSpPr/>
          <p:nvPr/>
        </p:nvSpPr>
        <p:spPr>
          <a:xfrm>
            <a:off x="268175" y="3153300"/>
            <a:ext cx="5901300" cy="3936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0" name="Google Shape;950;p84"/>
          <p:cNvSpPr txBox="1"/>
          <p:nvPr/>
        </p:nvSpPr>
        <p:spPr>
          <a:xfrm>
            <a:off x="2687575" y="4093000"/>
            <a:ext cx="2794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 got some information about who's operating the zone.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85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is DNS For?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Implementation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Scaling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Other Uses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956" name="Google Shape;956;p8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Scaling DNS</a:t>
            </a:r>
            <a:endParaRPr/>
          </a:p>
        </p:txBody>
      </p:sp>
      <p:sp>
        <p:nvSpPr>
          <p:cNvPr id="957" name="Google Shape;957;p8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14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8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Hierarchy</a:t>
            </a:r>
            <a:endParaRPr/>
          </a:p>
        </p:txBody>
      </p:sp>
      <p:sp>
        <p:nvSpPr>
          <p:cNvPr id="963" name="Google Shape;963;p86"/>
          <p:cNvSpPr txBox="1"/>
          <p:nvPr>
            <p:ph idx="1" type="body"/>
          </p:nvPr>
        </p:nvSpPr>
        <p:spPr>
          <a:xfrm>
            <a:off x="107050" y="402200"/>
            <a:ext cx="8909700" cy="116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DNS tree represents 3 forms of hierarchy.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Names</a:t>
            </a:r>
            <a:r>
              <a:rPr lang="en"/>
              <a:t> are hierarchical. This is why our domain names are words separated by dots.</a:t>
            </a:r>
            <a:endParaRPr/>
          </a:p>
        </p:txBody>
      </p:sp>
      <p:sp>
        <p:nvSpPr>
          <p:cNvPr id="964" name="Google Shape;964;p86"/>
          <p:cNvSpPr txBox="1"/>
          <p:nvPr/>
        </p:nvSpPr>
        <p:spPr>
          <a:xfrm>
            <a:off x="2926275" y="37649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ischool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5" name="Google Shape;965;p86"/>
          <p:cNvCxnSpPr>
            <a:stCxn id="966" idx="2"/>
            <a:endCxn id="964" idx="0"/>
          </p:cNvCxnSpPr>
          <p:nvPr/>
        </p:nvCxnSpPr>
        <p:spPr>
          <a:xfrm flipH="1">
            <a:off x="3352425" y="3396550"/>
            <a:ext cx="9912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66" name="Google Shape;966;p86"/>
          <p:cNvSpPr txBox="1"/>
          <p:nvPr/>
        </p:nvSpPr>
        <p:spPr>
          <a:xfrm>
            <a:off x="3917325" y="30029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berkeley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86"/>
          <p:cNvSpPr txBox="1"/>
          <p:nvPr/>
        </p:nvSpPr>
        <p:spPr>
          <a:xfrm>
            <a:off x="3917175" y="37649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math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86"/>
          <p:cNvSpPr txBox="1"/>
          <p:nvPr/>
        </p:nvSpPr>
        <p:spPr>
          <a:xfrm>
            <a:off x="4908075" y="37649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eecs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9" name="Google Shape;969;p86"/>
          <p:cNvCxnSpPr>
            <a:stCxn id="966" idx="2"/>
            <a:endCxn id="967" idx="0"/>
          </p:cNvCxnSpPr>
          <p:nvPr/>
        </p:nvCxnSpPr>
        <p:spPr>
          <a:xfrm>
            <a:off x="4343625" y="3396550"/>
            <a:ext cx="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70" name="Google Shape;970;p86"/>
          <p:cNvCxnSpPr>
            <a:stCxn id="966" idx="2"/>
            <a:endCxn id="968" idx="0"/>
          </p:cNvCxnSpPr>
          <p:nvPr/>
        </p:nvCxnSpPr>
        <p:spPr>
          <a:xfrm>
            <a:off x="4343625" y="3396550"/>
            <a:ext cx="9909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1" name="Google Shape;971;p86"/>
          <p:cNvSpPr txBox="1"/>
          <p:nvPr/>
        </p:nvSpPr>
        <p:spPr>
          <a:xfrm>
            <a:off x="5365125" y="4450750"/>
            <a:ext cx="8526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rise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86"/>
          <p:cNvSpPr txBox="1"/>
          <p:nvPr/>
        </p:nvSpPr>
        <p:spPr>
          <a:xfrm>
            <a:off x="4450875" y="44507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repo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3" name="Google Shape;973;p86"/>
          <p:cNvCxnSpPr>
            <a:stCxn id="968" idx="2"/>
            <a:endCxn id="971" idx="0"/>
          </p:cNvCxnSpPr>
          <p:nvPr/>
        </p:nvCxnSpPr>
        <p:spPr>
          <a:xfrm>
            <a:off x="5334375" y="4158550"/>
            <a:ext cx="4572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74" name="Google Shape;974;p86"/>
          <p:cNvCxnSpPr>
            <a:stCxn id="968" idx="2"/>
            <a:endCxn id="972" idx="0"/>
          </p:cNvCxnSpPr>
          <p:nvPr/>
        </p:nvCxnSpPr>
        <p:spPr>
          <a:xfrm flipH="1">
            <a:off x="4877175" y="4158550"/>
            <a:ext cx="4572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5" name="Google Shape;975;p86"/>
          <p:cNvSpPr txBox="1"/>
          <p:nvPr/>
        </p:nvSpPr>
        <p:spPr>
          <a:xfrm>
            <a:off x="2926275" y="4450750"/>
            <a:ext cx="852600" cy="3936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pink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6" name="Google Shape;976;p86"/>
          <p:cNvCxnSpPr>
            <a:stCxn id="964" idx="2"/>
            <a:endCxn id="975" idx="0"/>
          </p:cNvCxnSpPr>
          <p:nvPr/>
        </p:nvCxnSpPr>
        <p:spPr>
          <a:xfrm>
            <a:off x="3352575" y="4158550"/>
            <a:ext cx="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7" name="Google Shape;977;p86"/>
          <p:cNvSpPr txBox="1"/>
          <p:nvPr/>
        </p:nvSpPr>
        <p:spPr>
          <a:xfrm>
            <a:off x="3917325" y="23933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8" name="Google Shape;978;p86"/>
          <p:cNvCxnSpPr>
            <a:stCxn id="977" idx="2"/>
            <a:endCxn id="966" idx="0"/>
          </p:cNvCxnSpPr>
          <p:nvPr/>
        </p:nvCxnSpPr>
        <p:spPr>
          <a:xfrm>
            <a:off x="4343625" y="2786950"/>
            <a:ext cx="0" cy="2160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9" name="Google Shape;979;p86"/>
          <p:cNvSpPr txBox="1"/>
          <p:nvPr/>
        </p:nvSpPr>
        <p:spPr>
          <a:xfrm>
            <a:off x="3917325" y="17837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0" name="Google Shape;980;p86"/>
          <p:cNvCxnSpPr>
            <a:stCxn id="979" idx="2"/>
            <a:endCxn id="977" idx="0"/>
          </p:cNvCxnSpPr>
          <p:nvPr/>
        </p:nvCxnSpPr>
        <p:spPr>
          <a:xfrm>
            <a:off x="4343625" y="2177350"/>
            <a:ext cx="0" cy="2160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81" name="Google Shape;981;p86"/>
          <p:cNvSpPr txBox="1"/>
          <p:nvPr/>
        </p:nvSpPr>
        <p:spPr>
          <a:xfrm>
            <a:off x="422325" y="4539850"/>
            <a:ext cx="2148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pink.ischool.berkeley.edu.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2" name="Google Shape;982;p86"/>
          <p:cNvCxnSpPr>
            <a:stCxn id="981" idx="3"/>
            <a:endCxn id="975" idx="1"/>
          </p:cNvCxnSpPr>
          <p:nvPr/>
        </p:nvCxnSpPr>
        <p:spPr>
          <a:xfrm>
            <a:off x="2571225" y="4647550"/>
            <a:ext cx="3552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83" name="Google Shape;983;p86"/>
          <p:cNvSpPr txBox="1"/>
          <p:nvPr/>
        </p:nvSpPr>
        <p:spPr>
          <a:xfrm>
            <a:off x="6572925" y="4539850"/>
            <a:ext cx="1953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rise.eecs.berkeley.edu.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4" name="Google Shape;984;p86"/>
          <p:cNvCxnSpPr>
            <a:stCxn id="983" idx="1"/>
            <a:endCxn id="971" idx="3"/>
          </p:cNvCxnSpPr>
          <p:nvPr/>
        </p:nvCxnSpPr>
        <p:spPr>
          <a:xfrm rot="10800000">
            <a:off x="6217725" y="4647550"/>
            <a:ext cx="3552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8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p8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Hierarchy</a:t>
            </a:r>
            <a:endParaRPr/>
          </a:p>
        </p:txBody>
      </p:sp>
      <p:sp>
        <p:nvSpPr>
          <p:cNvPr id="990" name="Google Shape;990;p87"/>
          <p:cNvSpPr txBox="1"/>
          <p:nvPr>
            <p:ph idx="1" type="body"/>
          </p:nvPr>
        </p:nvSpPr>
        <p:spPr>
          <a:xfrm>
            <a:off x="107050" y="402200"/>
            <a:ext cx="8909700" cy="116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Authority</a:t>
            </a:r>
            <a:r>
              <a:rPr lang="en"/>
              <a:t> is hierarchical. Each organization manages a zone, and can delegate parts of the zone to other organizations.</a:t>
            </a:r>
            <a:endParaRPr/>
          </a:p>
        </p:txBody>
      </p:sp>
      <p:sp>
        <p:nvSpPr>
          <p:cNvPr id="991" name="Google Shape;991;p87"/>
          <p:cNvSpPr txBox="1"/>
          <p:nvPr/>
        </p:nvSpPr>
        <p:spPr>
          <a:xfrm>
            <a:off x="2926275" y="37649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ischool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2" name="Google Shape;992;p87"/>
          <p:cNvCxnSpPr>
            <a:stCxn id="993" idx="2"/>
            <a:endCxn id="991" idx="0"/>
          </p:cNvCxnSpPr>
          <p:nvPr/>
        </p:nvCxnSpPr>
        <p:spPr>
          <a:xfrm flipH="1">
            <a:off x="3352425" y="3396550"/>
            <a:ext cx="9912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93" name="Google Shape;993;p87"/>
          <p:cNvSpPr txBox="1"/>
          <p:nvPr/>
        </p:nvSpPr>
        <p:spPr>
          <a:xfrm>
            <a:off x="3917325" y="30029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berkeley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87"/>
          <p:cNvSpPr txBox="1"/>
          <p:nvPr/>
        </p:nvSpPr>
        <p:spPr>
          <a:xfrm>
            <a:off x="3917175" y="37649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math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5" name="Google Shape;995;p87"/>
          <p:cNvSpPr txBox="1"/>
          <p:nvPr/>
        </p:nvSpPr>
        <p:spPr>
          <a:xfrm>
            <a:off x="4908075" y="37649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eecs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6" name="Google Shape;996;p87"/>
          <p:cNvCxnSpPr>
            <a:stCxn id="993" idx="2"/>
            <a:endCxn id="994" idx="0"/>
          </p:cNvCxnSpPr>
          <p:nvPr/>
        </p:nvCxnSpPr>
        <p:spPr>
          <a:xfrm>
            <a:off x="4343625" y="3396550"/>
            <a:ext cx="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97" name="Google Shape;997;p87"/>
          <p:cNvCxnSpPr>
            <a:stCxn id="993" idx="2"/>
            <a:endCxn id="995" idx="0"/>
          </p:cNvCxnSpPr>
          <p:nvPr/>
        </p:nvCxnSpPr>
        <p:spPr>
          <a:xfrm>
            <a:off x="4343625" y="3396550"/>
            <a:ext cx="9909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98" name="Google Shape;998;p87"/>
          <p:cNvSpPr txBox="1"/>
          <p:nvPr/>
        </p:nvSpPr>
        <p:spPr>
          <a:xfrm>
            <a:off x="5365125" y="44507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rise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9" name="Google Shape;999;p87"/>
          <p:cNvSpPr txBox="1"/>
          <p:nvPr/>
        </p:nvSpPr>
        <p:spPr>
          <a:xfrm>
            <a:off x="4450875" y="44507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repo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0" name="Google Shape;1000;p87"/>
          <p:cNvCxnSpPr>
            <a:stCxn id="995" idx="2"/>
            <a:endCxn id="998" idx="0"/>
          </p:cNvCxnSpPr>
          <p:nvPr/>
        </p:nvCxnSpPr>
        <p:spPr>
          <a:xfrm>
            <a:off x="5334375" y="4158550"/>
            <a:ext cx="4572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01" name="Google Shape;1001;p87"/>
          <p:cNvCxnSpPr>
            <a:stCxn id="995" idx="2"/>
            <a:endCxn id="999" idx="0"/>
          </p:cNvCxnSpPr>
          <p:nvPr/>
        </p:nvCxnSpPr>
        <p:spPr>
          <a:xfrm flipH="1">
            <a:off x="4877175" y="4158550"/>
            <a:ext cx="4572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02" name="Google Shape;1002;p87"/>
          <p:cNvSpPr txBox="1"/>
          <p:nvPr/>
        </p:nvSpPr>
        <p:spPr>
          <a:xfrm>
            <a:off x="2926275" y="44507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pink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3" name="Google Shape;1003;p87"/>
          <p:cNvCxnSpPr>
            <a:stCxn id="991" idx="2"/>
            <a:endCxn id="1002" idx="0"/>
          </p:cNvCxnSpPr>
          <p:nvPr/>
        </p:nvCxnSpPr>
        <p:spPr>
          <a:xfrm>
            <a:off x="3352575" y="4158550"/>
            <a:ext cx="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04" name="Google Shape;1004;p87"/>
          <p:cNvSpPr txBox="1"/>
          <p:nvPr/>
        </p:nvSpPr>
        <p:spPr>
          <a:xfrm>
            <a:off x="3917325" y="23933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5" name="Google Shape;1005;p87"/>
          <p:cNvCxnSpPr>
            <a:stCxn id="1004" idx="2"/>
            <a:endCxn id="993" idx="0"/>
          </p:cNvCxnSpPr>
          <p:nvPr/>
        </p:nvCxnSpPr>
        <p:spPr>
          <a:xfrm>
            <a:off x="4343625" y="2786950"/>
            <a:ext cx="0" cy="2160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06" name="Google Shape;1006;p87"/>
          <p:cNvSpPr txBox="1"/>
          <p:nvPr/>
        </p:nvSpPr>
        <p:spPr>
          <a:xfrm>
            <a:off x="3917325" y="17837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7" name="Google Shape;1007;p87"/>
          <p:cNvCxnSpPr>
            <a:stCxn id="1006" idx="2"/>
            <a:endCxn id="1004" idx="0"/>
          </p:cNvCxnSpPr>
          <p:nvPr/>
        </p:nvCxnSpPr>
        <p:spPr>
          <a:xfrm>
            <a:off x="4343625" y="2177350"/>
            <a:ext cx="0" cy="2160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08" name="Google Shape;1008;p87"/>
          <p:cNvSpPr/>
          <p:nvPr/>
        </p:nvSpPr>
        <p:spPr>
          <a:xfrm>
            <a:off x="5152475" y="2484450"/>
            <a:ext cx="2055300" cy="636300"/>
          </a:xfrm>
          <a:prstGeom prst="wedgeRoundRectCallout">
            <a:avLst>
              <a:gd fmla="val -62599" name="adj1"/>
              <a:gd fmla="val 51364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UC Berkeley owns the berkeley.edu zone.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9" name="Google Shape;1009;p87"/>
          <p:cNvSpPr/>
          <p:nvPr/>
        </p:nvSpPr>
        <p:spPr>
          <a:xfrm>
            <a:off x="6432675" y="3764950"/>
            <a:ext cx="2304000" cy="826200"/>
          </a:xfrm>
          <a:prstGeom prst="wedgeRoundRectCallout">
            <a:avLst>
              <a:gd fmla="val -72926" name="adj1"/>
              <a:gd fmla="val -30540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UC Berkeley gives the eecs.berkeley.edu zone to the EECS department.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3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p8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Hierarchy</a:t>
            </a:r>
            <a:endParaRPr/>
          </a:p>
        </p:txBody>
      </p:sp>
      <p:sp>
        <p:nvSpPr>
          <p:cNvPr id="1015" name="Google Shape;1015;p88"/>
          <p:cNvSpPr txBox="1"/>
          <p:nvPr>
            <p:ph idx="1" type="body"/>
          </p:nvPr>
        </p:nvSpPr>
        <p:spPr>
          <a:xfrm>
            <a:off x="107050" y="402200"/>
            <a:ext cx="8909700" cy="116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Infrastructure</a:t>
            </a:r>
            <a:r>
              <a:rPr lang="en"/>
              <a:t> is hierarchical. Each name server only needs to know about a subset of domains.</a:t>
            </a:r>
            <a:endParaRPr/>
          </a:p>
        </p:txBody>
      </p:sp>
      <p:sp>
        <p:nvSpPr>
          <p:cNvPr id="1016" name="Google Shape;1016;p88"/>
          <p:cNvSpPr txBox="1"/>
          <p:nvPr/>
        </p:nvSpPr>
        <p:spPr>
          <a:xfrm>
            <a:off x="2926275" y="37649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ischool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7" name="Google Shape;1017;p88"/>
          <p:cNvCxnSpPr>
            <a:stCxn id="1018" idx="2"/>
            <a:endCxn id="1016" idx="0"/>
          </p:cNvCxnSpPr>
          <p:nvPr/>
        </p:nvCxnSpPr>
        <p:spPr>
          <a:xfrm flipH="1">
            <a:off x="3352425" y="3396550"/>
            <a:ext cx="9912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18" name="Google Shape;1018;p88"/>
          <p:cNvSpPr txBox="1"/>
          <p:nvPr/>
        </p:nvSpPr>
        <p:spPr>
          <a:xfrm>
            <a:off x="3917325" y="30029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berkeley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9" name="Google Shape;1019;p88"/>
          <p:cNvSpPr txBox="1"/>
          <p:nvPr/>
        </p:nvSpPr>
        <p:spPr>
          <a:xfrm>
            <a:off x="3917175" y="37649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math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0" name="Google Shape;1020;p88"/>
          <p:cNvSpPr txBox="1"/>
          <p:nvPr/>
        </p:nvSpPr>
        <p:spPr>
          <a:xfrm>
            <a:off x="4908075" y="37649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eecs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1" name="Google Shape;1021;p88"/>
          <p:cNvCxnSpPr>
            <a:stCxn id="1018" idx="2"/>
            <a:endCxn id="1019" idx="0"/>
          </p:cNvCxnSpPr>
          <p:nvPr/>
        </p:nvCxnSpPr>
        <p:spPr>
          <a:xfrm>
            <a:off x="4343625" y="3396550"/>
            <a:ext cx="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22" name="Google Shape;1022;p88"/>
          <p:cNvCxnSpPr>
            <a:stCxn id="1018" idx="2"/>
            <a:endCxn id="1020" idx="0"/>
          </p:cNvCxnSpPr>
          <p:nvPr/>
        </p:nvCxnSpPr>
        <p:spPr>
          <a:xfrm>
            <a:off x="4343625" y="3396550"/>
            <a:ext cx="9909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23" name="Google Shape;1023;p88"/>
          <p:cNvSpPr txBox="1"/>
          <p:nvPr/>
        </p:nvSpPr>
        <p:spPr>
          <a:xfrm>
            <a:off x="5365125" y="44507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rise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4" name="Google Shape;1024;p88"/>
          <p:cNvSpPr txBox="1"/>
          <p:nvPr/>
        </p:nvSpPr>
        <p:spPr>
          <a:xfrm>
            <a:off x="4450875" y="44507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repo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5" name="Google Shape;1025;p88"/>
          <p:cNvCxnSpPr>
            <a:stCxn id="1020" idx="2"/>
            <a:endCxn id="1023" idx="0"/>
          </p:cNvCxnSpPr>
          <p:nvPr/>
        </p:nvCxnSpPr>
        <p:spPr>
          <a:xfrm>
            <a:off x="5334375" y="4158550"/>
            <a:ext cx="4572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26" name="Google Shape;1026;p88"/>
          <p:cNvCxnSpPr>
            <a:stCxn id="1020" idx="2"/>
            <a:endCxn id="1024" idx="0"/>
          </p:cNvCxnSpPr>
          <p:nvPr/>
        </p:nvCxnSpPr>
        <p:spPr>
          <a:xfrm flipH="1">
            <a:off x="4877175" y="4158550"/>
            <a:ext cx="4572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27" name="Google Shape;1027;p88"/>
          <p:cNvSpPr txBox="1"/>
          <p:nvPr/>
        </p:nvSpPr>
        <p:spPr>
          <a:xfrm>
            <a:off x="2926275" y="44507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pink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8" name="Google Shape;1028;p88"/>
          <p:cNvCxnSpPr>
            <a:stCxn id="1016" idx="2"/>
            <a:endCxn id="1027" idx="0"/>
          </p:cNvCxnSpPr>
          <p:nvPr/>
        </p:nvCxnSpPr>
        <p:spPr>
          <a:xfrm>
            <a:off x="3352575" y="4158550"/>
            <a:ext cx="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29" name="Google Shape;1029;p88"/>
          <p:cNvSpPr txBox="1"/>
          <p:nvPr/>
        </p:nvSpPr>
        <p:spPr>
          <a:xfrm>
            <a:off x="3917325" y="23933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0" name="Google Shape;1030;p88"/>
          <p:cNvCxnSpPr>
            <a:stCxn id="1029" idx="2"/>
            <a:endCxn id="1018" idx="0"/>
          </p:cNvCxnSpPr>
          <p:nvPr/>
        </p:nvCxnSpPr>
        <p:spPr>
          <a:xfrm>
            <a:off x="4343625" y="2786950"/>
            <a:ext cx="0" cy="2160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31" name="Google Shape;1031;p88"/>
          <p:cNvSpPr txBox="1"/>
          <p:nvPr/>
        </p:nvSpPr>
        <p:spPr>
          <a:xfrm>
            <a:off x="3917325" y="1783750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2" name="Google Shape;1032;p88"/>
          <p:cNvCxnSpPr>
            <a:stCxn id="1031" idx="2"/>
            <a:endCxn id="1029" idx="0"/>
          </p:cNvCxnSpPr>
          <p:nvPr/>
        </p:nvCxnSpPr>
        <p:spPr>
          <a:xfrm>
            <a:off x="4343625" y="2177350"/>
            <a:ext cx="0" cy="2160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33" name="Google Shape;1033;p88"/>
          <p:cNvSpPr/>
          <p:nvPr/>
        </p:nvSpPr>
        <p:spPr>
          <a:xfrm>
            <a:off x="5252750" y="1783750"/>
            <a:ext cx="2406300" cy="1327200"/>
          </a:xfrm>
          <a:prstGeom prst="wedgeRoundRectCallout">
            <a:avLst>
              <a:gd fmla="val -62599" name="adj1"/>
              <a:gd fmla="val 51364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have to answer all berkeley.edu queries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For eecs.berkeley.edu queries, I can redirect users to that name server.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7" name="Shape 1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Google Shape;1038;p8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Hierarchy</a:t>
            </a:r>
            <a:endParaRPr/>
          </a:p>
        </p:txBody>
      </p:sp>
      <p:sp>
        <p:nvSpPr>
          <p:cNvPr id="1039" name="Google Shape;1039;p89"/>
          <p:cNvSpPr txBox="1"/>
          <p:nvPr/>
        </p:nvSpPr>
        <p:spPr>
          <a:xfrm>
            <a:off x="4762175" y="666475"/>
            <a:ext cx="2884200" cy="1875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berkeley.edu zone</a:t>
            </a:r>
            <a:endParaRPr b="1"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Owned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by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: UC Berkeley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Name server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: adns1.berkeley.edu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Manages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: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www.berkeley.edu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calcentral.berkeley.edu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systemstatus.berkeley.edu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...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89"/>
          <p:cNvSpPr txBox="1"/>
          <p:nvPr/>
        </p:nvSpPr>
        <p:spPr>
          <a:xfrm>
            <a:off x="3598325" y="3101675"/>
            <a:ext cx="2468700" cy="16602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The ischool.berkeley.edu zone</a:t>
            </a:r>
            <a:endParaRPr b="1"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Owned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by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: School of Information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Name server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: is-dns.berkeley.edu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Manages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: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pink.ischool.berkeley.edu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blue.ischool.berkeley.edu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...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1" name="Google Shape;1041;p89"/>
          <p:cNvSpPr txBox="1"/>
          <p:nvPr/>
        </p:nvSpPr>
        <p:spPr>
          <a:xfrm>
            <a:off x="6341525" y="3101675"/>
            <a:ext cx="2468700" cy="16602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The eecs.berkeley.edu zone</a:t>
            </a:r>
            <a:endParaRPr b="1"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Owned by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: EECS Department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Name server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: cs-dns.berkeley.edu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Manages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: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repo.eecs.berkeley.edu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rise.eecs.berkeley.edu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...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2" name="Google Shape;1042;p89"/>
          <p:cNvCxnSpPr>
            <a:stCxn id="1039" idx="2"/>
            <a:endCxn id="1040" idx="0"/>
          </p:cNvCxnSpPr>
          <p:nvPr/>
        </p:nvCxnSpPr>
        <p:spPr>
          <a:xfrm flipH="1">
            <a:off x="4832675" y="2541475"/>
            <a:ext cx="1371600" cy="560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3" name="Google Shape;1043;p89"/>
          <p:cNvCxnSpPr>
            <a:stCxn id="1039" idx="2"/>
            <a:endCxn id="1041" idx="0"/>
          </p:cNvCxnSpPr>
          <p:nvPr/>
        </p:nvCxnSpPr>
        <p:spPr>
          <a:xfrm>
            <a:off x="6204275" y="2541475"/>
            <a:ext cx="1371600" cy="560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4" name="Google Shape;1044;p89"/>
          <p:cNvSpPr txBox="1"/>
          <p:nvPr>
            <p:ph idx="1" type="body"/>
          </p:nvPr>
        </p:nvSpPr>
        <p:spPr>
          <a:xfrm>
            <a:off x="107050" y="402200"/>
            <a:ext cx="33411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node in the tree represents a </a:t>
            </a:r>
            <a:r>
              <a:rPr b="1" lang="en"/>
              <a:t>zone</a:t>
            </a:r>
            <a:r>
              <a:rPr lang="en"/>
              <a:t> of domains.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 organization managing a zone can </a:t>
            </a:r>
            <a:r>
              <a:rPr b="1" lang="en"/>
              <a:t>delegate</a:t>
            </a:r>
            <a:r>
              <a:rPr lang="en"/>
              <a:t> part of its zone to somebody else.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zone has an </a:t>
            </a:r>
            <a:r>
              <a:rPr b="1" lang="en"/>
              <a:t>authoritative name server</a:t>
            </a:r>
            <a:r>
              <a:rPr lang="en"/>
              <a:t> that knows about the domains in that zone.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8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9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Hierarchy</a:t>
            </a:r>
            <a:endParaRPr/>
          </a:p>
        </p:txBody>
      </p:sp>
      <p:sp>
        <p:nvSpPr>
          <p:cNvPr id="1050" name="Google Shape;1050;p90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zone</a:t>
            </a:r>
            <a:r>
              <a:rPr lang="en"/>
              <a:t> corresponds to an administrative authority response for some part of the hierarchy.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zone is </a:t>
            </a:r>
            <a:r>
              <a:rPr b="1" lang="en"/>
              <a:t>authoritative</a:t>
            </a:r>
            <a:r>
              <a:rPr lang="en"/>
              <a:t> for how names within that part of the hierarchy are controlled.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can choose to </a:t>
            </a:r>
            <a:r>
              <a:rPr b="1" lang="en"/>
              <a:t>delegate</a:t>
            </a:r>
            <a:r>
              <a:rPr lang="en"/>
              <a:t> authority for part of the zone to somebody else.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Zones help DNS scale.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Different administrative authorities are responsible for different parts of the hierarchy.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Educause (.edu zone operators) don't have to know about what's happening in the berkeley.edu zone (authority delegated to UC Berkeley).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4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Google Shape;1055;p9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Administrative Authorities</a:t>
            </a:r>
            <a:endParaRPr/>
          </a:p>
        </p:txBody>
      </p:sp>
      <p:sp>
        <p:nvSpPr>
          <p:cNvPr id="1056" name="Google Shape;1056;p91"/>
          <p:cNvSpPr txBox="1"/>
          <p:nvPr>
            <p:ph idx="1" type="body"/>
          </p:nvPr>
        </p:nvSpPr>
        <p:spPr>
          <a:xfrm>
            <a:off x="107050" y="402200"/>
            <a:ext cx="8909700" cy="17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DNS root is controlled by ICANN.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Internet Corporation for Assigned Names and Numbers.</a:t>
            </a:r>
            <a:endParaRPr/>
          </a:p>
        </p:txBody>
      </p:sp>
      <p:sp>
        <p:nvSpPr>
          <p:cNvPr id="1057" name="Google Shape;1057;p91"/>
          <p:cNvSpPr txBox="1"/>
          <p:nvPr/>
        </p:nvSpPr>
        <p:spPr>
          <a:xfrm>
            <a:off x="4145700" y="2415825"/>
            <a:ext cx="8526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58" name="Google Shape;1058;p91"/>
          <p:cNvCxnSpPr>
            <a:stCxn id="1057" idx="2"/>
            <a:endCxn id="1059" idx="0"/>
          </p:cNvCxnSpPr>
          <p:nvPr/>
        </p:nvCxnSpPr>
        <p:spPr>
          <a:xfrm flipH="1">
            <a:off x="2930400" y="2809425"/>
            <a:ext cx="16416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60" name="Google Shape;1060;p91"/>
          <p:cNvSpPr txBox="1"/>
          <p:nvPr/>
        </p:nvSpPr>
        <p:spPr>
          <a:xfrm>
            <a:off x="4610100" y="31778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91"/>
          <p:cNvSpPr txBox="1"/>
          <p:nvPr/>
        </p:nvSpPr>
        <p:spPr>
          <a:xfrm>
            <a:off x="3953400" y="31778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91"/>
          <p:cNvSpPr txBox="1"/>
          <p:nvPr/>
        </p:nvSpPr>
        <p:spPr>
          <a:xfrm>
            <a:off x="3296700" y="31778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91"/>
          <p:cNvSpPr txBox="1"/>
          <p:nvPr/>
        </p:nvSpPr>
        <p:spPr>
          <a:xfrm>
            <a:off x="2640000" y="31778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3" name="Google Shape;1063;p91"/>
          <p:cNvSpPr txBox="1"/>
          <p:nvPr/>
        </p:nvSpPr>
        <p:spPr>
          <a:xfrm>
            <a:off x="5923500" y="31778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4" name="Google Shape;1064;p91"/>
          <p:cNvSpPr txBox="1"/>
          <p:nvPr/>
        </p:nvSpPr>
        <p:spPr>
          <a:xfrm>
            <a:off x="5266800" y="31778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5" name="Google Shape;1065;p91"/>
          <p:cNvSpPr txBox="1"/>
          <p:nvPr/>
        </p:nvSpPr>
        <p:spPr>
          <a:xfrm>
            <a:off x="6580200" y="3177825"/>
            <a:ext cx="3282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Roboto"/>
                <a:ea typeface="Roboto"/>
                <a:cs typeface="Roboto"/>
                <a:sym typeface="Roboto"/>
              </a:rPr>
              <a:t>...</a:t>
            </a:r>
            <a:endParaRPr sz="2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6" name="Google Shape;1066;p91"/>
          <p:cNvCxnSpPr>
            <a:stCxn id="1057" idx="2"/>
            <a:endCxn id="1062" idx="0"/>
          </p:cNvCxnSpPr>
          <p:nvPr/>
        </p:nvCxnSpPr>
        <p:spPr>
          <a:xfrm flipH="1">
            <a:off x="3586800" y="2809425"/>
            <a:ext cx="9852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67" name="Google Shape;1067;p91"/>
          <p:cNvCxnSpPr>
            <a:stCxn id="1057" idx="2"/>
            <a:endCxn id="1061" idx="0"/>
          </p:cNvCxnSpPr>
          <p:nvPr/>
        </p:nvCxnSpPr>
        <p:spPr>
          <a:xfrm flipH="1">
            <a:off x="4243800" y="2809425"/>
            <a:ext cx="3282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68" name="Google Shape;1068;p91"/>
          <p:cNvCxnSpPr>
            <a:stCxn id="1057" idx="2"/>
            <a:endCxn id="1060" idx="0"/>
          </p:cNvCxnSpPr>
          <p:nvPr/>
        </p:nvCxnSpPr>
        <p:spPr>
          <a:xfrm>
            <a:off x="4572000" y="2809425"/>
            <a:ext cx="3285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69" name="Google Shape;1069;p91"/>
          <p:cNvCxnSpPr>
            <a:stCxn id="1057" idx="2"/>
            <a:endCxn id="1064" idx="0"/>
          </p:cNvCxnSpPr>
          <p:nvPr/>
        </p:nvCxnSpPr>
        <p:spPr>
          <a:xfrm>
            <a:off x="4572000" y="2809425"/>
            <a:ext cx="9852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70" name="Google Shape;1070;p91"/>
          <p:cNvCxnSpPr>
            <a:stCxn id="1057" idx="2"/>
            <a:endCxn id="1063" idx="0"/>
          </p:cNvCxnSpPr>
          <p:nvPr/>
        </p:nvCxnSpPr>
        <p:spPr>
          <a:xfrm>
            <a:off x="4572000" y="2809425"/>
            <a:ext cx="16419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1" name="Google Shape;1071;p91"/>
          <p:cNvSpPr txBox="1"/>
          <p:nvPr/>
        </p:nvSpPr>
        <p:spPr>
          <a:xfrm>
            <a:off x="2235600" y="3177825"/>
            <a:ext cx="3282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Roboto"/>
                <a:ea typeface="Roboto"/>
                <a:cs typeface="Roboto"/>
                <a:sym typeface="Roboto"/>
              </a:rPr>
              <a:t>...</a:t>
            </a:r>
            <a:endParaRPr sz="2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2" name="Google Shape;1072;p91"/>
          <p:cNvSpPr txBox="1"/>
          <p:nvPr/>
        </p:nvSpPr>
        <p:spPr>
          <a:xfrm>
            <a:off x="4229100" y="38636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3" name="Google Shape;1073;p91"/>
          <p:cNvSpPr txBox="1"/>
          <p:nvPr/>
        </p:nvSpPr>
        <p:spPr>
          <a:xfrm>
            <a:off x="4991100" y="38636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4" name="Google Shape;1074;p91"/>
          <p:cNvCxnSpPr>
            <a:stCxn id="1060" idx="2"/>
            <a:endCxn id="1072" idx="0"/>
          </p:cNvCxnSpPr>
          <p:nvPr/>
        </p:nvCxnSpPr>
        <p:spPr>
          <a:xfrm flipH="1">
            <a:off x="4519350" y="3571425"/>
            <a:ext cx="3810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75" name="Google Shape;1075;p91"/>
          <p:cNvCxnSpPr>
            <a:stCxn id="1060" idx="2"/>
            <a:endCxn id="1073" idx="0"/>
          </p:cNvCxnSpPr>
          <p:nvPr/>
        </p:nvCxnSpPr>
        <p:spPr>
          <a:xfrm>
            <a:off x="4900350" y="3571425"/>
            <a:ext cx="3810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6" name="Google Shape;1076;p91"/>
          <p:cNvSpPr txBox="1"/>
          <p:nvPr/>
        </p:nvSpPr>
        <p:spPr>
          <a:xfrm>
            <a:off x="3726450" y="4549425"/>
            <a:ext cx="6714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google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7" name="Google Shape;1077;p91"/>
          <p:cNvSpPr txBox="1"/>
          <p:nvPr/>
        </p:nvSpPr>
        <p:spPr>
          <a:xfrm>
            <a:off x="4640850" y="4549425"/>
            <a:ext cx="6714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amazon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8" name="Google Shape;1078;p91"/>
          <p:cNvCxnSpPr>
            <a:stCxn id="1072" idx="2"/>
            <a:endCxn id="1076" idx="0"/>
          </p:cNvCxnSpPr>
          <p:nvPr/>
        </p:nvCxnSpPr>
        <p:spPr>
          <a:xfrm flipH="1">
            <a:off x="4062150" y="4257225"/>
            <a:ext cx="4572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79" name="Google Shape;1079;p91"/>
          <p:cNvCxnSpPr>
            <a:stCxn id="1072" idx="2"/>
            <a:endCxn id="1077" idx="0"/>
          </p:cNvCxnSpPr>
          <p:nvPr/>
        </p:nvCxnSpPr>
        <p:spPr>
          <a:xfrm>
            <a:off x="4519350" y="4257225"/>
            <a:ext cx="4572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3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p9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Administrative Authorities</a:t>
            </a:r>
            <a:endParaRPr/>
          </a:p>
        </p:txBody>
      </p:sp>
      <p:sp>
        <p:nvSpPr>
          <p:cNvPr id="1085" name="Google Shape;1085;p92"/>
          <p:cNvSpPr txBox="1"/>
          <p:nvPr>
            <p:ph idx="1" type="body"/>
          </p:nvPr>
        </p:nvSpPr>
        <p:spPr>
          <a:xfrm>
            <a:off x="107050" y="402200"/>
            <a:ext cx="8909700" cy="17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Top-level domains (TLDs)</a:t>
            </a:r>
            <a:r>
              <a:rPr lang="en"/>
              <a:t> are the zones directly below root.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Historically, relatively few, based on </a:t>
            </a:r>
            <a:r>
              <a:rPr lang="en"/>
              <a:t>purpose</a:t>
            </a:r>
            <a:r>
              <a:rPr lang="en"/>
              <a:t> (</a:t>
            </a:r>
            <a:r>
              <a:rPr b="1" lang="en"/>
              <a:t>org</a:t>
            </a:r>
            <a:r>
              <a:rPr lang="en"/>
              <a:t>anization, </a:t>
            </a:r>
            <a:r>
              <a:rPr b="1" lang="en"/>
              <a:t>edu</a:t>
            </a:r>
            <a:r>
              <a:rPr lang="en"/>
              <a:t>cation, </a:t>
            </a:r>
            <a:r>
              <a:rPr b="1" lang="en"/>
              <a:t>com</a:t>
            </a:r>
            <a:r>
              <a:rPr lang="en"/>
              <a:t>mercial, etc.), and country (UK, </a:t>
            </a:r>
            <a:r>
              <a:rPr lang="en"/>
              <a:t>France</a:t>
            </a:r>
            <a:r>
              <a:rPr lang="en"/>
              <a:t>, Japan, etc.).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recently, many more weird ones (.travel, .pizza, etc.). Over 1500 TLDs today!</a:t>
            </a:r>
            <a:endParaRPr/>
          </a:p>
        </p:txBody>
      </p:sp>
      <p:sp>
        <p:nvSpPr>
          <p:cNvPr id="1086" name="Google Shape;1086;p92"/>
          <p:cNvSpPr txBox="1"/>
          <p:nvPr/>
        </p:nvSpPr>
        <p:spPr>
          <a:xfrm>
            <a:off x="4145700" y="2415825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7" name="Google Shape;1087;p92"/>
          <p:cNvCxnSpPr>
            <a:stCxn id="1086" idx="2"/>
            <a:endCxn id="1088" idx="0"/>
          </p:cNvCxnSpPr>
          <p:nvPr/>
        </p:nvCxnSpPr>
        <p:spPr>
          <a:xfrm flipH="1">
            <a:off x="2930400" y="2809425"/>
            <a:ext cx="16416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89" name="Google Shape;1089;p92"/>
          <p:cNvSpPr txBox="1"/>
          <p:nvPr/>
        </p:nvSpPr>
        <p:spPr>
          <a:xfrm>
            <a:off x="4610100" y="3177825"/>
            <a:ext cx="5805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0" name="Google Shape;1090;p92"/>
          <p:cNvSpPr txBox="1"/>
          <p:nvPr/>
        </p:nvSpPr>
        <p:spPr>
          <a:xfrm>
            <a:off x="3953400" y="3177825"/>
            <a:ext cx="5805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1" name="Google Shape;1091;p92"/>
          <p:cNvSpPr txBox="1"/>
          <p:nvPr/>
        </p:nvSpPr>
        <p:spPr>
          <a:xfrm>
            <a:off x="3296700" y="3177825"/>
            <a:ext cx="5805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8" name="Google Shape;1088;p92"/>
          <p:cNvSpPr txBox="1"/>
          <p:nvPr/>
        </p:nvSpPr>
        <p:spPr>
          <a:xfrm>
            <a:off x="2640000" y="3177825"/>
            <a:ext cx="5805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2" name="Google Shape;1092;p92"/>
          <p:cNvSpPr txBox="1"/>
          <p:nvPr/>
        </p:nvSpPr>
        <p:spPr>
          <a:xfrm>
            <a:off x="5923500" y="3177825"/>
            <a:ext cx="5805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3" name="Google Shape;1093;p92"/>
          <p:cNvSpPr txBox="1"/>
          <p:nvPr/>
        </p:nvSpPr>
        <p:spPr>
          <a:xfrm>
            <a:off x="5266800" y="3177825"/>
            <a:ext cx="5805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4" name="Google Shape;1094;p92"/>
          <p:cNvSpPr txBox="1"/>
          <p:nvPr/>
        </p:nvSpPr>
        <p:spPr>
          <a:xfrm>
            <a:off x="6580200" y="3177825"/>
            <a:ext cx="3282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Roboto"/>
                <a:ea typeface="Roboto"/>
                <a:cs typeface="Roboto"/>
                <a:sym typeface="Roboto"/>
              </a:rPr>
              <a:t>...</a:t>
            </a:r>
            <a:endParaRPr sz="2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95" name="Google Shape;1095;p92"/>
          <p:cNvCxnSpPr>
            <a:stCxn id="1086" idx="2"/>
            <a:endCxn id="1091" idx="0"/>
          </p:cNvCxnSpPr>
          <p:nvPr/>
        </p:nvCxnSpPr>
        <p:spPr>
          <a:xfrm flipH="1">
            <a:off x="3586800" y="2809425"/>
            <a:ext cx="9852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96" name="Google Shape;1096;p92"/>
          <p:cNvCxnSpPr>
            <a:stCxn id="1086" idx="2"/>
            <a:endCxn id="1090" idx="0"/>
          </p:cNvCxnSpPr>
          <p:nvPr/>
        </p:nvCxnSpPr>
        <p:spPr>
          <a:xfrm flipH="1">
            <a:off x="4243800" y="2809425"/>
            <a:ext cx="3282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97" name="Google Shape;1097;p92"/>
          <p:cNvCxnSpPr>
            <a:stCxn id="1086" idx="2"/>
            <a:endCxn id="1089" idx="0"/>
          </p:cNvCxnSpPr>
          <p:nvPr/>
        </p:nvCxnSpPr>
        <p:spPr>
          <a:xfrm>
            <a:off x="4572000" y="2809425"/>
            <a:ext cx="3285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98" name="Google Shape;1098;p92"/>
          <p:cNvCxnSpPr>
            <a:stCxn id="1086" idx="2"/>
            <a:endCxn id="1093" idx="0"/>
          </p:cNvCxnSpPr>
          <p:nvPr/>
        </p:nvCxnSpPr>
        <p:spPr>
          <a:xfrm>
            <a:off x="4572000" y="2809425"/>
            <a:ext cx="9852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99" name="Google Shape;1099;p92"/>
          <p:cNvCxnSpPr>
            <a:stCxn id="1086" idx="2"/>
            <a:endCxn id="1092" idx="0"/>
          </p:cNvCxnSpPr>
          <p:nvPr/>
        </p:nvCxnSpPr>
        <p:spPr>
          <a:xfrm>
            <a:off x="4572000" y="2809425"/>
            <a:ext cx="16419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00" name="Google Shape;1100;p92"/>
          <p:cNvSpPr txBox="1"/>
          <p:nvPr/>
        </p:nvSpPr>
        <p:spPr>
          <a:xfrm>
            <a:off x="2235600" y="3177825"/>
            <a:ext cx="3282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Roboto"/>
                <a:ea typeface="Roboto"/>
                <a:cs typeface="Roboto"/>
                <a:sym typeface="Roboto"/>
              </a:rPr>
              <a:t>...</a:t>
            </a:r>
            <a:endParaRPr sz="2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1" name="Google Shape;1101;p92"/>
          <p:cNvSpPr txBox="1"/>
          <p:nvPr/>
        </p:nvSpPr>
        <p:spPr>
          <a:xfrm>
            <a:off x="4229100" y="38636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2" name="Google Shape;1102;p92"/>
          <p:cNvSpPr txBox="1"/>
          <p:nvPr/>
        </p:nvSpPr>
        <p:spPr>
          <a:xfrm>
            <a:off x="4991100" y="38636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3" name="Google Shape;1103;p92"/>
          <p:cNvCxnSpPr>
            <a:stCxn id="1089" idx="2"/>
            <a:endCxn id="1101" idx="0"/>
          </p:cNvCxnSpPr>
          <p:nvPr/>
        </p:nvCxnSpPr>
        <p:spPr>
          <a:xfrm flipH="1">
            <a:off x="4519350" y="3571425"/>
            <a:ext cx="3810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04" name="Google Shape;1104;p92"/>
          <p:cNvCxnSpPr>
            <a:stCxn id="1089" idx="2"/>
            <a:endCxn id="1102" idx="0"/>
          </p:cNvCxnSpPr>
          <p:nvPr/>
        </p:nvCxnSpPr>
        <p:spPr>
          <a:xfrm>
            <a:off x="4900350" y="3571425"/>
            <a:ext cx="3810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05" name="Google Shape;1105;p92"/>
          <p:cNvSpPr txBox="1"/>
          <p:nvPr/>
        </p:nvSpPr>
        <p:spPr>
          <a:xfrm>
            <a:off x="3726450" y="4549425"/>
            <a:ext cx="6714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google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6" name="Google Shape;1106;p92"/>
          <p:cNvSpPr txBox="1"/>
          <p:nvPr/>
        </p:nvSpPr>
        <p:spPr>
          <a:xfrm>
            <a:off x="4640850" y="4549425"/>
            <a:ext cx="6714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amazon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7" name="Google Shape;1107;p92"/>
          <p:cNvCxnSpPr>
            <a:stCxn id="1101" idx="2"/>
            <a:endCxn id="1105" idx="0"/>
          </p:cNvCxnSpPr>
          <p:nvPr/>
        </p:nvCxnSpPr>
        <p:spPr>
          <a:xfrm flipH="1">
            <a:off x="4062150" y="4257225"/>
            <a:ext cx="4572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08" name="Google Shape;1108;p92"/>
          <p:cNvCxnSpPr>
            <a:stCxn id="1101" idx="2"/>
            <a:endCxn id="1106" idx="0"/>
          </p:cNvCxnSpPr>
          <p:nvPr/>
        </p:nvCxnSpPr>
        <p:spPr>
          <a:xfrm>
            <a:off x="4519350" y="4257225"/>
            <a:ext cx="4572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09" name="Google Shape;1109;p92"/>
          <p:cNvSpPr txBox="1"/>
          <p:nvPr/>
        </p:nvSpPr>
        <p:spPr>
          <a:xfrm>
            <a:off x="948200" y="3174525"/>
            <a:ext cx="639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TLDs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0" name="Google Shape;1110;p92"/>
          <p:cNvCxnSpPr>
            <a:stCxn id="1109" idx="3"/>
          </p:cNvCxnSpPr>
          <p:nvPr/>
        </p:nvCxnSpPr>
        <p:spPr>
          <a:xfrm>
            <a:off x="1587200" y="3374625"/>
            <a:ext cx="5022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4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p9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Administrative Authorities</a:t>
            </a:r>
            <a:endParaRPr/>
          </a:p>
        </p:txBody>
      </p:sp>
      <p:sp>
        <p:nvSpPr>
          <p:cNvPr id="1116" name="Google Shape;1116;p93"/>
          <p:cNvSpPr txBox="1"/>
          <p:nvPr>
            <p:ph idx="1" type="body"/>
          </p:nvPr>
        </p:nvSpPr>
        <p:spPr>
          <a:xfrm>
            <a:off x="107050" y="402200"/>
            <a:ext cx="8909700" cy="17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Second-level domains, third-level domains, etc. are below TLDs.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TLD can decide its own structure.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The .uk zone delegated .co.uk (commercial) and .ac.uk (academic).</a:t>
            </a:r>
            <a:endParaRPr/>
          </a:p>
        </p:txBody>
      </p:sp>
      <p:sp>
        <p:nvSpPr>
          <p:cNvPr id="1117" name="Google Shape;1117;p93"/>
          <p:cNvSpPr txBox="1"/>
          <p:nvPr/>
        </p:nvSpPr>
        <p:spPr>
          <a:xfrm>
            <a:off x="4145700" y="2415825"/>
            <a:ext cx="8526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8" name="Google Shape;1118;p93"/>
          <p:cNvCxnSpPr>
            <a:stCxn id="1117" idx="2"/>
            <a:endCxn id="1119" idx="0"/>
          </p:cNvCxnSpPr>
          <p:nvPr/>
        </p:nvCxnSpPr>
        <p:spPr>
          <a:xfrm flipH="1">
            <a:off x="2930400" y="2809425"/>
            <a:ext cx="16416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20" name="Google Shape;1120;p93"/>
          <p:cNvSpPr txBox="1"/>
          <p:nvPr/>
        </p:nvSpPr>
        <p:spPr>
          <a:xfrm>
            <a:off x="4610100" y="31778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93"/>
          <p:cNvSpPr txBox="1"/>
          <p:nvPr/>
        </p:nvSpPr>
        <p:spPr>
          <a:xfrm>
            <a:off x="3953400" y="31778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2" name="Google Shape;1122;p93"/>
          <p:cNvSpPr txBox="1"/>
          <p:nvPr/>
        </p:nvSpPr>
        <p:spPr>
          <a:xfrm>
            <a:off x="3296700" y="31778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9" name="Google Shape;1119;p93"/>
          <p:cNvSpPr txBox="1"/>
          <p:nvPr/>
        </p:nvSpPr>
        <p:spPr>
          <a:xfrm>
            <a:off x="2640000" y="31778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93"/>
          <p:cNvSpPr txBox="1"/>
          <p:nvPr/>
        </p:nvSpPr>
        <p:spPr>
          <a:xfrm>
            <a:off x="5923500" y="31778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93"/>
          <p:cNvSpPr txBox="1"/>
          <p:nvPr/>
        </p:nvSpPr>
        <p:spPr>
          <a:xfrm>
            <a:off x="5266800" y="3177825"/>
            <a:ext cx="580500" cy="393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5" name="Google Shape;1125;p93"/>
          <p:cNvSpPr txBox="1"/>
          <p:nvPr/>
        </p:nvSpPr>
        <p:spPr>
          <a:xfrm>
            <a:off x="6580200" y="3177825"/>
            <a:ext cx="3282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Roboto"/>
                <a:ea typeface="Roboto"/>
                <a:cs typeface="Roboto"/>
                <a:sym typeface="Roboto"/>
              </a:rPr>
              <a:t>...</a:t>
            </a:r>
            <a:endParaRPr sz="2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6" name="Google Shape;1126;p93"/>
          <p:cNvCxnSpPr>
            <a:stCxn id="1117" idx="2"/>
            <a:endCxn id="1122" idx="0"/>
          </p:cNvCxnSpPr>
          <p:nvPr/>
        </p:nvCxnSpPr>
        <p:spPr>
          <a:xfrm flipH="1">
            <a:off x="3586800" y="2809425"/>
            <a:ext cx="9852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27" name="Google Shape;1127;p93"/>
          <p:cNvCxnSpPr>
            <a:stCxn id="1117" idx="2"/>
            <a:endCxn id="1121" idx="0"/>
          </p:cNvCxnSpPr>
          <p:nvPr/>
        </p:nvCxnSpPr>
        <p:spPr>
          <a:xfrm flipH="1">
            <a:off x="4243800" y="2809425"/>
            <a:ext cx="3282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28" name="Google Shape;1128;p93"/>
          <p:cNvCxnSpPr>
            <a:stCxn id="1117" idx="2"/>
            <a:endCxn id="1120" idx="0"/>
          </p:cNvCxnSpPr>
          <p:nvPr/>
        </p:nvCxnSpPr>
        <p:spPr>
          <a:xfrm>
            <a:off x="4572000" y="2809425"/>
            <a:ext cx="3285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29" name="Google Shape;1129;p93"/>
          <p:cNvCxnSpPr>
            <a:stCxn id="1117" idx="2"/>
            <a:endCxn id="1124" idx="0"/>
          </p:cNvCxnSpPr>
          <p:nvPr/>
        </p:nvCxnSpPr>
        <p:spPr>
          <a:xfrm>
            <a:off x="4572000" y="2809425"/>
            <a:ext cx="9852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30" name="Google Shape;1130;p93"/>
          <p:cNvCxnSpPr>
            <a:stCxn id="1117" idx="2"/>
            <a:endCxn id="1123" idx="0"/>
          </p:cNvCxnSpPr>
          <p:nvPr/>
        </p:nvCxnSpPr>
        <p:spPr>
          <a:xfrm>
            <a:off x="4572000" y="2809425"/>
            <a:ext cx="1641900" cy="3684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31" name="Google Shape;1131;p93"/>
          <p:cNvSpPr txBox="1"/>
          <p:nvPr/>
        </p:nvSpPr>
        <p:spPr>
          <a:xfrm>
            <a:off x="2235600" y="3177825"/>
            <a:ext cx="3282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Roboto"/>
                <a:ea typeface="Roboto"/>
                <a:cs typeface="Roboto"/>
                <a:sym typeface="Roboto"/>
              </a:rPr>
              <a:t>...</a:t>
            </a:r>
            <a:endParaRPr sz="2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2" name="Google Shape;1132;p93"/>
          <p:cNvSpPr txBox="1"/>
          <p:nvPr/>
        </p:nvSpPr>
        <p:spPr>
          <a:xfrm>
            <a:off x="4229100" y="3863625"/>
            <a:ext cx="5805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3" name="Google Shape;1133;p93"/>
          <p:cNvSpPr txBox="1"/>
          <p:nvPr/>
        </p:nvSpPr>
        <p:spPr>
          <a:xfrm>
            <a:off x="4991100" y="3863625"/>
            <a:ext cx="5805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4" name="Google Shape;1134;p93"/>
          <p:cNvCxnSpPr>
            <a:stCxn id="1120" idx="2"/>
            <a:endCxn id="1132" idx="0"/>
          </p:cNvCxnSpPr>
          <p:nvPr/>
        </p:nvCxnSpPr>
        <p:spPr>
          <a:xfrm flipH="1">
            <a:off x="4519350" y="3571425"/>
            <a:ext cx="3810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35" name="Google Shape;1135;p93"/>
          <p:cNvCxnSpPr>
            <a:stCxn id="1120" idx="2"/>
            <a:endCxn id="1133" idx="0"/>
          </p:cNvCxnSpPr>
          <p:nvPr/>
        </p:nvCxnSpPr>
        <p:spPr>
          <a:xfrm>
            <a:off x="4900350" y="3571425"/>
            <a:ext cx="3810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36" name="Google Shape;1136;p93"/>
          <p:cNvSpPr txBox="1"/>
          <p:nvPr/>
        </p:nvSpPr>
        <p:spPr>
          <a:xfrm>
            <a:off x="3726450" y="4549425"/>
            <a:ext cx="6714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google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7" name="Google Shape;1137;p93"/>
          <p:cNvSpPr txBox="1"/>
          <p:nvPr/>
        </p:nvSpPr>
        <p:spPr>
          <a:xfrm>
            <a:off x="4640850" y="4549425"/>
            <a:ext cx="6714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amazon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8" name="Google Shape;1138;p93"/>
          <p:cNvCxnSpPr>
            <a:stCxn id="1132" idx="2"/>
            <a:endCxn id="1136" idx="0"/>
          </p:cNvCxnSpPr>
          <p:nvPr/>
        </p:nvCxnSpPr>
        <p:spPr>
          <a:xfrm flipH="1">
            <a:off x="4062150" y="4257225"/>
            <a:ext cx="4572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39" name="Google Shape;1139;p93"/>
          <p:cNvCxnSpPr>
            <a:stCxn id="1132" idx="2"/>
            <a:endCxn id="1137" idx="0"/>
          </p:cNvCxnSpPr>
          <p:nvPr/>
        </p:nvCxnSpPr>
        <p:spPr>
          <a:xfrm>
            <a:off x="4519350" y="4257225"/>
            <a:ext cx="457200" cy="292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40" name="Google Shape;1140;p93"/>
          <p:cNvSpPr txBox="1"/>
          <p:nvPr/>
        </p:nvSpPr>
        <p:spPr>
          <a:xfrm>
            <a:off x="948200" y="3174525"/>
            <a:ext cx="639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TLDs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93"/>
          <p:cNvCxnSpPr>
            <a:stCxn id="1140" idx="3"/>
          </p:cNvCxnSpPr>
          <p:nvPr/>
        </p:nvCxnSpPr>
        <p:spPr>
          <a:xfrm>
            <a:off x="1587200" y="3374625"/>
            <a:ext cx="5022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42" name="Google Shape;1142;p93"/>
          <p:cNvSpPr txBox="1"/>
          <p:nvPr/>
        </p:nvSpPr>
        <p:spPr>
          <a:xfrm>
            <a:off x="948200" y="3860325"/>
            <a:ext cx="1926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Second-level domains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3" name="Google Shape;1143;p93"/>
          <p:cNvCxnSpPr>
            <a:stCxn id="1142" idx="3"/>
          </p:cNvCxnSpPr>
          <p:nvPr/>
        </p:nvCxnSpPr>
        <p:spPr>
          <a:xfrm>
            <a:off x="2874800" y="4060425"/>
            <a:ext cx="12243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44" name="Google Shape;1144;p93"/>
          <p:cNvSpPr txBox="1"/>
          <p:nvPr/>
        </p:nvSpPr>
        <p:spPr>
          <a:xfrm>
            <a:off x="950226" y="4546125"/>
            <a:ext cx="1742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Third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-level domains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5" name="Google Shape;1145;p93"/>
          <p:cNvCxnSpPr>
            <a:stCxn id="1144" idx="3"/>
          </p:cNvCxnSpPr>
          <p:nvPr/>
        </p:nvCxnSpPr>
        <p:spPr>
          <a:xfrm>
            <a:off x="2692626" y="4746225"/>
            <a:ext cx="8925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9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p9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Administrative Authorities</a:t>
            </a:r>
            <a:endParaRPr/>
          </a:p>
        </p:txBody>
      </p:sp>
      <p:sp>
        <p:nvSpPr>
          <p:cNvPr id="1151" name="Google Shape;1151;p9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Users can lease specific domains from </a:t>
            </a:r>
            <a:r>
              <a:rPr b="1" lang="en"/>
              <a:t>domain registries</a:t>
            </a:r>
            <a:r>
              <a:rPr lang="en"/>
              <a:t> (e.g. Verisign).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want to host your website on example.com, you have to reserve the domain for a recurring (e.g. monthly) fee.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the </a:t>
            </a:r>
            <a:r>
              <a:rPr lang="en"/>
              <a:t>authoritative .com name servers add a record mapping example.com to your IP address.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Organizations (e.g. Google, Amazon) can operate their own zones, with their own name servers.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organization has to tell its parent about its name server(s).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the parent will redirect queries to the organization.</a:t>
            </a: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5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p9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Zone Availability</a:t>
            </a:r>
            <a:endParaRPr/>
          </a:p>
        </p:txBody>
      </p:sp>
      <p:sp>
        <p:nvSpPr>
          <p:cNvPr id="1157" name="Google Shape;1157;p95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Each zone has several name servers for redundancy.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Zones "must" have two authoritative name servers.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ensures availability of that zone.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name servers </a:t>
            </a:r>
            <a:r>
              <a:rPr lang="en"/>
              <a:t>work</a:t>
            </a:r>
            <a:r>
              <a:rPr lang="en"/>
              <a:t> in a primary/secondary model.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</a:t>
            </a:r>
            <a:r>
              <a:rPr b="1" lang="en"/>
              <a:t>primary</a:t>
            </a:r>
            <a:r>
              <a:rPr lang="en"/>
              <a:t> name server manages and updates the actual records.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</a:t>
            </a:r>
            <a:r>
              <a:rPr b="1" lang="en"/>
              <a:t>secondary</a:t>
            </a:r>
            <a:r>
              <a:rPr lang="en"/>
              <a:t> name server uses a read-only copy of the primary server's records.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primary server periodically transfers its records to the secondary servers.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Transfer can be large! This is where DNS might use TCP instead of UDP.</a:t>
            </a:r>
            <a:endParaRPr/>
          </a:p>
        </p:txBody>
      </p:sp>
      <p:sp>
        <p:nvSpPr>
          <p:cNvPr id="1158" name="Google Shape;1158;p95"/>
          <p:cNvSpPr txBox="1"/>
          <p:nvPr/>
        </p:nvSpPr>
        <p:spPr>
          <a:xfrm>
            <a:off x="6208800" y="4317200"/>
            <a:ext cx="270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"Must" = it's standard practice, and many registrars require it.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2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9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Root Zone Availability with Anycast</a:t>
            </a:r>
            <a:endParaRPr/>
          </a:p>
        </p:txBody>
      </p:sp>
      <p:sp>
        <p:nvSpPr>
          <p:cNvPr id="1164" name="Google Shape;1164;p96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would be really bad if the root servers were unavailable.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Someone with an empty cache would be unable to make any lookups.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Root servers use a trick called anycast to ensure high availability.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are only 13 root-server domains (a.root-servers.net to m.root-servers.net).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But, there are actually thousands of root servers.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Anycast</a:t>
            </a:r>
            <a:r>
              <a:rPr lang="en"/>
              <a:t>: Use the same IP address for many servers on the Internet.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Thousands of servers all claim to be k.root-servers.net with address 193.0.14.129 in routing protocols.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might hear advertisements from many different servers. You can pick any route (e.g. the shortest one), and you'll reach one of the root servers.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Anycast can also be used for other highly-available services (e.g. the 8.8.8.8 resolver).</a:t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8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9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Root Zone Availability with Anycast</a:t>
            </a:r>
            <a:endParaRPr/>
          </a:p>
        </p:txBody>
      </p:sp>
      <p:pic>
        <p:nvPicPr>
          <p:cNvPr id="1170" name="Google Shape;1170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1575" y="661150"/>
            <a:ext cx="4620027" cy="2754426"/>
          </a:xfrm>
          <a:prstGeom prst="rect">
            <a:avLst/>
          </a:prstGeom>
          <a:noFill/>
          <a:ln>
            <a:noFill/>
          </a:ln>
        </p:spPr>
      </p:pic>
      <p:sp>
        <p:nvSpPr>
          <p:cNvPr id="1171" name="Google Shape;1171;p97"/>
          <p:cNvSpPr txBox="1"/>
          <p:nvPr/>
        </p:nvSpPr>
        <p:spPr>
          <a:xfrm>
            <a:off x="1342800" y="3683100"/>
            <a:ext cx="6458400" cy="13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Which instance am I actually using?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dig +short +norec @k.root-servers.net hostname.bind chaos txt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"ns1.us-mia.k.ripe.net"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"us-mia" is probably Miami, Florida.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97"/>
          <p:cNvSpPr txBox="1"/>
          <p:nvPr/>
        </p:nvSpPr>
        <p:spPr>
          <a:xfrm>
            <a:off x="5716213" y="653850"/>
            <a:ext cx="2716200" cy="276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All of these servers are advertising themselves as k.root-servers.net, with IP 193.0.14.129.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Lots of cooperation between network operators to keep root servers highly available.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6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Google Shape;1177;p98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is DNS For?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Implementation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Scaling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Other Uses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8" name="Google Shape;1178;p98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Uses of DNS</a:t>
            </a:r>
            <a:endParaRPr/>
          </a:p>
        </p:txBody>
      </p:sp>
      <p:sp>
        <p:nvSpPr>
          <p:cNvPr id="1179" name="Google Shape;1179;p98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14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3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p9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Uses of DNS: Email</a:t>
            </a:r>
            <a:endParaRPr/>
          </a:p>
        </p:txBody>
      </p:sp>
      <p:sp>
        <p:nvSpPr>
          <p:cNvPr id="1185" name="Google Shape;1185;p99"/>
          <p:cNvSpPr txBox="1"/>
          <p:nvPr>
            <p:ph idx="1" type="body"/>
          </p:nvPr>
        </p:nvSpPr>
        <p:spPr>
          <a:xfrm>
            <a:off x="107050" y="402200"/>
            <a:ext cx="8909700" cy="283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DNS can store and serve more than just domain-to-IP mappings. Example: Email.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send email to evanbot@berkeley.edu, we need to know where to send packets.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MX</a:t>
            </a:r>
            <a:r>
              <a:rPr lang="en"/>
              <a:t> type records map a domain to a mail server.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Historically: The mail server ran on a user's machine.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Today: Email services (e.g. Gmail) run mail servers, which </a:t>
            </a:r>
            <a:r>
              <a:rPr lang="en"/>
              <a:t>receive</a:t>
            </a:r>
            <a:r>
              <a:rPr lang="en"/>
              <a:t> your mail and let you access your mail.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MX records contain a priority in the value.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you receive multiple MX records for a domain, try lowest number first.</a:t>
            </a:r>
            <a:endParaRPr/>
          </a:p>
        </p:txBody>
      </p:sp>
      <p:sp>
        <p:nvSpPr>
          <p:cNvPr id="1186" name="Google Shape;1186;p99"/>
          <p:cNvSpPr txBox="1"/>
          <p:nvPr/>
        </p:nvSpPr>
        <p:spPr>
          <a:xfrm>
            <a:off x="1379250" y="3295275"/>
            <a:ext cx="63855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$ dig eecs.berkeley.edu MX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;; ANSWER SECTION: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eecs.berkeley.edu	10549     IN	MX	1    aspmx.l.google.com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eecs.berkeley.edu	10549     IN	MX	5    alt1.aspmx.l.google.com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eecs.berkeley.edu	10549     IN	MX	5    alt2.aspmx.l.google.com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eecs.berkeley.edu	10549     IN	MX	10   alt4.aspmx.l.google.com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eecs.berkeley.edu	10549     IN	MX	10   alt3.aspmx.l.google.com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p99"/>
          <p:cNvSpPr/>
          <p:nvPr/>
        </p:nvSpPr>
        <p:spPr>
          <a:xfrm>
            <a:off x="5461850" y="3905825"/>
            <a:ext cx="2107200" cy="1006800"/>
          </a:xfrm>
          <a:prstGeom prst="roundRect">
            <a:avLst>
              <a:gd fmla="val 11141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8" name="Google Shape;1188;p99"/>
          <p:cNvSpPr/>
          <p:nvPr/>
        </p:nvSpPr>
        <p:spPr>
          <a:xfrm>
            <a:off x="5050525" y="3905825"/>
            <a:ext cx="329700" cy="1006800"/>
          </a:xfrm>
          <a:prstGeom prst="roundRect">
            <a:avLst>
              <a:gd fmla="val 31597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9" name="Google Shape;1189;p99"/>
          <p:cNvSpPr txBox="1"/>
          <p:nvPr/>
        </p:nvSpPr>
        <p:spPr>
          <a:xfrm>
            <a:off x="5678750" y="3284123"/>
            <a:ext cx="16734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Gmail mail servers.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0" name="Google Shape;1190;p99"/>
          <p:cNvCxnSpPr>
            <a:stCxn id="1189" idx="2"/>
            <a:endCxn id="1187" idx="0"/>
          </p:cNvCxnSpPr>
          <p:nvPr/>
        </p:nvCxnSpPr>
        <p:spPr>
          <a:xfrm>
            <a:off x="6515450" y="3555023"/>
            <a:ext cx="0" cy="3507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1" name="Google Shape;1191;p99"/>
          <p:cNvSpPr txBox="1"/>
          <p:nvPr/>
        </p:nvSpPr>
        <p:spPr>
          <a:xfrm>
            <a:off x="4747225" y="3284123"/>
            <a:ext cx="9363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Priorities.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2" name="Google Shape;1192;p99"/>
          <p:cNvCxnSpPr>
            <a:stCxn id="1191" idx="2"/>
            <a:endCxn id="1188" idx="0"/>
          </p:cNvCxnSpPr>
          <p:nvPr/>
        </p:nvCxnSpPr>
        <p:spPr>
          <a:xfrm>
            <a:off x="5215375" y="3555023"/>
            <a:ext cx="0" cy="3507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6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10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for Load-Balancing</a:t>
            </a:r>
            <a:endParaRPr/>
          </a:p>
        </p:txBody>
      </p:sp>
      <p:sp>
        <p:nvSpPr>
          <p:cNvPr id="1198" name="Google Shape;1198;p100"/>
          <p:cNvSpPr txBox="1"/>
          <p:nvPr>
            <p:ph idx="1" type="body"/>
          </p:nvPr>
        </p:nvSpPr>
        <p:spPr>
          <a:xfrm>
            <a:off x="107050" y="402200"/>
            <a:ext cx="8909700" cy="300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Multiple servers with different IP addresses can all host the same application.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Useful for popular services (e.g. YouTube, Twitter).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name server can return multiple IP addresses for a single domain.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No precedence between these different A records.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Client can pick any of them. We often pick the first one.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Server shuffles the order in the response.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Provides coarse-grained load-balancing across different servers.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Provides simple resiliency. If one IP is down, pick another.</a:t>
            </a:r>
            <a:endParaRPr/>
          </a:p>
        </p:txBody>
      </p:sp>
      <p:sp>
        <p:nvSpPr>
          <p:cNvPr id="1199" name="Google Shape;1199;p100"/>
          <p:cNvSpPr txBox="1"/>
          <p:nvPr/>
        </p:nvSpPr>
        <p:spPr>
          <a:xfrm>
            <a:off x="1379250" y="3600075"/>
            <a:ext cx="63855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;; ANSWER SECTION: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microsoft.com.		1999		IN	A	20.112.250.133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microsoft.com.		1999		IN	A	20.231.239.246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microsoft.com.		1999		IN	A	20.76.201.171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microsoft.com.		1999		IN	A	20.70.246.20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microsoft.com.		1999		IN	A	20.236.44.162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3" name="Shape 1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Google Shape;1204;p10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for Load-Balancing</a:t>
            </a:r>
            <a:endParaRPr/>
          </a:p>
        </p:txBody>
      </p:sp>
      <p:sp>
        <p:nvSpPr>
          <p:cNvPr id="1205" name="Google Shape;1205;p101"/>
          <p:cNvSpPr txBox="1"/>
          <p:nvPr>
            <p:ph idx="1" type="body"/>
          </p:nvPr>
        </p:nvSpPr>
        <p:spPr>
          <a:xfrm>
            <a:off x="107050" y="402200"/>
            <a:ext cx="8992500" cy="358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name server can give different responses based on </a:t>
            </a:r>
            <a:r>
              <a:rPr i="1" lang="en"/>
              <a:t>where</a:t>
            </a:r>
            <a:r>
              <a:rPr lang="en"/>
              <a:t> the query came from.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 needs extra logic: "If the query is from X, reply with Y."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determine which response to give?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Address of the recursive resolver.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Most clients don't directly query name servers.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Address of the client.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Requires extension to DNS to carry client address.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Geographical location of the client.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Requires database to map IP addresses to physical locations, e.g. </a:t>
            </a:r>
            <a:r>
              <a:rPr lang="en" u="sng">
                <a:solidFill>
                  <a:schemeClr val="hlink"/>
                </a:solidFill>
                <a:hlinkClick r:id="rId3"/>
              </a:rPr>
              <a:t>MaxMind</a:t>
            </a:r>
            <a:r>
              <a:rPr lang="en"/>
              <a:t>.</a:t>
            </a:r>
            <a:endParaRPr/>
          </a:p>
        </p:txBody>
      </p:sp>
      <p:sp>
        <p:nvSpPr>
          <p:cNvPr id="1206" name="Google Shape;1206;p101"/>
          <p:cNvSpPr txBox="1"/>
          <p:nvPr/>
        </p:nvSpPr>
        <p:spPr>
          <a:xfrm>
            <a:off x="2195275" y="4307375"/>
            <a:ext cx="220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$ dig google.com +short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142.251.46.238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7" name="Google Shape;1207;p101"/>
          <p:cNvSpPr txBox="1"/>
          <p:nvPr/>
        </p:nvSpPr>
        <p:spPr>
          <a:xfrm>
            <a:off x="4743100" y="4307375"/>
            <a:ext cx="220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$ dig google.com +short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74.125.135.113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8" name="Google Shape;1208;p101"/>
          <p:cNvSpPr txBox="1"/>
          <p:nvPr/>
        </p:nvSpPr>
        <p:spPr>
          <a:xfrm>
            <a:off x="2195275" y="3989325"/>
            <a:ext cx="151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From California: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9" name="Google Shape;1209;p101"/>
          <p:cNvSpPr txBox="1"/>
          <p:nvPr/>
        </p:nvSpPr>
        <p:spPr>
          <a:xfrm>
            <a:off x="4743100" y="3989325"/>
            <a:ext cx="151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From Oregon: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3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10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for Load-Balancing</a:t>
            </a:r>
            <a:endParaRPr/>
          </a:p>
        </p:txBody>
      </p:sp>
      <p:sp>
        <p:nvSpPr>
          <p:cNvPr id="1215" name="Google Shape;1215;p10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Challenges with geographical load-balancing: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Ideally, we want to direct the client to the "nearest" server.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don't know the how "far" the user is from the server.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We don't know the geographic distance.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We don't know the network distance (e.g. number of hops).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don't know the performance between the user and the server.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What's the bandwidth and latency of the links between user and server?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guessing is involved.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proprietary logic is required at the name server.</a:t>
            </a: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9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p10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for Load-Balancing</a:t>
            </a:r>
            <a:endParaRPr/>
          </a:p>
        </p:txBody>
      </p:sp>
      <p:sp>
        <p:nvSpPr>
          <p:cNvPr id="1221" name="Google Shape;1221;p10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Load-balancing experiment: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San Francisco, ask for the IPv6 address of www.youtube.com.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Look up the name corresponding to that specific IP address.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sfo03s25-in-x0e.1e100.net</a:t>
            </a:r>
            <a:r>
              <a:rPr lang="en"/>
              <a:t>. "SFO" = San Francisco...pretty close!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Another</a:t>
            </a:r>
            <a:r>
              <a:rPr lang="en"/>
              <a:t> load-balancing experiment: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Oregon, ask for the IPv6 address of www.youtube.com.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San Francisco → IP address from San Francisco request = 20 ms RTT.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San Francisco → IP address from Oregon request = 35 ms RTT.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Mapping logic gave us a way to map a client to a better-performing server.</a:t>
            </a:r>
            <a:endParaRPr/>
          </a:p>
        </p:txBody>
      </p:sp>
      <p:sp>
        <p:nvSpPr>
          <p:cNvPr id="1222" name="Google Shape;1222;p103"/>
          <p:cNvSpPr txBox="1"/>
          <p:nvPr/>
        </p:nvSpPr>
        <p:spPr>
          <a:xfrm>
            <a:off x="1093900" y="4193900"/>
            <a:ext cx="6936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$ host 2607:f8b0:4005:80d::200e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e.0.0.2.0.0.0.0.0.0.0.0.0.0.0.0.d.0.8.0.5.0.0.4.0.b.8.f.7.0.6.2.ip6.arpa domain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name pointer sfo03s25-in-x0e.1e100.net.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3" name="Google Shape;1223;p103"/>
          <p:cNvSpPr txBox="1"/>
          <p:nvPr/>
        </p:nvSpPr>
        <p:spPr>
          <a:xfrm>
            <a:off x="1093900" y="3859975"/>
            <a:ext cx="530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Doing a "reverse" DNS lookup from IP address to hostname: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7" name="Shape 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p10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DNS</a:t>
            </a:r>
            <a:endParaRPr/>
          </a:p>
        </p:txBody>
      </p:sp>
      <p:sp>
        <p:nvSpPr>
          <p:cNvPr id="1229" name="Google Shape;1229;p10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DNS was created to allow for name to IP address resolution.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Helps humans easily access </a:t>
            </a:r>
            <a:r>
              <a:rPr lang="en"/>
              <a:t>things</a:t>
            </a:r>
            <a:r>
              <a:rPr lang="en"/>
              <a:t> on the Internet.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DNS is a hierarchical system.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Zones and name servers have a hierarchy.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Allows for delegation to authoritative entities.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DNS is implemented over UDP, and organizes data in records of various types.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DNS extends beyond address resolution into service resolution (e.g. email).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DNS can be used for load-balancing.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