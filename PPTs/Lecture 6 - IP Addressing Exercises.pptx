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4"/>
  </p:notesMasterIdLst>
  <p:sldIdLst>
    <p:sldId id="257" r:id="rId2"/>
    <p:sldId id="314" r:id="rId3"/>
  </p:sldIdLst>
  <p:sldSz cx="9144000" cy="5143500" type="screen16x9"/>
  <p:notesSz cx="6858000" cy="9144000"/>
  <p:embeddedFontLst>
    <p:embeddedFont>
      <p:font typeface="Roboto" panose="02000000000000000000" pitchFamily="2" charset="0"/>
      <p:regular r:id="rId5"/>
      <p:bold r:id="rId6"/>
      <p:italic r:id="rId7"/>
      <p:boldItalic r:id="rId8"/>
    </p:embeddedFont>
    <p:embeddedFont>
      <p:font typeface="Roboto Light" panose="02000000000000000000" pitchFamily="2" charset="0"/>
      <p:regular r:id="rId9"/>
      <p:bold r:id="rId10"/>
      <p:italic r:id="rId11"/>
      <p:boldItalic r:id="rId12"/>
    </p:embeddedFont>
    <p:embeddedFont>
      <p:font typeface="Roboto Medium" panose="02000000000000000000" pitchFamily="2"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7E6BCBA-AEE7-4C30-AAAD-D4F55D72C083}">
  <a:tblStyle styleId="{27E6BCBA-AEE7-4C30-AAAD-D4F55D72C08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font" Target="fonts/font11.fntdata"/><Relationship Id="rId10" Type="http://schemas.openxmlformats.org/officeDocument/2006/relationships/font" Target="fonts/font6.fntdata"/><Relationship Id="rId19" Type="http://schemas.openxmlformats.org/officeDocument/2006/relationships/theme" Target="theme/theme1.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delSld modSld">
      <pc:chgData name="Zonghua Gu" userId="9a7e1853e1951ef5" providerId="LiveId" clId="{CF1FAA12-072C-4ED5-BA76-0FFFAEFDB88A}" dt="2026-01-31T21:55:51.101" v="1" actId="47"/>
      <pc:docMkLst>
        <pc:docMk/>
      </pc:docMkLst>
      <pc:sldChg chg="modSp mod">
        <pc:chgData name="Zonghua Gu" userId="9a7e1853e1951ef5" providerId="LiveId" clId="{CF1FAA12-072C-4ED5-BA76-0FFFAEFDB88A}" dt="2026-01-31T21:55:45.946" v="0" actId="20577"/>
        <pc:sldMkLst>
          <pc:docMk/>
          <pc:sldMk cId="0" sldId="257"/>
        </pc:sldMkLst>
        <pc:spChg chg="mod">
          <ac:chgData name="Zonghua Gu" userId="9a7e1853e1951ef5" providerId="LiveId" clId="{CF1FAA12-072C-4ED5-BA76-0FFFAEFDB88A}" dt="2026-01-31T21:55:45.946" v="0" actId="20577"/>
          <ac:spMkLst>
            <pc:docMk/>
            <pc:sldMk cId="0" sldId="257"/>
            <ac:spMk id="179" creationId="{00000000-0000-0000-0000-000000000000}"/>
          </ac:spMkLst>
        </pc:spChg>
      </pc:sldChg>
      <pc:sldChg chg="del">
        <pc:chgData name="Zonghua Gu" userId="9a7e1853e1951ef5" providerId="LiveId" clId="{CF1FAA12-072C-4ED5-BA76-0FFFAEFDB88A}" dt="2026-01-31T21:55:51.101" v="1" actId="47"/>
        <pc:sldMkLst>
          <pc:docMk/>
          <pc:sldMk cId="3744383019" sldId="316"/>
        </pc:sldMkLst>
      </pc:sldChg>
      <pc:sldChg chg="del">
        <pc:chgData name="Zonghua Gu" userId="9a7e1853e1951ef5" providerId="LiveId" clId="{CF1FAA12-072C-4ED5-BA76-0FFFAEFDB88A}" dt="2026-01-31T21:55:51.101" v="1" actId="47"/>
        <pc:sldMkLst>
          <pc:docMk/>
          <pc:sldMk cId="1237959267" sldId="317"/>
        </pc:sldMkLst>
      </pc:sldChg>
      <pc:sldChg chg="del">
        <pc:chgData name="Zonghua Gu" userId="9a7e1853e1951ef5" providerId="LiveId" clId="{CF1FAA12-072C-4ED5-BA76-0FFFAEFDB88A}" dt="2026-01-31T21:55:51.101" v="1" actId="47"/>
        <pc:sldMkLst>
          <pc:docMk/>
          <pc:sldMk cId="3148153022" sldId="31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7879dbf297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7879dbf297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so we will start with that first</a:t>
            </a:r>
            <a:r>
              <a:rPr lang="en-US" dirty="0"/>
              <a:t>Link-state is relatively simple. All the complexity is in the details!</a:t>
            </a:r>
          </a:p>
          <a:p>
            <a:pPr marL="457200" lvl="0" indent="-342900" algn="l" rtl="0">
              <a:spcBef>
                <a:spcPts val="600"/>
              </a:spcBef>
              <a:spcAft>
                <a:spcPts val="0"/>
              </a:spcAft>
              <a:buSzPts val="1800"/>
              <a:buChar char="●"/>
            </a:pPr>
            <a:r>
              <a:rPr lang="en-US" dirty="0"/>
              <a:t>Everyone floods link/destination information.</a:t>
            </a:r>
          </a:p>
          <a:p>
            <a:pPr marL="457200" lvl="0" indent="-342900" algn="l" rtl="0">
              <a:spcBef>
                <a:spcPts val="0"/>
              </a:spcBef>
              <a:spcAft>
                <a:spcPts val="0"/>
              </a:spcAft>
              <a:buSzPts val="1800"/>
              <a:buChar char="●"/>
            </a:pPr>
            <a:r>
              <a:rPr lang="en-US" dirty="0"/>
              <a:t>Everyone has a global map of the network.</a:t>
            </a:r>
          </a:p>
          <a:p>
            <a:pPr marL="457200" lvl="0" indent="-342900" algn="l" rtl="0">
              <a:spcBef>
                <a:spcPts val="0"/>
              </a:spcBef>
              <a:spcAft>
                <a:spcPts val="0"/>
              </a:spcAft>
              <a:buSzPts val="1800"/>
              <a:buChar char="●"/>
            </a:pPr>
            <a:r>
              <a:rPr lang="en-US" dirty="0"/>
              <a:t>Everyone independently computes next-hops.</a:t>
            </a:r>
          </a:p>
          <a:p>
            <a:pPr marL="0" lvl="0" indent="0" algn="l" rtl="0">
              <a:spcBef>
                <a:spcPts val="600"/>
              </a:spcBef>
              <a:spcAft>
                <a:spcPts val="0"/>
              </a:spcAft>
              <a:buNone/>
            </a:pPr>
            <a:r>
              <a:rPr lang="en-US" dirty="0"/>
              <a:t>Why might we want to use link-state over distance-vector?</a:t>
            </a:r>
          </a:p>
          <a:p>
            <a:pPr marL="457200" lvl="0" indent="-342900" algn="l" rtl="0">
              <a:spcBef>
                <a:spcPts val="600"/>
              </a:spcBef>
              <a:spcAft>
                <a:spcPts val="0"/>
              </a:spcAft>
              <a:buSzPts val="1800"/>
              <a:buChar char="●"/>
            </a:pPr>
            <a:r>
              <a:rPr lang="en-US" dirty="0"/>
              <a:t>Link-state gives routers more control over the path they choose.</a:t>
            </a:r>
          </a:p>
          <a:p>
            <a:pPr marL="914400" lvl="1" indent="-342900" algn="l" rtl="0">
              <a:spcBef>
                <a:spcPts val="0"/>
              </a:spcBef>
              <a:spcAft>
                <a:spcPts val="0"/>
              </a:spcAft>
              <a:buSzPts val="1800"/>
              <a:buChar char="○"/>
            </a:pPr>
            <a:r>
              <a:rPr lang="en-US" dirty="0"/>
              <a:t>Distance-vector: We have to trust what our neighbor says, and we don't know the path they're using.</a:t>
            </a:r>
          </a:p>
          <a:p>
            <a:pPr marL="457200" lvl="0" indent="-342900" algn="l" rtl="0">
              <a:spcBef>
                <a:spcPts val="0"/>
              </a:spcBef>
              <a:spcAft>
                <a:spcPts val="0"/>
              </a:spcAft>
              <a:buSzPts val="1800"/>
              <a:buChar char="●"/>
            </a:pPr>
            <a:r>
              <a:rPr lang="en-US" dirty="0"/>
              <a:t>Link-state might be better at converging.</a:t>
            </a:r>
          </a:p>
          <a:p>
            <a:pPr marL="914400" lvl="1" indent="-342900" algn="l" rtl="0">
              <a:spcBef>
                <a:spcPts val="0"/>
              </a:spcBef>
              <a:spcAft>
                <a:spcPts val="0"/>
              </a:spcAft>
              <a:buSzPts val="1800"/>
              <a:buChar char="○"/>
            </a:pPr>
            <a:r>
              <a:rPr lang="en-US" dirty="0"/>
              <a:t>Distance-vector: Wait for neighbor to recompute and re-advertise path.</a:t>
            </a:r>
          </a:p>
          <a:p>
            <a:pPr marL="914400" lvl="1" indent="-342900" algn="l" rtl="0">
              <a:spcBef>
                <a:spcPts val="0"/>
              </a:spcBef>
              <a:spcAft>
                <a:spcPts val="0"/>
              </a:spcAft>
              <a:buSzPts val="1800"/>
              <a:buChar char="○"/>
            </a:pPr>
            <a:r>
              <a:rPr lang="en-US" dirty="0"/>
              <a:t>Link-state: Flood information before recomputing.</a:t>
            </a:r>
          </a:p>
          <a:p>
            <a:pPr marL="0" lvl="0" indent="0" algn="l" rtl="0">
              <a:spcBef>
                <a:spcPts val="600"/>
              </a:spcBef>
              <a:spcAft>
                <a:spcPts val="0"/>
              </a:spcAft>
              <a:buNone/>
            </a:pPr>
            <a:r>
              <a:rPr lang="en-US" dirty="0"/>
              <a:t>Real networks often use a combination of path/distance-vector and link-state.</a:t>
            </a:r>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en" dirty="0"/>
              <a:t>0:27</a:t>
            </a:r>
            <a:endParaRPr dirty="0"/>
          </a:p>
          <a:p>
            <a:pPr marL="0" lvl="0" indent="0" algn="l" rtl="0">
              <a:spcBef>
                <a:spcPts val="0"/>
              </a:spcBef>
              <a:spcAft>
                <a:spcPts val="0"/>
              </a:spcAft>
              <a:buNone/>
            </a:pPr>
            <a:r>
              <a:rPr lang="en" dirty="0"/>
              <a:t>half where we talk all about link State protocol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6"/>
        <p:cNvGrpSpPr/>
        <p:nvPr/>
      </p:nvGrpSpPr>
      <p:grpSpPr>
        <a:xfrm>
          <a:off x="0" y="0"/>
          <a:ext cx="0" cy="0"/>
          <a:chOff x="0" y="0"/>
          <a:chExt cx="0" cy="0"/>
        </a:xfrm>
      </p:grpSpPr>
      <p:sp>
        <p:nvSpPr>
          <p:cNvPr id="1797" name="Google Shape;1797;g27886deaaff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8" name="Google Shape;1798;g27886deaaff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okay let me just quickly summarize for you</a:t>
            </a:r>
            <a:endParaRPr/>
          </a:p>
          <a:p>
            <a:pPr marL="0" lvl="0" indent="0" algn="l" rtl="0">
              <a:spcBef>
                <a:spcPts val="0"/>
              </a:spcBef>
              <a:spcAft>
                <a:spcPts val="0"/>
              </a:spcAft>
              <a:buClr>
                <a:schemeClr val="dk1"/>
              </a:buClr>
              <a:buSzPts val="1100"/>
              <a:buFont typeface="Arial"/>
              <a:buNone/>
            </a:pPr>
            <a:r>
              <a:rPr lang="en"/>
              <a:t>1:21:19</a:t>
            </a:r>
            <a:endParaRPr/>
          </a:p>
          <a:p>
            <a:pPr marL="0" lvl="0" indent="0" algn="l" rtl="0">
              <a:spcBef>
                <a:spcPts val="0"/>
              </a:spcBef>
              <a:spcAft>
                <a:spcPts val="0"/>
              </a:spcAft>
              <a:buClr>
                <a:schemeClr val="dk1"/>
              </a:buClr>
              <a:buSzPts val="1100"/>
              <a:buFont typeface="Arial"/>
              <a:buNone/>
            </a:pPr>
            <a:r>
              <a:rPr lang="en"/>
              <a:t>host on the internet have addresses ipv4 or IPv6 both of them use higher archical</a:t>
            </a:r>
            <a:endParaRPr/>
          </a:p>
          <a:p>
            <a:pPr marL="0" lvl="0" indent="0" algn="l" rtl="0">
              <a:spcBef>
                <a:spcPts val="0"/>
              </a:spcBef>
              <a:spcAft>
                <a:spcPts val="0"/>
              </a:spcAft>
              <a:buClr>
                <a:schemeClr val="dk1"/>
              </a:buClr>
              <a:buSzPts val="1100"/>
              <a:buFont typeface="Arial"/>
              <a:buNone/>
            </a:pPr>
            <a:r>
              <a:rPr lang="en"/>
              <a:t>1:21:25</a:t>
            </a:r>
            <a:endParaRPr/>
          </a:p>
          <a:p>
            <a:pPr marL="0" lvl="0" indent="0" algn="l" rtl="0">
              <a:spcBef>
                <a:spcPts val="0"/>
              </a:spcBef>
              <a:spcAft>
                <a:spcPts val="0"/>
              </a:spcAft>
              <a:buClr>
                <a:schemeClr val="dk1"/>
              </a:buClr>
              <a:buSzPts val="1100"/>
              <a:buFont typeface="Arial"/>
              <a:buNone/>
            </a:pPr>
            <a:r>
              <a:rPr lang="en"/>
              <a:t>addressing we saw three different approaches to doing so and we landed on the classless approach because it scales</a:t>
            </a:r>
            <a:endParaRPr/>
          </a:p>
          <a:p>
            <a:pPr marL="0" lvl="0" indent="0" algn="l" rtl="0">
              <a:spcBef>
                <a:spcPts val="0"/>
              </a:spcBef>
              <a:spcAft>
                <a:spcPts val="0"/>
              </a:spcAft>
              <a:buClr>
                <a:schemeClr val="dk1"/>
              </a:buClr>
              <a:buSzPts val="1100"/>
              <a:buFont typeface="Arial"/>
              <a:buNone/>
            </a:pPr>
            <a:r>
              <a:rPr lang="en"/>
              <a:t>1:21:31</a:t>
            </a:r>
            <a:endParaRPr/>
          </a:p>
          <a:p>
            <a:pPr marL="0" lvl="0" indent="0" algn="l" rtl="0">
              <a:spcBef>
                <a:spcPts val="0"/>
              </a:spcBef>
              <a:spcAft>
                <a:spcPts val="0"/>
              </a:spcAft>
              <a:buClr>
                <a:schemeClr val="dk1"/>
              </a:buClr>
              <a:buSzPts val="1100"/>
              <a:buFont typeface="Arial"/>
              <a:buNone/>
            </a:pPr>
            <a:r>
              <a:rPr lang="en"/>
              <a:t>the best and it matches hierarchies that we see in real life and because of these</a:t>
            </a:r>
            <a:endParaRPr/>
          </a:p>
          <a:p>
            <a:pPr marL="0" lvl="0" indent="0" algn="l" rtl="0">
              <a:spcBef>
                <a:spcPts val="0"/>
              </a:spcBef>
              <a:spcAft>
                <a:spcPts val="0"/>
              </a:spcAft>
              <a:buClr>
                <a:schemeClr val="dk1"/>
              </a:buClr>
              <a:buSzPts val="1100"/>
              <a:buFont typeface="Arial"/>
              <a:buNone/>
            </a:pPr>
            <a:r>
              <a:rPr lang="en"/>
              <a:t>1:21:36</a:t>
            </a:r>
            <a:endParaRPr/>
          </a:p>
          <a:p>
            <a:pPr marL="0" lvl="0" indent="0" algn="l" rtl="0">
              <a:spcBef>
                <a:spcPts val="0"/>
              </a:spcBef>
              <a:spcAft>
                <a:spcPts val="0"/>
              </a:spcAft>
              <a:buClr>
                <a:schemeClr val="dk1"/>
              </a:buClr>
              <a:buSzPts val="1100"/>
              <a:buFont typeface="Arial"/>
              <a:buNone/>
            </a:pPr>
            <a:r>
              <a:rPr lang="en"/>
              <a:t>hierarchical addressing schemes it allows us to write ranges in our forwarding tables as opposed to</a:t>
            </a:r>
            <a:endParaRPr/>
          </a:p>
          <a:p>
            <a:pPr marL="0" lvl="0" indent="0" algn="l" rtl="0">
              <a:spcBef>
                <a:spcPts val="0"/>
              </a:spcBef>
              <a:spcAft>
                <a:spcPts val="0"/>
              </a:spcAft>
              <a:buClr>
                <a:schemeClr val="dk1"/>
              </a:buClr>
              <a:buSzPts val="1100"/>
              <a:buFont typeface="Arial"/>
              <a:buNone/>
            </a:pPr>
            <a:r>
              <a:rPr lang="en"/>
              <a:t>1:21:42</a:t>
            </a:r>
            <a:endParaRPr/>
          </a:p>
          <a:p>
            <a:pPr marL="0" lvl="0" indent="0" algn="l" rtl="0">
              <a:spcBef>
                <a:spcPts val="0"/>
              </a:spcBef>
              <a:spcAft>
                <a:spcPts val="0"/>
              </a:spcAft>
              <a:buClr>
                <a:schemeClr val="dk1"/>
              </a:buClr>
              <a:buSzPts val="1100"/>
              <a:buFont typeface="Arial"/>
              <a:buNone/>
            </a:pPr>
            <a:r>
              <a:rPr lang="en"/>
              <a:t>individual addresses and we also saw that the wild card can help us aggregate even further</a:t>
            </a:r>
            <a:endParaRPr/>
          </a:p>
          <a:p>
            <a:pPr marL="0" lvl="0" indent="0" algn="l" rtl="0">
              <a:spcBef>
                <a:spcPts val="0"/>
              </a:spcBef>
              <a:spcAft>
                <a:spcPts val="0"/>
              </a:spcAft>
              <a:buClr>
                <a:schemeClr val="dk1"/>
              </a:buClr>
              <a:buSzPts val="1100"/>
              <a:buFont typeface="Arial"/>
              <a:buNone/>
            </a:pPr>
            <a:r>
              <a:rPr lang="en"/>
              <a:t>1:21:48</a:t>
            </a:r>
            <a:endParaRPr/>
          </a:p>
          <a:p>
            <a:pPr marL="0" lvl="0" indent="0" algn="l" rtl="0">
              <a:spcBef>
                <a:spcPts val="0"/>
              </a:spcBef>
              <a:spcAft>
                <a:spcPts val="0"/>
              </a:spcAft>
              <a:buClr>
                <a:schemeClr val="dk1"/>
              </a:buClr>
              <a:buSzPts val="1100"/>
              <a:buFont typeface="Arial"/>
              <a:buNone/>
            </a:pPr>
            <a:r>
              <a:rPr lang="en"/>
              <a:t>and more aggressively to get much more scalable tables so that's your a little preview of in domain routing if you come</a:t>
            </a:r>
            <a:endParaRPr/>
          </a:p>
          <a:p>
            <a:pPr marL="0" lvl="0" indent="0" algn="l" rtl="0">
              <a:spcBef>
                <a:spcPts val="0"/>
              </a:spcBef>
              <a:spcAft>
                <a:spcPts val="0"/>
              </a:spcAft>
              <a:buClr>
                <a:schemeClr val="dk1"/>
              </a:buClr>
              <a:buSzPts val="1100"/>
              <a:buFont typeface="Arial"/>
              <a:buNone/>
            </a:pPr>
            <a:r>
              <a:rPr lang="en"/>
              <a:t>1:21:54</a:t>
            </a:r>
            <a:endParaRPr/>
          </a:p>
          <a:p>
            <a:pPr marL="0" lvl="0" indent="0" algn="l" rtl="0">
              <a:spcBef>
                <a:spcPts val="0"/>
              </a:spcBef>
              <a:spcAft>
                <a:spcPts val="0"/>
              </a:spcAft>
              <a:buClr>
                <a:schemeClr val="dk1"/>
              </a:buClr>
              <a:buSzPts val="1100"/>
              <a:buFont typeface="Arial"/>
              <a:buNone/>
            </a:pPr>
            <a:r>
              <a:rPr lang="en"/>
              <a:t>back next we'll talk about inter domain so that’s that for today</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7" name="Google Shape;27;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0" name="Google Shape;40;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 name="Google Shape;49;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8" name="Google Shape;58;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7" name="Google Shape;67;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6" name="Google Shape;7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78" name="Google Shape;78;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0" name="Google Shape;90;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5"/>
          <p:cNvSpPr txBox="1">
            <a:spLocks noGrp="1"/>
          </p:cNvSpPr>
          <p:nvPr>
            <p:ph type="title"/>
          </p:nvPr>
        </p:nvSpPr>
        <p:spPr>
          <a:xfrm>
            <a:off x="95425" y="4288400"/>
            <a:ext cx="8658900" cy="768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95" name="Google Shape;95;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6" name="Google Shape;106;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2" name="Google Shape;112;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3" name="Google Shape;11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8" name="Google Shape;118;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9" name="Google Shape;119;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5" name="Google Shape;125;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6" name="Google Shape;126;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7" name="Google Shape;127;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6" name="Google Shape;136;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7" name="Google Shape;137;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buNone/>
            </a:pPr>
            <a:r>
              <a:rPr lang="en-US" b="1" dirty="0">
                <a:solidFill>
                  <a:schemeClr val="accent3"/>
                </a:solidFill>
                <a:latin typeface="Roboto"/>
                <a:ea typeface="Roboto"/>
                <a:cs typeface="Roboto"/>
                <a:sym typeface="Roboto"/>
              </a:rPr>
              <a:t>IP Addressing</a:t>
            </a:r>
          </a:p>
          <a:p>
            <a:pPr>
              <a:spcBef>
                <a:spcPts val="0"/>
              </a:spcBef>
              <a:buClr>
                <a:srgbClr val="B7B7B7"/>
              </a:buClr>
            </a:pPr>
            <a:r>
              <a:rPr lang="en-US" dirty="0">
                <a:solidFill>
                  <a:srgbClr val="B7B7B7"/>
                </a:solidFill>
                <a:sym typeface="Roboto"/>
              </a:rPr>
              <a:t>Hierarchical Addressing</a:t>
            </a:r>
          </a:p>
          <a:p>
            <a:pPr lvl="0">
              <a:spcBef>
                <a:spcPts val="0"/>
              </a:spcBef>
              <a:buClr>
                <a:srgbClr val="B7B7B7"/>
              </a:buClr>
            </a:pPr>
            <a:r>
              <a:rPr lang="en-US" dirty="0">
                <a:solidFill>
                  <a:srgbClr val="B7B7B7"/>
                </a:solidFill>
              </a:rPr>
              <a:t>Assigning Addresses</a:t>
            </a:r>
          </a:p>
          <a:p>
            <a:pPr lvl="0">
              <a:spcBef>
                <a:spcPts val="0"/>
              </a:spcBef>
              <a:buClr>
                <a:srgbClr val="B7B7B7"/>
              </a:buClr>
            </a:pPr>
            <a:r>
              <a:rPr lang="en-US" dirty="0">
                <a:solidFill>
                  <a:srgbClr val="B7B7B7"/>
                </a:solidFill>
              </a:rPr>
              <a:t>Writing Addresses</a:t>
            </a:r>
          </a:p>
          <a:p>
            <a:pPr lvl="0">
              <a:spcBef>
                <a:spcPts val="0"/>
              </a:spcBef>
              <a:buClr>
                <a:srgbClr val="B7B7B7"/>
              </a:buClr>
            </a:pPr>
            <a:r>
              <a:rPr lang="en-US" dirty="0">
                <a:solidFill>
                  <a:srgbClr val="B7B7B7"/>
                </a:solidFill>
              </a:rPr>
              <a:t>Aggregating Routes</a:t>
            </a:r>
          </a:p>
          <a:p>
            <a:pPr lvl="0">
              <a:spcBef>
                <a:spcPts val="0"/>
              </a:spcBef>
              <a:buClr>
                <a:srgbClr val="B7B7B7"/>
              </a:buClr>
            </a:pPr>
            <a:r>
              <a:rPr lang="en-US" dirty="0">
                <a:solidFill>
                  <a:srgbClr val="B7B7B7"/>
                </a:solidFill>
              </a:rPr>
              <a:t>IPv6 Changes</a:t>
            </a:r>
          </a:p>
        </p:txBody>
      </p:sp>
      <p:sp>
        <p:nvSpPr>
          <p:cNvPr id="179" name="Google Shape;179;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IP Addressing Exercises</a:t>
            </a:r>
            <a:endParaRPr dirty="0"/>
          </a:p>
        </p:txBody>
      </p:sp>
      <p:sp>
        <p:nvSpPr>
          <p:cNvPr id="180" name="Google Shape;180;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6, Spring 2026</a:t>
            </a:r>
            <a:endParaRPr dirty="0"/>
          </a:p>
        </p:txBody>
      </p:sp>
      <p:sp>
        <p:nvSpPr>
          <p:cNvPr id="2" name="Slide Number Placeholder 1">
            <a:extLst>
              <a:ext uri="{FF2B5EF4-FFF2-40B4-BE49-F238E27FC236}">
                <a16:creationId xmlns:a16="http://schemas.microsoft.com/office/drawing/2014/main" id="{95047751-68D4-D506-BECC-3DE80EF226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99"/>
        <p:cNvGrpSpPr/>
        <p:nvPr/>
      </p:nvGrpSpPr>
      <p:grpSpPr>
        <a:xfrm>
          <a:off x="0" y="0"/>
          <a:ext cx="0" cy="0"/>
          <a:chOff x="0" y="0"/>
          <a:chExt cx="0" cy="0"/>
        </a:xfrm>
      </p:grpSpPr>
      <p:sp>
        <p:nvSpPr>
          <p:cNvPr id="1800" name="Google Shape;1800;p82"/>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Q. IP Addressing</a:t>
            </a:r>
            <a:endParaRPr dirty="0"/>
          </a:p>
        </p:txBody>
      </p:sp>
      <p:sp>
        <p:nvSpPr>
          <p:cNvPr id="1801" name="Google Shape;1801;p82"/>
          <p:cNvSpPr txBox="1">
            <a:spLocks noGrp="1"/>
          </p:cNvSpPr>
          <p:nvPr>
            <p:ph type="body" idx="1"/>
          </p:nvPr>
        </p:nvSpPr>
        <p:spPr>
          <a:xfrm>
            <a:off x="111458" y="263108"/>
            <a:ext cx="8909700" cy="2847827"/>
          </a:xfrm>
          <a:prstGeom prst="rect">
            <a:avLst/>
          </a:prstGeom>
        </p:spPr>
        <p:txBody>
          <a:bodyPr spcFirstLastPara="1" wrap="square" lIns="91425" tIns="91425" rIns="91425" bIns="91425" anchor="t" anchorCtr="0">
            <a:normAutofit fontScale="85000" lnSpcReduction="20000"/>
          </a:bodyPr>
          <a:lstStyle/>
          <a:p>
            <a:pPr marL="114300" lvl="0" indent="0">
              <a:buNone/>
            </a:pPr>
            <a:r>
              <a:rPr lang="en-US" dirty="0"/>
              <a:t>Suppose hofstra.edu is the Provider AS for Engineering (Engr), CS, Math, and Chemistry, and needs to assign IPv4 addresses to them. Assume that the CIDR (Classless </a:t>
            </a:r>
            <a:r>
              <a:rPr lang="en-US" dirty="0" err="1"/>
              <a:t>InterDomain</a:t>
            </a:r>
            <a:r>
              <a:rPr lang="en-US" dirty="0"/>
              <a:t> Routing) addressing scheme is used, and that the domain hofstra.edu has the 123.100.0.0/16 prefix reserved.</a:t>
            </a:r>
          </a:p>
          <a:p>
            <a:pPr lvl="0">
              <a:buAutoNum type="arabicParenR"/>
            </a:pPr>
            <a:r>
              <a:rPr lang="en-US" dirty="0"/>
              <a:t>Which addresses are included in the Math department’s prefix? How many addresses are in this range?</a:t>
            </a:r>
          </a:p>
          <a:p>
            <a:pPr lvl="0">
              <a:buAutoNum type="arabicParenR"/>
            </a:pPr>
            <a:r>
              <a:rPr lang="en-US" dirty="0"/>
              <a:t>123.100.192.0/18 is reserved for Engr and CS. Assign equal halves of this address space to the two departments.</a:t>
            </a:r>
          </a:p>
          <a:p>
            <a:pPr lvl="0">
              <a:buAutoNum type="arabicParenR"/>
            </a:pPr>
            <a:r>
              <a:rPr lang="en-US" dirty="0"/>
              <a:t>You want to start a new department of AI, and assign it an unused address range. You foresee that no more than 50 people will enroll. Assuming one address per person, what prefix would you assign to it to minimize unused/wasted addresses?</a:t>
            </a:r>
            <a:endParaRPr dirty="0"/>
          </a:p>
        </p:txBody>
      </p:sp>
      <p:sp>
        <p:nvSpPr>
          <p:cNvPr id="2" name="Slide Number Placeholder 1">
            <a:extLst>
              <a:ext uri="{FF2B5EF4-FFF2-40B4-BE49-F238E27FC236}">
                <a16:creationId xmlns:a16="http://schemas.microsoft.com/office/drawing/2014/main" id="{E3ACBD84-5D5D-C4F8-9596-91722AFE53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
        <p:nvSpPr>
          <p:cNvPr id="5" name="Oval 4">
            <a:extLst>
              <a:ext uri="{FF2B5EF4-FFF2-40B4-BE49-F238E27FC236}">
                <a16:creationId xmlns:a16="http://schemas.microsoft.com/office/drawing/2014/main" id="{6D72A6F2-3226-F110-5D87-7BDA2E1C948E}"/>
              </a:ext>
            </a:extLst>
          </p:cNvPr>
          <p:cNvSpPr/>
          <p:nvPr/>
        </p:nvSpPr>
        <p:spPr>
          <a:xfrm>
            <a:off x="3367669" y="3449658"/>
            <a:ext cx="1092820" cy="557561"/>
          </a:xfrm>
          <a:prstGeom prst="ellipse">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Hofstra.edu</a:t>
            </a:r>
          </a:p>
        </p:txBody>
      </p:sp>
      <p:sp>
        <p:nvSpPr>
          <p:cNvPr id="6" name="Oval 5">
            <a:extLst>
              <a:ext uri="{FF2B5EF4-FFF2-40B4-BE49-F238E27FC236}">
                <a16:creationId xmlns:a16="http://schemas.microsoft.com/office/drawing/2014/main" id="{EC4325FF-C3D8-2D5B-D486-41386973440B}"/>
              </a:ext>
            </a:extLst>
          </p:cNvPr>
          <p:cNvSpPr/>
          <p:nvPr/>
        </p:nvSpPr>
        <p:spPr>
          <a:xfrm>
            <a:off x="4966011" y="2672321"/>
            <a:ext cx="859684" cy="438614"/>
          </a:xfrm>
          <a:prstGeom prst="ellipse">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Engr</a:t>
            </a:r>
          </a:p>
        </p:txBody>
      </p:sp>
      <p:sp>
        <p:nvSpPr>
          <p:cNvPr id="7" name="Oval 6">
            <a:extLst>
              <a:ext uri="{FF2B5EF4-FFF2-40B4-BE49-F238E27FC236}">
                <a16:creationId xmlns:a16="http://schemas.microsoft.com/office/drawing/2014/main" id="{872B7942-470D-70D0-4457-3AAB90A3F34E}"/>
              </a:ext>
            </a:extLst>
          </p:cNvPr>
          <p:cNvSpPr/>
          <p:nvPr/>
        </p:nvSpPr>
        <p:spPr>
          <a:xfrm>
            <a:off x="4966011" y="3289825"/>
            <a:ext cx="859684" cy="438614"/>
          </a:xfrm>
          <a:prstGeom prst="ellipse">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CS</a:t>
            </a:r>
          </a:p>
        </p:txBody>
      </p:sp>
      <p:sp>
        <p:nvSpPr>
          <p:cNvPr id="8" name="Oval 7">
            <a:extLst>
              <a:ext uri="{FF2B5EF4-FFF2-40B4-BE49-F238E27FC236}">
                <a16:creationId xmlns:a16="http://schemas.microsoft.com/office/drawing/2014/main" id="{5A562CF0-46AA-9937-D14D-648132E2F7D0}"/>
              </a:ext>
            </a:extLst>
          </p:cNvPr>
          <p:cNvSpPr/>
          <p:nvPr/>
        </p:nvSpPr>
        <p:spPr>
          <a:xfrm>
            <a:off x="4966011" y="3907329"/>
            <a:ext cx="859684" cy="438614"/>
          </a:xfrm>
          <a:prstGeom prst="ellipse">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Math</a:t>
            </a:r>
          </a:p>
        </p:txBody>
      </p:sp>
      <p:sp>
        <p:nvSpPr>
          <p:cNvPr id="9" name="Oval 8">
            <a:extLst>
              <a:ext uri="{FF2B5EF4-FFF2-40B4-BE49-F238E27FC236}">
                <a16:creationId xmlns:a16="http://schemas.microsoft.com/office/drawing/2014/main" id="{82BCA5F8-2F0D-E1FA-BEC9-79B9DA92D037}"/>
              </a:ext>
            </a:extLst>
          </p:cNvPr>
          <p:cNvSpPr/>
          <p:nvPr/>
        </p:nvSpPr>
        <p:spPr>
          <a:xfrm>
            <a:off x="4890331" y="4524832"/>
            <a:ext cx="1011044" cy="438614"/>
          </a:xfrm>
          <a:prstGeom prst="ellipse">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Chemistry</a:t>
            </a:r>
          </a:p>
        </p:txBody>
      </p:sp>
      <p:cxnSp>
        <p:nvCxnSpPr>
          <p:cNvPr id="11" name="Straight Connector 10">
            <a:extLst>
              <a:ext uri="{FF2B5EF4-FFF2-40B4-BE49-F238E27FC236}">
                <a16:creationId xmlns:a16="http://schemas.microsoft.com/office/drawing/2014/main" id="{0C14EEEB-8175-23F5-2019-C219B4034C68}"/>
              </a:ext>
            </a:extLst>
          </p:cNvPr>
          <p:cNvCxnSpPr>
            <a:stCxn id="5" idx="7"/>
            <a:endCxn id="6" idx="3"/>
          </p:cNvCxnSpPr>
          <p:nvPr/>
        </p:nvCxnSpPr>
        <p:spPr>
          <a:xfrm flipV="1">
            <a:off x="4300449" y="3046701"/>
            <a:ext cx="791460" cy="48461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788A337-4979-3B78-9E4F-C53396D82D27}"/>
              </a:ext>
            </a:extLst>
          </p:cNvPr>
          <p:cNvCxnSpPr>
            <a:cxnSpLocks/>
            <a:stCxn id="5" idx="6"/>
            <a:endCxn id="7" idx="2"/>
          </p:cNvCxnSpPr>
          <p:nvPr/>
        </p:nvCxnSpPr>
        <p:spPr>
          <a:xfrm flipV="1">
            <a:off x="4460489" y="3509132"/>
            <a:ext cx="505522" cy="219307"/>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ACF28492-730E-7DE7-954A-5D6D0002BFE1}"/>
              </a:ext>
            </a:extLst>
          </p:cNvPr>
          <p:cNvCxnSpPr>
            <a:cxnSpLocks/>
            <a:stCxn id="5" idx="5"/>
            <a:endCxn id="8" idx="2"/>
          </p:cNvCxnSpPr>
          <p:nvPr/>
        </p:nvCxnSpPr>
        <p:spPr>
          <a:xfrm>
            <a:off x="4300449" y="3925566"/>
            <a:ext cx="665562" cy="20107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CD1711B7-F55D-8289-6C34-DEC0672735E5}"/>
              </a:ext>
            </a:extLst>
          </p:cNvPr>
          <p:cNvCxnSpPr>
            <a:cxnSpLocks/>
          </p:cNvCxnSpPr>
          <p:nvPr/>
        </p:nvCxnSpPr>
        <p:spPr>
          <a:xfrm>
            <a:off x="4163123" y="3993097"/>
            <a:ext cx="761726" cy="668738"/>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E244130B-0651-1EC4-CBBF-A99D4C7DAA04}"/>
              </a:ext>
            </a:extLst>
          </p:cNvPr>
          <p:cNvSpPr txBox="1"/>
          <p:nvPr/>
        </p:nvSpPr>
        <p:spPr>
          <a:xfrm>
            <a:off x="1865346" y="3568775"/>
            <a:ext cx="1561588" cy="338554"/>
          </a:xfrm>
          <a:prstGeom prst="rect">
            <a:avLst/>
          </a:prstGeom>
          <a:noFill/>
        </p:spPr>
        <p:txBody>
          <a:bodyPr wrap="square" rtlCol="0">
            <a:spAutoFit/>
          </a:bodyPr>
          <a:lstStyle/>
          <a:p>
            <a:r>
              <a:rPr lang="en-US" sz="1600" dirty="0"/>
              <a:t>123.100.0.0/16</a:t>
            </a:r>
          </a:p>
        </p:txBody>
      </p:sp>
      <p:sp>
        <p:nvSpPr>
          <p:cNvPr id="22" name="TextBox 21">
            <a:extLst>
              <a:ext uri="{FF2B5EF4-FFF2-40B4-BE49-F238E27FC236}">
                <a16:creationId xmlns:a16="http://schemas.microsoft.com/office/drawing/2014/main" id="{B9644645-EF9C-588D-EFEB-60C06E6E40D4}"/>
              </a:ext>
            </a:extLst>
          </p:cNvPr>
          <p:cNvSpPr txBox="1"/>
          <p:nvPr/>
        </p:nvSpPr>
        <p:spPr>
          <a:xfrm>
            <a:off x="5847997" y="3934982"/>
            <a:ext cx="1795991" cy="338554"/>
          </a:xfrm>
          <a:prstGeom prst="rect">
            <a:avLst/>
          </a:prstGeom>
          <a:noFill/>
        </p:spPr>
        <p:txBody>
          <a:bodyPr wrap="square" rtlCol="0">
            <a:spAutoFit/>
          </a:bodyPr>
          <a:lstStyle/>
          <a:p>
            <a:r>
              <a:rPr lang="en-US" sz="1600" dirty="0"/>
              <a:t>123.100.128.0/18</a:t>
            </a:r>
          </a:p>
        </p:txBody>
      </p:sp>
      <p:sp>
        <p:nvSpPr>
          <p:cNvPr id="23" name="TextBox 22">
            <a:extLst>
              <a:ext uri="{FF2B5EF4-FFF2-40B4-BE49-F238E27FC236}">
                <a16:creationId xmlns:a16="http://schemas.microsoft.com/office/drawing/2014/main" id="{26B85093-ECD9-A3D8-38B3-0C7E21E0876C}"/>
              </a:ext>
            </a:extLst>
          </p:cNvPr>
          <p:cNvSpPr txBox="1"/>
          <p:nvPr/>
        </p:nvSpPr>
        <p:spPr>
          <a:xfrm>
            <a:off x="5847997" y="4589730"/>
            <a:ext cx="1795991" cy="338554"/>
          </a:xfrm>
          <a:prstGeom prst="rect">
            <a:avLst/>
          </a:prstGeom>
          <a:noFill/>
        </p:spPr>
        <p:txBody>
          <a:bodyPr wrap="square" rtlCol="0">
            <a:spAutoFit/>
          </a:bodyPr>
          <a:lstStyle/>
          <a:p>
            <a:r>
              <a:rPr lang="en-US" sz="1600" dirty="0"/>
              <a:t>123.100.0.0/18</a:t>
            </a:r>
          </a:p>
        </p:txBody>
      </p:sp>
    </p:spTree>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440</Words>
  <Application>Microsoft Office PowerPoint</Application>
  <PresentationFormat>On-screen Show (16:9)</PresentationFormat>
  <Paragraphs>55</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Roboto</vt:lpstr>
      <vt:lpstr>Roboto Light</vt:lpstr>
      <vt:lpstr>Roboto Medium</vt:lpstr>
      <vt:lpstr>Arial</vt:lpstr>
      <vt:lpstr>Simple Lecture</vt:lpstr>
      <vt:lpstr>IP Addressing Exercises</vt:lpstr>
      <vt:lpstr>Q. IP Addressing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 Gu</dc:creator>
  <cp:lastModifiedBy>Zonghua Gu</cp:lastModifiedBy>
  <cp:revision>2</cp:revision>
  <dcterms:modified xsi:type="dcterms:W3CDTF">2026-01-31T21:55:52Z</dcterms:modified>
</cp:coreProperties>
</file>