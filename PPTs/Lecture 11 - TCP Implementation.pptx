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3.xml" ContentType="application/vnd.openxmlformats-officedocument.presentationml.notesSlide+xml"/>
  <Override PartName="/ppt/ink/ink4.xml" ContentType="application/inkml+xml"/>
  <Override PartName="/ppt/ink/ink5.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7" r:id="rId13"/>
    <p:sldId id="289" r:id="rId14"/>
    <p:sldId id="288" r:id="rId15"/>
    <p:sldId id="290" r:id="rId16"/>
    <p:sldId id="1246" r:id="rId17"/>
    <p:sldId id="2675" r:id="rId18"/>
    <p:sldId id="2676" r:id="rId19"/>
    <p:sldId id="267" r:id="rId20"/>
    <p:sldId id="268" r:id="rId21"/>
    <p:sldId id="269" r:id="rId22"/>
    <p:sldId id="271" r:id="rId23"/>
    <p:sldId id="272"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9144000" cy="5143500" type="screen16x9"/>
  <p:notesSz cx="6858000" cy="9144000"/>
  <p:embeddedFontLst>
    <p:embeddedFont>
      <p:font typeface="Consolas" panose="020B0609020204030204" pitchFamily="49"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Roboto Light" panose="02000000000000000000" pitchFamily="2" charset="0"/>
      <p:regular r:id="rId48"/>
      <p:bold r:id="rId49"/>
      <p:italic r:id="rId50"/>
      <p:boldItalic r:id="rId51"/>
    </p:embeddedFont>
    <p:embeddedFont>
      <p:font typeface="Roboto Medium" panose="02000000000000000000" pitchFamily="2" charset="0"/>
      <p:regular r:id="rId52"/>
      <p:bold r:id="rId53"/>
      <p:italic r:id="rId54"/>
      <p:boldItalic r:id="rId55"/>
    </p:embeddedFont>
    <p:embeddedFont>
      <p:font typeface="Tahoma" panose="020B0604030504040204" pitchFamily="34" charset="0"/>
      <p:regular r:id="rId56"/>
      <p:bold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196669-B43F-44D2-A6A0-6347D68FAC8E}" v="50" dt="2026-04-16T19:53:20.083"/>
  </p1510:revLst>
</p1510:revInfo>
</file>

<file path=ppt/tableStyles.xml><?xml version="1.0" encoding="utf-8"?>
<a:tblStyleLst xmlns:a="http://schemas.openxmlformats.org/drawingml/2006/main" def="{AF03A97D-8E77-47E1-9F38-7204C9F0EF1F}">
  <a:tblStyle styleId="{AF03A97D-8E77-47E1-9F38-7204C9F0EF1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683" autoAdjust="0"/>
  </p:normalViewPr>
  <p:slideViewPr>
    <p:cSldViewPr snapToGrid="0">
      <p:cViewPr varScale="1">
        <p:scale>
          <a:sx n="122" d="100"/>
          <a:sy n="122" d="100"/>
        </p:scale>
        <p:origin x="1206" y="9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10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modSld">
      <pc:chgData name="Zonghua Gu" userId="9a7e1853e1951ef5" providerId="LiveId" clId="{CF1FAA12-072C-4ED5-BA76-0FFFAEFDB88A}" dt="2026-04-16T21:41:04.019" v="86" actId="14100"/>
      <pc:docMkLst>
        <pc:docMk/>
      </pc:docMkLst>
      <pc:sldChg chg="modSp mod">
        <pc:chgData name="Zonghua Gu" userId="9a7e1853e1951ef5" providerId="LiveId" clId="{CF1FAA12-072C-4ED5-BA76-0FFFAEFDB88A}" dt="2026-04-16T21:41:04.019" v="86" actId="14100"/>
        <pc:sldMkLst>
          <pc:docMk/>
          <pc:sldMk cId="1073094052" sldId="290"/>
        </pc:sldMkLst>
        <pc:spChg chg="mod">
          <ac:chgData name="Zonghua Gu" userId="9a7e1853e1951ef5" providerId="LiveId" clId="{CF1FAA12-072C-4ED5-BA76-0FFFAEFDB88A}" dt="2026-04-16T21:41:04.019" v="86" actId="14100"/>
          <ac:spMkLst>
            <pc:docMk/>
            <pc:sldMk cId="1073094052" sldId="290"/>
            <ac:spMk id="13" creationId="{744B8E2E-D7CF-4AAE-BF4E-35DECC00D205}"/>
          </ac:spMkLst>
        </pc:spChg>
        <pc:spChg chg="mod">
          <ac:chgData name="Zonghua Gu" userId="9a7e1853e1951ef5" providerId="LiveId" clId="{CF1FAA12-072C-4ED5-BA76-0FFFAEFDB88A}" dt="2026-04-16T21:40:52.385" v="85" actId="552"/>
          <ac:spMkLst>
            <pc:docMk/>
            <pc:sldMk cId="1073094052" sldId="290"/>
            <ac:spMk id="37" creationId="{66F58AF7-B99D-8929-7334-B17BEC37D3F8}"/>
          </ac:spMkLst>
        </pc:spChg>
        <pc:spChg chg="mod">
          <ac:chgData name="Zonghua Gu" userId="9a7e1853e1951ef5" providerId="LiveId" clId="{CF1FAA12-072C-4ED5-BA76-0FFFAEFDB88A}" dt="2026-04-16T21:40:52.385" v="85" actId="552"/>
          <ac:spMkLst>
            <pc:docMk/>
            <pc:sldMk cId="1073094052" sldId="290"/>
            <ac:spMk id="38" creationId="{F6F1EBD5-1FEC-5C80-20B4-85BAA371E959}"/>
          </ac:spMkLst>
        </pc:spChg>
        <pc:spChg chg="mod">
          <ac:chgData name="Zonghua Gu" userId="9a7e1853e1951ef5" providerId="LiveId" clId="{CF1FAA12-072C-4ED5-BA76-0FFFAEFDB88A}" dt="2026-04-16T19:50:34.700" v="23" actId="207"/>
          <ac:spMkLst>
            <pc:docMk/>
            <pc:sldMk cId="1073094052" sldId="290"/>
            <ac:spMk id="39" creationId="{BCC8EA42-0028-4253-5891-162FC53970F3}"/>
          </ac:spMkLst>
        </pc:spChg>
        <pc:spChg chg="mod">
          <ac:chgData name="Zonghua Gu" userId="9a7e1853e1951ef5" providerId="LiveId" clId="{CF1FAA12-072C-4ED5-BA76-0FFFAEFDB88A}" dt="2026-04-16T19:53:31.092" v="76" actId="1076"/>
          <ac:spMkLst>
            <pc:docMk/>
            <pc:sldMk cId="1073094052" sldId="290"/>
            <ac:spMk id="40" creationId="{25205C16-1039-44DA-74D1-C18705A47AF0}"/>
          </ac:spMkLst>
        </pc:spChg>
      </pc:sldChg>
      <pc:sldChg chg="modSp mod">
        <pc:chgData name="Zonghua Gu" userId="9a7e1853e1951ef5" providerId="LiveId" clId="{CF1FAA12-072C-4ED5-BA76-0FFFAEFDB88A}" dt="2026-04-16T19:46:05.552" v="22" actId="1076"/>
        <pc:sldMkLst>
          <pc:docMk/>
          <pc:sldMk cId="3725108778" sldId="2677"/>
        </pc:sldMkLst>
        <pc:spChg chg="mod">
          <ac:chgData name="Zonghua Gu" userId="9a7e1853e1951ef5" providerId="LiveId" clId="{CF1FAA12-072C-4ED5-BA76-0FFFAEFDB88A}" dt="2026-04-16T19:46:05.552" v="22" actId="1076"/>
          <ac:spMkLst>
            <pc:docMk/>
            <pc:sldMk cId="3725108778" sldId="2677"/>
            <ac:spMk id="44" creationId="{6C17E17A-0D23-D1DB-84FF-0667F1EB7CC2}"/>
          </ac:spMkLst>
        </pc:spChg>
        <pc:grpChg chg="mod">
          <ac:chgData name="Zonghua Gu" userId="9a7e1853e1951ef5" providerId="LiveId" clId="{CF1FAA12-072C-4ED5-BA76-0FFFAEFDB88A}" dt="2026-04-16T19:46:01.621" v="21" actId="1035"/>
          <ac:grpSpMkLst>
            <pc:docMk/>
            <pc:sldMk cId="3725108778" sldId="2677"/>
            <ac:grpSpMk id="11" creationId="{99527C01-3267-4F00-621C-CE2B9A58A133}"/>
          </ac:grpSpMkLst>
        </pc:grpChg>
        <pc:grpChg chg="mod">
          <ac:chgData name="Zonghua Gu" userId="9a7e1853e1951ef5" providerId="LiveId" clId="{CF1FAA12-072C-4ED5-BA76-0FFFAEFDB88A}" dt="2026-04-16T19:46:01.621" v="21" actId="1035"/>
          <ac:grpSpMkLst>
            <pc:docMk/>
            <pc:sldMk cId="3725108778" sldId="2677"/>
            <ac:grpSpMk id="18" creationId="{99E26A13-8347-34D1-C9DD-68F928205E1B}"/>
          </ac:grpSpMkLst>
        </pc:grpChg>
        <pc:grpChg chg="mod">
          <ac:chgData name="Zonghua Gu" userId="9a7e1853e1951ef5" providerId="LiveId" clId="{CF1FAA12-072C-4ED5-BA76-0FFFAEFDB88A}" dt="2026-04-16T19:46:01.621" v="21" actId="1035"/>
          <ac:grpSpMkLst>
            <pc:docMk/>
            <pc:sldMk cId="3725108778" sldId="2677"/>
            <ac:grpSpMk id="39" creationId="{FF63E2C6-54B8-B0A1-CCAC-E0DE74496998}"/>
          </ac:grpSpMkLst>
        </pc:grpChg>
        <pc:inkChg chg="mod">
          <ac:chgData name="Zonghua Gu" userId="9a7e1853e1951ef5" providerId="LiveId" clId="{CF1FAA12-072C-4ED5-BA76-0FFFAEFDB88A}" dt="2026-04-16T19:46:01.621" v="21" actId="1035"/>
          <ac:inkMkLst>
            <pc:docMk/>
            <pc:sldMk cId="3725108778" sldId="2677"/>
            <ac:inkMk id="42" creationId="{E6F09508-D0A6-8437-DB51-3BD17E4E3A45}"/>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39:56.459"/>
    </inkml:context>
    <inkml:brush xml:id="br0">
      <inkml:brushProperty name="width" value="0.05" units="cm"/>
      <inkml:brushProperty name="height" value="0.05" units="cm"/>
      <inkml:brushProperty name="ignorePressure" value="1"/>
    </inkml:brush>
  </inkml:definitions>
  <inkml:trace contextRef="#ctx0" brushRef="#br0">0 1,'0'-1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39:56.460"/>
    </inkml:context>
    <inkml:brush xml:id="br0">
      <inkml:brushProperty name="width" value="0.05" units="cm"/>
      <inkml:brushProperty name="height" value="0.05" units="cm"/>
      <inkml:brushProperty name="ignorePressure" value="1"/>
    </inkml:brush>
  </inkml:definitions>
  <inkml:trace contextRef="#ctx0" brushRef="#br0">0 1,'0'-1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39:56.461"/>
    </inkml:context>
    <inkml:brush xml:id="br0">
      <inkml:brushProperty name="width" value="0.05" units="cm"/>
      <inkml:brushProperty name="height" value="0.05" units="cm"/>
      <inkml:brushProperty name="ignorePressure" value="1"/>
    </inkml:brush>
  </inkml:definitions>
  <inkml:trace contextRef="#ctx0" brushRef="#br0">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2:59:43.686"/>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2:59:43.687"/>
    </inkml:context>
    <inkml:brush xml:id="br0">
      <inkml:brushProperty name="width" value="0.05" units="cm"/>
      <inkml:brushProperty name="height" value="0.05" units="cm"/>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a691bae84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ea691bae84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Slides template credit: Josh Hug, Lisa Yan</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 dirty="0"/>
              <a:t>today is the second half of the TCP implementation lecture and we're</a:t>
            </a:r>
            <a:endParaRPr dirty="0"/>
          </a:p>
          <a:p>
            <a:pPr marL="0" lvl="0" indent="0" algn="l" rtl="0">
              <a:spcBef>
                <a:spcPts val="0"/>
              </a:spcBef>
              <a:spcAft>
                <a:spcPts val="0"/>
              </a:spcAft>
              <a:buClr>
                <a:schemeClr val="dk1"/>
              </a:buClr>
              <a:buSzPts val="1100"/>
              <a:buFont typeface="Arial"/>
              <a:buNone/>
            </a:pPr>
            <a:r>
              <a:rPr lang="en" dirty="0"/>
              <a:t>0:45</a:t>
            </a:r>
            <a:endParaRPr dirty="0"/>
          </a:p>
          <a:p>
            <a:pPr marL="0" lvl="0" indent="0" algn="l" rtl="0">
              <a:spcBef>
                <a:spcPts val="0"/>
              </a:spcBef>
              <a:spcAft>
                <a:spcPts val="0"/>
              </a:spcAft>
              <a:buClr>
                <a:schemeClr val="dk1"/>
              </a:buClr>
              <a:buSzPts val="1100"/>
              <a:buFont typeface="Arial"/>
              <a:buNone/>
            </a:pPr>
            <a:r>
              <a:rPr lang="en" dirty="0"/>
              <a:t>going to take what we saw last time the ideas that we Ed to design reliability</a:t>
            </a:r>
            <a:endParaRPr dirty="0"/>
          </a:p>
          <a:p>
            <a:pPr marL="0" lvl="0" indent="0" algn="l" rtl="0">
              <a:spcBef>
                <a:spcPts val="0"/>
              </a:spcBef>
              <a:spcAft>
                <a:spcPts val="0"/>
              </a:spcAft>
              <a:buClr>
                <a:schemeClr val="dk1"/>
              </a:buClr>
              <a:buSzPts val="1100"/>
              <a:buFont typeface="Arial"/>
              <a:buNone/>
            </a:pPr>
            <a:r>
              <a:rPr lang="en" dirty="0"/>
              <a:t>0:50</a:t>
            </a:r>
            <a:endParaRPr dirty="0"/>
          </a:p>
          <a:p>
            <a:pPr marL="0" lvl="0" indent="0" algn="l" rtl="0">
              <a:spcBef>
                <a:spcPts val="0"/>
              </a:spcBef>
              <a:spcAft>
                <a:spcPts val="0"/>
              </a:spcAft>
              <a:buClr>
                <a:schemeClr val="dk1"/>
              </a:buClr>
              <a:buSzPts val="1100"/>
              <a:buFont typeface="Arial"/>
              <a:buNone/>
            </a:pPr>
            <a:r>
              <a:rPr lang="en" dirty="0"/>
              <a:t>and we're going to formalize them into an actual protocol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And if we have time we might also do some congestion control to get ahead on that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ea691bae84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ea691bae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1:03</a:t>
            </a:r>
            <a:endParaRPr/>
          </a:p>
          <a:p>
            <a:pPr marL="0" lvl="0" indent="0" algn="l" rtl="0">
              <a:spcBef>
                <a:spcPts val="0"/>
              </a:spcBef>
              <a:spcAft>
                <a:spcPts val="0"/>
              </a:spcAft>
              <a:buClr>
                <a:schemeClr val="dk1"/>
              </a:buClr>
              <a:buSzPts val="1100"/>
              <a:buFont typeface="Arial"/>
              <a:buNone/>
            </a:pPr>
            <a:r>
              <a:rPr lang="en"/>
              <a:t>TCP and the first thing we'll do is we'll take the packet view of TCP and change it to a bite view</a:t>
            </a: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ea691bae84_0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ea691bae84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100" b="0" i="0" u="none" strike="noStrike" cap="none" dirty="0" err="1">
                <a:solidFill>
                  <a:srgbClr val="000000"/>
                </a:solidFill>
                <a:effectLst/>
                <a:latin typeface="Arial"/>
                <a:ea typeface="Arial"/>
                <a:cs typeface="Arial"/>
                <a:sym typeface="Arial"/>
              </a:rPr>
              <a:t>ecture</a:t>
            </a:r>
            <a:r>
              <a:rPr lang="en-US" altLang="zh-CN" sz="1100" b="0" i="0" u="none" strike="noStrike" cap="none" dirty="0">
                <a:solidFill>
                  <a:srgbClr val="000000"/>
                </a:solidFill>
                <a:effectLst/>
                <a:latin typeface="Arial"/>
                <a:ea typeface="Arial"/>
                <a:cs typeface="Arial"/>
                <a:sym typeface="Arial"/>
              </a:rPr>
              <a:t> 10 designed reliability; Lecture 11 maps those ideas onto real TCP bytes, state, flags, and headers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ea691bae8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ea691bae8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B stream that we talked about and remember the bite stream is a sequence of bytes in order</a:t>
            </a:r>
            <a:endParaRPr/>
          </a:p>
          <a:p>
            <a:pPr marL="0" lvl="0" indent="0" algn="l" rtl="0">
              <a:spcBef>
                <a:spcPts val="0"/>
              </a:spcBef>
              <a:spcAft>
                <a:spcPts val="0"/>
              </a:spcAft>
              <a:buClr>
                <a:schemeClr val="dk1"/>
              </a:buClr>
              <a:buSzPts val="1100"/>
              <a:buFont typeface="Arial"/>
              <a:buNone/>
            </a:pPr>
            <a:r>
              <a:rPr lang="en"/>
              <a:t>3:33</a:t>
            </a:r>
            <a:endParaRPr/>
          </a:p>
          <a:p>
            <a:pPr marL="0" lvl="0" indent="0" algn="l" rtl="0">
              <a:spcBef>
                <a:spcPts val="0"/>
              </a:spcBef>
              <a:spcAft>
                <a:spcPts val="0"/>
              </a:spcAft>
              <a:buClr>
                <a:schemeClr val="dk1"/>
              </a:buClr>
              <a:buSzPts val="1100"/>
              <a:buFont typeface="Arial"/>
              <a:buNone/>
            </a:pPr>
            <a:r>
              <a:rPr lang="en"/>
              <a:t>infinite length the sender has a bite stream we feed it into a pipe and then the recipient receives those exact same</a:t>
            </a:r>
            <a:endParaRPr/>
          </a:p>
          <a:p>
            <a:pPr marL="0" lvl="0" indent="0" algn="l" rtl="0">
              <a:spcBef>
                <a:spcPts val="0"/>
              </a:spcBef>
              <a:spcAft>
                <a:spcPts val="0"/>
              </a:spcAft>
              <a:buClr>
                <a:schemeClr val="dk1"/>
              </a:buClr>
              <a:buSzPts val="1100"/>
              <a:buFont typeface="Arial"/>
              <a:buNone/>
            </a:pPr>
            <a:r>
              <a:rPr lang="en"/>
              <a:t>3:40</a:t>
            </a:r>
            <a:endParaRPr/>
          </a:p>
          <a:p>
            <a:pPr marL="0" lvl="0" indent="0" algn="l" rtl="0">
              <a:spcBef>
                <a:spcPts val="0"/>
              </a:spcBef>
              <a:spcAft>
                <a:spcPts val="0"/>
              </a:spcAft>
              <a:buClr>
                <a:schemeClr val="dk1"/>
              </a:buClr>
              <a:buSzPts val="1100"/>
              <a:buFont typeface="Arial"/>
              <a:buNone/>
            </a:pPr>
            <a:r>
              <a:rPr lang="en"/>
              <a:t>bytes in the same order reliably now the only difference between this picture and</a:t>
            </a:r>
            <a:endParaRPr/>
          </a:p>
          <a:p>
            <a:pPr marL="0" lvl="0" indent="0" algn="l" rtl="0">
              <a:spcBef>
                <a:spcPts val="0"/>
              </a:spcBef>
              <a:spcAft>
                <a:spcPts val="0"/>
              </a:spcAft>
              <a:buClr>
                <a:schemeClr val="dk1"/>
              </a:buClr>
              <a:buSzPts val="1100"/>
              <a:buFont typeface="Arial"/>
              <a:buNone/>
            </a:pPr>
            <a:r>
              <a:rPr lang="en"/>
              <a:t>3:46</a:t>
            </a:r>
            <a:endParaRPr/>
          </a:p>
          <a:p>
            <a:pPr marL="0" lvl="0" indent="0" algn="l" rtl="0">
              <a:spcBef>
                <a:spcPts val="0"/>
              </a:spcBef>
              <a:spcAft>
                <a:spcPts val="0"/>
              </a:spcAft>
              <a:buClr>
                <a:schemeClr val="dk1"/>
              </a:buClr>
              <a:buSzPts val="1100"/>
              <a:buFont typeface="Arial"/>
              <a:buNone/>
            </a:pPr>
            <a:r>
              <a:rPr lang="en"/>
              <a:t>the ones you've previously seen is that I have stamped numbers on every single</a:t>
            </a:r>
            <a:endParaRPr/>
          </a:p>
          <a:p>
            <a:pPr marL="0" lvl="0" indent="0" algn="l" rtl="0">
              <a:spcBef>
                <a:spcPts val="0"/>
              </a:spcBef>
              <a:spcAft>
                <a:spcPts val="0"/>
              </a:spcAft>
              <a:buClr>
                <a:schemeClr val="dk1"/>
              </a:buClr>
              <a:buSzPts val="1100"/>
              <a:buFont typeface="Arial"/>
              <a:buNone/>
            </a:pPr>
            <a:r>
              <a:rPr lang="en"/>
              <a:t>3:52</a:t>
            </a:r>
            <a:endParaRPr/>
          </a:p>
          <a:p>
            <a:pPr marL="0" lvl="0" indent="0" algn="l" rtl="0">
              <a:spcBef>
                <a:spcPts val="0"/>
              </a:spcBef>
              <a:spcAft>
                <a:spcPts val="0"/>
              </a:spcAft>
              <a:buClr>
                <a:schemeClr val="dk1"/>
              </a:buClr>
              <a:buSzPts val="1100"/>
              <a:buFont typeface="Arial"/>
              <a:buNone/>
            </a:pPr>
            <a:r>
              <a:rPr lang="en"/>
              <a:t>bite so now we have to connect this picture with the packet picture from last time and this is how we'll square</a:t>
            </a:r>
            <a:endParaRPr/>
          </a:p>
          <a:p>
            <a:pPr marL="0" lvl="0" indent="0" algn="l" rtl="0">
              <a:spcBef>
                <a:spcPts val="0"/>
              </a:spcBef>
              <a:spcAft>
                <a:spcPts val="0"/>
              </a:spcAft>
              <a:buClr>
                <a:schemeClr val="dk1"/>
              </a:buClr>
              <a:buSzPts val="1100"/>
              <a:buFont typeface="Arial"/>
              <a:buNone/>
            </a:pPr>
            <a:r>
              <a:rPr lang="en"/>
              <a:t>3:59</a:t>
            </a:r>
            <a:endParaRPr/>
          </a:p>
          <a:p>
            <a:pPr marL="0" lvl="0" indent="0" algn="l" rtl="0">
              <a:spcBef>
                <a:spcPts val="0"/>
              </a:spcBef>
              <a:spcAft>
                <a:spcPts val="0"/>
              </a:spcAft>
              <a:buClr>
                <a:schemeClr val="dk1"/>
              </a:buClr>
              <a:buSzPts val="1100"/>
              <a:buFont typeface="Arial"/>
              <a:buNone/>
            </a:pPr>
            <a:r>
              <a:rPr lang="en"/>
              <a:t>the two pictures together so the way that you build a packet as byes come in</a:t>
            </a:r>
            <a:endParaRPr/>
          </a:p>
          <a:p>
            <a:pPr marL="0" lvl="0" indent="0" algn="l" rtl="0">
              <a:spcBef>
                <a:spcPts val="0"/>
              </a:spcBef>
              <a:spcAft>
                <a:spcPts val="0"/>
              </a:spcAft>
              <a:buClr>
                <a:schemeClr val="dk1"/>
              </a:buClr>
              <a:buSzPts val="1100"/>
              <a:buFont typeface="Arial"/>
              <a:buNone/>
            </a:pPr>
            <a:r>
              <a:rPr lang="en"/>
              <a:t>4:05</a:t>
            </a:r>
            <a:endParaRPr/>
          </a:p>
          <a:p>
            <a:pPr marL="0" lvl="0" indent="0" algn="l" rtl="0">
              <a:spcBef>
                <a:spcPts val="0"/>
              </a:spcBef>
              <a:spcAft>
                <a:spcPts val="0"/>
              </a:spcAft>
              <a:buClr>
                <a:schemeClr val="dk1"/>
              </a:buClr>
              <a:buSzPts val="1100"/>
              <a:buFont typeface="Arial"/>
              <a:buNone/>
            </a:pPr>
            <a:r>
              <a:rPr lang="en"/>
              <a:t>and remember the sender application doesn't have to give you the entire infinite length by stream at once it</a:t>
            </a:r>
            <a:endParaRPr/>
          </a:p>
          <a:p>
            <a:pPr marL="0" lvl="0" indent="0" algn="l" rtl="0">
              <a:spcBef>
                <a:spcPts val="0"/>
              </a:spcBef>
              <a:spcAft>
                <a:spcPts val="0"/>
              </a:spcAft>
              <a:buClr>
                <a:schemeClr val="dk1"/>
              </a:buClr>
              <a:buSzPts val="1100"/>
              <a:buFont typeface="Arial"/>
              <a:buNone/>
            </a:pPr>
            <a:r>
              <a:rPr lang="en"/>
              <a:t>4:11</a:t>
            </a:r>
            <a:endParaRPr/>
          </a:p>
          <a:p>
            <a:pPr marL="0" lvl="0" indent="0" algn="l" rtl="0">
              <a:spcBef>
                <a:spcPts val="0"/>
              </a:spcBef>
              <a:spcAft>
                <a:spcPts val="0"/>
              </a:spcAft>
              <a:buClr>
                <a:schemeClr val="dk1"/>
              </a:buClr>
              <a:buSzPts val="1100"/>
              <a:buFont typeface="Arial"/>
              <a:buNone/>
            </a:pPr>
            <a:r>
              <a:rPr lang="en"/>
              <a:t>could feed you the bytes one by one for example if it's Computing data and it's sending out any results that it computes</a:t>
            </a: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ea691bae84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2ea691bae84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76b9ae8b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276b9ae8b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packets larger than the MTU will get fragmented and we don't want that so we</a:t>
            </a:r>
            <a:endParaRPr/>
          </a:p>
          <a:p>
            <a:pPr marL="0" lvl="0" indent="0" algn="l" rtl="0">
              <a:spcBef>
                <a:spcPts val="0"/>
              </a:spcBef>
              <a:spcAft>
                <a:spcPts val="0"/>
              </a:spcAft>
              <a:buClr>
                <a:schemeClr val="dk1"/>
              </a:buClr>
              <a:buSzPts val="1100"/>
              <a:buFont typeface="Arial"/>
              <a:buNone/>
            </a:pPr>
            <a:r>
              <a:rPr lang="en"/>
              <a:t>6:53</a:t>
            </a:r>
            <a:endParaRPr/>
          </a:p>
          <a:p>
            <a:pPr marL="0" lvl="0" indent="0" algn="l" rtl="0">
              <a:spcBef>
                <a:spcPts val="0"/>
              </a:spcBef>
              <a:spcAft>
                <a:spcPts val="0"/>
              </a:spcAft>
              <a:buClr>
                <a:schemeClr val="dk1"/>
              </a:buClr>
              <a:buSzPts val="1100"/>
              <a:buFont typeface="Arial"/>
              <a:buNone/>
            </a:pPr>
            <a:r>
              <a:rPr lang="en"/>
              <a:t>will say the IP packet is limited to MTU bites and to figure out how big one of</a:t>
            </a:r>
            <a:endParaRPr/>
          </a:p>
          <a:p>
            <a:pPr marL="0" lvl="0" indent="0" algn="l" rtl="0">
              <a:spcBef>
                <a:spcPts val="0"/>
              </a:spcBef>
              <a:spcAft>
                <a:spcPts val="0"/>
              </a:spcAft>
              <a:buClr>
                <a:schemeClr val="dk1"/>
              </a:buClr>
              <a:buSzPts val="1100"/>
              <a:buFont typeface="Arial"/>
              <a:buNone/>
            </a:pPr>
            <a:r>
              <a:rPr lang="en"/>
              <a:t>6:59</a:t>
            </a:r>
            <a:endParaRPr/>
          </a:p>
          <a:p>
            <a:pPr marL="0" lvl="0" indent="0" algn="l" rtl="0">
              <a:spcBef>
                <a:spcPts val="0"/>
              </a:spcBef>
              <a:spcAft>
                <a:spcPts val="0"/>
              </a:spcAft>
              <a:buClr>
                <a:schemeClr val="dk1"/>
              </a:buClr>
              <a:buSzPts val="1100"/>
              <a:buFont typeface="Arial"/>
              <a:buNone/>
            </a:pPr>
            <a:r>
              <a:rPr lang="en"/>
              <a:t>these segments can be we just have to do some math this whole thing can be up to MTU bytes that's a limit that's set on</a:t>
            </a:r>
            <a:endParaRPr/>
          </a:p>
          <a:p>
            <a:pPr marL="0" lvl="0" indent="0" algn="l" rtl="0">
              <a:spcBef>
                <a:spcPts val="0"/>
              </a:spcBef>
              <a:spcAft>
                <a:spcPts val="0"/>
              </a:spcAft>
              <a:buClr>
                <a:schemeClr val="dk1"/>
              </a:buClr>
              <a:buSzPts val="1100"/>
              <a:buFont typeface="Arial"/>
              <a:buNone/>
            </a:pPr>
            <a:r>
              <a:rPr lang="en"/>
              <a:t>7:06</a:t>
            </a:r>
            <a:endParaRPr/>
          </a:p>
          <a:p>
            <a:pPr marL="0" lvl="0" indent="0" algn="l" rtl="0">
              <a:spcBef>
                <a:spcPts val="0"/>
              </a:spcBef>
              <a:spcAft>
                <a:spcPts val="0"/>
              </a:spcAft>
              <a:buClr>
                <a:schemeClr val="dk1"/>
              </a:buClr>
              <a:buSzPts val="1100"/>
              <a:buFont typeface="Arial"/>
              <a:buNone/>
            </a:pPr>
            <a:r>
              <a:rPr lang="en"/>
              <a:t>the Internet it's 1500 in real life but some of it's being used for the IP header so we have to subtract that off</a:t>
            </a:r>
            <a:endParaRPr/>
          </a:p>
          <a:p>
            <a:pPr marL="0" lvl="0" indent="0" algn="l" rtl="0">
              <a:spcBef>
                <a:spcPts val="0"/>
              </a:spcBef>
              <a:spcAft>
                <a:spcPts val="0"/>
              </a:spcAft>
              <a:buClr>
                <a:schemeClr val="dk1"/>
              </a:buClr>
              <a:buSzPts val="1100"/>
              <a:buFont typeface="Arial"/>
              <a:buNone/>
            </a:pPr>
            <a:r>
              <a:rPr lang="en"/>
              <a:t>7:13</a:t>
            </a:r>
            <a:endParaRPr/>
          </a:p>
          <a:p>
            <a:pPr marL="0" lvl="0" indent="0" algn="l" rtl="0">
              <a:spcBef>
                <a:spcPts val="0"/>
              </a:spcBef>
              <a:spcAft>
                <a:spcPts val="0"/>
              </a:spcAft>
              <a:buClr>
                <a:schemeClr val="dk1"/>
              </a:buClr>
              <a:buSzPts val="1100"/>
              <a:buFont typeface="Arial"/>
              <a:buNone/>
            </a:pPr>
            <a:r>
              <a:rPr lang="en"/>
              <a:t>and some of it's being used for the TCP header so we subtract that off and whatever is left that number is MSS that</a:t>
            </a: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76b9ae8b0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76b9ae8b0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here's one thing we haven't talked about that is important for security and that is the</a:t>
            </a:r>
            <a:endParaRPr/>
          </a:p>
          <a:p>
            <a:pPr marL="0" lvl="0" indent="0" algn="l" rtl="0">
              <a:spcBef>
                <a:spcPts val="0"/>
              </a:spcBef>
              <a:spcAft>
                <a:spcPts val="0"/>
              </a:spcAft>
              <a:buClr>
                <a:schemeClr val="dk1"/>
              </a:buClr>
              <a:buSzPts val="1100"/>
              <a:buFont typeface="Arial"/>
              <a:buNone/>
            </a:pPr>
            <a:r>
              <a:rPr lang="en"/>
              <a:t>7:56</a:t>
            </a:r>
            <a:endParaRPr/>
          </a:p>
          <a:p>
            <a:pPr marL="0" lvl="0" indent="0" algn="l" rtl="0">
              <a:spcBef>
                <a:spcPts val="0"/>
              </a:spcBef>
              <a:spcAft>
                <a:spcPts val="0"/>
              </a:spcAft>
              <a:buClr>
                <a:schemeClr val="dk1"/>
              </a:buClr>
              <a:buSzPts val="1100"/>
              <a:buFont typeface="Arial"/>
              <a:buNone/>
            </a:pPr>
            <a:r>
              <a:rPr lang="en"/>
              <a:t>fact that sequence numbers actually shouldn't start at zero if you want to know why the security course cs161 goes</a:t>
            </a:r>
            <a:endParaRPr/>
          </a:p>
          <a:p>
            <a:pPr marL="0" lvl="0" indent="0" algn="l" rtl="0">
              <a:spcBef>
                <a:spcPts val="0"/>
              </a:spcBef>
              <a:spcAft>
                <a:spcPts val="0"/>
              </a:spcAft>
              <a:buClr>
                <a:schemeClr val="dk1"/>
              </a:buClr>
              <a:buSzPts val="1100"/>
              <a:buFont typeface="Arial"/>
              <a:buNone/>
            </a:pPr>
            <a:r>
              <a:rPr lang="en"/>
              <a:t>8:02</a:t>
            </a:r>
            <a:endParaRPr/>
          </a:p>
          <a:p>
            <a:pPr marL="0" lvl="0" indent="0" algn="l" rtl="0">
              <a:spcBef>
                <a:spcPts val="0"/>
              </a:spcBef>
              <a:spcAft>
                <a:spcPts val="0"/>
              </a:spcAft>
              <a:buClr>
                <a:schemeClr val="dk1"/>
              </a:buClr>
              <a:buSzPts val="1100"/>
              <a:buFont typeface="Arial"/>
              <a:buNone/>
            </a:pPr>
            <a:r>
              <a:rPr lang="en"/>
              <a:t>into a lot more detail of why this is the case but just know for this class that there is a very important security</a:t>
            </a:r>
            <a:endParaRPr/>
          </a:p>
          <a:p>
            <a:pPr marL="0" lvl="0" indent="0" algn="l" rtl="0">
              <a:spcBef>
                <a:spcPts val="0"/>
              </a:spcBef>
              <a:spcAft>
                <a:spcPts val="0"/>
              </a:spcAft>
              <a:buClr>
                <a:schemeClr val="dk1"/>
              </a:buClr>
              <a:buSzPts val="1100"/>
              <a:buFont typeface="Arial"/>
              <a:buNone/>
            </a:pPr>
            <a:r>
              <a:rPr lang="en"/>
              <a:t>8:09</a:t>
            </a:r>
            <a:endParaRPr/>
          </a:p>
          <a:p>
            <a:pPr marL="0" lvl="0" indent="0" algn="l" rtl="0">
              <a:spcBef>
                <a:spcPts val="0"/>
              </a:spcBef>
              <a:spcAft>
                <a:spcPts val="0"/>
              </a:spcAft>
              <a:buClr>
                <a:schemeClr val="dk1"/>
              </a:buClr>
              <a:buSzPts val="1100"/>
              <a:buFont typeface="Arial"/>
              <a:buNone/>
            </a:pPr>
            <a:r>
              <a:rPr lang="en"/>
              <a:t>reason and for that reason we cannot start the counting at zero instead we</a:t>
            </a:r>
            <a:endParaRPr/>
          </a:p>
          <a:p>
            <a:pPr marL="0" lvl="0" indent="0" algn="l" rtl="0">
              <a:spcBef>
                <a:spcPts val="0"/>
              </a:spcBef>
              <a:spcAft>
                <a:spcPts val="0"/>
              </a:spcAft>
              <a:buClr>
                <a:schemeClr val="dk1"/>
              </a:buClr>
              <a:buSzPts val="1100"/>
              <a:buFont typeface="Arial"/>
              <a:buNone/>
            </a:pPr>
            <a:r>
              <a:rPr lang="en"/>
              <a:t>8:14</a:t>
            </a:r>
            <a:endParaRPr/>
          </a:p>
          <a:p>
            <a:pPr marL="0" lvl="0" indent="0" algn="l" rtl="0">
              <a:spcBef>
                <a:spcPts val="0"/>
              </a:spcBef>
              <a:spcAft>
                <a:spcPts val="0"/>
              </a:spcAft>
              <a:buClr>
                <a:schemeClr val="dk1"/>
              </a:buClr>
              <a:buSzPts val="1100"/>
              <a:buFont typeface="Arial"/>
              <a:buNone/>
            </a:pPr>
            <a:r>
              <a:rPr lang="en"/>
              <a:t>have to pick some random number and here we'll call it Isn initial sequence number and then just start at that</a:t>
            </a:r>
            <a:endParaRPr/>
          </a:p>
          <a:p>
            <a:pPr marL="0" lvl="0" indent="0" algn="l" rtl="0">
              <a:spcBef>
                <a:spcPts val="0"/>
              </a:spcBef>
              <a:spcAft>
                <a:spcPts val="0"/>
              </a:spcAft>
              <a:buClr>
                <a:schemeClr val="dk1"/>
              </a:buClr>
              <a:buSzPts val="1100"/>
              <a:buFont typeface="Arial"/>
              <a:buNone/>
            </a:pPr>
            <a:r>
              <a:rPr lang="en"/>
              <a:t>8:21</a:t>
            </a:r>
            <a:endParaRPr/>
          </a:p>
          <a:p>
            <a:pPr marL="0" lvl="0" indent="0" algn="l" rtl="0">
              <a:spcBef>
                <a:spcPts val="0"/>
              </a:spcBef>
              <a:spcAft>
                <a:spcPts val="0"/>
              </a:spcAft>
              <a:buClr>
                <a:schemeClr val="dk1"/>
              </a:buClr>
              <a:buSzPts val="1100"/>
              <a:buFont typeface="Arial"/>
              <a:buNone/>
            </a:pPr>
            <a:r>
              <a:rPr lang="en"/>
              <a:t>number and start counting up so if that number is 120 okay great then the first bite is 121 and then 122 and then 123</a:t>
            </a:r>
            <a:endParaRPr/>
          </a:p>
          <a:p>
            <a:pPr marL="0" lvl="0" indent="0" algn="l" rtl="0">
              <a:spcBef>
                <a:spcPts val="0"/>
              </a:spcBef>
              <a:spcAft>
                <a:spcPts val="0"/>
              </a:spcAft>
              <a:buClr>
                <a:schemeClr val="dk1"/>
              </a:buClr>
              <a:buSzPts val="1100"/>
              <a:buFont typeface="Arial"/>
              <a:buNone/>
            </a:pPr>
            <a:r>
              <a:rPr lang="en"/>
              <a:t>8:30</a:t>
            </a:r>
            <a:endParaRPr/>
          </a:p>
          <a:p>
            <a:pPr marL="0" lvl="0" indent="0" algn="l" rtl="0">
              <a:spcBef>
                <a:spcPts val="0"/>
              </a:spcBef>
              <a:spcAft>
                <a:spcPts val="0"/>
              </a:spcAft>
              <a:buClr>
                <a:schemeClr val="dk1"/>
              </a:buClr>
              <a:buSzPts val="1100"/>
              <a:buFont typeface="Arial"/>
              <a:buNone/>
            </a:pPr>
            <a:r>
              <a:rPr lang="en"/>
              <a:t>and then 124 and so on this doesn't really change anything we've talked about so far it's still a bite stream</a:t>
            </a:r>
            <a:endParaRPr/>
          </a:p>
          <a:p>
            <a:pPr marL="0" lvl="0" indent="0" algn="l" rtl="0">
              <a:spcBef>
                <a:spcPts val="0"/>
              </a:spcBef>
              <a:spcAft>
                <a:spcPts val="0"/>
              </a:spcAft>
              <a:buClr>
                <a:schemeClr val="dk1"/>
              </a:buClr>
              <a:buSzPts val="1100"/>
              <a:buFont typeface="Arial"/>
              <a:buNone/>
            </a:pPr>
            <a:r>
              <a:rPr lang="en"/>
              <a:t>8:37</a:t>
            </a:r>
            <a:endParaRPr/>
          </a:p>
          <a:p>
            <a:pPr marL="0" lvl="0" indent="0" algn="l" rtl="0">
              <a:spcBef>
                <a:spcPts val="0"/>
              </a:spcBef>
              <a:spcAft>
                <a:spcPts val="0"/>
              </a:spcAft>
              <a:buClr>
                <a:schemeClr val="dk1"/>
              </a:buClr>
              <a:buSzPts val="1100"/>
              <a:buFont typeface="Arial"/>
              <a:buNone/>
            </a:pPr>
            <a:r>
              <a:rPr lang="en"/>
              <a:t>and you're still counting the bytes all the way up the only difference is don't start counting from zero that's the only</a:t>
            </a:r>
            <a:endParaRPr/>
          </a:p>
          <a:p>
            <a:pPr marL="0" lvl="0" indent="0" algn="l" rtl="0">
              <a:spcBef>
                <a:spcPts val="0"/>
              </a:spcBef>
              <a:spcAft>
                <a:spcPts val="0"/>
              </a:spcAft>
              <a:buClr>
                <a:schemeClr val="dk1"/>
              </a:buClr>
              <a:buSzPts val="1100"/>
              <a:buFont typeface="Arial"/>
              <a:buNone/>
            </a:pPr>
            <a:r>
              <a:rPr lang="en"/>
              <a:t>8:44</a:t>
            </a:r>
            <a:endParaRPr/>
          </a:p>
          <a:p>
            <a:pPr marL="0" lvl="0" indent="0" algn="l" rtl="0">
              <a:spcBef>
                <a:spcPts val="0"/>
              </a:spcBef>
              <a:spcAft>
                <a:spcPts val="0"/>
              </a:spcAft>
              <a:buClr>
                <a:schemeClr val="dk1"/>
              </a:buClr>
              <a:buSzPts val="1100"/>
              <a:buFont typeface="Arial"/>
              <a:buNone/>
            </a:pPr>
            <a:r>
              <a:rPr lang="en"/>
              <a:t>difference and it doesn't change any of the other implementation details but</a:t>
            </a: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276b9ae8b0f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276b9ae8b0f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276b9ae8b0f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276b9ae8b0f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ea7889d45f_0_4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2ea7889d45f_0_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ea7889d45f_0_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2ea7889d45f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E" altLang="zh-CN" dirty="0"/>
          </a:p>
          <a:p>
            <a:endParaRPr lang="en-GB" altLang="zh-CN" dirty="0"/>
          </a:p>
          <a:p>
            <a:r>
              <a:rPr lang="en-GB" altLang="zh-CN" dirty="0"/>
              <a:t>HostB receives </a:t>
            </a:r>
            <a:r>
              <a:rPr lang="en-GB" altLang="zh-CN" dirty="0" err="1"/>
              <a:t>Seq</a:t>
            </a:r>
            <a:r>
              <a:rPr lang="en-GB" altLang="zh-CN" dirty="0"/>
              <a:t># 192-291 (100 Bytes), and expects the next received </a:t>
            </a:r>
            <a:r>
              <a:rPr lang="en-GB" altLang="zh-CN" dirty="0" err="1"/>
              <a:t>Seq</a:t>
            </a:r>
            <a:r>
              <a:rPr lang="en-GB" altLang="zh-CN" dirty="0"/>
              <a:t># to be 292</a:t>
            </a:r>
            <a:endParaRPr lang="en-SE" altLang="zh-CN" dirty="0"/>
          </a:p>
          <a:p>
            <a:endParaRPr lang="zh-CN" altLang="en-US" dirty="0"/>
          </a:p>
        </p:txBody>
      </p:sp>
    </p:spTree>
    <p:extLst>
      <p:ext uri="{BB962C8B-B14F-4D97-AF65-F5344CB8AC3E}">
        <p14:creationId xmlns:p14="http://schemas.microsoft.com/office/powerpoint/2010/main" val="3783594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altLang="zh-CN" dirty="0"/>
              <a:t>  </a:t>
            </a:r>
            <a:r>
              <a:rPr kumimoji="0" lang="en-US" altLang="zh-CN" sz="1100" b="0" i="0" u="none" strike="noStrike" kern="0" cap="none" spc="0" normalizeH="0" baseline="0" noProof="0" dirty="0" err="1">
                <a:ln>
                  <a:noFill/>
                </a:ln>
                <a:solidFill>
                  <a:srgbClr val="000000"/>
                </a:solidFill>
                <a:effectLst/>
                <a:uLnTx/>
                <a:uFillTx/>
                <a:latin typeface="Tahoma" charset="0"/>
                <a:ea typeface="ＭＳ Ｐゴシック" charset="0"/>
                <a:cs typeface="Arial"/>
                <a:sym typeface="Arial"/>
              </a:rPr>
              <a:t>SendBase</a:t>
            </a:r>
            <a:r>
              <a:rPr kumimoji="0" lang="en-US" altLang="zh-CN" sz="1100" b="0" i="0" u="none" strike="noStrike" kern="0" cap="none" spc="0" normalizeH="0" baseline="0" noProof="0" dirty="0">
                <a:ln>
                  <a:noFill/>
                </a:ln>
                <a:solidFill>
                  <a:srgbClr val="000000"/>
                </a:solidFill>
                <a:effectLst/>
                <a:uLnTx/>
                <a:uFillTx/>
                <a:latin typeface="Tahoma" charset="0"/>
                <a:ea typeface="ＭＳ Ｐゴシック" charset="0"/>
                <a:cs typeface="Arial"/>
                <a:sym typeface="Arial"/>
              </a:rPr>
              <a:t>=100</a:t>
            </a:r>
          </a:p>
          <a:p>
            <a:endParaRPr lang="en-GB" altLang="zh-CN" dirty="0"/>
          </a:p>
          <a:p>
            <a:r>
              <a:rPr lang="en-GB" altLang="zh-CN" dirty="0"/>
              <a:t>HostB receives </a:t>
            </a:r>
            <a:r>
              <a:rPr lang="en-GB" altLang="zh-CN" dirty="0" err="1"/>
              <a:t>Seq</a:t>
            </a:r>
            <a:r>
              <a:rPr lang="en-GB" altLang="zh-CN" dirty="0"/>
              <a:t># 100-119 (20 bytes), and expects the next received </a:t>
            </a:r>
            <a:r>
              <a:rPr lang="en-GB" altLang="zh-CN" dirty="0" err="1"/>
              <a:t>Seq</a:t>
            </a:r>
            <a:r>
              <a:rPr lang="en-GB" altLang="zh-CN" dirty="0"/>
              <a:t># to be 120</a:t>
            </a:r>
            <a:endParaRPr lang="en-SE" altLang="zh-CN" dirty="0"/>
          </a:p>
          <a:p>
            <a:endParaRPr lang="zh-CN" altLang="en-US" dirty="0"/>
          </a:p>
        </p:txBody>
      </p:sp>
    </p:spTree>
    <p:extLst>
      <p:ext uri="{BB962C8B-B14F-4D97-AF65-F5344CB8AC3E}">
        <p14:creationId xmlns:p14="http://schemas.microsoft.com/office/powerpoint/2010/main" val="3112733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ltLang="zh-CN" dirty="0"/>
          </a:p>
          <a:p>
            <a:r>
              <a:rPr lang="en-GB" altLang="zh-CN" dirty="0"/>
              <a:t>1. Host B receives bytes 92-99 (8 bytes), and expects the next received </a:t>
            </a:r>
            <a:r>
              <a:rPr lang="en-GB" altLang="zh-CN" dirty="0" err="1"/>
              <a:t>Seq</a:t>
            </a:r>
            <a:r>
              <a:rPr lang="en-GB" altLang="zh-CN" dirty="0"/>
              <a:t># to be 100, but the ACK is lost.</a:t>
            </a:r>
          </a:p>
          <a:p>
            <a:r>
              <a:rPr lang="en-GB" altLang="zh-CN" dirty="0"/>
              <a:t>1. Host B receives bytes 92-99 (8 bytes), and expects next byte = 100</a:t>
            </a:r>
          </a:p>
          <a:p>
            <a:endParaRPr lang="en-GB" altLang="zh-CN" dirty="0"/>
          </a:p>
          <a:p>
            <a:endParaRPr lang="en-GB" altLang="zh-CN" dirty="0"/>
          </a:p>
          <a:p>
            <a:endParaRPr lang="en-GB" altLang="zh-CN" dirty="0"/>
          </a:p>
          <a:p>
            <a:endParaRPr lang="en-SE" altLang="zh-CN" dirty="0"/>
          </a:p>
          <a:p>
            <a:endParaRPr lang="zh-CN" altLang="en-US" dirty="0"/>
          </a:p>
        </p:txBody>
      </p:sp>
    </p:spTree>
    <p:extLst>
      <p:ext uri="{BB962C8B-B14F-4D97-AF65-F5344CB8AC3E}">
        <p14:creationId xmlns:p14="http://schemas.microsoft.com/office/powerpoint/2010/main" val="601448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TCP uses sequence numbers to keep track of the bytes sent in a data stream. Each byte of data is assigned a unique sequence number.</a:t>
            </a:r>
          </a:p>
          <a:p>
            <a:endParaRPr lang="en-GB" dirty="0"/>
          </a:p>
          <a:p>
            <a:r>
              <a:rPr lang="en-GB" dirty="0"/>
              <a:t>## Given Information</a:t>
            </a:r>
          </a:p>
          <a:p>
            <a:endParaRPr lang="en-GB" dirty="0"/>
          </a:p>
          <a:p>
            <a:r>
              <a:rPr lang="en-GB" dirty="0"/>
              <a:t>- Initial sequence number: 0</a:t>
            </a:r>
          </a:p>
          <a:p>
            <a:r>
              <a:rPr lang="en-GB" dirty="0"/>
              <a:t>- Each segment contains 100 bytes</a:t>
            </a:r>
          </a:p>
          <a:p>
            <a:r>
              <a:rPr lang="en-GB" dirty="0"/>
              <a:t>- Segments are sent at t = 1, 2, 3, 4, 5, 6, 7, 8</a:t>
            </a:r>
          </a:p>
          <a:p>
            <a:endParaRPr lang="en-GB" dirty="0"/>
          </a:p>
          <a:p>
            <a:r>
              <a:rPr lang="en-GB" dirty="0"/>
              <a:t>## Calculating the Sequence Number</a:t>
            </a:r>
          </a:p>
          <a:p>
            <a:endParaRPr lang="en-GB" dirty="0"/>
          </a:p>
          <a:p>
            <a:r>
              <a:rPr lang="en-GB" dirty="0"/>
              <a:t>To find the sequence number of the segment sent at t=2, we need to consider the following:</a:t>
            </a:r>
          </a:p>
          <a:p>
            <a:endParaRPr lang="en-GB" dirty="0"/>
          </a:p>
          <a:p>
            <a:r>
              <a:rPr lang="en-GB" dirty="0"/>
              <a:t>1. The initial sequence number is 0 for the first segment (t=1).</a:t>
            </a:r>
          </a:p>
          <a:p>
            <a:r>
              <a:rPr lang="en-GB" dirty="0"/>
              <a:t>2. Each segment contains 100 bytes.</a:t>
            </a:r>
          </a:p>
          <a:p>
            <a:r>
              <a:rPr lang="en-GB" dirty="0"/>
              <a:t>3. The sequence number for each subsequent segment increases by the number of bytes in the previous segment.</a:t>
            </a:r>
          </a:p>
          <a:p>
            <a:endParaRPr lang="en-GB" dirty="0"/>
          </a:p>
          <a:p>
            <a:r>
              <a:rPr lang="en-GB" dirty="0"/>
              <a:t>Therefore:</a:t>
            </a:r>
          </a:p>
          <a:p>
            <a:endParaRPr lang="en-GB" dirty="0"/>
          </a:p>
          <a:p>
            <a:r>
              <a:rPr lang="en-GB" dirty="0"/>
              <a:t>- Segment at t=1: Sequence number = 0</a:t>
            </a:r>
          </a:p>
          <a:p>
            <a:r>
              <a:rPr lang="en-GB" dirty="0"/>
              <a:t>- Segment at t=2: Sequence number = 0 + 100 = 100</a:t>
            </a:r>
          </a:p>
          <a:p>
            <a:endParaRPr lang="en-GB" dirty="0"/>
          </a:p>
          <a:p>
            <a:r>
              <a:rPr lang="en-GB" dirty="0"/>
              <a:t>## Explanation</a:t>
            </a:r>
          </a:p>
          <a:p>
            <a:endParaRPr lang="en-GB" dirty="0"/>
          </a:p>
          <a:p>
            <a:r>
              <a:rPr lang="en-GB" dirty="0"/>
              <a:t>The sequence number for the segment sent at t=2 is 100. This is because:</a:t>
            </a:r>
          </a:p>
          <a:p>
            <a:endParaRPr lang="en-GB" dirty="0"/>
          </a:p>
          <a:p>
            <a:r>
              <a:rPr lang="en-GB" dirty="0"/>
              <a:t>1. The first segment (t=1) starts with sequence number 0.</a:t>
            </a:r>
          </a:p>
          <a:p>
            <a:r>
              <a:rPr lang="en-GB" dirty="0"/>
              <a:t>2. Each segment contains 100 bytes of data.</a:t>
            </a:r>
          </a:p>
          <a:p>
            <a:r>
              <a:rPr lang="en-GB" dirty="0"/>
              <a:t>3. The second segment (t=2) will have a sequence number that is the sum of the initial sequence number (0) and the number of bytes in the first segment (100).</a:t>
            </a:r>
          </a:p>
          <a:p>
            <a:endParaRPr lang="en-GB" dirty="0"/>
          </a:p>
          <a:p>
            <a:r>
              <a:rPr lang="en-GB" dirty="0"/>
              <a:t>This pattern would continue for subsequent segments:</a:t>
            </a:r>
          </a:p>
          <a:p>
            <a:endParaRPr lang="en-GB" dirty="0"/>
          </a:p>
          <a:p>
            <a:r>
              <a:rPr lang="en-GB" dirty="0"/>
              <a:t>- Segment at t=3: Sequence number = 100 + 100 = 200</a:t>
            </a:r>
          </a:p>
          <a:p>
            <a:r>
              <a:rPr lang="en-GB" dirty="0"/>
              <a:t>- Segment at t=4: Sequence number = 200 + 100 = 300</a:t>
            </a:r>
          </a:p>
          <a:p>
            <a:endParaRPr lang="en-GB" dirty="0"/>
          </a:p>
          <a:p>
            <a:r>
              <a:rPr lang="en-GB" dirty="0"/>
              <a:t>And so on.</a:t>
            </a:r>
          </a:p>
          <a:p>
            <a:endParaRPr lang="en-GB" dirty="0"/>
          </a:p>
          <a:p>
            <a:r>
              <a:rPr lang="en-GB" dirty="0"/>
              <a:t>It's important to note that the lost segment at t=4 and the lost ACK at t=7 do not affect the sequence numbers of the segments being sent. They would, however, impact the retransmission and acknowledgment process in a real TCP connection.</a:t>
            </a:r>
          </a:p>
        </p:txBody>
      </p:sp>
      <p:sp>
        <p:nvSpPr>
          <p:cNvPr id="4" name="Slide Number Placeholder 3"/>
          <p:cNvSpPr>
            <a:spLocks noGrp="1"/>
          </p:cNvSpPr>
          <p:nvPr>
            <p:ph type="sldNum" sz="quarter" idx="5"/>
          </p:nvPr>
        </p:nvSpPr>
        <p:spPr/>
        <p:txBody>
          <a:bodyPr/>
          <a:lstStyle/>
          <a:p>
            <a:fld id="{3D91EEAC-CFEF-9647-876F-EABC6B8338D7}" type="slidenum">
              <a:rPr lang="en-US" smtClean="0"/>
              <a:t>16</a:t>
            </a:fld>
            <a:endParaRPr lang="en-US" dirty="0"/>
          </a:p>
        </p:txBody>
      </p:sp>
    </p:spTree>
    <p:extLst>
      <p:ext uri="{BB962C8B-B14F-4D97-AF65-F5344CB8AC3E}">
        <p14:creationId xmlns:p14="http://schemas.microsoft.com/office/powerpoint/2010/main" val="2433627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dirty="0"/>
              <a:t>The sequence number for the segment sent at t=2 is 100. This is because: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dirty="0"/>
              <a:t>,  Calculate the Sequence Number</a:t>
            </a:r>
          </a:p>
          <a:p>
            <a:endParaRPr lang="zh-CN" altLang="en-US" dirty="0"/>
          </a:p>
        </p:txBody>
      </p:sp>
    </p:spTree>
    <p:extLst>
      <p:ext uri="{BB962C8B-B14F-4D97-AF65-F5344CB8AC3E}">
        <p14:creationId xmlns:p14="http://schemas.microsoft.com/office/powerpoint/2010/main" val="3706510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D1FE1-992A-5C3E-4041-91388D277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368AD-3A31-8D86-6C38-F8DB18C24FD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3541A62-CAE8-C25E-CAB0-B8166266B5A9}"/>
              </a:ext>
            </a:extLst>
          </p:cNvPr>
          <p:cNvSpPr>
            <a:spLocks noGrp="1"/>
          </p:cNvSpPr>
          <p:nvPr>
            <p:ph type="body" idx="1"/>
          </p:nvPr>
        </p:nvSpPr>
        <p:spPr/>
        <p:txBody>
          <a:bodyPr/>
          <a:lstStyle/>
          <a:p>
            <a:r>
              <a:rPr lang="en-US" altLang="zh-CN" dirty="0"/>
              <a:t>This ACK value makes sense because:</a:t>
            </a:r>
          </a:p>
          <a:p>
            <a:r>
              <a:rPr lang="en-US" altLang="zh-CN" dirty="0"/>
              <a:t>1. Only one segment has been received (the one sent at t = 1).</a:t>
            </a:r>
          </a:p>
          <a:p>
            <a:r>
              <a:rPr lang="en-US" altLang="zh-CN" dirty="0"/>
              <a:t>2. Each segment contains 100 bytes.</a:t>
            </a:r>
          </a:p>
          <a:p>
            <a:r>
              <a:rPr lang="en-US" altLang="zh-CN" dirty="0"/>
              <a:t>3. The receiver is acknowledging the receipt of the first segment and indicating it's ready for the next byte.</a:t>
            </a:r>
          </a:p>
          <a:p>
            <a:endParaRPr lang="en-US" altLang="zh-C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dirty="0"/>
              <a:t>The sequence number for the segment sent at t=2 is 100. This is because: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dirty="0"/>
              <a:t>,  Calculate the Sequence Number</a:t>
            </a:r>
          </a:p>
          <a:p>
            <a:endParaRPr lang="zh-CN" altLang="en-US" dirty="0"/>
          </a:p>
        </p:txBody>
      </p:sp>
    </p:spTree>
    <p:extLst>
      <p:ext uri="{BB962C8B-B14F-4D97-AF65-F5344CB8AC3E}">
        <p14:creationId xmlns:p14="http://schemas.microsoft.com/office/powerpoint/2010/main" val="491905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76b9ae8b0f_0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276b9ae8b0f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76b9ae8b0f_0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276b9ae8b0f_0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76b9ae8b0f_0_4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276b9ae8b0f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a:t>To support full-duplex connections:</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76b9ae8b0f_0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276b9ae8b0f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76b9ae8b0f_0_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276b9ae8b0f_0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76b9ae8b0f_0_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5" name="Google Shape;885;g276b9ae8b0f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76b9ae8b0f_0_6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276b9ae8b0f_0_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7a17e4937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27a17e493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ea7889d45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4" name="Google Shape;974;g2ea7889d45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ea7889d45f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2ea7889d45f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ea7889d45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2" name="Google Shape;1042;g2ea7889d45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ea7889d45f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2ea7889d45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2ea7889d45f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2ea7889d45f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g2ea7889d45f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5" name="Google Shape;1225;g2ea7889d45f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100" b="0" i="0" u="none" strike="noStrike" cap="none" dirty="0">
                <a:solidFill>
                  <a:srgbClr val="000000"/>
                </a:solidFill>
                <a:effectLst/>
                <a:latin typeface="Arial"/>
                <a:ea typeface="Arial"/>
                <a:cs typeface="Arial"/>
                <a:sym typeface="Arial"/>
              </a:rPr>
              <a:t>uses two loss-detection triggers: timer expiration and three duplicate ACKs. Receiving three copies of the same cumulative ACK signals that a later segment arrived but an earlier one is missing, so the sender immediately retransmits the first unacknowledged segment (leftmost byte of the window) without waiting for the timer.</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g2ea7889d45f_0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5" name="Google Shape;1285;g2ea7889d45f_0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2ea7889d45f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2ea7889d45f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g2ea7889d45f_0_5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9" name="Google Shape;1299;g2ea7889d45f_0_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g2ea7889d45f_0_5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6" name="Google Shape;1306;g2ea7889d45f_0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g2ea7889d45f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3" name="Google Shape;1313;g2ea7889d45f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1" name="Google Shape;11;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628650" y="1293020"/>
            <a:ext cx="7886700" cy="3263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6914712" y="4832317"/>
            <a:ext cx="2057400" cy="273844"/>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4130022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1"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png"/><Relationship Id="rId7" Type="http://schemas.openxmlformats.org/officeDocument/2006/relationships/customXml" Target="../ink/ink3.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customXml" Target="../ink/ink2.xml"/><Relationship Id="rId5" Type="http://schemas.openxmlformats.org/officeDocument/2006/relationships/image" Target="../media/image40.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customXml" Target="../ink/ink5.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3" name="Google Shape;143;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endParaRPr sz="1600" dirty="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TCP Implementation</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BF9000"/>
                </a:solidFill>
                <a:latin typeface="Roboto Medium"/>
                <a:ea typeface="Roboto Medium"/>
                <a:cs typeface="Roboto Medium"/>
                <a:sym typeface="Roboto Medium"/>
              </a:rPr>
              <a:t>Lecture 11 (Transport 2)</a:t>
            </a:r>
            <a:endParaRPr sz="1200" dirty="0">
              <a:solidFill>
                <a:srgbClr val="BF9000"/>
              </a:solidFill>
              <a:latin typeface="Roboto Medium"/>
              <a:ea typeface="Roboto Medium"/>
              <a:cs typeface="Roboto Medium"/>
              <a:sym typeface="Roboto Medium"/>
            </a:endParaRPr>
          </a:p>
        </p:txBody>
      </p:sp>
      <p:sp>
        <p:nvSpPr>
          <p:cNvPr id="146" name="Google Shape;146;p24"/>
          <p:cNvSpPr/>
          <p:nvPr/>
        </p:nvSpPr>
        <p:spPr>
          <a:xfrm>
            <a:off x="3966596" y="1647395"/>
            <a:ext cx="1178400" cy="232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47" name="Google Shape;147;p24"/>
          <p:cNvCxnSpPr>
            <a:endCxn id="148" idx="1"/>
          </p:cNvCxnSpPr>
          <p:nvPr/>
        </p:nvCxnSpPr>
        <p:spPr>
          <a:xfrm>
            <a:off x="4555873"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49" name="Google Shape;149;p24"/>
          <p:cNvCxnSpPr>
            <a:endCxn id="150" idx="1"/>
          </p:cNvCxnSpPr>
          <p:nvPr/>
        </p:nvCxnSpPr>
        <p:spPr>
          <a:xfrm>
            <a:off x="4686809"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1" name="Google Shape;151;p24"/>
          <p:cNvCxnSpPr>
            <a:endCxn id="152" idx="1"/>
          </p:cNvCxnSpPr>
          <p:nvPr/>
        </p:nvCxnSpPr>
        <p:spPr>
          <a:xfrm>
            <a:off x="4817744"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3" name="Google Shape;153;p24"/>
          <p:cNvCxnSpPr>
            <a:endCxn id="154" idx="1"/>
          </p:cNvCxnSpPr>
          <p:nvPr/>
        </p:nvCxnSpPr>
        <p:spPr>
          <a:xfrm>
            <a:off x="4948680"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5" name="Google Shape;155;p24"/>
          <p:cNvCxnSpPr>
            <a:endCxn id="156" idx="1"/>
          </p:cNvCxnSpPr>
          <p:nvPr/>
        </p:nvCxnSpPr>
        <p:spPr>
          <a:xfrm>
            <a:off x="5079616"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7" name="Google Shape;157;p24"/>
          <p:cNvCxnSpPr>
            <a:endCxn id="158" idx="1"/>
          </p:cNvCxnSpPr>
          <p:nvPr/>
        </p:nvCxnSpPr>
        <p:spPr>
          <a:xfrm>
            <a:off x="4424938"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9" name="Google Shape;159;p24"/>
          <p:cNvCxnSpPr>
            <a:endCxn id="160" idx="1"/>
          </p:cNvCxnSpPr>
          <p:nvPr/>
        </p:nvCxnSpPr>
        <p:spPr>
          <a:xfrm>
            <a:off x="4294002"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61" name="Google Shape;161;p24"/>
          <p:cNvCxnSpPr>
            <a:endCxn id="162" idx="1"/>
          </p:cNvCxnSpPr>
          <p:nvPr/>
        </p:nvCxnSpPr>
        <p:spPr>
          <a:xfrm>
            <a:off x="4163067"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63" name="Google Shape;163;p24"/>
          <p:cNvCxnSpPr>
            <a:endCxn id="164" idx="1"/>
          </p:cNvCxnSpPr>
          <p:nvPr/>
        </p:nvCxnSpPr>
        <p:spPr>
          <a:xfrm>
            <a:off x="4032131" y="1878833"/>
            <a:ext cx="0" cy="229200"/>
          </a:xfrm>
          <a:prstGeom prst="straightConnector1">
            <a:avLst/>
          </a:prstGeom>
          <a:noFill/>
          <a:ln w="9525" cap="flat" cmpd="sng">
            <a:solidFill>
              <a:schemeClr val="dk2"/>
            </a:solidFill>
            <a:prstDash val="solid"/>
            <a:round/>
            <a:headEnd type="none" w="med" len="med"/>
            <a:tailEnd type="triangle" w="med" len="med"/>
          </a:ln>
        </p:spPr>
      </p:cxnSp>
      <p:sp>
        <p:nvSpPr>
          <p:cNvPr id="165" name="Google Shape;165;p24"/>
          <p:cNvSpPr/>
          <p:nvPr/>
        </p:nvSpPr>
        <p:spPr>
          <a:xfrm rot="5400000">
            <a:off x="352331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6" name="Google Shape;166;p24"/>
          <p:cNvSpPr/>
          <p:nvPr/>
        </p:nvSpPr>
        <p:spPr>
          <a:xfrm rot="5400000">
            <a:off x="365425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7" name="Google Shape;167;p24"/>
          <p:cNvSpPr/>
          <p:nvPr/>
        </p:nvSpPr>
        <p:spPr>
          <a:xfrm rot="5400000">
            <a:off x="378518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8" name="Google Shape;168;p24"/>
          <p:cNvSpPr/>
          <p:nvPr/>
        </p:nvSpPr>
        <p:spPr>
          <a:xfrm rot="5400000">
            <a:off x="391612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9" name="Google Shape;169;p24"/>
          <p:cNvSpPr/>
          <p:nvPr/>
        </p:nvSpPr>
        <p:spPr>
          <a:xfrm rot="5400000">
            <a:off x="404706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0" name="Google Shape;170;p24"/>
          <p:cNvSpPr/>
          <p:nvPr/>
        </p:nvSpPr>
        <p:spPr>
          <a:xfrm rot="5400000">
            <a:off x="417799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1" name="Google Shape;171;p24"/>
          <p:cNvSpPr/>
          <p:nvPr/>
        </p:nvSpPr>
        <p:spPr>
          <a:xfrm rot="5400000">
            <a:off x="4308931"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2" name="Google Shape;172;p24"/>
          <p:cNvSpPr/>
          <p:nvPr/>
        </p:nvSpPr>
        <p:spPr>
          <a:xfrm rot="5400000">
            <a:off x="443986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3" name="Google Shape;173;p24"/>
          <p:cNvSpPr/>
          <p:nvPr/>
        </p:nvSpPr>
        <p:spPr>
          <a:xfrm rot="5400000">
            <a:off x="457080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4" name="Google Shape;174;p24"/>
          <p:cNvSpPr/>
          <p:nvPr/>
        </p:nvSpPr>
        <p:spPr>
          <a:xfrm rot="5400000">
            <a:off x="470173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5" name="Google Shape;175;p24"/>
          <p:cNvSpPr/>
          <p:nvPr/>
        </p:nvSpPr>
        <p:spPr>
          <a:xfrm rot="5400000">
            <a:off x="483267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6" name="Google Shape;176;p24"/>
          <p:cNvSpPr/>
          <p:nvPr/>
        </p:nvSpPr>
        <p:spPr>
          <a:xfrm rot="5400000">
            <a:off x="496360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7" name="Google Shape;177;p24"/>
          <p:cNvSpPr/>
          <p:nvPr/>
        </p:nvSpPr>
        <p:spPr>
          <a:xfrm rot="5400000">
            <a:off x="509454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8" name="Google Shape;178;p24"/>
          <p:cNvSpPr/>
          <p:nvPr/>
        </p:nvSpPr>
        <p:spPr>
          <a:xfrm rot="5400000">
            <a:off x="522547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9" name="Google Shape;179;p24"/>
          <p:cNvSpPr/>
          <p:nvPr/>
        </p:nvSpPr>
        <p:spPr>
          <a:xfrm rot="5400000">
            <a:off x="535641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0" name="Google Shape;180;p24"/>
          <p:cNvSpPr/>
          <p:nvPr/>
        </p:nvSpPr>
        <p:spPr>
          <a:xfrm rot="5400000">
            <a:off x="548735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1" name="Google Shape;181;p24"/>
          <p:cNvSpPr/>
          <p:nvPr/>
        </p:nvSpPr>
        <p:spPr>
          <a:xfrm rot="5400000">
            <a:off x="561828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2" name="Google Shape;182;p24"/>
          <p:cNvSpPr/>
          <p:nvPr/>
        </p:nvSpPr>
        <p:spPr>
          <a:xfrm rot="5400000">
            <a:off x="574922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3" name="Google Shape;183;p24"/>
          <p:cNvSpPr/>
          <p:nvPr/>
        </p:nvSpPr>
        <p:spPr>
          <a:xfrm rot="5400000">
            <a:off x="588015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4" name="Google Shape;184;p24"/>
          <p:cNvSpPr/>
          <p:nvPr/>
        </p:nvSpPr>
        <p:spPr>
          <a:xfrm rot="5400000">
            <a:off x="601109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5" name="Google Shape;185;p24"/>
          <p:cNvSpPr/>
          <p:nvPr/>
        </p:nvSpPr>
        <p:spPr>
          <a:xfrm rot="5400000">
            <a:off x="614202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6" name="Google Shape;186;p24"/>
          <p:cNvSpPr/>
          <p:nvPr/>
        </p:nvSpPr>
        <p:spPr>
          <a:xfrm rot="5400000">
            <a:off x="627296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7" name="Google Shape;187;p24"/>
          <p:cNvSpPr/>
          <p:nvPr/>
        </p:nvSpPr>
        <p:spPr>
          <a:xfrm rot="5400000">
            <a:off x="640389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8" name="Google Shape;188;p24"/>
          <p:cNvSpPr/>
          <p:nvPr/>
        </p:nvSpPr>
        <p:spPr>
          <a:xfrm rot="5400000">
            <a:off x="653483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9" name="Google Shape;189;p24"/>
          <p:cNvSpPr/>
          <p:nvPr/>
        </p:nvSpPr>
        <p:spPr>
          <a:xfrm rot="5400000">
            <a:off x="666577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0" name="Google Shape;190;p24"/>
          <p:cNvSpPr/>
          <p:nvPr/>
        </p:nvSpPr>
        <p:spPr>
          <a:xfrm rot="5400000">
            <a:off x="679670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1" name="Google Shape;191;p24"/>
          <p:cNvSpPr/>
          <p:nvPr/>
        </p:nvSpPr>
        <p:spPr>
          <a:xfrm rot="5400000">
            <a:off x="6927641"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2" name="Google Shape;192;p24"/>
          <p:cNvSpPr/>
          <p:nvPr/>
        </p:nvSpPr>
        <p:spPr>
          <a:xfrm rot="5400000">
            <a:off x="705857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3" name="Google Shape;193;p24"/>
          <p:cNvSpPr/>
          <p:nvPr/>
        </p:nvSpPr>
        <p:spPr>
          <a:xfrm rot="5400000">
            <a:off x="718951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4" name="Google Shape;194;p24"/>
          <p:cNvSpPr/>
          <p:nvPr/>
        </p:nvSpPr>
        <p:spPr>
          <a:xfrm rot="5400000">
            <a:off x="732044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5" name="Google Shape;195;p24"/>
          <p:cNvSpPr/>
          <p:nvPr/>
        </p:nvSpPr>
        <p:spPr>
          <a:xfrm rot="5400000">
            <a:off x="745138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6" name="Google Shape;196;p24"/>
          <p:cNvSpPr/>
          <p:nvPr/>
        </p:nvSpPr>
        <p:spPr>
          <a:xfrm rot="5400000">
            <a:off x="758231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7" name="Google Shape;197;p24"/>
          <p:cNvSpPr/>
          <p:nvPr/>
        </p:nvSpPr>
        <p:spPr>
          <a:xfrm rot="5400000">
            <a:off x="771325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8" name="Google Shape;198;p24"/>
          <p:cNvSpPr/>
          <p:nvPr/>
        </p:nvSpPr>
        <p:spPr>
          <a:xfrm rot="5400000">
            <a:off x="7844190"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9" name="Google Shape;199;p24"/>
          <p:cNvSpPr/>
          <p:nvPr/>
        </p:nvSpPr>
        <p:spPr>
          <a:xfrm rot="5400000">
            <a:off x="7975126"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0" name="Google Shape;200;p24"/>
          <p:cNvSpPr/>
          <p:nvPr/>
        </p:nvSpPr>
        <p:spPr>
          <a:xfrm rot="5400000">
            <a:off x="8106061"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1" name="Google Shape;201;p24"/>
          <p:cNvSpPr/>
          <p:nvPr/>
        </p:nvSpPr>
        <p:spPr>
          <a:xfrm>
            <a:off x="3728082" y="1195296"/>
            <a:ext cx="1178400" cy="232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4" name="Google Shape;164;p24"/>
          <p:cNvSpPr/>
          <p:nvPr/>
        </p:nvSpPr>
        <p:spPr>
          <a:xfrm rot="5400000">
            <a:off x="376183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2" name="Google Shape;162;p24"/>
          <p:cNvSpPr/>
          <p:nvPr/>
        </p:nvSpPr>
        <p:spPr>
          <a:xfrm rot="5400000">
            <a:off x="389276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0" name="Google Shape;160;p24"/>
          <p:cNvSpPr/>
          <p:nvPr/>
        </p:nvSpPr>
        <p:spPr>
          <a:xfrm rot="5400000">
            <a:off x="402370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8" name="Google Shape;158;p24"/>
          <p:cNvSpPr/>
          <p:nvPr/>
        </p:nvSpPr>
        <p:spPr>
          <a:xfrm rot="5400000">
            <a:off x="415463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8" name="Google Shape;148;p24"/>
          <p:cNvSpPr/>
          <p:nvPr/>
        </p:nvSpPr>
        <p:spPr>
          <a:xfrm rot="5400000">
            <a:off x="428557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0" name="Google Shape;150;p24"/>
          <p:cNvSpPr/>
          <p:nvPr/>
        </p:nvSpPr>
        <p:spPr>
          <a:xfrm rot="5400000">
            <a:off x="441650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2" name="Google Shape;152;p24"/>
          <p:cNvSpPr/>
          <p:nvPr/>
        </p:nvSpPr>
        <p:spPr>
          <a:xfrm rot="5400000">
            <a:off x="454744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4" name="Google Shape;154;p24"/>
          <p:cNvSpPr/>
          <p:nvPr/>
        </p:nvSpPr>
        <p:spPr>
          <a:xfrm rot="5400000">
            <a:off x="467838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6" name="Google Shape;156;p24"/>
          <p:cNvSpPr/>
          <p:nvPr/>
        </p:nvSpPr>
        <p:spPr>
          <a:xfrm rot="5400000">
            <a:off x="480931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2" name="Google Shape;202;p24"/>
          <p:cNvSpPr/>
          <p:nvPr/>
        </p:nvSpPr>
        <p:spPr>
          <a:xfrm rot="5400000">
            <a:off x="494025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3" name="Google Shape;203;p24"/>
          <p:cNvSpPr/>
          <p:nvPr/>
        </p:nvSpPr>
        <p:spPr>
          <a:xfrm rot="5400000">
            <a:off x="507118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4" name="Google Shape;204;p24"/>
          <p:cNvSpPr/>
          <p:nvPr/>
        </p:nvSpPr>
        <p:spPr>
          <a:xfrm rot="5400000">
            <a:off x="520212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5" name="Google Shape;205;p24"/>
          <p:cNvSpPr/>
          <p:nvPr/>
        </p:nvSpPr>
        <p:spPr>
          <a:xfrm rot="5400000">
            <a:off x="533305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6" name="Google Shape;206;p24"/>
          <p:cNvSpPr/>
          <p:nvPr/>
        </p:nvSpPr>
        <p:spPr>
          <a:xfrm rot="5400000">
            <a:off x="546399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7" name="Google Shape;207;p24"/>
          <p:cNvSpPr/>
          <p:nvPr/>
        </p:nvSpPr>
        <p:spPr>
          <a:xfrm rot="5400000">
            <a:off x="559492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8" name="Google Shape;208;p24"/>
          <p:cNvSpPr/>
          <p:nvPr/>
        </p:nvSpPr>
        <p:spPr>
          <a:xfrm rot="5400000">
            <a:off x="572586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9" name="Google Shape;209;p24"/>
          <p:cNvSpPr/>
          <p:nvPr/>
        </p:nvSpPr>
        <p:spPr>
          <a:xfrm rot="5400000">
            <a:off x="585680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0" name="Google Shape;210;p24"/>
          <p:cNvSpPr/>
          <p:nvPr/>
        </p:nvSpPr>
        <p:spPr>
          <a:xfrm rot="5400000">
            <a:off x="5987735"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1" name="Google Shape;211;p24"/>
          <p:cNvSpPr/>
          <p:nvPr/>
        </p:nvSpPr>
        <p:spPr>
          <a:xfrm rot="5400000">
            <a:off x="611867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2" name="Google Shape;212;p24"/>
          <p:cNvSpPr/>
          <p:nvPr/>
        </p:nvSpPr>
        <p:spPr>
          <a:xfrm rot="5400000">
            <a:off x="624960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3" name="Google Shape;213;p24"/>
          <p:cNvSpPr/>
          <p:nvPr/>
        </p:nvSpPr>
        <p:spPr>
          <a:xfrm rot="5400000">
            <a:off x="638054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4" name="Google Shape;214;p24"/>
          <p:cNvSpPr/>
          <p:nvPr/>
        </p:nvSpPr>
        <p:spPr>
          <a:xfrm rot="5400000">
            <a:off x="651147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5" name="Google Shape;215;p24"/>
          <p:cNvSpPr/>
          <p:nvPr/>
        </p:nvSpPr>
        <p:spPr>
          <a:xfrm rot="5400000">
            <a:off x="664241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6" name="Google Shape;216;p24"/>
          <p:cNvSpPr/>
          <p:nvPr/>
        </p:nvSpPr>
        <p:spPr>
          <a:xfrm rot="5400000">
            <a:off x="677334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7" name="Google Shape;217;p24"/>
          <p:cNvSpPr/>
          <p:nvPr/>
        </p:nvSpPr>
        <p:spPr>
          <a:xfrm rot="5400000">
            <a:off x="690428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8" name="Google Shape;218;p24"/>
          <p:cNvSpPr/>
          <p:nvPr/>
        </p:nvSpPr>
        <p:spPr>
          <a:xfrm rot="5400000">
            <a:off x="703522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9" name="Google Shape;219;p24"/>
          <p:cNvSpPr/>
          <p:nvPr/>
        </p:nvSpPr>
        <p:spPr>
          <a:xfrm rot="5400000">
            <a:off x="7166155"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0" name="Google Shape;220;p24"/>
          <p:cNvSpPr/>
          <p:nvPr/>
        </p:nvSpPr>
        <p:spPr>
          <a:xfrm rot="5400000">
            <a:off x="729709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1" name="Google Shape;221;p24"/>
          <p:cNvSpPr/>
          <p:nvPr/>
        </p:nvSpPr>
        <p:spPr>
          <a:xfrm rot="5400000">
            <a:off x="742802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2" name="Google Shape;222;p24"/>
          <p:cNvSpPr/>
          <p:nvPr/>
        </p:nvSpPr>
        <p:spPr>
          <a:xfrm rot="5400000">
            <a:off x="755896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3" name="Google Shape;223;p24"/>
          <p:cNvSpPr/>
          <p:nvPr/>
        </p:nvSpPr>
        <p:spPr>
          <a:xfrm rot="5400000">
            <a:off x="768989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4" name="Google Shape;224;p24"/>
          <p:cNvSpPr/>
          <p:nvPr/>
        </p:nvSpPr>
        <p:spPr>
          <a:xfrm rot="5400000">
            <a:off x="782083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5" name="Google Shape;225;p24"/>
          <p:cNvSpPr/>
          <p:nvPr/>
        </p:nvSpPr>
        <p:spPr>
          <a:xfrm rot="5400000">
            <a:off x="795176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6" name="Google Shape;226;p24"/>
          <p:cNvSpPr/>
          <p:nvPr/>
        </p:nvSpPr>
        <p:spPr>
          <a:xfrm rot="5400000">
            <a:off x="8082704"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7" name="Google Shape;227;p24"/>
          <p:cNvSpPr/>
          <p:nvPr/>
        </p:nvSpPr>
        <p:spPr>
          <a:xfrm rot="5400000">
            <a:off x="8213639"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8" name="Google Shape;228;p24"/>
          <p:cNvSpPr/>
          <p:nvPr/>
        </p:nvSpPr>
        <p:spPr>
          <a:xfrm rot="5400000">
            <a:off x="8344575"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cxnSp>
        <p:nvCxnSpPr>
          <p:cNvPr id="229" name="Google Shape;229;p24"/>
          <p:cNvCxnSpPr>
            <a:stCxn id="169" idx="3"/>
            <a:endCxn id="201" idx="0"/>
          </p:cNvCxnSpPr>
          <p:nvPr/>
        </p:nvCxnSpPr>
        <p:spPr>
          <a:xfrm>
            <a:off x="4317360"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0" name="Google Shape;230;p24"/>
          <p:cNvCxnSpPr>
            <a:stCxn id="170" idx="3"/>
          </p:cNvCxnSpPr>
          <p:nvPr/>
        </p:nvCxnSpPr>
        <p:spPr>
          <a:xfrm>
            <a:off x="4448295"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1" name="Google Shape;231;p24"/>
          <p:cNvCxnSpPr>
            <a:stCxn id="171" idx="3"/>
          </p:cNvCxnSpPr>
          <p:nvPr/>
        </p:nvCxnSpPr>
        <p:spPr>
          <a:xfrm>
            <a:off x="4579231"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2" name="Google Shape;232;p24"/>
          <p:cNvCxnSpPr>
            <a:stCxn id="172" idx="3"/>
          </p:cNvCxnSpPr>
          <p:nvPr/>
        </p:nvCxnSpPr>
        <p:spPr>
          <a:xfrm>
            <a:off x="4710166"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3" name="Google Shape;233;p24"/>
          <p:cNvCxnSpPr>
            <a:stCxn id="173" idx="3"/>
          </p:cNvCxnSpPr>
          <p:nvPr/>
        </p:nvCxnSpPr>
        <p:spPr>
          <a:xfrm>
            <a:off x="4841102"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4" name="Google Shape;234;p24"/>
          <p:cNvCxnSpPr>
            <a:stCxn id="168" idx="3"/>
          </p:cNvCxnSpPr>
          <p:nvPr/>
        </p:nvCxnSpPr>
        <p:spPr>
          <a:xfrm>
            <a:off x="4186424"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5" name="Google Shape;235;p24"/>
          <p:cNvCxnSpPr>
            <a:stCxn id="167" idx="3"/>
          </p:cNvCxnSpPr>
          <p:nvPr/>
        </p:nvCxnSpPr>
        <p:spPr>
          <a:xfrm>
            <a:off x="4055488"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6" name="Google Shape;236;p24"/>
          <p:cNvCxnSpPr>
            <a:stCxn id="166" idx="3"/>
          </p:cNvCxnSpPr>
          <p:nvPr/>
        </p:nvCxnSpPr>
        <p:spPr>
          <a:xfrm>
            <a:off x="3924553"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7" name="Google Shape;237;p24"/>
          <p:cNvCxnSpPr>
            <a:stCxn id="165" idx="3"/>
          </p:cNvCxnSpPr>
          <p:nvPr/>
        </p:nvCxnSpPr>
        <p:spPr>
          <a:xfrm>
            <a:off x="3793617"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8" name="Google Shape;238;p24"/>
          <p:cNvCxnSpPr>
            <a:stCxn id="201" idx="2"/>
            <a:endCxn id="146" idx="0"/>
          </p:cNvCxnSpPr>
          <p:nvPr/>
        </p:nvCxnSpPr>
        <p:spPr>
          <a:xfrm>
            <a:off x="4317282" y="1427796"/>
            <a:ext cx="238500" cy="219600"/>
          </a:xfrm>
          <a:prstGeom prst="straightConnector1">
            <a:avLst/>
          </a:prstGeom>
          <a:noFill/>
          <a:ln w="9525" cap="flat" cmpd="sng">
            <a:solidFill>
              <a:schemeClr val="dk2"/>
            </a:solidFill>
            <a:prstDash val="solid"/>
            <a:round/>
            <a:headEnd type="none" w="med" len="med"/>
            <a:tailEnd type="triangle" w="med" len="med"/>
          </a:ln>
        </p:spPr>
      </p:cxnSp>
      <p:sp>
        <p:nvSpPr>
          <p:cNvPr id="239" name="Google Shape;239;p24"/>
          <p:cNvSpPr/>
          <p:nvPr/>
        </p:nvSpPr>
        <p:spPr>
          <a:xfrm>
            <a:off x="3403775" y="1195300"/>
            <a:ext cx="324300" cy="232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latin typeface="Roboto"/>
              <a:ea typeface="Roboto"/>
              <a:cs typeface="Roboto"/>
              <a:sym typeface="Roboto"/>
            </a:endParaRPr>
          </a:p>
        </p:txBody>
      </p:sp>
      <p:sp>
        <p:nvSpPr>
          <p:cNvPr id="240" name="Google Shape;240;p24"/>
          <p:cNvSpPr/>
          <p:nvPr/>
        </p:nvSpPr>
        <p:spPr>
          <a:xfrm>
            <a:off x="3642289" y="1647399"/>
            <a:ext cx="324300" cy="232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Implementing TCP</a:t>
            </a:r>
            <a:endParaRPr dirty="0">
              <a:solidFill>
                <a:srgbClr val="B7B7B7"/>
              </a:solidFill>
            </a:endParaRPr>
          </a:p>
          <a:p>
            <a:pPr marL="457200" lvl="0" indent="-342900" algn="l" rtl="0">
              <a:spcBef>
                <a:spcPts val="600"/>
              </a:spcBef>
              <a:spcAft>
                <a:spcPts val="0"/>
              </a:spcAft>
              <a:buClr>
                <a:schemeClr val="accent3"/>
              </a:buClr>
              <a:buSzPts val="1800"/>
              <a:buFont typeface="Roboto"/>
              <a:buChar char="•"/>
            </a:pPr>
            <a:r>
              <a:rPr lang="nl-NL" b="1" dirty="0">
                <a:solidFill>
                  <a:schemeClr val="accent3"/>
                </a:solidFill>
                <a:latin typeface="Roboto"/>
                <a:ea typeface="Roboto"/>
                <a:cs typeface="Roboto"/>
                <a:sym typeface="Roboto"/>
              </a:rPr>
              <a:t>byte</a:t>
            </a:r>
            <a:r>
              <a:rPr lang="en" b="1" dirty="0">
                <a:solidFill>
                  <a:schemeClr val="accent3"/>
                </a:solidFill>
                <a:latin typeface="Roboto"/>
                <a:ea typeface="Roboto"/>
                <a:cs typeface="Roboto"/>
                <a:sym typeface="Roboto"/>
              </a:rPr>
              <a:t> Notation</a:t>
            </a:r>
            <a:br>
              <a:rPr lang="en" b="1" dirty="0">
                <a:solidFill>
                  <a:schemeClr val="accent3"/>
                </a:solidFill>
                <a:latin typeface="Roboto"/>
                <a:ea typeface="Roboto"/>
                <a:cs typeface="Roboto"/>
                <a:sym typeface="Roboto"/>
              </a:rPr>
            </a:br>
            <a:r>
              <a:rPr lang="en" b="1" dirty="0">
                <a:solidFill>
                  <a:schemeClr val="accent3"/>
                </a:solidFill>
                <a:latin typeface="Roboto"/>
                <a:ea typeface="Roboto"/>
                <a:cs typeface="Roboto"/>
                <a:sym typeface="Roboto"/>
              </a:rPr>
              <a:t>(Segments, Sequence Numbers)</a:t>
            </a:r>
            <a:endParaRPr b="1" dirty="0">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dirty="0">
                <a:solidFill>
                  <a:srgbClr val="B7B7B7"/>
                </a:solidFill>
              </a:rPr>
              <a:t>Maintaining State (Full Duplex, Connection Setup and Teardown)</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Sliding Window</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Header</a:t>
            </a:r>
            <a:endParaRPr dirty="0">
              <a:solidFill>
                <a:srgbClr val="B7B7B7"/>
              </a:solidFill>
            </a:endParaRPr>
          </a:p>
        </p:txBody>
      </p:sp>
      <p:sp>
        <p:nvSpPr>
          <p:cNvPr id="246" name="Google Shape;246;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t>Implementing TCP: </a:t>
            </a:r>
            <a:r>
              <a:rPr lang="nl-NL" sz="3200" dirty="0"/>
              <a:t>byte</a:t>
            </a:r>
            <a:r>
              <a:rPr lang="en" sz="3200" dirty="0"/>
              <a:t> Notation (Segments, Sequence Numbers)</a:t>
            </a:r>
            <a:endParaRPr sz="3200" dirty="0"/>
          </a:p>
        </p:txBody>
      </p:sp>
      <p:sp>
        <p:nvSpPr>
          <p:cNvPr id="247" name="Google Shape;247;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11, Spring 2026</a:t>
            </a:r>
            <a:endParaRPr dirty="0"/>
          </a:p>
        </p:txBody>
      </p:sp>
      <p:sp>
        <p:nvSpPr>
          <p:cNvPr id="2" name="Slide Number Placeholder 1">
            <a:extLst>
              <a:ext uri="{FF2B5EF4-FFF2-40B4-BE49-F238E27FC236}">
                <a16:creationId xmlns:a16="http://schemas.microsoft.com/office/drawing/2014/main" id="{9DD852FC-3A1E-1FC3-8A4D-3BB0FB358B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Notation Change: </a:t>
            </a:r>
            <a:r>
              <a:rPr lang="nl-NL" dirty="0"/>
              <a:t>byte</a:t>
            </a:r>
            <a:r>
              <a:rPr lang="en" dirty="0"/>
              <a:t>s vs. Packets</a:t>
            </a:r>
            <a:endParaRPr dirty="0"/>
          </a:p>
        </p:txBody>
      </p:sp>
      <p:sp>
        <p:nvSpPr>
          <p:cNvPr id="253" name="Google Shape;253;p26"/>
          <p:cNvSpPr txBox="1">
            <a:spLocks noGrp="1"/>
          </p:cNvSpPr>
          <p:nvPr>
            <p:ph type="body" idx="1"/>
          </p:nvPr>
        </p:nvSpPr>
        <p:spPr>
          <a:xfrm>
            <a:off x="122842" y="3624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So far, we've used </a:t>
            </a:r>
            <a:r>
              <a:rPr lang="en" i="1" dirty="0"/>
              <a:t>packets</a:t>
            </a:r>
            <a:r>
              <a:rPr lang="en" dirty="0"/>
              <a:t> as the primary unit of data.</a:t>
            </a:r>
            <a:endParaRPr dirty="0"/>
          </a:p>
          <a:p>
            <a:pPr marL="457200" lvl="0" indent="-342900" algn="l" rtl="0">
              <a:spcBef>
                <a:spcPts val="600"/>
              </a:spcBef>
              <a:spcAft>
                <a:spcPts val="0"/>
              </a:spcAft>
              <a:buSzPts val="1800"/>
              <a:buChar char="●"/>
            </a:pPr>
            <a:r>
              <a:rPr lang="en" dirty="0"/>
              <a:t>Each packet has a number.</a:t>
            </a:r>
            <a:endParaRPr dirty="0"/>
          </a:p>
          <a:p>
            <a:pPr marL="457200" lvl="0" indent="-342900" algn="l" rtl="0">
              <a:spcBef>
                <a:spcPts val="0"/>
              </a:spcBef>
              <a:spcAft>
                <a:spcPts val="0"/>
              </a:spcAft>
              <a:buSzPts val="1800"/>
              <a:buChar char="●"/>
            </a:pPr>
            <a:r>
              <a:rPr lang="en" dirty="0"/>
              <a:t>Acks reference packet numbers.</a:t>
            </a:r>
            <a:endParaRPr dirty="0"/>
          </a:p>
          <a:p>
            <a:pPr marL="457200" lvl="0" indent="-342900" algn="l" rtl="0">
              <a:spcBef>
                <a:spcPts val="0"/>
              </a:spcBef>
              <a:spcAft>
                <a:spcPts val="0"/>
              </a:spcAft>
              <a:buSzPts val="1800"/>
              <a:buChar char="●"/>
            </a:pPr>
            <a:r>
              <a:rPr lang="en" dirty="0"/>
              <a:t>Window size expressed in terms of number of packets.</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TCP is implemented with </a:t>
            </a:r>
            <a:r>
              <a:rPr lang="en" i="1" dirty="0"/>
              <a:t>bytes</a:t>
            </a:r>
            <a:r>
              <a:rPr lang="en" dirty="0"/>
              <a:t> as the primary unit of data.</a:t>
            </a:r>
            <a:endParaRPr dirty="0"/>
          </a:p>
          <a:p>
            <a:pPr marL="457200" lvl="0" indent="-342900" algn="l" rtl="0">
              <a:spcBef>
                <a:spcPts val="600"/>
              </a:spcBef>
              <a:spcAft>
                <a:spcPts val="0"/>
              </a:spcAft>
              <a:buSzPts val="1800"/>
              <a:buChar char="●"/>
            </a:pPr>
            <a:r>
              <a:rPr lang="en" dirty="0"/>
              <a:t>Each byte has a </a:t>
            </a:r>
            <a:r>
              <a:rPr lang="en"/>
              <a:t>number. Packets </a:t>
            </a:r>
            <a:r>
              <a:rPr lang="en" dirty="0"/>
              <a:t>are defined by the number of the first byte inside.</a:t>
            </a:r>
            <a:endParaRPr dirty="0"/>
          </a:p>
          <a:p>
            <a:pPr marL="457200" lvl="0" indent="-342900" algn="l" rtl="0">
              <a:spcBef>
                <a:spcPts val="0"/>
              </a:spcBef>
              <a:spcAft>
                <a:spcPts val="0"/>
              </a:spcAft>
              <a:buSzPts val="1800"/>
              <a:buChar char="●"/>
            </a:pPr>
            <a:r>
              <a:rPr lang="en" dirty="0"/>
              <a:t>ACKs reference byte numbers.</a:t>
            </a:r>
            <a:endParaRPr dirty="0"/>
          </a:p>
          <a:p>
            <a:pPr marL="457200" lvl="0" indent="-342900" algn="l" rtl="0">
              <a:spcBef>
                <a:spcPts val="0"/>
              </a:spcBef>
              <a:spcAft>
                <a:spcPts val="0"/>
              </a:spcAft>
              <a:buSzPts val="1800"/>
              <a:buChar char="●"/>
            </a:pPr>
            <a:r>
              <a:rPr lang="en" dirty="0"/>
              <a:t>Window size expressed in terms of number of bytes.</a:t>
            </a:r>
          </a:p>
          <a:p>
            <a:pPr marL="114300" lvl="0" indent="0" algn="l" rtl="0">
              <a:spcBef>
                <a:spcPts val="0"/>
              </a:spcBef>
              <a:spcAft>
                <a:spcPts val="0"/>
              </a:spcAft>
              <a:buSzPts val="1800"/>
              <a:buNone/>
            </a:pPr>
            <a:endParaRPr dirty="0"/>
          </a:p>
          <a:p>
            <a:pPr marL="0" lvl="0" indent="0">
              <a:buNone/>
            </a:pPr>
            <a:r>
              <a:rPr lang="en-US" altLang="zh-CN" dirty="0"/>
              <a:t>Lecture 10 designed reliability; Lecture 11 maps those ideas onto real TCP bytes, state, flags, and headers</a:t>
            </a:r>
            <a:endParaRPr dirty="0"/>
          </a:p>
        </p:txBody>
      </p:sp>
      <p:sp>
        <p:nvSpPr>
          <p:cNvPr id="2" name="Slide Number Placeholder 1">
            <a:extLst>
              <a:ext uri="{FF2B5EF4-FFF2-40B4-BE49-F238E27FC236}">
                <a16:creationId xmlns:a16="http://schemas.microsoft.com/office/drawing/2014/main" id="{9A052975-A5FD-AA77-AFA2-726B815018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Segments</a:t>
            </a:r>
            <a:endParaRPr/>
          </a:p>
        </p:txBody>
      </p:sp>
      <p:sp>
        <p:nvSpPr>
          <p:cNvPr id="259" name="Google Shape;259;p27"/>
          <p:cNvSpPr txBox="1">
            <a:spLocks noGrp="1"/>
          </p:cNvSpPr>
          <p:nvPr>
            <p:ph type="body" idx="1"/>
          </p:nvPr>
        </p:nvSpPr>
        <p:spPr>
          <a:xfrm>
            <a:off x="107050" y="402200"/>
            <a:ext cx="8909700" cy="10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TCP provides a reliable, in-order bytestream.</a:t>
            </a:r>
            <a:endParaRPr/>
          </a:p>
          <a:p>
            <a:pPr marL="0" lvl="0" indent="0" algn="l" rtl="0">
              <a:spcBef>
                <a:spcPts val="600"/>
              </a:spcBef>
              <a:spcAft>
                <a:spcPts val="0"/>
              </a:spcAft>
              <a:buNone/>
            </a:pPr>
            <a:r>
              <a:rPr lang="en"/>
              <a:t>We have to split this bytestream into packets.</a:t>
            </a:r>
            <a:endParaRPr/>
          </a:p>
        </p:txBody>
      </p:sp>
      <p:sp>
        <p:nvSpPr>
          <p:cNvPr id="260" name="Google Shape;260;p27"/>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1</a:t>
            </a:r>
            <a:endParaRPr sz="1000" dirty="0">
              <a:latin typeface="Roboto"/>
              <a:ea typeface="Roboto"/>
              <a:cs typeface="Roboto"/>
              <a:sym typeface="Roboto"/>
            </a:endParaRPr>
          </a:p>
        </p:txBody>
      </p:sp>
      <p:sp>
        <p:nvSpPr>
          <p:cNvPr id="261" name="Google Shape;261;p27"/>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2</a:t>
            </a:r>
            <a:endParaRPr sz="1000" dirty="0">
              <a:latin typeface="Roboto"/>
              <a:ea typeface="Roboto"/>
              <a:cs typeface="Roboto"/>
              <a:sym typeface="Roboto"/>
            </a:endParaRPr>
          </a:p>
        </p:txBody>
      </p:sp>
      <p:sp>
        <p:nvSpPr>
          <p:cNvPr id="262" name="Google Shape;262;p27"/>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3</a:t>
            </a:r>
            <a:endParaRPr sz="1000" dirty="0">
              <a:latin typeface="Roboto"/>
              <a:ea typeface="Roboto"/>
              <a:cs typeface="Roboto"/>
              <a:sym typeface="Roboto"/>
            </a:endParaRPr>
          </a:p>
        </p:txBody>
      </p:sp>
      <p:sp>
        <p:nvSpPr>
          <p:cNvPr id="263" name="Google Shape;263;p27"/>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4</a:t>
            </a:r>
            <a:endParaRPr sz="1000" dirty="0">
              <a:latin typeface="Roboto"/>
              <a:ea typeface="Roboto"/>
              <a:cs typeface="Roboto"/>
              <a:sym typeface="Roboto"/>
            </a:endParaRPr>
          </a:p>
        </p:txBody>
      </p:sp>
      <p:sp>
        <p:nvSpPr>
          <p:cNvPr id="264" name="Google Shape;264;p27"/>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5" name="Google Shape;265;p27"/>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6" name="Google Shape;266;p27"/>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7" name="Google Shape;267;p27"/>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79</a:t>
            </a:r>
            <a:endParaRPr sz="1000" dirty="0">
              <a:latin typeface="Roboto"/>
              <a:ea typeface="Roboto"/>
              <a:cs typeface="Roboto"/>
              <a:sym typeface="Roboto"/>
            </a:endParaRPr>
          </a:p>
        </p:txBody>
      </p:sp>
      <p:sp>
        <p:nvSpPr>
          <p:cNvPr id="268" name="Google Shape;268;p27"/>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80</a:t>
            </a:r>
            <a:endParaRPr sz="1000" dirty="0">
              <a:latin typeface="Roboto"/>
              <a:ea typeface="Roboto"/>
              <a:cs typeface="Roboto"/>
              <a:sym typeface="Roboto"/>
            </a:endParaRPr>
          </a:p>
        </p:txBody>
      </p:sp>
      <p:sp>
        <p:nvSpPr>
          <p:cNvPr id="269" name="Google Shape;269;p27"/>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0" name="Google Shape;270;p27"/>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1" name="Google Shape;271;p27"/>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2" name="Google Shape;272;p27"/>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3" name="Google Shape;273;p27"/>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4" name="Google Shape;274;p27"/>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5" name="Google Shape;275;p27"/>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6" name="Google Shape;276;p27"/>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7" name="Google Shape;277;p27"/>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8" name="Google Shape;278;p27"/>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9" name="Google Shape;279;p27"/>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0" name="Google Shape;280;p27"/>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1" name="Google Shape;281;p27"/>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2" name="Google Shape;282;p27"/>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3" name="Google Shape;283;p27"/>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4" name="Google Shape;284;p27"/>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5" name="Google Shape;285;p27"/>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6" name="Google Shape;286;p27"/>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7" name="Google Shape;287;p27"/>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8" name="Google Shape;288;p27"/>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9" name="Google Shape;289;p27"/>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0" name="Google Shape;290;p27"/>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1" name="Google Shape;291;p27"/>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2" name="Google Shape;292;p27"/>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3" name="Google Shape;293;p27"/>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4" name="Google Shape;294;p27"/>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5" name="Google Shape;295;p27"/>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6" name="Google Shape;296;p27"/>
          <p:cNvSpPr txBox="1"/>
          <p:nvPr/>
        </p:nvSpPr>
        <p:spPr>
          <a:xfrm>
            <a:off x="1555850" y="14864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297" name="Google Shape;297;p27"/>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1</a:t>
            </a:r>
            <a:endParaRPr sz="1000" dirty="0">
              <a:latin typeface="Roboto"/>
              <a:ea typeface="Roboto"/>
              <a:cs typeface="Roboto"/>
              <a:sym typeface="Roboto"/>
            </a:endParaRPr>
          </a:p>
        </p:txBody>
      </p:sp>
      <p:sp>
        <p:nvSpPr>
          <p:cNvPr id="298" name="Google Shape;298;p27"/>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2</a:t>
            </a:r>
            <a:endParaRPr sz="1000" dirty="0">
              <a:latin typeface="Roboto"/>
              <a:ea typeface="Roboto"/>
              <a:cs typeface="Roboto"/>
              <a:sym typeface="Roboto"/>
            </a:endParaRPr>
          </a:p>
        </p:txBody>
      </p:sp>
      <p:sp>
        <p:nvSpPr>
          <p:cNvPr id="299" name="Google Shape;299;p27"/>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3</a:t>
            </a:r>
            <a:endParaRPr sz="1000" dirty="0">
              <a:latin typeface="Roboto"/>
              <a:ea typeface="Roboto"/>
              <a:cs typeface="Roboto"/>
              <a:sym typeface="Roboto"/>
            </a:endParaRPr>
          </a:p>
        </p:txBody>
      </p:sp>
      <p:sp>
        <p:nvSpPr>
          <p:cNvPr id="300" name="Google Shape;300;p27"/>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4</a:t>
            </a:r>
            <a:endParaRPr sz="1000" dirty="0">
              <a:latin typeface="Roboto"/>
              <a:ea typeface="Roboto"/>
              <a:cs typeface="Roboto"/>
              <a:sym typeface="Roboto"/>
            </a:endParaRPr>
          </a:p>
        </p:txBody>
      </p:sp>
      <p:sp>
        <p:nvSpPr>
          <p:cNvPr id="301" name="Google Shape;301;p27"/>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2" name="Google Shape;302;p27"/>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3" name="Google Shape;303;p27"/>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4" name="Google Shape;304;p27"/>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79</a:t>
            </a:r>
            <a:endParaRPr sz="1000" dirty="0">
              <a:latin typeface="Roboto"/>
              <a:ea typeface="Roboto"/>
              <a:cs typeface="Roboto"/>
              <a:sym typeface="Roboto"/>
            </a:endParaRPr>
          </a:p>
        </p:txBody>
      </p:sp>
      <p:sp>
        <p:nvSpPr>
          <p:cNvPr id="305" name="Google Shape;305;p27"/>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80</a:t>
            </a:r>
            <a:endParaRPr sz="1000" dirty="0">
              <a:latin typeface="Roboto"/>
              <a:ea typeface="Roboto"/>
              <a:cs typeface="Roboto"/>
              <a:sym typeface="Roboto"/>
            </a:endParaRPr>
          </a:p>
        </p:txBody>
      </p:sp>
      <p:sp>
        <p:nvSpPr>
          <p:cNvPr id="306" name="Google Shape;306;p27"/>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7" name="Google Shape;307;p27"/>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8" name="Google Shape;308;p27"/>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9" name="Google Shape;309;p27"/>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0" name="Google Shape;310;p27"/>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1" name="Google Shape;311;p27"/>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2" name="Google Shape;312;p27"/>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3" name="Google Shape;313;p27"/>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4" name="Google Shape;314;p27"/>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5" name="Google Shape;315;p27"/>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6" name="Google Shape;316;p27"/>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7" name="Google Shape;317;p27"/>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8" name="Google Shape;318;p27"/>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9" name="Google Shape;319;p27"/>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0" name="Google Shape;320;p27"/>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1" name="Google Shape;321;p27"/>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2" name="Google Shape;322;p27"/>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3" name="Google Shape;323;p27"/>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4" name="Google Shape;324;p27"/>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5" name="Google Shape;325;p27"/>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6" name="Google Shape;326;p27"/>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7" name="Google Shape;327;p27"/>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8" name="Google Shape;328;p27"/>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9" name="Google Shape;329;p27"/>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0" name="Google Shape;330;p27"/>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1" name="Google Shape;331;p27"/>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2" name="Google Shape;332;p27"/>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3" name="Google Shape;333;p27"/>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334" name="Google Shape;334;p27"/>
          <p:cNvCxnSpPr>
            <a:stCxn id="262" idx="3"/>
            <a:endCxn id="299" idx="1"/>
          </p:cNvCxnSpPr>
          <p:nvPr/>
        </p:nvCxnSpPr>
        <p:spPr>
          <a:xfrm>
            <a:off x="19931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5" name="Google Shape;335;p27"/>
          <p:cNvCxnSpPr>
            <a:endCxn id="304" idx="1"/>
          </p:cNvCxnSpPr>
          <p:nvPr/>
        </p:nvCxnSpPr>
        <p:spPr>
          <a:xfrm>
            <a:off x="28676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6" name="Google Shape;336;p27"/>
          <p:cNvCxnSpPr>
            <a:stCxn id="272" idx="3"/>
            <a:endCxn id="309" idx="1"/>
          </p:cNvCxnSpPr>
          <p:nvPr/>
        </p:nvCxnSpPr>
        <p:spPr>
          <a:xfrm>
            <a:off x="37421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7" name="Google Shape;337;p27"/>
          <p:cNvCxnSpPr>
            <a:stCxn id="277" idx="3"/>
            <a:endCxn id="314" idx="1"/>
          </p:cNvCxnSpPr>
          <p:nvPr/>
        </p:nvCxnSpPr>
        <p:spPr>
          <a:xfrm>
            <a:off x="46166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8" name="Google Shape;338;p27"/>
          <p:cNvCxnSpPr>
            <a:stCxn id="282" idx="3"/>
            <a:endCxn id="319" idx="1"/>
          </p:cNvCxnSpPr>
          <p:nvPr/>
        </p:nvCxnSpPr>
        <p:spPr>
          <a:xfrm>
            <a:off x="54911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9" name="Google Shape;339;p27"/>
          <p:cNvCxnSpPr>
            <a:stCxn id="287" idx="3"/>
            <a:endCxn id="324" idx="1"/>
          </p:cNvCxnSpPr>
          <p:nvPr/>
        </p:nvCxnSpPr>
        <p:spPr>
          <a:xfrm>
            <a:off x="63656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40" name="Google Shape;340;p27"/>
          <p:cNvCxnSpPr>
            <a:stCxn id="292" idx="3"/>
            <a:endCxn id="329" idx="1"/>
          </p:cNvCxnSpPr>
          <p:nvPr/>
        </p:nvCxnSpPr>
        <p:spPr>
          <a:xfrm>
            <a:off x="7240100" y="2479475"/>
            <a:ext cx="318600" cy="1524000"/>
          </a:xfrm>
          <a:prstGeom prst="straightConnector1">
            <a:avLst/>
          </a:prstGeom>
          <a:noFill/>
          <a:ln w="9525" cap="flat" cmpd="sng">
            <a:solidFill>
              <a:schemeClr val="dk2"/>
            </a:solidFill>
            <a:prstDash val="solid"/>
            <a:round/>
            <a:headEnd type="none" w="med" len="med"/>
            <a:tailEnd type="triangle" w="med" len="med"/>
          </a:ln>
        </p:spPr>
      </p:cxnSp>
      <p:sp>
        <p:nvSpPr>
          <p:cNvPr id="2" name="Slide Number Placeholder 1">
            <a:extLst>
              <a:ext uri="{FF2B5EF4-FFF2-40B4-BE49-F238E27FC236}">
                <a16:creationId xmlns:a16="http://schemas.microsoft.com/office/drawing/2014/main" id="{327754CB-C3B3-8878-0CD6-DCB6DC8817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8"/>
          <p:cNvSpPr/>
          <p:nvPr/>
        </p:nvSpPr>
        <p:spPr>
          <a:xfrm>
            <a:off x="18744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346" name="Google Shape;346;p28"/>
          <p:cNvCxnSpPr>
            <a:endCxn id="347" idx="1"/>
          </p:cNvCxnSpPr>
          <p:nvPr/>
        </p:nvCxnSpPr>
        <p:spPr>
          <a:xfrm>
            <a:off x="2661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48" name="Google Shape;348;p28"/>
          <p:cNvCxnSpPr>
            <a:endCxn id="349" idx="1"/>
          </p:cNvCxnSpPr>
          <p:nvPr/>
        </p:nvCxnSpPr>
        <p:spPr>
          <a:xfrm>
            <a:off x="28364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0" name="Google Shape;350;p28"/>
          <p:cNvCxnSpPr>
            <a:endCxn id="351" idx="1"/>
          </p:cNvCxnSpPr>
          <p:nvPr/>
        </p:nvCxnSpPr>
        <p:spPr>
          <a:xfrm>
            <a:off x="30113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2" name="Google Shape;352;p28"/>
          <p:cNvCxnSpPr>
            <a:endCxn id="353" idx="1"/>
          </p:cNvCxnSpPr>
          <p:nvPr/>
        </p:nvCxnSpPr>
        <p:spPr>
          <a:xfrm>
            <a:off x="3186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4" name="Google Shape;354;p28"/>
          <p:cNvCxnSpPr>
            <a:endCxn id="355" idx="1"/>
          </p:cNvCxnSpPr>
          <p:nvPr/>
        </p:nvCxnSpPr>
        <p:spPr>
          <a:xfrm>
            <a:off x="3361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6" name="Google Shape;356;p28"/>
          <p:cNvCxnSpPr>
            <a:endCxn id="357" idx="1"/>
          </p:cNvCxnSpPr>
          <p:nvPr/>
        </p:nvCxnSpPr>
        <p:spPr>
          <a:xfrm>
            <a:off x="2486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8" name="Google Shape;358;p28"/>
          <p:cNvCxnSpPr>
            <a:endCxn id="359" idx="1"/>
          </p:cNvCxnSpPr>
          <p:nvPr/>
        </p:nvCxnSpPr>
        <p:spPr>
          <a:xfrm>
            <a:off x="2311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60" name="Google Shape;360;p28"/>
          <p:cNvCxnSpPr>
            <a:endCxn id="361" idx="1"/>
          </p:cNvCxnSpPr>
          <p:nvPr/>
        </p:nvCxnSpPr>
        <p:spPr>
          <a:xfrm>
            <a:off x="2136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62" name="Google Shape;362;p28"/>
          <p:cNvCxnSpPr>
            <a:endCxn id="363" idx="1"/>
          </p:cNvCxnSpPr>
          <p:nvPr/>
        </p:nvCxnSpPr>
        <p:spPr>
          <a:xfrm>
            <a:off x="19619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364" name="Google Shape;364;p2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Segments</a:t>
            </a:r>
            <a:endParaRPr/>
          </a:p>
        </p:txBody>
      </p:sp>
      <p:sp>
        <p:nvSpPr>
          <p:cNvPr id="365" name="Google Shape;365;p28"/>
          <p:cNvSpPr txBox="1">
            <a:spLocks noGrp="1"/>
          </p:cNvSpPr>
          <p:nvPr>
            <p:ph type="body" idx="1"/>
          </p:nvPr>
        </p:nvSpPr>
        <p:spPr>
          <a:xfrm>
            <a:off x="107050" y="402200"/>
            <a:ext cx="8909700" cy="10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 segment is sent when the segment is full (max segment size),</a:t>
            </a:r>
            <a:endParaRPr/>
          </a:p>
          <a:p>
            <a:pPr marL="0" lvl="0" indent="0" algn="l" rtl="0">
              <a:spcBef>
                <a:spcPts val="600"/>
              </a:spcBef>
              <a:spcAft>
                <a:spcPts val="0"/>
              </a:spcAft>
              <a:buNone/>
            </a:pPr>
            <a:r>
              <a:rPr lang="en"/>
              <a:t>or when the segment is not full, but times out waiting for more data.</a:t>
            </a:r>
            <a:endParaRPr/>
          </a:p>
        </p:txBody>
      </p:sp>
      <p:sp>
        <p:nvSpPr>
          <p:cNvPr id="366" name="Google Shape;366;p28"/>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1</a:t>
            </a:r>
            <a:endParaRPr sz="1000" dirty="0">
              <a:latin typeface="Roboto"/>
              <a:ea typeface="Roboto"/>
              <a:cs typeface="Roboto"/>
              <a:sym typeface="Roboto"/>
            </a:endParaRPr>
          </a:p>
        </p:txBody>
      </p:sp>
      <p:sp>
        <p:nvSpPr>
          <p:cNvPr id="367" name="Google Shape;367;p28"/>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2</a:t>
            </a:r>
            <a:endParaRPr sz="1000" dirty="0">
              <a:latin typeface="Roboto"/>
              <a:ea typeface="Roboto"/>
              <a:cs typeface="Roboto"/>
              <a:sym typeface="Roboto"/>
            </a:endParaRPr>
          </a:p>
        </p:txBody>
      </p:sp>
      <p:sp>
        <p:nvSpPr>
          <p:cNvPr id="368" name="Google Shape;368;p28"/>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3</a:t>
            </a:r>
            <a:endParaRPr sz="1000" dirty="0">
              <a:latin typeface="Roboto"/>
              <a:ea typeface="Roboto"/>
              <a:cs typeface="Roboto"/>
              <a:sym typeface="Roboto"/>
            </a:endParaRPr>
          </a:p>
        </p:txBody>
      </p:sp>
      <p:sp>
        <p:nvSpPr>
          <p:cNvPr id="369" name="Google Shape;369;p28"/>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4</a:t>
            </a:r>
            <a:endParaRPr sz="1000" dirty="0">
              <a:latin typeface="Roboto"/>
              <a:ea typeface="Roboto"/>
              <a:cs typeface="Roboto"/>
              <a:sym typeface="Roboto"/>
            </a:endParaRPr>
          </a:p>
        </p:txBody>
      </p:sp>
      <p:sp>
        <p:nvSpPr>
          <p:cNvPr id="370" name="Google Shape;370;p28"/>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1" name="Google Shape;371;p28"/>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2" name="Google Shape;372;p28"/>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3" name="Google Shape;373;p28"/>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79</a:t>
            </a:r>
            <a:endParaRPr sz="1000" dirty="0">
              <a:latin typeface="Roboto"/>
              <a:ea typeface="Roboto"/>
              <a:cs typeface="Roboto"/>
              <a:sym typeface="Roboto"/>
            </a:endParaRPr>
          </a:p>
        </p:txBody>
      </p:sp>
      <p:sp>
        <p:nvSpPr>
          <p:cNvPr id="374" name="Google Shape;374;p28"/>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80</a:t>
            </a:r>
            <a:endParaRPr sz="1000" dirty="0">
              <a:latin typeface="Roboto"/>
              <a:ea typeface="Roboto"/>
              <a:cs typeface="Roboto"/>
              <a:sym typeface="Roboto"/>
            </a:endParaRPr>
          </a:p>
        </p:txBody>
      </p:sp>
      <p:sp>
        <p:nvSpPr>
          <p:cNvPr id="375" name="Google Shape;375;p28"/>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6" name="Google Shape;376;p28"/>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7" name="Google Shape;377;p28"/>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8" name="Google Shape;378;p28"/>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9" name="Google Shape;379;p28"/>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0" name="Google Shape;380;p28"/>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1" name="Google Shape;381;p28"/>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2" name="Google Shape;382;p28"/>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3" name="Google Shape;383;p28"/>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4" name="Google Shape;384;p28"/>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5" name="Google Shape;385;p28"/>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6" name="Google Shape;386;p28"/>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7" name="Google Shape;387;p28"/>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8" name="Google Shape;388;p28"/>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9" name="Google Shape;389;p28"/>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0" name="Google Shape;390;p28"/>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1" name="Google Shape;391;p28"/>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2" name="Google Shape;392;p28"/>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3" name="Google Shape;393;p28"/>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4" name="Google Shape;394;p28"/>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5" name="Google Shape;395;p28"/>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6" name="Google Shape;396;p28"/>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7" name="Google Shape;397;p28"/>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8" name="Google Shape;398;p28"/>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9" name="Google Shape;399;p28"/>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0" name="Google Shape;400;p28"/>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1" name="Google Shape;401;p28"/>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2" name="Google Shape;402;p28"/>
          <p:cNvSpPr txBox="1"/>
          <p:nvPr/>
        </p:nvSpPr>
        <p:spPr>
          <a:xfrm>
            <a:off x="1555850" y="14864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403" name="Google Shape;403;p28"/>
          <p:cNvSpPr/>
          <p:nvPr/>
        </p:nvSpPr>
        <p:spPr>
          <a:xfrm>
            <a:off x="15558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363" name="Google Shape;363;p28"/>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1</a:t>
            </a:r>
            <a:endParaRPr sz="1000" dirty="0">
              <a:latin typeface="Roboto"/>
              <a:ea typeface="Roboto"/>
              <a:cs typeface="Roboto"/>
              <a:sym typeface="Roboto"/>
            </a:endParaRPr>
          </a:p>
        </p:txBody>
      </p:sp>
      <p:sp>
        <p:nvSpPr>
          <p:cNvPr id="361" name="Google Shape;361;p28"/>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2</a:t>
            </a:r>
            <a:endParaRPr sz="1000" dirty="0">
              <a:latin typeface="Roboto"/>
              <a:ea typeface="Roboto"/>
              <a:cs typeface="Roboto"/>
              <a:sym typeface="Roboto"/>
            </a:endParaRPr>
          </a:p>
        </p:txBody>
      </p:sp>
      <p:sp>
        <p:nvSpPr>
          <p:cNvPr id="359" name="Google Shape;359;p28"/>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3</a:t>
            </a:r>
            <a:endParaRPr sz="1000" dirty="0">
              <a:latin typeface="Roboto"/>
              <a:ea typeface="Roboto"/>
              <a:cs typeface="Roboto"/>
              <a:sym typeface="Roboto"/>
            </a:endParaRPr>
          </a:p>
        </p:txBody>
      </p:sp>
      <p:sp>
        <p:nvSpPr>
          <p:cNvPr id="357" name="Google Shape;357;p28"/>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4</a:t>
            </a:r>
            <a:endParaRPr sz="1000" dirty="0">
              <a:latin typeface="Roboto"/>
              <a:ea typeface="Roboto"/>
              <a:cs typeface="Roboto"/>
              <a:sym typeface="Roboto"/>
            </a:endParaRPr>
          </a:p>
        </p:txBody>
      </p:sp>
      <p:sp>
        <p:nvSpPr>
          <p:cNvPr id="347" name="Google Shape;347;p28"/>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49" name="Google Shape;349;p28"/>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1" name="Google Shape;351;p28"/>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3" name="Google Shape;353;p28"/>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79</a:t>
            </a:r>
            <a:endParaRPr sz="1000" dirty="0">
              <a:latin typeface="Roboto"/>
              <a:ea typeface="Roboto"/>
              <a:cs typeface="Roboto"/>
              <a:sym typeface="Roboto"/>
            </a:endParaRPr>
          </a:p>
        </p:txBody>
      </p:sp>
      <p:sp>
        <p:nvSpPr>
          <p:cNvPr id="355" name="Google Shape;355;p28"/>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nl-NL" sz="1000" dirty="0">
                <a:latin typeface="Roboto"/>
                <a:ea typeface="Roboto"/>
                <a:cs typeface="Roboto"/>
                <a:sym typeface="Roboto"/>
              </a:rPr>
              <a:t>byte</a:t>
            </a:r>
            <a:r>
              <a:rPr lang="en" sz="1000" dirty="0">
                <a:latin typeface="Roboto"/>
                <a:ea typeface="Roboto"/>
                <a:cs typeface="Roboto"/>
                <a:sym typeface="Roboto"/>
              </a:rPr>
              <a:t> 80</a:t>
            </a:r>
            <a:endParaRPr sz="1000" dirty="0">
              <a:latin typeface="Roboto"/>
              <a:ea typeface="Roboto"/>
              <a:cs typeface="Roboto"/>
              <a:sym typeface="Roboto"/>
            </a:endParaRPr>
          </a:p>
        </p:txBody>
      </p:sp>
      <p:sp>
        <p:nvSpPr>
          <p:cNvPr id="404" name="Google Shape;404;p28"/>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5" name="Google Shape;405;p28"/>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6" name="Google Shape;406;p28"/>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7" name="Google Shape;407;p28"/>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8" name="Google Shape;408;p28"/>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9" name="Google Shape;409;p28"/>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0" name="Google Shape;410;p28"/>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1" name="Google Shape;411;p28"/>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2" name="Google Shape;412;p28"/>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3" name="Google Shape;413;p28"/>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4" name="Google Shape;414;p28"/>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5" name="Google Shape;415;p28"/>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6" name="Google Shape;416;p28"/>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7" name="Google Shape;417;p28"/>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8" name="Google Shape;418;p28"/>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9" name="Google Shape;419;p28"/>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0" name="Google Shape;420;p28"/>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1" name="Google Shape;421;p28"/>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2" name="Google Shape;422;p28"/>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3" name="Google Shape;423;p28"/>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4" name="Google Shape;424;p28"/>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5" name="Google Shape;425;p28"/>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6" name="Google Shape;426;p28"/>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7" name="Google Shape;427;p28"/>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8" name="Google Shape;428;p28"/>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9" name="Google Shape;429;p28"/>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0" name="Google Shape;430;p28"/>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1" name="Google Shape;431;p28"/>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432" name="Google Shape;432;p28"/>
          <p:cNvCxnSpPr>
            <a:stCxn id="370" idx="3"/>
            <a:endCxn id="403" idx="0"/>
          </p:cNvCxnSpPr>
          <p:nvPr/>
        </p:nvCxnSpPr>
        <p:spPr>
          <a:xfrm>
            <a:off x="2342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3" name="Google Shape;433;p28"/>
          <p:cNvCxnSpPr>
            <a:stCxn id="371" idx="3"/>
          </p:cNvCxnSpPr>
          <p:nvPr/>
        </p:nvCxnSpPr>
        <p:spPr>
          <a:xfrm>
            <a:off x="25178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4" name="Google Shape;434;p28"/>
          <p:cNvCxnSpPr>
            <a:stCxn id="372" idx="3"/>
          </p:cNvCxnSpPr>
          <p:nvPr/>
        </p:nvCxnSpPr>
        <p:spPr>
          <a:xfrm>
            <a:off x="2692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5" name="Google Shape;435;p28"/>
          <p:cNvCxnSpPr>
            <a:stCxn id="373" idx="3"/>
          </p:cNvCxnSpPr>
          <p:nvPr/>
        </p:nvCxnSpPr>
        <p:spPr>
          <a:xfrm>
            <a:off x="2867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6" name="Google Shape;436;p28"/>
          <p:cNvCxnSpPr>
            <a:stCxn id="374" idx="3"/>
          </p:cNvCxnSpPr>
          <p:nvPr/>
        </p:nvCxnSpPr>
        <p:spPr>
          <a:xfrm>
            <a:off x="3042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7" name="Google Shape;437;p28"/>
          <p:cNvCxnSpPr>
            <a:stCxn id="369" idx="3"/>
          </p:cNvCxnSpPr>
          <p:nvPr/>
        </p:nvCxnSpPr>
        <p:spPr>
          <a:xfrm>
            <a:off x="2168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8" name="Google Shape;438;p28"/>
          <p:cNvCxnSpPr>
            <a:stCxn id="368" idx="3"/>
          </p:cNvCxnSpPr>
          <p:nvPr/>
        </p:nvCxnSpPr>
        <p:spPr>
          <a:xfrm>
            <a:off x="1993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9" name="Google Shape;439;p28"/>
          <p:cNvCxnSpPr>
            <a:stCxn id="367" idx="3"/>
          </p:cNvCxnSpPr>
          <p:nvPr/>
        </p:nvCxnSpPr>
        <p:spPr>
          <a:xfrm>
            <a:off x="1818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40" name="Google Shape;440;p28"/>
          <p:cNvCxnSpPr>
            <a:stCxn id="366" idx="3"/>
          </p:cNvCxnSpPr>
          <p:nvPr/>
        </p:nvCxnSpPr>
        <p:spPr>
          <a:xfrm>
            <a:off x="16433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41" name="Google Shape;441;p28"/>
          <p:cNvCxnSpPr>
            <a:stCxn id="403" idx="2"/>
            <a:endCxn id="345" idx="0"/>
          </p:cNvCxnSpPr>
          <p:nvPr/>
        </p:nvCxnSpPr>
        <p:spPr>
          <a:xfrm>
            <a:off x="23429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442" name="Google Shape;442;p28"/>
          <p:cNvSpPr/>
          <p:nvPr/>
        </p:nvSpPr>
        <p:spPr>
          <a:xfrm>
            <a:off x="11226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3" name="Google Shape;443;p28"/>
          <p:cNvSpPr/>
          <p:nvPr/>
        </p:nvSpPr>
        <p:spPr>
          <a:xfrm>
            <a:off x="14412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4" name="Google Shape;444;p28"/>
          <p:cNvSpPr txBox="1"/>
          <p:nvPr/>
        </p:nvSpPr>
        <p:spPr>
          <a:xfrm>
            <a:off x="3654650" y="2825825"/>
            <a:ext cx="2697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6AA84F"/>
                </a:solidFill>
                <a:latin typeface="Roboto"/>
                <a:ea typeface="Roboto"/>
                <a:cs typeface="Roboto"/>
                <a:sym typeface="Roboto"/>
              </a:rPr>
              <a:t>TCP header carries a sequence number indicating where in the bytestream this segment fits.</a:t>
            </a:r>
            <a:endParaRPr>
              <a:solidFill>
                <a:srgbClr val="6AA84F"/>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ADA627E3-81FF-0DB1-2401-063DCA4F84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Segments</a:t>
            </a:r>
            <a:endParaRPr/>
          </a:p>
        </p:txBody>
      </p:sp>
      <p:sp>
        <p:nvSpPr>
          <p:cNvPr id="450" name="Google Shape;450;p29"/>
          <p:cNvSpPr txBox="1">
            <a:spLocks noGrp="1"/>
          </p:cNvSpPr>
          <p:nvPr>
            <p:ph type="body" idx="1"/>
          </p:nvPr>
        </p:nvSpPr>
        <p:spPr>
          <a:xfrm>
            <a:off x="107050" y="402200"/>
            <a:ext cx="8909700" cy="2282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TCP/IP packet</a:t>
            </a:r>
            <a:r>
              <a:rPr lang="en"/>
              <a:t>: IP packet with TCP header and TCP data inside.</a:t>
            </a:r>
            <a:endParaRPr/>
          </a:p>
          <a:p>
            <a:pPr marL="0" lvl="0" indent="0" algn="l" rtl="0">
              <a:spcBef>
                <a:spcPts val="600"/>
              </a:spcBef>
              <a:spcAft>
                <a:spcPts val="0"/>
              </a:spcAft>
              <a:buNone/>
            </a:pPr>
            <a:r>
              <a:rPr lang="en"/>
              <a:t>Size limits:</a:t>
            </a:r>
            <a:endParaRPr/>
          </a:p>
          <a:p>
            <a:pPr marL="457200" lvl="0" indent="-342900" algn="l" rtl="0">
              <a:spcBef>
                <a:spcPts val="600"/>
              </a:spcBef>
              <a:spcAft>
                <a:spcPts val="0"/>
              </a:spcAft>
              <a:buSzPts val="1800"/>
              <a:buChar char="●"/>
            </a:pPr>
            <a:r>
              <a:rPr lang="en"/>
              <a:t>IP packet: Maximum transmission unit (MTU).</a:t>
            </a:r>
            <a:endParaRPr/>
          </a:p>
          <a:p>
            <a:pPr marL="457200" lvl="0" indent="-342900" algn="l" rtl="0">
              <a:spcBef>
                <a:spcPts val="0"/>
              </a:spcBef>
              <a:spcAft>
                <a:spcPts val="0"/>
              </a:spcAft>
              <a:buSzPts val="1800"/>
              <a:buChar char="●"/>
            </a:pPr>
            <a:r>
              <a:rPr lang="en"/>
              <a:t>TCP segment: Maximum segment size (MSS).</a:t>
            </a:r>
            <a:endParaRPr/>
          </a:p>
          <a:p>
            <a:pPr marL="457200" lvl="0" indent="-342900" algn="l" rtl="0">
              <a:spcBef>
                <a:spcPts val="0"/>
              </a:spcBef>
              <a:spcAft>
                <a:spcPts val="0"/>
              </a:spcAft>
              <a:buSzPts val="1800"/>
              <a:buChar char="●"/>
            </a:pPr>
            <a:r>
              <a:rPr lang="en"/>
              <a:t>MSS = MTU – (IP header) – (TCP header).</a:t>
            </a:r>
            <a:endParaRPr/>
          </a:p>
          <a:p>
            <a:pPr marL="0" lvl="0" indent="0" algn="l" rtl="0">
              <a:spcBef>
                <a:spcPts val="600"/>
              </a:spcBef>
              <a:spcAft>
                <a:spcPts val="0"/>
              </a:spcAft>
              <a:buNone/>
            </a:pPr>
            <a:endParaRPr/>
          </a:p>
        </p:txBody>
      </p:sp>
      <p:sp>
        <p:nvSpPr>
          <p:cNvPr id="451" name="Google Shape;451;p29"/>
          <p:cNvSpPr/>
          <p:nvPr/>
        </p:nvSpPr>
        <p:spPr>
          <a:xfrm>
            <a:off x="3241750" y="3656050"/>
            <a:ext cx="1152000" cy="739200"/>
          </a:xfrm>
          <a:prstGeom prst="rect">
            <a:avLst/>
          </a:prstGeom>
          <a:solidFill>
            <a:srgbClr val="B6D7A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Header</a:t>
            </a:r>
            <a:endParaRPr>
              <a:latin typeface="Roboto"/>
              <a:ea typeface="Roboto"/>
              <a:cs typeface="Roboto"/>
              <a:sym typeface="Roboto"/>
            </a:endParaRPr>
          </a:p>
        </p:txBody>
      </p:sp>
      <p:sp>
        <p:nvSpPr>
          <p:cNvPr id="452" name="Google Shape;452;p29"/>
          <p:cNvSpPr/>
          <p:nvPr/>
        </p:nvSpPr>
        <p:spPr>
          <a:xfrm>
            <a:off x="4393750" y="3656050"/>
            <a:ext cx="2640300" cy="739200"/>
          </a:xfrm>
          <a:prstGeom prst="rect">
            <a:avLst/>
          </a:prstGeom>
          <a:solidFill>
            <a:srgbClr val="9FC5E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Payload (Segment)</a:t>
            </a:r>
            <a:endParaRPr>
              <a:latin typeface="Roboto"/>
              <a:ea typeface="Roboto"/>
              <a:cs typeface="Roboto"/>
              <a:sym typeface="Roboto"/>
            </a:endParaRPr>
          </a:p>
        </p:txBody>
      </p:sp>
      <p:sp>
        <p:nvSpPr>
          <p:cNvPr id="453" name="Google Shape;453;p29"/>
          <p:cNvSpPr/>
          <p:nvPr/>
        </p:nvSpPr>
        <p:spPr>
          <a:xfrm>
            <a:off x="2089750" y="3656050"/>
            <a:ext cx="1152000" cy="739200"/>
          </a:xfrm>
          <a:prstGeom prst="rect">
            <a:avLst/>
          </a:prstGeom>
          <a:solidFill>
            <a:srgbClr val="F9CB9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 Header</a:t>
            </a:r>
            <a:endParaRPr>
              <a:latin typeface="Roboto"/>
              <a:ea typeface="Roboto"/>
              <a:cs typeface="Roboto"/>
              <a:sym typeface="Roboto"/>
            </a:endParaRPr>
          </a:p>
        </p:txBody>
      </p:sp>
      <p:grpSp>
        <p:nvGrpSpPr>
          <p:cNvPr id="454" name="Google Shape;454;p29"/>
          <p:cNvGrpSpPr/>
          <p:nvPr/>
        </p:nvGrpSpPr>
        <p:grpSpPr>
          <a:xfrm>
            <a:off x="3241750" y="4504600"/>
            <a:ext cx="3792300" cy="261300"/>
            <a:chOff x="3241750" y="4504600"/>
            <a:chExt cx="3792300" cy="261300"/>
          </a:xfrm>
        </p:grpSpPr>
        <p:cxnSp>
          <p:nvCxnSpPr>
            <p:cNvPr id="455" name="Google Shape;455;p29"/>
            <p:cNvCxnSpPr/>
            <p:nvPr/>
          </p:nvCxnSpPr>
          <p:spPr>
            <a:xfrm>
              <a:off x="3241750" y="4635250"/>
              <a:ext cx="3792300" cy="0"/>
            </a:xfrm>
            <a:prstGeom prst="straightConnector1">
              <a:avLst/>
            </a:prstGeom>
            <a:noFill/>
            <a:ln w="9525" cap="flat" cmpd="sng">
              <a:solidFill>
                <a:schemeClr val="accent2"/>
              </a:solidFill>
              <a:prstDash val="solid"/>
              <a:round/>
              <a:headEnd type="triangle" w="med" len="med"/>
              <a:tailEnd type="triangle" w="med" len="med"/>
            </a:ln>
          </p:spPr>
        </p:cxnSp>
        <p:sp>
          <p:nvSpPr>
            <p:cNvPr id="456" name="Google Shape;456;p29"/>
            <p:cNvSpPr txBox="1"/>
            <p:nvPr/>
          </p:nvSpPr>
          <p:spPr>
            <a:xfrm>
              <a:off x="4681600" y="4504600"/>
              <a:ext cx="9126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IP Payload</a:t>
              </a:r>
              <a:endParaRPr>
                <a:solidFill>
                  <a:schemeClr val="accent2"/>
                </a:solidFill>
                <a:latin typeface="Roboto"/>
                <a:ea typeface="Roboto"/>
                <a:cs typeface="Roboto"/>
                <a:sym typeface="Roboto"/>
              </a:endParaRPr>
            </a:p>
          </p:txBody>
        </p:sp>
      </p:grpSp>
      <p:grpSp>
        <p:nvGrpSpPr>
          <p:cNvPr id="457" name="Google Shape;457;p29"/>
          <p:cNvGrpSpPr/>
          <p:nvPr/>
        </p:nvGrpSpPr>
        <p:grpSpPr>
          <a:xfrm>
            <a:off x="2089750" y="2980600"/>
            <a:ext cx="4944300" cy="261300"/>
            <a:chOff x="2089750" y="2980600"/>
            <a:chExt cx="4944300" cy="261300"/>
          </a:xfrm>
        </p:grpSpPr>
        <p:cxnSp>
          <p:nvCxnSpPr>
            <p:cNvPr id="458" name="Google Shape;458;p29"/>
            <p:cNvCxnSpPr/>
            <p:nvPr/>
          </p:nvCxnSpPr>
          <p:spPr>
            <a:xfrm>
              <a:off x="2089750" y="3111250"/>
              <a:ext cx="4944300" cy="0"/>
            </a:xfrm>
            <a:prstGeom prst="straightConnector1">
              <a:avLst/>
            </a:prstGeom>
            <a:noFill/>
            <a:ln w="9525" cap="flat" cmpd="sng">
              <a:solidFill>
                <a:schemeClr val="accent2"/>
              </a:solidFill>
              <a:prstDash val="solid"/>
              <a:round/>
              <a:headEnd type="triangle" w="med" len="med"/>
              <a:tailEnd type="triangle" w="med" len="med"/>
            </a:ln>
          </p:spPr>
        </p:cxnSp>
        <p:sp>
          <p:nvSpPr>
            <p:cNvPr id="459" name="Google Shape;459;p29"/>
            <p:cNvSpPr txBox="1"/>
            <p:nvPr/>
          </p:nvSpPr>
          <p:spPr>
            <a:xfrm>
              <a:off x="3891002" y="2980600"/>
              <a:ext cx="1362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Limit </a:t>
              </a:r>
              <a:r>
                <a:rPr lang="en" i="1">
                  <a:solidFill>
                    <a:schemeClr val="accent2"/>
                  </a:solidFill>
                  <a:latin typeface="Roboto"/>
                  <a:ea typeface="Roboto"/>
                  <a:cs typeface="Roboto"/>
                  <a:sym typeface="Roboto"/>
                </a:rPr>
                <a:t>MTU</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grpSp>
        <p:nvGrpSpPr>
          <p:cNvPr id="460" name="Google Shape;460;p29"/>
          <p:cNvGrpSpPr/>
          <p:nvPr/>
        </p:nvGrpSpPr>
        <p:grpSpPr>
          <a:xfrm>
            <a:off x="4393750" y="3285400"/>
            <a:ext cx="2640300" cy="261300"/>
            <a:chOff x="4393750" y="3285400"/>
            <a:chExt cx="2640300" cy="261300"/>
          </a:xfrm>
        </p:grpSpPr>
        <p:cxnSp>
          <p:nvCxnSpPr>
            <p:cNvPr id="461" name="Google Shape;461;p29"/>
            <p:cNvCxnSpPr/>
            <p:nvPr/>
          </p:nvCxnSpPr>
          <p:spPr>
            <a:xfrm>
              <a:off x="4393750" y="3416050"/>
              <a:ext cx="2640300" cy="0"/>
            </a:xfrm>
            <a:prstGeom prst="straightConnector1">
              <a:avLst/>
            </a:prstGeom>
            <a:noFill/>
            <a:ln w="9525" cap="flat" cmpd="sng">
              <a:solidFill>
                <a:schemeClr val="accent2"/>
              </a:solidFill>
              <a:prstDash val="solid"/>
              <a:round/>
              <a:headEnd type="triangle" w="med" len="med"/>
              <a:tailEnd type="triangle" w="med" len="med"/>
            </a:ln>
          </p:spPr>
        </p:cxnSp>
        <p:sp>
          <p:nvSpPr>
            <p:cNvPr id="462" name="Google Shape;462;p29"/>
            <p:cNvSpPr txBox="1"/>
            <p:nvPr/>
          </p:nvSpPr>
          <p:spPr>
            <a:xfrm>
              <a:off x="5032902" y="3285400"/>
              <a:ext cx="1362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Limit </a:t>
              </a:r>
              <a:r>
                <a:rPr lang="en" i="1">
                  <a:solidFill>
                    <a:schemeClr val="accent2"/>
                  </a:solidFill>
                  <a:latin typeface="Roboto"/>
                  <a:ea typeface="Roboto"/>
                  <a:cs typeface="Roboto"/>
                  <a:sym typeface="Roboto"/>
                </a:rPr>
                <a:t>MSS</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
        <p:nvSpPr>
          <p:cNvPr id="2" name="Slide Number Placeholder 1">
            <a:extLst>
              <a:ext uri="{FF2B5EF4-FFF2-40B4-BE49-F238E27FC236}">
                <a16:creationId xmlns:a16="http://schemas.microsoft.com/office/drawing/2014/main" id="{413752AA-517C-6E75-204A-6421659B2B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TCP Sequence Numbers</a:t>
            </a:r>
            <a:endParaRPr dirty="0"/>
          </a:p>
        </p:txBody>
      </p:sp>
      <p:sp>
        <p:nvSpPr>
          <p:cNvPr id="468" name="Google Shape;468;p30"/>
          <p:cNvSpPr txBox="1">
            <a:spLocks noGrp="1"/>
          </p:cNvSpPr>
          <p:nvPr>
            <p:ph type="body" idx="1"/>
          </p:nvPr>
        </p:nvSpPr>
        <p:spPr>
          <a:xfrm>
            <a:off x="107050" y="402200"/>
            <a:ext cx="8909700" cy="1355100"/>
          </a:xfrm>
          <a:prstGeom prst="rect">
            <a:avLst/>
          </a:prstGeom>
        </p:spPr>
        <p:txBody>
          <a:bodyPr spcFirstLastPara="1" wrap="square" lIns="91425" tIns="91425" rIns="91425" bIns="91425" anchor="t" anchorCtr="0">
            <a:normAutofit fontScale="92500" lnSpcReduction="20000"/>
          </a:bodyPr>
          <a:lstStyle/>
          <a:p>
            <a:pPr marL="0" lvl="0" indent="0" algn="l" rtl="0">
              <a:spcBef>
                <a:spcPts val="600"/>
              </a:spcBef>
              <a:spcAft>
                <a:spcPts val="0"/>
              </a:spcAft>
              <a:buNone/>
            </a:pPr>
            <a:r>
              <a:rPr lang="en" dirty="0"/>
              <a:t>Numbering starts at a randomly-generated </a:t>
            </a:r>
            <a:r>
              <a:rPr lang="en" b="1" dirty="0"/>
              <a:t>Initial Sequence Number</a:t>
            </a:r>
            <a:r>
              <a:rPr lang="en" dirty="0"/>
              <a:t> (ISN).</a:t>
            </a:r>
            <a:endParaRPr dirty="0"/>
          </a:p>
          <a:p>
            <a:pPr marL="457200" lvl="0" indent="-342900" algn="l" rtl="0">
              <a:spcBef>
                <a:spcPts val="600"/>
              </a:spcBef>
              <a:spcAft>
                <a:spcPts val="0"/>
              </a:spcAft>
              <a:buSzPts val="1800"/>
              <a:buChar char="●"/>
            </a:pPr>
            <a:r>
              <a:rPr lang="en" dirty="0"/>
              <a:t>First byte is </a:t>
            </a:r>
            <a:r>
              <a:rPr lang="en" i="1" dirty="0"/>
              <a:t>ISN</a:t>
            </a:r>
            <a:r>
              <a:rPr lang="en" dirty="0"/>
              <a:t>+1, then </a:t>
            </a:r>
            <a:r>
              <a:rPr lang="en" i="1" dirty="0"/>
              <a:t>ISN</a:t>
            </a:r>
            <a:r>
              <a:rPr lang="en" dirty="0"/>
              <a:t>+2, etc.</a:t>
            </a:r>
            <a:endParaRPr dirty="0"/>
          </a:p>
          <a:p>
            <a:pPr marL="457200" lvl="0" indent="-342900" algn="l" rtl="0">
              <a:spcBef>
                <a:spcPts val="0"/>
              </a:spcBef>
              <a:spcAft>
                <a:spcPts val="0"/>
              </a:spcAft>
              <a:buSzPts val="1800"/>
              <a:buChar char="●"/>
            </a:pPr>
            <a:r>
              <a:rPr lang="en-US" dirty="0"/>
              <a:t>Random ISNs reduce the risk that old duplicate segments will be mistaken for new data, and mitigate some spoofing attacks (for security).</a:t>
            </a:r>
            <a:endParaRPr lang="en" dirty="0"/>
          </a:p>
        </p:txBody>
      </p:sp>
      <p:sp>
        <p:nvSpPr>
          <p:cNvPr id="469" name="Google Shape;469;p30"/>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 </a:t>
            </a:r>
            <a:r>
              <a:rPr lang="en" sz="1000">
                <a:latin typeface="Roboto"/>
                <a:ea typeface="Roboto"/>
                <a:cs typeface="Roboto"/>
                <a:sym typeface="Roboto"/>
              </a:rPr>
              <a:t>+ 1</a:t>
            </a:r>
            <a:endParaRPr sz="1000">
              <a:latin typeface="Roboto"/>
              <a:ea typeface="Roboto"/>
              <a:cs typeface="Roboto"/>
              <a:sym typeface="Roboto"/>
            </a:endParaRPr>
          </a:p>
        </p:txBody>
      </p:sp>
      <p:sp>
        <p:nvSpPr>
          <p:cNvPr id="470" name="Google Shape;470;p30"/>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471" name="Google Shape;471;p30"/>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472" name="Google Shape;472;p30"/>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473" name="Google Shape;473;p30"/>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4" name="Google Shape;474;p30"/>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5" name="Google Shape;475;p30"/>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6" name="Google Shape;476;p30"/>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477" name="Google Shape;477;p30"/>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478" name="Google Shape;478;p30"/>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9" name="Google Shape;479;p30"/>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0" name="Google Shape;480;p30"/>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1" name="Google Shape;481;p30"/>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2" name="Google Shape;482;p30"/>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3" name="Google Shape;483;p30"/>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4" name="Google Shape;484;p30"/>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5" name="Google Shape;485;p30"/>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6" name="Google Shape;486;p30"/>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7" name="Google Shape;487;p30"/>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8" name="Google Shape;488;p30"/>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9" name="Google Shape;489;p30"/>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0" name="Google Shape;490;p30"/>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1" name="Google Shape;491;p30"/>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2" name="Google Shape;492;p30"/>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3" name="Google Shape;493;p30"/>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4" name="Google Shape;494;p30"/>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5" name="Google Shape;495;p30"/>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6" name="Google Shape;496;p30"/>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7" name="Google Shape;497;p30"/>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8" name="Google Shape;498;p30"/>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9" name="Google Shape;499;p30"/>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0" name="Google Shape;500;p30"/>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1" name="Google Shape;501;p30"/>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2" name="Google Shape;502;p30"/>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3" name="Google Shape;503;p30"/>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4" name="Google Shape;504;p30"/>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5" name="Google Shape;505;p30"/>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+ 1</a:t>
            </a:r>
            <a:endParaRPr sz="1000">
              <a:latin typeface="Roboto"/>
              <a:ea typeface="Roboto"/>
              <a:cs typeface="Roboto"/>
              <a:sym typeface="Roboto"/>
            </a:endParaRPr>
          </a:p>
        </p:txBody>
      </p:sp>
      <p:sp>
        <p:nvSpPr>
          <p:cNvPr id="506" name="Google Shape;506;p30"/>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507" name="Google Shape;507;p30"/>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508" name="Google Shape;508;p30"/>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509" name="Google Shape;509;p30"/>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0" name="Google Shape;510;p30"/>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1" name="Google Shape;511;p30"/>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2" name="Google Shape;512;p30"/>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513" name="Google Shape;513;p30"/>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514" name="Google Shape;514;p30"/>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5" name="Google Shape;515;p30"/>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6" name="Google Shape;516;p30"/>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7" name="Google Shape;517;p30"/>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8" name="Google Shape;518;p30"/>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9" name="Google Shape;519;p30"/>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0" name="Google Shape;520;p30"/>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1" name="Google Shape;521;p30"/>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2" name="Google Shape;522;p30"/>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3" name="Google Shape;523;p30"/>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4" name="Google Shape;524;p30"/>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5" name="Google Shape;525;p30"/>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6" name="Google Shape;526;p30"/>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7" name="Google Shape;527;p30"/>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8" name="Google Shape;528;p30"/>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9" name="Google Shape;529;p30"/>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0" name="Google Shape;530;p30"/>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1" name="Google Shape;531;p30"/>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2" name="Google Shape;532;p30"/>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3" name="Google Shape;533;p30"/>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4" name="Google Shape;534;p30"/>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5" name="Google Shape;535;p30"/>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6" name="Google Shape;536;p30"/>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7" name="Google Shape;537;p30"/>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8" name="Google Shape;538;p30"/>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9" name="Google Shape;539;p30"/>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0" name="Google Shape;540;p30"/>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1" name="Google Shape;541;p30"/>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sp>
        <p:nvSpPr>
          <p:cNvPr id="542" name="Google Shape;542;p30"/>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378887E1-21C1-75BF-5C9F-B272166334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31"/>
          <p:cNvSpPr/>
          <p:nvPr/>
        </p:nvSpPr>
        <p:spPr>
          <a:xfrm>
            <a:off x="46728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548" name="Google Shape;548;p31"/>
          <p:cNvCxnSpPr>
            <a:endCxn id="549" idx="1"/>
          </p:cNvCxnSpPr>
          <p:nvPr/>
        </p:nvCxnSpPr>
        <p:spPr>
          <a:xfrm>
            <a:off x="54599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0" name="Google Shape;550;p31"/>
          <p:cNvCxnSpPr>
            <a:endCxn id="551" idx="1"/>
          </p:cNvCxnSpPr>
          <p:nvPr/>
        </p:nvCxnSpPr>
        <p:spPr>
          <a:xfrm>
            <a:off x="5634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2" name="Google Shape;552;p31"/>
          <p:cNvCxnSpPr>
            <a:endCxn id="553" idx="1"/>
          </p:cNvCxnSpPr>
          <p:nvPr/>
        </p:nvCxnSpPr>
        <p:spPr>
          <a:xfrm>
            <a:off x="5809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4" name="Google Shape;554;p31"/>
          <p:cNvCxnSpPr>
            <a:endCxn id="555" idx="1"/>
          </p:cNvCxnSpPr>
          <p:nvPr/>
        </p:nvCxnSpPr>
        <p:spPr>
          <a:xfrm>
            <a:off x="5984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6" name="Google Shape;556;p31"/>
          <p:cNvCxnSpPr>
            <a:endCxn id="557" idx="1"/>
          </p:cNvCxnSpPr>
          <p:nvPr/>
        </p:nvCxnSpPr>
        <p:spPr>
          <a:xfrm>
            <a:off x="6159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8" name="Google Shape;558;p31"/>
          <p:cNvCxnSpPr>
            <a:endCxn id="559" idx="1"/>
          </p:cNvCxnSpPr>
          <p:nvPr/>
        </p:nvCxnSpPr>
        <p:spPr>
          <a:xfrm>
            <a:off x="52850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60" name="Google Shape;560;p31"/>
          <p:cNvCxnSpPr>
            <a:endCxn id="561" idx="1"/>
          </p:cNvCxnSpPr>
          <p:nvPr/>
        </p:nvCxnSpPr>
        <p:spPr>
          <a:xfrm>
            <a:off x="5110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62" name="Google Shape;562;p31"/>
          <p:cNvCxnSpPr>
            <a:endCxn id="563" idx="1"/>
          </p:cNvCxnSpPr>
          <p:nvPr/>
        </p:nvCxnSpPr>
        <p:spPr>
          <a:xfrm>
            <a:off x="4935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64" name="Google Shape;564;p31"/>
          <p:cNvCxnSpPr>
            <a:endCxn id="565" idx="1"/>
          </p:cNvCxnSpPr>
          <p:nvPr/>
        </p:nvCxnSpPr>
        <p:spPr>
          <a:xfrm>
            <a:off x="47603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566" name="Google Shape;566;p3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Sequence Numbers</a:t>
            </a:r>
            <a:endParaRPr/>
          </a:p>
        </p:txBody>
      </p:sp>
      <p:sp>
        <p:nvSpPr>
          <p:cNvPr id="567" name="Google Shape;567;p31"/>
          <p:cNvSpPr txBox="1">
            <a:spLocks noGrp="1"/>
          </p:cNvSpPr>
          <p:nvPr>
            <p:ph type="body" idx="1"/>
          </p:nvPr>
        </p:nvSpPr>
        <p:spPr>
          <a:xfrm>
            <a:off x="107050" y="402200"/>
            <a:ext cx="8909700" cy="10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sequence number of a segment is the number of the </a:t>
            </a:r>
            <a:r>
              <a:rPr lang="en" i="1"/>
              <a:t>first byte</a:t>
            </a:r>
            <a:r>
              <a:rPr lang="en"/>
              <a:t> in the segment.</a:t>
            </a:r>
            <a:endParaRPr/>
          </a:p>
          <a:p>
            <a:pPr marL="0" lvl="0" indent="0" algn="l" rtl="0">
              <a:spcBef>
                <a:spcPts val="600"/>
              </a:spcBef>
              <a:spcAft>
                <a:spcPts val="0"/>
              </a:spcAft>
              <a:buNone/>
            </a:pPr>
            <a:r>
              <a:rPr lang="en"/>
              <a:t>Example: In the segment below, the sequence number is </a:t>
            </a:r>
            <a:r>
              <a:rPr lang="en" i="1">
                <a:solidFill>
                  <a:schemeClr val="accent2"/>
                </a:solidFill>
              </a:rPr>
              <a:t>ISN</a:t>
            </a:r>
            <a:r>
              <a:rPr lang="en">
                <a:solidFill>
                  <a:schemeClr val="accent2"/>
                </a:solidFill>
              </a:rPr>
              <a:t> + 140</a:t>
            </a:r>
            <a:r>
              <a:rPr lang="en"/>
              <a:t>.</a:t>
            </a:r>
            <a:endParaRPr/>
          </a:p>
        </p:txBody>
      </p:sp>
      <p:sp>
        <p:nvSpPr>
          <p:cNvPr id="568" name="Google Shape;568;p31"/>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569" name="Google Shape;569;p31"/>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570" name="Google Shape;570;p31"/>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571" name="Google Shape;571;p31"/>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572" name="Google Shape;572;p31"/>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3" name="Google Shape;573;p31"/>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4" name="Google Shape;574;p31"/>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5" name="Google Shape;575;p31"/>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576" name="Google Shape;576;p31"/>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577" name="Google Shape;577;p31"/>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8" name="Google Shape;578;p31"/>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9" name="Google Shape;579;p31"/>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0" name="Google Shape;580;p31"/>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1" name="Google Shape;581;p31"/>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2" name="Google Shape;582;p31"/>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3" name="Google Shape;583;p31"/>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4" name="Google Shape;584;p31"/>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ISN+140</a:t>
            </a:r>
            <a:endParaRPr sz="1000">
              <a:solidFill>
                <a:schemeClr val="accent2"/>
              </a:solidFill>
              <a:latin typeface="Roboto"/>
              <a:ea typeface="Roboto"/>
              <a:cs typeface="Roboto"/>
              <a:sym typeface="Roboto"/>
            </a:endParaRPr>
          </a:p>
        </p:txBody>
      </p:sp>
      <p:sp>
        <p:nvSpPr>
          <p:cNvPr id="585" name="Google Shape;585;p31"/>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86" name="Google Shape;586;p31"/>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87" name="Google Shape;587;p31"/>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88" name="Google Shape;588;p31"/>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9" name="Google Shape;589;p31"/>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0" name="Google Shape;590;p31"/>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1" name="Google Shape;591;p31"/>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92" name="Google Shape;592;p31"/>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593" name="Google Shape;593;p31"/>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4" name="Google Shape;594;p31"/>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5" name="Google Shape;595;p31"/>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6" name="Google Shape;596;p31"/>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7" name="Google Shape;597;p31"/>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8" name="Google Shape;598;p31"/>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9" name="Google Shape;599;p31"/>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0" name="Google Shape;600;p31"/>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1" name="Google Shape;601;p31"/>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2" name="Google Shape;602;p31"/>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3" name="Google Shape;603;p31"/>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4" name="Google Shape;604;p31"/>
          <p:cNvSpPr/>
          <p:nvPr/>
        </p:nvSpPr>
        <p:spPr>
          <a:xfrm>
            <a:off x="43542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605" name="Google Shape;605;p31"/>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06" name="Google Shape;606;p31"/>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07" name="Google Shape;607;p31"/>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08" name="Google Shape;608;p31"/>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09" name="Google Shape;609;p31"/>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0" name="Google Shape;610;p31"/>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1" name="Google Shape;611;p31"/>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2" name="Google Shape;612;p31"/>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13" name="Google Shape;613;p31"/>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14" name="Google Shape;614;p31"/>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5" name="Google Shape;615;p31"/>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6" name="Google Shape;616;p31"/>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7" name="Google Shape;617;p31"/>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8" name="Google Shape;618;p31"/>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9" name="Google Shape;619;p31"/>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0" name="Google Shape;620;p31"/>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65" name="Google Shape;565;p31"/>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ISN+140</a:t>
            </a:r>
            <a:endParaRPr sz="1000">
              <a:latin typeface="Roboto"/>
              <a:ea typeface="Roboto"/>
              <a:cs typeface="Roboto"/>
              <a:sym typeface="Roboto"/>
            </a:endParaRPr>
          </a:p>
        </p:txBody>
      </p:sp>
      <p:sp>
        <p:nvSpPr>
          <p:cNvPr id="563" name="Google Shape;563;p31"/>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61" name="Google Shape;561;p31"/>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59" name="Google Shape;559;p31"/>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49" name="Google Shape;549;p31"/>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1" name="Google Shape;551;p31"/>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3" name="Google Shape;553;p31"/>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5" name="Google Shape;555;p31"/>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57" name="Google Shape;557;p31"/>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621" name="Google Shape;621;p31"/>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2" name="Google Shape;622;p31"/>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3" name="Google Shape;623;p31"/>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4" name="Google Shape;624;p31"/>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5" name="Google Shape;625;p31"/>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6" name="Google Shape;626;p31"/>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7" name="Google Shape;627;p31"/>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8" name="Google Shape;628;p31"/>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9" name="Google Shape;629;p31"/>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0" name="Google Shape;630;p31"/>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1" name="Google Shape;631;p31"/>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2" name="Google Shape;632;p31"/>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633" name="Google Shape;633;p31"/>
          <p:cNvCxnSpPr>
            <a:endCxn id="604" idx="0"/>
          </p:cNvCxnSpPr>
          <p:nvPr/>
        </p:nvCxnSpPr>
        <p:spPr>
          <a:xfrm>
            <a:off x="5131400" y="2476469"/>
            <a:ext cx="9900" cy="307800"/>
          </a:xfrm>
          <a:prstGeom prst="straightConnector1">
            <a:avLst/>
          </a:prstGeom>
          <a:noFill/>
          <a:ln w="9525" cap="flat" cmpd="sng">
            <a:solidFill>
              <a:schemeClr val="dk2"/>
            </a:solidFill>
            <a:prstDash val="solid"/>
            <a:round/>
            <a:headEnd type="none" w="med" len="med"/>
            <a:tailEnd type="triangle" w="med" len="med"/>
          </a:ln>
        </p:spPr>
      </p:cxnSp>
      <p:cxnSp>
        <p:nvCxnSpPr>
          <p:cNvPr id="634" name="Google Shape;634;p31"/>
          <p:cNvCxnSpPr>
            <a:stCxn id="589" idx="3"/>
          </p:cNvCxnSpPr>
          <p:nvPr/>
        </p:nvCxnSpPr>
        <p:spPr>
          <a:xfrm>
            <a:off x="5316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5" name="Google Shape;635;p31"/>
          <p:cNvCxnSpPr>
            <a:stCxn id="590" idx="3"/>
          </p:cNvCxnSpPr>
          <p:nvPr/>
        </p:nvCxnSpPr>
        <p:spPr>
          <a:xfrm>
            <a:off x="5491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6" name="Google Shape;636;p31"/>
          <p:cNvCxnSpPr>
            <a:stCxn id="591" idx="3"/>
          </p:cNvCxnSpPr>
          <p:nvPr/>
        </p:nvCxnSpPr>
        <p:spPr>
          <a:xfrm>
            <a:off x="5666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7" name="Google Shape;637;p31"/>
          <p:cNvCxnSpPr>
            <a:stCxn id="592" idx="3"/>
          </p:cNvCxnSpPr>
          <p:nvPr/>
        </p:nvCxnSpPr>
        <p:spPr>
          <a:xfrm>
            <a:off x="5840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8" name="Google Shape;638;p31"/>
          <p:cNvCxnSpPr>
            <a:stCxn id="587" idx="3"/>
          </p:cNvCxnSpPr>
          <p:nvPr/>
        </p:nvCxnSpPr>
        <p:spPr>
          <a:xfrm>
            <a:off x="49664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9" name="Google Shape;639;p31"/>
          <p:cNvCxnSpPr>
            <a:stCxn id="586" idx="3"/>
          </p:cNvCxnSpPr>
          <p:nvPr/>
        </p:nvCxnSpPr>
        <p:spPr>
          <a:xfrm>
            <a:off x="4791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40" name="Google Shape;640;p31"/>
          <p:cNvCxnSpPr>
            <a:stCxn id="585" idx="3"/>
          </p:cNvCxnSpPr>
          <p:nvPr/>
        </p:nvCxnSpPr>
        <p:spPr>
          <a:xfrm>
            <a:off x="4616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41" name="Google Shape;641;p31"/>
          <p:cNvCxnSpPr>
            <a:stCxn id="584" idx="3"/>
          </p:cNvCxnSpPr>
          <p:nvPr/>
        </p:nvCxnSpPr>
        <p:spPr>
          <a:xfrm>
            <a:off x="4441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42" name="Google Shape;642;p31"/>
          <p:cNvCxnSpPr>
            <a:stCxn id="604" idx="2"/>
            <a:endCxn id="547" idx="0"/>
          </p:cNvCxnSpPr>
          <p:nvPr/>
        </p:nvCxnSpPr>
        <p:spPr>
          <a:xfrm>
            <a:off x="51413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643" name="Google Shape;643;p31"/>
          <p:cNvSpPr/>
          <p:nvPr/>
        </p:nvSpPr>
        <p:spPr>
          <a:xfrm>
            <a:off x="39210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4" name="Google Shape;644;p31"/>
          <p:cNvSpPr/>
          <p:nvPr/>
        </p:nvSpPr>
        <p:spPr>
          <a:xfrm>
            <a:off x="42396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5" name="Google Shape;645;p31"/>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FAC97CB4-A8C8-C49D-ECCE-52085FD702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32"/>
          <p:cNvSpPr/>
          <p:nvPr/>
        </p:nvSpPr>
        <p:spPr>
          <a:xfrm>
            <a:off x="46728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651" name="Google Shape;651;p32"/>
          <p:cNvCxnSpPr>
            <a:endCxn id="652" idx="1"/>
          </p:cNvCxnSpPr>
          <p:nvPr/>
        </p:nvCxnSpPr>
        <p:spPr>
          <a:xfrm>
            <a:off x="54599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3" name="Google Shape;653;p32"/>
          <p:cNvCxnSpPr>
            <a:endCxn id="654" idx="1"/>
          </p:cNvCxnSpPr>
          <p:nvPr/>
        </p:nvCxnSpPr>
        <p:spPr>
          <a:xfrm>
            <a:off x="5634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5" name="Google Shape;655;p32"/>
          <p:cNvCxnSpPr>
            <a:endCxn id="656" idx="1"/>
          </p:cNvCxnSpPr>
          <p:nvPr/>
        </p:nvCxnSpPr>
        <p:spPr>
          <a:xfrm>
            <a:off x="5809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7" name="Google Shape;657;p32"/>
          <p:cNvCxnSpPr>
            <a:endCxn id="658" idx="1"/>
          </p:cNvCxnSpPr>
          <p:nvPr/>
        </p:nvCxnSpPr>
        <p:spPr>
          <a:xfrm>
            <a:off x="5984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9" name="Google Shape;659;p32"/>
          <p:cNvCxnSpPr>
            <a:endCxn id="660" idx="1"/>
          </p:cNvCxnSpPr>
          <p:nvPr/>
        </p:nvCxnSpPr>
        <p:spPr>
          <a:xfrm>
            <a:off x="6159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1" name="Google Shape;661;p32"/>
          <p:cNvCxnSpPr>
            <a:endCxn id="662" idx="1"/>
          </p:cNvCxnSpPr>
          <p:nvPr/>
        </p:nvCxnSpPr>
        <p:spPr>
          <a:xfrm>
            <a:off x="52850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3" name="Google Shape;663;p32"/>
          <p:cNvCxnSpPr>
            <a:endCxn id="664" idx="1"/>
          </p:cNvCxnSpPr>
          <p:nvPr/>
        </p:nvCxnSpPr>
        <p:spPr>
          <a:xfrm>
            <a:off x="5110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5" name="Google Shape;665;p32"/>
          <p:cNvCxnSpPr>
            <a:endCxn id="666" idx="1"/>
          </p:cNvCxnSpPr>
          <p:nvPr/>
        </p:nvCxnSpPr>
        <p:spPr>
          <a:xfrm>
            <a:off x="4935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7" name="Google Shape;667;p32"/>
          <p:cNvCxnSpPr>
            <a:endCxn id="668" idx="1"/>
          </p:cNvCxnSpPr>
          <p:nvPr/>
        </p:nvCxnSpPr>
        <p:spPr>
          <a:xfrm>
            <a:off x="47603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669" name="Google Shape;669;p3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Ack Numbers</a:t>
            </a:r>
            <a:endParaRPr/>
          </a:p>
        </p:txBody>
      </p:sp>
      <p:sp>
        <p:nvSpPr>
          <p:cNvPr id="670" name="Google Shape;670;p32"/>
          <p:cNvSpPr txBox="1">
            <a:spLocks noGrp="1"/>
          </p:cNvSpPr>
          <p:nvPr>
            <p:ph type="body" idx="1"/>
          </p:nvPr>
        </p:nvSpPr>
        <p:spPr>
          <a:xfrm>
            <a:off x="107050" y="402200"/>
            <a:ext cx="8909700" cy="1243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ack number indicates the next expected byte (i.e. the first unreceived byte).</a:t>
            </a:r>
            <a:endParaRPr/>
          </a:p>
          <a:p>
            <a:pPr marL="0" lvl="0" indent="0" algn="l" rtl="0">
              <a:spcBef>
                <a:spcPts val="600"/>
              </a:spcBef>
              <a:spcAft>
                <a:spcPts val="0"/>
              </a:spcAft>
              <a:buNone/>
            </a:pPr>
            <a:r>
              <a:rPr lang="en"/>
              <a:t>Example: All bytes up to (and including) </a:t>
            </a:r>
            <a:r>
              <a:rPr lang="en" i="1"/>
              <a:t>ISN</a:t>
            </a:r>
            <a:r>
              <a:rPr lang="en"/>
              <a:t> + 219 have been received, so the next unreceived byte is </a:t>
            </a:r>
            <a:r>
              <a:rPr lang="en" i="1">
                <a:solidFill>
                  <a:schemeClr val="accent2"/>
                </a:solidFill>
              </a:rPr>
              <a:t>ISN</a:t>
            </a:r>
            <a:r>
              <a:rPr lang="en">
                <a:solidFill>
                  <a:schemeClr val="accent2"/>
                </a:solidFill>
              </a:rPr>
              <a:t> + 220</a:t>
            </a:r>
            <a:r>
              <a:rPr lang="en"/>
              <a:t>.</a:t>
            </a:r>
            <a:endParaRPr/>
          </a:p>
        </p:txBody>
      </p:sp>
      <p:sp>
        <p:nvSpPr>
          <p:cNvPr id="671" name="Google Shape;671;p32"/>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72" name="Google Shape;672;p32"/>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73" name="Google Shape;673;p32"/>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74" name="Google Shape;674;p32"/>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75" name="Google Shape;675;p32"/>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6" name="Google Shape;676;p32"/>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7" name="Google Shape;677;p32"/>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8" name="Google Shape;678;p32"/>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79" name="Google Shape;679;p32"/>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80" name="Google Shape;680;p32"/>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1" name="Google Shape;681;p32"/>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2" name="Google Shape;682;p32"/>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3" name="Google Shape;683;p32"/>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4" name="Google Shape;684;p32"/>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5" name="Google Shape;685;p32"/>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6" name="Google Shape;686;p32"/>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7" name="Google Shape;687;p32"/>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88" name="Google Shape;688;p32"/>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89" name="Google Shape;689;p32"/>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90" name="Google Shape;690;p32"/>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91" name="Google Shape;691;p32"/>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2" name="Google Shape;692;p32"/>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3" name="Google Shape;693;p32"/>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4" name="Google Shape;694;p32"/>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95" name="Google Shape;695;p32"/>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696" name="Google Shape;696;p32"/>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7" name="Google Shape;697;p32"/>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8" name="Google Shape;698;p32"/>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9" name="Google Shape;699;p32"/>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0" name="Google Shape;700;p32"/>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1" name="Google Shape;701;p32"/>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2" name="Google Shape;702;p32"/>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3" name="Google Shape;703;p32"/>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4" name="Google Shape;704;p32"/>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5" name="Google Shape;705;p32"/>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6" name="Google Shape;706;p32"/>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7" name="Google Shape;707;p32"/>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708" name="Google Shape;708;p32"/>
          <p:cNvSpPr/>
          <p:nvPr/>
        </p:nvSpPr>
        <p:spPr>
          <a:xfrm>
            <a:off x="43542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709" name="Google Shape;709;p32"/>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710" name="Google Shape;710;p32"/>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711" name="Google Shape;711;p32"/>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712" name="Google Shape;712;p32"/>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713" name="Google Shape;713;p32"/>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4" name="Google Shape;714;p32"/>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5" name="Google Shape;715;p32"/>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6" name="Google Shape;716;p32"/>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717" name="Google Shape;717;p32"/>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718" name="Google Shape;718;p32"/>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9" name="Google Shape;719;p32"/>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0" name="Google Shape;720;p32"/>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1" name="Google Shape;721;p32"/>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2" name="Google Shape;722;p32"/>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3" name="Google Shape;723;p32"/>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4" name="Google Shape;724;p32"/>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68" name="Google Shape;668;p32"/>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66" name="Google Shape;666;p32"/>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64" name="Google Shape;664;p32"/>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62" name="Google Shape;662;p32"/>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52" name="Google Shape;652;p32"/>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4" name="Google Shape;654;p32"/>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6" name="Google Shape;656;p32"/>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8" name="Google Shape;658;p32"/>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60" name="Google Shape;660;p32"/>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725" name="Google Shape;725;p32"/>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6" name="Google Shape;726;p32"/>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7" name="Google Shape;727;p32"/>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8" name="Google Shape;728;p32"/>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9" name="Google Shape;729;p32"/>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0" name="Google Shape;730;p32"/>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1" name="Google Shape;731;p32"/>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2" name="Google Shape;732;p32"/>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3" name="Google Shape;733;p32"/>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4" name="Google Shape;734;p32"/>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5" name="Google Shape;735;p32"/>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6" name="Google Shape;736;p32"/>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737" name="Google Shape;737;p32"/>
          <p:cNvCxnSpPr>
            <a:stCxn id="692" idx="3"/>
          </p:cNvCxnSpPr>
          <p:nvPr/>
        </p:nvCxnSpPr>
        <p:spPr>
          <a:xfrm>
            <a:off x="5316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38" name="Google Shape;738;p32"/>
          <p:cNvCxnSpPr>
            <a:stCxn id="693" idx="3"/>
          </p:cNvCxnSpPr>
          <p:nvPr/>
        </p:nvCxnSpPr>
        <p:spPr>
          <a:xfrm>
            <a:off x="5491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39" name="Google Shape;739;p32"/>
          <p:cNvCxnSpPr>
            <a:stCxn id="694" idx="3"/>
          </p:cNvCxnSpPr>
          <p:nvPr/>
        </p:nvCxnSpPr>
        <p:spPr>
          <a:xfrm>
            <a:off x="5666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0" name="Google Shape;740;p32"/>
          <p:cNvCxnSpPr>
            <a:stCxn id="695" idx="3"/>
          </p:cNvCxnSpPr>
          <p:nvPr/>
        </p:nvCxnSpPr>
        <p:spPr>
          <a:xfrm>
            <a:off x="5840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1" name="Google Shape;741;p32"/>
          <p:cNvCxnSpPr>
            <a:stCxn id="690" idx="3"/>
          </p:cNvCxnSpPr>
          <p:nvPr/>
        </p:nvCxnSpPr>
        <p:spPr>
          <a:xfrm>
            <a:off x="49664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2" name="Google Shape;742;p32"/>
          <p:cNvCxnSpPr>
            <a:stCxn id="689" idx="3"/>
          </p:cNvCxnSpPr>
          <p:nvPr/>
        </p:nvCxnSpPr>
        <p:spPr>
          <a:xfrm>
            <a:off x="4791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3" name="Google Shape;743;p32"/>
          <p:cNvCxnSpPr>
            <a:stCxn id="688" idx="3"/>
          </p:cNvCxnSpPr>
          <p:nvPr/>
        </p:nvCxnSpPr>
        <p:spPr>
          <a:xfrm>
            <a:off x="4616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4" name="Google Shape;744;p32"/>
          <p:cNvCxnSpPr>
            <a:stCxn id="687" idx="3"/>
          </p:cNvCxnSpPr>
          <p:nvPr/>
        </p:nvCxnSpPr>
        <p:spPr>
          <a:xfrm>
            <a:off x="4441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5" name="Google Shape;745;p32"/>
          <p:cNvCxnSpPr>
            <a:stCxn id="708" idx="2"/>
            <a:endCxn id="650" idx="0"/>
          </p:cNvCxnSpPr>
          <p:nvPr/>
        </p:nvCxnSpPr>
        <p:spPr>
          <a:xfrm>
            <a:off x="51413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746" name="Google Shape;746;p32"/>
          <p:cNvSpPr/>
          <p:nvPr/>
        </p:nvSpPr>
        <p:spPr>
          <a:xfrm>
            <a:off x="39210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747" name="Google Shape;747;p32"/>
          <p:cNvSpPr/>
          <p:nvPr/>
        </p:nvSpPr>
        <p:spPr>
          <a:xfrm>
            <a:off x="42396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cxnSp>
        <p:nvCxnSpPr>
          <p:cNvPr id="748" name="Google Shape;748;p32"/>
          <p:cNvCxnSpPr>
            <a:stCxn id="691" idx="3"/>
            <a:endCxn id="708" idx="0"/>
          </p:cNvCxnSpPr>
          <p:nvPr/>
        </p:nvCxnSpPr>
        <p:spPr>
          <a:xfrm>
            <a:off x="5141300" y="2479475"/>
            <a:ext cx="0" cy="304800"/>
          </a:xfrm>
          <a:prstGeom prst="straightConnector1">
            <a:avLst/>
          </a:prstGeom>
          <a:noFill/>
          <a:ln w="9525" cap="flat" cmpd="sng">
            <a:solidFill>
              <a:schemeClr val="dk2"/>
            </a:solidFill>
            <a:prstDash val="solid"/>
            <a:round/>
            <a:headEnd type="none" w="med" len="med"/>
            <a:tailEnd type="triangle" w="med" len="med"/>
          </a:ln>
        </p:spPr>
      </p:cxnSp>
      <p:sp>
        <p:nvSpPr>
          <p:cNvPr id="749" name="Google Shape;749;p32"/>
          <p:cNvSpPr/>
          <p:nvPr/>
        </p:nvSpPr>
        <p:spPr>
          <a:xfrm>
            <a:off x="6362300" y="3094775"/>
            <a:ext cx="1693200" cy="393600"/>
          </a:xfrm>
          <a:prstGeom prst="wedgeRoundRectCallout">
            <a:avLst>
              <a:gd name="adj1" fmla="val -51553"/>
              <a:gd name="adj2" fmla="val 170179"/>
              <a:gd name="adj3" fmla="val 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ISN + 220.</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047E2115-25A3-ED20-F146-C3D826C3ED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3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Sequence and Ack Numbers</a:t>
            </a:r>
            <a:endParaRPr/>
          </a:p>
        </p:txBody>
      </p:sp>
      <p:sp>
        <p:nvSpPr>
          <p:cNvPr id="755" name="Google Shape;755;p33"/>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The sequence number of a segment is the number of the </a:t>
            </a:r>
            <a:r>
              <a:rPr lang="en" i="1" dirty="0"/>
              <a:t>first byte</a:t>
            </a:r>
            <a:r>
              <a:rPr lang="en" dirty="0"/>
              <a:t> in the segment.</a:t>
            </a:r>
            <a:endParaRPr dirty="0"/>
          </a:p>
          <a:p>
            <a:pPr marL="457200" lvl="0" indent="-342900" algn="l" rtl="0">
              <a:spcBef>
                <a:spcPts val="600"/>
              </a:spcBef>
              <a:spcAft>
                <a:spcPts val="0"/>
              </a:spcAft>
              <a:buSzPts val="1800"/>
              <a:buChar char="●"/>
            </a:pPr>
            <a:r>
              <a:rPr lang="en" dirty="0"/>
              <a:t>Sender sends a packet with sequence number </a:t>
            </a:r>
            <a:r>
              <a:rPr lang="en" i="1" dirty="0"/>
              <a:t>j</a:t>
            </a:r>
            <a:r>
              <a:rPr lang="en" dirty="0"/>
              <a:t>.</a:t>
            </a:r>
            <a:endParaRPr dirty="0"/>
          </a:p>
          <a:p>
            <a:pPr marL="457200" lvl="0" indent="-342900" algn="l" rtl="0">
              <a:spcBef>
                <a:spcPts val="0"/>
              </a:spcBef>
              <a:spcAft>
                <a:spcPts val="0"/>
              </a:spcAft>
              <a:buSzPts val="1800"/>
              <a:buChar char="●"/>
            </a:pPr>
            <a:r>
              <a:rPr lang="en" dirty="0"/>
              <a:t>The packet contains </a:t>
            </a:r>
            <a:r>
              <a:rPr lang="en" i="1" dirty="0"/>
              <a:t>B</a:t>
            </a:r>
            <a:r>
              <a:rPr lang="en" dirty="0"/>
              <a:t> bytes.</a:t>
            </a:r>
            <a:endParaRPr dirty="0"/>
          </a:p>
          <a:p>
            <a:pPr marL="457200" lvl="0" indent="-342900" algn="l" rtl="0">
              <a:spcBef>
                <a:spcPts val="0"/>
              </a:spcBef>
              <a:spcAft>
                <a:spcPts val="0"/>
              </a:spcAft>
              <a:buSzPts val="1800"/>
              <a:buChar char="●"/>
            </a:pPr>
            <a:r>
              <a:rPr lang="nl-NL" dirty="0"/>
              <a:t>byte</a:t>
            </a:r>
            <a:r>
              <a:rPr lang="en" dirty="0"/>
              <a:t>s in the packet are numbered: </a:t>
            </a:r>
            <a:r>
              <a:rPr lang="en" i="1" dirty="0">
                <a:solidFill>
                  <a:srgbClr val="C00000"/>
                </a:solidFill>
              </a:rPr>
              <a:t>j</a:t>
            </a:r>
            <a:r>
              <a:rPr lang="en" dirty="0">
                <a:solidFill>
                  <a:srgbClr val="C00000"/>
                </a:solidFill>
              </a:rPr>
              <a:t>,  </a:t>
            </a:r>
            <a:r>
              <a:rPr lang="en" i="1" dirty="0">
                <a:solidFill>
                  <a:srgbClr val="C00000"/>
                </a:solidFill>
              </a:rPr>
              <a:t>j</a:t>
            </a:r>
            <a:r>
              <a:rPr lang="en" dirty="0">
                <a:solidFill>
                  <a:srgbClr val="C00000"/>
                </a:solidFill>
              </a:rPr>
              <a:t>+1,  </a:t>
            </a:r>
            <a:r>
              <a:rPr lang="en" i="1" dirty="0">
                <a:solidFill>
                  <a:srgbClr val="C00000"/>
                </a:solidFill>
              </a:rPr>
              <a:t>j</a:t>
            </a:r>
            <a:r>
              <a:rPr lang="en" dirty="0">
                <a:solidFill>
                  <a:srgbClr val="C00000"/>
                </a:solidFill>
              </a:rPr>
              <a:t>+2,  </a:t>
            </a:r>
            <a:r>
              <a:rPr lang="en" i="1" dirty="0">
                <a:solidFill>
                  <a:srgbClr val="C00000"/>
                </a:solidFill>
              </a:rPr>
              <a:t>j</a:t>
            </a:r>
            <a:r>
              <a:rPr lang="en" dirty="0">
                <a:solidFill>
                  <a:srgbClr val="C00000"/>
                </a:solidFill>
              </a:rPr>
              <a:t>+3, ..., ,  </a:t>
            </a:r>
            <a:r>
              <a:rPr lang="en" i="1" dirty="0">
                <a:solidFill>
                  <a:srgbClr val="C00000"/>
                </a:solidFill>
              </a:rPr>
              <a:t>j</a:t>
            </a:r>
            <a:r>
              <a:rPr lang="en" dirty="0">
                <a:solidFill>
                  <a:srgbClr val="C00000"/>
                </a:solidFill>
              </a:rPr>
              <a:t>+</a:t>
            </a:r>
            <a:r>
              <a:rPr lang="en" i="1" dirty="0">
                <a:solidFill>
                  <a:srgbClr val="C00000"/>
                </a:solidFill>
              </a:rPr>
              <a:t>B</a:t>
            </a:r>
            <a:r>
              <a:rPr lang="en" dirty="0">
                <a:solidFill>
                  <a:srgbClr val="C00000"/>
                </a:solidFill>
              </a:rPr>
              <a:t>–1</a:t>
            </a:r>
            <a:r>
              <a:rPr lang="en" dirty="0"/>
              <a:t>.</a:t>
            </a:r>
            <a:endParaRPr dirty="0"/>
          </a:p>
          <a:p>
            <a:pPr marL="0" lvl="0" indent="0" algn="l" rtl="0">
              <a:spcBef>
                <a:spcPts val="600"/>
              </a:spcBef>
              <a:spcAft>
                <a:spcPts val="0"/>
              </a:spcAft>
              <a:buNone/>
            </a:pPr>
            <a:r>
              <a:rPr lang="en" dirty="0"/>
              <a:t>Recipient sends a cumulative ack (number of highest byte received, plus one).</a:t>
            </a:r>
            <a:endParaRPr dirty="0"/>
          </a:p>
          <a:p>
            <a:pPr marL="457200" lvl="0" indent="-342900" algn="l" rtl="0">
              <a:spcBef>
                <a:spcPts val="600"/>
              </a:spcBef>
              <a:spcAft>
                <a:spcPts val="0"/>
              </a:spcAft>
              <a:buSzPts val="1800"/>
              <a:buChar char="●"/>
            </a:pPr>
            <a:r>
              <a:rPr lang="en" dirty="0"/>
              <a:t>If all prior data is received, ack number is </a:t>
            </a:r>
            <a:r>
              <a:rPr lang="en" i="1" dirty="0">
                <a:solidFill>
                  <a:srgbClr val="C00000"/>
                </a:solidFill>
              </a:rPr>
              <a:t>j</a:t>
            </a:r>
            <a:r>
              <a:rPr lang="en" dirty="0">
                <a:solidFill>
                  <a:srgbClr val="C00000"/>
                </a:solidFill>
              </a:rPr>
              <a:t>+</a:t>
            </a:r>
            <a:r>
              <a:rPr lang="en" i="1" dirty="0">
                <a:solidFill>
                  <a:srgbClr val="C00000"/>
                </a:solidFill>
              </a:rPr>
              <a:t>B</a:t>
            </a:r>
            <a:r>
              <a:rPr lang="en" i="1" dirty="0"/>
              <a:t>, </a:t>
            </a:r>
            <a:r>
              <a:rPr lang="en" dirty="0"/>
              <a:t>the next expected byte, or the first unreceived byte.</a:t>
            </a:r>
            <a:endParaRPr dirty="0"/>
          </a:p>
          <a:p>
            <a:pPr marL="457200" lvl="0" indent="-342900" algn="l" rtl="0">
              <a:spcBef>
                <a:spcPts val="0"/>
              </a:spcBef>
              <a:spcAft>
                <a:spcPts val="0"/>
              </a:spcAft>
              <a:buSzPts val="1800"/>
              <a:buChar char="●"/>
            </a:pPr>
            <a:r>
              <a:rPr lang="en" dirty="0"/>
              <a:t>If earlier data before this packet is missing, the ack number will be lower.</a:t>
            </a:r>
            <a:endParaRPr dirty="0"/>
          </a:p>
        </p:txBody>
      </p:sp>
      <p:sp>
        <p:nvSpPr>
          <p:cNvPr id="2" name="Slide Number Placeholder 1">
            <a:extLst>
              <a:ext uri="{FF2B5EF4-FFF2-40B4-BE49-F238E27FC236}">
                <a16:creationId xmlns:a16="http://schemas.microsoft.com/office/drawing/2014/main" id="{F07D3A40-54A6-B3C4-26F2-D0DFD45520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3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Sequence and Ack Numbers</a:t>
            </a:r>
            <a:endParaRPr/>
          </a:p>
        </p:txBody>
      </p:sp>
      <p:sp>
        <p:nvSpPr>
          <p:cNvPr id="761" name="Google Shape;761;p34"/>
          <p:cNvSpPr txBox="1">
            <a:spLocks noGrp="1"/>
          </p:cNvSpPr>
          <p:nvPr>
            <p:ph type="body" idx="1"/>
          </p:nvPr>
        </p:nvSpPr>
        <p:spPr>
          <a:xfrm>
            <a:off x="107050" y="402200"/>
            <a:ext cx="8909700" cy="1341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Assuming only one packet in flight, all packets length </a:t>
            </a:r>
            <a:r>
              <a:rPr lang="en" i="1" dirty="0"/>
              <a:t>B</a:t>
            </a:r>
            <a:r>
              <a:rPr lang="en" dirty="0"/>
              <a:t>, and no loss:</a:t>
            </a:r>
            <a:endParaRPr dirty="0"/>
          </a:p>
          <a:p>
            <a:pPr marL="0" lvl="0" indent="0" algn="l" rtl="0">
              <a:spcBef>
                <a:spcPts val="600"/>
              </a:spcBef>
              <a:spcAft>
                <a:spcPts val="0"/>
              </a:spcAft>
              <a:buNone/>
            </a:pPr>
            <a:r>
              <a:rPr lang="en" dirty="0"/>
              <a:t>The last ack number is equal to the next sequence number.</a:t>
            </a:r>
            <a:endParaRPr dirty="0"/>
          </a:p>
          <a:p>
            <a:pPr marL="457200" lvl="0" indent="-342900" algn="l" rtl="0">
              <a:spcBef>
                <a:spcPts val="600"/>
              </a:spcBef>
              <a:spcAft>
                <a:spcPts val="0"/>
              </a:spcAft>
              <a:buSzPts val="1800"/>
              <a:buChar char="●"/>
            </a:pPr>
            <a:r>
              <a:rPr lang="en" dirty="0"/>
              <a:t>Receiver ack: "I expect </a:t>
            </a:r>
            <a:r>
              <a:rPr lang="en" i="1" dirty="0"/>
              <a:t>j</a:t>
            </a:r>
            <a:r>
              <a:rPr lang="en" dirty="0"/>
              <a:t> + </a:t>
            </a:r>
            <a:r>
              <a:rPr lang="en" i="1" dirty="0"/>
              <a:t>B</a:t>
            </a:r>
            <a:r>
              <a:rPr lang="en" dirty="0"/>
              <a:t> next." → Sender: "I'm sending </a:t>
            </a:r>
            <a:r>
              <a:rPr lang="en" i="1" dirty="0"/>
              <a:t>j</a:t>
            </a:r>
            <a:r>
              <a:rPr lang="en" dirty="0"/>
              <a:t> + </a:t>
            </a:r>
            <a:r>
              <a:rPr lang="en" i="1" dirty="0"/>
              <a:t>B</a:t>
            </a:r>
            <a:r>
              <a:rPr lang="en" dirty="0"/>
              <a:t>."</a:t>
            </a:r>
            <a:endParaRPr dirty="0"/>
          </a:p>
        </p:txBody>
      </p:sp>
      <p:cxnSp>
        <p:nvCxnSpPr>
          <p:cNvPr id="762" name="Google Shape;762;p34"/>
          <p:cNvCxnSpPr/>
          <p:nvPr/>
        </p:nvCxnSpPr>
        <p:spPr>
          <a:xfrm>
            <a:off x="3037525" y="1791725"/>
            <a:ext cx="0" cy="2985600"/>
          </a:xfrm>
          <a:prstGeom prst="straightConnector1">
            <a:avLst/>
          </a:prstGeom>
          <a:noFill/>
          <a:ln w="19050" cap="flat" cmpd="sng">
            <a:solidFill>
              <a:srgbClr val="0000FF"/>
            </a:solidFill>
            <a:prstDash val="solid"/>
            <a:round/>
            <a:headEnd type="none" w="med" len="med"/>
            <a:tailEnd type="none" w="med" len="med"/>
          </a:ln>
        </p:spPr>
      </p:cxnSp>
      <p:sp>
        <p:nvSpPr>
          <p:cNvPr id="763" name="Google Shape;763;p34"/>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Sender</a:t>
            </a:r>
            <a:endParaRPr>
              <a:solidFill>
                <a:srgbClr val="0000FF"/>
              </a:solidFill>
              <a:latin typeface="Roboto"/>
              <a:ea typeface="Roboto"/>
              <a:cs typeface="Roboto"/>
              <a:sym typeface="Roboto"/>
            </a:endParaRPr>
          </a:p>
        </p:txBody>
      </p:sp>
      <p:cxnSp>
        <p:nvCxnSpPr>
          <p:cNvPr id="764" name="Google Shape;764;p34"/>
          <p:cNvCxnSpPr/>
          <p:nvPr/>
        </p:nvCxnSpPr>
        <p:spPr>
          <a:xfrm>
            <a:off x="6058925" y="1791725"/>
            <a:ext cx="0" cy="2985600"/>
          </a:xfrm>
          <a:prstGeom prst="straightConnector1">
            <a:avLst/>
          </a:prstGeom>
          <a:noFill/>
          <a:ln w="19050" cap="flat" cmpd="sng">
            <a:solidFill>
              <a:schemeClr val="accent2"/>
            </a:solidFill>
            <a:prstDash val="solid"/>
            <a:round/>
            <a:headEnd type="none" w="med" len="med"/>
            <a:tailEnd type="none" w="med" len="med"/>
          </a:ln>
        </p:spPr>
      </p:cxnSp>
      <p:sp>
        <p:nvSpPr>
          <p:cNvPr id="765" name="Google Shape;765;p34"/>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Recipient</a:t>
            </a:r>
            <a:endParaRPr>
              <a:solidFill>
                <a:schemeClr val="accent2"/>
              </a:solidFill>
              <a:latin typeface="Roboto"/>
              <a:ea typeface="Roboto"/>
              <a:cs typeface="Roboto"/>
              <a:sym typeface="Roboto"/>
            </a:endParaRPr>
          </a:p>
        </p:txBody>
      </p:sp>
      <p:grpSp>
        <p:nvGrpSpPr>
          <p:cNvPr id="766" name="Google Shape;766;p34"/>
          <p:cNvGrpSpPr/>
          <p:nvPr/>
        </p:nvGrpSpPr>
        <p:grpSpPr>
          <a:xfrm>
            <a:off x="3039475" y="2235652"/>
            <a:ext cx="3019775" cy="728348"/>
            <a:chOff x="3039475" y="1702252"/>
            <a:chExt cx="3019775" cy="728348"/>
          </a:xfrm>
        </p:grpSpPr>
        <p:cxnSp>
          <p:nvCxnSpPr>
            <p:cNvPr id="767" name="Google Shape;767;p34"/>
            <p:cNvCxnSpPr/>
            <p:nvPr/>
          </p:nvCxnSpPr>
          <p:spPr>
            <a:xfrm flipH="1">
              <a:off x="3039475" y="19812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768" name="Google Shape;768;p34"/>
            <p:cNvSpPr txBox="1"/>
            <p:nvPr/>
          </p:nvSpPr>
          <p:spPr>
            <a:xfrm rot="-511693">
              <a:off x="3050742" y="1923442"/>
              <a:ext cx="3004117"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 </a:t>
              </a:r>
              <a:r>
                <a:rPr lang="en" i="1">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a:t>
              </a:r>
              <a:r>
                <a:rPr lang="en" i="1">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69" name="Google Shape;769;p34"/>
          <p:cNvGrpSpPr/>
          <p:nvPr/>
        </p:nvGrpSpPr>
        <p:grpSpPr>
          <a:xfrm>
            <a:off x="3039500" y="1791725"/>
            <a:ext cx="3007800" cy="597249"/>
            <a:chOff x="3039500" y="3010925"/>
            <a:chExt cx="3007800" cy="597249"/>
          </a:xfrm>
        </p:grpSpPr>
        <p:cxnSp>
          <p:nvCxnSpPr>
            <p:cNvPr id="770" name="Google Shape;770;p34"/>
            <p:cNvCxnSpPr/>
            <p:nvPr/>
          </p:nvCxnSpPr>
          <p:spPr>
            <a:xfrm>
              <a:off x="3039500" y="3166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771" name="Google Shape;771;p34"/>
            <p:cNvSpPr txBox="1"/>
            <p:nvPr/>
          </p:nvSpPr>
          <p:spPr>
            <a:xfrm rot="509539">
              <a:off x="3957694" y="3092615"/>
              <a:ext cx="112746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endParaRPr>
                <a:solidFill>
                  <a:srgbClr val="0000FF"/>
                </a:solidFill>
                <a:latin typeface="Roboto"/>
                <a:ea typeface="Roboto"/>
                <a:cs typeface="Roboto"/>
                <a:sym typeface="Roboto"/>
              </a:endParaRPr>
            </a:p>
          </p:txBody>
        </p:sp>
      </p:grpSp>
      <p:grpSp>
        <p:nvGrpSpPr>
          <p:cNvPr id="772" name="Google Shape;772;p34"/>
          <p:cNvGrpSpPr/>
          <p:nvPr/>
        </p:nvGrpSpPr>
        <p:grpSpPr>
          <a:xfrm>
            <a:off x="3039500" y="2932525"/>
            <a:ext cx="3007800" cy="599449"/>
            <a:chOff x="3039500" y="3999325"/>
            <a:chExt cx="3007800" cy="599449"/>
          </a:xfrm>
        </p:grpSpPr>
        <p:cxnSp>
          <p:nvCxnSpPr>
            <p:cNvPr id="773" name="Google Shape;773;p34"/>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774" name="Google Shape;774;p34"/>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a:t>
              </a:r>
              <a:r>
                <a:rPr lang="en" i="1">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grpSp>
        <p:nvGrpSpPr>
          <p:cNvPr id="775" name="Google Shape;775;p34"/>
          <p:cNvGrpSpPr/>
          <p:nvPr/>
        </p:nvGrpSpPr>
        <p:grpSpPr>
          <a:xfrm>
            <a:off x="3039475" y="3378652"/>
            <a:ext cx="3019775" cy="728348"/>
            <a:chOff x="3039475" y="1702252"/>
            <a:chExt cx="3019775" cy="728348"/>
          </a:xfrm>
        </p:grpSpPr>
        <p:cxnSp>
          <p:nvCxnSpPr>
            <p:cNvPr id="776" name="Google Shape;776;p34"/>
            <p:cNvCxnSpPr/>
            <p:nvPr/>
          </p:nvCxnSpPr>
          <p:spPr>
            <a:xfrm flipH="1">
              <a:off x="3039475" y="19812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777" name="Google Shape;777;p34"/>
            <p:cNvSpPr txBox="1"/>
            <p:nvPr/>
          </p:nvSpPr>
          <p:spPr>
            <a:xfrm rot="-511693">
              <a:off x="3050742" y="1923442"/>
              <a:ext cx="3004117"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 </a:t>
              </a:r>
              <a:r>
                <a:rPr lang="en" i="1">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+ 2</a:t>
              </a:r>
              <a:r>
                <a:rPr lang="en" i="1">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78" name="Google Shape;778;p34"/>
          <p:cNvGrpSpPr/>
          <p:nvPr/>
        </p:nvGrpSpPr>
        <p:grpSpPr>
          <a:xfrm>
            <a:off x="3039500" y="4075525"/>
            <a:ext cx="3007800" cy="599449"/>
            <a:chOff x="3039500" y="3999325"/>
            <a:chExt cx="3007800" cy="599449"/>
          </a:xfrm>
        </p:grpSpPr>
        <p:cxnSp>
          <p:nvCxnSpPr>
            <p:cNvPr id="779" name="Google Shape;779;p34"/>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780" name="Google Shape;780;p34"/>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+ 2</a:t>
              </a:r>
              <a:r>
                <a:rPr lang="en" i="1">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sp>
        <p:nvSpPr>
          <p:cNvPr id="2" name="Slide Number Placeholder 1">
            <a:extLst>
              <a:ext uri="{FF2B5EF4-FFF2-40B4-BE49-F238E27FC236}">
                <a16:creationId xmlns:a16="http://schemas.microsoft.com/office/drawing/2014/main" id="{FA7EF051-D3E4-2FB5-C878-F880A08A5C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BA0A0-2889-9A1B-1F3B-354698382DC0}"/>
              </a:ext>
            </a:extLst>
          </p:cNvPr>
          <p:cNvSpPr>
            <a:spLocks noGrp="1"/>
          </p:cNvSpPr>
          <p:nvPr>
            <p:ph type="title"/>
          </p:nvPr>
        </p:nvSpPr>
        <p:spPr/>
        <p:txBody>
          <a:bodyPr/>
          <a:lstStyle/>
          <a:p>
            <a:r>
              <a:rPr lang="nl-NL" altLang="zh-CN" dirty="0"/>
              <a:t>Received ACK Scenario</a:t>
            </a:r>
            <a:br>
              <a:rPr lang="nl-NL" altLang="zh-CN" dirty="0"/>
            </a:br>
            <a:endParaRPr lang="zh-CN" altLang="en-US" dirty="0"/>
          </a:p>
        </p:txBody>
      </p:sp>
      <p:sp>
        <p:nvSpPr>
          <p:cNvPr id="3" name="Text Placeholder 2">
            <a:extLst>
              <a:ext uri="{FF2B5EF4-FFF2-40B4-BE49-F238E27FC236}">
                <a16:creationId xmlns:a16="http://schemas.microsoft.com/office/drawing/2014/main" id="{0C804210-C31C-911B-515B-D729FEC0D42A}"/>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1AC2CFCD-D656-F923-BA70-0DD13F8E37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5" name="Text Box 111">
            <a:extLst>
              <a:ext uri="{FF2B5EF4-FFF2-40B4-BE49-F238E27FC236}">
                <a16:creationId xmlns:a16="http://schemas.microsoft.com/office/drawing/2014/main" id="{EE2F67B8-087B-7D9B-3589-D0E06D7C5221}"/>
              </a:ext>
            </a:extLst>
          </p:cNvPr>
          <p:cNvSpPr txBox="1">
            <a:spLocks noChangeArrowheads="1"/>
          </p:cNvSpPr>
          <p:nvPr/>
        </p:nvSpPr>
        <p:spPr bwMode="auto">
          <a:xfrm>
            <a:off x="2835399" y="481568"/>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6" name="Group 5">
            <a:extLst>
              <a:ext uri="{FF2B5EF4-FFF2-40B4-BE49-F238E27FC236}">
                <a16:creationId xmlns:a16="http://schemas.microsoft.com/office/drawing/2014/main" id="{8E569039-B83A-E6D9-2B21-1B9788113AA9}"/>
              </a:ext>
            </a:extLst>
          </p:cNvPr>
          <p:cNvGrpSpPr/>
          <p:nvPr/>
        </p:nvGrpSpPr>
        <p:grpSpPr>
          <a:xfrm>
            <a:off x="3230687" y="1622980"/>
            <a:ext cx="2346325" cy="571500"/>
            <a:chOff x="2032069" y="2342822"/>
            <a:chExt cx="2346325" cy="571500"/>
          </a:xfrm>
        </p:grpSpPr>
        <p:sp>
          <p:nvSpPr>
            <p:cNvPr id="7" name="Line 100">
              <a:extLst>
                <a:ext uri="{FF2B5EF4-FFF2-40B4-BE49-F238E27FC236}">
                  <a16:creationId xmlns:a16="http://schemas.microsoft.com/office/drawing/2014/main" id="{9D3452AD-4F5F-7B6E-3FF0-57892EF76A4D}"/>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 name="Rectangle 112">
              <a:extLst>
                <a:ext uri="{FF2B5EF4-FFF2-40B4-BE49-F238E27FC236}">
                  <a16:creationId xmlns:a16="http://schemas.microsoft.com/office/drawing/2014/main" id="{8CE6FE5D-6D8C-FA6F-F43D-2D3D9A65BF48}"/>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 name="Text Box 113">
              <a:extLst>
                <a:ext uri="{FF2B5EF4-FFF2-40B4-BE49-F238E27FC236}">
                  <a16:creationId xmlns:a16="http://schemas.microsoft.com/office/drawing/2014/main" id="{E93F4B36-A476-371C-4BBE-654339881ACA}"/>
                </a:ext>
              </a:extLst>
            </p:cNvPr>
            <p:cNvSpPr txBox="1">
              <a:spLocks noChangeArrowheads="1"/>
            </p:cNvSpPr>
            <p:nvPr/>
          </p:nvSpPr>
          <p:spPr bwMode="auto">
            <a:xfrm>
              <a:off x="2068403" y="2476172"/>
              <a:ext cx="230223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100 bytes of data</a:t>
              </a:r>
            </a:p>
          </p:txBody>
        </p:sp>
      </p:grpSp>
      <p:sp>
        <p:nvSpPr>
          <p:cNvPr id="10" name="Line 118">
            <a:extLst>
              <a:ext uri="{FF2B5EF4-FFF2-40B4-BE49-F238E27FC236}">
                <a16:creationId xmlns:a16="http://schemas.microsoft.com/office/drawing/2014/main" id="{647AAFA6-080D-DE66-9C3F-5ACE7F3F127A}"/>
              </a:ext>
            </a:extLst>
          </p:cNvPr>
          <p:cNvSpPr>
            <a:spLocks noChangeShapeType="1"/>
          </p:cNvSpPr>
          <p:nvPr/>
        </p:nvSpPr>
        <p:spPr bwMode="auto">
          <a:xfrm>
            <a:off x="3210049" y="1381680"/>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1" name="Group 10">
            <a:extLst>
              <a:ext uri="{FF2B5EF4-FFF2-40B4-BE49-F238E27FC236}">
                <a16:creationId xmlns:a16="http://schemas.microsoft.com/office/drawing/2014/main" id="{99527C01-3267-4F00-621C-CE2B9A58A133}"/>
              </a:ext>
            </a:extLst>
          </p:cNvPr>
          <p:cNvGrpSpPr/>
          <p:nvPr/>
        </p:nvGrpSpPr>
        <p:grpSpPr>
          <a:xfrm>
            <a:off x="3207019" y="3123850"/>
            <a:ext cx="2400017" cy="512763"/>
            <a:chOff x="2008401" y="4104947"/>
            <a:chExt cx="2400017" cy="512763"/>
          </a:xfrm>
        </p:grpSpPr>
        <p:sp>
          <p:nvSpPr>
            <p:cNvPr id="12" name="Line 99">
              <a:extLst>
                <a:ext uri="{FF2B5EF4-FFF2-40B4-BE49-F238E27FC236}">
                  <a16:creationId xmlns:a16="http://schemas.microsoft.com/office/drawing/2014/main" id="{8676CFC6-C870-2E47-4C82-D2B578D2161A}"/>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 name="Rectangle 122">
              <a:extLst>
                <a:ext uri="{FF2B5EF4-FFF2-40B4-BE49-F238E27FC236}">
                  <a16:creationId xmlns:a16="http://schemas.microsoft.com/office/drawing/2014/main" id="{A3F7A99F-0294-DF9A-3BF5-67DFEA726BAB}"/>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 name="Text Box 123">
              <a:extLst>
                <a:ext uri="{FF2B5EF4-FFF2-40B4-BE49-F238E27FC236}">
                  <a16:creationId xmlns:a16="http://schemas.microsoft.com/office/drawing/2014/main" id="{1172A1C0-1CBE-E447-33FE-B1CC9D3E54FC}"/>
                </a:ext>
              </a:extLst>
            </p:cNvPr>
            <p:cNvSpPr txBox="1">
              <a:spLocks noChangeArrowheads="1"/>
            </p:cNvSpPr>
            <p:nvPr/>
          </p:nvSpPr>
          <p:spPr bwMode="auto">
            <a:xfrm>
              <a:off x="2008401" y="4185910"/>
              <a:ext cx="2400017"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Seq=192, 100 bytes of data</a:t>
              </a:r>
            </a:p>
          </p:txBody>
        </p:sp>
      </p:grpSp>
      <p:sp>
        <p:nvSpPr>
          <p:cNvPr id="15" name="Line 104">
            <a:extLst>
              <a:ext uri="{FF2B5EF4-FFF2-40B4-BE49-F238E27FC236}">
                <a16:creationId xmlns:a16="http://schemas.microsoft.com/office/drawing/2014/main" id="{051DD4F8-9F23-1D98-F2D2-551B28ABA3CC}"/>
              </a:ext>
            </a:extLst>
          </p:cNvPr>
          <p:cNvSpPr>
            <a:spLocks noChangeShapeType="1"/>
          </p:cNvSpPr>
          <p:nvPr/>
        </p:nvSpPr>
        <p:spPr bwMode="auto">
          <a:xfrm flipH="1">
            <a:off x="3233861" y="2284968"/>
            <a:ext cx="2306637" cy="79375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 name="Rectangle 114">
            <a:extLst>
              <a:ext uri="{FF2B5EF4-FFF2-40B4-BE49-F238E27FC236}">
                <a16:creationId xmlns:a16="http://schemas.microsoft.com/office/drawing/2014/main" id="{83525966-831A-067F-AE59-5006DCAC5489}"/>
              </a:ext>
            </a:extLst>
          </p:cNvPr>
          <p:cNvSpPr>
            <a:spLocks noChangeArrowheads="1"/>
          </p:cNvSpPr>
          <p:nvPr/>
        </p:nvSpPr>
        <p:spPr bwMode="auto">
          <a:xfrm>
            <a:off x="4502274" y="2370693"/>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 name="Text Box 115">
            <a:extLst>
              <a:ext uri="{FF2B5EF4-FFF2-40B4-BE49-F238E27FC236}">
                <a16:creationId xmlns:a16="http://schemas.microsoft.com/office/drawing/2014/main" id="{970DB497-C636-B91C-D31C-7863419123DD}"/>
              </a:ext>
            </a:extLst>
          </p:cNvPr>
          <p:cNvSpPr txBox="1">
            <a:spLocks noChangeArrowheads="1"/>
          </p:cNvSpPr>
          <p:nvPr/>
        </p:nvSpPr>
        <p:spPr bwMode="auto">
          <a:xfrm>
            <a:off x="4490339" y="2339041"/>
            <a:ext cx="853119"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ACK192</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nvGrpSpPr>
          <p:cNvPr id="18" name="Group 17">
            <a:extLst>
              <a:ext uri="{FF2B5EF4-FFF2-40B4-BE49-F238E27FC236}">
                <a16:creationId xmlns:a16="http://schemas.microsoft.com/office/drawing/2014/main" id="{99E26A13-8347-34D1-C9DD-68F928205E1B}"/>
              </a:ext>
            </a:extLst>
          </p:cNvPr>
          <p:cNvGrpSpPr/>
          <p:nvPr/>
        </p:nvGrpSpPr>
        <p:grpSpPr>
          <a:xfrm>
            <a:off x="3206874" y="3722338"/>
            <a:ext cx="2338388" cy="782637"/>
            <a:chOff x="2008256" y="4703435"/>
            <a:chExt cx="2338388" cy="782637"/>
          </a:xfrm>
        </p:grpSpPr>
        <p:sp>
          <p:nvSpPr>
            <p:cNvPr id="19" name="Line 127">
              <a:extLst>
                <a:ext uri="{FF2B5EF4-FFF2-40B4-BE49-F238E27FC236}">
                  <a16:creationId xmlns:a16="http://schemas.microsoft.com/office/drawing/2014/main" id="{884B732B-60B8-0111-7AB1-FD8C1871DBB7}"/>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 name="Rectangle 128">
              <a:extLst>
                <a:ext uri="{FF2B5EF4-FFF2-40B4-BE49-F238E27FC236}">
                  <a16:creationId xmlns:a16="http://schemas.microsoft.com/office/drawing/2014/main" id="{B81E979A-28B0-4F2C-9D8F-61670796A646}"/>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 name="Text Box 129">
              <a:extLst>
                <a:ext uri="{FF2B5EF4-FFF2-40B4-BE49-F238E27FC236}">
                  <a16:creationId xmlns:a16="http://schemas.microsoft.com/office/drawing/2014/main" id="{F32C3A69-66B2-0CE4-917A-3E479C7C41F5}"/>
                </a:ext>
              </a:extLst>
            </p:cNvPr>
            <p:cNvSpPr txBox="1">
              <a:spLocks noChangeArrowheads="1"/>
            </p:cNvSpPr>
            <p:nvPr/>
          </p:nvSpPr>
          <p:spPr bwMode="auto">
            <a:xfrm>
              <a:off x="2758327" y="4916160"/>
              <a:ext cx="95731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ACK=292</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22" name="Group 21">
            <a:extLst>
              <a:ext uri="{FF2B5EF4-FFF2-40B4-BE49-F238E27FC236}">
                <a16:creationId xmlns:a16="http://schemas.microsoft.com/office/drawing/2014/main" id="{EA65E9F8-A9C8-ECB6-7A34-F50C7854EDDB}"/>
              </a:ext>
            </a:extLst>
          </p:cNvPr>
          <p:cNvGrpSpPr/>
          <p:nvPr/>
        </p:nvGrpSpPr>
        <p:grpSpPr>
          <a:xfrm>
            <a:off x="2836987" y="1627743"/>
            <a:ext cx="396875" cy="1751012"/>
            <a:chOff x="1638369" y="2347585"/>
            <a:chExt cx="396875" cy="1751012"/>
          </a:xfrm>
        </p:grpSpPr>
        <p:sp>
          <p:nvSpPr>
            <p:cNvPr id="23" name="Text Box 126">
              <a:extLst>
                <a:ext uri="{FF2B5EF4-FFF2-40B4-BE49-F238E27FC236}">
                  <a16:creationId xmlns:a16="http://schemas.microsoft.com/office/drawing/2014/main" id="{CCCD8F97-A0B7-0F6B-F35D-9FBE0261BF3B}"/>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24" name="Group 134">
              <a:extLst>
                <a:ext uri="{FF2B5EF4-FFF2-40B4-BE49-F238E27FC236}">
                  <a16:creationId xmlns:a16="http://schemas.microsoft.com/office/drawing/2014/main" id="{94F17FC5-D17F-B11C-D9AB-2DD55174EA32}"/>
                </a:ext>
              </a:extLst>
            </p:cNvPr>
            <p:cNvGrpSpPr>
              <a:grpSpLocks/>
            </p:cNvGrpSpPr>
            <p:nvPr/>
          </p:nvGrpSpPr>
          <p:grpSpPr bwMode="auto">
            <a:xfrm>
              <a:off x="1779656" y="2347585"/>
              <a:ext cx="104775" cy="508000"/>
              <a:chOff x="3099" y="1749"/>
              <a:chExt cx="66" cy="320"/>
            </a:xfrm>
          </p:grpSpPr>
          <p:sp>
            <p:nvSpPr>
              <p:cNvPr id="28" name="Line 132">
                <a:extLst>
                  <a:ext uri="{FF2B5EF4-FFF2-40B4-BE49-F238E27FC236}">
                    <a16:creationId xmlns:a16="http://schemas.microsoft.com/office/drawing/2014/main" id="{A844CCB6-BF4E-8D31-F620-24C55767E82F}"/>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9" name="Line 133">
                <a:extLst>
                  <a:ext uri="{FF2B5EF4-FFF2-40B4-BE49-F238E27FC236}">
                    <a16:creationId xmlns:a16="http://schemas.microsoft.com/office/drawing/2014/main" id="{1851C4C2-22EF-F246-5A97-ADD99453134E}"/>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5" name="Group 135">
              <a:extLst>
                <a:ext uri="{FF2B5EF4-FFF2-40B4-BE49-F238E27FC236}">
                  <a16:creationId xmlns:a16="http://schemas.microsoft.com/office/drawing/2014/main" id="{B296F671-CC69-FEFA-E858-23516088CC54}"/>
                </a:ext>
              </a:extLst>
            </p:cNvPr>
            <p:cNvGrpSpPr>
              <a:grpSpLocks/>
            </p:cNvGrpSpPr>
            <p:nvPr/>
          </p:nvGrpSpPr>
          <p:grpSpPr bwMode="auto">
            <a:xfrm rot="10800000">
              <a:off x="1774894" y="3590597"/>
              <a:ext cx="104775" cy="508000"/>
              <a:chOff x="3099" y="1749"/>
              <a:chExt cx="66" cy="320"/>
            </a:xfrm>
          </p:grpSpPr>
          <p:sp>
            <p:nvSpPr>
              <p:cNvPr id="26" name="Line 136">
                <a:extLst>
                  <a:ext uri="{FF2B5EF4-FFF2-40B4-BE49-F238E27FC236}">
                    <a16:creationId xmlns:a16="http://schemas.microsoft.com/office/drawing/2014/main" id="{BB6A6341-1518-94AD-44A7-23F0F88050CD}"/>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 name="Line 137">
                <a:extLst>
                  <a:ext uri="{FF2B5EF4-FFF2-40B4-BE49-F238E27FC236}">
                    <a16:creationId xmlns:a16="http://schemas.microsoft.com/office/drawing/2014/main" id="{6E1B2582-2AEC-1655-1B89-B0B0448FDA4D}"/>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30" name="Group 228">
            <a:extLst>
              <a:ext uri="{FF2B5EF4-FFF2-40B4-BE49-F238E27FC236}">
                <a16:creationId xmlns:a16="http://schemas.microsoft.com/office/drawing/2014/main" id="{C875E8CC-A1D8-2D80-EFA5-AA9B50A1CA9F}"/>
              </a:ext>
            </a:extLst>
          </p:cNvPr>
          <p:cNvGrpSpPr>
            <a:grpSpLocks/>
          </p:cNvGrpSpPr>
          <p:nvPr/>
        </p:nvGrpSpPr>
        <p:grpSpPr bwMode="auto">
          <a:xfrm>
            <a:off x="2800474" y="754618"/>
            <a:ext cx="630238" cy="533400"/>
            <a:chOff x="-44" y="1473"/>
            <a:chExt cx="981" cy="1105"/>
          </a:xfrm>
        </p:grpSpPr>
        <p:pic>
          <p:nvPicPr>
            <p:cNvPr id="31" name="Picture 229" descr="desktop_computer_stylized_medium">
              <a:extLst>
                <a:ext uri="{FF2B5EF4-FFF2-40B4-BE49-F238E27FC236}">
                  <a16:creationId xmlns:a16="http://schemas.microsoft.com/office/drawing/2014/main" id="{BD0C2A3B-3993-3ECC-D2CE-1BFD9DE94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Freeform 230">
              <a:extLst>
                <a:ext uri="{FF2B5EF4-FFF2-40B4-BE49-F238E27FC236}">
                  <a16:creationId xmlns:a16="http://schemas.microsoft.com/office/drawing/2014/main" id="{97237348-22D2-84C6-47A7-50434A5500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3" name="Text Box 39">
            <a:extLst>
              <a:ext uri="{FF2B5EF4-FFF2-40B4-BE49-F238E27FC236}">
                <a16:creationId xmlns:a16="http://schemas.microsoft.com/office/drawing/2014/main" id="{106E731E-0C42-68B3-B6E5-F7214BC2AB01}"/>
              </a:ext>
            </a:extLst>
          </p:cNvPr>
          <p:cNvSpPr txBox="1">
            <a:spLocks noChangeArrowheads="1"/>
          </p:cNvSpPr>
          <p:nvPr/>
        </p:nvSpPr>
        <p:spPr bwMode="auto">
          <a:xfrm>
            <a:off x="5156622" y="374849"/>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34" name="Line 50">
            <a:extLst>
              <a:ext uri="{FF2B5EF4-FFF2-40B4-BE49-F238E27FC236}">
                <a16:creationId xmlns:a16="http://schemas.microsoft.com/office/drawing/2014/main" id="{B86A44D5-E590-E859-86D9-55DC5FE82DB3}"/>
              </a:ext>
            </a:extLst>
          </p:cNvPr>
          <p:cNvSpPr>
            <a:spLocks noChangeShapeType="1"/>
          </p:cNvSpPr>
          <p:nvPr/>
        </p:nvSpPr>
        <p:spPr bwMode="auto">
          <a:xfrm>
            <a:off x="5615410" y="1300362"/>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5" name="Group 87">
            <a:extLst>
              <a:ext uri="{FF2B5EF4-FFF2-40B4-BE49-F238E27FC236}">
                <a16:creationId xmlns:a16="http://schemas.microsoft.com/office/drawing/2014/main" id="{BF28E327-0841-2410-7F2C-AF9BFD3E09D2}"/>
              </a:ext>
            </a:extLst>
          </p:cNvPr>
          <p:cNvGrpSpPr>
            <a:grpSpLocks/>
          </p:cNvGrpSpPr>
          <p:nvPr/>
        </p:nvGrpSpPr>
        <p:grpSpPr bwMode="auto">
          <a:xfrm flipH="1">
            <a:off x="5367760" y="662187"/>
            <a:ext cx="674687" cy="590550"/>
            <a:chOff x="-44" y="1473"/>
            <a:chExt cx="981" cy="1105"/>
          </a:xfrm>
        </p:grpSpPr>
        <p:pic>
          <p:nvPicPr>
            <p:cNvPr id="36" name="Picture 88" descr="desktop_computer_stylized_medium">
              <a:extLst>
                <a:ext uri="{FF2B5EF4-FFF2-40B4-BE49-F238E27FC236}">
                  <a16:creationId xmlns:a16="http://schemas.microsoft.com/office/drawing/2014/main" id="{0FC58BB7-93F3-40D9-83CC-5EA14046DC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Freeform 89">
              <a:extLst>
                <a:ext uri="{FF2B5EF4-FFF2-40B4-BE49-F238E27FC236}">
                  <a16:creationId xmlns:a16="http://schemas.microsoft.com/office/drawing/2014/main" id="{33E62DA8-593D-36A7-3191-B758A0BE53D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8" name="TextBox 37">
            <a:extLst>
              <a:ext uri="{FF2B5EF4-FFF2-40B4-BE49-F238E27FC236}">
                <a16:creationId xmlns:a16="http://schemas.microsoft.com/office/drawing/2014/main" id="{C7E4ECC0-9B83-1FF6-8128-58632EE40F5D}"/>
              </a:ext>
            </a:extLst>
          </p:cNvPr>
          <p:cNvSpPr txBox="1"/>
          <p:nvPr/>
        </p:nvSpPr>
        <p:spPr>
          <a:xfrm>
            <a:off x="5588281" y="1616837"/>
            <a:ext cx="3108041" cy="523220"/>
          </a:xfrm>
          <a:prstGeom prst="rect">
            <a:avLst/>
          </a:prstGeom>
          <a:noFill/>
        </p:spPr>
        <p:txBody>
          <a:bodyPr wrap="square" rtlCol="0">
            <a:spAutoFit/>
          </a:bodyPr>
          <a:lstStyle/>
          <a:p>
            <a:r>
              <a:rPr lang="en-GB" dirty="0"/>
              <a:t>1. </a:t>
            </a:r>
            <a:r>
              <a:rPr lang="en-GB" altLang="zh-CN" dirty="0"/>
              <a:t>Host B receives bytes 92-191 (100 Bytes), and expects next byte = 192</a:t>
            </a:r>
            <a:endParaRPr lang="en-SE" altLang="zh-CN" dirty="0"/>
          </a:p>
        </p:txBody>
      </p:sp>
      <p:grpSp>
        <p:nvGrpSpPr>
          <p:cNvPr id="39" name="Group 38">
            <a:extLst>
              <a:ext uri="{FF2B5EF4-FFF2-40B4-BE49-F238E27FC236}">
                <a16:creationId xmlns:a16="http://schemas.microsoft.com/office/drawing/2014/main" id="{FF63E2C6-54B8-B0A1-CCAC-E0DE74496998}"/>
              </a:ext>
            </a:extLst>
          </p:cNvPr>
          <p:cNvGrpSpPr/>
          <p:nvPr/>
        </p:nvGrpSpPr>
        <p:grpSpPr>
          <a:xfrm>
            <a:off x="3936985" y="3361712"/>
            <a:ext cx="360" cy="360"/>
            <a:chOff x="2073343" y="4342809"/>
            <a:chExt cx="360" cy="360"/>
          </a:xfrm>
        </p:grpSpPr>
        <mc:AlternateContent xmlns:mc="http://schemas.openxmlformats.org/markup-compatibility/2006" xmlns:p14="http://schemas.microsoft.com/office/powerpoint/2010/main">
          <mc:Choice Requires="p14">
            <p:contentPart p14:bwMode="auto" r:id="rId4">
              <p14:nvContentPartPr>
                <p14:cNvPr id="40" name="Ink 39">
                  <a:extLst>
                    <a:ext uri="{FF2B5EF4-FFF2-40B4-BE49-F238E27FC236}">
                      <a16:creationId xmlns:a16="http://schemas.microsoft.com/office/drawing/2014/main" id="{66F07240-FA45-4CBE-15C2-BEF132A26270}"/>
                    </a:ext>
                  </a:extLst>
                </p14:cNvPr>
                <p14:cNvContentPartPr/>
                <p14:nvPr/>
              </p14:nvContentPartPr>
              <p14:xfrm>
                <a:off x="2073343" y="4342809"/>
                <a:ext cx="360" cy="360"/>
              </p14:xfrm>
            </p:contentPart>
          </mc:Choice>
          <mc:Fallback xmlns="">
            <p:pic>
              <p:nvPicPr>
                <p:cNvPr id="59" name="Ink 58">
                  <a:extLst>
                    <a:ext uri="{FF2B5EF4-FFF2-40B4-BE49-F238E27FC236}">
                      <a16:creationId xmlns:a16="http://schemas.microsoft.com/office/drawing/2014/main" id="{7F858590-B195-4C5E-AA8D-F0DA906050CB}"/>
                    </a:ext>
                  </a:extLst>
                </p:cNvPr>
                <p:cNvPicPr/>
                <p:nvPr/>
              </p:nvPicPr>
              <p:blipFill>
                <a:blip r:embed="rId5"/>
                <a:stretch>
                  <a:fillRect/>
                </a:stretch>
              </p:blipFill>
              <p:spPr>
                <a:xfrm>
                  <a:off x="2064343" y="433380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1" name="Ink 40">
                  <a:extLst>
                    <a:ext uri="{FF2B5EF4-FFF2-40B4-BE49-F238E27FC236}">
                      <a16:creationId xmlns:a16="http://schemas.microsoft.com/office/drawing/2014/main" id="{4A46A14E-86DC-4EBF-D86D-80C42E1889C0}"/>
                    </a:ext>
                  </a:extLst>
                </p14:cNvPr>
                <p14:cNvContentPartPr/>
                <p14:nvPr/>
              </p14:nvContentPartPr>
              <p14:xfrm>
                <a:off x="2073343" y="4342809"/>
                <a:ext cx="360" cy="360"/>
              </p14:xfrm>
            </p:contentPart>
          </mc:Choice>
          <mc:Fallback xmlns="">
            <p:pic>
              <p:nvPicPr>
                <p:cNvPr id="60" name="Ink 59">
                  <a:extLst>
                    <a:ext uri="{FF2B5EF4-FFF2-40B4-BE49-F238E27FC236}">
                      <a16:creationId xmlns:a16="http://schemas.microsoft.com/office/drawing/2014/main" id="{1EB2CD6C-D045-4195-BF61-5F70A93A7411}"/>
                    </a:ext>
                  </a:extLst>
                </p:cNvPr>
                <p:cNvPicPr/>
                <p:nvPr/>
              </p:nvPicPr>
              <p:blipFill>
                <a:blip r:embed="rId5"/>
                <a:stretch>
                  <a:fillRect/>
                </a:stretch>
              </p:blipFill>
              <p:spPr>
                <a:xfrm>
                  <a:off x="2064343" y="4333809"/>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42" name="Ink 41">
                <a:extLst>
                  <a:ext uri="{FF2B5EF4-FFF2-40B4-BE49-F238E27FC236}">
                    <a16:creationId xmlns:a16="http://schemas.microsoft.com/office/drawing/2014/main" id="{E6F09508-D0A6-8437-DB51-3BD17E4E3A45}"/>
                  </a:ext>
                </a:extLst>
              </p14:cNvPr>
              <p14:cNvContentPartPr/>
              <p14:nvPr/>
            </p14:nvContentPartPr>
            <p14:xfrm>
              <a:off x="4720705" y="4129592"/>
              <a:ext cx="360" cy="360"/>
            </p14:xfrm>
          </p:contentPart>
        </mc:Choice>
        <mc:Fallback xmlns="">
          <p:pic>
            <p:nvPicPr>
              <p:cNvPr id="42" name="Ink 41">
                <a:extLst>
                  <a:ext uri="{FF2B5EF4-FFF2-40B4-BE49-F238E27FC236}">
                    <a16:creationId xmlns:a16="http://schemas.microsoft.com/office/drawing/2014/main" id="{E6F09508-D0A6-8437-DB51-3BD17E4E3A45}"/>
                  </a:ext>
                </a:extLst>
              </p:cNvPr>
              <p:cNvPicPr/>
              <p:nvPr/>
            </p:nvPicPr>
            <p:blipFill>
              <a:blip r:embed="rId8"/>
              <a:stretch>
                <a:fillRect/>
              </a:stretch>
            </p:blipFill>
            <p:spPr>
              <a:xfrm>
                <a:off x="4711705" y="4120592"/>
                <a:ext cx="18000" cy="18000"/>
              </a:xfrm>
              <a:prstGeom prst="rect">
                <a:avLst/>
              </a:prstGeom>
            </p:spPr>
          </p:pic>
        </mc:Fallback>
      </mc:AlternateContent>
      <p:sp>
        <p:nvSpPr>
          <p:cNvPr id="43" name="TextBox 42">
            <a:extLst>
              <a:ext uri="{FF2B5EF4-FFF2-40B4-BE49-F238E27FC236}">
                <a16:creationId xmlns:a16="http://schemas.microsoft.com/office/drawing/2014/main" id="{CD9BF42B-F2D0-2B30-A623-197FE4ECD535}"/>
              </a:ext>
            </a:extLst>
          </p:cNvPr>
          <p:cNvSpPr txBox="1"/>
          <p:nvPr/>
        </p:nvSpPr>
        <p:spPr>
          <a:xfrm>
            <a:off x="5621454" y="3459958"/>
            <a:ext cx="3249074" cy="523220"/>
          </a:xfrm>
          <a:prstGeom prst="rect">
            <a:avLst/>
          </a:prstGeom>
          <a:noFill/>
        </p:spPr>
        <p:txBody>
          <a:bodyPr wrap="square" rtlCol="0">
            <a:spAutoFit/>
          </a:bodyPr>
          <a:lstStyle/>
          <a:p>
            <a:r>
              <a:rPr lang="en-GB" dirty="0"/>
              <a:t>2. </a:t>
            </a:r>
            <a:r>
              <a:rPr lang="en-GB" altLang="zh-CN" dirty="0"/>
              <a:t>Host B receives bytes 192-291 (100 Bytes), and expects next byte = 292</a:t>
            </a:r>
            <a:endParaRPr lang="en-SE" dirty="0"/>
          </a:p>
        </p:txBody>
      </p:sp>
      <p:sp>
        <p:nvSpPr>
          <p:cNvPr id="44" name="TextBox 43">
            <a:extLst>
              <a:ext uri="{FF2B5EF4-FFF2-40B4-BE49-F238E27FC236}">
                <a16:creationId xmlns:a16="http://schemas.microsoft.com/office/drawing/2014/main" id="{6C17E17A-0D23-D1DB-84FF-0667F1EB7CC2}"/>
              </a:ext>
            </a:extLst>
          </p:cNvPr>
          <p:cNvSpPr txBox="1"/>
          <p:nvPr/>
        </p:nvSpPr>
        <p:spPr>
          <a:xfrm>
            <a:off x="1565922" y="2950565"/>
            <a:ext cx="1509190" cy="738664"/>
          </a:xfrm>
          <a:prstGeom prst="rect">
            <a:avLst/>
          </a:prstGeom>
          <a:noFill/>
        </p:spPr>
        <p:txBody>
          <a:bodyPr wrap="square" rtlCol="0">
            <a:spAutoFit/>
          </a:bodyPr>
          <a:lstStyle/>
          <a:p>
            <a:r>
              <a:rPr lang="en-GB" dirty="0"/>
              <a:t>2. Host A sends bytes 192-291 (100 Bytes)</a:t>
            </a:r>
          </a:p>
        </p:txBody>
      </p:sp>
    </p:spTree>
    <p:extLst>
      <p:ext uri="{BB962C8B-B14F-4D97-AF65-F5344CB8AC3E}">
        <p14:creationId xmlns:p14="http://schemas.microsoft.com/office/powerpoint/2010/main" val="3725108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0C81E-6A39-A5C1-0800-4E85C3E5506C}"/>
              </a:ext>
            </a:extLst>
          </p:cNvPr>
          <p:cNvSpPr>
            <a:spLocks noGrp="1"/>
          </p:cNvSpPr>
          <p:nvPr>
            <p:ph type="title"/>
          </p:nvPr>
        </p:nvSpPr>
        <p:spPr/>
        <p:txBody>
          <a:bodyPr/>
          <a:lstStyle/>
          <a:p>
            <a:r>
              <a:rPr lang="nl-NL" altLang="zh-CN" dirty="0"/>
              <a:t>Premature Timeout</a:t>
            </a:r>
            <a:br>
              <a:rPr lang="nl-NL" altLang="zh-CN" dirty="0"/>
            </a:br>
            <a:endParaRPr lang="zh-CN" altLang="en-US" dirty="0"/>
          </a:p>
        </p:txBody>
      </p:sp>
      <p:sp>
        <p:nvSpPr>
          <p:cNvPr id="3" name="Text Placeholder 2">
            <a:extLst>
              <a:ext uri="{FF2B5EF4-FFF2-40B4-BE49-F238E27FC236}">
                <a16:creationId xmlns:a16="http://schemas.microsoft.com/office/drawing/2014/main" id="{59441D1B-BF57-FE31-743E-DDC441AA22CC}"/>
              </a:ext>
            </a:extLst>
          </p:cNvPr>
          <p:cNvSpPr>
            <a:spLocks noGrp="1"/>
          </p:cNvSpPr>
          <p:nvPr>
            <p:ph type="body" idx="1"/>
          </p:nvPr>
        </p:nvSpPr>
        <p:spPr/>
        <p:txBody>
          <a:bodyPr/>
          <a:lstStyle/>
          <a:p>
            <a:endParaRPr lang="zh-CN" altLang="en-US" dirty="0"/>
          </a:p>
        </p:txBody>
      </p:sp>
      <p:sp>
        <p:nvSpPr>
          <p:cNvPr id="130" name="Text Box 177">
            <a:extLst>
              <a:ext uri="{FF2B5EF4-FFF2-40B4-BE49-F238E27FC236}">
                <a16:creationId xmlns:a16="http://schemas.microsoft.com/office/drawing/2014/main" id="{68ACAB76-7383-4498-5A8F-64392B9A743B}"/>
              </a:ext>
            </a:extLst>
          </p:cNvPr>
          <p:cNvSpPr txBox="1">
            <a:spLocks noChangeArrowheads="1"/>
          </p:cNvSpPr>
          <p:nvPr/>
        </p:nvSpPr>
        <p:spPr bwMode="auto">
          <a:xfrm>
            <a:off x="4992103" y="287900"/>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31" name="Text Box 181">
            <a:extLst>
              <a:ext uri="{FF2B5EF4-FFF2-40B4-BE49-F238E27FC236}">
                <a16:creationId xmlns:a16="http://schemas.microsoft.com/office/drawing/2014/main" id="{7ED41803-F8FA-05F1-E8BD-9D5750FCEF5B}"/>
              </a:ext>
            </a:extLst>
          </p:cNvPr>
          <p:cNvSpPr txBox="1">
            <a:spLocks noChangeArrowheads="1"/>
          </p:cNvSpPr>
          <p:nvPr/>
        </p:nvSpPr>
        <p:spPr bwMode="auto">
          <a:xfrm>
            <a:off x="2658478" y="305363"/>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132" name="Line 186">
            <a:extLst>
              <a:ext uri="{FF2B5EF4-FFF2-40B4-BE49-F238E27FC236}">
                <a16:creationId xmlns:a16="http://schemas.microsoft.com/office/drawing/2014/main" id="{C861D913-A059-CC4E-9B9C-89FDF13C0521}"/>
              </a:ext>
            </a:extLst>
          </p:cNvPr>
          <p:cNvSpPr>
            <a:spLocks noChangeShapeType="1"/>
          </p:cNvSpPr>
          <p:nvPr/>
        </p:nvSpPr>
        <p:spPr bwMode="auto">
          <a:xfrm>
            <a:off x="3033128" y="1205475"/>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Line 187">
            <a:extLst>
              <a:ext uri="{FF2B5EF4-FFF2-40B4-BE49-F238E27FC236}">
                <a16:creationId xmlns:a16="http://schemas.microsoft.com/office/drawing/2014/main" id="{81F9B480-A941-3359-ECF6-B2C3C481D3CA}"/>
              </a:ext>
            </a:extLst>
          </p:cNvPr>
          <p:cNvSpPr>
            <a:spLocks noChangeShapeType="1"/>
          </p:cNvSpPr>
          <p:nvPr/>
        </p:nvSpPr>
        <p:spPr bwMode="auto">
          <a:xfrm>
            <a:off x="5438191" y="1200713"/>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Rectangle 188">
            <a:extLst>
              <a:ext uri="{FF2B5EF4-FFF2-40B4-BE49-F238E27FC236}">
                <a16:creationId xmlns:a16="http://schemas.microsoft.com/office/drawing/2014/main" id="{2DFEAA9B-F43B-E1B1-ED0A-3B0100F9D127}"/>
              </a:ext>
            </a:extLst>
          </p:cNvPr>
          <p:cNvSpPr>
            <a:spLocks noChangeArrowheads="1"/>
          </p:cNvSpPr>
          <p:nvPr/>
        </p:nvSpPr>
        <p:spPr bwMode="auto">
          <a:xfrm>
            <a:off x="4045953" y="3332725"/>
            <a:ext cx="1057275" cy="5080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35" name="Group 134">
            <a:extLst>
              <a:ext uri="{FF2B5EF4-FFF2-40B4-BE49-F238E27FC236}">
                <a16:creationId xmlns:a16="http://schemas.microsoft.com/office/drawing/2014/main" id="{3730E714-4381-4B6F-D689-C461D8737C6B}"/>
              </a:ext>
            </a:extLst>
          </p:cNvPr>
          <p:cNvGrpSpPr/>
          <p:nvPr/>
        </p:nvGrpSpPr>
        <p:grpSpPr>
          <a:xfrm>
            <a:off x="2998485" y="3249992"/>
            <a:ext cx="2441575" cy="712367"/>
            <a:chOff x="7595603" y="4111297"/>
            <a:chExt cx="2441575" cy="712367"/>
          </a:xfrm>
        </p:grpSpPr>
        <p:sp>
          <p:nvSpPr>
            <p:cNvPr id="136" name="Line 173">
              <a:extLst>
                <a:ext uri="{FF2B5EF4-FFF2-40B4-BE49-F238E27FC236}">
                  <a16:creationId xmlns:a16="http://schemas.microsoft.com/office/drawing/2014/main" id="{4B62C54D-966F-3DAF-A5A7-B67FD114D240}"/>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Text Box 189">
              <a:extLst>
                <a:ext uri="{FF2B5EF4-FFF2-40B4-BE49-F238E27FC236}">
                  <a16:creationId xmlns:a16="http://schemas.microsoft.com/office/drawing/2014/main" id="{BA5391C0-DB4A-7C64-3F3D-36FF96C52099}"/>
                </a:ext>
              </a:extLst>
            </p:cNvPr>
            <p:cNvSpPr txBox="1">
              <a:spLocks noChangeArrowheads="1"/>
            </p:cNvSpPr>
            <p:nvPr/>
          </p:nvSpPr>
          <p:spPr bwMode="auto">
            <a:xfrm>
              <a:off x="8177076" y="4515887"/>
              <a:ext cx="1577676" cy="307777"/>
            </a:xfrm>
            <a:prstGeom prst="rect">
              <a:avLst/>
            </a:prstGeom>
            <a:solidFill>
              <a:schemeClr val="bg1"/>
            </a:solid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8B data</a:t>
              </a:r>
            </a:p>
          </p:txBody>
        </p:sp>
      </p:grpSp>
      <p:sp>
        <p:nvSpPr>
          <p:cNvPr id="138" name="Rectangle 193">
            <a:extLst>
              <a:ext uri="{FF2B5EF4-FFF2-40B4-BE49-F238E27FC236}">
                <a16:creationId xmlns:a16="http://schemas.microsoft.com/office/drawing/2014/main" id="{E7436103-B6AE-2732-D45B-E7E372827F1F}"/>
              </a:ext>
            </a:extLst>
          </p:cNvPr>
          <p:cNvSpPr>
            <a:spLocks noChangeArrowheads="1"/>
          </p:cNvSpPr>
          <p:nvPr/>
        </p:nvSpPr>
        <p:spPr bwMode="auto">
          <a:xfrm>
            <a:off x="3885616" y="4175688"/>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39" name="Group 138">
            <a:extLst>
              <a:ext uri="{FF2B5EF4-FFF2-40B4-BE49-F238E27FC236}">
                <a16:creationId xmlns:a16="http://schemas.microsoft.com/office/drawing/2014/main" id="{F84A6A09-FF17-5A48-6B48-342297539433}"/>
              </a:ext>
            </a:extLst>
          </p:cNvPr>
          <p:cNvGrpSpPr/>
          <p:nvPr/>
        </p:nvGrpSpPr>
        <p:grpSpPr>
          <a:xfrm>
            <a:off x="3102978" y="3918513"/>
            <a:ext cx="2287587" cy="1033337"/>
            <a:chOff x="7678153" y="4814560"/>
            <a:chExt cx="2287587" cy="1033337"/>
          </a:xfrm>
        </p:grpSpPr>
        <p:sp>
          <p:nvSpPr>
            <p:cNvPr id="140" name="Line 192">
              <a:extLst>
                <a:ext uri="{FF2B5EF4-FFF2-40B4-BE49-F238E27FC236}">
                  <a16:creationId xmlns:a16="http://schemas.microsoft.com/office/drawing/2014/main" id="{FC95FE11-007D-FC5C-DB84-86636DE114F6}"/>
                </a:ext>
              </a:extLst>
            </p:cNvPr>
            <p:cNvSpPr>
              <a:spLocks noChangeShapeType="1"/>
            </p:cNvSpPr>
            <p:nvPr/>
          </p:nvSpPr>
          <p:spPr bwMode="auto">
            <a:xfrm flipH="1">
              <a:off x="7678153" y="4814560"/>
              <a:ext cx="2287587" cy="10333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1" name="Text Box 194">
              <a:extLst>
                <a:ext uri="{FF2B5EF4-FFF2-40B4-BE49-F238E27FC236}">
                  <a16:creationId xmlns:a16="http://schemas.microsoft.com/office/drawing/2014/main" id="{59DAD787-59CA-0DC0-5C25-6ACADA2F1516}"/>
                </a:ext>
              </a:extLst>
            </p:cNvPr>
            <p:cNvSpPr txBox="1">
              <a:spLocks noChangeArrowheads="1"/>
            </p:cNvSpPr>
            <p:nvPr/>
          </p:nvSpPr>
          <p:spPr bwMode="auto">
            <a:xfrm>
              <a:off x="8383004" y="5122730"/>
              <a:ext cx="949325" cy="304800"/>
            </a:xfrm>
            <a:prstGeom prst="rect">
              <a:avLst/>
            </a:prstGeom>
            <a:solidFill>
              <a:schemeClr val="bg1"/>
            </a:solid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42" name="Group 141">
            <a:extLst>
              <a:ext uri="{FF2B5EF4-FFF2-40B4-BE49-F238E27FC236}">
                <a16:creationId xmlns:a16="http://schemas.microsoft.com/office/drawing/2014/main" id="{09DD30B4-F499-3729-2D88-A0807D6E5BC5}"/>
              </a:ext>
            </a:extLst>
          </p:cNvPr>
          <p:cNvGrpSpPr/>
          <p:nvPr/>
        </p:nvGrpSpPr>
        <p:grpSpPr>
          <a:xfrm>
            <a:off x="2660066" y="1451538"/>
            <a:ext cx="396875" cy="1751012"/>
            <a:chOff x="7235241" y="2347585"/>
            <a:chExt cx="396875" cy="1751012"/>
          </a:xfrm>
        </p:grpSpPr>
        <p:sp>
          <p:nvSpPr>
            <p:cNvPr id="143" name="Text Box 191">
              <a:extLst>
                <a:ext uri="{FF2B5EF4-FFF2-40B4-BE49-F238E27FC236}">
                  <a16:creationId xmlns:a16="http://schemas.microsoft.com/office/drawing/2014/main" id="{6F0F8641-6D26-7D48-7AC2-D302FA290A68}"/>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44" name="Group 195">
              <a:extLst>
                <a:ext uri="{FF2B5EF4-FFF2-40B4-BE49-F238E27FC236}">
                  <a16:creationId xmlns:a16="http://schemas.microsoft.com/office/drawing/2014/main" id="{ABF14EEF-C278-1496-E49B-2116C659235D}"/>
                </a:ext>
              </a:extLst>
            </p:cNvPr>
            <p:cNvGrpSpPr>
              <a:grpSpLocks/>
            </p:cNvGrpSpPr>
            <p:nvPr/>
          </p:nvGrpSpPr>
          <p:grpSpPr bwMode="auto">
            <a:xfrm>
              <a:off x="7376528" y="2347585"/>
              <a:ext cx="104775" cy="508000"/>
              <a:chOff x="3099" y="1749"/>
              <a:chExt cx="66" cy="320"/>
            </a:xfrm>
          </p:grpSpPr>
          <p:sp>
            <p:nvSpPr>
              <p:cNvPr id="148" name="Line 196">
                <a:extLst>
                  <a:ext uri="{FF2B5EF4-FFF2-40B4-BE49-F238E27FC236}">
                    <a16:creationId xmlns:a16="http://schemas.microsoft.com/office/drawing/2014/main" id="{0E6A1F6D-51BD-7E71-705C-990F4EC5CD6E}"/>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9" name="Line 197">
                <a:extLst>
                  <a:ext uri="{FF2B5EF4-FFF2-40B4-BE49-F238E27FC236}">
                    <a16:creationId xmlns:a16="http://schemas.microsoft.com/office/drawing/2014/main" id="{B8EE6FE9-B317-21E3-5940-523E1ED674D4}"/>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45" name="Group 198">
              <a:extLst>
                <a:ext uri="{FF2B5EF4-FFF2-40B4-BE49-F238E27FC236}">
                  <a16:creationId xmlns:a16="http://schemas.microsoft.com/office/drawing/2014/main" id="{32C1CB51-32FD-78B5-4D7B-47832D8BE5B0}"/>
                </a:ext>
              </a:extLst>
            </p:cNvPr>
            <p:cNvGrpSpPr>
              <a:grpSpLocks/>
            </p:cNvGrpSpPr>
            <p:nvPr/>
          </p:nvGrpSpPr>
          <p:grpSpPr bwMode="auto">
            <a:xfrm rot="10800000">
              <a:off x="7371766" y="3590597"/>
              <a:ext cx="104775" cy="508000"/>
              <a:chOff x="3099" y="1749"/>
              <a:chExt cx="66" cy="320"/>
            </a:xfrm>
          </p:grpSpPr>
          <p:sp>
            <p:nvSpPr>
              <p:cNvPr id="146" name="Line 199">
                <a:extLst>
                  <a:ext uri="{FF2B5EF4-FFF2-40B4-BE49-F238E27FC236}">
                    <a16:creationId xmlns:a16="http://schemas.microsoft.com/office/drawing/2014/main" id="{BDDCBD1B-D416-79E8-BEDD-29AC5C84D09F}"/>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7" name="Line 200">
                <a:extLst>
                  <a:ext uri="{FF2B5EF4-FFF2-40B4-BE49-F238E27FC236}">
                    <a16:creationId xmlns:a16="http://schemas.microsoft.com/office/drawing/2014/main" id="{56C39CE6-5F9F-898F-1839-9AD0B5CBC562}"/>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50" name="Group 149">
            <a:extLst>
              <a:ext uri="{FF2B5EF4-FFF2-40B4-BE49-F238E27FC236}">
                <a16:creationId xmlns:a16="http://schemas.microsoft.com/office/drawing/2014/main" id="{6DF603DE-6ADE-589E-9D37-A33E7E538130}"/>
              </a:ext>
            </a:extLst>
          </p:cNvPr>
          <p:cNvGrpSpPr/>
          <p:nvPr/>
        </p:nvGrpSpPr>
        <p:grpSpPr>
          <a:xfrm>
            <a:off x="3028366" y="2108763"/>
            <a:ext cx="2339975" cy="1944687"/>
            <a:chOff x="7603541" y="3004810"/>
            <a:chExt cx="2339975" cy="1944687"/>
          </a:xfrm>
        </p:grpSpPr>
        <p:sp>
          <p:nvSpPr>
            <p:cNvPr id="151" name="Line 175">
              <a:extLst>
                <a:ext uri="{FF2B5EF4-FFF2-40B4-BE49-F238E27FC236}">
                  <a16:creationId xmlns:a16="http://schemas.microsoft.com/office/drawing/2014/main" id="{50DC0FB2-330F-E86C-93FF-6A3B665AF0F9}"/>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2" name="Group 202">
              <a:extLst>
                <a:ext uri="{FF2B5EF4-FFF2-40B4-BE49-F238E27FC236}">
                  <a16:creationId xmlns:a16="http://schemas.microsoft.com/office/drawing/2014/main" id="{E517B244-01A4-3E00-7159-4542F9773A13}"/>
                </a:ext>
              </a:extLst>
            </p:cNvPr>
            <p:cNvGrpSpPr>
              <a:grpSpLocks/>
            </p:cNvGrpSpPr>
            <p:nvPr/>
          </p:nvGrpSpPr>
          <p:grpSpPr bwMode="auto">
            <a:xfrm>
              <a:off x="8505241" y="3496935"/>
              <a:ext cx="949325" cy="304800"/>
              <a:chOff x="4215" y="2253"/>
              <a:chExt cx="598" cy="192"/>
            </a:xfrm>
          </p:grpSpPr>
          <p:sp>
            <p:nvSpPr>
              <p:cNvPr id="157" name="Rectangle 184">
                <a:extLst>
                  <a:ext uri="{FF2B5EF4-FFF2-40B4-BE49-F238E27FC236}">
                    <a16:creationId xmlns:a16="http://schemas.microsoft.com/office/drawing/2014/main" id="{CD35A5F1-621B-F2C2-03D9-3A38113DCCCB}"/>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8" name="Text Box 185">
                <a:extLst>
                  <a:ext uri="{FF2B5EF4-FFF2-40B4-BE49-F238E27FC236}">
                    <a16:creationId xmlns:a16="http://schemas.microsoft.com/office/drawing/2014/main" id="{7046F55D-76B5-6B73-9C9D-53A6305C185C}"/>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153" name="Line 207">
              <a:extLst>
                <a:ext uri="{FF2B5EF4-FFF2-40B4-BE49-F238E27FC236}">
                  <a16:creationId xmlns:a16="http://schemas.microsoft.com/office/drawing/2014/main" id="{8852AB72-DB09-6E64-935D-19B94D55B7F2}"/>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4" name="Group 208">
              <a:extLst>
                <a:ext uri="{FF2B5EF4-FFF2-40B4-BE49-F238E27FC236}">
                  <a16:creationId xmlns:a16="http://schemas.microsoft.com/office/drawing/2014/main" id="{B958E04D-0340-41FB-345B-913D829A55C7}"/>
                </a:ext>
              </a:extLst>
            </p:cNvPr>
            <p:cNvGrpSpPr>
              <a:grpSpLocks/>
            </p:cNvGrpSpPr>
            <p:nvPr/>
          </p:nvGrpSpPr>
          <p:grpSpPr bwMode="auto">
            <a:xfrm>
              <a:off x="8744953" y="3773160"/>
              <a:ext cx="949325" cy="304800"/>
              <a:chOff x="4215" y="2253"/>
              <a:chExt cx="598" cy="192"/>
            </a:xfrm>
          </p:grpSpPr>
          <p:sp>
            <p:nvSpPr>
              <p:cNvPr id="155" name="Rectangle 209">
                <a:extLst>
                  <a:ext uri="{FF2B5EF4-FFF2-40B4-BE49-F238E27FC236}">
                    <a16:creationId xmlns:a16="http://schemas.microsoft.com/office/drawing/2014/main" id="{61CBD3CE-2AA1-A836-3D1C-C96E85AF3B38}"/>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6" name="Text Box 210">
                <a:extLst>
                  <a:ext uri="{FF2B5EF4-FFF2-40B4-BE49-F238E27FC236}">
                    <a16:creationId xmlns:a16="http://schemas.microsoft.com/office/drawing/2014/main" id="{3AFC7409-90FA-DA10-4F4A-FDAB84336A16}"/>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sp>
        <p:nvSpPr>
          <p:cNvPr id="160" name="Text Box 211">
            <a:extLst>
              <a:ext uri="{FF2B5EF4-FFF2-40B4-BE49-F238E27FC236}">
                <a16:creationId xmlns:a16="http://schemas.microsoft.com/office/drawing/2014/main" id="{32E27E1A-ED4D-1D6C-DD4C-2E9AEAC68913}"/>
              </a:ext>
            </a:extLst>
          </p:cNvPr>
          <p:cNvSpPr txBox="1">
            <a:spLocks noChangeArrowheads="1"/>
          </p:cNvSpPr>
          <p:nvPr/>
        </p:nvSpPr>
        <p:spPr bwMode="auto">
          <a:xfrm>
            <a:off x="2255757" y="3520050"/>
            <a:ext cx="18473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63" name="Group 162">
            <a:extLst>
              <a:ext uri="{FF2B5EF4-FFF2-40B4-BE49-F238E27FC236}">
                <a16:creationId xmlns:a16="http://schemas.microsoft.com/office/drawing/2014/main" id="{C5DD135D-47DE-1EF0-D80C-9F120FEDAF17}"/>
              </a:ext>
            </a:extLst>
          </p:cNvPr>
          <p:cNvGrpSpPr/>
          <p:nvPr/>
        </p:nvGrpSpPr>
        <p:grpSpPr>
          <a:xfrm>
            <a:off x="3039478" y="1446775"/>
            <a:ext cx="2360613" cy="957263"/>
            <a:chOff x="7614653" y="2342822"/>
            <a:chExt cx="2360613" cy="957263"/>
          </a:xfrm>
        </p:grpSpPr>
        <p:sp>
          <p:nvSpPr>
            <p:cNvPr id="164" name="Line 174">
              <a:extLst>
                <a:ext uri="{FF2B5EF4-FFF2-40B4-BE49-F238E27FC236}">
                  <a16:creationId xmlns:a16="http://schemas.microsoft.com/office/drawing/2014/main" id="{35855501-68F5-1F9B-712B-3AB43A855F2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5" name="Rectangle 182">
              <a:extLst>
                <a:ext uri="{FF2B5EF4-FFF2-40B4-BE49-F238E27FC236}">
                  <a16:creationId xmlns:a16="http://schemas.microsoft.com/office/drawing/2014/main" id="{59C13058-EFB2-6CD3-2997-25FEE0498386}"/>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6" name="Text Box 183">
              <a:extLst>
                <a:ext uri="{FF2B5EF4-FFF2-40B4-BE49-F238E27FC236}">
                  <a16:creationId xmlns:a16="http://schemas.microsoft.com/office/drawing/2014/main" id="{58410BDD-7BDE-63D0-480B-B77382519E17}"/>
                </a:ext>
              </a:extLst>
            </p:cNvPr>
            <p:cNvSpPr txBox="1">
              <a:spLocks noChangeArrowheads="1"/>
            </p:cNvSpPr>
            <p:nvPr/>
          </p:nvSpPr>
          <p:spPr bwMode="auto">
            <a:xfrm>
              <a:off x="8055605" y="2476172"/>
              <a:ext cx="1521570"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8B data</a:t>
              </a:r>
            </a:p>
          </p:txBody>
        </p:sp>
        <p:grpSp>
          <p:nvGrpSpPr>
            <p:cNvPr id="167" name="Group 206">
              <a:extLst>
                <a:ext uri="{FF2B5EF4-FFF2-40B4-BE49-F238E27FC236}">
                  <a16:creationId xmlns:a16="http://schemas.microsoft.com/office/drawing/2014/main" id="{EA06D094-0B81-BD3F-F6FD-471DA30C423E}"/>
                </a:ext>
              </a:extLst>
            </p:cNvPr>
            <p:cNvGrpSpPr>
              <a:grpSpLocks/>
            </p:cNvGrpSpPr>
            <p:nvPr/>
          </p:nvGrpSpPr>
          <p:grpSpPr bwMode="auto">
            <a:xfrm>
              <a:off x="7614653" y="2728585"/>
              <a:ext cx="2346325" cy="571500"/>
              <a:chOff x="3759" y="1622"/>
              <a:chExt cx="1478" cy="360"/>
            </a:xfrm>
          </p:grpSpPr>
          <p:sp>
            <p:nvSpPr>
              <p:cNvPr id="169" name="Line 203">
                <a:extLst>
                  <a:ext uri="{FF2B5EF4-FFF2-40B4-BE49-F238E27FC236}">
                    <a16:creationId xmlns:a16="http://schemas.microsoft.com/office/drawing/2014/main" id="{DD460DC1-DF66-040A-2707-C6B840531379}"/>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0" name="Rectangle 204">
                <a:extLst>
                  <a:ext uri="{FF2B5EF4-FFF2-40B4-BE49-F238E27FC236}">
                    <a16:creationId xmlns:a16="http://schemas.microsoft.com/office/drawing/2014/main" id="{F3BF9AF5-5F85-C7E4-2723-87BA6A7F207C}"/>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Text Box 205">
                <a:extLst>
                  <a:ext uri="{FF2B5EF4-FFF2-40B4-BE49-F238E27FC236}">
                    <a16:creationId xmlns:a16="http://schemas.microsoft.com/office/drawing/2014/main" id="{844CF0DF-4C69-6B50-CBAF-94E2E34C08FE}"/>
                  </a:ext>
                </a:extLst>
              </p:cNvPr>
              <p:cNvSpPr txBox="1">
                <a:spLocks noChangeArrowheads="1"/>
              </p:cNvSpPr>
              <p:nvPr/>
            </p:nvSpPr>
            <p:spPr bwMode="auto">
              <a:xfrm>
                <a:off x="3968" y="1706"/>
                <a:ext cx="1082" cy="19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20B data</a:t>
                </a:r>
              </a:p>
            </p:txBody>
          </p:sp>
        </p:grpSp>
      </p:grpSp>
      <p:grpSp>
        <p:nvGrpSpPr>
          <p:cNvPr id="172" name="Group 219">
            <a:extLst>
              <a:ext uri="{FF2B5EF4-FFF2-40B4-BE49-F238E27FC236}">
                <a16:creationId xmlns:a16="http://schemas.microsoft.com/office/drawing/2014/main" id="{179C7473-14E2-DDFA-B3B8-9A73BFF527B1}"/>
              </a:ext>
            </a:extLst>
          </p:cNvPr>
          <p:cNvGrpSpPr>
            <a:grpSpLocks/>
          </p:cNvGrpSpPr>
          <p:nvPr/>
        </p:nvGrpSpPr>
        <p:grpSpPr bwMode="auto">
          <a:xfrm>
            <a:off x="2610853" y="567300"/>
            <a:ext cx="630238" cy="533400"/>
            <a:chOff x="-44" y="1473"/>
            <a:chExt cx="981" cy="1105"/>
          </a:xfrm>
        </p:grpSpPr>
        <p:pic>
          <p:nvPicPr>
            <p:cNvPr id="173" name="Picture 220" descr="desktop_computer_stylized_medium">
              <a:extLst>
                <a:ext uri="{FF2B5EF4-FFF2-40B4-BE49-F238E27FC236}">
                  <a16:creationId xmlns:a16="http://schemas.microsoft.com/office/drawing/2014/main" id="{204DAAE8-2027-19B1-A9B2-6D722CF662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221">
              <a:extLst>
                <a:ext uri="{FF2B5EF4-FFF2-40B4-BE49-F238E27FC236}">
                  <a16:creationId xmlns:a16="http://schemas.microsoft.com/office/drawing/2014/main" id="{164CBACE-361A-0B33-7C8D-0B0E9E46ADD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75" name="Group 225">
            <a:extLst>
              <a:ext uri="{FF2B5EF4-FFF2-40B4-BE49-F238E27FC236}">
                <a16:creationId xmlns:a16="http://schemas.microsoft.com/office/drawing/2014/main" id="{6D15D5AA-A00C-B360-7034-F47B964CC399}"/>
              </a:ext>
            </a:extLst>
          </p:cNvPr>
          <p:cNvGrpSpPr>
            <a:grpSpLocks/>
          </p:cNvGrpSpPr>
          <p:nvPr/>
        </p:nvGrpSpPr>
        <p:grpSpPr bwMode="auto">
          <a:xfrm flipH="1">
            <a:off x="5177841" y="573650"/>
            <a:ext cx="631825" cy="622300"/>
            <a:chOff x="-44" y="1473"/>
            <a:chExt cx="981" cy="1105"/>
          </a:xfrm>
        </p:grpSpPr>
        <p:pic>
          <p:nvPicPr>
            <p:cNvPr id="176" name="Picture 226" descr="desktop_computer_stylized_medium">
              <a:extLst>
                <a:ext uri="{FF2B5EF4-FFF2-40B4-BE49-F238E27FC236}">
                  <a16:creationId xmlns:a16="http://schemas.microsoft.com/office/drawing/2014/main" id="{343041C2-4BF6-71E1-3A1F-11491C1FDF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 name="Freeform 227">
              <a:extLst>
                <a:ext uri="{FF2B5EF4-FFF2-40B4-BE49-F238E27FC236}">
                  <a16:creationId xmlns:a16="http://schemas.microsoft.com/office/drawing/2014/main" id="{D25D75D3-97BA-BACF-26D5-E037E20B43A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86" name="TextBox 185">
            <a:extLst>
              <a:ext uri="{FF2B5EF4-FFF2-40B4-BE49-F238E27FC236}">
                <a16:creationId xmlns:a16="http://schemas.microsoft.com/office/drawing/2014/main" id="{C7ABB954-7ECC-A5A4-F316-3DA5CF27816B}"/>
              </a:ext>
            </a:extLst>
          </p:cNvPr>
          <p:cNvSpPr txBox="1"/>
          <p:nvPr/>
        </p:nvSpPr>
        <p:spPr>
          <a:xfrm>
            <a:off x="5474704" y="1251502"/>
            <a:ext cx="2330448" cy="738664"/>
          </a:xfrm>
          <a:prstGeom prst="rect">
            <a:avLst/>
          </a:prstGeom>
          <a:noFill/>
        </p:spPr>
        <p:txBody>
          <a:bodyPr wrap="square" rtlCol="0">
            <a:spAutoFit/>
          </a:bodyPr>
          <a:lstStyle/>
          <a:p>
            <a:r>
              <a:rPr lang="en-GB" altLang="zh-CN" dirty="0"/>
              <a:t>1. Host B receives bytes 92-99 (8 bytes), and expects next byte = 100</a:t>
            </a:r>
            <a:endParaRPr lang="en-SE" altLang="zh-CN" dirty="0"/>
          </a:p>
        </p:txBody>
      </p:sp>
      <p:sp>
        <p:nvSpPr>
          <p:cNvPr id="187" name="TextBox 186">
            <a:extLst>
              <a:ext uri="{FF2B5EF4-FFF2-40B4-BE49-F238E27FC236}">
                <a16:creationId xmlns:a16="http://schemas.microsoft.com/office/drawing/2014/main" id="{A3C76245-4497-8E5B-6D39-329053FAAACE}"/>
              </a:ext>
            </a:extLst>
          </p:cNvPr>
          <p:cNvSpPr txBox="1"/>
          <p:nvPr/>
        </p:nvSpPr>
        <p:spPr>
          <a:xfrm>
            <a:off x="5508042" y="2150038"/>
            <a:ext cx="2492957" cy="738664"/>
          </a:xfrm>
          <a:prstGeom prst="rect">
            <a:avLst/>
          </a:prstGeom>
          <a:noFill/>
        </p:spPr>
        <p:txBody>
          <a:bodyPr wrap="square" rtlCol="0">
            <a:spAutoFit/>
          </a:bodyPr>
          <a:lstStyle/>
          <a:p>
            <a:r>
              <a:rPr lang="en-GB" dirty="0"/>
              <a:t>2. </a:t>
            </a:r>
            <a:r>
              <a:rPr lang="en-GB" altLang="zh-CN" dirty="0"/>
              <a:t>Host B receives bytes 100-119 (20 bytes), and expects next byte = 120</a:t>
            </a:r>
            <a:endParaRPr lang="en-SE" dirty="0"/>
          </a:p>
        </p:txBody>
      </p:sp>
      <p:sp>
        <p:nvSpPr>
          <p:cNvPr id="188" name="TextBox 187">
            <a:extLst>
              <a:ext uri="{FF2B5EF4-FFF2-40B4-BE49-F238E27FC236}">
                <a16:creationId xmlns:a16="http://schemas.microsoft.com/office/drawing/2014/main" id="{D92F0449-5305-B348-986B-A753189F8238}"/>
              </a:ext>
            </a:extLst>
          </p:cNvPr>
          <p:cNvSpPr txBox="1"/>
          <p:nvPr/>
        </p:nvSpPr>
        <p:spPr>
          <a:xfrm>
            <a:off x="5521626" y="3573543"/>
            <a:ext cx="3136589" cy="867930"/>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GB" dirty="0"/>
              <a:t>4. Host B receives </a:t>
            </a:r>
            <a:r>
              <a:rPr lang="en-US" altLang="zh-CN" dirty="0"/>
              <a:t>bytes</a:t>
            </a:r>
            <a:r>
              <a:rPr lang="en-GB" dirty="0"/>
              <a:t> 92-99 (8 bytes). But it has already received up to byte 119, so it </a:t>
            </a:r>
            <a:r>
              <a:rPr lang="en-US" dirty="0"/>
              <a:t>sends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lang="en-US" dirty="0"/>
              <a:t>ACK for </a:t>
            </a:r>
            <a:r>
              <a:rPr lang="en-GB" dirty="0"/>
              <a:t>byte </a:t>
            </a:r>
            <a:r>
              <a:rPr lang="en-US" dirty="0"/>
              <a:t>120</a:t>
            </a:r>
          </a:p>
        </p:txBody>
      </p:sp>
      <p:sp>
        <p:nvSpPr>
          <p:cNvPr id="190" name="TextBox 189">
            <a:extLst>
              <a:ext uri="{FF2B5EF4-FFF2-40B4-BE49-F238E27FC236}">
                <a16:creationId xmlns:a16="http://schemas.microsoft.com/office/drawing/2014/main" id="{B43A884F-035C-8232-FCEF-9040A8B37105}"/>
              </a:ext>
            </a:extLst>
          </p:cNvPr>
          <p:cNvSpPr txBox="1"/>
          <p:nvPr/>
        </p:nvSpPr>
        <p:spPr>
          <a:xfrm>
            <a:off x="1425795" y="2859102"/>
            <a:ext cx="1509190" cy="954107"/>
          </a:xfrm>
          <a:prstGeom prst="rect">
            <a:avLst/>
          </a:prstGeom>
          <a:noFill/>
        </p:spPr>
        <p:txBody>
          <a:bodyPr wrap="square" rtlCol="0">
            <a:spAutoFit/>
          </a:bodyPr>
          <a:lstStyle/>
          <a:p>
            <a:r>
              <a:rPr lang="en-GB" altLang="zh-CN" dirty="0"/>
              <a:t>3. Host A times out and resends bytes 92-99 (8 bytes).</a:t>
            </a:r>
          </a:p>
        </p:txBody>
      </p:sp>
      <p:sp>
        <p:nvSpPr>
          <p:cNvPr id="6" name="Slide Number Placeholder 1">
            <a:extLst>
              <a:ext uri="{FF2B5EF4-FFF2-40B4-BE49-F238E27FC236}">
                <a16:creationId xmlns:a16="http://schemas.microsoft.com/office/drawing/2014/main" id="{079D25E0-1871-BDAC-C33B-E9412A65772B}"/>
              </a:ext>
            </a:extLst>
          </p:cNvPr>
          <p:cNvSpPr>
            <a:spLocks noGrp="1"/>
          </p:cNvSpPr>
          <p:nvPr>
            <p:ph type="sldNum" idx="12"/>
          </p:nvPr>
        </p:nvSpPr>
        <p:spPr>
          <a:xfrm>
            <a:off x="8472458" y="4663217"/>
            <a:ext cx="548700" cy="393600"/>
          </a:xfrm>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4" name="TextBox 3">
            <a:extLst>
              <a:ext uri="{FF2B5EF4-FFF2-40B4-BE49-F238E27FC236}">
                <a16:creationId xmlns:a16="http://schemas.microsoft.com/office/drawing/2014/main" id="{A62F4828-5638-D472-0ABB-3193BDCDE4DB}"/>
              </a:ext>
            </a:extLst>
          </p:cNvPr>
          <p:cNvSpPr txBox="1"/>
          <p:nvPr/>
        </p:nvSpPr>
        <p:spPr>
          <a:xfrm>
            <a:off x="617208" y="1255556"/>
            <a:ext cx="2079404" cy="57708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altLang="zh-CN" sz="1050" b="1" dirty="0"/>
              <a:t>Note: </a:t>
            </a:r>
            <a:r>
              <a:rPr lang="en-US" altLang="zh-CN" sz="1050" dirty="0"/>
              <a:t>Seq 92 and Seq 100 </a:t>
            </a:r>
            <a:r>
              <a:rPr lang="en-US" altLang="zh-CN" sz="1050"/>
              <a:t>are sent </a:t>
            </a:r>
            <a:r>
              <a:rPr lang="en-US" altLang="zh-CN" sz="1050" dirty="0"/>
              <a:t>back-to-back, even though figure shows a gap for clarity.</a:t>
            </a:r>
            <a:endParaRPr lang="zh-CN" altLang="en-US" sz="1050" dirty="0"/>
          </a:p>
        </p:txBody>
      </p:sp>
    </p:spTree>
    <p:extLst>
      <p:ext uri="{BB962C8B-B14F-4D97-AF65-F5344CB8AC3E}">
        <p14:creationId xmlns:p14="http://schemas.microsoft.com/office/powerpoint/2010/main" val="402143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wipe(left)">
                                      <p:cBhvr>
                                        <p:cTn id="7" dur="500"/>
                                        <p:tgtEl>
                                          <p:spTgt spid="163"/>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50"/>
                                        </p:tgtEl>
                                        <p:attrNameLst>
                                          <p:attrName>style.visibility</p:attrName>
                                        </p:attrNameLst>
                                      </p:cBhvr>
                                      <p:to>
                                        <p:strVal val="visible"/>
                                      </p:to>
                                    </p:set>
                                    <p:animEffect transition="in" filter="wipe(right)">
                                      <p:cBhvr>
                                        <p:cTn id="11" dur="500"/>
                                        <p:tgtEl>
                                          <p:spTgt spid="15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42"/>
                                        </p:tgtEl>
                                        <p:attrNameLst>
                                          <p:attrName>style.visibility</p:attrName>
                                        </p:attrNameLst>
                                      </p:cBhvr>
                                      <p:to>
                                        <p:strVal val="visible"/>
                                      </p:to>
                                    </p:set>
                                    <p:animEffect transition="in" filter="dissolve">
                                      <p:cBhvr>
                                        <p:cTn id="16" dur="500"/>
                                        <p:tgtEl>
                                          <p:spTgt spid="142"/>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wipe(left)">
                                      <p:cBhvr>
                                        <p:cTn id="20" dur="500"/>
                                        <p:tgtEl>
                                          <p:spTgt spid="135"/>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139"/>
                                        </p:tgtEl>
                                        <p:attrNameLst>
                                          <p:attrName>style.visibility</p:attrName>
                                        </p:attrNameLst>
                                      </p:cBhvr>
                                      <p:to>
                                        <p:strVal val="visible"/>
                                      </p:to>
                                    </p:set>
                                    <p:animEffect transition="in" filter="wipe(right)">
                                      <p:cBhvr>
                                        <p:cTn id="24" dur="500"/>
                                        <p:tgtEl>
                                          <p:spTgt spid="13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p:bldP spid="187" grpId="0"/>
      <p:bldP spid="188" grpId="0"/>
      <p:bldP spid="19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B25F0-3E26-1B54-D087-5C6E8B3E9F1B}"/>
              </a:ext>
            </a:extLst>
          </p:cNvPr>
          <p:cNvSpPr>
            <a:spLocks noGrp="1"/>
          </p:cNvSpPr>
          <p:nvPr>
            <p:ph type="title"/>
          </p:nvPr>
        </p:nvSpPr>
        <p:spPr/>
        <p:txBody>
          <a:bodyPr/>
          <a:lstStyle/>
          <a:p>
            <a:r>
              <a:rPr lang="nl-NL" altLang="zh-CN" dirty="0"/>
              <a:t>Lost ACK Scenario</a:t>
            </a:r>
            <a:endParaRPr lang="zh-CN" altLang="en-US" dirty="0"/>
          </a:p>
        </p:txBody>
      </p:sp>
      <p:sp>
        <p:nvSpPr>
          <p:cNvPr id="3" name="Text Placeholder 2">
            <a:extLst>
              <a:ext uri="{FF2B5EF4-FFF2-40B4-BE49-F238E27FC236}">
                <a16:creationId xmlns:a16="http://schemas.microsoft.com/office/drawing/2014/main" id="{40A4EB1A-5B3D-15CF-801A-C5C454217B7F}"/>
              </a:ext>
            </a:extLst>
          </p:cNvPr>
          <p:cNvSpPr>
            <a:spLocks noGrp="1"/>
          </p:cNvSpPr>
          <p:nvPr>
            <p:ph type="body" idx="1"/>
          </p:nvPr>
        </p:nvSpPr>
        <p:spPr/>
        <p:txBody>
          <a:bodyPr/>
          <a:lstStyle/>
          <a:p>
            <a:endParaRPr lang="zh-CN" altLang="en-US" dirty="0"/>
          </a:p>
        </p:txBody>
      </p:sp>
      <p:sp>
        <p:nvSpPr>
          <p:cNvPr id="100" name="Text Box 107">
            <a:extLst>
              <a:ext uri="{FF2B5EF4-FFF2-40B4-BE49-F238E27FC236}">
                <a16:creationId xmlns:a16="http://schemas.microsoft.com/office/drawing/2014/main" id="{041E3EB1-61C5-3963-596F-233C61ED69F2}"/>
              </a:ext>
            </a:extLst>
          </p:cNvPr>
          <p:cNvSpPr txBox="1">
            <a:spLocks noChangeArrowheads="1"/>
          </p:cNvSpPr>
          <p:nvPr/>
        </p:nvSpPr>
        <p:spPr bwMode="auto">
          <a:xfrm>
            <a:off x="4918282" y="513347"/>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01" name="Text Box 111">
            <a:extLst>
              <a:ext uri="{FF2B5EF4-FFF2-40B4-BE49-F238E27FC236}">
                <a16:creationId xmlns:a16="http://schemas.microsoft.com/office/drawing/2014/main" id="{B452360C-554D-130C-8052-5A42E50862FE}"/>
              </a:ext>
            </a:extLst>
          </p:cNvPr>
          <p:cNvSpPr txBox="1">
            <a:spLocks noChangeArrowheads="1"/>
          </p:cNvSpPr>
          <p:nvPr/>
        </p:nvSpPr>
        <p:spPr bwMode="auto">
          <a:xfrm>
            <a:off x="2584657" y="530810"/>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102" name="Group 101">
            <a:extLst>
              <a:ext uri="{FF2B5EF4-FFF2-40B4-BE49-F238E27FC236}">
                <a16:creationId xmlns:a16="http://schemas.microsoft.com/office/drawing/2014/main" id="{6DE9AE4B-D95B-1DDE-263D-4078D170EBEE}"/>
              </a:ext>
            </a:extLst>
          </p:cNvPr>
          <p:cNvGrpSpPr/>
          <p:nvPr/>
        </p:nvGrpSpPr>
        <p:grpSpPr>
          <a:xfrm>
            <a:off x="2979945" y="1672222"/>
            <a:ext cx="2346325" cy="571500"/>
            <a:chOff x="2032069" y="2342822"/>
            <a:chExt cx="2346325" cy="571500"/>
          </a:xfrm>
        </p:grpSpPr>
        <p:sp>
          <p:nvSpPr>
            <p:cNvPr id="103" name="Line 100">
              <a:extLst>
                <a:ext uri="{FF2B5EF4-FFF2-40B4-BE49-F238E27FC236}">
                  <a16:creationId xmlns:a16="http://schemas.microsoft.com/office/drawing/2014/main" id="{72A4030D-9531-D654-8E3F-355C8A5A8931}"/>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4" name="Rectangle 112">
              <a:extLst>
                <a:ext uri="{FF2B5EF4-FFF2-40B4-BE49-F238E27FC236}">
                  <a16:creationId xmlns:a16="http://schemas.microsoft.com/office/drawing/2014/main" id="{840AA57C-124B-7BE0-2F1B-F4375C5F7D03}"/>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5" name="Text Box 113">
              <a:extLst>
                <a:ext uri="{FF2B5EF4-FFF2-40B4-BE49-F238E27FC236}">
                  <a16:creationId xmlns:a16="http://schemas.microsoft.com/office/drawing/2014/main" id="{BD26480F-A7AD-0F69-404E-BD29ADA378CE}"/>
                </a:ext>
              </a:extLst>
            </p:cNvPr>
            <p:cNvSpPr txBox="1">
              <a:spLocks noChangeArrowheads="1"/>
            </p:cNvSpPr>
            <p:nvPr/>
          </p:nvSpPr>
          <p:spPr bwMode="auto">
            <a:xfrm>
              <a:off x="2458734" y="2476172"/>
              <a:ext cx="1521570"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8B data</a:t>
              </a:r>
            </a:p>
          </p:txBody>
        </p:sp>
      </p:grpSp>
      <p:sp>
        <p:nvSpPr>
          <p:cNvPr id="106" name="Line 118">
            <a:extLst>
              <a:ext uri="{FF2B5EF4-FFF2-40B4-BE49-F238E27FC236}">
                <a16:creationId xmlns:a16="http://schemas.microsoft.com/office/drawing/2014/main" id="{E726921B-0E1D-FF9E-1BC0-390D45FB2983}"/>
              </a:ext>
            </a:extLst>
          </p:cNvPr>
          <p:cNvSpPr>
            <a:spLocks noChangeShapeType="1"/>
          </p:cNvSpPr>
          <p:nvPr/>
        </p:nvSpPr>
        <p:spPr bwMode="auto">
          <a:xfrm>
            <a:off x="2959307" y="1430922"/>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7" name="Line 119">
            <a:extLst>
              <a:ext uri="{FF2B5EF4-FFF2-40B4-BE49-F238E27FC236}">
                <a16:creationId xmlns:a16="http://schemas.microsoft.com/office/drawing/2014/main" id="{79233CB6-F477-F8E9-D7B8-480126B86A7C}"/>
              </a:ext>
            </a:extLst>
          </p:cNvPr>
          <p:cNvSpPr>
            <a:spLocks noChangeShapeType="1"/>
          </p:cNvSpPr>
          <p:nvPr/>
        </p:nvSpPr>
        <p:spPr bwMode="auto">
          <a:xfrm>
            <a:off x="5386595" y="1426160"/>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08" name="Group 107">
            <a:extLst>
              <a:ext uri="{FF2B5EF4-FFF2-40B4-BE49-F238E27FC236}">
                <a16:creationId xmlns:a16="http://schemas.microsoft.com/office/drawing/2014/main" id="{307FA659-B760-634C-C366-CF6B63C31B2D}"/>
              </a:ext>
            </a:extLst>
          </p:cNvPr>
          <p:cNvGrpSpPr/>
          <p:nvPr/>
        </p:nvGrpSpPr>
        <p:grpSpPr>
          <a:xfrm>
            <a:off x="2967245" y="3434347"/>
            <a:ext cx="2351087" cy="512763"/>
            <a:chOff x="2019369" y="4104947"/>
            <a:chExt cx="2351087" cy="512763"/>
          </a:xfrm>
        </p:grpSpPr>
        <p:sp>
          <p:nvSpPr>
            <p:cNvPr id="109" name="Line 99">
              <a:extLst>
                <a:ext uri="{FF2B5EF4-FFF2-40B4-BE49-F238E27FC236}">
                  <a16:creationId xmlns:a16="http://schemas.microsoft.com/office/drawing/2014/main" id="{0EEC104C-0A88-031F-0B36-2918E3129A16}"/>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0" name="Rectangle 122">
              <a:extLst>
                <a:ext uri="{FF2B5EF4-FFF2-40B4-BE49-F238E27FC236}">
                  <a16:creationId xmlns:a16="http://schemas.microsoft.com/office/drawing/2014/main" id="{A60C408C-45B8-93B2-E7C6-B5743AB486C8}"/>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1" name="Text Box 123">
              <a:extLst>
                <a:ext uri="{FF2B5EF4-FFF2-40B4-BE49-F238E27FC236}">
                  <a16:creationId xmlns:a16="http://schemas.microsoft.com/office/drawing/2014/main" id="{CD57D078-C7FD-49F4-A8C5-DCD3DEDD7E14}"/>
                </a:ext>
              </a:extLst>
            </p:cNvPr>
            <p:cNvSpPr txBox="1">
              <a:spLocks noChangeArrowheads="1"/>
            </p:cNvSpPr>
            <p:nvPr/>
          </p:nvSpPr>
          <p:spPr bwMode="auto">
            <a:xfrm>
              <a:off x="2447621" y="4185910"/>
              <a:ext cx="1521570"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8B data</a:t>
              </a:r>
            </a:p>
          </p:txBody>
        </p:sp>
      </p:grpSp>
      <p:grpSp>
        <p:nvGrpSpPr>
          <p:cNvPr id="112" name="Group 111">
            <a:extLst>
              <a:ext uri="{FF2B5EF4-FFF2-40B4-BE49-F238E27FC236}">
                <a16:creationId xmlns:a16="http://schemas.microsoft.com/office/drawing/2014/main" id="{AC95FA50-8155-F845-0548-F48555712775}"/>
              </a:ext>
            </a:extLst>
          </p:cNvPr>
          <p:cNvGrpSpPr/>
          <p:nvPr/>
        </p:nvGrpSpPr>
        <p:grpSpPr>
          <a:xfrm>
            <a:off x="3805445" y="2334210"/>
            <a:ext cx="1484312" cy="628650"/>
            <a:chOff x="2857569" y="3004810"/>
            <a:chExt cx="1484312" cy="628650"/>
          </a:xfrm>
        </p:grpSpPr>
        <p:sp>
          <p:nvSpPr>
            <p:cNvPr id="113" name="Line 104">
              <a:extLst>
                <a:ext uri="{FF2B5EF4-FFF2-40B4-BE49-F238E27FC236}">
                  <a16:creationId xmlns:a16="http://schemas.microsoft.com/office/drawing/2014/main" id="{15AC2146-A0B6-B867-8FA2-C5EEC8E1E04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4" name="Rectangle 114">
              <a:extLst>
                <a:ext uri="{FF2B5EF4-FFF2-40B4-BE49-F238E27FC236}">
                  <a16:creationId xmlns:a16="http://schemas.microsoft.com/office/drawing/2014/main" id="{093487F8-5973-786B-B717-33EE09626FA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5" name="Text Box 115">
              <a:extLst>
                <a:ext uri="{FF2B5EF4-FFF2-40B4-BE49-F238E27FC236}">
                  <a16:creationId xmlns:a16="http://schemas.microsoft.com/office/drawing/2014/main" id="{6F09EEBA-E3FB-BE7D-A43F-6BDF83F16214}"/>
                </a:ext>
              </a:extLst>
            </p:cNvPr>
            <p:cNvSpPr txBox="1">
              <a:spLocks noChangeArrowheads="1"/>
            </p:cNvSpPr>
            <p:nvPr/>
          </p:nvSpPr>
          <p:spPr bwMode="auto">
            <a:xfrm>
              <a:off x="3224281" y="3046085"/>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116" name="Text Box 124">
              <a:extLst>
                <a:ext uri="{FF2B5EF4-FFF2-40B4-BE49-F238E27FC236}">
                  <a16:creationId xmlns:a16="http://schemas.microsoft.com/office/drawing/2014/main" id="{D9736E77-C91F-DA7B-6E8F-5CFB689E6FCE}"/>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117" name="Group 116">
            <a:extLst>
              <a:ext uri="{FF2B5EF4-FFF2-40B4-BE49-F238E27FC236}">
                <a16:creationId xmlns:a16="http://schemas.microsoft.com/office/drawing/2014/main" id="{F94CB638-A112-27FF-847F-015256FF2E2C}"/>
              </a:ext>
            </a:extLst>
          </p:cNvPr>
          <p:cNvGrpSpPr/>
          <p:nvPr/>
        </p:nvGrpSpPr>
        <p:grpSpPr>
          <a:xfrm>
            <a:off x="2956132" y="4032835"/>
            <a:ext cx="2338388" cy="782637"/>
            <a:chOff x="2008256" y="4703435"/>
            <a:chExt cx="2338388" cy="782637"/>
          </a:xfrm>
        </p:grpSpPr>
        <p:sp>
          <p:nvSpPr>
            <p:cNvPr id="118" name="Line 127">
              <a:extLst>
                <a:ext uri="{FF2B5EF4-FFF2-40B4-BE49-F238E27FC236}">
                  <a16:creationId xmlns:a16="http://schemas.microsoft.com/office/drawing/2014/main" id="{8363EAE7-4E73-3274-D868-1FF23AC3F7E3}"/>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128">
              <a:extLst>
                <a:ext uri="{FF2B5EF4-FFF2-40B4-BE49-F238E27FC236}">
                  <a16:creationId xmlns:a16="http://schemas.microsoft.com/office/drawing/2014/main" id="{8226F8F6-34F4-43BD-35FF-51D220D943D2}"/>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0" name="Text Box 129">
              <a:extLst>
                <a:ext uri="{FF2B5EF4-FFF2-40B4-BE49-F238E27FC236}">
                  <a16:creationId xmlns:a16="http://schemas.microsoft.com/office/drawing/2014/main" id="{DFB98357-784B-8FAF-D341-BE4F19D33CAA}"/>
                </a:ext>
              </a:extLst>
            </p:cNvPr>
            <p:cNvSpPr txBox="1">
              <a:spLocks noChangeArrowheads="1"/>
            </p:cNvSpPr>
            <p:nvPr/>
          </p:nvSpPr>
          <p:spPr bwMode="auto">
            <a:xfrm>
              <a:off x="2762319" y="4916160"/>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21" name="Group 120">
            <a:extLst>
              <a:ext uri="{FF2B5EF4-FFF2-40B4-BE49-F238E27FC236}">
                <a16:creationId xmlns:a16="http://schemas.microsoft.com/office/drawing/2014/main" id="{F62FE1C3-3B4A-F86E-A3D3-F0B0F8E76579}"/>
              </a:ext>
            </a:extLst>
          </p:cNvPr>
          <p:cNvGrpSpPr/>
          <p:nvPr/>
        </p:nvGrpSpPr>
        <p:grpSpPr>
          <a:xfrm>
            <a:off x="2586245" y="1676985"/>
            <a:ext cx="396875" cy="1751012"/>
            <a:chOff x="1638369" y="2347585"/>
            <a:chExt cx="396875" cy="1751012"/>
          </a:xfrm>
        </p:grpSpPr>
        <p:sp>
          <p:nvSpPr>
            <p:cNvPr id="122" name="Text Box 126">
              <a:extLst>
                <a:ext uri="{FF2B5EF4-FFF2-40B4-BE49-F238E27FC236}">
                  <a16:creationId xmlns:a16="http://schemas.microsoft.com/office/drawing/2014/main" id="{587B208C-E821-668F-0B76-C4641313B7F1}"/>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23" name="Group 134">
              <a:extLst>
                <a:ext uri="{FF2B5EF4-FFF2-40B4-BE49-F238E27FC236}">
                  <a16:creationId xmlns:a16="http://schemas.microsoft.com/office/drawing/2014/main" id="{612EBBEE-0682-52AB-77CA-9975A38949EC}"/>
                </a:ext>
              </a:extLst>
            </p:cNvPr>
            <p:cNvGrpSpPr>
              <a:grpSpLocks/>
            </p:cNvGrpSpPr>
            <p:nvPr/>
          </p:nvGrpSpPr>
          <p:grpSpPr bwMode="auto">
            <a:xfrm>
              <a:off x="1779656" y="2347585"/>
              <a:ext cx="104775" cy="508000"/>
              <a:chOff x="3099" y="1749"/>
              <a:chExt cx="66" cy="320"/>
            </a:xfrm>
          </p:grpSpPr>
          <p:sp>
            <p:nvSpPr>
              <p:cNvPr id="127" name="Line 132">
                <a:extLst>
                  <a:ext uri="{FF2B5EF4-FFF2-40B4-BE49-F238E27FC236}">
                    <a16:creationId xmlns:a16="http://schemas.microsoft.com/office/drawing/2014/main" id="{7B4C5559-DDC3-2F7A-FC66-2D7A8C554E20}"/>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8" name="Line 133">
                <a:extLst>
                  <a:ext uri="{FF2B5EF4-FFF2-40B4-BE49-F238E27FC236}">
                    <a16:creationId xmlns:a16="http://schemas.microsoft.com/office/drawing/2014/main" id="{2387B1D7-64C2-FEEA-D51B-C70223CCBA7A}"/>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4" name="Group 135">
              <a:extLst>
                <a:ext uri="{FF2B5EF4-FFF2-40B4-BE49-F238E27FC236}">
                  <a16:creationId xmlns:a16="http://schemas.microsoft.com/office/drawing/2014/main" id="{E801D3AD-34AB-1BA2-0113-3787F876FE65}"/>
                </a:ext>
              </a:extLst>
            </p:cNvPr>
            <p:cNvGrpSpPr>
              <a:grpSpLocks/>
            </p:cNvGrpSpPr>
            <p:nvPr/>
          </p:nvGrpSpPr>
          <p:grpSpPr bwMode="auto">
            <a:xfrm rot="10800000">
              <a:off x="1774894" y="3590597"/>
              <a:ext cx="104775" cy="508000"/>
              <a:chOff x="3099" y="1749"/>
              <a:chExt cx="66" cy="320"/>
            </a:xfrm>
          </p:grpSpPr>
          <p:sp>
            <p:nvSpPr>
              <p:cNvPr id="125" name="Line 136">
                <a:extLst>
                  <a:ext uri="{FF2B5EF4-FFF2-40B4-BE49-F238E27FC236}">
                    <a16:creationId xmlns:a16="http://schemas.microsoft.com/office/drawing/2014/main" id="{33CC46BE-0415-F70F-5B47-2710AC98156D}"/>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Line 137">
                <a:extLst>
                  <a:ext uri="{FF2B5EF4-FFF2-40B4-BE49-F238E27FC236}">
                    <a16:creationId xmlns:a16="http://schemas.microsoft.com/office/drawing/2014/main" id="{126C3E35-4F49-6143-EF83-B90BA7EC63C1}"/>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78" name="Group 228">
            <a:extLst>
              <a:ext uri="{FF2B5EF4-FFF2-40B4-BE49-F238E27FC236}">
                <a16:creationId xmlns:a16="http://schemas.microsoft.com/office/drawing/2014/main" id="{37DAFAD2-BB18-B7E0-791D-6E59291EEE42}"/>
              </a:ext>
            </a:extLst>
          </p:cNvPr>
          <p:cNvGrpSpPr>
            <a:grpSpLocks/>
          </p:cNvGrpSpPr>
          <p:nvPr/>
        </p:nvGrpSpPr>
        <p:grpSpPr bwMode="auto">
          <a:xfrm>
            <a:off x="2549732" y="803860"/>
            <a:ext cx="630238" cy="533400"/>
            <a:chOff x="-44" y="1473"/>
            <a:chExt cx="981" cy="1105"/>
          </a:xfrm>
        </p:grpSpPr>
        <p:pic>
          <p:nvPicPr>
            <p:cNvPr id="179" name="Picture 229" descr="desktop_computer_stylized_medium">
              <a:extLst>
                <a:ext uri="{FF2B5EF4-FFF2-40B4-BE49-F238E27FC236}">
                  <a16:creationId xmlns:a16="http://schemas.microsoft.com/office/drawing/2014/main" id="{B59C376F-61F4-4165-46B1-C8A44C3B36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Freeform 230">
              <a:extLst>
                <a:ext uri="{FF2B5EF4-FFF2-40B4-BE49-F238E27FC236}">
                  <a16:creationId xmlns:a16="http://schemas.microsoft.com/office/drawing/2014/main" id="{6E11ADB8-A89E-82C7-31D3-79C3997DDCF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81" name="Group 231">
            <a:extLst>
              <a:ext uri="{FF2B5EF4-FFF2-40B4-BE49-F238E27FC236}">
                <a16:creationId xmlns:a16="http://schemas.microsoft.com/office/drawing/2014/main" id="{82F15146-A3F7-B161-835C-202E1F2C531F}"/>
              </a:ext>
            </a:extLst>
          </p:cNvPr>
          <p:cNvGrpSpPr>
            <a:grpSpLocks/>
          </p:cNvGrpSpPr>
          <p:nvPr/>
        </p:nvGrpSpPr>
        <p:grpSpPr bwMode="auto">
          <a:xfrm flipH="1">
            <a:off x="5127832" y="787985"/>
            <a:ext cx="709613" cy="600075"/>
            <a:chOff x="-44" y="1473"/>
            <a:chExt cx="981" cy="1105"/>
          </a:xfrm>
        </p:grpSpPr>
        <p:pic>
          <p:nvPicPr>
            <p:cNvPr id="182" name="Picture 232" descr="desktop_computer_stylized_medium">
              <a:extLst>
                <a:ext uri="{FF2B5EF4-FFF2-40B4-BE49-F238E27FC236}">
                  <a16:creationId xmlns:a16="http://schemas.microsoft.com/office/drawing/2014/main" id="{B0DD29CD-F99F-723F-EAA7-974FEDEE9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Freeform 233">
              <a:extLst>
                <a:ext uri="{FF2B5EF4-FFF2-40B4-BE49-F238E27FC236}">
                  <a16:creationId xmlns:a16="http://schemas.microsoft.com/office/drawing/2014/main" id="{2AA70E83-8766-D30E-6235-4A7DF784D59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84" name="TextBox 183">
            <a:extLst>
              <a:ext uri="{FF2B5EF4-FFF2-40B4-BE49-F238E27FC236}">
                <a16:creationId xmlns:a16="http://schemas.microsoft.com/office/drawing/2014/main" id="{107A6E9D-AAF3-47FC-D824-CF69B1BA30AF}"/>
              </a:ext>
            </a:extLst>
          </p:cNvPr>
          <p:cNvSpPr txBox="1"/>
          <p:nvPr/>
        </p:nvSpPr>
        <p:spPr>
          <a:xfrm>
            <a:off x="5337539" y="1666079"/>
            <a:ext cx="2100573" cy="738664"/>
          </a:xfrm>
          <a:prstGeom prst="rect">
            <a:avLst/>
          </a:prstGeom>
          <a:noFill/>
        </p:spPr>
        <p:txBody>
          <a:bodyPr wrap="square" rtlCol="0">
            <a:spAutoFit/>
          </a:bodyPr>
          <a:lstStyle/>
          <a:p>
            <a:r>
              <a:rPr lang="en-GB" dirty="0"/>
              <a:t>1. Host B receives bytes 92-99 (8 bytes), and expects next byte = 100</a:t>
            </a:r>
            <a:endParaRPr lang="en-SE" dirty="0"/>
          </a:p>
        </p:txBody>
      </p:sp>
      <p:sp>
        <p:nvSpPr>
          <p:cNvPr id="185" name="TextBox 184">
            <a:extLst>
              <a:ext uri="{FF2B5EF4-FFF2-40B4-BE49-F238E27FC236}">
                <a16:creationId xmlns:a16="http://schemas.microsoft.com/office/drawing/2014/main" id="{F90A976E-C598-A2A5-3F9D-0E23B20A978B}"/>
              </a:ext>
            </a:extLst>
          </p:cNvPr>
          <p:cNvSpPr txBox="1"/>
          <p:nvPr/>
        </p:nvSpPr>
        <p:spPr>
          <a:xfrm>
            <a:off x="5391047" y="3558172"/>
            <a:ext cx="2100573" cy="738664"/>
          </a:xfrm>
          <a:prstGeom prst="rect">
            <a:avLst/>
          </a:prstGeom>
          <a:noFill/>
        </p:spPr>
        <p:txBody>
          <a:bodyPr wrap="square" rtlCol="0">
            <a:spAutoFit/>
          </a:bodyPr>
          <a:lstStyle/>
          <a:p>
            <a:r>
              <a:rPr lang="en-GB" dirty="0"/>
              <a:t>3.</a:t>
            </a:r>
            <a:r>
              <a:rPr lang="en-GB" altLang="zh-CN" dirty="0"/>
              <a:t> Host B receives bytes 92-99 (8 bytes), and expects next byte = 100</a:t>
            </a:r>
            <a:endParaRPr lang="en-SE" altLang="zh-CN" dirty="0"/>
          </a:p>
        </p:txBody>
      </p:sp>
      <p:sp>
        <p:nvSpPr>
          <p:cNvPr id="189" name="TextBox 188">
            <a:extLst>
              <a:ext uri="{FF2B5EF4-FFF2-40B4-BE49-F238E27FC236}">
                <a16:creationId xmlns:a16="http://schemas.microsoft.com/office/drawing/2014/main" id="{E0EBC79B-75B4-A393-5D0B-9AC445F2D2A5}"/>
              </a:ext>
            </a:extLst>
          </p:cNvPr>
          <p:cNvSpPr txBox="1"/>
          <p:nvPr/>
        </p:nvSpPr>
        <p:spPr>
          <a:xfrm>
            <a:off x="1351693" y="3291453"/>
            <a:ext cx="1509190" cy="954107"/>
          </a:xfrm>
          <a:prstGeom prst="rect">
            <a:avLst/>
          </a:prstGeom>
          <a:noFill/>
        </p:spPr>
        <p:txBody>
          <a:bodyPr wrap="square" rtlCol="0">
            <a:spAutoFit/>
          </a:bodyPr>
          <a:lstStyle/>
          <a:p>
            <a:r>
              <a:rPr lang="en-GB" dirty="0"/>
              <a:t>2. Host A times out and resends bytes 92-99 (8 bytes).</a:t>
            </a:r>
          </a:p>
        </p:txBody>
      </p:sp>
      <mc:AlternateContent xmlns:mc="http://schemas.openxmlformats.org/markup-compatibility/2006" xmlns:p14="http://schemas.microsoft.com/office/powerpoint/2010/main">
        <mc:Choice Requires="p14">
          <p:contentPart p14:bwMode="auto" r:id="rId3">
            <p14:nvContentPartPr>
              <p14:cNvPr id="191" name="Ink 190">
                <a:extLst>
                  <a:ext uri="{FF2B5EF4-FFF2-40B4-BE49-F238E27FC236}">
                    <a16:creationId xmlns:a16="http://schemas.microsoft.com/office/drawing/2014/main" id="{EDFFC3FF-EF70-0B43-C32A-37AAB5128EE2}"/>
                  </a:ext>
                </a:extLst>
              </p14:cNvPr>
              <p14:cNvContentPartPr/>
              <p14:nvPr/>
            </p14:nvContentPartPr>
            <p14:xfrm>
              <a:off x="6510803" y="1843769"/>
              <a:ext cx="360" cy="360"/>
            </p14:xfrm>
          </p:contentPart>
        </mc:Choice>
        <mc:Fallback xmlns="">
          <p:pic>
            <p:nvPicPr>
              <p:cNvPr id="191" name="Ink 190">
                <a:extLst>
                  <a:ext uri="{FF2B5EF4-FFF2-40B4-BE49-F238E27FC236}">
                    <a16:creationId xmlns:a16="http://schemas.microsoft.com/office/drawing/2014/main" id="{EDFFC3FF-EF70-0B43-C32A-37AAB5128EE2}"/>
                  </a:ext>
                </a:extLst>
              </p:cNvPr>
              <p:cNvPicPr/>
              <p:nvPr/>
            </p:nvPicPr>
            <p:blipFill>
              <a:blip r:embed="rId4"/>
              <a:stretch>
                <a:fillRect/>
              </a:stretch>
            </p:blipFill>
            <p:spPr>
              <a:xfrm>
                <a:off x="6501803" y="183476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2" name="Ink 191">
                <a:extLst>
                  <a:ext uri="{FF2B5EF4-FFF2-40B4-BE49-F238E27FC236}">
                    <a16:creationId xmlns:a16="http://schemas.microsoft.com/office/drawing/2014/main" id="{7BF7E732-8B6F-E528-A27D-8954257E1C97}"/>
                  </a:ext>
                </a:extLst>
              </p14:cNvPr>
              <p14:cNvContentPartPr/>
              <p14:nvPr/>
            </p14:nvContentPartPr>
            <p14:xfrm>
              <a:off x="6560123" y="1941689"/>
              <a:ext cx="360" cy="360"/>
            </p14:xfrm>
          </p:contentPart>
        </mc:Choice>
        <mc:Fallback xmlns="">
          <p:pic>
            <p:nvPicPr>
              <p:cNvPr id="192" name="Ink 191">
                <a:extLst>
                  <a:ext uri="{FF2B5EF4-FFF2-40B4-BE49-F238E27FC236}">
                    <a16:creationId xmlns:a16="http://schemas.microsoft.com/office/drawing/2014/main" id="{7BF7E732-8B6F-E528-A27D-8954257E1C97}"/>
                  </a:ext>
                </a:extLst>
              </p:cNvPr>
              <p:cNvPicPr/>
              <p:nvPr/>
            </p:nvPicPr>
            <p:blipFill>
              <a:blip r:embed="rId4"/>
              <a:stretch>
                <a:fillRect/>
              </a:stretch>
            </p:blipFill>
            <p:spPr>
              <a:xfrm>
                <a:off x="6551123" y="1932689"/>
                <a:ext cx="18000" cy="18000"/>
              </a:xfrm>
              <a:prstGeom prst="rect">
                <a:avLst/>
              </a:prstGeom>
            </p:spPr>
          </p:pic>
        </mc:Fallback>
      </mc:AlternateContent>
      <p:sp>
        <p:nvSpPr>
          <p:cNvPr id="193" name="Slide Number Placeholder 1">
            <a:extLst>
              <a:ext uri="{FF2B5EF4-FFF2-40B4-BE49-F238E27FC236}">
                <a16:creationId xmlns:a16="http://schemas.microsoft.com/office/drawing/2014/main" id="{04A755D1-6F60-515A-E88A-C67A181C1D98}"/>
              </a:ext>
            </a:extLst>
          </p:cNvPr>
          <p:cNvSpPr>
            <a:spLocks noGrp="1"/>
          </p:cNvSpPr>
          <p:nvPr>
            <p:ph type="sldNum" idx="12"/>
          </p:nvPr>
        </p:nvSpPr>
        <p:spPr>
          <a:xfrm>
            <a:off x="8472458" y="4663217"/>
            <a:ext cx="548700" cy="393600"/>
          </a:xfrm>
        </p:spPr>
        <p:txBody>
          <a:bodyPr/>
          <a:lstStyle/>
          <a:p>
            <a:pPr marL="0" lvl="0" indent="0" algn="r" rtl="0">
              <a:spcBef>
                <a:spcPts val="0"/>
              </a:spcBef>
              <a:spcAft>
                <a:spcPts val="0"/>
              </a:spcAft>
              <a:buNone/>
            </a:pPr>
            <a:fld id="{00000000-1234-1234-1234-123412341234}" type="slidenum">
              <a:rPr lang="en" smtClean="0"/>
              <a:t>14</a:t>
            </a:fld>
            <a:endParaRPr lang="en" dirty="0"/>
          </a:p>
        </p:txBody>
      </p:sp>
    </p:spTree>
    <p:extLst>
      <p:ext uri="{BB962C8B-B14F-4D97-AF65-F5344CB8AC3E}">
        <p14:creationId xmlns:p14="http://schemas.microsoft.com/office/powerpoint/2010/main" val="2885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ipe(left)">
                                      <p:cBhvr>
                                        <p:cTn id="7" dur="500"/>
                                        <p:tgtEl>
                                          <p:spTgt spid="10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12"/>
                                        </p:tgtEl>
                                        <p:attrNameLst>
                                          <p:attrName>style.visibility</p:attrName>
                                        </p:attrNameLst>
                                      </p:cBhvr>
                                      <p:to>
                                        <p:strVal val="visible"/>
                                      </p:to>
                                    </p:set>
                                    <p:animEffect transition="in" filter="wipe(right)">
                                      <p:cBhvr>
                                        <p:cTn id="11" dur="500"/>
                                        <p:tgtEl>
                                          <p:spTgt spid="11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dissolve">
                                      <p:cBhvr>
                                        <p:cTn id="16" dur="500"/>
                                        <p:tgtEl>
                                          <p:spTgt spid="121"/>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8"/>
                                        </p:tgtEl>
                                        <p:attrNameLst>
                                          <p:attrName>style.visibility</p:attrName>
                                        </p:attrNameLst>
                                      </p:cBhvr>
                                      <p:to>
                                        <p:strVal val="visible"/>
                                      </p:to>
                                    </p:set>
                                    <p:animEffect transition="in" filter="wipe(left)">
                                      <p:cBhvr>
                                        <p:cTn id="20" dur="500"/>
                                        <p:tgtEl>
                                          <p:spTgt spid="10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117"/>
                                        </p:tgtEl>
                                        <p:attrNameLst>
                                          <p:attrName>style.visibility</p:attrName>
                                        </p:attrNameLst>
                                      </p:cBhvr>
                                      <p:to>
                                        <p:strVal val="visible"/>
                                      </p:to>
                                    </p:set>
                                    <p:animEffect transition="in" filter="wipe(right)">
                                      <p:cBhvr>
                                        <p:cTn id="24" dur="500"/>
                                        <p:tgtEl>
                                          <p:spTgt spid="117"/>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p:bldP spid="185" grpId="0"/>
      <p:bldP spid="18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31CD-1EA4-6D73-EE0E-1D35B07244F4}"/>
              </a:ext>
            </a:extLst>
          </p:cNvPr>
          <p:cNvSpPr>
            <a:spLocks noGrp="1"/>
          </p:cNvSpPr>
          <p:nvPr>
            <p:ph type="title"/>
          </p:nvPr>
        </p:nvSpPr>
        <p:spPr/>
        <p:txBody>
          <a:bodyPr/>
          <a:lstStyle/>
          <a:p>
            <a:r>
              <a:rPr lang="nl-NL" altLang="zh-CN" dirty="0"/>
              <a:t>Lost ACK Scenario 2</a:t>
            </a:r>
            <a:endParaRPr lang="zh-CN" altLang="en-US" dirty="0"/>
          </a:p>
        </p:txBody>
      </p:sp>
      <p:sp>
        <p:nvSpPr>
          <p:cNvPr id="3" name="Text Placeholder 2">
            <a:extLst>
              <a:ext uri="{FF2B5EF4-FFF2-40B4-BE49-F238E27FC236}">
                <a16:creationId xmlns:a16="http://schemas.microsoft.com/office/drawing/2014/main" id="{2CB67DB8-00D0-4835-A900-DB4AF392C623}"/>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D1257BAE-689D-6E08-A12C-D61D03B763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5" name="Line 36">
            <a:extLst>
              <a:ext uri="{FF2B5EF4-FFF2-40B4-BE49-F238E27FC236}">
                <a16:creationId xmlns:a16="http://schemas.microsoft.com/office/drawing/2014/main" id="{39D1DDBA-0404-4977-D9ED-D340D8311C30}"/>
              </a:ext>
            </a:extLst>
          </p:cNvPr>
          <p:cNvSpPr>
            <a:spLocks noChangeShapeType="1"/>
          </p:cNvSpPr>
          <p:nvPr/>
        </p:nvSpPr>
        <p:spPr bwMode="auto">
          <a:xfrm>
            <a:off x="3203241" y="1565175"/>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 name="Text Box 39">
            <a:extLst>
              <a:ext uri="{FF2B5EF4-FFF2-40B4-BE49-F238E27FC236}">
                <a16:creationId xmlns:a16="http://schemas.microsoft.com/office/drawing/2014/main" id="{D9F2B347-50E6-273A-C402-45B94769DFBF}"/>
              </a:ext>
            </a:extLst>
          </p:cNvPr>
          <p:cNvSpPr txBox="1">
            <a:spLocks noChangeArrowheads="1"/>
          </p:cNvSpPr>
          <p:nvPr/>
        </p:nvSpPr>
        <p:spPr bwMode="auto">
          <a:xfrm>
            <a:off x="5128878" y="393600"/>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7" name="Text Box 43">
            <a:extLst>
              <a:ext uri="{FF2B5EF4-FFF2-40B4-BE49-F238E27FC236}">
                <a16:creationId xmlns:a16="http://schemas.microsoft.com/office/drawing/2014/main" id="{CCE03112-F5BC-A5BF-1F17-F16932260B07}"/>
              </a:ext>
            </a:extLst>
          </p:cNvPr>
          <p:cNvSpPr txBox="1">
            <a:spLocks noChangeArrowheads="1"/>
          </p:cNvSpPr>
          <p:nvPr/>
        </p:nvSpPr>
        <p:spPr bwMode="auto">
          <a:xfrm>
            <a:off x="2807953" y="423763"/>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8" name="Rectangle 44">
            <a:extLst>
              <a:ext uri="{FF2B5EF4-FFF2-40B4-BE49-F238E27FC236}">
                <a16:creationId xmlns:a16="http://schemas.microsoft.com/office/drawing/2014/main" id="{CCD3C269-1190-3929-7E5A-D228A39B50AE}"/>
              </a:ext>
            </a:extLst>
          </p:cNvPr>
          <p:cNvSpPr>
            <a:spLocks noChangeArrowheads="1"/>
          </p:cNvSpPr>
          <p:nvPr/>
        </p:nvSpPr>
        <p:spPr bwMode="auto">
          <a:xfrm>
            <a:off x="3906503" y="1646138"/>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 name="Text Box 45">
            <a:extLst>
              <a:ext uri="{FF2B5EF4-FFF2-40B4-BE49-F238E27FC236}">
                <a16:creationId xmlns:a16="http://schemas.microsoft.com/office/drawing/2014/main" id="{03096D0D-AA0A-9C9C-2DA9-62E7A0AE8EB3}"/>
              </a:ext>
            </a:extLst>
          </p:cNvPr>
          <p:cNvSpPr txBox="1">
            <a:spLocks noChangeArrowheads="1"/>
          </p:cNvSpPr>
          <p:nvPr/>
        </p:nvSpPr>
        <p:spPr bwMode="auto">
          <a:xfrm>
            <a:off x="3347703" y="1698525"/>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10" name="Line 49">
            <a:extLst>
              <a:ext uri="{FF2B5EF4-FFF2-40B4-BE49-F238E27FC236}">
                <a16:creationId xmlns:a16="http://schemas.microsoft.com/office/drawing/2014/main" id="{CA35015B-A65A-14F1-17C9-67DCE890A0C2}"/>
              </a:ext>
            </a:extLst>
          </p:cNvPr>
          <p:cNvSpPr>
            <a:spLocks noChangeShapeType="1"/>
          </p:cNvSpPr>
          <p:nvPr/>
        </p:nvSpPr>
        <p:spPr bwMode="auto">
          <a:xfrm>
            <a:off x="3182603" y="1323875"/>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 name="Line 50">
            <a:extLst>
              <a:ext uri="{FF2B5EF4-FFF2-40B4-BE49-F238E27FC236}">
                <a16:creationId xmlns:a16="http://schemas.microsoft.com/office/drawing/2014/main" id="{3C7D6869-ECE3-2C83-C171-DF50ACC4DF67}"/>
              </a:ext>
            </a:extLst>
          </p:cNvPr>
          <p:cNvSpPr>
            <a:spLocks noChangeShapeType="1"/>
          </p:cNvSpPr>
          <p:nvPr/>
        </p:nvSpPr>
        <p:spPr bwMode="auto">
          <a:xfrm>
            <a:off x="5587666" y="1319113"/>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14BA66D0-6DE9-8F39-BA60-F77D96F44A60}"/>
              </a:ext>
            </a:extLst>
          </p:cNvPr>
          <p:cNvGrpSpPr/>
          <p:nvPr/>
        </p:nvGrpSpPr>
        <p:grpSpPr>
          <a:xfrm>
            <a:off x="3173078" y="3647975"/>
            <a:ext cx="2652713" cy="879475"/>
            <a:chOff x="2035037" y="4444549"/>
            <a:chExt cx="2652713" cy="879475"/>
          </a:xfrm>
        </p:grpSpPr>
        <p:sp>
          <p:nvSpPr>
            <p:cNvPr id="13" name="Line 35">
              <a:extLst>
                <a:ext uri="{FF2B5EF4-FFF2-40B4-BE49-F238E27FC236}">
                  <a16:creationId xmlns:a16="http://schemas.microsoft.com/office/drawing/2014/main" id="{744B8E2E-D7CF-4AAE-BF4E-35DECC00D205}"/>
                </a:ext>
              </a:extLst>
            </p:cNvPr>
            <p:cNvSpPr>
              <a:spLocks noChangeShapeType="1"/>
            </p:cNvSpPr>
            <p:nvPr/>
          </p:nvSpPr>
          <p:spPr bwMode="auto">
            <a:xfrm>
              <a:off x="2063613" y="4444549"/>
              <a:ext cx="2376480" cy="695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 name="Rectangle 51">
              <a:extLst>
                <a:ext uri="{FF2B5EF4-FFF2-40B4-BE49-F238E27FC236}">
                  <a16:creationId xmlns:a16="http://schemas.microsoft.com/office/drawing/2014/main" id="{F8684B9D-8FD0-F7F3-73C2-75B2EBF1E795}"/>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 name="Text Box 52">
              <a:extLst>
                <a:ext uri="{FF2B5EF4-FFF2-40B4-BE49-F238E27FC236}">
                  <a16:creationId xmlns:a16="http://schemas.microsoft.com/office/drawing/2014/main" id="{76DF548D-0DD6-3797-BC79-3E04800A1180}"/>
                </a:ext>
              </a:extLst>
            </p:cNvPr>
            <p:cNvSpPr txBox="1">
              <a:spLocks noChangeArrowheads="1"/>
            </p:cNvSpPr>
            <p:nvPr/>
          </p:nvSpPr>
          <p:spPr bwMode="auto">
            <a:xfrm>
              <a:off x="2035037" y="4604887"/>
              <a:ext cx="2652713"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Seq=120,  15 bytes of data</a:t>
              </a:r>
            </a:p>
          </p:txBody>
        </p:sp>
        <p:sp>
          <p:nvSpPr>
            <p:cNvPr id="16" name="Rectangle 55">
              <a:extLst>
                <a:ext uri="{FF2B5EF4-FFF2-40B4-BE49-F238E27FC236}">
                  <a16:creationId xmlns:a16="http://schemas.microsoft.com/office/drawing/2014/main" id="{6B4BAE64-6756-4733-C6AA-1AC5581D37AE}"/>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7" name="Group 63">
            <a:extLst>
              <a:ext uri="{FF2B5EF4-FFF2-40B4-BE49-F238E27FC236}">
                <a16:creationId xmlns:a16="http://schemas.microsoft.com/office/drawing/2014/main" id="{E75871C6-3F0C-444B-EB4A-92BC9E9D79F6}"/>
              </a:ext>
            </a:extLst>
          </p:cNvPr>
          <p:cNvGrpSpPr>
            <a:grpSpLocks/>
          </p:cNvGrpSpPr>
          <p:nvPr/>
        </p:nvGrpSpPr>
        <p:grpSpPr bwMode="auto">
          <a:xfrm>
            <a:off x="3188953" y="1950938"/>
            <a:ext cx="2346325" cy="571500"/>
            <a:chOff x="3759" y="1622"/>
            <a:chExt cx="1478" cy="360"/>
          </a:xfrm>
        </p:grpSpPr>
        <p:sp>
          <p:nvSpPr>
            <p:cNvPr id="18" name="Line 64">
              <a:extLst>
                <a:ext uri="{FF2B5EF4-FFF2-40B4-BE49-F238E27FC236}">
                  <a16:creationId xmlns:a16="http://schemas.microsoft.com/office/drawing/2014/main" id="{6251D018-87A7-CF32-ADC7-41683BF72A06}"/>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 name="Rectangle 65">
              <a:extLst>
                <a:ext uri="{FF2B5EF4-FFF2-40B4-BE49-F238E27FC236}">
                  <a16:creationId xmlns:a16="http://schemas.microsoft.com/office/drawing/2014/main" id="{0E11CA19-B725-F93B-52BA-BB091BB12AE2}"/>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 name="Text Box 66">
              <a:extLst>
                <a:ext uri="{FF2B5EF4-FFF2-40B4-BE49-F238E27FC236}">
                  <a16:creationId xmlns:a16="http://schemas.microsoft.com/office/drawing/2014/main" id="{FD8B00DD-C4DC-BC43-A46A-DE1A6C5AA035}"/>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21" name="Group 20">
            <a:extLst>
              <a:ext uri="{FF2B5EF4-FFF2-40B4-BE49-F238E27FC236}">
                <a16:creationId xmlns:a16="http://schemas.microsoft.com/office/drawing/2014/main" id="{C7F2E720-BFA0-1A24-23DA-9EC5C69A5B33}"/>
              </a:ext>
            </a:extLst>
          </p:cNvPr>
          <p:cNvGrpSpPr/>
          <p:nvPr/>
        </p:nvGrpSpPr>
        <p:grpSpPr>
          <a:xfrm>
            <a:off x="3193716" y="2227163"/>
            <a:ext cx="2324100" cy="1381125"/>
            <a:chOff x="2030275" y="3011037"/>
            <a:chExt cx="2324100" cy="1381125"/>
          </a:xfrm>
        </p:grpSpPr>
        <p:sp>
          <p:nvSpPr>
            <p:cNvPr id="22" name="Text Box 22">
              <a:extLst>
                <a:ext uri="{FF2B5EF4-FFF2-40B4-BE49-F238E27FC236}">
                  <a16:creationId xmlns:a16="http://schemas.microsoft.com/office/drawing/2014/main" id="{10906C60-5342-5A19-9D85-1C00AC6E96B6}"/>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23" name="Line 37">
              <a:extLst>
                <a:ext uri="{FF2B5EF4-FFF2-40B4-BE49-F238E27FC236}">
                  <a16:creationId xmlns:a16="http://schemas.microsoft.com/office/drawing/2014/main" id="{AF3EA460-D00A-347B-92E1-11B5B49B622F}"/>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4" name="Group 46">
              <a:extLst>
                <a:ext uri="{FF2B5EF4-FFF2-40B4-BE49-F238E27FC236}">
                  <a16:creationId xmlns:a16="http://schemas.microsoft.com/office/drawing/2014/main" id="{09156118-4686-0CF2-4CA7-6543145733D6}"/>
                </a:ext>
              </a:extLst>
            </p:cNvPr>
            <p:cNvGrpSpPr>
              <a:grpSpLocks/>
            </p:cNvGrpSpPr>
            <p:nvPr/>
          </p:nvGrpSpPr>
          <p:grpSpPr bwMode="auto">
            <a:xfrm>
              <a:off x="2939912" y="3211062"/>
              <a:ext cx="949325" cy="304800"/>
              <a:chOff x="4215" y="2253"/>
              <a:chExt cx="598" cy="192"/>
            </a:xfrm>
          </p:grpSpPr>
          <p:sp>
            <p:nvSpPr>
              <p:cNvPr id="29" name="Rectangle 47">
                <a:extLst>
                  <a:ext uri="{FF2B5EF4-FFF2-40B4-BE49-F238E27FC236}">
                    <a16:creationId xmlns:a16="http://schemas.microsoft.com/office/drawing/2014/main" id="{940EF239-7D46-4414-2EA8-46EAF056A5A4}"/>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 name="Text Box 48">
                <a:extLst>
                  <a:ext uri="{FF2B5EF4-FFF2-40B4-BE49-F238E27FC236}">
                    <a16:creationId xmlns:a16="http://schemas.microsoft.com/office/drawing/2014/main" id="{AB035E02-E13E-8ED7-1846-701C7E48E5F4}"/>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5" name="Line 67">
              <a:extLst>
                <a:ext uri="{FF2B5EF4-FFF2-40B4-BE49-F238E27FC236}">
                  <a16:creationId xmlns:a16="http://schemas.microsoft.com/office/drawing/2014/main" id="{A047FD47-DF01-5814-EF03-79AD52D1216D}"/>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 name="Group 68">
              <a:extLst>
                <a:ext uri="{FF2B5EF4-FFF2-40B4-BE49-F238E27FC236}">
                  <a16:creationId xmlns:a16="http://schemas.microsoft.com/office/drawing/2014/main" id="{84CC2A43-79FD-F8CA-63F1-BCA8B52DCB05}"/>
                </a:ext>
              </a:extLst>
            </p:cNvPr>
            <p:cNvGrpSpPr>
              <a:grpSpLocks/>
            </p:cNvGrpSpPr>
            <p:nvPr/>
          </p:nvGrpSpPr>
          <p:grpSpPr bwMode="auto">
            <a:xfrm>
              <a:off x="2673212" y="3768274"/>
              <a:ext cx="949325" cy="304800"/>
              <a:chOff x="4215" y="2253"/>
              <a:chExt cx="598" cy="192"/>
            </a:xfrm>
          </p:grpSpPr>
          <p:sp>
            <p:nvSpPr>
              <p:cNvPr id="27" name="Rectangle 69">
                <a:extLst>
                  <a:ext uri="{FF2B5EF4-FFF2-40B4-BE49-F238E27FC236}">
                    <a16:creationId xmlns:a16="http://schemas.microsoft.com/office/drawing/2014/main" id="{54C59546-BEB3-110B-9DD9-59017DDA0D45}"/>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 name="Text Box 70">
                <a:extLst>
                  <a:ext uri="{FF2B5EF4-FFF2-40B4-BE49-F238E27FC236}">
                    <a16:creationId xmlns:a16="http://schemas.microsoft.com/office/drawing/2014/main" id="{9B9D0FA9-1797-6819-ABF6-7FA774860E92}"/>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31" name="Group 84">
            <a:extLst>
              <a:ext uri="{FF2B5EF4-FFF2-40B4-BE49-F238E27FC236}">
                <a16:creationId xmlns:a16="http://schemas.microsoft.com/office/drawing/2014/main" id="{D55562A5-1B5E-11AB-F3C2-570CA1BD4CED}"/>
              </a:ext>
            </a:extLst>
          </p:cNvPr>
          <p:cNvGrpSpPr>
            <a:grpSpLocks/>
          </p:cNvGrpSpPr>
          <p:nvPr/>
        </p:nvGrpSpPr>
        <p:grpSpPr bwMode="auto">
          <a:xfrm>
            <a:off x="2761916" y="685700"/>
            <a:ext cx="630237" cy="533400"/>
            <a:chOff x="-44" y="1473"/>
            <a:chExt cx="981" cy="1105"/>
          </a:xfrm>
        </p:grpSpPr>
        <p:pic>
          <p:nvPicPr>
            <p:cNvPr id="32" name="Picture 85" descr="desktop_computer_stylized_medium">
              <a:extLst>
                <a:ext uri="{FF2B5EF4-FFF2-40B4-BE49-F238E27FC236}">
                  <a16:creationId xmlns:a16="http://schemas.microsoft.com/office/drawing/2014/main" id="{481644F8-3949-3F7D-CC52-695D91819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86">
              <a:extLst>
                <a:ext uri="{FF2B5EF4-FFF2-40B4-BE49-F238E27FC236}">
                  <a16:creationId xmlns:a16="http://schemas.microsoft.com/office/drawing/2014/main" id="{83073112-6EAF-137A-C9F5-1E1EF595FF2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4" name="Group 87">
            <a:extLst>
              <a:ext uri="{FF2B5EF4-FFF2-40B4-BE49-F238E27FC236}">
                <a16:creationId xmlns:a16="http://schemas.microsoft.com/office/drawing/2014/main" id="{9F8350DC-7D0F-74F9-7359-AC63A27D3B4C}"/>
              </a:ext>
            </a:extLst>
          </p:cNvPr>
          <p:cNvGrpSpPr>
            <a:grpSpLocks/>
          </p:cNvGrpSpPr>
          <p:nvPr/>
        </p:nvGrpSpPr>
        <p:grpSpPr bwMode="auto">
          <a:xfrm flipH="1">
            <a:off x="5340016" y="680938"/>
            <a:ext cx="674687" cy="590550"/>
            <a:chOff x="-44" y="1473"/>
            <a:chExt cx="981" cy="1105"/>
          </a:xfrm>
        </p:grpSpPr>
        <p:pic>
          <p:nvPicPr>
            <p:cNvPr id="35" name="Picture 88" descr="desktop_computer_stylized_medium">
              <a:extLst>
                <a:ext uri="{FF2B5EF4-FFF2-40B4-BE49-F238E27FC236}">
                  <a16:creationId xmlns:a16="http://schemas.microsoft.com/office/drawing/2014/main" id="{AC146102-669D-B24C-11F1-C5048E249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89">
              <a:extLst>
                <a:ext uri="{FF2B5EF4-FFF2-40B4-BE49-F238E27FC236}">
                  <a16:creationId xmlns:a16="http://schemas.microsoft.com/office/drawing/2014/main" id="{9892D69C-56D4-2101-01AA-FCB9C51675A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7" name="TextBox 36">
            <a:extLst>
              <a:ext uri="{FF2B5EF4-FFF2-40B4-BE49-F238E27FC236}">
                <a16:creationId xmlns:a16="http://schemas.microsoft.com/office/drawing/2014/main" id="{66F58AF7-B99D-8929-7334-B17BEC37D3F8}"/>
              </a:ext>
            </a:extLst>
          </p:cNvPr>
          <p:cNvSpPr txBox="1"/>
          <p:nvPr/>
        </p:nvSpPr>
        <p:spPr>
          <a:xfrm>
            <a:off x="5607399" y="1438857"/>
            <a:ext cx="2100573" cy="954107"/>
          </a:xfrm>
          <a:prstGeom prst="rect">
            <a:avLst/>
          </a:prstGeom>
          <a:noFill/>
        </p:spPr>
        <p:txBody>
          <a:bodyPr wrap="square" rtlCol="0">
            <a:spAutoFit/>
          </a:bodyPr>
          <a:lstStyle/>
          <a:p>
            <a:r>
              <a:rPr lang="en-GB" altLang="zh-CN" dirty="0"/>
              <a:t>1. Host B receives bytes 92-99 (8 bytes), and expects next byte = 100, but the ACK is lost</a:t>
            </a:r>
            <a:endParaRPr lang="en-SE" dirty="0"/>
          </a:p>
        </p:txBody>
      </p:sp>
      <p:sp>
        <p:nvSpPr>
          <p:cNvPr id="38" name="TextBox 37">
            <a:extLst>
              <a:ext uri="{FF2B5EF4-FFF2-40B4-BE49-F238E27FC236}">
                <a16:creationId xmlns:a16="http://schemas.microsoft.com/office/drawing/2014/main" id="{F6F1EBD5-1FEC-5C80-20B4-85BAA371E959}"/>
              </a:ext>
            </a:extLst>
          </p:cNvPr>
          <p:cNvSpPr txBox="1"/>
          <p:nvPr/>
        </p:nvSpPr>
        <p:spPr>
          <a:xfrm>
            <a:off x="5607399" y="2366067"/>
            <a:ext cx="2100573" cy="1169551"/>
          </a:xfrm>
          <a:prstGeom prst="rect">
            <a:avLst/>
          </a:prstGeom>
          <a:noFill/>
        </p:spPr>
        <p:txBody>
          <a:bodyPr wrap="square" rtlCol="0">
            <a:spAutoFit/>
          </a:bodyPr>
          <a:lstStyle/>
          <a:p>
            <a:r>
              <a:rPr lang="en-GB" dirty="0"/>
              <a:t>2. HostB receives </a:t>
            </a:r>
            <a:r>
              <a:rPr lang="en-GB" dirty="0" err="1"/>
              <a:t>Seq</a:t>
            </a:r>
            <a:r>
              <a:rPr lang="en-GB" dirty="0"/>
              <a:t># 100-119 (20 bytes), and expects the next received </a:t>
            </a:r>
            <a:r>
              <a:rPr lang="en-GB" dirty="0" err="1"/>
              <a:t>Seq</a:t>
            </a:r>
            <a:r>
              <a:rPr lang="en-GB" dirty="0"/>
              <a:t># to be 120</a:t>
            </a:r>
            <a:endParaRPr lang="en-SE" dirty="0"/>
          </a:p>
        </p:txBody>
      </p:sp>
      <p:sp>
        <p:nvSpPr>
          <p:cNvPr id="39" name="TextBox 38">
            <a:extLst>
              <a:ext uri="{FF2B5EF4-FFF2-40B4-BE49-F238E27FC236}">
                <a16:creationId xmlns:a16="http://schemas.microsoft.com/office/drawing/2014/main" id="{BCC8EA42-0028-4253-5891-162FC53970F3}"/>
              </a:ext>
            </a:extLst>
          </p:cNvPr>
          <p:cNvSpPr txBox="1"/>
          <p:nvPr/>
        </p:nvSpPr>
        <p:spPr>
          <a:xfrm>
            <a:off x="381821" y="3008094"/>
            <a:ext cx="2807132" cy="1600438"/>
          </a:xfrm>
          <a:prstGeom prst="rect">
            <a:avLst/>
          </a:prstGeom>
          <a:noFill/>
        </p:spPr>
        <p:txBody>
          <a:bodyPr wrap="square" rtlCol="0">
            <a:spAutoFit/>
          </a:bodyPr>
          <a:lstStyle/>
          <a:p>
            <a:r>
              <a:rPr lang="en-GB" dirty="0">
                <a:solidFill>
                  <a:schemeClr val="tx1"/>
                </a:solidFill>
              </a:rPr>
              <a:t>3. Host A receives ACK for byte 120. </a:t>
            </a:r>
            <a:r>
              <a:rPr lang="en-GB" dirty="0">
                <a:solidFill>
                  <a:srgbClr val="C00000"/>
                </a:solidFill>
              </a:rPr>
              <a:t>This cumulative ACK covers for the earlier lost ACK of byte 100</a:t>
            </a:r>
            <a:r>
              <a:rPr lang="en-GB" dirty="0">
                <a:solidFill>
                  <a:schemeClr val="tx1"/>
                </a:solidFill>
              </a:rPr>
              <a:t>, so Host A knows that Host </a:t>
            </a:r>
            <a:r>
              <a:rPr lang="en-US" altLang="zh-CN" dirty="0">
                <a:solidFill>
                  <a:schemeClr val="tx1"/>
                </a:solidFill>
              </a:rPr>
              <a:t>B has received all bytes up to 119, so it can send the next bytes 120-134 (15 bytes)</a:t>
            </a:r>
            <a:endParaRPr lang="en-GB" dirty="0">
              <a:solidFill>
                <a:schemeClr val="tx1"/>
              </a:solidFill>
            </a:endParaRPr>
          </a:p>
        </p:txBody>
      </p:sp>
      <p:sp>
        <p:nvSpPr>
          <p:cNvPr id="40" name="Rectangle 4">
            <a:extLst>
              <a:ext uri="{FF2B5EF4-FFF2-40B4-BE49-F238E27FC236}">
                <a16:creationId xmlns:a16="http://schemas.microsoft.com/office/drawing/2014/main" id="{25205C16-1039-44DA-74D1-C18705A47AF0}"/>
              </a:ext>
            </a:extLst>
          </p:cNvPr>
          <p:cNvSpPr txBox="1">
            <a:spLocks noChangeArrowheads="1"/>
          </p:cNvSpPr>
          <p:nvPr/>
        </p:nvSpPr>
        <p:spPr>
          <a:xfrm>
            <a:off x="5656238" y="3512134"/>
            <a:ext cx="3286815" cy="147680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7475" indent="0">
              <a:spcBef>
                <a:spcPts val="800"/>
              </a:spcBef>
              <a:buNone/>
            </a:pPr>
            <a:r>
              <a:rPr lang="en-US" sz="1100" dirty="0"/>
              <a:t>Q: what happens if the segment with </a:t>
            </a:r>
            <a:r>
              <a:rPr lang="en-GB" sz="1100" dirty="0" err="1"/>
              <a:t>Seq</a:t>
            </a:r>
            <a:r>
              <a:rPr lang="en-GB" sz="1100" dirty="0"/>
              <a:t>=92, 8 bytes of data from Host A to Host B gets lost?</a:t>
            </a:r>
          </a:p>
          <a:p>
            <a:pPr marL="117475" indent="0">
              <a:spcBef>
                <a:spcPts val="800"/>
              </a:spcBef>
              <a:buNone/>
            </a:pPr>
            <a:r>
              <a:rPr lang="en-US" sz="1100" dirty="0"/>
              <a:t>A: Host B will NOT send ACK=120, since a </a:t>
            </a:r>
            <a:r>
              <a:rPr lang="en-GB" sz="1100" dirty="0"/>
              <a:t>cumulative ACK=120 implies that all previous segments with </a:t>
            </a:r>
            <a:r>
              <a:rPr lang="en-GB" sz="1100" dirty="0" err="1"/>
              <a:t>Seq</a:t>
            </a:r>
            <a:r>
              <a:rPr lang="en-GB" sz="1100" dirty="0"/>
              <a:t> &lt; 120 have been received. Host B will send ACK=92, assuming all </a:t>
            </a:r>
            <a:r>
              <a:rPr lang="en-GB" sz="1100" dirty="0" err="1"/>
              <a:t>all</a:t>
            </a:r>
            <a:r>
              <a:rPr lang="en-GB" sz="1100" dirty="0"/>
              <a:t> previous segments with </a:t>
            </a:r>
            <a:r>
              <a:rPr lang="en-GB" sz="1100" dirty="0" err="1"/>
              <a:t>Seq</a:t>
            </a:r>
            <a:r>
              <a:rPr lang="en-GB" sz="1100" dirty="0"/>
              <a:t> &lt; 92 have been received. </a:t>
            </a:r>
            <a:endParaRPr lang="en-US" altLang="en-US" sz="1050" dirty="0"/>
          </a:p>
        </p:txBody>
      </p:sp>
      <p:sp>
        <p:nvSpPr>
          <p:cNvPr id="43" name="Slide Number Placeholder 1">
            <a:extLst>
              <a:ext uri="{FF2B5EF4-FFF2-40B4-BE49-F238E27FC236}">
                <a16:creationId xmlns:a16="http://schemas.microsoft.com/office/drawing/2014/main" id="{796A71C7-E51A-355E-9242-9E617B7BC2F0}"/>
              </a:ext>
            </a:extLst>
          </p:cNvPr>
          <p:cNvSpPr txBox="1">
            <a:spLocks/>
          </p:cNvSpPr>
          <p:nvPr/>
        </p:nvSpPr>
        <p:spPr>
          <a:xfrm>
            <a:off x="8624858" y="48156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1pPr>
            <a:lvl2pPr marR="0" lvl="1"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2pPr>
            <a:lvl3pPr marR="0" lvl="2"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3pPr>
            <a:lvl4pPr marR="0" lvl="3"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4pPr>
            <a:lvl5pPr marR="0" lvl="4"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5pPr>
            <a:lvl6pPr marR="0" lvl="5"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6pPr>
            <a:lvl7pPr marR="0" lvl="6"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7pPr>
            <a:lvl8pPr marR="0" lvl="7"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8pPr>
            <a:lvl9pPr marR="0" lvl="8" algn="r" rtl="0">
              <a:lnSpc>
                <a:spcPct val="100000"/>
              </a:lnSpc>
              <a:spcBef>
                <a:spcPts val="0"/>
              </a:spcBef>
              <a:spcAft>
                <a:spcPts val="0"/>
              </a:spcAft>
              <a:buClr>
                <a:srgbClr val="000000"/>
              </a:buClr>
              <a:buFont typeface="Arial"/>
              <a:buNone/>
              <a:defRPr sz="1000" b="0" i="0" u="none" strike="noStrike" cap="none">
                <a:solidFill>
                  <a:schemeClr val="dk1"/>
                </a:solidFill>
                <a:latin typeface="Roboto"/>
                <a:ea typeface="Roboto"/>
                <a:cs typeface="Roboto"/>
                <a:sym typeface="Roboto"/>
              </a:defRPr>
            </a:lvl9pPr>
          </a:lstStyle>
          <a:p>
            <a:fld id="{00000000-1234-1234-1234-123412341234}" type="slidenum">
              <a:rPr lang="en" smtClean="0"/>
              <a:pPr/>
              <a:t>15</a:t>
            </a:fld>
            <a:endParaRPr lang="en"/>
          </a:p>
        </p:txBody>
      </p:sp>
    </p:spTree>
    <p:extLst>
      <p:ext uri="{BB962C8B-B14F-4D97-AF65-F5344CB8AC3E}">
        <p14:creationId xmlns:p14="http://schemas.microsoft.com/office/powerpoint/2010/main" val="107309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right)">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P spid="37" grpId="0"/>
      <p:bldP spid="38" grpId="0"/>
      <p:bldP spid="39" grpId="0"/>
      <p:bldP spid="4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a:extLst>
              <a:ext uri="{FF2B5EF4-FFF2-40B4-BE49-F238E27FC236}">
                <a16:creationId xmlns:a16="http://schemas.microsoft.com/office/drawing/2014/main" id="{9D726FFD-DBF8-1FF7-9C8B-5674E1C55038}"/>
              </a:ext>
            </a:extLst>
          </p:cNvPr>
          <p:cNvSpPr>
            <a:spLocks noGrp="1"/>
          </p:cNvSpPr>
          <p:nvPr>
            <p:ph idx="1"/>
          </p:nvPr>
        </p:nvSpPr>
        <p:spPr>
          <a:xfrm>
            <a:off x="0" y="336713"/>
            <a:ext cx="4162425" cy="4806787"/>
          </a:xfrm>
        </p:spPr>
        <p:txBody>
          <a:bodyPr>
            <a:normAutofit fontScale="92500" lnSpcReduction="10000"/>
          </a:bodyPr>
          <a:lstStyle/>
          <a:p>
            <a:r>
              <a:rPr lang="en-GB" sz="1000" dirty="0"/>
              <a:t>Consider the figure, where a TCP sender sends 8 TCP segments at t = 1, 2, 3, 4, 5, 6, 7, 8. Suppose the initial value of the sequence number is 0 and every segment sent to the receiver each contains 100 </a:t>
            </a:r>
            <a:r>
              <a:rPr lang="en-US" altLang="zh-CN" sz="1000" dirty="0"/>
              <a:t>byte</a:t>
            </a:r>
            <a:r>
              <a:rPr lang="en-GB" sz="1000" dirty="0"/>
              <a:t>s. The delay between the sender and receiver is 5 time units, and so the first segment arrives at the receiver at t = 6. The ACKs sent by the receiver at t = 6, 7, 8, 10, 11, 12 are shown. The TCP segments (if any) sent by the sender at t = 11, 13, 15, 16, 17, 18 are not shown. The segment sent at t=4 is lost, as is the ACK segment sent at t=7.</a:t>
            </a:r>
          </a:p>
          <a:p>
            <a:r>
              <a:rPr lang="en-GB" sz="1000" dirty="0"/>
              <a:t>Q: What is the sequence number of the segment sent at t=2?</a:t>
            </a:r>
          </a:p>
          <a:p>
            <a:r>
              <a:rPr lang="en-GB" sz="1000" dirty="0"/>
              <a:t>ANS: 0+100=100. </a:t>
            </a:r>
          </a:p>
          <a:p>
            <a:r>
              <a:rPr lang="en-US" sz="1000" dirty="0"/>
              <a:t>Q: What is the ACK value carried in the receiver-to-sender ACK sent at t = 6?</a:t>
            </a:r>
          </a:p>
          <a:p>
            <a:r>
              <a:rPr lang="en-US" sz="1000" dirty="0"/>
              <a:t>ANS: 0+100=100. By sending this ACK, the receiver is telling the sender: </a:t>
            </a:r>
            <a:r>
              <a:rPr lang="en-US" sz="1000" dirty="0">
                <a:solidFill>
                  <a:srgbClr val="C00000"/>
                </a:solidFill>
              </a:rPr>
              <a:t>"I've received everything up to byte 99, and I'm now expecting byte 100</a:t>
            </a:r>
            <a:r>
              <a:rPr lang="en-US" sz="1000" dirty="0"/>
              <a:t>.“</a:t>
            </a:r>
          </a:p>
          <a:p>
            <a:r>
              <a:rPr lang="en-GB" altLang="zh-CN" sz="1000" dirty="0"/>
              <a:t>Q: What is the ACK value carried in the receiver-to-sender ACK sent at t = 8?</a:t>
            </a:r>
          </a:p>
          <a:p>
            <a:r>
              <a:rPr lang="en-GB" altLang="zh-CN" sz="1000" dirty="0"/>
              <a:t>ANS: 300. By sending this ACK, the receiver is telling the sender: "I have received everything up to byte 299. Please send me the next byte, which should be 300.“</a:t>
            </a:r>
          </a:p>
          <a:p>
            <a:r>
              <a:rPr lang="en-GB" altLang="zh-CN" sz="1000" dirty="0"/>
              <a:t>Q: What is the ACK value carried in the receiver-to-sender ACK sent at t = 10?</a:t>
            </a:r>
          </a:p>
          <a:p>
            <a:r>
              <a:rPr lang="en-GB" altLang="zh-CN" sz="1000" dirty="0"/>
              <a:t>A: 300. By sending this ACK, the receiver is telling the sender: "I have received everything up to byte 299. Please send me the next byte, which should be 300.“ (</a:t>
            </a:r>
            <a:r>
              <a:rPr lang="en-US" altLang="zh-CN" sz="1000" dirty="0"/>
              <a:t>Even though the receiver has received segments sent after the lost one, it cannot acknowledge them yet due to cumulative ack mechanism</a:t>
            </a:r>
            <a:r>
              <a:rPr lang="en-GB" altLang="zh-CN" sz="1000" dirty="0"/>
              <a:t>)</a:t>
            </a:r>
          </a:p>
        </p:txBody>
      </p:sp>
      <p:sp>
        <p:nvSpPr>
          <p:cNvPr id="2" name="Slide Number Placeholder 3">
            <a:extLst>
              <a:ext uri="{FF2B5EF4-FFF2-40B4-BE49-F238E27FC236}">
                <a16:creationId xmlns:a16="http://schemas.microsoft.com/office/drawing/2014/main" id="{6AE96C0D-20B8-6E60-4D48-32EB4576EFF7}"/>
              </a:ext>
            </a:extLst>
          </p:cNvPr>
          <p:cNvSpPr>
            <a:spLocks noGrp="1"/>
          </p:cNvSpPr>
          <p:nvPr>
            <p:ph type="sldNum" sz="quarter" idx="4"/>
          </p:nvPr>
        </p:nvSpPr>
        <p:spPr>
          <a:xfrm>
            <a:off x="6158402" y="5481064"/>
            <a:ext cx="2743200" cy="365125"/>
          </a:xfrm>
        </p:spPr>
        <p:txBody>
          <a:bodyPr/>
          <a:lstStyle/>
          <a:p>
            <a:r>
              <a:rPr lang="en-US"/>
              <a:t>Network Layer: 4-</a:t>
            </a:r>
            <a:fld id="{C4204591-24BD-A542-B9D5-F8D8A88D2FEE}" type="slidenum">
              <a:rPr lang="en-US" smtClean="0"/>
              <a:pPr/>
              <a:t>16</a:t>
            </a:fld>
            <a:endParaRPr lang="en-US" dirty="0"/>
          </a:p>
        </p:txBody>
      </p:sp>
      <p:pic>
        <p:nvPicPr>
          <p:cNvPr id="5" name="Picture 2">
            <a:extLst>
              <a:ext uri="{FF2B5EF4-FFF2-40B4-BE49-F238E27FC236}">
                <a16:creationId xmlns:a16="http://schemas.microsoft.com/office/drawing/2014/main" id="{9FED6EBA-1531-82A8-0E6A-BDE9EA373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185" y="-14212"/>
            <a:ext cx="5056097" cy="5094017"/>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5">
            <a:extLst>
              <a:ext uri="{FF2B5EF4-FFF2-40B4-BE49-F238E27FC236}">
                <a16:creationId xmlns:a16="http://schemas.microsoft.com/office/drawing/2014/main" id="{EB96D243-889D-C4A2-8464-5F002284F698}"/>
              </a:ext>
            </a:extLst>
          </p:cNvPr>
          <p:cNvSpPr txBox="1">
            <a:spLocks noChangeArrowheads="1"/>
          </p:cNvSpPr>
          <p:nvPr/>
        </p:nvSpPr>
        <p:spPr bwMode="auto">
          <a:xfrm>
            <a:off x="8292347" y="1451729"/>
            <a:ext cx="851414"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Ack 100</a:t>
            </a:r>
            <a:endParaRPr kumimoji="0" lang="en-US" sz="1100" b="0" i="0" u="none" strike="noStrike" kern="0" cap="none" spc="0" normalizeH="0" baseline="0" noProof="0" dirty="0">
              <a:ln>
                <a:noFill/>
              </a:ln>
              <a:solidFill>
                <a:srgbClr val="FF0000"/>
              </a:solidFill>
              <a:effectLst/>
              <a:uLnTx/>
              <a:uFillTx/>
            </a:endParaRPr>
          </a:p>
        </p:txBody>
      </p:sp>
      <p:sp>
        <p:nvSpPr>
          <p:cNvPr id="9" name="Text Box 45">
            <a:extLst>
              <a:ext uri="{FF2B5EF4-FFF2-40B4-BE49-F238E27FC236}">
                <a16:creationId xmlns:a16="http://schemas.microsoft.com/office/drawing/2014/main" id="{E7E99ADF-6A15-EF10-6443-89085539E406}"/>
              </a:ext>
            </a:extLst>
          </p:cNvPr>
          <p:cNvSpPr txBox="1">
            <a:spLocks noChangeArrowheads="1"/>
          </p:cNvSpPr>
          <p:nvPr/>
        </p:nvSpPr>
        <p:spPr bwMode="auto">
          <a:xfrm>
            <a:off x="5084478" y="63695"/>
            <a:ext cx="674458"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0</a:t>
            </a:r>
            <a:endParaRPr kumimoji="0" lang="en-US" sz="1100" b="0" i="0" u="none" strike="noStrike" kern="0" cap="none" spc="0" normalizeH="0" baseline="0" noProof="0" dirty="0">
              <a:ln>
                <a:noFill/>
              </a:ln>
              <a:solidFill>
                <a:srgbClr val="FF0000"/>
              </a:solidFill>
              <a:effectLst/>
              <a:uLnTx/>
              <a:uFillTx/>
            </a:endParaRPr>
          </a:p>
        </p:txBody>
      </p:sp>
      <p:sp>
        <p:nvSpPr>
          <p:cNvPr id="10" name="Text Box 45">
            <a:extLst>
              <a:ext uri="{FF2B5EF4-FFF2-40B4-BE49-F238E27FC236}">
                <a16:creationId xmlns:a16="http://schemas.microsoft.com/office/drawing/2014/main" id="{FE8A4CC6-3636-564C-2D2B-A1D376205DEE}"/>
              </a:ext>
            </a:extLst>
          </p:cNvPr>
          <p:cNvSpPr txBox="1">
            <a:spLocks noChangeArrowheads="1"/>
          </p:cNvSpPr>
          <p:nvPr/>
        </p:nvSpPr>
        <p:spPr bwMode="auto">
          <a:xfrm>
            <a:off x="5084478" y="336713"/>
            <a:ext cx="674458"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100</a:t>
            </a:r>
            <a:endParaRPr kumimoji="0" lang="en-US" sz="1100" b="0" i="0" u="none" strike="noStrike" kern="0" cap="none" spc="0" normalizeH="0" baseline="0" noProof="0" dirty="0">
              <a:ln>
                <a:noFill/>
              </a:ln>
              <a:solidFill>
                <a:srgbClr val="FF0000"/>
              </a:solidFill>
              <a:effectLst/>
              <a:uLnTx/>
              <a:uFillTx/>
            </a:endParaRPr>
          </a:p>
        </p:txBody>
      </p:sp>
      <p:sp>
        <p:nvSpPr>
          <p:cNvPr id="11" name="Text Box 45">
            <a:extLst>
              <a:ext uri="{FF2B5EF4-FFF2-40B4-BE49-F238E27FC236}">
                <a16:creationId xmlns:a16="http://schemas.microsoft.com/office/drawing/2014/main" id="{ED8CD4CF-83F6-86F5-9E41-7B9588AE8FDF}"/>
              </a:ext>
            </a:extLst>
          </p:cNvPr>
          <p:cNvSpPr txBox="1">
            <a:spLocks noChangeArrowheads="1"/>
          </p:cNvSpPr>
          <p:nvPr/>
        </p:nvSpPr>
        <p:spPr bwMode="auto">
          <a:xfrm>
            <a:off x="5084478" y="625458"/>
            <a:ext cx="674458"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200</a:t>
            </a:r>
            <a:endParaRPr kumimoji="0" lang="en-US" sz="1100" b="0" i="0" u="none" strike="noStrike" kern="0" cap="none" spc="0" normalizeH="0" baseline="0" noProof="0" dirty="0">
              <a:ln>
                <a:noFill/>
              </a:ln>
              <a:solidFill>
                <a:srgbClr val="FF0000"/>
              </a:solidFill>
              <a:effectLst/>
              <a:uLnTx/>
              <a:uFillTx/>
            </a:endParaRPr>
          </a:p>
        </p:txBody>
      </p:sp>
      <p:sp>
        <p:nvSpPr>
          <p:cNvPr id="12" name="Text Box 45">
            <a:extLst>
              <a:ext uri="{FF2B5EF4-FFF2-40B4-BE49-F238E27FC236}">
                <a16:creationId xmlns:a16="http://schemas.microsoft.com/office/drawing/2014/main" id="{58B49DF6-CDCC-C8AF-14A2-2815774BD2BB}"/>
              </a:ext>
            </a:extLst>
          </p:cNvPr>
          <p:cNvSpPr txBox="1">
            <a:spLocks noChangeArrowheads="1"/>
          </p:cNvSpPr>
          <p:nvPr/>
        </p:nvSpPr>
        <p:spPr bwMode="auto">
          <a:xfrm>
            <a:off x="5084478" y="886730"/>
            <a:ext cx="674458"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300</a:t>
            </a:r>
            <a:endParaRPr kumimoji="0" lang="en-US" sz="1100" b="0" i="0" u="none" strike="noStrike" kern="0" cap="none" spc="0" normalizeH="0" baseline="0" noProof="0" dirty="0">
              <a:ln>
                <a:noFill/>
              </a:ln>
              <a:solidFill>
                <a:srgbClr val="FF0000"/>
              </a:solidFill>
              <a:effectLst/>
              <a:uLnTx/>
              <a:uFillTx/>
            </a:endParaRPr>
          </a:p>
        </p:txBody>
      </p:sp>
      <p:sp>
        <p:nvSpPr>
          <p:cNvPr id="13" name="Text Box 45">
            <a:extLst>
              <a:ext uri="{FF2B5EF4-FFF2-40B4-BE49-F238E27FC236}">
                <a16:creationId xmlns:a16="http://schemas.microsoft.com/office/drawing/2014/main" id="{D2CBE2FC-63DA-EBE0-2B7A-6A0761087298}"/>
              </a:ext>
            </a:extLst>
          </p:cNvPr>
          <p:cNvSpPr txBox="1">
            <a:spLocks noChangeArrowheads="1"/>
          </p:cNvSpPr>
          <p:nvPr/>
        </p:nvSpPr>
        <p:spPr bwMode="auto">
          <a:xfrm>
            <a:off x="5084478" y="1148002"/>
            <a:ext cx="674458"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400</a:t>
            </a:r>
            <a:endParaRPr kumimoji="0" lang="en-US" sz="1100" b="0" i="0" u="none" strike="noStrike" kern="0" cap="none" spc="0" normalizeH="0" baseline="0" noProof="0" dirty="0">
              <a:ln>
                <a:noFill/>
              </a:ln>
              <a:solidFill>
                <a:srgbClr val="FF0000"/>
              </a:solidFill>
              <a:effectLst/>
              <a:uLnTx/>
              <a:uFillTx/>
            </a:endParaRPr>
          </a:p>
        </p:txBody>
      </p:sp>
      <p:sp>
        <p:nvSpPr>
          <p:cNvPr id="14" name="Text Box 45">
            <a:extLst>
              <a:ext uri="{FF2B5EF4-FFF2-40B4-BE49-F238E27FC236}">
                <a16:creationId xmlns:a16="http://schemas.microsoft.com/office/drawing/2014/main" id="{88E2346F-77F0-F3C2-2701-DCC39EE7AAC5}"/>
              </a:ext>
            </a:extLst>
          </p:cNvPr>
          <p:cNvSpPr txBox="1">
            <a:spLocks noChangeArrowheads="1"/>
          </p:cNvSpPr>
          <p:nvPr/>
        </p:nvSpPr>
        <p:spPr bwMode="auto">
          <a:xfrm>
            <a:off x="5084478" y="1409274"/>
            <a:ext cx="674458"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500</a:t>
            </a:r>
            <a:endParaRPr kumimoji="0" lang="en-US" sz="1100" b="0" i="0" u="none" strike="noStrike" kern="0" cap="none" spc="0" normalizeH="0" baseline="0" noProof="0" dirty="0">
              <a:ln>
                <a:noFill/>
              </a:ln>
              <a:solidFill>
                <a:srgbClr val="FF0000"/>
              </a:solidFill>
              <a:effectLst/>
              <a:uLnTx/>
              <a:uFillTx/>
            </a:endParaRPr>
          </a:p>
        </p:txBody>
      </p:sp>
      <p:sp>
        <p:nvSpPr>
          <p:cNvPr id="15" name="Text Box 45">
            <a:extLst>
              <a:ext uri="{FF2B5EF4-FFF2-40B4-BE49-F238E27FC236}">
                <a16:creationId xmlns:a16="http://schemas.microsoft.com/office/drawing/2014/main" id="{E51C69E8-BC2D-7456-627D-904EE6DC4AC2}"/>
              </a:ext>
            </a:extLst>
          </p:cNvPr>
          <p:cNvSpPr txBox="1">
            <a:spLocks noChangeArrowheads="1"/>
          </p:cNvSpPr>
          <p:nvPr/>
        </p:nvSpPr>
        <p:spPr bwMode="auto">
          <a:xfrm>
            <a:off x="8292347" y="1734682"/>
            <a:ext cx="851414"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Ack 200</a:t>
            </a:r>
            <a:endParaRPr kumimoji="0" lang="en-US" sz="1100" b="0" i="0" u="none" strike="noStrike" kern="0" cap="none" spc="0" normalizeH="0" baseline="0" noProof="0" dirty="0">
              <a:ln>
                <a:noFill/>
              </a:ln>
              <a:solidFill>
                <a:srgbClr val="FF0000"/>
              </a:solidFill>
              <a:effectLst/>
              <a:uLnTx/>
              <a:uFillTx/>
            </a:endParaRPr>
          </a:p>
        </p:txBody>
      </p:sp>
      <p:sp>
        <p:nvSpPr>
          <p:cNvPr id="16" name="Text Box 45">
            <a:extLst>
              <a:ext uri="{FF2B5EF4-FFF2-40B4-BE49-F238E27FC236}">
                <a16:creationId xmlns:a16="http://schemas.microsoft.com/office/drawing/2014/main" id="{B1871A60-3305-A057-7669-1D868805C170}"/>
              </a:ext>
            </a:extLst>
          </p:cNvPr>
          <p:cNvSpPr txBox="1">
            <a:spLocks noChangeArrowheads="1"/>
          </p:cNvSpPr>
          <p:nvPr/>
        </p:nvSpPr>
        <p:spPr bwMode="auto">
          <a:xfrm>
            <a:off x="8292347" y="2026223"/>
            <a:ext cx="851414"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Ack 300</a:t>
            </a:r>
            <a:endParaRPr kumimoji="0" lang="en-US" sz="1100" b="0" i="0" u="none" strike="noStrike" kern="0" cap="none" spc="0" normalizeH="0" baseline="0" noProof="0" dirty="0">
              <a:ln>
                <a:noFill/>
              </a:ln>
              <a:solidFill>
                <a:srgbClr val="FF0000"/>
              </a:solidFill>
              <a:effectLst/>
              <a:uLnTx/>
              <a:uFillTx/>
            </a:endParaRPr>
          </a:p>
        </p:txBody>
      </p:sp>
      <p:sp>
        <p:nvSpPr>
          <p:cNvPr id="17" name="Text Box 45">
            <a:extLst>
              <a:ext uri="{FF2B5EF4-FFF2-40B4-BE49-F238E27FC236}">
                <a16:creationId xmlns:a16="http://schemas.microsoft.com/office/drawing/2014/main" id="{67512E70-2D6A-585B-9186-310FB0287FD8}"/>
              </a:ext>
            </a:extLst>
          </p:cNvPr>
          <p:cNvSpPr txBox="1">
            <a:spLocks noChangeArrowheads="1"/>
          </p:cNvSpPr>
          <p:nvPr/>
        </p:nvSpPr>
        <p:spPr bwMode="auto">
          <a:xfrm>
            <a:off x="8436975" y="2493054"/>
            <a:ext cx="851414"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Ack 300</a:t>
            </a:r>
            <a:endParaRPr kumimoji="0" lang="en-US" sz="1100" b="0" i="0" u="none" strike="noStrike" kern="0" cap="none" spc="0" normalizeH="0" baseline="0" noProof="0" dirty="0">
              <a:ln>
                <a:noFill/>
              </a:ln>
              <a:solidFill>
                <a:srgbClr val="FF0000"/>
              </a:solidFill>
              <a:effectLst/>
              <a:uLnTx/>
              <a:uFillTx/>
            </a:endParaRPr>
          </a:p>
        </p:txBody>
      </p:sp>
      <p:sp>
        <p:nvSpPr>
          <p:cNvPr id="18" name="Text Box 45">
            <a:extLst>
              <a:ext uri="{FF2B5EF4-FFF2-40B4-BE49-F238E27FC236}">
                <a16:creationId xmlns:a16="http://schemas.microsoft.com/office/drawing/2014/main" id="{DB992BEF-8830-9D04-2586-B403657522E2}"/>
              </a:ext>
            </a:extLst>
          </p:cNvPr>
          <p:cNvSpPr txBox="1">
            <a:spLocks noChangeArrowheads="1"/>
          </p:cNvSpPr>
          <p:nvPr/>
        </p:nvSpPr>
        <p:spPr bwMode="auto">
          <a:xfrm>
            <a:off x="8436975" y="2802111"/>
            <a:ext cx="851414"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Ack 300</a:t>
            </a:r>
            <a:endParaRPr kumimoji="0" lang="en-US" sz="1100" b="0" i="0" u="none" strike="noStrike" kern="0" cap="none" spc="0" normalizeH="0" baseline="0" noProof="0" dirty="0">
              <a:ln>
                <a:noFill/>
              </a:ln>
              <a:solidFill>
                <a:srgbClr val="FF0000"/>
              </a:solidFill>
              <a:effectLst/>
              <a:uLnTx/>
              <a:uFillTx/>
            </a:endParaRPr>
          </a:p>
        </p:txBody>
      </p:sp>
      <p:sp>
        <p:nvSpPr>
          <p:cNvPr id="19" name="Text Box 45">
            <a:extLst>
              <a:ext uri="{FF2B5EF4-FFF2-40B4-BE49-F238E27FC236}">
                <a16:creationId xmlns:a16="http://schemas.microsoft.com/office/drawing/2014/main" id="{56B64333-F802-BC71-8CE5-F641864F5A40}"/>
              </a:ext>
            </a:extLst>
          </p:cNvPr>
          <p:cNvSpPr txBox="1">
            <a:spLocks noChangeArrowheads="1"/>
          </p:cNvSpPr>
          <p:nvPr/>
        </p:nvSpPr>
        <p:spPr bwMode="auto">
          <a:xfrm>
            <a:off x="8436975" y="3062595"/>
            <a:ext cx="851414"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Ack 300</a:t>
            </a:r>
            <a:endParaRPr kumimoji="0" lang="en-US" sz="1100" b="0" i="0" u="none" strike="noStrike" kern="0" cap="none" spc="0" normalizeH="0" baseline="0" noProof="0" dirty="0">
              <a:ln>
                <a:noFill/>
              </a:ln>
              <a:solidFill>
                <a:srgbClr val="FF0000"/>
              </a:solidFill>
              <a:effectLst/>
              <a:uLnTx/>
              <a:uFillTx/>
            </a:endParaRPr>
          </a:p>
        </p:txBody>
      </p:sp>
      <p:sp>
        <p:nvSpPr>
          <p:cNvPr id="20" name="Text Box 45">
            <a:extLst>
              <a:ext uri="{FF2B5EF4-FFF2-40B4-BE49-F238E27FC236}">
                <a16:creationId xmlns:a16="http://schemas.microsoft.com/office/drawing/2014/main" id="{F692AC03-10A3-406C-1B31-D86A9C91B387}"/>
              </a:ext>
            </a:extLst>
          </p:cNvPr>
          <p:cNvSpPr txBox="1">
            <a:spLocks noChangeArrowheads="1"/>
          </p:cNvSpPr>
          <p:nvPr/>
        </p:nvSpPr>
        <p:spPr bwMode="auto">
          <a:xfrm>
            <a:off x="8436975" y="3294281"/>
            <a:ext cx="851414" cy="261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kern="0" dirty="0">
                <a:solidFill>
                  <a:srgbClr val="FF0000"/>
                </a:solidFill>
              </a:rPr>
              <a:t>Ack 300</a:t>
            </a:r>
            <a:endParaRPr kumimoji="0" lang="en-US" sz="1100" b="0" i="0" u="none" strike="noStrike" kern="0" cap="none" spc="0" normalizeH="0" baseline="0" noProof="0" dirty="0">
              <a:ln>
                <a:noFill/>
              </a:ln>
              <a:solidFill>
                <a:srgbClr val="FF0000"/>
              </a:solidFill>
              <a:effectLst/>
              <a:uLnTx/>
              <a:uFillTx/>
            </a:endParaRPr>
          </a:p>
        </p:txBody>
      </p:sp>
      <p:sp>
        <p:nvSpPr>
          <p:cNvPr id="23" name="Title 1">
            <a:extLst>
              <a:ext uri="{FF2B5EF4-FFF2-40B4-BE49-F238E27FC236}">
                <a16:creationId xmlns:a16="http://schemas.microsoft.com/office/drawing/2014/main" id="{6CA55C88-0677-3C8D-E2B3-7B097DBCEE04}"/>
              </a:ext>
            </a:extLst>
          </p:cNvPr>
          <p:cNvSpPr>
            <a:spLocks noGrp="1"/>
          </p:cNvSpPr>
          <p:nvPr>
            <p:ph type="title"/>
          </p:nvPr>
        </p:nvSpPr>
        <p:spPr>
          <a:xfrm>
            <a:off x="0" y="0"/>
            <a:ext cx="4419600" cy="393600"/>
          </a:xfrm>
        </p:spPr>
        <p:txBody>
          <a:bodyPr>
            <a:noAutofit/>
          </a:bodyPr>
          <a:lstStyle/>
          <a:p>
            <a:r>
              <a:rPr lang="en-US" altLang="zh-CN" sz="2000" dirty="0"/>
              <a:t>TCP Sequence and ACK Numbers</a:t>
            </a:r>
            <a:endParaRPr lang="zh-CN" altLang="en-US" sz="2000" dirty="0"/>
          </a:p>
        </p:txBody>
      </p:sp>
      <p:sp>
        <p:nvSpPr>
          <p:cNvPr id="28" name="Slide Number Placeholder 1">
            <a:extLst>
              <a:ext uri="{FF2B5EF4-FFF2-40B4-BE49-F238E27FC236}">
                <a16:creationId xmlns:a16="http://schemas.microsoft.com/office/drawing/2014/main" id="{0179B099-7FE9-E1C1-9063-1D7B12F4CB23}"/>
              </a:ext>
            </a:extLst>
          </p:cNvPr>
          <p:cNvSpPr txBox="1">
            <a:spLocks/>
          </p:cNvSpPr>
          <p:nvPr/>
        </p:nvSpPr>
        <p:spPr>
          <a:xfrm>
            <a:off x="8595300" y="4873448"/>
            <a:ext cx="548700" cy="393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50" smtClean="0"/>
              <a:pPr algn="r"/>
              <a:t>16</a:t>
            </a:fld>
            <a:endParaRPr lang="en" sz="1050" dirty="0"/>
          </a:p>
        </p:txBody>
      </p:sp>
    </p:spTree>
    <p:extLst>
      <p:ext uri="{BB962C8B-B14F-4D97-AF65-F5344CB8AC3E}">
        <p14:creationId xmlns:p14="http://schemas.microsoft.com/office/powerpoint/2010/main" val="79967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33302-2C9A-3BD7-C31E-E0B4ABEF0071}"/>
              </a:ext>
            </a:extLst>
          </p:cNvPr>
          <p:cNvSpPr>
            <a:spLocks noGrp="1"/>
          </p:cNvSpPr>
          <p:nvPr>
            <p:ph type="title"/>
          </p:nvPr>
        </p:nvSpPr>
        <p:spPr/>
        <p:txBody>
          <a:bodyPr/>
          <a:lstStyle/>
          <a:p>
            <a:r>
              <a:rPr lang="en-US" altLang="zh-CN" dirty="0"/>
              <a:t>TCP sequence and ACK numbers Explanations</a:t>
            </a:r>
            <a:endParaRPr lang="zh-CN" altLang="en-US" dirty="0"/>
          </a:p>
        </p:txBody>
      </p:sp>
      <p:sp>
        <p:nvSpPr>
          <p:cNvPr id="3" name="Text Placeholder 2">
            <a:extLst>
              <a:ext uri="{FF2B5EF4-FFF2-40B4-BE49-F238E27FC236}">
                <a16:creationId xmlns:a16="http://schemas.microsoft.com/office/drawing/2014/main" id="{694E2CB0-BD9A-4908-5444-7E1FB52B5797}"/>
              </a:ext>
            </a:extLst>
          </p:cNvPr>
          <p:cNvSpPr>
            <a:spLocks noGrp="1"/>
          </p:cNvSpPr>
          <p:nvPr>
            <p:ph type="body" idx="1"/>
          </p:nvPr>
        </p:nvSpPr>
        <p:spPr/>
        <p:txBody>
          <a:bodyPr>
            <a:normAutofit fontScale="70000" lnSpcReduction="20000"/>
          </a:bodyPr>
          <a:lstStyle/>
          <a:p>
            <a:r>
              <a:rPr lang="en-US" altLang="zh-CN" dirty="0"/>
              <a:t>TCP uses sequence numbers to keep track of the bytes sent in a data stream. Each byte of data is assigned a unique sequence number.</a:t>
            </a:r>
          </a:p>
          <a:p>
            <a:r>
              <a:rPr lang="en-US" altLang="zh-CN" dirty="0"/>
              <a:t>Given Information: Initial sequence number: 0 - Each segment contains 100 bytes.</a:t>
            </a:r>
            <a:r>
              <a:rPr lang="zh-CN" altLang="en-US" dirty="0"/>
              <a:t> </a:t>
            </a:r>
            <a:r>
              <a:rPr lang="en-US" altLang="zh-CN" dirty="0"/>
              <a:t>Segments are sent at t = 1, 2, 3, 4, 5, 6, 7, 8.</a:t>
            </a:r>
          </a:p>
          <a:p>
            <a:r>
              <a:rPr lang="en-US" altLang="zh-CN" dirty="0"/>
              <a:t>To find the sequence number of the segment sent at t=2, consider the following:</a:t>
            </a:r>
          </a:p>
          <a:p>
            <a:pPr lvl="1"/>
            <a:r>
              <a:rPr lang="en-US" altLang="zh-CN" dirty="0"/>
              <a:t>1. The initial sequence number is 0 for the first segment (t=1).</a:t>
            </a:r>
          </a:p>
          <a:p>
            <a:pPr lvl="1"/>
            <a:r>
              <a:rPr lang="en-US" altLang="zh-CN" dirty="0"/>
              <a:t>2. Each segment contains 100 bytes.</a:t>
            </a:r>
          </a:p>
          <a:p>
            <a:pPr lvl="1"/>
            <a:r>
              <a:rPr lang="en-US" altLang="zh-CN" dirty="0"/>
              <a:t>3. The sequence number for each subsequent segment increases by the number of bytes in the previous segment.</a:t>
            </a:r>
          </a:p>
          <a:p>
            <a:r>
              <a:rPr lang="en-US" altLang="zh-CN" dirty="0"/>
              <a:t>1. The first segment (t=1) starts with sequence number 0.  2. Each segment contains 100 bytes of data.  3. The second segment (t=2) will have a sequence number that is the sum of the initial sequence number (0) and the number of bytes in the first segment (100).</a:t>
            </a:r>
          </a:p>
          <a:p>
            <a:pPr lvl="1"/>
            <a:r>
              <a:rPr lang="en-US" altLang="zh-CN" dirty="0"/>
              <a:t>Segment at t=1: Sequence number = 0</a:t>
            </a:r>
          </a:p>
          <a:p>
            <a:pPr lvl="1"/>
            <a:r>
              <a:rPr lang="en-US" altLang="zh-CN" dirty="0"/>
              <a:t>Segment at t=2: Sequence number = 0 + 100 = 100</a:t>
            </a:r>
          </a:p>
          <a:p>
            <a:pPr lvl="1"/>
            <a:r>
              <a:rPr lang="en-US" altLang="zh-CN" dirty="0"/>
              <a:t>Segment at t=3: Sequence number = 100 + 100 = 200</a:t>
            </a:r>
          </a:p>
          <a:p>
            <a:pPr lvl="1"/>
            <a:r>
              <a:rPr lang="en-US" altLang="zh-CN" dirty="0"/>
              <a:t>Segment at t=4: Sequence number = 200 + 100 = 300</a:t>
            </a:r>
          </a:p>
          <a:p>
            <a:r>
              <a:rPr lang="en-US" altLang="zh-CN" dirty="0"/>
              <a:t>The lost segment at t=4 and the lost ACK at t=7 do not affect the sequence numbers of the segments being sent. They would, however, impact the retransmission and acknowledgment process in a real TCP connection.</a:t>
            </a:r>
          </a:p>
          <a:p>
            <a:endParaRPr lang="zh-CN" altLang="en-US" dirty="0"/>
          </a:p>
        </p:txBody>
      </p:sp>
      <p:sp>
        <p:nvSpPr>
          <p:cNvPr id="4" name="Slide Number Placeholder 3">
            <a:extLst>
              <a:ext uri="{FF2B5EF4-FFF2-40B4-BE49-F238E27FC236}">
                <a16:creationId xmlns:a16="http://schemas.microsoft.com/office/drawing/2014/main" id="{15E2DB18-B064-7B64-62EF-4EFC24DF68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3538207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8775F-3F73-4C42-17BF-317EB1022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3F197-9BDA-BA17-9B70-FC8936275C05}"/>
              </a:ext>
            </a:extLst>
          </p:cNvPr>
          <p:cNvSpPr>
            <a:spLocks noGrp="1"/>
          </p:cNvSpPr>
          <p:nvPr>
            <p:ph type="title"/>
          </p:nvPr>
        </p:nvSpPr>
        <p:spPr/>
        <p:txBody>
          <a:bodyPr/>
          <a:lstStyle/>
          <a:p>
            <a:r>
              <a:rPr lang="en-US" altLang="zh-CN" dirty="0"/>
              <a:t>TCP sequence and ACK numbers Explanations</a:t>
            </a:r>
            <a:endParaRPr lang="zh-CN" altLang="en-US" dirty="0"/>
          </a:p>
        </p:txBody>
      </p:sp>
      <p:sp>
        <p:nvSpPr>
          <p:cNvPr id="3" name="Text Placeholder 2">
            <a:extLst>
              <a:ext uri="{FF2B5EF4-FFF2-40B4-BE49-F238E27FC236}">
                <a16:creationId xmlns:a16="http://schemas.microsoft.com/office/drawing/2014/main" id="{6F8BA9E5-E701-DC0E-5FF9-450A8F3768B1}"/>
              </a:ext>
            </a:extLst>
          </p:cNvPr>
          <p:cNvSpPr>
            <a:spLocks noGrp="1"/>
          </p:cNvSpPr>
          <p:nvPr>
            <p:ph type="body" idx="1"/>
          </p:nvPr>
        </p:nvSpPr>
        <p:spPr/>
        <p:txBody>
          <a:bodyPr>
            <a:normAutofit fontScale="85000" lnSpcReduction="20000"/>
          </a:bodyPr>
          <a:lstStyle/>
          <a:p>
            <a:r>
              <a:rPr lang="en-US" altLang="zh-CN" dirty="0"/>
              <a:t>Given: The initial sequence number is 0. 8 TCP segments are sent at t = 1, 2, 3, 4, 5, 6, 7, 8. Each segment contains 100 bytes. The delay between sender and receiver is 5 time units. The segment sent at t=4 is lost. We need to determine the ACK value sent by the receiver at t = 6.</a:t>
            </a:r>
          </a:p>
          <a:p>
            <a:pPr lvl="1"/>
            <a:r>
              <a:rPr lang="en-US" altLang="zh-CN" dirty="0"/>
              <a:t>Segments Received: At t = 6, only the first segment (sent at t = 1) has arrived at the receiver due to the 5-unit delay.</a:t>
            </a:r>
          </a:p>
          <a:p>
            <a:pPr lvl="1"/>
            <a:r>
              <a:rPr lang="en-US" altLang="zh-CN" dirty="0"/>
              <a:t>bytes Received: The first segment contains 100 bytes.</a:t>
            </a:r>
          </a:p>
          <a:p>
            <a:pPr lvl="1"/>
            <a:r>
              <a:rPr lang="en-US" altLang="zh-CN" dirty="0"/>
              <a:t>ACK Mechanism: TCP uses cumulative ACKs, which means it acknowledges all bytes up to the last contiguously received byte.</a:t>
            </a:r>
          </a:p>
          <a:p>
            <a:pPr lvl="1"/>
            <a:r>
              <a:rPr lang="en-US" altLang="zh-CN" dirty="0"/>
              <a:t>ACK Value Calculation: Initial sequence number: 0; bytes successfully received: 0-99 (100 bytes); Next expected byte: 0 + 100 = 100</a:t>
            </a:r>
          </a:p>
          <a:p>
            <a:r>
              <a:rPr lang="en-US" altLang="zh-CN" dirty="0"/>
              <a:t>Therefore, the ACK value carried in the receiver-to-sender ACK sent at t = 6 is 100, which indicates that the receiver has successfully received all bytes up to, but not including, byte 100. It's essentially saying, "I've received everything up to byte 99, and I'm now expecting byte 100."</a:t>
            </a:r>
          </a:p>
          <a:p>
            <a:r>
              <a:rPr lang="en-US" altLang="zh-CN" dirty="0"/>
              <a:t>Even though more segments were sent by the sender, due to the network delay, only the first segment has reached the receiver at t = 6. The lost segment at t = 4 doesn't affect this initial ACK because it hasn't even reached the receiver yet.</a:t>
            </a:r>
          </a:p>
          <a:p>
            <a:endParaRPr lang="zh-CN" altLang="en-US" dirty="0"/>
          </a:p>
        </p:txBody>
      </p:sp>
      <p:sp>
        <p:nvSpPr>
          <p:cNvPr id="4" name="Slide Number Placeholder 3">
            <a:extLst>
              <a:ext uri="{FF2B5EF4-FFF2-40B4-BE49-F238E27FC236}">
                <a16:creationId xmlns:a16="http://schemas.microsoft.com/office/drawing/2014/main" id="{E8A475AF-C296-4B80-6C85-0EEA0547DC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1835430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35"/>
          <p:cNvSpPr txBox="1">
            <a:spLocks noGrp="1"/>
          </p:cNvSpPr>
          <p:nvPr>
            <p:ph type="body" idx="1"/>
          </p:nvPr>
        </p:nvSpPr>
        <p:spPr>
          <a:xfrm>
            <a:off x="4812375" y="402200"/>
            <a:ext cx="415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Implementing TCP</a:t>
            </a:r>
            <a:endParaRPr dirty="0">
              <a:solidFill>
                <a:srgbClr val="B7B7B7"/>
              </a:solidFill>
            </a:endParaRPr>
          </a:p>
          <a:p>
            <a:pPr marL="457200" lvl="0" indent="-342900" algn="l" rtl="0">
              <a:spcBef>
                <a:spcPts val="600"/>
              </a:spcBef>
              <a:spcAft>
                <a:spcPts val="0"/>
              </a:spcAft>
              <a:buClr>
                <a:srgbClr val="B7B7B7"/>
              </a:buClr>
              <a:buSzPts val="1800"/>
              <a:buChar char="•"/>
            </a:pPr>
            <a:r>
              <a:rPr lang="nl-NL" dirty="0">
                <a:solidFill>
                  <a:srgbClr val="B7B7B7"/>
                </a:solidFill>
              </a:rPr>
              <a:t>byte</a:t>
            </a:r>
            <a:r>
              <a:rPr lang="en" dirty="0">
                <a:solidFill>
                  <a:srgbClr val="B7B7B7"/>
                </a:solidFill>
              </a:rPr>
              <a:t> Notation</a:t>
            </a:r>
            <a:br>
              <a:rPr lang="en" dirty="0">
                <a:solidFill>
                  <a:srgbClr val="B7B7B7"/>
                </a:solidFill>
              </a:rPr>
            </a:br>
            <a:r>
              <a:rPr lang="en" dirty="0">
                <a:solidFill>
                  <a:srgbClr val="B7B7B7"/>
                </a:solidFill>
              </a:rPr>
              <a:t>(Segments, Sequence Numbers)</a:t>
            </a:r>
            <a:endParaRPr dirty="0">
              <a:solidFill>
                <a:srgbClr val="B7B7B7"/>
              </a:solidFill>
            </a:endParaRPr>
          </a:p>
          <a:p>
            <a:pPr marL="457200" lvl="0" indent="-342900" algn="l" rtl="0">
              <a:spcBef>
                <a:spcPts val="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Maintaining State (Full Duplex, Connection Setup and Teardown)</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Sliding Window</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Header</a:t>
            </a:r>
            <a:endParaRPr dirty="0">
              <a:solidFill>
                <a:srgbClr val="B7B7B7"/>
              </a:solidFill>
            </a:endParaRPr>
          </a:p>
        </p:txBody>
      </p:sp>
      <p:sp>
        <p:nvSpPr>
          <p:cNvPr id="786" name="Google Shape;786;p3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Maintaining State (Full Duplex)</a:t>
            </a:r>
            <a:endParaRPr dirty="0"/>
          </a:p>
        </p:txBody>
      </p:sp>
      <p:sp>
        <p:nvSpPr>
          <p:cNvPr id="787" name="Google Shape;787;p3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11, Spring 2026</a:t>
            </a:r>
            <a:endParaRPr dirty="0"/>
          </a:p>
        </p:txBody>
      </p:sp>
      <p:sp>
        <p:nvSpPr>
          <p:cNvPr id="2" name="Slide Number Placeholder 1">
            <a:extLst>
              <a:ext uri="{FF2B5EF4-FFF2-40B4-BE49-F238E27FC236}">
                <a16:creationId xmlns:a16="http://schemas.microsoft.com/office/drawing/2014/main" id="{1D5BAAFE-2778-CC9A-DB0E-E2CD07D74B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3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State</a:t>
            </a:r>
            <a:endParaRPr/>
          </a:p>
        </p:txBody>
      </p:sp>
      <p:sp>
        <p:nvSpPr>
          <p:cNvPr id="793" name="Google Shape;793;p36"/>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Reliability requires maintaining </a:t>
            </a:r>
            <a:r>
              <a:rPr lang="en" i="1"/>
              <a:t>state</a:t>
            </a:r>
            <a:r>
              <a:rPr lang="en"/>
              <a:t> at the end hosts.</a:t>
            </a:r>
            <a:endParaRPr/>
          </a:p>
          <a:p>
            <a:pPr marL="457200" lvl="0" indent="-342900" algn="l" rtl="0">
              <a:spcBef>
                <a:spcPts val="600"/>
              </a:spcBef>
              <a:spcAft>
                <a:spcPts val="0"/>
              </a:spcAft>
              <a:buSzPts val="1800"/>
              <a:buChar char="●"/>
            </a:pPr>
            <a:r>
              <a:rPr lang="en"/>
              <a:t>Sender has to remember:</a:t>
            </a:r>
            <a:endParaRPr/>
          </a:p>
          <a:p>
            <a:pPr marL="914400" lvl="1" indent="-342900" algn="l" rtl="0">
              <a:spcBef>
                <a:spcPts val="0"/>
              </a:spcBef>
              <a:spcAft>
                <a:spcPts val="0"/>
              </a:spcAft>
              <a:buSzPts val="1800"/>
              <a:buChar char="○"/>
            </a:pPr>
            <a:r>
              <a:rPr lang="en"/>
              <a:t>Which packets have been sent and not acked?</a:t>
            </a:r>
            <a:endParaRPr/>
          </a:p>
          <a:p>
            <a:pPr marL="914400" lvl="1" indent="-342900" algn="l" rtl="0">
              <a:spcBef>
                <a:spcPts val="0"/>
              </a:spcBef>
              <a:spcAft>
                <a:spcPts val="0"/>
              </a:spcAft>
              <a:buSzPts val="1800"/>
              <a:buChar char="○"/>
            </a:pPr>
            <a:r>
              <a:rPr lang="en"/>
              <a:t>How much longer on the timer before I resend a packet?</a:t>
            </a:r>
            <a:endParaRPr/>
          </a:p>
          <a:p>
            <a:pPr marL="457200" lvl="0" indent="-342900" algn="l" rtl="0">
              <a:spcBef>
                <a:spcPts val="0"/>
              </a:spcBef>
              <a:spcAft>
                <a:spcPts val="0"/>
              </a:spcAft>
              <a:buSzPts val="1800"/>
              <a:buChar char="●"/>
            </a:pPr>
            <a:r>
              <a:rPr lang="en"/>
              <a:t>Receiver has to buffer the out-of-order packets.</a:t>
            </a:r>
            <a:endParaRPr/>
          </a:p>
          <a:p>
            <a:pPr marL="457200" lvl="0" indent="-342900" algn="l" rtl="0">
              <a:spcBef>
                <a:spcPts val="0"/>
              </a:spcBef>
              <a:spcAft>
                <a:spcPts val="0"/>
              </a:spcAft>
              <a:buSzPts val="1800"/>
              <a:buChar char="●"/>
            </a:pPr>
            <a:r>
              <a:rPr lang="en"/>
              <a:t>State is maintained at the end hosts, not in the network.</a:t>
            </a:r>
            <a:endParaRPr/>
          </a:p>
          <a:p>
            <a:pPr marL="0" lvl="0" indent="0" algn="l" rtl="0">
              <a:spcBef>
                <a:spcPts val="600"/>
              </a:spcBef>
              <a:spcAft>
                <a:spcPts val="0"/>
              </a:spcAft>
              <a:buNone/>
            </a:pPr>
            <a:r>
              <a:rPr lang="en"/>
              <a:t>In each separate connection, both end hosts need to maintain state.</a:t>
            </a:r>
            <a:endParaRPr/>
          </a:p>
        </p:txBody>
      </p:sp>
      <p:sp>
        <p:nvSpPr>
          <p:cNvPr id="2" name="Slide Number Placeholder 1">
            <a:extLst>
              <a:ext uri="{FF2B5EF4-FFF2-40B4-BE49-F238E27FC236}">
                <a16:creationId xmlns:a16="http://schemas.microsoft.com/office/drawing/2014/main" id="{CBD3B3A3-A5BD-8761-E76B-8B6E007D08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3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TCP is Full-Duplex</a:t>
            </a:r>
            <a:endParaRPr dirty="0"/>
          </a:p>
        </p:txBody>
      </p:sp>
      <p:sp>
        <p:nvSpPr>
          <p:cNvPr id="799" name="Google Shape;799;p37"/>
          <p:cNvSpPr txBox="1">
            <a:spLocks noGrp="1"/>
          </p:cNvSpPr>
          <p:nvPr>
            <p:ph type="body" idx="1"/>
          </p:nvPr>
        </p:nvSpPr>
        <p:spPr>
          <a:xfrm>
            <a:off x="107050" y="402200"/>
            <a:ext cx="8909700" cy="3439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TCP connections are </a:t>
            </a:r>
            <a:r>
              <a:rPr lang="en" b="1" dirty="0"/>
              <a:t>full-duplex</a:t>
            </a:r>
            <a:r>
              <a:rPr lang="en" dirty="0"/>
              <a:t>.</a:t>
            </a:r>
            <a:endParaRPr dirty="0"/>
          </a:p>
          <a:p>
            <a:pPr marL="457200" lvl="0" indent="-342900" algn="l" rtl="0">
              <a:spcBef>
                <a:spcPts val="600"/>
              </a:spcBef>
              <a:spcAft>
                <a:spcPts val="0"/>
              </a:spcAft>
              <a:buSzPts val="1800"/>
              <a:buChar char="●"/>
            </a:pPr>
            <a:r>
              <a:rPr lang="en" dirty="0"/>
              <a:t>Both hosts can send and receive data simultaneously in the same connection.</a:t>
            </a:r>
            <a:endParaRPr dirty="0"/>
          </a:p>
          <a:p>
            <a:pPr marL="457200" lvl="0" indent="-342900" algn="l" rtl="0">
              <a:spcBef>
                <a:spcPts val="600"/>
              </a:spcBef>
              <a:spcAft>
                <a:spcPts val="0"/>
              </a:spcAft>
              <a:buSzPts val="1800"/>
              <a:buChar char="●"/>
            </a:pPr>
            <a:r>
              <a:rPr lang="nl-NL" dirty="0"/>
              <a:t>Two independent sequence-number spaces</a:t>
            </a:r>
            <a:r>
              <a:rPr lang="en" dirty="0"/>
              <a:t>: One for A→B bytes, and one for B→A bytes.</a:t>
            </a:r>
            <a:endParaRPr dirty="0"/>
          </a:p>
          <a:p>
            <a:pPr marL="457200" lvl="0" indent="-342900" algn="l" rtl="0">
              <a:spcBef>
                <a:spcPts val="0"/>
              </a:spcBef>
              <a:spcAft>
                <a:spcPts val="0"/>
              </a:spcAft>
              <a:buSzPts val="1800"/>
              <a:buChar char="●"/>
            </a:pPr>
            <a:r>
              <a:rPr lang="en" dirty="0"/>
              <a:t>Each packet carries both data and ack information.</a:t>
            </a:r>
            <a:endParaRPr dirty="0"/>
          </a:p>
          <a:p>
            <a:pPr marL="914400" lvl="1" indent="-342900" algn="l" rtl="0">
              <a:spcBef>
                <a:spcPts val="0"/>
              </a:spcBef>
              <a:spcAft>
                <a:spcPts val="0"/>
              </a:spcAft>
              <a:buSzPts val="1800"/>
              <a:buChar char="○"/>
            </a:pPr>
            <a:r>
              <a:rPr lang="en" dirty="0"/>
              <a:t>"Here are some bytes starting at 15..."</a:t>
            </a:r>
            <a:endParaRPr dirty="0"/>
          </a:p>
          <a:p>
            <a:pPr marL="914400" lvl="1" indent="-342900" algn="l" rtl="0">
              <a:spcBef>
                <a:spcPts val="0"/>
              </a:spcBef>
              <a:spcAft>
                <a:spcPts val="0"/>
              </a:spcAft>
              <a:buSzPts val="1800"/>
              <a:buChar char="○"/>
            </a:pPr>
            <a:r>
              <a:rPr lang="en" dirty="0"/>
              <a:t>"...Also, I ack receiving all your bytes up to (not including) 84."</a:t>
            </a:r>
            <a:endParaRPr dirty="0"/>
          </a:p>
        </p:txBody>
      </p:sp>
      <p:graphicFrame>
        <p:nvGraphicFramePr>
          <p:cNvPr id="800" name="Google Shape;800;p37"/>
          <p:cNvGraphicFramePr/>
          <p:nvPr/>
        </p:nvGraphicFramePr>
        <p:xfrm>
          <a:off x="604025" y="3961400"/>
          <a:ext cx="3619525" cy="673350"/>
        </p:xfrm>
        <a:graphic>
          <a:graphicData uri="http://schemas.openxmlformats.org/drawingml/2006/table">
            <a:tbl>
              <a:tblPr>
                <a:noFill/>
                <a:tableStyleId>{AF03A97D-8E77-47E1-9F38-7204C9F0EF1F}</a:tableStyleId>
              </a:tblPr>
              <a:tblGrid>
                <a:gridCol w="517075">
                  <a:extLst>
                    <a:ext uri="{9D8B030D-6E8A-4147-A177-3AD203B41FA5}">
                      <a16:colId xmlns:a16="http://schemas.microsoft.com/office/drawing/2014/main" val="20000"/>
                    </a:ext>
                  </a:extLst>
                </a:gridCol>
                <a:gridCol w="517075">
                  <a:extLst>
                    <a:ext uri="{9D8B030D-6E8A-4147-A177-3AD203B41FA5}">
                      <a16:colId xmlns:a16="http://schemas.microsoft.com/office/drawing/2014/main" val="20001"/>
                    </a:ext>
                  </a:extLst>
                </a:gridCol>
                <a:gridCol w="517075">
                  <a:extLst>
                    <a:ext uri="{9D8B030D-6E8A-4147-A177-3AD203B41FA5}">
                      <a16:colId xmlns:a16="http://schemas.microsoft.com/office/drawing/2014/main" val="20002"/>
                    </a:ext>
                  </a:extLst>
                </a:gridCol>
                <a:gridCol w="517075">
                  <a:extLst>
                    <a:ext uri="{9D8B030D-6E8A-4147-A177-3AD203B41FA5}">
                      <a16:colId xmlns:a16="http://schemas.microsoft.com/office/drawing/2014/main" val="20003"/>
                    </a:ext>
                  </a:extLst>
                </a:gridCol>
                <a:gridCol w="517075">
                  <a:extLst>
                    <a:ext uri="{9D8B030D-6E8A-4147-A177-3AD203B41FA5}">
                      <a16:colId xmlns:a16="http://schemas.microsoft.com/office/drawing/2014/main" val="20004"/>
                    </a:ext>
                  </a:extLst>
                </a:gridCol>
                <a:gridCol w="517075">
                  <a:extLst>
                    <a:ext uri="{9D8B030D-6E8A-4147-A177-3AD203B41FA5}">
                      <a16:colId xmlns:a16="http://schemas.microsoft.com/office/drawing/2014/main" val="20005"/>
                    </a:ext>
                  </a:extLst>
                </a:gridCol>
                <a:gridCol w="517075">
                  <a:extLst>
                    <a:ext uri="{9D8B030D-6E8A-4147-A177-3AD203B41FA5}">
                      <a16:colId xmlns:a16="http://schemas.microsoft.com/office/drawing/2014/main" val="20006"/>
                    </a:ext>
                  </a:extLst>
                </a:gridCol>
              </a:tblGrid>
              <a:tr h="336675">
                <a:tc>
                  <a:txBody>
                    <a:bodyPr/>
                    <a:lstStyle/>
                    <a:p>
                      <a:pPr marL="0" lvl="0" indent="0" algn="ctr" rtl="0">
                        <a:spcBef>
                          <a:spcPts val="0"/>
                        </a:spcBef>
                        <a:spcAft>
                          <a:spcPts val="0"/>
                        </a:spcAft>
                        <a:buNone/>
                      </a:pPr>
                      <a:r>
                        <a:rPr lang="en" sz="1600">
                          <a:latin typeface="Roboto"/>
                          <a:ea typeface="Roboto"/>
                          <a:cs typeface="Roboto"/>
                          <a:sym typeface="Roboto"/>
                        </a:rPr>
                        <a:t>15</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16</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17</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18</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19</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20</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21</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0"/>
                  </a:ext>
                </a:extLst>
              </a:tr>
              <a:tr h="336675">
                <a:tc>
                  <a:txBody>
                    <a:bodyPr/>
                    <a:lstStyle/>
                    <a:p>
                      <a:pPr marL="0" lvl="0" indent="0" algn="ctr" rtl="0">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B</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1"/>
                  </a:ext>
                </a:extLst>
              </a:tr>
            </a:tbl>
          </a:graphicData>
        </a:graphic>
      </p:graphicFrame>
      <p:graphicFrame>
        <p:nvGraphicFramePr>
          <p:cNvPr id="801" name="Google Shape;801;p37"/>
          <p:cNvGraphicFramePr/>
          <p:nvPr/>
        </p:nvGraphicFramePr>
        <p:xfrm>
          <a:off x="4920425" y="3961400"/>
          <a:ext cx="3619525" cy="670480"/>
        </p:xfrm>
        <a:graphic>
          <a:graphicData uri="http://schemas.openxmlformats.org/drawingml/2006/table">
            <a:tbl>
              <a:tblPr>
                <a:noFill/>
                <a:tableStyleId>{AF03A97D-8E77-47E1-9F38-7204C9F0EF1F}</a:tableStyleId>
              </a:tblPr>
              <a:tblGrid>
                <a:gridCol w="517075">
                  <a:extLst>
                    <a:ext uri="{9D8B030D-6E8A-4147-A177-3AD203B41FA5}">
                      <a16:colId xmlns:a16="http://schemas.microsoft.com/office/drawing/2014/main" val="20000"/>
                    </a:ext>
                  </a:extLst>
                </a:gridCol>
                <a:gridCol w="517075">
                  <a:extLst>
                    <a:ext uri="{9D8B030D-6E8A-4147-A177-3AD203B41FA5}">
                      <a16:colId xmlns:a16="http://schemas.microsoft.com/office/drawing/2014/main" val="20001"/>
                    </a:ext>
                  </a:extLst>
                </a:gridCol>
                <a:gridCol w="517075">
                  <a:extLst>
                    <a:ext uri="{9D8B030D-6E8A-4147-A177-3AD203B41FA5}">
                      <a16:colId xmlns:a16="http://schemas.microsoft.com/office/drawing/2014/main" val="20002"/>
                    </a:ext>
                  </a:extLst>
                </a:gridCol>
                <a:gridCol w="517075">
                  <a:extLst>
                    <a:ext uri="{9D8B030D-6E8A-4147-A177-3AD203B41FA5}">
                      <a16:colId xmlns:a16="http://schemas.microsoft.com/office/drawing/2014/main" val="20003"/>
                    </a:ext>
                  </a:extLst>
                </a:gridCol>
                <a:gridCol w="517075">
                  <a:extLst>
                    <a:ext uri="{9D8B030D-6E8A-4147-A177-3AD203B41FA5}">
                      <a16:colId xmlns:a16="http://schemas.microsoft.com/office/drawing/2014/main" val="20004"/>
                    </a:ext>
                  </a:extLst>
                </a:gridCol>
                <a:gridCol w="517075">
                  <a:extLst>
                    <a:ext uri="{9D8B030D-6E8A-4147-A177-3AD203B41FA5}">
                      <a16:colId xmlns:a16="http://schemas.microsoft.com/office/drawing/2014/main" val="20005"/>
                    </a:ext>
                  </a:extLst>
                </a:gridCol>
                <a:gridCol w="517075">
                  <a:extLst>
                    <a:ext uri="{9D8B030D-6E8A-4147-A177-3AD203B41FA5}">
                      <a16:colId xmlns:a16="http://schemas.microsoft.com/office/drawing/2014/main" val="20006"/>
                    </a:ext>
                  </a:extLst>
                </a:gridCol>
              </a:tblGrid>
              <a:tr h="231000">
                <a:tc>
                  <a:txBody>
                    <a:bodyPr/>
                    <a:lstStyle/>
                    <a:p>
                      <a:pPr marL="0" lvl="0" indent="0" algn="ctr" rtl="0">
                        <a:spcBef>
                          <a:spcPts val="0"/>
                        </a:spcBef>
                        <a:spcAft>
                          <a:spcPts val="0"/>
                        </a:spcAft>
                        <a:buNone/>
                      </a:pPr>
                      <a:r>
                        <a:rPr lang="en" sz="1600">
                          <a:latin typeface="Roboto"/>
                          <a:ea typeface="Roboto"/>
                          <a:cs typeface="Roboto"/>
                          <a:sym typeface="Roboto"/>
                        </a:rPr>
                        <a:t>77</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78</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79</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80</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81</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82</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83</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0"/>
                  </a:ext>
                </a:extLst>
              </a:tr>
              <a:tr h="231000">
                <a:tc>
                  <a:txBody>
                    <a:bodyPr/>
                    <a:lstStyle/>
                    <a:p>
                      <a:pPr marL="0" lvl="0" indent="0" algn="ctr" rtl="0">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A</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1"/>
                  </a:ext>
                </a:extLst>
              </a:tr>
            </a:tbl>
          </a:graphicData>
        </a:graphic>
      </p:graphicFrame>
      <p:sp>
        <p:nvSpPr>
          <p:cNvPr id="802" name="Google Shape;802;p37"/>
          <p:cNvSpPr txBox="1"/>
          <p:nvPr/>
        </p:nvSpPr>
        <p:spPr>
          <a:xfrm>
            <a:off x="604025" y="4631850"/>
            <a:ext cx="2273700" cy="3018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600">
                <a:solidFill>
                  <a:schemeClr val="dk1"/>
                </a:solidFill>
                <a:latin typeface="Roboto"/>
                <a:ea typeface="Roboto"/>
                <a:cs typeface="Roboto"/>
                <a:sym typeface="Roboto"/>
              </a:rPr>
              <a:t>A to B bytestream</a:t>
            </a:r>
            <a:endParaRPr sz="1600">
              <a:solidFill>
                <a:schemeClr val="dk1"/>
              </a:solidFill>
              <a:latin typeface="Roboto"/>
              <a:ea typeface="Roboto"/>
              <a:cs typeface="Roboto"/>
              <a:sym typeface="Roboto"/>
            </a:endParaRPr>
          </a:p>
        </p:txBody>
      </p:sp>
      <p:sp>
        <p:nvSpPr>
          <p:cNvPr id="803" name="Google Shape;803;p37"/>
          <p:cNvSpPr txBox="1"/>
          <p:nvPr/>
        </p:nvSpPr>
        <p:spPr>
          <a:xfrm>
            <a:off x="4920425" y="4631850"/>
            <a:ext cx="2273700" cy="3018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600">
                <a:solidFill>
                  <a:schemeClr val="dk1"/>
                </a:solidFill>
                <a:latin typeface="Roboto"/>
                <a:ea typeface="Roboto"/>
                <a:cs typeface="Roboto"/>
                <a:sym typeface="Roboto"/>
              </a:rPr>
              <a:t>B to A bytestream</a:t>
            </a:r>
            <a:endParaRPr sz="1600">
              <a:solidFill>
                <a:schemeClr val="dk1"/>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E7933542-F655-22E6-B7E9-AAC33D2C78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3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Connection Setup: Three-Way Handshake</a:t>
            </a:r>
            <a:endParaRPr/>
          </a:p>
        </p:txBody>
      </p:sp>
      <p:sp>
        <p:nvSpPr>
          <p:cNvPr id="828" name="Google Shape;828;p39"/>
          <p:cNvSpPr txBox="1">
            <a:spLocks noGrp="1"/>
          </p:cNvSpPr>
          <p:nvPr>
            <p:ph type="body" idx="1"/>
          </p:nvPr>
        </p:nvSpPr>
        <p:spPr>
          <a:xfrm>
            <a:off x="107050" y="402200"/>
            <a:ext cx="8909700" cy="225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Each host tells its ISN to the other host.</a:t>
            </a:r>
            <a:endParaRPr/>
          </a:p>
          <a:p>
            <a:pPr marL="457200" lvl="0" indent="-342900" algn="l" rtl="0">
              <a:spcBef>
                <a:spcPts val="600"/>
              </a:spcBef>
              <a:spcAft>
                <a:spcPts val="0"/>
              </a:spcAft>
              <a:buSzPts val="1800"/>
              <a:buAutoNum type="arabicPeriod"/>
            </a:pPr>
            <a:r>
              <a:rPr lang="en">
                <a:solidFill>
                  <a:srgbClr val="0000FF"/>
                </a:solidFill>
              </a:rPr>
              <a:t>SYN.</a:t>
            </a:r>
            <a:r>
              <a:rPr lang="en"/>
              <a:t> Client says: "My ISN is </a:t>
            </a:r>
            <a:r>
              <a:rPr lang="en" i="1"/>
              <a:t>x</a:t>
            </a:r>
            <a:r>
              <a:rPr lang="en"/>
              <a:t>."</a:t>
            </a:r>
            <a:endParaRPr/>
          </a:p>
          <a:p>
            <a:pPr marL="457200" lvl="0" indent="-342900" algn="l" rtl="0">
              <a:spcBef>
                <a:spcPts val="0"/>
              </a:spcBef>
              <a:spcAft>
                <a:spcPts val="0"/>
              </a:spcAft>
              <a:buSzPts val="1800"/>
              <a:buAutoNum type="arabicPeriod"/>
            </a:pPr>
            <a:r>
              <a:rPr lang="en">
                <a:solidFill>
                  <a:schemeClr val="accent2"/>
                </a:solidFill>
              </a:rPr>
              <a:t>SYN-ACK.</a:t>
            </a:r>
            <a:r>
              <a:rPr lang="en"/>
              <a:t> Server says: "I received </a:t>
            </a:r>
            <a:r>
              <a:rPr lang="en" i="1"/>
              <a:t>x</a:t>
            </a:r>
            <a:r>
              <a:rPr lang="en"/>
              <a:t> (expecting </a:t>
            </a:r>
            <a:r>
              <a:rPr lang="en" i="1"/>
              <a:t>x</a:t>
            </a:r>
            <a:r>
              <a:rPr lang="en"/>
              <a:t>+1 next). Also, my ISN is </a:t>
            </a:r>
            <a:r>
              <a:rPr lang="en" i="1"/>
              <a:t>y</a:t>
            </a:r>
            <a:r>
              <a:rPr lang="en"/>
              <a:t>."</a:t>
            </a:r>
            <a:endParaRPr/>
          </a:p>
          <a:p>
            <a:pPr marL="457200" lvl="0" indent="-342900" algn="l" rtl="0">
              <a:spcBef>
                <a:spcPts val="0"/>
              </a:spcBef>
              <a:spcAft>
                <a:spcPts val="0"/>
              </a:spcAft>
              <a:buSzPts val="1800"/>
              <a:buAutoNum type="arabicPeriod"/>
            </a:pPr>
            <a:r>
              <a:rPr lang="en">
                <a:solidFill>
                  <a:srgbClr val="0000FF"/>
                </a:solidFill>
              </a:rPr>
              <a:t>ACK</a:t>
            </a:r>
            <a:r>
              <a:rPr lang="en"/>
              <a:t>. Client says: "I received </a:t>
            </a:r>
            <a:r>
              <a:rPr lang="en" i="1"/>
              <a:t>y</a:t>
            </a:r>
            <a:r>
              <a:rPr lang="en"/>
              <a:t> (expecting </a:t>
            </a:r>
            <a:r>
              <a:rPr lang="en" i="1"/>
              <a:t>y</a:t>
            </a:r>
            <a:r>
              <a:rPr lang="en"/>
              <a:t>+1 next)."</a:t>
            </a:r>
            <a:endParaRPr/>
          </a:p>
          <a:p>
            <a:pPr marL="0" lvl="0" indent="0" algn="l" rtl="0">
              <a:spcBef>
                <a:spcPts val="600"/>
              </a:spcBef>
              <a:spcAft>
                <a:spcPts val="0"/>
              </a:spcAft>
              <a:buNone/>
            </a:pPr>
            <a:r>
              <a:rPr lang="en"/>
              <a:t>After the three-way handshake, both sides can start sending data.</a:t>
            </a:r>
            <a:endParaRPr/>
          </a:p>
        </p:txBody>
      </p:sp>
      <p:grpSp>
        <p:nvGrpSpPr>
          <p:cNvPr id="829" name="Google Shape;829;p39"/>
          <p:cNvGrpSpPr/>
          <p:nvPr/>
        </p:nvGrpSpPr>
        <p:grpSpPr>
          <a:xfrm>
            <a:off x="3039475" y="3322547"/>
            <a:ext cx="3015000" cy="708253"/>
            <a:chOff x="3039475" y="3322547"/>
            <a:chExt cx="3015000" cy="708253"/>
          </a:xfrm>
        </p:grpSpPr>
        <p:cxnSp>
          <p:nvCxnSpPr>
            <p:cNvPr id="830" name="Google Shape;830;p39"/>
            <p:cNvCxnSpPr/>
            <p:nvPr/>
          </p:nvCxnSpPr>
          <p:spPr>
            <a:xfrm flipH="1">
              <a:off x="3039475" y="35814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31" name="Google Shape;831;p39"/>
            <p:cNvSpPr txBox="1"/>
            <p:nvPr/>
          </p:nvSpPr>
          <p:spPr>
            <a:xfrm rot="-511597">
              <a:off x="3051494" y="3533687"/>
              <a:ext cx="286911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SYN-ACK. seq=</a:t>
              </a:r>
              <a:r>
                <a:rPr lang="en" i="1">
                  <a:solidFill>
                    <a:schemeClr val="accent2"/>
                  </a:solidFill>
                  <a:latin typeface="Roboto"/>
                  <a:ea typeface="Roboto"/>
                  <a:cs typeface="Roboto"/>
                  <a:sym typeface="Roboto"/>
                </a:rPr>
                <a:t>y</a:t>
              </a:r>
              <a:r>
                <a:rPr lang="en">
                  <a:solidFill>
                    <a:schemeClr val="accent2"/>
                  </a:solidFill>
                  <a:latin typeface="Roboto"/>
                  <a:ea typeface="Roboto"/>
                  <a:cs typeface="Roboto"/>
                  <a:sym typeface="Roboto"/>
                </a:rPr>
                <a:t>, ack=</a:t>
              </a:r>
              <a:r>
                <a:rPr lang="en" i="1">
                  <a:solidFill>
                    <a:schemeClr val="accent2"/>
                  </a:solidFill>
                  <a:latin typeface="Roboto"/>
                  <a:ea typeface="Roboto"/>
                  <a:cs typeface="Roboto"/>
                  <a:sym typeface="Roboto"/>
                </a:rPr>
                <a:t>x</a:t>
              </a: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grpSp>
      <p:cxnSp>
        <p:nvCxnSpPr>
          <p:cNvPr id="832" name="Google Shape;832;p39"/>
          <p:cNvCxnSpPr/>
          <p:nvPr/>
        </p:nvCxnSpPr>
        <p:spPr>
          <a:xfrm>
            <a:off x="3037525" y="2846575"/>
            <a:ext cx="0" cy="1930800"/>
          </a:xfrm>
          <a:prstGeom prst="straightConnector1">
            <a:avLst/>
          </a:prstGeom>
          <a:noFill/>
          <a:ln w="19050" cap="flat" cmpd="sng">
            <a:solidFill>
              <a:srgbClr val="0000FF"/>
            </a:solidFill>
            <a:prstDash val="solid"/>
            <a:round/>
            <a:headEnd type="none" w="med" len="med"/>
            <a:tailEnd type="none" w="med" len="med"/>
          </a:ln>
        </p:spPr>
      </p:cxnSp>
      <p:sp>
        <p:nvSpPr>
          <p:cNvPr id="833" name="Google Shape;833;p39"/>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34" name="Google Shape;834;p39"/>
          <p:cNvCxnSpPr/>
          <p:nvPr/>
        </p:nvCxnSpPr>
        <p:spPr>
          <a:xfrm>
            <a:off x="6058925" y="2846575"/>
            <a:ext cx="0" cy="1930800"/>
          </a:xfrm>
          <a:prstGeom prst="straightConnector1">
            <a:avLst/>
          </a:prstGeom>
          <a:noFill/>
          <a:ln w="19050" cap="flat" cmpd="sng">
            <a:solidFill>
              <a:schemeClr val="accent2"/>
            </a:solidFill>
            <a:prstDash val="solid"/>
            <a:round/>
            <a:headEnd type="none" w="med" len="med"/>
            <a:tailEnd type="none" w="med" len="med"/>
          </a:ln>
        </p:spPr>
      </p:cxnSp>
      <p:sp>
        <p:nvSpPr>
          <p:cNvPr id="835" name="Google Shape;835;p39"/>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36" name="Google Shape;836;p39"/>
          <p:cNvGrpSpPr/>
          <p:nvPr/>
        </p:nvGrpSpPr>
        <p:grpSpPr>
          <a:xfrm>
            <a:off x="3039500" y="2858525"/>
            <a:ext cx="3007800" cy="597249"/>
            <a:chOff x="3039500" y="3010925"/>
            <a:chExt cx="3007800" cy="597249"/>
          </a:xfrm>
        </p:grpSpPr>
        <p:cxnSp>
          <p:nvCxnSpPr>
            <p:cNvPr id="837" name="Google Shape;837;p39"/>
            <p:cNvCxnSpPr/>
            <p:nvPr/>
          </p:nvCxnSpPr>
          <p:spPr>
            <a:xfrm>
              <a:off x="3039500" y="3166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38" name="Google Shape;838;p39"/>
            <p:cNvSpPr txBox="1"/>
            <p:nvPr/>
          </p:nvSpPr>
          <p:spPr>
            <a:xfrm rot="509539">
              <a:off x="3957694" y="3092615"/>
              <a:ext cx="112746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SYN. seq=</a:t>
              </a:r>
              <a:r>
                <a:rPr lang="en" i="1">
                  <a:solidFill>
                    <a:srgbClr val="0000FF"/>
                  </a:solidFill>
                  <a:latin typeface="Roboto"/>
                  <a:ea typeface="Roboto"/>
                  <a:cs typeface="Roboto"/>
                  <a:sym typeface="Roboto"/>
                </a:rPr>
                <a:t>x</a:t>
              </a:r>
              <a:endParaRPr i="1">
                <a:solidFill>
                  <a:srgbClr val="0000FF"/>
                </a:solidFill>
                <a:latin typeface="Roboto"/>
                <a:ea typeface="Roboto"/>
                <a:cs typeface="Roboto"/>
                <a:sym typeface="Roboto"/>
              </a:endParaRPr>
            </a:p>
          </p:txBody>
        </p:sp>
      </p:grpSp>
      <p:grpSp>
        <p:nvGrpSpPr>
          <p:cNvPr id="839" name="Google Shape;839;p39"/>
          <p:cNvGrpSpPr/>
          <p:nvPr/>
        </p:nvGrpSpPr>
        <p:grpSpPr>
          <a:xfrm>
            <a:off x="3039500" y="3999325"/>
            <a:ext cx="3007800" cy="599449"/>
            <a:chOff x="3039500" y="3999325"/>
            <a:chExt cx="3007800" cy="599449"/>
          </a:xfrm>
        </p:grpSpPr>
        <p:cxnSp>
          <p:nvCxnSpPr>
            <p:cNvPr id="840" name="Google Shape;840;p39"/>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41" name="Google Shape;841;p39"/>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ACK. ack=</a:t>
              </a:r>
              <a:r>
                <a:rPr lang="en" i="1">
                  <a:solidFill>
                    <a:srgbClr val="0000FF"/>
                  </a:solidFill>
                  <a:latin typeface="Roboto"/>
                  <a:ea typeface="Roboto"/>
                  <a:cs typeface="Roboto"/>
                  <a:sym typeface="Roboto"/>
                </a:rPr>
                <a:t>y</a:t>
              </a:r>
              <a:r>
                <a:rPr lang="en">
                  <a:solidFill>
                    <a:srgbClr val="0000FF"/>
                  </a:solidFill>
                  <a:latin typeface="Roboto"/>
                  <a:ea typeface="Roboto"/>
                  <a:cs typeface="Roboto"/>
                  <a:sym typeface="Roboto"/>
                </a:rPr>
                <a:t>+1</a:t>
              </a:r>
              <a:endParaRPr>
                <a:solidFill>
                  <a:srgbClr val="0000FF"/>
                </a:solidFill>
                <a:latin typeface="Roboto"/>
                <a:ea typeface="Roboto"/>
                <a:cs typeface="Roboto"/>
                <a:sym typeface="Roboto"/>
              </a:endParaRPr>
            </a:p>
          </p:txBody>
        </p:sp>
      </p:grpSp>
      <p:sp>
        <p:nvSpPr>
          <p:cNvPr id="2" name="Slide Number Placeholder 1">
            <a:extLst>
              <a:ext uri="{FF2B5EF4-FFF2-40B4-BE49-F238E27FC236}">
                <a16:creationId xmlns:a16="http://schemas.microsoft.com/office/drawing/2014/main" id="{A9822903-4A9F-DDC0-1606-46CCDFD156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40"/>
          <p:cNvSpPr txBox="1">
            <a:spLocks noGrp="1"/>
          </p:cNvSpPr>
          <p:nvPr>
            <p:ph type="body" idx="1"/>
          </p:nvPr>
        </p:nvSpPr>
        <p:spPr>
          <a:xfrm>
            <a:off x="107050" y="402200"/>
            <a:ext cx="3941319" cy="2256000"/>
          </a:xfrm>
          <a:prstGeom prst="rect">
            <a:avLst/>
          </a:prstGeom>
        </p:spPr>
        <p:txBody>
          <a:bodyPr spcFirstLastPara="1" wrap="square" lIns="91425" tIns="91425" rIns="91425" bIns="91425" anchor="t" anchorCtr="0">
            <a:normAutofit fontScale="77500" lnSpcReduction="20000"/>
          </a:bodyPr>
          <a:lstStyle/>
          <a:p>
            <a:pPr marL="0" lvl="0" indent="0" algn="l" rtl="0">
              <a:spcBef>
                <a:spcPts val="600"/>
              </a:spcBef>
              <a:spcAft>
                <a:spcPts val="0"/>
              </a:spcAft>
              <a:buNone/>
            </a:pPr>
            <a:r>
              <a:rPr lang="en" dirty="0"/>
              <a:t>Normal termination with FIN:</a:t>
            </a:r>
            <a:endParaRPr dirty="0"/>
          </a:p>
          <a:p>
            <a:pPr marL="457200" lvl="0" indent="-342900" algn="l" rtl="0">
              <a:spcBef>
                <a:spcPts val="600"/>
              </a:spcBef>
              <a:spcAft>
                <a:spcPts val="0"/>
              </a:spcAft>
              <a:buSzPts val="1800"/>
              <a:buChar char="●"/>
            </a:pPr>
            <a:r>
              <a:rPr lang="en" dirty="0"/>
              <a:t>Each side sends a FIN packet to say: "I'm done sending, but will keep receiving."</a:t>
            </a:r>
            <a:endParaRPr dirty="0"/>
          </a:p>
          <a:p>
            <a:pPr marL="457200" lvl="0" indent="-342900" algn="l" rtl="0">
              <a:spcBef>
                <a:spcPts val="0"/>
              </a:spcBef>
              <a:spcAft>
                <a:spcPts val="0"/>
              </a:spcAft>
              <a:buSzPts val="1800"/>
              <a:buChar char="●"/>
            </a:pPr>
            <a:r>
              <a:rPr lang="en" dirty="0"/>
              <a:t>FIN packets are acked like any other data.</a:t>
            </a:r>
            <a:endParaRPr dirty="0"/>
          </a:p>
          <a:p>
            <a:pPr marL="457200" lvl="0" indent="-342900" algn="l" rtl="0">
              <a:spcBef>
                <a:spcPts val="0"/>
              </a:spcBef>
              <a:spcAft>
                <a:spcPts val="0"/>
              </a:spcAft>
              <a:buSzPts val="1800"/>
              <a:buChar char="●"/>
            </a:pPr>
            <a:r>
              <a:rPr lang="en" dirty="0"/>
              <a:t>When only one side has sent FIN, the connection is </a:t>
            </a:r>
            <a:r>
              <a:rPr lang="en" i="1" dirty="0"/>
              <a:t>half-closed</a:t>
            </a:r>
            <a:r>
              <a:rPr lang="en" dirty="0"/>
              <a:t>.</a:t>
            </a:r>
            <a:endParaRPr dirty="0"/>
          </a:p>
          <a:p>
            <a:pPr marL="457200" lvl="0" indent="-342900" algn="l" rtl="0">
              <a:spcBef>
                <a:spcPts val="0"/>
              </a:spcBef>
              <a:spcAft>
                <a:spcPts val="0"/>
              </a:spcAft>
              <a:buSzPts val="1800"/>
              <a:buChar char="●"/>
            </a:pPr>
            <a:r>
              <a:rPr lang="en" dirty="0"/>
              <a:t>When both sides have sent FIN (both done sending), the connection is closed.</a:t>
            </a:r>
            <a:endParaRPr dirty="0"/>
          </a:p>
        </p:txBody>
      </p:sp>
      <p:sp>
        <p:nvSpPr>
          <p:cNvPr id="847" name="Google Shape;847;p4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Connection Teardown</a:t>
            </a:r>
            <a:endParaRPr/>
          </a:p>
        </p:txBody>
      </p:sp>
      <p:grpSp>
        <p:nvGrpSpPr>
          <p:cNvPr id="848" name="Google Shape;848;p40"/>
          <p:cNvGrpSpPr/>
          <p:nvPr/>
        </p:nvGrpSpPr>
        <p:grpSpPr>
          <a:xfrm>
            <a:off x="714546" y="3230508"/>
            <a:ext cx="3015000" cy="557901"/>
            <a:chOff x="3039475" y="2406099"/>
            <a:chExt cx="3015000" cy="557901"/>
          </a:xfrm>
        </p:grpSpPr>
        <p:cxnSp>
          <p:nvCxnSpPr>
            <p:cNvPr id="849" name="Google Shape;849;p40"/>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50" name="Google Shape;850;p40"/>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a:t>
              </a:r>
              <a:endParaRPr>
                <a:solidFill>
                  <a:schemeClr val="accent2"/>
                </a:solidFill>
                <a:latin typeface="Roboto"/>
                <a:ea typeface="Roboto"/>
                <a:cs typeface="Roboto"/>
                <a:sym typeface="Roboto"/>
              </a:endParaRPr>
            </a:p>
          </p:txBody>
        </p:sp>
      </p:grpSp>
      <p:cxnSp>
        <p:nvCxnSpPr>
          <p:cNvPr id="851" name="Google Shape;851;p40"/>
          <p:cNvCxnSpPr/>
          <p:nvPr/>
        </p:nvCxnSpPr>
        <p:spPr>
          <a:xfrm>
            <a:off x="712596" y="2620968"/>
            <a:ext cx="0" cy="2164800"/>
          </a:xfrm>
          <a:prstGeom prst="straightConnector1">
            <a:avLst/>
          </a:prstGeom>
          <a:noFill/>
          <a:ln w="19050" cap="flat" cmpd="sng">
            <a:solidFill>
              <a:srgbClr val="0000FF"/>
            </a:solidFill>
            <a:prstDash val="solid"/>
            <a:round/>
            <a:headEnd type="none" w="med" len="med"/>
            <a:tailEnd type="none" w="med" len="med"/>
          </a:ln>
        </p:spPr>
      </p:cxnSp>
      <p:sp>
        <p:nvSpPr>
          <p:cNvPr id="852" name="Google Shape;852;p40"/>
          <p:cNvSpPr txBox="1"/>
          <p:nvPr/>
        </p:nvSpPr>
        <p:spPr>
          <a:xfrm>
            <a:off x="160146" y="4785917"/>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53" name="Google Shape;853;p40"/>
          <p:cNvCxnSpPr/>
          <p:nvPr/>
        </p:nvCxnSpPr>
        <p:spPr>
          <a:xfrm>
            <a:off x="3733996" y="2620968"/>
            <a:ext cx="0" cy="2164800"/>
          </a:xfrm>
          <a:prstGeom prst="straightConnector1">
            <a:avLst/>
          </a:prstGeom>
          <a:noFill/>
          <a:ln w="19050" cap="flat" cmpd="sng">
            <a:solidFill>
              <a:schemeClr val="accent2"/>
            </a:solidFill>
            <a:prstDash val="solid"/>
            <a:round/>
            <a:headEnd type="none" w="med" len="med"/>
            <a:tailEnd type="none" w="med" len="med"/>
          </a:ln>
        </p:spPr>
      </p:cxnSp>
      <p:sp>
        <p:nvSpPr>
          <p:cNvPr id="854" name="Google Shape;854;p40"/>
          <p:cNvSpPr txBox="1"/>
          <p:nvPr/>
        </p:nvSpPr>
        <p:spPr>
          <a:xfrm>
            <a:off x="3134005" y="4785917"/>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55" name="Google Shape;855;p40"/>
          <p:cNvGrpSpPr/>
          <p:nvPr/>
        </p:nvGrpSpPr>
        <p:grpSpPr>
          <a:xfrm>
            <a:off x="714571" y="2721475"/>
            <a:ext cx="3007800" cy="568107"/>
            <a:chOff x="3039500" y="1897067"/>
            <a:chExt cx="3007800" cy="568107"/>
          </a:xfrm>
        </p:grpSpPr>
        <p:cxnSp>
          <p:nvCxnSpPr>
            <p:cNvPr id="856" name="Google Shape;856;p40"/>
            <p:cNvCxnSpPr/>
            <p:nvPr/>
          </p:nvCxnSpPr>
          <p:spPr>
            <a:xfrm>
              <a:off x="3039500" y="2023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57" name="Google Shape;857;p40"/>
            <p:cNvSpPr txBox="1"/>
            <p:nvPr/>
          </p:nvSpPr>
          <p:spPr>
            <a:xfrm rot="510033">
              <a:off x="4154499" y="19537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FIN</a:t>
              </a:r>
              <a:endParaRPr>
                <a:solidFill>
                  <a:srgbClr val="0000FF"/>
                </a:solidFill>
                <a:latin typeface="Roboto"/>
                <a:ea typeface="Roboto"/>
                <a:cs typeface="Roboto"/>
                <a:sym typeface="Roboto"/>
              </a:endParaRPr>
            </a:p>
          </p:txBody>
        </p:sp>
      </p:grpSp>
      <p:grpSp>
        <p:nvGrpSpPr>
          <p:cNvPr id="858" name="Google Shape;858;p40"/>
          <p:cNvGrpSpPr/>
          <p:nvPr/>
        </p:nvGrpSpPr>
        <p:grpSpPr>
          <a:xfrm>
            <a:off x="714571" y="4093075"/>
            <a:ext cx="3007800" cy="568107"/>
            <a:chOff x="3039500" y="2887667"/>
            <a:chExt cx="3007800" cy="568107"/>
          </a:xfrm>
        </p:grpSpPr>
        <p:cxnSp>
          <p:nvCxnSpPr>
            <p:cNvPr id="859" name="Google Shape;859;p40"/>
            <p:cNvCxnSpPr/>
            <p:nvPr/>
          </p:nvCxnSpPr>
          <p:spPr>
            <a:xfrm>
              <a:off x="3039500" y="3013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60" name="Google Shape;860;p40"/>
            <p:cNvSpPr txBox="1"/>
            <p:nvPr/>
          </p:nvSpPr>
          <p:spPr>
            <a:xfrm rot="510033">
              <a:off x="4154499" y="29443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ACK</a:t>
              </a:r>
              <a:endParaRPr>
                <a:solidFill>
                  <a:srgbClr val="0000FF"/>
                </a:solidFill>
                <a:latin typeface="Roboto"/>
                <a:ea typeface="Roboto"/>
                <a:cs typeface="Roboto"/>
                <a:sym typeface="Roboto"/>
              </a:endParaRPr>
            </a:p>
          </p:txBody>
        </p:sp>
      </p:grpSp>
      <p:grpSp>
        <p:nvGrpSpPr>
          <p:cNvPr id="861" name="Google Shape;861;p40"/>
          <p:cNvGrpSpPr/>
          <p:nvPr/>
        </p:nvGrpSpPr>
        <p:grpSpPr>
          <a:xfrm>
            <a:off x="714546" y="3611508"/>
            <a:ext cx="3015000" cy="557901"/>
            <a:chOff x="3039475" y="2406099"/>
            <a:chExt cx="3015000" cy="557901"/>
          </a:xfrm>
        </p:grpSpPr>
        <p:cxnSp>
          <p:nvCxnSpPr>
            <p:cNvPr id="862" name="Google Shape;862;p40"/>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63" name="Google Shape;863;p40"/>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FIN</a:t>
              </a:r>
              <a:endParaRPr>
                <a:solidFill>
                  <a:schemeClr val="accent2"/>
                </a:solidFill>
                <a:latin typeface="Roboto"/>
                <a:ea typeface="Roboto"/>
                <a:cs typeface="Roboto"/>
                <a:sym typeface="Roboto"/>
              </a:endParaRPr>
            </a:p>
          </p:txBody>
        </p:sp>
      </p:grpSp>
      <p:sp>
        <p:nvSpPr>
          <p:cNvPr id="2" name="Slide Number Placeholder 1">
            <a:extLst>
              <a:ext uri="{FF2B5EF4-FFF2-40B4-BE49-F238E27FC236}">
                <a16:creationId xmlns:a16="http://schemas.microsoft.com/office/drawing/2014/main" id="{0C198D05-76D6-26E7-3A29-34C3000ECB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cxnSp>
        <p:nvCxnSpPr>
          <p:cNvPr id="870" name="Google Shape;870;p41"/>
          <p:cNvCxnSpPr/>
          <p:nvPr/>
        </p:nvCxnSpPr>
        <p:spPr>
          <a:xfrm>
            <a:off x="4910234" y="2620968"/>
            <a:ext cx="0" cy="2164800"/>
          </a:xfrm>
          <a:prstGeom prst="straightConnector1">
            <a:avLst/>
          </a:prstGeom>
          <a:noFill/>
          <a:ln w="19050" cap="flat" cmpd="sng">
            <a:solidFill>
              <a:srgbClr val="0000FF"/>
            </a:solidFill>
            <a:prstDash val="solid"/>
            <a:round/>
            <a:headEnd type="none" w="med" len="med"/>
            <a:tailEnd type="none" w="med" len="med"/>
          </a:ln>
        </p:spPr>
      </p:cxnSp>
      <p:sp>
        <p:nvSpPr>
          <p:cNvPr id="871" name="Google Shape;871;p41"/>
          <p:cNvSpPr txBox="1"/>
          <p:nvPr/>
        </p:nvSpPr>
        <p:spPr>
          <a:xfrm>
            <a:off x="4357784" y="4785917"/>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72" name="Google Shape;872;p41"/>
          <p:cNvCxnSpPr/>
          <p:nvPr/>
        </p:nvCxnSpPr>
        <p:spPr>
          <a:xfrm>
            <a:off x="7931634" y="2620968"/>
            <a:ext cx="0" cy="2164800"/>
          </a:xfrm>
          <a:prstGeom prst="straightConnector1">
            <a:avLst/>
          </a:prstGeom>
          <a:noFill/>
          <a:ln w="19050" cap="flat" cmpd="sng">
            <a:solidFill>
              <a:schemeClr val="accent2"/>
            </a:solidFill>
            <a:prstDash val="solid"/>
            <a:round/>
            <a:headEnd type="none" w="med" len="med"/>
            <a:tailEnd type="none" w="med" len="med"/>
          </a:ln>
        </p:spPr>
      </p:cxnSp>
      <p:sp>
        <p:nvSpPr>
          <p:cNvPr id="873" name="Google Shape;873;p41"/>
          <p:cNvSpPr txBox="1"/>
          <p:nvPr/>
        </p:nvSpPr>
        <p:spPr>
          <a:xfrm>
            <a:off x="7331643" y="4785917"/>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74" name="Google Shape;874;p41"/>
          <p:cNvGrpSpPr/>
          <p:nvPr/>
        </p:nvGrpSpPr>
        <p:grpSpPr>
          <a:xfrm>
            <a:off x="4912209" y="2721475"/>
            <a:ext cx="3007800" cy="568107"/>
            <a:chOff x="3039500" y="1897067"/>
            <a:chExt cx="3007800" cy="568107"/>
          </a:xfrm>
        </p:grpSpPr>
        <p:cxnSp>
          <p:nvCxnSpPr>
            <p:cNvPr id="875" name="Google Shape;875;p41"/>
            <p:cNvCxnSpPr/>
            <p:nvPr/>
          </p:nvCxnSpPr>
          <p:spPr>
            <a:xfrm>
              <a:off x="3039500" y="2023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76" name="Google Shape;876;p41"/>
            <p:cNvSpPr txBox="1"/>
            <p:nvPr/>
          </p:nvSpPr>
          <p:spPr>
            <a:xfrm rot="510033">
              <a:off x="4154499" y="19537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grpSp>
        <p:nvGrpSpPr>
          <p:cNvPr id="877" name="Google Shape;877;p41"/>
          <p:cNvGrpSpPr/>
          <p:nvPr/>
        </p:nvGrpSpPr>
        <p:grpSpPr>
          <a:xfrm>
            <a:off x="4912184" y="3611508"/>
            <a:ext cx="3015000" cy="557901"/>
            <a:chOff x="3039475" y="2406099"/>
            <a:chExt cx="3015000" cy="557901"/>
          </a:xfrm>
        </p:grpSpPr>
        <p:cxnSp>
          <p:nvCxnSpPr>
            <p:cNvPr id="878" name="Google Shape;878;p41"/>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79" name="Google Shape;879;p41"/>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data</a:t>
              </a:r>
              <a:endParaRPr>
                <a:solidFill>
                  <a:schemeClr val="accent2"/>
                </a:solidFill>
                <a:latin typeface="Roboto"/>
                <a:ea typeface="Roboto"/>
                <a:cs typeface="Roboto"/>
                <a:sym typeface="Roboto"/>
              </a:endParaRPr>
            </a:p>
          </p:txBody>
        </p:sp>
      </p:grpSp>
      <p:grpSp>
        <p:nvGrpSpPr>
          <p:cNvPr id="880" name="Google Shape;880;p41"/>
          <p:cNvGrpSpPr/>
          <p:nvPr/>
        </p:nvGrpSpPr>
        <p:grpSpPr>
          <a:xfrm>
            <a:off x="4912209" y="4093075"/>
            <a:ext cx="3007800" cy="568107"/>
            <a:chOff x="3039500" y="2887667"/>
            <a:chExt cx="3007800" cy="568107"/>
          </a:xfrm>
        </p:grpSpPr>
        <p:cxnSp>
          <p:nvCxnSpPr>
            <p:cNvPr id="881" name="Google Shape;881;p41"/>
            <p:cNvCxnSpPr/>
            <p:nvPr/>
          </p:nvCxnSpPr>
          <p:spPr>
            <a:xfrm>
              <a:off x="3039500" y="3013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82" name="Google Shape;882;p41"/>
            <p:cNvSpPr txBox="1"/>
            <p:nvPr/>
          </p:nvSpPr>
          <p:spPr>
            <a:xfrm rot="510033">
              <a:off x="4154499" y="29443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sp>
        <p:nvSpPr>
          <p:cNvPr id="3" name="Google Shape;868;p41">
            <a:extLst>
              <a:ext uri="{FF2B5EF4-FFF2-40B4-BE49-F238E27FC236}">
                <a16:creationId xmlns:a16="http://schemas.microsoft.com/office/drawing/2014/main" id="{B766D26B-6A4A-2A22-7B5A-BDD3FF59C151}"/>
              </a:ext>
            </a:extLst>
          </p:cNvPr>
          <p:cNvSpPr txBox="1">
            <a:spLocks/>
          </p:cNvSpPr>
          <p:nvPr/>
        </p:nvSpPr>
        <p:spPr>
          <a:xfrm>
            <a:off x="4059994" y="402200"/>
            <a:ext cx="4956756" cy="19973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Font typeface="Roboto"/>
              <a:buNone/>
            </a:pPr>
            <a:r>
              <a:rPr lang="en-US" sz="1400" dirty="0"/>
              <a:t>Abrupt termination with RST:</a:t>
            </a:r>
          </a:p>
          <a:p>
            <a:r>
              <a:rPr lang="en-US" sz="1400" dirty="0"/>
              <a:t>Send a RST (reset) to say: "I will no longer send or receive data."</a:t>
            </a:r>
          </a:p>
          <a:p>
            <a:pPr>
              <a:spcBef>
                <a:spcPts val="0"/>
              </a:spcBef>
            </a:pPr>
            <a:r>
              <a:rPr lang="en-US" sz="1400" dirty="0"/>
              <a:t>RST packets do not need to be </a:t>
            </a:r>
            <a:r>
              <a:rPr lang="en-US" sz="1400" dirty="0" err="1"/>
              <a:t>acked</a:t>
            </a:r>
            <a:r>
              <a:rPr lang="en-US" sz="1400" dirty="0"/>
              <a:t>.</a:t>
            </a:r>
          </a:p>
          <a:p>
            <a:pPr>
              <a:spcBef>
                <a:spcPts val="0"/>
              </a:spcBef>
            </a:pPr>
            <a:r>
              <a:rPr lang="en-US" sz="1400" dirty="0"/>
              <a:t>Any data in flight is lost.</a:t>
            </a:r>
          </a:p>
          <a:p>
            <a:pPr>
              <a:spcBef>
                <a:spcPts val="0"/>
              </a:spcBef>
            </a:pPr>
            <a:r>
              <a:rPr lang="en-US" sz="1400" dirty="0"/>
              <a:t>If the RST sender receives more data later, send another RST.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4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Setup/Teardown Transition Diagram</a:t>
            </a:r>
            <a:endParaRPr/>
          </a:p>
        </p:txBody>
      </p:sp>
      <p:sp>
        <p:nvSpPr>
          <p:cNvPr id="888" name="Google Shape;888;p42"/>
          <p:cNvSpPr/>
          <p:nvPr/>
        </p:nvSpPr>
        <p:spPr>
          <a:xfrm>
            <a:off x="3620000" y="2861700"/>
            <a:ext cx="1067100" cy="2790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ESTABLISHED</a:t>
            </a:r>
            <a:endParaRPr sz="1000">
              <a:latin typeface="Roboto"/>
              <a:ea typeface="Roboto"/>
              <a:cs typeface="Roboto"/>
              <a:sym typeface="Roboto"/>
            </a:endParaRPr>
          </a:p>
        </p:txBody>
      </p:sp>
      <p:sp>
        <p:nvSpPr>
          <p:cNvPr id="889" name="Google Shape;889;p42"/>
          <p:cNvSpPr/>
          <p:nvPr/>
        </p:nvSpPr>
        <p:spPr>
          <a:xfrm>
            <a:off x="5479725" y="340725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CLOSE_WAIT</a:t>
            </a:r>
            <a:endParaRPr sz="1000">
              <a:latin typeface="Roboto"/>
              <a:ea typeface="Roboto"/>
              <a:cs typeface="Roboto"/>
              <a:sym typeface="Roboto"/>
            </a:endParaRPr>
          </a:p>
        </p:txBody>
      </p:sp>
      <p:sp>
        <p:nvSpPr>
          <p:cNvPr id="890" name="Google Shape;890;p42"/>
          <p:cNvSpPr/>
          <p:nvPr/>
        </p:nvSpPr>
        <p:spPr>
          <a:xfrm>
            <a:off x="5479725" y="4026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LAST_ACK</a:t>
            </a:r>
            <a:endParaRPr sz="1000">
              <a:latin typeface="Roboto"/>
              <a:ea typeface="Roboto"/>
              <a:cs typeface="Roboto"/>
              <a:sym typeface="Roboto"/>
            </a:endParaRPr>
          </a:p>
        </p:txBody>
      </p:sp>
      <p:sp>
        <p:nvSpPr>
          <p:cNvPr id="891" name="Google Shape;891;p42"/>
          <p:cNvSpPr/>
          <p:nvPr/>
        </p:nvSpPr>
        <p:spPr>
          <a:xfrm>
            <a:off x="5479725" y="454325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2" name="Google Shape;892;p42"/>
          <p:cNvSpPr/>
          <p:nvPr/>
        </p:nvSpPr>
        <p:spPr>
          <a:xfrm>
            <a:off x="3727125" y="454325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dirty="0">
                <a:latin typeface="Roboto"/>
                <a:ea typeface="Roboto"/>
                <a:cs typeface="Roboto"/>
                <a:sym typeface="Roboto"/>
              </a:rPr>
              <a:t>TIME_WAIT</a:t>
            </a:r>
            <a:endParaRPr sz="1000" dirty="0">
              <a:latin typeface="Roboto"/>
              <a:ea typeface="Roboto"/>
              <a:cs typeface="Roboto"/>
              <a:sym typeface="Roboto"/>
            </a:endParaRPr>
          </a:p>
        </p:txBody>
      </p:sp>
      <p:sp>
        <p:nvSpPr>
          <p:cNvPr id="893" name="Google Shape;893;p42"/>
          <p:cNvSpPr/>
          <p:nvPr/>
        </p:nvSpPr>
        <p:spPr>
          <a:xfrm>
            <a:off x="3727125" y="40374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CLOSING</a:t>
            </a:r>
            <a:endParaRPr sz="1000">
              <a:latin typeface="Roboto"/>
              <a:ea typeface="Roboto"/>
              <a:cs typeface="Roboto"/>
              <a:sym typeface="Roboto"/>
            </a:endParaRPr>
          </a:p>
        </p:txBody>
      </p:sp>
      <p:sp>
        <p:nvSpPr>
          <p:cNvPr id="894" name="Google Shape;894;p42"/>
          <p:cNvSpPr/>
          <p:nvPr/>
        </p:nvSpPr>
        <p:spPr>
          <a:xfrm>
            <a:off x="1790300" y="4026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FIN_WAIT_2</a:t>
            </a:r>
            <a:endParaRPr sz="1000">
              <a:latin typeface="Roboto"/>
              <a:ea typeface="Roboto"/>
              <a:cs typeface="Roboto"/>
              <a:sym typeface="Roboto"/>
            </a:endParaRPr>
          </a:p>
        </p:txBody>
      </p:sp>
      <p:sp>
        <p:nvSpPr>
          <p:cNvPr id="895" name="Google Shape;895;p42"/>
          <p:cNvSpPr/>
          <p:nvPr/>
        </p:nvSpPr>
        <p:spPr>
          <a:xfrm>
            <a:off x="1790300" y="342677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FIN_WAIT_1</a:t>
            </a:r>
            <a:endParaRPr sz="1000">
              <a:latin typeface="Roboto"/>
              <a:ea typeface="Roboto"/>
              <a:cs typeface="Roboto"/>
              <a:sym typeface="Roboto"/>
            </a:endParaRPr>
          </a:p>
        </p:txBody>
      </p:sp>
      <p:sp>
        <p:nvSpPr>
          <p:cNvPr id="896" name="Google Shape;896;p42"/>
          <p:cNvSpPr/>
          <p:nvPr/>
        </p:nvSpPr>
        <p:spPr>
          <a:xfrm>
            <a:off x="1790300" y="2154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SYN_RCVD</a:t>
            </a:r>
            <a:endParaRPr sz="1000">
              <a:latin typeface="Roboto"/>
              <a:ea typeface="Roboto"/>
              <a:cs typeface="Roboto"/>
              <a:sym typeface="Roboto"/>
            </a:endParaRPr>
          </a:p>
        </p:txBody>
      </p:sp>
      <p:sp>
        <p:nvSpPr>
          <p:cNvPr id="897" name="Google Shape;897;p42"/>
          <p:cNvSpPr/>
          <p:nvPr/>
        </p:nvSpPr>
        <p:spPr>
          <a:xfrm>
            <a:off x="3620000" y="146490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LISTEN</a:t>
            </a:r>
            <a:endParaRPr sz="1000">
              <a:latin typeface="Roboto"/>
              <a:ea typeface="Roboto"/>
              <a:cs typeface="Roboto"/>
              <a:sym typeface="Roboto"/>
            </a:endParaRPr>
          </a:p>
        </p:txBody>
      </p:sp>
      <p:sp>
        <p:nvSpPr>
          <p:cNvPr id="898" name="Google Shape;898;p42"/>
          <p:cNvSpPr/>
          <p:nvPr/>
        </p:nvSpPr>
        <p:spPr>
          <a:xfrm>
            <a:off x="3620000" y="5794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9" name="Google Shape;899;p42"/>
          <p:cNvSpPr/>
          <p:nvPr/>
        </p:nvSpPr>
        <p:spPr>
          <a:xfrm>
            <a:off x="5479725" y="2154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SYN_SENT</a:t>
            </a:r>
            <a:endParaRPr sz="1000">
              <a:latin typeface="Roboto"/>
              <a:ea typeface="Roboto"/>
              <a:cs typeface="Roboto"/>
              <a:sym typeface="Roboto"/>
            </a:endParaRPr>
          </a:p>
        </p:txBody>
      </p:sp>
      <p:sp>
        <p:nvSpPr>
          <p:cNvPr id="900" name="Google Shape;900;p42"/>
          <p:cNvSpPr/>
          <p:nvPr/>
        </p:nvSpPr>
        <p:spPr>
          <a:xfrm>
            <a:off x="4690000" y="801750"/>
            <a:ext cx="973200" cy="1354225"/>
          </a:xfrm>
          <a:custGeom>
            <a:avLst/>
            <a:gdLst/>
            <a:ahLst/>
            <a:cxnLst/>
            <a:rect l="l" t="t" r="r" b="b"/>
            <a:pathLst>
              <a:path w="38928" h="54169" extrusionOk="0">
                <a:moveTo>
                  <a:pt x="38928" y="54169"/>
                </a:moveTo>
                <a:cubicBezTo>
                  <a:pt x="38293" y="50359"/>
                  <a:pt x="38100" y="38764"/>
                  <a:pt x="35118" y="31309"/>
                </a:cubicBezTo>
                <a:cubicBezTo>
                  <a:pt x="32136" y="23855"/>
                  <a:pt x="26891" y="14660"/>
                  <a:pt x="21038" y="9442"/>
                </a:cubicBezTo>
                <a:cubicBezTo>
                  <a:pt x="15185" y="4224"/>
                  <a:pt x="3506" y="1574"/>
                  <a:pt x="0" y="0"/>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1" name="Google Shape;901;p42"/>
          <p:cNvSpPr/>
          <p:nvPr/>
        </p:nvSpPr>
        <p:spPr>
          <a:xfrm>
            <a:off x="4271725" y="1750125"/>
            <a:ext cx="1207997" cy="49780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2" name="Google Shape;902;p42"/>
          <p:cNvSpPr/>
          <p:nvPr/>
        </p:nvSpPr>
        <p:spPr>
          <a:xfrm rot="10800000" flipH="1">
            <a:off x="4271725" y="2359725"/>
            <a:ext cx="1207997" cy="49780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triangle" w="med" len="med"/>
            <a:tailEnd type="none" w="med" len="med"/>
          </a:ln>
        </p:spPr>
        <p:txBody>
          <a:bodyPr/>
          <a:lstStyle/>
          <a:p>
            <a:endParaRPr lang="en-US"/>
          </a:p>
        </p:txBody>
      </p:sp>
      <p:sp>
        <p:nvSpPr>
          <p:cNvPr id="903" name="Google Shape;903;p42"/>
          <p:cNvSpPr/>
          <p:nvPr/>
        </p:nvSpPr>
        <p:spPr>
          <a:xfrm flipH="1">
            <a:off x="2857420" y="1750125"/>
            <a:ext cx="1160855" cy="478983"/>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4" name="Google Shape;904;p42"/>
          <p:cNvSpPr/>
          <p:nvPr/>
        </p:nvSpPr>
        <p:spPr>
          <a:xfrm rot="10800000">
            <a:off x="2859109" y="2359725"/>
            <a:ext cx="1167441" cy="49780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triangle" w="med" len="med"/>
            <a:tailEnd type="none" w="med" len="med"/>
          </a:ln>
        </p:spPr>
        <p:txBody>
          <a:bodyPr/>
          <a:lstStyle/>
          <a:p>
            <a:endParaRPr lang="en-US"/>
          </a:p>
        </p:txBody>
      </p:sp>
      <p:sp>
        <p:nvSpPr>
          <p:cNvPr id="905" name="Google Shape;905;p42"/>
          <p:cNvSpPr/>
          <p:nvPr/>
        </p:nvSpPr>
        <p:spPr>
          <a:xfrm>
            <a:off x="4271725" y="3140700"/>
            <a:ext cx="1207997" cy="39361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6" name="Google Shape;906;p42"/>
          <p:cNvSpPr/>
          <p:nvPr/>
        </p:nvSpPr>
        <p:spPr>
          <a:xfrm flipH="1">
            <a:off x="2862851" y="3140700"/>
            <a:ext cx="1155425" cy="39361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7" name="Google Shape;907;p42"/>
          <p:cNvSpPr/>
          <p:nvPr/>
        </p:nvSpPr>
        <p:spPr>
          <a:xfrm>
            <a:off x="2323850" y="4309775"/>
            <a:ext cx="1403858" cy="391225"/>
          </a:xfrm>
          <a:custGeom>
            <a:avLst/>
            <a:gdLst/>
            <a:ahLst/>
            <a:cxnLst/>
            <a:rect l="l" t="t" r="r" b="b"/>
            <a:pathLst>
              <a:path w="52014" h="15649" extrusionOk="0">
                <a:moveTo>
                  <a:pt x="0" y="0"/>
                </a:moveTo>
                <a:cubicBezTo>
                  <a:pt x="387" y="1905"/>
                  <a:pt x="-221" y="8890"/>
                  <a:pt x="2319" y="11430"/>
                </a:cubicBezTo>
                <a:cubicBezTo>
                  <a:pt x="4859" y="13970"/>
                  <a:pt x="6958" y="14550"/>
                  <a:pt x="15240" y="15240"/>
                </a:cubicBezTo>
                <a:cubicBezTo>
                  <a:pt x="23523" y="15930"/>
                  <a:pt x="45885" y="15517"/>
                  <a:pt x="52014" y="15572"/>
                </a:cubicBezTo>
              </a:path>
            </a:pathLst>
          </a:custGeom>
          <a:noFill/>
          <a:ln w="9525" cap="flat" cmpd="sng">
            <a:solidFill>
              <a:schemeClr val="dk2"/>
            </a:solidFill>
            <a:prstDash val="solid"/>
            <a:round/>
            <a:headEnd type="none" w="med" len="med"/>
            <a:tailEnd type="triangle" w="med" len="med"/>
          </a:ln>
        </p:spPr>
        <p:txBody>
          <a:bodyPr/>
          <a:lstStyle/>
          <a:p>
            <a:endParaRPr lang="en-US"/>
          </a:p>
        </p:txBody>
      </p:sp>
      <p:cxnSp>
        <p:nvCxnSpPr>
          <p:cNvPr id="908" name="Google Shape;908;p42"/>
          <p:cNvCxnSpPr/>
          <p:nvPr/>
        </p:nvCxnSpPr>
        <p:spPr>
          <a:xfrm>
            <a:off x="4022500" y="863875"/>
            <a:ext cx="0" cy="600600"/>
          </a:xfrm>
          <a:prstGeom prst="straightConnector1">
            <a:avLst/>
          </a:prstGeom>
          <a:noFill/>
          <a:ln w="9525" cap="flat" cmpd="sng">
            <a:solidFill>
              <a:schemeClr val="dk2"/>
            </a:solidFill>
            <a:prstDash val="solid"/>
            <a:round/>
            <a:headEnd type="none" w="med" len="med"/>
            <a:tailEnd type="triangle" w="med" len="med"/>
          </a:ln>
        </p:spPr>
      </p:cxnSp>
      <p:cxnSp>
        <p:nvCxnSpPr>
          <p:cNvPr id="909" name="Google Shape;909;p42"/>
          <p:cNvCxnSpPr/>
          <p:nvPr/>
        </p:nvCxnSpPr>
        <p:spPr>
          <a:xfrm>
            <a:off x="4275948" y="863875"/>
            <a:ext cx="0" cy="600600"/>
          </a:xfrm>
          <a:prstGeom prst="straightConnector1">
            <a:avLst/>
          </a:prstGeom>
          <a:noFill/>
          <a:ln w="9525" cap="flat" cmpd="sng">
            <a:solidFill>
              <a:schemeClr val="dk2"/>
            </a:solidFill>
            <a:prstDash val="solid"/>
            <a:round/>
            <a:headEnd type="none" w="med" len="med"/>
            <a:tailEnd type="triangle" w="med" len="med"/>
          </a:ln>
        </p:spPr>
      </p:cxnSp>
      <p:cxnSp>
        <p:nvCxnSpPr>
          <p:cNvPr id="910" name="Google Shape;910;p42"/>
          <p:cNvCxnSpPr>
            <a:stCxn id="896" idx="2"/>
            <a:endCxn id="895" idx="0"/>
          </p:cNvCxnSpPr>
          <p:nvPr/>
        </p:nvCxnSpPr>
        <p:spPr>
          <a:xfrm>
            <a:off x="2323850" y="2433925"/>
            <a:ext cx="0" cy="993000"/>
          </a:xfrm>
          <a:prstGeom prst="straightConnector1">
            <a:avLst/>
          </a:prstGeom>
          <a:noFill/>
          <a:ln w="9525" cap="flat" cmpd="sng">
            <a:solidFill>
              <a:schemeClr val="dk2"/>
            </a:solidFill>
            <a:prstDash val="solid"/>
            <a:round/>
            <a:headEnd type="none" w="med" len="med"/>
            <a:tailEnd type="triangle" w="med" len="med"/>
          </a:ln>
        </p:spPr>
      </p:cxnSp>
      <p:cxnSp>
        <p:nvCxnSpPr>
          <p:cNvPr id="911" name="Google Shape;911;p42"/>
          <p:cNvCxnSpPr>
            <a:stCxn id="895" idx="2"/>
            <a:endCxn id="894" idx="0"/>
          </p:cNvCxnSpPr>
          <p:nvPr/>
        </p:nvCxnSpPr>
        <p:spPr>
          <a:xfrm>
            <a:off x="2323850" y="3705775"/>
            <a:ext cx="0" cy="321300"/>
          </a:xfrm>
          <a:prstGeom prst="straightConnector1">
            <a:avLst/>
          </a:prstGeom>
          <a:noFill/>
          <a:ln w="9525" cap="flat" cmpd="sng">
            <a:solidFill>
              <a:schemeClr val="dk2"/>
            </a:solidFill>
            <a:prstDash val="solid"/>
            <a:round/>
            <a:headEnd type="none" w="med" len="med"/>
            <a:tailEnd type="triangle" w="med" len="med"/>
          </a:ln>
        </p:spPr>
      </p:cxnSp>
      <p:cxnSp>
        <p:nvCxnSpPr>
          <p:cNvPr id="912" name="Google Shape;912;p42"/>
          <p:cNvCxnSpPr/>
          <p:nvPr/>
        </p:nvCxnSpPr>
        <p:spPr>
          <a:xfrm>
            <a:off x="2811625" y="3704300"/>
            <a:ext cx="912600" cy="912600"/>
          </a:xfrm>
          <a:prstGeom prst="straightConnector1">
            <a:avLst/>
          </a:prstGeom>
          <a:noFill/>
          <a:ln w="9525" cap="flat" cmpd="sng">
            <a:solidFill>
              <a:schemeClr val="dk2"/>
            </a:solidFill>
            <a:prstDash val="solid"/>
            <a:round/>
            <a:headEnd type="none" w="med" len="med"/>
            <a:tailEnd type="triangle" w="med" len="med"/>
          </a:ln>
        </p:spPr>
      </p:cxnSp>
      <p:cxnSp>
        <p:nvCxnSpPr>
          <p:cNvPr id="913" name="Google Shape;913;p42"/>
          <p:cNvCxnSpPr>
            <a:stCxn id="893" idx="2"/>
            <a:endCxn id="892" idx="0"/>
          </p:cNvCxnSpPr>
          <p:nvPr/>
        </p:nvCxnSpPr>
        <p:spPr>
          <a:xfrm>
            <a:off x="4260675" y="4316425"/>
            <a:ext cx="0" cy="226800"/>
          </a:xfrm>
          <a:prstGeom prst="straightConnector1">
            <a:avLst/>
          </a:prstGeom>
          <a:noFill/>
          <a:ln w="9525" cap="flat" cmpd="sng">
            <a:solidFill>
              <a:schemeClr val="dk2"/>
            </a:solidFill>
            <a:prstDash val="solid"/>
            <a:round/>
            <a:headEnd type="none" w="med" len="med"/>
            <a:tailEnd type="triangle" w="med" len="med"/>
          </a:ln>
        </p:spPr>
      </p:cxnSp>
      <p:cxnSp>
        <p:nvCxnSpPr>
          <p:cNvPr id="914" name="Google Shape;914;p42"/>
          <p:cNvCxnSpPr>
            <a:endCxn id="890" idx="0"/>
          </p:cNvCxnSpPr>
          <p:nvPr/>
        </p:nvCxnSpPr>
        <p:spPr>
          <a:xfrm>
            <a:off x="6013275" y="3686125"/>
            <a:ext cx="0" cy="340800"/>
          </a:xfrm>
          <a:prstGeom prst="straightConnector1">
            <a:avLst/>
          </a:prstGeom>
          <a:noFill/>
          <a:ln w="9525" cap="flat" cmpd="sng">
            <a:solidFill>
              <a:schemeClr val="dk2"/>
            </a:solidFill>
            <a:prstDash val="solid"/>
            <a:round/>
            <a:headEnd type="none" w="med" len="med"/>
            <a:tailEnd type="triangle" w="med" len="med"/>
          </a:ln>
        </p:spPr>
      </p:cxnSp>
      <p:cxnSp>
        <p:nvCxnSpPr>
          <p:cNvPr id="915" name="Google Shape;915;p42"/>
          <p:cNvCxnSpPr>
            <a:stCxn id="890" idx="2"/>
            <a:endCxn id="891" idx="0"/>
          </p:cNvCxnSpPr>
          <p:nvPr/>
        </p:nvCxnSpPr>
        <p:spPr>
          <a:xfrm>
            <a:off x="6013275" y="4305925"/>
            <a:ext cx="0" cy="237300"/>
          </a:xfrm>
          <a:prstGeom prst="straightConnector1">
            <a:avLst/>
          </a:prstGeom>
          <a:noFill/>
          <a:ln w="9525" cap="flat" cmpd="sng">
            <a:solidFill>
              <a:schemeClr val="dk2"/>
            </a:solidFill>
            <a:prstDash val="solid"/>
            <a:round/>
            <a:headEnd type="none" w="med" len="med"/>
            <a:tailEnd type="triangle" w="med" len="med"/>
          </a:ln>
        </p:spPr>
      </p:cxnSp>
      <p:cxnSp>
        <p:nvCxnSpPr>
          <p:cNvPr id="916" name="Google Shape;916;p42"/>
          <p:cNvCxnSpPr>
            <a:endCxn id="891" idx="1"/>
          </p:cNvCxnSpPr>
          <p:nvPr/>
        </p:nvCxnSpPr>
        <p:spPr>
          <a:xfrm>
            <a:off x="4794225" y="4682750"/>
            <a:ext cx="685500" cy="0"/>
          </a:xfrm>
          <a:prstGeom prst="straightConnector1">
            <a:avLst/>
          </a:prstGeom>
          <a:noFill/>
          <a:ln w="9525" cap="flat" cmpd="sng">
            <a:solidFill>
              <a:schemeClr val="dk2"/>
            </a:solidFill>
            <a:prstDash val="solid"/>
            <a:round/>
            <a:headEnd type="none" w="med" len="med"/>
            <a:tailEnd type="triangle" w="med" len="med"/>
          </a:ln>
        </p:spPr>
      </p:cxnSp>
      <p:sp>
        <p:nvSpPr>
          <p:cNvPr id="917" name="Google Shape;917;p42"/>
          <p:cNvSpPr txBox="1"/>
          <p:nvPr/>
        </p:nvSpPr>
        <p:spPr>
          <a:xfrm>
            <a:off x="2791625" y="4546250"/>
            <a:ext cx="6162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18" name="Google Shape;918;p42"/>
          <p:cNvSpPr txBox="1"/>
          <p:nvPr/>
        </p:nvSpPr>
        <p:spPr>
          <a:xfrm rot="2700000">
            <a:off x="2763772" y="4006124"/>
            <a:ext cx="1104784" cy="154008"/>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 + FIN/ACK</a:t>
            </a:r>
            <a:endParaRPr sz="1000">
              <a:latin typeface="Roboto"/>
              <a:ea typeface="Roboto"/>
              <a:cs typeface="Roboto"/>
              <a:sym typeface="Roboto"/>
            </a:endParaRPr>
          </a:p>
        </p:txBody>
      </p:sp>
      <p:sp>
        <p:nvSpPr>
          <p:cNvPr id="919" name="Google Shape;919;p42"/>
          <p:cNvSpPr txBox="1"/>
          <p:nvPr/>
        </p:nvSpPr>
        <p:spPr>
          <a:xfrm>
            <a:off x="3849550" y="4352888"/>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0" name="Google Shape;920;p42"/>
          <p:cNvSpPr txBox="1"/>
          <p:nvPr/>
        </p:nvSpPr>
        <p:spPr>
          <a:xfrm>
            <a:off x="4828875" y="4026925"/>
            <a:ext cx="616200" cy="6156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Timeout after 2 segment lifetimes</a:t>
            </a:r>
            <a:endParaRPr sz="1000">
              <a:latin typeface="Roboto"/>
              <a:ea typeface="Roboto"/>
              <a:cs typeface="Roboto"/>
              <a:sym typeface="Roboto"/>
            </a:endParaRPr>
          </a:p>
        </p:txBody>
      </p:sp>
      <p:sp>
        <p:nvSpPr>
          <p:cNvPr id="921" name="Google Shape;921;p42"/>
          <p:cNvSpPr txBox="1"/>
          <p:nvPr/>
        </p:nvSpPr>
        <p:spPr>
          <a:xfrm>
            <a:off x="6075900" y="4347638"/>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2" name="Google Shape;922;p42"/>
          <p:cNvSpPr txBox="1"/>
          <p:nvPr/>
        </p:nvSpPr>
        <p:spPr>
          <a:xfrm>
            <a:off x="6041950" y="3757838"/>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3" name="Google Shape;923;p42"/>
          <p:cNvSpPr txBox="1"/>
          <p:nvPr/>
        </p:nvSpPr>
        <p:spPr>
          <a:xfrm>
            <a:off x="3166225" y="3664013"/>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4" name="Google Shape;924;p42"/>
          <p:cNvSpPr txBox="1"/>
          <p:nvPr/>
        </p:nvSpPr>
        <p:spPr>
          <a:xfrm>
            <a:off x="1977938" y="3747013"/>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5" name="Google Shape;925;p42"/>
          <p:cNvSpPr txBox="1"/>
          <p:nvPr/>
        </p:nvSpPr>
        <p:spPr>
          <a:xfrm>
            <a:off x="3147763" y="3312425"/>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6" name="Google Shape;926;p42"/>
          <p:cNvSpPr txBox="1"/>
          <p:nvPr/>
        </p:nvSpPr>
        <p:spPr>
          <a:xfrm>
            <a:off x="2424538" y="2922163"/>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7" name="Google Shape;927;p42"/>
          <p:cNvSpPr txBox="1"/>
          <p:nvPr/>
        </p:nvSpPr>
        <p:spPr>
          <a:xfrm>
            <a:off x="3370113" y="2433913"/>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8" name="Google Shape;928;p42"/>
          <p:cNvSpPr txBox="1"/>
          <p:nvPr/>
        </p:nvSpPr>
        <p:spPr>
          <a:xfrm>
            <a:off x="4709275" y="3341888"/>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9" name="Google Shape;929;p42"/>
          <p:cNvSpPr txBox="1"/>
          <p:nvPr/>
        </p:nvSpPr>
        <p:spPr>
          <a:xfrm>
            <a:off x="4498900" y="2477863"/>
            <a:ext cx="9483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SYN+ACK/ACK</a:t>
            </a:r>
            <a:endParaRPr sz="1000">
              <a:latin typeface="Roboto"/>
              <a:ea typeface="Roboto"/>
              <a:cs typeface="Roboto"/>
              <a:sym typeface="Roboto"/>
            </a:endParaRPr>
          </a:p>
        </p:txBody>
      </p:sp>
      <p:sp>
        <p:nvSpPr>
          <p:cNvPr id="930" name="Google Shape;930;p42"/>
          <p:cNvSpPr txBox="1"/>
          <p:nvPr/>
        </p:nvSpPr>
        <p:spPr>
          <a:xfrm>
            <a:off x="3646675" y="2154838"/>
            <a:ext cx="9483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1" name="Google Shape;931;p42"/>
          <p:cNvSpPr txBox="1"/>
          <p:nvPr/>
        </p:nvSpPr>
        <p:spPr>
          <a:xfrm>
            <a:off x="2804900" y="1974850"/>
            <a:ext cx="9483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2" name="Google Shape;932;p42"/>
          <p:cNvSpPr txBox="1"/>
          <p:nvPr/>
        </p:nvSpPr>
        <p:spPr>
          <a:xfrm>
            <a:off x="4527925" y="1990868"/>
            <a:ext cx="7197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Send/SYN</a:t>
            </a:r>
            <a:endParaRPr sz="1000">
              <a:latin typeface="Roboto"/>
              <a:ea typeface="Roboto"/>
              <a:cs typeface="Roboto"/>
              <a:sym typeface="Roboto"/>
            </a:endParaRPr>
          </a:p>
        </p:txBody>
      </p:sp>
      <p:sp>
        <p:nvSpPr>
          <p:cNvPr id="933" name="Google Shape;933;p42"/>
          <p:cNvSpPr txBox="1"/>
          <p:nvPr/>
        </p:nvSpPr>
        <p:spPr>
          <a:xfrm>
            <a:off x="5040625" y="1215625"/>
            <a:ext cx="3651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4" name="Google Shape;934;p42"/>
          <p:cNvSpPr txBox="1"/>
          <p:nvPr/>
        </p:nvSpPr>
        <p:spPr>
          <a:xfrm>
            <a:off x="4300425" y="1064025"/>
            <a:ext cx="3651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5" name="Google Shape;935;p42"/>
          <p:cNvSpPr txBox="1"/>
          <p:nvPr/>
        </p:nvSpPr>
        <p:spPr>
          <a:xfrm>
            <a:off x="3147775" y="1064025"/>
            <a:ext cx="8658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Passive open</a:t>
            </a:r>
            <a:endParaRPr sz="1000">
              <a:latin typeface="Roboto"/>
              <a:ea typeface="Roboto"/>
              <a:cs typeface="Roboto"/>
              <a:sym typeface="Roboto"/>
            </a:endParaRPr>
          </a:p>
        </p:txBody>
      </p:sp>
      <p:sp>
        <p:nvSpPr>
          <p:cNvPr id="936" name="Google Shape;936;p42"/>
          <p:cNvSpPr txBox="1"/>
          <p:nvPr/>
        </p:nvSpPr>
        <p:spPr>
          <a:xfrm>
            <a:off x="5354700" y="727663"/>
            <a:ext cx="10671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Active open/SYN</a:t>
            </a:r>
            <a:endParaRPr sz="1000">
              <a:latin typeface="Roboto"/>
              <a:ea typeface="Roboto"/>
              <a:cs typeface="Roboto"/>
              <a:sym typeface="Roboto"/>
            </a:endParaRPr>
          </a:p>
        </p:txBody>
      </p:sp>
      <p:cxnSp>
        <p:nvCxnSpPr>
          <p:cNvPr id="937" name="Google Shape;937;p42"/>
          <p:cNvCxnSpPr/>
          <p:nvPr/>
        </p:nvCxnSpPr>
        <p:spPr>
          <a:xfrm rot="10800000">
            <a:off x="2857425" y="2308713"/>
            <a:ext cx="2622300" cy="0"/>
          </a:xfrm>
          <a:prstGeom prst="straightConnector1">
            <a:avLst/>
          </a:prstGeom>
          <a:noFill/>
          <a:ln w="9525" cap="flat" cmpd="sng">
            <a:solidFill>
              <a:schemeClr val="dk2"/>
            </a:solidFill>
            <a:prstDash val="solid"/>
            <a:round/>
            <a:headEnd type="none" w="med" len="med"/>
            <a:tailEnd type="triangle" w="med" len="med"/>
          </a:ln>
        </p:spPr>
      </p:cxnSp>
      <p:sp>
        <p:nvSpPr>
          <p:cNvPr id="938" name="Google Shape;938;p42"/>
          <p:cNvSpPr/>
          <p:nvPr/>
        </p:nvSpPr>
        <p:spPr>
          <a:xfrm>
            <a:off x="2861675" y="3639075"/>
            <a:ext cx="1255725" cy="393700"/>
          </a:xfrm>
          <a:custGeom>
            <a:avLst/>
            <a:gdLst/>
            <a:ahLst/>
            <a:cxnLst/>
            <a:rect l="l" t="t" r="r" b="b"/>
            <a:pathLst>
              <a:path w="50229" h="15748" extrusionOk="0">
                <a:moveTo>
                  <a:pt x="0" y="0"/>
                </a:moveTo>
                <a:cubicBezTo>
                  <a:pt x="6583" y="434"/>
                  <a:pt x="31126" y="-21"/>
                  <a:pt x="39497" y="2604"/>
                </a:cubicBezTo>
                <a:cubicBezTo>
                  <a:pt x="47869" y="5229"/>
                  <a:pt x="48440" y="13557"/>
                  <a:pt x="50229" y="1574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39" name="Google Shape;939;p42"/>
          <p:cNvSpPr txBox="1"/>
          <p:nvPr/>
        </p:nvSpPr>
        <p:spPr>
          <a:xfrm>
            <a:off x="6730300" y="2514775"/>
            <a:ext cx="1981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accent2"/>
                </a:solidFill>
                <a:latin typeface="Roboto"/>
                <a:ea typeface="Roboto"/>
                <a:cs typeface="Roboto"/>
                <a:sym typeface="Roboto"/>
              </a:rPr>
              <a:t>The ESTABLISHED state is where data are sent and acked.</a:t>
            </a:r>
            <a:endParaRPr dirty="0">
              <a:solidFill>
                <a:schemeClr val="accent2"/>
              </a:solidFill>
              <a:latin typeface="Roboto"/>
              <a:ea typeface="Roboto"/>
              <a:cs typeface="Roboto"/>
              <a:sym typeface="Roboto"/>
            </a:endParaRPr>
          </a:p>
        </p:txBody>
      </p:sp>
      <p:sp>
        <p:nvSpPr>
          <p:cNvPr id="940" name="Google Shape;940;p42"/>
          <p:cNvSpPr/>
          <p:nvPr/>
        </p:nvSpPr>
        <p:spPr>
          <a:xfrm>
            <a:off x="4692275" y="693750"/>
            <a:ext cx="1413050" cy="1469550"/>
          </a:xfrm>
          <a:custGeom>
            <a:avLst/>
            <a:gdLst/>
            <a:ahLst/>
            <a:cxnLst/>
            <a:rect l="l" t="t" r="r" b="b"/>
            <a:pathLst>
              <a:path w="56522" h="58782" extrusionOk="0">
                <a:moveTo>
                  <a:pt x="0" y="0"/>
                </a:moveTo>
                <a:cubicBezTo>
                  <a:pt x="7590" y="2692"/>
                  <a:pt x="36120" y="6352"/>
                  <a:pt x="45540" y="16149"/>
                </a:cubicBezTo>
                <a:cubicBezTo>
                  <a:pt x="54960" y="25946"/>
                  <a:pt x="54692" y="51677"/>
                  <a:pt x="56522" y="58782"/>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2" name="Slide Number Placeholder 1">
            <a:extLst>
              <a:ext uri="{FF2B5EF4-FFF2-40B4-BE49-F238E27FC236}">
                <a16:creationId xmlns:a16="http://schemas.microsoft.com/office/drawing/2014/main" id="{1F1D93B7-72B4-3D9B-5EAF-CB0BD0F058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4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TCP Setup/Teardown Transition Diagram (Simplified)</a:t>
            </a:r>
            <a:endParaRPr/>
          </a:p>
        </p:txBody>
      </p:sp>
      <p:sp>
        <p:nvSpPr>
          <p:cNvPr id="946" name="Google Shape;946;p43"/>
          <p:cNvSpPr/>
          <p:nvPr/>
        </p:nvSpPr>
        <p:spPr>
          <a:xfrm>
            <a:off x="3583966" y="4139275"/>
            <a:ext cx="1352700" cy="441300"/>
          </a:xfrm>
          <a:prstGeom prst="roundRect">
            <a:avLst>
              <a:gd name="adj" fmla="val 16667"/>
            </a:avLst>
          </a:prstGeom>
          <a:solidFill>
            <a:srgbClr val="FFFFF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FIN_WAIT1</a:t>
            </a:r>
            <a:endParaRPr>
              <a:solidFill>
                <a:schemeClr val="accent2"/>
              </a:solidFill>
              <a:latin typeface="Roboto"/>
              <a:ea typeface="Roboto"/>
              <a:cs typeface="Roboto"/>
              <a:sym typeface="Roboto"/>
            </a:endParaRPr>
          </a:p>
        </p:txBody>
      </p:sp>
      <p:sp>
        <p:nvSpPr>
          <p:cNvPr id="947" name="Google Shape;947;p43"/>
          <p:cNvSpPr/>
          <p:nvPr/>
        </p:nvSpPr>
        <p:spPr>
          <a:xfrm>
            <a:off x="1405975" y="2996263"/>
            <a:ext cx="1352700" cy="441300"/>
          </a:xfrm>
          <a:prstGeom prst="roundRect">
            <a:avLst>
              <a:gd name="adj" fmla="val 16667"/>
            </a:avLst>
          </a:prstGeom>
          <a:solidFill>
            <a:srgbClr val="FFFFF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FIN_WAIT2</a:t>
            </a:r>
            <a:endParaRPr>
              <a:solidFill>
                <a:schemeClr val="accent2"/>
              </a:solidFill>
              <a:latin typeface="Roboto"/>
              <a:ea typeface="Roboto"/>
              <a:cs typeface="Roboto"/>
              <a:sym typeface="Roboto"/>
            </a:endParaRPr>
          </a:p>
        </p:txBody>
      </p:sp>
      <p:sp>
        <p:nvSpPr>
          <p:cNvPr id="948" name="Google Shape;948;p43"/>
          <p:cNvSpPr/>
          <p:nvPr/>
        </p:nvSpPr>
        <p:spPr>
          <a:xfrm>
            <a:off x="5761929" y="2996263"/>
            <a:ext cx="1352700" cy="4413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ESTABLISHED</a:t>
            </a:r>
            <a:endParaRPr>
              <a:latin typeface="Roboto"/>
              <a:ea typeface="Roboto"/>
              <a:cs typeface="Roboto"/>
              <a:sym typeface="Roboto"/>
            </a:endParaRPr>
          </a:p>
        </p:txBody>
      </p:sp>
      <p:sp>
        <p:nvSpPr>
          <p:cNvPr id="949" name="Google Shape;949;p43"/>
          <p:cNvSpPr/>
          <p:nvPr/>
        </p:nvSpPr>
        <p:spPr>
          <a:xfrm>
            <a:off x="3583966" y="710275"/>
            <a:ext cx="1352700" cy="4413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CLOSED</a:t>
            </a:r>
            <a:endParaRPr>
              <a:latin typeface="Roboto"/>
              <a:ea typeface="Roboto"/>
              <a:cs typeface="Roboto"/>
              <a:sym typeface="Roboto"/>
            </a:endParaRPr>
          </a:p>
        </p:txBody>
      </p:sp>
      <p:sp>
        <p:nvSpPr>
          <p:cNvPr id="950" name="Google Shape;950;p43"/>
          <p:cNvSpPr/>
          <p:nvPr/>
        </p:nvSpPr>
        <p:spPr>
          <a:xfrm>
            <a:off x="1405975" y="1853263"/>
            <a:ext cx="1352700" cy="441300"/>
          </a:xfrm>
          <a:prstGeom prst="roundRect">
            <a:avLst>
              <a:gd name="adj" fmla="val 16667"/>
            </a:avLst>
          </a:prstGeom>
          <a:solidFill>
            <a:srgbClr val="FFFFF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2"/>
                </a:solidFill>
                <a:latin typeface="Roboto"/>
                <a:ea typeface="Roboto"/>
                <a:cs typeface="Roboto"/>
                <a:sym typeface="Roboto"/>
              </a:rPr>
              <a:t>TIME_WAIT</a:t>
            </a:r>
            <a:endParaRPr dirty="0">
              <a:solidFill>
                <a:schemeClr val="accent2"/>
              </a:solidFill>
              <a:latin typeface="Roboto"/>
              <a:ea typeface="Roboto"/>
              <a:cs typeface="Roboto"/>
              <a:sym typeface="Roboto"/>
            </a:endParaRPr>
          </a:p>
        </p:txBody>
      </p:sp>
      <p:sp>
        <p:nvSpPr>
          <p:cNvPr id="951" name="Google Shape;951;p43"/>
          <p:cNvSpPr/>
          <p:nvPr/>
        </p:nvSpPr>
        <p:spPr>
          <a:xfrm>
            <a:off x="5761929" y="1853263"/>
            <a:ext cx="1352700" cy="441300"/>
          </a:xfrm>
          <a:prstGeom prst="roundRect">
            <a:avLst>
              <a:gd name="adj" fmla="val 16667"/>
            </a:avLst>
          </a:prstGeom>
          <a:solidFill>
            <a:srgbClr val="FFFFFF"/>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SYN_SENT</a:t>
            </a:r>
            <a:endParaRPr>
              <a:solidFill>
                <a:srgbClr val="0000FF"/>
              </a:solidFill>
              <a:latin typeface="Roboto"/>
              <a:ea typeface="Roboto"/>
              <a:cs typeface="Roboto"/>
              <a:sym typeface="Roboto"/>
            </a:endParaRPr>
          </a:p>
        </p:txBody>
      </p:sp>
      <p:cxnSp>
        <p:nvCxnSpPr>
          <p:cNvPr id="952" name="Google Shape;952;p43"/>
          <p:cNvCxnSpPr>
            <a:stCxn id="949" idx="1"/>
            <a:endCxn id="950" idx="0"/>
          </p:cNvCxnSpPr>
          <p:nvPr/>
        </p:nvCxnSpPr>
        <p:spPr>
          <a:xfrm flipH="1">
            <a:off x="2082466" y="930925"/>
            <a:ext cx="1501500" cy="922200"/>
          </a:xfrm>
          <a:prstGeom prst="curvedConnector2">
            <a:avLst/>
          </a:prstGeom>
          <a:noFill/>
          <a:ln w="19050" cap="flat" cmpd="sng">
            <a:solidFill>
              <a:schemeClr val="accent2"/>
            </a:solidFill>
            <a:prstDash val="solid"/>
            <a:round/>
            <a:headEnd type="triangle" w="med" len="med"/>
            <a:tailEnd type="none" w="med" len="med"/>
          </a:ln>
        </p:spPr>
      </p:cxnSp>
      <p:cxnSp>
        <p:nvCxnSpPr>
          <p:cNvPr id="953" name="Google Shape;953;p43"/>
          <p:cNvCxnSpPr>
            <a:stCxn id="949" idx="3"/>
            <a:endCxn id="951" idx="0"/>
          </p:cNvCxnSpPr>
          <p:nvPr/>
        </p:nvCxnSpPr>
        <p:spPr>
          <a:xfrm>
            <a:off x="4936666" y="930925"/>
            <a:ext cx="1501500" cy="922200"/>
          </a:xfrm>
          <a:prstGeom prst="curvedConnector2">
            <a:avLst/>
          </a:prstGeom>
          <a:noFill/>
          <a:ln w="19050" cap="flat" cmpd="sng">
            <a:solidFill>
              <a:srgbClr val="0000FF"/>
            </a:solidFill>
            <a:prstDash val="solid"/>
            <a:round/>
            <a:headEnd type="none" w="med" len="med"/>
            <a:tailEnd type="triangle" w="med" len="med"/>
          </a:ln>
        </p:spPr>
      </p:cxnSp>
      <p:cxnSp>
        <p:nvCxnSpPr>
          <p:cNvPr id="954" name="Google Shape;954;p43"/>
          <p:cNvCxnSpPr>
            <a:stCxn id="947" idx="2"/>
            <a:endCxn id="946" idx="1"/>
          </p:cNvCxnSpPr>
          <p:nvPr/>
        </p:nvCxnSpPr>
        <p:spPr>
          <a:xfrm rot="-5400000" flipH="1">
            <a:off x="2371825" y="3148063"/>
            <a:ext cx="922500" cy="1501500"/>
          </a:xfrm>
          <a:prstGeom prst="curvedConnector2">
            <a:avLst/>
          </a:prstGeom>
          <a:noFill/>
          <a:ln w="19050" cap="flat" cmpd="sng">
            <a:solidFill>
              <a:schemeClr val="accent2"/>
            </a:solidFill>
            <a:prstDash val="solid"/>
            <a:round/>
            <a:headEnd type="triangle" w="med" len="med"/>
            <a:tailEnd type="none" w="med" len="med"/>
          </a:ln>
        </p:spPr>
      </p:cxnSp>
      <p:cxnSp>
        <p:nvCxnSpPr>
          <p:cNvPr id="955" name="Google Shape;955;p43"/>
          <p:cNvCxnSpPr>
            <a:stCxn id="946" idx="3"/>
            <a:endCxn id="948" idx="2"/>
          </p:cNvCxnSpPr>
          <p:nvPr/>
        </p:nvCxnSpPr>
        <p:spPr>
          <a:xfrm rot="10800000" flipH="1">
            <a:off x="4936666" y="3437425"/>
            <a:ext cx="1501500" cy="922500"/>
          </a:xfrm>
          <a:prstGeom prst="curvedConnector2">
            <a:avLst/>
          </a:prstGeom>
          <a:noFill/>
          <a:ln w="19050" cap="flat" cmpd="sng">
            <a:solidFill>
              <a:schemeClr val="accent2"/>
            </a:solidFill>
            <a:prstDash val="solid"/>
            <a:round/>
            <a:headEnd type="triangle" w="med" len="med"/>
            <a:tailEnd type="none" w="med" len="med"/>
          </a:ln>
        </p:spPr>
      </p:cxnSp>
      <p:cxnSp>
        <p:nvCxnSpPr>
          <p:cNvPr id="956" name="Google Shape;956;p43"/>
          <p:cNvCxnSpPr>
            <a:endCxn id="948" idx="0"/>
          </p:cNvCxnSpPr>
          <p:nvPr/>
        </p:nvCxnSpPr>
        <p:spPr>
          <a:xfrm>
            <a:off x="6438279" y="2294563"/>
            <a:ext cx="0" cy="701700"/>
          </a:xfrm>
          <a:prstGeom prst="straightConnector1">
            <a:avLst/>
          </a:prstGeom>
          <a:noFill/>
          <a:ln w="19050" cap="flat" cmpd="sng">
            <a:solidFill>
              <a:srgbClr val="0000FF"/>
            </a:solidFill>
            <a:prstDash val="solid"/>
            <a:round/>
            <a:headEnd type="none" w="med" len="med"/>
            <a:tailEnd type="triangle" w="med" len="med"/>
          </a:ln>
        </p:spPr>
      </p:cxnSp>
      <p:cxnSp>
        <p:nvCxnSpPr>
          <p:cNvPr id="957" name="Google Shape;957;p43"/>
          <p:cNvCxnSpPr>
            <a:stCxn id="950" idx="2"/>
            <a:endCxn id="947" idx="0"/>
          </p:cNvCxnSpPr>
          <p:nvPr/>
        </p:nvCxnSpPr>
        <p:spPr>
          <a:xfrm>
            <a:off x="2082325" y="2294563"/>
            <a:ext cx="0" cy="701700"/>
          </a:xfrm>
          <a:prstGeom prst="straightConnector1">
            <a:avLst/>
          </a:prstGeom>
          <a:noFill/>
          <a:ln w="19050" cap="flat" cmpd="sng">
            <a:solidFill>
              <a:schemeClr val="accent2"/>
            </a:solidFill>
            <a:prstDash val="solid"/>
            <a:round/>
            <a:headEnd type="triangle" w="med" len="med"/>
            <a:tailEnd type="none" w="med" len="med"/>
          </a:ln>
        </p:spPr>
      </p:cxnSp>
      <p:sp>
        <p:nvSpPr>
          <p:cNvPr id="958" name="Google Shape;958;p43"/>
          <p:cNvSpPr txBox="1"/>
          <p:nvPr/>
        </p:nvSpPr>
        <p:spPr>
          <a:xfrm>
            <a:off x="5914325" y="886375"/>
            <a:ext cx="8658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rgbClr val="0000FF"/>
                </a:solidFill>
                <a:latin typeface="Roboto"/>
                <a:ea typeface="Roboto"/>
                <a:cs typeface="Roboto"/>
                <a:sym typeface="Roboto"/>
              </a:rPr>
              <a:t>Send SYN</a:t>
            </a:r>
            <a:endParaRPr>
              <a:solidFill>
                <a:srgbClr val="0000FF"/>
              </a:solidFill>
              <a:latin typeface="Roboto"/>
              <a:ea typeface="Roboto"/>
              <a:cs typeface="Roboto"/>
              <a:sym typeface="Roboto"/>
            </a:endParaRPr>
          </a:p>
        </p:txBody>
      </p:sp>
      <p:sp>
        <p:nvSpPr>
          <p:cNvPr id="959" name="Google Shape;959;p43"/>
          <p:cNvSpPr txBox="1"/>
          <p:nvPr/>
        </p:nvSpPr>
        <p:spPr>
          <a:xfrm>
            <a:off x="6584275" y="2429875"/>
            <a:ext cx="1501500" cy="431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rgbClr val="0000FF"/>
                </a:solidFill>
                <a:latin typeface="Roboto"/>
                <a:ea typeface="Roboto"/>
                <a:cs typeface="Roboto"/>
                <a:sym typeface="Roboto"/>
              </a:rPr>
              <a:t>Receive SYN+ACK</a:t>
            </a:r>
            <a:endParaRPr>
              <a:solidFill>
                <a:srgbClr val="0000FF"/>
              </a:solidFill>
              <a:latin typeface="Roboto"/>
              <a:ea typeface="Roboto"/>
              <a:cs typeface="Roboto"/>
              <a:sym typeface="Roboto"/>
            </a:endParaRPr>
          </a:p>
          <a:p>
            <a:pPr marL="0" lvl="0" indent="0" algn="l" rtl="0">
              <a:spcBef>
                <a:spcPts val="0"/>
              </a:spcBef>
              <a:spcAft>
                <a:spcPts val="0"/>
              </a:spcAft>
              <a:buNone/>
            </a:pPr>
            <a:r>
              <a:rPr lang="en">
                <a:solidFill>
                  <a:srgbClr val="0000FF"/>
                </a:solidFill>
                <a:latin typeface="Roboto"/>
                <a:ea typeface="Roboto"/>
                <a:cs typeface="Roboto"/>
                <a:sym typeface="Roboto"/>
              </a:rPr>
              <a:t>Send ACK</a:t>
            </a:r>
            <a:endParaRPr>
              <a:solidFill>
                <a:srgbClr val="0000FF"/>
              </a:solidFill>
              <a:latin typeface="Roboto"/>
              <a:ea typeface="Roboto"/>
              <a:cs typeface="Roboto"/>
              <a:sym typeface="Roboto"/>
            </a:endParaRPr>
          </a:p>
        </p:txBody>
      </p:sp>
      <p:sp>
        <p:nvSpPr>
          <p:cNvPr id="960" name="Google Shape;960;p43"/>
          <p:cNvSpPr txBox="1"/>
          <p:nvPr/>
        </p:nvSpPr>
        <p:spPr>
          <a:xfrm>
            <a:off x="5914325" y="4239175"/>
            <a:ext cx="8658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latin typeface="Roboto"/>
                <a:ea typeface="Roboto"/>
                <a:cs typeface="Roboto"/>
                <a:sym typeface="Roboto"/>
              </a:rPr>
              <a:t>Send FIN</a:t>
            </a:r>
            <a:endParaRPr>
              <a:latin typeface="Roboto"/>
              <a:ea typeface="Roboto"/>
              <a:cs typeface="Roboto"/>
              <a:sym typeface="Roboto"/>
            </a:endParaRPr>
          </a:p>
        </p:txBody>
      </p:sp>
      <p:sp>
        <p:nvSpPr>
          <p:cNvPr id="961" name="Google Shape;961;p43"/>
          <p:cNvSpPr txBox="1"/>
          <p:nvPr/>
        </p:nvSpPr>
        <p:spPr>
          <a:xfrm>
            <a:off x="1580875" y="4239175"/>
            <a:ext cx="1084500" cy="2154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accent2"/>
                </a:solidFill>
                <a:latin typeface="Roboto"/>
                <a:ea typeface="Roboto"/>
                <a:cs typeface="Roboto"/>
                <a:sym typeface="Roboto"/>
              </a:rPr>
              <a:t>Receive ACK</a:t>
            </a:r>
            <a:endParaRPr>
              <a:solidFill>
                <a:schemeClr val="accent2"/>
              </a:solidFill>
              <a:latin typeface="Roboto"/>
              <a:ea typeface="Roboto"/>
              <a:cs typeface="Roboto"/>
              <a:sym typeface="Roboto"/>
            </a:endParaRPr>
          </a:p>
        </p:txBody>
      </p:sp>
      <p:sp>
        <p:nvSpPr>
          <p:cNvPr id="962" name="Google Shape;962;p43"/>
          <p:cNvSpPr txBox="1"/>
          <p:nvPr/>
        </p:nvSpPr>
        <p:spPr>
          <a:xfrm>
            <a:off x="428425" y="2429875"/>
            <a:ext cx="1501500" cy="4311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accent2"/>
                </a:solidFill>
                <a:latin typeface="Roboto"/>
                <a:ea typeface="Roboto"/>
                <a:cs typeface="Roboto"/>
                <a:sym typeface="Roboto"/>
              </a:rPr>
              <a:t>Receive FIN</a:t>
            </a:r>
            <a:endParaRPr>
              <a:solidFill>
                <a:schemeClr val="accent2"/>
              </a:solidFill>
              <a:latin typeface="Roboto"/>
              <a:ea typeface="Roboto"/>
              <a:cs typeface="Roboto"/>
              <a:sym typeface="Roboto"/>
            </a:endParaRPr>
          </a:p>
          <a:p>
            <a:pPr marL="0" lvl="0" indent="0" algn="r" rtl="0">
              <a:spcBef>
                <a:spcPts val="0"/>
              </a:spcBef>
              <a:spcAft>
                <a:spcPts val="0"/>
              </a:spcAft>
              <a:buNone/>
            </a:pPr>
            <a:r>
              <a:rPr lang="en">
                <a:solidFill>
                  <a:schemeClr val="accent2"/>
                </a:solidFill>
                <a:latin typeface="Roboto"/>
                <a:ea typeface="Roboto"/>
                <a:cs typeface="Roboto"/>
                <a:sym typeface="Roboto"/>
              </a:rPr>
              <a:t>Send ACK</a:t>
            </a:r>
            <a:endParaRPr>
              <a:solidFill>
                <a:schemeClr val="accent2"/>
              </a:solidFill>
              <a:latin typeface="Roboto"/>
              <a:ea typeface="Roboto"/>
              <a:cs typeface="Roboto"/>
              <a:sym typeface="Roboto"/>
            </a:endParaRPr>
          </a:p>
        </p:txBody>
      </p:sp>
      <p:sp>
        <p:nvSpPr>
          <p:cNvPr id="963" name="Google Shape;963;p43"/>
          <p:cNvSpPr txBox="1"/>
          <p:nvPr/>
        </p:nvSpPr>
        <p:spPr>
          <a:xfrm>
            <a:off x="1445625" y="936175"/>
            <a:ext cx="1084500" cy="2154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accent2"/>
                </a:solidFill>
                <a:latin typeface="Roboto"/>
                <a:ea typeface="Roboto"/>
                <a:cs typeface="Roboto"/>
                <a:sym typeface="Roboto"/>
              </a:rPr>
              <a:t>Wait a while</a:t>
            </a:r>
            <a:endParaRPr>
              <a:solidFill>
                <a:schemeClr val="accent2"/>
              </a:solidFill>
              <a:latin typeface="Roboto"/>
              <a:ea typeface="Roboto"/>
              <a:cs typeface="Roboto"/>
              <a:sym typeface="Roboto"/>
            </a:endParaRPr>
          </a:p>
        </p:txBody>
      </p:sp>
      <p:sp>
        <p:nvSpPr>
          <p:cNvPr id="964" name="Google Shape;964;p43"/>
          <p:cNvSpPr txBox="1"/>
          <p:nvPr/>
        </p:nvSpPr>
        <p:spPr>
          <a:xfrm>
            <a:off x="4645275" y="1966225"/>
            <a:ext cx="5175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rgbClr val="0000FF"/>
                </a:solidFill>
                <a:latin typeface="Roboto"/>
                <a:ea typeface="Roboto"/>
                <a:cs typeface="Roboto"/>
                <a:sym typeface="Roboto"/>
              </a:rPr>
              <a:t>Setup</a:t>
            </a:r>
            <a:endParaRPr>
              <a:solidFill>
                <a:srgbClr val="0000FF"/>
              </a:solidFill>
              <a:latin typeface="Roboto"/>
              <a:ea typeface="Roboto"/>
              <a:cs typeface="Roboto"/>
              <a:sym typeface="Roboto"/>
            </a:endParaRPr>
          </a:p>
        </p:txBody>
      </p:sp>
      <p:sp>
        <p:nvSpPr>
          <p:cNvPr id="965" name="Google Shape;965;p43"/>
          <p:cNvSpPr txBox="1"/>
          <p:nvPr/>
        </p:nvSpPr>
        <p:spPr>
          <a:xfrm>
            <a:off x="3166600" y="3109225"/>
            <a:ext cx="8304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Teardown</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3CFFAC02-BECB-7125-B423-E9F59FE10C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
        <p:nvSpPr>
          <p:cNvPr id="3" name="Google Shape;939;p42">
            <a:extLst>
              <a:ext uri="{FF2B5EF4-FFF2-40B4-BE49-F238E27FC236}">
                <a16:creationId xmlns:a16="http://schemas.microsoft.com/office/drawing/2014/main" id="{CB2F3A2E-EADC-105D-A0C7-349806044E22}"/>
              </a:ext>
            </a:extLst>
          </p:cNvPr>
          <p:cNvSpPr txBox="1"/>
          <p:nvPr/>
        </p:nvSpPr>
        <p:spPr>
          <a:xfrm>
            <a:off x="7061675" y="2801263"/>
            <a:ext cx="1981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accent2"/>
                </a:solidFill>
                <a:latin typeface="Roboto"/>
                <a:ea typeface="Roboto"/>
                <a:cs typeface="Roboto"/>
                <a:sym typeface="Roboto"/>
              </a:rPr>
              <a:t>The ESTABLISHED state is where data are sent and acked.</a:t>
            </a:r>
            <a:endParaRPr dirty="0">
              <a:solidFill>
                <a:schemeClr val="accent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4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Piggybacking</a:t>
            </a:r>
            <a:endParaRPr/>
          </a:p>
        </p:txBody>
      </p:sp>
      <p:sp>
        <p:nvSpPr>
          <p:cNvPr id="971" name="Google Shape;971;p4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With full-duplex, if we get a packet but have no data to send, we have two choices:</a:t>
            </a:r>
            <a:endParaRPr dirty="0"/>
          </a:p>
          <a:p>
            <a:pPr marL="457200" lvl="0" indent="-342900" algn="l" rtl="0">
              <a:spcBef>
                <a:spcPts val="600"/>
              </a:spcBef>
              <a:spcAft>
                <a:spcPts val="0"/>
              </a:spcAft>
              <a:buSzPts val="1800"/>
              <a:buChar char="●"/>
            </a:pPr>
            <a:r>
              <a:rPr lang="en" dirty="0"/>
              <a:t>Send the ack, with no data.</a:t>
            </a:r>
            <a:endParaRPr dirty="0"/>
          </a:p>
          <a:p>
            <a:pPr marL="457200" lvl="0" indent="-342900" algn="l" rtl="0">
              <a:spcBef>
                <a:spcPts val="0"/>
              </a:spcBef>
              <a:spcAft>
                <a:spcPts val="0"/>
              </a:spcAft>
              <a:buSzPts val="1800"/>
              <a:buChar char="●"/>
            </a:pPr>
            <a:r>
              <a:rPr lang="en" b="1" dirty="0"/>
              <a:t>Piggybacking</a:t>
            </a:r>
            <a:r>
              <a:rPr lang="en" dirty="0"/>
              <a:t>: Wait for some data, and send the ack with the data.</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Piggybacking can be tricky because TCP is in the OS, separate from the application.</a:t>
            </a:r>
            <a:endParaRPr dirty="0"/>
          </a:p>
          <a:p>
            <a:pPr marL="457200" lvl="0" indent="-342900" algn="l" rtl="0">
              <a:spcBef>
                <a:spcPts val="600"/>
              </a:spcBef>
              <a:spcAft>
                <a:spcPts val="0"/>
              </a:spcAft>
              <a:buSzPts val="1800"/>
              <a:buChar char="●"/>
            </a:pPr>
            <a:r>
              <a:rPr lang="en" dirty="0"/>
              <a:t>OS doesn't know when application will have more data.</a:t>
            </a:r>
            <a:endParaRPr dirty="0"/>
          </a:p>
          <a:p>
            <a:pPr marL="457200" lvl="0" indent="-342900" algn="l" rtl="0">
              <a:spcBef>
                <a:spcPts val="0"/>
              </a:spcBef>
              <a:spcAft>
                <a:spcPts val="0"/>
              </a:spcAft>
              <a:buSzPts val="1800"/>
              <a:buChar char="●"/>
            </a:pPr>
            <a:r>
              <a:rPr lang="en" dirty="0"/>
              <a:t>Application isn't thinking about packets and acks.</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SYN-ACKs are always piggybacked.</a:t>
            </a:r>
            <a:endParaRPr dirty="0"/>
          </a:p>
          <a:p>
            <a:pPr marL="457200" lvl="0" indent="-342900" algn="l" rtl="0">
              <a:spcBef>
                <a:spcPts val="600"/>
              </a:spcBef>
              <a:spcAft>
                <a:spcPts val="0"/>
              </a:spcAft>
              <a:buSzPts val="1800"/>
              <a:buChar char="●"/>
            </a:pPr>
            <a:r>
              <a:rPr lang="en" dirty="0"/>
              <a:t>Ack and initial sequence number are sent together.</a:t>
            </a:r>
            <a:endParaRPr dirty="0"/>
          </a:p>
          <a:p>
            <a:pPr marL="457200" lvl="0" indent="-342900" algn="l" rtl="0">
              <a:spcBef>
                <a:spcPts val="0"/>
              </a:spcBef>
              <a:spcAft>
                <a:spcPts val="0"/>
              </a:spcAft>
              <a:buSzPts val="1800"/>
              <a:buChar char="●"/>
            </a:pPr>
            <a:r>
              <a:rPr lang="en" dirty="0"/>
              <a:t>Not tricky, because OS is doing the handshake, not the application.</a:t>
            </a:r>
            <a:endParaRPr dirty="0"/>
          </a:p>
        </p:txBody>
      </p:sp>
      <p:sp>
        <p:nvSpPr>
          <p:cNvPr id="2" name="Slide Number Placeholder 1">
            <a:extLst>
              <a:ext uri="{FF2B5EF4-FFF2-40B4-BE49-F238E27FC236}">
                <a16:creationId xmlns:a16="http://schemas.microsoft.com/office/drawing/2014/main" id="{A5A2EA99-7F2B-FF63-EAD7-30B693505A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45"/>
          <p:cNvSpPr txBox="1">
            <a:spLocks noGrp="1"/>
          </p:cNvSpPr>
          <p:nvPr>
            <p:ph type="body" idx="1"/>
          </p:nvPr>
        </p:nvSpPr>
        <p:spPr>
          <a:xfrm>
            <a:off x="4812375" y="402200"/>
            <a:ext cx="415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Implementing TCP</a:t>
            </a:r>
            <a:endParaRPr dirty="0">
              <a:solidFill>
                <a:srgbClr val="B7B7B7"/>
              </a:solidFill>
            </a:endParaRPr>
          </a:p>
          <a:p>
            <a:pPr marL="457200" lvl="0" indent="-342900" algn="l" rtl="0">
              <a:spcBef>
                <a:spcPts val="600"/>
              </a:spcBef>
              <a:spcAft>
                <a:spcPts val="0"/>
              </a:spcAft>
              <a:buClr>
                <a:srgbClr val="B7B7B7"/>
              </a:buClr>
              <a:buSzPts val="1800"/>
              <a:buChar char="•"/>
            </a:pPr>
            <a:r>
              <a:rPr lang="nl-NL" dirty="0">
                <a:solidFill>
                  <a:srgbClr val="B7B7B7"/>
                </a:solidFill>
              </a:rPr>
              <a:t>byte</a:t>
            </a:r>
            <a:r>
              <a:rPr lang="en" dirty="0">
                <a:solidFill>
                  <a:srgbClr val="B7B7B7"/>
                </a:solidFill>
              </a:rPr>
              <a:t> Notation</a:t>
            </a:r>
            <a:br>
              <a:rPr lang="en" dirty="0">
                <a:solidFill>
                  <a:srgbClr val="B7B7B7"/>
                </a:solidFill>
              </a:rPr>
            </a:br>
            <a:r>
              <a:rPr lang="en" dirty="0">
                <a:solidFill>
                  <a:srgbClr val="B7B7B7"/>
                </a:solidFill>
              </a:rPr>
              <a:t>(Segments, Sequence Numbers)</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Maintaining State (Full Duplex, Connection Setup and Teardown)</a:t>
            </a:r>
            <a:endParaRPr dirty="0">
              <a:solidFill>
                <a:srgbClr val="B7B7B7"/>
              </a:solidFill>
            </a:endParaRPr>
          </a:p>
          <a:p>
            <a:pPr marL="457200" lvl="0" indent="-342900" algn="l" rtl="0">
              <a:spcBef>
                <a:spcPts val="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Sliding Window</a:t>
            </a:r>
            <a:endParaRPr b="1" dirty="0">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dirty="0">
                <a:solidFill>
                  <a:srgbClr val="B7B7B7"/>
                </a:solidFill>
              </a:rPr>
              <a:t>Header</a:t>
            </a:r>
            <a:endParaRPr dirty="0">
              <a:solidFill>
                <a:srgbClr val="B7B7B7"/>
              </a:solidFill>
            </a:endParaRPr>
          </a:p>
        </p:txBody>
      </p:sp>
      <p:sp>
        <p:nvSpPr>
          <p:cNvPr id="977" name="Google Shape;977;p4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Sliding Window</a:t>
            </a:r>
            <a:endParaRPr/>
          </a:p>
        </p:txBody>
      </p:sp>
      <p:sp>
        <p:nvSpPr>
          <p:cNvPr id="978" name="Google Shape;978;p4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11, Spring 2026</a:t>
            </a:r>
            <a:endParaRPr dirty="0"/>
          </a:p>
        </p:txBody>
      </p:sp>
      <p:sp>
        <p:nvSpPr>
          <p:cNvPr id="2" name="Slide Number Placeholder 1">
            <a:extLst>
              <a:ext uri="{FF2B5EF4-FFF2-40B4-BE49-F238E27FC236}">
                <a16:creationId xmlns:a16="http://schemas.microsoft.com/office/drawing/2014/main" id="{1A0E87CE-77E1-2CAB-BC9F-4578D43054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46"/>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84" name="Google Shape;984;p46"/>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985" name="Google Shape;985;p4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986" name="Google Shape;986;p46"/>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987" name="Google Shape;987;p46"/>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988" name="Google Shape;988;p46"/>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989" name="Google Shape;989;p46"/>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990" name="Google Shape;990;p46"/>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991" name="Google Shape;991;p46"/>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992" name="Google Shape;992;p46"/>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993" name="Google Shape;993;p46"/>
          <p:cNvSpPr/>
          <p:nvPr/>
        </p:nvSpPr>
        <p:spPr>
          <a:xfrm rot="5400000">
            <a:off x="2986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994" name="Google Shape;994;p46"/>
          <p:cNvSpPr/>
          <p:nvPr/>
        </p:nvSpPr>
        <p:spPr>
          <a:xfrm rot="5400000">
            <a:off x="3161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995" name="Google Shape;995;p46"/>
          <p:cNvSpPr/>
          <p:nvPr/>
        </p:nvSpPr>
        <p:spPr>
          <a:xfrm rot="5400000">
            <a:off x="33363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996" name="Google Shape;996;p46"/>
          <p:cNvSpPr/>
          <p:nvPr/>
        </p:nvSpPr>
        <p:spPr>
          <a:xfrm rot="5400000">
            <a:off x="35112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997" name="Google Shape;997;p46"/>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998" name="Google Shape;998;p46"/>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999" name="Google Shape;999;p46"/>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00" name="Google Shape;1000;p46"/>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01" name="Google Shape;1001;p46"/>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02" name="Google Shape;1002;p46"/>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03" name="Google Shape;1003;p46"/>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04" name="Google Shape;1004;p46"/>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05" name="Google Shape;1005;p46"/>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06" name="Google Shape;1006;p46"/>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07" name="Google Shape;1007;p46"/>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08" name="Google Shape;1008;p46"/>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09" name="Google Shape;1009;p46"/>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10" name="Google Shape;1010;p46"/>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11" name="Google Shape;1011;p46"/>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12" name="Google Shape;1012;p46"/>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13" name="Google Shape;1013;p46"/>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14" name="Google Shape;1014;p46"/>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15" name="Google Shape;1015;p46"/>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16" name="Google Shape;1016;p46"/>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17" name="Google Shape;1017;p46"/>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18" name="Google Shape;1018;p46"/>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19" name="Google Shape;1019;p46"/>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0" name="Google Shape;1020;p46"/>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1" name="Google Shape;1021;p46"/>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22" name="Google Shape;1022;p46"/>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23" name="Google Shape;1023;p46"/>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024" name="Google Shape;1024;p46"/>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25" name="Google Shape;1025;p46"/>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026" name="Google Shape;1026;p46"/>
          <p:cNvGrpSpPr/>
          <p:nvPr/>
        </p:nvGrpSpPr>
        <p:grpSpPr>
          <a:xfrm>
            <a:off x="811588" y="4486300"/>
            <a:ext cx="2393100" cy="261300"/>
            <a:chOff x="451750" y="1912600"/>
            <a:chExt cx="2393100" cy="261300"/>
          </a:xfrm>
        </p:grpSpPr>
        <p:cxnSp>
          <p:nvCxnSpPr>
            <p:cNvPr id="1027" name="Google Shape;1027;p46"/>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028" name="Google Shape;1028;p46"/>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29" name="Google Shape;1029;p46"/>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30" name="Google Shape;1030;p46"/>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31" name="Google Shape;1031;p46"/>
          <p:cNvGrpSpPr/>
          <p:nvPr/>
        </p:nvGrpSpPr>
        <p:grpSpPr>
          <a:xfrm>
            <a:off x="5413495" y="4486300"/>
            <a:ext cx="2919162" cy="261300"/>
            <a:chOff x="4996875" y="1912600"/>
            <a:chExt cx="2975700" cy="261300"/>
          </a:xfrm>
        </p:grpSpPr>
        <p:cxnSp>
          <p:nvCxnSpPr>
            <p:cNvPr id="1032" name="Google Shape;1032;p46"/>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033" name="Google Shape;1033;p46"/>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34" name="Google Shape;1034;p46"/>
          <p:cNvGrpSpPr/>
          <p:nvPr/>
        </p:nvGrpSpPr>
        <p:grpSpPr>
          <a:xfrm>
            <a:off x="3261268" y="4369100"/>
            <a:ext cx="2095500" cy="493800"/>
            <a:chOff x="3261268" y="4292900"/>
            <a:chExt cx="2095500" cy="493800"/>
          </a:xfrm>
        </p:grpSpPr>
        <p:cxnSp>
          <p:nvCxnSpPr>
            <p:cNvPr id="1035" name="Google Shape;1035;p46"/>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036" name="Google Shape;1036;p46"/>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37" name="Google Shape;1037;p46"/>
          <p:cNvCxnSpPr>
            <a:stCxn id="993" idx="1"/>
            <a:endCxn id="1038" idx="2"/>
          </p:cNvCxnSpPr>
          <p:nvPr/>
        </p:nvCxnSpPr>
        <p:spPr>
          <a:xfrm rot="10800000">
            <a:off x="33476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038" name="Google Shape;1038;p46"/>
          <p:cNvSpPr txBox="1"/>
          <p:nvPr/>
        </p:nvSpPr>
        <p:spPr>
          <a:xfrm>
            <a:off x="25951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
        <p:nvSpPr>
          <p:cNvPr id="1039" name="Google Shape;1039;p46"/>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we measured in packets, </a:t>
            </a:r>
            <a:r>
              <a:rPr lang="en" i="1"/>
              <a:t>W</a:t>
            </a:r>
            <a:r>
              <a:rPr lang="en"/>
              <a:t> was the maximum number of packets in flight.</a:t>
            </a:r>
            <a:endParaRPr/>
          </a:p>
          <a:p>
            <a:pPr marL="0" lvl="0" indent="0" algn="l" rtl="0">
              <a:spcBef>
                <a:spcPts val="600"/>
              </a:spcBef>
              <a:spcAft>
                <a:spcPts val="0"/>
              </a:spcAft>
              <a:buNone/>
            </a:pPr>
            <a:r>
              <a:rPr lang="en"/>
              <a:t>When we measure in bytes, </a:t>
            </a:r>
            <a:r>
              <a:rPr lang="en" i="1"/>
              <a:t>W</a:t>
            </a:r>
            <a:r>
              <a:rPr lang="en"/>
              <a:t> is the maximum number of </a:t>
            </a:r>
            <a:r>
              <a:rPr lang="en" i="1"/>
              <a:t>contiguous</a:t>
            </a:r>
            <a:r>
              <a:rPr lang="en"/>
              <a:t> bytes in flight.</a:t>
            </a:r>
            <a:endParaRPr/>
          </a:p>
          <a:p>
            <a:pPr marL="457200" lvl="0" indent="-342900" algn="l" rtl="0">
              <a:spcBef>
                <a:spcPts val="600"/>
              </a:spcBef>
              <a:spcAft>
                <a:spcPts val="0"/>
              </a:spcAft>
              <a:buSzPts val="1800"/>
              <a:buChar char="●"/>
            </a:pPr>
            <a:r>
              <a:rPr lang="en"/>
              <a:t>The window is a range of </a:t>
            </a:r>
            <a:r>
              <a:rPr lang="en" i="1"/>
              <a:t>W</a:t>
            </a:r>
            <a:r>
              <a:rPr lang="en"/>
              <a:t> contiguous bytes, starting at the first unacked byte.</a:t>
            </a:r>
            <a:endParaRPr/>
          </a:p>
          <a:p>
            <a:pPr marL="457200" lvl="0" indent="-342900" algn="l" rtl="0">
              <a:spcBef>
                <a:spcPts val="0"/>
              </a:spcBef>
              <a:spcAft>
                <a:spcPts val="0"/>
              </a:spcAft>
              <a:buSzPts val="1800"/>
              <a:buChar char="●"/>
            </a:pPr>
            <a:r>
              <a:rPr lang="en"/>
              <a:t>Only these </a:t>
            </a:r>
            <a:r>
              <a:rPr lang="en" i="1"/>
              <a:t>W</a:t>
            </a:r>
            <a:r>
              <a:rPr lang="en"/>
              <a:t> bytes are allowed to be in flight.</a:t>
            </a:r>
            <a:endParaRPr/>
          </a:p>
          <a:p>
            <a:pPr marL="0" lvl="0" indent="0" algn="l" rtl="0">
              <a:spcBef>
                <a:spcPts val="600"/>
              </a:spcBef>
              <a:spcAft>
                <a:spcPts val="0"/>
              </a:spcAft>
              <a:buNone/>
            </a:pPr>
            <a:r>
              <a:rPr lang="en"/>
              <a:t>The window slides right if and only if its </a:t>
            </a:r>
            <a:r>
              <a:rPr lang="en" i="1"/>
              <a:t>leftmost</a:t>
            </a:r>
            <a:r>
              <a:rPr lang="en"/>
              <a:t> bytes are acked.</a:t>
            </a:r>
            <a:endParaRPr/>
          </a:p>
          <a:p>
            <a:pPr marL="457200" lvl="0" indent="-342900" algn="l" rtl="0">
              <a:spcBef>
                <a:spcPts val="600"/>
              </a:spcBef>
              <a:spcAft>
                <a:spcPts val="0"/>
              </a:spcAft>
              <a:buSzPts val="1800"/>
              <a:buChar char="●"/>
            </a:pPr>
            <a:r>
              <a:rPr lang="en"/>
              <a:t>Example: When 15–18 arrive, we can send 27–30.</a:t>
            </a:r>
            <a:endParaRPr/>
          </a:p>
        </p:txBody>
      </p:sp>
      <p:sp>
        <p:nvSpPr>
          <p:cNvPr id="2" name="Slide Number Placeholder 1">
            <a:extLst>
              <a:ext uri="{FF2B5EF4-FFF2-40B4-BE49-F238E27FC236}">
                <a16:creationId xmlns:a16="http://schemas.microsoft.com/office/drawing/2014/main" id="{5D39E6D0-B316-2286-F0FD-56C324B388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47"/>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45" name="Google Shape;1045;p47"/>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046" name="Google Shape;1046;p4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1047" name="Google Shape;1047;p47"/>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When we measured in packets, </a:t>
            </a:r>
            <a:r>
              <a:rPr lang="en" i="1"/>
              <a:t>W</a:t>
            </a:r>
            <a:r>
              <a:rPr lang="en"/>
              <a:t> was the maximum number of packets in flight.</a:t>
            </a:r>
            <a:endParaRPr/>
          </a:p>
          <a:p>
            <a:pPr marL="0" lvl="0" indent="0" algn="l" rtl="0">
              <a:spcBef>
                <a:spcPts val="600"/>
              </a:spcBef>
              <a:spcAft>
                <a:spcPts val="0"/>
              </a:spcAft>
              <a:buClr>
                <a:schemeClr val="dk1"/>
              </a:buClr>
              <a:buSzPts val="1100"/>
              <a:buFont typeface="Arial"/>
              <a:buNone/>
            </a:pPr>
            <a:r>
              <a:rPr lang="en"/>
              <a:t>When we measure in bytes, </a:t>
            </a:r>
            <a:r>
              <a:rPr lang="en" i="1"/>
              <a:t>W</a:t>
            </a:r>
            <a:r>
              <a:rPr lang="en"/>
              <a:t> is the maximum number of </a:t>
            </a:r>
            <a:r>
              <a:rPr lang="en" i="1"/>
              <a:t>contiguous</a:t>
            </a:r>
            <a:r>
              <a:rPr lang="en"/>
              <a:t> bytes in flight.</a:t>
            </a:r>
            <a:endParaRPr/>
          </a:p>
          <a:p>
            <a:pPr marL="457200" lvl="0" indent="-342900" algn="l" rtl="0">
              <a:spcBef>
                <a:spcPts val="600"/>
              </a:spcBef>
              <a:spcAft>
                <a:spcPts val="0"/>
              </a:spcAft>
              <a:buSzPts val="1800"/>
              <a:buChar char="●"/>
            </a:pPr>
            <a:r>
              <a:rPr lang="en"/>
              <a:t>The window is a range of </a:t>
            </a:r>
            <a:r>
              <a:rPr lang="en" i="1"/>
              <a:t>W</a:t>
            </a:r>
            <a:r>
              <a:rPr lang="en"/>
              <a:t> contiguous bytes, starting at the first unacked byte.</a:t>
            </a:r>
            <a:endParaRPr/>
          </a:p>
          <a:p>
            <a:pPr marL="457200" lvl="0" indent="-342900" algn="l" rtl="0">
              <a:spcBef>
                <a:spcPts val="0"/>
              </a:spcBef>
              <a:spcAft>
                <a:spcPts val="0"/>
              </a:spcAft>
              <a:buSzPts val="1800"/>
              <a:buChar char="●"/>
            </a:pPr>
            <a:r>
              <a:rPr lang="en"/>
              <a:t>Only these </a:t>
            </a:r>
            <a:r>
              <a:rPr lang="en" i="1"/>
              <a:t>W</a:t>
            </a:r>
            <a:r>
              <a:rPr lang="en"/>
              <a:t> bytes are allowed to be in flight.</a:t>
            </a:r>
            <a:endParaRPr/>
          </a:p>
          <a:p>
            <a:pPr marL="0" lvl="0" indent="0" algn="l" rtl="0">
              <a:spcBef>
                <a:spcPts val="600"/>
              </a:spcBef>
              <a:spcAft>
                <a:spcPts val="0"/>
              </a:spcAft>
              <a:buClr>
                <a:schemeClr val="dk1"/>
              </a:buClr>
              <a:buSzPts val="1100"/>
              <a:buFont typeface="Arial"/>
              <a:buNone/>
            </a:pPr>
            <a:r>
              <a:rPr lang="en"/>
              <a:t>The window slides right if and only if its </a:t>
            </a:r>
            <a:r>
              <a:rPr lang="en" i="1"/>
              <a:t>leftmost</a:t>
            </a:r>
            <a:r>
              <a:rPr lang="en"/>
              <a:t> bytes are acked.</a:t>
            </a:r>
            <a:endParaRPr/>
          </a:p>
          <a:p>
            <a:pPr marL="457200" lvl="0" indent="-342900" algn="l" rtl="0">
              <a:spcBef>
                <a:spcPts val="600"/>
              </a:spcBef>
              <a:spcAft>
                <a:spcPts val="0"/>
              </a:spcAft>
              <a:buSzPts val="1800"/>
              <a:buChar char="●"/>
            </a:pPr>
            <a:r>
              <a:rPr lang="en"/>
              <a:t>Example: When 15–18 arrive, we can send 27–30.</a:t>
            </a:r>
            <a:endParaRPr/>
          </a:p>
        </p:txBody>
      </p:sp>
      <p:sp>
        <p:nvSpPr>
          <p:cNvPr id="1048" name="Google Shape;1048;p47"/>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049" name="Google Shape;1049;p47"/>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050" name="Google Shape;1050;p47"/>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051" name="Google Shape;1051;p47"/>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052" name="Google Shape;1052;p47"/>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053" name="Google Shape;1053;p47"/>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054" name="Google Shape;1054;p47"/>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055" name="Google Shape;1055;p47"/>
          <p:cNvSpPr/>
          <p:nvPr/>
        </p:nvSpPr>
        <p:spPr>
          <a:xfrm rot="5400000">
            <a:off x="29865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056" name="Google Shape;1056;p47"/>
          <p:cNvSpPr/>
          <p:nvPr/>
        </p:nvSpPr>
        <p:spPr>
          <a:xfrm rot="5400000">
            <a:off x="31614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057" name="Google Shape;1057;p47"/>
          <p:cNvSpPr/>
          <p:nvPr/>
        </p:nvSpPr>
        <p:spPr>
          <a:xfrm rot="5400000">
            <a:off x="33363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058" name="Google Shape;1058;p47"/>
          <p:cNvSpPr/>
          <p:nvPr/>
        </p:nvSpPr>
        <p:spPr>
          <a:xfrm rot="5400000">
            <a:off x="35112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059" name="Google Shape;1059;p47"/>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060" name="Google Shape;1060;p47"/>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061" name="Google Shape;1061;p47"/>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62" name="Google Shape;1062;p47"/>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63" name="Google Shape;1063;p47"/>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64" name="Google Shape;1064;p47"/>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65" name="Google Shape;1065;p47"/>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66" name="Google Shape;1066;p47"/>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67" name="Google Shape;1067;p47"/>
          <p:cNvSpPr/>
          <p:nvPr/>
        </p:nvSpPr>
        <p:spPr>
          <a:xfrm rot="5400000">
            <a:off x="50853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68" name="Google Shape;1068;p47"/>
          <p:cNvSpPr/>
          <p:nvPr/>
        </p:nvSpPr>
        <p:spPr>
          <a:xfrm rot="5400000">
            <a:off x="52602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69" name="Google Shape;1069;p47"/>
          <p:cNvSpPr/>
          <p:nvPr/>
        </p:nvSpPr>
        <p:spPr>
          <a:xfrm rot="5400000">
            <a:off x="54351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70" name="Google Shape;1070;p47"/>
          <p:cNvSpPr/>
          <p:nvPr/>
        </p:nvSpPr>
        <p:spPr>
          <a:xfrm rot="5400000">
            <a:off x="56100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71" name="Google Shape;1071;p47"/>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72" name="Google Shape;1072;p47"/>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73" name="Google Shape;1073;p47"/>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74" name="Google Shape;1074;p47"/>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75" name="Google Shape;1075;p47"/>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76" name="Google Shape;1076;p47"/>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77" name="Google Shape;1077;p47"/>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78" name="Google Shape;1078;p47"/>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79" name="Google Shape;1079;p47"/>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80" name="Google Shape;1080;p47"/>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81" name="Google Shape;1081;p47"/>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2" name="Google Shape;1082;p47"/>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3" name="Google Shape;1083;p47"/>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84" name="Google Shape;1084;p47"/>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85" name="Google Shape;1085;p47"/>
          <p:cNvSpPr/>
          <p:nvPr/>
        </p:nvSpPr>
        <p:spPr>
          <a:xfrm rot="5400000">
            <a:off x="46481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grpSp>
        <p:nvGrpSpPr>
          <p:cNvPr id="1086" name="Google Shape;1086;p47"/>
          <p:cNvGrpSpPr/>
          <p:nvPr/>
        </p:nvGrpSpPr>
        <p:grpSpPr>
          <a:xfrm>
            <a:off x="811586" y="4486300"/>
            <a:ext cx="3148123" cy="261300"/>
            <a:chOff x="811586" y="4486300"/>
            <a:chExt cx="3148123" cy="261300"/>
          </a:xfrm>
        </p:grpSpPr>
        <p:cxnSp>
          <p:nvCxnSpPr>
            <p:cNvPr id="1087" name="Google Shape;1087;p47"/>
            <p:cNvCxnSpPr/>
            <p:nvPr/>
          </p:nvCxnSpPr>
          <p:spPr>
            <a:xfrm>
              <a:off x="811586" y="4616950"/>
              <a:ext cx="3148123" cy="0"/>
            </a:xfrm>
            <a:prstGeom prst="straightConnector1">
              <a:avLst/>
            </a:prstGeom>
            <a:noFill/>
            <a:ln w="9525" cap="flat" cmpd="sng">
              <a:solidFill>
                <a:srgbClr val="6AA84F"/>
              </a:solidFill>
              <a:prstDash val="solid"/>
              <a:round/>
              <a:headEnd type="triangle" w="med" len="med"/>
              <a:tailEnd type="triangle" w="med" len="med"/>
            </a:ln>
          </p:spPr>
        </p:cxnSp>
        <p:sp>
          <p:nvSpPr>
            <p:cNvPr id="1088" name="Google Shape;1088;p47"/>
            <p:cNvSpPr txBox="1"/>
            <p:nvPr/>
          </p:nvSpPr>
          <p:spPr>
            <a:xfrm>
              <a:off x="1636750" y="4486300"/>
              <a:ext cx="1323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89" name="Google Shape;1089;p47"/>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90" name="Google Shape;1090;p47"/>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091" name="Google Shape;1091;p47"/>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92" name="Google Shape;1092;p47"/>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93" name="Google Shape;1093;p47"/>
          <p:cNvGrpSpPr/>
          <p:nvPr/>
        </p:nvGrpSpPr>
        <p:grpSpPr>
          <a:xfrm>
            <a:off x="6058568" y="4486300"/>
            <a:ext cx="2274030" cy="261300"/>
            <a:chOff x="6058568" y="4486300"/>
            <a:chExt cx="2274030" cy="261300"/>
          </a:xfrm>
        </p:grpSpPr>
        <p:cxnSp>
          <p:nvCxnSpPr>
            <p:cNvPr id="1094" name="Google Shape;1094;p47"/>
            <p:cNvCxnSpPr/>
            <p:nvPr/>
          </p:nvCxnSpPr>
          <p:spPr>
            <a:xfrm>
              <a:off x="6058568" y="4616950"/>
              <a:ext cx="2274030" cy="0"/>
            </a:xfrm>
            <a:prstGeom prst="straightConnector1">
              <a:avLst/>
            </a:prstGeom>
            <a:noFill/>
            <a:ln w="9525" cap="flat" cmpd="sng">
              <a:solidFill>
                <a:srgbClr val="999999"/>
              </a:solidFill>
              <a:prstDash val="solid"/>
              <a:round/>
              <a:headEnd type="triangle" w="med" len="med"/>
              <a:tailEnd type="triangle" w="med" len="med"/>
            </a:ln>
          </p:spPr>
        </p:cxnSp>
        <p:sp>
          <p:nvSpPr>
            <p:cNvPr id="1095" name="Google Shape;1095;p47"/>
            <p:cNvSpPr txBox="1"/>
            <p:nvPr/>
          </p:nvSpPr>
          <p:spPr>
            <a:xfrm>
              <a:off x="6687397" y="4486300"/>
              <a:ext cx="10161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96" name="Google Shape;1096;p47"/>
          <p:cNvGrpSpPr/>
          <p:nvPr/>
        </p:nvGrpSpPr>
        <p:grpSpPr>
          <a:xfrm>
            <a:off x="3961443" y="4370050"/>
            <a:ext cx="2095500" cy="493800"/>
            <a:chOff x="3261268" y="4292900"/>
            <a:chExt cx="2095500" cy="493800"/>
          </a:xfrm>
        </p:grpSpPr>
        <p:cxnSp>
          <p:nvCxnSpPr>
            <p:cNvPr id="1097" name="Google Shape;1097;p47"/>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098" name="Google Shape;1098;p47"/>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99" name="Google Shape;1099;p47"/>
          <p:cNvCxnSpPr>
            <a:stCxn id="1059" idx="1"/>
            <a:endCxn id="1100" idx="2"/>
          </p:cNvCxnSpPr>
          <p:nvPr/>
        </p:nvCxnSpPr>
        <p:spPr>
          <a:xfrm rot="10800000">
            <a:off x="40472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100" name="Google Shape;1100;p47"/>
          <p:cNvSpPr txBox="1"/>
          <p:nvPr/>
        </p:nvSpPr>
        <p:spPr>
          <a:xfrm>
            <a:off x="32947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974B7006-818D-AE49-E550-A1D361D85B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48"/>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06" name="Google Shape;1106;p48"/>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07" name="Google Shape;1107;p4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1108" name="Google Shape;1108;p48"/>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we measured in packets, </a:t>
            </a:r>
            <a:r>
              <a:rPr lang="en" i="1"/>
              <a:t>W</a:t>
            </a:r>
            <a:r>
              <a:rPr lang="en"/>
              <a:t> was the maximum number of packets in flight.</a:t>
            </a:r>
            <a:endParaRPr/>
          </a:p>
          <a:p>
            <a:pPr marL="0" lvl="0" indent="0" algn="l" rtl="0">
              <a:spcBef>
                <a:spcPts val="600"/>
              </a:spcBef>
              <a:spcAft>
                <a:spcPts val="0"/>
              </a:spcAft>
              <a:buNone/>
            </a:pPr>
            <a:r>
              <a:rPr lang="en"/>
              <a:t>When we measure in bytes, </a:t>
            </a:r>
            <a:r>
              <a:rPr lang="en" i="1"/>
              <a:t>W</a:t>
            </a:r>
            <a:r>
              <a:rPr lang="en"/>
              <a:t> is the maximum number of </a:t>
            </a:r>
            <a:r>
              <a:rPr lang="en" i="1"/>
              <a:t>contiguous</a:t>
            </a:r>
            <a:r>
              <a:rPr lang="en"/>
              <a:t> bytes in flight.</a:t>
            </a:r>
            <a:endParaRPr/>
          </a:p>
          <a:p>
            <a:pPr marL="457200" lvl="0" indent="-342900" algn="l" rtl="0">
              <a:spcBef>
                <a:spcPts val="600"/>
              </a:spcBef>
              <a:spcAft>
                <a:spcPts val="0"/>
              </a:spcAft>
              <a:buSzPts val="1800"/>
              <a:buChar char="●"/>
            </a:pPr>
            <a:r>
              <a:rPr lang="en"/>
              <a:t>The window is a range of </a:t>
            </a:r>
            <a:r>
              <a:rPr lang="en" i="1"/>
              <a:t>W</a:t>
            </a:r>
            <a:r>
              <a:rPr lang="en"/>
              <a:t> contiguous bytes, starting at the first unacked byte.</a:t>
            </a:r>
            <a:endParaRPr/>
          </a:p>
          <a:p>
            <a:pPr marL="457200" lvl="0" indent="-342900" algn="l" rtl="0">
              <a:spcBef>
                <a:spcPts val="0"/>
              </a:spcBef>
              <a:spcAft>
                <a:spcPts val="0"/>
              </a:spcAft>
              <a:buSzPts val="1800"/>
              <a:buChar char="●"/>
            </a:pPr>
            <a:r>
              <a:rPr lang="en"/>
              <a:t>Only these </a:t>
            </a:r>
            <a:r>
              <a:rPr lang="en" i="1"/>
              <a:t>W</a:t>
            </a:r>
            <a:r>
              <a:rPr lang="en"/>
              <a:t> bytes are allowed to be in flight.</a:t>
            </a:r>
            <a:endParaRPr/>
          </a:p>
          <a:p>
            <a:pPr marL="0" lvl="0" indent="0" algn="l" rtl="0">
              <a:spcBef>
                <a:spcPts val="600"/>
              </a:spcBef>
              <a:spcAft>
                <a:spcPts val="0"/>
              </a:spcAft>
              <a:buNone/>
            </a:pPr>
            <a:r>
              <a:rPr lang="en"/>
              <a:t>The window slides right if and only if its </a:t>
            </a:r>
            <a:r>
              <a:rPr lang="en" i="1"/>
              <a:t>leftmost</a:t>
            </a:r>
            <a:r>
              <a:rPr lang="en"/>
              <a:t> bytes are acked.</a:t>
            </a:r>
            <a:endParaRPr/>
          </a:p>
          <a:p>
            <a:pPr marL="457200" lvl="0" indent="-342900" algn="l" rtl="0">
              <a:spcBef>
                <a:spcPts val="600"/>
              </a:spcBef>
              <a:spcAft>
                <a:spcPts val="0"/>
              </a:spcAft>
              <a:buSzPts val="1800"/>
              <a:buChar char="●"/>
            </a:pPr>
            <a:r>
              <a:rPr lang="en"/>
              <a:t>Acking non-leftmost bytes in the window (e.g. 19–22) does not slide the window.</a:t>
            </a:r>
            <a:endParaRPr/>
          </a:p>
          <a:p>
            <a:pPr marL="457200" lvl="0" indent="-342900" algn="l" rtl="0">
              <a:spcBef>
                <a:spcPts val="0"/>
              </a:spcBef>
              <a:spcAft>
                <a:spcPts val="0"/>
              </a:spcAft>
              <a:buSzPts val="1800"/>
              <a:buChar char="●"/>
            </a:pPr>
            <a:r>
              <a:rPr lang="en"/>
              <a:t>The window is determined by the first unacked byte (e.g. still 15).</a:t>
            </a:r>
            <a:endParaRPr baseline="30000"/>
          </a:p>
        </p:txBody>
      </p:sp>
      <p:sp>
        <p:nvSpPr>
          <p:cNvPr id="1109" name="Google Shape;1109;p48"/>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10" name="Google Shape;1110;p48"/>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11" name="Google Shape;1111;p48"/>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12" name="Google Shape;1112;p48"/>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13" name="Google Shape;1113;p48"/>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14" name="Google Shape;1114;p48"/>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15" name="Google Shape;1115;p48"/>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16" name="Google Shape;1116;p48"/>
          <p:cNvSpPr/>
          <p:nvPr/>
        </p:nvSpPr>
        <p:spPr>
          <a:xfrm rot="5400000">
            <a:off x="2986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17" name="Google Shape;1117;p48"/>
          <p:cNvSpPr/>
          <p:nvPr/>
        </p:nvSpPr>
        <p:spPr>
          <a:xfrm rot="5400000">
            <a:off x="3161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18" name="Google Shape;1118;p48"/>
          <p:cNvSpPr/>
          <p:nvPr/>
        </p:nvSpPr>
        <p:spPr>
          <a:xfrm rot="5400000">
            <a:off x="33363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19" name="Google Shape;1119;p48"/>
          <p:cNvSpPr/>
          <p:nvPr/>
        </p:nvSpPr>
        <p:spPr>
          <a:xfrm rot="5400000">
            <a:off x="35112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20" name="Google Shape;1120;p48"/>
          <p:cNvSpPr/>
          <p:nvPr/>
        </p:nvSpPr>
        <p:spPr>
          <a:xfrm rot="5400000">
            <a:off x="36861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21" name="Google Shape;1121;p48"/>
          <p:cNvSpPr/>
          <p:nvPr/>
        </p:nvSpPr>
        <p:spPr>
          <a:xfrm rot="5400000">
            <a:off x="38610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22" name="Google Shape;1122;p48"/>
          <p:cNvSpPr/>
          <p:nvPr/>
        </p:nvSpPr>
        <p:spPr>
          <a:xfrm rot="5400000">
            <a:off x="40359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23" name="Google Shape;1123;p48"/>
          <p:cNvSpPr/>
          <p:nvPr/>
        </p:nvSpPr>
        <p:spPr>
          <a:xfrm rot="5400000">
            <a:off x="42108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24" name="Google Shape;1124;p48"/>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25" name="Google Shape;1125;p48"/>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26" name="Google Shape;1126;p48"/>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27" name="Google Shape;1127;p48"/>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28" name="Google Shape;1128;p48"/>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29" name="Google Shape;1129;p48"/>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30" name="Google Shape;1130;p48"/>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31" name="Google Shape;1131;p48"/>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32" name="Google Shape;1132;p48"/>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33" name="Google Shape;1133;p48"/>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34" name="Google Shape;1134;p48"/>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35" name="Google Shape;1135;p48"/>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36" name="Google Shape;1136;p48"/>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37" name="Google Shape;1137;p48"/>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38" name="Google Shape;1138;p48"/>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139" name="Google Shape;1139;p48"/>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140" name="Google Shape;1140;p48"/>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141" name="Google Shape;1141;p48"/>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142" name="Google Shape;1142;p48"/>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3" name="Google Shape;1143;p48"/>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4" name="Google Shape;1144;p48"/>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145" name="Google Shape;1145;p48"/>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146" name="Google Shape;1146;p48"/>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grpSp>
        <p:nvGrpSpPr>
          <p:cNvPr id="1147" name="Google Shape;1147;p48"/>
          <p:cNvGrpSpPr/>
          <p:nvPr/>
        </p:nvGrpSpPr>
        <p:grpSpPr>
          <a:xfrm>
            <a:off x="811588" y="4486300"/>
            <a:ext cx="2393100" cy="261300"/>
            <a:chOff x="451750" y="1912600"/>
            <a:chExt cx="2393100" cy="261300"/>
          </a:xfrm>
        </p:grpSpPr>
        <p:cxnSp>
          <p:nvCxnSpPr>
            <p:cNvPr id="1148" name="Google Shape;1148;p48"/>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149" name="Google Shape;1149;p48"/>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150" name="Google Shape;1150;p48"/>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151" name="Google Shape;1151;p48"/>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152" name="Google Shape;1152;p48"/>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153" name="Google Shape;1153;p48"/>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154" name="Google Shape;1154;p48"/>
          <p:cNvGrpSpPr/>
          <p:nvPr/>
        </p:nvGrpSpPr>
        <p:grpSpPr>
          <a:xfrm>
            <a:off x="5413495" y="4486300"/>
            <a:ext cx="2919162" cy="261300"/>
            <a:chOff x="4996875" y="1912600"/>
            <a:chExt cx="2975700" cy="261300"/>
          </a:xfrm>
        </p:grpSpPr>
        <p:cxnSp>
          <p:nvCxnSpPr>
            <p:cNvPr id="1155" name="Google Shape;1155;p48"/>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156" name="Google Shape;1156;p48"/>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157" name="Google Shape;1157;p48"/>
          <p:cNvGrpSpPr/>
          <p:nvPr/>
        </p:nvGrpSpPr>
        <p:grpSpPr>
          <a:xfrm>
            <a:off x="3261268" y="4369100"/>
            <a:ext cx="2095500" cy="493800"/>
            <a:chOff x="3261268" y="4292900"/>
            <a:chExt cx="2095500" cy="493800"/>
          </a:xfrm>
        </p:grpSpPr>
        <p:cxnSp>
          <p:nvCxnSpPr>
            <p:cNvPr id="1158" name="Google Shape;1158;p48"/>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159" name="Google Shape;1159;p48"/>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160" name="Google Shape;1160;p48"/>
          <p:cNvCxnSpPr>
            <a:stCxn id="1116" idx="1"/>
            <a:endCxn id="1161" idx="2"/>
          </p:cNvCxnSpPr>
          <p:nvPr/>
        </p:nvCxnSpPr>
        <p:spPr>
          <a:xfrm rot="10800000">
            <a:off x="33476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161" name="Google Shape;1161;p48"/>
          <p:cNvSpPr txBox="1"/>
          <p:nvPr/>
        </p:nvSpPr>
        <p:spPr>
          <a:xfrm>
            <a:off x="25951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8A0C6CDE-DEFC-0BC8-ECBB-03AA9BE326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4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1167" name="Google Shape;1167;p49"/>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TCP uses cumulative acks and a sliding window.</a:t>
            </a:r>
            <a:endParaRPr dirty="0"/>
          </a:p>
          <a:p>
            <a:pPr marL="457200" lvl="0" indent="-342900" algn="l" rtl="0">
              <a:spcBef>
                <a:spcPts val="600"/>
              </a:spcBef>
              <a:spcAft>
                <a:spcPts val="0"/>
              </a:spcAft>
              <a:buSzPts val="1800"/>
              <a:buChar char="●"/>
            </a:pPr>
            <a:r>
              <a:rPr lang="en" dirty="0"/>
              <a:t>Cumulative ack: "I have received everything up to (not including) 15."</a:t>
            </a:r>
            <a:endParaRPr dirty="0"/>
          </a:p>
          <a:p>
            <a:pPr marL="457200" lvl="0" indent="-342900" algn="l" rtl="0">
              <a:spcBef>
                <a:spcPts val="0"/>
              </a:spcBef>
              <a:spcAft>
                <a:spcPts val="0"/>
              </a:spcAft>
              <a:buSzPts val="1800"/>
              <a:buChar char="●"/>
            </a:pPr>
            <a:r>
              <a:rPr lang="en" dirty="0"/>
              <a:t>Thus, first unacked byte is 15, and the sliding window is [15, 15 + </a:t>
            </a:r>
            <a:r>
              <a:rPr lang="en" i="1" dirty="0"/>
              <a:t>W</a:t>
            </a:r>
            <a:r>
              <a:rPr lang="en" dirty="0"/>
              <a:t>).</a:t>
            </a:r>
            <a:endParaRPr dirty="0"/>
          </a:p>
          <a:p>
            <a:pPr marL="0" lvl="0" indent="0" algn="l" rtl="0">
              <a:spcBef>
                <a:spcPts val="600"/>
              </a:spcBef>
              <a:spcAft>
                <a:spcPts val="0"/>
              </a:spcAft>
              <a:buNone/>
            </a:pPr>
            <a:r>
              <a:rPr lang="en" i="1" dirty="0"/>
              <a:t>W</a:t>
            </a:r>
            <a:r>
              <a:rPr lang="en" dirty="0"/>
              <a:t> is set as the minimum of two values:</a:t>
            </a:r>
            <a:endParaRPr dirty="0"/>
          </a:p>
          <a:p>
            <a:pPr marL="457200" lvl="0" indent="-342900" algn="l" rtl="0">
              <a:spcBef>
                <a:spcPts val="600"/>
              </a:spcBef>
              <a:spcAft>
                <a:spcPts val="0"/>
              </a:spcAft>
              <a:buSzPts val="1800"/>
              <a:buChar char="●"/>
            </a:pPr>
            <a:r>
              <a:rPr lang="en" dirty="0"/>
              <a:t>Advertised window (recipient reports their remaining buffer space).</a:t>
            </a:r>
            <a:endParaRPr dirty="0"/>
          </a:p>
          <a:p>
            <a:pPr marL="457200" lvl="0" indent="-342900" algn="l" rtl="0">
              <a:spcBef>
                <a:spcPts val="0"/>
              </a:spcBef>
              <a:spcAft>
                <a:spcPts val="0"/>
              </a:spcAft>
              <a:buSzPts val="1800"/>
              <a:buChar char="●"/>
            </a:pPr>
            <a:r>
              <a:rPr lang="en" dirty="0"/>
              <a:t>Congestion window (sender magically finds value to avoid network overload).</a:t>
            </a:r>
            <a:endParaRPr dirty="0"/>
          </a:p>
        </p:txBody>
      </p:sp>
      <p:sp>
        <p:nvSpPr>
          <p:cNvPr id="1168" name="Google Shape;1168;p49"/>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69" name="Google Shape;1169;p49"/>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70" name="Google Shape;1170;p49"/>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71" name="Google Shape;1171;p49"/>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72" name="Google Shape;1172;p49"/>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73" name="Google Shape;1173;p49"/>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74" name="Google Shape;1174;p49"/>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75" name="Google Shape;1175;p49"/>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76" name="Google Shape;1176;p49"/>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77" name="Google Shape;1177;p49"/>
          <p:cNvSpPr/>
          <p:nvPr/>
        </p:nvSpPr>
        <p:spPr>
          <a:xfrm rot="5400000">
            <a:off x="2986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78" name="Google Shape;1178;p49"/>
          <p:cNvSpPr/>
          <p:nvPr/>
        </p:nvSpPr>
        <p:spPr>
          <a:xfrm rot="5400000">
            <a:off x="3161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79" name="Google Shape;1179;p49"/>
          <p:cNvSpPr/>
          <p:nvPr/>
        </p:nvSpPr>
        <p:spPr>
          <a:xfrm rot="5400000">
            <a:off x="33363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80" name="Google Shape;1180;p49"/>
          <p:cNvSpPr/>
          <p:nvPr/>
        </p:nvSpPr>
        <p:spPr>
          <a:xfrm rot="5400000">
            <a:off x="35112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81" name="Google Shape;1181;p49"/>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82" name="Google Shape;1182;p49"/>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83" name="Google Shape;1183;p49"/>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84" name="Google Shape;1184;p49"/>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85" name="Google Shape;1185;p49"/>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86" name="Google Shape;1186;p49"/>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87" name="Google Shape;1187;p49"/>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88" name="Google Shape;1188;p49"/>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89" name="Google Shape;1189;p49"/>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90" name="Google Shape;1190;p49"/>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91" name="Google Shape;1191;p49"/>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92" name="Google Shape;1192;p49"/>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93" name="Google Shape;1193;p49"/>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94" name="Google Shape;1194;p49"/>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95" name="Google Shape;1195;p49"/>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96" name="Google Shape;1196;p49"/>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97" name="Google Shape;1197;p49"/>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98" name="Google Shape;1198;p49"/>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99" name="Google Shape;1199;p49"/>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00" name="Google Shape;1200;p49"/>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01" name="Google Shape;1201;p49"/>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02" name="Google Shape;1202;p49"/>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03" name="Google Shape;1203;p49"/>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4" name="Google Shape;1204;p49"/>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5" name="Google Shape;1205;p49"/>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06" name="Google Shape;1206;p49"/>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07" name="Google Shape;1207;p49"/>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208" name="Google Shape;1208;p49"/>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09" name="Google Shape;1209;p49"/>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10" name="Google Shape;1210;p49"/>
          <p:cNvGrpSpPr/>
          <p:nvPr/>
        </p:nvGrpSpPr>
        <p:grpSpPr>
          <a:xfrm>
            <a:off x="811588" y="4486300"/>
            <a:ext cx="2393100" cy="261300"/>
            <a:chOff x="451750" y="1912600"/>
            <a:chExt cx="2393100" cy="261300"/>
          </a:xfrm>
        </p:grpSpPr>
        <p:cxnSp>
          <p:nvCxnSpPr>
            <p:cNvPr id="1211" name="Google Shape;1211;p49"/>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212" name="Google Shape;1212;p49"/>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13" name="Google Shape;1213;p49"/>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14" name="Google Shape;1214;p49"/>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15" name="Google Shape;1215;p49"/>
          <p:cNvGrpSpPr/>
          <p:nvPr/>
        </p:nvGrpSpPr>
        <p:grpSpPr>
          <a:xfrm>
            <a:off x="5413495" y="4486300"/>
            <a:ext cx="2919162" cy="261300"/>
            <a:chOff x="4996875" y="1912600"/>
            <a:chExt cx="2975700" cy="261300"/>
          </a:xfrm>
        </p:grpSpPr>
        <p:cxnSp>
          <p:nvCxnSpPr>
            <p:cNvPr id="1216" name="Google Shape;1216;p49"/>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217" name="Google Shape;1217;p49"/>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18" name="Google Shape;1218;p49"/>
          <p:cNvGrpSpPr/>
          <p:nvPr/>
        </p:nvGrpSpPr>
        <p:grpSpPr>
          <a:xfrm>
            <a:off x="3261268" y="4369100"/>
            <a:ext cx="2095500" cy="493800"/>
            <a:chOff x="3261268" y="4292900"/>
            <a:chExt cx="2095500" cy="493800"/>
          </a:xfrm>
        </p:grpSpPr>
        <p:cxnSp>
          <p:nvCxnSpPr>
            <p:cNvPr id="1219" name="Google Shape;1219;p49"/>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220" name="Google Shape;1220;p49"/>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221" name="Google Shape;1221;p49"/>
          <p:cNvCxnSpPr>
            <a:stCxn id="1177" idx="1"/>
            <a:endCxn id="1222" idx="2"/>
          </p:cNvCxnSpPr>
          <p:nvPr/>
        </p:nvCxnSpPr>
        <p:spPr>
          <a:xfrm rot="10800000">
            <a:off x="33476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222" name="Google Shape;1222;p49"/>
          <p:cNvSpPr txBox="1"/>
          <p:nvPr/>
        </p:nvSpPr>
        <p:spPr>
          <a:xfrm>
            <a:off x="25951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B768C023-A286-C038-9609-BB08A2A5FD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5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Detecting Loss</a:t>
            </a:r>
            <a:endParaRPr/>
          </a:p>
        </p:txBody>
      </p:sp>
      <p:sp>
        <p:nvSpPr>
          <p:cNvPr id="1228" name="Google Shape;1228;p50"/>
          <p:cNvSpPr txBox="1">
            <a:spLocks noGrp="1"/>
          </p:cNvSpPr>
          <p:nvPr>
            <p:ph type="body" idx="1"/>
          </p:nvPr>
        </p:nvSpPr>
        <p:spPr>
          <a:xfrm>
            <a:off x="107050" y="402200"/>
            <a:ext cx="8909700" cy="2678700"/>
          </a:xfrm>
          <a:prstGeom prst="rect">
            <a:avLst/>
          </a:prstGeom>
        </p:spPr>
        <p:txBody>
          <a:bodyPr spcFirstLastPara="1" wrap="square" lIns="91425" tIns="91425" rIns="91425" bIns="91425" anchor="t" anchorCtr="0">
            <a:normAutofit fontScale="85000" lnSpcReduction="10000"/>
          </a:bodyPr>
          <a:lstStyle/>
          <a:p>
            <a:pPr marL="0" lvl="0" indent="0" algn="l" rtl="0">
              <a:spcBef>
                <a:spcPts val="600"/>
              </a:spcBef>
              <a:spcAft>
                <a:spcPts val="0"/>
              </a:spcAft>
              <a:buNone/>
            </a:pPr>
            <a:r>
              <a:rPr lang="en" dirty="0"/>
              <a:t>Two ways to detect loss and resend. We resend if either condition is true.</a:t>
            </a:r>
            <a:endParaRPr dirty="0"/>
          </a:p>
          <a:p>
            <a:pPr marL="0" lvl="0" indent="0" algn="l" rtl="0">
              <a:spcBef>
                <a:spcPts val="600"/>
              </a:spcBef>
              <a:spcAft>
                <a:spcPts val="0"/>
              </a:spcAft>
              <a:buNone/>
            </a:pPr>
            <a:r>
              <a:rPr lang="en" dirty="0"/>
              <a:t>In both cases, we always resend the </a:t>
            </a:r>
            <a:r>
              <a:rPr lang="en" i="1" dirty="0"/>
              <a:t>first unacked packet</a:t>
            </a:r>
            <a:r>
              <a:rPr lang="en" dirty="0"/>
              <a:t> (leftmost part of window).</a:t>
            </a:r>
            <a:endParaRPr dirty="0"/>
          </a:p>
          <a:p>
            <a:pPr marL="457200" lvl="0" indent="-342900" algn="l" rtl="0">
              <a:spcBef>
                <a:spcPts val="600"/>
              </a:spcBef>
              <a:spcAft>
                <a:spcPts val="0"/>
              </a:spcAft>
              <a:buSzPts val="1800"/>
              <a:buAutoNum type="arabicPeriod"/>
            </a:pPr>
            <a:r>
              <a:rPr lang="en" dirty="0"/>
              <a:t>Ack-based: If 3 duplicate acks are received, resend.</a:t>
            </a:r>
          </a:p>
          <a:p>
            <a:pPr lvl="1">
              <a:spcBef>
                <a:spcPts val="0"/>
              </a:spcBef>
            </a:pPr>
            <a:r>
              <a:rPr lang="en-US" dirty="0"/>
              <a:t>Receiving three copies of the same cumulative ACK signals that a later segment arrived but an earlier one is missing, so the sender immediately retransmits the first unacknowledged segment (leftmost byte of the window) without waiting for the timer.</a:t>
            </a:r>
            <a:endParaRPr dirty="0"/>
          </a:p>
          <a:p>
            <a:pPr marL="457200" lvl="0" indent="-342900" algn="l" rtl="0">
              <a:spcBef>
                <a:spcPts val="0"/>
              </a:spcBef>
              <a:spcAft>
                <a:spcPts val="0"/>
              </a:spcAft>
              <a:buSzPts val="1800"/>
              <a:buAutoNum type="arabicPeriod"/>
            </a:pPr>
            <a:r>
              <a:rPr lang="en" dirty="0"/>
              <a:t>Timer-based: Keep a single timer. If the timer expires, resend.</a:t>
            </a:r>
            <a:endParaRPr dirty="0"/>
          </a:p>
          <a:p>
            <a:pPr marL="914400" lvl="1" indent="-342900" algn="l" rtl="0">
              <a:spcBef>
                <a:spcPts val="0"/>
              </a:spcBef>
              <a:spcAft>
                <a:spcPts val="0"/>
              </a:spcAft>
              <a:buSzPts val="1800"/>
              <a:buChar char="○"/>
            </a:pPr>
            <a:r>
              <a:rPr lang="en"/>
              <a:t>Set </a:t>
            </a:r>
            <a:r>
              <a:rPr lang="en" dirty="0"/>
              <a:t>timer by estimating RTT (e.g. measure times between packets and acks, and take a moving average).</a:t>
            </a:r>
            <a:endParaRPr dirty="0"/>
          </a:p>
        </p:txBody>
      </p:sp>
      <p:sp>
        <p:nvSpPr>
          <p:cNvPr id="1229" name="Google Shape;1229;p50"/>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30" name="Google Shape;1230;p50"/>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231" name="Google Shape;1231;p50"/>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232" name="Google Shape;1232;p50"/>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233" name="Google Shape;1233;p50"/>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234" name="Google Shape;1234;p50"/>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235" name="Google Shape;1235;p50"/>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236" name="Google Shape;1236;p50"/>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237" name="Google Shape;1237;p50"/>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238" name="Google Shape;1238;p50"/>
          <p:cNvSpPr/>
          <p:nvPr/>
        </p:nvSpPr>
        <p:spPr>
          <a:xfrm rot="5400000">
            <a:off x="29865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239" name="Google Shape;1239;p50"/>
          <p:cNvSpPr/>
          <p:nvPr/>
        </p:nvSpPr>
        <p:spPr>
          <a:xfrm rot="5400000">
            <a:off x="31614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240" name="Google Shape;1240;p50"/>
          <p:cNvSpPr/>
          <p:nvPr/>
        </p:nvSpPr>
        <p:spPr>
          <a:xfrm rot="5400000">
            <a:off x="33363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241" name="Google Shape;1241;p50"/>
          <p:cNvSpPr/>
          <p:nvPr/>
        </p:nvSpPr>
        <p:spPr>
          <a:xfrm rot="5400000">
            <a:off x="35112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242" name="Google Shape;1242;p50"/>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243" name="Google Shape;1243;p50"/>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244" name="Google Shape;1244;p50"/>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245" name="Google Shape;1245;p50"/>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246" name="Google Shape;1246;p50"/>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247" name="Google Shape;1247;p50"/>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248" name="Google Shape;1248;p50"/>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249" name="Google Shape;1249;p50"/>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250" name="Google Shape;1250;p50"/>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251" name="Google Shape;1251;p50"/>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252" name="Google Shape;1252;p50"/>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253" name="Google Shape;1253;p50"/>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254" name="Google Shape;1254;p50"/>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255" name="Google Shape;1255;p50"/>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256" name="Google Shape;1256;p50"/>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257" name="Google Shape;1257;p50"/>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258" name="Google Shape;1258;p50"/>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259" name="Google Shape;1259;p50"/>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260" name="Google Shape;1260;p50"/>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61" name="Google Shape;1261;p50"/>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62" name="Google Shape;1262;p50"/>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63" name="Google Shape;1263;p50"/>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64" name="Google Shape;1264;p50"/>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5" name="Google Shape;1265;p50"/>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6" name="Google Shape;1266;p50"/>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67" name="Google Shape;1267;p50"/>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68" name="Google Shape;1268;p50"/>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269" name="Google Shape;1269;p50"/>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70" name="Google Shape;1270;p50"/>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71" name="Google Shape;1271;p50"/>
          <p:cNvGrpSpPr/>
          <p:nvPr/>
        </p:nvGrpSpPr>
        <p:grpSpPr>
          <a:xfrm>
            <a:off x="811588" y="4486300"/>
            <a:ext cx="2393100" cy="261300"/>
            <a:chOff x="451750" y="1912600"/>
            <a:chExt cx="2393100" cy="261300"/>
          </a:xfrm>
        </p:grpSpPr>
        <p:cxnSp>
          <p:nvCxnSpPr>
            <p:cNvPr id="1272" name="Google Shape;1272;p50"/>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273" name="Google Shape;1273;p50"/>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74" name="Google Shape;1274;p50"/>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75" name="Google Shape;1275;p50"/>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76" name="Google Shape;1276;p50"/>
          <p:cNvGrpSpPr/>
          <p:nvPr/>
        </p:nvGrpSpPr>
        <p:grpSpPr>
          <a:xfrm>
            <a:off x="5413495" y="4486300"/>
            <a:ext cx="2919162" cy="261300"/>
            <a:chOff x="4996875" y="1912600"/>
            <a:chExt cx="2975700" cy="261300"/>
          </a:xfrm>
        </p:grpSpPr>
        <p:cxnSp>
          <p:nvCxnSpPr>
            <p:cNvPr id="1277" name="Google Shape;1277;p50"/>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278" name="Google Shape;1278;p50"/>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79" name="Google Shape;1279;p50"/>
          <p:cNvGrpSpPr/>
          <p:nvPr/>
        </p:nvGrpSpPr>
        <p:grpSpPr>
          <a:xfrm>
            <a:off x="3261268" y="4369100"/>
            <a:ext cx="2095500" cy="493800"/>
            <a:chOff x="3261268" y="4292900"/>
            <a:chExt cx="2095500" cy="493800"/>
          </a:xfrm>
        </p:grpSpPr>
        <p:cxnSp>
          <p:nvCxnSpPr>
            <p:cNvPr id="1280" name="Google Shape;1280;p50"/>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281" name="Google Shape;1281;p50"/>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
        <p:nvSpPr>
          <p:cNvPr id="1282" name="Google Shape;1282;p50"/>
          <p:cNvSpPr txBox="1"/>
          <p:nvPr/>
        </p:nvSpPr>
        <p:spPr>
          <a:xfrm>
            <a:off x="3239950" y="3023375"/>
            <a:ext cx="2692500" cy="5061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Resend 15–18 if timer expires,</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or if 3 copies of ack(15) received.</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6AF48BEF-A959-899C-22CB-41D5495020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51"/>
          <p:cNvSpPr txBox="1">
            <a:spLocks noGrp="1"/>
          </p:cNvSpPr>
          <p:nvPr>
            <p:ph type="body" idx="1"/>
          </p:nvPr>
        </p:nvSpPr>
        <p:spPr>
          <a:xfrm>
            <a:off x="4812375" y="402200"/>
            <a:ext cx="415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Implementing TCP</a:t>
            </a:r>
            <a:endParaRPr dirty="0">
              <a:solidFill>
                <a:srgbClr val="B7B7B7"/>
              </a:solidFill>
            </a:endParaRPr>
          </a:p>
          <a:p>
            <a:pPr marL="457200" lvl="0" indent="-342900" algn="l" rtl="0">
              <a:spcBef>
                <a:spcPts val="600"/>
              </a:spcBef>
              <a:spcAft>
                <a:spcPts val="0"/>
              </a:spcAft>
              <a:buClr>
                <a:srgbClr val="B7B7B7"/>
              </a:buClr>
              <a:buSzPts val="1800"/>
              <a:buChar char="•"/>
            </a:pPr>
            <a:r>
              <a:rPr lang="nl-NL" dirty="0">
                <a:solidFill>
                  <a:srgbClr val="B7B7B7"/>
                </a:solidFill>
              </a:rPr>
              <a:t>byte</a:t>
            </a:r>
            <a:r>
              <a:rPr lang="en" dirty="0">
                <a:solidFill>
                  <a:srgbClr val="B7B7B7"/>
                </a:solidFill>
              </a:rPr>
              <a:t> Notation</a:t>
            </a:r>
            <a:br>
              <a:rPr lang="en" dirty="0">
                <a:solidFill>
                  <a:srgbClr val="B7B7B7"/>
                </a:solidFill>
              </a:rPr>
            </a:br>
            <a:r>
              <a:rPr lang="en" dirty="0">
                <a:solidFill>
                  <a:srgbClr val="B7B7B7"/>
                </a:solidFill>
              </a:rPr>
              <a:t>(Segments, Sequence Numbers)</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Maintaining State (Full Duplex, Connection Setup and Teardown)</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Sliding Window</a:t>
            </a:r>
            <a:endParaRPr dirty="0">
              <a:solidFill>
                <a:srgbClr val="B7B7B7"/>
              </a:solidFill>
            </a:endParaRPr>
          </a:p>
          <a:p>
            <a:pPr marL="457200" lvl="0" indent="-342900" algn="l" rtl="0">
              <a:spcBef>
                <a:spcPts val="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Header</a:t>
            </a:r>
            <a:endParaRPr dirty="0">
              <a:solidFill>
                <a:srgbClr val="B7B7B7"/>
              </a:solidFill>
            </a:endParaRPr>
          </a:p>
        </p:txBody>
      </p:sp>
      <p:sp>
        <p:nvSpPr>
          <p:cNvPr id="1288" name="Google Shape;1288;p5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TCP Header</a:t>
            </a:r>
            <a:endParaRPr/>
          </a:p>
        </p:txBody>
      </p:sp>
      <p:sp>
        <p:nvSpPr>
          <p:cNvPr id="1289" name="Google Shape;1289;p5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11, Spring 2026</a:t>
            </a:r>
            <a:endParaRPr dirty="0"/>
          </a:p>
        </p:txBody>
      </p:sp>
      <p:sp>
        <p:nvSpPr>
          <p:cNvPr id="2" name="Slide Number Placeholder 1">
            <a:extLst>
              <a:ext uri="{FF2B5EF4-FFF2-40B4-BE49-F238E27FC236}">
                <a16:creationId xmlns:a16="http://schemas.microsoft.com/office/drawing/2014/main" id="{19BE808E-7DAF-FE8A-78F3-301601FA81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5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Header</a:t>
            </a:r>
            <a:endParaRPr/>
          </a:p>
        </p:txBody>
      </p:sp>
      <p:sp>
        <p:nvSpPr>
          <p:cNvPr id="1295" name="Google Shape;1295;p52"/>
          <p:cNvSpPr txBox="1">
            <a:spLocks noGrp="1"/>
          </p:cNvSpPr>
          <p:nvPr>
            <p:ph type="body" idx="1"/>
          </p:nvPr>
        </p:nvSpPr>
        <p:spPr>
          <a:xfrm>
            <a:off x="107050" y="402200"/>
            <a:ext cx="8909700" cy="244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functions does TCP implement?</a:t>
            </a:r>
            <a:endParaRPr/>
          </a:p>
          <a:p>
            <a:pPr marL="457200" lvl="0" indent="-342900" algn="l" rtl="0">
              <a:spcBef>
                <a:spcPts val="600"/>
              </a:spcBef>
              <a:spcAft>
                <a:spcPts val="0"/>
              </a:spcAft>
              <a:buSzPts val="1800"/>
              <a:buAutoNum type="arabicPeriod"/>
            </a:pPr>
            <a:r>
              <a:rPr lang="en">
                <a:highlight>
                  <a:srgbClr val="F4CCCC"/>
                </a:highlight>
              </a:rPr>
              <a:t>Demultiplexing</a:t>
            </a:r>
            <a:r>
              <a:rPr lang="en"/>
              <a:t> </a:t>
            </a:r>
            <a:r>
              <a:rPr lang="en" sz="1400">
                <a:solidFill>
                  <a:schemeClr val="accent3"/>
                </a:solidFill>
              </a:rPr>
              <a:t>(</a:t>
            </a:r>
            <a:r>
              <a:rPr lang="en" sz="1400" i="1">
                <a:solidFill>
                  <a:schemeClr val="accent3"/>
                </a:solidFill>
              </a:rPr>
              <a:t>ports</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AutoNum type="arabicPeriod"/>
            </a:pPr>
            <a:r>
              <a:rPr lang="en">
                <a:highlight>
                  <a:srgbClr val="FCE5CD"/>
                </a:highlight>
              </a:rPr>
              <a:t>Reliability</a:t>
            </a:r>
            <a:r>
              <a:rPr lang="en"/>
              <a:t> </a:t>
            </a:r>
            <a:r>
              <a:rPr lang="en" sz="1400">
                <a:solidFill>
                  <a:schemeClr val="accent3"/>
                </a:solidFill>
              </a:rPr>
              <a:t>(</a:t>
            </a:r>
            <a:r>
              <a:rPr lang="en" sz="1400" i="1">
                <a:solidFill>
                  <a:schemeClr val="accent3"/>
                </a:solidFill>
              </a:rPr>
              <a:t>checksum, sequence and ack numbers</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AutoNum type="arabicPeriod"/>
            </a:pPr>
            <a:r>
              <a:rPr lang="en">
                <a:highlight>
                  <a:srgbClr val="D9EAD3"/>
                </a:highlight>
              </a:rPr>
              <a:t>Connection setup and teardown</a:t>
            </a:r>
            <a:r>
              <a:rPr lang="en"/>
              <a:t> </a:t>
            </a:r>
            <a:r>
              <a:rPr lang="en" sz="1400">
                <a:solidFill>
                  <a:schemeClr val="accent3"/>
                </a:solidFill>
              </a:rPr>
              <a:t>(</a:t>
            </a:r>
            <a:r>
              <a:rPr lang="en" sz="1400" i="1">
                <a:solidFill>
                  <a:schemeClr val="accent3"/>
                </a:solidFill>
              </a:rPr>
              <a:t>flags</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AutoNum type="arabicPeriod"/>
            </a:pPr>
            <a:r>
              <a:rPr lang="en">
                <a:highlight>
                  <a:srgbClr val="CFE2F3"/>
                </a:highlight>
              </a:rPr>
              <a:t>Flow control</a:t>
            </a:r>
            <a:r>
              <a:rPr lang="en"/>
              <a:t> </a:t>
            </a:r>
            <a:r>
              <a:rPr lang="en" sz="1400">
                <a:solidFill>
                  <a:schemeClr val="accent3"/>
                </a:solidFill>
              </a:rPr>
              <a:t>(</a:t>
            </a:r>
            <a:r>
              <a:rPr lang="en" sz="1400" i="1">
                <a:solidFill>
                  <a:schemeClr val="accent3"/>
                </a:solidFill>
              </a:rPr>
              <a:t>advertised window</a:t>
            </a:r>
            <a:r>
              <a:rPr lang="en" sz="1400">
                <a:solidFill>
                  <a:schemeClr val="accent3"/>
                </a:solidFill>
              </a:rPr>
              <a:t>)</a:t>
            </a:r>
            <a:endParaRPr sz="1400">
              <a:solidFill>
                <a:schemeClr val="accent3"/>
              </a:solidFill>
            </a:endParaRPr>
          </a:p>
        </p:txBody>
      </p:sp>
      <p:graphicFrame>
        <p:nvGraphicFramePr>
          <p:cNvPr id="1296" name="Google Shape;1296;p52"/>
          <p:cNvGraphicFramePr/>
          <p:nvPr/>
        </p:nvGraphicFramePr>
        <p:xfrm>
          <a:off x="1257300" y="3055400"/>
          <a:ext cx="6609200" cy="1877470"/>
        </p:xfrm>
        <a:graphic>
          <a:graphicData uri="http://schemas.openxmlformats.org/drawingml/2006/table">
            <a:tbl>
              <a:tblPr>
                <a:noFill/>
                <a:tableStyleId>{AF03A97D-8E77-47E1-9F38-7204C9F0EF1F}</a:tableStyleId>
              </a:tblPr>
              <a:tblGrid>
                <a:gridCol w="826150">
                  <a:extLst>
                    <a:ext uri="{9D8B030D-6E8A-4147-A177-3AD203B41FA5}">
                      <a16:colId xmlns:a16="http://schemas.microsoft.com/office/drawing/2014/main" val="20000"/>
                    </a:ext>
                  </a:extLst>
                </a:gridCol>
                <a:gridCol w="826150">
                  <a:extLst>
                    <a:ext uri="{9D8B030D-6E8A-4147-A177-3AD203B41FA5}">
                      <a16:colId xmlns:a16="http://schemas.microsoft.com/office/drawing/2014/main" val="20001"/>
                    </a:ext>
                  </a:extLst>
                </a:gridCol>
                <a:gridCol w="826150">
                  <a:extLst>
                    <a:ext uri="{9D8B030D-6E8A-4147-A177-3AD203B41FA5}">
                      <a16:colId xmlns:a16="http://schemas.microsoft.com/office/drawing/2014/main" val="20002"/>
                    </a:ext>
                  </a:extLst>
                </a:gridCol>
                <a:gridCol w="826150">
                  <a:extLst>
                    <a:ext uri="{9D8B030D-6E8A-4147-A177-3AD203B41FA5}">
                      <a16:colId xmlns:a16="http://schemas.microsoft.com/office/drawing/2014/main" val="20003"/>
                    </a:ext>
                  </a:extLst>
                </a:gridCol>
                <a:gridCol w="826150">
                  <a:extLst>
                    <a:ext uri="{9D8B030D-6E8A-4147-A177-3AD203B41FA5}">
                      <a16:colId xmlns:a16="http://schemas.microsoft.com/office/drawing/2014/main" val="20004"/>
                    </a:ext>
                  </a:extLst>
                </a:gridCol>
                <a:gridCol w="826150">
                  <a:extLst>
                    <a:ext uri="{9D8B030D-6E8A-4147-A177-3AD203B41FA5}">
                      <a16:colId xmlns:a16="http://schemas.microsoft.com/office/drawing/2014/main" val="20005"/>
                    </a:ext>
                  </a:extLst>
                </a:gridCol>
                <a:gridCol w="826150">
                  <a:extLst>
                    <a:ext uri="{9D8B030D-6E8A-4147-A177-3AD203B41FA5}">
                      <a16:colId xmlns:a16="http://schemas.microsoft.com/office/drawing/2014/main" val="20006"/>
                    </a:ext>
                  </a:extLst>
                </a:gridCol>
                <a:gridCol w="826150">
                  <a:extLst>
                    <a:ext uri="{9D8B030D-6E8A-4147-A177-3AD203B41FA5}">
                      <a16:colId xmlns:a16="http://schemas.microsoft.com/office/drawing/2014/main" val="20007"/>
                    </a:ext>
                  </a:extLst>
                </a:gridCol>
              </a:tblGrid>
              <a:tr h="205675">
                <a:tc gridSpan="4">
                  <a:txBody>
                    <a:bodyPr/>
                    <a:lstStyle/>
                    <a:p>
                      <a:pPr marL="0" lvl="0" indent="0" algn="ctr" rtl="0">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L="27425" marR="27425" marT="27425" marB="27425" anchor="ctr">
                    <a:solidFill>
                      <a:srgbClr val="F4CCCC"/>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L="27425" marR="27425" marT="27425" marB="27425" anchor="ctr">
                    <a:solidFill>
                      <a:srgbClr val="F4CCCC"/>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L="27425" marR="27425" marT="27425" marB="27425" anchor="ctr">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L="27425" marR="27425" marT="27425" marB="27425" anchor="ctr">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05675">
                <a:tc>
                  <a:txBody>
                    <a:bodyPr/>
                    <a:lstStyle/>
                    <a:p>
                      <a:pPr marL="0" lvl="0" indent="0" algn="ctr" rtl="0">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L="27425" marR="27425" marT="27425" marB="27425" anchor="ctr"/>
                </a:tc>
                <a:tc>
                  <a:txBody>
                    <a:bodyPr/>
                    <a:lstStyle/>
                    <a:p>
                      <a:pPr marL="0" lvl="0" indent="0" algn="ctr" rtl="0">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L="27425" marR="27425" marT="27425" marB="27425" anchor="ctr"/>
                </a:tc>
                <a:tc gridSpan="2">
                  <a:txBody>
                    <a:bodyPr/>
                    <a:lstStyle/>
                    <a:p>
                      <a:pPr marL="0" lvl="0" indent="0" algn="ctr" rtl="0">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L="27425" marR="27425" marT="27425" marB="27425" anchor="ctr">
                    <a:solidFill>
                      <a:srgbClr val="D9EAD3"/>
                    </a:solidFill>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L="27425" marR="27425" marT="27425" marB="27425" anchor="ctr">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05675">
                <a:tc gridSpan="4">
                  <a:txBody>
                    <a:bodyPr/>
                    <a:lstStyle/>
                    <a:p>
                      <a:pPr marL="0" lvl="0" indent="0" algn="ctr" rtl="0">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L="27425" marR="27425" marT="27425" marB="27425" anchor="ctr">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2" name="Slide Number Placeholder 1">
            <a:extLst>
              <a:ext uri="{FF2B5EF4-FFF2-40B4-BE49-F238E27FC236}">
                <a16:creationId xmlns:a16="http://schemas.microsoft.com/office/drawing/2014/main" id="{9A3A412D-4A65-538F-7985-48EE3708FB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5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Header</a:t>
            </a:r>
            <a:endParaRPr/>
          </a:p>
        </p:txBody>
      </p:sp>
      <p:sp>
        <p:nvSpPr>
          <p:cNvPr id="1302" name="Google Shape;1302;p53"/>
          <p:cNvSpPr txBox="1">
            <a:spLocks noGrp="1"/>
          </p:cNvSpPr>
          <p:nvPr>
            <p:ph type="body" idx="1"/>
          </p:nvPr>
        </p:nvSpPr>
        <p:spPr>
          <a:xfrm>
            <a:off x="107050" y="402200"/>
            <a:ext cx="8909700" cy="244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There are 8 flags that can be set in TCP. We care about 4 of them:</a:t>
            </a:r>
            <a:endParaRPr/>
          </a:p>
          <a:p>
            <a:pPr marL="457200" lvl="0" indent="-342900" algn="l" rtl="0">
              <a:spcBef>
                <a:spcPts val="600"/>
              </a:spcBef>
              <a:spcAft>
                <a:spcPts val="0"/>
              </a:spcAft>
              <a:buSzPts val="1800"/>
              <a:buChar char="●"/>
            </a:pPr>
            <a:r>
              <a:rPr lang="en"/>
              <a:t>SYN: I'm sending my initial sequence number.</a:t>
            </a:r>
            <a:endParaRPr/>
          </a:p>
          <a:p>
            <a:pPr marL="457200" lvl="0" indent="-342900" algn="l" rtl="0">
              <a:spcBef>
                <a:spcPts val="0"/>
              </a:spcBef>
              <a:spcAft>
                <a:spcPts val="0"/>
              </a:spcAft>
              <a:buSzPts val="1800"/>
              <a:buChar char="●"/>
            </a:pPr>
            <a:r>
              <a:rPr lang="en"/>
              <a:t>ACK: I'm acking data (please look at the ack number).</a:t>
            </a:r>
            <a:endParaRPr/>
          </a:p>
          <a:p>
            <a:pPr marL="457200" lvl="0" indent="-342900" algn="l" rtl="0">
              <a:spcBef>
                <a:spcPts val="0"/>
              </a:spcBef>
              <a:spcAft>
                <a:spcPts val="0"/>
              </a:spcAft>
              <a:buSzPts val="1800"/>
              <a:buChar char="●"/>
            </a:pPr>
            <a:r>
              <a:rPr lang="en"/>
              <a:t>FIN: I'm done sending data, but will keep receiving data.</a:t>
            </a:r>
            <a:endParaRPr/>
          </a:p>
          <a:p>
            <a:pPr marL="457200" lvl="0" indent="-342900" algn="l" rtl="0">
              <a:spcBef>
                <a:spcPts val="0"/>
              </a:spcBef>
              <a:spcAft>
                <a:spcPts val="0"/>
              </a:spcAft>
              <a:buSzPts val="1800"/>
              <a:buChar char="●"/>
            </a:pPr>
            <a:r>
              <a:rPr lang="en"/>
              <a:t>RST: I'm done sending and receiving data.</a:t>
            </a:r>
            <a:endParaRPr/>
          </a:p>
          <a:p>
            <a:pPr marL="0" lvl="0" indent="0" algn="l" rtl="0">
              <a:spcBef>
                <a:spcPts val="600"/>
              </a:spcBef>
              <a:spcAft>
                <a:spcPts val="0"/>
              </a:spcAft>
              <a:buNone/>
            </a:pPr>
            <a:r>
              <a:rPr lang="en"/>
              <a:t>We won't look at the other four: CWR, ECE, URG, PSH.</a:t>
            </a:r>
            <a:endParaRPr/>
          </a:p>
        </p:txBody>
      </p:sp>
      <p:graphicFrame>
        <p:nvGraphicFramePr>
          <p:cNvPr id="1303" name="Google Shape;1303;p53"/>
          <p:cNvGraphicFramePr/>
          <p:nvPr/>
        </p:nvGraphicFramePr>
        <p:xfrm>
          <a:off x="1257300" y="3055400"/>
          <a:ext cx="6609200" cy="1877470"/>
        </p:xfrm>
        <a:graphic>
          <a:graphicData uri="http://schemas.openxmlformats.org/drawingml/2006/table">
            <a:tbl>
              <a:tblPr>
                <a:noFill/>
                <a:tableStyleId>{AF03A97D-8E77-47E1-9F38-7204C9F0EF1F}</a:tableStyleId>
              </a:tblPr>
              <a:tblGrid>
                <a:gridCol w="826150">
                  <a:extLst>
                    <a:ext uri="{9D8B030D-6E8A-4147-A177-3AD203B41FA5}">
                      <a16:colId xmlns:a16="http://schemas.microsoft.com/office/drawing/2014/main" val="20000"/>
                    </a:ext>
                  </a:extLst>
                </a:gridCol>
                <a:gridCol w="826150">
                  <a:extLst>
                    <a:ext uri="{9D8B030D-6E8A-4147-A177-3AD203B41FA5}">
                      <a16:colId xmlns:a16="http://schemas.microsoft.com/office/drawing/2014/main" val="20001"/>
                    </a:ext>
                  </a:extLst>
                </a:gridCol>
                <a:gridCol w="826150">
                  <a:extLst>
                    <a:ext uri="{9D8B030D-6E8A-4147-A177-3AD203B41FA5}">
                      <a16:colId xmlns:a16="http://schemas.microsoft.com/office/drawing/2014/main" val="20002"/>
                    </a:ext>
                  </a:extLst>
                </a:gridCol>
                <a:gridCol w="826150">
                  <a:extLst>
                    <a:ext uri="{9D8B030D-6E8A-4147-A177-3AD203B41FA5}">
                      <a16:colId xmlns:a16="http://schemas.microsoft.com/office/drawing/2014/main" val="20003"/>
                    </a:ext>
                  </a:extLst>
                </a:gridCol>
                <a:gridCol w="826150">
                  <a:extLst>
                    <a:ext uri="{9D8B030D-6E8A-4147-A177-3AD203B41FA5}">
                      <a16:colId xmlns:a16="http://schemas.microsoft.com/office/drawing/2014/main" val="20004"/>
                    </a:ext>
                  </a:extLst>
                </a:gridCol>
                <a:gridCol w="826150">
                  <a:extLst>
                    <a:ext uri="{9D8B030D-6E8A-4147-A177-3AD203B41FA5}">
                      <a16:colId xmlns:a16="http://schemas.microsoft.com/office/drawing/2014/main" val="20005"/>
                    </a:ext>
                  </a:extLst>
                </a:gridCol>
                <a:gridCol w="826150">
                  <a:extLst>
                    <a:ext uri="{9D8B030D-6E8A-4147-A177-3AD203B41FA5}">
                      <a16:colId xmlns:a16="http://schemas.microsoft.com/office/drawing/2014/main" val="20006"/>
                    </a:ext>
                  </a:extLst>
                </a:gridCol>
                <a:gridCol w="826150">
                  <a:extLst>
                    <a:ext uri="{9D8B030D-6E8A-4147-A177-3AD203B41FA5}">
                      <a16:colId xmlns:a16="http://schemas.microsoft.com/office/drawing/2014/main" val="20007"/>
                    </a:ext>
                  </a:extLst>
                </a:gridCol>
              </a:tblGrid>
              <a:tr h="205675">
                <a:tc gridSpan="4">
                  <a:txBody>
                    <a:bodyPr/>
                    <a:lstStyle/>
                    <a:p>
                      <a:pPr marL="0" lvl="0" indent="0" algn="ctr" rtl="0">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05675">
                <a:tc>
                  <a:txBody>
                    <a:bodyPr/>
                    <a:lstStyle/>
                    <a:p>
                      <a:pPr marL="0" lvl="0" indent="0" algn="ctr" rtl="0">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L="27425" marR="27425" marT="27425" marB="27425" anchor="ctr"/>
                </a:tc>
                <a:tc>
                  <a:txBody>
                    <a:bodyPr/>
                    <a:lstStyle/>
                    <a:p>
                      <a:pPr marL="0" lvl="0" indent="0" algn="ctr" rtl="0">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L="27425" marR="27425" marT="27425" marB="27425" anchor="ctr"/>
                </a:tc>
                <a:tc gridSpan="2">
                  <a:txBody>
                    <a:bodyPr/>
                    <a:lstStyle/>
                    <a:p>
                      <a:pPr marL="0" lvl="0" indent="0" algn="ctr" rtl="0">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L="27425" marR="27425" marT="27425" marB="27425" anchor="ctr">
                    <a:solidFill>
                      <a:srgbClr val="D9EAD3"/>
                    </a:solidFill>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05675">
                <a:tc gridSpan="4">
                  <a:txBody>
                    <a:bodyPr/>
                    <a:lstStyle/>
                    <a:p>
                      <a:pPr marL="0" lvl="0" indent="0" algn="ctr" rtl="0">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2" name="Slide Number Placeholder 1">
            <a:extLst>
              <a:ext uri="{FF2B5EF4-FFF2-40B4-BE49-F238E27FC236}">
                <a16:creationId xmlns:a16="http://schemas.microsoft.com/office/drawing/2014/main" id="{83945FC8-6875-B71E-E5F4-5A8DBEFA76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07"/>
        <p:cNvGrpSpPr/>
        <p:nvPr/>
      </p:nvGrpSpPr>
      <p:grpSpPr>
        <a:xfrm>
          <a:off x="0" y="0"/>
          <a:ext cx="0" cy="0"/>
          <a:chOff x="0" y="0"/>
          <a:chExt cx="0" cy="0"/>
        </a:xfrm>
      </p:grpSpPr>
      <p:sp>
        <p:nvSpPr>
          <p:cNvPr id="1308" name="Google Shape;1308;p5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Header</a:t>
            </a:r>
            <a:endParaRPr/>
          </a:p>
        </p:txBody>
      </p:sp>
      <p:sp>
        <p:nvSpPr>
          <p:cNvPr id="1309" name="Google Shape;1309;p54"/>
          <p:cNvSpPr txBox="1">
            <a:spLocks noGrp="1"/>
          </p:cNvSpPr>
          <p:nvPr>
            <p:ph type="body" idx="1"/>
          </p:nvPr>
        </p:nvSpPr>
        <p:spPr>
          <a:xfrm>
            <a:off x="107050" y="402200"/>
            <a:ext cx="8909700" cy="244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Remaining fields:</a:t>
            </a:r>
            <a:endParaRPr/>
          </a:p>
          <a:p>
            <a:pPr marL="457200" lvl="0" indent="-342900" algn="l" rtl="0">
              <a:spcBef>
                <a:spcPts val="600"/>
              </a:spcBef>
              <a:spcAft>
                <a:spcPts val="0"/>
              </a:spcAft>
              <a:buSzPts val="1800"/>
              <a:buChar char="●"/>
            </a:pPr>
            <a:r>
              <a:rPr lang="en"/>
              <a:t>Header length: Measured in 4-byte words.</a:t>
            </a:r>
            <a:endParaRPr/>
          </a:p>
          <a:p>
            <a:pPr marL="914400" lvl="1" indent="-342900" algn="l" rtl="0">
              <a:spcBef>
                <a:spcPts val="0"/>
              </a:spcBef>
              <a:spcAft>
                <a:spcPts val="0"/>
              </a:spcAft>
              <a:buSzPts val="1800"/>
              <a:buChar char="○"/>
            </a:pPr>
            <a:r>
              <a:rPr lang="en"/>
              <a:t>If no options, this is 5 (header is 20 bytes long).</a:t>
            </a:r>
            <a:endParaRPr/>
          </a:p>
          <a:p>
            <a:pPr marL="457200" lvl="0" indent="-342900" algn="l" rtl="0">
              <a:spcBef>
                <a:spcPts val="0"/>
              </a:spcBef>
              <a:spcAft>
                <a:spcPts val="0"/>
              </a:spcAft>
              <a:buSzPts val="1800"/>
              <a:buChar char="●"/>
            </a:pPr>
            <a:r>
              <a:rPr lang="en">
                <a:latin typeface="Consolas"/>
                <a:ea typeface="Consolas"/>
                <a:cs typeface="Consolas"/>
                <a:sym typeface="Consolas"/>
              </a:rPr>
              <a:t>0000</a:t>
            </a:r>
            <a:r>
              <a:rPr lang="en"/>
              <a:t>: Reserved bits (always set to 0).</a:t>
            </a:r>
            <a:endParaRPr/>
          </a:p>
          <a:p>
            <a:pPr marL="457200" lvl="0" indent="-342900" algn="l" rtl="0">
              <a:spcBef>
                <a:spcPts val="0"/>
              </a:spcBef>
              <a:spcAft>
                <a:spcPts val="0"/>
              </a:spcAft>
              <a:buSzPts val="1800"/>
              <a:buChar char="●"/>
            </a:pPr>
            <a:r>
              <a:rPr lang="en"/>
              <a:t>Urgent pointer: Used with the URG flag to indicate urgent data. Won't discuss.</a:t>
            </a:r>
            <a:endParaRPr/>
          </a:p>
          <a:p>
            <a:pPr marL="457200" lvl="0" indent="-342900" algn="l" rtl="0">
              <a:spcBef>
                <a:spcPts val="0"/>
              </a:spcBef>
              <a:spcAft>
                <a:spcPts val="0"/>
              </a:spcAft>
              <a:buSzPts val="1800"/>
              <a:buChar char="●"/>
            </a:pPr>
            <a:r>
              <a:rPr lang="en"/>
              <a:t>Options: Extra functionality.</a:t>
            </a:r>
            <a:endParaRPr/>
          </a:p>
          <a:p>
            <a:pPr marL="914400" lvl="1" indent="-342900" algn="l" rtl="0">
              <a:spcBef>
                <a:spcPts val="0"/>
              </a:spcBef>
              <a:spcAft>
                <a:spcPts val="0"/>
              </a:spcAft>
              <a:buSzPts val="1800"/>
              <a:buChar char="○"/>
            </a:pPr>
            <a:r>
              <a:rPr lang="en"/>
              <a:t>Example: SACK uses the options field to implement full-information acks.</a:t>
            </a:r>
            <a:endParaRPr/>
          </a:p>
        </p:txBody>
      </p:sp>
      <p:graphicFrame>
        <p:nvGraphicFramePr>
          <p:cNvPr id="1310" name="Google Shape;1310;p54"/>
          <p:cNvGraphicFramePr/>
          <p:nvPr/>
        </p:nvGraphicFramePr>
        <p:xfrm>
          <a:off x="1257300" y="3055400"/>
          <a:ext cx="6609200" cy="1877470"/>
        </p:xfrm>
        <a:graphic>
          <a:graphicData uri="http://schemas.openxmlformats.org/drawingml/2006/table">
            <a:tbl>
              <a:tblPr>
                <a:noFill/>
                <a:tableStyleId>{AF03A97D-8E77-47E1-9F38-7204C9F0EF1F}</a:tableStyleId>
              </a:tblPr>
              <a:tblGrid>
                <a:gridCol w="826150">
                  <a:extLst>
                    <a:ext uri="{9D8B030D-6E8A-4147-A177-3AD203B41FA5}">
                      <a16:colId xmlns:a16="http://schemas.microsoft.com/office/drawing/2014/main" val="20000"/>
                    </a:ext>
                  </a:extLst>
                </a:gridCol>
                <a:gridCol w="826150">
                  <a:extLst>
                    <a:ext uri="{9D8B030D-6E8A-4147-A177-3AD203B41FA5}">
                      <a16:colId xmlns:a16="http://schemas.microsoft.com/office/drawing/2014/main" val="20001"/>
                    </a:ext>
                  </a:extLst>
                </a:gridCol>
                <a:gridCol w="826150">
                  <a:extLst>
                    <a:ext uri="{9D8B030D-6E8A-4147-A177-3AD203B41FA5}">
                      <a16:colId xmlns:a16="http://schemas.microsoft.com/office/drawing/2014/main" val="20002"/>
                    </a:ext>
                  </a:extLst>
                </a:gridCol>
                <a:gridCol w="826150">
                  <a:extLst>
                    <a:ext uri="{9D8B030D-6E8A-4147-A177-3AD203B41FA5}">
                      <a16:colId xmlns:a16="http://schemas.microsoft.com/office/drawing/2014/main" val="20003"/>
                    </a:ext>
                  </a:extLst>
                </a:gridCol>
                <a:gridCol w="826150">
                  <a:extLst>
                    <a:ext uri="{9D8B030D-6E8A-4147-A177-3AD203B41FA5}">
                      <a16:colId xmlns:a16="http://schemas.microsoft.com/office/drawing/2014/main" val="20004"/>
                    </a:ext>
                  </a:extLst>
                </a:gridCol>
                <a:gridCol w="826150">
                  <a:extLst>
                    <a:ext uri="{9D8B030D-6E8A-4147-A177-3AD203B41FA5}">
                      <a16:colId xmlns:a16="http://schemas.microsoft.com/office/drawing/2014/main" val="20005"/>
                    </a:ext>
                  </a:extLst>
                </a:gridCol>
                <a:gridCol w="826150">
                  <a:extLst>
                    <a:ext uri="{9D8B030D-6E8A-4147-A177-3AD203B41FA5}">
                      <a16:colId xmlns:a16="http://schemas.microsoft.com/office/drawing/2014/main" val="20006"/>
                    </a:ext>
                  </a:extLst>
                </a:gridCol>
                <a:gridCol w="826150">
                  <a:extLst>
                    <a:ext uri="{9D8B030D-6E8A-4147-A177-3AD203B41FA5}">
                      <a16:colId xmlns:a16="http://schemas.microsoft.com/office/drawing/2014/main" val="20007"/>
                    </a:ext>
                  </a:extLst>
                </a:gridCol>
              </a:tblGrid>
              <a:tr h="205675">
                <a:tc gridSpan="4">
                  <a:txBody>
                    <a:bodyPr/>
                    <a:lstStyle/>
                    <a:p>
                      <a:pPr marL="0" lvl="0" indent="0" algn="ctr" rtl="0">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05675">
                <a:tc>
                  <a:txBody>
                    <a:bodyPr/>
                    <a:lstStyle/>
                    <a:p>
                      <a:pPr marL="0" lvl="0" indent="0" algn="ctr" rtl="0">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L="27425" marR="27425" marT="27425" marB="27425" anchor="ctr">
                    <a:solidFill>
                      <a:srgbClr val="D9D9D9"/>
                    </a:solidFill>
                  </a:tcPr>
                </a:tc>
                <a:tc>
                  <a:txBody>
                    <a:bodyPr/>
                    <a:lstStyle/>
                    <a:p>
                      <a:pPr marL="0" lvl="0" indent="0" algn="ctr" rtl="0">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L="27425" marR="27425" marT="27425" marB="27425" anchor="ctr">
                    <a:solidFill>
                      <a:srgbClr val="D9D9D9"/>
                    </a:solidFill>
                  </a:tcPr>
                </a:tc>
                <a:tc gridSpan="2">
                  <a:txBody>
                    <a:bodyPr/>
                    <a:lstStyle/>
                    <a:p>
                      <a:pPr marL="0" lvl="0" indent="0" algn="ctr" rtl="0">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L="27425" marR="27425" marT="27425" marB="27425" anchor="ct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05675">
                <a:tc gridSpan="4">
                  <a:txBody>
                    <a:bodyPr/>
                    <a:lstStyle/>
                    <a:p>
                      <a:pPr marL="0" lvl="0" indent="0" algn="ctr" rtl="0">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L="27425" marR="27425" marT="27425" marB="27425" anchor="ctr">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L="27425" marR="27425" marT="27425" marB="27425" anchor="ctr">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2" name="Slide Number Placeholder 1">
            <a:extLst>
              <a:ext uri="{FF2B5EF4-FFF2-40B4-BE49-F238E27FC236}">
                <a16:creationId xmlns:a16="http://schemas.microsoft.com/office/drawing/2014/main" id="{61B684E1-920B-36C7-C64E-880CC4BF7D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14"/>
        <p:cNvGrpSpPr/>
        <p:nvPr/>
      </p:nvGrpSpPr>
      <p:grpSpPr>
        <a:xfrm>
          <a:off x="0" y="0"/>
          <a:ext cx="0" cy="0"/>
          <a:chOff x="0" y="0"/>
          <a:chExt cx="0" cy="0"/>
        </a:xfrm>
      </p:grpSpPr>
      <p:sp>
        <p:nvSpPr>
          <p:cNvPr id="1315" name="Google Shape;1315;p5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Summary</a:t>
            </a:r>
            <a:endParaRPr/>
          </a:p>
        </p:txBody>
      </p:sp>
      <p:sp>
        <p:nvSpPr>
          <p:cNvPr id="1316" name="Google Shape;1316;p55"/>
          <p:cNvSpPr txBox="1">
            <a:spLocks noGrp="1"/>
          </p:cNvSpPr>
          <p:nvPr>
            <p:ph type="body" idx="1"/>
          </p:nvPr>
        </p:nvSpPr>
        <p:spPr>
          <a:xfrm>
            <a:off x="107050" y="402200"/>
            <a:ext cx="8909700" cy="290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An elegant (though not perfect) piece of engineering that has stood the test of time.</a:t>
            </a:r>
            <a:endParaRPr dirty="0"/>
          </a:p>
          <a:p>
            <a:pPr marL="457200" lvl="0" indent="-342900" algn="l" rtl="0">
              <a:spcBef>
                <a:spcPts val="600"/>
              </a:spcBef>
              <a:spcAft>
                <a:spcPts val="0"/>
              </a:spcAft>
              <a:buSzPts val="1800"/>
              <a:buChar char="●"/>
            </a:pPr>
            <a:r>
              <a:rPr lang="en" dirty="0"/>
              <a:t>Thought experiment: Will TCP continue to be a good solution?</a:t>
            </a:r>
            <a:endParaRPr dirty="0"/>
          </a:p>
          <a:p>
            <a:pPr marL="0" lvl="0" indent="0" algn="l" rtl="0">
              <a:spcBef>
                <a:spcPts val="600"/>
              </a:spcBef>
              <a:spcAft>
                <a:spcPts val="0"/>
              </a:spcAft>
              <a:buNone/>
            </a:pPr>
            <a:r>
              <a:rPr lang="en" dirty="0"/>
              <a:t>Plenty of evolution in individual pieces:</a:t>
            </a:r>
            <a:endParaRPr dirty="0"/>
          </a:p>
          <a:p>
            <a:pPr marL="457200" lvl="0" indent="-342900" algn="l" rtl="0">
              <a:spcBef>
                <a:spcPts val="600"/>
              </a:spcBef>
              <a:spcAft>
                <a:spcPts val="0"/>
              </a:spcAft>
              <a:buSzPts val="1800"/>
              <a:buChar char="●"/>
            </a:pPr>
            <a:r>
              <a:rPr lang="en" dirty="0"/>
              <a:t>Congestion control was added after-the-fact.</a:t>
            </a:r>
            <a:endParaRPr dirty="0"/>
          </a:p>
          <a:p>
            <a:pPr marL="457200" lvl="0" indent="-342900" algn="l" rtl="0">
              <a:spcBef>
                <a:spcPts val="0"/>
              </a:spcBef>
              <a:spcAft>
                <a:spcPts val="0"/>
              </a:spcAft>
              <a:buSzPts val="1800"/>
              <a:buChar char="●"/>
            </a:pPr>
            <a:r>
              <a:rPr lang="en" dirty="0"/>
              <a:t>Better acknowledgments, ISN selection, timer estimation, etc.</a:t>
            </a:r>
            <a:endParaRPr dirty="0"/>
          </a:p>
          <a:p>
            <a:pPr marL="0" lvl="0" indent="0" algn="l" rtl="0">
              <a:spcBef>
                <a:spcPts val="600"/>
              </a:spcBef>
              <a:spcAft>
                <a:spcPts val="0"/>
              </a:spcAft>
              <a:buNone/>
            </a:pPr>
            <a:r>
              <a:rPr lang="en" dirty="0"/>
              <a:t>But the core architectural decisions and abstractions remain:</a:t>
            </a:r>
            <a:endParaRPr dirty="0"/>
          </a:p>
          <a:p>
            <a:pPr marL="457200" lvl="0" indent="-342900" algn="l" rtl="0">
              <a:spcBef>
                <a:spcPts val="600"/>
              </a:spcBef>
              <a:spcAft>
                <a:spcPts val="0"/>
              </a:spcAft>
              <a:buSzPts val="1800"/>
              <a:buChar char="●"/>
            </a:pPr>
            <a:r>
              <a:rPr lang="nl-NL" dirty="0"/>
              <a:t>byte</a:t>
            </a:r>
            <a:r>
              <a:rPr lang="en" dirty="0"/>
              <a:t>streams, connection-oriented, windows, etc.</a:t>
            </a:r>
            <a:endParaRPr dirty="0"/>
          </a:p>
        </p:txBody>
      </p:sp>
      <p:sp>
        <p:nvSpPr>
          <p:cNvPr id="2" name="Slide Number Placeholder 1">
            <a:extLst>
              <a:ext uri="{FF2B5EF4-FFF2-40B4-BE49-F238E27FC236}">
                <a16:creationId xmlns:a16="http://schemas.microsoft.com/office/drawing/2014/main" id="{52B92BAB-3152-5230-2A02-1382B5D538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TotalTime>
  <Words>5870</Words>
  <Application>Microsoft Office PowerPoint</Application>
  <PresentationFormat>On-screen Show (16:9)</PresentationFormat>
  <Paragraphs>1286</Paragraphs>
  <Slides>37</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Tahoma</vt:lpstr>
      <vt:lpstr>Consolas</vt:lpstr>
      <vt:lpstr>Roboto Medium</vt:lpstr>
      <vt:lpstr>Times New Roman</vt:lpstr>
      <vt:lpstr>Roboto Light</vt:lpstr>
      <vt:lpstr>Roboto</vt:lpstr>
      <vt:lpstr>Simple Lecture</vt:lpstr>
      <vt:lpstr>PowerPoint Presentation</vt:lpstr>
      <vt:lpstr>Implementing TCP: byte Notation (Segments, Sequence Numbers)</vt:lpstr>
      <vt:lpstr>Notation Change: bytes vs. Packets</vt:lpstr>
      <vt:lpstr>TCP Segments</vt:lpstr>
      <vt:lpstr>TCP Segments</vt:lpstr>
      <vt:lpstr>TCP Segments</vt:lpstr>
      <vt:lpstr>TCP Sequence Numbers</vt:lpstr>
      <vt:lpstr>TCP Sequence Numbers</vt:lpstr>
      <vt:lpstr>TCP Ack Numbers</vt:lpstr>
      <vt:lpstr>TCP Sequence and Ack Numbers</vt:lpstr>
      <vt:lpstr>TCP Sequence and Ack Numbers</vt:lpstr>
      <vt:lpstr>Received ACK Scenario </vt:lpstr>
      <vt:lpstr>Premature Timeout </vt:lpstr>
      <vt:lpstr>Lost ACK Scenario</vt:lpstr>
      <vt:lpstr>Lost ACK Scenario 2</vt:lpstr>
      <vt:lpstr>TCP Sequence and ACK Numbers</vt:lpstr>
      <vt:lpstr>TCP sequence and ACK numbers Explanations</vt:lpstr>
      <vt:lpstr>TCP sequence and ACK numbers Explanations</vt:lpstr>
      <vt:lpstr>Maintaining State (Full Duplex)</vt:lpstr>
      <vt:lpstr>TCP State</vt:lpstr>
      <vt:lpstr>TCP is Full-Duplex</vt:lpstr>
      <vt:lpstr>TCP Connection Setup: Three-Way Handshake</vt:lpstr>
      <vt:lpstr>TCP Connection Teardown</vt:lpstr>
      <vt:lpstr>TCP Setup/Teardown Transition Diagram</vt:lpstr>
      <vt:lpstr>TCP Setup/Teardown Transition Diagram (Simplified)</vt:lpstr>
      <vt:lpstr>Piggybacking</vt:lpstr>
      <vt:lpstr>Sliding Window</vt:lpstr>
      <vt:lpstr>TCP Sliding Window</vt:lpstr>
      <vt:lpstr>TCP Sliding Window</vt:lpstr>
      <vt:lpstr>TCP Sliding Window</vt:lpstr>
      <vt:lpstr>TCP Sliding Window</vt:lpstr>
      <vt:lpstr>Detecting Loss</vt:lpstr>
      <vt:lpstr>TCP Header</vt:lpstr>
      <vt:lpstr>TCP Header</vt:lpstr>
      <vt:lpstr>TCP Header</vt:lpstr>
      <vt:lpstr>TCP Header</vt:lpstr>
      <vt:lpstr>TCP: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Zonghua Gu</cp:lastModifiedBy>
  <cp:revision>19</cp:revision>
  <dcterms:modified xsi:type="dcterms:W3CDTF">2026-05-07T23:02:25Z</dcterms:modified>
</cp:coreProperties>
</file>