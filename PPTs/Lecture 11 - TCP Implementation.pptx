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Lst>
  <p:sldSz cy="5143500" cx="9144000"/>
  <p:notesSz cx="6858000" cy="9144000"/>
  <p:embeddedFontLst>
    <p:embeddedFont>
      <p:font typeface="Roboto Medium"/>
      <p:regular r:id="rId56"/>
      <p:bold r:id="rId57"/>
      <p:italic r:id="rId58"/>
      <p:boldItalic r:id="rId59"/>
    </p:embeddedFont>
    <p:embeddedFont>
      <p:font typeface="Roboto"/>
      <p:regular r:id="rId60"/>
      <p:bold r:id="rId61"/>
      <p:italic r:id="rId62"/>
      <p:boldItalic r:id="rId63"/>
    </p:embeddedFont>
    <p:embeddedFont>
      <p:font typeface="Roboto Light"/>
      <p:regular r:id="rId64"/>
      <p:bold r:id="rId65"/>
      <p:italic r:id="rId66"/>
      <p:boldItalic r:id="rId6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1F736DB2-8000-4A80-A771-95157FF95D4A}">
  <a:tblStyle styleId="{1F736DB2-8000-4A80-A771-95157FF95D4A}"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32" Type="http://schemas.openxmlformats.org/officeDocument/2006/relationships/slide" Target="slides/slide26.xml"/><Relationship Id="rId35" Type="http://schemas.openxmlformats.org/officeDocument/2006/relationships/slide" Target="slides/slide29.xml"/><Relationship Id="rId34" Type="http://schemas.openxmlformats.org/officeDocument/2006/relationships/slide" Target="slides/slide28.xml"/><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62" Type="http://schemas.openxmlformats.org/officeDocument/2006/relationships/font" Target="fonts/Roboto-italic.fntdata"/><Relationship Id="rId61" Type="http://schemas.openxmlformats.org/officeDocument/2006/relationships/font" Target="fonts/Roboto-bold.fntdata"/><Relationship Id="rId20" Type="http://schemas.openxmlformats.org/officeDocument/2006/relationships/slide" Target="slides/slide14.xml"/><Relationship Id="rId64" Type="http://schemas.openxmlformats.org/officeDocument/2006/relationships/font" Target="fonts/RobotoLight-regular.fntdata"/><Relationship Id="rId63" Type="http://schemas.openxmlformats.org/officeDocument/2006/relationships/font" Target="fonts/Roboto-boldItalic.fntdata"/><Relationship Id="rId22" Type="http://schemas.openxmlformats.org/officeDocument/2006/relationships/slide" Target="slides/slide16.xml"/><Relationship Id="rId66" Type="http://schemas.openxmlformats.org/officeDocument/2006/relationships/font" Target="fonts/RobotoLight-italic.fntdata"/><Relationship Id="rId21" Type="http://schemas.openxmlformats.org/officeDocument/2006/relationships/slide" Target="slides/slide15.xml"/><Relationship Id="rId65" Type="http://schemas.openxmlformats.org/officeDocument/2006/relationships/font" Target="fonts/RobotoLight-bold.fntdata"/><Relationship Id="rId24" Type="http://schemas.openxmlformats.org/officeDocument/2006/relationships/slide" Target="slides/slide18.xml"/><Relationship Id="rId23" Type="http://schemas.openxmlformats.org/officeDocument/2006/relationships/slide" Target="slides/slide17.xml"/><Relationship Id="rId67" Type="http://schemas.openxmlformats.org/officeDocument/2006/relationships/font" Target="fonts/RobotoLight-boldItalic.fntdata"/><Relationship Id="rId60" Type="http://schemas.openxmlformats.org/officeDocument/2006/relationships/font" Target="fonts/Roboto-regular.fntdata"/><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51" Type="http://schemas.openxmlformats.org/officeDocument/2006/relationships/slide" Target="slides/slide45.xml"/><Relationship Id="rId50" Type="http://schemas.openxmlformats.org/officeDocument/2006/relationships/slide" Target="slides/slide44.xml"/><Relationship Id="rId53" Type="http://schemas.openxmlformats.org/officeDocument/2006/relationships/slide" Target="slides/slide47.xml"/><Relationship Id="rId52" Type="http://schemas.openxmlformats.org/officeDocument/2006/relationships/slide" Target="slides/slide46.xml"/><Relationship Id="rId11" Type="http://schemas.openxmlformats.org/officeDocument/2006/relationships/slide" Target="slides/slide5.xml"/><Relationship Id="rId55" Type="http://schemas.openxmlformats.org/officeDocument/2006/relationships/slide" Target="slides/slide49.xml"/><Relationship Id="rId10" Type="http://schemas.openxmlformats.org/officeDocument/2006/relationships/slide" Target="slides/slide4.xml"/><Relationship Id="rId54" Type="http://schemas.openxmlformats.org/officeDocument/2006/relationships/slide" Target="slides/slide48.xml"/><Relationship Id="rId13" Type="http://schemas.openxmlformats.org/officeDocument/2006/relationships/slide" Target="slides/slide7.xml"/><Relationship Id="rId57" Type="http://schemas.openxmlformats.org/officeDocument/2006/relationships/font" Target="fonts/RobotoMedium-bold.fntdata"/><Relationship Id="rId12" Type="http://schemas.openxmlformats.org/officeDocument/2006/relationships/slide" Target="slides/slide6.xml"/><Relationship Id="rId56" Type="http://schemas.openxmlformats.org/officeDocument/2006/relationships/font" Target="fonts/RobotoMedium-regular.fntdata"/><Relationship Id="rId15" Type="http://schemas.openxmlformats.org/officeDocument/2006/relationships/slide" Target="slides/slide9.xml"/><Relationship Id="rId59" Type="http://schemas.openxmlformats.org/officeDocument/2006/relationships/font" Target="fonts/RobotoMedium-boldItalic.fntdata"/><Relationship Id="rId14" Type="http://schemas.openxmlformats.org/officeDocument/2006/relationships/slide" Target="slides/slide8.xml"/><Relationship Id="rId58" Type="http://schemas.openxmlformats.org/officeDocument/2006/relationships/font" Target="fonts/RobotoMedium-italic.fntdata"/><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2ea691bae84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2ea691bae84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Slides template credit: Josh Hug, Lisa Yan</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Clr>
                <a:schemeClr val="dk1"/>
              </a:buClr>
              <a:buSzPts val="1100"/>
              <a:buFont typeface="Arial"/>
              <a:buNone/>
            </a:pPr>
            <a:r>
              <a:rPr lang="en"/>
              <a:t>today is the second half of the TCP implementation lecture and we're</a:t>
            </a:r>
            <a:endParaRPr/>
          </a:p>
          <a:p>
            <a:pPr indent="0" lvl="0" marL="0" rtl="0" algn="l">
              <a:spcBef>
                <a:spcPts val="0"/>
              </a:spcBef>
              <a:spcAft>
                <a:spcPts val="0"/>
              </a:spcAft>
              <a:buClr>
                <a:schemeClr val="dk1"/>
              </a:buClr>
              <a:buSzPts val="1100"/>
              <a:buFont typeface="Arial"/>
              <a:buNone/>
            </a:pPr>
            <a:r>
              <a:rPr lang="en"/>
              <a:t>0:45</a:t>
            </a:r>
            <a:endParaRPr/>
          </a:p>
          <a:p>
            <a:pPr indent="0" lvl="0" marL="0" rtl="0" algn="l">
              <a:spcBef>
                <a:spcPts val="0"/>
              </a:spcBef>
              <a:spcAft>
                <a:spcPts val="0"/>
              </a:spcAft>
              <a:buClr>
                <a:schemeClr val="dk1"/>
              </a:buClr>
              <a:buSzPts val="1100"/>
              <a:buFont typeface="Arial"/>
              <a:buNone/>
            </a:pPr>
            <a:r>
              <a:rPr lang="en"/>
              <a:t>going to take what we saw last time the ideas that we Ed to design reliability</a:t>
            </a:r>
            <a:endParaRPr/>
          </a:p>
          <a:p>
            <a:pPr indent="0" lvl="0" marL="0" rtl="0" algn="l">
              <a:spcBef>
                <a:spcPts val="0"/>
              </a:spcBef>
              <a:spcAft>
                <a:spcPts val="0"/>
              </a:spcAft>
              <a:buClr>
                <a:schemeClr val="dk1"/>
              </a:buClr>
              <a:buSzPts val="1100"/>
              <a:buFont typeface="Arial"/>
              <a:buNone/>
            </a:pPr>
            <a:r>
              <a:rPr lang="en"/>
              <a:t>0:50</a:t>
            </a:r>
            <a:endParaRPr/>
          </a:p>
          <a:p>
            <a:pPr indent="0" lvl="0" marL="0" rtl="0" algn="l">
              <a:spcBef>
                <a:spcPts val="0"/>
              </a:spcBef>
              <a:spcAft>
                <a:spcPts val="0"/>
              </a:spcAft>
              <a:buClr>
                <a:schemeClr val="dk1"/>
              </a:buClr>
              <a:buSzPts val="1100"/>
              <a:buFont typeface="Arial"/>
              <a:buNone/>
            </a:pPr>
            <a:r>
              <a:rPr lang="en"/>
              <a:t>and we're going to formalize them into an actual protocol</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And if we have time we might also do some congestion control to get ahead on that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2ea691bae84_0_140: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2ea691bae84_0_1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1:03</a:t>
            </a:r>
            <a:endParaRPr/>
          </a:p>
          <a:p>
            <a:pPr indent="0" lvl="0" marL="0" rtl="0" algn="l">
              <a:spcBef>
                <a:spcPts val="0"/>
              </a:spcBef>
              <a:spcAft>
                <a:spcPts val="0"/>
              </a:spcAft>
              <a:buClr>
                <a:schemeClr val="dk1"/>
              </a:buClr>
              <a:buSzPts val="1100"/>
              <a:buFont typeface="Arial"/>
              <a:buNone/>
            </a:pPr>
            <a:r>
              <a:rPr lang="en"/>
              <a:t>TCP and the first thing we'll do is we'll take the packet view of TCP and change it to a bite view</a:t>
            </a:r>
            <a:endParaRPr/>
          </a:p>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2ea691bae84_0_2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2ea691bae84_0_2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Packets different sizes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g2ea691bae84_0_2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6" name="Google Shape;256;g2ea691bae84_0_2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the B stream that we talked about and remember the bite stream is a sequence of bytes in order</a:t>
            </a:r>
            <a:endParaRPr/>
          </a:p>
          <a:p>
            <a:pPr indent="0" lvl="0" marL="0" rtl="0" algn="l">
              <a:spcBef>
                <a:spcPts val="0"/>
              </a:spcBef>
              <a:spcAft>
                <a:spcPts val="0"/>
              </a:spcAft>
              <a:buClr>
                <a:schemeClr val="dk1"/>
              </a:buClr>
              <a:buSzPts val="1100"/>
              <a:buFont typeface="Arial"/>
              <a:buNone/>
            </a:pPr>
            <a:r>
              <a:rPr lang="en"/>
              <a:t>3:33</a:t>
            </a:r>
            <a:endParaRPr/>
          </a:p>
          <a:p>
            <a:pPr indent="0" lvl="0" marL="0" rtl="0" algn="l">
              <a:spcBef>
                <a:spcPts val="0"/>
              </a:spcBef>
              <a:spcAft>
                <a:spcPts val="0"/>
              </a:spcAft>
              <a:buClr>
                <a:schemeClr val="dk1"/>
              </a:buClr>
              <a:buSzPts val="1100"/>
              <a:buFont typeface="Arial"/>
              <a:buNone/>
            </a:pPr>
            <a:r>
              <a:rPr lang="en"/>
              <a:t>infinite length the sender has a bite stream we feed it into a pipe and then the recipient receives those exact same</a:t>
            </a:r>
            <a:endParaRPr/>
          </a:p>
          <a:p>
            <a:pPr indent="0" lvl="0" marL="0" rtl="0" algn="l">
              <a:spcBef>
                <a:spcPts val="0"/>
              </a:spcBef>
              <a:spcAft>
                <a:spcPts val="0"/>
              </a:spcAft>
              <a:buClr>
                <a:schemeClr val="dk1"/>
              </a:buClr>
              <a:buSzPts val="1100"/>
              <a:buFont typeface="Arial"/>
              <a:buNone/>
            </a:pPr>
            <a:r>
              <a:rPr lang="en"/>
              <a:t>3:40</a:t>
            </a:r>
            <a:endParaRPr/>
          </a:p>
          <a:p>
            <a:pPr indent="0" lvl="0" marL="0" rtl="0" algn="l">
              <a:spcBef>
                <a:spcPts val="0"/>
              </a:spcBef>
              <a:spcAft>
                <a:spcPts val="0"/>
              </a:spcAft>
              <a:buClr>
                <a:schemeClr val="dk1"/>
              </a:buClr>
              <a:buSzPts val="1100"/>
              <a:buFont typeface="Arial"/>
              <a:buNone/>
            </a:pPr>
            <a:r>
              <a:rPr lang="en"/>
              <a:t>bytes in the same order reliably now the only difference between this picture and</a:t>
            </a:r>
            <a:endParaRPr/>
          </a:p>
          <a:p>
            <a:pPr indent="0" lvl="0" marL="0" rtl="0" algn="l">
              <a:spcBef>
                <a:spcPts val="0"/>
              </a:spcBef>
              <a:spcAft>
                <a:spcPts val="0"/>
              </a:spcAft>
              <a:buClr>
                <a:schemeClr val="dk1"/>
              </a:buClr>
              <a:buSzPts val="1100"/>
              <a:buFont typeface="Arial"/>
              <a:buNone/>
            </a:pPr>
            <a:r>
              <a:rPr lang="en"/>
              <a:t>3:46</a:t>
            </a:r>
            <a:endParaRPr/>
          </a:p>
          <a:p>
            <a:pPr indent="0" lvl="0" marL="0" rtl="0" algn="l">
              <a:spcBef>
                <a:spcPts val="0"/>
              </a:spcBef>
              <a:spcAft>
                <a:spcPts val="0"/>
              </a:spcAft>
              <a:buClr>
                <a:schemeClr val="dk1"/>
              </a:buClr>
              <a:buSzPts val="1100"/>
              <a:buFont typeface="Arial"/>
              <a:buNone/>
            </a:pPr>
            <a:r>
              <a:rPr lang="en"/>
              <a:t>the ones you've previously seen is that I have stamped numbers on every single</a:t>
            </a:r>
            <a:endParaRPr/>
          </a:p>
          <a:p>
            <a:pPr indent="0" lvl="0" marL="0" rtl="0" algn="l">
              <a:spcBef>
                <a:spcPts val="0"/>
              </a:spcBef>
              <a:spcAft>
                <a:spcPts val="0"/>
              </a:spcAft>
              <a:buClr>
                <a:schemeClr val="dk1"/>
              </a:buClr>
              <a:buSzPts val="1100"/>
              <a:buFont typeface="Arial"/>
              <a:buNone/>
            </a:pPr>
            <a:r>
              <a:rPr lang="en"/>
              <a:t>3:52</a:t>
            </a:r>
            <a:endParaRPr/>
          </a:p>
          <a:p>
            <a:pPr indent="0" lvl="0" marL="0" rtl="0" algn="l">
              <a:spcBef>
                <a:spcPts val="0"/>
              </a:spcBef>
              <a:spcAft>
                <a:spcPts val="0"/>
              </a:spcAft>
              <a:buClr>
                <a:schemeClr val="dk1"/>
              </a:buClr>
              <a:buSzPts val="1100"/>
              <a:buFont typeface="Arial"/>
              <a:buNone/>
            </a:pPr>
            <a:r>
              <a:rPr lang="en"/>
              <a:t>bite so now we have to connect this picture with the packet picture from last time and this is how we'll square</a:t>
            </a:r>
            <a:endParaRPr/>
          </a:p>
          <a:p>
            <a:pPr indent="0" lvl="0" marL="0" rtl="0" algn="l">
              <a:spcBef>
                <a:spcPts val="0"/>
              </a:spcBef>
              <a:spcAft>
                <a:spcPts val="0"/>
              </a:spcAft>
              <a:buClr>
                <a:schemeClr val="dk1"/>
              </a:buClr>
              <a:buSzPts val="1100"/>
              <a:buFont typeface="Arial"/>
              <a:buNone/>
            </a:pPr>
            <a:r>
              <a:rPr lang="en"/>
              <a:t>3:59</a:t>
            </a:r>
            <a:endParaRPr/>
          </a:p>
          <a:p>
            <a:pPr indent="0" lvl="0" marL="0" rtl="0" algn="l">
              <a:spcBef>
                <a:spcPts val="0"/>
              </a:spcBef>
              <a:spcAft>
                <a:spcPts val="0"/>
              </a:spcAft>
              <a:buClr>
                <a:schemeClr val="dk1"/>
              </a:buClr>
              <a:buSzPts val="1100"/>
              <a:buFont typeface="Arial"/>
              <a:buNone/>
            </a:pPr>
            <a:r>
              <a:rPr lang="en"/>
              <a:t>the two pictures together so the way that you build a packet as byes come in</a:t>
            </a:r>
            <a:endParaRPr/>
          </a:p>
          <a:p>
            <a:pPr indent="0" lvl="0" marL="0" rtl="0" algn="l">
              <a:spcBef>
                <a:spcPts val="0"/>
              </a:spcBef>
              <a:spcAft>
                <a:spcPts val="0"/>
              </a:spcAft>
              <a:buClr>
                <a:schemeClr val="dk1"/>
              </a:buClr>
              <a:buSzPts val="1100"/>
              <a:buFont typeface="Arial"/>
              <a:buNone/>
            </a:pPr>
            <a:r>
              <a:rPr lang="en"/>
              <a:t>4:05</a:t>
            </a:r>
            <a:endParaRPr/>
          </a:p>
          <a:p>
            <a:pPr indent="0" lvl="0" marL="0" rtl="0" algn="l">
              <a:spcBef>
                <a:spcPts val="0"/>
              </a:spcBef>
              <a:spcAft>
                <a:spcPts val="0"/>
              </a:spcAft>
              <a:buClr>
                <a:schemeClr val="dk1"/>
              </a:buClr>
              <a:buSzPts val="1100"/>
              <a:buFont typeface="Arial"/>
              <a:buNone/>
            </a:pPr>
            <a:r>
              <a:rPr lang="en"/>
              <a:t>and remember the sender application doesn't have to give you the entire infinite length by stream at once it</a:t>
            </a:r>
            <a:endParaRPr/>
          </a:p>
          <a:p>
            <a:pPr indent="0" lvl="0" marL="0" rtl="0" algn="l">
              <a:spcBef>
                <a:spcPts val="0"/>
              </a:spcBef>
              <a:spcAft>
                <a:spcPts val="0"/>
              </a:spcAft>
              <a:buClr>
                <a:schemeClr val="dk1"/>
              </a:buClr>
              <a:buSzPts val="1100"/>
              <a:buFont typeface="Arial"/>
              <a:buNone/>
            </a:pPr>
            <a:r>
              <a:rPr lang="en"/>
              <a:t>4:11</a:t>
            </a:r>
            <a:endParaRPr/>
          </a:p>
          <a:p>
            <a:pPr indent="0" lvl="0" marL="0" rtl="0" algn="l">
              <a:spcBef>
                <a:spcPts val="0"/>
              </a:spcBef>
              <a:spcAft>
                <a:spcPts val="0"/>
              </a:spcAft>
              <a:buClr>
                <a:schemeClr val="dk1"/>
              </a:buClr>
              <a:buSzPts val="1100"/>
              <a:buFont typeface="Arial"/>
              <a:buNone/>
            </a:pPr>
            <a:r>
              <a:rPr lang="en"/>
              <a:t>could feed you the bytes one by one for example if it's Computing data and it's sending out any results that it computes</a:t>
            </a:r>
            <a:endParaRPr/>
          </a:p>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g2ea691bae84_0_4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3" name="Google Shape;343;g2ea691bae84_0_4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5" name="Shape 445"/>
        <p:cNvGrpSpPr/>
        <p:nvPr/>
      </p:nvGrpSpPr>
      <p:grpSpPr>
        <a:xfrm>
          <a:off x="0" y="0"/>
          <a:ext cx="0" cy="0"/>
          <a:chOff x="0" y="0"/>
          <a:chExt cx="0" cy="0"/>
        </a:xfrm>
      </p:grpSpPr>
      <p:sp>
        <p:nvSpPr>
          <p:cNvPr id="446" name="Google Shape;446;g276b9ae8b0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7" name="Google Shape;447;g276b9ae8b0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so packets larger than the MTU will get fragmented and we don't want that so we</a:t>
            </a:r>
            <a:endParaRPr/>
          </a:p>
          <a:p>
            <a:pPr indent="0" lvl="0" marL="0" rtl="0" algn="l">
              <a:spcBef>
                <a:spcPts val="0"/>
              </a:spcBef>
              <a:spcAft>
                <a:spcPts val="0"/>
              </a:spcAft>
              <a:buClr>
                <a:schemeClr val="dk1"/>
              </a:buClr>
              <a:buSzPts val="1100"/>
              <a:buFont typeface="Arial"/>
              <a:buNone/>
            </a:pPr>
            <a:r>
              <a:rPr lang="en"/>
              <a:t>6:53</a:t>
            </a:r>
            <a:endParaRPr/>
          </a:p>
          <a:p>
            <a:pPr indent="0" lvl="0" marL="0" rtl="0" algn="l">
              <a:spcBef>
                <a:spcPts val="0"/>
              </a:spcBef>
              <a:spcAft>
                <a:spcPts val="0"/>
              </a:spcAft>
              <a:buClr>
                <a:schemeClr val="dk1"/>
              </a:buClr>
              <a:buSzPts val="1100"/>
              <a:buFont typeface="Arial"/>
              <a:buNone/>
            </a:pPr>
            <a:r>
              <a:rPr lang="en"/>
              <a:t>will say the IP packet is limited to MTU bites and to figure out how big one of</a:t>
            </a:r>
            <a:endParaRPr/>
          </a:p>
          <a:p>
            <a:pPr indent="0" lvl="0" marL="0" rtl="0" algn="l">
              <a:spcBef>
                <a:spcPts val="0"/>
              </a:spcBef>
              <a:spcAft>
                <a:spcPts val="0"/>
              </a:spcAft>
              <a:buClr>
                <a:schemeClr val="dk1"/>
              </a:buClr>
              <a:buSzPts val="1100"/>
              <a:buFont typeface="Arial"/>
              <a:buNone/>
            </a:pPr>
            <a:r>
              <a:rPr lang="en"/>
              <a:t>6:59</a:t>
            </a:r>
            <a:endParaRPr/>
          </a:p>
          <a:p>
            <a:pPr indent="0" lvl="0" marL="0" rtl="0" algn="l">
              <a:spcBef>
                <a:spcPts val="0"/>
              </a:spcBef>
              <a:spcAft>
                <a:spcPts val="0"/>
              </a:spcAft>
              <a:buClr>
                <a:schemeClr val="dk1"/>
              </a:buClr>
              <a:buSzPts val="1100"/>
              <a:buFont typeface="Arial"/>
              <a:buNone/>
            </a:pPr>
            <a:r>
              <a:rPr lang="en"/>
              <a:t>these segments can be we just have to do some math this whole thing can be up to MTU bytes that's a limit that's set on</a:t>
            </a:r>
            <a:endParaRPr/>
          </a:p>
          <a:p>
            <a:pPr indent="0" lvl="0" marL="0" rtl="0" algn="l">
              <a:spcBef>
                <a:spcPts val="0"/>
              </a:spcBef>
              <a:spcAft>
                <a:spcPts val="0"/>
              </a:spcAft>
              <a:buClr>
                <a:schemeClr val="dk1"/>
              </a:buClr>
              <a:buSzPts val="1100"/>
              <a:buFont typeface="Arial"/>
              <a:buNone/>
            </a:pPr>
            <a:r>
              <a:rPr lang="en"/>
              <a:t>7:06</a:t>
            </a:r>
            <a:endParaRPr/>
          </a:p>
          <a:p>
            <a:pPr indent="0" lvl="0" marL="0" rtl="0" algn="l">
              <a:spcBef>
                <a:spcPts val="0"/>
              </a:spcBef>
              <a:spcAft>
                <a:spcPts val="0"/>
              </a:spcAft>
              <a:buClr>
                <a:schemeClr val="dk1"/>
              </a:buClr>
              <a:buSzPts val="1100"/>
              <a:buFont typeface="Arial"/>
              <a:buNone/>
            </a:pPr>
            <a:r>
              <a:rPr lang="en"/>
              <a:t>the Internet it's 1500 in real life but some of it's being used for the IP header so we have to subtract that off</a:t>
            </a:r>
            <a:endParaRPr/>
          </a:p>
          <a:p>
            <a:pPr indent="0" lvl="0" marL="0" rtl="0" algn="l">
              <a:spcBef>
                <a:spcPts val="0"/>
              </a:spcBef>
              <a:spcAft>
                <a:spcPts val="0"/>
              </a:spcAft>
              <a:buClr>
                <a:schemeClr val="dk1"/>
              </a:buClr>
              <a:buSzPts val="1100"/>
              <a:buFont typeface="Arial"/>
              <a:buNone/>
            </a:pPr>
            <a:r>
              <a:rPr lang="en"/>
              <a:t>7:13</a:t>
            </a:r>
            <a:endParaRPr/>
          </a:p>
          <a:p>
            <a:pPr indent="0" lvl="0" marL="0" rtl="0" algn="l">
              <a:spcBef>
                <a:spcPts val="0"/>
              </a:spcBef>
              <a:spcAft>
                <a:spcPts val="0"/>
              </a:spcAft>
              <a:buClr>
                <a:schemeClr val="dk1"/>
              </a:buClr>
              <a:buSzPts val="1100"/>
              <a:buFont typeface="Arial"/>
              <a:buNone/>
            </a:pPr>
            <a:r>
              <a:rPr lang="en"/>
              <a:t>and some of it's being used for the TCP header so we subtract that off and whatever is left that number is MSS that</a:t>
            </a:r>
            <a:endParaRPr/>
          </a:p>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276b9ae8b0f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276b9ae8b0f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here's one thing we haven't talked about that is important for security and that is the</a:t>
            </a:r>
            <a:endParaRPr/>
          </a:p>
          <a:p>
            <a:pPr indent="0" lvl="0" marL="0" rtl="0" algn="l">
              <a:spcBef>
                <a:spcPts val="0"/>
              </a:spcBef>
              <a:spcAft>
                <a:spcPts val="0"/>
              </a:spcAft>
              <a:buClr>
                <a:schemeClr val="dk1"/>
              </a:buClr>
              <a:buSzPts val="1100"/>
              <a:buFont typeface="Arial"/>
              <a:buNone/>
            </a:pPr>
            <a:r>
              <a:rPr lang="en"/>
              <a:t>7:56</a:t>
            </a:r>
            <a:endParaRPr/>
          </a:p>
          <a:p>
            <a:pPr indent="0" lvl="0" marL="0" rtl="0" algn="l">
              <a:spcBef>
                <a:spcPts val="0"/>
              </a:spcBef>
              <a:spcAft>
                <a:spcPts val="0"/>
              </a:spcAft>
              <a:buClr>
                <a:schemeClr val="dk1"/>
              </a:buClr>
              <a:buSzPts val="1100"/>
              <a:buFont typeface="Arial"/>
              <a:buNone/>
            </a:pPr>
            <a:r>
              <a:rPr lang="en"/>
              <a:t>fact that sequence numbers actually shouldn't start at zero if you want to know why the security course cs161 goes</a:t>
            </a:r>
            <a:endParaRPr/>
          </a:p>
          <a:p>
            <a:pPr indent="0" lvl="0" marL="0" rtl="0" algn="l">
              <a:spcBef>
                <a:spcPts val="0"/>
              </a:spcBef>
              <a:spcAft>
                <a:spcPts val="0"/>
              </a:spcAft>
              <a:buClr>
                <a:schemeClr val="dk1"/>
              </a:buClr>
              <a:buSzPts val="1100"/>
              <a:buFont typeface="Arial"/>
              <a:buNone/>
            </a:pPr>
            <a:r>
              <a:rPr lang="en"/>
              <a:t>8:02</a:t>
            </a:r>
            <a:endParaRPr/>
          </a:p>
          <a:p>
            <a:pPr indent="0" lvl="0" marL="0" rtl="0" algn="l">
              <a:spcBef>
                <a:spcPts val="0"/>
              </a:spcBef>
              <a:spcAft>
                <a:spcPts val="0"/>
              </a:spcAft>
              <a:buClr>
                <a:schemeClr val="dk1"/>
              </a:buClr>
              <a:buSzPts val="1100"/>
              <a:buFont typeface="Arial"/>
              <a:buNone/>
            </a:pPr>
            <a:r>
              <a:rPr lang="en"/>
              <a:t>into a lot more detail of why this is the case but just know for this class that there is a very important security</a:t>
            </a:r>
            <a:endParaRPr/>
          </a:p>
          <a:p>
            <a:pPr indent="0" lvl="0" marL="0" rtl="0" algn="l">
              <a:spcBef>
                <a:spcPts val="0"/>
              </a:spcBef>
              <a:spcAft>
                <a:spcPts val="0"/>
              </a:spcAft>
              <a:buClr>
                <a:schemeClr val="dk1"/>
              </a:buClr>
              <a:buSzPts val="1100"/>
              <a:buFont typeface="Arial"/>
              <a:buNone/>
            </a:pPr>
            <a:r>
              <a:rPr lang="en"/>
              <a:t>8:09</a:t>
            </a:r>
            <a:endParaRPr/>
          </a:p>
          <a:p>
            <a:pPr indent="0" lvl="0" marL="0" rtl="0" algn="l">
              <a:spcBef>
                <a:spcPts val="0"/>
              </a:spcBef>
              <a:spcAft>
                <a:spcPts val="0"/>
              </a:spcAft>
              <a:buClr>
                <a:schemeClr val="dk1"/>
              </a:buClr>
              <a:buSzPts val="1100"/>
              <a:buFont typeface="Arial"/>
              <a:buNone/>
            </a:pPr>
            <a:r>
              <a:rPr lang="en"/>
              <a:t>reason and for that reason we cannot start the counting at zero instead we</a:t>
            </a:r>
            <a:endParaRPr/>
          </a:p>
          <a:p>
            <a:pPr indent="0" lvl="0" marL="0" rtl="0" algn="l">
              <a:spcBef>
                <a:spcPts val="0"/>
              </a:spcBef>
              <a:spcAft>
                <a:spcPts val="0"/>
              </a:spcAft>
              <a:buClr>
                <a:schemeClr val="dk1"/>
              </a:buClr>
              <a:buSzPts val="1100"/>
              <a:buFont typeface="Arial"/>
              <a:buNone/>
            </a:pPr>
            <a:r>
              <a:rPr lang="en"/>
              <a:t>8:14</a:t>
            </a:r>
            <a:endParaRPr/>
          </a:p>
          <a:p>
            <a:pPr indent="0" lvl="0" marL="0" rtl="0" algn="l">
              <a:spcBef>
                <a:spcPts val="0"/>
              </a:spcBef>
              <a:spcAft>
                <a:spcPts val="0"/>
              </a:spcAft>
              <a:buClr>
                <a:schemeClr val="dk1"/>
              </a:buClr>
              <a:buSzPts val="1100"/>
              <a:buFont typeface="Arial"/>
              <a:buNone/>
            </a:pPr>
            <a:r>
              <a:rPr lang="en"/>
              <a:t>have to pick some random number and here we'll call it Isn initial sequence number and then just start at that</a:t>
            </a:r>
            <a:endParaRPr/>
          </a:p>
          <a:p>
            <a:pPr indent="0" lvl="0" marL="0" rtl="0" algn="l">
              <a:spcBef>
                <a:spcPts val="0"/>
              </a:spcBef>
              <a:spcAft>
                <a:spcPts val="0"/>
              </a:spcAft>
              <a:buClr>
                <a:schemeClr val="dk1"/>
              </a:buClr>
              <a:buSzPts val="1100"/>
              <a:buFont typeface="Arial"/>
              <a:buNone/>
            </a:pPr>
            <a:r>
              <a:rPr lang="en"/>
              <a:t>8:21</a:t>
            </a:r>
            <a:endParaRPr/>
          </a:p>
          <a:p>
            <a:pPr indent="0" lvl="0" marL="0" rtl="0" algn="l">
              <a:spcBef>
                <a:spcPts val="0"/>
              </a:spcBef>
              <a:spcAft>
                <a:spcPts val="0"/>
              </a:spcAft>
              <a:buClr>
                <a:schemeClr val="dk1"/>
              </a:buClr>
              <a:buSzPts val="1100"/>
              <a:buFont typeface="Arial"/>
              <a:buNone/>
            </a:pPr>
            <a:r>
              <a:rPr lang="en"/>
              <a:t>number and start counting up so if that number is 120 okay great then the first bite is 121 and then 122 and then 123</a:t>
            </a:r>
            <a:endParaRPr/>
          </a:p>
          <a:p>
            <a:pPr indent="0" lvl="0" marL="0" rtl="0" algn="l">
              <a:spcBef>
                <a:spcPts val="0"/>
              </a:spcBef>
              <a:spcAft>
                <a:spcPts val="0"/>
              </a:spcAft>
              <a:buClr>
                <a:schemeClr val="dk1"/>
              </a:buClr>
              <a:buSzPts val="1100"/>
              <a:buFont typeface="Arial"/>
              <a:buNone/>
            </a:pPr>
            <a:r>
              <a:rPr lang="en"/>
              <a:t>8:30</a:t>
            </a:r>
            <a:endParaRPr/>
          </a:p>
          <a:p>
            <a:pPr indent="0" lvl="0" marL="0" rtl="0" algn="l">
              <a:spcBef>
                <a:spcPts val="0"/>
              </a:spcBef>
              <a:spcAft>
                <a:spcPts val="0"/>
              </a:spcAft>
              <a:buClr>
                <a:schemeClr val="dk1"/>
              </a:buClr>
              <a:buSzPts val="1100"/>
              <a:buFont typeface="Arial"/>
              <a:buNone/>
            </a:pPr>
            <a:r>
              <a:rPr lang="en"/>
              <a:t>and then 124 and so on this doesn't really change anything we've talked about so far it's still a bite stream</a:t>
            </a:r>
            <a:endParaRPr/>
          </a:p>
          <a:p>
            <a:pPr indent="0" lvl="0" marL="0" rtl="0" algn="l">
              <a:spcBef>
                <a:spcPts val="0"/>
              </a:spcBef>
              <a:spcAft>
                <a:spcPts val="0"/>
              </a:spcAft>
              <a:buClr>
                <a:schemeClr val="dk1"/>
              </a:buClr>
              <a:buSzPts val="1100"/>
              <a:buFont typeface="Arial"/>
              <a:buNone/>
            </a:pPr>
            <a:r>
              <a:rPr lang="en"/>
              <a:t>8:37</a:t>
            </a:r>
            <a:endParaRPr/>
          </a:p>
          <a:p>
            <a:pPr indent="0" lvl="0" marL="0" rtl="0" algn="l">
              <a:spcBef>
                <a:spcPts val="0"/>
              </a:spcBef>
              <a:spcAft>
                <a:spcPts val="0"/>
              </a:spcAft>
              <a:buClr>
                <a:schemeClr val="dk1"/>
              </a:buClr>
              <a:buSzPts val="1100"/>
              <a:buFont typeface="Arial"/>
              <a:buNone/>
            </a:pPr>
            <a:r>
              <a:rPr lang="en"/>
              <a:t>and you're still counting the bytes all the way up the only difference is don't start counting from zero that's the only</a:t>
            </a:r>
            <a:endParaRPr/>
          </a:p>
          <a:p>
            <a:pPr indent="0" lvl="0" marL="0" rtl="0" algn="l">
              <a:spcBef>
                <a:spcPts val="0"/>
              </a:spcBef>
              <a:spcAft>
                <a:spcPts val="0"/>
              </a:spcAft>
              <a:buClr>
                <a:schemeClr val="dk1"/>
              </a:buClr>
              <a:buSzPts val="1100"/>
              <a:buFont typeface="Arial"/>
              <a:buNone/>
            </a:pPr>
            <a:r>
              <a:rPr lang="en"/>
              <a:t>8:44</a:t>
            </a:r>
            <a:endParaRPr/>
          </a:p>
          <a:p>
            <a:pPr indent="0" lvl="0" marL="0" rtl="0" algn="l">
              <a:spcBef>
                <a:spcPts val="0"/>
              </a:spcBef>
              <a:spcAft>
                <a:spcPts val="0"/>
              </a:spcAft>
              <a:buClr>
                <a:schemeClr val="dk1"/>
              </a:buClr>
              <a:buSzPts val="1100"/>
              <a:buFont typeface="Arial"/>
              <a:buNone/>
            </a:pPr>
            <a:r>
              <a:rPr lang="en"/>
              <a:t>difference and it doesn't change any of the other implementation details but</a:t>
            </a:r>
            <a:endParaRPr/>
          </a:p>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276b9ae8b0f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276b9ae8b0f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g276b9ae8b0f_0_3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8" name="Google Shape;648;g276b9ae8b0f_0_3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0" name="Shape 750"/>
        <p:cNvGrpSpPr/>
        <p:nvPr/>
      </p:nvGrpSpPr>
      <p:grpSpPr>
        <a:xfrm>
          <a:off x="0" y="0"/>
          <a:ext cx="0" cy="0"/>
          <a:chOff x="0" y="0"/>
          <a:chExt cx="0" cy="0"/>
        </a:xfrm>
      </p:grpSpPr>
      <p:sp>
        <p:nvSpPr>
          <p:cNvPr id="751" name="Google Shape;751;g2ea7889d45f_0_4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2" name="Google Shape;752;g2ea7889d45f_0_4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6" name="Shape 756"/>
        <p:cNvGrpSpPr/>
        <p:nvPr/>
      </p:nvGrpSpPr>
      <p:grpSpPr>
        <a:xfrm>
          <a:off x="0" y="0"/>
          <a:ext cx="0" cy="0"/>
          <a:chOff x="0" y="0"/>
          <a:chExt cx="0" cy="0"/>
        </a:xfrm>
      </p:grpSpPr>
      <p:sp>
        <p:nvSpPr>
          <p:cNvPr id="757" name="Google Shape;757;g2ea7889d45f_0_4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8" name="Google Shape;758;g2ea7889d45f_0_4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1" name="Shape 781"/>
        <p:cNvGrpSpPr/>
        <p:nvPr/>
      </p:nvGrpSpPr>
      <p:grpSpPr>
        <a:xfrm>
          <a:off x="0" y="0"/>
          <a:ext cx="0" cy="0"/>
          <a:chOff x="0" y="0"/>
          <a:chExt cx="0" cy="0"/>
        </a:xfrm>
      </p:grpSpPr>
      <p:sp>
        <p:nvSpPr>
          <p:cNvPr id="782" name="Google Shape;782;g276b9ae8b0f_0_437: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783" name="Google Shape;783;g276b9ae8b0f_0_4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g276b9ae8b0f_0_4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0" name="Google Shape;790;g276b9ae8b0f_0_4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4" name="Shape 794"/>
        <p:cNvGrpSpPr/>
        <p:nvPr/>
      </p:nvGrpSpPr>
      <p:grpSpPr>
        <a:xfrm>
          <a:off x="0" y="0"/>
          <a:ext cx="0" cy="0"/>
          <a:chOff x="0" y="0"/>
          <a:chExt cx="0" cy="0"/>
        </a:xfrm>
      </p:grpSpPr>
      <p:sp>
        <p:nvSpPr>
          <p:cNvPr id="795" name="Google Shape;795;g276b9ae8b0f_0_4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6" name="Google Shape;796;g276b9ae8b0f_0_4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4" name="Shape 804"/>
        <p:cNvGrpSpPr/>
        <p:nvPr/>
      </p:nvGrpSpPr>
      <p:grpSpPr>
        <a:xfrm>
          <a:off x="0" y="0"/>
          <a:ext cx="0" cy="0"/>
          <a:chOff x="0" y="0"/>
          <a:chExt cx="0" cy="0"/>
        </a:xfrm>
      </p:grpSpPr>
      <p:sp>
        <p:nvSpPr>
          <p:cNvPr id="805" name="Google Shape;805;g276b9ae8b0f_0_4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6" name="Google Shape;806;g276b9ae8b0f_0_4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3" name="Shape 823"/>
        <p:cNvGrpSpPr/>
        <p:nvPr/>
      </p:nvGrpSpPr>
      <p:grpSpPr>
        <a:xfrm>
          <a:off x="0" y="0"/>
          <a:ext cx="0" cy="0"/>
          <a:chOff x="0" y="0"/>
          <a:chExt cx="0" cy="0"/>
        </a:xfrm>
      </p:grpSpPr>
      <p:sp>
        <p:nvSpPr>
          <p:cNvPr id="824" name="Google Shape;824;g276b9ae8b0f_0_49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5" name="Google Shape;825;g276b9ae8b0f_0_49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2" name="Shape 842"/>
        <p:cNvGrpSpPr/>
        <p:nvPr/>
      </p:nvGrpSpPr>
      <p:grpSpPr>
        <a:xfrm>
          <a:off x="0" y="0"/>
          <a:ext cx="0" cy="0"/>
          <a:chOff x="0" y="0"/>
          <a:chExt cx="0" cy="0"/>
        </a:xfrm>
      </p:grpSpPr>
      <p:sp>
        <p:nvSpPr>
          <p:cNvPr id="843" name="Google Shape;843;g276b9ae8b0f_0_5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4" name="Google Shape;844;g276b9ae8b0f_0_5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4" name="Shape 864"/>
        <p:cNvGrpSpPr/>
        <p:nvPr/>
      </p:nvGrpSpPr>
      <p:grpSpPr>
        <a:xfrm>
          <a:off x="0" y="0"/>
          <a:ext cx="0" cy="0"/>
          <a:chOff x="0" y="0"/>
          <a:chExt cx="0" cy="0"/>
        </a:xfrm>
      </p:grpSpPr>
      <p:sp>
        <p:nvSpPr>
          <p:cNvPr id="865" name="Google Shape;865;g276b9ae8b0f_0_5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6" name="Google Shape;866;g276b9ae8b0f_0_5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3" name="Shape 883"/>
        <p:cNvGrpSpPr/>
        <p:nvPr/>
      </p:nvGrpSpPr>
      <p:grpSpPr>
        <a:xfrm>
          <a:off x="0" y="0"/>
          <a:ext cx="0" cy="0"/>
          <a:chOff x="0" y="0"/>
          <a:chExt cx="0" cy="0"/>
        </a:xfrm>
      </p:grpSpPr>
      <p:sp>
        <p:nvSpPr>
          <p:cNvPr id="884" name="Google Shape;884;g276b9ae8b0f_0_59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5" name="Google Shape;885;g276b9ae8b0f_0_5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1" name="Shape 941"/>
        <p:cNvGrpSpPr/>
        <p:nvPr/>
      </p:nvGrpSpPr>
      <p:grpSpPr>
        <a:xfrm>
          <a:off x="0" y="0"/>
          <a:ext cx="0" cy="0"/>
          <a:chOff x="0" y="0"/>
          <a:chExt cx="0" cy="0"/>
        </a:xfrm>
      </p:grpSpPr>
      <p:sp>
        <p:nvSpPr>
          <p:cNvPr id="942" name="Google Shape;942;g276b9ae8b0f_0_6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3" name="Google Shape;943;g276b9ae8b0f_0_6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6" name="Shape 966"/>
        <p:cNvGrpSpPr/>
        <p:nvPr/>
      </p:nvGrpSpPr>
      <p:grpSpPr>
        <a:xfrm>
          <a:off x="0" y="0"/>
          <a:ext cx="0" cy="0"/>
          <a:chOff x="0" y="0"/>
          <a:chExt cx="0" cy="0"/>
        </a:xfrm>
      </p:grpSpPr>
      <p:sp>
        <p:nvSpPr>
          <p:cNvPr id="967" name="Google Shape;967;g27a17e4937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8" name="Google Shape;968;g27a17e4937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2" name="Shape 972"/>
        <p:cNvGrpSpPr/>
        <p:nvPr/>
      </p:nvGrpSpPr>
      <p:grpSpPr>
        <a:xfrm>
          <a:off x="0" y="0"/>
          <a:ext cx="0" cy="0"/>
          <a:chOff x="0" y="0"/>
          <a:chExt cx="0" cy="0"/>
        </a:xfrm>
      </p:grpSpPr>
      <p:sp>
        <p:nvSpPr>
          <p:cNvPr id="973" name="Google Shape;973;g2ea7889d45f_0_7: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974" name="Google Shape;974;g2ea7889d45f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9" name="Shape 979"/>
        <p:cNvGrpSpPr/>
        <p:nvPr/>
      </p:nvGrpSpPr>
      <p:grpSpPr>
        <a:xfrm>
          <a:off x="0" y="0"/>
          <a:ext cx="0" cy="0"/>
          <a:chOff x="0" y="0"/>
          <a:chExt cx="0" cy="0"/>
        </a:xfrm>
      </p:grpSpPr>
      <p:sp>
        <p:nvSpPr>
          <p:cNvPr id="980" name="Google Shape;980;g2ea7889d45f_0_9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1" name="Google Shape;981;g2ea7889d45f_0_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0" name="Shape 1040"/>
        <p:cNvGrpSpPr/>
        <p:nvPr/>
      </p:nvGrpSpPr>
      <p:grpSpPr>
        <a:xfrm>
          <a:off x="0" y="0"/>
          <a:ext cx="0" cy="0"/>
          <a:chOff x="0" y="0"/>
          <a:chExt cx="0" cy="0"/>
        </a:xfrm>
      </p:grpSpPr>
      <p:sp>
        <p:nvSpPr>
          <p:cNvPr id="1041" name="Google Shape;1041;g2ea7889d45f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2" name="Google Shape;1042;g2ea7889d45f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1" name="Shape 1101"/>
        <p:cNvGrpSpPr/>
        <p:nvPr/>
      </p:nvGrpSpPr>
      <p:grpSpPr>
        <a:xfrm>
          <a:off x="0" y="0"/>
          <a:ext cx="0" cy="0"/>
          <a:chOff x="0" y="0"/>
          <a:chExt cx="0" cy="0"/>
        </a:xfrm>
      </p:grpSpPr>
      <p:sp>
        <p:nvSpPr>
          <p:cNvPr id="1102" name="Google Shape;1102;g2ea7889d45f_0_1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3" name="Google Shape;1103;g2ea7889d45f_0_1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2" name="Shape 1162"/>
        <p:cNvGrpSpPr/>
        <p:nvPr/>
      </p:nvGrpSpPr>
      <p:grpSpPr>
        <a:xfrm>
          <a:off x="0" y="0"/>
          <a:ext cx="0" cy="0"/>
          <a:chOff x="0" y="0"/>
          <a:chExt cx="0" cy="0"/>
        </a:xfrm>
      </p:grpSpPr>
      <p:sp>
        <p:nvSpPr>
          <p:cNvPr id="1163" name="Google Shape;1163;g2ea7889d45f_0_2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4" name="Google Shape;1164;g2ea7889d45f_0_2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3" name="Shape 1223"/>
        <p:cNvGrpSpPr/>
        <p:nvPr/>
      </p:nvGrpSpPr>
      <p:grpSpPr>
        <a:xfrm>
          <a:off x="0" y="0"/>
          <a:ext cx="0" cy="0"/>
          <a:chOff x="0" y="0"/>
          <a:chExt cx="0" cy="0"/>
        </a:xfrm>
      </p:grpSpPr>
      <p:sp>
        <p:nvSpPr>
          <p:cNvPr id="1224" name="Google Shape;1224;g2ea7889d45f_0_3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5" name="Google Shape;1225;g2ea7889d45f_0_3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3" name="Shape 1283"/>
        <p:cNvGrpSpPr/>
        <p:nvPr/>
      </p:nvGrpSpPr>
      <p:grpSpPr>
        <a:xfrm>
          <a:off x="0" y="0"/>
          <a:ext cx="0" cy="0"/>
          <a:chOff x="0" y="0"/>
          <a:chExt cx="0" cy="0"/>
        </a:xfrm>
      </p:grpSpPr>
      <p:sp>
        <p:nvSpPr>
          <p:cNvPr id="1284" name="Google Shape;1284;g2ea7889d45f_0_512: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285" name="Google Shape;1285;g2ea7889d45f_0_5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0" name="Shape 1290"/>
        <p:cNvGrpSpPr/>
        <p:nvPr/>
      </p:nvGrpSpPr>
      <p:grpSpPr>
        <a:xfrm>
          <a:off x="0" y="0"/>
          <a:ext cx="0" cy="0"/>
          <a:chOff x="0" y="0"/>
          <a:chExt cx="0" cy="0"/>
        </a:xfrm>
      </p:grpSpPr>
      <p:sp>
        <p:nvSpPr>
          <p:cNvPr id="1291" name="Google Shape;1291;g2ea7889d45f_0_5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92" name="Google Shape;1292;g2ea7889d45f_0_5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7" name="Shape 1297"/>
        <p:cNvGrpSpPr/>
        <p:nvPr/>
      </p:nvGrpSpPr>
      <p:grpSpPr>
        <a:xfrm>
          <a:off x="0" y="0"/>
          <a:ext cx="0" cy="0"/>
          <a:chOff x="0" y="0"/>
          <a:chExt cx="0" cy="0"/>
        </a:xfrm>
      </p:grpSpPr>
      <p:sp>
        <p:nvSpPr>
          <p:cNvPr id="1298" name="Google Shape;1298;g2ea7889d45f_0_5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99" name="Google Shape;1299;g2ea7889d45f_0_5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4" name="Shape 1304"/>
        <p:cNvGrpSpPr/>
        <p:nvPr/>
      </p:nvGrpSpPr>
      <p:grpSpPr>
        <a:xfrm>
          <a:off x="0" y="0"/>
          <a:ext cx="0" cy="0"/>
          <a:chOff x="0" y="0"/>
          <a:chExt cx="0" cy="0"/>
        </a:xfrm>
      </p:grpSpPr>
      <p:sp>
        <p:nvSpPr>
          <p:cNvPr id="1305" name="Google Shape;1305;g2ea7889d45f_0_5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6" name="Google Shape;1306;g2ea7889d45f_0_5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1" name="Shape 1311"/>
        <p:cNvGrpSpPr/>
        <p:nvPr/>
      </p:nvGrpSpPr>
      <p:grpSpPr>
        <a:xfrm>
          <a:off x="0" y="0"/>
          <a:ext cx="0" cy="0"/>
          <a:chOff x="0" y="0"/>
          <a:chExt cx="0" cy="0"/>
        </a:xfrm>
      </p:grpSpPr>
      <p:sp>
        <p:nvSpPr>
          <p:cNvPr id="1312" name="Google Shape;1312;g2ea7889d45f_0_5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3" name="Google Shape;1313;g2ea7889d45f_0_5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0" name="Shape 1320"/>
        <p:cNvGrpSpPr/>
        <p:nvPr/>
      </p:nvGrpSpPr>
      <p:grpSpPr>
        <a:xfrm>
          <a:off x="0" y="0"/>
          <a:ext cx="0" cy="0"/>
          <a:chOff x="0" y="0"/>
          <a:chExt cx="0" cy="0"/>
        </a:xfrm>
      </p:grpSpPr>
      <p:sp>
        <p:nvSpPr>
          <p:cNvPr id="1321" name="Google Shape;1321;g36c0802309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2" name="Google Shape;1322;g36c0802309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Slides template credit: Josh Hug, Lisa Yan</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Copied here just in case we get there!</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8" name="Shape 1328"/>
        <p:cNvGrpSpPr/>
        <p:nvPr/>
      </p:nvGrpSpPr>
      <p:grpSpPr>
        <a:xfrm>
          <a:off x="0" y="0"/>
          <a:ext cx="0" cy="0"/>
          <a:chOff x="0" y="0"/>
          <a:chExt cx="0" cy="0"/>
        </a:xfrm>
      </p:grpSpPr>
      <p:sp>
        <p:nvSpPr>
          <p:cNvPr id="1329" name="Google Shape;1329;g36c08023096_0_8: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330" name="Google Shape;1330;g36c0802309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5" name="Shape 1335"/>
        <p:cNvGrpSpPr/>
        <p:nvPr/>
      </p:nvGrpSpPr>
      <p:grpSpPr>
        <a:xfrm>
          <a:off x="0" y="0"/>
          <a:ext cx="0" cy="0"/>
          <a:chOff x="0" y="0"/>
          <a:chExt cx="0" cy="0"/>
        </a:xfrm>
      </p:grpSpPr>
      <p:sp>
        <p:nvSpPr>
          <p:cNvPr id="1336" name="Google Shape;1336;g36c08023096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37" name="Google Shape;1337;g36c08023096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8" name="Shape 1358"/>
        <p:cNvGrpSpPr/>
        <p:nvPr/>
      </p:nvGrpSpPr>
      <p:grpSpPr>
        <a:xfrm>
          <a:off x="0" y="0"/>
          <a:ext cx="0" cy="0"/>
          <a:chOff x="0" y="0"/>
          <a:chExt cx="0" cy="0"/>
        </a:xfrm>
      </p:grpSpPr>
      <p:sp>
        <p:nvSpPr>
          <p:cNvPr id="1359" name="Google Shape;1359;g36c08023096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0" name="Google Shape;1360;g36c08023096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1" name="Shape 1371"/>
        <p:cNvGrpSpPr/>
        <p:nvPr/>
      </p:nvGrpSpPr>
      <p:grpSpPr>
        <a:xfrm>
          <a:off x="0" y="0"/>
          <a:ext cx="0" cy="0"/>
          <a:chOff x="0" y="0"/>
          <a:chExt cx="0" cy="0"/>
        </a:xfrm>
      </p:grpSpPr>
      <p:sp>
        <p:nvSpPr>
          <p:cNvPr id="1372" name="Google Shape;1372;g36c08023096_0_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3" name="Google Shape;1373;g36c08023096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8" name="Shape 1378"/>
        <p:cNvGrpSpPr/>
        <p:nvPr/>
      </p:nvGrpSpPr>
      <p:grpSpPr>
        <a:xfrm>
          <a:off x="0" y="0"/>
          <a:ext cx="0" cy="0"/>
          <a:chOff x="0" y="0"/>
          <a:chExt cx="0" cy="0"/>
        </a:xfrm>
      </p:grpSpPr>
      <p:sp>
        <p:nvSpPr>
          <p:cNvPr id="1379" name="Google Shape;1379;g36c08023096_0_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0" name="Google Shape;1380;g36c08023096_0_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Berkeley Software Distribution - Berkeley Unix</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4" name="Shape 1384"/>
        <p:cNvGrpSpPr/>
        <p:nvPr/>
      </p:nvGrpSpPr>
      <p:grpSpPr>
        <a:xfrm>
          <a:off x="0" y="0"/>
          <a:ext cx="0" cy="0"/>
          <a:chOff x="0" y="0"/>
          <a:chExt cx="0" cy="0"/>
        </a:xfrm>
      </p:grpSpPr>
      <p:sp>
        <p:nvSpPr>
          <p:cNvPr id="1385" name="Google Shape;1385;g36c08023096_0_59: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386" name="Google Shape;1386;g36c08023096_0_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1" name="Shape 1391"/>
        <p:cNvGrpSpPr/>
        <p:nvPr/>
      </p:nvGrpSpPr>
      <p:grpSpPr>
        <a:xfrm>
          <a:off x="0" y="0"/>
          <a:ext cx="0" cy="0"/>
          <a:chOff x="0" y="0"/>
          <a:chExt cx="0" cy="0"/>
        </a:xfrm>
      </p:grpSpPr>
      <p:sp>
        <p:nvSpPr>
          <p:cNvPr id="1392" name="Google Shape;1392;g36c08023096_0_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93" name="Google Shape;1393;g36c08023096_0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1" name="Shape 1441"/>
        <p:cNvGrpSpPr/>
        <p:nvPr/>
      </p:nvGrpSpPr>
      <p:grpSpPr>
        <a:xfrm>
          <a:off x="0" y="0"/>
          <a:ext cx="0" cy="0"/>
          <a:chOff x="0" y="0"/>
          <a:chExt cx="0" cy="0"/>
        </a:xfrm>
      </p:grpSpPr>
      <p:sp>
        <p:nvSpPr>
          <p:cNvPr id="1442" name="Google Shape;1442;g36c08023096_0_1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43" name="Google Shape;1443;g36c08023096_0_1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0" name="Shape 1490"/>
        <p:cNvGrpSpPr/>
        <p:nvPr/>
      </p:nvGrpSpPr>
      <p:grpSpPr>
        <a:xfrm>
          <a:off x="0" y="0"/>
          <a:ext cx="0" cy="0"/>
          <a:chOff x="0" y="0"/>
          <a:chExt cx="0" cy="0"/>
        </a:xfrm>
      </p:grpSpPr>
      <p:sp>
        <p:nvSpPr>
          <p:cNvPr id="1491" name="Google Shape;1491;g36c08023096_0_16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92" name="Google Shape;1492;g36c08023096_0_1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9" name="Shape 1539"/>
        <p:cNvGrpSpPr/>
        <p:nvPr/>
      </p:nvGrpSpPr>
      <p:grpSpPr>
        <a:xfrm>
          <a:off x="0" y="0"/>
          <a:ext cx="0" cy="0"/>
          <a:chOff x="0" y="0"/>
          <a:chExt cx="0" cy="0"/>
        </a:xfrm>
      </p:grpSpPr>
      <p:sp>
        <p:nvSpPr>
          <p:cNvPr id="1540" name="Google Shape;1540;g36c08023096_0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1" name="Google Shape;1541;g36c08023096_0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9" name="Shape 1589"/>
        <p:cNvGrpSpPr/>
        <p:nvPr/>
      </p:nvGrpSpPr>
      <p:grpSpPr>
        <a:xfrm>
          <a:off x="0" y="0"/>
          <a:ext cx="0" cy="0"/>
          <a:chOff x="0" y="0"/>
          <a:chExt cx="0" cy="0"/>
        </a:xfrm>
      </p:grpSpPr>
      <p:sp>
        <p:nvSpPr>
          <p:cNvPr id="1590" name="Google Shape;1590;g36c08023096_0_25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91" name="Google Shape;1591;g36c08023096_0_2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5" name="Shape 1595"/>
        <p:cNvGrpSpPr/>
        <p:nvPr/>
      </p:nvGrpSpPr>
      <p:grpSpPr>
        <a:xfrm>
          <a:off x="0" y="0"/>
          <a:ext cx="0" cy="0"/>
          <a:chOff x="0" y="0"/>
          <a:chExt cx="0" cy="0"/>
        </a:xfrm>
      </p:grpSpPr>
      <p:sp>
        <p:nvSpPr>
          <p:cNvPr id="1596" name="Google Shape;1596;g36c08023096_0_2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97" name="Google Shape;1597;g36c08023096_0_2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1" name="Shape 1601"/>
        <p:cNvGrpSpPr/>
        <p:nvPr/>
      </p:nvGrpSpPr>
      <p:grpSpPr>
        <a:xfrm>
          <a:off x="0" y="0"/>
          <a:ext cx="0" cy="0"/>
          <a:chOff x="0" y="0"/>
          <a:chExt cx="0" cy="0"/>
        </a:xfrm>
      </p:grpSpPr>
      <p:sp>
        <p:nvSpPr>
          <p:cNvPr id="1602" name="Google Shape;1602;g36c08023096_0_269: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603" name="Google Shape;1603;g36c08023096_0_2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8" name="Shape 1608"/>
        <p:cNvGrpSpPr/>
        <p:nvPr/>
      </p:nvGrpSpPr>
      <p:grpSpPr>
        <a:xfrm>
          <a:off x="0" y="0"/>
          <a:ext cx="0" cy="0"/>
          <a:chOff x="0" y="0"/>
          <a:chExt cx="0" cy="0"/>
        </a:xfrm>
      </p:grpSpPr>
      <p:sp>
        <p:nvSpPr>
          <p:cNvPr id="1609" name="Google Shape;1609;g36c08023096_0_27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10" name="Google Shape;1610;g36c08023096_0_2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4" name="Shape 1614"/>
        <p:cNvGrpSpPr/>
        <p:nvPr/>
      </p:nvGrpSpPr>
      <p:grpSpPr>
        <a:xfrm>
          <a:off x="0" y="0"/>
          <a:ext cx="0" cy="0"/>
          <a:chOff x="0" y="0"/>
          <a:chExt cx="0" cy="0"/>
        </a:xfrm>
      </p:grpSpPr>
      <p:sp>
        <p:nvSpPr>
          <p:cNvPr id="1615" name="Google Shape;1615;g36c08023096_0_2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16" name="Google Shape;1616;g36c08023096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0" name="Shape 1620"/>
        <p:cNvGrpSpPr/>
        <p:nvPr/>
      </p:nvGrpSpPr>
      <p:grpSpPr>
        <a:xfrm>
          <a:off x="0" y="0"/>
          <a:ext cx="0" cy="0"/>
          <a:chOff x="0" y="0"/>
          <a:chExt cx="0" cy="0"/>
        </a:xfrm>
      </p:grpSpPr>
      <p:sp>
        <p:nvSpPr>
          <p:cNvPr id="1621" name="Google Shape;1621;g36c08023096_0_2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2" name="Google Shape;1622;g36c08023096_0_2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Autofit/>
          </a:bodyPr>
          <a:lstStyle>
            <a:lvl1pPr lvl="0" rtl="0">
              <a:spcBef>
                <a:spcPts val="0"/>
              </a:spcBef>
              <a:spcAft>
                <a:spcPts val="0"/>
              </a:spcAft>
              <a:buSzPts val="4400"/>
              <a:buNone/>
              <a:defRPr sz="4400"/>
            </a:lvl1pPr>
            <a:lvl2pPr lvl="1" rtl="0">
              <a:spcBef>
                <a:spcPts val="0"/>
              </a:spcBef>
              <a:spcAft>
                <a:spcPts val="0"/>
              </a:spcAft>
              <a:buSzPts val="4400"/>
              <a:buNone/>
              <a:defRPr sz="4400"/>
            </a:lvl2pPr>
            <a:lvl3pPr lvl="2" rtl="0">
              <a:spcBef>
                <a:spcPts val="0"/>
              </a:spcBef>
              <a:spcAft>
                <a:spcPts val="0"/>
              </a:spcAft>
              <a:buSzPts val="4400"/>
              <a:buNone/>
              <a:defRPr sz="4400"/>
            </a:lvl3pPr>
            <a:lvl4pPr lvl="3" rtl="0">
              <a:spcBef>
                <a:spcPts val="0"/>
              </a:spcBef>
              <a:spcAft>
                <a:spcPts val="0"/>
              </a:spcAft>
              <a:buSzPts val="4400"/>
              <a:buNone/>
              <a:defRPr sz="4400"/>
            </a:lvl4pPr>
            <a:lvl5pPr lvl="4" rtl="0">
              <a:spcBef>
                <a:spcPts val="0"/>
              </a:spcBef>
              <a:spcAft>
                <a:spcPts val="0"/>
              </a:spcAft>
              <a:buSzPts val="4400"/>
              <a:buNone/>
              <a:defRPr sz="4400"/>
            </a:lvl5pPr>
            <a:lvl6pPr lvl="5" rtl="0">
              <a:spcBef>
                <a:spcPts val="0"/>
              </a:spcBef>
              <a:spcAft>
                <a:spcPts val="0"/>
              </a:spcAft>
              <a:buSzPts val="4400"/>
              <a:buNone/>
              <a:defRPr sz="4400"/>
            </a:lvl6pPr>
            <a:lvl7pPr lvl="6" rtl="0">
              <a:spcBef>
                <a:spcPts val="0"/>
              </a:spcBef>
              <a:spcAft>
                <a:spcPts val="0"/>
              </a:spcAft>
              <a:buSzPts val="4400"/>
              <a:buNone/>
              <a:defRPr sz="4400"/>
            </a:lvl7pPr>
            <a:lvl8pPr lvl="7" rtl="0">
              <a:spcBef>
                <a:spcPts val="0"/>
              </a:spcBef>
              <a:spcAft>
                <a:spcPts val="0"/>
              </a:spcAft>
              <a:buSzPts val="4400"/>
              <a:buNone/>
              <a:defRPr sz="4400"/>
            </a:lvl8pPr>
            <a:lvl9pPr lvl="8" rtl="0">
              <a:spcBef>
                <a:spcPts val="0"/>
              </a:spcBef>
              <a:spcAft>
                <a:spcPts val="0"/>
              </a:spcAft>
              <a:buSzPts val="4400"/>
              <a:buNone/>
              <a:defRPr sz="4400"/>
            </a:lvl9pPr>
          </a:lstStyle>
          <a:p/>
        </p:txBody>
      </p:sp>
      <p:sp>
        <p:nvSpPr>
          <p:cNvPr id="11" name="Google Shape;11;p2"/>
          <p:cNvSpPr txBox="1"/>
          <p:nvPr>
            <p:ph idx="1" type="subTitle"/>
          </p:nvPr>
        </p:nvSpPr>
        <p:spPr>
          <a:xfrm>
            <a:off x="311700" y="2834125"/>
            <a:ext cx="8520600" cy="1536300"/>
          </a:xfrm>
          <a:prstGeom prst="rect">
            <a:avLst/>
          </a:prstGeom>
        </p:spPr>
        <p:txBody>
          <a:bodyPr anchorCtr="0" anchor="t" bIns="91425" lIns="91425" spcFirstLastPara="1" rIns="91425" wrap="square" tIns="91425">
            <a:noAutofit/>
          </a:bodyPr>
          <a:lstStyle>
            <a:lvl1pPr lvl="0"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1pPr>
            <a:lvl2pPr lvl="1"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2pPr>
            <a:lvl3pPr lvl="2"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3pPr>
            <a:lvl4pPr lvl="3"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4pPr>
            <a:lvl5pPr lvl="4"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5pPr>
            <a:lvl6pPr lvl="5"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6pPr>
            <a:lvl7pPr lvl="6"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7pPr>
            <a:lvl8pPr lvl="7"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8pPr>
            <a:lvl9pPr lvl="8"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600"/>
              <a:buNone/>
              <a:defRPr sz="36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16" name="Google Shape;16;p3"/>
          <p:cNvSpPr txBox="1"/>
          <p:nvPr>
            <p:ph idx="1" type="subTitle"/>
          </p:nvPr>
        </p:nvSpPr>
        <p:spPr>
          <a:xfrm>
            <a:off x="311700" y="2834125"/>
            <a:ext cx="8520600" cy="1536300"/>
          </a:xfrm>
          <a:prstGeom prst="rect">
            <a:avLst/>
          </a:prstGeom>
        </p:spPr>
        <p:txBody>
          <a:bodyPr anchorCtr="0" anchor="t" bIns="91425" lIns="91425" spcFirstLastPara="1" rIns="91425" wrap="square" tIns="91425">
            <a:noAutofit/>
          </a:bodyPr>
          <a:lstStyle>
            <a:lvl1pPr lvl="0" rtl="0" algn="ctr">
              <a:lnSpc>
                <a:spcPct val="100000"/>
              </a:lnSpc>
              <a:spcBef>
                <a:spcPts val="600"/>
              </a:spcBef>
              <a:spcAft>
                <a:spcPts val="0"/>
              </a:spcAft>
              <a:buSzPts val="2400"/>
              <a:buFont typeface="Roboto Light"/>
              <a:buNone/>
              <a:defRPr sz="2400">
                <a:latin typeface="Roboto Light"/>
                <a:ea typeface="Roboto Light"/>
                <a:cs typeface="Roboto Light"/>
                <a:sym typeface="Roboto Light"/>
              </a:defRPr>
            </a:lvl1pPr>
            <a:lvl2pPr lvl="1" rtl="0" algn="ctr">
              <a:lnSpc>
                <a:spcPct val="100000"/>
              </a:lnSpc>
              <a:spcBef>
                <a:spcPts val="600"/>
              </a:spcBef>
              <a:spcAft>
                <a:spcPts val="0"/>
              </a:spcAft>
              <a:buSzPts val="2400"/>
              <a:buFont typeface="Roboto Light"/>
              <a:buNone/>
              <a:defRPr sz="2400">
                <a:latin typeface="Roboto Light"/>
                <a:ea typeface="Roboto Light"/>
                <a:cs typeface="Roboto Light"/>
                <a:sym typeface="Roboto Light"/>
              </a:defRPr>
            </a:lvl2pPr>
            <a:lvl3pPr lvl="2" rtl="0" algn="ctr">
              <a:lnSpc>
                <a:spcPct val="100000"/>
              </a:lnSpc>
              <a:spcBef>
                <a:spcPts val="600"/>
              </a:spcBef>
              <a:spcAft>
                <a:spcPts val="0"/>
              </a:spcAft>
              <a:buSzPts val="2400"/>
              <a:buFont typeface="Roboto Light"/>
              <a:buNone/>
              <a:defRPr sz="2400">
                <a:latin typeface="Roboto Light"/>
                <a:ea typeface="Roboto Light"/>
                <a:cs typeface="Roboto Light"/>
                <a:sym typeface="Roboto Light"/>
              </a:defRPr>
            </a:lvl3pPr>
            <a:lvl4pPr lvl="3" rtl="0" algn="ctr">
              <a:lnSpc>
                <a:spcPct val="100000"/>
              </a:lnSpc>
              <a:spcBef>
                <a:spcPts val="600"/>
              </a:spcBef>
              <a:spcAft>
                <a:spcPts val="0"/>
              </a:spcAft>
              <a:buSzPts val="2400"/>
              <a:buFont typeface="Roboto Light"/>
              <a:buNone/>
              <a:defRPr sz="2400">
                <a:latin typeface="Roboto Light"/>
                <a:ea typeface="Roboto Light"/>
                <a:cs typeface="Roboto Light"/>
                <a:sym typeface="Roboto Light"/>
              </a:defRPr>
            </a:lvl4pPr>
            <a:lvl5pPr lvl="4" rtl="0" algn="ctr">
              <a:lnSpc>
                <a:spcPct val="100000"/>
              </a:lnSpc>
              <a:spcBef>
                <a:spcPts val="600"/>
              </a:spcBef>
              <a:spcAft>
                <a:spcPts val="0"/>
              </a:spcAft>
              <a:buSzPts val="2400"/>
              <a:buFont typeface="Roboto Light"/>
              <a:buNone/>
              <a:defRPr sz="2400">
                <a:latin typeface="Roboto Light"/>
                <a:ea typeface="Roboto Light"/>
                <a:cs typeface="Roboto Light"/>
                <a:sym typeface="Roboto Light"/>
              </a:defRPr>
            </a:lvl5pPr>
            <a:lvl6pPr lvl="5" rtl="0" algn="ctr">
              <a:lnSpc>
                <a:spcPct val="100000"/>
              </a:lnSpc>
              <a:spcBef>
                <a:spcPts val="600"/>
              </a:spcBef>
              <a:spcAft>
                <a:spcPts val="0"/>
              </a:spcAft>
              <a:buSzPts val="2400"/>
              <a:buFont typeface="Roboto Light"/>
              <a:buNone/>
              <a:defRPr sz="2400">
                <a:latin typeface="Roboto Light"/>
                <a:ea typeface="Roboto Light"/>
                <a:cs typeface="Roboto Light"/>
                <a:sym typeface="Roboto Light"/>
              </a:defRPr>
            </a:lvl6pPr>
            <a:lvl7pPr lvl="6" rtl="0" algn="ctr">
              <a:lnSpc>
                <a:spcPct val="100000"/>
              </a:lnSpc>
              <a:spcBef>
                <a:spcPts val="600"/>
              </a:spcBef>
              <a:spcAft>
                <a:spcPts val="0"/>
              </a:spcAft>
              <a:buSzPts val="2400"/>
              <a:buFont typeface="Roboto Light"/>
              <a:buNone/>
              <a:defRPr sz="2400">
                <a:latin typeface="Roboto Light"/>
                <a:ea typeface="Roboto Light"/>
                <a:cs typeface="Roboto Light"/>
                <a:sym typeface="Roboto Light"/>
              </a:defRPr>
            </a:lvl7pPr>
            <a:lvl8pPr lvl="7" rtl="0" algn="ctr">
              <a:lnSpc>
                <a:spcPct val="100000"/>
              </a:lnSpc>
              <a:spcBef>
                <a:spcPts val="600"/>
              </a:spcBef>
              <a:spcAft>
                <a:spcPts val="0"/>
              </a:spcAft>
              <a:buSzPts val="2400"/>
              <a:buFont typeface="Roboto Light"/>
              <a:buNone/>
              <a:defRPr sz="2400">
                <a:latin typeface="Roboto Light"/>
                <a:ea typeface="Roboto Light"/>
                <a:cs typeface="Roboto Light"/>
                <a:sym typeface="Roboto Light"/>
              </a:defRPr>
            </a:lvl8pPr>
            <a:lvl9pPr lvl="8" rtl="0" algn="ctr">
              <a:lnSpc>
                <a:spcPct val="100000"/>
              </a:lnSpc>
              <a:spcBef>
                <a:spcPts val="600"/>
              </a:spcBef>
              <a:spcAft>
                <a:spcPts val="0"/>
              </a:spcAft>
              <a:buSzPts val="2400"/>
              <a:buFont typeface="Roboto Light"/>
              <a:buNone/>
              <a:defRPr sz="2400">
                <a:latin typeface="Roboto Light"/>
                <a:ea typeface="Roboto Light"/>
                <a:cs typeface="Roboto Light"/>
                <a:sym typeface="Roboto Light"/>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 name="Shape 17"/>
        <p:cNvGrpSpPr/>
        <p:nvPr/>
      </p:nvGrpSpPr>
      <p:grpSpPr>
        <a:xfrm>
          <a:off x="0" y="0"/>
          <a:ext cx="0" cy="0"/>
          <a:chOff x="0" y="0"/>
          <a:chExt cx="0" cy="0"/>
        </a:xfrm>
      </p:grpSpPr>
      <p:sp>
        <p:nvSpPr>
          <p:cNvPr id="18" name="Google Shape;18;p4"/>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lvl1pPr lvl="0" rtl="0">
              <a:spcBef>
                <a:spcPts val="0"/>
              </a:spcBef>
              <a:spcAft>
                <a:spcPts val="0"/>
              </a:spcAft>
              <a:buSzPts val="1600"/>
              <a:buNone/>
              <a:defRPr b="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9" name="Google Shape;19;p4"/>
          <p:cNvSpPr txBox="1"/>
          <p:nvPr>
            <p:ph idx="1" type="body"/>
          </p:nvPr>
        </p:nvSpPr>
        <p:spPr>
          <a:xfrm>
            <a:off x="107050" y="402200"/>
            <a:ext cx="8909700" cy="45306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Char char="●"/>
              <a:defRPr/>
            </a:lvl1pPr>
            <a:lvl2pPr indent="-342900" lvl="1" marL="914400" rtl="0">
              <a:spcBef>
                <a:spcPts val="600"/>
              </a:spcBef>
              <a:spcAft>
                <a:spcPts val="0"/>
              </a:spcAft>
              <a:buSzPts val="1800"/>
              <a:buChar char="○"/>
              <a:defRPr/>
            </a:lvl2pPr>
            <a:lvl3pPr indent="-342900" lvl="2" marL="1371600" rtl="0">
              <a:spcBef>
                <a:spcPts val="600"/>
              </a:spcBef>
              <a:spcAft>
                <a:spcPts val="0"/>
              </a:spcAft>
              <a:buSzPts val="1800"/>
              <a:buChar char="■"/>
              <a:defRPr/>
            </a:lvl3pPr>
            <a:lvl4pPr indent="-342900" lvl="3" marL="1828800" rtl="0">
              <a:spcBef>
                <a:spcPts val="600"/>
              </a:spcBef>
              <a:spcAft>
                <a:spcPts val="0"/>
              </a:spcAft>
              <a:buSzPts val="1800"/>
              <a:buChar char="●"/>
              <a:defRPr/>
            </a:lvl4pPr>
            <a:lvl5pPr indent="-342900" lvl="4" marL="2286000" rtl="0">
              <a:spcBef>
                <a:spcPts val="600"/>
              </a:spcBef>
              <a:spcAft>
                <a:spcPts val="0"/>
              </a:spcAft>
              <a:buSzPts val="1800"/>
              <a:buChar char="○"/>
              <a:defRPr/>
            </a:lvl5pPr>
            <a:lvl6pPr indent="-342900" lvl="5" marL="2743200" rtl="0">
              <a:spcBef>
                <a:spcPts val="600"/>
              </a:spcBef>
              <a:spcAft>
                <a:spcPts val="0"/>
              </a:spcAft>
              <a:buSzPts val="1800"/>
              <a:buChar char="■"/>
              <a:defRPr/>
            </a:lvl6pPr>
            <a:lvl7pPr indent="-342900" lvl="6" marL="3200400" rtl="0">
              <a:spcBef>
                <a:spcPts val="600"/>
              </a:spcBef>
              <a:spcAft>
                <a:spcPts val="0"/>
              </a:spcAft>
              <a:buSzPts val="1800"/>
              <a:buChar char="●"/>
              <a:defRPr/>
            </a:lvl7pPr>
            <a:lvl8pPr indent="-342900" lvl="7" marL="3657600" rtl="0">
              <a:spcBef>
                <a:spcPts val="600"/>
              </a:spcBef>
              <a:spcAft>
                <a:spcPts val="0"/>
              </a:spcAft>
              <a:buSzPts val="1800"/>
              <a:buChar char="○"/>
              <a:defRPr/>
            </a:lvl8pPr>
            <a:lvl9pPr indent="-342900" lvl="8" marL="4114800" rtl="0">
              <a:spcBef>
                <a:spcPts val="600"/>
              </a:spcBef>
              <a:spcAft>
                <a:spcPts val="0"/>
              </a:spcAft>
              <a:buSzPts val="1800"/>
              <a:buChar char="■"/>
              <a:defRPr/>
            </a:lvl9pPr>
          </a:lstStyle>
          <a:p/>
        </p:txBody>
      </p:sp>
      <p:sp>
        <p:nvSpPr>
          <p:cNvPr id="20" name="Google Shape;20;p4"/>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cxnSp>
        <p:nvCxnSpPr>
          <p:cNvPr id="21" name="Google Shape;21;p4"/>
          <p:cNvCxnSpPr/>
          <p:nvPr/>
        </p:nvCxnSpPr>
        <p:spPr>
          <a:xfrm>
            <a:off x="95431" y="402210"/>
            <a:ext cx="8909700" cy="0"/>
          </a:xfrm>
          <a:prstGeom prst="straightConnector1">
            <a:avLst/>
          </a:prstGeom>
          <a:noFill/>
          <a:ln cap="flat" cmpd="sng" w="19050">
            <a:solidFill>
              <a:srgbClr val="BF9000"/>
            </a:solidFill>
            <a:prstDash val="solid"/>
            <a:round/>
            <a:headEnd len="med" w="med" type="none"/>
            <a:tailEnd len="med" w="med" type="none"/>
          </a:ln>
        </p:spPr>
      </p:cxn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Roadmap">
  <p:cSld name="SECTION_TITLE_AND_DESCRIPTION_1">
    <p:spTree>
      <p:nvGrpSpPr>
        <p:cNvPr id="22" name="Shape 22"/>
        <p:cNvGrpSpPr/>
        <p:nvPr/>
      </p:nvGrpSpPr>
      <p:grpSpPr>
        <a:xfrm>
          <a:off x="0" y="0"/>
          <a:ext cx="0" cy="0"/>
          <a:chOff x="0" y="0"/>
          <a:chExt cx="0" cy="0"/>
        </a:xfrm>
      </p:grpSpPr>
      <p:sp>
        <p:nvSpPr>
          <p:cNvPr id="23" name="Google Shape;23;p5"/>
          <p:cNvSpPr/>
          <p:nvPr/>
        </p:nvSpPr>
        <p:spPr>
          <a:xfrm>
            <a:off x="0" y="-125"/>
            <a:ext cx="4572000" cy="5143500"/>
          </a:xfrm>
          <a:prstGeom prst="rect">
            <a:avLst/>
          </a:prstGeom>
          <a:solidFill>
            <a:srgbClr val="CFE2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25" name="Google Shape;25;p5"/>
          <p:cNvSpPr txBox="1"/>
          <p:nvPr>
            <p:ph idx="1" type="body"/>
          </p:nvPr>
        </p:nvSpPr>
        <p:spPr>
          <a:xfrm>
            <a:off x="4812375" y="402198"/>
            <a:ext cx="3999900" cy="4260900"/>
          </a:xfrm>
          <a:prstGeom prst="rect">
            <a:avLst/>
          </a:prstGeom>
        </p:spPr>
        <p:txBody>
          <a:bodyPr anchorCtr="0" anchor="ctr" bIns="91425" lIns="91425" spcFirstLastPara="1" rIns="91425" wrap="square" tIns="91425">
            <a:noAutofit/>
          </a:bodyPr>
          <a:lstStyle>
            <a:lvl1pPr indent="-342900" lvl="0" marL="4572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1pPr>
            <a:lvl2pPr indent="-342900" lvl="1" marL="9144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2pPr>
            <a:lvl3pPr indent="-342900" lvl="2" marL="13716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3pPr>
            <a:lvl4pPr indent="-342900" lvl="3" marL="18288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4pPr>
            <a:lvl5pPr indent="-342900" lvl="4" marL="22860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5pPr>
            <a:lvl6pPr indent="-342900" lvl="5" marL="27432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6pPr>
            <a:lvl7pPr indent="-342900" lvl="6" marL="32004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7pPr>
            <a:lvl8pPr indent="-342900" lvl="7" marL="36576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8pPr>
            <a:lvl9pPr indent="-342900" lvl="8" marL="41148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9pPr>
          </a:lstStyle>
          <a:p/>
        </p:txBody>
      </p:sp>
      <p:sp>
        <p:nvSpPr>
          <p:cNvPr id="26" name="Google Shape;26;p5"/>
          <p:cNvSpPr txBox="1"/>
          <p:nvPr>
            <p:ph type="title"/>
          </p:nvPr>
        </p:nvSpPr>
        <p:spPr>
          <a:xfrm>
            <a:off x="177925" y="2003300"/>
            <a:ext cx="4038000" cy="2037900"/>
          </a:xfrm>
          <a:prstGeom prst="rect">
            <a:avLst/>
          </a:prstGeom>
        </p:spPr>
        <p:txBody>
          <a:bodyPr anchorCtr="0" anchor="b" bIns="91425" lIns="91425" spcFirstLastPara="1" rIns="91425" wrap="square" tIns="91425">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p:txBody>
      </p:sp>
      <p:cxnSp>
        <p:nvCxnSpPr>
          <p:cNvPr id="27" name="Google Shape;27;p5"/>
          <p:cNvCxnSpPr/>
          <p:nvPr/>
        </p:nvCxnSpPr>
        <p:spPr>
          <a:xfrm>
            <a:off x="266975" y="4049175"/>
            <a:ext cx="4038000" cy="0"/>
          </a:xfrm>
          <a:prstGeom prst="straightConnector1">
            <a:avLst/>
          </a:prstGeom>
          <a:noFill/>
          <a:ln cap="flat" cmpd="sng" w="19050">
            <a:solidFill>
              <a:srgbClr val="BF9000"/>
            </a:solidFill>
            <a:prstDash val="solid"/>
            <a:round/>
            <a:headEnd len="med" w="med" type="none"/>
            <a:tailEnd len="med" w="med" type="none"/>
          </a:ln>
        </p:spPr>
      </p:cxnSp>
      <p:sp>
        <p:nvSpPr>
          <p:cNvPr id="28" name="Google Shape;28;p5"/>
          <p:cNvSpPr txBox="1"/>
          <p:nvPr>
            <p:ph idx="2" type="subTitle"/>
          </p:nvPr>
        </p:nvSpPr>
        <p:spPr>
          <a:xfrm>
            <a:off x="177925" y="4068000"/>
            <a:ext cx="4158000" cy="393600"/>
          </a:xfrm>
          <a:prstGeom prst="rect">
            <a:avLst/>
          </a:prstGeom>
        </p:spPr>
        <p:txBody>
          <a:bodyPr anchorCtr="0" anchor="ctr" bIns="91425" lIns="91425" spcFirstLastPara="1" rIns="91425" wrap="square" tIns="91425">
            <a:noAutofit/>
          </a:bodyPr>
          <a:lstStyle>
            <a:lvl1pPr lvl="0" rtl="0">
              <a:lnSpc>
                <a:spcPct val="100000"/>
              </a:lnSpc>
              <a:spcBef>
                <a:spcPts val="600"/>
              </a:spcBef>
              <a:spcAft>
                <a:spcPts val="0"/>
              </a:spcAft>
              <a:buSzPts val="1800"/>
              <a:buNone/>
              <a:defRPr/>
            </a:lvl1pPr>
            <a:lvl2pPr lvl="1" rtl="0">
              <a:lnSpc>
                <a:spcPct val="100000"/>
              </a:lnSpc>
              <a:spcBef>
                <a:spcPts val="600"/>
              </a:spcBef>
              <a:spcAft>
                <a:spcPts val="0"/>
              </a:spcAft>
              <a:buSzPts val="2100"/>
              <a:buNone/>
              <a:defRPr sz="2100"/>
            </a:lvl2pPr>
            <a:lvl3pPr lvl="2" rtl="0">
              <a:lnSpc>
                <a:spcPct val="100000"/>
              </a:lnSpc>
              <a:spcBef>
                <a:spcPts val="600"/>
              </a:spcBef>
              <a:spcAft>
                <a:spcPts val="0"/>
              </a:spcAft>
              <a:buSzPts val="2100"/>
              <a:buNone/>
              <a:defRPr sz="2100"/>
            </a:lvl3pPr>
            <a:lvl4pPr lvl="3" rtl="0">
              <a:lnSpc>
                <a:spcPct val="100000"/>
              </a:lnSpc>
              <a:spcBef>
                <a:spcPts val="600"/>
              </a:spcBef>
              <a:spcAft>
                <a:spcPts val="0"/>
              </a:spcAft>
              <a:buSzPts val="2100"/>
              <a:buNone/>
              <a:defRPr sz="2100"/>
            </a:lvl4pPr>
            <a:lvl5pPr lvl="4" rtl="0">
              <a:lnSpc>
                <a:spcPct val="100000"/>
              </a:lnSpc>
              <a:spcBef>
                <a:spcPts val="600"/>
              </a:spcBef>
              <a:spcAft>
                <a:spcPts val="0"/>
              </a:spcAft>
              <a:buSzPts val="2100"/>
              <a:buNone/>
              <a:defRPr sz="2100"/>
            </a:lvl5pPr>
            <a:lvl6pPr lvl="5" rtl="0">
              <a:lnSpc>
                <a:spcPct val="100000"/>
              </a:lnSpc>
              <a:spcBef>
                <a:spcPts val="600"/>
              </a:spcBef>
              <a:spcAft>
                <a:spcPts val="0"/>
              </a:spcAft>
              <a:buSzPts val="2100"/>
              <a:buNone/>
              <a:defRPr sz="2100"/>
            </a:lvl6pPr>
            <a:lvl7pPr lvl="6" rtl="0">
              <a:lnSpc>
                <a:spcPct val="100000"/>
              </a:lnSpc>
              <a:spcBef>
                <a:spcPts val="600"/>
              </a:spcBef>
              <a:spcAft>
                <a:spcPts val="0"/>
              </a:spcAft>
              <a:buSzPts val="2100"/>
              <a:buNone/>
              <a:defRPr sz="2100"/>
            </a:lvl7pPr>
            <a:lvl8pPr lvl="7" rtl="0">
              <a:lnSpc>
                <a:spcPct val="100000"/>
              </a:lnSpc>
              <a:spcBef>
                <a:spcPts val="600"/>
              </a:spcBef>
              <a:spcAft>
                <a:spcPts val="0"/>
              </a:spcAft>
              <a:buSzPts val="2100"/>
              <a:buNone/>
              <a:defRPr sz="2100"/>
            </a:lvl8pPr>
            <a:lvl9pPr lvl="8" rtl="0">
              <a:lnSpc>
                <a:spcPct val="100000"/>
              </a:lnSpc>
              <a:spcBef>
                <a:spcPts val="600"/>
              </a:spcBef>
              <a:spcAft>
                <a:spcPts val="0"/>
              </a:spcAft>
              <a:buSzPts val="2100"/>
              <a:buNone/>
              <a:defRPr sz="2100"/>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mo slide right">
  <p:cSld name="SECTION_TITLE_AND_DESCRIPTION_2">
    <p:spTree>
      <p:nvGrpSpPr>
        <p:cNvPr id="29" name="Shape 29"/>
        <p:cNvGrpSpPr/>
        <p:nvPr/>
      </p:nvGrpSpPr>
      <p:grpSpPr>
        <a:xfrm>
          <a:off x="0" y="0"/>
          <a:ext cx="0" cy="0"/>
          <a:chOff x="0" y="0"/>
          <a:chExt cx="0" cy="0"/>
        </a:xfrm>
      </p:grpSpPr>
      <p:sp>
        <p:nvSpPr>
          <p:cNvPr id="30" name="Google Shape;30;p6"/>
          <p:cNvSpPr/>
          <p:nvPr/>
        </p:nvSpPr>
        <p:spPr>
          <a:xfrm>
            <a:off x="4572000" y="-125"/>
            <a:ext cx="4572000" cy="5143500"/>
          </a:xfrm>
          <a:prstGeom prst="rect">
            <a:avLst/>
          </a:prstGeom>
          <a:solidFill>
            <a:srgbClr val="CFE2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6"/>
          <p:cNvSpPr txBox="1"/>
          <p:nvPr>
            <p:ph idx="1" type="subTitle"/>
          </p:nvPr>
        </p:nvSpPr>
        <p:spPr>
          <a:xfrm>
            <a:off x="4835400" y="4198275"/>
            <a:ext cx="4045200" cy="465000"/>
          </a:xfrm>
          <a:prstGeom prst="rect">
            <a:avLst/>
          </a:prstGeom>
        </p:spPr>
        <p:txBody>
          <a:bodyPr anchorCtr="0" anchor="t" bIns="91425" lIns="91425" spcFirstLastPara="1" rIns="91425" wrap="square" tIns="91425">
            <a:noAutofit/>
          </a:bodyPr>
          <a:lstStyle>
            <a:lvl1pPr lvl="0" rtl="0" algn="r">
              <a:lnSpc>
                <a:spcPct val="100000"/>
              </a:lnSpc>
              <a:spcBef>
                <a:spcPts val="600"/>
              </a:spcBef>
              <a:spcAft>
                <a:spcPts val="0"/>
              </a:spcAft>
              <a:buSzPts val="1800"/>
              <a:buNone/>
              <a:defRPr/>
            </a:lvl1pPr>
            <a:lvl2pPr lvl="1" rtl="0" algn="ctr">
              <a:lnSpc>
                <a:spcPct val="100000"/>
              </a:lnSpc>
              <a:spcBef>
                <a:spcPts val="600"/>
              </a:spcBef>
              <a:spcAft>
                <a:spcPts val="0"/>
              </a:spcAft>
              <a:buSzPts val="2100"/>
              <a:buNone/>
              <a:defRPr sz="2100"/>
            </a:lvl2pPr>
            <a:lvl3pPr lvl="2" rtl="0" algn="ctr">
              <a:lnSpc>
                <a:spcPct val="100000"/>
              </a:lnSpc>
              <a:spcBef>
                <a:spcPts val="600"/>
              </a:spcBef>
              <a:spcAft>
                <a:spcPts val="0"/>
              </a:spcAft>
              <a:buSzPts val="2100"/>
              <a:buNone/>
              <a:defRPr sz="2100"/>
            </a:lvl3pPr>
            <a:lvl4pPr lvl="3" rtl="0" algn="ctr">
              <a:lnSpc>
                <a:spcPct val="100000"/>
              </a:lnSpc>
              <a:spcBef>
                <a:spcPts val="600"/>
              </a:spcBef>
              <a:spcAft>
                <a:spcPts val="0"/>
              </a:spcAft>
              <a:buSzPts val="2100"/>
              <a:buNone/>
              <a:defRPr sz="2100"/>
            </a:lvl4pPr>
            <a:lvl5pPr lvl="4" rtl="0" algn="ctr">
              <a:lnSpc>
                <a:spcPct val="100000"/>
              </a:lnSpc>
              <a:spcBef>
                <a:spcPts val="600"/>
              </a:spcBef>
              <a:spcAft>
                <a:spcPts val="0"/>
              </a:spcAft>
              <a:buSzPts val="2100"/>
              <a:buNone/>
              <a:defRPr sz="2100"/>
            </a:lvl5pPr>
            <a:lvl6pPr lvl="5" rtl="0" algn="ctr">
              <a:lnSpc>
                <a:spcPct val="100000"/>
              </a:lnSpc>
              <a:spcBef>
                <a:spcPts val="600"/>
              </a:spcBef>
              <a:spcAft>
                <a:spcPts val="0"/>
              </a:spcAft>
              <a:buSzPts val="2100"/>
              <a:buNone/>
              <a:defRPr sz="2100"/>
            </a:lvl6pPr>
            <a:lvl7pPr lvl="6" rtl="0" algn="ctr">
              <a:lnSpc>
                <a:spcPct val="100000"/>
              </a:lnSpc>
              <a:spcBef>
                <a:spcPts val="600"/>
              </a:spcBef>
              <a:spcAft>
                <a:spcPts val="0"/>
              </a:spcAft>
              <a:buSzPts val="2100"/>
              <a:buNone/>
              <a:defRPr sz="2100"/>
            </a:lvl7pPr>
            <a:lvl8pPr lvl="7" rtl="0" algn="ctr">
              <a:lnSpc>
                <a:spcPct val="100000"/>
              </a:lnSpc>
              <a:spcBef>
                <a:spcPts val="600"/>
              </a:spcBef>
              <a:spcAft>
                <a:spcPts val="0"/>
              </a:spcAft>
              <a:buSzPts val="2100"/>
              <a:buNone/>
              <a:defRPr sz="2100"/>
            </a:lvl8pPr>
            <a:lvl9pPr lvl="8" rtl="0" algn="ctr">
              <a:lnSpc>
                <a:spcPct val="100000"/>
              </a:lnSpc>
              <a:spcBef>
                <a:spcPts val="600"/>
              </a:spcBef>
              <a:spcAft>
                <a:spcPts val="0"/>
              </a:spcAft>
              <a:buSzPts val="2100"/>
              <a:buNone/>
              <a:defRPr sz="2100"/>
            </a:lvl9pPr>
          </a:lstStyle>
          <a:p/>
        </p:txBody>
      </p:sp>
      <p:sp>
        <p:nvSpPr>
          <p:cNvPr id="32" name="Google Shape;32;p6"/>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33" name="Google Shape;33;p6"/>
          <p:cNvSpPr txBox="1"/>
          <p:nvPr/>
        </p:nvSpPr>
        <p:spPr>
          <a:xfrm>
            <a:off x="6365900" y="3724875"/>
            <a:ext cx="2591100" cy="5694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b="1" lang="en" sz="2500">
                <a:solidFill>
                  <a:schemeClr val="accent3"/>
                </a:solidFill>
                <a:latin typeface="Roboto"/>
                <a:ea typeface="Roboto"/>
                <a:cs typeface="Roboto"/>
                <a:sym typeface="Roboto"/>
              </a:rPr>
              <a:t>Demo Slides</a:t>
            </a:r>
            <a:endParaRPr b="1" sz="2500">
              <a:solidFill>
                <a:schemeClr val="accent3"/>
              </a:solidFill>
              <a:latin typeface="Roboto"/>
              <a:ea typeface="Roboto"/>
              <a:cs typeface="Roboto"/>
              <a:sym typeface="Roboto"/>
            </a:endParaRPr>
          </a:p>
        </p:txBody>
      </p:sp>
      <p:sp>
        <p:nvSpPr>
          <p:cNvPr id="34" name="Google Shape;34;p6"/>
          <p:cNvSpPr txBox="1"/>
          <p:nvPr>
            <p:ph idx="2" type="body"/>
          </p:nvPr>
        </p:nvSpPr>
        <p:spPr>
          <a:xfrm>
            <a:off x="95425" y="402200"/>
            <a:ext cx="4302300" cy="42612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Font typeface="Roboto Light"/>
              <a:buChar char="•"/>
              <a:defRPr>
                <a:latin typeface="Roboto Light"/>
                <a:ea typeface="Roboto Light"/>
                <a:cs typeface="Roboto Light"/>
                <a:sym typeface="Roboto Light"/>
              </a:defRPr>
            </a:lvl1pPr>
            <a:lvl2pPr indent="-342900" lvl="1" marL="914400" rtl="0">
              <a:spcBef>
                <a:spcPts val="600"/>
              </a:spcBef>
              <a:spcAft>
                <a:spcPts val="0"/>
              </a:spcAft>
              <a:buSzPts val="1800"/>
              <a:buFont typeface="Roboto Light"/>
              <a:buChar char="•"/>
              <a:defRPr>
                <a:latin typeface="Roboto Light"/>
                <a:ea typeface="Roboto Light"/>
                <a:cs typeface="Roboto Light"/>
                <a:sym typeface="Roboto Light"/>
              </a:defRPr>
            </a:lvl2pPr>
            <a:lvl3pPr indent="-342900" lvl="2" marL="1371600" rtl="0">
              <a:spcBef>
                <a:spcPts val="600"/>
              </a:spcBef>
              <a:spcAft>
                <a:spcPts val="0"/>
              </a:spcAft>
              <a:buSzPts val="1800"/>
              <a:buFont typeface="Roboto Light"/>
              <a:buChar char="•"/>
              <a:defRPr>
                <a:latin typeface="Roboto Light"/>
                <a:ea typeface="Roboto Light"/>
                <a:cs typeface="Roboto Light"/>
                <a:sym typeface="Roboto Light"/>
              </a:defRPr>
            </a:lvl3pPr>
            <a:lvl4pPr indent="-342900" lvl="3" marL="1828800" rtl="0">
              <a:spcBef>
                <a:spcPts val="600"/>
              </a:spcBef>
              <a:spcAft>
                <a:spcPts val="0"/>
              </a:spcAft>
              <a:buSzPts val="1800"/>
              <a:buFont typeface="Roboto Light"/>
              <a:buChar char="•"/>
              <a:defRPr>
                <a:latin typeface="Roboto Light"/>
                <a:ea typeface="Roboto Light"/>
                <a:cs typeface="Roboto Light"/>
                <a:sym typeface="Roboto Light"/>
              </a:defRPr>
            </a:lvl4pPr>
            <a:lvl5pPr indent="-342900" lvl="4" marL="2286000" rtl="0">
              <a:spcBef>
                <a:spcPts val="600"/>
              </a:spcBef>
              <a:spcAft>
                <a:spcPts val="0"/>
              </a:spcAft>
              <a:buSzPts val="1800"/>
              <a:buFont typeface="Roboto Light"/>
              <a:buChar char="•"/>
              <a:defRPr>
                <a:latin typeface="Roboto Light"/>
                <a:ea typeface="Roboto Light"/>
                <a:cs typeface="Roboto Light"/>
                <a:sym typeface="Roboto Light"/>
              </a:defRPr>
            </a:lvl5pPr>
            <a:lvl6pPr indent="-342900" lvl="5" marL="2743200" rtl="0">
              <a:spcBef>
                <a:spcPts val="600"/>
              </a:spcBef>
              <a:spcAft>
                <a:spcPts val="0"/>
              </a:spcAft>
              <a:buSzPts val="1800"/>
              <a:buFont typeface="Roboto Light"/>
              <a:buChar char="•"/>
              <a:defRPr>
                <a:latin typeface="Roboto Light"/>
                <a:ea typeface="Roboto Light"/>
                <a:cs typeface="Roboto Light"/>
                <a:sym typeface="Roboto Light"/>
              </a:defRPr>
            </a:lvl6pPr>
            <a:lvl7pPr indent="-342900" lvl="6" marL="3200400" rtl="0">
              <a:spcBef>
                <a:spcPts val="600"/>
              </a:spcBef>
              <a:spcAft>
                <a:spcPts val="0"/>
              </a:spcAft>
              <a:buSzPts val="1800"/>
              <a:buFont typeface="Roboto Light"/>
              <a:buChar char="•"/>
              <a:defRPr>
                <a:latin typeface="Roboto Light"/>
                <a:ea typeface="Roboto Light"/>
                <a:cs typeface="Roboto Light"/>
                <a:sym typeface="Roboto Light"/>
              </a:defRPr>
            </a:lvl7pPr>
            <a:lvl8pPr indent="-342900" lvl="7" marL="3657600" rtl="0">
              <a:spcBef>
                <a:spcPts val="600"/>
              </a:spcBef>
              <a:spcAft>
                <a:spcPts val="0"/>
              </a:spcAft>
              <a:buSzPts val="1800"/>
              <a:buFont typeface="Roboto Light"/>
              <a:buChar char="•"/>
              <a:defRPr>
                <a:latin typeface="Roboto Light"/>
                <a:ea typeface="Roboto Light"/>
                <a:cs typeface="Roboto Light"/>
                <a:sym typeface="Roboto Light"/>
              </a:defRPr>
            </a:lvl8pPr>
            <a:lvl9pPr indent="-342900" lvl="8" marL="4114800" rtl="0">
              <a:spcBef>
                <a:spcPts val="600"/>
              </a:spcBef>
              <a:spcAft>
                <a:spcPts val="0"/>
              </a:spcAft>
              <a:buSzPts val="1800"/>
              <a:buFont typeface="Roboto Light"/>
              <a:buChar char="•"/>
              <a:defRPr>
                <a:latin typeface="Roboto Light"/>
                <a:ea typeface="Roboto Light"/>
                <a:cs typeface="Roboto Light"/>
                <a:sym typeface="Roboto Light"/>
              </a:defRPr>
            </a:lvl9pPr>
          </a:lstStyle>
          <a:p/>
        </p:txBody>
      </p:sp>
      <p:sp>
        <p:nvSpPr>
          <p:cNvPr id="35" name="Google Shape;35;p6"/>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cxnSp>
        <p:nvCxnSpPr>
          <p:cNvPr id="36" name="Google Shape;36;p6"/>
          <p:cNvCxnSpPr/>
          <p:nvPr/>
        </p:nvCxnSpPr>
        <p:spPr>
          <a:xfrm>
            <a:off x="95431" y="402210"/>
            <a:ext cx="4352100" cy="0"/>
          </a:xfrm>
          <a:prstGeom prst="straightConnector1">
            <a:avLst/>
          </a:prstGeom>
          <a:noFill/>
          <a:ln cap="flat" cmpd="sng" w="19050">
            <a:solidFill>
              <a:srgbClr val="BF9000"/>
            </a:solidFill>
            <a:prstDash val="solid"/>
            <a:round/>
            <a:headEnd len="med" w="med" type="none"/>
            <a:tailEnd len="med" w="med" type="none"/>
          </a:ln>
        </p:spPr>
      </p:cxn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mo slide left">
  <p:cSld name="SECTION_TITLE_AND_DESCRIPTION_2_1">
    <p:spTree>
      <p:nvGrpSpPr>
        <p:cNvPr id="37" name="Shape 37"/>
        <p:cNvGrpSpPr/>
        <p:nvPr/>
      </p:nvGrpSpPr>
      <p:grpSpPr>
        <a:xfrm>
          <a:off x="0" y="0"/>
          <a:ext cx="0" cy="0"/>
          <a:chOff x="0" y="0"/>
          <a:chExt cx="0" cy="0"/>
        </a:xfrm>
      </p:grpSpPr>
      <p:sp>
        <p:nvSpPr>
          <p:cNvPr id="38" name="Google Shape;38;p7"/>
          <p:cNvSpPr/>
          <p:nvPr/>
        </p:nvSpPr>
        <p:spPr>
          <a:xfrm>
            <a:off x="0" y="-125"/>
            <a:ext cx="4572000" cy="5143500"/>
          </a:xfrm>
          <a:prstGeom prst="rect">
            <a:avLst/>
          </a:prstGeom>
          <a:solidFill>
            <a:srgbClr val="FDF6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7"/>
          <p:cNvSpPr txBox="1"/>
          <p:nvPr>
            <p:ph idx="1" type="subTitle"/>
          </p:nvPr>
        </p:nvSpPr>
        <p:spPr>
          <a:xfrm>
            <a:off x="225450" y="3943400"/>
            <a:ext cx="4045200" cy="465000"/>
          </a:xfrm>
          <a:prstGeom prst="rect">
            <a:avLst/>
          </a:prstGeom>
        </p:spPr>
        <p:txBody>
          <a:bodyPr anchorCtr="0" anchor="t" bIns="91425" lIns="91425" spcFirstLastPara="1" rIns="91425" wrap="square" tIns="91425">
            <a:noAutofit/>
          </a:bodyPr>
          <a:lstStyle>
            <a:lvl1pPr lvl="0" rtl="0">
              <a:lnSpc>
                <a:spcPct val="100000"/>
              </a:lnSpc>
              <a:spcBef>
                <a:spcPts val="600"/>
              </a:spcBef>
              <a:spcAft>
                <a:spcPts val="0"/>
              </a:spcAft>
              <a:buSzPts val="1800"/>
              <a:buNone/>
              <a:defRPr/>
            </a:lvl1pPr>
            <a:lvl2pPr lvl="1" rtl="0" algn="ctr">
              <a:lnSpc>
                <a:spcPct val="100000"/>
              </a:lnSpc>
              <a:spcBef>
                <a:spcPts val="600"/>
              </a:spcBef>
              <a:spcAft>
                <a:spcPts val="0"/>
              </a:spcAft>
              <a:buSzPts val="2100"/>
              <a:buNone/>
              <a:defRPr sz="2100"/>
            </a:lvl2pPr>
            <a:lvl3pPr lvl="2" rtl="0" algn="ctr">
              <a:lnSpc>
                <a:spcPct val="100000"/>
              </a:lnSpc>
              <a:spcBef>
                <a:spcPts val="600"/>
              </a:spcBef>
              <a:spcAft>
                <a:spcPts val="0"/>
              </a:spcAft>
              <a:buSzPts val="2100"/>
              <a:buNone/>
              <a:defRPr sz="2100"/>
            </a:lvl3pPr>
            <a:lvl4pPr lvl="3" rtl="0" algn="ctr">
              <a:lnSpc>
                <a:spcPct val="100000"/>
              </a:lnSpc>
              <a:spcBef>
                <a:spcPts val="600"/>
              </a:spcBef>
              <a:spcAft>
                <a:spcPts val="0"/>
              </a:spcAft>
              <a:buSzPts val="2100"/>
              <a:buNone/>
              <a:defRPr sz="2100"/>
            </a:lvl4pPr>
            <a:lvl5pPr lvl="4" rtl="0" algn="ctr">
              <a:lnSpc>
                <a:spcPct val="100000"/>
              </a:lnSpc>
              <a:spcBef>
                <a:spcPts val="600"/>
              </a:spcBef>
              <a:spcAft>
                <a:spcPts val="0"/>
              </a:spcAft>
              <a:buSzPts val="2100"/>
              <a:buNone/>
              <a:defRPr sz="2100"/>
            </a:lvl5pPr>
            <a:lvl6pPr lvl="5" rtl="0" algn="ctr">
              <a:lnSpc>
                <a:spcPct val="100000"/>
              </a:lnSpc>
              <a:spcBef>
                <a:spcPts val="600"/>
              </a:spcBef>
              <a:spcAft>
                <a:spcPts val="0"/>
              </a:spcAft>
              <a:buSzPts val="2100"/>
              <a:buNone/>
              <a:defRPr sz="2100"/>
            </a:lvl6pPr>
            <a:lvl7pPr lvl="6" rtl="0" algn="ctr">
              <a:lnSpc>
                <a:spcPct val="100000"/>
              </a:lnSpc>
              <a:spcBef>
                <a:spcPts val="600"/>
              </a:spcBef>
              <a:spcAft>
                <a:spcPts val="0"/>
              </a:spcAft>
              <a:buSzPts val="2100"/>
              <a:buNone/>
              <a:defRPr sz="2100"/>
            </a:lvl7pPr>
            <a:lvl8pPr lvl="7" rtl="0" algn="ctr">
              <a:lnSpc>
                <a:spcPct val="100000"/>
              </a:lnSpc>
              <a:spcBef>
                <a:spcPts val="600"/>
              </a:spcBef>
              <a:spcAft>
                <a:spcPts val="0"/>
              </a:spcAft>
              <a:buSzPts val="2100"/>
              <a:buNone/>
              <a:defRPr sz="2100"/>
            </a:lvl8pPr>
            <a:lvl9pPr lvl="8" rtl="0" algn="ctr">
              <a:lnSpc>
                <a:spcPct val="100000"/>
              </a:lnSpc>
              <a:spcBef>
                <a:spcPts val="600"/>
              </a:spcBef>
              <a:spcAft>
                <a:spcPts val="0"/>
              </a:spcAft>
              <a:buSzPts val="2100"/>
              <a:buNone/>
              <a:defRPr sz="2100"/>
            </a:lvl9pPr>
          </a:lstStyle>
          <a:p/>
        </p:txBody>
      </p:sp>
      <p:sp>
        <p:nvSpPr>
          <p:cNvPr id="40" name="Google Shape;40;p7"/>
          <p:cNvSpPr txBox="1"/>
          <p:nvPr/>
        </p:nvSpPr>
        <p:spPr>
          <a:xfrm>
            <a:off x="208440" y="3420075"/>
            <a:ext cx="41217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2500">
                <a:solidFill>
                  <a:schemeClr val="accent3"/>
                </a:solidFill>
                <a:latin typeface="Roboto"/>
                <a:ea typeface="Roboto"/>
                <a:cs typeface="Roboto"/>
                <a:sym typeface="Roboto"/>
              </a:rPr>
              <a:t>Demo Slides</a:t>
            </a:r>
            <a:endParaRPr b="1" sz="2500">
              <a:solidFill>
                <a:schemeClr val="accent3"/>
              </a:solidFill>
              <a:latin typeface="Roboto"/>
              <a:ea typeface="Roboto"/>
              <a:cs typeface="Roboto"/>
              <a:sym typeface="Roboto"/>
            </a:endParaRPr>
          </a:p>
        </p:txBody>
      </p:sp>
      <p:sp>
        <p:nvSpPr>
          <p:cNvPr id="41" name="Google Shape;41;p7"/>
          <p:cNvSpPr txBox="1"/>
          <p:nvPr>
            <p:ph idx="2" type="body"/>
          </p:nvPr>
        </p:nvSpPr>
        <p:spPr>
          <a:xfrm>
            <a:off x="4667425" y="402200"/>
            <a:ext cx="4302300" cy="42612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Font typeface="Roboto Light"/>
              <a:buChar char="•"/>
              <a:defRPr>
                <a:latin typeface="Roboto Light"/>
                <a:ea typeface="Roboto Light"/>
                <a:cs typeface="Roboto Light"/>
                <a:sym typeface="Roboto Light"/>
              </a:defRPr>
            </a:lvl1pPr>
            <a:lvl2pPr indent="-342900" lvl="1" marL="914400" rtl="0">
              <a:spcBef>
                <a:spcPts val="600"/>
              </a:spcBef>
              <a:spcAft>
                <a:spcPts val="0"/>
              </a:spcAft>
              <a:buSzPts val="1800"/>
              <a:buFont typeface="Roboto Light"/>
              <a:buChar char="•"/>
              <a:defRPr>
                <a:latin typeface="Roboto Light"/>
                <a:ea typeface="Roboto Light"/>
                <a:cs typeface="Roboto Light"/>
                <a:sym typeface="Roboto Light"/>
              </a:defRPr>
            </a:lvl2pPr>
            <a:lvl3pPr indent="-342900" lvl="2" marL="1371600" rtl="0">
              <a:spcBef>
                <a:spcPts val="600"/>
              </a:spcBef>
              <a:spcAft>
                <a:spcPts val="0"/>
              </a:spcAft>
              <a:buSzPts val="1800"/>
              <a:buFont typeface="Roboto Light"/>
              <a:buChar char="•"/>
              <a:defRPr>
                <a:latin typeface="Roboto Light"/>
                <a:ea typeface="Roboto Light"/>
                <a:cs typeface="Roboto Light"/>
                <a:sym typeface="Roboto Light"/>
              </a:defRPr>
            </a:lvl3pPr>
            <a:lvl4pPr indent="-342900" lvl="3" marL="1828800" rtl="0">
              <a:spcBef>
                <a:spcPts val="600"/>
              </a:spcBef>
              <a:spcAft>
                <a:spcPts val="0"/>
              </a:spcAft>
              <a:buSzPts val="1800"/>
              <a:buFont typeface="Roboto Light"/>
              <a:buChar char="•"/>
              <a:defRPr>
                <a:latin typeface="Roboto Light"/>
                <a:ea typeface="Roboto Light"/>
                <a:cs typeface="Roboto Light"/>
                <a:sym typeface="Roboto Light"/>
              </a:defRPr>
            </a:lvl4pPr>
            <a:lvl5pPr indent="-342900" lvl="4" marL="2286000" rtl="0">
              <a:spcBef>
                <a:spcPts val="600"/>
              </a:spcBef>
              <a:spcAft>
                <a:spcPts val="0"/>
              </a:spcAft>
              <a:buSzPts val="1800"/>
              <a:buFont typeface="Roboto Light"/>
              <a:buChar char="•"/>
              <a:defRPr>
                <a:latin typeface="Roboto Light"/>
                <a:ea typeface="Roboto Light"/>
                <a:cs typeface="Roboto Light"/>
                <a:sym typeface="Roboto Light"/>
              </a:defRPr>
            </a:lvl5pPr>
            <a:lvl6pPr indent="-342900" lvl="5" marL="2743200" rtl="0">
              <a:spcBef>
                <a:spcPts val="600"/>
              </a:spcBef>
              <a:spcAft>
                <a:spcPts val="0"/>
              </a:spcAft>
              <a:buSzPts val="1800"/>
              <a:buFont typeface="Roboto Light"/>
              <a:buChar char="•"/>
              <a:defRPr>
                <a:latin typeface="Roboto Light"/>
                <a:ea typeface="Roboto Light"/>
                <a:cs typeface="Roboto Light"/>
                <a:sym typeface="Roboto Light"/>
              </a:defRPr>
            </a:lvl6pPr>
            <a:lvl7pPr indent="-342900" lvl="6" marL="3200400" rtl="0">
              <a:spcBef>
                <a:spcPts val="600"/>
              </a:spcBef>
              <a:spcAft>
                <a:spcPts val="0"/>
              </a:spcAft>
              <a:buSzPts val="1800"/>
              <a:buFont typeface="Roboto Light"/>
              <a:buChar char="•"/>
              <a:defRPr>
                <a:latin typeface="Roboto Light"/>
                <a:ea typeface="Roboto Light"/>
                <a:cs typeface="Roboto Light"/>
                <a:sym typeface="Roboto Light"/>
              </a:defRPr>
            </a:lvl7pPr>
            <a:lvl8pPr indent="-342900" lvl="7" marL="3657600" rtl="0">
              <a:spcBef>
                <a:spcPts val="600"/>
              </a:spcBef>
              <a:spcAft>
                <a:spcPts val="0"/>
              </a:spcAft>
              <a:buSzPts val="1800"/>
              <a:buFont typeface="Roboto Light"/>
              <a:buChar char="•"/>
              <a:defRPr>
                <a:latin typeface="Roboto Light"/>
                <a:ea typeface="Roboto Light"/>
                <a:cs typeface="Roboto Light"/>
                <a:sym typeface="Roboto Light"/>
              </a:defRPr>
            </a:lvl8pPr>
            <a:lvl9pPr indent="-342900" lvl="8" marL="4114800" rtl="0">
              <a:spcBef>
                <a:spcPts val="600"/>
              </a:spcBef>
              <a:spcAft>
                <a:spcPts val="0"/>
              </a:spcAft>
              <a:buSzPts val="1800"/>
              <a:buFont typeface="Roboto Light"/>
              <a:buChar char="•"/>
              <a:defRPr>
                <a:latin typeface="Roboto Light"/>
                <a:ea typeface="Roboto Light"/>
                <a:cs typeface="Roboto Light"/>
                <a:sym typeface="Roboto Light"/>
              </a:defRPr>
            </a:lvl9pPr>
          </a:lstStyle>
          <a:p/>
        </p:txBody>
      </p:sp>
      <p:sp>
        <p:nvSpPr>
          <p:cNvPr id="42" name="Google Shape;42;p7"/>
          <p:cNvSpPr txBox="1"/>
          <p:nvPr>
            <p:ph type="title"/>
          </p:nvPr>
        </p:nvSpPr>
        <p:spPr>
          <a:xfrm>
            <a:off x="4572000" y="0"/>
            <a:ext cx="4572000" cy="393600"/>
          </a:xfrm>
          <a:prstGeom prst="rect">
            <a:avLst/>
          </a:prstGeom>
        </p:spPr>
        <p:txBody>
          <a:bodyPr anchorCtr="0" anchor="t" bIns="91425" lIns="91425" spcFirstLastPara="1" rIns="91425" wrap="square" tIns="91425">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cxnSp>
        <p:nvCxnSpPr>
          <p:cNvPr id="43" name="Google Shape;43;p7"/>
          <p:cNvCxnSpPr/>
          <p:nvPr/>
        </p:nvCxnSpPr>
        <p:spPr>
          <a:xfrm>
            <a:off x="4667431" y="402210"/>
            <a:ext cx="4352100" cy="0"/>
          </a:xfrm>
          <a:prstGeom prst="straightConnector1">
            <a:avLst/>
          </a:prstGeom>
          <a:noFill/>
          <a:ln cap="flat" cmpd="sng" w="19050">
            <a:solidFill>
              <a:srgbClr val="BF9000"/>
            </a:solidFill>
            <a:prstDash val="solid"/>
            <a:round/>
            <a:headEnd len="med" w="med" type="none"/>
            <a:tailEnd len="med" w="med" type="none"/>
          </a:ln>
        </p:spPr>
      </p:cxnSp>
      <p:pic>
        <p:nvPicPr>
          <p:cNvPr id="44" name="Google Shape;44;p7"/>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45" name="Google Shape;45;p7"/>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ide Puzzle">
  <p:cSld name="SECTION_TITLE_AND_DESCRIPTION_2_1_1">
    <p:spTree>
      <p:nvGrpSpPr>
        <p:cNvPr id="46" name="Shape 46"/>
        <p:cNvGrpSpPr/>
        <p:nvPr/>
      </p:nvGrpSpPr>
      <p:grpSpPr>
        <a:xfrm>
          <a:off x="0" y="0"/>
          <a:ext cx="0" cy="0"/>
          <a:chOff x="0" y="0"/>
          <a:chExt cx="0" cy="0"/>
        </a:xfrm>
      </p:grpSpPr>
      <p:sp>
        <p:nvSpPr>
          <p:cNvPr id="47" name="Google Shape;47;p8"/>
          <p:cNvSpPr/>
          <p:nvPr/>
        </p:nvSpPr>
        <p:spPr>
          <a:xfrm>
            <a:off x="0" y="-125"/>
            <a:ext cx="2776500" cy="5143500"/>
          </a:xfrm>
          <a:prstGeom prst="rect">
            <a:avLst/>
          </a:prstGeom>
          <a:solidFill>
            <a:srgbClr val="FDF6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48;p8"/>
          <p:cNvSpPr txBox="1"/>
          <p:nvPr>
            <p:ph idx="1" type="subTitle"/>
          </p:nvPr>
        </p:nvSpPr>
        <p:spPr>
          <a:xfrm>
            <a:off x="225450" y="3943400"/>
            <a:ext cx="2450400" cy="719700"/>
          </a:xfrm>
          <a:prstGeom prst="rect">
            <a:avLst/>
          </a:prstGeom>
        </p:spPr>
        <p:txBody>
          <a:bodyPr anchorCtr="0" anchor="t" bIns="91425" lIns="91425" spcFirstLastPara="1" rIns="91425" wrap="square" tIns="91425">
            <a:noAutofit/>
          </a:bodyPr>
          <a:lstStyle>
            <a:lvl1pPr lvl="0" rtl="0">
              <a:lnSpc>
                <a:spcPct val="100000"/>
              </a:lnSpc>
              <a:spcBef>
                <a:spcPts val="600"/>
              </a:spcBef>
              <a:spcAft>
                <a:spcPts val="0"/>
              </a:spcAft>
              <a:buSzPts val="1800"/>
              <a:buNone/>
              <a:defRPr/>
            </a:lvl1pPr>
            <a:lvl2pPr lvl="1" rtl="0" algn="ctr">
              <a:lnSpc>
                <a:spcPct val="100000"/>
              </a:lnSpc>
              <a:spcBef>
                <a:spcPts val="600"/>
              </a:spcBef>
              <a:spcAft>
                <a:spcPts val="0"/>
              </a:spcAft>
              <a:buSzPts val="2100"/>
              <a:buNone/>
              <a:defRPr sz="2100"/>
            </a:lvl2pPr>
            <a:lvl3pPr lvl="2" rtl="0" algn="ctr">
              <a:lnSpc>
                <a:spcPct val="100000"/>
              </a:lnSpc>
              <a:spcBef>
                <a:spcPts val="600"/>
              </a:spcBef>
              <a:spcAft>
                <a:spcPts val="0"/>
              </a:spcAft>
              <a:buSzPts val="2100"/>
              <a:buNone/>
              <a:defRPr sz="2100"/>
            </a:lvl3pPr>
            <a:lvl4pPr lvl="3" rtl="0" algn="ctr">
              <a:lnSpc>
                <a:spcPct val="100000"/>
              </a:lnSpc>
              <a:spcBef>
                <a:spcPts val="600"/>
              </a:spcBef>
              <a:spcAft>
                <a:spcPts val="0"/>
              </a:spcAft>
              <a:buSzPts val="2100"/>
              <a:buNone/>
              <a:defRPr sz="2100"/>
            </a:lvl4pPr>
            <a:lvl5pPr lvl="4" rtl="0" algn="ctr">
              <a:lnSpc>
                <a:spcPct val="100000"/>
              </a:lnSpc>
              <a:spcBef>
                <a:spcPts val="600"/>
              </a:spcBef>
              <a:spcAft>
                <a:spcPts val="0"/>
              </a:spcAft>
              <a:buSzPts val="2100"/>
              <a:buNone/>
              <a:defRPr sz="2100"/>
            </a:lvl5pPr>
            <a:lvl6pPr lvl="5" rtl="0" algn="ctr">
              <a:lnSpc>
                <a:spcPct val="100000"/>
              </a:lnSpc>
              <a:spcBef>
                <a:spcPts val="600"/>
              </a:spcBef>
              <a:spcAft>
                <a:spcPts val="0"/>
              </a:spcAft>
              <a:buSzPts val="2100"/>
              <a:buNone/>
              <a:defRPr sz="2100"/>
            </a:lvl6pPr>
            <a:lvl7pPr lvl="6" rtl="0" algn="ctr">
              <a:lnSpc>
                <a:spcPct val="100000"/>
              </a:lnSpc>
              <a:spcBef>
                <a:spcPts val="600"/>
              </a:spcBef>
              <a:spcAft>
                <a:spcPts val="0"/>
              </a:spcAft>
              <a:buSzPts val="2100"/>
              <a:buNone/>
              <a:defRPr sz="2100"/>
            </a:lvl7pPr>
            <a:lvl8pPr lvl="7" rtl="0" algn="ctr">
              <a:lnSpc>
                <a:spcPct val="100000"/>
              </a:lnSpc>
              <a:spcBef>
                <a:spcPts val="600"/>
              </a:spcBef>
              <a:spcAft>
                <a:spcPts val="0"/>
              </a:spcAft>
              <a:buSzPts val="2100"/>
              <a:buNone/>
              <a:defRPr sz="2100"/>
            </a:lvl8pPr>
            <a:lvl9pPr lvl="8" rtl="0" algn="ctr">
              <a:lnSpc>
                <a:spcPct val="100000"/>
              </a:lnSpc>
              <a:spcBef>
                <a:spcPts val="600"/>
              </a:spcBef>
              <a:spcAft>
                <a:spcPts val="0"/>
              </a:spcAft>
              <a:buSzPts val="2100"/>
              <a:buNone/>
              <a:defRPr sz="2100"/>
            </a:lvl9pPr>
          </a:lstStyle>
          <a:p/>
        </p:txBody>
      </p:sp>
      <p:sp>
        <p:nvSpPr>
          <p:cNvPr id="49" name="Google Shape;49;p8"/>
          <p:cNvSpPr txBox="1"/>
          <p:nvPr>
            <p:ph idx="2" type="body"/>
          </p:nvPr>
        </p:nvSpPr>
        <p:spPr>
          <a:xfrm>
            <a:off x="2937350" y="402200"/>
            <a:ext cx="6032400" cy="42612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Font typeface="Roboto Light"/>
              <a:buChar char="•"/>
              <a:defRPr>
                <a:latin typeface="Roboto Light"/>
                <a:ea typeface="Roboto Light"/>
                <a:cs typeface="Roboto Light"/>
                <a:sym typeface="Roboto Light"/>
              </a:defRPr>
            </a:lvl1pPr>
            <a:lvl2pPr indent="-342900" lvl="1" marL="914400" rtl="0">
              <a:spcBef>
                <a:spcPts val="600"/>
              </a:spcBef>
              <a:spcAft>
                <a:spcPts val="0"/>
              </a:spcAft>
              <a:buSzPts val="1800"/>
              <a:buFont typeface="Roboto Light"/>
              <a:buChar char="•"/>
              <a:defRPr>
                <a:latin typeface="Roboto Light"/>
                <a:ea typeface="Roboto Light"/>
                <a:cs typeface="Roboto Light"/>
                <a:sym typeface="Roboto Light"/>
              </a:defRPr>
            </a:lvl2pPr>
            <a:lvl3pPr indent="-342900" lvl="2" marL="1371600" rtl="0">
              <a:spcBef>
                <a:spcPts val="600"/>
              </a:spcBef>
              <a:spcAft>
                <a:spcPts val="0"/>
              </a:spcAft>
              <a:buSzPts val="1800"/>
              <a:buFont typeface="Roboto Light"/>
              <a:buChar char="•"/>
              <a:defRPr>
                <a:latin typeface="Roboto Light"/>
                <a:ea typeface="Roboto Light"/>
                <a:cs typeface="Roboto Light"/>
                <a:sym typeface="Roboto Light"/>
              </a:defRPr>
            </a:lvl3pPr>
            <a:lvl4pPr indent="-342900" lvl="3" marL="1828800" rtl="0">
              <a:spcBef>
                <a:spcPts val="600"/>
              </a:spcBef>
              <a:spcAft>
                <a:spcPts val="0"/>
              </a:spcAft>
              <a:buSzPts val="1800"/>
              <a:buFont typeface="Roboto Light"/>
              <a:buChar char="•"/>
              <a:defRPr>
                <a:latin typeface="Roboto Light"/>
                <a:ea typeface="Roboto Light"/>
                <a:cs typeface="Roboto Light"/>
                <a:sym typeface="Roboto Light"/>
              </a:defRPr>
            </a:lvl4pPr>
            <a:lvl5pPr indent="-342900" lvl="4" marL="2286000" rtl="0">
              <a:spcBef>
                <a:spcPts val="600"/>
              </a:spcBef>
              <a:spcAft>
                <a:spcPts val="0"/>
              </a:spcAft>
              <a:buSzPts val="1800"/>
              <a:buFont typeface="Roboto Light"/>
              <a:buChar char="•"/>
              <a:defRPr>
                <a:latin typeface="Roboto Light"/>
                <a:ea typeface="Roboto Light"/>
                <a:cs typeface="Roboto Light"/>
                <a:sym typeface="Roboto Light"/>
              </a:defRPr>
            </a:lvl5pPr>
            <a:lvl6pPr indent="-342900" lvl="5" marL="2743200" rtl="0">
              <a:spcBef>
                <a:spcPts val="600"/>
              </a:spcBef>
              <a:spcAft>
                <a:spcPts val="0"/>
              </a:spcAft>
              <a:buSzPts val="1800"/>
              <a:buFont typeface="Roboto Light"/>
              <a:buChar char="•"/>
              <a:defRPr>
                <a:latin typeface="Roboto Light"/>
                <a:ea typeface="Roboto Light"/>
                <a:cs typeface="Roboto Light"/>
                <a:sym typeface="Roboto Light"/>
              </a:defRPr>
            </a:lvl6pPr>
            <a:lvl7pPr indent="-342900" lvl="6" marL="3200400" rtl="0">
              <a:spcBef>
                <a:spcPts val="600"/>
              </a:spcBef>
              <a:spcAft>
                <a:spcPts val="0"/>
              </a:spcAft>
              <a:buSzPts val="1800"/>
              <a:buFont typeface="Roboto Light"/>
              <a:buChar char="•"/>
              <a:defRPr>
                <a:latin typeface="Roboto Light"/>
                <a:ea typeface="Roboto Light"/>
                <a:cs typeface="Roboto Light"/>
                <a:sym typeface="Roboto Light"/>
              </a:defRPr>
            </a:lvl7pPr>
            <a:lvl8pPr indent="-342900" lvl="7" marL="3657600" rtl="0">
              <a:spcBef>
                <a:spcPts val="600"/>
              </a:spcBef>
              <a:spcAft>
                <a:spcPts val="0"/>
              </a:spcAft>
              <a:buSzPts val="1800"/>
              <a:buFont typeface="Roboto Light"/>
              <a:buChar char="•"/>
              <a:defRPr>
                <a:latin typeface="Roboto Light"/>
                <a:ea typeface="Roboto Light"/>
                <a:cs typeface="Roboto Light"/>
                <a:sym typeface="Roboto Light"/>
              </a:defRPr>
            </a:lvl8pPr>
            <a:lvl9pPr indent="-342900" lvl="8" marL="4114800" rtl="0">
              <a:spcBef>
                <a:spcPts val="600"/>
              </a:spcBef>
              <a:spcAft>
                <a:spcPts val="0"/>
              </a:spcAft>
              <a:buSzPts val="1800"/>
              <a:buFont typeface="Roboto Light"/>
              <a:buChar char="•"/>
              <a:defRPr>
                <a:latin typeface="Roboto Light"/>
                <a:ea typeface="Roboto Light"/>
                <a:cs typeface="Roboto Light"/>
                <a:sym typeface="Roboto Light"/>
              </a:defRPr>
            </a:lvl9pPr>
          </a:lstStyle>
          <a:p/>
        </p:txBody>
      </p:sp>
      <p:sp>
        <p:nvSpPr>
          <p:cNvPr id="50" name="Google Shape;50;p8"/>
          <p:cNvSpPr txBox="1"/>
          <p:nvPr>
            <p:ph type="title"/>
          </p:nvPr>
        </p:nvSpPr>
        <p:spPr>
          <a:xfrm>
            <a:off x="2776500" y="0"/>
            <a:ext cx="6367500" cy="393600"/>
          </a:xfrm>
          <a:prstGeom prst="rect">
            <a:avLst/>
          </a:prstGeom>
        </p:spPr>
        <p:txBody>
          <a:bodyPr anchorCtr="0" anchor="t" bIns="91425" lIns="91425" spcFirstLastPara="1" rIns="91425" wrap="square" tIns="91425">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cxnSp>
        <p:nvCxnSpPr>
          <p:cNvPr id="51" name="Google Shape;51;p8"/>
          <p:cNvCxnSpPr/>
          <p:nvPr/>
        </p:nvCxnSpPr>
        <p:spPr>
          <a:xfrm>
            <a:off x="2937350" y="402200"/>
            <a:ext cx="6082200" cy="0"/>
          </a:xfrm>
          <a:prstGeom prst="straightConnector1">
            <a:avLst/>
          </a:prstGeom>
          <a:noFill/>
          <a:ln cap="flat" cmpd="sng" w="19050">
            <a:solidFill>
              <a:srgbClr val="BF9000"/>
            </a:solidFill>
            <a:prstDash val="solid"/>
            <a:round/>
            <a:headEnd len="med" w="med" type="none"/>
            <a:tailEnd len="med" w="med" type="none"/>
          </a:ln>
        </p:spPr>
      </p:cxnSp>
      <p:pic>
        <p:nvPicPr>
          <p:cNvPr id="52" name="Google Shape;52;p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53" name="Google Shape;53;p8"/>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54" name="Google Shape;54;p8"/>
          <p:cNvSpPr txBox="1"/>
          <p:nvPr/>
        </p:nvSpPr>
        <p:spPr>
          <a:xfrm>
            <a:off x="208440" y="3420075"/>
            <a:ext cx="41217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2500">
                <a:solidFill>
                  <a:schemeClr val="accent3"/>
                </a:solidFill>
                <a:latin typeface="Roboto"/>
                <a:ea typeface="Roboto"/>
                <a:cs typeface="Roboto"/>
                <a:sym typeface="Roboto"/>
              </a:rPr>
              <a:t>Demo</a:t>
            </a:r>
            <a:endParaRPr b="1" sz="2500">
              <a:solidFill>
                <a:schemeClr val="accent3"/>
              </a:solidFill>
              <a:latin typeface="Roboto"/>
              <a:ea typeface="Roboto"/>
              <a:cs typeface="Roboto"/>
              <a:sym typeface="Roboto"/>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ide Puzzle 1">
  <p:cSld name="SECTION_TITLE_AND_DESCRIPTION_2_1_1_2">
    <p:spTree>
      <p:nvGrpSpPr>
        <p:cNvPr id="55" name="Shape 55"/>
        <p:cNvGrpSpPr/>
        <p:nvPr/>
      </p:nvGrpSpPr>
      <p:grpSpPr>
        <a:xfrm>
          <a:off x="0" y="0"/>
          <a:ext cx="0" cy="0"/>
          <a:chOff x="0" y="0"/>
          <a:chExt cx="0" cy="0"/>
        </a:xfrm>
      </p:grpSpPr>
      <p:sp>
        <p:nvSpPr>
          <p:cNvPr id="56" name="Google Shape;56;p9"/>
          <p:cNvSpPr/>
          <p:nvPr/>
        </p:nvSpPr>
        <p:spPr>
          <a:xfrm>
            <a:off x="0" y="-125"/>
            <a:ext cx="2776500" cy="5143500"/>
          </a:xfrm>
          <a:prstGeom prst="rect">
            <a:avLst/>
          </a:prstGeom>
          <a:solidFill>
            <a:srgbClr val="FDF6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9"/>
          <p:cNvSpPr txBox="1"/>
          <p:nvPr>
            <p:ph idx="1" type="subTitle"/>
          </p:nvPr>
        </p:nvSpPr>
        <p:spPr>
          <a:xfrm>
            <a:off x="225450" y="3943400"/>
            <a:ext cx="2450400" cy="719700"/>
          </a:xfrm>
          <a:prstGeom prst="rect">
            <a:avLst/>
          </a:prstGeom>
        </p:spPr>
        <p:txBody>
          <a:bodyPr anchorCtr="0" anchor="t" bIns="91425" lIns="91425" spcFirstLastPara="1" rIns="91425" wrap="square" tIns="91425">
            <a:noAutofit/>
          </a:bodyPr>
          <a:lstStyle>
            <a:lvl1pPr lvl="0" rtl="0">
              <a:lnSpc>
                <a:spcPct val="100000"/>
              </a:lnSpc>
              <a:spcBef>
                <a:spcPts val="600"/>
              </a:spcBef>
              <a:spcAft>
                <a:spcPts val="0"/>
              </a:spcAft>
              <a:buSzPts val="1800"/>
              <a:buNone/>
              <a:defRPr/>
            </a:lvl1pPr>
            <a:lvl2pPr lvl="1" rtl="0" algn="ctr">
              <a:lnSpc>
                <a:spcPct val="100000"/>
              </a:lnSpc>
              <a:spcBef>
                <a:spcPts val="600"/>
              </a:spcBef>
              <a:spcAft>
                <a:spcPts val="0"/>
              </a:spcAft>
              <a:buSzPts val="2100"/>
              <a:buNone/>
              <a:defRPr sz="2100"/>
            </a:lvl2pPr>
            <a:lvl3pPr lvl="2" rtl="0" algn="ctr">
              <a:lnSpc>
                <a:spcPct val="100000"/>
              </a:lnSpc>
              <a:spcBef>
                <a:spcPts val="600"/>
              </a:spcBef>
              <a:spcAft>
                <a:spcPts val="0"/>
              </a:spcAft>
              <a:buSzPts val="2100"/>
              <a:buNone/>
              <a:defRPr sz="2100"/>
            </a:lvl3pPr>
            <a:lvl4pPr lvl="3" rtl="0" algn="ctr">
              <a:lnSpc>
                <a:spcPct val="100000"/>
              </a:lnSpc>
              <a:spcBef>
                <a:spcPts val="600"/>
              </a:spcBef>
              <a:spcAft>
                <a:spcPts val="0"/>
              </a:spcAft>
              <a:buSzPts val="2100"/>
              <a:buNone/>
              <a:defRPr sz="2100"/>
            </a:lvl4pPr>
            <a:lvl5pPr lvl="4" rtl="0" algn="ctr">
              <a:lnSpc>
                <a:spcPct val="100000"/>
              </a:lnSpc>
              <a:spcBef>
                <a:spcPts val="600"/>
              </a:spcBef>
              <a:spcAft>
                <a:spcPts val="0"/>
              </a:spcAft>
              <a:buSzPts val="2100"/>
              <a:buNone/>
              <a:defRPr sz="2100"/>
            </a:lvl5pPr>
            <a:lvl6pPr lvl="5" rtl="0" algn="ctr">
              <a:lnSpc>
                <a:spcPct val="100000"/>
              </a:lnSpc>
              <a:spcBef>
                <a:spcPts val="600"/>
              </a:spcBef>
              <a:spcAft>
                <a:spcPts val="0"/>
              </a:spcAft>
              <a:buSzPts val="2100"/>
              <a:buNone/>
              <a:defRPr sz="2100"/>
            </a:lvl6pPr>
            <a:lvl7pPr lvl="6" rtl="0" algn="ctr">
              <a:lnSpc>
                <a:spcPct val="100000"/>
              </a:lnSpc>
              <a:spcBef>
                <a:spcPts val="600"/>
              </a:spcBef>
              <a:spcAft>
                <a:spcPts val="0"/>
              </a:spcAft>
              <a:buSzPts val="2100"/>
              <a:buNone/>
              <a:defRPr sz="2100"/>
            </a:lvl7pPr>
            <a:lvl8pPr lvl="7" rtl="0" algn="ctr">
              <a:lnSpc>
                <a:spcPct val="100000"/>
              </a:lnSpc>
              <a:spcBef>
                <a:spcPts val="600"/>
              </a:spcBef>
              <a:spcAft>
                <a:spcPts val="0"/>
              </a:spcAft>
              <a:buSzPts val="2100"/>
              <a:buNone/>
              <a:defRPr sz="2100"/>
            </a:lvl8pPr>
            <a:lvl9pPr lvl="8" rtl="0" algn="ctr">
              <a:lnSpc>
                <a:spcPct val="100000"/>
              </a:lnSpc>
              <a:spcBef>
                <a:spcPts val="600"/>
              </a:spcBef>
              <a:spcAft>
                <a:spcPts val="0"/>
              </a:spcAft>
              <a:buSzPts val="2100"/>
              <a:buNone/>
              <a:defRPr sz="2100"/>
            </a:lvl9pPr>
          </a:lstStyle>
          <a:p/>
        </p:txBody>
      </p:sp>
      <p:sp>
        <p:nvSpPr>
          <p:cNvPr id="58" name="Google Shape;58;p9"/>
          <p:cNvSpPr txBox="1"/>
          <p:nvPr/>
        </p:nvSpPr>
        <p:spPr>
          <a:xfrm>
            <a:off x="208445" y="3420075"/>
            <a:ext cx="18738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2500">
                <a:solidFill>
                  <a:schemeClr val="accent3"/>
                </a:solidFill>
                <a:latin typeface="Roboto"/>
                <a:ea typeface="Roboto"/>
                <a:cs typeface="Roboto"/>
                <a:sym typeface="Roboto"/>
              </a:rPr>
              <a:t>Compare</a:t>
            </a:r>
            <a:endParaRPr b="1" sz="2500">
              <a:solidFill>
                <a:schemeClr val="accent3"/>
              </a:solidFill>
              <a:latin typeface="Roboto"/>
              <a:ea typeface="Roboto"/>
              <a:cs typeface="Roboto"/>
              <a:sym typeface="Roboto"/>
            </a:endParaRPr>
          </a:p>
        </p:txBody>
      </p:sp>
      <p:sp>
        <p:nvSpPr>
          <p:cNvPr id="59" name="Google Shape;59;p9"/>
          <p:cNvSpPr txBox="1"/>
          <p:nvPr>
            <p:ph idx="2" type="body"/>
          </p:nvPr>
        </p:nvSpPr>
        <p:spPr>
          <a:xfrm>
            <a:off x="2937350" y="402200"/>
            <a:ext cx="6032400" cy="42612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Font typeface="Roboto Light"/>
              <a:buChar char="•"/>
              <a:defRPr>
                <a:latin typeface="Roboto Light"/>
                <a:ea typeface="Roboto Light"/>
                <a:cs typeface="Roboto Light"/>
                <a:sym typeface="Roboto Light"/>
              </a:defRPr>
            </a:lvl1pPr>
            <a:lvl2pPr indent="-342900" lvl="1" marL="914400" rtl="0">
              <a:spcBef>
                <a:spcPts val="600"/>
              </a:spcBef>
              <a:spcAft>
                <a:spcPts val="0"/>
              </a:spcAft>
              <a:buSzPts val="1800"/>
              <a:buFont typeface="Roboto Light"/>
              <a:buChar char="•"/>
              <a:defRPr>
                <a:latin typeface="Roboto Light"/>
                <a:ea typeface="Roboto Light"/>
                <a:cs typeface="Roboto Light"/>
                <a:sym typeface="Roboto Light"/>
              </a:defRPr>
            </a:lvl2pPr>
            <a:lvl3pPr indent="-342900" lvl="2" marL="1371600" rtl="0">
              <a:spcBef>
                <a:spcPts val="600"/>
              </a:spcBef>
              <a:spcAft>
                <a:spcPts val="0"/>
              </a:spcAft>
              <a:buSzPts val="1800"/>
              <a:buFont typeface="Roboto Light"/>
              <a:buChar char="•"/>
              <a:defRPr>
                <a:latin typeface="Roboto Light"/>
                <a:ea typeface="Roboto Light"/>
                <a:cs typeface="Roboto Light"/>
                <a:sym typeface="Roboto Light"/>
              </a:defRPr>
            </a:lvl3pPr>
            <a:lvl4pPr indent="-342900" lvl="3" marL="1828800" rtl="0">
              <a:spcBef>
                <a:spcPts val="600"/>
              </a:spcBef>
              <a:spcAft>
                <a:spcPts val="0"/>
              </a:spcAft>
              <a:buSzPts val="1800"/>
              <a:buFont typeface="Roboto Light"/>
              <a:buChar char="•"/>
              <a:defRPr>
                <a:latin typeface="Roboto Light"/>
                <a:ea typeface="Roboto Light"/>
                <a:cs typeface="Roboto Light"/>
                <a:sym typeface="Roboto Light"/>
              </a:defRPr>
            </a:lvl4pPr>
            <a:lvl5pPr indent="-342900" lvl="4" marL="2286000" rtl="0">
              <a:spcBef>
                <a:spcPts val="600"/>
              </a:spcBef>
              <a:spcAft>
                <a:spcPts val="0"/>
              </a:spcAft>
              <a:buSzPts val="1800"/>
              <a:buFont typeface="Roboto Light"/>
              <a:buChar char="•"/>
              <a:defRPr>
                <a:latin typeface="Roboto Light"/>
                <a:ea typeface="Roboto Light"/>
                <a:cs typeface="Roboto Light"/>
                <a:sym typeface="Roboto Light"/>
              </a:defRPr>
            </a:lvl5pPr>
            <a:lvl6pPr indent="-342900" lvl="5" marL="2743200" rtl="0">
              <a:spcBef>
                <a:spcPts val="600"/>
              </a:spcBef>
              <a:spcAft>
                <a:spcPts val="0"/>
              </a:spcAft>
              <a:buSzPts val="1800"/>
              <a:buFont typeface="Roboto Light"/>
              <a:buChar char="•"/>
              <a:defRPr>
                <a:latin typeface="Roboto Light"/>
                <a:ea typeface="Roboto Light"/>
                <a:cs typeface="Roboto Light"/>
                <a:sym typeface="Roboto Light"/>
              </a:defRPr>
            </a:lvl6pPr>
            <a:lvl7pPr indent="-342900" lvl="6" marL="3200400" rtl="0">
              <a:spcBef>
                <a:spcPts val="600"/>
              </a:spcBef>
              <a:spcAft>
                <a:spcPts val="0"/>
              </a:spcAft>
              <a:buSzPts val="1800"/>
              <a:buFont typeface="Roboto Light"/>
              <a:buChar char="•"/>
              <a:defRPr>
                <a:latin typeface="Roboto Light"/>
                <a:ea typeface="Roboto Light"/>
                <a:cs typeface="Roboto Light"/>
                <a:sym typeface="Roboto Light"/>
              </a:defRPr>
            </a:lvl7pPr>
            <a:lvl8pPr indent="-342900" lvl="7" marL="3657600" rtl="0">
              <a:spcBef>
                <a:spcPts val="600"/>
              </a:spcBef>
              <a:spcAft>
                <a:spcPts val="0"/>
              </a:spcAft>
              <a:buSzPts val="1800"/>
              <a:buFont typeface="Roboto Light"/>
              <a:buChar char="•"/>
              <a:defRPr>
                <a:latin typeface="Roboto Light"/>
                <a:ea typeface="Roboto Light"/>
                <a:cs typeface="Roboto Light"/>
                <a:sym typeface="Roboto Light"/>
              </a:defRPr>
            </a:lvl8pPr>
            <a:lvl9pPr indent="-342900" lvl="8" marL="4114800" rtl="0">
              <a:spcBef>
                <a:spcPts val="600"/>
              </a:spcBef>
              <a:spcAft>
                <a:spcPts val="0"/>
              </a:spcAft>
              <a:buSzPts val="1800"/>
              <a:buFont typeface="Roboto Light"/>
              <a:buChar char="•"/>
              <a:defRPr>
                <a:latin typeface="Roboto Light"/>
                <a:ea typeface="Roboto Light"/>
                <a:cs typeface="Roboto Light"/>
                <a:sym typeface="Roboto Light"/>
              </a:defRPr>
            </a:lvl9pPr>
          </a:lstStyle>
          <a:p/>
        </p:txBody>
      </p:sp>
      <p:sp>
        <p:nvSpPr>
          <p:cNvPr id="60" name="Google Shape;60;p9"/>
          <p:cNvSpPr txBox="1"/>
          <p:nvPr>
            <p:ph type="title"/>
          </p:nvPr>
        </p:nvSpPr>
        <p:spPr>
          <a:xfrm>
            <a:off x="2776500" y="0"/>
            <a:ext cx="6367500" cy="393600"/>
          </a:xfrm>
          <a:prstGeom prst="rect">
            <a:avLst/>
          </a:prstGeom>
        </p:spPr>
        <p:txBody>
          <a:bodyPr anchorCtr="0" anchor="t" bIns="91425" lIns="91425" spcFirstLastPara="1" rIns="91425" wrap="square" tIns="91425">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cxnSp>
        <p:nvCxnSpPr>
          <p:cNvPr id="61" name="Google Shape;61;p9"/>
          <p:cNvCxnSpPr/>
          <p:nvPr/>
        </p:nvCxnSpPr>
        <p:spPr>
          <a:xfrm>
            <a:off x="2937350" y="402200"/>
            <a:ext cx="6082200" cy="0"/>
          </a:xfrm>
          <a:prstGeom prst="straightConnector1">
            <a:avLst/>
          </a:prstGeom>
          <a:noFill/>
          <a:ln cap="flat" cmpd="sng" w="19050">
            <a:solidFill>
              <a:srgbClr val="BF9000"/>
            </a:solidFill>
            <a:prstDash val="solid"/>
            <a:round/>
            <a:headEnd len="med" w="med" type="none"/>
            <a:tailEnd len="med" w="med" type="none"/>
          </a:ln>
        </p:spPr>
      </p:cxnSp>
      <p:pic>
        <p:nvPicPr>
          <p:cNvPr id="62" name="Google Shape;62;p9"/>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63" name="Google Shape;63;p9"/>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ide Puzzle Solution">
  <p:cSld name="SECTION_TITLE_AND_DESCRIPTION_2_1_1_1">
    <p:spTree>
      <p:nvGrpSpPr>
        <p:cNvPr id="64" name="Shape 64"/>
        <p:cNvGrpSpPr/>
        <p:nvPr/>
      </p:nvGrpSpPr>
      <p:grpSpPr>
        <a:xfrm>
          <a:off x="0" y="0"/>
          <a:ext cx="0" cy="0"/>
          <a:chOff x="0" y="0"/>
          <a:chExt cx="0" cy="0"/>
        </a:xfrm>
      </p:grpSpPr>
      <p:sp>
        <p:nvSpPr>
          <p:cNvPr id="65" name="Google Shape;65;p10"/>
          <p:cNvSpPr/>
          <p:nvPr/>
        </p:nvSpPr>
        <p:spPr>
          <a:xfrm>
            <a:off x="0" y="-125"/>
            <a:ext cx="2776500" cy="5143500"/>
          </a:xfrm>
          <a:prstGeom prst="rect">
            <a:avLst/>
          </a:prstGeom>
          <a:solidFill>
            <a:srgbClr val="F3F3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10"/>
          <p:cNvSpPr txBox="1"/>
          <p:nvPr>
            <p:ph idx="1" type="subTitle"/>
          </p:nvPr>
        </p:nvSpPr>
        <p:spPr>
          <a:xfrm>
            <a:off x="225450" y="3943400"/>
            <a:ext cx="2450400" cy="719700"/>
          </a:xfrm>
          <a:prstGeom prst="rect">
            <a:avLst/>
          </a:prstGeom>
        </p:spPr>
        <p:txBody>
          <a:bodyPr anchorCtr="0" anchor="t" bIns="91425" lIns="91425" spcFirstLastPara="1" rIns="91425" wrap="square" tIns="91425">
            <a:noAutofit/>
          </a:bodyPr>
          <a:lstStyle>
            <a:lvl1pPr lvl="0" rtl="0">
              <a:lnSpc>
                <a:spcPct val="100000"/>
              </a:lnSpc>
              <a:spcBef>
                <a:spcPts val="600"/>
              </a:spcBef>
              <a:spcAft>
                <a:spcPts val="0"/>
              </a:spcAft>
              <a:buSzPts val="1800"/>
              <a:buNone/>
              <a:defRPr/>
            </a:lvl1pPr>
            <a:lvl2pPr lvl="1" rtl="0" algn="ctr">
              <a:lnSpc>
                <a:spcPct val="100000"/>
              </a:lnSpc>
              <a:spcBef>
                <a:spcPts val="600"/>
              </a:spcBef>
              <a:spcAft>
                <a:spcPts val="0"/>
              </a:spcAft>
              <a:buSzPts val="2100"/>
              <a:buNone/>
              <a:defRPr sz="2100"/>
            </a:lvl2pPr>
            <a:lvl3pPr lvl="2" rtl="0" algn="ctr">
              <a:lnSpc>
                <a:spcPct val="100000"/>
              </a:lnSpc>
              <a:spcBef>
                <a:spcPts val="600"/>
              </a:spcBef>
              <a:spcAft>
                <a:spcPts val="0"/>
              </a:spcAft>
              <a:buSzPts val="2100"/>
              <a:buNone/>
              <a:defRPr sz="2100"/>
            </a:lvl3pPr>
            <a:lvl4pPr lvl="3" rtl="0" algn="ctr">
              <a:lnSpc>
                <a:spcPct val="100000"/>
              </a:lnSpc>
              <a:spcBef>
                <a:spcPts val="600"/>
              </a:spcBef>
              <a:spcAft>
                <a:spcPts val="0"/>
              </a:spcAft>
              <a:buSzPts val="2100"/>
              <a:buNone/>
              <a:defRPr sz="2100"/>
            </a:lvl4pPr>
            <a:lvl5pPr lvl="4" rtl="0" algn="ctr">
              <a:lnSpc>
                <a:spcPct val="100000"/>
              </a:lnSpc>
              <a:spcBef>
                <a:spcPts val="600"/>
              </a:spcBef>
              <a:spcAft>
                <a:spcPts val="0"/>
              </a:spcAft>
              <a:buSzPts val="2100"/>
              <a:buNone/>
              <a:defRPr sz="2100"/>
            </a:lvl5pPr>
            <a:lvl6pPr lvl="5" rtl="0" algn="ctr">
              <a:lnSpc>
                <a:spcPct val="100000"/>
              </a:lnSpc>
              <a:spcBef>
                <a:spcPts val="600"/>
              </a:spcBef>
              <a:spcAft>
                <a:spcPts val="0"/>
              </a:spcAft>
              <a:buSzPts val="2100"/>
              <a:buNone/>
              <a:defRPr sz="2100"/>
            </a:lvl6pPr>
            <a:lvl7pPr lvl="6" rtl="0" algn="ctr">
              <a:lnSpc>
                <a:spcPct val="100000"/>
              </a:lnSpc>
              <a:spcBef>
                <a:spcPts val="600"/>
              </a:spcBef>
              <a:spcAft>
                <a:spcPts val="0"/>
              </a:spcAft>
              <a:buSzPts val="2100"/>
              <a:buNone/>
              <a:defRPr sz="2100"/>
            </a:lvl7pPr>
            <a:lvl8pPr lvl="7" rtl="0" algn="ctr">
              <a:lnSpc>
                <a:spcPct val="100000"/>
              </a:lnSpc>
              <a:spcBef>
                <a:spcPts val="600"/>
              </a:spcBef>
              <a:spcAft>
                <a:spcPts val="0"/>
              </a:spcAft>
              <a:buSzPts val="2100"/>
              <a:buNone/>
              <a:defRPr sz="2100"/>
            </a:lvl8pPr>
            <a:lvl9pPr lvl="8" rtl="0" algn="ctr">
              <a:lnSpc>
                <a:spcPct val="100000"/>
              </a:lnSpc>
              <a:spcBef>
                <a:spcPts val="600"/>
              </a:spcBef>
              <a:spcAft>
                <a:spcPts val="0"/>
              </a:spcAft>
              <a:buSzPts val="2100"/>
              <a:buNone/>
              <a:defRPr sz="2100"/>
            </a:lvl9pPr>
          </a:lstStyle>
          <a:p/>
        </p:txBody>
      </p:sp>
      <p:sp>
        <p:nvSpPr>
          <p:cNvPr id="67" name="Google Shape;67;p10"/>
          <p:cNvSpPr txBox="1"/>
          <p:nvPr/>
        </p:nvSpPr>
        <p:spPr>
          <a:xfrm>
            <a:off x="208445" y="3420075"/>
            <a:ext cx="18738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2500">
                <a:solidFill>
                  <a:schemeClr val="accent3"/>
                </a:solidFill>
                <a:latin typeface="Roboto"/>
                <a:ea typeface="Roboto"/>
                <a:cs typeface="Roboto"/>
                <a:sym typeface="Roboto"/>
              </a:rPr>
              <a:t>Solution</a:t>
            </a:r>
            <a:endParaRPr b="1" sz="2500">
              <a:solidFill>
                <a:schemeClr val="accent3"/>
              </a:solidFill>
              <a:latin typeface="Roboto"/>
              <a:ea typeface="Roboto"/>
              <a:cs typeface="Roboto"/>
              <a:sym typeface="Roboto"/>
            </a:endParaRPr>
          </a:p>
        </p:txBody>
      </p:sp>
      <p:sp>
        <p:nvSpPr>
          <p:cNvPr id="68" name="Google Shape;68;p10"/>
          <p:cNvSpPr txBox="1"/>
          <p:nvPr>
            <p:ph idx="2" type="body"/>
          </p:nvPr>
        </p:nvSpPr>
        <p:spPr>
          <a:xfrm>
            <a:off x="2937350" y="402200"/>
            <a:ext cx="6032400" cy="42612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Font typeface="Roboto Light"/>
              <a:buChar char="•"/>
              <a:defRPr>
                <a:latin typeface="Roboto Light"/>
                <a:ea typeface="Roboto Light"/>
                <a:cs typeface="Roboto Light"/>
                <a:sym typeface="Roboto Light"/>
              </a:defRPr>
            </a:lvl1pPr>
            <a:lvl2pPr indent="-342900" lvl="1" marL="914400" rtl="0">
              <a:spcBef>
                <a:spcPts val="600"/>
              </a:spcBef>
              <a:spcAft>
                <a:spcPts val="0"/>
              </a:spcAft>
              <a:buSzPts val="1800"/>
              <a:buFont typeface="Roboto Light"/>
              <a:buChar char="•"/>
              <a:defRPr>
                <a:latin typeface="Roboto Light"/>
                <a:ea typeface="Roboto Light"/>
                <a:cs typeface="Roboto Light"/>
                <a:sym typeface="Roboto Light"/>
              </a:defRPr>
            </a:lvl2pPr>
            <a:lvl3pPr indent="-342900" lvl="2" marL="1371600" rtl="0">
              <a:spcBef>
                <a:spcPts val="600"/>
              </a:spcBef>
              <a:spcAft>
                <a:spcPts val="0"/>
              </a:spcAft>
              <a:buSzPts val="1800"/>
              <a:buFont typeface="Roboto Light"/>
              <a:buChar char="•"/>
              <a:defRPr>
                <a:latin typeface="Roboto Light"/>
                <a:ea typeface="Roboto Light"/>
                <a:cs typeface="Roboto Light"/>
                <a:sym typeface="Roboto Light"/>
              </a:defRPr>
            </a:lvl3pPr>
            <a:lvl4pPr indent="-342900" lvl="3" marL="1828800" rtl="0">
              <a:spcBef>
                <a:spcPts val="600"/>
              </a:spcBef>
              <a:spcAft>
                <a:spcPts val="0"/>
              </a:spcAft>
              <a:buSzPts val="1800"/>
              <a:buFont typeface="Roboto Light"/>
              <a:buChar char="•"/>
              <a:defRPr>
                <a:latin typeface="Roboto Light"/>
                <a:ea typeface="Roboto Light"/>
                <a:cs typeface="Roboto Light"/>
                <a:sym typeface="Roboto Light"/>
              </a:defRPr>
            </a:lvl4pPr>
            <a:lvl5pPr indent="-342900" lvl="4" marL="2286000" rtl="0">
              <a:spcBef>
                <a:spcPts val="600"/>
              </a:spcBef>
              <a:spcAft>
                <a:spcPts val="0"/>
              </a:spcAft>
              <a:buSzPts val="1800"/>
              <a:buFont typeface="Roboto Light"/>
              <a:buChar char="•"/>
              <a:defRPr>
                <a:latin typeface="Roboto Light"/>
                <a:ea typeface="Roboto Light"/>
                <a:cs typeface="Roboto Light"/>
                <a:sym typeface="Roboto Light"/>
              </a:defRPr>
            </a:lvl5pPr>
            <a:lvl6pPr indent="-342900" lvl="5" marL="2743200" rtl="0">
              <a:spcBef>
                <a:spcPts val="600"/>
              </a:spcBef>
              <a:spcAft>
                <a:spcPts val="0"/>
              </a:spcAft>
              <a:buSzPts val="1800"/>
              <a:buFont typeface="Roboto Light"/>
              <a:buChar char="•"/>
              <a:defRPr>
                <a:latin typeface="Roboto Light"/>
                <a:ea typeface="Roboto Light"/>
                <a:cs typeface="Roboto Light"/>
                <a:sym typeface="Roboto Light"/>
              </a:defRPr>
            </a:lvl6pPr>
            <a:lvl7pPr indent="-342900" lvl="6" marL="3200400" rtl="0">
              <a:spcBef>
                <a:spcPts val="600"/>
              </a:spcBef>
              <a:spcAft>
                <a:spcPts val="0"/>
              </a:spcAft>
              <a:buSzPts val="1800"/>
              <a:buFont typeface="Roboto Light"/>
              <a:buChar char="•"/>
              <a:defRPr>
                <a:latin typeface="Roboto Light"/>
                <a:ea typeface="Roboto Light"/>
                <a:cs typeface="Roboto Light"/>
                <a:sym typeface="Roboto Light"/>
              </a:defRPr>
            </a:lvl7pPr>
            <a:lvl8pPr indent="-342900" lvl="7" marL="3657600" rtl="0">
              <a:spcBef>
                <a:spcPts val="600"/>
              </a:spcBef>
              <a:spcAft>
                <a:spcPts val="0"/>
              </a:spcAft>
              <a:buSzPts val="1800"/>
              <a:buFont typeface="Roboto Light"/>
              <a:buChar char="•"/>
              <a:defRPr>
                <a:latin typeface="Roboto Light"/>
                <a:ea typeface="Roboto Light"/>
                <a:cs typeface="Roboto Light"/>
                <a:sym typeface="Roboto Light"/>
              </a:defRPr>
            </a:lvl8pPr>
            <a:lvl9pPr indent="-342900" lvl="8" marL="4114800" rtl="0">
              <a:spcBef>
                <a:spcPts val="600"/>
              </a:spcBef>
              <a:spcAft>
                <a:spcPts val="0"/>
              </a:spcAft>
              <a:buSzPts val="1800"/>
              <a:buFont typeface="Roboto Light"/>
              <a:buChar char="•"/>
              <a:defRPr>
                <a:latin typeface="Roboto Light"/>
                <a:ea typeface="Roboto Light"/>
                <a:cs typeface="Roboto Light"/>
                <a:sym typeface="Roboto Light"/>
              </a:defRPr>
            </a:lvl9pPr>
          </a:lstStyle>
          <a:p/>
        </p:txBody>
      </p:sp>
      <p:sp>
        <p:nvSpPr>
          <p:cNvPr id="69" name="Google Shape;69;p10"/>
          <p:cNvSpPr txBox="1"/>
          <p:nvPr>
            <p:ph type="title"/>
          </p:nvPr>
        </p:nvSpPr>
        <p:spPr>
          <a:xfrm>
            <a:off x="2776500" y="0"/>
            <a:ext cx="6367500" cy="393600"/>
          </a:xfrm>
          <a:prstGeom prst="rect">
            <a:avLst/>
          </a:prstGeom>
        </p:spPr>
        <p:txBody>
          <a:bodyPr anchorCtr="0" anchor="t" bIns="91425" lIns="91425" spcFirstLastPara="1" rIns="91425" wrap="square" tIns="91425">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cxnSp>
        <p:nvCxnSpPr>
          <p:cNvPr id="70" name="Google Shape;70;p10"/>
          <p:cNvCxnSpPr/>
          <p:nvPr/>
        </p:nvCxnSpPr>
        <p:spPr>
          <a:xfrm>
            <a:off x="2937350" y="402200"/>
            <a:ext cx="6082200" cy="0"/>
          </a:xfrm>
          <a:prstGeom prst="straightConnector1">
            <a:avLst/>
          </a:prstGeom>
          <a:noFill/>
          <a:ln cap="flat" cmpd="sng" w="19050">
            <a:solidFill>
              <a:srgbClr val="BF9000"/>
            </a:solidFill>
            <a:prstDash val="solid"/>
            <a:round/>
            <a:headEnd len="med" w="med" type="none"/>
            <a:tailEnd len="med" w="med" type="none"/>
          </a:ln>
        </p:spPr>
      </p:cxnSp>
      <p:pic>
        <p:nvPicPr>
          <p:cNvPr id="71" name="Google Shape;71;p10"/>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72" name="Google Shape;72;p10"/>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73" name="Shape 73"/>
        <p:cNvGrpSpPr/>
        <p:nvPr/>
      </p:nvGrpSpPr>
      <p:grpSpPr>
        <a:xfrm>
          <a:off x="0" y="0"/>
          <a:ext cx="0" cy="0"/>
          <a:chOff x="0" y="0"/>
          <a:chExt cx="0" cy="0"/>
        </a:xfrm>
      </p:grpSpPr>
      <p:sp>
        <p:nvSpPr>
          <p:cNvPr id="74" name="Google Shape;74;p11"/>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75" name="Google Shape;75;p11"/>
          <p:cNvSpPr txBox="1"/>
          <p:nvPr>
            <p:ph idx="1" type="body"/>
          </p:nvPr>
        </p:nvSpPr>
        <p:spPr>
          <a:xfrm>
            <a:off x="4812381" y="402206"/>
            <a:ext cx="3999900" cy="34164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Font typeface="Roboto Light"/>
              <a:buChar char="•"/>
              <a:defRPr>
                <a:latin typeface="Roboto Light"/>
                <a:ea typeface="Roboto Light"/>
                <a:cs typeface="Roboto Light"/>
                <a:sym typeface="Roboto Light"/>
              </a:defRPr>
            </a:lvl1pPr>
            <a:lvl2pPr indent="-342900" lvl="1" marL="914400" rtl="0">
              <a:spcBef>
                <a:spcPts val="600"/>
              </a:spcBef>
              <a:spcAft>
                <a:spcPts val="0"/>
              </a:spcAft>
              <a:buSzPts val="1800"/>
              <a:buFont typeface="Roboto Light"/>
              <a:buChar char="•"/>
              <a:defRPr>
                <a:latin typeface="Roboto Light"/>
                <a:ea typeface="Roboto Light"/>
                <a:cs typeface="Roboto Light"/>
                <a:sym typeface="Roboto Light"/>
              </a:defRPr>
            </a:lvl2pPr>
            <a:lvl3pPr indent="-342900" lvl="2" marL="1371600" rtl="0">
              <a:spcBef>
                <a:spcPts val="600"/>
              </a:spcBef>
              <a:spcAft>
                <a:spcPts val="0"/>
              </a:spcAft>
              <a:buSzPts val="1800"/>
              <a:buFont typeface="Roboto Light"/>
              <a:buChar char="•"/>
              <a:defRPr>
                <a:latin typeface="Roboto Light"/>
                <a:ea typeface="Roboto Light"/>
                <a:cs typeface="Roboto Light"/>
                <a:sym typeface="Roboto Light"/>
              </a:defRPr>
            </a:lvl3pPr>
            <a:lvl4pPr indent="-342900" lvl="3" marL="1828800" rtl="0">
              <a:spcBef>
                <a:spcPts val="600"/>
              </a:spcBef>
              <a:spcAft>
                <a:spcPts val="0"/>
              </a:spcAft>
              <a:buSzPts val="1800"/>
              <a:buFont typeface="Roboto Light"/>
              <a:buChar char="•"/>
              <a:defRPr>
                <a:latin typeface="Roboto Light"/>
                <a:ea typeface="Roboto Light"/>
                <a:cs typeface="Roboto Light"/>
                <a:sym typeface="Roboto Light"/>
              </a:defRPr>
            </a:lvl4pPr>
            <a:lvl5pPr indent="-342900" lvl="4" marL="2286000" rtl="0">
              <a:spcBef>
                <a:spcPts val="600"/>
              </a:spcBef>
              <a:spcAft>
                <a:spcPts val="0"/>
              </a:spcAft>
              <a:buSzPts val="1800"/>
              <a:buFont typeface="Roboto Light"/>
              <a:buChar char="•"/>
              <a:defRPr>
                <a:latin typeface="Roboto Light"/>
                <a:ea typeface="Roboto Light"/>
                <a:cs typeface="Roboto Light"/>
                <a:sym typeface="Roboto Light"/>
              </a:defRPr>
            </a:lvl5pPr>
            <a:lvl6pPr indent="-342900" lvl="5" marL="2743200" rtl="0">
              <a:spcBef>
                <a:spcPts val="600"/>
              </a:spcBef>
              <a:spcAft>
                <a:spcPts val="0"/>
              </a:spcAft>
              <a:buSzPts val="1800"/>
              <a:buFont typeface="Roboto Light"/>
              <a:buChar char="•"/>
              <a:defRPr>
                <a:latin typeface="Roboto Light"/>
                <a:ea typeface="Roboto Light"/>
                <a:cs typeface="Roboto Light"/>
                <a:sym typeface="Roboto Light"/>
              </a:defRPr>
            </a:lvl6pPr>
            <a:lvl7pPr indent="-342900" lvl="6" marL="3200400" rtl="0">
              <a:spcBef>
                <a:spcPts val="600"/>
              </a:spcBef>
              <a:spcAft>
                <a:spcPts val="0"/>
              </a:spcAft>
              <a:buSzPts val="1800"/>
              <a:buFont typeface="Roboto Light"/>
              <a:buChar char="•"/>
              <a:defRPr>
                <a:latin typeface="Roboto Light"/>
                <a:ea typeface="Roboto Light"/>
                <a:cs typeface="Roboto Light"/>
                <a:sym typeface="Roboto Light"/>
              </a:defRPr>
            </a:lvl7pPr>
            <a:lvl8pPr indent="-342900" lvl="7" marL="3657600" rtl="0">
              <a:spcBef>
                <a:spcPts val="600"/>
              </a:spcBef>
              <a:spcAft>
                <a:spcPts val="0"/>
              </a:spcAft>
              <a:buSzPts val="1800"/>
              <a:buFont typeface="Roboto Light"/>
              <a:buChar char="•"/>
              <a:defRPr>
                <a:latin typeface="Roboto Light"/>
                <a:ea typeface="Roboto Light"/>
                <a:cs typeface="Roboto Light"/>
                <a:sym typeface="Roboto Light"/>
              </a:defRPr>
            </a:lvl8pPr>
            <a:lvl9pPr indent="-342900" lvl="8" marL="4114800" rtl="0">
              <a:spcBef>
                <a:spcPts val="600"/>
              </a:spcBef>
              <a:spcAft>
                <a:spcPts val="0"/>
              </a:spcAft>
              <a:buSzPts val="1800"/>
              <a:buFont typeface="Roboto Light"/>
              <a:buChar char="•"/>
              <a:defRPr>
                <a:latin typeface="Roboto Light"/>
                <a:ea typeface="Roboto Light"/>
                <a:cs typeface="Roboto Light"/>
                <a:sym typeface="Roboto Light"/>
              </a:defRPr>
            </a:lvl9pPr>
          </a:lstStyle>
          <a:p/>
        </p:txBody>
      </p:sp>
      <p:sp>
        <p:nvSpPr>
          <p:cNvPr id="76" name="Google Shape;76;p11"/>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cxnSp>
        <p:nvCxnSpPr>
          <p:cNvPr id="77" name="Google Shape;77;p11"/>
          <p:cNvCxnSpPr/>
          <p:nvPr/>
        </p:nvCxnSpPr>
        <p:spPr>
          <a:xfrm>
            <a:off x="95431" y="402210"/>
            <a:ext cx="8909700" cy="0"/>
          </a:xfrm>
          <a:prstGeom prst="straightConnector1">
            <a:avLst/>
          </a:prstGeom>
          <a:noFill/>
          <a:ln cap="flat" cmpd="sng" w="19050">
            <a:solidFill>
              <a:srgbClr val="BF9000"/>
            </a:solidFill>
            <a:prstDash val="solid"/>
            <a:round/>
            <a:headEnd len="med" w="med" type="none"/>
            <a:tailEnd len="med" w="med" type="none"/>
          </a:ln>
        </p:spPr>
      </p:cxnSp>
      <p:sp>
        <p:nvSpPr>
          <p:cNvPr id="78" name="Google Shape;78;p11"/>
          <p:cNvSpPr txBox="1"/>
          <p:nvPr>
            <p:ph idx="2" type="body"/>
          </p:nvPr>
        </p:nvSpPr>
        <p:spPr>
          <a:xfrm>
            <a:off x="95431" y="402206"/>
            <a:ext cx="3999900" cy="34164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Font typeface="Roboto Light"/>
              <a:buChar char="•"/>
              <a:defRPr>
                <a:latin typeface="Roboto Light"/>
                <a:ea typeface="Roboto Light"/>
                <a:cs typeface="Roboto Light"/>
                <a:sym typeface="Roboto Light"/>
              </a:defRPr>
            </a:lvl1pPr>
            <a:lvl2pPr indent="-342900" lvl="1" marL="914400" rtl="0">
              <a:spcBef>
                <a:spcPts val="600"/>
              </a:spcBef>
              <a:spcAft>
                <a:spcPts val="0"/>
              </a:spcAft>
              <a:buSzPts val="1800"/>
              <a:buFont typeface="Roboto Light"/>
              <a:buChar char="•"/>
              <a:defRPr>
                <a:latin typeface="Roboto Light"/>
                <a:ea typeface="Roboto Light"/>
                <a:cs typeface="Roboto Light"/>
                <a:sym typeface="Roboto Light"/>
              </a:defRPr>
            </a:lvl2pPr>
            <a:lvl3pPr indent="-342900" lvl="2" marL="1371600" rtl="0">
              <a:spcBef>
                <a:spcPts val="600"/>
              </a:spcBef>
              <a:spcAft>
                <a:spcPts val="0"/>
              </a:spcAft>
              <a:buSzPts val="1800"/>
              <a:buFont typeface="Roboto Light"/>
              <a:buChar char="•"/>
              <a:defRPr>
                <a:latin typeface="Roboto Light"/>
                <a:ea typeface="Roboto Light"/>
                <a:cs typeface="Roboto Light"/>
                <a:sym typeface="Roboto Light"/>
              </a:defRPr>
            </a:lvl3pPr>
            <a:lvl4pPr indent="-342900" lvl="3" marL="1828800" rtl="0">
              <a:spcBef>
                <a:spcPts val="600"/>
              </a:spcBef>
              <a:spcAft>
                <a:spcPts val="0"/>
              </a:spcAft>
              <a:buSzPts val="1800"/>
              <a:buFont typeface="Roboto Light"/>
              <a:buChar char="•"/>
              <a:defRPr>
                <a:latin typeface="Roboto Light"/>
                <a:ea typeface="Roboto Light"/>
                <a:cs typeface="Roboto Light"/>
                <a:sym typeface="Roboto Light"/>
              </a:defRPr>
            </a:lvl4pPr>
            <a:lvl5pPr indent="-342900" lvl="4" marL="2286000" rtl="0">
              <a:spcBef>
                <a:spcPts val="600"/>
              </a:spcBef>
              <a:spcAft>
                <a:spcPts val="0"/>
              </a:spcAft>
              <a:buSzPts val="1800"/>
              <a:buFont typeface="Roboto Light"/>
              <a:buChar char="•"/>
              <a:defRPr>
                <a:latin typeface="Roboto Light"/>
                <a:ea typeface="Roboto Light"/>
                <a:cs typeface="Roboto Light"/>
                <a:sym typeface="Roboto Light"/>
              </a:defRPr>
            </a:lvl5pPr>
            <a:lvl6pPr indent="-342900" lvl="5" marL="2743200" rtl="0">
              <a:spcBef>
                <a:spcPts val="600"/>
              </a:spcBef>
              <a:spcAft>
                <a:spcPts val="0"/>
              </a:spcAft>
              <a:buSzPts val="1800"/>
              <a:buFont typeface="Roboto Light"/>
              <a:buChar char="•"/>
              <a:defRPr>
                <a:latin typeface="Roboto Light"/>
                <a:ea typeface="Roboto Light"/>
                <a:cs typeface="Roboto Light"/>
                <a:sym typeface="Roboto Light"/>
              </a:defRPr>
            </a:lvl6pPr>
            <a:lvl7pPr indent="-342900" lvl="6" marL="3200400" rtl="0">
              <a:spcBef>
                <a:spcPts val="600"/>
              </a:spcBef>
              <a:spcAft>
                <a:spcPts val="0"/>
              </a:spcAft>
              <a:buSzPts val="1800"/>
              <a:buFont typeface="Roboto Light"/>
              <a:buChar char="•"/>
              <a:defRPr>
                <a:latin typeface="Roboto Light"/>
                <a:ea typeface="Roboto Light"/>
                <a:cs typeface="Roboto Light"/>
                <a:sym typeface="Roboto Light"/>
              </a:defRPr>
            </a:lvl7pPr>
            <a:lvl8pPr indent="-342900" lvl="7" marL="3657600" rtl="0">
              <a:spcBef>
                <a:spcPts val="600"/>
              </a:spcBef>
              <a:spcAft>
                <a:spcPts val="0"/>
              </a:spcAft>
              <a:buSzPts val="1800"/>
              <a:buFont typeface="Roboto Light"/>
              <a:buChar char="•"/>
              <a:defRPr>
                <a:latin typeface="Roboto Light"/>
                <a:ea typeface="Roboto Light"/>
                <a:cs typeface="Roboto Light"/>
                <a:sym typeface="Roboto Light"/>
              </a:defRPr>
            </a:lvl8pPr>
            <a:lvl9pPr indent="-342900" lvl="8" marL="4114800" rtl="0">
              <a:spcBef>
                <a:spcPts val="600"/>
              </a:spcBef>
              <a:spcAft>
                <a:spcPts val="0"/>
              </a:spcAft>
              <a:buSzPts val="1800"/>
              <a:buFont typeface="Roboto Light"/>
              <a:buChar char="•"/>
              <a:defRPr>
                <a:latin typeface="Roboto Light"/>
                <a:ea typeface="Roboto Light"/>
                <a:cs typeface="Roboto Light"/>
                <a:sym typeface="Roboto Light"/>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9" name="Shape 79"/>
        <p:cNvGrpSpPr/>
        <p:nvPr/>
      </p:nvGrpSpPr>
      <p:grpSpPr>
        <a:xfrm>
          <a:off x="0" y="0"/>
          <a:ext cx="0" cy="0"/>
          <a:chOff x="0" y="0"/>
          <a:chExt cx="0" cy="0"/>
        </a:xfrm>
      </p:grpSpPr>
      <p:sp>
        <p:nvSpPr>
          <p:cNvPr id="80" name="Google Shape;80;p12"/>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81" name="Google Shape;81;p1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cxnSp>
        <p:nvCxnSpPr>
          <p:cNvPr id="82" name="Google Shape;82;p12"/>
          <p:cNvCxnSpPr/>
          <p:nvPr/>
        </p:nvCxnSpPr>
        <p:spPr>
          <a:xfrm>
            <a:off x="95431" y="402210"/>
            <a:ext cx="8909700" cy="0"/>
          </a:xfrm>
          <a:prstGeom prst="straightConnector1">
            <a:avLst/>
          </a:prstGeom>
          <a:noFill/>
          <a:ln cap="flat" cmpd="sng" w="19050">
            <a:solidFill>
              <a:srgbClr val="BF9000"/>
            </a:solidFill>
            <a:prstDash val="solid"/>
            <a:round/>
            <a:headEnd len="med" w="med" type="none"/>
            <a:tailEnd len="med" w="med" type="none"/>
          </a:ln>
        </p:spPr>
      </p:cxn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83" name="Shape 83"/>
        <p:cNvGrpSpPr/>
        <p:nvPr/>
      </p:nvGrpSpPr>
      <p:grpSpPr>
        <a:xfrm>
          <a:off x="0" y="0"/>
          <a:ext cx="0" cy="0"/>
          <a:chOff x="0" y="0"/>
          <a:chExt cx="0" cy="0"/>
        </a:xfrm>
      </p:grpSpPr>
      <p:sp>
        <p:nvSpPr>
          <p:cNvPr id="84" name="Google Shape;84;p13"/>
          <p:cNvSpPr txBox="1"/>
          <p:nvPr>
            <p:ph type="title"/>
          </p:nvPr>
        </p:nvSpPr>
        <p:spPr>
          <a:xfrm>
            <a:off x="490250" y="450150"/>
            <a:ext cx="6367800" cy="4090800"/>
          </a:xfrm>
          <a:prstGeom prst="rect">
            <a:avLst/>
          </a:prstGeom>
        </p:spPr>
        <p:txBody>
          <a:bodyPr anchorCtr="0" anchor="ctr" bIns="91425" lIns="91425" spcFirstLastPara="1" rIns="91425" wrap="square" tIns="91425">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p:txBody>
      </p:sp>
      <p:sp>
        <p:nvSpPr>
          <p:cNvPr id="85" name="Google Shape;85;p13"/>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_TITLE_AND_DESCRIPTION_3">
  <p:cSld name="SECTION_TITLE_AND_DESCRIPTION_3">
    <p:spTree>
      <p:nvGrpSpPr>
        <p:cNvPr id="86" name="Shape 86"/>
        <p:cNvGrpSpPr/>
        <p:nvPr/>
      </p:nvGrpSpPr>
      <p:grpSpPr>
        <a:xfrm>
          <a:off x="0" y="0"/>
          <a:ext cx="0" cy="0"/>
          <a:chOff x="0" y="0"/>
          <a:chExt cx="0" cy="0"/>
        </a:xfrm>
      </p:grpSpPr>
      <p:sp>
        <p:nvSpPr>
          <p:cNvPr id="87" name="Google Shape;87;p14"/>
          <p:cNvSpPr/>
          <p:nvPr/>
        </p:nvSpPr>
        <p:spPr>
          <a:xfrm>
            <a:off x="4572000" y="-125"/>
            <a:ext cx="4572000" cy="5143500"/>
          </a:xfrm>
          <a:prstGeom prst="rect">
            <a:avLst/>
          </a:prstGeom>
          <a:solidFill>
            <a:srgbClr val="CFE2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14"/>
          <p:cNvSpPr txBox="1"/>
          <p:nvPr>
            <p:ph type="title"/>
          </p:nvPr>
        </p:nvSpPr>
        <p:spPr>
          <a:xfrm>
            <a:off x="265500" y="1233175"/>
            <a:ext cx="4045200" cy="14823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1600"/>
              <a:buNone/>
              <a:defRPr/>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89" name="Google Shape;89;p14"/>
          <p:cNvSpPr txBox="1"/>
          <p:nvPr>
            <p:ph idx="1" type="subTitle"/>
          </p:nvPr>
        </p:nvSpPr>
        <p:spPr>
          <a:xfrm>
            <a:off x="265500" y="2803075"/>
            <a:ext cx="4045200" cy="1235100"/>
          </a:xfrm>
          <a:prstGeom prst="rect">
            <a:avLst/>
          </a:prstGeom>
        </p:spPr>
        <p:txBody>
          <a:bodyPr anchorCtr="0" anchor="t" bIns="91425" lIns="91425" spcFirstLastPara="1" rIns="91425" wrap="square" tIns="91425">
            <a:noAutofit/>
          </a:bodyPr>
          <a:lstStyle>
            <a:lvl1pPr lvl="0" rtl="0" algn="ctr">
              <a:lnSpc>
                <a:spcPct val="100000"/>
              </a:lnSpc>
              <a:spcBef>
                <a:spcPts val="600"/>
              </a:spcBef>
              <a:spcAft>
                <a:spcPts val="0"/>
              </a:spcAft>
              <a:buSzPts val="1800"/>
              <a:buNone/>
              <a:defRPr/>
            </a:lvl1pPr>
            <a:lvl2pPr lvl="1" rtl="0" algn="ctr">
              <a:lnSpc>
                <a:spcPct val="100000"/>
              </a:lnSpc>
              <a:spcBef>
                <a:spcPts val="600"/>
              </a:spcBef>
              <a:spcAft>
                <a:spcPts val="0"/>
              </a:spcAft>
              <a:buSzPts val="2100"/>
              <a:buNone/>
              <a:defRPr sz="2100"/>
            </a:lvl2pPr>
            <a:lvl3pPr lvl="2" rtl="0" algn="ctr">
              <a:lnSpc>
                <a:spcPct val="100000"/>
              </a:lnSpc>
              <a:spcBef>
                <a:spcPts val="600"/>
              </a:spcBef>
              <a:spcAft>
                <a:spcPts val="0"/>
              </a:spcAft>
              <a:buSzPts val="2100"/>
              <a:buNone/>
              <a:defRPr sz="2100"/>
            </a:lvl3pPr>
            <a:lvl4pPr lvl="3" rtl="0" algn="ctr">
              <a:lnSpc>
                <a:spcPct val="100000"/>
              </a:lnSpc>
              <a:spcBef>
                <a:spcPts val="600"/>
              </a:spcBef>
              <a:spcAft>
                <a:spcPts val="0"/>
              </a:spcAft>
              <a:buSzPts val="2100"/>
              <a:buNone/>
              <a:defRPr sz="2100"/>
            </a:lvl4pPr>
            <a:lvl5pPr lvl="4" rtl="0" algn="ctr">
              <a:lnSpc>
                <a:spcPct val="100000"/>
              </a:lnSpc>
              <a:spcBef>
                <a:spcPts val="600"/>
              </a:spcBef>
              <a:spcAft>
                <a:spcPts val="0"/>
              </a:spcAft>
              <a:buSzPts val="2100"/>
              <a:buNone/>
              <a:defRPr sz="2100"/>
            </a:lvl5pPr>
            <a:lvl6pPr lvl="5" rtl="0" algn="ctr">
              <a:lnSpc>
                <a:spcPct val="100000"/>
              </a:lnSpc>
              <a:spcBef>
                <a:spcPts val="600"/>
              </a:spcBef>
              <a:spcAft>
                <a:spcPts val="0"/>
              </a:spcAft>
              <a:buSzPts val="2100"/>
              <a:buNone/>
              <a:defRPr sz="2100"/>
            </a:lvl6pPr>
            <a:lvl7pPr lvl="6" rtl="0" algn="ctr">
              <a:lnSpc>
                <a:spcPct val="100000"/>
              </a:lnSpc>
              <a:spcBef>
                <a:spcPts val="600"/>
              </a:spcBef>
              <a:spcAft>
                <a:spcPts val="0"/>
              </a:spcAft>
              <a:buSzPts val="2100"/>
              <a:buNone/>
              <a:defRPr sz="2100"/>
            </a:lvl7pPr>
            <a:lvl8pPr lvl="7" rtl="0" algn="ctr">
              <a:lnSpc>
                <a:spcPct val="100000"/>
              </a:lnSpc>
              <a:spcBef>
                <a:spcPts val="600"/>
              </a:spcBef>
              <a:spcAft>
                <a:spcPts val="0"/>
              </a:spcAft>
              <a:buSzPts val="2100"/>
              <a:buNone/>
              <a:defRPr sz="2100"/>
            </a:lvl8pPr>
            <a:lvl9pPr lvl="8" rtl="0" algn="ctr">
              <a:lnSpc>
                <a:spcPct val="100000"/>
              </a:lnSpc>
              <a:spcBef>
                <a:spcPts val="600"/>
              </a:spcBef>
              <a:spcAft>
                <a:spcPts val="0"/>
              </a:spcAft>
              <a:buSzPts val="2100"/>
              <a:buNone/>
              <a:defRPr sz="2100"/>
            </a:lvl9pPr>
          </a:lstStyle>
          <a:p/>
        </p:txBody>
      </p:sp>
      <p:sp>
        <p:nvSpPr>
          <p:cNvPr id="90" name="Google Shape;90;p14"/>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91" name="Google Shape;91;p14"/>
          <p:cNvSpPr txBox="1"/>
          <p:nvPr>
            <p:ph idx="2" type="body"/>
          </p:nvPr>
        </p:nvSpPr>
        <p:spPr>
          <a:xfrm>
            <a:off x="4812381" y="402206"/>
            <a:ext cx="3999900" cy="34164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Font typeface="Roboto Light"/>
              <a:buChar char="•"/>
              <a:defRPr>
                <a:latin typeface="Roboto Light"/>
                <a:ea typeface="Roboto Light"/>
                <a:cs typeface="Roboto Light"/>
                <a:sym typeface="Roboto Light"/>
              </a:defRPr>
            </a:lvl1pPr>
            <a:lvl2pPr indent="-342900" lvl="1" marL="914400" rtl="0">
              <a:spcBef>
                <a:spcPts val="600"/>
              </a:spcBef>
              <a:spcAft>
                <a:spcPts val="0"/>
              </a:spcAft>
              <a:buSzPts val="1800"/>
              <a:buFont typeface="Roboto Light"/>
              <a:buChar char="•"/>
              <a:defRPr>
                <a:latin typeface="Roboto Light"/>
                <a:ea typeface="Roboto Light"/>
                <a:cs typeface="Roboto Light"/>
                <a:sym typeface="Roboto Light"/>
              </a:defRPr>
            </a:lvl2pPr>
            <a:lvl3pPr indent="-342900" lvl="2" marL="1371600" rtl="0">
              <a:spcBef>
                <a:spcPts val="600"/>
              </a:spcBef>
              <a:spcAft>
                <a:spcPts val="0"/>
              </a:spcAft>
              <a:buSzPts val="1800"/>
              <a:buFont typeface="Roboto Light"/>
              <a:buChar char="•"/>
              <a:defRPr>
                <a:latin typeface="Roboto Light"/>
                <a:ea typeface="Roboto Light"/>
                <a:cs typeface="Roboto Light"/>
                <a:sym typeface="Roboto Light"/>
              </a:defRPr>
            </a:lvl3pPr>
            <a:lvl4pPr indent="-342900" lvl="3" marL="1828800" rtl="0">
              <a:spcBef>
                <a:spcPts val="600"/>
              </a:spcBef>
              <a:spcAft>
                <a:spcPts val="0"/>
              </a:spcAft>
              <a:buSzPts val="1800"/>
              <a:buFont typeface="Roboto Light"/>
              <a:buChar char="•"/>
              <a:defRPr>
                <a:latin typeface="Roboto Light"/>
                <a:ea typeface="Roboto Light"/>
                <a:cs typeface="Roboto Light"/>
                <a:sym typeface="Roboto Light"/>
              </a:defRPr>
            </a:lvl4pPr>
            <a:lvl5pPr indent="-342900" lvl="4" marL="2286000" rtl="0">
              <a:spcBef>
                <a:spcPts val="600"/>
              </a:spcBef>
              <a:spcAft>
                <a:spcPts val="0"/>
              </a:spcAft>
              <a:buSzPts val="1800"/>
              <a:buFont typeface="Roboto Light"/>
              <a:buChar char="•"/>
              <a:defRPr>
                <a:latin typeface="Roboto Light"/>
                <a:ea typeface="Roboto Light"/>
                <a:cs typeface="Roboto Light"/>
                <a:sym typeface="Roboto Light"/>
              </a:defRPr>
            </a:lvl5pPr>
            <a:lvl6pPr indent="-342900" lvl="5" marL="2743200" rtl="0">
              <a:spcBef>
                <a:spcPts val="600"/>
              </a:spcBef>
              <a:spcAft>
                <a:spcPts val="0"/>
              </a:spcAft>
              <a:buSzPts val="1800"/>
              <a:buFont typeface="Roboto Light"/>
              <a:buChar char="•"/>
              <a:defRPr>
                <a:latin typeface="Roboto Light"/>
                <a:ea typeface="Roboto Light"/>
                <a:cs typeface="Roboto Light"/>
                <a:sym typeface="Roboto Light"/>
              </a:defRPr>
            </a:lvl6pPr>
            <a:lvl7pPr indent="-342900" lvl="6" marL="3200400" rtl="0">
              <a:spcBef>
                <a:spcPts val="600"/>
              </a:spcBef>
              <a:spcAft>
                <a:spcPts val="0"/>
              </a:spcAft>
              <a:buSzPts val="1800"/>
              <a:buFont typeface="Roboto Light"/>
              <a:buChar char="•"/>
              <a:defRPr>
                <a:latin typeface="Roboto Light"/>
                <a:ea typeface="Roboto Light"/>
                <a:cs typeface="Roboto Light"/>
                <a:sym typeface="Roboto Light"/>
              </a:defRPr>
            </a:lvl7pPr>
            <a:lvl8pPr indent="-342900" lvl="7" marL="3657600" rtl="0">
              <a:spcBef>
                <a:spcPts val="600"/>
              </a:spcBef>
              <a:spcAft>
                <a:spcPts val="0"/>
              </a:spcAft>
              <a:buSzPts val="1800"/>
              <a:buFont typeface="Roboto Light"/>
              <a:buChar char="•"/>
              <a:defRPr>
                <a:latin typeface="Roboto Light"/>
                <a:ea typeface="Roboto Light"/>
                <a:cs typeface="Roboto Light"/>
                <a:sym typeface="Roboto Light"/>
              </a:defRPr>
            </a:lvl8pPr>
            <a:lvl9pPr indent="-342900" lvl="8" marL="4114800" rtl="0">
              <a:spcBef>
                <a:spcPts val="600"/>
              </a:spcBef>
              <a:spcAft>
                <a:spcPts val="0"/>
              </a:spcAft>
              <a:buSzPts val="1800"/>
              <a:buFont typeface="Roboto Light"/>
              <a:buChar char="•"/>
              <a:defRPr>
                <a:latin typeface="Roboto Light"/>
                <a:ea typeface="Roboto Light"/>
                <a:cs typeface="Roboto Light"/>
                <a:sym typeface="Roboto Light"/>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92" name="Shape 92"/>
        <p:cNvGrpSpPr/>
        <p:nvPr/>
      </p:nvGrpSpPr>
      <p:grpSpPr>
        <a:xfrm>
          <a:off x="0" y="0"/>
          <a:ext cx="0" cy="0"/>
          <a:chOff x="0" y="0"/>
          <a:chExt cx="0" cy="0"/>
        </a:xfrm>
      </p:grpSpPr>
      <p:sp>
        <p:nvSpPr>
          <p:cNvPr id="93" name="Google Shape;93;p15"/>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94" name="Google Shape;94;p15"/>
          <p:cNvSpPr txBox="1"/>
          <p:nvPr>
            <p:ph type="title"/>
          </p:nvPr>
        </p:nvSpPr>
        <p:spPr>
          <a:xfrm>
            <a:off x="95425" y="4288400"/>
            <a:ext cx="8658900" cy="768300"/>
          </a:xfrm>
          <a:prstGeom prst="rect">
            <a:avLst/>
          </a:prstGeom>
        </p:spPr>
        <p:txBody>
          <a:bodyPr anchorCtr="0" anchor="ctr" bIns="91425" lIns="91425" spcFirstLastPara="1" rIns="91425" wrap="square" tIns="91425">
            <a:noAutofit/>
          </a:bodyPr>
          <a:lstStyle>
            <a:lvl1pPr lvl="0" rtl="0">
              <a:spcBef>
                <a:spcPts val="0"/>
              </a:spcBef>
              <a:spcAft>
                <a:spcPts val="0"/>
              </a:spcAft>
              <a:buClr>
                <a:schemeClr val="dk1"/>
              </a:buClr>
              <a:buSzPts val="1800"/>
              <a:buFont typeface="Roboto"/>
              <a:buNone/>
              <a:defRPr sz="1800">
                <a:solidFill>
                  <a:schemeClr val="dk1"/>
                </a:solidFill>
                <a:latin typeface="Roboto"/>
                <a:ea typeface="Roboto"/>
                <a:cs typeface="Roboto"/>
                <a:sym typeface="Roboto"/>
              </a:defRPr>
            </a:lvl1pPr>
            <a:lvl2pPr lvl="1" rtl="0">
              <a:spcBef>
                <a:spcPts val="0"/>
              </a:spcBef>
              <a:spcAft>
                <a:spcPts val="0"/>
              </a:spcAft>
              <a:buSzPts val="2400"/>
              <a:buFont typeface="Roboto"/>
              <a:buNone/>
              <a:defRPr sz="2400">
                <a:latin typeface="Roboto"/>
                <a:ea typeface="Roboto"/>
                <a:cs typeface="Roboto"/>
                <a:sym typeface="Roboto"/>
              </a:defRPr>
            </a:lvl2pPr>
            <a:lvl3pPr lvl="2" rtl="0">
              <a:spcBef>
                <a:spcPts val="0"/>
              </a:spcBef>
              <a:spcAft>
                <a:spcPts val="0"/>
              </a:spcAft>
              <a:buSzPts val="2400"/>
              <a:buFont typeface="Roboto"/>
              <a:buNone/>
              <a:defRPr sz="2400">
                <a:latin typeface="Roboto"/>
                <a:ea typeface="Roboto"/>
                <a:cs typeface="Roboto"/>
                <a:sym typeface="Roboto"/>
              </a:defRPr>
            </a:lvl3pPr>
            <a:lvl4pPr lvl="3" rtl="0">
              <a:spcBef>
                <a:spcPts val="0"/>
              </a:spcBef>
              <a:spcAft>
                <a:spcPts val="0"/>
              </a:spcAft>
              <a:buSzPts val="2400"/>
              <a:buFont typeface="Roboto"/>
              <a:buNone/>
              <a:defRPr sz="2400">
                <a:latin typeface="Roboto"/>
                <a:ea typeface="Roboto"/>
                <a:cs typeface="Roboto"/>
                <a:sym typeface="Roboto"/>
              </a:defRPr>
            </a:lvl4pPr>
            <a:lvl5pPr lvl="4" rtl="0">
              <a:spcBef>
                <a:spcPts val="0"/>
              </a:spcBef>
              <a:spcAft>
                <a:spcPts val="0"/>
              </a:spcAft>
              <a:buSzPts val="2400"/>
              <a:buFont typeface="Roboto"/>
              <a:buNone/>
              <a:defRPr sz="2400">
                <a:latin typeface="Roboto"/>
                <a:ea typeface="Roboto"/>
                <a:cs typeface="Roboto"/>
                <a:sym typeface="Roboto"/>
              </a:defRPr>
            </a:lvl5pPr>
            <a:lvl6pPr lvl="5" rtl="0">
              <a:spcBef>
                <a:spcPts val="0"/>
              </a:spcBef>
              <a:spcAft>
                <a:spcPts val="0"/>
              </a:spcAft>
              <a:buSzPts val="2400"/>
              <a:buFont typeface="Roboto"/>
              <a:buNone/>
              <a:defRPr sz="2400">
                <a:latin typeface="Roboto"/>
                <a:ea typeface="Roboto"/>
                <a:cs typeface="Roboto"/>
                <a:sym typeface="Roboto"/>
              </a:defRPr>
            </a:lvl6pPr>
            <a:lvl7pPr lvl="6" rtl="0">
              <a:spcBef>
                <a:spcPts val="0"/>
              </a:spcBef>
              <a:spcAft>
                <a:spcPts val="0"/>
              </a:spcAft>
              <a:buSzPts val="2400"/>
              <a:buFont typeface="Roboto"/>
              <a:buNone/>
              <a:defRPr sz="2400">
                <a:latin typeface="Roboto"/>
                <a:ea typeface="Roboto"/>
                <a:cs typeface="Roboto"/>
                <a:sym typeface="Roboto"/>
              </a:defRPr>
            </a:lvl7pPr>
            <a:lvl8pPr lvl="7" rtl="0">
              <a:spcBef>
                <a:spcPts val="0"/>
              </a:spcBef>
              <a:spcAft>
                <a:spcPts val="0"/>
              </a:spcAft>
              <a:buSzPts val="2400"/>
              <a:buFont typeface="Roboto"/>
              <a:buNone/>
              <a:defRPr sz="2400">
                <a:latin typeface="Roboto"/>
                <a:ea typeface="Roboto"/>
                <a:cs typeface="Roboto"/>
                <a:sym typeface="Roboto"/>
              </a:defRPr>
            </a:lvl8pPr>
            <a:lvl9pPr lvl="8" rtl="0">
              <a:spcBef>
                <a:spcPts val="0"/>
              </a:spcBef>
              <a:spcAft>
                <a:spcPts val="0"/>
              </a:spcAft>
              <a:buSzPts val="2400"/>
              <a:buFont typeface="Roboto"/>
              <a:buNone/>
              <a:defRPr sz="2400">
                <a:latin typeface="Roboto"/>
                <a:ea typeface="Roboto"/>
                <a:cs typeface="Roboto"/>
                <a:sym typeface="Roboto"/>
              </a:defRPr>
            </a:lvl9pPr>
          </a:lstStyle>
          <a:p/>
        </p:txBody>
      </p:sp>
      <p:cxnSp>
        <p:nvCxnSpPr>
          <p:cNvPr id="95" name="Google Shape;95;p15"/>
          <p:cNvCxnSpPr/>
          <p:nvPr/>
        </p:nvCxnSpPr>
        <p:spPr>
          <a:xfrm>
            <a:off x="168250" y="4288400"/>
            <a:ext cx="8757000" cy="0"/>
          </a:xfrm>
          <a:prstGeom prst="straightConnector1">
            <a:avLst/>
          </a:prstGeom>
          <a:noFill/>
          <a:ln cap="flat" cmpd="sng" w="19050">
            <a:solidFill>
              <a:srgbClr val="BF9000"/>
            </a:solidFill>
            <a:prstDash val="solid"/>
            <a:round/>
            <a:headEnd len="med" w="med" type="none"/>
            <a:tailEnd len="med" w="med" type="none"/>
          </a:ln>
        </p:spPr>
      </p:cxn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6" name="Shape 96"/>
        <p:cNvGrpSpPr/>
        <p:nvPr/>
      </p:nvGrpSpPr>
      <p:grpSpPr>
        <a:xfrm>
          <a:off x="0" y="0"/>
          <a:ext cx="0" cy="0"/>
          <a:chOff x="0" y="0"/>
          <a:chExt cx="0" cy="0"/>
        </a:xfrm>
      </p:grpSpPr>
      <p:sp>
        <p:nvSpPr>
          <p:cNvPr id="97" name="Google Shape;97;p16"/>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dark">
  <p:cSld name="BLANK_1">
    <p:bg>
      <p:bgPr>
        <a:solidFill>
          <a:schemeClr val="dk1"/>
        </a:solidFill>
      </p:bgPr>
    </p:bg>
    <p:spTree>
      <p:nvGrpSpPr>
        <p:cNvPr id="98" name="Shape 98"/>
        <p:cNvGrpSpPr/>
        <p:nvPr/>
      </p:nvGrpSpPr>
      <p:grpSpPr>
        <a:xfrm>
          <a:off x="0" y="0"/>
          <a:ext cx="0" cy="0"/>
          <a:chOff x="0" y="0"/>
          <a:chExt cx="0" cy="0"/>
        </a:xfrm>
      </p:grpSpPr>
      <p:sp>
        <p:nvSpPr>
          <p:cNvPr id="99" name="Google Shape;99;p17"/>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terlude">
  <p:cSld name="SECTION_TITLE_AND_DESCRIPTION_1_3">
    <p:spTree>
      <p:nvGrpSpPr>
        <p:cNvPr id="100" name="Shape 100"/>
        <p:cNvGrpSpPr/>
        <p:nvPr/>
      </p:nvGrpSpPr>
      <p:grpSpPr>
        <a:xfrm>
          <a:off x="0" y="0"/>
          <a:ext cx="0" cy="0"/>
          <a:chOff x="0" y="0"/>
          <a:chExt cx="0" cy="0"/>
        </a:xfrm>
      </p:grpSpPr>
      <p:sp>
        <p:nvSpPr>
          <p:cNvPr id="101" name="Google Shape;101;p18"/>
          <p:cNvSpPr/>
          <p:nvPr/>
        </p:nvSpPr>
        <p:spPr>
          <a:xfrm>
            <a:off x="0" y="-125"/>
            <a:ext cx="4572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18"/>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103" name="Google Shape;103;p18"/>
          <p:cNvSpPr txBox="1"/>
          <p:nvPr>
            <p:ph idx="1" type="body"/>
          </p:nvPr>
        </p:nvSpPr>
        <p:spPr>
          <a:xfrm>
            <a:off x="4812375" y="402198"/>
            <a:ext cx="3999900" cy="4260900"/>
          </a:xfrm>
          <a:prstGeom prst="rect">
            <a:avLst/>
          </a:prstGeom>
        </p:spPr>
        <p:txBody>
          <a:bodyPr anchorCtr="0" anchor="ctr" bIns="91425" lIns="91425" spcFirstLastPara="1" rIns="91425" wrap="square" tIns="91425">
            <a:noAutofit/>
          </a:bodyPr>
          <a:lstStyle>
            <a:lvl1pPr indent="-342900" lvl="0" marL="457200" rtl="0">
              <a:spcBef>
                <a:spcPts val="600"/>
              </a:spcBef>
              <a:spcAft>
                <a:spcPts val="0"/>
              </a:spcAft>
              <a:buSzPts val="1800"/>
              <a:buFont typeface="Roboto Light"/>
              <a:buChar char="•"/>
              <a:defRPr>
                <a:latin typeface="Roboto Light"/>
                <a:ea typeface="Roboto Light"/>
                <a:cs typeface="Roboto Light"/>
                <a:sym typeface="Roboto Light"/>
              </a:defRPr>
            </a:lvl1pPr>
            <a:lvl2pPr indent="-342900" lvl="1" marL="914400" rtl="0">
              <a:spcBef>
                <a:spcPts val="600"/>
              </a:spcBef>
              <a:spcAft>
                <a:spcPts val="0"/>
              </a:spcAft>
              <a:buSzPts val="1800"/>
              <a:buFont typeface="Roboto Light"/>
              <a:buChar char="•"/>
              <a:defRPr>
                <a:latin typeface="Roboto Light"/>
                <a:ea typeface="Roboto Light"/>
                <a:cs typeface="Roboto Light"/>
                <a:sym typeface="Roboto Light"/>
              </a:defRPr>
            </a:lvl2pPr>
            <a:lvl3pPr indent="-342900" lvl="2" marL="1371600" rtl="0">
              <a:spcBef>
                <a:spcPts val="600"/>
              </a:spcBef>
              <a:spcAft>
                <a:spcPts val="0"/>
              </a:spcAft>
              <a:buSzPts val="1800"/>
              <a:buFont typeface="Roboto Light"/>
              <a:buChar char="•"/>
              <a:defRPr>
                <a:latin typeface="Roboto Light"/>
                <a:ea typeface="Roboto Light"/>
                <a:cs typeface="Roboto Light"/>
                <a:sym typeface="Roboto Light"/>
              </a:defRPr>
            </a:lvl3pPr>
            <a:lvl4pPr indent="-342900" lvl="3" marL="1828800" rtl="0">
              <a:spcBef>
                <a:spcPts val="600"/>
              </a:spcBef>
              <a:spcAft>
                <a:spcPts val="0"/>
              </a:spcAft>
              <a:buSzPts val="1800"/>
              <a:buFont typeface="Roboto Light"/>
              <a:buChar char="•"/>
              <a:defRPr>
                <a:latin typeface="Roboto Light"/>
                <a:ea typeface="Roboto Light"/>
                <a:cs typeface="Roboto Light"/>
                <a:sym typeface="Roboto Light"/>
              </a:defRPr>
            </a:lvl4pPr>
            <a:lvl5pPr indent="-342900" lvl="4" marL="2286000" rtl="0">
              <a:spcBef>
                <a:spcPts val="600"/>
              </a:spcBef>
              <a:spcAft>
                <a:spcPts val="0"/>
              </a:spcAft>
              <a:buSzPts val="1800"/>
              <a:buFont typeface="Roboto Light"/>
              <a:buChar char="•"/>
              <a:defRPr>
                <a:latin typeface="Roboto Light"/>
                <a:ea typeface="Roboto Light"/>
                <a:cs typeface="Roboto Light"/>
                <a:sym typeface="Roboto Light"/>
              </a:defRPr>
            </a:lvl5pPr>
            <a:lvl6pPr indent="-342900" lvl="5" marL="2743200" rtl="0">
              <a:spcBef>
                <a:spcPts val="600"/>
              </a:spcBef>
              <a:spcAft>
                <a:spcPts val="0"/>
              </a:spcAft>
              <a:buSzPts val="1800"/>
              <a:buFont typeface="Roboto Light"/>
              <a:buChar char="•"/>
              <a:defRPr>
                <a:latin typeface="Roboto Light"/>
                <a:ea typeface="Roboto Light"/>
                <a:cs typeface="Roboto Light"/>
                <a:sym typeface="Roboto Light"/>
              </a:defRPr>
            </a:lvl6pPr>
            <a:lvl7pPr indent="-342900" lvl="6" marL="3200400" rtl="0">
              <a:spcBef>
                <a:spcPts val="600"/>
              </a:spcBef>
              <a:spcAft>
                <a:spcPts val="0"/>
              </a:spcAft>
              <a:buSzPts val="1800"/>
              <a:buFont typeface="Roboto Light"/>
              <a:buChar char="•"/>
              <a:defRPr>
                <a:latin typeface="Roboto Light"/>
                <a:ea typeface="Roboto Light"/>
                <a:cs typeface="Roboto Light"/>
                <a:sym typeface="Roboto Light"/>
              </a:defRPr>
            </a:lvl7pPr>
            <a:lvl8pPr indent="-342900" lvl="7" marL="3657600" rtl="0">
              <a:spcBef>
                <a:spcPts val="600"/>
              </a:spcBef>
              <a:spcAft>
                <a:spcPts val="0"/>
              </a:spcAft>
              <a:buSzPts val="1800"/>
              <a:buFont typeface="Roboto Light"/>
              <a:buChar char="•"/>
              <a:defRPr>
                <a:latin typeface="Roboto Light"/>
                <a:ea typeface="Roboto Light"/>
                <a:cs typeface="Roboto Light"/>
                <a:sym typeface="Roboto Light"/>
              </a:defRPr>
            </a:lvl8pPr>
            <a:lvl9pPr indent="-342900" lvl="8" marL="4114800" rtl="0">
              <a:spcBef>
                <a:spcPts val="600"/>
              </a:spcBef>
              <a:spcAft>
                <a:spcPts val="0"/>
              </a:spcAft>
              <a:buSzPts val="1800"/>
              <a:buFont typeface="Roboto Light"/>
              <a:buChar char="•"/>
              <a:defRPr>
                <a:latin typeface="Roboto Light"/>
                <a:ea typeface="Roboto Light"/>
                <a:cs typeface="Roboto Light"/>
                <a:sym typeface="Roboto Light"/>
              </a:defRPr>
            </a:lvl9pPr>
          </a:lstStyle>
          <a:p/>
        </p:txBody>
      </p:sp>
      <p:pic>
        <p:nvPicPr>
          <p:cNvPr id="104" name="Google Shape;104;p1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105" name="Google Shape;105;p18"/>
          <p:cNvSpPr txBox="1"/>
          <p:nvPr>
            <p:ph type="title"/>
          </p:nvPr>
        </p:nvSpPr>
        <p:spPr>
          <a:xfrm>
            <a:off x="177925" y="2003300"/>
            <a:ext cx="4038000" cy="2037900"/>
          </a:xfrm>
          <a:prstGeom prst="rect">
            <a:avLst/>
          </a:prstGeom>
        </p:spPr>
        <p:txBody>
          <a:bodyPr anchorCtr="0" anchor="b" bIns="91425" lIns="91425" spcFirstLastPara="1" rIns="91425" wrap="square" tIns="91425">
            <a:noAutofit/>
          </a:bodyPr>
          <a:lstStyle>
            <a:lvl1pPr lvl="0" rtl="0">
              <a:spcBef>
                <a:spcPts val="0"/>
              </a:spcBef>
              <a:spcAft>
                <a:spcPts val="0"/>
              </a:spcAft>
              <a:buClr>
                <a:schemeClr val="lt1"/>
              </a:buClr>
              <a:buSzPts val="3600"/>
              <a:buNone/>
              <a:defRPr sz="3600">
                <a:solidFill>
                  <a:schemeClr val="lt1"/>
                </a:solidFill>
              </a:defRPr>
            </a:lvl1pPr>
            <a:lvl2pPr lvl="1" rtl="0">
              <a:spcBef>
                <a:spcPts val="0"/>
              </a:spcBef>
              <a:spcAft>
                <a:spcPts val="0"/>
              </a:spcAft>
              <a:buClr>
                <a:schemeClr val="lt1"/>
              </a:buClr>
              <a:buSzPts val="3600"/>
              <a:buNone/>
              <a:defRPr sz="3600">
                <a:solidFill>
                  <a:schemeClr val="lt1"/>
                </a:solidFill>
              </a:defRPr>
            </a:lvl2pPr>
            <a:lvl3pPr lvl="2" rtl="0">
              <a:spcBef>
                <a:spcPts val="0"/>
              </a:spcBef>
              <a:spcAft>
                <a:spcPts val="0"/>
              </a:spcAft>
              <a:buClr>
                <a:schemeClr val="lt1"/>
              </a:buClr>
              <a:buSzPts val="3600"/>
              <a:buNone/>
              <a:defRPr sz="3600">
                <a:solidFill>
                  <a:schemeClr val="lt1"/>
                </a:solidFill>
              </a:defRPr>
            </a:lvl3pPr>
            <a:lvl4pPr lvl="3" rtl="0">
              <a:spcBef>
                <a:spcPts val="0"/>
              </a:spcBef>
              <a:spcAft>
                <a:spcPts val="0"/>
              </a:spcAft>
              <a:buClr>
                <a:schemeClr val="lt1"/>
              </a:buClr>
              <a:buSzPts val="3600"/>
              <a:buNone/>
              <a:defRPr sz="3600">
                <a:solidFill>
                  <a:schemeClr val="lt1"/>
                </a:solidFill>
              </a:defRPr>
            </a:lvl4pPr>
            <a:lvl5pPr lvl="4" rtl="0">
              <a:spcBef>
                <a:spcPts val="0"/>
              </a:spcBef>
              <a:spcAft>
                <a:spcPts val="0"/>
              </a:spcAft>
              <a:buClr>
                <a:schemeClr val="lt1"/>
              </a:buClr>
              <a:buSzPts val="3600"/>
              <a:buNone/>
              <a:defRPr sz="3600">
                <a:solidFill>
                  <a:schemeClr val="lt1"/>
                </a:solidFill>
              </a:defRPr>
            </a:lvl5pPr>
            <a:lvl6pPr lvl="5" rtl="0">
              <a:spcBef>
                <a:spcPts val="0"/>
              </a:spcBef>
              <a:spcAft>
                <a:spcPts val="0"/>
              </a:spcAft>
              <a:buClr>
                <a:schemeClr val="lt1"/>
              </a:buClr>
              <a:buSzPts val="3600"/>
              <a:buNone/>
              <a:defRPr sz="3600">
                <a:solidFill>
                  <a:schemeClr val="lt1"/>
                </a:solidFill>
              </a:defRPr>
            </a:lvl6pPr>
            <a:lvl7pPr lvl="6" rtl="0">
              <a:spcBef>
                <a:spcPts val="0"/>
              </a:spcBef>
              <a:spcAft>
                <a:spcPts val="0"/>
              </a:spcAft>
              <a:buClr>
                <a:schemeClr val="lt1"/>
              </a:buClr>
              <a:buSzPts val="3600"/>
              <a:buNone/>
              <a:defRPr sz="3600">
                <a:solidFill>
                  <a:schemeClr val="lt1"/>
                </a:solidFill>
              </a:defRPr>
            </a:lvl7pPr>
            <a:lvl8pPr lvl="7" rtl="0">
              <a:spcBef>
                <a:spcPts val="0"/>
              </a:spcBef>
              <a:spcAft>
                <a:spcPts val="0"/>
              </a:spcAft>
              <a:buClr>
                <a:schemeClr val="lt1"/>
              </a:buClr>
              <a:buSzPts val="3600"/>
              <a:buNone/>
              <a:defRPr sz="3600">
                <a:solidFill>
                  <a:schemeClr val="lt1"/>
                </a:solidFill>
              </a:defRPr>
            </a:lvl8pPr>
            <a:lvl9pPr lvl="8" rtl="0">
              <a:spcBef>
                <a:spcPts val="0"/>
              </a:spcBef>
              <a:spcAft>
                <a:spcPts val="0"/>
              </a:spcAft>
              <a:buClr>
                <a:schemeClr val="lt1"/>
              </a:buClr>
              <a:buSzPts val="3600"/>
              <a:buNone/>
              <a:defRPr sz="3600">
                <a:solidFill>
                  <a:schemeClr val="lt1"/>
                </a:solidFill>
              </a:defRPr>
            </a:lvl9pPr>
          </a:lstStyle>
          <a:p/>
        </p:txBody>
      </p:sp>
      <p:cxnSp>
        <p:nvCxnSpPr>
          <p:cNvPr id="106" name="Google Shape;106;p18"/>
          <p:cNvCxnSpPr/>
          <p:nvPr/>
        </p:nvCxnSpPr>
        <p:spPr>
          <a:xfrm>
            <a:off x="266975" y="4049175"/>
            <a:ext cx="4038000" cy="0"/>
          </a:xfrm>
          <a:prstGeom prst="straightConnector1">
            <a:avLst/>
          </a:prstGeom>
          <a:noFill/>
          <a:ln cap="flat" cmpd="sng" w="19050">
            <a:solidFill>
              <a:srgbClr val="BF9000"/>
            </a:solidFill>
            <a:prstDash val="solid"/>
            <a:round/>
            <a:headEnd len="med" w="med" type="none"/>
            <a:tailEnd len="med" w="med" type="none"/>
          </a:ln>
        </p:spPr>
      </p:cxnSp>
      <p:sp>
        <p:nvSpPr>
          <p:cNvPr id="107" name="Google Shape;107;p18"/>
          <p:cNvSpPr txBox="1"/>
          <p:nvPr>
            <p:ph idx="2" type="subTitle"/>
          </p:nvPr>
        </p:nvSpPr>
        <p:spPr>
          <a:xfrm>
            <a:off x="177925" y="4068000"/>
            <a:ext cx="4158000" cy="393600"/>
          </a:xfrm>
          <a:prstGeom prst="rect">
            <a:avLst/>
          </a:prstGeom>
        </p:spPr>
        <p:txBody>
          <a:bodyPr anchorCtr="0" anchor="ctr" bIns="91425" lIns="91425" spcFirstLastPara="1" rIns="91425" wrap="square" tIns="91425">
            <a:noAutofit/>
          </a:bodyPr>
          <a:lstStyle>
            <a:lvl1pPr lvl="0" rtl="0">
              <a:lnSpc>
                <a:spcPct val="100000"/>
              </a:lnSpc>
              <a:spcBef>
                <a:spcPts val="600"/>
              </a:spcBef>
              <a:spcAft>
                <a:spcPts val="0"/>
              </a:spcAft>
              <a:buClr>
                <a:schemeClr val="lt1"/>
              </a:buClr>
              <a:buSzPts val="1800"/>
              <a:buNone/>
              <a:defRPr>
                <a:solidFill>
                  <a:schemeClr val="lt1"/>
                </a:solidFill>
              </a:defRPr>
            </a:lvl1pPr>
            <a:lvl2pPr lvl="1" rtl="0">
              <a:lnSpc>
                <a:spcPct val="100000"/>
              </a:lnSpc>
              <a:spcBef>
                <a:spcPts val="600"/>
              </a:spcBef>
              <a:spcAft>
                <a:spcPts val="0"/>
              </a:spcAft>
              <a:buClr>
                <a:schemeClr val="lt1"/>
              </a:buClr>
              <a:buSzPts val="2100"/>
              <a:buNone/>
              <a:defRPr sz="2100">
                <a:solidFill>
                  <a:schemeClr val="lt1"/>
                </a:solidFill>
              </a:defRPr>
            </a:lvl2pPr>
            <a:lvl3pPr lvl="2" rtl="0">
              <a:lnSpc>
                <a:spcPct val="100000"/>
              </a:lnSpc>
              <a:spcBef>
                <a:spcPts val="600"/>
              </a:spcBef>
              <a:spcAft>
                <a:spcPts val="0"/>
              </a:spcAft>
              <a:buClr>
                <a:schemeClr val="lt1"/>
              </a:buClr>
              <a:buSzPts val="2100"/>
              <a:buNone/>
              <a:defRPr sz="2100">
                <a:solidFill>
                  <a:schemeClr val="lt1"/>
                </a:solidFill>
              </a:defRPr>
            </a:lvl3pPr>
            <a:lvl4pPr lvl="3" rtl="0">
              <a:lnSpc>
                <a:spcPct val="100000"/>
              </a:lnSpc>
              <a:spcBef>
                <a:spcPts val="600"/>
              </a:spcBef>
              <a:spcAft>
                <a:spcPts val="0"/>
              </a:spcAft>
              <a:buClr>
                <a:schemeClr val="lt1"/>
              </a:buClr>
              <a:buSzPts val="2100"/>
              <a:buNone/>
              <a:defRPr sz="2100">
                <a:solidFill>
                  <a:schemeClr val="lt1"/>
                </a:solidFill>
              </a:defRPr>
            </a:lvl4pPr>
            <a:lvl5pPr lvl="4" rtl="0">
              <a:lnSpc>
                <a:spcPct val="100000"/>
              </a:lnSpc>
              <a:spcBef>
                <a:spcPts val="600"/>
              </a:spcBef>
              <a:spcAft>
                <a:spcPts val="0"/>
              </a:spcAft>
              <a:buClr>
                <a:schemeClr val="lt1"/>
              </a:buClr>
              <a:buSzPts val="2100"/>
              <a:buNone/>
              <a:defRPr sz="2100">
                <a:solidFill>
                  <a:schemeClr val="lt1"/>
                </a:solidFill>
              </a:defRPr>
            </a:lvl5pPr>
            <a:lvl6pPr lvl="5" rtl="0">
              <a:lnSpc>
                <a:spcPct val="100000"/>
              </a:lnSpc>
              <a:spcBef>
                <a:spcPts val="600"/>
              </a:spcBef>
              <a:spcAft>
                <a:spcPts val="0"/>
              </a:spcAft>
              <a:buClr>
                <a:schemeClr val="lt1"/>
              </a:buClr>
              <a:buSzPts val="2100"/>
              <a:buNone/>
              <a:defRPr sz="2100">
                <a:solidFill>
                  <a:schemeClr val="lt1"/>
                </a:solidFill>
              </a:defRPr>
            </a:lvl6pPr>
            <a:lvl7pPr lvl="6" rtl="0">
              <a:lnSpc>
                <a:spcPct val="100000"/>
              </a:lnSpc>
              <a:spcBef>
                <a:spcPts val="600"/>
              </a:spcBef>
              <a:spcAft>
                <a:spcPts val="0"/>
              </a:spcAft>
              <a:buClr>
                <a:schemeClr val="lt1"/>
              </a:buClr>
              <a:buSzPts val="2100"/>
              <a:buNone/>
              <a:defRPr sz="2100">
                <a:solidFill>
                  <a:schemeClr val="lt1"/>
                </a:solidFill>
              </a:defRPr>
            </a:lvl7pPr>
            <a:lvl8pPr lvl="7" rtl="0">
              <a:lnSpc>
                <a:spcPct val="100000"/>
              </a:lnSpc>
              <a:spcBef>
                <a:spcPts val="600"/>
              </a:spcBef>
              <a:spcAft>
                <a:spcPts val="0"/>
              </a:spcAft>
              <a:buClr>
                <a:schemeClr val="lt1"/>
              </a:buClr>
              <a:buSzPts val="2100"/>
              <a:buNone/>
              <a:defRPr sz="2100">
                <a:solidFill>
                  <a:schemeClr val="lt1"/>
                </a:solidFill>
              </a:defRPr>
            </a:lvl8pPr>
            <a:lvl9pPr lvl="8" rtl="0">
              <a:lnSpc>
                <a:spcPct val="100000"/>
              </a:lnSpc>
              <a:spcBef>
                <a:spcPts val="600"/>
              </a:spcBef>
              <a:spcAft>
                <a:spcPts val="0"/>
              </a:spcAft>
              <a:buClr>
                <a:schemeClr val="lt1"/>
              </a:buClr>
              <a:buSzPts val="2100"/>
              <a:buNone/>
              <a:defRPr sz="2100">
                <a:solidFill>
                  <a:schemeClr val="lt1"/>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1">
  <p:cSld name="SECTION_TITLE_AND_DESCRIPTION_1_1">
    <p:spTree>
      <p:nvGrpSpPr>
        <p:cNvPr id="108" name="Shape 108"/>
        <p:cNvGrpSpPr/>
        <p:nvPr/>
      </p:nvGrpSpPr>
      <p:grpSpPr>
        <a:xfrm>
          <a:off x="0" y="0"/>
          <a:ext cx="0" cy="0"/>
          <a:chOff x="0" y="0"/>
          <a:chExt cx="0" cy="0"/>
        </a:xfrm>
      </p:grpSpPr>
      <p:sp>
        <p:nvSpPr>
          <p:cNvPr id="109" name="Google Shape;109;p19"/>
          <p:cNvSpPr/>
          <p:nvPr/>
        </p:nvSpPr>
        <p:spPr>
          <a:xfrm>
            <a:off x="4572000" y="-125"/>
            <a:ext cx="4572000" cy="5143500"/>
          </a:xfrm>
          <a:prstGeom prst="rect">
            <a:avLst/>
          </a:prstGeom>
          <a:solidFill>
            <a:srgbClr val="CFE2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19"/>
          <p:cNvSpPr txBox="1"/>
          <p:nvPr>
            <p:ph type="title"/>
          </p:nvPr>
        </p:nvSpPr>
        <p:spPr>
          <a:xfrm>
            <a:off x="265500" y="1233175"/>
            <a:ext cx="4045200" cy="14823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1600"/>
              <a:buNone/>
              <a:defRPr/>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111" name="Google Shape;111;p19"/>
          <p:cNvSpPr txBox="1"/>
          <p:nvPr>
            <p:ph idx="1" type="subTitle"/>
          </p:nvPr>
        </p:nvSpPr>
        <p:spPr>
          <a:xfrm>
            <a:off x="265500" y="2803075"/>
            <a:ext cx="4045200" cy="1235100"/>
          </a:xfrm>
          <a:prstGeom prst="rect">
            <a:avLst/>
          </a:prstGeom>
        </p:spPr>
        <p:txBody>
          <a:bodyPr anchorCtr="0" anchor="t" bIns="91425" lIns="91425" spcFirstLastPara="1" rIns="91425" wrap="square" tIns="91425">
            <a:noAutofit/>
          </a:bodyPr>
          <a:lstStyle>
            <a:lvl1pPr lvl="0" rtl="0" algn="ctr">
              <a:lnSpc>
                <a:spcPct val="100000"/>
              </a:lnSpc>
              <a:spcBef>
                <a:spcPts val="600"/>
              </a:spcBef>
              <a:spcAft>
                <a:spcPts val="0"/>
              </a:spcAft>
              <a:buSzPts val="1800"/>
              <a:buNone/>
              <a:defRPr/>
            </a:lvl1pPr>
            <a:lvl2pPr lvl="1" rtl="0" algn="ctr">
              <a:lnSpc>
                <a:spcPct val="100000"/>
              </a:lnSpc>
              <a:spcBef>
                <a:spcPts val="600"/>
              </a:spcBef>
              <a:spcAft>
                <a:spcPts val="0"/>
              </a:spcAft>
              <a:buSzPts val="2100"/>
              <a:buNone/>
              <a:defRPr sz="2100"/>
            </a:lvl2pPr>
            <a:lvl3pPr lvl="2" rtl="0" algn="ctr">
              <a:lnSpc>
                <a:spcPct val="100000"/>
              </a:lnSpc>
              <a:spcBef>
                <a:spcPts val="600"/>
              </a:spcBef>
              <a:spcAft>
                <a:spcPts val="0"/>
              </a:spcAft>
              <a:buSzPts val="2100"/>
              <a:buNone/>
              <a:defRPr sz="2100"/>
            </a:lvl3pPr>
            <a:lvl4pPr lvl="3" rtl="0" algn="ctr">
              <a:lnSpc>
                <a:spcPct val="100000"/>
              </a:lnSpc>
              <a:spcBef>
                <a:spcPts val="600"/>
              </a:spcBef>
              <a:spcAft>
                <a:spcPts val="0"/>
              </a:spcAft>
              <a:buSzPts val="2100"/>
              <a:buNone/>
              <a:defRPr sz="2100"/>
            </a:lvl4pPr>
            <a:lvl5pPr lvl="4" rtl="0" algn="ctr">
              <a:lnSpc>
                <a:spcPct val="100000"/>
              </a:lnSpc>
              <a:spcBef>
                <a:spcPts val="600"/>
              </a:spcBef>
              <a:spcAft>
                <a:spcPts val="0"/>
              </a:spcAft>
              <a:buSzPts val="2100"/>
              <a:buNone/>
              <a:defRPr sz="2100"/>
            </a:lvl5pPr>
            <a:lvl6pPr lvl="5" rtl="0" algn="ctr">
              <a:lnSpc>
                <a:spcPct val="100000"/>
              </a:lnSpc>
              <a:spcBef>
                <a:spcPts val="600"/>
              </a:spcBef>
              <a:spcAft>
                <a:spcPts val="0"/>
              </a:spcAft>
              <a:buSzPts val="2100"/>
              <a:buNone/>
              <a:defRPr sz="2100"/>
            </a:lvl6pPr>
            <a:lvl7pPr lvl="6" rtl="0" algn="ctr">
              <a:lnSpc>
                <a:spcPct val="100000"/>
              </a:lnSpc>
              <a:spcBef>
                <a:spcPts val="600"/>
              </a:spcBef>
              <a:spcAft>
                <a:spcPts val="0"/>
              </a:spcAft>
              <a:buSzPts val="2100"/>
              <a:buNone/>
              <a:defRPr sz="2100"/>
            </a:lvl7pPr>
            <a:lvl8pPr lvl="7" rtl="0" algn="ctr">
              <a:lnSpc>
                <a:spcPct val="100000"/>
              </a:lnSpc>
              <a:spcBef>
                <a:spcPts val="600"/>
              </a:spcBef>
              <a:spcAft>
                <a:spcPts val="0"/>
              </a:spcAft>
              <a:buSzPts val="2100"/>
              <a:buNone/>
              <a:defRPr sz="2100"/>
            </a:lvl8pPr>
            <a:lvl9pPr lvl="8" rtl="0" algn="ctr">
              <a:lnSpc>
                <a:spcPct val="100000"/>
              </a:lnSpc>
              <a:spcBef>
                <a:spcPts val="600"/>
              </a:spcBef>
              <a:spcAft>
                <a:spcPts val="0"/>
              </a:spcAft>
              <a:buSzPts val="2100"/>
              <a:buNone/>
              <a:defRPr sz="2100"/>
            </a:lvl9pPr>
          </a:lstStyle>
          <a:p/>
        </p:txBody>
      </p:sp>
      <p:sp>
        <p:nvSpPr>
          <p:cNvPr id="112" name="Google Shape;112;p19"/>
          <p:cNvSpPr txBox="1"/>
          <p:nvPr>
            <p:ph idx="2" type="body"/>
          </p:nvPr>
        </p:nvSpPr>
        <p:spPr>
          <a:xfrm>
            <a:off x="4939500" y="724075"/>
            <a:ext cx="3837000" cy="3695100"/>
          </a:xfrm>
          <a:prstGeom prst="rect">
            <a:avLst/>
          </a:prstGeom>
        </p:spPr>
        <p:txBody>
          <a:bodyPr anchorCtr="0" anchor="ctr" bIns="91425" lIns="91425" spcFirstLastPara="1" rIns="91425" wrap="square" tIns="91425">
            <a:noAutofit/>
          </a:bodyPr>
          <a:lstStyle>
            <a:lvl1pPr indent="-342900" lvl="0" marL="457200" rtl="0">
              <a:spcBef>
                <a:spcPts val="600"/>
              </a:spcBef>
              <a:spcAft>
                <a:spcPts val="0"/>
              </a:spcAft>
              <a:buSzPts val="1800"/>
              <a:buChar char="•"/>
              <a:defRPr/>
            </a:lvl1pPr>
            <a:lvl2pPr indent="-342900" lvl="1" marL="914400" rtl="0">
              <a:spcBef>
                <a:spcPts val="600"/>
              </a:spcBef>
              <a:spcAft>
                <a:spcPts val="0"/>
              </a:spcAft>
              <a:buSzPts val="1800"/>
              <a:buChar char="•"/>
              <a:defRPr/>
            </a:lvl2pPr>
            <a:lvl3pPr indent="-342900" lvl="2" marL="1371600" rtl="0">
              <a:spcBef>
                <a:spcPts val="600"/>
              </a:spcBef>
              <a:spcAft>
                <a:spcPts val="0"/>
              </a:spcAft>
              <a:buSzPts val="1800"/>
              <a:buChar char="•"/>
              <a:defRPr/>
            </a:lvl3pPr>
            <a:lvl4pPr indent="-342900" lvl="3" marL="1828800" rtl="0">
              <a:spcBef>
                <a:spcPts val="600"/>
              </a:spcBef>
              <a:spcAft>
                <a:spcPts val="0"/>
              </a:spcAft>
              <a:buSzPts val="1800"/>
              <a:buChar char="•"/>
              <a:defRPr/>
            </a:lvl4pPr>
            <a:lvl5pPr indent="-342900" lvl="4" marL="2286000" rtl="0">
              <a:spcBef>
                <a:spcPts val="600"/>
              </a:spcBef>
              <a:spcAft>
                <a:spcPts val="0"/>
              </a:spcAft>
              <a:buSzPts val="1800"/>
              <a:buChar char="•"/>
              <a:defRPr/>
            </a:lvl5pPr>
            <a:lvl6pPr indent="-342900" lvl="5" marL="2743200" rtl="0">
              <a:spcBef>
                <a:spcPts val="600"/>
              </a:spcBef>
              <a:spcAft>
                <a:spcPts val="0"/>
              </a:spcAft>
              <a:buSzPts val="1800"/>
              <a:buChar char="•"/>
              <a:defRPr/>
            </a:lvl6pPr>
            <a:lvl7pPr indent="-342900" lvl="6" marL="3200400" rtl="0">
              <a:spcBef>
                <a:spcPts val="600"/>
              </a:spcBef>
              <a:spcAft>
                <a:spcPts val="0"/>
              </a:spcAft>
              <a:buSzPts val="1800"/>
              <a:buChar char="•"/>
              <a:defRPr/>
            </a:lvl7pPr>
            <a:lvl8pPr indent="-342900" lvl="7" marL="3657600" rtl="0">
              <a:spcBef>
                <a:spcPts val="600"/>
              </a:spcBef>
              <a:spcAft>
                <a:spcPts val="0"/>
              </a:spcAft>
              <a:buSzPts val="1800"/>
              <a:buChar char="•"/>
              <a:defRPr/>
            </a:lvl8pPr>
            <a:lvl9pPr indent="-342900" lvl="8" marL="4114800" rtl="0">
              <a:spcBef>
                <a:spcPts val="600"/>
              </a:spcBef>
              <a:spcAft>
                <a:spcPts val="0"/>
              </a:spcAft>
              <a:buSzPts val="1800"/>
              <a:buChar char="•"/>
              <a:defRPr/>
            </a:lvl9pPr>
          </a:lstStyle>
          <a:p/>
        </p:txBody>
      </p:sp>
      <p:sp>
        <p:nvSpPr>
          <p:cNvPr id="113" name="Google Shape;113;p19"/>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de on left">
  <p:cSld name="SECTION_TITLE_AND_DESCRIPTION_1_1_1">
    <p:spTree>
      <p:nvGrpSpPr>
        <p:cNvPr id="114" name="Shape 114"/>
        <p:cNvGrpSpPr/>
        <p:nvPr/>
      </p:nvGrpSpPr>
      <p:grpSpPr>
        <a:xfrm>
          <a:off x="0" y="0"/>
          <a:ext cx="0" cy="0"/>
          <a:chOff x="0" y="0"/>
          <a:chExt cx="0" cy="0"/>
        </a:xfrm>
      </p:grpSpPr>
      <p:sp>
        <p:nvSpPr>
          <p:cNvPr id="115" name="Google Shape;115;p20"/>
          <p:cNvSpPr/>
          <p:nvPr/>
        </p:nvSpPr>
        <p:spPr>
          <a:xfrm>
            <a:off x="0" y="6"/>
            <a:ext cx="4572000" cy="5143500"/>
          </a:xfrm>
          <a:prstGeom prst="rect">
            <a:avLst/>
          </a:prstGeom>
          <a:solidFill>
            <a:srgbClr val="FDF6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20"/>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20"/>
          <p:cNvSpPr txBox="1"/>
          <p:nvPr>
            <p:ph idx="1" type="body"/>
          </p:nvPr>
        </p:nvSpPr>
        <p:spPr>
          <a:xfrm>
            <a:off x="4882900" y="1152150"/>
            <a:ext cx="3950100" cy="34200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Char char="•"/>
              <a:defRPr/>
            </a:lvl1pPr>
            <a:lvl2pPr indent="-342900" lvl="1" marL="914400" rtl="0">
              <a:spcBef>
                <a:spcPts val="600"/>
              </a:spcBef>
              <a:spcAft>
                <a:spcPts val="0"/>
              </a:spcAft>
              <a:buSzPts val="1800"/>
              <a:buChar char="•"/>
              <a:defRPr/>
            </a:lvl2pPr>
            <a:lvl3pPr indent="-342900" lvl="2" marL="1371600" rtl="0">
              <a:spcBef>
                <a:spcPts val="600"/>
              </a:spcBef>
              <a:spcAft>
                <a:spcPts val="0"/>
              </a:spcAft>
              <a:buSzPts val="1800"/>
              <a:buChar char="•"/>
              <a:defRPr/>
            </a:lvl3pPr>
            <a:lvl4pPr indent="-342900" lvl="3" marL="1828800" rtl="0">
              <a:spcBef>
                <a:spcPts val="600"/>
              </a:spcBef>
              <a:spcAft>
                <a:spcPts val="0"/>
              </a:spcAft>
              <a:buSzPts val="1800"/>
              <a:buChar char="•"/>
              <a:defRPr/>
            </a:lvl4pPr>
            <a:lvl5pPr indent="-342900" lvl="4" marL="2286000" rtl="0">
              <a:spcBef>
                <a:spcPts val="600"/>
              </a:spcBef>
              <a:spcAft>
                <a:spcPts val="0"/>
              </a:spcAft>
              <a:buSzPts val="1800"/>
              <a:buChar char="•"/>
              <a:defRPr/>
            </a:lvl5pPr>
            <a:lvl6pPr indent="-342900" lvl="5" marL="2743200" rtl="0">
              <a:spcBef>
                <a:spcPts val="600"/>
              </a:spcBef>
              <a:spcAft>
                <a:spcPts val="0"/>
              </a:spcAft>
              <a:buSzPts val="1800"/>
              <a:buChar char="•"/>
              <a:defRPr/>
            </a:lvl6pPr>
            <a:lvl7pPr indent="-342900" lvl="6" marL="3200400" rtl="0">
              <a:spcBef>
                <a:spcPts val="600"/>
              </a:spcBef>
              <a:spcAft>
                <a:spcPts val="0"/>
              </a:spcAft>
              <a:buSzPts val="1800"/>
              <a:buChar char="•"/>
              <a:defRPr/>
            </a:lvl7pPr>
            <a:lvl8pPr indent="-342900" lvl="7" marL="3657600" rtl="0">
              <a:spcBef>
                <a:spcPts val="600"/>
              </a:spcBef>
              <a:spcAft>
                <a:spcPts val="0"/>
              </a:spcAft>
              <a:buSzPts val="1800"/>
              <a:buChar char="•"/>
              <a:defRPr/>
            </a:lvl8pPr>
            <a:lvl9pPr indent="-342900" lvl="8" marL="4114800" rtl="0">
              <a:spcBef>
                <a:spcPts val="600"/>
              </a:spcBef>
              <a:spcAft>
                <a:spcPts val="0"/>
              </a:spcAft>
              <a:buSzPts val="1800"/>
              <a:buChar char="•"/>
              <a:defRPr/>
            </a:lvl9pPr>
          </a:lstStyle>
          <a:p/>
        </p:txBody>
      </p:sp>
      <p:sp>
        <p:nvSpPr>
          <p:cNvPr id="118" name="Google Shape;118;p20"/>
          <p:cNvSpPr txBox="1"/>
          <p:nvPr>
            <p:ph idx="2" type="body"/>
          </p:nvPr>
        </p:nvSpPr>
        <p:spPr>
          <a:xfrm>
            <a:off x="310900" y="448050"/>
            <a:ext cx="3950100" cy="41241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Char char="•"/>
              <a:defRPr/>
            </a:lvl1pPr>
            <a:lvl2pPr indent="-342900" lvl="1" marL="914400" rtl="0">
              <a:spcBef>
                <a:spcPts val="600"/>
              </a:spcBef>
              <a:spcAft>
                <a:spcPts val="0"/>
              </a:spcAft>
              <a:buSzPts val="1800"/>
              <a:buChar char="•"/>
              <a:defRPr/>
            </a:lvl2pPr>
            <a:lvl3pPr indent="-342900" lvl="2" marL="1371600" rtl="0">
              <a:spcBef>
                <a:spcPts val="600"/>
              </a:spcBef>
              <a:spcAft>
                <a:spcPts val="0"/>
              </a:spcAft>
              <a:buSzPts val="1800"/>
              <a:buChar char="•"/>
              <a:defRPr/>
            </a:lvl3pPr>
            <a:lvl4pPr indent="-342900" lvl="3" marL="1828800" rtl="0">
              <a:spcBef>
                <a:spcPts val="600"/>
              </a:spcBef>
              <a:spcAft>
                <a:spcPts val="0"/>
              </a:spcAft>
              <a:buSzPts val="1800"/>
              <a:buChar char="•"/>
              <a:defRPr/>
            </a:lvl4pPr>
            <a:lvl5pPr indent="-342900" lvl="4" marL="2286000" rtl="0">
              <a:spcBef>
                <a:spcPts val="600"/>
              </a:spcBef>
              <a:spcAft>
                <a:spcPts val="0"/>
              </a:spcAft>
              <a:buSzPts val="1800"/>
              <a:buChar char="•"/>
              <a:defRPr/>
            </a:lvl5pPr>
            <a:lvl6pPr indent="-342900" lvl="5" marL="2743200" rtl="0">
              <a:spcBef>
                <a:spcPts val="600"/>
              </a:spcBef>
              <a:spcAft>
                <a:spcPts val="0"/>
              </a:spcAft>
              <a:buSzPts val="1800"/>
              <a:buChar char="•"/>
              <a:defRPr/>
            </a:lvl6pPr>
            <a:lvl7pPr indent="-342900" lvl="6" marL="3200400" rtl="0">
              <a:spcBef>
                <a:spcPts val="600"/>
              </a:spcBef>
              <a:spcAft>
                <a:spcPts val="0"/>
              </a:spcAft>
              <a:buSzPts val="1800"/>
              <a:buChar char="•"/>
              <a:defRPr/>
            </a:lvl7pPr>
            <a:lvl8pPr indent="-342900" lvl="7" marL="3657600" rtl="0">
              <a:spcBef>
                <a:spcPts val="600"/>
              </a:spcBef>
              <a:spcAft>
                <a:spcPts val="0"/>
              </a:spcAft>
              <a:buSzPts val="1800"/>
              <a:buChar char="•"/>
              <a:defRPr/>
            </a:lvl8pPr>
            <a:lvl9pPr indent="-342900" lvl="8" marL="4114800" rtl="0">
              <a:spcBef>
                <a:spcPts val="600"/>
              </a:spcBef>
              <a:spcAft>
                <a:spcPts val="0"/>
              </a:spcAft>
              <a:buSzPts val="1800"/>
              <a:buChar char="•"/>
              <a:defRPr/>
            </a:lvl9pPr>
          </a:lstStyle>
          <a:p/>
        </p:txBody>
      </p:sp>
      <p:sp>
        <p:nvSpPr>
          <p:cNvPr id="119" name="Google Shape;119;p20"/>
          <p:cNvSpPr txBox="1"/>
          <p:nvPr>
            <p:ph type="title"/>
          </p:nvPr>
        </p:nvSpPr>
        <p:spPr>
          <a:xfrm>
            <a:off x="4882900" y="445025"/>
            <a:ext cx="39501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120" name="Google Shape;120;p20"/>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de left, Heading">
  <p:cSld name="SECTION_TITLE_AND_DESCRIPTION_1_1_1_1">
    <p:spTree>
      <p:nvGrpSpPr>
        <p:cNvPr id="121" name="Shape 121"/>
        <p:cNvGrpSpPr/>
        <p:nvPr/>
      </p:nvGrpSpPr>
      <p:grpSpPr>
        <a:xfrm>
          <a:off x="0" y="0"/>
          <a:ext cx="0" cy="0"/>
          <a:chOff x="0" y="0"/>
          <a:chExt cx="0" cy="0"/>
        </a:xfrm>
      </p:grpSpPr>
      <p:sp>
        <p:nvSpPr>
          <p:cNvPr id="122" name="Google Shape;122;p21"/>
          <p:cNvSpPr/>
          <p:nvPr/>
        </p:nvSpPr>
        <p:spPr>
          <a:xfrm>
            <a:off x="0" y="6"/>
            <a:ext cx="4572000" cy="5143500"/>
          </a:xfrm>
          <a:prstGeom prst="rect">
            <a:avLst/>
          </a:prstGeom>
          <a:solidFill>
            <a:srgbClr val="FDF6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1"/>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124" name="Google Shape;124;p21"/>
          <p:cNvSpPr txBox="1"/>
          <p:nvPr>
            <p:ph idx="1" type="body"/>
          </p:nvPr>
        </p:nvSpPr>
        <p:spPr>
          <a:xfrm>
            <a:off x="4882900" y="1152150"/>
            <a:ext cx="3950100" cy="34200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Char char="•"/>
              <a:defRPr/>
            </a:lvl1pPr>
            <a:lvl2pPr indent="-342900" lvl="1" marL="914400" rtl="0">
              <a:spcBef>
                <a:spcPts val="600"/>
              </a:spcBef>
              <a:spcAft>
                <a:spcPts val="0"/>
              </a:spcAft>
              <a:buSzPts val="1800"/>
              <a:buChar char="•"/>
              <a:defRPr/>
            </a:lvl2pPr>
            <a:lvl3pPr indent="-342900" lvl="2" marL="1371600" rtl="0">
              <a:spcBef>
                <a:spcPts val="600"/>
              </a:spcBef>
              <a:spcAft>
                <a:spcPts val="0"/>
              </a:spcAft>
              <a:buSzPts val="1800"/>
              <a:buChar char="•"/>
              <a:defRPr/>
            </a:lvl3pPr>
            <a:lvl4pPr indent="-342900" lvl="3" marL="1828800" rtl="0">
              <a:spcBef>
                <a:spcPts val="600"/>
              </a:spcBef>
              <a:spcAft>
                <a:spcPts val="0"/>
              </a:spcAft>
              <a:buSzPts val="1800"/>
              <a:buChar char="•"/>
              <a:defRPr/>
            </a:lvl4pPr>
            <a:lvl5pPr indent="-342900" lvl="4" marL="2286000" rtl="0">
              <a:spcBef>
                <a:spcPts val="600"/>
              </a:spcBef>
              <a:spcAft>
                <a:spcPts val="0"/>
              </a:spcAft>
              <a:buSzPts val="1800"/>
              <a:buChar char="•"/>
              <a:defRPr/>
            </a:lvl5pPr>
            <a:lvl6pPr indent="-342900" lvl="5" marL="2743200" rtl="0">
              <a:spcBef>
                <a:spcPts val="600"/>
              </a:spcBef>
              <a:spcAft>
                <a:spcPts val="0"/>
              </a:spcAft>
              <a:buSzPts val="1800"/>
              <a:buChar char="•"/>
              <a:defRPr/>
            </a:lvl6pPr>
            <a:lvl7pPr indent="-342900" lvl="6" marL="3200400" rtl="0">
              <a:spcBef>
                <a:spcPts val="600"/>
              </a:spcBef>
              <a:spcAft>
                <a:spcPts val="0"/>
              </a:spcAft>
              <a:buSzPts val="1800"/>
              <a:buChar char="•"/>
              <a:defRPr/>
            </a:lvl7pPr>
            <a:lvl8pPr indent="-342900" lvl="7" marL="3657600" rtl="0">
              <a:spcBef>
                <a:spcPts val="600"/>
              </a:spcBef>
              <a:spcAft>
                <a:spcPts val="0"/>
              </a:spcAft>
              <a:buSzPts val="1800"/>
              <a:buChar char="•"/>
              <a:defRPr/>
            </a:lvl8pPr>
            <a:lvl9pPr indent="-342900" lvl="8" marL="4114800" rtl="0">
              <a:spcBef>
                <a:spcPts val="600"/>
              </a:spcBef>
              <a:spcAft>
                <a:spcPts val="0"/>
              </a:spcAft>
              <a:buSzPts val="1800"/>
              <a:buChar char="•"/>
              <a:defRPr/>
            </a:lvl9pPr>
          </a:lstStyle>
          <a:p/>
        </p:txBody>
      </p:sp>
      <p:sp>
        <p:nvSpPr>
          <p:cNvPr id="125" name="Google Shape;125;p21"/>
          <p:cNvSpPr txBox="1"/>
          <p:nvPr>
            <p:ph idx="2" type="body"/>
          </p:nvPr>
        </p:nvSpPr>
        <p:spPr>
          <a:xfrm>
            <a:off x="310900" y="448050"/>
            <a:ext cx="3950100" cy="41241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Char char="•"/>
              <a:defRPr/>
            </a:lvl1pPr>
            <a:lvl2pPr indent="-342900" lvl="1" marL="914400" rtl="0">
              <a:spcBef>
                <a:spcPts val="600"/>
              </a:spcBef>
              <a:spcAft>
                <a:spcPts val="0"/>
              </a:spcAft>
              <a:buSzPts val="1800"/>
              <a:buChar char="•"/>
              <a:defRPr/>
            </a:lvl2pPr>
            <a:lvl3pPr indent="-342900" lvl="2" marL="1371600" rtl="0">
              <a:spcBef>
                <a:spcPts val="600"/>
              </a:spcBef>
              <a:spcAft>
                <a:spcPts val="0"/>
              </a:spcAft>
              <a:buSzPts val="1800"/>
              <a:buChar char="•"/>
              <a:defRPr/>
            </a:lvl3pPr>
            <a:lvl4pPr indent="-342900" lvl="3" marL="1828800" rtl="0">
              <a:spcBef>
                <a:spcPts val="600"/>
              </a:spcBef>
              <a:spcAft>
                <a:spcPts val="0"/>
              </a:spcAft>
              <a:buSzPts val="1800"/>
              <a:buChar char="•"/>
              <a:defRPr/>
            </a:lvl4pPr>
            <a:lvl5pPr indent="-342900" lvl="4" marL="2286000" rtl="0">
              <a:spcBef>
                <a:spcPts val="600"/>
              </a:spcBef>
              <a:spcAft>
                <a:spcPts val="0"/>
              </a:spcAft>
              <a:buSzPts val="1800"/>
              <a:buChar char="•"/>
              <a:defRPr/>
            </a:lvl5pPr>
            <a:lvl6pPr indent="-342900" lvl="5" marL="2743200" rtl="0">
              <a:spcBef>
                <a:spcPts val="600"/>
              </a:spcBef>
              <a:spcAft>
                <a:spcPts val="0"/>
              </a:spcAft>
              <a:buSzPts val="1800"/>
              <a:buChar char="•"/>
              <a:defRPr/>
            </a:lvl6pPr>
            <a:lvl7pPr indent="-342900" lvl="6" marL="3200400" rtl="0">
              <a:spcBef>
                <a:spcPts val="600"/>
              </a:spcBef>
              <a:spcAft>
                <a:spcPts val="0"/>
              </a:spcAft>
              <a:buSzPts val="1800"/>
              <a:buChar char="•"/>
              <a:defRPr/>
            </a:lvl7pPr>
            <a:lvl8pPr indent="-342900" lvl="7" marL="3657600" rtl="0">
              <a:spcBef>
                <a:spcPts val="600"/>
              </a:spcBef>
              <a:spcAft>
                <a:spcPts val="0"/>
              </a:spcAft>
              <a:buSzPts val="1800"/>
              <a:buChar char="•"/>
              <a:defRPr/>
            </a:lvl8pPr>
            <a:lvl9pPr indent="-342900" lvl="8" marL="4114800" rtl="0">
              <a:spcBef>
                <a:spcPts val="600"/>
              </a:spcBef>
              <a:spcAft>
                <a:spcPts val="0"/>
              </a:spcAft>
              <a:buSzPts val="1800"/>
              <a:buChar char="•"/>
              <a:defRPr/>
            </a:lvl9pPr>
          </a:lstStyle>
          <a:p/>
        </p:txBody>
      </p:sp>
      <p:sp>
        <p:nvSpPr>
          <p:cNvPr id="126" name="Google Shape;126;p21"/>
          <p:cNvSpPr txBox="1"/>
          <p:nvPr>
            <p:ph idx="3" type="subTitle"/>
          </p:nvPr>
        </p:nvSpPr>
        <p:spPr>
          <a:xfrm>
            <a:off x="225450" y="3943400"/>
            <a:ext cx="4045200" cy="465000"/>
          </a:xfrm>
          <a:prstGeom prst="rect">
            <a:avLst/>
          </a:prstGeom>
        </p:spPr>
        <p:txBody>
          <a:bodyPr anchorCtr="0" anchor="t" bIns="91425" lIns="91425" spcFirstLastPara="1" rIns="91425" wrap="square" tIns="91425">
            <a:noAutofit/>
          </a:bodyPr>
          <a:lstStyle>
            <a:lvl1pPr lvl="0" rtl="0">
              <a:lnSpc>
                <a:spcPct val="100000"/>
              </a:lnSpc>
              <a:spcBef>
                <a:spcPts val="600"/>
              </a:spcBef>
              <a:spcAft>
                <a:spcPts val="0"/>
              </a:spcAft>
              <a:buSzPts val="1800"/>
              <a:buNone/>
              <a:defRPr/>
            </a:lvl1pPr>
            <a:lvl2pPr lvl="1" rtl="0" algn="ctr">
              <a:lnSpc>
                <a:spcPct val="100000"/>
              </a:lnSpc>
              <a:spcBef>
                <a:spcPts val="600"/>
              </a:spcBef>
              <a:spcAft>
                <a:spcPts val="0"/>
              </a:spcAft>
              <a:buSzPts val="2100"/>
              <a:buNone/>
              <a:defRPr sz="2100"/>
            </a:lvl2pPr>
            <a:lvl3pPr lvl="2" rtl="0" algn="ctr">
              <a:lnSpc>
                <a:spcPct val="100000"/>
              </a:lnSpc>
              <a:spcBef>
                <a:spcPts val="600"/>
              </a:spcBef>
              <a:spcAft>
                <a:spcPts val="0"/>
              </a:spcAft>
              <a:buSzPts val="2100"/>
              <a:buNone/>
              <a:defRPr sz="2100"/>
            </a:lvl3pPr>
            <a:lvl4pPr lvl="3" rtl="0" algn="ctr">
              <a:lnSpc>
                <a:spcPct val="100000"/>
              </a:lnSpc>
              <a:spcBef>
                <a:spcPts val="600"/>
              </a:spcBef>
              <a:spcAft>
                <a:spcPts val="0"/>
              </a:spcAft>
              <a:buSzPts val="2100"/>
              <a:buNone/>
              <a:defRPr sz="2100"/>
            </a:lvl4pPr>
            <a:lvl5pPr lvl="4" rtl="0" algn="ctr">
              <a:lnSpc>
                <a:spcPct val="100000"/>
              </a:lnSpc>
              <a:spcBef>
                <a:spcPts val="600"/>
              </a:spcBef>
              <a:spcAft>
                <a:spcPts val="0"/>
              </a:spcAft>
              <a:buSzPts val="2100"/>
              <a:buNone/>
              <a:defRPr sz="2100"/>
            </a:lvl5pPr>
            <a:lvl6pPr lvl="5" rtl="0" algn="ctr">
              <a:lnSpc>
                <a:spcPct val="100000"/>
              </a:lnSpc>
              <a:spcBef>
                <a:spcPts val="600"/>
              </a:spcBef>
              <a:spcAft>
                <a:spcPts val="0"/>
              </a:spcAft>
              <a:buSzPts val="2100"/>
              <a:buNone/>
              <a:defRPr sz="2100"/>
            </a:lvl6pPr>
            <a:lvl7pPr lvl="6" rtl="0" algn="ctr">
              <a:lnSpc>
                <a:spcPct val="100000"/>
              </a:lnSpc>
              <a:spcBef>
                <a:spcPts val="600"/>
              </a:spcBef>
              <a:spcAft>
                <a:spcPts val="0"/>
              </a:spcAft>
              <a:buSzPts val="2100"/>
              <a:buNone/>
              <a:defRPr sz="2100"/>
            </a:lvl7pPr>
            <a:lvl8pPr lvl="7" rtl="0" algn="ctr">
              <a:lnSpc>
                <a:spcPct val="100000"/>
              </a:lnSpc>
              <a:spcBef>
                <a:spcPts val="600"/>
              </a:spcBef>
              <a:spcAft>
                <a:spcPts val="0"/>
              </a:spcAft>
              <a:buSzPts val="2100"/>
              <a:buNone/>
              <a:defRPr sz="2100"/>
            </a:lvl8pPr>
            <a:lvl9pPr lvl="8" rtl="0" algn="ctr">
              <a:lnSpc>
                <a:spcPct val="100000"/>
              </a:lnSpc>
              <a:spcBef>
                <a:spcPts val="600"/>
              </a:spcBef>
              <a:spcAft>
                <a:spcPts val="0"/>
              </a:spcAft>
              <a:buSzPts val="2100"/>
              <a:buNone/>
              <a:defRPr sz="2100"/>
            </a:lvl9pPr>
          </a:lstStyle>
          <a:p/>
        </p:txBody>
      </p:sp>
      <p:sp>
        <p:nvSpPr>
          <p:cNvPr id="127" name="Google Shape;127;p21"/>
          <p:cNvSpPr txBox="1"/>
          <p:nvPr>
            <p:ph type="title"/>
          </p:nvPr>
        </p:nvSpPr>
        <p:spPr>
          <a:xfrm>
            <a:off x="208450" y="3418425"/>
            <a:ext cx="3950100" cy="5727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sz="2500"/>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p:txBody>
      </p:sp>
      <p:pic>
        <p:nvPicPr>
          <p:cNvPr id="128" name="Google Shape;128;p21"/>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spTree>
      <p:nvGrpSpPr>
        <p:cNvPr id="129" name="Shape 129"/>
        <p:cNvGrpSpPr/>
        <p:nvPr/>
      </p:nvGrpSpPr>
      <p:grpSpPr>
        <a:xfrm>
          <a:off x="0" y="0"/>
          <a:ext cx="0" cy="0"/>
          <a:chOff x="0" y="0"/>
          <a:chExt cx="0" cy="0"/>
        </a:xfrm>
      </p:grpSpPr>
      <p:sp>
        <p:nvSpPr>
          <p:cNvPr id="130" name="Google Shape;130;p22"/>
          <p:cNvSpPr txBox="1"/>
          <p:nvPr>
            <p:ph type="title"/>
          </p:nvPr>
        </p:nvSpPr>
        <p:spPr>
          <a:xfrm>
            <a:off x="311700" y="2150850"/>
            <a:ext cx="8520600" cy="841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600"/>
              <a:buNone/>
              <a:defRPr sz="36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131" name="Google Shape;131;p2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de on right">
  <p:cSld name="SECTION_TITLE_AND_DESCRIPTION_1_2">
    <p:spTree>
      <p:nvGrpSpPr>
        <p:cNvPr id="132" name="Shape 132"/>
        <p:cNvGrpSpPr/>
        <p:nvPr/>
      </p:nvGrpSpPr>
      <p:grpSpPr>
        <a:xfrm>
          <a:off x="0" y="0"/>
          <a:ext cx="0" cy="0"/>
          <a:chOff x="0" y="0"/>
          <a:chExt cx="0" cy="0"/>
        </a:xfrm>
      </p:grpSpPr>
      <p:sp>
        <p:nvSpPr>
          <p:cNvPr id="133" name="Google Shape;133;p23"/>
          <p:cNvSpPr/>
          <p:nvPr/>
        </p:nvSpPr>
        <p:spPr>
          <a:xfrm>
            <a:off x="4572000" y="-125"/>
            <a:ext cx="4572000" cy="5143500"/>
          </a:xfrm>
          <a:prstGeom prst="rect">
            <a:avLst/>
          </a:prstGeom>
          <a:solidFill>
            <a:srgbClr val="FDF6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23"/>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135" name="Google Shape;135;p23"/>
          <p:cNvSpPr txBox="1"/>
          <p:nvPr>
            <p:ph idx="1" type="body"/>
          </p:nvPr>
        </p:nvSpPr>
        <p:spPr>
          <a:xfrm>
            <a:off x="311700" y="1152150"/>
            <a:ext cx="3950100" cy="34200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Char char="•"/>
              <a:defRPr/>
            </a:lvl1pPr>
            <a:lvl2pPr indent="-342900" lvl="1" marL="914400" rtl="0">
              <a:spcBef>
                <a:spcPts val="600"/>
              </a:spcBef>
              <a:spcAft>
                <a:spcPts val="0"/>
              </a:spcAft>
              <a:buSzPts val="1800"/>
              <a:buChar char="•"/>
              <a:defRPr/>
            </a:lvl2pPr>
            <a:lvl3pPr indent="-342900" lvl="2" marL="1371600" rtl="0">
              <a:spcBef>
                <a:spcPts val="600"/>
              </a:spcBef>
              <a:spcAft>
                <a:spcPts val="0"/>
              </a:spcAft>
              <a:buSzPts val="1800"/>
              <a:buChar char="•"/>
              <a:defRPr/>
            </a:lvl3pPr>
            <a:lvl4pPr indent="-342900" lvl="3" marL="1828800" rtl="0">
              <a:spcBef>
                <a:spcPts val="600"/>
              </a:spcBef>
              <a:spcAft>
                <a:spcPts val="0"/>
              </a:spcAft>
              <a:buSzPts val="1800"/>
              <a:buChar char="•"/>
              <a:defRPr/>
            </a:lvl4pPr>
            <a:lvl5pPr indent="-342900" lvl="4" marL="2286000" rtl="0">
              <a:spcBef>
                <a:spcPts val="600"/>
              </a:spcBef>
              <a:spcAft>
                <a:spcPts val="0"/>
              </a:spcAft>
              <a:buSzPts val="1800"/>
              <a:buChar char="•"/>
              <a:defRPr/>
            </a:lvl5pPr>
            <a:lvl6pPr indent="-342900" lvl="5" marL="2743200" rtl="0">
              <a:spcBef>
                <a:spcPts val="600"/>
              </a:spcBef>
              <a:spcAft>
                <a:spcPts val="0"/>
              </a:spcAft>
              <a:buSzPts val="1800"/>
              <a:buChar char="•"/>
              <a:defRPr/>
            </a:lvl6pPr>
            <a:lvl7pPr indent="-342900" lvl="6" marL="3200400" rtl="0">
              <a:spcBef>
                <a:spcPts val="600"/>
              </a:spcBef>
              <a:spcAft>
                <a:spcPts val="0"/>
              </a:spcAft>
              <a:buSzPts val="1800"/>
              <a:buChar char="•"/>
              <a:defRPr/>
            </a:lvl7pPr>
            <a:lvl8pPr indent="-342900" lvl="7" marL="3657600" rtl="0">
              <a:spcBef>
                <a:spcPts val="600"/>
              </a:spcBef>
              <a:spcAft>
                <a:spcPts val="0"/>
              </a:spcAft>
              <a:buSzPts val="1800"/>
              <a:buChar char="•"/>
              <a:defRPr/>
            </a:lvl8pPr>
            <a:lvl9pPr indent="-342900" lvl="8" marL="4114800" rtl="0">
              <a:spcBef>
                <a:spcPts val="600"/>
              </a:spcBef>
              <a:spcAft>
                <a:spcPts val="0"/>
              </a:spcAft>
              <a:buSzPts val="1800"/>
              <a:buChar char="•"/>
              <a:defRPr/>
            </a:lvl9pPr>
          </a:lstStyle>
          <a:p/>
        </p:txBody>
      </p:sp>
      <p:sp>
        <p:nvSpPr>
          <p:cNvPr id="136" name="Google Shape;136;p23"/>
          <p:cNvSpPr txBox="1"/>
          <p:nvPr>
            <p:ph idx="2" type="body"/>
          </p:nvPr>
        </p:nvSpPr>
        <p:spPr>
          <a:xfrm>
            <a:off x="4882900" y="448050"/>
            <a:ext cx="3950100" cy="41241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Char char="•"/>
              <a:defRPr/>
            </a:lvl1pPr>
            <a:lvl2pPr indent="-342900" lvl="1" marL="914400" rtl="0">
              <a:spcBef>
                <a:spcPts val="600"/>
              </a:spcBef>
              <a:spcAft>
                <a:spcPts val="0"/>
              </a:spcAft>
              <a:buSzPts val="1800"/>
              <a:buChar char="•"/>
              <a:defRPr/>
            </a:lvl2pPr>
            <a:lvl3pPr indent="-342900" lvl="2" marL="1371600" rtl="0">
              <a:spcBef>
                <a:spcPts val="600"/>
              </a:spcBef>
              <a:spcAft>
                <a:spcPts val="0"/>
              </a:spcAft>
              <a:buSzPts val="1800"/>
              <a:buChar char="•"/>
              <a:defRPr/>
            </a:lvl3pPr>
            <a:lvl4pPr indent="-342900" lvl="3" marL="1828800" rtl="0">
              <a:spcBef>
                <a:spcPts val="600"/>
              </a:spcBef>
              <a:spcAft>
                <a:spcPts val="0"/>
              </a:spcAft>
              <a:buSzPts val="1800"/>
              <a:buChar char="•"/>
              <a:defRPr/>
            </a:lvl4pPr>
            <a:lvl5pPr indent="-342900" lvl="4" marL="2286000" rtl="0">
              <a:spcBef>
                <a:spcPts val="600"/>
              </a:spcBef>
              <a:spcAft>
                <a:spcPts val="0"/>
              </a:spcAft>
              <a:buSzPts val="1800"/>
              <a:buChar char="•"/>
              <a:defRPr/>
            </a:lvl5pPr>
            <a:lvl6pPr indent="-342900" lvl="5" marL="2743200" rtl="0">
              <a:spcBef>
                <a:spcPts val="600"/>
              </a:spcBef>
              <a:spcAft>
                <a:spcPts val="0"/>
              </a:spcAft>
              <a:buSzPts val="1800"/>
              <a:buChar char="•"/>
              <a:defRPr/>
            </a:lvl6pPr>
            <a:lvl7pPr indent="-342900" lvl="6" marL="3200400" rtl="0">
              <a:spcBef>
                <a:spcPts val="600"/>
              </a:spcBef>
              <a:spcAft>
                <a:spcPts val="0"/>
              </a:spcAft>
              <a:buSzPts val="1800"/>
              <a:buChar char="•"/>
              <a:defRPr/>
            </a:lvl7pPr>
            <a:lvl8pPr indent="-342900" lvl="7" marL="3657600" rtl="0">
              <a:spcBef>
                <a:spcPts val="600"/>
              </a:spcBef>
              <a:spcAft>
                <a:spcPts val="0"/>
              </a:spcAft>
              <a:buSzPts val="1800"/>
              <a:buChar char="•"/>
              <a:defRPr/>
            </a:lvl8pPr>
            <a:lvl9pPr indent="-342900" lvl="8" marL="4114800" rtl="0">
              <a:spcBef>
                <a:spcPts val="600"/>
              </a:spcBef>
              <a:spcAft>
                <a:spcPts val="0"/>
              </a:spcAft>
              <a:buSzPts val="1800"/>
              <a:buChar char="•"/>
              <a:defRPr/>
            </a:lvl9pPr>
          </a:lstStyle>
          <a:p/>
        </p:txBody>
      </p:sp>
      <p:sp>
        <p:nvSpPr>
          <p:cNvPr id="137" name="Google Shape;137;p23"/>
          <p:cNvSpPr txBox="1"/>
          <p:nvPr>
            <p:ph type="title"/>
          </p:nvPr>
        </p:nvSpPr>
        <p:spPr>
          <a:xfrm>
            <a:off x="311700" y="445025"/>
            <a:ext cx="39501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11" Type="http://schemas.openxmlformats.org/officeDocument/2006/relationships/slideLayout" Target="../slideLayouts/slideLayout11.xml"/><Relationship Id="rId22" Type="http://schemas.openxmlformats.org/officeDocument/2006/relationships/slideLayout" Target="../slideLayouts/slideLayout22.xml"/><Relationship Id="rId10" Type="http://schemas.openxmlformats.org/officeDocument/2006/relationships/slideLayout" Target="../slideLayouts/slideLayout10.xml"/><Relationship Id="rId21" Type="http://schemas.openxmlformats.org/officeDocument/2006/relationships/slideLayout" Target="../slideLayouts/slideLayout21.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23"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5" Type="http://schemas.openxmlformats.org/officeDocument/2006/relationships/slideLayout" Target="../slideLayouts/slideLayout5.xml"/><Relationship Id="rId19" Type="http://schemas.openxmlformats.org/officeDocument/2006/relationships/slideLayout" Target="../slideLayouts/slideLayout19.xml"/><Relationship Id="rId6" Type="http://schemas.openxmlformats.org/officeDocument/2006/relationships/slideLayout" Target="../slideLayouts/slideLayout6.xml"/><Relationship Id="rId18" Type="http://schemas.openxmlformats.org/officeDocument/2006/relationships/slideLayout" Target="../slideLayouts/slideLayout18.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0" y="0"/>
            <a:ext cx="8520600" cy="393600"/>
          </a:xfrm>
          <a:prstGeom prst="rect">
            <a:avLst/>
          </a:prstGeom>
          <a:noFill/>
          <a:ln>
            <a:noFill/>
          </a:ln>
        </p:spPr>
        <p:txBody>
          <a:bodyPr anchorCtr="0" anchor="t" bIns="91425" lIns="91425" spcFirstLastPara="1" rIns="91425" wrap="square" tIns="91425">
            <a:noAutofit/>
          </a:bodyPr>
          <a:lstStyle>
            <a:lvl1pPr lvl="0" rtl="0">
              <a:spcBef>
                <a:spcPts val="0"/>
              </a:spcBef>
              <a:spcAft>
                <a:spcPts val="0"/>
              </a:spcAft>
              <a:buClr>
                <a:srgbClr val="0B5394"/>
              </a:buClr>
              <a:buSzPts val="1600"/>
              <a:buFont typeface="Roboto Medium"/>
              <a:buNone/>
              <a:defRPr sz="1600">
                <a:solidFill>
                  <a:srgbClr val="0B5394"/>
                </a:solidFill>
                <a:latin typeface="Roboto Medium"/>
                <a:ea typeface="Roboto Medium"/>
                <a:cs typeface="Roboto Medium"/>
                <a:sym typeface="Roboto Medium"/>
              </a:defRPr>
            </a:lvl1pPr>
            <a:lvl2pPr lvl="1"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2pPr>
            <a:lvl3pPr lvl="2"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3pPr>
            <a:lvl4pPr lvl="3"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4pPr>
            <a:lvl5pPr lvl="4"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5pPr>
            <a:lvl6pPr lvl="5"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6pPr>
            <a:lvl7pPr lvl="6"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7pPr>
            <a:lvl8pPr lvl="7"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8pPr>
            <a:lvl9pPr lvl="8"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9pPr>
          </a:lstStyle>
          <a:p/>
        </p:txBody>
      </p:sp>
      <p:sp>
        <p:nvSpPr>
          <p:cNvPr id="7" name="Google Shape;7;p1"/>
          <p:cNvSpPr txBox="1"/>
          <p:nvPr>
            <p:ph idx="1" type="body"/>
          </p:nvPr>
        </p:nvSpPr>
        <p:spPr>
          <a:xfrm>
            <a:off x="311700" y="572700"/>
            <a:ext cx="8520600" cy="3416400"/>
          </a:xfrm>
          <a:prstGeom prst="rect">
            <a:avLst/>
          </a:prstGeom>
          <a:noFill/>
          <a:ln>
            <a:noFill/>
          </a:ln>
        </p:spPr>
        <p:txBody>
          <a:bodyPr anchorCtr="0" anchor="t" bIns="91425" lIns="91425" spcFirstLastPara="1" rIns="91425" wrap="square" tIns="91425">
            <a:noAutofit/>
          </a:bodyPr>
          <a:lstStyle>
            <a:lvl1pPr indent="-342900" lvl="0" marL="4572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indent="-342900" lvl="1" marL="9144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2pPr>
            <a:lvl3pPr indent="-342900" lvl="2" marL="13716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3pPr>
            <a:lvl4pPr indent="-342900" lvl="3" marL="18288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4pPr>
            <a:lvl5pPr indent="-342900" lvl="4" marL="22860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5pPr>
            <a:lvl6pPr indent="-342900" lvl="5" marL="27432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6pPr>
            <a:lvl7pPr indent="-342900" lvl="6" marL="32004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7pPr>
            <a:lvl8pPr indent="-342900" lvl="7" marL="36576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8pPr>
            <a:lvl9pPr indent="-342900" lvl="8" marL="41148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rtl="0" algn="r">
              <a:buNone/>
              <a:defRPr sz="1000">
                <a:solidFill>
                  <a:schemeClr val="dk1"/>
                </a:solidFill>
                <a:latin typeface="Roboto"/>
                <a:ea typeface="Roboto"/>
                <a:cs typeface="Roboto"/>
                <a:sym typeface="Roboto"/>
              </a:defRPr>
            </a:lvl1pPr>
            <a:lvl2pPr lvl="1" rtl="0" algn="r">
              <a:buNone/>
              <a:defRPr sz="1000">
                <a:solidFill>
                  <a:schemeClr val="dk1"/>
                </a:solidFill>
                <a:latin typeface="Roboto"/>
                <a:ea typeface="Roboto"/>
                <a:cs typeface="Roboto"/>
                <a:sym typeface="Roboto"/>
              </a:defRPr>
            </a:lvl2pPr>
            <a:lvl3pPr lvl="2" rtl="0" algn="r">
              <a:buNone/>
              <a:defRPr sz="1000">
                <a:solidFill>
                  <a:schemeClr val="dk1"/>
                </a:solidFill>
                <a:latin typeface="Roboto"/>
                <a:ea typeface="Roboto"/>
                <a:cs typeface="Roboto"/>
                <a:sym typeface="Roboto"/>
              </a:defRPr>
            </a:lvl3pPr>
            <a:lvl4pPr lvl="3" rtl="0" algn="r">
              <a:buNone/>
              <a:defRPr sz="1000">
                <a:solidFill>
                  <a:schemeClr val="dk1"/>
                </a:solidFill>
                <a:latin typeface="Roboto"/>
                <a:ea typeface="Roboto"/>
                <a:cs typeface="Roboto"/>
                <a:sym typeface="Roboto"/>
              </a:defRPr>
            </a:lvl4pPr>
            <a:lvl5pPr lvl="4" rtl="0" algn="r">
              <a:buNone/>
              <a:defRPr sz="1000">
                <a:solidFill>
                  <a:schemeClr val="dk1"/>
                </a:solidFill>
                <a:latin typeface="Roboto"/>
                <a:ea typeface="Roboto"/>
                <a:cs typeface="Roboto"/>
                <a:sym typeface="Roboto"/>
              </a:defRPr>
            </a:lvl5pPr>
            <a:lvl6pPr lvl="5" rtl="0" algn="r">
              <a:buNone/>
              <a:defRPr sz="1000">
                <a:solidFill>
                  <a:schemeClr val="dk1"/>
                </a:solidFill>
                <a:latin typeface="Roboto"/>
                <a:ea typeface="Roboto"/>
                <a:cs typeface="Roboto"/>
                <a:sym typeface="Roboto"/>
              </a:defRPr>
            </a:lvl6pPr>
            <a:lvl7pPr lvl="6" rtl="0" algn="r">
              <a:buNone/>
              <a:defRPr sz="1000">
                <a:solidFill>
                  <a:schemeClr val="dk1"/>
                </a:solidFill>
                <a:latin typeface="Roboto"/>
                <a:ea typeface="Roboto"/>
                <a:cs typeface="Roboto"/>
                <a:sym typeface="Roboto"/>
              </a:defRPr>
            </a:lvl7pPr>
            <a:lvl8pPr lvl="7" rtl="0" algn="r">
              <a:buNone/>
              <a:defRPr sz="1000">
                <a:solidFill>
                  <a:schemeClr val="dk1"/>
                </a:solidFill>
                <a:latin typeface="Roboto"/>
                <a:ea typeface="Roboto"/>
                <a:cs typeface="Roboto"/>
                <a:sym typeface="Roboto"/>
              </a:defRPr>
            </a:lvl8pPr>
            <a:lvl9pPr lvl="8" rtl="0" algn="r">
              <a:buNone/>
              <a:defRPr sz="1000">
                <a:solidFill>
                  <a:schemeClr val="dk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5.jpg"/><Relationship Id="rId4" Type="http://schemas.openxmlformats.org/officeDocument/2006/relationships/image" Target="../media/image4.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4"/>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143" name="Google Shape;143;p24"/>
          <p:cNvSpPr txBox="1"/>
          <p:nvPr/>
        </p:nvSpPr>
        <p:spPr>
          <a:xfrm>
            <a:off x="311700" y="3854350"/>
            <a:ext cx="8520600" cy="658500"/>
          </a:xfrm>
          <a:prstGeom prst="rect">
            <a:avLst/>
          </a:prstGeom>
          <a:noFill/>
          <a:ln>
            <a:noFill/>
          </a:ln>
        </p:spPr>
        <p:txBody>
          <a:bodyPr anchorCtr="0" anchor="t" bIns="91425" lIns="91425" spcFirstLastPara="1" rIns="91425" wrap="square" tIns="91425">
            <a:noAutofit/>
          </a:bodyPr>
          <a:lstStyle/>
          <a:p>
            <a:pPr indent="0" lvl="0" marL="0" rtl="0" algn="l">
              <a:spcBef>
                <a:spcPts val="600"/>
              </a:spcBef>
              <a:spcAft>
                <a:spcPts val="0"/>
              </a:spcAft>
              <a:buNone/>
            </a:pPr>
            <a:r>
              <a:rPr lang="en" sz="1600">
                <a:latin typeface="Roboto Medium"/>
                <a:ea typeface="Roboto Medium"/>
                <a:cs typeface="Roboto Medium"/>
                <a:sym typeface="Roboto Medium"/>
              </a:rPr>
              <a:t>CS 168, </a:t>
            </a:r>
            <a:r>
              <a:rPr lang="en" sz="1600">
                <a:latin typeface="Roboto Medium"/>
                <a:ea typeface="Roboto Medium"/>
                <a:cs typeface="Roboto Medium"/>
                <a:sym typeface="Roboto Medium"/>
              </a:rPr>
              <a:t>Summer 2025</a:t>
            </a:r>
            <a:r>
              <a:rPr lang="en" sz="1600">
                <a:latin typeface="Roboto Medium"/>
                <a:ea typeface="Roboto Medium"/>
                <a:cs typeface="Roboto Medium"/>
                <a:sym typeface="Roboto Medium"/>
              </a:rPr>
              <a:t> </a:t>
            </a:r>
            <a:r>
              <a:rPr lang="en" sz="1600">
                <a:solidFill>
                  <a:srgbClr val="000000"/>
                </a:solidFill>
                <a:latin typeface="Roboto Medium"/>
                <a:ea typeface="Roboto Medium"/>
                <a:cs typeface="Roboto Medium"/>
                <a:sym typeface="Roboto Medium"/>
              </a:rPr>
              <a:t>@ UC Berkeley</a:t>
            </a:r>
            <a:endParaRPr sz="1600">
              <a:solidFill>
                <a:srgbClr val="000000"/>
              </a:solidFill>
              <a:latin typeface="Roboto Medium"/>
              <a:ea typeface="Roboto Medium"/>
              <a:cs typeface="Roboto Medium"/>
              <a:sym typeface="Roboto Medium"/>
            </a:endParaRPr>
          </a:p>
          <a:p>
            <a:pPr indent="0" lvl="0" marL="0" rtl="0" algn="l">
              <a:spcBef>
                <a:spcPts val="600"/>
              </a:spcBef>
              <a:spcAft>
                <a:spcPts val="0"/>
              </a:spcAft>
              <a:buNone/>
            </a:pPr>
            <a:r>
              <a:rPr lang="en" sz="1600">
                <a:latin typeface="Roboto Light"/>
                <a:ea typeface="Roboto Light"/>
                <a:cs typeface="Roboto Light"/>
                <a:sym typeface="Roboto Light"/>
              </a:rPr>
              <a:t>Slides credit: Sylvia Ratnasamy, Rob Shakir, Peyrin Kao</a:t>
            </a:r>
            <a:endParaRPr sz="1600">
              <a:solidFill>
                <a:srgbClr val="000000"/>
              </a:solidFill>
              <a:latin typeface="Roboto Light"/>
              <a:ea typeface="Roboto Light"/>
              <a:cs typeface="Roboto Light"/>
              <a:sym typeface="Roboto Light"/>
            </a:endParaRPr>
          </a:p>
        </p:txBody>
      </p:sp>
      <p:sp>
        <p:nvSpPr>
          <p:cNvPr id="144" name="Google Shape;144;p24"/>
          <p:cNvSpPr txBox="1"/>
          <p:nvPr/>
        </p:nvSpPr>
        <p:spPr>
          <a:xfrm>
            <a:off x="311700" y="1658975"/>
            <a:ext cx="8709600" cy="20526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sz="3600">
                <a:solidFill>
                  <a:srgbClr val="0B5394"/>
                </a:solidFill>
                <a:latin typeface="Roboto Medium"/>
                <a:ea typeface="Roboto Medium"/>
                <a:cs typeface="Roboto Medium"/>
                <a:sym typeface="Roboto Medium"/>
              </a:rPr>
              <a:t>TCP Implementation</a:t>
            </a:r>
            <a:endParaRPr sz="3600">
              <a:solidFill>
                <a:srgbClr val="0B5394"/>
              </a:solidFill>
              <a:latin typeface="Roboto Medium"/>
              <a:ea typeface="Roboto Medium"/>
              <a:cs typeface="Roboto Medium"/>
              <a:sym typeface="Roboto Medium"/>
            </a:endParaRPr>
          </a:p>
        </p:txBody>
      </p:sp>
      <p:sp>
        <p:nvSpPr>
          <p:cNvPr id="145" name="Google Shape;145;p24"/>
          <p:cNvSpPr txBox="1"/>
          <p:nvPr/>
        </p:nvSpPr>
        <p:spPr>
          <a:xfrm>
            <a:off x="345775" y="2740300"/>
            <a:ext cx="2762700" cy="282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rgbClr val="BF9000"/>
                </a:solidFill>
                <a:latin typeface="Roboto Medium"/>
                <a:ea typeface="Roboto Medium"/>
                <a:cs typeface="Roboto Medium"/>
                <a:sym typeface="Roboto Medium"/>
              </a:rPr>
              <a:t>Lecture 11 (Transport 2)</a:t>
            </a:r>
            <a:endParaRPr sz="1200">
              <a:solidFill>
                <a:srgbClr val="BF9000"/>
              </a:solidFill>
              <a:latin typeface="Roboto Medium"/>
              <a:ea typeface="Roboto Medium"/>
              <a:cs typeface="Roboto Medium"/>
              <a:sym typeface="Roboto Medium"/>
            </a:endParaRPr>
          </a:p>
        </p:txBody>
      </p:sp>
      <p:sp>
        <p:nvSpPr>
          <p:cNvPr id="146" name="Google Shape;146;p24"/>
          <p:cNvSpPr/>
          <p:nvPr/>
        </p:nvSpPr>
        <p:spPr>
          <a:xfrm>
            <a:off x="3966596" y="1647395"/>
            <a:ext cx="1178400" cy="232500"/>
          </a:xfrm>
          <a:prstGeom prst="rect">
            <a:avLst/>
          </a:prstGeom>
          <a:solidFill>
            <a:srgbClr val="D9D9D9"/>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Roboto"/>
              <a:ea typeface="Roboto"/>
              <a:cs typeface="Roboto"/>
              <a:sym typeface="Roboto"/>
            </a:endParaRPr>
          </a:p>
        </p:txBody>
      </p:sp>
      <p:cxnSp>
        <p:nvCxnSpPr>
          <p:cNvPr id="147" name="Google Shape;147;p24"/>
          <p:cNvCxnSpPr>
            <a:endCxn id="148" idx="1"/>
          </p:cNvCxnSpPr>
          <p:nvPr/>
        </p:nvCxnSpPr>
        <p:spPr>
          <a:xfrm>
            <a:off x="4555873" y="1878833"/>
            <a:ext cx="0" cy="229200"/>
          </a:xfrm>
          <a:prstGeom prst="straightConnector1">
            <a:avLst/>
          </a:prstGeom>
          <a:noFill/>
          <a:ln cap="flat" cmpd="sng" w="9525">
            <a:solidFill>
              <a:schemeClr val="dk2"/>
            </a:solidFill>
            <a:prstDash val="solid"/>
            <a:round/>
            <a:headEnd len="med" w="med" type="none"/>
            <a:tailEnd len="med" w="med" type="triangle"/>
          </a:ln>
        </p:spPr>
      </p:cxnSp>
      <p:cxnSp>
        <p:nvCxnSpPr>
          <p:cNvPr id="149" name="Google Shape;149;p24"/>
          <p:cNvCxnSpPr>
            <a:endCxn id="150" idx="1"/>
          </p:cNvCxnSpPr>
          <p:nvPr/>
        </p:nvCxnSpPr>
        <p:spPr>
          <a:xfrm>
            <a:off x="4686809" y="1878833"/>
            <a:ext cx="0" cy="229200"/>
          </a:xfrm>
          <a:prstGeom prst="straightConnector1">
            <a:avLst/>
          </a:prstGeom>
          <a:noFill/>
          <a:ln cap="flat" cmpd="sng" w="9525">
            <a:solidFill>
              <a:schemeClr val="dk2"/>
            </a:solidFill>
            <a:prstDash val="solid"/>
            <a:round/>
            <a:headEnd len="med" w="med" type="none"/>
            <a:tailEnd len="med" w="med" type="triangle"/>
          </a:ln>
        </p:spPr>
      </p:cxnSp>
      <p:cxnSp>
        <p:nvCxnSpPr>
          <p:cNvPr id="151" name="Google Shape;151;p24"/>
          <p:cNvCxnSpPr>
            <a:endCxn id="152" idx="1"/>
          </p:cNvCxnSpPr>
          <p:nvPr/>
        </p:nvCxnSpPr>
        <p:spPr>
          <a:xfrm>
            <a:off x="4817744" y="1878833"/>
            <a:ext cx="0" cy="229200"/>
          </a:xfrm>
          <a:prstGeom prst="straightConnector1">
            <a:avLst/>
          </a:prstGeom>
          <a:noFill/>
          <a:ln cap="flat" cmpd="sng" w="9525">
            <a:solidFill>
              <a:schemeClr val="dk2"/>
            </a:solidFill>
            <a:prstDash val="solid"/>
            <a:round/>
            <a:headEnd len="med" w="med" type="none"/>
            <a:tailEnd len="med" w="med" type="triangle"/>
          </a:ln>
        </p:spPr>
      </p:cxnSp>
      <p:cxnSp>
        <p:nvCxnSpPr>
          <p:cNvPr id="153" name="Google Shape;153;p24"/>
          <p:cNvCxnSpPr>
            <a:endCxn id="154" idx="1"/>
          </p:cNvCxnSpPr>
          <p:nvPr/>
        </p:nvCxnSpPr>
        <p:spPr>
          <a:xfrm>
            <a:off x="4948680" y="1878833"/>
            <a:ext cx="0" cy="229200"/>
          </a:xfrm>
          <a:prstGeom prst="straightConnector1">
            <a:avLst/>
          </a:prstGeom>
          <a:noFill/>
          <a:ln cap="flat" cmpd="sng" w="9525">
            <a:solidFill>
              <a:schemeClr val="dk2"/>
            </a:solidFill>
            <a:prstDash val="solid"/>
            <a:round/>
            <a:headEnd len="med" w="med" type="none"/>
            <a:tailEnd len="med" w="med" type="triangle"/>
          </a:ln>
        </p:spPr>
      </p:cxnSp>
      <p:cxnSp>
        <p:nvCxnSpPr>
          <p:cNvPr id="155" name="Google Shape;155;p24"/>
          <p:cNvCxnSpPr>
            <a:endCxn id="156" idx="1"/>
          </p:cNvCxnSpPr>
          <p:nvPr/>
        </p:nvCxnSpPr>
        <p:spPr>
          <a:xfrm>
            <a:off x="5079616" y="1878833"/>
            <a:ext cx="0" cy="229200"/>
          </a:xfrm>
          <a:prstGeom prst="straightConnector1">
            <a:avLst/>
          </a:prstGeom>
          <a:noFill/>
          <a:ln cap="flat" cmpd="sng" w="9525">
            <a:solidFill>
              <a:schemeClr val="dk2"/>
            </a:solidFill>
            <a:prstDash val="solid"/>
            <a:round/>
            <a:headEnd len="med" w="med" type="none"/>
            <a:tailEnd len="med" w="med" type="triangle"/>
          </a:ln>
        </p:spPr>
      </p:cxnSp>
      <p:cxnSp>
        <p:nvCxnSpPr>
          <p:cNvPr id="157" name="Google Shape;157;p24"/>
          <p:cNvCxnSpPr>
            <a:endCxn id="158" idx="1"/>
          </p:cNvCxnSpPr>
          <p:nvPr/>
        </p:nvCxnSpPr>
        <p:spPr>
          <a:xfrm>
            <a:off x="4424938" y="1878833"/>
            <a:ext cx="0" cy="229200"/>
          </a:xfrm>
          <a:prstGeom prst="straightConnector1">
            <a:avLst/>
          </a:prstGeom>
          <a:noFill/>
          <a:ln cap="flat" cmpd="sng" w="9525">
            <a:solidFill>
              <a:schemeClr val="dk2"/>
            </a:solidFill>
            <a:prstDash val="solid"/>
            <a:round/>
            <a:headEnd len="med" w="med" type="none"/>
            <a:tailEnd len="med" w="med" type="triangle"/>
          </a:ln>
        </p:spPr>
      </p:cxnSp>
      <p:cxnSp>
        <p:nvCxnSpPr>
          <p:cNvPr id="159" name="Google Shape;159;p24"/>
          <p:cNvCxnSpPr>
            <a:endCxn id="160" idx="1"/>
          </p:cNvCxnSpPr>
          <p:nvPr/>
        </p:nvCxnSpPr>
        <p:spPr>
          <a:xfrm>
            <a:off x="4294002" y="1878833"/>
            <a:ext cx="0" cy="229200"/>
          </a:xfrm>
          <a:prstGeom prst="straightConnector1">
            <a:avLst/>
          </a:prstGeom>
          <a:noFill/>
          <a:ln cap="flat" cmpd="sng" w="9525">
            <a:solidFill>
              <a:schemeClr val="dk2"/>
            </a:solidFill>
            <a:prstDash val="solid"/>
            <a:round/>
            <a:headEnd len="med" w="med" type="none"/>
            <a:tailEnd len="med" w="med" type="triangle"/>
          </a:ln>
        </p:spPr>
      </p:cxnSp>
      <p:cxnSp>
        <p:nvCxnSpPr>
          <p:cNvPr id="161" name="Google Shape;161;p24"/>
          <p:cNvCxnSpPr>
            <a:endCxn id="162" idx="1"/>
          </p:cNvCxnSpPr>
          <p:nvPr/>
        </p:nvCxnSpPr>
        <p:spPr>
          <a:xfrm>
            <a:off x="4163067" y="1878833"/>
            <a:ext cx="0" cy="229200"/>
          </a:xfrm>
          <a:prstGeom prst="straightConnector1">
            <a:avLst/>
          </a:prstGeom>
          <a:noFill/>
          <a:ln cap="flat" cmpd="sng" w="9525">
            <a:solidFill>
              <a:schemeClr val="dk2"/>
            </a:solidFill>
            <a:prstDash val="solid"/>
            <a:round/>
            <a:headEnd len="med" w="med" type="none"/>
            <a:tailEnd len="med" w="med" type="triangle"/>
          </a:ln>
        </p:spPr>
      </p:cxnSp>
      <p:cxnSp>
        <p:nvCxnSpPr>
          <p:cNvPr id="163" name="Google Shape;163;p24"/>
          <p:cNvCxnSpPr>
            <a:endCxn id="164" idx="1"/>
          </p:cNvCxnSpPr>
          <p:nvPr/>
        </p:nvCxnSpPr>
        <p:spPr>
          <a:xfrm>
            <a:off x="4032131" y="1878833"/>
            <a:ext cx="0" cy="229200"/>
          </a:xfrm>
          <a:prstGeom prst="straightConnector1">
            <a:avLst/>
          </a:prstGeom>
          <a:noFill/>
          <a:ln cap="flat" cmpd="sng" w="9525">
            <a:solidFill>
              <a:schemeClr val="dk2"/>
            </a:solidFill>
            <a:prstDash val="solid"/>
            <a:round/>
            <a:headEnd len="med" w="med" type="none"/>
            <a:tailEnd len="med" w="med" type="triangle"/>
          </a:ln>
        </p:spPr>
      </p:cxnSp>
      <p:sp>
        <p:nvSpPr>
          <p:cNvPr id="165" name="Google Shape;165;p24"/>
          <p:cNvSpPr/>
          <p:nvPr/>
        </p:nvSpPr>
        <p:spPr>
          <a:xfrm rot="5400000">
            <a:off x="3523317" y="631430"/>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66" name="Google Shape;166;p24"/>
          <p:cNvSpPr/>
          <p:nvPr/>
        </p:nvSpPr>
        <p:spPr>
          <a:xfrm rot="5400000">
            <a:off x="3654253" y="631430"/>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67" name="Google Shape;167;p24"/>
          <p:cNvSpPr/>
          <p:nvPr/>
        </p:nvSpPr>
        <p:spPr>
          <a:xfrm rot="5400000">
            <a:off x="3785188" y="631430"/>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68" name="Google Shape;168;p24"/>
          <p:cNvSpPr/>
          <p:nvPr/>
        </p:nvSpPr>
        <p:spPr>
          <a:xfrm rot="5400000">
            <a:off x="3916124" y="631430"/>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69" name="Google Shape;169;p24"/>
          <p:cNvSpPr/>
          <p:nvPr/>
        </p:nvSpPr>
        <p:spPr>
          <a:xfrm rot="5400000">
            <a:off x="4047060" y="631430"/>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0" name="Google Shape;170;p24"/>
          <p:cNvSpPr/>
          <p:nvPr/>
        </p:nvSpPr>
        <p:spPr>
          <a:xfrm rot="5400000">
            <a:off x="4177995" y="631430"/>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1" name="Google Shape;171;p24"/>
          <p:cNvSpPr/>
          <p:nvPr/>
        </p:nvSpPr>
        <p:spPr>
          <a:xfrm rot="5400000">
            <a:off x="4308931" y="631430"/>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2" name="Google Shape;172;p24"/>
          <p:cNvSpPr/>
          <p:nvPr/>
        </p:nvSpPr>
        <p:spPr>
          <a:xfrm rot="5400000">
            <a:off x="4439866" y="631430"/>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3" name="Google Shape;173;p24"/>
          <p:cNvSpPr/>
          <p:nvPr/>
        </p:nvSpPr>
        <p:spPr>
          <a:xfrm rot="5400000">
            <a:off x="4570802" y="631430"/>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4" name="Google Shape;174;p24"/>
          <p:cNvSpPr/>
          <p:nvPr/>
        </p:nvSpPr>
        <p:spPr>
          <a:xfrm rot="5400000">
            <a:off x="4701737" y="631430"/>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5" name="Google Shape;175;p24"/>
          <p:cNvSpPr/>
          <p:nvPr/>
        </p:nvSpPr>
        <p:spPr>
          <a:xfrm rot="5400000">
            <a:off x="4832673" y="631430"/>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6" name="Google Shape;176;p24"/>
          <p:cNvSpPr/>
          <p:nvPr/>
        </p:nvSpPr>
        <p:spPr>
          <a:xfrm rot="5400000">
            <a:off x="4963608" y="631430"/>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7" name="Google Shape;177;p24"/>
          <p:cNvSpPr/>
          <p:nvPr/>
        </p:nvSpPr>
        <p:spPr>
          <a:xfrm rot="5400000">
            <a:off x="5094544" y="631430"/>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8" name="Google Shape;178;p24"/>
          <p:cNvSpPr/>
          <p:nvPr/>
        </p:nvSpPr>
        <p:spPr>
          <a:xfrm rot="5400000">
            <a:off x="5225479" y="631430"/>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9" name="Google Shape;179;p24"/>
          <p:cNvSpPr/>
          <p:nvPr/>
        </p:nvSpPr>
        <p:spPr>
          <a:xfrm rot="5400000">
            <a:off x="5356415" y="631430"/>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0" name="Google Shape;180;p24"/>
          <p:cNvSpPr/>
          <p:nvPr/>
        </p:nvSpPr>
        <p:spPr>
          <a:xfrm rot="5400000">
            <a:off x="5487350" y="631430"/>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1" name="Google Shape;181;p24"/>
          <p:cNvSpPr/>
          <p:nvPr/>
        </p:nvSpPr>
        <p:spPr>
          <a:xfrm rot="5400000">
            <a:off x="5618286" y="631430"/>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2" name="Google Shape;182;p24"/>
          <p:cNvSpPr/>
          <p:nvPr/>
        </p:nvSpPr>
        <p:spPr>
          <a:xfrm rot="5400000">
            <a:off x="5749222" y="631430"/>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3" name="Google Shape;183;p24"/>
          <p:cNvSpPr/>
          <p:nvPr/>
        </p:nvSpPr>
        <p:spPr>
          <a:xfrm rot="5400000">
            <a:off x="5880157" y="631430"/>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4" name="Google Shape;184;p24"/>
          <p:cNvSpPr/>
          <p:nvPr/>
        </p:nvSpPr>
        <p:spPr>
          <a:xfrm rot="5400000">
            <a:off x="6011093" y="631430"/>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5" name="Google Shape;185;p24"/>
          <p:cNvSpPr/>
          <p:nvPr/>
        </p:nvSpPr>
        <p:spPr>
          <a:xfrm rot="5400000">
            <a:off x="6142028" y="631430"/>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6" name="Google Shape;186;p24"/>
          <p:cNvSpPr/>
          <p:nvPr/>
        </p:nvSpPr>
        <p:spPr>
          <a:xfrm rot="5400000">
            <a:off x="6272964" y="631430"/>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7" name="Google Shape;187;p24"/>
          <p:cNvSpPr/>
          <p:nvPr/>
        </p:nvSpPr>
        <p:spPr>
          <a:xfrm rot="5400000">
            <a:off x="6403899" y="631430"/>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8" name="Google Shape;188;p24"/>
          <p:cNvSpPr/>
          <p:nvPr/>
        </p:nvSpPr>
        <p:spPr>
          <a:xfrm rot="5400000">
            <a:off x="6534835" y="631430"/>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9" name="Google Shape;189;p24"/>
          <p:cNvSpPr/>
          <p:nvPr/>
        </p:nvSpPr>
        <p:spPr>
          <a:xfrm rot="5400000">
            <a:off x="6665770" y="631430"/>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0" name="Google Shape;190;p24"/>
          <p:cNvSpPr/>
          <p:nvPr/>
        </p:nvSpPr>
        <p:spPr>
          <a:xfrm rot="5400000">
            <a:off x="6796706" y="631430"/>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1" name="Google Shape;191;p24"/>
          <p:cNvSpPr/>
          <p:nvPr/>
        </p:nvSpPr>
        <p:spPr>
          <a:xfrm rot="5400000">
            <a:off x="6927641" y="631430"/>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2" name="Google Shape;192;p24"/>
          <p:cNvSpPr/>
          <p:nvPr/>
        </p:nvSpPr>
        <p:spPr>
          <a:xfrm rot="5400000">
            <a:off x="7058577" y="631430"/>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3" name="Google Shape;193;p24"/>
          <p:cNvSpPr/>
          <p:nvPr/>
        </p:nvSpPr>
        <p:spPr>
          <a:xfrm rot="5400000">
            <a:off x="7189512" y="631430"/>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4" name="Google Shape;194;p24"/>
          <p:cNvSpPr/>
          <p:nvPr/>
        </p:nvSpPr>
        <p:spPr>
          <a:xfrm rot="5400000">
            <a:off x="7320448" y="631430"/>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5" name="Google Shape;195;p24"/>
          <p:cNvSpPr/>
          <p:nvPr/>
        </p:nvSpPr>
        <p:spPr>
          <a:xfrm rot="5400000">
            <a:off x="7451384" y="631430"/>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6" name="Google Shape;196;p24"/>
          <p:cNvSpPr/>
          <p:nvPr/>
        </p:nvSpPr>
        <p:spPr>
          <a:xfrm rot="5400000">
            <a:off x="7582319" y="631430"/>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7" name="Google Shape;197;p24"/>
          <p:cNvSpPr/>
          <p:nvPr/>
        </p:nvSpPr>
        <p:spPr>
          <a:xfrm rot="5400000">
            <a:off x="7713255" y="631430"/>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8" name="Google Shape;198;p24"/>
          <p:cNvSpPr/>
          <p:nvPr/>
        </p:nvSpPr>
        <p:spPr>
          <a:xfrm rot="5400000">
            <a:off x="7844190" y="631430"/>
            <a:ext cx="540600" cy="130800"/>
          </a:xfrm>
          <a:prstGeom prst="rect">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9" name="Google Shape;199;p24"/>
          <p:cNvSpPr/>
          <p:nvPr/>
        </p:nvSpPr>
        <p:spPr>
          <a:xfrm rot="5400000">
            <a:off x="7975126" y="631430"/>
            <a:ext cx="540600" cy="130800"/>
          </a:xfrm>
          <a:prstGeom prst="rect">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0" name="Google Shape;200;p24"/>
          <p:cNvSpPr/>
          <p:nvPr/>
        </p:nvSpPr>
        <p:spPr>
          <a:xfrm rot="5400000">
            <a:off x="8106061" y="631430"/>
            <a:ext cx="540600" cy="130800"/>
          </a:xfrm>
          <a:prstGeom prst="rect">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1" name="Google Shape;201;p24"/>
          <p:cNvSpPr/>
          <p:nvPr/>
        </p:nvSpPr>
        <p:spPr>
          <a:xfrm>
            <a:off x="3728082" y="1195296"/>
            <a:ext cx="1178400" cy="232500"/>
          </a:xfrm>
          <a:prstGeom prst="rect">
            <a:avLst/>
          </a:prstGeom>
          <a:solidFill>
            <a:srgbClr val="D9D9D9"/>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Roboto"/>
              <a:ea typeface="Roboto"/>
              <a:cs typeface="Roboto"/>
              <a:sym typeface="Roboto"/>
            </a:endParaRPr>
          </a:p>
        </p:txBody>
      </p:sp>
      <p:sp>
        <p:nvSpPr>
          <p:cNvPr id="164" name="Google Shape;164;p24"/>
          <p:cNvSpPr/>
          <p:nvPr/>
        </p:nvSpPr>
        <p:spPr>
          <a:xfrm rot="5400000">
            <a:off x="3761831" y="2312933"/>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62" name="Google Shape;162;p24"/>
          <p:cNvSpPr/>
          <p:nvPr/>
        </p:nvSpPr>
        <p:spPr>
          <a:xfrm rot="5400000">
            <a:off x="3892767" y="2312933"/>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60" name="Google Shape;160;p24"/>
          <p:cNvSpPr/>
          <p:nvPr/>
        </p:nvSpPr>
        <p:spPr>
          <a:xfrm rot="5400000">
            <a:off x="4023702" y="2312933"/>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58" name="Google Shape;158;p24"/>
          <p:cNvSpPr/>
          <p:nvPr/>
        </p:nvSpPr>
        <p:spPr>
          <a:xfrm rot="5400000">
            <a:off x="4154638" y="2312933"/>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48" name="Google Shape;148;p24"/>
          <p:cNvSpPr/>
          <p:nvPr/>
        </p:nvSpPr>
        <p:spPr>
          <a:xfrm rot="5400000">
            <a:off x="4285573" y="2312933"/>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50" name="Google Shape;150;p24"/>
          <p:cNvSpPr/>
          <p:nvPr/>
        </p:nvSpPr>
        <p:spPr>
          <a:xfrm rot="5400000">
            <a:off x="4416509" y="2312933"/>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52" name="Google Shape;152;p24"/>
          <p:cNvSpPr/>
          <p:nvPr/>
        </p:nvSpPr>
        <p:spPr>
          <a:xfrm rot="5400000">
            <a:off x="4547444" y="2312933"/>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54" name="Google Shape;154;p24"/>
          <p:cNvSpPr/>
          <p:nvPr/>
        </p:nvSpPr>
        <p:spPr>
          <a:xfrm rot="5400000">
            <a:off x="4678380" y="2312933"/>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56" name="Google Shape;156;p24"/>
          <p:cNvSpPr/>
          <p:nvPr/>
        </p:nvSpPr>
        <p:spPr>
          <a:xfrm rot="5400000">
            <a:off x="4809316" y="2312933"/>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2" name="Google Shape;202;p24"/>
          <p:cNvSpPr/>
          <p:nvPr/>
        </p:nvSpPr>
        <p:spPr>
          <a:xfrm rot="5400000">
            <a:off x="4940251" y="2312933"/>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3" name="Google Shape;203;p24"/>
          <p:cNvSpPr/>
          <p:nvPr/>
        </p:nvSpPr>
        <p:spPr>
          <a:xfrm rot="5400000">
            <a:off x="5071187" y="2312933"/>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4" name="Google Shape;204;p24"/>
          <p:cNvSpPr/>
          <p:nvPr/>
        </p:nvSpPr>
        <p:spPr>
          <a:xfrm rot="5400000">
            <a:off x="5202122" y="2312933"/>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5" name="Google Shape;205;p24"/>
          <p:cNvSpPr/>
          <p:nvPr/>
        </p:nvSpPr>
        <p:spPr>
          <a:xfrm rot="5400000">
            <a:off x="5333058" y="2312933"/>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6" name="Google Shape;206;p24"/>
          <p:cNvSpPr/>
          <p:nvPr/>
        </p:nvSpPr>
        <p:spPr>
          <a:xfrm rot="5400000">
            <a:off x="5463993" y="2312933"/>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7" name="Google Shape;207;p24"/>
          <p:cNvSpPr/>
          <p:nvPr/>
        </p:nvSpPr>
        <p:spPr>
          <a:xfrm rot="5400000">
            <a:off x="5594929" y="2312933"/>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8" name="Google Shape;208;p24"/>
          <p:cNvSpPr/>
          <p:nvPr/>
        </p:nvSpPr>
        <p:spPr>
          <a:xfrm rot="5400000">
            <a:off x="5725864" y="2312933"/>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9" name="Google Shape;209;p24"/>
          <p:cNvSpPr/>
          <p:nvPr/>
        </p:nvSpPr>
        <p:spPr>
          <a:xfrm rot="5400000">
            <a:off x="5856800" y="2312933"/>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0" name="Google Shape;210;p24"/>
          <p:cNvSpPr/>
          <p:nvPr/>
        </p:nvSpPr>
        <p:spPr>
          <a:xfrm rot="5400000">
            <a:off x="5987735" y="2312933"/>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1" name="Google Shape;211;p24"/>
          <p:cNvSpPr/>
          <p:nvPr/>
        </p:nvSpPr>
        <p:spPr>
          <a:xfrm rot="5400000">
            <a:off x="6118671" y="2312933"/>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2" name="Google Shape;212;p24"/>
          <p:cNvSpPr/>
          <p:nvPr/>
        </p:nvSpPr>
        <p:spPr>
          <a:xfrm rot="5400000">
            <a:off x="6249606" y="2312933"/>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3" name="Google Shape;213;p24"/>
          <p:cNvSpPr/>
          <p:nvPr/>
        </p:nvSpPr>
        <p:spPr>
          <a:xfrm rot="5400000">
            <a:off x="6380542" y="2312933"/>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4" name="Google Shape;214;p24"/>
          <p:cNvSpPr/>
          <p:nvPr/>
        </p:nvSpPr>
        <p:spPr>
          <a:xfrm rot="5400000">
            <a:off x="6511477" y="2312933"/>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5" name="Google Shape;215;p24"/>
          <p:cNvSpPr/>
          <p:nvPr/>
        </p:nvSpPr>
        <p:spPr>
          <a:xfrm rot="5400000">
            <a:off x="6642413" y="2312933"/>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6" name="Google Shape;216;p24"/>
          <p:cNvSpPr/>
          <p:nvPr/>
        </p:nvSpPr>
        <p:spPr>
          <a:xfrm rot="5400000">
            <a:off x="6773349" y="2312933"/>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7" name="Google Shape;217;p24"/>
          <p:cNvSpPr/>
          <p:nvPr/>
        </p:nvSpPr>
        <p:spPr>
          <a:xfrm rot="5400000">
            <a:off x="6904284" y="2312933"/>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8" name="Google Shape;218;p24"/>
          <p:cNvSpPr/>
          <p:nvPr/>
        </p:nvSpPr>
        <p:spPr>
          <a:xfrm rot="5400000">
            <a:off x="7035220" y="2312933"/>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9" name="Google Shape;219;p24"/>
          <p:cNvSpPr/>
          <p:nvPr/>
        </p:nvSpPr>
        <p:spPr>
          <a:xfrm rot="5400000">
            <a:off x="7166155" y="2312933"/>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0" name="Google Shape;220;p24"/>
          <p:cNvSpPr/>
          <p:nvPr/>
        </p:nvSpPr>
        <p:spPr>
          <a:xfrm rot="5400000">
            <a:off x="7297091" y="2312933"/>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1" name="Google Shape;221;p24"/>
          <p:cNvSpPr/>
          <p:nvPr/>
        </p:nvSpPr>
        <p:spPr>
          <a:xfrm rot="5400000">
            <a:off x="7428026" y="2312933"/>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2" name="Google Shape;222;p24"/>
          <p:cNvSpPr/>
          <p:nvPr/>
        </p:nvSpPr>
        <p:spPr>
          <a:xfrm rot="5400000">
            <a:off x="7558962" y="2312933"/>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3" name="Google Shape;223;p24"/>
          <p:cNvSpPr/>
          <p:nvPr/>
        </p:nvSpPr>
        <p:spPr>
          <a:xfrm rot="5400000">
            <a:off x="7689897" y="2312933"/>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4" name="Google Shape;224;p24"/>
          <p:cNvSpPr/>
          <p:nvPr/>
        </p:nvSpPr>
        <p:spPr>
          <a:xfrm rot="5400000">
            <a:off x="7820833" y="2312933"/>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5" name="Google Shape;225;p24"/>
          <p:cNvSpPr/>
          <p:nvPr/>
        </p:nvSpPr>
        <p:spPr>
          <a:xfrm rot="5400000">
            <a:off x="7951768" y="2312933"/>
            <a:ext cx="540600" cy="130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6" name="Google Shape;226;p24"/>
          <p:cNvSpPr/>
          <p:nvPr/>
        </p:nvSpPr>
        <p:spPr>
          <a:xfrm rot="5400000">
            <a:off x="8082704" y="2312933"/>
            <a:ext cx="540600" cy="130800"/>
          </a:xfrm>
          <a:prstGeom prst="rect">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7" name="Google Shape;227;p24"/>
          <p:cNvSpPr/>
          <p:nvPr/>
        </p:nvSpPr>
        <p:spPr>
          <a:xfrm rot="5400000">
            <a:off x="8213639" y="2312933"/>
            <a:ext cx="540600" cy="130800"/>
          </a:xfrm>
          <a:prstGeom prst="rect">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8" name="Google Shape;228;p24"/>
          <p:cNvSpPr/>
          <p:nvPr/>
        </p:nvSpPr>
        <p:spPr>
          <a:xfrm rot="5400000">
            <a:off x="8344575" y="2312933"/>
            <a:ext cx="540600" cy="130800"/>
          </a:xfrm>
          <a:prstGeom prst="rect">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cxnSp>
        <p:nvCxnSpPr>
          <p:cNvPr id="229" name="Google Shape;229;p24"/>
          <p:cNvCxnSpPr>
            <a:stCxn id="169" idx="3"/>
            <a:endCxn id="201" idx="0"/>
          </p:cNvCxnSpPr>
          <p:nvPr/>
        </p:nvCxnSpPr>
        <p:spPr>
          <a:xfrm>
            <a:off x="4317360" y="967130"/>
            <a:ext cx="0" cy="228300"/>
          </a:xfrm>
          <a:prstGeom prst="straightConnector1">
            <a:avLst/>
          </a:prstGeom>
          <a:noFill/>
          <a:ln cap="flat" cmpd="sng" w="9525">
            <a:solidFill>
              <a:schemeClr val="dk2"/>
            </a:solidFill>
            <a:prstDash val="solid"/>
            <a:round/>
            <a:headEnd len="med" w="med" type="none"/>
            <a:tailEnd len="med" w="med" type="triangle"/>
          </a:ln>
        </p:spPr>
      </p:cxnSp>
      <p:cxnSp>
        <p:nvCxnSpPr>
          <p:cNvPr id="230" name="Google Shape;230;p24"/>
          <p:cNvCxnSpPr>
            <a:stCxn id="170" idx="3"/>
          </p:cNvCxnSpPr>
          <p:nvPr/>
        </p:nvCxnSpPr>
        <p:spPr>
          <a:xfrm>
            <a:off x="4448295" y="967130"/>
            <a:ext cx="0" cy="228300"/>
          </a:xfrm>
          <a:prstGeom prst="straightConnector1">
            <a:avLst/>
          </a:prstGeom>
          <a:noFill/>
          <a:ln cap="flat" cmpd="sng" w="9525">
            <a:solidFill>
              <a:schemeClr val="dk2"/>
            </a:solidFill>
            <a:prstDash val="solid"/>
            <a:round/>
            <a:headEnd len="med" w="med" type="none"/>
            <a:tailEnd len="med" w="med" type="triangle"/>
          </a:ln>
        </p:spPr>
      </p:cxnSp>
      <p:cxnSp>
        <p:nvCxnSpPr>
          <p:cNvPr id="231" name="Google Shape;231;p24"/>
          <p:cNvCxnSpPr>
            <a:stCxn id="171" idx="3"/>
          </p:cNvCxnSpPr>
          <p:nvPr/>
        </p:nvCxnSpPr>
        <p:spPr>
          <a:xfrm>
            <a:off x="4579231" y="967130"/>
            <a:ext cx="0" cy="228300"/>
          </a:xfrm>
          <a:prstGeom prst="straightConnector1">
            <a:avLst/>
          </a:prstGeom>
          <a:noFill/>
          <a:ln cap="flat" cmpd="sng" w="9525">
            <a:solidFill>
              <a:schemeClr val="dk2"/>
            </a:solidFill>
            <a:prstDash val="solid"/>
            <a:round/>
            <a:headEnd len="med" w="med" type="none"/>
            <a:tailEnd len="med" w="med" type="triangle"/>
          </a:ln>
        </p:spPr>
      </p:cxnSp>
      <p:cxnSp>
        <p:nvCxnSpPr>
          <p:cNvPr id="232" name="Google Shape;232;p24"/>
          <p:cNvCxnSpPr>
            <a:stCxn id="172" idx="3"/>
          </p:cNvCxnSpPr>
          <p:nvPr/>
        </p:nvCxnSpPr>
        <p:spPr>
          <a:xfrm>
            <a:off x="4710166" y="967130"/>
            <a:ext cx="0" cy="228300"/>
          </a:xfrm>
          <a:prstGeom prst="straightConnector1">
            <a:avLst/>
          </a:prstGeom>
          <a:noFill/>
          <a:ln cap="flat" cmpd="sng" w="9525">
            <a:solidFill>
              <a:schemeClr val="dk2"/>
            </a:solidFill>
            <a:prstDash val="solid"/>
            <a:round/>
            <a:headEnd len="med" w="med" type="none"/>
            <a:tailEnd len="med" w="med" type="triangle"/>
          </a:ln>
        </p:spPr>
      </p:cxnSp>
      <p:cxnSp>
        <p:nvCxnSpPr>
          <p:cNvPr id="233" name="Google Shape;233;p24"/>
          <p:cNvCxnSpPr>
            <a:stCxn id="173" idx="3"/>
          </p:cNvCxnSpPr>
          <p:nvPr/>
        </p:nvCxnSpPr>
        <p:spPr>
          <a:xfrm>
            <a:off x="4841102" y="967130"/>
            <a:ext cx="0" cy="228300"/>
          </a:xfrm>
          <a:prstGeom prst="straightConnector1">
            <a:avLst/>
          </a:prstGeom>
          <a:noFill/>
          <a:ln cap="flat" cmpd="sng" w="9525">
            <a:solidFill>
              <a:schemeClr val="dk2"/>
            </a:solidFill>
            <a:prstDash val="solid"/>
            <a:round/>
            <a:headEnd len="med" w="med" type="none"/>
            <a:tailEnd len="med" w="med" type="triangle"/>
          </a:ln>
        </p:spPr>
      </p:cxnSp>
      <p:cxnSp>
        <p:nvCxnSpPr>
          <p:cNvPr id="234" name="Google Shape;234;p24"/>
          <p:cNvCxnSpPr>
            <a:stCxn id="168" idx="3"/>
          </p:cNvCxnSpPr>
          <p:nvPr/>
        </p:nvCxnSpPr>
        <p:spPr>
          <a:xfrm>
            <a:off x="4186424" y="967130"/>
            <a:ext cx="0" cy="228300"/>
          </a:xfrm>
          <a:prstGeom prst="straightConnector1">
            <a:avLst/>
          </a:prstGeom>
          <a:noFill/>
          <a:ln cap="flat" cmpd="sng" w="9525">
            <a:solidFill>
              <a:schemeClr val="dk2"/>
            </a:solidFill>
            <a:prstDash val="solid"/>
            <a:round/>
            <a:headEnd len="med" w="med" type="none"/>
            <a:tailEnd len="med" w="med" type="triangle"/>
          </a:ln>
        </p:spPr>
      </p:cxnSp>
      <p:cxnSp>
        <p:nvCxnSpPr>
          <p:cNvPr id="235" name="Google Shape;235;p24"/>
          <p:cNvCxnSpPr>
            <a:stCxn id="167" idx="3"/>
          </p:cNvCxnSpPr>
          <p:nvPr/>
        </p:nvCxnSpPr>
        <p:spPr>
          <a:xfrm>
            <a:off x="4055488" y="967130"/>
            <a:ext cx="0" cy="228300"/>
          </a:xfrm>
          <a:prstGeom prst="straightConnector1">
            <a:avLst/>
          </a:prstGeom>
          <a:noFill/>
          <a:ln cap="flat" cmpd="sng" w="9525">
            <a:solidFill>
              <a:schemeClr val="dk2"/>
            </a:solidFill>
            <a:prstDash val="solid"/>
            <a:round/>
            <a:headEnd len="med" w="med" type="none"/>
            <a:tailEnd len="med" w="med" type="triangle"/>
          </a:ln>
        </p:spPr>
      </p:cxnSp>
      <p:cxnSp>
        <p:nvCxnSpPr>
          <p:cNvPr id="236" name="Google Shape;236;p24"/>
          <p:cNvCxnSpPr>
            <a:stCxn id="166" idx="3"/>
          </p:cNvCxnSpPr>
          <p:nvPr/>
        </p:nvCxnSpPr>
        <p:spPr>
          <a:xfrm>
            <a:off x="3924553" y="967130"/>
            <a:ext cx="0" cy="228300"/>
          </a:xfrm>
          <a:prstGeom prst="straightConnector1">
            <a:avLst/>
          </a:prstGeom>
          <a:noFill/>
          <a:ln cap="flat" cmpd="sng" w="9525">
            <a:solidFill>
              <a:schemeClr val="dk2"/>
            </a:solidFill>
            <a:prstDash val="solid"/>
            <a:round/>
            <a:headEnd len="med" w="med" type="none"/>
            <a:tailEnd len="med" w="med" type="triangle"/>
          </a:ln>
        </p:spPr>
      </p:cxnSp>
      <p:cxnSp>
        <p:nvCxnSpPr>
          <p:cNvPr id="237" name="Google Shape;237;p24"/>
          <p:cNvCxnSpPr>
            <a:stCxn id="165" idx="3"/>
          </p:cNvCxnSpPr>
          <p:nvPr/>
        </p:nvCxnSpPr>
        <p:spPr>
          <a:xfrm>
            <a:off x="3793617" y="967130"/>
            <a:ext cx="0" cy="228300"/>
          </a:xfrm>
          <a:prstGeom prst="straightConnector1">
            <a:avLst/>
          </a:prstGeom>
          <a:noFill/>
          <a:ln cap="flat" cmpd="sng" w="9525">
            <a:solidFill>
              <a:schemeClr val="dk2"/>
            </a:solidFill>
            <a:prstDash val="solid"/>
            <a:round/>
            <a:headEnd len="med" w="med" type="none"/>
            <a:tailEnd len="med" w="med" type="triangle"/>
          </a:ln>
        </p:spPr>
      </p:cxnSp>
      <p:cxnSp>
        <p:nvCxnSpPr>
          <p:cNvPr id="238" name="Google Shape;238;p24"/>
          <p:cNvCxnSpPr>
            <a:stCxn id="201" idx="2"/>
            <a:endCxn id="146" idx="0"/>
          </p:cNvCxnSpPr>
          <p:nvPr/>
        </p:nvCxnSpPr>
        <p:spPr>
          <a:xfrm>
            <a:off x="4317282" y="1427796"/>
            <a:ext cx="238500" cy="219600"/>
          </a:xfrm>
          <a:prstGeom prst="straightConnector1">
            <a:avLst/>
          </a:prstGeom>
          <a:noFill/>
          <a:ln cap="flat" cmpd="sng" w="9525">
            <a:solidFill>
              <a:schemeClr val="dk2"/>
            </a:solidFill>
            <a:prstDash val="solid"/>
            <a:round/>
            <a:headEnd len="med" w="med" type="none"/>
            <a:tailEnd len="med" w="med" type="triangle"/>
          </a:ln>
        </p:spPr>
      </p:cxnSp>
      <p:sp>
        <p:nvSpPr>
          <p:cNvPr id="239" name="Google Shape;239;p24"/>
          <p:cNvSpPr/>
          <p:nvPr/>
        </p:nvSpPr>
        <p:spPr>
          <a:xfrm>
            <a:off x="3403775" y="1195300"/>
            <a:ext cx="324300" cy="232500"/>
          </a:xfrm>
          <a:prstGeom prst="rect">
            <a:avLst/>
          </a:prstGeom>
          <a:solidFill>
            <a:srgbClr val="B6D7A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800">
              <a:latin typeface="Roboto"/>
              <a:ea typeface="Roboto"/>
              <a:cs typeface="Roboto"/>
              <a:sym typeface="Roboto"/>
            </a:endParaRPr>
          </a:p>
        </p:txBody>
      </p:sp>
      <p:sp>
        <p:nvSpPr>
          <p:cNvPr id="240" name="Google Shape;240;p24"/>
          <p:cNvSpPr/>
          <p:nvPr/>
        </p:nvSpPr>
        <p:spPr>
          <a:xfrm>
            <a:off x="3642289" y="1647399"/>
            <a:ext cx="324300" cy="232500"/>
          </a:xfrm>
          <a:prstGeom prst="rect">
            <a:avLst/>
          </a:prstGeom>
          <a:solidFill>
            <a:srgbClr val="B6D7A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800">
              <a:latin typeface="Roboto"/>
              <a:ea typeface="Roboto"/>
              <a:cs typeface="Roboto"/>
              <a:sym typeface="Roboto"/>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25"/>
          <p:cNvSpPr txBox="1"/>
          <p:nvPr>
            <p:ph idx="1" type="body"/>
          </p:nvPr>
        </p:nvSpPr>
        <p:spPr>
          <a:xfrm>
            <a:off x="4812375" y="402200"/>
            <a:ext cx="4038000" cy="42609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None/>
            </a:pPr>
            <a:r>
              <a:rPr b="1" lang="en">
                <a:solidFill>
                  <a:schemeClr val="accent3"/>
                </a:solidFill>
                <a:latin typeface="Roboto"/>
                <a:ea typeface="Roboto"/>
                <a:cs typeface="Roboto"/>
                <a:sym typeface="Roboto"/>
              </a:rPr>
              <a:t>Implementing TCP</a:t>
            </a:r>
            <a:endParaRPr>
              <a:solidFill>
                <a:srgbClr val="B7B7B7"/>
              </a:solidFill>
            </a:endParaRPr>
          </a:p>
          <a:p>
            <a:pPr indent="-342900" lvl="0" marL="457200" rtl="0" algn="l">
              <a:spcBef>
                <a:spcPts val="600"/>
              </a:spcBef>
              <a:spcAft>
                <a:spcPts val="0"/>
              </a:spcAft>
              <a:buClr>
                <a:schemeClr val="accent3"/>
              </a:buClr>
              <a:buSzPts val="1800"/>
              <a:buFont typeface="Roboto"/>
              <a:buChar char="•"/>
            </a:pPr>
            <a:r>
              <a:rPr b="1" lang="en">
                <a:solidFill>
                  <a:schemeClr val="accent3"/>
                </a:solidFill>
                <a:latin typeface="Roboto"/>
                <a:ea typeface="Roboto"/>
                <a:cs typeface="Roboto"/>
                <a:sym typeface="Roboto"/>
              </a:rPr>
              <a:t>Byte Notation</a:t>
            </a:r>
            <a:br>
              <a:rPr b="1" lang="en">
                <a:solidFill>
                  <a:schemeClr val="accent3"/>
                </a:solidFill>
                <a:latin typeface="Roboto"/>
                <a:ea typeface="Roboto"/>
                <a:cs typeface="Roboto"/>
                <a:sym typeface="Roboto"/>
              </a:rPr>
            </a:br>
            <a:r>
              <a:rPr b="1" lang="en">
                <a:solidFill>
                  <a:schemeClr val="accent3"/>
                </a:solidFill>
                <a:latin typeface="Roboto"/>
                <a:ea typeface="Roboto"/>
                <a:cs typeface="Roboto"/>
                <a:sym typeface="Roboto"/>
              </a:rPr>
              <a:t>(Segments, Sequence Numbers)</a:t>
            </a:r>
            <a:endParaRPr b="1">
              <a:solidFill>
                <a:schemeClr val="accent3"/>
              </a:solidFill>
              <a:latin typeface="Roboto"/>
              <a:ea typeface="Roboto"/>
              <a:cs typeface="Roboto"/>
              <a:sym typeface="Roboto"/>
            </a:endParaRPr>
          </a:p>
          <a:p>
            <a:pPr indent="-342900" lvl="0" marL="457200" rtl="0" algn="l">
              <a:spcBef>
                <a:spcPts val="0"/>
              </a:spcBef>
              <a:spcAft>
                <a:spcPts val="0"/>
              </a:spcAft>
              <a:buClr>
                <a:srgbClr val="B7B7B7"/>
              </a:buClr>
              <a:buSzPts val="1800"/>
              <a:buChar char="•"/>
            </a:pPr>
            <a:r>
              <a:rPr lang="en">
                <a:solidFill>
                  <a:srgbClr val="B7B7B7"/>
                </a:solidFill>
              </a:rPr>
              <a:t>Maintaining State (Full Duplex, Connection Setup and Teardown)</a:t>
            </a:r>
            <a:endParaRPr>
              <a:solidFill>
                <a:srgbClr val="B7B7B7"/>
              </a:solidFill>
            </a:endParaRPr>
          </a:p>
          <a:p>
            <a:pPr indent="-342900" lvl="0" marL="457200" rtl="0" algn="l">
              <a:spcBef>
                <a:spcPts val="0"/>
              </a:spcBef>
              <a:spcAft>
                <a:spcPts val="0"/>
              </a:spcAft>
              <a:buClr>
                <a:srgbClr val="B7B7B7"/>
              </a:buClr>
              <a:buSzPts val="1800"/>
              <a:buChar char="•"/>
            </a:pPr>
            <a:r>
              <a:rPr lang="en">
                <a:solidFill>
                  <a:srgbClr val="B7B7B7"/>
                </a:solidFill>
              </a:rPr>
              <a:t>Sliding Window</a:t>
            </a:r>
            <a:endParaRPr>
              <a:solidFill>
                <a:srgbClr val="B7B7B7"/>
              </a:solidFill>
            </a:endParaRPr>
          </a:p>
          <a:p>
            <a:pPr indent="-342900" lvl="0" marL="457200" rtl="0" algn="l">
              <a:spcBef>
                <a:spcPts val="0"/>
              </a:spcBef>
              <a:spcAft>
                <a:spcPts val="0"/>
              </a:spcAft>
              <a:buClr>
                <a:srgbClr val="B7B7B7"/>
              </a:buClr>
              <a:buSzPts val="1800"/>
              <a:buChar char="•"/>
            </a:pPr>
            <a:r>
              <a:rPr lang="en">
                <a:solidFill>
                  <a:srgbClr val="B7B7B7"/>
                </a:solidFill>
              </a:rPr>
              <a:t>Header</a:t>
            </a:r>
            <a:endParaRPr>
              <a:solidFill>
                <a:srgbClr val="B7B7B7"/>
              </a:solidFill>
            </a:endParaRPr>
          </a:p>
        </p:txBody>
      </p:sp>
      <p:sp>
        <p:nvSpPr>
          <p:cNvPr id="246" name="Google Shape;246;p25"/>
          <p:cNvSpPr txBox="1"/>
          <p:nvPr>
            <p:ph type="title"/>
          </p:nvPr>
        </p:nvSpPr>
        <p:spPr>
          <a:xfrm>
            <a:off x="177925" y="2003300"/>
            <a:ext cx="4038000" cy="20379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sz="3200"/>
              <a:t>Implementing TCP: Byte Notation (Segments, Sequence Numbers)</a:t>
            </a:r>
            <a:endParaRPr sz="3200"/>
          </a:p>
        </p:txBody>
      </p:sp>
      <p:sp>
        <p:nvSpPr>
          <p:cNvPr id="247" name="Google Shape;247;p25"/>
          <p:cNvSpPr txBox="1"/>
          <p:nvPr>
            <p:ph idx="2" type="subTitle"/>
          </p:nvPr>
        </p:nvSpPr>
        <p:spPr>
          <a:xfrm>
            <a:off x="177925" y="4068000"/>
            <a:ext cx="4158000" cy="3936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None/>
            </a:pPr>
            <a:r>
              <a:rPr lang="en"/>
              <a:t>Lecture 11</a:t>
            </a:r>
            <a:r>
              <a:rPr lang="en"/>
              <a:t>, CS 168, </a:t>
            </a:r>
            <a:r>
              <a:rPr lang="en"/>
              <a:t>Summer 2025</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26"/>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Notation Change: Bytes vs. Packets</a:t>
            </a:r>
            <a:endParaRPr/>
          </a:p>
        </p:txBody>
      </p:sp>
      <p:sp>
        <p:nvSpPr>
          <p:cNvPr id="253" name="Google Shape;253;p26"/>
          <p:cNvSpPr txBox="1"/>
          <p:nvPr>
            <p:ph idx="1" type="body"/>
          </p:nvPr>
        </p:nvSpPr>
        <p:spPr>
          <a:xfrm>
            <a:off x="107050" y="402200"/>
            <a:ext cx="8909700" cy="45306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So far, we've used </a:t>
            </a:r>
            <a:r>
              <a:rPr i="1" lang="en"/>
              <a:t>packets</a:t>
            </a:r>
            <a:r>
              <a:rPr lang="en"/>
              <a:t> as the primary unit of data.</a:t>
            </a:r>
            <a:endParaRPr/>
          </a:p>
          <a:p>
            <a:pPr indent="-342900" lvl="0" marL="457200" rtl="0" algn="l">
              <a:spcBef>
                <a:spcPts val="600"/>
              </a:spcBef>
              <a:spcAft>
                <a:spcPts val="0"/>
              </a:spcAft>
              <a:buSzPts val="1800"/>
              <a:buChar char="●"/>
            </a:pPr>
            <a:r>
              <a:rPr lang="en"/>
              <a:t>Each packet has a number.</a:t>
            </a:r>
            <a:endParaRPr/>
          </a:p>
          <a:p>
            <a:pPr indent="-342900" lvl="0" marL="457200" rtl="0" algn="l">
              <a:spcBef>
                <a:spcPts val="0"/>
              </a:spcBef>
              <a:spcAft>
                <a:spcPts val="0"/>
              </a:spcAft>
              <a:buSzPts val="1800"/>
              <a:buChar char="●"/>
            </a:pPr>
            <a:r>
              <a:rPr lang="en"/>
              <a:t>Acks reference packet numbers.</a:t>
            </a:r>
            <a:endParaRPr/>
          </a:p>
          <a:p>
            <a:pPr indent="-342900" lvl="0" marL="457200" rtl="0" algn="l">
              <a:spcBef>
                <a:spcPts val="0"/>
              </a:spcBef>
              <a:spcAft>
                <a:spcPts val="0"/>
              </a:spcAft>
              <a:buSzPts val="1800"/>
              <a:buChar char="●"/>
            </a:pPr>
            <a:r>
              <a:rPr lang="en"/>
              <a:t>Window size expressed in terms of number of packets.</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TCP is implemented with </a:t>
            </a:r>
            <a:r>
              <a:rPr i="1" lang="en"/>
              <a:t>bytes</a:t>
            </a:r>
            <a:r>
              <a:rPr lang="en"/>
              <a:t> as the primary unit of data.</a:t>
            </a:r>
            <a:endParaRPr/>
          </a:p>
          <a:p>
            <a:pPr indent="-342900" lvl="0" marL="457200" rtl="0" algn="l">
              <a:spcBef>
                <a:spcPts val="600"/>
              </a:spcBef>
              <a:spcAft>
                <a:spcPts val="0"/>
              </a:spcAft>
              <a:buSzPts val="1800"/>
              <a:buChar char="●"/>
            </a:pPr>
            <a:r>
              <a:rPr lang="en"/>
              <a:t>Each byte has a number.</a:t>
            </a:r>
            <a:br>
              <a:rPr lang="en"/>
            </a:br>
            <a:r>
              <a:rPr lang="en"/>
              <a:t>Packets are defined by the number of the first byte inside.</a:t>
            </a:r>
            <a:endParaRPr/>
          </a:p>
          <a:p>
            <a:pPr indent="-342900" lvl="0" marL="457200" rtl="0" algn="l">
              <a:spcBef>
                <a:spcPts val="0"/>
              </a:spcBef>
              <a:spcAft>
                <a:spcPts val="0"/>
              </a:spcAft>
              <a:buSzPts val="1800"/>
              <a:buChar char="●"/>
            </a:pPr>
            <a:r>
              <a:rPr lang="en"/>
              <a:t>ACKs reference byte numbers.</a:t>
            </a:r>
            <a:endParaRPr/>
          </a:p>
          <a:p>
            <a:pPr indent="-342900" lvl="0" marL="457200" rtl="0" algn="l">
              <a:spcBef>
                <a:spcPts val="0"/>
              </a:spcBef>
              <a:spcAft>
                <a:spcPts val="0"/>
              </a:spcAft>
              <a:buSzPts val="1800"/>
              <a:buChar char="●"/>
            </a:pPr>
            <a:r>
              <a:rPr lang="en"/>
              <a:t>Window size expressed in terms of number of bytes.</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You should be prepared to reason in terms of either.</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27"/>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TCP Segments</a:t>
            </a:r>
            <a:endParaRPr/>
          </a:p>
        </p:txBody>
      </p:sp>
      <p:sp>
        <p:nvSpPr>
          <p:cNvPr id="259" name="Google Shape;259;p27"/>
          <p:cNvSpPr txBox="1"/>
          <p:nvPr>
            <p:ph idx="1" type="body"/>
          </p:nvPr>
        </p:nvSpPr>
        <p:spPr>
          <a:xfrm>
            <a:off x="107050" y="402200"/>
            <a:ext cx="8909700" cy="10260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TCP provides a reliable, in-order bytestream.</a:t>
            </a:r>
            <a:endParaRPr/>
          </a:p>
          <a:p>
            <a:pPr indent="0" lvl="0" marL="0" rtl="0" algn="l">
              <a:spcBef>
                <a:spcPts val="600"/>
              </a:spcBef>
              <a:spcAft>
                <a:spcPts val="0"/>
              </a:spcAft>
              <a:buNone/>
            </a:pPr>
            <a:r>
              <a:rPr lang="en"/>
              <a:t>We have to split this bytestream into packets.</a:t>
            </a:r>
            <a:endParaRPr/>
          </a:p>
        </p:txBody>
      </p:sp>
      <p:sp>
        <p:nvSpPr>
          <p:cNvPr id="260" name="Google Shape;260;p27"/>
          <p:cNvSpPr/>
          <p:nvPr/>
        </p:nvSpPr>
        <p:spPr>
          <a:xfrm rot="5400000">
            <a:off x="12822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Byte 1</a:t>
            </a:r>
            <a:endParaRPr sz="1000">
              <a:latin typeface="Roboto"/>
              <a:ea typeface="Roboto"/>
              <a:cs typeface="Roboto"/>
              <a:sym typeface="Roboto"/>
            </a:endParaRPr>
          </a:p>
        </p:txBody>
      </p:sp>
      <p:sp>
        <p:nvSpPr>
          <p:cNvPr id="261" name="Google Shape;261;p27"/>
          <p:cNvSpPr/>
          <p:nvPr/>
        </p:nvSpPr>
        <p:spPr>
          <a:xfrm rot="5400000">
            <a:off x="14571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Byte 2</a:t>
            </a:r>
            <a:endParaRPr sz="1000">
              <a:latin typeface="Roboto"/>
              <a:ea typeface="Roboto"/>
              <a:cs typeface="Roboto"/>
              <a:sym typeface="Roboto"/>
            </a:endParaRPr>
          </a:p>
        </p:txBody>
      </p:sp>
      <p:sp>
        <p:nvSpPr>
          <p:cNvPr id="262" name="Google Shape;262;p27"/>
          <p:cNvSpPr/>
          <p:nvPr/>
        </p:nvSpPr>
        <p:spPr>
          <a:xfrm rot="5400000">
            <a:off x="16320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Byte 3</a:t>
            </a:r>
            <a:endParaRPr sz="1000">
              <a:latin typeface="Roboto"/>
              <a:ea typeface="Roboto"/>
              <a:cs typeface="Roboto"/>
              <a:sym typeface="Roboto"/>
            </a:endParaRPr>
          </a:p>
        </p:txBody>
      </p:sp>
      <p:sp>
        <p:nvSpPr>
          <p:cNvPr id="263" name="Google Shape;263;p27"/>
          <p:cNvSpPr/>
          <p:nvPr/>
        </p:nvSpPr>
        <p:spPr>
          <a:xfrm rot="5400000">
            <a:off x="18069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Byte 4</a:t>
            </a:r>
            <a:endParaRPr sz="1000">
              <a:latin typeface="Roboto"/>
              <a:ea typeface="Roboto"/>
              <a:cs typeface="Roboto"/>
              <a:sym typeface="Roboto"/>
            </a:endParaRPr>
          </a:p>
        </p:txBody>
      </p:sp>
      <p:sp>
        <p:nvSpPr>
          <p:cNvPr id="264" name="Google Shape;264;p27"/>
          <p:cNvSpPr/>
          <p:nvPr/>
        </p:nvSpPr>
        <p:spPr>
          <a:xfrm rot="5400000">
            <a:off x="19818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65" name="Google Shape;265;p27"/>
          <p:cNvSpPr/>
          <p:nvPr/>
        </p:nvSpPr>
        <p:spPr>
          <a:xfrm rot="5400000">
            <a:off x="21567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66" name="Google Shape;266;p27"/>
          <p:cNvSpPr/>
          <p:nvPr/>
        </p:nvSpPr>
        <p:spPr>
          <a:xfrm rot="5400000">
            <a:off x="23316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67" name="Google Shape;267;p27"/>
          <p:cNvSpPr/>
          <p:nvPr/>
        </p:nvSpPr>
        <p:spPr>
          <a:xfrm rot="5400000">
            <a:off x="25065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Byte 79</a:t>
            </a:r>
            <a:endParaRPr sz="1000">
              <a:latin typeface="Roboto"/>
              <a:ea typeface="Roboto"/>
              <a:cs typeface="Roboto"/>
              <a:sym typeface="Roboto"/>
            </a:endParaRPr>
          </a:p>
        </p:txBody>
      </p:sp>
      <p:sp>
        <p:nvSpPr>
          <p:cNvPr id="268" name="Google Shape;268;p27"/>
          <p:cNvSpPr/>
          <p:nvPr/>
        </p:nvSpPr>
        <p:spPr>
          <a:xfrm rot="5400000">
            <a:off x="26814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Byte 80</a:t>
            </a:r>
            <a:endParaRPr sz="1000">
              <a:latin typeface="Roboto"/>
              <a:ea typeface="Roboto"/>
              <a:cs typeface="Roboto"/>
              <a:sym typeface="Roboto"/>
            </a:endParaRPr>
          </a:p>
        </p:txBody>
      </p:sp>
      <p:sp>
        <p:nvSpPr>
          <p:cNvPr id="269" name="Google Shape;269;p27"/>
          <p:cNvSpPr/>
          <p:nvPr/>
        </p:nvSpPr>
        <p:spPr>
          <a:xfrm rot="5400000">
            <a:off x="28563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0" name="Google Shape;270;p27"/>
          <p:cNvSpPr/>
          <p:nvPr/>
        </p:nvSpPr>
        <p:spPr>
          <a:xfrm rot="5400000">
            <a:off x="30312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1" name="Google Shape;271;p27"/>
          <p:cNvSpPr/>
          <p:nvPr/>
        </p:nvSpPr>
        <p:spPr>
          <a:xfrm rot="5400000">
            <a:off x="32061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2" name="Google Shape;272;p27"/>
          <p:cNvSpPr/>
          <p:nvPr/>
        </p:nvSpPr>
        <p:spPr>
          <a:xfrm rot="5400000">
            <a:off x="33810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3" name="Google Shape;273;p27"/>
          <p:cNvSpPr/>
          <p:nvPr/>
        </p:nvSpPr>
        <p:spPr>
          <a:xfrm rot="5400000">
            <a:off x="35559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4" name="Google Shape;274;p27"/>
          <p:cNvSpPr/>
          <p:nvPr/>
        </p:nvSpPr>
        <p:spPr>
          <a:xfrm rot="5400000">
            <a:off x="37308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5" name="Google Shape;275;p27"/>
          <p:cNvSpPr/>
          <p:nvPr/>
        </p:nvSpPr>
        <p:spPr>
          <a:xfrm rot="5400000">
            <a:off x="39057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6" name="Google Shape;276;p27"/>
          <p:cNvSpPr/>
          <p:nvPr/>
        </p:nvSpPr>
        <p:spPr>
          <a:xfrm rot="5400000">
            <a:off x="40806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7" name="Google Shape;277;p27"/>
          <p:cNvSpPr/>
          <p:nvPr/>
        </p:nvSpPr>
        <p:spPr>
          <a:xfrm rot="5400000">
            <a:off x="42555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8" name="Google Shape;278;p27"/>
          <p:cNvSpPr/>
          <p:nvPr/>
        </p:nvSpPr>
        <p:spPr>
          <a:xfrm rot="5400000">
            <a:off x="44304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9" name="Google Shape;279;p27"/>
          <p:cNvSpPr/>
          <p:nvPr/>
        </p:nvSpPr>
        <p:spPr>
          <a:xfrm rot="5400000">
            <a:off x="46053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0" name="Google Shape;280;p27"/>
          <p:cNvSpPr/>
          <p:nvPr/>
        </p:nvSpPr>
        <p:spPr>
          <a:xfrm rot="5400000">
            <a:off x="47802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1" name="Google Shape;281;p27"/>
          <p:cNvSpPr/>
          <p:nvPr/>
        </p:nvSpPr>
        <p:spPr>
          <a:xfrm rot="5400000">
            <a:off x="49551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2" name="Google Shape;282;p27"/>
          <p:cNvSpPr/>
          <p:nvPr/>
        </p:nvSpPr>
        <p:spPr>
          <a:xfrm rot="5400000">
            <a:off x="51300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3" name="Google Shape;283;p27"/>
          <p:cNvSpPr/>
          <p:nvPr/>
        </p:nvSpPr>
        <p:spPr>
          <a:xfrm rot="5400000">
            <a:off x="53049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4" name="Google Shape;284;p27"/>
          <p:cNvSpPr/>
          <p:nvPr/>
        </p:nvSpPr>
        <p:spPr>
          <a:xfrm rot="5400000">
            <a:off x="54798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5" name="Google Shape;285;p27"/>
          <p:cNvSpPr/>
          <p:nvPr/>
        </p:nvSpPr>
        <p:spPr>
          <a:xfrm rot="5400000">
            <a:off x="56547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6" name="Google Shape;286;p27"/>
          <p:cNvSpPr/>
          <p:nvPr/>
        </p:nvSpPr>
        <p:spPr>
          <a:xfrm rot="5400000">
            <a:off x="58296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7" name="Google Shape;287;p27"/>
          <p:cNvSpPr/>
          <p:nvPr/>
        </p:nvSpPr>
        <p:spPr>
          <a:xfrm rot="5400000">
            <a:off x="60045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8" name="Google Shape;288;p27"/>
          <p:cNvSpPr/>
          <p:nvPr/>
        </p:nvSpPr>
        <p:spPr>
          <a:xfrm rot="5400000">
            <a:off x="61794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9" name="Google Shape;289;p27"/>
          <p:cNvSpPr/>
          <p:nvPr/>
        </p:nvSpPr>
        <p:spPr>
          <a:xfrm rot="5400000">
            <a:off x="63543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90" name="Google Shape;290;p27"/>
          <p:cNvSpPr/>
          <p:nvPr/>
        </p:nvSpPr>
        <p:spPr>
          <a:xfrm rot="5400000">
            <a:off x="65292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91" name="Google Shape;291;p27"/>
          <p:cNvSpPr/>
          <p:nvPr/>
        </p:nvSpPr>
        <p:spPr>
          <a:xfrm rot="5400000">
            <a:off x="67041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92" name="Google Shape;292;p27"/>
          <p:cNvSpPr/>
          <p:nvPr/>
        </p:nvSpPr>
        <p:spPr>
          <a:xfrm rot="5400000">
            <a:off x="68790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93" name="Google Shape;293;p27"/>
          <p:cNvSpPr/>
          <p:nvPr/>
        </p:nvSpPr>
        <p:spPr>
          <a:xfrm rot="5400000">
            <a:off x="7053950" y="2030975"/>
            <a:ext cx="722100" cy="174900"/>
          </a:xfrm>
          <a:prstGeom prst="rect">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94" name="Google Shape;294;p27"/>
          <p:cNvSpPr/>
          <p:nvPr/>
        </p:nvSpPr>
        <p:spPr>
          <a:xfrm rot="5400000">
            <a:off x="7228850" y="2030975"/>
            <a:ext cx="722100" cy="174900"/>
          </a:xfrm>
          <a:prstGeom prst="rect">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95" name="Google Shape;295;p27"/>
          <p:cNvSpPr/>
          <p:nvPr/>
        </p:nvSpPr>
        <p:spPr>
          <a:xfrm rot="5400000">
            <a:off x="7403750" y="2030975"/>
            <a:ext cx="722100" cy="174900"/>
          </a:xfrm>
          <a:prstGeom prst="rect">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96" name="Google Shape;296;p27"/>
          <p:cNvSpPr txBox="1"/>
          <p:nvPr/>
        </p:nvSpPr>
        <p:spPr>
          <a:xfrm>
            <a:off x="1555850" y="1486475"/>
            <a:ext cx="2273700" cy="270900"/>
          </a:xfrm>
          <a:prstGeom prst="rect">
            <a:avLst/>
          </a:prstGeom>
          <a:noFill/>
          <a:ln>
            <a:noFill/>
          </a:ln>
        </p:spPr>
        <p:txBody>
          <a:bodyPr anchorCtr="0" anchor="t" bIns="27425" lIns="27425" spcFirstLastPara="1" rIns="27425" wrap="square" tIns="27425">
            <a:spAutoFit/>
          </a:bodyPr>
          <a:lstStyle/>
          <a:p>
            <a:pPr indent="0" lvl="0" marL="0" rtl="0" algn="l">
              <a:spcBef>
                <a:spcPts val="0"/>
              </a:spcBef>
              <a:spcAft>
                <a:spcPts val="0"/>
              </a:spcAft>
              <a:buNone/>
            </a:pPr>
            <a:r>
              <a:rPr lang="en">
                <a:solidFill>
                  <a:schemeClr val="dk1"/>
                </a:solidFill>
                <a:latin typeface="Roboto"/>
                <a:ea typeface="Roboto"/>
                <a:cs typeface="Roboto"/>
                <a:sym typeface="Roboto"/>
              </a:rPr>
              <a:t>Sender Application</a:t>
            </a:r>
            <a:endParaRPr>
              <a:solidFill>
                <a:schemeClr val="dk1"/>
              </a:solidFill>
              <a:latin typeface="Roboto"/>
              <a:ea typeface="Roboto"/>
              <a:cs typeface="Roboto"/>
              <a:sym typeface="Roboto"/>
            </a:endParaRPr>
          </a:p>
        </p:txBody>
      </p:sp>
      <p:sp>
        <p:nvSpPr>
          <p:cNvPr id="297" name="Google Shape;297;p27"/>
          <p:cNvSpPr/>
          <p:nvPr/>
        </p:nvSpPr>
        <p:spPr>
          <a:xfrm rot="5400000">
            <a:off x="16008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Byte 1</a:t>
            </a:r>
            <a:endParaRPr sz="1000">
              <a:latin typeface="Roboto"/>
              <a:ea typeface="Roboto"/>
              <a:cs typeface="Roboto"/>
              <a:sym typeface="Roboto"/>
            </a:endParaRPr>
          </a:p>
        </p:txBody>
      </p:sp>
      <p:sp>
        <p:nvSpPr>
          <p:cNvPr id="298" name="Google Shape;298;p27"/>
          <p:cNvSpPr/>
          <p:nvPr/>
        </p:nvSpPr>
        <p:spPr>
          <a:xfrm rot="5400000">
            <a:off x="17757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Byte 2</a:t>
            </a:r>
            <a:endParaRPr sz="1000">
              <a:latin typeface="Roboto"/>
              <a:ea typeface="Roboto"/>
              <a:cs typeface="Roboto"/>
              <a:sym typeface="Roboto"/>
            </a:endParaRPr>
          </a:p>
        </p:txBody>
      </p:sp>
      <p:sp>
        <p:nvSpPr>
          <p:cNvPr id="299" name="Google Shape;299;p27"/>
          <p:cNvSpPr/>
          <p:nvPr/>
        </p:nvSpPr>
        <p:spPr>
          <a:xfrm rot="5400000">
            <a:off x="19506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Byte 3</a:t>
            </a:r>
            <a:endParaRPr sz="1000">
              <a:latin typeface="Roboto"/>
              <a:ea typeface="Roboto"/>
              <a:cs typeface="Roboto"/>
              <a:sym typeface="Roboto"/>
            </a:endParaRPr>
          </a:p>
        </p:txBody>
      </p:sp>
      <p:sp>
        <p:nvSpPr>
          <p:cNvPr id="300" name="Google Shape;300;p27"/>
          <p:cNvSpPr/>
          <p:nvPr/>
        </p:nvSpPr>
        <p:spPr>
          <a:xfrm rot="5400000">
            <a:off x="21255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Byte 4</a:t>
            </a:r>
            <a:endParaRPr sz="1000">
              <a:latin typeface="Roboto"/>
              <a:ea typeface="Roboto"/>
              <a:cs typeface="Roboto"/>
              <a:sym typeface="Roboto"/>
            </a:endParaRPr>
          </a:p>
        </p:txBody>
      </p:sp>
      <p:sp>
        <p:nvSpPr>
          <p:cNvPr id="301" name="Google Shape;301;p27"/>
          <p:cNvSpPr/>
          <p:nvPr/>
        </p:nvSpPr>
        <p:spPr>
          <a:xfrm rot="5400000">
            <a:off x="23004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02" name="Google Shape;302;p27"/>
          <p:cNvSpPr/>
          <p:nvPr/>
        </p:nvSpPr>
        <p:spPr>
          <a:xfrm rot="5400000">
            <a:off x="24753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03" name="Google Shape;303;p27"/>
          <p:cNvSpPr/>
          <p:nvPr/>
        </p:nvSpPr>
        <p:spPr>
          <a:xfrm rot="5400000">
            <a:off x="26502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04" name="Google Shape;304;p27"/>
          <p:cNvSpPr/>
          <p:nvPr/>
        </p:nvSpPr>
        <p:spPr>
          <a:xfrm rot="5400000">
            <a:off x="28251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Byte 79</a:t>
            </a:r>
            <a:endParaRPr sz="1000">
              <a:latin typeface="Roboto"/>
              <a:ea typeface="Roboto"/>
              <a:cs typeface="Roboto"/>
              <a:sym typeface="Roboto"/>
            </a:endParaRPr>
          </a:p>
        </p:txBody>
      </p:sp>
      <p:sp>
        <p:nvSpPr>
          <p:cNvPr id="305" name="Google Shape;305;p27"/>
          <p:cNvSpPr/>
          <p:nvPr/>
        </p:nvSpPr>
        <p:spPr>
          <a:xfrm rot="5400000">
            <a:off x="30000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Byte 80</a:t>
            </a:r>
            <a:endParaRPr sz="1000">
              <a:latin typeface="Roboto"/>
              <a:ea typeface="Roboto"/>
              <a:cs typeface="Roboto"/>
              <a:sym typeface="Roboto"/>
            </a:endParaRPr>
          </a:p>
        </p:txBody>
      </p:sp>
      <p:sp>
        <p:nvSpPr>
          <p:cNvPr id="306" name="Google Shape;306;p27"/>
          <p:cNvSpPr/>
          <p:nvPr/>
        </p:nvSpPr>
        <p:spPr>
          <a:xfrm rot="5400000">
            <a:off x="31749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07" name="Google Shape;307;p27"/>
          <p:cNvSpPr/>
          <p:nvPr/>
        </p:nvSpPr>
        <p:spPr>
          <a:xfrm rot="5400000">
            <a:off x="33498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08" name="Google Shape;308;p27"/>
          <p:cNvSpPr/>
          <p:nvPr/>
        </p:nvSpPr>
        <p:spPr>
          <a:xfrm rot="5400000">
            <a:off x="35247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09" name="Google Shape;309;p27"/>
          <p:cNvSpPr/>
          <p:nvPr/>
        </p:nvSpPr>
        <p:spPr>
          <a:xfrm rot="5400000">
            <a:off x="36996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0" name="Google Shape;310;p27"/>
          <p:cNvSpPr/>
          <p:nvPr/>
        </p:nvSpPr>
        <p:spPr>
          <a:xfrm rot="5400000">
            <a:off x="38745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1" name="Google Shape;311;p27"/>
          <p:cNvSpPr/>
          <p:nvPr/>
        </p:nvSpPr>
        <p:spPr>
          <a:xfrm rot="5400000">
            <a:off x="40494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2" name="Google Shape;312;p27"/>
          <p:cNvSpPr/>
          <p:nvPr/>
        </p:nvSpPr>
        <p:spPr>
          <a:xfrm rot="5400000">
            <a:off x="42243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3" name="Google Shape;313;p27"/>
          <p:cNvSpPr/>
          <p:nvPr/>
        </p:nvSpPr>
        <p:spPr>
          <a:xfrm rot="5400000">
            <a:off x="43992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4" name="Google Shape;314;p27"/>
          <p:cNvSpPr/>
          <p:nvPr/>
        </p:nvSpPr>
        <p:spPr>
          <a:xfrm rot="5400000">
            <a:off x="45741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5" name="Google Shape;315;p27"/>
          <p:cNvSpPr/>
          <p:nvPr/>
        </p:nvSpPr>
        <p:spPr>
          <a:xfrm rot="5400000">
            <a:off x="47490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6" name="Google Shape;316;p27"/>
          <p:cNvSpPr/>
          <p:nvPr/>
        </p:nvSpPr>
        <p:spPr>
          <a:xfrm rot="5400000">
            <a:off x="49239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7" name="Google Shape;317;p27"/>
          <p:cNvSpPr/>
          <p:nvPr/>
        </p:nvSpPr>
        <p:spPr>
          <a:xfrm rot="5400000">
            <a:off x="50988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8" name="Google Shape;318;p27"/>
          <p:cNvSpPr/>
          <p:nvPr/>
        </p:nvSpPr>
        <p:spPr>
          <a:xfrm rot="5400000">
            <a:off x="52737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9" name="Google Shape;319;p27"/>
          <p:cNvSpPr/>
          <p:nvPr/>
        </p:nvSpPr>
        <p:spPr>
          <a:xfrm rot="5400000">
            <a:off x="54486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0" name="Google Shape;320;p27"/>
          <p:cNvSpPr/>
          <p:nvPr/>
        </p:nvSpPr>
        <p:spPr>
          <a:xfrm rot="5400000">
            <a:off x="56235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1" name="Google Shape;321;p27"/>
          <p:cNvSpPr/>
          <p:nvPr/>
        </p:nvSpPr>
        <p:spPr>
          <a:xfrm rot="5400000">
            <a:off x="57984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2" name="Google Shape;322;p27"/>
          <p:cNvSpPr/>
          <p:nvPr/>
        </p:nvSpPr>
        <p:spPr>
          <a:xfrm rot="5400000">
            <a:off x="59733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3" name="Google Shape;323;p27"/>
          <p:cNvSpPr/>
          <p:nvPr/>
        </p:nvSpPr>
        <p:spPr>
          <a:xfrm rot="5400000">
            <a:off x="61482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4" name="Google Shape;324;p27"/>
          <p:cNvSpPr/>
          <p:nvPr/>
        </p:nvSpPr>
        <p:spPr>
          <a:xfrm rot="5400000">
            <a:off x="63231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5" name="Google Shape;325;p27"/>
          <p:cNvSpPr/>
          <p:nvPr/>
        </p:nvSpPr>
        <p:spPr>
          <a:xfrm rot="5400000">
            <a:off x="64980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6" name="Google Shape;326;p27"/>
          <p:cNvSpPr/>
          <p:nvPr/>
        </p:nvSpPr>
        <p:spPr>
          <a:xfrm rot="5400000">
            <a:off x="66729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7" name="Google Shape;327;p27"/>
          <p:cNvSpPr/>
          <p:nvPr/>
        </p:nvSpPr>
        <p:spPr>
          <a:xfrm rot="5400000">
            <a:off x="68478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8" name="Google Shape;328;p27"/>
          <p:cNvSpPr/>
          <p:nvPr/>
        </p:nvSpPr>
        <p:spPr>
          <a:xfrm rot="5400000">
            <a:off x="70227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9" name="Google Shape;329;p27"/>
          <p:cNvSpPr/>
          <p:nvPr/>
        </p:nvSpPr>
        <p:spPr>
          <a:xfrm rot="5400000">
            <a:off x="71976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30" name="Google Shape;330;p27"/>
          <p:cNvSpPr/>
          <p:nvPr/>
        </p:nvSpPr>
        <p:spPr>
          <a:xfrm rot="5400000">
            <a:off x="7372550" y="4277075"/>
            <a:ext cx="722100" cy="174900"/>
          </a:xfrm>
          <a:prstGeom prst="rect">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31" name="Google Shape;331;p27"/>
          <p:cNvSpPr/>
          <p:nvPr/>
        </p:nvSpPr>
        <p:spPr>
          <a:xfrm rot="5400000">
            <a:off x="7547450" y="4277075"/>
            <a:ext cx="722100" cy="174900"/>
          </a:xfrm>
          <a:prstGeom prst="rect">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32" name="Google Shape;332;p27"/>
          <p:cNvSpPr/>
          <p:nvPr/>
        </p:nvSpPr>
        <p:spPr>
          <a:xfrm rot="5400000">
            <a:off x="7722350" y="4277075"/>
            <a:ext cx="722100" cy="174900"/>
          </a:xfrm>
          <a:prstGeom prst="rect">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33" name="Google Shape;333;p27"/>
          <p:cNvSpPr txBox="1"/>
          <p:nvPr/>
        </p:nvSpPr>
        <p:spPr>
          <a:xfrm>
            <a:off x="1874450" y="4725575"/>
            <a:ext cx="2273700" cy="270900"/>
          </a:xfrm>
          <a:prstGeom prst="rect">
            <a:avLst/>
          </a:prstGeom>
          <a:noFill/>
          <a:ln>
            <a:noFill/>
          </a:ln>
        </p:spPr>
        <p:txBody>
          <a:bodyPr anchorCtr="0" anchor="t" bIns="27425" lIns="27425" spcFirstLastPara="1" rIns="27425" wrap="square" tIns="27425">
            <a:spAutoFit/>
          </a:bodyPr>
          <a:lstStyle/>
          <a:p>
            <a:pPr indent="0" lvl="0" marL="0" rtl="0" algn="l">
              <a:spcBef>
                <a:spcPts val="0"/>
              </a:spcBef>
              <a:spcAft>
                <a:spcPts val="0"/>
              </a:spcAft>
              <a:buNone/>
            </a:pPr>
            <a:r>
              <a:rPr lang="en">
                <a:solidFill>
                  <a:schemeClr val="dk1"/>
                </a:solidFill>
                <a:latin typeface="Roboto"/>
                <a:ea typeface="Roboto"/>
                <a:cs typeface="Roboto"/>
                <a:sym typeface="Roboto"/>
              </a:rPr>
              <a:t>Recipient Application</a:t>
            </a:r>
            <a:endParaRPr>
              <a:solidFill>
                <a:schemeClr val="dk1"/>
              </a:solidFill>
              <a:latin typeface="Roboto"/>
              <a:ea typeface="Roboto"/>
              <a:cs typeface="Roboto"/>
              <a:sym typeface="Roboto"/>
            </a:endParaRPr>
          </a:p>
        </p:txBody>
      </p:sp>
      <p:cxnSp>
        <p:nvCxnSpPr>
          <p:cNvPr id="334" name="Google Shape;334;p27"/>
          <p:cNvCxnSpPr>
            <a:stCxn id="262" idx="3"/>
            <a:endCxn id="299" idx="1"/>
          </p:cNvCxnSpPr>
          <p:nvPr/>
        </p:nvCxnSpPr>
        <p:spPr>
          <a:xfrm>
            <a:off x="1993100" y="2479475"/>
            <a:ext cx="318600" cy="1524000"/>
          </a:xfrm>
          <a:prstGeom prst="straightConnector1">
            <a:avLst/>
          </a:prstGeom>
          <a:noFill/>
          <a:ln cap="flat" cmpd="sng" w="9525">
            <a:solidFill>
              <a:schemeClr val="dk2"/>
            </a:solidFill>
            <a:prstDash val="solid"/>
            <a:round/>
            <a:headEnd len="med" w="med" type="none"/>
            <a:tailEnd len="med" w="med" type="triangle"/>
          </a:ln>
        </p:spPr>
      </p:cxnSp>
      <p:cxnSp>
        <p:nvCxnSpPr>
          <p:cNvPr id="335" name="Google Shape;335;p27"/>
          <p:cNvCxnSpPr>
            <a:endCxn id="304" idx="1"/>
          </p:cNvCxnSpPr>
          <p:nvPr/>
        </p:nvCxnSpPr>
        <p:spPr>
          <a:xfrm>
            <a:off x="2867600" y="2479475"/>
            <a:ext cx="318600" cy="1524000"/>
          </a:xfrm>
          <a:prstGeom prst="straightConnector1">
            <a:avLst/>
          </a:prstGeom>
          <a:noFill/>
          <a:ln cap="flat" cmpd="sng" w="9525">
            <a:solidFill>
              <a:schemeClr val="dk2"/>
            </a:solidFill>
            <a:prstDash val="solid"/>
            <a:round/>
            <a:headEnd len="med" w="med" type="none"/>
            <a:tailEnd len="med" w="med" type="triangle"/>
          </a:ln>
        </p:spPr>
      </p:cxnSp>
      <p:cxnSp>
        <p:nvCxnSpPr>
          <p:cNvPr id="336" name="Google Shape;336;p27"/>
          <p:cNvCxnSpPr>
            <a:stCxn id="272" idx="3"/>
            <a:endCxn id="309" idx="1"/>
          </p:cNvCxnSpPr>
          <p:nvPr/>
        </p:nvCxnSpPr>
        <p:spPr>
          <a:xfrm>
            <a:off x="3742100" y="2479475"/>
            <a:ext cx="318600" cy="1524000"/>
          </a:xfrm>
          <a:prstGeom prst="straightConnector1">
            <a:avLst/>
          </a:prstGeom>
          <a:noFill/>
          <a:ln cap="flat" cmpd="sng" w="9525">
            <a:solidFill>
              <a:schemeClr val="dk2"/>
            </a:solidFill>
            <a:prstDash val="solid"/>
            <a:round/>
            <a:headEnd len="med" w="med" type="none"/>
            <a:tailEnd len="med" w="med" type="triangle"/>
          </a:ln>
        </p:spPr>
      </p:cxnSp>
      <p:cxnSp>
        <p:nvCxnSpPr>
          <p:cNvPr id="337" name="Google Shape;337;p27"/>
          <p:cNvCxnSpPr>
            <a:stCxn id="277" idx="3"/>
            <a:endCxn id="314" idx="1"/>
          </p:cNvCxnSpPr>
          <p:nvPr/>
        </p:nvCxnSpPr>
        <p:spPr>
          <a:xfrm>
            <a:off x="4616600" y="2479475"/>
            <a:ext cx="318600" cy="1524000"/>
          </a:xfrm>
          <a:prstGeom prst="straightConnector1">
            <a:avLst/>
          </a:prstGeom>
          <a:noFill/>
          <a:ln cap="flat" cmpd="sng" w="9525">
            <a:solidFill>
              <a:schemeClr val="dk2"/>
            </a:solidFill>
            <a:prstDash val="solid"/>
            <a:round/>
            <a:headEnd len="med" w="med" type="none"/>
            <a:tailEnd len="med" w="med" type="triangle"/>
          </a:ln>
        </p:spPr>
      </p:cxnSp>
      <p:cxnSp>
        <p:nvCxnSpPr>
          <p:cNvPr id="338" name="Google Shape;338;p27"/>
          <p:cNvCxnSpPr>
            <a:stCxn id="282" idx="3"/>
            <a:endCxn id="319" idx="1"/>
          </p:cNvCxnSpPr>
          <p:nvPr/>
        </p:nvCxnSpPr>
        <p:spPr>
          <a:xfrm>
            <a:off x="5491100" y="2479475"/>
            <a:ext cx="318600" cy="1524000"/>
          </a:xfrm>
          <a:prstGeom prst="straightConnector1">
            <a:avLst/>
          </a:prstGeom>
          <a:noFill/>
          <a:ln cap="flat" cmpd="sng" w="9525">
            <a:solidFill>
              <a:schemeClr val="dk2"/>
            </a:solidFill>
            <a:prstDash val="solid"/>
            <a:round/>
            <a:headEnd len="med" w="med" type="none"/>
            <a:tailEnd len="med" w="med" type="triangle"/>
          </a:ln>
        </p:spPr>
      </p:cxnSp>
      <p:cxnSp>
        <p:nvCxnSpPr>
          <p:cNvPr id="339" name="Google Shape;339;p27"/>
          <p:cNvCxnSpPr>
            <a:stCxn id="287" idx="3"/>
            <a:endCxn id="324" idx="1"/>
          </p:cNvCxnSpPr>
          <p:nvPr/>
        </p:nvCxnSpPr>
        <p:spPr>
          <a:xfrm>
            <a:off x="6365600" y="2479475"/>
            <a:ext cx="318600" cy="1524000"/>
          </a:xfrm>
          <a:prstGeom prst="straightConnector1">
            <a:avLst/>
          </a:prstGeom>
          <a:noFill/>
          <a:ln cap="flat" cmpd="sng" w="9525">
            <a:solidFill>
              <a:schemeClr val="dk2"/>
            </a:solidFill>
            <a:prstDash val="solid"/>
            <a:round/>
            <a:headEnd len="med" w="med" type="none"/>
            <a:tailEnd len="med" w="med" type="triangle"/>
          </a:ln>
        </p:spPr>
      </p:cxnSp>
      <p:cxnSp>
        <p:nvCxnSpPr>
          <p:cNvPr id="340" name="Google Shape;340;p27"/>
          <p:cNvCxnSpPr>
            <a:stCxn id="292" idx="3"/>
            <a:endCxn id="329" idx="1"/>
          </p:cNvCxnSpPr>
          <p:nvPr/>
        </p:nvCxnSpPr>
        <p:spPr>
          <a:xfrm>
            <a:off x="7240100" y="2479475"/>
            <a:ext cx="318600" cy="1524000"/>
          </a:xfrm>
          <a:prstGeom prst="straightConnector1">
            <a:avLst/>
          </a:prstGeom>
          <a:noFill/>
          <a:ln cap="flat" cmpd="sng" w="9525">
            <a:solidFill>
              <a:schemeClr val="dk2"/>
            </a:solidFill>
            <a:prstDash val="solid"/>
            <a:round/>
            <a:headEnd len="med" w="med" type="none"/>
            <a:tailEnd len="med" w="med" type="triangl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4" name="Shape 344"/>
        <p:cNvGrpSpPr/>
        <p:nvPr/>
      </p:nvGrpSpPr>
      <p:grpSpPr>
        <a:xfrm>
          <a:off x="0" y="0"/>
          <a:ext cx="0" cy="0"/>
          <a:chOff x="0" y="0"/>
          <a:chExt cx="0" cy="0"/>
        </a:xfrm>
      </p:grpSpPr>
      <p:sp>
        <p:nvSpPr>
          <p:cNvPr id="345" name="Google Shape;345;p28"/>
          <p:cNvSpPr/>
          <p:nvPr/>
        </p:nvSpPr>
        <p:spPr>
          <a:xfrm>
            <a:off x="1874450" y="3388169"/>
            <a:ext cx="1574100" cy="310500"/>
          </a:xfrm>
          <a:prstGeom prst="rect">
            <a:avLst/>
          </a:prstGeom>
          <a:solidFill>
            <a:srgbClr val="D9D9D9"/>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TCP Segment</a:t>
            </a:r>
            <a:endParaRPr>
              <a:latin typeface="Roboto"/>
              <a:ea typeface="Roboto"/>
              <a:cs typeface="Roboto"/>
              <a:sym typeface="Roboto"/>
            </a:endParaRPr>
          </a:p>
        </p:txBody>
      </p:sp>
      <p:cxnSp>
        <p:nvCxnSpPr>
          <p:cNvPr id="346" name="Google Shape;346;p28"/>
          <p:cNvCxnSpPr>
            <a:endCxn id="347" idx="1"/>
          </p:cNvCxnSpPr>
          <p:nvPr/>
        </p:nvCxnSpPr>
        <p:spPr>
          <a:xfrm>
            <a:off x="2661500" y="3697475"/>
            <a:ext cx="0" cy="306000"/>
          </a:xfrm>
          <a:prstGeom prst="straightConnector1">
            <a:avLst/>
          </a:prstGeom>
          <a:noFill/>
          <a:ln cap="flat" cmpd="sng" w="9525">
            <a:solidFill>
              <a:schemeClr val="dk2"/>
            </a:solidFill>
            <a:prstDash val="solid"/>
            <a:round/>
            <a:headEnd len="med" w="med" type="none"/>
            <a:tailEnd len="med" w="med" type="triangle"/>
          </a:ln>
        </p:spPr>
      </p:cxnSp>
      <p:cxnSp>
        <p:nvCxnSpPr>
          <p:cNvPr id="348" name="Google Shape;348;p28"/>
          <p:cNvCxnSpPr>
            <a:endCxn id="349" idx="1"/>
          </p:cNvCxnSpPr>
          <p:nvPr/>
        </p:nvCxnSpPr>
        <p:spPr>
          <a:xfrm>
            <a:off x="2836400" y="3697475"/>
            <a:ext cx="0" cy="306000"/>
          </a:xfrm>
          <a:prstGeom prst="straightConnector1">
            <a:avLst/>
          </a:prstGeom>
          <a:noFill/>
          <a:ln cap="flat" cmpd="sng" w="9525">
            <a:solidFill>
              <a:schemeClr val="dk2"/>
            </a:solidFill>
            <a:prstDash val="solid"/>
            <a:round/>
            <a:headEnd len="med" w="med" type="none"/>
            <a:tailEnd len="med" w="med" type="triangle"/>
          </a:ln>
        </p:spPr>
      </p:cxnSp>
      <p:cxnSp>
        <p:nvCxnSpPr>
          <p:cNvPr id="350" name="Google Shape;350;p28"/>
          <p:cNvCxnSpPr>
            <a:endCxn id="351" idx="1"/>
          </p:cNvCxnSpPr>
          <p:nvPr/>
        </p:nvCxnSpPr>
        <p:spPr>
          <a:xfrm>
            <a:off x="3011300" y="3697475"/>
            <a:ext cx="0" cy="306000"/>
          </a:xfrm>
          <a:prstGeom prst="straightConnector1">
            <a:avLst/>
          </a:prstGeom>
          <a:noFill/>
          <a:ln cap="flat" cmpd="sng" w="9525">
            <a:solidFill>
              <a:schemeClr val="dk2"/>
            </a:solidFill>
            <a:prstDash val="solid"/>
            <a:round/>
            <a:headEnd len="med" w="med" type="none"/>
            <a:tailEnd len="med" w="med" type="triangle"/>
          </a:ln>
        </p:spPr>
      </p:cxnSp>
      <p:cxnSp>
        <p:nvCxnSpPr>
          <p:cNvPr id="352" name="Google Shape;352;p28"/>
          <p:cNvCxnSpPr>
            <a:endCxn id="353" idx="1"/>
          </p:cNvCxnSpPr>
          <p:nvPr/>
        </p:nvCxnSpPr>
        <p:spPr>
          <a:xfrm>
            <a:off x="3186200" y="3697475"/>
            <a:ext cx="0" cy="306000"/>
          </a:xfrm>
          <a:prstGeom prst="straightConnector1">
            <a:avLst/>
          </a:prstGeom>
          <a:noFill/>
          <a:ln cap="flat" cmpd="sng" w="9525">
            <a:solidFill>
              <a:schemeClr val="dk2"/>
            </a:solidFill>
            <a:prstDash val="solid"/>
            <a:round/>
            <a:headEnd len="med" w="med" type="none"/>
            <a:tailEnd len="med" w="med" type="triangle"/>
          </a:ln>
        </p:spPr>
      </p:cxnSp>
      <p:cxnSp>
        <p:nvCxnSpPr>
          <p:cNvPr id="354" name="Google Shape;354;p28"/>
          <p:cNvCxnSpPr>
            <a:endCxn id="355" idx="1"/>
          </p:cNvCxnSpPr>
          <p:nvPr/>
        </p:nvCxnSpPr>
        <p:spPr>
          <a:xfrm>
            <a:off x="3361100" y="3697475"/>
            <a:ext cx="0" cy="306000"/>
          </a:xfrm>
          <a:prstGeom prst="straightConnector1">
            <a:avLst/>
          </a:prstGeom>
          <a:noFill/>
          <a:ln cap="flat" cmpd="sng" w="9525">
            <a:solidFill>
              <a:schemeClr val="dk2"/>
            </a:solidFill>
            <a:prstDash val="solid"/>
            <a:round/>
            <a:headEnd len="med" w="med" type="none"/>
            <a:tailEnd len="med" w="med" type="triangle"/>
          </a:ln>
        </p:spPr>
      </p:cxnSp>
      <p:cxnSp>
        <p:nvCxnSpPr>
          <p:cNvPr id="356" name="Google Shape;356;p28"/>
          <p:cNvCxnSpPr>
            <a:endCxn id="357" idx="1"/>
          </p:cNvCxnSpPr>
          <p:nvPr/>
        </p:nvCxnSpPr>
        <p:spPr>
          <a:xfrm>
            <a:off x="2486600" y="3697475"/>
            <a:ext cx="0" cy="306000"/>
          </a:xfrm>
          <a:prstGeom prst="straightConnector1">
            <a:avLst/>
          </a:prstGeom>
          <a:noFill/>
          <a:ln cap="flat" cmpd="sng" w="9525">
            <a:solidFill>
              <a:schemeClr val="dk2"/>
            </a:solidFill>
            <a:prstDash val="solid"/>
            <a:round/>
            <a:headEnd len="med" w="med" type="none"/>
            <a:tailEnd len="med" w="med" type="triangle"/>
          </a:ln>
        </p:spPr>
      </p:cxnSp>
      <p:cxnSp>
        <p:nvCxnSpPr>
          <p:cNvPr id="358" name="Google Shape;358;p28"/>
          <p:cNvCxnSpPr>
            <a:endCxn id="359" idx="1"/>
          </p:cNvCxnSpPr>
          <p:nvPr/>
        </p:nvCxnSpPr>
        <p:spPr>
          <a:xfrm>
            <a:off x="2311700" y="3697475"/>
            <a:ext cx="0" cy="306000"/>
          </a:xfrm>
          <a:prstGeom prst="straightConnector1">
            <a:avLst/>
          </a:prstGeom>
          <a:noFill/>
          <a:ln cap="flat" cmpd="sng" w="9525">
            <a:solidFill>
              <a:schemeClr val="dk2"/>
            </a:solidFill>
            <a:prstDash val="solid"/>
            <a:round/>
            <a:headEnd len="med" w="med" type="none"/>
            <a:tailEnd len="med" w="med" type="triangle"/>
          </a:ln>
        </p:spPr>
      </p:cxnSp>
      <p:cxnSp>
        <p:nvCxnSpPr>
          <p:cNvPr id="360" name="Google Shape;360;p28"/>
          <p:cNvCxnSpPr>
            <a:endCxn id="361" idx="1"/>
          </p:cNvCxnSpPr>
          <p:nvPr/>
        </p:nvCxnSpPr>
        <p:spPr>
          <a:xfrm>
            <a:off x="2136800" y="3697475"/>
            <a:ext cx="0" cy="306000"/>
          </a:xfrm>
          <a:prstGeom prst="straightConnector1">
            <a:avLst/>
          </a:prstGeom>
          <a:noFill/>
          <a:ln cap="flat" cmpd="sng" w="9525">
            <a:solidFill>
              <a:schemeClr val="dk2"/>
            </a:solidFill>
            <a:prstDash val="solid"/>
            <a:round/>
            <a:headEnd len="med" w="med" type="none"/>
            <a:tailEnd len="med" w="med" type="triangle"/>
          </a:ln>
        </p:spPr>
      </p:cxnSp>
      <p:cxnSp>
        <p:nvCxnSpPr>
          <p:cNvPr id="362" name="Google Shape;362;p28"/>
          <p:cNvCxnSpPr>
            <a:endCxn id="363" idx="1"/>
          </p:cNvCxnSpPr>
          <p:nvPr/>
        </p:nvCxnSpPr>
        <p:spPr>
          <a:xfrm>
            <a:off x="1961900" y="3697475"/>
            <a:ext cx="0" cy="306000"/>
          </a:xfrm>
          <a:prstGeom prst="straightConnector1">
            <a:avLst/>
          </a:prstGeom>
          <a:noFill/>
          <a:ln cap="flat" cmpd="sng" w="9525">
            <a:solidFill>
              <a:schemeClr val="dk2"/>
            </a:solidFill>
            <a:prstDash val="solid"/>
            <a:round/>
            <a:headEnd len="med" w="med" type="none"/>
            <a:tailEnd len="med" w="med" type="triangle"/>
          </a:ln>
        </p:spPr>
      </p:cxnSp>
      <p:sp>
        <p:nvSpPr>
          <p:cNvPr id="364" name="Google Shape;364;p28"/>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TCP Segments</a:t>
            </a:r>
            <a:endParaRPr/>
          </a:p>
        </p:txBody>
      </p:sp>
      <p:sp>
        <p:nvSpPr>
          <p:cNvPr id="365" name="Google Shape;365;p28"/>
          <p:cNvSpPr txBox="1"/>
          <p:nvPr>
            <p:ph idx="1" type="body"/>
          </p:nvPr>
        </p:nvSpPr>
        <p:spPr>
          <a:xfrm>
            <a:off x="107050" y="402200"/>
            <a:ext cx="8909700" cy="10260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A segment is sent when the segment is full (max segment size),</a:t>
            </a:r>
            <a:endParaRPr/>
          </a:p>
          <a:p>
            <a:pPr indent="0" lvl="0" marL="0" rtl="0" algn="l">
              <a:spcBef>
                <a:spcPts val="600"/>
              </a:spcBef>
              <a:spcAft>
                <a:spcPts val="0"/>
              </a:spcAft>
              <a:buNone/>
            </a:pPr>
            <a:r>
              <a:rPr lang="en"/>
              <a:t>or when the segment is not full, but times out waiting for more data.</a:t>
            </a:r>
            <a:endParaRPr/>
          </a:p>
        </p:txBody>
      </p:sp>
      <p:sp>
        <p:nvSpPr>
          <p:cNvPr id="366" name="Google Shape;366;p28"/>
          <p:cNvSpPr/>
          <p:nvPr/>
        </p:nvSpPr>
        <p:spPr>
          <a:xfrm rot="5400000">
            <a:off x="12822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Byte 1</a:t>
            </a:r>
            <a:endParaRPr sz="1000">
              <a:latin typeface="Roboto"/>
              <a:ea typeface="Roboto"/>
              <a:cs typeface="Roboto"/>
              <a:sym typeface="Roboto"/>
            </a:endParaRPr>
          </a:p>
        </p:txBody>
      </p:sp>
      <p:sp>
        <p:nvSpPr>
          <p:cNvPr id="367" name="Google Shape;367;p28"/>
          <p:cNvSpPr/>
          <p:nvPr/>
        </p:nvSpPr>
        <p:spPr>
          <a:xfrm rot="5400000">
            <a:off x="14571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Byte 2</a:t>
            </a:r>
            <a:endParaRPr sz="1000">
              <a:latin typeface="Roboto"/>
              <a:ea typeface="Roboto"/>
              <a:cs typeface="Roboto"/>
              <a:sym typeface="Roboto"/>
            </a:endParaRPr>
          </a:p>
        </p:txBody>
      </p:sp>
      <p:sp>
        <p:nvSpPr>
          <p:cNvPr id="368" name="Google Shape;368;p28"/>
          <p:cNvSpPr/>
          <p:nvPr/>
        </p:nvSpPr>
        <p:spPr>
          <a:xfrm rot="5400000">
            <a:off x="16320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Byte 3</a:t>
            </a:r>
            <a:endParaRPr sz="1000">
              <a:latin typeface="Roboto"/>
              <a:ea typeface="Roboto"/>
              <a:cs typeface="Roboto"/>
              <a:sym typeface="Roboto"/>
            </a:endParaRPr>
          </a:p>
        </p:txBody>
      </p:sp>
      <p:sp>
        <p:nvSpPr>
          <p:cNvPr id="369" name="Google Shape;369;p28"/>
          <p:cNvSpPr/>
          <p:nvPr/>
        </p:nvSpPr>
        <p:spPr>
          <a:xfrm rot="5400000">
            <a:off x="18069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Byte 4</a:t>
            </a:r>
            <a:endParaRPr sz="1000">
              <a:latin typeface="Roboto"/>
              <a:ea typeface="Roboto"/>
              <a:cs typeface="Roboto"/>
              <a:sym typeface="Roboto"/>
            </a:endParaRPr>
          </a:p>
        </p:txBody>
      </p:sp>
      <p:sp>
        <p:nvSpPr>
          <p:cNvPr id="370" name="Google Shape;370;p28"/>
          <p:cNvSpPr/>
          <p:nvPr/>
        </p:nvSpPr>
        <p:spPr>
          <a:xfrm rot="5400000">
            <a:off x="19818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71" name="Google Shape;371;p28"/>
          <p:cNvSpPr/>
          <p:nvPr/>
        </p:nvSpPr>
        <p:spPr>
          <a:xfrm rot="5400000">
            <a:off x="21567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72" name="Google Shape;372;p28"/>
          <p:cNvSpPr/>
          <p:nvPr/>
        </p:nvSpPr>
        <p:spPr>
          <a:xfrm rot="5400000">
            <a:off x="23316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73" name="Google Shape;373;p28"/>
          <p:cNvSpPr/>
          <p:nvPr/>
        </p:nvSpPr>
        <p:spPr>
          <a:xfrm rot="5400000">
            <a:off x="25065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Byte 79</a:t>
            </a:r>
            <a:endParaRPr sz="1000">
              <a:latin typeface="Roboto"/>
              <a:ea typeface="Roboto"/>
              <a:cs typeface="Roboto"/>
              <a:sym typeface="Roboto"/>
            </a:endParaRPr>
          </a:p>
        </p:txBody>
      </p:sp>
      <p:sp>
        <p:nvSpPr>
          <p:cNvPr id="374" name="Google Shape;374;p28"/>
          <p:cNvSpPr/>
          <p:nvPr/>
        </p:nvSpPr>
        <p:spPr>
          <a:xfrm rot="5400000">
            <a:off x="26814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Byte 80</a:t>
            </a:r>
            <a:endParaRPr sz="1000">
              <a:latin typeface="Roboto"/>
              <a:ea typeface="Roboto"/>
              <a:cs typeface="Roboto"/>
              <a:sym typeface="Roboto"/>
            </a:endParaRPr>
          </a:p>
        </p:txBody>
      </p:sp>
      <p:sp>
        <p:nvSpPr>
          <p:cNvPr id="375" name="Google Shape;375;p28"/>
          <p:cNvSpPr/>
          <p:nvPr/>
        </p:nvSpPr>
        <p:spPr>
          <a:xfrm rot="5400000">
            <a:off x="28563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76" name="Google Shape;376;p28"/>
          <p:cNvSpPr/>
          <p:nvPr/>
        </p:nvSpPr>
        <p:spPr>
          <a:xfrm rot="5400000">
            <a:off x="30312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77" name="Google Shape;377;p28"/>
          <p:cNvSpPr/>
          <p:nvPr/>
        </p:nvSpPr>
        <p:spPr>
          <a:xfrm rot="5400000">
            <a:off x="32061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78" name="Google Shape;378;p28"/>
          <p:cNvSpPr/>
          <p:nvPr/>
        </p:nvSpPr>
        <p:spPr>
          <a:xfrm rot="5400000">
            <a:off x="33810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79" name="Google Shape;379;p28"/>
          <p:cNvSpPr/>
          <p:nvPr/>
        </p:nvSpPr>
        <p:spPr>
          <a:xfrm rot="5400000">
            <a:off x="35559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0" name="Google Shape;380;p28"/>
          <p:cNvSpPr/>
          <p:nvPr/>
        </p:nvSpPr>
        <p:spPr>
          <a:xfrm rot="5400000">
            <a:off x="37308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1" name="Google Shape;381;p28"/>
          <p:cNvSpPr/>
          <p:nvPr/>
        </p:nvSpPr>
        <p:spPr>
          <a:xfrm rot="5400000">
            <a:off x="39057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2" name="Google Shape;382;p28"/>
          <p:cNvSpPr/>
          <p:nvPr/>
        </p:nvSpPr>
        <p:spPr>
          <a:xfrm rot="5400000">
            <a:off x="40806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3" name="Google Shape;383;p28"/>
          <p:cNvSpPr/>
          <p:nvPr/>
        </p:nvSpPr>
        <p:spPr>
          <a:xfrm rot="5400000">
            <a:off x="42555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4" name="Google Shape;384;p28"/>
          <p:cNvSpPr/>
          <p:nvPr/>
        </p:nvSpPr>
        <p:spPr>
          <a:xfrm rot="5400000">
            <a:off x="44304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5" name="Google Shape;385;p28"/>
          <p:cNvSpPr/>
          <p:nvPr/>
        </p:nvSpPr>
        <p:spPr>
          <a:xfrm rot="5400000">
            <a:off x="46053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6" name="Google Shape;386;p28"/>
          <p:cNvSpPr/>
          <p:nvPr/>
        </p:nvSpPr>
        <p:spPr>
          <a:xfrm rot="5400000">
            <a:off x="47802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7" name="Google Shape;387;p28"/>
          <p:cNvSpPr/>
          <p:nvPr/>
        </p:nvSpPr>
        <p:spPr>
          <a:xfrm rot="5400000">
            <a:off x="49551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8" name="Google Shape;388;p28"/>
          <p:cNvSpPr/>
          <p:nvPr/>
        </p:nvSpPr>
        <p:spPr>
          <a:xfrm rot="5400000">
            <a:off x="51300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9" name="Google Shape;389;p28"/>
          <p:cNvSpPr/>
          <p:nvPr/>
        </p:nvSpPr>
        <p:spPr>
          <a:xfrm rot="5400000">
            <a:off x="53049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0" name="Google Shape;390;p28"/>
          <p:cNvSpPr/>
          <p:nvPr/>
        </p:nvSpPr>
        <p:spPr>
          <a:xfrm rot="5400000">
            <a:off x="54798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1" name="Google Shape;391;p28"/>
          <p:cNvSpPr/>
          <p:nvPr/>
        </p:nvSpPr>
        <p:spPr>
          <a:xfrm rot="5400000">
            <a:off x="56547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2" name="Google Shape;392;p28"/>
          <p:cNvSpPr/>
          <p:nvPr/>
        </p:nvSpPr>
        <p:spPr>
          <a:xfrm rot="5400000">
            <a:off x="58296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3" name="Google Shape;393;p28"/>
          <p:cNvSpPr/>
          <p:nvPr/>
        </p:nvSpPr>
        <p:spPr>
          <a:xfrm rot="5400000">
            <a:off x="60045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4" name="Google Shape;394;p28"/>
          <p:cNvSpPr/>
          <p:nvPr/>
        </p:nvSpPr>
        <p:spPr>
          <a:xfrm rot="5400000">
            <a:off x="61794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5" name="Google Shape;395;p28"/>
          <p:cNvSpPr/>
          <p:nvPr/>
        </p:nvSpPr>
        <p:spPr>
          <a:xfrm rot="5400000">
            <a:off x="63543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6" name="Google Shape;396;p28"/>
          <p:cNvSpPr/>
          <p:nvPr/>
        </p:nvSpPr>
        <p:spPr>
          <a:xfrm rot="5400000">
            <a:off x="65292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7" name="Google Shape;397;p28"/>
          <p:cNvSpPr/>
          <p:nvPr/>
        </p:nvSpPr>
        <p:spPr>
          <a:xfrm rot="5400000">
            <a:off x="67041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8" name="Google Shape;398;p28"/>
          <p:cNvSpPr/>
          <p:nvPr/>
        </p:nvSpPr>
        <p:spPr>
          <a:xfrm rot="5400000">
            <a:off x="68790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9" name="Google Shape;399;p28"/>
          <p:cNvSpPr/>
          <p:nvPr/>
        </p:nvSpPr>
        <p:spPr>
          <a:xfrm rot="5400000">
            <a:off x="7053950" y="2030975"/>
            <a:ext cx="722100" cy="174900"/>
          </a:xfrm>
          <a:prstGeom prst="rect">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00" name="Google Shape;400;p28"/>
          <p:cNvSpPr/>
          <p:nvPr/>
        </p:nvSpPr>
        <p:spPr>
          <a:xfrm rot="5400000">
            <a:off x="7228850" y="2030975"/>
            <a:ext cx="722100" cy="174900"/>
          </a:xfrm>
          <a:prstGeom prst="rect">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01" name="Google Shape;401;p28"/>
          <p:cNvSpPr/>
          <p:nvPr/>
        </p:nvSpPr>
        <p:spPr>
          <a:xfrm rot="5400000">
            <a:off x="7403750" y="2030975"/>
            <a:ext cx="722100" cy="174900"/>
          </a:xfrm>
          <a:prstGeom prst="rect">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02" name="Google Shape;402;p28"/>
          <p:cNvSpPr txBox="1"/>
          <p:nvPr/>
        </p:nvSpPr>
        <p:spPr>
          <a:xfrm>
            <a:off x="1555850" y="1486475"/>
            <a:ext cx="2273700" cy="270900"/>
          </a:xfrm>
          <a:prstGeom prst="rect">
            <a:avLst/>
          </a:prstGeom>
          <a:noFill/>
          <a:ln>
            <a:noFill/>
          </a:ln>
        </p:spPr>
        <p:txBody>
          <a:bodyPr anchorCtr="0" anchor="t" bIns="27425" lIns="27425" spcFirstLastPara="1" rIns="27425" wrap="square" tIns="27425">
            <a:spAutoFit/>
          </a:bodyPr>
          <a:lstStyle/>
          <a:p>
            <a:pPr indent="0" lvl="0" marL="0" rtl="0" algn="l">
              <a:spcBef>
                <a:spcPts val="0"/>
              </a:spcBef>
              <a:spcAft>
                <a:spcPts val="0"/>
              </a:spcAft>
              <a:buNone/>
            </a:pPr>
            <a:r>
              <a:rPr lang="en">
                <a:solidFill>
                  <a:schemeClr val="dk1"/>
                </a:solidFill>
                <a:latin typeface="Roboto"/>
                <a:ea typeface="Roboto"/>
                <a:cs typeface="Roboto"/>
                <a:sym typeface="Roboto"/>
              </a:rPr>
              <a:t>Sender Application</a:t>
            </a:r>
            <a:endParaRPr>
              <a:solidFill>
                <a:schemeClr val="dk1"/>
              </a:solidFill>
              <a:latin typeface="Roboto"/>
              <a:ea typeface="Roboto"/>
              <a:cs typeface="Roboto"/>
              <a:sym typeface="Roboto"/>
            </a:endParaRPr>
          </a:p>
        </p:txBody>
      </p:sp>
      <p:sp>
        <p:nvSpPr>
          <p:cNvPr id="403" name="Google Shape;403;p28"/>
          <p:cNvSpPr/>
          <p:nvPr/>
        </p:nvSpPr>
        <p:spPr>
          <a:xfrm>
            <a:off x="1555850" y="2784269"/>
            <a:ext cx="1574100" cy="310500"/>
          </a:xfrm>
          <a:prstGeom prst="rect">
            <a:avLst/>
          </a:prstGeom>
          <a:solidFill>
            <a:srgbClr val="D9D9D9"/>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TCP Segment</a:t>
            </a:r>
            <a:endParaRPr>
              <a:latin typeface="Roboto"/>
              <a:ea typeface="Roboto"/>
              <a:cs typeface="Roboto"/>
              <a:sym typeface="Roboto"/>
            </a:endParaRPr>
          </a:p>
        </p:txBody>
      </p:sp>
      <p:sp>
        <p:nvSpPr>
          <p:cNvPr id="363" name="Google Shape;363;p28"/>
          <p:cNvSpPr/>
          <p:nvPr/>
        </p:nvSpPr>
        <p:spPr>
          <a:xfrm rot="5400000">
            <a:off x="16008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Byte 1</a:t>
            </a:r>
            <a:endParaRPr sz="1000">
              <a:latin typeface="Roboto"/>
              <a:ea typeface="Roboto"/>
              <a:cs typeface="Roboto"/>
              <a:sym typeface="Roboto"/>
            </a:endParaRPr>
          </a:p>
        </p:txBody>
      </p:sp>
      <p:sp>
        <p:nvSpPr>
          <p:cNvPr id="361" name="Google Shape;361;p28"/>
          <p:cNvSpPr/>
          <p:nvPr/>
        </p:nvSpPr>
        <p:spPr>
          <a:xfrm rot="5400000">
            <a:off x="17757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Byte 2</a:t>
            </a:r>
            <a:endParaRPr sz="1000">
              <a:latin typeface="Roboto"/>
              <a:ea typeface="Roboto"/>
              <a:cs typeface="Roboto"/>
              <a:sym typeface="Roboto"/>
            </a:endParaRPr>
          </a:p>
        </p:txBody>
      </p:sp>
      <p:sp>
        <p:nvSpPr>
          <p:cNvPr id="359" name="Google Shape;359;p28"/>
          <p:cNvSpPr/>
          <p:nvPr/>
        </p:nvSpPr>
        <p:spPr>
          <a:xfrm rot="5400000">
            <a:off x="19506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Byte 3</a:t>
            </a:r>
            <a:endParaRPr sz="1000">
              <a:latin typeface="Roboto"/>
              <a:ea typeface="Roboto"/>
              <a:cs typeface="Roboto"/>
              <a:sym typeface="Roboto"/>
            </a:endParaRPr>
          </a:p>
        </p:txBody>
      </p:sp>
      <p:sp>
        <p:nvSpPr>
          <p:cNvPr id="357" name="Google Shape;357;p28"/>
          <p:cNvSpPr/>
          <p:nvPr/>
        </p:nvSpPr>
        <p:spPr>
          <a:xfrm rot="5400000">
            <a:off x="21255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Byte 4</a:t>
            </a:r>
            <a:endParaRPr sz="1000">
              <a:latin typeface="Roboto"/>
              <a:ea typeface="Roboto"/>
              <a:cs typeface="Roboto"/>
              <a:sym typeface="Roboto"/>
            </a:endParaRPr>
          </a:p>
        </p:txBody>
      </p:sp>
      <p:sp>
        <p:nvSpPr>
          <p:cNvPr id="347" name="Google Shape;347;p28"/>
          <p:cNvSpPr/>
          <p:nvPr/>
        </p:nvSpPr>
        <p:spPr>
          <a:xfrm rot="5400000">
            <a:off x="23004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49" name="Google Shape;349;p28"/>
          <p:cNvSpPr/>
          <p:nvPr/>
        </p:nvSpPr>
        <p:spPr>
          <a:xfrm rot="5400000">
            <a:off x="24753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51" name="Google Shape;351;p28"/>
          <p:cNvSpPr/>
          <p:nvPr/>
        </p:nvSpPr>
        <p:spPr>
          <a:xfrm rot="5400000">
            <a:off x="26502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53" name="Google Shape;353;p28"/>
          <p:cNvSpPr/>
          <p:nvPr/>
        </p:nvSpPr>
        <p:spPr>
          <a:xfrm rot="5400000">
            <a:off x="28251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Byte 79</a:t>
            </a:r>
            <a:endParaRPr sz="1000">
              <a:latin typeface="Roboto"/>
              <a:ea typeface="Roboto"/>
              <a:cs typeface="Roboto"/>
              <a:sym typeface="Roboto"/>
            </a:endParaRPr>
          </a:p>
        </p:txBody>
      </p:sp>
      <p:sp>
        <p:nvSpPr>
          <p:cNvPr id="355" name="Google Shape;355;p28"/>
          <p:cNvSpPr/>
          <p:nvPr/>
        </p:nvSpPr>
        <p:spPr>
          <a:xfrm rot="5400000">
            <a:off x="30000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Byte 80</a:t>
            </a:r>
            <a:endParaRPr sz="1000">
              <a:latin typeface="Roboto"/>
              <a:ea typeface="Roboto"/>
              <a:cs typeface="Roboto"/>
              <a:sym typeface="Roboto"/>
            </a:endParaRPr>
          </a:p>
        </p:txBody>
      </p:sp>
      <p:sp>
        <p:nvSpPr>
          <p:cNvPr id="404" name="Google Shape;404;p28"/>
          <p:cNvSpPr/>
          <p:nvPr/>
        </p:nvSpPr>
        <p:spPr>
          <a:xfrm rot="5400000">
            <a:off x="31749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05" name="Google Shape;405;p28"/>
          <p:cNvSpPr/>
          <p:nvPr/>
        </p:nvSpPr>
        <p:spPr>
          <a:xfrm rot="5400000">
            <a:off x="33498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06" name="Google Shape;406;p28"/>
          <p:cNvSpPr/>
          <p:nvPr/>
        </p:nvSpPr>
        <p:spPr>
          <a:xfrm rot="5400000">
            <a:off x="35247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07" name="Google Shape;407;p28"/>
          <p:cNvSpPr/>
          <p:nvPr/>
        </p:nvSpPr>
        <p:spPr>
          <a:xfrm rot="5400000">
            <a:off x="36996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08" name="Google Shape;408;p28"/>
          <p:cNvSpPr/>
          <p:nvPr/>
        </p:nvSpPr>
        <p:spPr>
          <a:xfrm rot="5400000">
            <a:off x="38745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09" name="Google Shape;409;p28"/>
          <p:cNvSpPr/>
          <p:nvPr/>
        </p:nvSpPr>
        <p:spPr>
          <a:xfrm rot="5400000">
            <a:off x="40494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0" name="Google Shape;410;p28"/>
          <p:cNvSpPr/>
          <p:nvPr/>
        </p:nvSpPr>
        <p:spPr>
          <a:xfrm rot="5400000">
            <a:off x="42243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1" name="Google Shape;411;p28"/>
          <p:cNvSpPr/>
          <p:nvPr/>
        </p:nvSpPr>
        <p:spPr>
          <a:xfrm rot="5400000">
            <a:off x="43992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2" name="Google Shape;412;p28"/>
          <p:cNvSpPr/>
          <p:nvPr/>
        </p:nvSpPr>
        <p:spPr>
          <a:xfrm rot="5400000">
            <a:off x="45741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3" name="Google Shape;413;p28"/>
          <p:cNvSpPr/>
          <p:nvPr/>
        </p:nvSpPr>
        <p:spPr>
          <a:xfrm rot="5400000">
            <a:off x="47490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4" name="Google Shape;414;p28"/>
          <p:cNvSpPr/>
          <p:nvPr/>
        </p:nvSpPr>
        <p:spPr>
          <a:xfrm rot="5400000">
            <a:off x="49239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5" name="Google Shape;415;p28"/>
          <p:cNvSpPr/>
          <p:nvPr/>
        </p:nvSpPr>
        <p:spPr>
          <a:xfrm rot="5400000">
            <a:off x="50988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6" name="Google Shape;416;p28"/>
          <p:cNvSpPr/>
          <p:nvPr/>
        </p:nvSpPr>
        <p:spPr>
          <a:xfrm rot="5400000">
            <a:off x="52737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7" name="Google Shape;417;p28"/>
          <p:cNvSpPr/>
          <p:nvPr/>
        </p:nvSpPr>
        <p:spPr>
          <a:xfrm rot="5400000">
            <a:off x="54486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8" name="Google Shape;418;p28"/>
          <p:cNvSpPr/>
          <p:nvPr/>
        </p:nvSpPr>
        <p:spPr>
          <a:xfrm rot="5400000">
            <a:off x="56235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9" name="Google Shape;419;p28"/>
          <p:cNvSpPr/>
          <p:nvPr/>
        </p:nvSpPr>
        <p:spPr>
          <a:xfrm rot="5400000">
            <a:off x="57984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0" name="Google Shape;420;p28"/>
          <p:cNvSpPr/>
          <p:nvPr/>
        </p:nvSpPr>
        <p:spPr>
          <a:xfrm rot="5400000">
            <a:off x="59733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1" name="Google Shape;421;p28"/>
          <p:cNvSpPr/>
          <p:nvPr/>
        </p:nvSpPr>
        <p:spPr>
          <a:xfrm rot="5400000">
            <a:off x="61482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2" name="Google Shape;422;p28"/>
          <p:cNvSpPr/>
          <p:nvPr/>
        </p:nvSpPr>
        <p:spPr>
          <a:xfrm rot="5400000">
            <a:off x="63231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3" name="Google Shape;423;p28"/>
          <p:cNvSpPr/>
          <p:nvPr/>
        </p:nvSpPr>
        <p:spPr>
          <a:xfrm rot="5400000">
            <a:off x="64980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4" name="Google Shape;424;p28"/>
          <p:cNvSpPr/>
          <p:nvPr/>
        </p:nvSpPr>
        <p:spPr>
          <a:xfrm rot="5400000">
            <a:off x="66729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5" name="Google Shape;425;p28"/>
          <p:cNvSpPr/>
          <p:nvPr/>
        </p:nvSpPr>
        <p:spPr>
          <a:xfrm rot="5400000">
            <a:off x="68478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6" name="Google Shape;426;p28"/>
          <p:cNvSpPr/>
          <p:nvPr/>
        </p:nvSpPr>
        <p:spPr>
          <a:xfrm rot="5400000">
            <a:off x="70227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7" name="Google Shape;427;p28"/>
          <p:cNvSpPr/>
          <p:nvPr/>
        </p:nvSpPr>
        <p:spPr>
          <a:xfrm rot="5400000">
            <a:off x="71976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8" name="Google Shape;428;p28"/>
          <p:cNvSpPr/>
          <p:nvPr/>
        </p:nvSpPr>
        <p:spPr>
          <a:xfrm rot="5400000">
            <a:off x="7372550" y="4277075"/>
            <a:ext cx="722100" cy="174900"/>
          </a:xfrm>
          <a:prstGeom prst="rect">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9" name="Google Shape;429;p28"/>
          <p:cNvSpPr/>
          <p:nvPr/>
        </p:nvSpPr>
        <p:spPr>
          <a:xfrm rot="5400000">
            <a:off x="7547450" y="4277075"/>
            <a:ext cx="722100" cy="174900"/>
          </a:xfrm>
          <a:prstGeom prst="rect">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30" name="Google Shape;430;p28"/>
          <p:cNvSpPr/>
          <p:nvPr/>
        </p:nvSpPr>
        <p:spPr>
          <a:xfrm rot="5400000">
            <a:off x="7722350" y="4277075"/>
            <a:ext cx="722100" cy="174900"/>
          </a:xfrm>
          <a:prstGeom prst="rect">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31" name="Google Shape;431;p28"/>
          <p:cNvSpPr txBox="1"/>
          <p:nvPr/>
        </p:nvSpPr>
        <p:spPr>
          <a:xfrm>
            <a:off x="1874450" y="4725575"/>
            <a:ext cx="2273700" cy="270900"/>
          </a:xfrm>
          <a:prstGeom prst="rect">
            <a:avLst/>
          </a:prstGeom>
          <a:noFill/>
          <a:ln>
            <a:noFill/>
          </a:ln>
        </p:spPr>
        <p:txBody>
          <a:bodyPr anchorCtr="0" anchor="t" bIns="27425" lIns="27425" spcFirstLastPara="1" rIns="27425" wrap="square" tIns="27425">
            <a:spAutoFit/>
          </a:bodyPr>
          <a:lstStyle/>
          <a:p>
            <a:pPr indent="0" lvl="0" marL="0" rtl="0" algn="l">
              <a:spcBef>
                <a:spcPts val="0"/>
              </a:spcBef>
              <a:spcAft>
                <a:spcPts val="0"/>
              </a:spcAft>
              <a:buNone/>
            </a:pPr>
            <a:r>
              <a:rPr lang="en">
                <a:solidFill>
                  <a:schemeClr val="dk1"/>
                </a:solidFill>
                <a:latin typeface="Roboto"/>
                <a:ea typeface="Roboto"/>
                <a:cs typeface="Roboto"/>
                <a:sym typeface="Roboto"/>
              </a:rPr>
              <a:t>Recipient Application</a:t>
            </a:r>
            <a:endParaRPr>
              <a:solidFill>
                <a:schemeClr val="dk1"/>
              </a:solidFill>
              <a:latin typeface="Roboto"/>
              <a:ea typeface="Roboto"/>
              <a:cs typeface="Roboto"/>
              <a:sym typeface="Roboto"/>
            </a:endParaRPr>
          </a:p>
        </p:txBody>
      </p:sp>
      <p:cxnSp>
        <p:nvCxnSpPr>
          <p:cNvPr id="432" name="Google Shape;432;p28"/>
          <p:cNvCxnSpPr>
            <a:stCxn id="370" idx="3"/>
            <a:endCxn id="403" idx="0"/>
          </p:cNvCxnSpPr>
          <p:nvPr/>
        </p:nvCxnSpPr>
        <p:spPr>
          <a:xfrm>
            <a:off x="2342900" y="2479475"/>
            <a:ext cx="0" cy="304800"/>
          </a:xfrm>
          <a:prstGeom prst="straightConnector1">
            <a:avLst/>
          </a:prstGeom>
          <a:noFill/>
          <a:ln cap="flat" cmpd="sng" w="9525">
            <a:solidFill>
              <a:schemeClr val="dk2"/>
            </a:solidFill>
            <a:prstDash val="solid"/>
            <a:round/>
            <a:headEnd len="med" w="med" type="none"/>
            <a:tailEnd len="med" w="med" type="triangle"/>
          </a:ln>
        </p:spPr>
      </p:cxnSp>
      <p:cxnSp>
        <p:nvCxnSpPr>
          <p:cNvPr id="433" name="Google Shape;433;p28"/>
          <p:cNvCxnSpPr>
            <a:stCxn id="371" idx="3"/>
          </p:cNvCxnSpPr>
          <p:nvPr/>
        </p:nvCxnSpPr>
        <p:spPr>
          <a:xfrm>
            <a:off x="2517800" y="2479475"/>
            <a:ext cx="0" cy="304800"/>
          </a:xfrm>
          <a:prstGeom prst="straightConnector1">
            <a:avLst/>
          </a:prstGeom>
          <a:noFill/>
          <a:ln cap="flat" cmpd="sng" w="9525">
            <a:solidFill>
              <a:schemeClr val="dk2"/>
            </a:solidFill>
            <a:prstDash val="solid"/>
            <a:round/>
            <a:headEnd len="med" w="med" type="none"/>
            <a:tailEnd len="med" w="med" type="triangle"/>
          </a:ln>
        </p:spPr>
      </p:cxnSp>
      <p:cxnSp>
        <p:nvCxnSpPr>
          <p:cNvPr id="434" name="Google Shape;434;p28"/>
          <p:cNvCxnSpPr>
            <a:stCxn id="372" idx="3"/>
          </p:cNvCxnSpPr>
          <p:nvPr/>
        </p:nvCxnSpPr>
        <p:spPr>
          <a:xfrm>
            <a:off x="2692700" y="2479475"/>
            <a:ext cx="0" cy="304800"/>
          </a:xfrm>
          <a:prstGeom prst="straightConnector1">
            <a:avLst/>
          </a:prstGeom>
          <a:noFill/>
          <a:ln cap="flat" cmpd="sng" w="9525">
            <a:solidFill>
              <a:schemeClr val="dk2"/>
            </a:solidFill>
            <a:prstDash val="solid"/>
            <a:round/>
            <a:headEnd len="med" w="med" type="none"/>
            <a:tailEnd len="med" w="med" type="triangle"/>
          </a:ln>
        </p:spPr>
      </p:cxnSp>
      <p:cxnSp>
        <p:nvCxnSpPr>
          <p:cNvPr id="435" name="Google Shape;435;p28"/>
          <p:cNvCxnSpPr>
            <a:stCxn id="373" idx="3"/>
          </p:cNvCxnSpPr>
          <p:nvPr/>
        </p:nvCxnSpPr>
        <p:spPr>
          <a:xfrm>
            <a:off x="2867600" y="2479475"/>
            <a:ext cx="0" cy="304800"/>
          </a:xfrm>
          <a:prstGeom prst="straightConnector1">
            <a:avLst/>
          </a:prstGeom>
          <a:noFill/>
          <a:ln cap="flat" cmpd="sng" w="9525">
            <a:solidFill>
              <a:schemeClr val="dk2"/>
            </a:solidFill>
            <a:prstDash val="solid"/>
            <a:round/>
            <a:headEnd len="med" w="med" type="none"/>
            <a:tailEnd len="med" w="med" type="triangle"/>
          </a:ln>
        </p:spPr>
      </p:cxnSp>
      <p:cxnSp>
        <p:nvCxnSpPr>
          <p:cNvPr id="436" name="Google Shape;436;p28"/>
          <p:cNvCxnSpPr>
            <a:stCxn id="374" idx="3"/>
          </p:cNvCxnSpPr>
          <p:nvPr/>
        </p:nvCxnSpPr>
        <p:spPr>
          <a:xfrm>
            <a:off x="3042500" y="2479475"/>
            <a:ext cx="0" cy="304800"/>
          </a:xfrm>
          <a:prstGeom prst="straightConnector1">
            <a:avLst/>
          </a:prstGeom>
          <a:noFill/>
          <a:ln cap="flat" cmpd="sng" w="9525">
            <a:solidFill>
              <a:schemeClr val="dk2"/>
            </a:solidFill>
            <a:prstDash val="solid"/>
            <a:round/>
            <a:headEnd len="med" w="med" type="none"/>
            <a:tailEnd len="med" w="med" type="triangle"/>
          </a:ln>
        </p:spPr>
      </p:cxnSp>
      <p:cxnSp>
        <p:nvCxnSpPr>
          <p:cNvPr id="437" name="Google Shape;437;p28"/>
          <p:cNvCxnSpPr>
            <a:stCxn id="369" idx="3"/>
          </p:cNvCxnSpPr>
          <p:nvPr/>
        </p:nvCxnSpPr>
        <p:spPr>
          <a:xfrm>
            <a:off x="2168000" y="2479475"/>
            <a:ext cx="0" cy="304800"/>
          </a:xfrm>
          <a:prstGeom prst="straightConnector1">
            <a:avLst/>
          </a:prstGeom>
          <a:noFill/>
          <a:ln cap="flat" cmpd="sng" w="9525">
            <a:solidFill>
              <a:schemeClr val="dk2"/>
            </a:solidFill>
            <a:prstDash val="solid"/>
            <a:round/>
            <a:headEnd len="med" w="med" type="none"/>
            <a:tailEnd len="med" w="med" type="triangle"/>
          </a:ln>
        </p:spPr>
      </p:cxnSp>
      <p:cxnSp>
        <p:nvCxnSpPr>
          <p:cNvPr id="438" name="Google Shape;438;p28"/>
          <p:cNvCxnSpPr>
            <a:stCxn id="368" idx="3"/>
          </p:cNvCxnSpPr>
          <p:nvPr/>
        </p:nvCxnSpPr>
        <p:spPr>
          <a:xfrm>
            <a:off x="1993100" y="2479475"/>
            <a:ext cx="0" cy="304800"/>
          </a:xfrm>
          <a:prstGeom prst="straightConnector1">
            <a:avLst/>
          </a:prstGeom>
          <a:noFill/>
          <a:ln cap="flat" cmpd="sng" w="9525">
            <a:solidFill>
              <a:schemeClr val="dk2"/>
            </a:solidFill>
            <a:prstDash val="solid"/>
            <a:round/>
            <a:headEnd len="med" w="med" type="none"/>
            <a:tailEnd len="med" w="med" type="triangle"/>
          </a:ln>
        </p:spPr>
      </p:cxnSp>
      <p:cxnSp>
        <p:nvCxnSpPr>
          <p:cNvPr id="439" name="Google Shape;439;p28"/>
          <p:cNvCxnSpPr>
            <a:stCxn id="367" idx="3"/>
          </p:cNvCxnSpPr>
          <p:nvPr/>
        </p:nvCxnSpPr>
        <p:spPr>
          <a:xfrm>
            <a:off x="1818200" y="2479475"/>
            <a:ext cx="0" cy="304800"/>
          </a:xfrm>
          <a:prstGeom prst="straightConnector1">
            <a:avLst/>
          </a:prstGeom>
          <a:noFill/>
          <a:ln cap="flat" cmpd="sng" w="9525">
            <a:solidFill>
              <a:schemeClr val="dk2"/>
            </a:solidFill>
            <a:prstDash val="solid"/>
            <a:round/>
            <a:headEnd len="med" w="med" type="none"/>
            <a:tailEnd len="med" w="med" type="triangle"/>
          </a:ln>
        </p:spPr>
      </p:cxnSp>
      <p:cxnSp>
        <p:nvCxnSpPr>
          <p:cNvPr id="440" name="Google Shape;440;p28"/>
          <p:cNvCxnSpPr>
            <a:stCxn id="366" idx="3"/>
          </p:cNvCxnSpPr>
          <p:nvPr/>
        </p:nvCxnSpPr>
        <p:spPr>
          <a:xfrm>
            <a:off x="1643300" y="2479475"/>
            <a:ext cx="0" cy="304800"/>
          </a:xfrm>
          <a:prstGeom prst="straightConnector1">
            <a:avLst/>
          </a:prstGeom>
          <a:noFill/>
          <a:ln cap="flat" cmpd="sng" w="9525">
            <a:solidFill>
              <a:schemeClr val="dk2"/>
            </a:solidFill>
            <a:prstDash val="solid"/>
            <a:round/>
            <a:headEnd len="med" w="med" type="none"/>
            <a:tailEnd len="med" w="med" type="triangle"/>
          </a:ln>
        </p:spPr>
      </p:cxnSp>
      <p:cxnSp>
        <p:nvCxnSpPr>
          <p:cNvPr id="441" name="Google Shape;441;p28"/>
          <p:cNvCxnSpPr>
            <a:stCxn id="403" idx="2"/>
            <a:endCxn id="345" idx="0"/>
          </p:cNvCxnSpPr>
          <p:nvPr/>
        </p:nvCxnSpPr>
        <p:spPr>
          <a:xfrm>
            <a:off x="2342900" y="3094769"/>
            <a:ext cx="318600" cy="293400"/>
          </a:xfrm>
          <a:prstGeom prst="straightConnector1">
            <a:avLst/>
          </a:prstGeom>
          <a:noFill/>
          <a:ln cap="flat" cmpd="sng" w="9525">
            <a:solidFill>
              <a:schemeClr val="dk2"/>
            </a:solidFill>
            <a:prstDash val="solid"/>
            <a:round/>
            <a:headEnd len="med" w="med" type="none"/>
            <a:tailEnd len="med" w="med" type="triangle"/>
          </a:ln>
        </p:spPr>
      </p:cxnSp>
      <p:sp>
        <p:nvSpPr>
          <p:cNvPr id="442" name="Google Shape;442;p28"/>
          <p:cNvSpPr/>
          <p:nvPr/>
        </p:nvSpPr>
        <p:spPr>
          <a:xfrm>
            <a:off x="1122650" y="2784275"/>
            <a:ext cx="433200" cy="310500"/>
          </a:xfrm>
          <a:prstGeom prst="rect">
            <a:avLst/>
          </a:prstGeom>
          <a:solidFill>
            <a:srgbClr val="B6D7A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800">
                <a:latin typeface="Roboto"/>
                <a:ea typeface="Roboto"/>
                <a:cs typeface="Roboto"/>
                <a:sym typeface="Roboto"/>
              </a:rPr>
              <a:t>TCP</a:t>
            </a:r>
            <a:endParaRPr sz="800">
              <a:latin typeface="Roboto"/>
              <a:ea typeface="Roboto"/>
              <a:cs typeface="Roboto"/>
              <a:sym typeface="Roboto"/>
            </a:endParaRPr>
          </a:p>
          <a:p>
            <a:pPr indent="0" lvl="0" marL="0" rtl="0" algn="ctr">
              <a:spcBef>
                <a:spcPts val="0"/>
              </a:spcBef>
              <a:spcAft>
                <a:spcPts val="0"/>
              </a:spcAft>
              <a:buNone/>
            </a:pPr>
            <a:r>
              <a:rPr lang="en" sz="800">
                <a:latin typeface="Roboto"/>
                <a:ea typeface="Roboto"/>
                <a:cs typeface="Roboto"/>
                <a:sym typeface="Roboto"/>
              </a:rPr>
              <a:t>HDR</a:t>
            </a:r>
            <a:endParaRPr sz="800">
              <a:latin typeface="Roboto"/>
              <a:ea typeface="Roboto"/>
              <a:cs typeface="Roboto"/>
              <a:sym typeface="Roboto"/>
            </a:endParaRPr>
          </a:p>
        </p:txBody>
      </p:sp>
      <p:sp>
        <p:nvSpPr>
          <p:cNvPr id="443" name="Google Shape;443;p28"/>
          <p:cNvSpPr/>
          <p:nvPr/>
        </p:nvSpPr>
        <p:spPr>
          <a:xfrm>
            <a:off x="1441250" y="3388175"/>
            <a:ext cx="433200" cy="310500"/>
          </a:xfrm>
          <a:prstGeom prst="rect">
            <a:avLst/>
          </a:prstGeom>
          <a:solidFill>
            <a:srgbClr val="B6D7A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800">
                <a:latin typeface="Roboto"/>
                <a:ea typeface="Roboto"/>
                <a:cs typeface="Roboto"/>
                <a:sym typeface="Roboto"/>
              </a:rPr>
              <a:t>TCP</a:t>
            </a:r>
            <a:endParaRPr sz="800">
              <a:latin typeface="Roboto"/>
              <a:ea typeface="Roboto"/>
              <a:cs typeface="Roboto"/>
              <a:sym typeface="Roboto"/>
            </a:endParaRPr>
          </a:p>
          <a:p>
            <a:pPr indent="0" lvl="0" marL="0" rtl="0" algn="ctr">
              <a:spcBef>
                <a:spcPts val="0"/>
              </a:spcBef>
              <a:spcAft>
                <a:spcPts val="0"/>
              </a:spcAft>
              <a:buNone/>
            </a:pPr>
            <a:r>
              <a:rPr lang="en" sz="800">
                <a:latin typeface="Roboto"/>
                <a:ea typeface="Roboto"/>
                <a:cs typeface="Roboto"/>
                <a:sym typeface="Roboto"/>
              </a:rPr>
              <a:t>HDR</a:t>
            </a:r>
            <a:endParaRPr sz="800">
              <a:latin typeface="Roboto"/>
              <a:ea typeface="Roboto"/>
              <a:cs typeface="Roboto"/>
              <a:sym typeface="Roboto"/>
            </a:endParaRPr>
          </a:p>
        </p:txBody>
      </p:sp>
      <p:sp>
        <p:nvSpPr>
          <p:cNvPr id="444" name="Google Shape;444;p28"/>
          <p:cNvSpPr txBox="1"/>
          <p:nvPr/>
        </p:nvSpPr>
        <p:spPr>
          <a:xfrm>
            <a:off x="3654650" y="2825825"/>
            <a:ext cx="2697600" cy="831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a:solidFill>
                  <a:srgbClr val="6AA84F"/>
                </a:solidFill>
                <a:latin typeface="Roboto"/>
                <a:ea typeface="Roboto"/>
                <a:cs typeface="Roboto"/>
                <a:sym typeface="Roboto"/>
              </a:rPr>
              <a:t>TCP header carries a sequence number indicating where in the bytestream this segment fits.</a:t>
            </a:r>
            <a:endParaRPr>
              <a:solidFill>
                <a:srgbClr val="6AA84F"/>
              </a:solidFill>
              <a:latin typeface="Roboto"/>
              <a:ea typeface="Roboto"/>
              <a:cs typeface="Roboto"/>
              <a:sym typeface="Roboto"/>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8" name="Shape 448"/>
        <p:cNvGrpSpPr/>
        <p:nvPr/>
      </p:nvGrpSpPr>
      <p:grpSpPr>
        <a:xfrm>
          <a:off x="0" y="0"/>
          <a:ext cx="0" cy="0"/>
          <a:chOff x="0" y="0"/>
          <a:chExt cx="0" cy="0"/>
        </a:xfrm>
      </p:grpSpPr>
      <p:sp>
        <p:nvSpPr>
          <p:cNvPr id="449" name="Google Shape;449;p29"/>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TCP Segments</a:t>
            </a:r>
            <a:endParaRPr/>
          </a:p>
        </p:txBody>
      </p:sp>
      <p:sp>
        <p:nvSpPr>
          <p:cNvPr id="450" name="Google Shape;450;p29"/>
          <p:cNvSpPr txBox="1"/>
          <p:nvPr>
            <p:ph idx="1" type="body"/>
          </p:nvPr>
        </p:nvSpPr>
        <p:spPr>
          <a:xfrm>
            <a:off x="107050" y="402200"/>
            <a:ext cx="8909700" cy="22827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b="1" lang="en"/>
              <a:t>TCP/IP packet</a:t>
            </a:r>
            <a:r>
              <a:rPr lang="en"/>
              <a:t>: IP packet with TCP header and TCP data </a:t>
            </a:r>
            <a:r>
              <a:rPr lang="en"/>
              <a:t>inside.</a:t>
            </a:r>
            <a:endParaRPr/>
          </a:p>
          <a:p>
            <a:pPr indent="0" lvl="0" marL="0" rtl="0" algn="l">
              <a:spcBef>
                <a:spcPts val="600"/>
              </a:spcBef>
              <a:spcAft>
                <a:spcPts val="0"/>
              </a:spcAft>
              <a:buNone/>
            </a:pPr>
            <a:r>
              <a:rPr lang="en"/>
              <a:t>Size limits:</a:t>
            </a:r>
            <a:endParaRPr/>
          </a:p>
          <a:p>
            <a:pPr indent="-342900" lvl="0" marL="457200" rtl="0" algn="l">
              <a:spcBef>
                <a:spcPts val="600"/>
              </a:spcBef>
              <a:spcAft>
                <a:spcPts val="0"/>
              </a:spcAft>
              <a:buSzPts val="1800"/>
              <a:buChar char="●"/>
            </a:pPr>
            <a:r>
              <a:rPr lang="en"/>
              <a:t>IP packet: Maximum transmission unit (MTU).</a:t>
            </a:r>
            <a:endParaRPr/>
          </a:p>
          <a:p>
            <a:pPr indent="-342900" lvl="0" marL="457200" rtl="0" algn="l">
              <a:spcBef>
                <a:spcPts val="0"/>
              </a:spcBef>
              <a:spcAft>
                <a:spcPts val="0"/>
              </a:spcAft>
              <a:buSzPts val="1800"/>
              <a:buChar char="●"/>
            </a:pPr>
            <a:r>
              <a:rPr lang="en"/>
              <a:t>TCP segment: Maximum segment size (MSS).</a:t>
            </a:r>
            <a:endParaRPr/>
          </a:p>
          <a:p>
            <a:pPr indent="-342900" lvl="0" marL="457200" rtl="0" algn="l">
              <a:spcBef>
                <a:spcPts val="0"/>
              </a:spcBef>
              <a:spcAft>
                <a:spcPts val="0"/>
              </a:spcAft>
              <a:buSzPts val="1800"/>
              <a:buChar char="●"/>
            </a:pPr>
            <a:r>
              <a:rPr lang="en"/>
              <a:t>MSS = MTU – (IP header) – (TCP header).</a:t>
            </a:r>
            <a:endParaRPr/>
          </a:p>
          <a:p>
            <a:pPr indent="0" lvl="0" marL="0" rtl="0" algn="l">
              <a:spcBef>
                <a:spcPts val="600"/>
              </a:spcBef>
              <a:spcAft>
                <a:spcPts val="0"/>
              </a:spcAft>
              <a:buNone/>
            </a:pPr>
            <a:r>
              <a:t/>
            </a:r>
            <a:endParaRPr/>
          </a:p>
        </p:txBody>
      </p:sp>
      <p:sp>
        <p:nvSpPr>
          <p:cNvPr id="451" name="Google Shape;451;p29"/>
          <p:cNvSpPr/>
          <p:nvPr/>
        </p:nvSpPr>
        <p:spPr>
          <a:xfrm>
            <a:off x="3241750" y="3656050"/>
            <a:ext cx="1152000" cy="739200"/>
          </a:xfrm>
          <a:prstGeom prst="rect">
            <a:avLst/>
          </a:prstGeom>
          <a:solidFill>
            <a:srgbClr val="B6D7A8"/>
          </a:solidFill>
          <a:ln cap="flat" cmpd="sng" w="9525">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TCP Header</a:t>
            </a:r>
            <a:endParaRPr>
              <a:latin typeface="Roboto"/>
              <a:ea typeface="Roboto"/>
              <a:cs typeface="Roboto"/>
              <a:sym typeface="Roboto"/>
            </a:endParaRPr>
          </a:p>
        </p:txBody>
      </p:sp>
      <p:sp>
        <p:nvSpPr>
          <p:cNvPr id="452" name="Google Shape;452;p29"/>
          <p:cNvSpPr/>
          <p:nvPr/>
        </p:nvSpPr>
        <p:spPr>
          <a:xfrm>
            <a:off x="4393750" y="3656050"/>
            <a:ext cx="2640300" cy="739200"/>
          </a:xfrm>
          <a:prstGeom prst="rect">
            <a:avLst/>
          </a:prstGeom>
          <a:solidFill>
            <a:srgbClr val="9FC5E8"/>
          </a:solidFill>
          <a:ln cap="flat" cmpd="sng" w="9525">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TCP Payload (Segment)</a:t>
            </a:r>
            <a:endParaRPr>
              <a:latin typeface="Roboto"/>
              <a:ea typeface="Roboto"/>
              <a:cs typeface="Roboto"/>
              <a:sym typeface="Roboto"/>
            </a:endParaRPr>
          </a:p>
        </p:txBody>
      </p:sp>
      <p:sp>
        <p:nvSpPr>
          <p:cNvPr id="453" name="Google Shape;453;p29"/>
          <p:cNvSpPr/>
          <p:nvPr/>
        </p:nvSpPr>
        <p:spPr>
          <a:xfrm>
            <a:off x="2089750" y="3656050"/>
            <a:ext cx="1152000" cy="739200"/>
          </a:xfrm>
          <a:prstGeom prst="rect">
            <a:avLst/>
          </a:prstGeom>
          <a:solidFill>
            <a:srgbClr val="F9CB9C"/>
          </a:solidFill>
          <a:ln cap="flat" cmpd="sng" w="9525">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IP Header</a:t>
            </a:r>
            <a:endParaRPr>
              <a:latin typeface="Roboto"/>
              <a:ea typeface="Roboto"/>
              <a:cs typeface="Roboto"/>
              <a:sym typeface="Roboto"/>
            </a:endParaRPr>
          </a:p>
        </p:txBody>
      </p:sp>
      <p:grpSp>
        <p:nvGrpSpPr>
          <p:cNvPr id="454" name="Google Shape;454;p29"/>
          <p:cNvGrpSpPr/>
          <p:nvPr/>
        </p:nvGrpSpPr>
        <p:grpSpPr>
          <a:xfrm>
            <a:off x="3241750" y="4504600"/>
            <a:ext cx="3792300" cy="261300"/>
            <a:chOff x="3241750" y="4504600"/>
            <a:chExt cx="3792300" cy="261300"/>
          </a:xfrm>
        </p:grpSpPr>
        <p:cxnSp>
          <p:nvCxnSpPr>
            <p:cNvPr id="455" name="Google Shape;455;p29"/>
            <p:cNvCxnSpPr/>
            <p:nvPr/>
          </p:nvCxnSpPr>
          <p:spPr>
            <a:xfrm>
              <a:off x="3241750" y="4635250"/>
              <a:ext cx="3792300" cy="0"/>
            </a:xfrm>
            <a:prstGeom prst="straightConnector1">
              <a:avLst/>
            </a:prstGeom>
            <a:noFill/>
            <a:ln cap="flat" cmpd="sng" w="9525">
              <a:solidFill>
                <a:schemeClr val="accent2"/>
              </a:solidFill>
              <a:prstDash val="solid"/>
              <a:round/>
              <a:headEnd len="med" w="med" type="triangle"/>
              <a:tailEnd len="med" w="med" type="triangle"/>
            </a:ln>
          </p:spPr>
        </p:cxnSp>
        <p:sp>
          <p:nvSpPr>
            <p:cNvPr id="456" name="Google Shape;456;p29"/>
            <p:cNvSpPr txBox="1"/>
            <p:nvPr/>
          </p:nvSpPr>
          <p:spPr>
            <a:xfrm>
              <a:off x="4681600" y="4504600"/>
              <a:ext cx="912600" cy="261300"/>
            </a:xfrm>
            <a:prstGeom prst="rect">
              <a:avLst/>
            </a:prstGeom>
            <a:solidFill>
              <a:srgbClr val="FFFFFF"/>
            </a:solidFill>
            <a:ln>
              <a:noFill/>
            </a:ln>
          </p:spPr>
          <p:txBody>
            <a:bodyPr anchorCtr="0" anchor="t" bIns="27425" lIns="27425" spcFirstLastPara="1" rIns="27425" wrap="square" tIns="27425">
              <a:noAutofit/>
            </a:bodyPr>
            <a:lstStyle/>
            <a:p>
              <a:pPr indent="0" lvl="0" marL="0" rtl="0" algn="ctr">
                <a:spcBef>
                  <a:spcPts val="0"/>
                </a:spcBef>
                <a:spcAft>
                  <a:spcPts val="0"/>
                </a:spcAft>
                <a:buNone/>
              </a:pPr>
              <a:r>
                <a:rPr lang="en">
                  <a:solidFill>
                    <a:schemeClr val="accent2"/>
                  </a:solidFill>
                  <a:latin typeface="Roboto"/>
                  <a:ea typeface="Roboto"/>
                  <a:cs typeface="Roboto"/>
                  <a:sym typeface="Roboto"/>
                </a:rPr>
                <a:t>IP Payload</a:t>
              </a:r>
              <a:endParaRPr>
                <a:solidFill>
                  <a:schemeClr val="accent2"/>
                </a:solidFill>
                <a:latin typeface="Roboto"/>
                <a:ea typeface="Roboto"/>
                <a:cs typeface="Roboto"/>
                <a:sym typeface="Roboto"/>
              </a:endParaRPr>
            </a:p>
          </p:txBody>
        </p:sp>
      </p:grpSp>
      <p:grpSp>
        <p:nvGrpSpPr>
          <p:cNvPr id="457" name="Google Shape;457;p29"/>
          <p:cNvGrpSpPr/>
          <p:nvPr/>
        </p:nvGrpSpPr>
        <p:grpSpPr>
          <a:xfrm>
            <a:off x="2089750" y="2980600"/>
            <a:ext cx="4944300" cy="261300"/>
            <a:chOff x="2089750" y="2980600"/>
            <a:chExt cx="4944300" cy="261300"/>
          </a:xfrm>
        </p:grpSpPr>
        <p:cxnSp>
          <p:nvCxnSpPr>
            <p:cNvPr id="458" name="Google Shape;458;p29"/>
            <p:cNvCxnSpPr/>
            <p:nvPr/>
          </p:nvCxnSpPr>
          <p:spPr>
            <a:xfrm>
              <a:off x="2089750" y="3111250"/>
              <a:ext cx="4944300" cy="0"/>
            </a:xfrm>
            <a:prstGeom prst="straightConnector1">
              <a:avLst/>
            </a:prstGeom>
            <a:noFill/>
            <a:ln cap="flat" cmpd="sng" w="9525">
              <a:solidFill>
                <a:schemeClr val="accent2"/>
              </a:solidFill>
              <a:prstDash val="solid"/>
              <a:round/>
              <a:headEnd len="med" w="med" type="triangle"/>
              <a:tailEnd len="med" w="med" type="triangle"/>
            </a:ln>
          </p:spPr>
        </p:cxnSp>
        <p:sp>
          <p:nvSpPr>
            <p:cNvPr id="459" name="Google Shape;459;p29"/>
            <p:cNvSpPr txBox="1"/>
            <p:nvPr/>
          </p:nvSpPr>
          <p:spPr>
            <a:xfrm>
              <a:off x="3891002" y="2980600"/>
              <a:ext cx="1362000" cy="261300"/>
            </a:xfrm>
            <a:prstGeom prst="rect">
              <a:avLst/>
            </a:prstGeom>
            <a:solidFill>
              <a:srgbClr val="FFFFFF"/>
            </a:solidFill>
            <a:ln>
              <a:noFill/>
            </a:ln>
          </p:spPr>
          <p:txBody>
            <a:bodyPr anchorCtr="0" anchor="t" bIns="27425" lIns="27425" spcFirstLastPara="1" rIns="27425" wrap="square" tIns="27425">
              <a:noAutofit/>
            </a:bodyPr>
            <a:lstStyle/>
            <a:p>
              <a:pPr indent="0" lvl="0" marL="0" rtl="0" algn="ctr">
                <a:spcBef>
                  <a:spcPts val="0"/>
                </a:spcBef>
                <a:spcAft>
                  <a:spcPts val="0"/>
                </a:spcAft>
                <a:buNone/>
              </a:pPr>
              <a:r>
                <a:rPr lang="en">
                  <a:solidFill>
                    <a:schemeClr val="accent2"/>
                  </a:solidFill>
                  <a:latin typeface="Roboto"/>
                  <a:ea typeface="Roboto"/>
                  <a:cs typeface="Roboto"/>
                  <a:sym typeface="Roboto"/>
                </a:rPr>
                <a:t>Limit </a:t>
              </a:r>
              <a:r>
                <a:rPr i="1" lang="en">
                  <a:solidFill>
                    <a:schemeClr val="accent2"/>
                  </a:solidFill>
                  <a:latin typeface="Roboto"/>
                  <a:ea typeface="Roboto"/>
                  <a:cs typeface="Roboto"/>
                  <a:sym typeface="Roboto"/>
                </a:rPr>
                <a:t>MTU</a:t>
              </a:r>
              <a:r>
                <a:rPr lang="en">
                  <a:solidFill>
                    <a:schemeClr val="accent2"/>
                  </a:solidFill>
                  <a:latin typeface="Roboto"/>
                  <a:ea typeface="Roboto"/>
                  <a:cs typeface="Roboto"/>
                  <a:sym typeface="Roboto"/>
                </a:rPr>
                <a:t> bytes</a:t>
              </a:r>
              <a:endParaRPr>
                <a:solidFill>
                  <a:schemeClr val="accent2"/>
                </a:solidFill>
                <a:latin typeface="Roboto"/>
                <a:ea typeface="Roboto"/>
                <a:cs typeface="Roboto"/>
                <a:sym typeface="Roboto"/>
              </a:endParaRPr>
            </a:p>
          </p:txBody>
        </p:sp>
      </p:grpSp>
      <p:grpSp>
        <p:nvGrpSpPr>
          <p:cNvPr id="460" name="Google Shape;460;p29"/>
          <p:cNvGrpSpPr/>
          <p:nvPr/>
        </p:nvGrpSpPr>
        <p:grpSpPr>
          <a:xfrm>
            <a:off x="4393750" y="3285400"/>
            <a:ext cx="2640300" cy="261300"/>
            <a:chOff x="4393750" y="3285400"/>
            <a:chExt cx="2640300" cy="261300"/>
          </a:xfrm>
        </p:grpSpPr>
        <p:cxnSp>
          <p:nvCxnSpPr>
            <p:cNvPr id="461" name="Google Shape;461;p29"/>
            <p:cNvCxnSpPr/>
            <p:nvPr/>
          </p:nvCxnSpPr>
          <p:spPr>
            <a:xfrm>
              <a:off x="4393750" y="3416050"/>
              <a:ext cx="2640300" cy="0"/>
            </a:xfrm>
            <a:prstGeom prst="straightConnector1">
              <a:avLst/>
            </a:prstGeom>
            <a:noFill/>
            <a:ln cap="flat" cmpd="sng" w="9525">
              <a:solidFill>
                <a:schemeClr val="accent2"/>
              </a:solidFill>
              <a:prstDash val="solid"/>
              <a:round/>
              <a:headEnd len="med" w="med" type="triangle"/>
              <a:tailEnd len="med" w="med" type="triangle"/>
            </a:ln>
          </p:spPr>
        </p:cxnSp>
        <p:sp>
          <p:nvSpPr>
            <p:cNvPr id="462" name="Google Shape;462;p29"/>
            <p:cNvSpPr txBox="1"/>
            <p:nvPr/>
          </p:nvSpPr>
          <p:spPr>
            <a:xfrm>
              <a:off x="5032902" y="3285400"/>
              <a:ext cx="1362000" cy="261300"/>
            </a:xfrm>
            <a:prstGeom prst="rect">
              <a:avLst/>
            </a:prstGeom>
            <a:solidFill>
              <a:srgbClr val="FFFFFF"/>
            </a:solidFill>
            <a:ln>
              <a:noFill/>
            </a:ln>
          </p:spPr>
          <p:txBody>
            <a:bodyPr anchorCtr="0" anchor="t" bIns="27425" lIns="27425" spcFirstLastPara="1" rIns="27425" wrap="square" tIns="27425">
              <a:noAutofit/>
            </a:bodyPr>
            <a:lstStyle/>
            <a:p>
              <a:pPr indent="0" lvl="0" marL="0" rtl="0" algn="ctr">
                <a:spcBef>
                  <a:spcPts val="0"/>
                </a:spcBef>
                <a:spcAft>
                  <a:spcPts val="0"/>
                </a:spcAft>
                <a:buNone/>
              </a:pPr>
              <a:r>
                <a:rPr lang="en">
                  <a:solidFill>
                    <a:schemeClr val="accent2"/>
                  </a:solidFill>
                  <a:latin typeface="Roboto"/>
                  <a:ea typeface="Roboto"/>
                  <a:cs typeface="Roboto"/>
                  <a:sym typeface="Roboto"/>
                </a:rPr>
                <a:t>Limit </a:t>
              </a:r>
              <a:r>
                <a:rPr i="1" lang="en">
                  <a:solidFill>
                    <a:schemeClr val="accent2"/>
                  </a:solidFill>
                  <a:latin typeface="Roboto"/>
                  <a:ea typeface="Roboto"/>
                  <a:cs typeface="Roboto"/>
                  <a:sym typeface="Roboto"/>
                </a:rPr>
                <a:t>MSS</a:t>
              </a:r>
              <a:r>
                <a:rPr lang="en">
                  <a:solidFill>
                    <a:schemeClr val="accent2"/>
                  </a:solidFill>
                  <a:latin typeface="Roboto"/>
                  <a:ea typeface="Roboto"/>
                  <a:cs typeface="Roboto"/>
                  <a:sym typeface="Roboto"/>
                </a:rPr>
                <a:t> bytes</a:t>
              </a:r>
              <a:endParaRPr>
                <a:solidFill>
                  <a:schemeClr val="accent2"/>
                </a:solidFill>
                <a:latin typeface="Roboto"/>
                <a:ea typeface="Roboto"/>
                <a:cs typeface="Roboto"/>
                <a:sym typeface="Roboto"/>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30"/>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TCP Sequence Numbers</a:t>
            </a:r>
            <a:endParaRPr/>
          </a:p>
        </p:txBody>
      </p:sp>
      <p:sp>
        <p:nvSpPr>
          <p:cNvPr id="468" name="Google Shape;468;p30"/>
          <p:cNvSpPr txBox="1"/>
          <p:nvPr>
            <p:ph idx="1" type="body"/>
          </p:nvPr>
        </p:nvSpPr>
        <p:spPr>
          <a:xfrm>
            <a:off x="107050" y="402200"/>
            <a:ext cx="8909700" cy="13551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Numbering starts at a randomly-generated </a:t>
            </a:r>
            <a:r>
              <a:rPr b="1" lang="en"/>
              <a:t>Initial Sequence Number</a:t>
            </a:r>
            <a:r>
              <a:rPr lang="en"/>
              <a:t> (ISN).</a:t>
            </a:r>
            <a:endParaRPr/>
          </a:p>
          <a:p>
            <a:pPr indent="-342900" lvl="0" marL="457200" rtl="0" algn="l">
              <a:spcBef>
                <a:spcPts val="600"/>
              </a:spcBef>
              <a:spcAft>
                <a:spcPts val="0"/>
              </a:spcAft>
              <a:buSzPts val="1800"/>
              <a:buChar char="●"/>
            </a:pPr>
            <a:r>
              <a:rPr lang="en"/>
              <a:t>First byte is </a:t>
            </a:r>
            <a:r>
              <a:rPr i="1" lang="en"/>
              <a:t>ISN</a:t>
            </a:r>
            <a:r>
              <a:rPr lang="en"/>
              <a:t>+1, then </a:t>
            </a:r>
            <a:r>
              <a:rPr i="1" lang="en"/>
              <a:t>ISN</a:t>
            </a:r>
            <a:r>
              <a:rPr lang="en"/>
              <a:t>+2, etc.</a:t>
            </a:r>
            <a:endParaRPr/>
          </a:p>
          <a:p>
            <a:pPr indent="-342900" lvl="0" marL="457200" rtl="0" algn="l">
              <a:spcBef>
                <a:spcPts val="0"/>
              </a:spcBef>
              <a:spcAft>
                <a:spcPts val="0"/>
              </a:spcAft>
              <a:buSzPts val="1800"/>
              <a:buChar char="●"/>
            </a:pPr>
            <a:r>
              <a:rPr lang="en"/>
              <a:t>Starting at a randomly-chosen ISN is very important for security!</a:t>
            </a:r>
            <a:endParaRPr/>
          </a:p>
        </p:txBody>
      </p:sp>
      <p:sp>
        <p:nvSpPr>
          <p:cNvPr id="469" name="Google Shape;469;p30"/>
          <p:cNvSpPr/>
          <p:nvPr/>
        </p:nvSpPr>
        <p:spPr>
          <a:xfrm rot="5400000">
            <a:off x="12822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chemeClr val="accent2"/>
                </a:solidFill>
                <a:latin typeface="Roboto"/>
                <a:ea typeface="Roboto"/>
                <a:cs typeface="Roboto"/>
                <a:sym typeface="Roboto"/>
              </a:rPr>
              <a:t>ISN </a:t>
            </a:r>
            <a:r>
              <a:rPr lang="en" sz="1000">
                <a:latin typeface="Roboto"/>
                <a:ea typeface="Roboto"/>
                <a:cs typeface="Roboto"/>
                <a:sym typeface="Roboto"/>
              </a:rPr>
              <a:t>+ 1</a:t>
            </a:r>
            <a:endParaRPr sz="1000">
              <a:latin typeface="Roboto"/>
              <a:ea typeface="Roboto"/>
              <a:cs typeface="Roboto"/>
              <a:sym typeface="Roboto"/>
            </a:endParaRPr>
          </a:p>
        </p:txBody>
      </p:sp>
      <p:sp>
        <p:nvSpPr>
          <p:cNvPr id="470" name="Google Shape;470;p30"/>
          <p:cNvSpPr/>
          <p:nvPr/>
        </p:nvSpPr>
        <p:spPr>
          <a:xfrm rot="5400000">
            <a:off x="14571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+ 2</a:t>
            </a:r>
            <a:endParaRPr sz="1000">
              <a:latin typeface="Roboto"/>
              <a:ea typeface="Roboto"/>
              <a:cs typeface="Roboto"/>
              <a:sym typeface="Roboto"/>
            </a:endParaRPr>
          </a:p>
        </p:txBody>
      </p:sp>
      <p:sp>
        <p:nvSpPr>
          <p:cNvPr id="471" name="Google Shape;471;p30"/>
          <p:cNvSpPr/>
          <p:nvPr/>
        </p:nvSpPr>
        <p:spPr>
          <a:xfrm rot="5400000">
            <a:off x="16320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+ 3</a:t>
            </a:r>
            <a:endParaRPr sz="1000">
              <a:latin typeface="Roboto"/>
              <a:ea typeface="Roboto"/>
              <a:cs typeface="Roboto"/>
              <a:sym typeface="Roboto"/>
            </a:endParaRPr>
          </a:p>
        </p:txBody>
      </p:sp>
      <p:sp>
        <p:nvSpPr>
          <p:cNvPr id="472" name="Google Shape;472;p30"/>
          <p:cNvSpPr/>
          <p:nvPr/>
        </p:nvSpPr>
        <p:spPr>
          <a:xfrm rot="5400000">
            <a:off x="18069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+ 4</a:t>
            </a:r>
            <a:endParaRPr sz="1000">
              <a:latin typeface="Roboto"/>
              <a:ea typeface="Roboto"/>
              <a:cs typeface="Roboto"/>
              <a:sym typeface="Roboto"/>
            </a:endParaRPr>
          </a:p>
        </p:txBody>
      </p:sp>
      <p:sp>
        <p:nvSpPr>
          <p:cNvPr id="473" name="Google Shape;473;p30"/>
          <p:cNvSpPr/>
          <p:nvPr/>
        </p:nvSpPr>
        <p:spPr>
          <a:xfrm rot="5400000">
            <a:off x="19818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74" name="Google Shape;474;p30"/>
          <p:cNvSpPr/>
          <p:nvPr/>
        </p:nvSpPr>
        <p:spPr>
          <a:xfrm rot="5400000">
            <a:off x="21567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75" name="Google Shape;475;p30"/>
          <p:cNvSpPr/>
          <p:nvPr/>
        </p:nvSpPr>
        <p:spPr>
          <a:xfrm rot="5400000">
            <a:off x="23316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76" name="Google Shape;476;p30"/>
          <p:cNvSpPr/>
          <p:nvPr/>
        </p:nvSpPr>
        <p:spPr>
          <a:xfrm rot="5400000">
            <a:off x="25065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+ 79</a:t>
            </a:r>
            <a:endParaRPr sz="1000">
              <a:latin typeface="Roboto"/>
              <a:ea typeface="Roboto"/>
              <a:cs typeface="Roboto"/>
              <a:sym typeface="Roboto"/>
            </a:endParaRPr>
          </a:p>
        </p:txBody>
      </p:sp>
      <p:sp>
        <p:nvSpPr>
          <p:cNvPr id="477" name="Google Shape;477;p30"/>
          <p:cNvSpPr/>
          <p:nvPr/>
        </p:nvSpPr>
        <p:spPr>
          <a:xfrm rot="5400000">
            <a:off x="26814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+ 80</a:t>
            </a:r>
            <a:endParaRPr sz="1000">
              <a:latin typeface="Roboto"/>
              <a:ea typeface="Roboto"/>
              <a:cs typeface="Roboto"/>
              <a:sym typeface="Roboto"/>
            </a:endParaRPr>
          </a:p>
        </p:txBody>
      </p:sp>
      <p:sp>
        <p:nvSpPr>
          <p:cNvPr id="478" name="Google Shape;478;p30"/>
          <p:cNvSpPr/>
          <p:nvPr/>
        </p:nvSpPr>
        <p:spPr>
          <a:xfrm rot="5400000">
            <a:off x="28563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79" name="Google Shape;479;p30"/>
          <p:cNvSpPr/>
          <p:nvPr/>
        </p:nvSpPr>
        <p:spPr>
          <a:xfrm rot="5400000">
            <a:off x="30312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0" name="Google Shape;480;p30"/>
          <p:cNvSpPr/>
          <p:nvPr/>
        </p:nvSpPr>
        <p:spPr>
          <a:xfrm rot="5400000">
            <a:off x="32061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1" name="Google Shape;481;p30"/>
          <p:cNvSpPr/>
          <p:nvPr/>
        </p:nvSpPr>
        <p:spPr>
          <a:xfrm rot="5400000">
            <a:off x="33810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2" name="Google Shape;482;p30"/>
          <p:cNvSpPr/>
          <p:nvPr/>
        </p:nvSpPr>
        <p:spPr>
          <a:xfrm rot="5400000">
            <a:off x="35559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3" name="Google Shape;483;p30"/>
          <p:cNvSpPr/>
          <p:nvPr/>
        </p:nvSpPr>
        <p:spPr>
          <a:xfrm rot="5400000">
            <a:off x="37308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4" name="Google Shape;484;p30"/>
          <p:cNvSpPr/>
          <p:nvPr/>
        </p:nvSpPr>
        <p:spPr>
          <a:xfrm rot="5400000">
            <a:off x="39057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5" name="Google Shape;485;p30"/>
          <p:cNvSpPr/>
          <p:nvPr/>
        </p:nvSpPr>
        <p:spPr>
          <a:xfrm rot="5400000">
            <a:off x="40806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6" name="Google Shape;486;p30"/>
          <p:cNvSpPr/>
          <p:nvPr/>
        </p:nvSpPr>
        <p:spPr>
          <a:xfrm rot="5400000">
            <a:off x="42555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7" name="Google Shape;487;p30"/>
          <p:cNvSpPr/>
          <p:nvPr/>
        </p:nvSpPr>
        <p:spPr>
          <a:xfrm rot="5400000">
            <a:off x="44304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8" name="Google Shape;488;p30"/>
          <p:cNvSpPr/>
          <p:nvPr/>
        </p:nvSpPr>
        <p:spPr>
          <a:xfrm rot="5400000">
            <a:off x="46053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9" name="Google Shape;489;p30"/>
          <p:cNvSpPr/>
          <p:nvPr/>
        </p:nvSpPr>
        <p:spPr>
          <a:xfrm rot="5400000">
            <a:off x="47802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0" name="Google Shape;490;p30"/>
          <p:cNvSpPr/>
          <p:nvPr/>
        </p:nvSpPr>
        <p:spPr>
          <a:xfrm rot="5400000">
            <a:off x="49551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1" name="Google Shape;491;p30"/>
          <p:cNvSpPr/>
          <p:nvPr/>
        </p:nvSpPr>
        <p:spPr>
          <a:xfrm rot="5400000">
            <a:off x="51300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2" name="Google Shape;492;p30"/>
          <p:cNvSpPr/>
          <p:nvPr/>
        </p:nvSpPr>
        <p:spPr>
          <a:xfrm rot="5400000">
            <a:off x="53049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3" name="Google Shape;493;p30"/>
          <p:cNvSpPr/>
          <p:nvPr/>
        </p:nvSpPr>
        <p:spPr>
          <a:xfrm rot="5400000">
            <a:off x="54798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4" name="Google Shape;494;p30"/>
          <p:cNvSpPr/>
          <p:nvPr/>
        </p:nvSpPr>
        <p:spPr>
          <a:xfrm rot="5400000">
            <a:off x="56547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5" name="Google Shape;495;p30"/>
          <p:cNvSpPr/>
          <p:nvPr/>
        </p:nvSpPr>
        <p:spPr>
          <a:xfrm rot="5400000">
            <a:off x="58296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6" name="Google Shape;496;p30"/>
          <p:cNvSpPr/>
          <p:nvPr/>
        </p:nvSpPr>
        <p:spPr>
          <a:xfrm rot="5400000">
            <a:off x="60045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7" name="Google Shape;497;p30"/>
          <p:cNvSpPr/>
          <p:nvPr/>
        </p:nvSpPr>
        <p:spPr>
          <a:xfrm rot="5400000">
            <a:off x="61794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8" name="Google Shape;498;p30"/>
          <p:cNvSpPr/>
          <p:nvPr/>
        </p:nvSpPr>
        <p:spPr>
          <a:xfrm rot="5400000">
            <a:off x="63543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9" name="Google Shape;499;p30"/>
          <p:cNvSpPr/>
          <p:nvPr/>
        </p:nvSpPr>
        <p:spPr>
          <a:xfrm rot="5400000">
            <a:off x="65292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00" name="Google Shape;500;p30"/>
          <p:cNvSpPr/>
          <p:nvPr/>
        </p:nvSpPr>
        <p:spPr>
          <a:xfrm rot="5400000">
            <a:off x="67041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01" name="Google Shape;501;p30"/>
          <p:cNvSpPr/>
          <p:nvPr/>
        </p:nvSpPr>
        <p:spPr>
          <a:xfrm rot="5400000">
            <a:off x="68790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02" name="Google Shape;502;p30"/>
          <p:cNvSpPr/>
          <p:nvPr/>
        </p:nvSpPr>
        <p:spPr>
          <a:xfrm rot="5400000">
            <a:off x="7053950" y="2030975"/>
            <a:ext cx="722100" cy="174900"/>
          </a:xfrm>
          <a:prstGeom prst="rect">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03" name="Google Shape;503;p30"/>
          <p:cNvSpPr/>
          <p:nvPr/>
        </p:nvSpPr>
        <p:spPr>
          <a:xfrm rot="5400000">
            <a:off x="7228850" y="2030975"/>
            <a:ext cx="722100" cy="174900"/>
          </a:xfrm>
          <a:prstGeom prst="rect">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04" name="Google Shape;504;p30"/>
          <p:cNvSpPr/>
          <p:nvPr/>
        </p:nvSpPr>
        <p:spPr>
          <a:xfrm rot="5400000">
            <a:off x="7403750" y="2030975"/>
            <a:ext cx="722100" cy="174900"/>
          </a:xfrm>
          <a:prstGeom prst="rect">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05" name="Google Shape;505;p30"/>
          <p:cNvSpPr/>
          <p:nvPr/>
        </p:nvSpPr>
        <p:spPr>
          <a:xfrm rot="5400000">
            <a:off x="16008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+ 1</a:t>
            </a:r>
            <a:endParaRPr sz="1000">
              <a:latin typeface="Roboto"/>
              <a:ea typeface="Roboto"/>
              <a:cs typeface="Roboto"/>
              <a:sym typeface="Roboto"/>
            </a:endParaRPr>
          </a:p>
        </p:txBody>
      </p:sp>
      <p:sp>
        <p:nvSpPr>
          <p:cNvPr id="506" name="Google Shape;506;p30"/>
          <p:cNvSpPr/>
          <p:nvPr/>
        </p:nvSpPr>
        <p:spPr>
          <a:xfrm rot="5400000">
            <a:off x="17757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+ 2</a:t>
            </a:r>
            <a:endParaRPr sz="1000">
              <a:latin typeface="Roboto"/>
              <a:ea typeface="Roboto"/>
              <a:cs typeface="Roboto"/>
              <a:sym typeface="Roboto"/>
            </a:endParaRPr>
          </a:p>
        </p:txBody>
      </p:sp>
      <p:sp>
        <p:nvSpPr>
          <p:cNvPr id="507" name="Google Shape;507;p30"/>
          <p:cNvSpPr/>
          <p:nvPr/>
        </p:nvSpPr>
        <p:spPr>
          <a:xfrm rot="5400000">
            <a:off x="19506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+ 3</a:t>
            </a:r>
            <a:endParaRPr sz="1000">
              <a:latin typeface="Roboto"/>
              <a:ea typeface="Roboto"/>
              <a:cs typeface="Roboto"/>
              <a:sym typeface="Roboto"/>
            </a:endParaRPr>
          </a:p>
        </p:txBody>
      </p:sp>
      <p:sp>
        <p:nvSpPr>
          <p:cNvPr id="508" name="Google Shape;508;p30"/>
          <p:cNvSpPr/>
          <p:nvPr/>
        </p:nvSpPr>
        <p:spPr>
          <a:xfrm rot="5400000">
            <a:off x="21255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+ 4</a:t>
            </a:r>
            <a:endParaRPr sz="1000">
              <a:latin typeface="Roboto"/>
              <a:ea typeface="Roboto"/>
              <a:cs typeface="Roboto"/>
              <a:sym typeface="Roboto"/>
            </a:endParaRPr>
          </a:p>
        </p:txBody>
      </p:sp>
      <p:sp>
        <p:nvSpPr>
          <p:cNvPr id="509" name="Google Shape;509;p30"/>
          <p:cNvSpPr/>
          <p:nvPr/>
        </p:nvSpPr>
        <p:spPr>
          <a:xfrm rot="5400000">
            <a:off x="23004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10" name="Google Shape;510;p30"/>
          <p:cNvSpPr/>
          <p:nvPr/>
        </p:nvSpPr>
        <p:spPr>
          <a:xfrm rot="5400000">
            <a:off x="24753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11" name="Google Shape;511;p30"/>
          <p:cNvSpPr/>
          <p:nvPr/>
        </p:nvSpPr>
        <p:spPr>
          <a:xfrm rot="5400000">
            <a:off x="26502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12" name="Google Shape;512;p30"/>
          <p:cNvSpPr/>
          <p:nvPr/>
        </p:nvSpPr>
        <p:spPr>
          <a:xfrm rot="5400000">
            <a:off x="28251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+ 79</a:t>
            </a:r>
            <a:endParaRPr sz="1000">
              <a:latin typeface="Roboto"/>
              <a:ea typeface="Roboto"/>
              <a:cs typeface="Roboto"/>
              <a:sym typeface="Roboto"/>
            </a:endParaRPr>
          </a:p>
        </p:txBody>
      </p:sp>
      <p:sp>
        <p:nvSpPr>
          <p:cNvPr id="513" name="Google Shape;513;p30"/>
          <p:cNvSpPr/>
          <p:nvPr/>
        </p:nvSpPr>
        <p:spPr>
          <a:xfrm rot="5400000">
            <a:off x="30000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+ 80</a:t>
            </a:r>
            <a:endParaRPr sz="1000">
              <a:latin typeface="Roboto"/>
              <a:ea typeface="Roboto"/>
              <a:cs typeface="Roboto"/>
              <a:sym typeface="Roboto"/>
            </a:endParaRPr>
          </a:p>
        </p:txBody>
      </p:sp>
      <p:sp>
        <p:nvSpPr>
          <p:cNvPr id="514" name="Google Shape;514;p30"/>
          <p:cNvSpPr/>
          <p:nvPr/>
        </p:nvSpPr>
        <p:spPr>
          <a:xfrm rot="5400000">
            <a:off x="31749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15" name="Google Shape;515;p30"/>
          <p:cNvSpPr/>
          <p:nvPr/>
        </p:nvSpPr>
        <p:spPr>
          <a:xfrm rot="5400000">
            <a:off x="33498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16" name="Google Shape;516;p30"/>
          <p:cNvSpPr/>
          <p:nvPr/>
        </p:nvSpPr>
        <p:spPr>
          <a:xfrm rot="5400000">
            <a:off x="35247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17" name="Google Shape;517;p30"/>
          <p:cNvSpPr/>
          <p:nvPr/>
        </p:nvSpPr>
        <p:spPr>
          <a:xfrm rot="5400000">
            <a:off x="36996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18" name="Google Shape;518;p30"/>
          <p:cNvSpPr/>
          <p:nvPr/>
        </p:nvSpPr>
        <p:spPr>
          <a:xfrm rot="5400000">
            <a:off x="38745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19" name="Google Shape;519;p30"/>
          <p:cNvSpPr/>
          <p:nvPr/>
        </p:nvSpPr>
        <p:spPr>
          <a:xfrm rot="5400000">
            <a:off x="40494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0" name="Google Shape;520;p30"/>
          <p:cNvSpPr/>
          <p:nvPr/>
        </p:nvSpPr>
        <p:spPr>
          <a:xfrm rot="5400000">
            <a:off x="42243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1" name="Google Shape;521;p30"/>
          <p:cNvSpPr/>
          <p:nvPr/>
        </p:nvSpPr>
        <p:spPr>
          <a:xfrm rot="5400000">
            <a:off x="43992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2" name="Google Shape;522;p30"/>
          <p:cNvSpPr/>
          <p:nvPr/>
        </p:nvSpPr>
        <p:spPr>
          <a:xfrm rot="5400000">
            <a:off x="45741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3" name="Google Shape;523;p30"/>
          <p:cNvSpPr/>
          <p:nvPr/>
        </p:nvSpPr>
        <p:spPr>
          <a:xfrm rot="5400000">
            <a:off x="47490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4" name="Google Shape;524;p30"/>
          <p:cNvSpPr/>
          <p:nvPr/>
        </p:nvSpPr>
        <p:spPr>
          <a:xfrm rot="5400000">
            <a:off x="49239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5" name="Google Shape;525;p30"/>
          <p:cNvSpPr/>
          <p:nvPr/>
        </p:nvSpPr>
        <p:spPr>
          <a:xfrm rot="5400000">
            <a:off x="50988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6" name="Google Shape;526;p30"/>
          <p:cNvSpPr/>
          <p:nvPr/>
        </p:nvSpPr>
        <p:spPr>
          <a:xfrm rot="5400000">
            <a:off x="52737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7" name="Google Shape;527;p30"/>
          <p:cNvSpPr/>
          <p:nvPr/>
        </p:nvSpPr>
        <p:spPr>
          <a:xfrm rot="5400000">
            <a:off x="54486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8" name="Google Shape;528;p30"/>
          <p:cNvSpPr/>
          <p:nvPr/>
        </p:nvSpPr>
        <p:spPr>
          <a:xfrm rot="5400000">
            <a:off x="56235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9" name="Google Shape;529;p30"/>
          <p:cNvSpPr/>
          <p:nvPr/>
        </p:nvSpPr>
        <p:spPr>
          <a:xfrm rot="5400000">
            <a:off x="57984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0" name="Google Shape;530;p30"/>
          <p:cNvSpPr/>
          <p:nvPr/>
        </p:nvSpPr>
        <p:spPr>
          <a:xfrm rot="5400000">
            <a:off x="59733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1" name="Google Shape;531;p30"/>
          <p:cNvSpPr/>
          <p:nvPr/>
        </p:nvSpPr>
        <p:spPr>
          <a:xfrm rot="5400000">
            <a:off x="61482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2" name="Google Shape;532;p30"/>
          <p:cNvSpPr/>
          <p:nvPr/>
        </p:nvSpPr>
        <p:spPr>
          <a:xfrm rot="5400000">
            <a:off x="63231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3" name="Google Shape;533;p30"/>
          <p:cNvSpPr/>
          <p:nvPr/>
        </p:nvSpPr>
        <p:spPr>
          <a:xfrm rot="5400000">
            <a:off x="64980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4" name="Google Shape;534;p30"/>
          <p:cNvSpPr/>
          <p:nvPr/>
        </p:nvSpPr>
        <p:spPr>
          <a:xfrm rot="5400000">
            <a:off x="66729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5" name="Google Shape;535;p30"/>
          <p:cNvSpPr/>
          <p:nvPr/>
        </p:nvSpPr>
        <p:spPr>
          <a:xfrm rot="5400000">
            <a:off x="68478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6" name="Google Shape;536;p30"/>
          <p:cNvSpPr/>
          <p:nvPr/>
        </p:nvSpPr>
        <p:spPr>
          <a:xfrm rot="5400000">
            <a:off x="70227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7" name="Google Shape;537;p30"/>
          <p:cNvSpPr/>
          <p:nvPr/>
        </p:nvSpPr>
        <p:spPr>
          <a:xfrm rot="5400000">
            <a:off x="71976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8" name="Google Shape;538;p30"/>
          <p:cNvSpPr/>
          <p:nvPr/>
        </p:nvSpPr>
        <p:spPr>
          <a:xfrm rot="5400000">
            <a:off x="7372550" y="4277075"/>
            <a:ext cx="722100" cy="174900"/>
          </a:xfrm>
          <a:prstGeom prst="rect">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9" name="Google Shape;539;p30"/>
          <p:cNvSpPr/>
          <p:nvPr/>
        </p:nvSpPr>
        <p:spPr>
          <a:xfrm rot="5400000">
            <a:off x="7547450" y="4277075"/>
            <a:ext cx="722100" cy="174900"/>
          </a:xfrm>
          <a:prstGeom prst="rect">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40" name="Google Shape;540;p30"/>
          <p:cNvSpPr/>
          <p:nvPr/>
        </p:nvSpPr>
        <p:spPr>
          <a:xfrm rot="5400000">
            <a:off x="7722350" y="4277075"/>
            <a:ext cx="722100" cy="174900"/>
          </a:xfrm>
          <a:prstGeom prst="rect">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41" name="Google Shape;541;p30"/>
          <p:cNvSpPr txBox="1"/>
          <p:nvPr/>
        </p:nvSpPr>
        <p:spPr>
          <a:xfrm>
            <a:off x="1874450" y="4725575"/>
            <a:ext cx="2273700" cy="270900"/>
          </a:xfrm>
          <a:prstGeom prst="rect">
            <a:avLst/>
          </a:prstGeom>
          <a:noFill/>
          <a:ln>
            <a:noFill/>
          </a:ln>
        </p:spPr>
        <p:txBody>
          <a:bodyPr anchorCtr="0" anchor="t" bIns="27425" lIns="27425" spcFirstLastPara="1" rIns="27425" wrap="square" tIns="27425">
            <a:spAutoFit/>
          </a:bodyPr>
          <a:lstStyle/>
          <a:p>
            <a:pPr indent="0" lvl="0" marL="0" rtl="0" algn="l">
              <a:spcBef>
                <a:spcPts val="0"/>
              </a:spcBef>
              <a:spcAft>
                <a:spcPts val="0"/>
              </a:spcAft>
              <a:buNone/>
            </a:pPr>
            <a:r>
              <a:rPr lang="en">
                <a:solidFill>
                  <a:schemeClr val="dk1"/>
                </a:solidFill>
                <a:latin typeface="Roboto"/>
                <a:ea typeface="Roboto"/>
                <a:cs typeface="Roboto"/>
                <a:sym typeface="Roboto"/>
              </a:rPr>
              <a:t>Recipient Application</a:t>
            </a:r>
            <a:endParaRPr>
              <a:solidFill>
                <a:schemeClr val="dk1"/>
              </a:solidFill>
              <a:latin typeface="Roboto"/>
              <a:ea typeface="Roboto"/>
              <a:cs typeface="Roboto"/>
              <a:sym typeface="Roboto"/>
            </a:endParaRPr>
          </a:p>
        </p:txBody>
      </p:sp>
      <p:sp>
        <p:nvSpPr>
          <p:cNvPr id="542" name="Google Shape;542;p30"/>
          <p:cNvSpPr txBox="1"/>
          <p:nvPr/>
        </p:nvSpPr>
        <p:spPr>
          <a:xfrm>
            <a:off x="1555850" y="2496425"/>
            <a:ext cx="2273700" cy="270900"/>
          </a:xfrm>
          <a:prstGeom prst="rect">
            <a:avLst/>
          </a:prstGeom>
          <a:noFill/>
          <a:ln>
            <a:noFill/>
          </a:ln>
        </p:spPr>
        <p:txBody>
          <a:bodyPr anchorCtr="0" anchor="t" bIns="27425" lIns="27425" spcFirstLastPara="1" rIns="27425" wrap="square" tIns="27425">
            <a:spAutoFit/>
          </a:bodyPr>
          <a:lstStyle/>
          <a:p>
            <a:pPr indent="0" lvl="0" marL="0" rtl="0" algn="l">
              <a:spcBef>
                <a:spcPts val="0"/>
              </a:spcBef>
              <a:spcAft>
                <a:spcPts val="0"/>
              </a:spcAft>
              <a:buNone/>
            </a:pPr>
            <a:r>
              <a:rPr lang="en">
                <a:solidFill>
                  <a:schemeClr val="dk1"/>
                </a:solidFill>
                <a:latin typeface="Roboto"/>
                <a:ea typeface="Roboto"/>
                <a:cs typeface="Roboto"/>
                <a:sym typeface="Roboto"/>
              </a:rPr>
              <a:t>Sender Application</a:t>
            </a:r>
            <a:endParaRPr>
              <a:solidFill>
                <a:schemeClr val="dk1"/>
              </a:solidFill>
              <a:latin typeface="Roboto"/>
              <a:ea typeface="Roboto"/>
              <a:cs typeface="Roboto"/>
              <a:sym typeface="Roboto"/>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31"/>
          <p:cNvSpPr/>
          <p:nvPr/>
        </p:nvSpPr>
        <p:spPr>
          <a:xfrm>
            <a:off x="4672850" y="3388169"/>
            <a:ext cx="1574100" cy="310500"/>
          </a:xfrm>
          <a:prstGeom prst="rect">
            <a:avLst/>
          </a:prstGeom>
          <a:solidFill>
            <a:srgbClr val="D9D9D9"/>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TCP Segment</a:t>
            </a:r>
            <a:endParaRPr>
              <a:latin typeface="Roboto"/>
              <a:ea typeface="Roboto"/>
              <a:cs typeface="Roboto"/>
              <a:sym typeface="Roboto"/>
            </a:endParaRPr>
          </a:p>
        </p:txBody>
      </p:sp>
      <p:cxnSp>
        <p:nvCxnSpPr>
          <p:cNvPr id="548" name="Google Shape;548;p31"/>
          <p:cNvCxnSpPr>
            <a:endCxn id="549" idx="1"/>
          </p:cNvCxnSpPr>
          <p:nvPr/>
        </p:nvCxnSpPr>
        <p:spPr>
          <a:xfrm>
            <a:off x="5459900" y="3697475"/>
            <a:ext cx="0" cy="306000"/>
          </a:xfrm>
          <a:prstGeom prst="straightConnector1">
            <a:avLst/>
          </a:prstGeom>
          <a:noFill/>
          <a:ln cap="flat" cmpd="sng" w="9525">
            <a:solidFill>
              <a:schemeClr val="dk2"/>
            </a:solidFill>
            <a:prstDash val="solid"/>
            <a:round/>
            <a:headEnd len="med" w="med" type="none"/>
            <a:tailEnd len="med" w="med" type="triangle"/>
          </a:ln>
        </p:spPr>
      </p:cxnSp>
      <p:cxnSp>
        <p:nvCxnSpPr>
          <p:cNvPr id="550" name="Google Shape;550;p31"/>
          <p:cNvCxnSpPr>
            <a:endCxn id="551" idx="1"/>
          </p:cNvCxnSpPr>
          <p:nvPr/>
        </p:nvCxnSpPr>
        <p:spPr>
          <a:xfrm>
            <a:off x="5634800" y="3697475"/>
            <a:ext cx="0" cy="306000"/>
          </a:xfrm>
          <a:prstGeom prst="straightConnector1">
            <a:avLst/>
          </a:prstGeom>
          <a:noFill/>
          <a:ln cap="flat" cmpd="sng" w="9525">
            <a:solidFill>
              <a:schemeClr val="dk2"/>
            </a:solidFill>
            <a:prstDash val="solid"/>
            <a:round/>
            <a:headEnd len="med" w="med" type="none"/>
            <a:tailEnd len="med" w="med" type="triangle"/>
          </a:ln>
        </p:spPr>
      </p:cxnSp>
      <p:cxnSp>
        <p:nvCxnSpPr>
          <p:cNvPr id="552" name="Google Shape;552;p31"/>
          <p:cNvCxnSpPr>
            <a:endCxn id="553" idx="1"/>
          </p:cNvCxnSpPr>
          <p:nvPr/>
        </p:nvCxnSpPr>
        <p:spPr>
          <a:xfrm>
            <a:off x="5809700" y="3697475"/>
            <a:ext cx="0" cy="306000"/>
          </a:xfrm>
          <a:prstGeom prst="straightConnector1">
            <a:avLst/>
          </a:prstGeom>
          <a:noFill/>
          <a:ln cap="flat" cmpd="sng" w="9525">
            <a:solidFill>
              <a:schemeClr val="dk2"/>
            </a:solidFill>
            <a:prstDash val="solid"/>
            <a:round/>
            <a:headEnd len="med" w="med" type="none"/>
            <a:tailEnd len="med" w="med" type="triangle"/>
          </a:ln>
        </p:spPr>
      </p:cxnSp>
      <p:cxnSp>
        <p:nvCxnSpPr>
          <p:cNvPr id="554" name="Google Shape;554;p31"/>
          <p:cNvCxnSpPr>
            <a:endCxn id="555" idx="1"/>
          </p:cNvCxnSpPr>
          <p:nvPr/>
        </p:nvCxnSpPr>
        <p:spPr>
          <a:xfrm>
            <a:off x="5984600" y="3697475"/>
            <a:ext cx="0" cy="306000"/>
          </a:xfrm>
          <a:prstGeom prst="straightConnector1">
            <a:avLst/>
          </a:prstGeom>
          <a:noFill/>
          <a:ln cap="flat" cmpd="sng" w="9525">
            <a:solidFill>
              <a:schemeClr val="dk2"/>
            </a:solidFill>
            <a:prstDash val="solid"/>
            <a:round/>
            <a:headEnd len="med" w="med" type="none"/>
            <a:tailEnd len="med" w="med" type="triangle"/>
          </a:ln>
        </p:spPr>
      </p:cxnSp>
      <p:cxnSp>
        <p:nvCxnSpPr>
          <p:cNvPr id="556" name="Google Shape;556;p31"/>
          <p:cNvCxnSpPr>
            <a:endCxn id="557" idx="1"/>
          </p:cNvCxnSpPr>
          <p:nvPr/>
        </p:nvCxnSpPr>
        <p:spPr>
          <a:xfrm>
            <a:off x="6159500" y="3697475"/>
            <a:ext cx="0" cy="306000"/>
          </a:xfrm>
          <a:prstGeom prst="straightConnector1">
            <a:avLst/>
          </a:prstGeom>
          <a:noFill/>
          <a:ln cap="flat" cmpd="sng" w="9525">
            <a:solidFill>
              <a:schemeClr val="dk2"/>
            </a:solidFill>
            <a:prstDash val="solid"/>
            <a:round/>
            <a:headEnd len="med" w="med" type="none"/>
            <a:tailEnd len="med" w="med" type="triangle"/>
          </a:ln>
        </p:spPr>
      </p:cxnSp>
      <p:cxnSp>
        <p:nvCxnSpPr>
          <p:cNvPr id="558" name="Google Shape;558;p31"/>
          <p:cNvCxnSpPr>
            <a:endCxn id="559" idx="1"/>
          </p:cNvCxnSpPr>
          <p:nvPr/>
        </p:nvCxnSpPr>
        <p:spPr>
          <a:xfrm>
            <a:off x="5285000" y="3697475"/>
            <a:ext cx="0" cy="306000"/>
          </a:xfrm>
          <a:prstGeom prst="straightConnector1">
            <a:avLst/>
          </a:prstGeom>
          <a:noFill/>
          <a:ln cap="flat" cmpd="sng" w="9525">
            <a:solidFill>
              <a:schemeClr val="dk2"/>
            </a:solidFill>
            <a:prstDash val="solid"/>
            <a:round/>
            <a:headEnd len="med" w="med" type="none"/>
            <a:tailEnd len="med" w="med" type="triangle"/>
          </a:ln>
        </p:spPr>
      </p:cxnSp>
      <p:cxnSp>
        <p:nvCxnSpPr>
          <p:cNvPr id="560" name="Google Shape;560;p31"/>
          <p:cNvCxnSpPr>
            <a:endCxn id="561" idx="1"/>
          </p:cNvCxnSpPr>
          <p:nvPr/>
        </p:nvCxnSpPr>
        <p:spPr>
          <a:xfrm>
            <a:off x="5110100" y="3697475"/>
            <a:ext cx="0" cy="306000"/>
          </a:xfrm>
          <a:prstGeom prst="straightConnector1">
            <a:avLst/>
          </a:prstGeom>
          <a:noFill/>
          <a:ln cap="flat" cmpd="sng" w="9525">
            <a:solidFill>
              <a:schemeClr val="dk2"/>
            </a:solidFill>
            <a:prstDash val="solid"/>
            <a:round/>
            <a:headEnd len="med" w="med" type="none"/>
            <a:tailEnd len="med" w="med" type="triangle"/>
          </a:ln>
        </p:spPr>
      </p:cxnSp>
      <p:cxnSp>
        <p:nvCxnSpPr>
          <p:cNvPr id="562" name="Google Shape;562;p31"/>
          <p:cNvCxnSpPr>
            <a:endCxn id="563" idx="1"/>
          </p:cNvCxnSpPr>
          <p:nvPr/>
        </p:nvCxnSpPr>
        <p:spPr>
          <a:xfrm>
            <a:off x="4935200" y="3697475"/>
            <a:ext cx="0" cy="306000"/>
          </a:xfrm>
          <a:prstGeom prst="straightConnector1">
            <a:avLst/>
          </a:prstGeom>
          <a:noFill/>
          <a:ln cap="flat" cmpd="sng" w="9525">
            <a:solidFill>
              <a:schemeClr val="dk2"/>
            </a:solidFill>
            <a:prstDash val="solid"/>
            <a:round/>
            <a:headEnd len="med" w="med" type="none"/>
            <a:tailEnd len="med" w="med" type="triangle"/>
          </a:ln>
        </p:spPr>
      </p:cxnSp>
      <p:cxnSp>
        <p:nvCxnSpPr>
          <p:cNvPr id="564" name="Google Shape;564;p31"/>
          <p:cNvCxnSpPr>
            <a:endCxn id="565" idx="1"/>
          </p:cNvCxnSpPr>
          <p:nvPr/>
        </p:nvCxnSpPr>
        <p:spPr>
          <a:xfrm>
            <a:off x="4760300" y="3697475"/>
            <a:ext cx="0" cy="306000"/>
          </a:xfrm>
          <a:prstGeom prst="straightConnector1">
            <a:avLst/>
          </a:prstGeom>
          <a:noFill/>
          <a:ln cap="flat" cmpd="sng" w="9525">
            <a:solidFill>
              <a:schemeClr val="dk2"/>
            </a:solidFill>
            <a:prstDash val="solid"/>
            <a:round/>
            <a:headEnd len="med" w="med" type="none"/>
            <a:tailEnd len="med" w="med" type="triangle"/>
          </a:ln>
        </p:spPr>
      </p:cxnSp>
      <p:sp>
        <p:nvSpPr>
          <p:cNvPr id="566" name="Google Shape;566;p31"/>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TCP Sequence Numbers</a:t>
            </a:r>
            <a:endParaRPr/>
          </a:p>
        </p:txBody>
      </p:sp>
      <p:sp>
        <p:nvSpPr>
          <p:cNvPr id="567" name="Google Shape;567;p31"/>
          <p:cNvSpPr txBox="1"/>
          <p:nvPr>
            <p:ph idx="1" type="body"/>
          </p:nvPr>
        </p:nvSpPr>
        <p:spPr>
          <a:xfrm>
            <a:off x="107050" y="402200"/>
            <a:ext cx="8909700" cy="10260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The sequence number of a segment is the number of the </a:t>
            </a:r>
            <a:r>
              <a:rPr i="1" lang="en"/>
              <a:t>first byte</a:t>
            </a:r>
            <a:r>
              <a:rPr lang="en"/>
              <a:t> in the segment.</a:t>
            </a:r>
            <a:endParaRPr/>
          </a:p>
          <a:p>
            <a:pPr indent="0" lvl="0" marL="0" rtl="0" algn="l">
              <a:spcBef>
                <a:spcPts val="600"/>
              </a:spcBef>
              <a:spcAft>
                <a:spcPts val="0"/>
              </a:spcAft>
              <a:buNone/>
            </a:pPr>
            <a:r>
              <a:rPr lang="en"/>
              <a:t>Example: In the segment below, the sequence number is </a:t>
            </a:r>
            <a:r>
              <a:rPr i="1" lang="en">
                <a:solidFill>
                  <a:schemeClr val="accent2"/>
                </a:solidFill>
              </a:rPr>
              <a:t>ISN</a:t>
            </a:r>
            <a:r>
              <a:rPr lang="en">
                <a:solidFill>
                  <a:schemeClr val="accent2"/>
                </a:solidFill>
              </a:rPr>
              <a:t> + 140</a:t>
            </a:r>
            <a:r>
              <a:rPr lang="en"/>
              <a:t>.</a:t>
            </a:r>
            <a:endParaRPr/>
          </a:p>
        </p:txBody>
      </p:sp>
      <p:sp>
        <p:nvSpPr>
          <p:cNvPr id="568" name="Google Shape;568;p31"/>
          <p:cNvSpPr/>
          <p:nvPr/>
        </p:nvSpPr>
        <p:spPr>
          <a:xfrm rot="5400000">
            <a:off x="12822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ISN + 1</a:t>
            </a:r>
            <a:endParaRPr sz="1000">
              <a:latin typeface="Roboto"/>
              <a:ea typeface="Roboto"/>
              <a:cs typeface="Roboto"/>
              <a:sym typeface="Roboto"/>
            </a:endParaRPr>
          </a:p>
        </p:txBody>
      </p:sp>
      <p:sp>
        <p:nvSpPr>
          <p:cNvPr id="569" name="Google Shape;569;p31"/>
          <p:cNvSpPr/>
          <p:nvPr/>
        </p:nvSpPr>
        <p:spPr>
          <a:xfrm rot="5400000">
            <a:off x="14571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ISN + 2</a:t>
            </a:r>
            <a:endParaRPr sz="1000">
              <a:latin typeface="Roboto"/>
              <a:ea typeface="Roboto"/>
              <a:cs typeface="Roboto"/>
              <a:sym typeface="Roboto"/>
            </a:endParaRPr>
          </a:p>
        </p:txBody>
      </p:sp>
      <p:sp>
        <p:nvSpPr>
          <p:cNvPr id="570" name="Google Shape;570;p31"/>
          <p:cNvSpPr/>
          <p:nvPr/>
        </p:nvSpPr>
        <p:spPr>
          <a:xfrm rot="5400000">
            <a:off x="16320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ISN + 3</a:t>
            </a:r>
            <a:endParaRPr sz="1000">
              <a:latin typeface="Roboto"/>
              <a:ea typeface="Roboto"/>
              <a:cs typeface="Roboto"/>
              <a:sym typeface="Roboto"/>
            </a:endParaRPr>
          </a:p>
        </p:txBody>
      </p:sp>
      <p:sp>
        <p:nvSpPr>
          <p:cNvPr id="571" name="Google Shape;571;p31"/>
          <p:cNvSpPr/>
          <p:nvPr/>
        </p:nvSpPr>
        <p:spPr>
          <a:xfrm rot="5400000">
            <a:off x="18069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ISN + 4</a:t>
            </a:r>
            <a:endParaRPr sz="1000">
              <a:latin typeface="Roboto"/>
              <a:ea typeface="Roboto"/>
              <a:cs typeface="Roboto"/>
              <a:sym typeface="Roboto"/>
            </a:endParaRPr>
          </a:p>
        </p:txBody>
      </p:sp>
      <p:sp>
        <p:nvSpPr>
          <p:cNvPr id="572" name="Google Shape;572;p31"/>
          <p:cNvSpPr/>
          <p:nvPr/>
        </p:nvSpPr>
        <p:spPr>
          <a:xfrm rot="5400000">
            <a:off x="19818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73" name="Google Shape;573;p31"/>
          <p:cNvSpPr/>
          <p:nvPr/>
        </p:nvSpPr>
        <p:spPr>
          <a:xfrm rot="5400000">
            <a:off x="21567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74" name="Google Shape;574;p31"/>
          <p:cNvSpPr/>
          <p:nvPr/>
        </p:nvSpPr>
        <p:spPr>
          <a:xfrm rot="5400000">
            <a:off x="23316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75" name="Google Shape;575;p31"/>
          <p:cNvSpPr/>
          <p:nvPr/>
        </p:nvSpPr>
        <p:spPr>
          <a:xfrm rot="5400000">
            <a:off x="25065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ISN + 79</a:t>
            </a:r>
            <a:endParaRPr sz="1000">
              <a:latin typeface="Roboto"/>
              <a:ea typeface="Roboto"/>
              <a:cs typeface="Roboto"/>
              <a:sym typeface="Roboto"/>
            </a:endParaRPr>
          </a:p>
        </p:txBody>
      </p:sp>
      <p:sp>
        <p:nvSpPr>
          <p:cNvPr id="576" name="Google Shape;576;p31"/>
          <p:cNvSpPr/>
          <p:nvPr/>
        </p:nvSpPr>
        <p:spPr>
          <a:xfrm rot="5400000">
            <a:off x="26814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ISN + 80</a:t>
            </a:r>
            <a:endParaRPr sz="1000">
              <a:latin typeface="Roboto"/>
              <a:ea typeface="Roboto"/>
              <a:cs typeface="Roboto"/>
              <a:sym typeface="Roboto"/>
            </a:endParaRPr>
          </a:p>
        </p:txBody>
      </p:sp>
      <p:sp>
        <p:nvSpPr>
          <p:cNvPr id="577" name="Google Shape;577;p31"/>
          <p:cNvSpPr/>
          <p:nvPr/>
        </p:nvSpPr>
        <p:spPr>
          <a:xfrm rot="5400000">
            <a:off x="28563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78" name="Google Shape;578;p31"/>
          <p:cNvSpPr/>
          <p:nvPr/>
        </p:nvSpPr>
        <p:spPr>
          <a:xfrm rot="5400000">
            <a:off x="30312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79" name="Google Shape;579;p31"/>
          <p:cNvSpPr/>
          <p:nvPr/>
        </p:nvSpPr>
        <p:spPr>
          <a:xfrm rot="5400000">
            <a:off x="32061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80" name="Google Shape;580;p31"/>
          <p:cNvSpPr/>
          <p:nvPr/>
        </p:nvSpPr>
        <p:spPr>
          <a:xfrm rot="5400000">
            <a:off x="33810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81" name="Google Shape;581;p31"/>
          <p:cNvSpPr/>
          <p:nvPr/>
        </p:nvSpPr>
        <p:spPr>
          <a:xfrm rot="5400000">
            <a:off x="35559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82" name="Google Shape;582;p31"/>
          <p:cNvSpPr/>
          <p:nvPr/>
        </p:nvSpPr>
        <p:spPr>
          <a:xfrm rot="5400000">
            <a:off x="37308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83" name="Google Shape;583;p31"/>
          <p:cNvSpPr/>
          <p:nvPr/>
        </p:nvSpPr>
        <p:spPr>
          <a:xfrm rot="5400000">
            <a:off x="39057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84" name="Google Shape;584;p31"/>
          <p:cNvSpPr/>
          <p:nvPr/>
        </p:nvSpPr>
        <p:spPr>
          <a:xfrm rot="5400000">
            <a:off x="40806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chemeClr val="accent2"/>
                </a:solidFill>
                <a:latin typeface="Roboto"/>
                <a:ea typeface="Roboto"/>
                <a:cs typeface="Roboto"/>
                <a:sym typeface="Roboto"/>
              </a:rPr>
              <a:t>ISN+140</a:t>
            </a:r>
            <a:endParaRPr sz="1000">
              <a:solidFill>
                <a:schemeClr val="accent2"/>
              </a:solidFill>
              <a:latin typeface="Roboto"/>
              <a:ea typeface="Roboto"/>
              <a:cs typeface="Roboto"/>
              <a:sym typeface="Roboto"/>
            </a:endParaRPr>
          </a:p>
        </p:txBody>
      </p:sp>
      <p:sp>
        <p:nvSpPr>
          <p:cNvPr id="585" name="Google Shape;585;p31"/>
          <p:cNvSpPr/>
          <p:nvPr/>
        </p:nvSpPr>
        <p:spPr>
          <a:xfrm rot="5400000">
            <a:off x="42555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ISN+141</a:t>
            </a:r>
            <a:endParaRPr sz="1000">
              <a:latin typeface="Roboto"/>
              <a:ea typeface="Roboto"/>
              <a:cs typeface="Roboto"/>
              <a:sym typeface="Roboto"/>
            </a:endParaRPr>
          </a:p>
        </p:txBody>
      </p:sp>
      <p:sp>
        <p:nvSpPr>
          <p:cNvPr id="586" name="Google Shape;586;p31"/>
          <p:cNvSpPr/>
          <p:nvPr/>
        </p:nvSpPr>
        <p:spPr>
          <a:xfrm rot="5400000">
            <a:off x="44304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 sz="1000">
                <a:solidFill>
                  <a:schemeClr val="dk1"/>
                </a:solidFill>
                <a:latin typeface="Roboto"/>
                <a:ea typeface="Roboto"/>
                <a:cs typeface="Roboto"/>
                <a:sym typeface="Roboto"/>
              </a:rPr>
              <a:t>ISN+142</a:t>
            </a:r>
            <a:endParaRPr sz="1000">
              <a:latin typeface="Roboto"/>
              <a:ea typeface="Roboto"/>
              <a:cs typeface="Roboto"/>
              <a:sym typeface="Roboto"/>
            </a:endParaRPr>
          </a:p>
        </p:txBody>
      </p:sp>
      <p:sp>
        <p:nvSpPr>
          <p:cNvPr id="587" name="Google Shape;587;p31"/>
          <p:cNvSpPr/>
          <p:nvPr/>
        </p:nvSpPr>
        <p:spPr>
          <a:xfrm rot="5400000">
            <a:off x="46053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 sz="1000">
                <a:solidFill>
                  <a:schemeClr val="dk1"/>
                </a:solidFill>
                <a:latin typeface="Roboto"/>
                <a:ea typeface="Roboto"/>
                <a:cs typeface="Roboto"/>
                <a:sym typeface="Roboto"/>
              </a:rPr>
              <a:t>ISN+143</a:t>
            </a:r>
            <a:endParaRPr sz="1000">
              <a:latin typeface="Roboto"/>
              <a:ea typeface="Roboto"/>
              <a:cs typeface="Roboto"/>
              <a:sym typeface="Roboto"/>
            </a:endParaRPr>
          </a:p>
        </p:txBody>
      </p:sp>
      <p:sp>
        <p:nvSpPr>
          <p:cNvPr id="588" name="Google Shape;588;p31"/>
          <p:cNvSpPr/>
          <p:nvPr/>
        </p:nvSpPr>
        <p:spPr>
          <a:xfrm rot="5400000">
            <a:off x="47802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89" name="Google Shape;589;p31"/>
          <p:cNvSpPr/>
          <p:nvPr/>
        </p:nvSpPr>
        <p:spPr>
          <a:xfrm rot="5400000">
            <a:off x="49551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90" name="Google Shape;590;p31"/>
          <p:cNvSpPr/>
          <p:nvPr/>
        </p:nvSpPr>
        <p:spPr>
          <a:xfrm rot="5400000">
            <a:off x="51300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91" name="Google Shape;591;p31"/>
          <p:cNvSpPr/>
          <p:nvPr/>
        </p:nvSpPr>
        <p:spPr>
          <a:xfrm rot="5400000">
            <a:off x="53049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 sz="1000">
                <a:solidFill>
                  <a:schemeClr val="dk1"/>
                </a:solidFill>
                <a:latin typeface="Roboto"/>
                <a:ea typeface="Roboto"/>
                <a:cs typeface="Roboto"/>
                <a:sym typeface="Roboto"/>
              </a:rPr>
              <a:t>ISN+218</a:t>
            </a:r>
            <a:endParaRPr sz="1000">
              <a:latin typeface="Roboto"/>
              <a:ea typeface="Roboto"/>
              <a:cs typeface="Roboto"/>
              <a:sym typeface="Roboto"/>
            </a:endParaRPr>
          </a:p>
        </p:txBody>
      </p:sp>
      <p:sp>
        <p:nvSpPr>
          <p:cNvPr id="592" name="Google Shape;592;p31"/>
          <p:cNvSpPr/>
          <p:nvPr/>
        </p:nvSpPr>
        <p:spPr>
          <a:xfrm rot="5400000">
            <a:off x="54798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ISN+219</a:t>
            </a:r>
            <a:endParaRPr sz="1000">
              <a:latin typeface="Roboto"/>
              <a:ea typeface="Roboto"/>
              <a:cs typeface="Roboto"/>
              <a:sym typeface="Roboto"/>
            </a:endParaRPr>
          </a:p>
        </p:txBody>
      </p:sp>
      <p:sp>
        <p:nvSpPr>
          <p:cNvPr id="593" name="Google Shape;593;p31"/>
          <p:cNvSpPr/>
          <p:nvPr/>
        </p:nvSpPr>
        <p:spPr>
          <a:xfrm rot="5400000">
            <a:off x="56547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94" name="Google Shape;594;p31"/>
          <p:cNvSpPr/>
          <p:nvPr/>
        </p:nvSpPr>
        <p:spPr>
          <a:xfrm rot="5400000">
            <a:off x="58296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95" name="Google Shape;595;p31"/>
          <p:cNvSpPr/>
          <p:nvPr/>
        </p:nvSpPr>
        <p:spPr>
          <a:xfrm rot="5400000">
            <a:off x="60045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96" name="Google Shape;596;p31"/>
          <p:cNvSpPr/>
          <p:nvPr/>
        </p:nvSpPr>
        <p:spPr>
          <a:xfrm rot="5400000">
            <a:off x="61794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97" name="Google Shape;597;p31"/>
          <p:cNvSpPr/>
          <p:nvPr/>
        </p:nvSpPr>
        <p:spPr>
          <a:xfrm rot="5400000">
            <a:off x="63543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98" name="Google Shape;598;p31"/>
          <p:cNvSpPr/>
          <p:nvPr/>
        </p:nvSpPr>
        <p:spPr>
          <a:xfrm rot="5400000">
            <a:off x="65292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99" name="Google Shape;599;p31"/>
          <p:cNvSpPr/>
          <p:nvPr/>
        </p:nvSpPr>
        <p:spPr>
          <a:xfrm rot="5400000">
            <a:off x="67041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00" name="Google Shape;600;p31"/>
          <p:cNvSpPr/>
          <p:nvPr/>
        </p:nvSpPr>
        <p:spPr>
          <a:xfrm rot="5400000">
            <a:off x="68790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01" name="Google Shape;601;p31"/>
          <p:cNvSpPr/>
          <p:nvPr/>
        </p:nvSpPr>
        <p:spPr>
          <a:xfrm rot="5400000">
            <a:off x="7053950" y="2030975"/>
            <a:ext cx="722100" cy="174900"/>
          </a:xfrm>
          <a:prstGeom prst="rect">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02" name="Google Shape;602;p31"/>
          <p:cNvSpPr/>
          <p:nvPr/>
        </p:nvSpPr>
        <p:spPr>
          <a:xfrm rot="5400000">
            <a:off x="7228850" y="2030975"/>
            <a:ext cx="722100" cy="174900"/>
          </a:xfrm>
          <a:prstGeom prst="rect">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03" name="Google Shape;603;p31"/>
          <p:cNvSpPr/>
          <p:nvPr/>
        </p:nvSpPr>
        <p:spPr>
          <a:xfrm rot="5400000">
            <a:off x="7403750" y="2030975"/>
            <a:ext cx="722100" cy="174900"/>
          </a:xfrm>
          <a:prstGeom prst="rect">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04" name="Google Shape;604;p31"/>
          <p:cNvSpPr/>
          <p:nvPr/>
        </p:nvSpPr>
        <p:spPr>
          <a:xfrm>
            <a:off x="4354250" y="2784269"/>
            <a:ext cx="1574100" cy="310500"/>
          </a:xfrm>
          <a:prstGeom prst="rect">
            <a:avLst/>
          </a:prstGeom>
          <a:solidFill>
            <a:srgbClr val="D9D9D9"/>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TCP Segment</a:t>
            </a:r>
            <a:endParaRPr>
              <a:latin typeface="Roboto"/>
              <a:ea typeface="Roboto"/>
              <a:cs typeface="Roboto"/>
              <a:sym typeface="Roboto"/>
            </a:endParaRPr>
          </a:p>
        </p:txBody>
      </p:sp>
      <p:sp>
        <p:nvSpPr>
          <p:cNvPr id="605" name="Google Shape;605;p31"/>
          <p:cNvSpPr/>
          <p:nvPr/>
        </p:nvSpPr>
        <p:spPr>
          <a:xfrm rot="5400000">
            <a:off x="16008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ISN + 1</a:t>
            </a:r>
            <a:endParaRPr sz="1000">
              <a:latin typeface="Roboto"/>
              <a:ea typeface="Roboto"/>
              <a:cs typeface="Roboto"/>
              <a:sym typeface="Roboto"/>
            </a:endParaRPr>
          </a:p>
        </p:txBody>
      </p:sp>
      <p:sp>
        <p:nvSpPr>
          <p:cNvPr id="606" name="Google Shape;606;p31"/>
          <p:cNvSpPr/>
          <p:nvPr/>
        </p:nvSpPr>
        <p:spPr>
          <a:xfrm rot="5400000">
            <a:off x="17757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ISN + 2</a:t>
            </a:r>
            <a:endParaRPr sz="1000">
              <a:latin typeface="Roboto"/>
              <a:ea typeface="Roboto"/>
              <a:cs typeface="Roboto"/>
              <a:sym typeface="Roboto"/>
            </a:endParaRPr>
          </a:p>
        </p:txBody>
      </p:sp>
      <p:sp>
        <p:nvSpPr>
          <p:cNvPr id="607" name="Google Shape;607;p31"/>
          <p:cNvSpPr/>
          <p:nvPr/>
        </p:nvSpPr>
        <p:spPr>
          <a:xfrm rot="5400000">
            <a:off x="19506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ISN + 3</a:t>
            </a:r>
            <a:endParaRPr sz="1000">
              <a:latin typeface="Roboto"/>
              <a:ea typeface="Roboto"/>
              <a:cs typeface="Roboto"/>
              <a:sym typeface="Roboto"/>
            </a:endParaRPr>
          </a:p>
        </p:txBody>
      </p:sp>
      <p:sp>
        <p:nvSpPr>
          <p:cNvPr id="608" name="Google Shape;608;p31"/>
          <p:cNvSpPr/>
          <p:nvPr/>
        </p:nvSpPr>
        <p:spPr>
          <a:xfrm rot="5400000">
            <a:off x="21255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ISN + 4</a:t>
            </a:r>
            <a:endParaRPr sz="1000">
              <a:latin typeface="Roboto"/>
              <a:ea typeface="Roboto"/>
              <a:cs typeface="Roboto"/>
              <a:sym typeface="Roboto"/>
            </a:endParaRPr>
          </a:p>
        </p:txBody>
      </p:sp>
      <p:sp>
        <p:nvSpPr>
          <p:cNvPr id="609" name="Google Shape;609;p31"/>
          <p:cNvSpPr/>
          <p:nvPr/>
        </p:nvSpPr>
        <p:spPr>
          <a:xfrm rot="5400000">
            <a:off x="23004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10" name="Google Shape;610;p31"/>
          <p:cNvSpPr/>
          <p:nvPr/>
        </p:nvSpPr>
        <p:spPr>
          <a:xfrm rot="5400000">
            <a:off x="24753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11" name="Google Shape;611;p31"/>
          <p:cNvSpPr/>
          <p:nvPr/>
        </p:nvSpPr>
        <p:spPr>
          <a:xfrm rot="5400000">
            <a:off x="26502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12" name="Google Shape;612;p31"/>
          <p:cNvSpPr/>
          <p:nvPr/>
        </p:nvSpPr>
        <p:spPr>
          <a:xfrm rot="5400000">
            <a:off x="28251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ISN + 79</a:t>
            </a:r>
            <a:endParaRPr sz="1000">
              <a:latin typeface="Roboto"/>
              <a:ea typeface="Roboto"/>
              <a:cs typeface="Roboto"/>
              <a:sym typeface="Roboto"/>
            </a:endParaRPr>
          </a:p>
        </p:txBody>
      </p:sp>
      <p:sp>
        <p:nvSpPr>
          <p:cNvPr id="613" name="Google Shape;613;p31"/>
          <p:cNvSpPr/>
          <p:nvPr/>
        </p:nvSpPr>
        <p:spPr>
          <a:xfrm rot="5400000">
            <a:off x="30000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ISN + 80</a:t>
            </a:r>
            <a:endParaRPr sz="1000">
              <a:latin typeface="Roboto"/>
              <a:ea typeface="Roboto"/>
              <a:cs typeface="Roboto"/>
              <a:sym typeface="Roboto"/>
            </a:endParaRPr>
          </a:p>
        </p:txBody>
      </p:sp>
      <p:sp>
        <p:nvSpPr>
          <p:cNvPr id="614" name="Google Shape;614;p31"/>
          <p:cNvSpPr/>
          <p:nvPr/>
        </p:nvSpPr>
        <p:spPr>
          <a:xfrm rot="5400000">
            <a:off x="31749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15" name="Google Shape;615;p31"/>
          <p:cNvSpPr/>
          <p:nvPr/>
        </p:nvSpPr>
        <p:spPr>
          <a:xfrm rot="5400000">
            <a:off x="33498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16" name="Google Shape;616;p31"/>
          <p:cNvSpPr/>
          <p:nvPr/>
        </p:nvSpPr>
        <p:spPr>
          <a:xfrm rot="5400000">
            <a:off x="35247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17" name="Google Shape;617;p31"/>
          <p:cNvSpPr/>
          <p:nvPr/>
        </p:nvSpPr>
        <p:spPr>
          <a:xfrm rot="5400000">
            <a:off x="36996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18" name="Google Shape;618;p31"/>
          <p:cNvSpPr/>
          <p:nvPr/>
        </p:nvSpPr>
        <p:spPr>
          <a:xfrm rot="5400000">
            <a:off x="38745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19" name="Google Shape;619;p31"/>
          <p:cNvSpPr/>
          <p:nvPr/>
        </p:nvSpPr>
        <p:spPr>
          <a:xfrm rot="5400000">
            <a:off x="40494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0" name="Google Shape;620;p31"/>
          <p:cNvSpPr/>
          <p:nvPr/>
        </p:nvSpPr>
        <p:spPr>
          <a:xfrm rot="5400000">
            <a:off x="42243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65" name="Google Shape;565;p31"/>
          <p:cNvSpPr/>
          <p:nvPr/>
        </p:nvSpPr>
        <p:spPr>
          <a:xfrm rot="5400000">
            <a:off x="43992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chemeClr val="accent2"/>
                </a:solidFill>
                <a:latin typeface="Roboto"/>
                <a:ea typeface="Roboto"/>
                <a:cs typeface="Roboto"/>
                <a:sym typeface="Roboto"/>
              </a:rPr>
              <a:t>ISN+140</a:t>
            </a:r>
            <a:endParaRPr sz="1000">
              <a:latin typeface="Roboto"/>
              <a:ea typeface="Roboto"/>
              <a:cs typeface="Roboto"/>
              <a:sym typeface="Roboto"/>
            </a:endParaRPr>
          </a:p>
        </p:txBody>
      </p:sp>
      <p:sp>
        <p:nvSpPr>
          <p:cNvPr id="563" name="Google Shape;563;p31"/>
          <p:cNvSpPr/>
          <p:nvPr/>
        </p:nvSpPr>
        <p:spPr>
          <a:xfrm rot="5400000">
            <a:off x="45741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ISN+141</a:t>
            </a:r>
            <a:endParaRPr sz="1000">
              <a:latin typeface="Roboto"/>
              <a:ea typeface="Roboto"/>
              <a:cs typeface="Roboto"/>
              <a:sym typeface="Roboto"/>
            </a:endParaRPr>
          </a:p>
        </p:txBody>
      </p:sp>
      <p:sp>
        <p:nvSpPr>
          <p:cNvPr id="561" name="Google Shape;561;p31"/>
          <p:cNvSpPr/>
          <p:nvPr/>
        </p:nvSpPr>
        <p:spPr>
          <a:xfrm rot="5400000">
            <a:off x="47490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 sz="1000">
                <a:solidFill>
                  <a:schemeClr val="dk1"/>
                </a:solidFill>
                <a:latin typeface="Roboto"/>
                <a:ea typeface="Roboto"/>
                <a:cs typeface="Roboto"/>
                <a:sym typeface="Roboto"/>
              </a:rPr>
              <a:t>ISN+142</a:t>
            </a:r>
            <a:endParaRPr sz="1000">
              <a:latin typeface="Roboto"/>
              <a:ea typeface="Roboto"/>
              <a:cs typeface="Roboto"/>
              <a:sym typeface="Roboto"/>
            </a:endParaRPr>
          </a:p>
        </p:txBody>
      </p:sp>
      <p:sp>
        <p:nvSpPr>
          <p:cNvPr id="559" name="Google Shape;559;p31"/>
          <p:cNvSpPr/>
          <p:nvPr/>
        </p:nvSpPr>
        <p:spPr>
          <a:xfrm rot="5400000">
            <a:off x="49239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 sz="1000">
                <a:solidFill>
                  <a:schemeClr val="dk1"/>
                </a:solidFill>
                <a:latin typeface="Roboto"/>
                <a:ea typeface="Roboto"/>
                <a:cs typeface="Roboto"/>
                <a:sym typeface="Roboto"/>
              </a:rPr>
              <a:t>ISN+143</a:t>
            </a:r>
            <a:endParaRPr sz="1000">
              <a:latin typeface="Roboto"/>
              <a:ea typeface="Roboto"/>
              <a:cs typeface="Roboto"/>
              <a:sym typeface="Roboto"/>
            </a:endParaRPr>
          </a:p>
        </p:txBody>
      </p:sp>
      <p:sp>
        <p:nvSpPr>
          <p:cNvPr id="549" name="Google Shape;549;p31"/>
          <p:cNvSpPr/>
          <p:nvPr/>
        </p:nvSpPr>
        <p:spPr>
          <a:xfrm rot="5400000">
            <a:off x="50988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51" name="Google Shape;551;p31"/>
          <p:cNvSpPr/>
          <p:nvPr/>
        </p:nvSpPr>
        <p:spPr>
          <a:xfrm rot="5400000">
            <a:off x="52737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53" name="Google Shape;553;p31"/>
          <p:cNvSpPr/>
          <p:nvPr/>
        </p:nvSpPr>
        <p:spPr>
          <a:xfrm rot="5400000">
            <a:off x="54486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55" name="Google Shape;555;p31"/>
          <p:cNvSpPr/>
          <p:nvPr/>
        </p:nvSpPr>
        <p:spPr>
          <a:xfrm rot="5400000">
            <a:off x="56235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 sz="1000">
                <a:solidFill>
                  <a:schemeClr val="dk1"/>
                </a:solidFill>
                <a:latin typeface="Roboto"/>
                <a:ea typeface="Roboto"/>
                <a:cs typeface="Roboto"/>
                <a:sym typeface="Roboto"/>
              </a:rPr>
              <a:t>ISN+218</a:t>
            </a:r>
            <a:endParaRPr sz="1000">
              <a:latin typeface="Roboto"/>
              <a:ea typeface="Roboto"/>
              <a:cs typeface="Roboto"/>
              <a:sym typeface="Roboto"/>
            </a:endParaRPr>
          </a:p>
        </p:txBody>
      </p:sp>
      <p:sp>
        <p:nvSpPr>
          <p:cNvPr id="557" name="Google Shape;557;p31"/>
          <p:cNvSpPr/>
          <p:nvPr/>
        </p:nvSpPr>
        <p:spPr>
          <a:xfrm rot="5400000">
            <a:off x="57984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 sz="1000">
                <a:solidFill>
                  <a:schemeClr val="dk1"/>
                </a:solidFill>
                <a:latin typeface="Roboto"/>
                <a:ea typeface="Roboto"/>
                <a:cs typeface="Roboto"/>
                <a:sym typeface="Roboto"/>
              </a:rPr>
              <a:t>ISN+219</a:t>
            </a:r>
            <a:endParaRPr sz="1000">
              <a:latin typeface="Roboto"/>
              <a:ea typeface="Roboto"/>
              <a:cs typeface="Roboto"/>
              <a:sym typeface="Roboto"/>
            </a:endParaRPr>
          </a:p>
        </p:txBody>
      </p:sp>
      <p:sp>
        <p:nvSpPr>
          <p:cNvPr id="621" name="Google Shape;621;p31"/>
          <p:cNvSpPr/>
          <p:nvPr/>
        </p:nvSpPr>
        <p:spPr>
          <a:xfrm rot="5400000">
            <a:off x="59733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2" name="Google Shape;622;p31"/>
          <p:cNvSpPr/>
          <p:nvPr/>
        </p:nvSpPr>
        <p:spPr>
          <a:xfrm rot="5400000">
            <a:off x="61482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3" name="Google Shape;623;p31"/>
          <p:cNvSpPr/>
          <p:nvPr/>
        </p:nvSpPr>
        <p:spPr>
          <a:xfrm rot="5400000">
            <a:off x="63231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4" name="Google Shape;624;p31"/>
          <p:cNvSpPr/>
          <p:nvPr/>
        </p:nvSpPr>
        <p:spPr>
          <a:xfrm rot="5400000">
            <a:off x="64980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5" name="Google Shape;625;p31"/>
          <p:cNvSpPr/>
          <p:nvPr/>
        </p:nvSpPr>
        <p:spPr>
          <a:xfrm rot="5400000">
            <a:off x="66729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6" name="Google Shape;626;p31"/>
          <p:cNvSpPr/>
          <p:nvPr/>
        </p:nvSpPr>
        <p:spPr>
          <a:xfrm rot="5400000">
            <a:off x="68478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7" name="Google Shape;627;p31"/>
          <p:cNvSpPr/>
          <p:nvPr/>
        </p:nvSpPr>
        <p:spPr>
          <a:xfrm rot="5400000">
            <a:off x="70227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8" name="Google Shape;628;p31"/>
          <p:cNvSpPr/>
          <p:nvPr/>
        </p:nvSpPr>
        <p:spPr>
          <a:xfrm rot="5400000">
            <a:off x="71976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9" name="Google Shape;629;p31"/>
          <p:cNvSpPr/>
          <p:nvPr/>
        </p:nvSpPr>
        <p:spPr>
          <a:xfrm rot="5400000">
            <a:off x="7372550" y="4277075"/>
            <a:ext cx="722100" cy="174900"/>
          </a:xfrm>
          <a:prstGeom prst="rect">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30" name="Google Shape;630;p31"/>
          <p:cNvSpPr/>
          <p:nvPr/>
        </p:nvSpPr>
        <p:spPr>
          <a:xfrm rot="5400000">
            <a:off x="7547450" y="4277075"/>
            <a:ext cx="722100" cy="174900"/>
          </a:xfrm>
          <a:prstGeom prst="rect">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31" name="Google Shape;631;p31"/>
          <p:cNvSpPr/>
          <p:nvPr/>
        </p:nvSpPr>
        <p:spPr>
          <a:xfrm rot="5400000">
            <a:off x="7722350" y="4277075"/>
            <a:ext cx="722100" cy="174900"/>
          </a:xfrm>
          <a:prstGeom prst="rect">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32" name="Google Shape;632;p31"/>
          <p:cNvSpPr txBox="1"/>
          <p:nvPr/>
        </p:nvSpPr>
        <p:spPr>
          <a:xfrm>
            <a:off x="1874450" y="4725575"/>
            <a:ext cx="2273700" cy="270900"/>
          </a:xfrm>
          <a:prstGeom prst="rect">
            <a:avLst/>
          </a:prstGeom>
          <a:noFill/>
          <a:ln>
            <a:noFill/>
          </a:ln>
        </p:spPr>
        <p:txBody>
          <a:bodyPr anchorCtr="0" anchor="t" bIns="27425" lIns="27425" spcFirstLastPara="1" rIns="27425" wrap="square" tIns="27425">
            <a:spAutoFit/>
          </a:bodyPr>
          <a:lstStyle/>
          <a:p>
            <a:pPr indent="0" lvl="0" marL="0" rtl="0" algn="l">
              <a:spcBef>
                <a:spcPts val="0"/>
              </a:spcBef>
              <a:spcAft>
                <a:spcPts val="0"/>
              </a:spcAft>
              <a:buNone/>
            </a:pPr>
            <a:r>
              <a:rPr lang="en">
                <a:solidFill>
                  <a:schemeClr val="dk1"/>
                </a:solidFill>
                <a:latin typeface="Roboto"/>
                <a:ea typeface="Roboto"/>
                <a:cs typeface="Roboto"/>
                <a:sym typeface="Roboto"/>
              </a:rPr>
              <a:t>Recipient Application</a:t>
            </a:r>
            <a:endParaRPr>
              <a:solidFill>
                <a:schemeClr val="dk1"/>
              </a:solidFill>
              <a:latin typeface="Roboto"/>
              <a:ea typeface="Roboto"/>
              <a:cs typeface="Roboto"/>
              <a:sym typeface="Roboto"/>
            </a:endParaRPr>
          </a:p>
        </p:txBody>
      </p:sp>
      <p:cxnSp>
        <p:nvCxnSpPr>
          <p:cNvPr id="633" name="Google Shape;633;p31"/>
          <p:cNvCxnSpPr>
            <a:endCxn id="604" idx="0"/>
          </p:cNvCxnSpPr>
          <p:nvPr/>
        </p:nvCxnSpPr>
        <p:spPr>
          <a:xfrm>
            <a:off x="5131400" y="2476469"/>
            <a:ext cx="9900" cy="307800"/>
          </a:xfrm>
          <a:prstGeom prst="straightConnector1">
            <a:avLst/>
          </a:prstGeom>
          <a:noFill/>
          <a:ln cap="flat" cmpd="sng" w="9525">
            <a:solidFill>
              <a:schemeClr val="dk2"/>
            </a:solidFill>
            <a:prstDash val="solid"/>
            <a:round/>
            <a:headEnd len="med" w="med" type="none"/>
            <a:tailEnd len="med" w="med" type="triangle"/>
          </a:ln>
        </p:spPr>
      </p:cxnSp>
      <p:cxnSp>
        <p:nvCxnSpPr>
          <p:cNvPr id="634" name="Google Shape;634;p31"/>
          <p:cNvCxnSpPr>
            <a:stCxn id="589" idx="3"/>
          </p:cNvCxnSpPr>
          <p:nvPr/>
        </p:nvCxnSpPr>
        <p:spPr>
          <a:xfrm>
            <a:off x="5316200" y="2479475"/>
            <a:ext cx="0" cy="304800"/>
          </a:xfrm>
          <a:prstGeom prst="straightConnector1">
            <a:avLst/>
          </a:prstGeom>
          <a:noFill/>
          <a:ln cap="flat" cmpd="sng" w="9525">
            <a:solidFill>
              <a:schemeClr val="dk2"/>
            </a:solidFill>
            <a:prstDash val="solid"/>
            <a:round/>
            <a:headEnd len="med" w="med" type="none"/>
            <a:tailEnd len="med" w="med" type="triangle"/>
          </a:ln>
        </p:spPr>
      </p:cxnSp>
      <p:cxnSp>
        <p:nvCxnSpPr>
          <p:cNvPr id="635" name="Google Shape;635;p31"/>
          <p:cNvCxnSpPr>
            <a:stCxn id="590" idx="3"/>
          </p:cNvCxnSpPr>
          <p:nvPr/>
        </p:nvCxnSpPr>
        <p:spPr>
          <a:xfrm>
            <a:off x="5491100" y="2479475"/>
            <a:ext cx="0" cy="304800"/>
          </a:xfrm>
          <a:prstGeom prst="straightConnector1">
            <a:avLst/>
          </a:prstGeom>
          <a:noFill/>
          <a:ln cap="flat" cmpd="sng" w="9525">
            <a:solidFill>
              <a:schemeClr val="dk2"/>
            </a:solidFill>
            <a:prstDash val="solid"/>
            <a:round/>
            <a:headEnd len="med" w="med" type="none"/>
            <a:tailEnd len="med" w="med" type="triangle"/>
          </a:ln>
        </p:spPr>
      </p:cxnSp>
      <p:cxnSp>
        <p:nvCxnSpPr>
          <p:cNvPr id="636" name="Google Shape;636;p31"/>
          <p:cNvCxnSpPr>
            <a:stCxn id="591" idx="3"/>
          </p:cNvCxnSpPr>
          <p:nvPr/>
        </p:nvCxnSpPr>
        <p:spPr>
          <a:xfrm>
            <a:off x="5666000" y="2479475"/>
            <a:ext cx="0" cy="304800"/>
          </a:xfrm>
          <a:prstGeom prst="straightConnector1">
            <a:avLst/>
          </a:prstGeom>
          <a:noFill/>
          <a:ln cap="flat" cmpd="sng" w="9525">
            <a:solidFill>
              <a:schemeClr val="dk2"/>
            </a:solidFill>
            <a:prstDash val="solid"/>
            <a:round/>
            <a:headEnd len="med" w="med" type="none"/>
            <a:tailEnd len="med" w="med" type="triangle"/>
          </a:ln>
        </p:spPr>
      </p:cxnSp>
      <p:cxnSp>
        <p:nvCxnSpPr>
          <p:cNvPr id="637" name="Google Shape;637;p31"/>
          <p:cNvCxnSpPr>
            <a:stCxn id="592" idx="3"/>
          </p:cNvCxnSpPr>
          <p:nvPr/>
        </p:nvCxnSpPr>
        <p:spPr>
          <a:xfrm>
            <a:off x="5840900" y="2479475"/>
            <a:ext cx="0" cy="304800"/>
          </a:xfrm>
          <a:prstGeom prst="straightConnector1">
            <a:avLst/>
          </a:prstGeom>
          <a:noFill/>
          <a:ln cap="flat" cmpd="sng" w="9525">
            <a:solidFill>
              <a:schemeClr val="dk2"/>
            </a:solidFill>
            <a:prstDash val="solid"/>
            <a:round/>
            <a:headEnd len="med" w="med" type="none"/>
            <a:tailEnd len="med" w="med" type="triangle"/>
          </a:ln>
        </p:spPr>
      </p:cxnSp>
      <p:cxnSp>
        <p:nvCxnSpPr>
          <p:cNvPr id="638" name="Google Shape;638;p31"/>
          <p:cNvCxnSpPr>
            <a:stCxn id="587" idx="3"/>
          </p:cNvCxnSpPr>
          <p:nvPr/>
        </p:nvCxnSpPr>
        <p:spPr>
          <a:xfrm>
            <a:off x="4966400" y="2479475"/>
            <a:ext cx="0" cy="304800"/>
          </a:xfrm>
          <a:prstGeom prst="straightConnector1">
            <a:avLst/>
          </a:prstGeom>
          <a:noFill/>
          <a:ln cap="flat" cmpd="sng" w="9525">
            <a:solidFill>
              <a:schemeClr val="dk2"/>
            </a:solidFill>
            <a:prstDash val="solid"/>
            <a:round/>
            <a:headEnd len="med" w="med" type="none"/>
            <a:tailEnd len="med" w="med" type="triangle"/>
          </a:ln>
        </p:spPr>
      </p:cxnSp>
      <p:cxnSp>
        <p:nvCxnSpPr>
          <p:cNvPr id="639" name="Google Shape;639;p31"/>
          <p:cNvCxnSpPr>
            <a:stCxn id="586" idx="3"/>
          </p:cNvCxnSpPr>
          <p:nvPr/>
        </p:nvCxnSpPr>
        <p:spPr>
          <a:xfrm>
            <a:off x="4791500" y="2479475"/>
            <a:ext cx="0" cy="304800"/>
          </a:xfrm>
          <a:prstGeom prst="straightConnector1">
            <a:avLst/>
          </a:prstGeom>
          <a:noFill/>
          <a:ln cap="flat" cmpd="sng" w="9525">
            <a:solidFill>
              <a:schemeClr val="dk2"/>
            </a:solidFill>
            <a:prstDash val="solid"/>
            <a:round/>
            <a:headEnd len="med" w="med" type="none"/>
            <a:tailEnd len="med" w="med" type="triangle"/>
          </a:ln>
        </p:spPr>
      </p:cxnSp>
      <p:cxnSp>
        <p:nvCxnSpPr>
          <p:cNvPr id="640" name="Google Shape;640;p31"/>
          <p:cNvCxnSpPr>
            <a:stCxn id="585" idx="3"/>
          </p:cNvCxnSpPr>
          <p:nvPr/>
        </p:nvCxnSpPr>
        <p:spPr>
          <a:xfrm>
            <a:off x="4616600" y="2479475"/>
            <a:ext cx="0" cy="304800"/>
          </a:xfrm>
          <a:prstGeom prst="straightConnector1">
            <a:avLst/>
          </a:prstGeom>
          <a:noFill/>
          <a:ln cap="flat" cmpd="sng" w="9525">
            <a:solidFill>
              <a:schemeClr val="dk2"/>
            </a:solidFill>
            <a:prstDash val="solid"/>
            <a:round/>
            <a:headEnd len="med" w="med" type="none"/>
            <a:tailEnd len="med" w="med" type="triangle"/>
          </a:ln>
        </p:spPr>
      </p:cxnSp>
      <p:cxnSp>
        <p:nvCxnSpPr>
          <p:cNvPr id="641" name="Google Shape;641;p31"/>
          <p:cNvCxnSpPr>
            <a:stCxn id="584" idx="3"/>
          </p:cNvCxnSpPr>
          <p:nvPr/>
        </p:nvCxnSpPr>
        <p:spPr>
          <a:xfrm>
            <a:off x="4441700" y="2479475"/>
            <a:ext cx="0" cy="304800"/>
          </a:xfrm>
          <a:prstGeom prst="straightConnector1">
            <a:avLst/>
          </a:prstGeom>
          <a:noFill/>
          <a:ln cap="flat" cmpd="sng" w="9525">
            <a:solidFill>
              <a:schemeClr val="dk2"/>
            </a:solidFill>
            <a:prstDash val="solid"/>
            <a:round/>
            <a:headEnd len="med" w="med" type="none"/>
            <a:tailEnd len="med" w="med" type="triangle"/>
          </a:ln>
        </p:spPr>
      </p:cxnSp>
      <p:cxnSp>
        <p:nvCxnSpPr>
          <p:cNvPr id="642" name="Google Shape;642;p31"/>
          <p:cNvCxnSpPr>
            <a:stCxn id="604" idx="2"/>
            <a:endCxn id="547" idx="0"/>
          </p:cNvCxnSpPr>
          <p:nvPr/>
        </p:nvCxnSpPr>
        <p:spPr>
          <a:xfrm>
            <a:off x="5141300" y="3094769"/>
            <a:ext cx="318600" cy="293400"/>
          </a:xfrm>
          <a:prstGeom prst="straightConnector1">
            <a:avLst/>
          </a:prstGeom>
          <a:noFill/>
          <a:ln cap="flat" cmpd="sng" w="9525">
            <a:solidFill>
              <a:schemeClr val="dk2"/>
            </a:solidFill>
            <a:prstDash val="solid"/>
            <a:round/>
            <a:headEnd len="med" w="med" type="none"/>
            <a:tailEnd len="med" w="med" type="triangle"/>
          </a:ln>
        </p:spPr>
      </p:cxnSp>
      <p:sp>
        <p:nvSpPr>
          <p:cNvPr id="643" name="Google Shape;643;p31"/>
          <p:cNvSpPr/>
          <p:nvPr/>
        </p:nvSpPr>
        <p:spPr>
          <a:xfrm>
            <a:off x="3921050" y="2784275"/>
            <a:ext cx="433200" cy="310500"/>
          </a:xfrm>
          <a:prstGeom prst="rect">
            <a:avLst/>
          </a:prstGeom>
          <a:solidFill>
            <a:srgbClr val="B6D7A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800">
                <a:latin typeface="Roboto"/>
                <a:ea typeface="Roboto"/>
                <a:cs typeface="Roboto"/>
                <a:sym typeface="Roboto"/>
              </a:rPr>
              <a:t>TCP</a:t>
            </a:r>
            <a:endParaRPr sz="800">
              <a:latin typeface="Roboto"/>
              <a:ea typeface="Roboto"/>
              <a:cs typeface="Roboto"/>
              <a:sym typeface="Roboto"/>
            </a:endParaRPr>
          </a:p>
          <a:p>
            <a:pPr indent="0" lvl="0" marL="0" rtl="0" algn="ctr">
              <a:spcBef>
                <a:spcPts val="0"/>
              </a:spcBef>
              <a:spcAft>
                <a:spcPts val="0"/>
              </a:spcAft>
              <a:buNone/>
            </a:pPr>
            <a:r>
              <a:rPr lang="en" sz="800">
                <a:latin typeface="Roboto"/>
                <a:ea typeface="Roboto"/>
                <a:cs typeface="Roboto"/>
                <a:sym typeface="Roboto"/>
              </a:rPr>
              <a:t>HDR</a:t>
            </a:r>
            <a:endParaRPr sz="800">
              <a:latin typeface="Roboto"/>
              <a:ea typeface="Roboto"/>
              <a:cs typeface="Roboto"/>
              <a:sym typeface="Roboto"/>
            </a:endParaRPr>
          </a:p>
        </p:txBody>
      </p:sp>
      <p:sp>
        <p:nvSpPr>
          <p:cNvPr id="644" name="Google Shape;644;p31"/>
          <p:cNvSpPr/>
          <p:nvPr/>
        </p:nvSpPr>
        <p:spPr>
          <a:xfrm>
            <a:off x="4239650" y="3388175"/>
            <a:ext cx="433200" cy="310500"/>
          </a:xfrm>
          <a:prstGeom prst="rect">
            <a:avLst/>
          </a:prstGeom>
          <a:solidFill>
            <a:srgbClr val="B6D7A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800">
                <a:latin typeface="Roboto"/>
                <a:ea typeface="Roboto"/>
                <a:cs typeface="Roboto"/>
                <a:sym typeface="Roboto"/>
              </a:rPr>
              <a:t>TCP</a:t>
            </a:r>
            <a:endParaRPr sz="800">
              <a:latin typeface="Roboto"/>
              <a:ea typeface="Roboto"/>
              <a:cs typeface="Roboto"/>
              <a:sym typeface="Roboto"/>
            </a:endParaRPr>
          </a:p>
          <a:p>
            <a:pPr indent="0" lvl="0" marL="0" rtl="0" algn="ctr">
              <a:spcBef>
                <a:spcPts val="0"/>
              </a:spcBef>
              <a:spcAft>
                <a:spcPts val="0"/>
              </a:spcAft>
              <a:buNone/>
            </a:pPr>
            <a:r>
              <a:rPr lang="en" sz="800">
                <a:latin typeface="Roboto"/>
                <a:ea typeface="Roboto"/>
                <a:cs typeface="Roboto"/>
                <a:sym typeface="Roboto"/>
              </a:rPr>
              <a:t>HDR</a:t>
            </a:r>
            <a:endParaRPr sz="800">
              <a:latin typeface="Roboto"/>
              <a:ea typeface="Roboto"/>
              <a:cs typeface="Roboto"/>
              <a:sym typeface="Roboto"/>
            </a:endParaRPr>
          </a:p>
        </p:txBody>
      </p:sp>
      <p:sp>
        <p:nvSpPr>
          <p:cNvPr id="645" name="Google Shape;645;p31"/>
          <p:cNvSpPr txBox="1"/>
          <p:nvPr/>
        </p:nvSpPr>
        <p:spPr>
          <a:xfrm>
            <a:off x="1555850" y="2496425"/>
            <a:ext cx="2273700" cy="270900"/>
          </a:xfrm>
          <a:prstGeom prst="rect">
            <a:avLst/>
          </a:prstGeom>
          <a:noFill/>
          <a:ln>
            <a:noFill/>
          </a:ln>
        </p:spPr>
        <p:txBody>
          <a:bodyPr anchorCtr="0" anchor="t" bIns="27425" lIns="27425" spcFirstLastPara="1" rIns="27425" wrap="square" tIns="27425">
            <a:spAutoFit/>
          </a:bodyPr>
          <a:lstStyle/>
          <a:p>
            <a:pPr indent="0" lvl="0" marL="0" rtl="0" algn="l">
              <a:spcBef>
                <a:spcPts val="0"/>
              </a:spcBef>
              <a:spcAft>
                <a:spcPts val="0"/>
              </a:spcAft>
              <a:buNone/>
            </a:pPr>
            <a:r>
              <a:rPr lang="en">
                <a:solidFill>
                  <a:schemeClr val="dk1"/>
                </a:solidFill>
                <a:latin typeface="Roboto"/>
                <a:ea typeface="Roboto"/>
                <a:cs typeface="Roboto"/>
                <a:sym typeface="Roboto"/>
              </a:rPr>
              <a:t>Sender Application</a:t>
            </a:r>
            <a:endParaRPr>
              <a:solidFill>
                <a:schemeClr val="dk1"/>
              </a:solidFill>
              <a:latin typeface="Roboto"/>
              <a:ea typeface="Roboto"/>
              <a:cs typeface="Roboto"/>
              <a:sym typeface="Roboto"/>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9" name="Shape 649"/>
        <p:cNvGrpSpPr/>
        <p:nvPr/>
      </p:nvGrpSpPr>
      <p:grpSpPr>
        <a:xfrm>
          <a:off x="0" y="0"/>
          <a:ext cx="0" cy="0"/>
          <a:chOff x="0" y="0"/>
          <a:chExt cx="0" cy="0"/>
        </a:xfrm>
      </p:grpSpPr>
      <p:sp>
        <p:nvSpPr>
          <p:cNvPr id="650" name="Google Shape;650;p32"/>
          <p:cNvSpPr/>
          <p:nvPr/>
        </p:nvSpPr>
        <p:spPr>
          <a:xfrm>
            <a:off x="4672850" y="3388169"/>
            <a:ext cx="1574100" cy="310500"/>
          </a:xfrm>
          <a:prstGeom prst="rect">
            <a:avLst/>
          </a:prstGeom>
          <a:solidFill>
            <a:srgbClr val="D9D9D9"/>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TCP Segment</a:t>
            </a:r>
            <a:endParaRPr>
              <a:latin typeface="Roboto"/>
              <a:ea typeface="Roboto"/>
              <a:cs typeface="Roboto"/>
              <a:sym typeface="Roboto"/>
            </a:endParaRPr>
          </a:p>
        </p:txBody>
      </p:sp>
      <p:cxnSp>
        <p:nvCxnSpPr>
          <p:cNvPr id="651" name="Google Shape;651;p32"/>
          <p:cNvCxnSpPr>
            <a:endCxn id="652" idx="1"/>
          </p:cNvCxnSpPr>
          <p:nvPr/>
        </p:nvCxnSpPr>
        <p:spPr>
          <a:xfrm>
            <a:off x="5459900" y="3697475"/>
            <a:ext cx="0" cy="306000"/>
          </a:xfrm>
          <a:prstGeom prst="straightConnector1">
            <a:avLst/>
          </a:prstGeom>
          <a:noFill/>
          <a:ln cap="flat" cmpd="sng" w="9525">
            <a:solidFill>
              <a:schemeClr val="dk2"/>
            </a:solidFill>
            <a:prstDash val="solid"/>
            <a:round/>
            <a:headEnd len="med" w="med" type="none"/>
            <a:tailEnd len="med" w="med" type="triangle"/>
          </a:ln>
        </p:spPr>
      </p:cxnSp>
      <p:cxnSp>
        <p:nvCxnSpPr>
          <p:cNvPr id="653" name="Google Shape;653;p32"/>
          <p:cNvCxnSpPr>
            <a:endCxn id="654" idx="1"/>
          </p:cNvCxnSpPr>
          <p:nvPr/>
        </p:nvCxnSpPr>
        <p:spPr>
          <a:xfrm>
            <a:off x="5634800" y="3697475"/>
            <a:ext cx="0" cy="306000"/>
          </a:xfrm>
          <a:prstGeom prst="straightConnector1">
            <a:avLst/>
          </a:prstGeom>
          <a:noFill/>
          <a:ln cap="flat" cmpd="sng" w="9525">
            <a:solidFill>
              <a:schemeClr val="dk2"/>
            </a:solidFill>
            <a:prstDash val="solid"/>
            <a:round/>
            <a:headEnd len="med" w="med" type="none"/>
            <a:tailEnd len="med" w="med" type="triangle"/>
          </a:ln>
        </p:spPr>
      </p:cxnSp>
      <p:cxnSp>
        <p:nvCxnSpPr>
          <p:cNvPr id="655" name="Google Shape;655;p32"/>
          <p:cNvCxnSpPr>
            <a:endCxn id="656" idx="1"/>
          </p:cNvCxnSpPr>
          <p:nvPr/>
        </p:nvCxnSpPr>
        <p:spPr>
          <a:xfrm>
            <a:off x="5809700" y="3697475"/>
            <a:ext cx="0" cy="306000"/>
          </a:xfrm>
          <a:prstGeom prst="straightConnector1">
            <a:avLst/>
          </a:prstGeom>
          <a:noFill/>
          <a:ln cap="flat" cmpd="sng" w="9525">
            <a:solidFill>
              <a:schemeClr val="dk2"/>
            </a:solidFill>
            <a:prstDash val="solid"/>
            <a:round/>
            <a:headEnd len="med" w="med" type="none"/>
            <a:tailEnd len="med" w="med" type="triangle"/>
          </a:ln>
        </p:spPr>
      </p:cxnSp>
      <p:cxnSp>
        <p:nvCxnSpPr>
          <p:cNvPr id="657" name="Google Shape;657;p32"/>
          <p:cNvCxnSpPr>
            <a:endCxn id="658" idx="1"/>
          </p:cNvCxnSpPr>
          <p:nvPr/>
        </p:nvCxnSpPr>
        <p:spPr>
          <a:xfrm>
            <a:off x="5984600" y="3697475"/>
            <a:ext cx="0" cy="306000"/>
          </a:xfrm>
          <a:prstGeom prst="straightConnector1">
            <a:avLst/>
          </a:prstGeom>
          <a:noFill/>
          <a:ln cap="flat" cmpd="sng" w="9525">
            <a:solidFill>
              <a:schemeClr val="dk2"/>
            </a:solidFill>
            <a:prstDash val="solid"/>
            <a:round/>
            <a:headEnd len="med" w="med" type="none"/>
            <a:tailEnd len="med" w="med" type="triangle"/>
          </a:ln>
        </p:spPr>
      </p:cxnSp>
      <p:cxnSp>
        <p:nvCxnSpPr>
          <p:cNvPr id="659" name="Google Shape;659;p32"/>
          <p:cNvCxnSpPr>
            <a:endCxn id="660" idx="1"/>
          </p:cNvCxnSpPr>
          <p:nvPr/>
        </p:nvCxnSpPr>
        <p:spPr>
          <a:xfrm>
            <a:off x="6159500" y="3697475"/>
            <a:ext cx="0" cy="306000"/>
          </a:xfrm>
          <a:prstGeom prst="straightConnector1">
            <a:avLst/>
          </a:prstGeom>
          <a:noFill/>
          <a:ln cap="flat" cmpd="sng" w="9525">
            <a:solidFill>
              <a:schemeClr val="dk2"/>
            </a:solidFill>
            <a:prstDash val="solid"/>
            <a:round/>
            <a:headEnd len="med" w="med" type="none"/>
            <a:tailEnd len="med" w="med" type="triangle"/>
          </a:ln>
        </p:spPr>
      </p:cxnSp>
      <p:cxnSp>
        <p:nvCxnSpPr>
          <p:cNvPr id="661" name="Google Shape;661;p32"/>
          <p:cNvCxnSpPr>
            <a:endCxn id="662" idx="1"/>
          </p:cNvCxnSpPr>
          <p:nvPr/>
        </p:nvCxnSpPr>
        <p:spPr>
          <a:xfrm>
            <a:off x="5285000" y="3697475"/>
            <a:ext cx="0" cy="306000"/>
          </a:xfrm>
          <a:prstGeom prst="straightConnector1">
            <a:avLst/>
          </a:prstGeom>
          <a:noFill/>
          <a:ln cap="flat" cmpd="sng" w="9525">
            <a:solidFill>
              <a:schemeClr val="dk2"/>
            </a:solidFill>
            <a:prstDash val="solid"/>
            <a:round/>
            <a:headEnd len="med" w="med" type="none"/>
            <a:tailEnd len="med" w="med" type="triangle"/>
          </a:ln>
        </p:spPr>
      </p:cxnSp>
      <p:cxnSp>
        <p:nvCxnSpPr>
          <p:cNvPr id="663" name="Google Shape;663;p32"/>
          <p:cNvCxnSpPr>
            <a:endCxn id="664" idx="1"/>
          </p:cNvCxnSpPr>
          <p:nvPr/>
        </p:nvCxnSpPr>
        <p:spPr>
          <a:xfrm>
            <a:off x="5110100" y="3697475"/>
            <a:ext cx="0" cy="306000"/>
          </a:xfrm>
          <a:prstGeom prst="straightConnector1">
            <a:avLst/>
          </a:prstGeom>
          <a:noFill/>
          <a:ln cap="flat" cmpd="sng" w="9525">
            <a:solidFill>
              <a:schemeClr val="dk2"/>
            </a:solidFill>
            <a:prstDash val="solid"/>
            <a:round/>
            <a:headEnd len="med" w="med" type="none"/>
            <a:tailEnd len="med" w="med" type="triangle"/>
          </a:ln>
        </p:spPr>
      </p:cxnSp>
      <p:cxnSp>
        <p:nvCxnSpPr>
          <p:cNvPr id="665" name="Google Shape;665;p32"/>
          <p:cNvCxnSpPr>
            <a:endCxn id="666" idx="1"/>
          </p:cNvCxnSpPr>
          <p:nvPr/>
        </p:nvCxnSpPr>
        <p:spPr>
          <a:xfrm>
            <a:off x="4935200" y="3697475"/>
            <a:ext cx="0" cy="306000"/>
          </a:xfrm>
          <a:prstGeom prst="straightConnector1">
            <a:avLst/>
          </a:prstGeom>
          <a:noFill/>
          <a:ln cap="flat" cmpd="sng" w="9525">
            <a:solidFill>
              <a:schemeClr val="dk2"/>
            </a:solidFill>
            <a:prstDash val="solid"/>
            <a:round/>
            <a:headEnd len="med" w="med" type="none"/>
            <a:tailEnd len="med" w="med" type="triangle"/>
          </a:ln>
        </p:spPr>
      </p:cxnSp>
      <p:cxnSp>
        <p:nvCxnSpPr>
          <p:cNvPr id="667" name="Google Shape;667;p32"/>
          <p:cNvCxnSpPr>
            <a:endCxn id="668" idx="1"/>
          </p:cNvCxnSpPr>
          <p:nvPr/>
        </p:nvCxnSpPr>
        <p:spPr>
          <a:xfrm>
            <a:off x="4760300" y="3697475"/>
            <a:ext cx="0" cy="306000"/>
          </a:xfrm>
          <a:prstGeom prst="straightConnector1">
            <a:avLst/>
          </a:prstGeom>
          <a:noFill/>
          <a:ln cap="flat" cmpd="sng" w="9525">
            <a:solidFill>
              <a:schemeClr val="dk2"/>
            </a:solidFill>
            <a:prstDash val="solid"/>
            <a:round/>
            <a:headEnd len="med" w="med" type="none"/>
            <a:tailEnd len="med" w="med" type="triangle"/>
          </a:ln>
        </p:spPr>
      </p:cxnSp>
      <p:sp>
        <p:nvSpPr>
          <p:cNvPr id="669" name="Google Shape;669;p32"/>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TCP Ack Numbers</a:t>
            </a:r>
            <a:endParaRPr/>
          </a:p>
        </p:txBody>
      </p:sp>
      <p:sp>
        <p:nvSpPr>
          <p:cNvPr id="670" name="Google Shape;670;p32"/>
          <p:cNvSpPr txBox="1"/>
          <p:nvPr>
            <p:ph idx="1" type="body"/>
          </p:nvPr>
        </p:nvSpPr>
        <p:spPr>
          <a:xfrm>
            <a:off x="107050" y="402200"/>
            <a:ext cx="8909700" cy="12432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The ack number indicates the next expected byte (i.e. the first unreceived byte).</a:t>
            </a:r>
            <a:endParaRPr/>
          </a:p>
          <a:p>
            <a:pPr indent="0" lvl="0" marL="0" rtl="0" algn="l">
              <a:spcBef>
                <a:spcPts val="600"/>
              </a:spcBef>
              <a:spcAft>
                <a:spcPts val="0"/>
              </a:spcAft>
              <a:buNone/>
            </a:pPr>
            <a:r>
              <a:rPr lang="en"/>
              <a:t>Example: All bytes up to (and including) </a:t>
            </a:r>
            <a:r>
              <a:rPr i="1" lang="en"/>
              <a:t>ISN</a:t>
            </a:r>
            <a:r>
              <a:rPr lang="en"/>
              <a:t> </a:t>
            </a:r>
            <a:r>
              <a:rPr lang="en"/>
              <a:t>+</a:t>
            </a:r>
            <a:r>
              <a:rPr lang="en"/>
              <a:t> </a:t>
            </a:r>
            <a:r>
              <a:rPr lang="en"/>
              <a:t>219 have been received, so the next unreceived byte is </a:t>
            </a:r>
            <a:r>
              <a:rPr i="1" lang="en">
                <a:solidFill>
                  <a:schemeClr val="accent2"/>
                </a:solidFill>
              </a:rPr>
              <a:t>ISN</a:t>
            </a:r>
            <a:r>
              <a:rPr lang="en">
                <a:solidFill>
                  <a:schemeClr val="accent2"/>
                </a:solidFill>
              </a:rPr>
              <a:t> + 220</a:t>
            </a:r>
            <a:r>
              <a:rPr lang="en"/>
              <a:t>.</a:t>
            </a:r>
            <a:endParaRPr/>
          </a:p>
        </p:txBody>
      </p:sp>
      <p:sp>
        <p:nvSpPr>
          <p:cNvPr id="671" name="Google Shape;671;p32"/>
          <p:cNvSpPr/>
          <p:nvPr/>
        </p:nvSpPr>
        <p:spPr>
          <a:xfrm rot="5400000">
            <a:off x="12822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ISN + 1</a:t>
            </a:r>
            <a:endParaRPr sz="1000">
              <a:latin typeface="Roboto"/>
              <a:ea typeface="Roboto"/>
              <a:cs typeface="Roboto"/>
              <a:sym typeface="Roboto"/>
            </a:endParaRPr>
          </a:p>
        </p:txBody>
      </p:sp>
      <p:sp>
        <p:nvSpPr>
          <p:cNvPr id="672" name="Google Shape;672;p32"/>
          <p:cNvSpPr/>
          <p:nvPr/>
        </p:nvSpPr>
        <p:spPr>
          <a:xfrm rot="5400000">
            <a:off x="14571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ISN + 2</a:t>
            </a:r>
            <a:endParaRPr sz="1000">
              <a:latin typeface="Roboto"/>
              <a:ea typeface="Roboto"/>
              <a:cs typeface="Roboto"/>
              <a:sym typeface="Roboto"/>
            </a:endParaRPr>
          </a:p>
        </p:txBody>
      </p:sp>
      <p:sp>
        <p:nvSpPr>
          <p:cNvPr id="673" name="Google Shape;673;p32"/>
          <p:cNvSpPr/>
          <p:nvPr/>
        </p:nvSpPr>
        <p:spPr>
          <a:xfrm rot="5400000">
            <a:off x="16320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ISN + 3</a:t>
            </a:r>
            <a:endParaRPr sz="1000">
              <a:latin typeface="Roboto"/>
              <a:ea typeface="Roboto"/>
              <a:cs typeface="Roboto"/>
              <a:sym typeface="Roboto"/>
            </a:endParaRPr>
          </a:p>
        </p:txBody>
      </p:sp>
      <p:sp>
        <p:nvSpPr>
          <p:cNvPr id="674" name="Google Shape;674;p32"/>
          <p:cNvSpPr/>
          <p:nvPr/>
        </p:nvSpPr>
        <p:spPr>
          <a:xfrm rot="5400000">
            <a:off x="18069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ISN + 4</a:t>
            </a:r>
            <a:endParaRPr sz="1000">
              <a:latin typeface="Roboto"/>
              <a:ea typeface="Roboto"/>
              <a:cs typeface="Roboto"/>
              <a:sym typeface="Roboto"/>
            </a:endParaRPr>
          </a:p>
        </p:txBody>
      </p:sp>
      <p:sp>
        <p:nvSpPr>
          <p:cNvPr id="675" name="Google Shape;675;p32"/>
          <p:cNvSpPr/>
          <p:nvPr/>
        </p:nvSpPr>
        <p:spPr>
          <a:xfrm rot="5400000">
            <a:off x="19818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76" name="Google Shape;676;p32"/>
          <p:cNvSpPr/>
          <p:nvPr/>
        </p:nvSpPr>
        <p:spPr>
          <a:xfrm rot="5400000">
            <a:off x="21567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77" name="Google Shape;677;p32"/>
          <p:cNvSpPr/>
          <p:nvPr/>
        </p:nvSpPr>
        <p:spPr>
          <a:xfrm rot="5400000">
            <a:off x="23316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78" name="Google Shape;678;p32"/>
          <p:cNvSpPr/>
          <p:nvPr/>
        </p:nvSpPr>
        <p:spPr>
          <a:xfrm rot="5400000">
            <a:off x="25065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ISN + 79</a:t>
            </a:r>
            <a:endParaRPr sz="1000">
              <a:latin typeface="Roboto"/>
              <a:ea typeface="Roboto"/>
              <a:cs typeface="Roboto"/>
              <a:sym typeface="Roboto"/>
            </a:endParaRPr>
          </a:p>
        </p:txBody>
      </p:sp>
      <p:sp>
        <p:nvSpPr>
          <p:cNvPr id="679" name="Google Shape;679;p32"/>
          <p:cNvSpPr/>
          <p:nvPr/>
        </p:nvSpPr>
        <p:spPr>
          <a:xfrm rot="5400000">
            <a:off x="26814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ISN + 80</a:t>
            </a:r>
            <a:endParaRPr sz="1000">
              <a:latin typeface="Roboto"/>
              <a:ea typeface="Roboto"/>
              <a:cs typeface="Roboto"/>
              <a:sym typeface="Roboto"/>
            </a:endParaRPr>
          </a:p>
        </p:txBody>
      </p:sp>
      <p:sp>
        <p:nvSpPr>
          <p:cNvPr id="680" name="Google Shape;680;p32"/>
          <p:cNvSpPr/>
          <p:nvPr/>
        </p:nvSpPr>
        <p:spPr>
          <a:xfrm rot="5400000">
            <a:off x="28563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81" name="Google Shape;681;p32"/>
          <p:cNvSpPr/>
          <p:nvPr/>
        </p:nvSpPr>
        <p:spPr>
          <a:xfrm rot="5400000">
            <a:off x="30312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82" name="Google Shape;682;p32"/>
          <p:cNvSpPr/>
          <p:nvPr/>
        </p:nvSpPr>
        <p:spPr>
          <a:xfrm rot="5400000">
            <a:off x="32061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83" name="Google Shape;683;p32"/>
          <p:cNvSpPr/>
          <p:nvPr/>
        </p:nvSpPr>
        <p:spPr>
          <a:xfrm rot="5400000">
            <a:off x="33810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84" name="Google Shape;684;p32"/>
          <p:cNvSpPr/>
          <p:nvPr/>
        </p:nvSpPr>
        <p:spPr>
          <a:xfrm rot="5400000">
            <a:off x="35559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85" name="Google Shape;685;p32"/>
          <p:cNvSpPr/>
          <p:nvPr/>
        </p:nvSpPr>
        <p:spPr>
          <a:xfrm rot="5400000">
            <a:off x="37308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86" name="Google Shape;686;p32"/>
          <p:cNvSpPr/>
          <p:nvPr/>
        </p:nvSpPr>
        <p:spPr>
          <a:xfrm rot="5400000">
            <a:off x="39057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87" name="Google Shape;687;p32"/>
          <p:cNvSpPr/>
          <p:nvPr/>
        </p:nvSpPr>
        <p:spPr>
          <a:xfrm rot="5400000">
            <a:off x="40806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ISN+140</a:t>
            </a:r>
            <a:endParaRPr sz="1000">
              <a:latin typeface="Roboto"/>
              <a:ea typeface="Roboto"/>
              <a:cs typeface="Roboto"/>
              <a:sym typeface="Roboto"/>
            </a:endParaRPr>
          </a:p>
        </p:txBody>
      </p:sp>
      <p:sp>
        <p:nvSpPr>
          <p:cNvPr id="688" name="Google Shape;688;p32"/>
          <p:cNvSpPr/>
          <p:nvPr/>
        </p:nvSpPr>
        <p:spPr>
          <a:xfrm rot="5400000">
            <a:off x="42555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ISN+141</a:t>
            </a:r>
            <a:endParaRPr sz="1000">
              <a:latin typeface="Roboto"/>
              <a:ea typeface="Roboto"/>
              <a:cs typeface="Roboto"/>
              <a:sym typeface="Roboto"/>
            </a:endParaRPr>
          </a:p>
        </p:txBody>
      </p:sp>
      <p:sp>
        <p:nvSpPr>
          <p:cNvPr id="689" name="Google Shape;689;p32"/>
          <p:cNvSpPr/>
          <p:nvPr/>
        </p:nvSpPr>
        <p:spPr>
          <a:xfrm rot="5400000">
            <a:off x="44304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chemeClr val="dk1"/>
                </a:solidFill>
                <a:latin typeface="Roboto"/>
                <a:ea typeface="Roboto"/>
                <a:cs typeface="Roboto"/>
                <a:sym typeface="Roboto"/>
              </a:rPr>
              <a:t>ISN+142</a:t>
            </a:r>
            <a:endParaRPr sz="1000">
              <a:latin typeface="Roboto"/>
              <a:ea typeface="Roboto"/>
              <a:cs typeface="Roboto"/>
              <a:sym typeface="Roboto"/>
            </a:endParaRPr>
          </a:p>
        </p:txBody>
      </p:sp>
      <p:sp>
        <p:nvSpPr>
          <p:cNvPr id="690" name="Google Shape;690;p32"/>
          <p:cNvSpPr/>
          <p:nvPr/>
        </p:nvSpPr>
        <p:spPr>
          <a:xfrm rot="5400000">
            <a:off x="46053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chemeClr val="dk1"/>
                </a:solidFill>
                <a:latin typeface="Roboto"/>
                <a:ea typeface="Roboto"/>
                <a:cs typeface="Roboto"/>
                <a:sym typeface="Roboto"/>
              </a:rPr>
              <a:t>ISN+143</a:t>
            </a:r>
            <a:endParaRPr sz="1000">
              <a:latin typeface="Roboto"/>
              <a:ea typeface="Roboto"/>
              <a:cs typeface="Roboto"/>
              <a:sym typeface="Roboto"/>
            </a:endParaRPr>
          </a:p>
        </p:txBody>
      </p:sp>
      <p:sp>
        <p:nvSpPr>
          <p:cNvPr id="691" name="Google Shape;691;p32"/>
          <p:cNvSpPr/>
          <p:nvPr/>
        </p:nvSpPr>
        <p:spPr>
          <a:xfrm rot="5400000">
            <a:off x="47802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92" name="Google Shape;692;p32"/>
          <p:cNvSpPr/>
          <p:nvPr/>
        </p:nvSpPr>
        <p:spPr>
          <a:xfrm rot="5400000">
            <a:off x="49551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93" name="Google Shape;693;p32"/>
          <p:cNvSpPr/>
          <p:nvPr/>
        </p:nvSpPr>
        <p:spPr>
          <a:xfrm rot="5400000">
            <a:off x="51300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94" name="Google Shape;694;p32"/>
          <p:cNvSpPr/>
          <p:nvPr/>
        </p:nvSpPr>
        <p:spPr>
          <a:xfrm rot="5400000">
            <a:off x="53049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chemeClr val="dk1"/>
                </a:solidFill>
                <a:latin typeface="Roboto"/>
                <a:ea typeface="Roboto"/>
                <a:cs typeface="Roboto"/>
                <a:sym typeface="Roboto"/>
              </a:rPr>
              <a:t>ISN+218</a:t>
            </a:r>
            <a:endParaRPr sz="1000">
              <a:latin typeface="Roboto"/>
              <a:ea typeface="Roboto"/>
              <a:cs typeface="Roboto"/>
              <a:sym typeface="Roboto"/>
            </a:endParaRPr>
          </a:p>
        </p:txBody>
      </p:sp>
      <p:sp>
        <p:nvSpPr>
          <p:cNvPr id="695" name="Google Shape;695;p32"/>
          <p:cNvSpPr/>
          <p:nvPr/>
        </p:nvSpPr>
        <p:spPr>
          <a:xfrm rot="5400000">
            <a:off x="54798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ISN+219</a:t>
            </a:r>
            <a:endParaRPr sz="1000">
              <a:latin typeface="Roboto"/>
              <a:ea typeface="Roboto"/>
              <a:cs typeface="Roboto"/>
              <a:sym typeface="Roboto"/>
            </a:endParaRPr>
          </a:p>
        </p:txBody>
      </p:sp>
      <p:sp>
        <p:nvSpPr>
          <p:cNvPr id="696" name="Google Shape;696;p32"/>
          <p:cNvSpPr/>
          <p:nvPr/>
        </p:nvSpPr>
        <p:spPr>
          <a:xfrm rot="5400000">
            <a:off x="56547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97" name="Google Shape;697;p32"/>
          <p:cNvSpPr/>
          <p:nvPr/>
        </p:nvSpPr>
        <p:spPr>
          <a:xfrm rot="5400000">
            <a:off x="58296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98" name="Google Shape;698;p32"/>
          <p:cNvSpPr/>
          <p:nvPr/>
        </p:nvSpPr>
        <p:spPr>
          <a:xfrm rot="5400000">
            <a:off x="60045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99" name="Google Shape;699;p32"/>
          <p:cNvSpPr/>
          <p:nvPr/>
        </p:nvSpPr>
        <p:spPr>
          <a:xfrm rot="5400000">
            <a:off x="61794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00" name="Google Shape;700;p32"/>
          <p:cNvSpPr/>
          <p:nvPr/>
        </p:nvSpPr>
        <p:spPr>
          <a:xfrm rot="5400000">
            <a:off x="63543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01" name="Google Shape;701;p32"/>
          <p:cNvSpPr/>
          <p:nvPr/>
        </p:nvSpPr>
        <p:spPr>
          <a:xfrm rot="5400000">
            <a:off x="65292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02" name="Google Shape;702;p32"/>
          <p:cNvSpPr/>
          <p:nvPr/>
        </p:nvSpPr>
        <p:spPr>
          <a:xfrm rot="5400000">
            <a:off x="67041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03" name="Google Shape;703;p32"/>
          <p:cNvSpPr/>
          <p:nvPr/>
        </p:nvSpPr>
        <p:spPr>
          <a:xfrm rot="5400000">
            <a:off x="6879050" y="20309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04" name="Google Shape;704;p32"/>
          <p:cNvSpPr/>
          <p:nvPr/>
        </p:nvSpPr>
        <p:spPr>
          <a:xfrm rot="5400000">
            <a:off x="7053950" y="2030975"/>
            <a:ext cx="722100" cy="174900"/>
          </a:xfrm>
          <a:prstGeom prst="rect">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05" name="Google Shape;705;p32"/>
          <p:cNvSpPr/>
          <p:nvPr/>
        </p:nvSpPr>
        <p:spPr>
          <a:xfrm rot="5400000">
            <a:off x="7228850" y="2030975"/>
            <a:ext cx="722100" cy="174900"/>
          </a:xfrm>
          <a:prstGeom prst="rect">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06" name="Google Shape;706;p32"/>
          <p:cNvSpPr/>
          <p:nvPr/>
        </p:nvSpPr>
        <p:spPr>
          <a:xfrm rot="5400000">
            <a:off x="7403750" y="2030975"/>
            <a:ext cx="722100" cy="174900"/>
          </a:xfrm>
          <a:prstGeom prst="rect">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07" name="Google Shape;707;p32"/>
          <p:cNvSpPr txBox="1"/>
          <p:nvPr/>
        </p:nvSpPr>
        <p:spPr>
          <a:xfrm>
            <a:off x="1555850" y="2496425"/>
            <a:ext cx="2273700" cy="270900"/>
          </a:xfrm>
          <a:prstGeom prst="rect">
            <a:avLst/>
          </a:prstGeom>
          <a:noFill/>
          <a:ln>
            <a:noFill/>
          </a:ln>
        </p:spPr>
        <p:txBody>
          <a:bodyPr anchorCtr="0" anchor="t" bIns="27425" lIns="27425" spcFirstLastPara="1" rIns="27425" wrap="square" tIns="27425">
            <a:spAutoFit/>
          </a:bodyPr>
          <a:lstStyle/>
          <a:p>
            <a:pPr indent="0" lvl="0" marL="0" rtl="0" algn="l">
              <a:spcBef>
                <a:spcPts val="0"/>
              </a:spcBef>
              <a:spcAft>
                <a:spcPts val="0"/>
              </a:spcAft>
              <a:buNone/>
            </a:pPr>
            <a:r>
              <a:rPr lang="en">
                <a:solidFill>
                  <a:schemeClr val="dk1"/>
                </a:solidFill>
                <a:latin typeface="Roboto"/>
                <a:ea typeface="Roboto"/>
                <a:cs typeface="Roboto"/>
                <a:sym typeface="Roboto"/>
              </a:rPr>
              <a:t>Sender Application</a:t>
            </a:r>
            <a:endParaRPr>
              <a:solidFill>
                <a:schemeClr val="dk1"/>
              </a:solidFill>
              <a:latin typeface="Roboto"/>
              <a:ea typeface="Roboto"/>
              <a:cs typeface="Roboto"/>
              <a:sym typeface="Roboto"/>
            </a:endParaRPr>
          </a:p>
        </p:txBody>
      </p:sp>
      <p:sp>
        <p:nvSpPr>
          <p:cNvPr id="708" name="Google Shape;708;p32"/>
          <p:cNvSpPr/>
          <p:nvPr/>
        </p:nvSpPr>
        <p:spPr>
          <a:xfrm>
            <a:off x="4354250" y="2784269"/>
            <a:ext cx="1574100" cy="310500"/>
          </a:xfrm>
          <a:prstGeom prst="rect">
            <a:avLst/>
          </a:prstGeom>
          <a:solidFill>
            <a:srgbClr val="D9D9D9"/>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TCP Segment</a:t>
            </a:r>
            <a:endParaRPr>
              <a:latin typeface="Roboto"/>
              <a:ea typeface="Roboto"/>
              <a:cs typeface="Roboto"/>
              <a:sym typeface="Roboto"/>
            </a:endParaRPr>
          </a:p>
        </p:txBody>
      </p:sp>
      <p:sp>
        <p:nvSpPr>
          <p:cNvPr id="709" name="Google Shape;709;p32"/>
          <p:cNvSpPr/>
          <p:nvPr/>
        </p:nvSpPr>
        <p:spPr>
          <a:xfrm rot="5400000">
            <a:off x="16008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ISN + 1</a:t>
            </a:r>
            <a:endParaRPr sz="1000">
              <a:latin typeface="Roboto"/>
              <a:ea typeface="Roboto"/>
              <a:cs typeface="Roboto"/>
              <a:sym typeface="Roboto"/>
            </a:endParaRPr>
          </a:p>
        </p:txBody>
      </p:sp>
      <p:sp>
        <p:nvSpPr>
          <p:cNvPr id="710" name="Google Shape;710;p32"/>
          <p:cNvSpPr/>
          <p:nvPr/>
        </p:nvSpPr>
        <p:spPr>
          <a:xfrm rot="5400000">
            <a:off x="17757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ISN + 2</a:t>
            </a:r>
            <a:endParaRPr sz="1000">
              <a:latin typeface="Roboto"/>
              <a:ea typeface="Roboto"/>
              <a:cs typeface="Roboto"/>
              <a:sym typeface="Roboto"/>
            </a:endParaRPr>
          </a:p>
        </p:txBody>
      </p:sp>
      <p:sp>
        <p:nvSpPr>
          <p:cNvPr id="711" name="Google Shape;711;p32"/>
          <p:cNvSpPr/>
          <p:nvPr/>
        </p:nvSpPr>
        <p:spPr>
          <a:xfrm rot="5400000">
            <a:off x="19506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ISN + 3</a:t>
            </a:r>
            <a:endParaRPr sz="1000">
              <a:latin typeface="Roboto"/>
              <a:ea typeface="Roboto"/>
              <a:cs typeface="Roboto"/>
              <a:sym typeface="Roboto"/>
            </a:endParaRPr>
          </a:p>
        </p:txBody>
      </p:sp>
      <p:sp>
        <p:nvSpPr>
          <p:cNvPr id="712" name="Google Shape;712;p32"/>
          <p:cNvSpPr/>
          <p:nvPr/>
        </p:nvSpPr>
        <p:spPr>
          <a:xfrm rot="5400000">
            <a:off x="21255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ISN + 4</a:t>
            </a:r>
            <a:endParaRPr sz="1000">
              <a:latin typeface="Roboto"/>
              <a:ea typeface="Roboto"/>
              <a:cs typeface="Roboto"/>
              <a:sym typeface="Roboto"/>
            </a:endParaRPr>
          </a:p>
        </p:txBody>
      </p:sp>
      <p:sp>
        <p:nvSpPr>
          <p:cNvPr id="713" name="Google Shape;713;p32"/>
          <p:cNvSpPr/>
          <p:nvPr/>
        </p:nvSpPr>
        <p:spPr>
          <a:xfrm rot="5400000">
            <a:off x="23004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14" name="Google Shape;714;p32"/>
          <p:cNvSpPr/>
          <p:nvPr/>
        </p:nvSpPr>
        <p:spPr>
          <a:xfrm rot="5400000">
            <a:off x="24753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15" name="Google Shape;715;p32"/>
          <p:cNvSpPr/>
          <p:nvPr/>
        </p:nvSpPr>
        <p:spPr>
          <a:xfrm rot="5400000">
            <a:off x="26502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16" name="Google Shape;716;p32"/>
          <p:cNvSpPr/>
          <p:nvPr/>
        </p:nvSpPr>
        <p:spPr>
          <a:xfrm rot="5400000">
            <a:off x="28251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ISN + 79</a:t>
            </a:r>
            <a:endParaRPr sz="1000">
              <a:latin typeface="Roboto"/>
              <a:ea typeface="Roboto"/>
              <a:cs typeface="Roboto"/>
              <a:sym typeface="Roboto"/>
            </a:endParaRPr>
          </a:p>
        </p:txBody>
      </p:sp>
      <p:sp>
        <p:nvSpPr>
          <p:cNvPr id="717" name="Google Shape;717;p32"/>
          <p:cNvSpPr/>
          <p:nvPr/>
        </p:nvSpPr>
        <p:spPr>
          <a:xfrm rot="5400000">
            <a:off x="30000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ISN + 80</a:t>
            </a:r>
            <a:endParaRPr sz="1000">
              <a:latin typeface="Roboto"/>
              <a:ea typeface="Roboto"/>
              <a:cs typeface="Roboto"/>
              <a:sym typeface="Roboto"/>
            </a:endParaRPr>
          </a:p>
        </p:txBody>
      </p:sp>
      <p:sp>
        <p:nvSpPr>
          <p:cNvPr id="718" name="Google Shape;718;p32"/>
          <p:cNvSpPr/>
          <p:nvPr/>
        </p:nvSpPr>
        <p:spPr>
          <a:xfrm rot="5400000">
            <a:off x="31749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19" name="Google Shape;719;p32"/>
          <p:cNvSpPr/>
          <p:nvPr/>
        </p:nvSpPr>
        <p:spPr>
          <a:xfrm rot="5400000">
            <a:off x="33498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0" name="Google Shape;720;p32"/>
          <p:cNvSpPr/>
          <p:nvPr/>
        </p:nvSpPr>
        <p:spPr>
          <a:xfrm rot="5400000">
            <a:off x="35247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1" name="Google Shape;721;p32"/>
          <p:cNvSpPr/>
          <p:nvPr/>
        </p:nvSpPr>
        <p:spPr>
          <a:xfrm rot="5400000">
            <a:off x="36996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2" name="Google Shape;722;p32"/>
          <p:cNvSpPr/>
          <p:nvPr/>
        </p:nvSpPr>
        <p:spPr>
          <a:xfrm rot="5400000">
            <a:off x="38745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3" name="Google Shape;723;p32"/>
          <p:cNvSpPr/>
          <p:nvPr/>
        </p:nvSpPr>
        <p:spPr>
          <a:xfrm rot="5400000">
            <a:off x="40494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4" name="Google Shape;724;p32"/>
          <p:cNvSpPr/>
          <p:nvPr/>
        </p:nvSpPr>
        <p:spPr>
          <a:xfrm rot="5400000">
            <a:off x="42243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68" name="Google Shape;668;p32"/>
          <p:cNvSpPr/>
          <p:nvPr/>
        </p:nvSpPr>
        <p:spPr>
          <a:xfrm rot="5400000">
            <a:off x="43992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ISN+140</a:t>
            </a:r>
            <a:endParaRPr sz="1000">
              <a:latin typeface="Roboto"/>
              <a:ea typeface="Roboto"/>
              <a:cs typeface="Roboto"/>
              <a:sym typeface="Roboto"/>
            </a:endParaRPr>
          </a:p>
        </p:txBody>
      </p:sp>
      <p:sp>
        <p:nvSpPr>
          <p:cNvPr id="666" name="Google Shape;666;p32"/>
          <p:cNvSpPr/>
          <p:nvPr/>
        </p:nvSpPr>
        <p:spPr>
          <a:xfrm rot="5400000">
            <a:off x="45741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ISN+141</a:t>
            </a:r>
            <a:endParaRPr sz="1000">
              <a:latin typeface="Roboto"/>
              <a:ea typeface="Roboto"/>
              <a:cs typeface="Roboto"/>
              <a:sym typeface="Roboto"/>
            </a:endParaRPr>
          </a:p>
        </p:txBody>
      </p:sp>
      <p:sp>
        <p:nvSpPr>
          <p:cNvPr id="664" name="Google Shape;664;p32"/>
          <p:cNvSpPr/>
          <p:nvPr/>
        </p:nvSpPr>
        <p:spPr>
          <a:xfrm rot="5400000">
            <a:off x="47490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chemeClr val="dk1"/>
                </a:solidFill>
                <a:latin typeface="Roboto"/>
                <a:ea typeface="Roboto"/>
                <a:cs typeface="Roboto"/>
                <a:sym typeface="Roboto"/>
              </a:rPr>
              <a:t>ISN+142</a:t>
            </a:r>
            <a:endParaRPr sz="1000">
              <a:latin typeface="Roboto"/>
              <a:ea typeface="Roboto"/>
              <a:cs typeface="Roboto"/>
              <a:sym typeface="Roboto"/>
            </a:endParaRPr>
          </a:p>
        </p:txBody>
      </p:sp>
      <p:sp>
        <p:nvSpPr>
          <p:cNvPr id="662" name="Google Shape;662;p32"/>
          <p:cNvSpPr/>
          <p:nvPr/>
        </p:nvSpPr>
        <p:spPr>
          <a:xfrm rot="5400000">
            <a:off x="49239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chemeClr val="dk1"/>
                </a:solidFill>
                <a:latin typeface="Roboto"/>
                <a:ea typeface="Roboto"/>
                <a:cs typeface="Roboto"/>
                <a:sym typeface="Roboto"/>
              </a:rPr>
              <a:t>ISN+143</a:t>
            </a:r>
            <a:endParaRPr sz="1000">
              <a:latin typeface="Roboto"/>
              <a:ea typeface="Roboto"/>
              <a:cs typeface="Roboto"/>
              <a:sym typeface="Roboto"/>
            </a:endParaRPr>
          </a:p>
        </p:txBody>
      </p:sp>
      <p:sp>
        <p:nvSpPr>
          <p:cNvPr id="652" name="Google Shape;652;p32"/>
          <p:cNvSpPr/>
          <p:nvPr/>
        </p:nvSpPr>
        <p:spPr>
          <a:xfrm rot="5400000">
            <a:off x="50988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54" name="Google Shape;654;p32"/>
          <p:cNvSpPr/>
          <p:nvPr/>
        </p:nvSpPr>
        <p:spPr>
          <a:xfrm rot="5400000">
            <a:off x="52737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56" name="Google Shape;656;p32"/>
          <p:cNvSpPr/>
          <p:nvPr/>
        </p:nvSpPr>
        <p:spPr>
          <a:xfrm rot="5400000">
            <a:off x="54486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58" name="Google Shape;658;p32"/>
          <p:cNvSpPr/>
          <p:nvPr/>
        </p:nvSpPr>
        <p:spPr>
          <a:xfrm rot="5400000">
            <a:off x="56235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chemeClr val="dk1"/>
                </a:solidFill>
                <a:latin typeface="Roboto"/>
                <a:ea typeface="Roboto"/>
                <a:cs typeface="Roboto"/>
                <a:sym typeface="Roboto"/>
              </a:rPr>
              <a:t>ISN+218</a:t>
            </a:r>
            <a:endParaRPr sz="1000">
              <a:latin typeface="Roboto"/>
              <a:ea typeface="Roboto"/>
              <a:cs typeface="Roboto"/>
              <a:sym typeface="Roboto"/>
            </a:endParaRPr>
          </a:p>
        </p:txBody>
      </p:sp>
      <p:sp>
        <p:nvSpPr>
          <p:cNvPr id="660" name="Google Shape;660;p32"/>
          <p:cNvSpPr/>
          <p:nvPr/>
        </p:nvSpPr>
        <p:spPr>
          <a:xfrm rot="5400000">
            <a:off x="57984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chemeClr val="dk1"/>
                </a:solidFill>
                <a:latin typeface="Roboto"/>
                <a:ea typeface="Roboto"/>
                <a:cs typeface="Roboto"/>
                <a:sym typeface="Roboto"/>
              </a:rPr>
              <a:t>ISN+219</a:t>
            </a:r>
            <a:endParaRPr sz="1000">
              <a:latin typeface="Roboto"/>
              <a:ea typeface="Roboto"/>
              <a:cs typeface="Roboto"/>
              <a:sym typeface="Roboto"/>
            </a:endParaRPr>
          </a:p>
        </p:txBody>
      </p:sp>
      <p:sp>
        <p:nvSpPr>
          <p:cNvPr id="725" name="Google Shape;725;p32"/>
          <p:cNvSpPr/>
          <p:nvPr/>
        </p:nvSpPr>
        <p:spPr>
          <a:xfrm rot="5400000">
            <a:off x="59733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6" name="Google Shape;726;p32"/>
          <p:cNvSpPr/>
          <p:nvPr/>
        </p:nvSpPr>
        <p:spPr>
          <a:xfrm rot="5400000">
            <a:off x="61482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7" name="Google Shape;727;p32"/>
          <p:cNvSpPr/>
          <p:nvPr/>
        </p:nvSpPr>
        <p:spPr>
          <a:xfrm rot="5400000">
            <a:off x="63231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8" name="Google Shape;728;p32"/>
          <p:cNvSpPr/>
          <p:nvPr/>
        </p:nvSpPr>
        <p:spPr>
          <a:xfrm rot="5400000">
            <a:off x="64980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9" name="Google Shape;729;p32"/>
          <p:cNvSpPr/>
          <p:nvPr/>
        </p:nvSpPr>
        <p:spPr>
          <a:xfrm rot="5400000">
            <a:off x="66729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30" name="Google Shape;730;p32"/>
          <p:cNvSpPr/>
          <p:nvPr/>
        </p:nvSpPr>
        <p:spPr>
          <a:xfrm rot="5400000">
            <a:off x="68478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31" name="Google Shape;731;p32"/>
          <p:cNvSpPr/>
          <p:nvPr/>
        </p:nvSpPr>
        <p:spPr>
          <a:xfrm rot="5400000">
            <a:off x="70227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32" name="Google Shape;732;p32"/>
          <p:cNvSpPr/>
          <p:nvPr/>
        </p:nvSpPr>
        <p:spPr>
          <a:xfrm rot="5400000">
            <a:off x="7197650" y="4277075"/>
            <a:ext cx="722100" cy="174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33" name="Google Shape;733;p32"/>
          <p:cNvSpPr/>
          <p:nvPr/>
        </p:nvSpPr>
        <p:spPr>
          <a:xfrm rot="5400000">
            <a:off x="7372550" y="4277075"/>
            <a:ext cx="722100" cy="174900"/>
          </a:xfrm>
          <a:prstGeom prst="rect">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34" name="Google Shape;734;p32"/>
          <p:cNvSpPr/>
          <p:nvPr/>
        </p:nvSpPr>
        <p:spPr>
          <a:xfrm rot="5400000">
            <a:off x="7547450" y="4277075"/>
            <a:ext cx="722100" cy="174900"/>
          </a:xfrm>
          <a:prstGeom prst="rect">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35" name="Google Shape;735;p32"/>
          <p:cNvSpPr/>
          <p:nvPr/>
        </p:nvSpPr>
        <p:spPr>
          <a:xfrm rot="5400000">
            <a:off x="7722350" y="4277075"/>
            <a:ext cx="722100" cy="174900"/>
          </a:xfrm>
          <a:prstGeom prst="rect">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36" name="Google Shape;736;p32"/>
          <p:cNvSpPr txBox="1"/>
          <p:nvPr/>
        </p:nvSpPr>
        <p:spPr>
          <a:xfrm>
            <a:off x="1874450" y="4725575"/>
            <a:ext cx="2273700" cy="270900"/>
          </a:xfrm>
          <a:prstGeom prst="rect">
            <a:avLst/>
          </a:prstGeom>
          <a:noFill/>
          <a:ln>
            <a:noFill/>
          </a:ln>
        </p:spPr>
        <p:txBody>
          <a:bodyPr anchorCtr="0" anchor="t" bIns="27425" lIns="27425" spcFirstLastPara="1" rIns="27425" wrap="square" tIns="27425">
            <a:spAutoFit/>
          </a:bodyPr>
          <a:lstStyle/>
          <a:p>
            <a:pPr indent="0" lvl="0" marL="0" rtl="0" algn="l">
              <a:spcBef>
                <a:spcPts val="0"/>
              </a:spcBef>
              <a:spcAft>
                <a:spcPts val="0"/>
              </a:spcAft>
              <a:buNone/>
            </a:pPr>
            <a:r>
              <a:rPr lang="en">
                <a:solidFill>
                  <a:schemeClr val="dk1"/>
                </a:solidFill>
                <a:latin typeface="Roboto"/>
                <a:ea typeface="Roboto"/>
                <a:cs typeface="Roboto"/>
                <a:sym typeface="Roboto"/>
              </a:rPr>
              <a:t>Recipient Application</a:t>
            </a:r>
            <a:endParaRPr>
              <a:solidFill>
                <a:schemeClr val="dk1"/>
              </a:solidFill>
              <a:latin typeface="Roboto"/>
              <a:ea typeface="Roboto"/>
              <a:cs typeface="Roboto"/>
              <a:sym typeface="Roboto"/>
            </a:endParaRPr>
          </a:p>
        </p:txBody>
      </p:sp>
      <p:cxnSp>
        <p:nvCxnSpPr>
          <p:cNvPr id="737" name="Google Shape;737;p32"/>
          <p:cNvCxnSpPr>
            <a:stCxn id="692" idx="3"/>
          </p:cNvCxnSpPr>
          <p:nvPr/>
        </p:nvCxnSpPr>
        <p:spPr>
          <a:xfrm>
            <a:off x="5316200" y="2479475"/>
            <a:ext cx="0" cy="304800"/>
          </a:xfrm>
          <a:prstGeom prst="straightConnector1">
            <a:avLst/>
          </a:prstGeom>
          <a:noFill/>
          <a:ln cap="flat" cmpd="sng" w="9525">
            <a:solidFill>
              <a:schemeClr val="dk2"/>
            </a:solidFill>
            <a:prstDash val="solid"/>
            <a:round/>
            <a:headEnd len="med" w="med" type="none"/>
            <a:tailEnd len="med" w="med" type="triangle"/>
          </a:ln>
        </p:spPr>
      </p:cxnSp>
      <p:cxnSp>
        <p:nvCxnSpPr>
          <p:cNvPr id="738" name="Google Shape;738;p32"/>
          <p:cNvCxnSpPr>
            <a:stCxn id="693" idx="3"/>
          </p:cNvCxnSpPr>
          <p:nvPr/>
        </p:nvCxnSpPr>
        <p:spPr>
          <a:xfrm>
            <a:off x="5491100" y="2479475"/>
            <a:ext cx="0" cy="304800"/>
          </a:xfrm>
          <a:prstGeom prst="straightConnector1">
            <a:avLst/>
          </a:prstGeom>
          <a:noFill/>
          <a:ln cap="flat" cmpd="sng" w="9525">
            <a:solidFill>
              <a:schemeClr val="dk2"/>
            </a:solidFill>
            <a:prstDash val="solid"/>
            <a:round/>
            <a:headEnd len="med" w="med" type="none"/>
            <a:tailEnd len="med" w="med" type="triangle"/>
          </a:ln>
        </p:spPr>
      </p:cxnSp>
      <p:cxnSp>
        <p:nvCxnSpPr>
          <p:cNvPr id="739" name="Google Shape;739;p32"/>
          <p:cNvCxnSpPr>
            <a:stCxn id="694" idx="3"/>
          </p:cNvCxnSpPr>
          <p:nvPr/>
        </p:nvCxnSpPr>
        <p:spPr>
          <a:xfrm>
            <a:off x="5666000" y="2479475"/>
            <a:ext cx="0" cy="304800"/>
          </a:xfrm>
          <a:prstGeom prst="straightConnector1">
            <a:avLst/>
          </a:prstGeom>
          <a:noFill/>
          <a:ln cap="flat" cmpd="sng" w="9525">
            <a:solidFill>
              <a:schemeClr val="dk2"/>
            </a:solidFill>
            <a:prstDash val="solid"/>
            <a:round/>
            <a:headEnd len="med" w="med" type="none"/>
            <a:tailEnd len="med" w="med" type="triangle"/>
          </a:ln>
        </p:spPr>
      </p:cxnSp>
      <p:cxnSp>
        <p:nvCxnSpPr>
          <p:cNvPr id="740" name="Google Shape;740;p32"/>
          <p:cNvCxnSpPr>
            <a:stCxn id="695" idx="3"/>
          </p:cNvCxnSpPr>
          <p:nvPr/>
        </p:nvCxnSpPr>
        <p:spPr>
          <a:xfrm>
            <a:off x="5840900" y="2479475"/>
            <a:ext cx="0" cy="304800"/>
          </a:xfrm>
          <a:prstGeom prst="straightConnector1">
            <a:avLst/>
          </a:prstGeom>
          <a:noFill/>
          <a:ln cap="flat" cmpd="sng" w="9525">
            <a:solidFill>
              <a:schemeClr val="dk2"/>
            </a:solidFill>
            <a:prstDash val="solid"/>
            <a:round/>
            <a:headEnd len="med" w="med" type="none"/>
            <a:tailEnd len="med" w="med" type="triangle"/>
          </a:ln>
        </p:spPr>
      </p:cxnSp>
      <p:cxnSp>
        <p:nvCxnSpPr>
          <p:cNvPr id="741" name="Google Shape;741;p32"/>
          <p:cNvCxnSpPr>
            <a:stCxn id="690" idx="3"/>
          </p:cNvCxnSpPr>
          <p:nvPr/>
        </p:nvCxnSpPr>
        <p:spPr>
          <a:xfrm>
            <a:off x="4966400" y="2479475"/>
            <a:ext cx="0" cy="304800"/>
          </a:xfrm>
          <a:prstGeom prst="straightConnector1">
            <a:avLst/>
          </a:prstGeom>
          <a:noFill/>
          <a:ln cap="flat" cmpd="sng" w="9525">
            <a:solidFill>
              <a:schemeClr val="dk2"/>
            </a:solidFill>
            <a:prstDash val="solid"/>
            <a:round/>
            <a:headEnd len="med" w="med" type="none"/>
            <a:tailEnd len="med" w="med" type="triangle"/>
          </a:ln>
        </p:spPr>
      </p:cxnSp>
      <p:cxnSp>
        <p:nvCxnSpPr>
          <p:cNvPr id="742" name="Google Shape;742;p32"/>
          <p:cNvCxnSpPr>
            <a:stCxn id="689" idx="3"/>
          </p:cNvCxnSpPr>
          <p:nvPr/>
        </p:nvCxnSpPr>
        <p:spPr>
          <a:xfrm>
            <a:off x="4791500" y="2479475"/>
            <a:ext cx="0" cy="304800"/>
          </a:xfrm>
          <a:prstGeom prst="straightConnector1">
            <a:avLst/>
          </a:prstGeom>
          <a:noFill/>
          <a:ln cap="flat" cmpd="sng" w="9525">
            <a:solidFill>
              <a:schemeClr val="dk2"/>
            </a:solidFill>
            <a:prstDash val="solid"/>
            <a:round/>
            <a:headEnd len="med" w="med" type="none"/>
            <a:tailEnd len="med" w="med" type="triangle"/>
          </a:ln>
        </p:spPr>
      </p:cxnSp>
      <p:cxnSp>
        <p:nvCxnSpPr>
          <p:cNvPr id="743" name="Google Shape;743;p32"/>
          <p:cNvCxnSpPr>
            <a:stCxn id="688" idx="3"/>
          </p:cNvCxnSpPr>
          <p:nvPr/>
        </p:nvCxnSpPr>
        <p:spPr>
          <a:xfrm>
            <a:off x="4616600" y="2479475"/>
            <a:ext cx="0" cy="304800"/>
          </a:xfrm>
          <a:prstGeom prst="straightConnector1">
            <a:avLst/>
          </a:prstGeom>
          <a:noFill/>
          <a:ln cap="flat" cmpd="sng" w="9525">
            <a:solidFill>
              <a:schemeClr val="dk2"/>
            </a:solidFill>
            <a:prstDash val="solid"/>
            <a:round/>
            <a:headEnd len="med" w="med" type="none"/>
            <a:tailEnd len="med" w="med" type="triangle"/>
          </a:ln>
        </p:spPr>
      </p:cxnSp>
      <p:cxnSp>
        <p:nvCxnSpPr>
          <p:cNvPr id="744" name="Google Shape;744;p32"/>
          <p:cNvCxnSpPr>
            <a:stCxn id="687" idx="3"/>
          </p:cNvCxnSpPr>
          <p:nvPr/>
        </p:nvCxnSpPr>
        <p:spPr>
          <a:xfrm>
            <a:off x="4441700" y="2479475"/>
            <a:ext cx="0" cy="304800"/>
          </a:xfrm>
          <a:prstGeom prst="straightConnector1">
            <a:avLst/>
          </a:prstGeom>
          <a:noFill/>
          <a:ln cap="flat" cmpd="sng" w="9525">
            <a:solidFill>
              <a:schemeClr val="dk2"/>
            </a:solidFill>
            <a:prstDash val="solid"/>
            <a:round/>
            <a:headEnd len="med" w="med" type="none"/>
            <a:tailEnd len="med" w="med" type="triangle"/>
          </a:ln>
        </p:spPr>
      </p:cxnSp>
      <p:cxnSp>
        <p:nvCxnSpPr>
          <p:cNvPr id="745" name="Google Shape;745;p32"/>
          <p:cNvCxnSpPr>
            <a:stCxn id="708" idx="2"/>
            <a:endCxn id="650" idx="0"/>
          </p:cNvCxnSpPr>
          <p:nvPr/>
        </p:nvCxnSpPr>
        <p:spPr>
          <a:xfrm>
            <a:off x="5141300" y="3094769"/>
            <a:ext cx="318600" cy="293400"/>
          </a:xfrm>
          <a:prstGeom prst="straightConnector1">
            <a:avLst/>
          </a:prstGeom>
          <a:noFill/>
          <a:ln cap="flat" cmpd="sng" w="9525">
            <a:solidFill>
              <a:schemeClr val="dk2"/>
            </a:solidFill>
            <a:prstDash val="solid"/>
            <a:round/>
            <a:headEnd len="med" w="med" type="none"/>
            <a:tailEnd len="med" w="med" type="triangle"/>
          </a:ln>
        </p:spPr>
      </p:cxnSp>
      <p:sp>
        <p:nvSpPr>
          <p:cNvPr id="746" name="Google Shape;746;p32"/>
          <p:cNvSpPr/>
          <p:nvPr/>
        </p:nvSpPr>
        <p:spPr>
          <a:xfrm>
            <a:off x="3921050" y="2784275"/>
            <a:ext cx="433200" cy="310500"/>
          </a:xfrm>
          <a:prstGeom prst="rect">
            <a:avLst/>
          </a:prstGeom>
          <a:solidFill>
            <a:srgbClr val="B6D7A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800">
                <a:latin typeface="Roboto"/>
                <a:ea typeface="Roboto"/>
                <a:cs typeface="Roboto"/>
                <a:sym typeface="Roboto"/>
              </a:rPr>
              <a:t>TCP</a:t>
            </a:r>
            <a:endParaRPr sz="800">
              <a:latin typeface="Roboto"/>
              <a:ea typeface="Roboto"/>
              <a:cs typeface="Roboto"/>
              <a:sym typeface="Roboto"/>
            </a:endParaRPr>
          </a:p>
          <a:p>
            <a:pPr indent="0" lvl="0" marL="0" rtl="0" algn="ctr">
              <a:spcBef>
                <a:spcPts val="0"/>
              </a:spcBef>
              <a:spcAft>
                <a:spcPts val="0"/>
              </a:spcAft>
              <a:buNone/>
            </a:pPr>
            <a:r>
              <a:rPr lang="en" sz="800">
                <a:latin typeface="Roboto"/>
                <a:ea typeface="Roboto"/>
                <a:cs typeface="Roboto"/>
                <a:sym typeface="Roboto"/>
              </a:rPr>
              <a:t>HDR</a:t>
            </a:r>
            <a:endParaRPr sz="800">
              <a:latin typeface="Roboto"/>
              <a:ea typeface="Roboto"/>
              <a:cs typeface="Roboto"/>
              <a:sym typeface="Roboto"/>
            </a:endParaRPr>
          </a:p>
        </p:txBody>
      </p:sp>
      <p:sp>
        <p:nvSpPr>
          <p:cNvPr id="747" name="Google Shape;747;p32"/>
          <p:cNvSpPr/>
          <p:nvPr/>
        </p:nvSpPr>
        <p:spPr>
          <a:xfrm>
            <a:off x="4239650" y="3388175"/>
            <a:ext cx="433200" cy="310500"/>
          </a:xfrm>
          <a:prstGeom prst="rect">
            <a:avLst/>
          </a:prstGeom>
          <a:solidFill>
            <a:srgbClr val="B6D7A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800">
                <a:latin typeface="Roboto"/>
                <a:ea typeface="Roboto"/>
                <a:cs typeface="Roboto"/>
                <a:sym typeface="Roboto"/>
              </a:rPr>
              <a:t>TCP</a:t>
            </a:r>
            <a:endParaRPr sz="800">
              <a:latin typeface="Roboto"/>
              <a:ea typeface="Roboto"/>
              <a:cs typeface="Roboto"/>
              <a:sym typeface="Roboto"/>
            </a:endParaRPr>
          </a:p>
          <a:p>
            <a:pPr indent="0" lvl="0" marL="0" rtl="0" algn="ctr">
              <a:spcBef>
                <a:spcPts val="0"/>
              </a:spcBef>
              <a:spcAft>
                <a:spcPts val="0"/>
              </a:spcAft>
              <a:buNone/>
            </a:pPr>
            <a:r>
              <a:rPr lang="en" sz="800">
                <a:latin typeface="Roboto"/>
                <a:ea typeface="Roboto"/>
                <a:cs typeface="Roboto"/>
                <a:sym typeface="Roboto"/>
              </a:rPr>
              <a:t>HDR</a:t>
            </a:r>
            <a:endParaRPr sz="800">
              <a:latin typeface="Roboto"/>
              <a:ea typeface="Roboto"/>
              <a:cs typeface="Roboto"/>
              <a:sym typeface="Roboto"/>
            </a:endParaRPr>
          </a:p>
        </p:txBody>
      </p:sp>
      <p:cxnSp>
        <p:nvCxnSpPr>
          <p:cNvPr id="748" name="Google Shape;748;p32"/>
          <p:cNvCxnSpPr>
            <a:stCxn id="691" idx="3"/>
            <a:endCxn id="708" idx="0"/>
          </p:cNvCxnSpPr>
          <p:nvPr/>
        </p:nvCxnSpPr>
        <p:spPr>
          <a:xfrm>
            <a:off x="5141300" y="2479475"/>
            <a:ext cx="0" cy="304800"/>
          </a:xfrm>
          <a:prstGeom prst="straightConnector1">
            <a:avLst/>
          </a:prstGeom>
          <a:noFill/>
          <a:ln cap="flat" cmpd="sng" w="9525">
            <a:solidFill>
              <a:schemeClr val="dk2"/>
            </a:solidFill>
            <a:prstDash val="solid"/>
            <a:round/>
            <a:headEnd len="med" w="med" type="none"/>
            <a:tailEnd len="med" w="med" type="triangle"/>
          </a:ln>
        </p:spPr>
      </p:cxnSp>
      <p:sp>
        <p:nvSpPr>
          <p:cNvPr id="749" name="Google Shape;749;p32"/>
          <p:cNvSpPr/>
          <p:nvPr/>
        </p:nvSpPr>
        <p:spPr>
          <a:xfrm>
            <a:off x="6362300" y="3094775"/>
            <a:ext cx="1693200" cy="393600"/>
          </a:xfrm>
          <a:prstGeom prst="wedgeRoundRectCallout">
            <a:avLst>
              <a:gd fmla="val -51553" name="adj1"/>
              <a:gd fmla="val 170179" name="adj2"/>
              <a:gd fmla="val 0" name="adj3"/>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accent2"/>
                </a:solidFill>
                <a:latin typeface="Roboto"/>
                <a:ea typeface="Roboto"/>
                <a:cs typeface="Roboto"/>
                <a:sym typeface="Roboto"/>
              </a:rPr>
              <a:t>Ack: ISN + 220.</a:t>
            </a:r>
            <a:endParaRPr>
              <a:solidFill>
                <a:schemeClr val="accent2"/>
              </a:solidFill>
              <a:latin typeface="Roboto"/>
              <a:ea typeface="Roboto"/>
              <a:cs typeface="Roboto"/>
              <a:sym typeface="Roboto"/>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3" name="Shape 753"/>
        <p:cNvGrpSpPr/>
        <p:nvPr/>
      </p:nvGrpSpPr>
      <p:grpSpPr>
        <a:xfrm>
          <a:off x="0" y="0"/>
          <a:ext cx="0" cy="0"/>
          <a:chOff x="0" y="0"/>
          <a:chExt cx="0" cy="0"/>
        </a:xfrm>
      </p:grpSpPr>
      <p:sp>
        <p:nvSpPr>
          <p:cNvPr id="754" name="Google Shape;754;p33"/>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TCP Sequence and Ack Numbers</a:t>
            </a:r>
            <a:endParaRPr/>
          </a:p>
        </p:txBody>
      </p:sp>
      <p:sp>
        <p:nvSpPr>
          <p:cNvPr id="755" name="Google Shape;755;p33"/>
          <p:cNvSpPr txBox="1"/>
          <p:nvPr>
            <p:ph idx="1" type="body"/>
          </p:nvPr>
        </p:nvSpPr>
        <p:spPr>
          <a:xfrm>
            <a:off x="107050" y="402200"/>
            <a:ext cx="8909700" cy="45306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The sequence number of a segment is the number of the </a:t>
            </a:r>
            <a:r>
              <a:rPr i="1" lang="en"/>
              <a:t>first byte</a:t>
            </a:r>
            <a:r>
              <a:rPr lang="en"/>
              <a:t> in the segment.</a:t>
            </a:r>
            <a:endParaRPr/>
          </a:p>
          <a:p>
            <a:pPr indent="-342900" lvl="0" marL="457200" rtl="0" algn="l">
              <a:spcBef>
                <a:spcPts val="600"/>
              </a:spcBef>
              <a:spcAft>
                <a:spcPts val="0"/>
              </a:spcAft>
              <a:buSzPts val="1800"/>
              <a:buChar char="●"/>
            </a:pPr>
            <a:r>
              <a:rPr lang="en"/>
              <a:t>Sender sends a packet with sequence number </a:t>
            </a:r>
            <a:r>
              <a:rPr i="1" lang="en"/>
              <a:t>j</a:t>
            </a:r>
            <a:r>
              <a:rPr lang="en"/>
              <a:t>.</a:t>
            </a:r>
            <a:endParaRPr/>
          </a:p>
          <a:p>
            <a:pPr indent="-342900" lvl="0" marL="457200" rtl="0" algn="l">
              <a:spcBef>
                <a:spcPts val="0"/>
              </a:spcBef>
              <a:spcAft>
                <a:spcPts val="0"/>
              </a:spcAft>
              <a:buSzPts val="1800"/>
              <a:buChar char="●"/>
            </a:pPr>
            <a:r>
              <a:rPr lang="en"/>
              <a:t>The packet contains </a:t>
            </a:r>
            <a:r>
              <a:rPr i="1" lang="en"/>
              <a:t>B</a:t>
            </a:r>
            <a:r>
              <a:rPr lang="en"/>
              <a:t> bytes.</a:t>
            </a:r>
            <a:endParaRPr/>
          </a:p>
          <a:p>
            <a:pPr indent="-342900" lvl="0" marL="457200" rtl="0" algn="l">
              <a:spcBef>
                <a:spcPts val="0"/>
              </a:spcBef>
              <a:spcAft>
                <a:spcPts val="0"/>
              </a:spcAft>
              <a:buSzPts val="1800"/>
              <a:buChar char="●"/>
            </a:pPr>
            <a:r>
              <a:rPr lang="en"/>
              <a:t>Bytes in the packet are numbered: </a:t>
            </a:r>
            <a:r>
              <a:rPr i="1" lang="en"/>
              <a:t>j</a:t>
            </a:r>
            <a:r>
              <a:rPr lang="en"/>
              <a:t>,  </a:t>
            </a:r>
            <a:r>
              <a:rPr i="1" lang="en"/>
              <a:t>j</a:t>
            </a:r>
            <a:r>
              <a:rPr lang="en"/>
              <a:t>+1,  </a:t>
            </a:r>
            <a:r>
              <a:rPr i="1" lang="en"/>
              <a:t>j</a:t>
            </a:r>
            <a:r>
              <a:rPr lang="en"/>
              <a:t>+2,  </a:t>
            </a:r>
            <a:r>
              <a:rPr i="1" lang="en"/>
              <a:t>j</a:t>
            </a:r>
            <a:r>
              <a:rPr lang="en"/>
              <a:t>+3, ..., ,  </a:t>
            </a:r>
            <a:r>
              <a:rPr i="1" lang="en"/>
              <a:t>j</a:t>
            </a:r>
            <a:r>
              <a:rPr lang="en"/>
              <a:t>+</a:t>
            </a:r>
            <a:r>
              <a:rPr i="1" lang="en"/>
              <a:t>B</a:t>
            </a:r>
            <a:r>
              <a:rPr lang="en"/>
              <a:t>–1.</a:t>
            </a:r>
            <a:endParaRPr/>
          </a:p>
          <a:p>
            <a:pPr indent="0" lvl="0" marL="0" rtl="0" algn="l">
              <a:spcBef>
                <a:spcPts val="600"/>
              </a:spcBef>
              <a:spcAft>
                <a:spcPts val="0"/>
              </a:spcAft>
              <a:buNone/>
            </a:pPr>
            <a:r>
              <a:rPr lang="en"/>
              <a:t>Recipient sends a cumulative ack (number of highest byte received, plus one).</a:t>
            </a:r>
            <a:endParaRPr/>
          </a:p>
          <a:p>
            <a:pPr indent="-342900" lvl="0" marL="457200" rtl="0" algn="l">
              <a:spcBef>
                <a:spcPts val="600"/>
              </a:spcBef>
              <a:spcAft>
                <a:spcPts val="0"/>
              </a:spcAft>
              <a:buSzPts val="1800"/>
              <a:buChar char="●"/>
            </a:pPr>
            <a:r>
              <a:rPr lang="en"/>
              <a:t>If all prior data is received, ack number is </a:t>
            </a:r>
            <a:r>
              <a:rPr i="1" lang="en"/>
              <a:t>j</a:t>
            </a:r>
            <a:r>
              <a:rPr lang="en"/>
              <a:t>+</a:t>
            </a:r>
            <a:r>
              <a:rPr i="1" lang="en"/>
              <a:t>B</a:t>
            </a:r>
            <a:r>
              <a:rPr lang="en"/>
              <a:t>.</a:t>
            </a:r>
            <a:endParaRPr/>
          </a:p>
          <a:p>
            <a:pPr indent="-342900" lvl="0" marL="457200" rtl="0" algn="l">
              <a:spcBef>
                <a:spcPts val="0"/>
              </a:spcBef>
              <a:spcAft>
                <a:spcPts val="0"/>
              </a:spcAft>
              <a:buSzPts val="1800"/>
              <a:buChar char="●"/>
            </a:pPr>
            <a:r>
              <a:rPr lang="en"/>
              <a:t>Think of this as the next expected byte, or the first unreceived byte.</a:t>
            </a:r>
            <a:endParaRPr/>
          </a:p>
          <a:p>
            <a:pPr indent="-342900" lvl="0" marL="457200" rtl="0" algn="l">
              <a:spcBef>
                <a:spcPts val="0"/>
              </a:spcBef>
              <a:spcAft>
                <a:spcPts val="0"/>
              </a:spcAft>
              <a:buSzPts val="1800"/>
              <a:buChar char="●"/>
            </a:pPr>
            <a:r>
              <a:rPr lang="en"/>
              <a:t>If earlier data before this packet is missing, the ack number will be lower.</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9" name="Shape 759"/>
        <p:cNvGrpSpPr/>
        <p:nvPr/>
      </p:nvGrpSpPr>
      <p:grpSpPr>
        <a:xfrm>
          <a:off x="0" y="0"/>
          <a:ext cx="0" cy="0"/>
          <a:chOff x="0" y="0"/>
          <a:chExt cx="0" cy="0"/>
        </a:xfrm>
      </p:grpSpPr>
      <p:sp>
        <p:nvSpPr>
          <p:cNvPr id="760" name="Google Shape;760;p34"/>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TCP Sequence and Ack Numbers</a:t>
            </a:r>
            <a:endParaRPr/>
          </a:p>
        </p:txBody>
      </p:sp>
      <p:sp>
        <p:nvSpPr>
          <p:cNvPr id="761" name="Google Shape;761;p34"/>
          <p:cNvSpPr txBox="1"/>
          <p:nvPr>
            <p:ph idx="1" type="body"/>
          </p:nvPr>
        </p:nvSpPr>
        <p:spPr>
          <a:xfrm>
            <a:off x="107050" y="402200"/>
            <a:ext cx="8909700" cy="13410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Assuming only one packet in flight, all packets length </a:t>
            </a:r>
            <a:r>
              <a:rPr i="1" lang="en"/>
              <a:t>B</a:t>
            </a:r>
            <a:r>
              <a:rPr lang="en"/>
              <a:t>, and no loss:</a:t>
            </a:r>
            <a:endParaRPr/>
          </a:p>
          <a:p>
            <a:pPr indent="0" lvl="0" marL="0" rtl="0" algn="l">
              <a:spcBef>
                <a:spcPts val="600"/>
              </a:spcBef>
              <a:spcAft>
                <a:spcPts val="0"/>
              </a:spcAft>
              <a:buNone/>
            </a:pPr>
            <a:r>
              <a:rPr lang="en"/>
              <a:t>The last ack number is equal to the next sequence number.</a:t>
            </a:r>
            <a:endParaRPr/>
          </a:p>
          <a:p>
            <a:pPr indent="-342900" lvl="0" marL="457200" rtl="0" algn="l">
              <a:spcBef>
                <a:spcPts val="600"/>
              </a:spcBef>
              <a:spcAft>
                <a:spcPts val="0"/>
              </a:spcAft>
              <a:buSzPts val="1800"/>
              <a:buChar char="●"/>
            </a:pPr>
            <a:r>
              <a:rPr lang="en"/>
              <a:t>"I expect </a:t>
            </a:r>
            <a:r>
              <a:rPr i="1" lang="en"/>
              <a:t>j</a:t>
            </a:r>
            <a:r>
              <a:rPr lang="en"/>
              <a:t> + </a:t>
            </a:r>
            <a:r>
              <a:rPr i="1" lang="en"/>
              <a:t>B</a:t>
            </a:r>
            <a:r>
              <a:rPr lang="en"/>
              <a:t> next." → "I'm sending </a:t>
            </a:r>
            <a:r>
              <a:rPr i="1" lang="en"/>
              <a:t>j</a:t>
            </a:r>
            <a:r>
              <a:rPr lang="en"/>
              <a:t> + </a:t>
            </a:r>
            <a:r>
              <a:rPr i="1" lang="en"/>
              <a:t>B</a:t>
            </a:r>
            <a:r>
              <a:rPr lang="en"/>
              <a:t>."</a:t>
            </a:r>
            <a:endParaRPr/>
          </a:p>
        </p:txBody>
      </p:sp>
      <p:cxnSp>
        <p:nvCxnSpPr>
          <p:cNvPr id="762" name="Google Shape;762;p34"/>
          <p:cNvCxnSpPr/>
          <p:nvPr/>
        </p:nvCxnSpPr>
        <p:spPr>
          <a:xfrm>
            <a:off x="3037525" y="1791725"/>
            <a:ext cx="0" cy="2985600"/>
          </a:xfrm>
          <a:prstGeom prst="straightConnector1">
            <a:avLst/>
          </a:prstGeom>
          <a:noFill/>
          <a:ln cap="flat" cmpd="sng" w="19050">
            <a:solidFill>
              <a:srgbClr val="0000FF"/>
            </a:solidFill>
            <a:prstDash val="solid"/>
            <a:round/>
            <a:headEnd len="med" w="med" type="none"/>
            <a:tailEnd len="med" w="med" type="none"/>
          </a:ln>
        </p:spPr>
      </p:cxnSp>
      <p:sp>
        <p:nvSpPr>
          <p:cNvPr id="763" name="Google Shape;763;p34"/>
          <p:cNvSpPr txBox="1"/>
          <p:nvPr/>
        </p:nvSpPr>
        <p:spPr>
          <a:xfrm>
            <a:off x="2485075" y="4777424"/>
            <a:ext cx="1104900" cy="270900"/>
          </a:xfrm>
          <a:prstGeom prst="rect">
            <a:avLst/>
          </a:prstGeom>
          <a:noFill/>
          <a:ln>
            <a:noFill/>
          </a:ln>
        </p:spPr>
        <p:txBody>
          <a:bodyPr anchorCtr="0" anchor="t" bIns="27425" lIns="91425" spcFirstLastPara="1" rIns="91425" wrap="square" tIns="27425">
            <a:spAutoFit/>
          </a:bodyPr>
          <a:lstStyle/>
          <a:p>
            <a:pPr indent="0" lvl="0" marL="0" rtl="0" algn="ctr">
              <a:spcBef>
                <a:spcPts val="0"/>
              </a:spcBef>
              <a:spcAft>
                <a:spcPts val="0"/>
              </a:spcAft>
              <a:buNone/>
            </a:pPr>
            <a:r>
              <a:rPr lang="en">
                <a:solidFill>
                  <a:srgbClr val="0000FF"/>
                </a:solidFill>
                <a:latin typeface="Roboto"/>
                <a:ea typeface="Roboto"/>
                <a:cs typeface="Roboto"/>
                <a:sym typeface="Roboto"/>
              </a:rPr>
              <a:t>Sender</a:t>
            </a:r>
            <a:endParaRPr>
              <a:solidFill>
                <a:srgbClr val="0000FF"/>
              </a:solidFill>
              <a:latin typeface="Roboto"/>
              <a:ea typeface="Roboto"/>
              <a:cs typeface="Roboto"/>
              <a:sym typeface="Roboto"/>
            </a:endParaRPr>
          </a:p>
        </p:txBody>
      </p:sp>
      <p:cxnSp>
        <p:nvCxnSpPr>
          <p:cNvPr id="764" name="Google Shape;764;p34"/>
          <p:cNvCxnSpPr/>
          <p:nvPr/>
        </p:nvCxnSpPr>
        <p:spPr>
          <a:xfrm>
            <a:off x="6058925" y="1791725"/>
            <a:ext cx="0" cy="2985600"/>
          </a:xfrm>
          <a:prstGeom prst="straightConnector1">
            <a:avLst/>
          </a:prstGeom>
          <a:noFill/>
          <a:ln cap="flat" cmpd="sng" w="19050">
            <a:solidFill>
              <a:schemeClr val="accent2"/>
            </a:solidFill>
            <a:prstDash val="solid"/>
            <a:round/>
            <a:headEnd len="med" w="med" type="none"/>
            <a:tailEnd len="med" w="med" type="none"/>
          </a:ln>
        </p:spPr>
      </p:cxnSp>
      <p:sp>
        <p:nvSpPr>
          <p:cNvPr id="765" name="Google Shape;765;p34"/>
          <p:cNvSpPr txBox="1"/>
          <p:nvPr/>
        </p:nvSpPr>
        <p:spPr>
          <a:xfrm>
            <a:off x="5458934" y="4777424"/>
            <a:ext cx="1200000" cy="270900"/>
          </a:xfrm>
          <a:prstGeom prst="rect">
            <a:avLst/>
          </a:prstGeom>
          <a:noFill/>
          <a:ln>
            <a:noFill/>
          </a:ln>
        </p:spPr>
        <p:txBody>
          <a:bodyPr anchorCtr="0" anchor="t" bIns="27425" lIns="91425" spcFirstLastPara="1" rIns="91425" wrap="square" tIns="27425">
            <a:spAutoFit/>
          </a:bodyPr>
          <a:lstStyle/>
          <a:p>
            <a:pPr indent="0" lvl="0" marL="0" rtl="0" algn="ctr">
              <a:spcBef>
                <a:spcPts val="0"/>
              </a:spcBef>
              <a:spcAft>
                <a:spcPts val="0"/>
              </a:spcAft>
              <a:buNone/>
            </a:pPr>
            <a:r>
              <a:rPr lang="en">
                <a:solidFill>
                  <a:schemeClr val="accent2"/>
                </a:solidFill>
                <a:latin typeface="Roboto"/>
                <a:ea typeface="Roboto"/>
                <a:cs typeface="Roboto"/>
                <a:sym typeface="Roboto"/>
              </a:rPr>
              <a:t>Recipient</a:t>
            </a:r>
            <a:endParaRPr>
              <a:solidFill>
                <a:schemeClr val="accent2"/>
              </a:solidFill>
              <a:latin typeface="Roboto"/>
              <a:ea typeface="Roboto"/>
              <a:cs typeface="Roboto"/>
              <a:sym typeface="Roboto"/>
            </a:endParaRPr>
          </a:p>
        </p:txBody>
      </p:sp>
      <p:grpSp>
        <p:nvGrpSpPr>
          <p:cNvPr id="766" name="Google Shape;766;p34"/>
          <p:cNvGrpSpPr/>
          <p:nvPr/>
        </p:nvGrpSpPr>
        <p:grpSpPr>
          <a:xfrm>
            <a:off x="3039475" y="2235652"/>
            <a:ext cx="3019775" cy="728348"/>
            <a:chOff x="3039475" y="1702252"/>
            <a:chExt cx="3019775" cy="728348"/>
          </a:xfrm>
        </p:grpSpPr>
        <p:cxnSp>
          <p:nvCxnSpPr>
            <p:cNvPr id="767" name="Google Shape;767;p34"/>
            <p:cNvCxnSpPr/>
            <p:nvPr/>
          </p:nvCxnSpPr>
          <p:spPr>
            <a:xfrm flipH="1">
              <a:off x="3039475" y="1981200"/>
              <a:ext cx="3015000" cy="449400"/>
            </a:xfrm>
            <a:prstGeom prst="straightConnector1">
              <a:avLst/>
            </a:prstGeom>
            <a:noFill/>
            <a:ln cap="flat" cmpd="sng" w="19050">
              <a:solidFill>
                <a:schemeClr val="accent2"/>
              </a:solidFill>
              <a:prstDash val="solid"/>
              <a:round/>
              <a:headEnd len="med" w="med" type="none"/>
              <a:tailEnd len="med" w="med" type="triangle"/>
            </a:ln>
          </p:spPr>
        </p:cxnSp>
        <p:sp>
          <p:nvSpPr>
            <p:cNvPr id="768" name="Google Shape;768;p34"/>
            <p:cNvSpPr txBox="1"/>
            <p:nvPr/>
          </p:nvSpPr>
          <p:spPr>
            <a:xfrm rot="-511693">
              <a:off x="3050742" y="1923442"/>
              <a:ext cx="3004117" cy="284220"/>
            </a:xfrm>
            <a:prstGeom prst="rect">
              <a:avLst/>
            </a:prstGeom>
            <a:noFill/>
            <a:ln>
              <a:noFill/>
            </a:ln>
          </p:spPr>
          <p:txBody>
            <a:bodyPr anchorCtr="0" anchor="t" bIns="27425" lIns="27425" spcFirstLastPara="1" rIns="27425" wrap="square" tIns="27425">
              <a:noAutofit/>
            </a:bodyPr>
            <a:lstStyle/>
            <a:p>
              <a:pPr indent="0" lvl="0" marL="0" rtl="0" algn="ctr">
                <a:spcBef>
                  <a:spcPts val="0"/>
                </a:spcBef>
                <a:spcAft>
                  <a:spcPts val="0"/>
                </a:spcAft>
                <a:buNone/>
              </a:pPr>
              <a:r>
                <a:rPr lang="en">
                  <a:solidFill>
                    <a:schemeClr val="accent2"/>
                  </a:solidFill>
                  <a:latin typeface="Roboto"/>
                  <a:ea typeface="Roboto"/>
                  <a:cs typeface="Roboto"/>
                  <a:sym typeface="Roboto"/>
                </a:rPr>
                <a:t>ack = </a:t>
              </a:r>
              <a:r>
                <a:rPr i="1" lang="en">
                  <a:solidFill>
                    <a:schemeClr val="accent2"/>
                  </a:solidFill>
                  <a:latin typeface="Roboto"/>
                  <a:ea typeface="Roboto"/>
                  <a:cs typeface="Roboto"/>
                  <a:sym typeface="Roboto"/>
                </a:rPr>
                <a:t>j </a:t>
              </a:r>
              <a:r>
                <a:rPr lang="en">
                  <a:solidFill>
                    <a:schemeClr val="accent2"/>
                  </a:solidFill>
                  <a:latin typeface="Roboto"/>
                  <a:ea typeface="Roboto"/>
                  <a:cs typeface="Roboto"/>
                  <a:sym typeface="Roboto"/>
                </a:rPr>
                <a:t>+ </a:t>
              </a:r>
              <a:r>
                <a:rPr i="1" lang="en">
                  <a:solidFill>
                    <a:schemeClr val="accent2"/>
                  </a:solidFill>
                  <a:latin typeface="Roboto"/>
                  <a:ea typeface="Roboto"/>
                  <a:cs typeface="Roboto"/>
                  <a:sym typeface="Roboto"/>
                </a:rPr>
                <a:t>B</a:t>
              </a:r>
              <a:endParaRPr>
                <a:solidFill>
                  <a:schemeClr val="accent2"/>
                </a:solidFill>
                <a:latin typeface="Roboto"/>
                <a:ea typeface="Roboto"/>
                <a:cs typeface="Roboto"/>
                <a:sym typeface="Roboto"/>
              </a:endParaRPr>
            </a:p>
          </p:txBody>
        </p:sp>
      </p:grpSp>
      <p:grpSp>
        <p:nvGrpSpPr>
          <p:cNvPr id="769" name="Google Shape;769;p34"/>
          <p:cNvGrpSpPr/>
          <p:nvPr/>
        </p:nvGrpSpPr>
        <p:grpSpPr>
          <a:xfrm>
            <a:off x="3039500" y="1791725"/>
            <a:ext cx="3007800" cy="597249"/>
            <a:chOff x="3039500" y="3010925"/>
            <a:chExt cx="3007800" cy="597249"/>
          </a:xfrm>
        </p:grpSpPr>
        <p:cxnSp>
          <p:nvCxnSpPr>
            <p:cNvPr id="770" name="Google Shape;770;p34"/>
            <p:cNvCxnSpPr/>
            <p:nvPr/>
          </p:nvCxnSpPr>
          <p:spPr>
            <a:xfrm>
              <a:off x="3039500" y="3166274"/>
              <a:ext cx="3007800" cy="441900"/>
            </a:xfrm>
            <a:prstGeom prst="straightConnector1">
              <a:avLst/>
            </a:prstGeom>
            <a:noFill/>
            <a:ln cap="flat" cmpd="sng" w="19050">
              <a:solidFill>
                <a:srgbClr val="0000FF"/>
              </a:solidFill>
              <a:prstDash val="solid"/>
              <a:round/>
              <a:headEnd len="med" w="med" type="none"/>
              <a:tailEnd len="med" w="med" type="triangle"/>
            </a:ln>
          </p:spPr>
        </p:cxnSp>
        <p:sp>
          <p:nvSpPr>
            <p:cNvPr id="771" name="Google Shape;771;p34"/>
            <p:cNvSpPr txBox="1"/>
            <p:nvPr/>
          </p:nvSpPr>
          <p:spPr>
            <a:xfrm rot="509539">
              <a:off x="3957694" y="3092615"/>
              <a:ext cx="1127462" cy="284220"/>
            </a:xfrm>
            <a:prstGeom prst="rect">
              <a:avLst/>
            </a:prstGeom>
            <a:noFill/>
            <a:ln>
              <a:noFill/>
            </a:ln>
          </p:spPr>
          <p:txBody>
            <a:bodyPr anchorCtr="0" anchor="t" bIns="27425" lIns="27425" spcFirstLastPara="1" rIns="27425" wrap="square" tIns="27425">
              <a:noAutofit/>
            </a:bodyPr>
            <a:lstStyle/>
            <a:p>
              <a:pPr indent="0" lvl="0" marL="0" rtl="0" algn="ctr">
                <a:spcBef>
                  <a:spcPts val="0"/>
                </a:spcBef>
                <a:spcAft>
                  <a:spcPts val="0"/>
                </a:spcAft>
                <a:buNone/>
              </a:pPr>
              <a:r>
                <a:rPr lang="en">
                  <a:solidFill>
                    <a:srgbClr val="0000FF"/>
                  </a:solidFill>
                  <a:latin typeface="Roboto"/>
                  <a:ea typeface="Roboto"/>
                  <a:cs typeface="Roboto"/>
                  <a:sym typeface="Roboto"/>
                </a:rPr>
                <a:t>seq = </a:t>
              </a:r>
              <a:r>
                <a:rPr i="1" lang="en">
                  <a:solidFill>
                    <a:srgbClr val="0000FF"/>
                  </a:solidFill>
                  <a:latin typeface="Roboto"/>
                  <a:ea typeface="Roboto"/>
                  <a:cs typeface="Roboto"/>
                  <a:sym typeface="Roboto"/>
                </a:rPr>
                <a:t>j</a:t>
              </a:r>
              <a:endParaRPr>
                <a:solidFill>
                  <a:srgbClr val="0000FF"/>
                </a:solidFill>
                <a:latin typeface="Roboto"/>
                <a:ea typeface="Roboto"/>
                <a:cs typeface="Roboto"/>
                <a:sym typeface="Roboto"/>
              </a:endParaRPr>
            </a:p>
          </p:txBody>
        </p:sp>
      </p:grpSp>
      <p:grpSp>
        <p:nvGrpSpPr>
          <p:cNvPr id="772" name="Google Shape;772;p34"/>
          <p:cNvGrpSpPr/>
          <p:nvPr/>
        </p:nvGrpSpPr>
        <p:grpSpPr>
          <a:xfrm>
            <a:off x="3039500" y="2932525"/>
            <a:ext cx="3007800" cy="599449"/>
            <a:chOff x="3039500" y="3999325"/>
            <a:chExt cx="3007800" cy="599449"/>
          </a:xfrm>
        </p:grpSpPr>
        <p:cxnSp>
          <p:nvCxnSpPr>
            <p:cNvPr id="773" name="Google Shape;773;p34"/>
            <p:cNvCxnSpPr/>
            <p:nvPr/>
          </p:nvCxnSpPr>
          <p:spPr>
            <a:xfrm>
              <a:off x="3039500" y="4156874"/>
              <a:ext cx="3007800" cy="441900"/>
            </a:xfrm>
            <a:prstGeom prst="straightConnector1">
              <a:avLst/>
            </a:prstGeom>
            <a:noFill/>
            <a:ln cap="flat" cmpd="sng" w="19050">
              <a:solidFill>
                <a:srgbClr val="0000FF"/>
              </a:solidFill>
              <a:prstDash val="solid"/>
              <a:round/>
              <a:headEnd len="med" w="med" type="none"/>
              <a:tailEnd len="med" w="med" type="triangle"/>
            </a:ln>
          </p:spPr>
        </p:cxnSp>
        <p:sp>
          <p:nvSpPr>
            <p:cNvPr id="774" name="Google Shape;774;p34"/>
            <p:cNvSpPr txBox="1"/>
            <p:nvPr/>
          </p:nvSpPr>
          <p:spPr>
            <a:xfrm rot="509640">
              <a:off x="3942862" y="4083115"/>
              <a:ext cx="1155676" cy="284220"/>
            </a:xfrm>
            <a:prstGeom prst="rect">
              <a:avLst/>
            </a:prstGeom>
            <a:noFill/>
            <a:ln>
              <a:noFill/>
            </a:ln>
          </p:spPr>
          <p:txBody>
            <a:bodyPr anchorCtr="0" anchor="t" bIns="27425" lIns="27425" spcFirstLastPara="1" rIns="27425" wrap="square" tIns="27425">
              <a:noAutofit/>
            </a:bodyPr>
            <a:lstStyle/>
            <a:p>
              <a:pPr indent="0" lvl="0" marL="0" rtl="0" algn="ctr">
                <a:spcBef>
                  <a:spcPts val="0"/>
                </a:spcBef>
                <a:spcAft>
                  <a:spcPts val="0"/>
                </a:spcAft>
                <a:buNone/>
              </a:pPr>
              <a:r>
                <a:rPr lang="en">
                  <a:solidFill>
                    <a:srgbClr val="0000FF"/>
                  </a:solidFill>
                  <a:latin typeface="Roboto"/>
                  <a:ea typeface="Roboto"/>
                  <a:cs typeface="Roboto"/>
                  <a:sym typeface="Roboto"/>
                </a:rPr>
                <a:t>seq = </a:t>
              </a:r>
              <a:r>
                <a:rPr i="1" lang="en">
                  <a:solidFill>
                    <a:srgbClr val="0000FF"/>
                  </a:solidFill>
                  <a:latin typeface="Roboto"/>
                  <a:ea typeface="Roboto"/>
                  <a:cs typeface="Roboto"/>
                  <a:sym typeface="Roboto"/>
                </a:rPr>
                <a:t>j</a:t>
              </a:r>
              <a:r>
                <a:rPr lang="en">
                  <a:solidFill>
                    <a:srgbClr val="0000FF"/>
                  </a:solidFill>
                  <a:latin typeface="Roboto"/>
                  <a:ea typeface="Roboto"/>
                  <a:cs typeface="Roboto"/>
                  <a:sym typeface="Roboto"/>
                </a:rPr>
                <a:t> + </a:t>
              </a:r>
              <a:r>
                <a:rPr i="1" lang="en">
                  <a:solidFill>
                    <a:srgbClr val="0000FF"/>
                  </a:solidFill>
                  <a:latin typeface="Roboto"/>
                  <a:ea typeface="Roboto"/>
                  <a:cs typeface="Roboto"/>
                  <a:sym typeface="Roboto"/>
                </a:rPr>
                <a:t>B</a:t>
              </a:r>
              <a:endParaRPr>
                <a:solidFill>
                  <a:srgbClr val="0000FF"/>
                </a:solidFill>
                <a:latin typeface="Roboto"/>
                <a:ea typeface="Roboto"/>
                <a:cs typeface="Roboto"/>
                <a:sym typeface="Roboto"/>
              </a:endParaRPr>
            </a:p>
          </p:txBody>
        </p:sp>
      </p:grpSp>
      <p:grpSp>
        <p:nvGrpSpPr>
          <p:cNvPr id="775" name="Google Shape;775;p34"/>
          <p:cNvGrpSpPr/>
          <p:nvPr/>
        </p:nvGrpSpPr>
        <p:grpSpPr>
          <a:xfrm>
            <a:off x="3039475" y="3378652"/>
            <a:ext cx="3019775" cy="728348"/>
            <a:chOff x="3039475" y="1702252"/>
            <a:chExt cx="3019775" cy="728348"/>
          </a:xfrm>
        </p:grpSpPr>
        <p:cxnSp>
          <p:nvCxnSpPr>
            <p:cNvPr id="776" name="Google Shape;776;p34"/>
            <p:cNvCxnSpPr/>
            <p:nvPr/>
          </p:nvCxnSpPr>
          <p:spPr>
            <a:xfrm flipH="1">
              <a:off x="3039475" y="1981200"/>
              <a:ext cx="3015000" cy="449400"/>
            </a:xfrm>
            <a:prstGeom prst="straightConnector1">
              <a:avLst/>
            </a:prstGeom>
            <a:noFill/>
            <a:ln cap="flat" cmpd="sng" w="19050">
              <a:solidFill>
                <a:schemeClr val="accent2"/>
              </a:solidFill>
              <a:prstDash val="solid"/>
              <a:round/>
              <a:headEnd len="med" w="med" type="none"/>
              <a:tailEnd len="med" w="med" type="triangle"/>
            </a:ln>
          </p:spPr>
        </p:cxnSp>
        <p:sp>
          <p:nvSpPr>
            <p:cNvPr id="777" name="Google Shape;777;p34"/>
            <p:cNvSpPr txBox="1"/>
            <p:nvPr/>
          </p:nvSpPr>
          <p:spPr>
            <a:xfrm rot="-511693">
              <a:off x="3050742" y="1923442"/>
              <a:ext cx="3004117" cy="284220"/>
            </a:xfrm>
            <a:prstGeom prst="rect">
              <a:avLst/>
            </a:prstGeom>
            <a:noFill/>
            <a:ln>
              <a:noFill/>
            </a:ln>
          </p:spPr>
          <p:txBody>
            <a:bodyPr anchorCtr="0" anchor="t" bIns="27425" lIns="27425" spcFirstLastPara="1" rIns="27425" wrap="square" tIns="27425">
              <a:noAutofit/>
            </a:bodyPr>
            <a:lstStyle/>
            <a:p>
              <a:pPr indent="0" lvl="0" marL="0" rtl="0" algn="ctr">
                <a:spcBef>
                  <a:spcPts val="0"/>
                </a:spcBef>
                <a:spcAft>
                  <a:spcPts val="0"/>
                </a:spcAft>
                <a:buNone/>
              </a:pPr>
              <a:r>
                <a:rPr lang="en">
                  <a:solidFill>
                    <a:schemeClr val="accent2"/>
                  </a:solidFill>
                  <a:latin typeface="Roboto"/>
                  <a:ea typeface="Roboto"/>
                  <a:cs typeface="Roboto"/>
                  <a:sym typeface="Roboto"/>
                </a:rPr>
                <a:t>ack = </a:t>
              </a:r>
              <a:r>
                <a:rPr i="1" lang="en">
                  <a:solidFill>
                    <a:schemeClr val="accent2"/>
                  </a:solidFill>
                  <a:latin typeface="Roboto"/>
                  <a:ea typeface="Roboto"/>
                  <a:cs typeface="Roboto"/>
                  <a:sym typeface="Roboto"/>
                </a:rPr>
                <a:t>j </a:t>
              </a:r>
              <a:r>
                <a:rPr lang="en">
                  <a:solidFill>
                    <a:schemeClr val="accent2"/>
                  </a:solidFill>
                  <a:latin typeface="Roboto"/>
                  <a:ea typeface="Roboto"/>
                  <a:cs typeface="Roboto"/>
                  <a:sym typeface="Roboto"/>
                </a:rPr>
                <a:t>+ 2</a:t>
              </a:r>
              <a:r>
                <a:rPr i="1" lang="en">
                  <a:solidFill>
                    <a:schemeClr val="accent2"/>
                  </a:solidFill>
                  <a:latin typeface="Roboto"/>
                  <a:ea typeface="Roboto"/>
                  <a:cs typeface="Roboto"/>
                  <a:sym typeface="Roboto"/>
                </a:rPr>
                <a:t>B</a:t>
              </a:r>
              <a:endParaRPr>
                <a:solidFill>
                  <a:schemeClr val="accent2"/>
                </a:solidFill>
                <a:latin typeface="Roboto"/>
                <a:ea typeface="Roboto"/>
                <a:cs typeface="Roboto"/>
                <a:sym typeface="Roboto"/>
              </a:endParaRPr>
            </a:p>
          </p:txBody>
        </p:sp>
      </p:grpSp>
      <p:grpSp>
        <p:nvGrpSpPr>
          <p:cNvPr id="778" name="Google Shape;778;p34"/>
          <p:cNvGrpSpPr/>
          <p:nvPr/>
        </p:nvGrpSpPr>
        <p:grpSpPr>
          <a:xfrm>
            <a:off x="3039500" y="4075525"/>
            <a:ext cx="3007800" cy="599449"/>
            <a:chOff x="3039500" y="3999325"/>
            <a:chExt cx="3007800" cy="599449"/>
          </a:xfrm>
        </p:grpSpPr>
        <p:cxnSp>
          <p:nvCxnSpPr>
            <p:cNvPr id="779" name="Google Shape;779;p34"/>
            <p:cNvCxnSpPr/>
            <p:nvPr/>
          </p:nvCxnSpPr>
          <p:spPr>
            <a:xfrm>
              <a:off x="3039500" y="4156874"/>
              <a:ext cx="3007800" cy="441900"/>
            </a:xfrm>
            <a:prstGeom prst="straightConnector1">
              <a:avLst/>
            </a:prstGeom>
            <a:noFill/>
            <a:ln cap="flat" cmpd="sng" w="19050">
              <a:solidFill>
                <a:srgbClr val="0000FF"/>
              </a:solidFill>
              <a:prstDash val="solid"/>
              <a:round/>
              <a:headEnd len="med" w="med" type="none"/>
              <a:tailEnd len="med" w="med" type="triangle"/>
            </a:ln>
          </p:spPr>
        </p:cxnSp>
        <p:sp>
          <p:nvSpPr>
            <p:cNvPr id="780" name="Google Shape;780;p34"/>
            <p:cNvSpPr txBox="1"/>
            <p:nvPr/>
          </p:nvSpPr>
          <p:spPr>
            <a:xfrm rot="509640">
              <a:off x="3942862" y="4083115"/>
              <a:ext cx="1155676" cy="284220"/>
            </a:xfrm>
            <a:prstGeom prst="rect">
              <a:avLst/>
            </a:prstGeom>
            <a:noFill/>
            <a:ln>
              <a:noFill/>
            </a:ln>
          </p:spPr>
          <p:txBody>
            <a:bodyPr anchorCtr="0" anchor="t" bIns="27425" lIns="27425" spcFirstLastPara="1" rIns="27425" wrap="square" tIns="27425">
              <a:noAutofit/>
            </a:bodyPr>
            <a:lstStyle/>
            <a:p>
              <a:pPr indent="0" lvl="0" marL="0" rtl="0" algn="ctr">
                <a:spcBef>
                  <a:spcPts val="0"/>
                </a:spcBef>
                <a:spcAft>
                  <a:spcPts val="0"/>
                </a:spcAft>
                <a:buNone/>
              </a:pPr>
              <a:r>
                <a:rPr lang="en">
                  <a:solidFill>
                    <a:srgbClr val="0000FF"/>
                  </a:solidFill>
                  <a:latin typeface="Roboto"/>
                  <a:ea typeface="Roboto"/>
                  <a:cs typeface="Roboto"/>
                  <a:sym typeface="Roboto"/>
                </a:rPr>
                <a:t>seq = </a:t>
              </a:r>
              <a:r>
                <a:rPr i="1" lang="en">
                  <a:solidFill>
                    <a:srgbClr val="0000FF"/>
                  </a:solidFill>
                  <a:latin typeface="Roboto"/>
                  <a:ea typeface="Roboto"/>
                  <a:cs typeface="Roboto"/>
                  <a:sym typeface="Roboto"/>
                </a:rPr>
                <a:t>j</a:t>
              </a:r>
              <a:r>
                <a:rPr lang="en">
                  <a:solidFill>
                    <a:srgbClr val="0000FF"/>
                  </a:solidFill>
                  <a:latin typeface="Roboto"/>
                  <a:ea typeface="Roboto"/>
                  <a:cs typeface="Roboto"/>
                  <a:sym typeface="Roboto"/>
                </a:rPr>
                <a:t> + 2</a:t>
              </a:r>
              <a:r>
                <a:rPr i="1" lang="en">
                  <a:solidFill>
                    <a:srgbClr val="0000FF"/>
                  </a:solidFill>
                  <a:latin typeface="Roboto"/>
                  <a:ea typeface="Roboto"/>
                  <a:cs typeface="Roboto"/>
                  <a:sym typeface="Roboto"/>
                </a:rPr>
                <a:t>B</a:t>
              </a:r>
              <a:endParaRPr>
                <a:solidFill>
                  <a:srgbClr val="0000FF"/>
                </a:solidFill>
                <a:latin typeface="Roboto"/>
                <a:ea typeface="Roboto"/>
                <a:cs typeface="Roboto"/>
                <a:sym typeface="Roboto"/>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4" name="Shape 784"/>
        <p:cNvGrpSpPr/>
        <p:nvPr/>
      </p:nvGrpSpPr>
      <p:grpSpPr>
        <a:xfrm>
          <a:off x="0" y="0"/>
          <a:ext cx="0" cy="0"/>
          <a:chOff x="0" y="0"/>
          <a:chExt cx="0" cy="0"/>
        </a:xfrm>
      </p:grpSpPr>
      <p:sp>
        <p:nvSpPr>
          <p:cNvPr id="785" name="Google Shape;785;p35"/>
          <p:cNvSpPr txBox="1"/>
          <p:nvPr>
            <p:ph idx="1" type="body"/>
          </p:nvPr>
        </p:nvSpPr>
        <p:spPr>
          <a:xfrm>
            <a:off x="4812375" y="402200"/>
            <a:ext cx="4158000" cy="42609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None/>
            </a:pPr>
            <a:r>
              <a:rPr b="1" lang="en">
                <a:solidFill>
                  <a:schemeClr val="accent3"/>
                </a:solidFill>
                <a:latin typeface="Roboto"/>
                <a:ea typeface="Roboto"/>
                <a:cs typeface="Roboto"/>
                <a:sym typeface="Roboto"/>
              </a:rPr>
              <a:t>Implementing TCP</a:t>
            </a:r>
            <a:endParaRPr>
              <a:solidFill>
                <a:srgbClr val="B7B7B7"/>
              </a:solidFill>
            </a:endParaRPr>
          </a:p>
          <a:p>
            <a:pPr indent="-342900" lvl="0" marL="457200" rtl="0" algn="l">
              <a:spcBef>
                <a:spcPts val="600"/>
              </a:spcBef>
              <a:spcAft>
                <a:spcPts val="0"/>
              </a:spcAft>
              <a:buClr>
                <a:srgbClr val="B7B7B7"/>
              </a:buClr>
              <a:buSzPts val="1800"/>
              <a:buChar char="•"/>
            </a:pPr>
            <a:r>
              <a:rPr lang="en">
                <a:solidFill>
                  <a:srgbClr val="B7B7B7"/>
                </a:solidFill>
              </a:rPr>
              <a:t>Byte Notation</a:t>
            </a:r>
            <a:br>
              <a:rPr lang="en">
                <a:solidFill>
                  <a:srgbClr val="B7B7B7"/>
                </a:solidFill>
              </a:rPr>
            </a:br>
            <a:r>
              <a:rPr lang="en">
                <a:solidFill>
                  <a:srgbClr val="B7B7B7"/>
                </a:solidFill>
              </a:rPr>
              <a:t>(Segments, Sequence Numbers)</a:t>
            </a:r>
            <a:endParaRPr>
              <a:solidFill>
                <a:srgbClr val="B7B7B7"/>
              </a:solidFill>
            </a:endParaRPr>
          </a:p>
          <a:p>
            <a:pPr indent="-342900" lvl="0" marL="457200" rtl="0" algn="l">
              <a:spcBef>
                <a:spcPts val="0"/>
              </a:spcBef>
              <a:spcAft>
                <a:spcPts val="0"/>
              </a:spcAft>
              <a:buClr>
                <a:schemeClr val="accent3"/>
              </a:buClr>
              <a:buSzPts val="1800"/>
              <a:buFont typeface="Roboto"/>
              <a:buChar char="•"/>
            </a:pPr>
            <a:r>
              <a:rPr b="1" lang="en">
                <a:solidFill>
                  <a:schemeClr val="accent3"/>
                </a:solidFill>
                <a:latin typeface="Roboto"/>
                <a:ea typeface="Roboto"/>
                <a:cs typeface="Roboto"/>
                <a:sym typeface="Roboto"/>
              </a:rPr>
              <a:t>Maintaining State (Full Duplex, Connection Setup and Teardown)</a:t>
            </a:r>
            <a:endParaRPr>
              <a:solidFill>
                <a:srgbClr val="B7B7B7"/>
              </a:solidFill>
            </a:endParaRPr>
          </a:p>
          <a:p>
            <a:pPr indent="-342900" lvl="0" marL="457200" rtl="0" algn="l">
              <a:spcBef>
                <a:spcPts val="0"/>
              </a:spcBef>
              <a:spcAft>
                <a:spcPts val="0"/>
              </a:spcAft>
              <a:buClr>
                <a:srgbClr val="B7B7B7"/>
              </a:buClr>
              <a:buSzPts val="1800"/>
              <a:buChar char="•"/>
            </a:pPr>
            <a:r>
              <a:rPr lang="en">
                <a:solidFill>
                  <a:srgbClr val="B7B7B7"/>
                </a:solidFill>
              </a:rPr>
              <a:t>Sliding Window</a:t>
            </a:r>
            <a:endParaRPr>
              <a:solidFill>
                <a:srgbClr val="B7B7B7"/>
              </a:solidFill>
            </a:endParaRPr>
          </a:p>
          <a:p>
            <a:pPr indent="-342900" lvl="0" marL="457200" rtl="0" algn="l">
              <a:spcBef>
                <a:spcPts val="0"/>
              </a:spcBef>
              <a:spcAft>
                <a:spcPts val="0"/>
              </a:spcAft>
              <a:buClr>
                <a:srgbClr val="B7B7B7"/>
              </a:buClr>
              <a:buSzPts val="1800"/>
              <a:buChar char="•"/>
            </a:pPr>
            <a:r>
              <a:rPr lang="en">
                <a:solidFill>
                  <a:srgbClr val="B7B7B7"/>
                </a:solidFill>
              </a:rPr>
              <a:t>Header</a:t>
            </a:r>
            <a:endParaRPr>
              <a:solidFill>
                <a:srgbClr val="B7B7B7"/>
              </a:solidFill>
            </a:endParaRPr>
          </a:p>
        </p:txBody>
      </p:sp>
      <p:sp>
        <p:nvSpPr>
          <p:cNvPr id="786" name="Google Shape;786;p35"/>
          <p:cNvSpPr txBox="1"/>
          <p:nvPr>
            <p:ph type="title"/>
          </p:nvPr>
        </p:nvSpPr>
        <p:spPr>
          <a:xfrm>
            <a:off x="177925" y="2003300"/>
            <a:ext cx="4038000" cy="20379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Maintaining State (Full Duplex)</a:t>
            </a:r>
            <a:endParaRPr/>
          </a:p>
        </p:txBody>
      </p:sp>
      <p:sp>
        <p:nvSpPr>
          <p:cNvPr id="787" name="Google Shape;787;p35"/>
          <p:cNvSpPr txBox="1"/>
          <p:nvPr>
            <p:ph idx="2" type="subTitle"/>
          </p:nvPr>
        </p:nvSpPr>
        <p:spPr>
          <a:xfrm>
            <a:off x="177925" y="4068000"/>
            <a:ext cx="4158000" cy="3936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None/>
            </a:pPr>
            <a:r>
              <a:rPr lang="en"/>
              <a:t>Lecture 11</a:t>
            </a:r>
            <a:r>
              <a:rPr lang="en"/>
              <a:t>, CS 168, </a:t>
            </a:r>
            <a:r>
              <a:rPr lang="en"/>
              <a:t>Summer 2025</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1" name="Shape 791"/>
        <p:cNvGrpSpPr/>
        <p:nvPr/>
      </p:nvGrpSpPr>
      <p:grpSpPr>
        <a:xfrm>
          <a:off x="0" y="0"/>
          <a:ext cx="0" cy="0"/>
          <a:chOff x="0" y="0"/>
          <a:chExt cx="0" cy="0"/>
        </a:xfrm>
      </p:grpSpPr>
      <p:sp>
        <p:nvSpPr>
          <p:cNvPr id="792" name="Google Shape;792;p36"/>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TCP State</a:t>
            </a:r>
            <a:endParaRPr/>
          </a:p>
        </p:txBody>
      </p:sp>
      <p:sp>
        <p:nvSpPr>
          <p:cNvPr id="793" name="Google Shape;793;p36"/>
          <p:cNvSpPr txBox="1"/>
          <p:nvPr>
            <p:ph idx="1" type="body"/>
          </p:nvPr>
        </p:nvSpPr>
        <p:spPr>
          <a:xfrm>
            <a:off x="107050" y="402200"/>
            <a:ext cx="8909700" cy="45306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Reliability requires maintaining </a:t>
            </a:r>
            <a:r>
              <a:rPr i="1" lang="en"/>
              <a:t>state</a:t>
            </a:r>
            <a:r>
              <a:rPr lang="en"/>
              <a:t> at the end hosts.</a:t>
            </a:r>
            <a:endParaRPr/>
          </a:p>
          <a:p>
            <a:pPr indent="-342900" lvl="0" marL="457200" rtl="0" algn="l">
              <a:spcBef>
                <a:spcPts val="600"/>
              </a:spcBef>
              <a:spcAft>
                <a:spcPts val="0"/>
              </a:spcAft>
              <a:buSzPts val="1800"/>
              <a:buChar char="●"/>
            </a:pPr>
            <a:r>
              <a:rPr lang="en"/>
              <a:t>Sender has to remember:</a:t>
            </a:r>
            <a:endParaRPr/>
          </a:p>
          <a:p>
            <a:pPr indent="-342900" lvl="1" marL="914400" rtl="0" algn="l">
              <a:spcBef>
                <a:spcPts val="0"/>
              </a:spcBef>
              <a:spcAft>
                <a:spcPts val="0"/>
              </a:spcAft>
              <a:buSzPts val="1800"/>
              <a:buChar char="○"/>
            </a:pPr>
            <a:r>
              <a:rPr lang="en"/>
              <a:t>Which packets have been sent and not acked?</a:t>
            </a:r>
            <a:endParaRPr/>
          </a:p>
          <a:p>
            <a:pPr indent="-342900" lvl="1" marL="914400" rtl="0" algn="l">
              <a:spcBef>
                <a:spcPts val="0"/>
              </a:spcBef>
              <a:spcAft>
                <a:spcPts val="0"/>
              </a:spcAft>
              <a:buSzPts val="1800"/>
              <a:buChar char="○"/>
            </a:pPr>
            <a:r>
              <a:rPr lang="en"/>
              <a:t>How much longer on the timer before I resend a packet?</a:t>
            </a:r>
            <a:endParaRPr/>
          </a:p>
          <a:p>
            <a:pPr indent="-342900" lvl="0" marL="457200" rtl="0" algn="l">
              <a:spcBef>
                <a:spcPts val="0"/>
              </a:spcBef>
              <a:spcAft>
                <a:spcPts val="0"/>
              </a:spcAft>
              <a:buSzPts val="1800"/>
              <a:buChar char="●"/>
            </a:pPr>
            <a:r>
              <a:rPr lang="en"/>
              <a:t>Receiver has to buffer the out-of-order packets.</a:t>
            </a:r>
            <a:endParaRPr/>
          </a:p>
          <a:p>
            <a:pPr indent="-342900" lvl="0" marL="457200" rtl="0" algn="l">
              <a:spcBef>
                <a:spcPts val="0"/>
              </a:spcBef>
              <a:spcAft>
                <a:spcPts val="0"/>
              </a:spcAft>
              <a:buSzPts val="1800"/>
              <a:buChar char="●"/>
            </a:pPr>
            <a:r>
              <a:rPr lang="en"/>
              <a:t>State is maintained at the end hosts, not in the network.</a:t>
            </a:r>
            <a:endParaRPr/>
          </a:p>
          <a:p>
            <a:pPr indent="0" lvl="0" marL="0" rtl="0" algn="l">
              <a:spcBef>
                <a:spcPts val="600"/>
              </a:spcBef>
              <a:spcAft>
                <a:spcPts val="0"/>
              </a:spcAft>
              <a:buNone/>
            </a:pPr>
            <a:r>
              <a:rPr lang="en"/>
              <a:t>In each separate connection, both end hosts need to maintain state.</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7" name="Shape 797"/>
        <p:cNvGrpSpPr/>
        <p:nvPr/>
      </p:nvGrpSpPr>
      <p:grpSpPr>
        <a:xfrm>
          <a:off x="0" y="0"/>
          <a:ext cx="0" cy="0"/>
          <a:chOff x="0" y="0"/>
          <a:chExt cx="0" cy="0"/>
        </a:xfrm>
      </p:grpSpPr>
      <p:sp>
        <p:nvSpPr>
          <p:cNvPr id="798" name="Google Shape;798;p37"/>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TCP is Full-Duplex</a:t>
            </a:r>
            <a:endParaRPr/>
          </a:p>
        </p:txBody>
      </p:sp>
      <p:sp>
        <p:nvSpPr>
          <p:cNvPr id="799" name="Google Shape;799;p37"/>
          <p:cNvSpPr txBox="1"/>
          <p:nvPr>
            <p:ph idx="1" type="body"/>
          </p:nvPr>
        </p:nvSpPr>
        <p:spPr>
          <a:xfrm>
            <a:off x="107050" y="402200"/>
            <a:ext cx="8909700" cy="34392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So far, we defined a sender and a recipient in every connection.</a:t>
            </a:r>
            <a:endParaRPr/>
          </a:p>
          <a:p>
            <a:pPr indent="0" lvl="0" marL="0" rtl="0" algn="l">
              <a:spcBef>
                <a:spcPts val="600"/>
              </a:spcBef>
              <a:spcAft>
                <a:spcPts val="0"/>
              </a:spcAft>
              <a:buNone/>
            </a:pPr>
            <a:r>
              <a:rPr lang="en"/>
              <a:t>Connections in TCP are </a:t>
            </a:r>
            <a:r>
              <a:rPr b="1" lang="en"/>
              <a:t>full-duplex</a:t>
            </a:r>
            <a:r>
              <a:rPr lang="en"/>
              <a:t>.</a:t>
            </a:r>
            <a:endParaRPr/>
          </a:p>
          <a:p>
            <a:pPr indent="-342900" lvl="0" marL="457200" rtl="0" algn="l">
              <a:spcBef>
                <a:spcPts val="600"/>
              </a:spcBef>
              <a:spcAft>
                <a:spcPts val="0"/>
              </a:spcAft>
              <a:buSzPts val="1800"/>
              <a:buChar char="●"/>
            </a:pPr>
            <a:r>
              <a:rPr lang="en"/>
              <a:t>Both hosts can send data, and both hosts can receive data.</a:t>
            </a:r>
            <a:endParaRPr/>
          </a:p>
          <a:p>
            <a:pPr indent="-342900" lvl="0" marL="457200" rtl="0" algn="l">
              <a:spcBef>
                <a:spcPts val="0"/>
              </a:spcBef>
              <a:spcAft>
                <a:spcPts val="0"/>
              </a:spcAft>
              <a:buSzPts val="1800"/>
              <a:buChar char="●"/>
            </a:pPr>
            <a:r>
              <a:rPr lang="en"/>
              <a:t>A can send to B, and B can send to A, simultaneously, in the same connection.</a:t>
            </a:r>
            <a:endParaRPr/>
          </a:p>
          <a:p>
            <a:pPr indent="0" lvl="0" marL="0" rtl="0" algn="l">
              <a:spcBef>
                <a:spcPts val="600"/>
              </a:spcBef>
              <a:spcAft>
                <a:spcPts val="0"/>
              </a:spcAft>
              <a:buNone/>
            </a:pPr>
            <a:r>
              <a:rPr lang="en"/>
              <a:t>To support full-duplex connections:</a:t>
            </a:r>
            <a:endParaRPr/>
          </a:p>
          <a:p>
            <a:pPr indent="-342900" lvl="0" marL="457200" rtl="0" algn="l">
              <a:spcBef>
                <a:spcPts val="600"/>
              </a:spcBef>
              <a:spcAft>
                <a:spcPts val="0"/>
              </a:spcAft>
              <a:buSzPts val="1800"/>
              <a:buChar char="●"/>
            </a:pPr>
            <a:r>
              <a:rPr lang="en"/>
              <a:t>Two sets of sequence numbers: One for A→B bytes, and one for B→A bytes.</a:t>
            </a:r>
            <a:endParaRPr/>
          </a:p>
          <a:p>
            <a:pPr indent="-342900" lvl="0" marL="457200" rtl="0" algn="l">
              <a:spcBef>
                <a:spcPts val="0"/>
              </a:spcBef>
              <a:spcAft>
                <a:spcPts val="0"/>
              </a:spcAft>
              <a:buSzPts val="1800"/>
              <a:buChar char="●"/>
            </a:pPr>
            <a:r>
              <a:rPr lang="en"/>
              <a:t>Each packet carries both data and ack information.</a:t>
            </a:r>
            <a:endParaRPr/>
          </a:p>
          <a:p>
            <a:pPr indent="-342900" lvl="1" marL="914400" rtl="0" algn="l">
              <a:spcBef>
                <a:spcPts val="0"/>
              </a:spcBef>
              <a:spcAft>
                <a:spcPts val="0"/>
              </a:spcAft>
              <a:buSzPts val="1800"/>
              <a:buChar char="○"/>
            </a:pPr>
            <a:r>
              <a:rPr lang="en"/>
              <a:t>"Here are some bytes starting at 15..."</a:t>
            </a:r>
            <a:endParaRPr/>
          </a:p>
          <a:p>
            <a:pPr indent="-342900" lvl="1" marL="914400" rtl="0" algn="l">
              <a:spcBef>
                <a:spcPts val="0"/>
              </a:spcBef>
              <a:spcAft>
                <a:spcPts val="0"/>
              </a:spcAft>
              <a:buSzPts val="1800"/>
              <a:buChar char="○"/>
            </a:pPr>
            <a:r>
              <a:rPr lang="en"/>
              <a:t>"...Also, I ack receiving all your bytes up to (not including) 84."</a:t>
            </a:r>
            <a:endParaRPr/>
          </a:p>
        </p:txBody>
      </p:sp>
      <p:graphicFrame>
        <p:nvGraphicFramePr>
          <p:cNvPr id="800" name="Google Shape;800;p37"/>
          <p:cNvGraphicFramePr/>
          <p:nvPr/>
        </p:nvGraphicFramePr>
        <p:xfrm>
          <a:off x="604025" y="3961400"/>
          <a:ext cx="3000000" cy="3000000"/>
        </p:xfrm>
        <a:graphic>
          <a:graphicData uri="http://schemas.openxmlformats.org/drawingml/2006/table">
            <a:tbl>
              <a:tblPr>
                <a:noFill/>
                <a:tableStyleId>{1F736DB2-8000-4A80-A771-95157FF95D4A}</a:tableStyleId>
              </a:tblPr>
              <a:tblGrid>
                <a:gridCol w="517075"/>
                <a:gridCol w="517075"/>
                <a:gridCol w="517075"/>
                <a:gridCol w="517075"/>
                <a:gridCol w="517075"/>
                <a:gridCol w="517075"/>
                <a:gridCol w="517075"/>
              </a:tblGrid>
              <a:tr h="336675">
                <a:tc>
                  <a:txBody>
                    <a:bodyPr/>
                    <a:lstStyle/>
                    <a:p>
                      <a:pPr indent="0" lvl="0" marL="0" rtl="0" algn="ctr">
                        <a:spcBef>
                          <a:spcPts val="0"/>
                        </a:spcBef>
                        <a:spcAft>
                          <a:spcPts val="0"/>
                        </a:spcAft>
                        <a:buNone/>
                      </a:pPr>
                      <a:r>
                        <a:rPr lang="en" sz="1600">
                          <a:latin typeface="Roboto"/>
                          <a:ea typeface="Roboto"/>
                          <a:cs typeface="Roboto"/>
                          <a:sym typeface="Roboto"/>
                        </a:rPr>
                        <a:t>15</a:t>
                      </a:r>
                      <a:endParaRPr sz="1600">
                        <a:latin typeface="Roboto"/>
                        <a:ea typeface="Roboto"/>
                        <a:cs typeface="Roboto"/>
                        <a:sym typeface="Roboto"/>
                      </a:endParaRPr>
                    </a:p>
                  </a:txBody>
                  <a:tcPr marT="45700" marB="45700" marR="45700" marL="45700"/>
                </a:tc>
                <a:tc>
                  <a:txBody>
                    <a:bodyPr/>
                    <a:lstStyle/>
                    <a:p>
                      <a:pPr indent="0" lvl="0" marL="0" rtl="0" algn="ctr">
                        <a:spcBef>
                          <a:spcPts val="0"/>
                        </a:spcBef>
                        <a:spcAft>
                          <a:spcPts val="0"/>
                        </a:spcAft>
                        <a:buNone/>
                      </a:pPr>
                      <a:r>
                        <a:rPr lang="en" sz="1600">
                          <a:latin typeface="Roboto"/>
                          <a:ea typeface="Roboto"/>
                          <a:cs typeface="Roboto"/>
                          <a:sym typeface="Roboto"/>
                        </a:rPr>
                        <a:t>16</a:t>
                      </a:r>
                      <a:endParaRPr sz="1600">
                        <a:latin typeface="Roboto"/>
                        <a:ea typeface="Roboto"/>
                        <a:cs typeface="Roboto"/>
                        <a:sym typeface="Roboto"/>
                      </a:endParaRPr>
                    </a:p>
                  </a:txBody>
                  <a:tcPr marT="45700" marB="45700" marR="45700" marL="45700"/>
                </a:tc>
                <a:tc>
                  <a:txBody>
                    <a:bodyPr/>
                    <a:lstStyle/>
                    <a:p>
                      <a:pPr indent="0" lvl="0" marL="0" rtl="0" algn="ctr">
                        <a:spcBef>
                          <a:spcPts val="0"/>
                        </a:spcBef>
                        <a:spcAft>
                          <a:spcPts val="0"/>
                        </a:spcAft>
                        <a:buNone/>
                      </a:pPr>
                      <a:r>
                        <a:rPr lang="en" sz="1600">
                          <a:latin typeface="Roboto"/>
                          <a:ea typeface="Roboto"/>
                          <a:cs typeface="Roboto"/>
                          <a:sym typeface="Roboto"/>
                        </a:rPr>
                        <a:t>17</a:t>
                      </a:r>
                      <a:endParaRPr sz="1600">
                        <a:latin typeface="Roboto"/>
                        <a:ea typeface="Roboto"/>
                        <a:cs typeface="Roboto"/>
                        <a:sym typeface="Roboto"/>
                      </a:endParaRPr>
                    </a:p>
                  </a:txBody>
                  <a:tcPr marT="45700" marB="45700" marR="45700" marL="45700"/>
                </a:tc>
                <a:tc>
                  <a:txBody>
                    <a:bodyPr/>
                    <a:lstStyle/>
                    <a:p>
                      <a:pPr indent="0" lvl="0" marL="0" rtl="0" algn="ctr">
                        <a:spcBef>
                          <a:spcPts val="0"/>
                        </a:spcBef>
                        <a:spcAft>
                          <a:spcPts val="0"/>
                        </a:spcAft>
                        <a:buNone/>
                      </a:pPr>
                      <a:r>
                        <a:rPr lang="en" sz="1600">
                          <a:latin typeface="Roboto"/>
                          <a:ea typeface="Roboto"/>
                          <a:cs typeface="Roboto"/>
                          <a:sym typeface="Roboto"/>
                        </a:rPr>
                        <a:t>18</a:t>
                      </a:r>
                      <a:endParaRPr sz="1600">
                        <a:latin typeface="Roboto"/>
                        <a:ea typeface="Roboto"/>
                        <a:cs typeface="Roboto"/>
                        <a:sym typeface="Roboto"/>
                      </a:endParaRPr>
                    </a:p>
                  </a:txBody>
                  <a:tcPr marT="45700" marB="45700" marR="45700" marL="45700"/>
                </a:tc>
                <a:tc>
                  <a:txBody>
                    <a:bodyPr/>
                    <a:lstStyle/>
                    <a:p>
                      <a:pPr indent="0" lvl="0" marL="0" rtl="0" algn="ctr">
                        <a:spcBef>
                          <a:spcPts val="0"/>
                        </a:spcBef>
                        <a:spcAft>
                          <a:spcPts val="0"/>
                        </a:spcAft>
                        <a:buNone/>
                      </a:pPr>
                      <a:r>
                        <a:rPr lang="en" sz="1600">
                          <a:latin typeface="Roboto"/>
                          <a:ea typeface="Roboto"/>
                          <a:cs typeface="Roboto"/>
                          <a:sym typeface="Roboto"/>
                        </a:rPr>
                        <a:t>19</a:t>
                      </a:r>
                      <a:endParaRPr sz="1600">
                        <a:latin typeface="Roboto"/>
                        <a:ea typeface="Roboto"/>
                        <a:cs typeface="Roboto"/>
                        <a:sym typeface="Roboto"/>
                      </a:endParaRPr>
                    </a:p>
                  </a:txBody>
                  <a:tcPr marT="45700" marB="45700" marR="45700" marL="45700"/>
                </a:tc>
                <a:tc>
                  <a:txBody>
                    <a:bodyPr/>
                    <a:lstStyle/>
                    <a:p>
                      <a:pPr indent="0" lvl="0" marL="0" rtl="0" algn="ctr">
                        <a:spcBef>
                          <a:spcPts val="0"/>
                        </a:spcBef>
                        <a:spcAft>
                          <a:spcPts val="0"/>
                        </a:spcAft>
                        <a:buNone/>
                      </a:pPr>
                      <a:r>
                        <a:rPr lang="en" sz="1600">
                          <a:latin typeface="Roboto"/>
                          <a:ea typeface="Roboto"/>
                          <a:cs typeface="Roboto"/>
                          <a:sym typeface="Roboto"/>
                        </a:rPr>
                        <a:t>20</a:t>
                      </a:r>
                      <a:endParaRPr sz="1600">
                        <a:latin typeface="Roboto"/>
                        <a:ea typeface="Roboto"/>
                        <a:cs typeface="Roboto"/>
                        <a:sym typeface="Roboto"/>
                      </a:endParaRPr>
                    </a:p>
                  </a:txBody>
                  <a:tcPr marT="45700" marB="45700" marR="45700" marL="45700"/>
                </a:tc>
                <a:tc>
                  <a:txBody>
                    <a:bodyPr/>
                    <a:lstStyle/>
                    <a:p>
                      <a:pPr indent="0" lvl="0" marL="0" rtl="0" algn="ctr">
                        <a:spcBef>
                          <a:spcPts val="0"/>
                        </a:spcBef>
                        <a:spcAft>
                          <a:spcPts val="0"/>
                        </a:spcAft>
                        <a:buNone/>
                      </a:pPr>
                      <a:r>
                        <a:rPr lang="en" sz="1600">
                          <a:latin typeface="Roboto"/>
                          <a:ea typeface="Roboto"/>
                          <a:cs typeface="Roboto"/>
                          <a:sym typeface="Roboto"/>
                        </a:rPr>
                        <a:t>21</a:t>
                      </a:r>
                      <a:endParaRPr sz="1600">
                        <a:latin typeface="Roboto"/>
                        <a:ea typeface="Roboto"/>
                        <a:cs typeface="Roboto"/>
                        <a:sym typeface="Roboto"/>
                      </a:endParaRPr>
                    </a:p>
                  </a:txBody>
                  <a:tcPr marT="45700" marB="45700" marR="45700" marL="45700"/>
                </a:tc>
              </a:tr>
              <a:tr h="336675">
                <a:tc>
                  <a:txBody>
                    <a:bodyPr/>
                    <a:lstStyle/>
                    <a:p>
                      <a:pPr indent="0" lvl="0" marL="0" rtl="0" algn="ctr">
                        <a:spcBef>
                          <a:spcPts val="0"/>
                        </a:spcBef>
                        <a:spcAft>
                          <a:spcPts val="0"/>
                        </a:spcAft>
                        <a:buNone/>
                      </a:pPr>
                      <a:r>
                        <a:rPr lang="en" sz="1600">
                          <a:latin typeface="Roboto"/>
                          <a:ea typeface="Roboto"/>
                          <a:cs typeface="Roboto"/>
                          <a:sym typeface="Roboto"/>
                        </a:rPr>
                        <a:t>H</a:t>
                      </a:r>
                      <a:endParaRPr sz="1600">
                        <a:latin typeface="Roboto"/>
                        <a:ea typeface="Roboto"/>
                        <a:cs typeface="Roboto"/>
                        <a:sym typeface="Roboto"/>
                      </a:endParaRPr>
                    </a:p>
                  </a:txBody>
                  <a:tcPr marT="45700" marB="45700" marR="45700" marL="45700"/>
                </a:tc>
                <a:tc>
                  <a:txBody>
                    <a:bodyPr/>
                    <a:lstStyle/>
                    <a:p>
                      <a:pPr indent="0" lvl="0" marL="0" rtl="0" algn="ctr">
                        <a:spcBef>
                          <a:spcPts val="0"/>
                        </a:spcBef>
                        <a:spcAft>
                          <a:spcPts val="0"/>
                        </a:spcAft>
                        <a:buNone/>
                      </a:pPr>
                      <a:r>
                        <a:rPr lang="en" sz="1600">
                          <a:latin typeface="Roboto"/>
                          <a:ea typeface="Roboto"/>
                          <a:cs typeface="Roboto"/>
                          <a:sym typeface="Roboto"/>
                        </a:rPr>
                        <a:t>e</a:t>
                      </a:r>
                      <a:endParaRPr sz="1600">
                        <a:latin typeface="Roboto"/>
                        <a:ea typeface="Roboto"/>
                        <a:cs typeface="Roboto"/>
                        <a:sym typeface="Roboto"/>
                      </a:endParaRPr>
                    </a:p>
                  </a:txBody>
                  <a:tcPr marT="45700" marB="45700" marR="45700" marL="45700"/>
                </a:tc>
                <a:tc>
                  <a:txBody>
                    <a:bodyPr/>
                    <a:lstStyle/>
                    <a:p>
                      <a:pPr indent="0" lvl="0" marL="0" rtl="0" algn="ctr">
                        <a:spcBef>
                          <a:spcPts val="0"/>
                        </a:spcBef>
                        <a:spcAft>
                          <a:spcPts val="0"/>
                        </a:spcAft>
                        <a:buNone/>
                      </a:pPr>
                      <a:r>
                        <a:rPr lang="en" sz="1600">
                          <a:latin typeface="Roboto"/>
                          <a:ea typeface="Roboto"/>
                          <a:cs typeface="Roboto"/>
                          <a:sym typeface="Roboto"/>
                        </a:rPr>
                        <a:t>l</a:t>
                      </a:r>
                      <a:endParaRPr sz="1600">
                        <a:latin typeface="Roboto"/>
                        <a:ea typeface="Roboto"/>
                        <a:cs typeface="Roboto"/>
                        <a:sym typeface="Roboto"/>
                      </a:endParaRPr>
                    </a:p>
                  </a:txBody>
                  <a:tcPr marT="45700" marB="45700" marR="45700" marL="45700"/>
                </a:tc>
                <a:tc>
                  <a:txBody>
                    <a:bodyPr/>
                    <a:lstStyle/>
                    <a:p>
                      <a:pPr indent="0" lvl="0" marL="0" rtl="0" algn="ctr">
                        <a:spcBef>
                          <a:spcPts val="0"/>
                        </a:spcBef>
                        <a:spcAft>
                          <a:spcPts val="0"/>
                        </a:spcAft>
                        <a:buNone/>
                      </a:pPr>
                      <a:r>
                        <a:rPr lang="en" sz="1600">
                          <a:latin typeface="Roboto"/>
                          <a:ea typeface="Roboto"/>
                          <a:cs typeface="Roboto"/>
                          <a:sym typeface="Roboto"/>
                        </a:rPr>
                        <a:t>l</a:t>
                      </a:r>
                      <a:endParaRPr sz="1600">
                        <a:latin typeface="Roboto"/>
                        <a:ea typeface="Roboto"/>
                        <a:cs typeface="Roboto"/>
                        <a:sym typeface="Roboto"/>
                      </a:endParaRPr>
                    </a:p>
                  </a:txBody>
                  <a:tcPr marT="45700" marB="45700" marR="45700" marL="45700"/>
                </a:tc>
                <a:tc>
                  <a:txBody>
                    <a:bodyPr/>
                    <a:lstStyle/>
                    <a:p>
                      <a:pPr indent="0" lvl="0" marL="0" rtl="0" algn="ctr">
                        <a:spcBef>
                          <a:spcPts val="0"/>
                        </a:spcBef>
                        <a:spcAft>
                          <a:spcPts val="0"/>
                        </a:spcAft>
                        <a:buNone/>
                      </a:pPr>
                      <a:r>
                        <a:rPr lang="en" sz="1600">
                          <a:latin typeface="Roboto"/>
                          <a:ea typeface="Roboto"/>
                          <a:cs typeface="Roboto"/>
                          <a:sym typeface="Roboto"/>
                        </a:rPr>
                        <a:t>o</a:t>
                      </a:r>
                      <a:endParaRPr sz="1600">
                        <a:latin typeface="Roboto"/>
                        <a:ea typeface="Roboto"/>
                        <a:cs typeface="Roboto"/>
                        <a:sym typeface="Roboto"/>
                      </a:endParaRPr>
                    </a:p>
                  </a:txBody>
                  <a:tcPr marT="45700" marB="45700" marR="45700" marL="45700"/>
                </a:tc>
                <a:tc>
                  <a:txBody>
                    <a:bodyPr/>
                    <a:lstStyle/>
                    <a:p>
                      <a:pPr indent="0" lvl="0" marL="0" rtl="0" algn="ctr">
                        <a:spcBef>
                          <a:spcPts val="0"/>
                        </a:spcBef>
                        <a:spcAft>
                          <a:spcPts val="0"/>
                        </a:spcAft>
                        <a:buNone/>
                      </a:pPr>
                      <a:r>
                        <a:rPr lang="en" sz="1600">
                          <a:latin typeface="Roboto"/>
                          <a:ea typeface="Roboto"/>
                          <a:cs typeface="Roboto"/>
                          <a:sym typeface="Roboto"/>
                        </a:rPr>
                        <a:t>,</a:t>
                      </a:r>
                      <a:endParaRPr sz="1600">
                        <a:latin typeface="Roboto"/>
                        <a:ea typeface="Roboto"/>
                        <a:cs typeface="Roboto"/>
                        <a:sym typeface="Roboto"/>
                      </a:endParaRPr>
                    </a:p>
                  </a:txBody>
                  <a:tcPr marT="45700" marB="45700" marR="45700" marL="45700"/>
                </a:tc>
                <a:tc>
                  <a:txBody>
                    <a:bodyPr/>
                    <a:lstStyle/>
                    <a:p>
                      <a:pPr indent="0" lvl="0" marL="0" rtl="0" algn="ctr">
                        <a:spcBef>
                          <a:spcPts val="0"/>
                        </a:spcBef>
                        <a:spcAft>
                          <a:spcPts val="0"/>
                        </a:spcAft>
                        <a:buNone/>
                      </a:pPr>
                      <a:r>
                        <a:rPr lang="en" sz="1600">
                          <a:latin typeface="Roboto"/>
                          <a:ea typeface="Roboto"/>
                          <a:cs typeface="Roboto"/>
                          <a:sym typeface="Roboto"/>
                        </a:rPr>
                        <a:t>B</a:t>
                      </a:r>
                      <a:endParaRPr sz="1600">
                        <a:latin typeface="Roboto"/>
                        <a:ea typeface="Roboto"/>
                        <a:cs typeface="Roboto"/>
                        <a:sym typeface="Roboto"/>
                      </a:endParaRPr>
                    </a:p>
                  </a:txBody>
                  <a:tcPr marT="45700" marB="45700" marR="45700" marL="45700"/>
                </a:tc>
              </a:tr>
            </a:tbl>
          </a:graphicData>
        </a:graphic>
      </p:graphicFrame>
      <p:graphicFrame>
        <p:nvGraphicFramePr>
          <p:cNvPr id="801" name="Google Shape;801;p37"/>
          <p:cNvGraphicFramePr/>
          <p:nvPr/>
        </p:nvGraphicFramePr>
        <p:xfrm>
          <a:off x="4920425" y="3961400"/>
          <a:ext cx="3000000" cy="3000000"/>
        </p:xfrm>
        <a:graphic>
          <a:graphicData uri="http://schemas.openxmlformats.org/drawingml/2006/table">
            <a:tbl>
              <a:tblPr>
                <a:noFill/>
                <a:tableStyleId>{1F736DB2-8000-4A80-A771-95157FF95D4A}</a:tableStyleId>
              </a:tblPr>
              <a:tblGrid>
                <a:gridCol w="517075"/>
                <a:gridCol w="517075"/>
                <a:gridCol w="517075"/>
                <a:gridCol w="517075"/>
                <a:gridCol w="517075"/>
                <a:gridCol w="517075"/>
                <a:gridCol w="517075"/>
              </a:tblGrid>
              <a:tr h="231000">
                <a:tc>
                  <a:txBody>
                    <a:bodyPr/>
                    <a:lstStyle/>
                    <a:p>
                      <a:pPr indent="0" lvl="0" marL="0" rtl="0" algn="ctr">
                        <a:spcBef>
                          <a:spcPts val="0"/>
                        </a:spcBef>
                        <a:spcAft>
                          <a:spcPts val="0"/>
                        </a:spcAft>
                        <a:buNone/>
                      </a:pPr>
                      <a:r>
                        <a:rPr lang="en" sz="1600">
                          <a:latin typeface="Roboto"/>
                          <a:ea typeface="Roboto"/>
                          <a:cs typeface="Roboto"/>
                          <a:sym typeface="Roboto"/>
                        </a:rPr>
                        <a:t>77</a:t>
                      </a:r>
                      <a:endParaRPr sz="1600">
                        <a:latin typeface="Roboto"/>
                        <a:ea typeface="Roboto"/>
                        <a:cs typeface="Roboto"/>
                        <a:sym typeface="Roboto"/>
                      </a:endParaRPr>
                    </a:p>
                  </a:txBody>
                  <a:tcPr marT="45700" marB="45700" marR="45700" marL="45700"/>
                </a:tc>
                <a:tc>
                  <a:txBody>
                    <a:bodyPr/>
                    <a:lstStyle/>
                    <a:p>
                      <a:pPr indent="0" lvl="0" marL="0" rtl="0" algn="ctr">
                        <a:spcBef>
                          <a:spcPts val="0"/>
                        </a:spcBef>
                        <a:spcAft>
                          <a:spcPts val="0"/>
                        </a:spcAft>
                        <a:buNone/>
                      </a:pPr>
                      <a:r>
                        <a:rPr lang="en" sz="1600">
                          <a:latin typeface="Roboto"/>
                          <a:ea typeface="Roboto"/>
                          <a:cs typeface="Roboto"/>
                          <a:sym typeface="Roboto"/>
                        </a:rPr>
                        <a:t>78</a:t>
                      </a:r>
                      <a:endParaRPr sz="1600">
                        <a:latin typeface="Roboto"/>
                        <a:ea typeface="Roboto"/>
                        <a:cs typeface="Roboto"/>
                        <a:sym typeface="Roboto"/>
                      </a:endParaRPr>
                    </a:p>
                  </a:txBody>
                  <a:tcPr marT="45700" marB="45700" marR="45700" marL="45700"/>
                </a:tc>
                <a:tc>
                  <a:txBody>
                    <a:bodyPr/>
                    <a:lstStyle/>
                    <a:p>
                      <a:pPr indent="0" lvl="0" marL="0" rtl="0" algn="ctr">
                        <a:spcBef>
                          <a:spcPts val="0"/>
                        </a:spcBef>
                        <a:spcAft>
                          <a:spcPts val="0"/>
                        </a:spcAft>
                        <a:buNone/>
                      </a:pPr>
                      <a:r>
                        <a:rPr lang="en" sz="1600">
                          <a:latin typeface="Roboto"/>
                          <a:ea typeface="Roboto"/>
                          <a:cs typeface="Roboto"/>
                          <a:sym typeface="Roboto"/>
                        </a:rPr>
                        <a:t>79</a:t>
                      </a:r>
                      <a:endParaRPr sz="1600">
                        <a:latin typeface="Roboto"/>
                        <a:ea typeface="Roboto"/>
                        <a:cs typeface="Roboto"/>
                        <a:sym typeface="Roboto"/>
                      </a:endParaRPr>
                    </a:p>
                  </a:txBody>
                  <a:tcPr marT="45700" marB="45700" marR="45700" marL="45700"/>
                </a:tc>
                <a:tc>
                  <a:txBody>
                    <a:bodyPr/>
                    <a:lstStyle/>
                    <a:p>
                      <a:pPr indent="0" lvl="0" marL="0" rtl="0" algn="ctr">
                        <a:spcBef>
                          <a:spcPts val="0"/>
                        </a:spcBef>
                        <a:spcAft>
                          <a:spcPts val="0"/>
                        </a:spcAft>
                        <a:buNone/>
                      </a:pPr>
                      <a:r>
                        <a:rPr lang="en" sz="1600">
                          <a:latin typeface="Roboto"/>
                          <a:ea typeface="Roboto"/>
                          <a:cs typeface="Roboto"/>
                          <a:sym typeface="Roboto"/>
                        </a:rPr>
                        <a:t>80</a:t>
                      </a:r>
                      <a:endParaRPr sz="1600">
                        <a:latin typeface="Roboto"/>
                        <a:ea typeface="Roboto"/>
                        <a:cs typeface="Roboto"/>
                        <a:sym typeface="Roboto"/>
                      </a:endParaRPr>
                    </a:p>
                  </a:txBody>
                  <a:tcPr marT="45700" marB="45700" marR="45700" marL="45700"/>
                </a:tc>
                <a:tc>
                  <a:txBody>
                    <a:bodyPr/>
                    <a:lstStyle/>
                    <a:p>
                      <a:pPr indent="0" lvl="0" marL="0" rtl="0" algn="ctr">
                        <a:spcBef>
                          <a:spcPts val="0"/>
                        </a:spcBef>
                        <a:spcAft>
                          <a:spcPts val="0"/>
                        </a:spcAft>
                        <a:buNone/>
                      </a:pPr>
                      <a:r>
                        <a:rPr lang="en" sz="1600">
                          <a:latin typeface="Roboto"/>
                          <a:ea typeface="Roboto"/>
                          <a:cs typeface="Roboto"/>
                          <a:sym typeface="Roboto"/>
                        </a:rPr>
                        <a:t>81</a:t>
                      </a:r>
                      <a:endParaRPr sz="1600">
                        <a:latin typeface="Roboto"/>
                        <a:ea typeface="Roboto"/>
                        <a:cs typeface="Roboto"/>
                        <a:sym typeface="Roboto"/>
                      </a:endParaRPr>
                    </a:p>
                  </a:txBody>
                  <a:tcPr marT="45700" marB="45700" marR="45700" marL="45700"/>
                </a:tc>
                <a:tc>
                  <a:txBody>
                    <a:bodyPr/>
                    <a:lstStyle/>
                    <a:p>
                      <a:pPr indent="0" lvl="0" marL="0" rtl="0" algn="ctr">
                        <a:spcBef>
                          <a:spcPts val="0"/>
                        </a:spcBef>
                        <a:spcAft>
                          <a:spcPts val="0"/>
                        </a:spcAft>
                        <a:buNone/>
                      </a:pPr>
                      <a:r>
                        <a:rPr lang="en" sz="1600">
                          <a:latin typeface="Roboto"/>
                          <a:ea typeface="Roboto"/>
                          <a:cs typeface="Roboto"/>
                          <a:sym typeface="Roboto"/>
                        </a:rPr>
                        <a:t>82</a:t>
                      </a:r>
                      <a:endParaRPr sz="1600">
                        <a:latin typeface="Roboto"/>
                        <a:ea typeface="Roboto"/>
                        <a:cs typeface="Roboto"/>
                        <a:sym typeface="Roboto"/>
                      </a:endParaRPr>
                    </a:p>
                  </a:txBody>
                  <a:tcPr marT="45700" marB="45700" marR="45700" marL="45700"/>
                </a:tc>
                <a:tc>
                  <a:txBody>
                    <a:bodyPr/>
                    <a:lstStyle/>
                    <a:p>
                      <a:pPr indent="0" lvl="0" marL="0" rtl="0" algn="ctr">
                        <a:spcBef>
                          <a:spcPts val="0"/>
                        </a:spcBef>
                        <a:spcAft>
                          <a:spcPts val="0"/>
                        </a:spcAft>
                        <a:buNone/>
                      </a:pPr>
                      <a:r>
                        <a:rPr lang="en" sz="1600">
                          <a:latin typeface="Roboto"/>
                          <a:ea typeface="Roboto"/>
                          <a:cs typeface="Roboto"/>
                          <a:sym typeface="Roboto"/>
                        </a:rPr>
                        <a:t>83</a:t>
                      </a:r>
                      <a:endParaRPr sz="1600">
                        <a:latin typeface="Roboto"/>
                        <a:ea typeface="Roboto"/>
                        <a:cs typeface="Roboto"/>
                        <a:sym typeface="Roboto"/>
                      </a:endParaRPr>
                    </a:p>
                  </a:txBody>
                  <a:tcPr marT="45700" marB="45700" marR="45700" marL="45700"/>
                </a:tc>
              </a:tr>
              <a:tr h="231000">
                <a:tc>
                  <a:txBody>
                    <a:bodyPr/>
                    <a:lstStyle/>
                    <a:p>
                      <a:pPr indent="0" lvl="0" marL="0" rtl="0" algn="ctr">
                        <a:spcBef>
                          <a:spcPts val="0"/>
                        </a:spcBef>
                        <a:spcAft>
                          <a:spcPts val="0"/>
                        </a:spcAft>
                        <a:buNone/>
                      </a:pPr>
                      <a:r>
                        <a:rPr lang="en" sz="1600">
                          <a:latin typeface="Roboto"/>
                          <a:ea typeface="Roboto"/>
                          <a:cs typeface="Roboto"/>
                          <a:sym typeface="Roboto"/>
                        </a:rPr>
                        <a:t>H</a:t>
                      </a:r>
                      <a:endParaRPr sz="1600">
                        <a:latin typeface="Roboto"/>
                        <a:ea typeface="Roboto"/>
                        <a:cs typeface="Roboto"/>
                        <a:sym typeface="Roboto"/>
                      </a:endParaRPr>
                    </a:p>
                  </a:txBody>
                  <a:tcPr marT="45700" marB="45700" marR="45700" marL="45700"/>
                </a:tc>
                <a:tc>
                  <a:txBody>
                    <a:bodyPr/>
                    <a:lstStyle/>
                    <a:p>
                      <a:pPr indent="0" lvl="0" marL="0" rtl="0" algn="ctr">
                        <a:spcBef>
                          <a:spcPts val="0"/>
                        </a:spcBef>
                        <a:spcAft>
                          <a:spcPts val="0"/>
                        </a:spcAft>
                        <a:buNone/>
                      </a:pPr>
                      <a:r>
                        <a:rPr lang="en" sz="1600">
                          <a:latin typeface="Roboto"/>
                          <a:ea typeface="Roboto"/>
                          <a:cs typeface="Roboto"/>
                          <a:sym typeface="Roboto"/>
                        </a:rPr>
                        <a:t>e</a:t>
                      </a:r>
                      <a:endParaRPr sz="1600">
                        <a:latin typeface="Roboto"/>
                        <a:ea typeface="Roboto"/>
                        <a:cs typeface="Roboto"/>
                        <a:sym typeface="Roboto"/>
                      </a:endParaRPr>
                    </a:p>
                  </a:txBody>
                  <a:tcPr marT="45700" marB="45700" marR="45700" marL="45700"/>
                </a:tc>
                <a:tc>
                  <a:txBody>
                    <a:bodyPr/>
                    <a:lstStyle/>
                    <a:p>
                      <a:pPr indent="0" lvl="0" marL="0" rtl="0" algn="ctr">
                        <a:spcBef>
                          <a:spcPts val="0"/>
                        </a:spcBef>
                        <a:spcAft>
                          <a:spcPts val="0"/>
                        </a:spcAft>
                        <a:buNone/>
                      </a:pPr>
                      <a:r>
                        <a:rPr lang="en" sz="1600">
                          <a:latin typeface="Roboto"/>
                          <a:ea typeface="Roboto"/>
                          <a:cs typeface="Roboto"/>
                          <a:sym typeface="Roboto"/>
                        </a:rPr>
                        <a:t>l</a:t>
                      </a:r>
                      <a:endParaRPr sz="1600">
                        <a:latin typeface="Roboto"/>
                        <a:ea typeface="Roboto"/>
                        <a:cs typeface="Roboto"/>
                        <a:sym typeface="Roboto"/>
                      </a:endParaRPr>
                    </a:p>
                  </a:txBody>
                  <a:tcPr marT="45700" marB="45700" marR="45700" marL="45700"/>
                </a:tc>
                <a:tc>
                  <a:txBody>
                    <a:bodyPr/>
                    <a:lstStyle/>
                    <a:p>
                      <a:pPr indent="0" lvl="0" marL="0" rtl="0" algn="ctr">
                        <a:spcBef>
                          <a:spcPts val="0"/>
                        </a:spcBef>
                        <a:spcAft>
                          <a:spcPts val="0"/>
                        </a:spcAft>
                        <a:buNone/>
                      </a:pPr>
                      <a:r>
                        <a:rPr lang="en" sz="1600">
                          <a:latin typeface="Roboto"/>
                          <a:ea typeface="Roboto"/>
                          <a:cs typeface="Roboto"/>
                          <a:sym typeface="Roboto"/>
                        </a:rPr>
                        <a:t>l</a:t>
                      </a:r>
                      <a:endParaRPr sz="1600">
                        <a:latin typeface="Roboto"/>
                        <a:ea typeface="Roboto"/>
                        <a:cs typeface="Roboto"/>
                        <a:sym typeface="Roboto"/>
                      </a:endParaRPr>
                    </a:p>
                  </a:txBody>
                  <a:tcPr marT="45700" marB="45700" marR="45700" marL="45700"/>
                </a:tc>
                <a:tc>
                  <a:txBody>
                    <a:bodyPr/>
                    <a:lstStyle/>
                    <a:p>
                      <a:pPr indent="0" lvl="0" marL="0" rtl="0" algn="ctr">
                        <a:spcBef>
                          <a:spcPts val="0"/>
                        </a:spcBef>
                        <a:spcAft>
                          <a:spcPts val="0"/>
                        </a:spcAft>
                        <a:buNone/>
                      </a:pPr>
                      <a:r>
                        <a:rPr lang="en" sz="1600">
                          <a:latin typeface="Roboto"/>
                          <a:ea typeface="Roboto"/>
                          <a:cs typeface="Roboto"/>
                          <a:sym typeface="Roboto"/>
                        </a:rPr>
                        <a:t>o</a:t>
                      </a:r>
                      <a:endParaRPr sz="1600">
                        <a:latin typeface="Roboto"/>
                        <a:ea typeface="Roboto"/>
                        <a:cs typeface="Roboto"/>
                        <a:sym typeface="Roboto"/>
                      </a:endParaRPr>
                    </a:p>
                  </a:txBody>
                  <a:tcPr marT="45700" marB="45700" marR="45700" marL="45700"/>
                </a:tc>
                <a:tc>
                  <a:txBody>
                    <a:bodyPr/>
                    <a:lstStyle/>
                    <a:p>
                      <a:pPr indent="0" lvl="0" marL="0" rtl="0" algn="ctr">
                        <a:spcBef>
                          <a:spcPts val="0"/>
                        </a:spcBef>
                        <a:spcAft>
                          <a:spcPts val="0"/>
                        </a:spcAft>
                        <a:buNone/>
                      </a:pPr>
                      <a:r>
                        <a:rPr lang="en" sz="1600">
                          <a:latin typeface="Roboto"/>
                          <a:ea typeface="Roboto"/>
                          <a:cs typeface="Roboto"/>
                          <a:sym typeface="Roboto"/>
                        </a:rPr>
                        <a:t>,</a:t>
                      </a:r>
                      <a:endParaRPr sz="1600">
                        <a:latin typeface="Roboto"/>
                        <a:ea typeface="Roboto"/>
                        <a:cs typeface="Roboto"/>
                        <a:sym typeface="Roboto"/>
                      </a:endParaRPr>
                    </a:p>
                  </a:txBody>
                  <a:tcPr marT="45700" marB="45700" marR="45700" marL="45700"/>
                </a:tc>
                <a:tc>
                  <a:txBody>
                    <a:bodyPr/>
                    <a:lstStyle/>
                    <a:p>
                      <a:pPr indent="0" lvl="0" marL="0" rtl="0" algn="ctr">
                        <a:spcBef>
                          <a:spcPts val="0"/>
                        </a:spcBef>
                        <a:spcAft>
                          <a:spcPts val="0"/>
                        </a:spcAft>
                        <a:buNone/>
                      </a:pPr>
                      <a:r>
                        <a:rPr lang="en" sz="1600">
                          <a:latin typeface="Roboto"/>
                          <a:ea typeface="Roboto"/>
                          <a:cs typeface="Roboto"/>
                          <a:sym typeface="Roboto"/>
                        </a:rPr>
                        <a:t>A</a:t>
                      </a:r>
                      <a:endParaRPr sz="1600">
                        <a:latin typeface="Roboto"/>
                        <a:ea typeface="Roboto"/>
                        <a:cs typeface="Roboto"/>
                        <a:sym typeface="Roboto"/>
                      </a:endParaRPr>
                    </a:p>
                  </a:txBody>
                  <a:tcPr marT="45700" marB="45700" marR="45700" marL="45700"/>
                </a:tc>
              </a:tr>
            </a:tbl>
          </a:graphicData>
        </a:graphic>
      </p:graphicFrame>
      <p:sp>
        <p:nvSpPr>
          <p:cNvPr id="802" name="Google Shape;802;p37"/>
          <p:cNvSpPr txBox="1"/>
          <p:nvPr/>
        </p:nvSpPr>
        <p:spPr>
          <a:xfrm>
            <a:off x="604025" y="4631850"/>
            <a:ext cx="2273700" cy="301800"/>
          </a:xfrm>
          <a:prstGeom prst="rect">
            <a:avLst/>
          </a:prstGeom>
          <a:noFill/>
          <a:ln>
            <a:noFill/>
          </a:ln>
        </p:spPr>
        <p:txBody>
          <a:bodyPr anchorCtr="0" anchor="t" bIns="27425" lIns="27425" spcFirstLastPara="1" rIns="27425" wrap="square" tIns="27425">
            <a:spAutoFit/>
          </a:bodyPr>
          <a:lstStyle/>
          <a:p>
            <a:pPr indent="0" lvl="0" marL="0" rtl="0" algn="l">
              <a:spcBef>
                <a:spcPts val="0"/>
              </a:spcBef>
              <a:spcAft>
                <a:spcPts val="0"/>
              </a:spcAft>
              <a:buNone/>
            </a:pPr>
            <a:r>
              <a:rPr lang="en" sz="1600">
                <a:solidFill>
                  <a:schemeClr val="dk1"/>
                </a:solidFill>
                <a:latin typeface="Roboto"/>
                <a:ea typeface="Roboto"/>
                <a:cs typeface="Roboto"/>
                <a:sym typeface="Roboto"/>
              </a:rPr>
              <a:t>A to B bytestream</a:t>
            </a:r>
            <a:endParaRPr sz="1600">
              <a:solidFill>
                <a:schemeClr val="dk1"/>
              </a:solidFill>
              <a:latin typeface="Roboto"/>
              <a:ea typeface="Roboto"/>
              <a:cs typeface="Roboto"/>
              <a:sym typeface="Roboto"/>
            </a:endParaRPr>
          </a:p>
        </p:txBody>
      </p:sp>
      <p:sp>
        <p:nvSpPr>
          <p:cNvPr id="803" name="Google Shape;803;p37"/>
          <p:cNvSpPr txBox="1"/>
          <p:nvPr/>
        </p:nvSpPr>
        <p:spPr>
          <a:xfrm>
            <a:off x="4920425" y="4631850"/>
            <a:ext cx="2273700" cy="301800"/>
          </a:xfrm>
          <a:prstGeom prst="rect">
            <a:avLst/>
          </a:prstGeom>
          <a:noFill/>
          <a:ln>
            <a:noFill/>
          </a:ln>
        </p:spPr>
        <p:txBody>
          <a:bodyPr anchorCtr="0" anchor="t" bIns="27425" lIns="27425" spcFirstLastPara="1" rIns="27425" wrap="square" tIns="27425">
            <a:spAutoFit/>
          </a:bodyPr>
          <a:lstStyle/>
          <a:p>
            <a:pPr indent="0" lvl="0" marL="0" rtl="0" algn="l">
              <a:spcBef>
                <a:spcPts val="0"/>
              </a:spcBef>
              <a:spcAft>
                <a:spcPts val="0"/>
              </a:spcAft>
              <a:buNone/>
            </a:pPr>
            <a:r>
              <a:rPr lang="en" sz="1600">
                <a:solidFill>
                  <a:schemeClr val="dk1"/>
                </a:solidFill>
                <a:latin typeface="Roboto"/>
                <a:ea typeface="Roboto"/>
                <a:cs typeface="Roboto"/>
                <a:sym typeface="Roboto"/>
              </a:rPr>
              <a:t>B to A bytestream</a:t>
            </a:r>
            <a:endParaRPr sz="1600">
              <a:solidFill>
                <a:schemeClr val="dk1"/>
              </a:solidFill>
              <a:latin typeface="Roboto"/>
              <a:ea typeface="Roboto"/>
              <a:cs typeface="Roboto"/>
              <a:sym typeface="Roboto"/>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7" name="Shape 807"/>
        <p:cNvGrpSpPr/>
        <p:nvPr/>
      </p:nvGrpSpPr>
      <p:grpSpPr>
        <a:xfrm>
          <a:off x="0" y="0"/>
          <a:ext cx="0" cy="0"/>
          <a:chOff x="0" y="0"/>
          <a:chExt cx="0" cy="0"/>
        </a:xfrm>
      </p:grpSpPr>
      <p:sp>
        <p:nvSpPr>
          <p:cNvPr id="808" name="Google Shape;808;p38"/>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TCP Connection Setup: Three-Way Handshake</a:t>
            </a:r>
            <a:endParaRPr/>
          </a:p>
        </p:txBody>
      </p:sp>
      <p:sp>
        <p:nvSpPr>
          <p:cNvPr id="809" name="Google Shape;809;p38"/>
          <p:cNvSpPr txBox="1"/>
          <p:nvPr>
            <p:ph idx="1" type="body"/>
          </p:nvPr>
        </p:nvSpPr>
        <p:spPr>
          <a:xfrm>
            <a:off x="107050" y="402200"/>
            <a:ext cx="8909700" cy="22560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Goal: Each host tells its ISN to the other host.</a:t>
            </a:r>
            <a:endParaRPr/>
          </a:p>
          <a:p>
            <a:pPr indent="-342900" lvl="0" marL="457200" rtl="0" algn="l">
              <a:spcBef>
                <a:spcPts val="600"/>
              </a:spcBef>
              <a:spcAft>
                <a:spcPts val="0"/>
              </a:spcAft>
              <a:buSzPts val="1800"/>
              <a:buAutoNum type="arabicPeriod"/>
            </a:pPr>
            <a:r>
              <a:rPr lang="en">
                <a:solidFill>
                  <a:srgbClr val="0000FF"/>
                </a:solidFill>
              </a:rPr>
              <a:t>SYN.</a:t>
            </a:r>
            <a:r>
              <a:rPr lang="en"/>
              <a:t> Client says: "Here's my ISN."</a:t>
            </a:r>
            <a:endParaRPr/>
          </a:p>
          <a:p>
            <a:pPr indent="-342900" lvl="0" marL="457200" rtl="0" algn="l">
              <a:spcBef>
                <a:spcPts val="0"/>
              </a:spcBef>
              <a:spcAft>
                <a:spcPts val="0"/>
              </a:spcAft>
              <a:buSzPts val="1800"/>
              <a:buAutoNum type="arabicPeriod"/>
            </a:pPr>
            <a:r>
              <a:rPr lang="en">
                <a:solidFill>
                  <a:schemeClr val="accent2"/>
                </a:solidFill>
              </a:rPr>
              <a:t>SYN-ACK.</a:t>
            </a:r>
            <a:r>
              <a:rPr lang="en"/>
              <a:t> Server says: "I received your ISN. Also, here's my ISN."</a:t>
            </a:r>
            <a:endParaRPr/>
          </a:p>
          <a:p>
            <a:pPr indent="-342900" lvl="0" marL="457200" rtl="0" algn="l">
              <a:spcBef>
                <a:spcPts val="0"/>
              </a:spcBef>
              <a:spcAft>
                <a:spcPts val="0"/>
              </a:spcAft>
              <a:buSzPts val="1800"/>
              <a:buAutoNum type="arabicPeriod"/>
            </a:pPr>
            <a:r>
              <a:rPr lang="en">
                <a:solidFill>
                  <a:srgbClr val="0000FF"/>
                </a:solidFill>
              </a:rPr>
              <a:t>ACK</a:t>
            </a:r>
            <a:r>
              <a:rPr lang="en"/>
              <a:t>. Client says: "I received your ISN."</a:t>
            </a:r>
            <a:endParaRPr/>
          </a:p>
          <a:p>
            <a:pPr indent="0" lvl="0" marL="0" rtl="0" algn="l">
              <a:spcBef>
                <a:spcPts val="600"/>
              </a:spcBef>
              <a:spcAft>
                <a:spcPts val="0"/>
              </a:spcAft>
              <a:buNone/>
            </a:pPr>
            <a:r>
              <a:rPr lang="en"/>
              <a:t>After the three-way handshake, both sides can start sending data.</a:t>
            </a:r>
            <a:endParaRPr/>
          </a:p>
        </p:txBody>
      </p:sp>
      <p:grpSp>
        <p:nvGrpSpPr>
          <p:cNvPr id="810" name="Google Shape;810;p38"/>
          <p:cNvGrpSpPr/>
          <p:nvPr/>
        </p:nvGrpSpPr>
        <p:grpSpPr>
          <a:xfrm>
            <a:off x="3039475" y="3472899"/>
            <a:ext cx="3015000" cy="557901"/>
            <a:chOff x="3039475" y="2406099"/>
            <a:chExt cx="3015000" cy="557901"/>
          </a:xfrm>
        </p:grpSpPr>
        <p:cxnSp>
          <p:nvCxnSpPr>
            <p:cNvPr id="811" name="Google Shape;811;p38"/>
            <p:cNvCxnSpPr/>
            <p:nvPr/>
          </p:nvCxnSpPr>
          <p:spPr>
            <a:xfrm flipH="1">
              <a:off x="3039475" y="2514600"/>
              <a:ext cx="3015000" cy="449400"/>
            </a:xfrm>
            <a:prstGeom prst="straightConnector1">
              <a:avLst/>
            </a:prstGeom>
            <a:noFill/>
            <a:ln cap="flat" cmpd="sng" w="19050">
              <a:solidFill>
                <a:schemeClr val="accent2"/>
              </a:solidFill>
              <a:prstDash val="solid"/>
              <a:round/>
              <a:headEnd len="med" w="med" type="none"/>
              <a:tailEnd len="med" w="med" type="triangle"/>
            </a:ln>
          </p:spPr>
        </p:cxnSp>
        <p:sp>
          <p:nvSpPr>
            <p:cNvPr id="812" name="Google Shape;812;p38"/>
            <p:cNvSpPr txBox="1"/>
            <p:nvPr/>
          </p:nvSpPr>
          <p:spPr>
            <a:xfrm rot="-511328">
              <a:off x="4119553" y="2462889"/>
              <a:ext cx="787495" cy="284220"/>
            </a:xfrm>
            <a:prstGeom prst="rect">
              <a:avLst/>
            </a:prstGeom>
            <a:noFill/>
            <a:ln>
              <a:noFill/>
            </a:ln>
          </p:spPr>
          <p:txBody>
            <a:bodyPr anchorCtr="0" anchor="t" bIns="27425" lIns="27425" spcFirstLastPara="1" rIns="27425" wrap="square" tIns="27425">
              <a:noAutofit/>
            </a:bodyPr>
            <a:lstStyle/>
            <a:p>
              <a:pPr indent="0" lvl="0" marL="0" rtl="0" algn="ctr">
                <a:spcBef>
                  <a:spcPts val="0"/>
                </a:spcBef>
                <a:spcAft>
                  <a:spcPts val="0"/>
                </a:spcAft>
                <a:buNone/>
              </a:pPr>
              <a:r>
                <a:rPr lang="en">
                  <a:solidFill>
                    <a:schemeClr val="accent2"/>
                  </a:solidFill>
                  <a:latin typeface="Roboto"/>
                  <a:ea typeface="Roboto"/>
                  <a:cs typeface="Roboto"/>
                  <a:sym typeface="Roboto"/>
                </a:rPr>
                <a:t>SYN-ACK</a:t>
              </a:r>
              <a:endParaRPr>
                <a:solidFill>
                  <a:schemeClr val="accent2"/>
                </a:solidFill>
                <a:latin typeface="Roboto"/>
                <a:ea typeface="Roboto"/>
                <a:cs typeface="Roboto"/>
                <a:sym typeface="Roboto"/>
              </a:endParaRPr>
            </a:p>
          </p:txBody>
        </p:sp>
      </p:grpSp>
      <p:cxnSp>
        <p:nvCxnSpPr>
          <p:cNvPr id="813" name="Google Shape;813;p38"/>
          <p:cNvCxnSpPr/>
          <p:nvPr/>
        </p:nvCxnSpPr>
        <p:spPr>
          <a:xfrm>
            <a:off x="3037525" y="2846575"/>
            <a:ext cx="0" cy="1930800"/>
          </a:xfrm>
          <a:prstGeom prst="straightConnector1">
            <a:avLst/>
          </a:prstGeom>
          <a:noFill/>
          <a:ln cap="flat" cmpd="sng" w="19050">
            <a:solidFill>
              <a:srgbClr val="0000FF"/>
            </a:solidFill>
            <a:prstDash val="solid"/>
            <a:round/>
            <a:headEnd len="med" w="med" type="none"/>
            <a:tailEnd len="med" w="med" type="none"/>
          </a:ln>
        </p:spPr>
      </p:cxnSp>
      <p:sp>
        <p:nvSpPr>
          <p:cNvPr id="814" name="Google Shape;814;p38"/>
          <p:cNvSpPr txBox="1"/>
          <p:nvPr/>
        </p:nvSpPr>
        <p:spPr>
          <a:xfrm>
            <a:off x="2485075" y="4777424"/>
            <a:ext cx="1104900" cy="270900"/>
          </a:xfrm>
          <a:prstGeom prst="rect">
            <a:avLst/>
          </a:prstGeom>
          <a:noFill/>
          <a:ln>
            <a:noFill/>
          </a:ln>
        </p:spPr>
        <p:txBody>
          <a:bodyPr anchorCtr="0" anchor="t" bIns="27425" lIns="91425" spcFirstLastPara="1" rIns="91425" wrap="square" tIns="27425">
            <a:spAutoFit/>
          </a:bodyPr>
          <a:lstStyle/>
          <a:p>
            <a:pPr indent="0" lvl="0" marL="0" rtl="0" algn="ctr">
              <a:spcBef>
                <a:spcPts val="0"/>
              </a:spcBef>
              <a:spcAft>
                <a:spcPts val="0"/>
              </a:spcAft>
              <a:buNone/>
            </a:pPr>
            <a:r>
              <a:rPr lang="en">
                <a:solidFill>
                  <a:srgbClr val="0000FF"/>
                </a:solidFill>
                <a:latin typeface="Roboto"/>
                <a:ea typeface="Roboto"/>
                <a:cs typeface="Roboto"/>
                <a:sym typeface="Roboto"/>
              </a:rPr>
              <a:t>Client</a:t>
            </a:r>
            <a:endParaRPr>
              <a:solidFill>
                <a:srgbClr val="0000FF"/>
              </a:solidFill>
              <a:latin typeface="Roboto"/>
              <a:ea typeface="Roboto"/>
              <a:cs typeface="Roboto"/>
              <a:sym typeface="Roboto"/>
            </a:endParaRPr>
          </a:p>
        </p:txBody>
      </p:sp>
      <p:cxnSp>
        <p:nvCxnSpPr>
          <p:cNvPr id="815" name="Google Shape;815;p38"/>
          <p:cNvCxnSpPr/>
          <p:nvPr/>
        </p:nvCxnSpPr>
        <p:spPr>
          <a:xfrm>
            <a:off x="6058925" y="2846575"/>
            <a:ext cx="0" cy="1930800"/>
          </a:xfrm>
          <a:prstGeom prst="straightConnector1">
            <a:avLst/>
          </a:prstGeom>
          <a:noFill/>
          <a:ln cap="flat" cmpd="sng" w="19050">
            <a:solidFill>
              <a:schemeClr val="accent2"/>
            </a:solidFill>
            <a:prstDash val="solid"/>
            <a:round/>
            <a:headEnd len="med" w="med" type="none"/>
            <a:tailEnd len="med" w="med" type="none"/>
          </a:ln>
        </p:spPr>
      </p:cxnSp>
      <p:sp>
        <p:nvSpPr>
          <p:cNvPr id="816" name="Google Shape;816;p38"/>
          <p:cNvSpPr txBox="1"/>
          <p:nvPr/>
        </p:nvSpPr>
        <p:spPr>
          <a:xfrm>
            <a:off x="5458934" y="4777424"/>
            <a:ext cx="1200000" cy="270900"/>
          </a:xfrm>
          <a:prstGeom prst="rect">
            <a:avLst/>
          </a:prstGeom>
          <a:noFill/>
          <a:ln>
            <a:noFill/>
          </a:ln>
        </p:spPr>
        <p:txBody>
          <a:bodyPr anchorCtr="0" anchor="t" bIns="27425" lIns="91425" spcFirstLastPara="1" rIns="91425" wrap="square" tIns="27425">
            <a:spAutoFit/>
          </a:bodyPr>
          <a:lstStyle/>
          <a:p>
            <a:pPr indent="0" lvl="0" marL="0" rtl="0" algn="ctr">
              <a:spcBef>
                <a:spcPts val="0"/>
              </a:spcBef>
              <a:spcAft>
                <a:spcPts val="0"/>
              </a:spcAft>
              <a:buNone/>
            </a:pPr>
            <a:r>
              <a:rPr lang="en">
                <a:solidFill>
                  <a:schemeClr val="accent2"/>
                </a:solidFill>
                <a:latin typeface="Roboto"/>
                <a:ea typeface="Roboto"/>
                <a:cs typeface="Roboto"/>
                <a:sym typeface="Roboto"/>
              </a:rPr>
              <a:t>Server</a:t>
            </a:r>
            <a:endParaRPr>
              <a:solidFill>
                <a:schemeClr val="accent2"/>
              </a:solidFill>
              <a:latin typeface="Roboto"/>
              <a:ea typeface="Roboto"/>
              <a:cs typeface="Roboto"/>
              <a:sym typeface="Roboto"/>
            </a:endParaRPr>
          </a:p>
        </p:txBody>
      </p:sp>
      <p:grpSp>
        <p:nvGrpSpPr>
          <p:cNvPr id="817" name="Google Shape;817;p38"/>
          <p:cNvGrpSpPr/>
          <p:nvPr/>
        </p:nvGrpSpPr>
        <p:grpSpPr>
          <a:xfrm>
            <a:off x="3039500" y="2887667"/>
            <a:ext cx="3007800" cy="568107"/>
            <a:chOff x="3039500" y="1897067"/>
            <a:chExt cx="3007800" cy="568107"/>
          </a:xfrm>
        </p:grpSpPr>
        <p:cxnSp>
          <p:nvCxnSpPr>
            <p:cNvPr id="818" name="Google Shape;818;p38"/>
            <p:cNvCxnSpPr/>
            <p:nvPr/>
          </p:nvCxnSpPr>
          <p:spPr>
            <a:xfrm>
              <a:off x="3039500" y="2023274"/>
              <a:ext cx="3007800" cy="441900"/>
            </a:xfrm>
            <a:prstGeom prst="straightConnector1">
              <a:avLst/>
            </a:prstGeom>
            <a:noFill/>
            <a:ln cap="flat" cmpd="sng" w="19050">
              <a:solidFill>
                <a:srgbClr val="0000FF"/>
              </a:solidFill>
              <a:prstDash val="solid"/>
              <a:round/>
              <a:headEnd len="med" w="med" type="none"/>
              <a:tailEnd len="med" w="med" type="triangle"/>
            </a:ln>
          </p:spPr>
        </p:cxnSp>
        <p:sp>
          <p:nvSpPr>
            <p:cNvPr id="819" name="Google Shape;819;p38"/>
            <p:cNvSpPr txBox="1"/>
            <p:nvPr/>
          </p:nvSpPr>
          <p:spPr>
            <a:xfrm rot="510033">
              <a:off x="4154499" y="1953707"/>
              <a:ext cx="787451" cy="284220"/>
            </a:xfrm>
            <a:prstGeom prst="rect">
              <a:avLst/>
            </a:prstGeom>
            <a:noFill/>
            <a:ln>
              <a:noFill/>
            </a:ln>
          </p:spPr>
          <p:txBody>
            <a:bodyPr anchorCtr="0" anchor="t" bIns="27425" lIns="27425" spcFirstLastPara="1" rIns="27425" wrap="square" tIns="27425">
              <a:noAutofit/>
            </a:bodyPr>
            <a:lstStyle/>
            <a:p>
              <a:pPr indent="0" lvl="0" marL="0" rtl="0" algn="ctr">
                <a:spcBef>
                  <a:spcPts val="0"/>
                </a:spcBef>
                <a:spcAft>
                  <a:spcPts val="0"/>
                </a:spcAft>
                <a:buNone/>
              </a:pPr>
              <a:r>
                <a:rPr lang="en">
                  <a:solidFill>
                    <a:srgbClr val="0000FF"/>
                  </a:solidFill>
                  <a:latin typeface="Roboto"/>
                  <a:ea typeface="Roboto"/>
                  <a:cs typeface="Roboto"/>
                  <a:sym typeface="Roboto"/>
                </a:rPr>
                <a:t>SYN</a:t>
              </a:r>
              <a:endParaRPr>
                <a:solidFill>
                  <a:srgbClr val="0000FF"/>
                </a:solidFill>
                <a:latin typeface="Roboto"/>
                <a:ea typeface="Roboto"/>
                <a:cs typeface="Roboto"/>
                <a:sym typeface="Roboto"/>
              </a:endParaRPr>
            </a:p>
          </p:txBody>
        </p:sp>
      </p:grpSp>
      <p:grpSp>
        <p:nvGrpSpPr>
          <p:cNvPr id="820" name="Google Shape;820;p38"/>
          <p:cNvGrpSpPr/>
          <p:nvPr/>
        </p:nvGrpSpPr>
        <p:grpSpPr>
          <a:xfrm>
            <a:off x="3039500" y="4030667"/>
            <a:ext cx="3007800" cy="568107"/>
            <a:chOff x="3039500" y="2887667"/>
            <a:chExt cx="3007800" cy="568107"/>
          </a:xfrm>
        </p:grpSpPr>
        <p:cxnSp>
          <p:nvCxnSpPr>
            <p:cNvPr id="821" name="Google Shape;821;p38"/>
            <p:cNvCxnSpPr/>
            <p:nvPr/>
          </p:nvCxnSpPr>
          <p:spPr>
            <a:xfrm>
              <a:off x="3039500" y="3013874"/>
              <a:ext cx="3007800" cy="441900"/>
            </a:xfrm>
            <a:prstGeom prst="straightConnector1">
              <a:avLst/>
            </a:prstGeom>
            <a:noFill/>
            <a:ln cap="flat" cmpd="sng" w="19050">
              <a:solidFill>
                <a:srgbClr val="0000FF"/>
              </a:solidFill>
              <a:prstDash val="solid"/>
              <a:round/>
              <a:headEnd len="med" w="med" type="none"/>
              <a:tailEnd len="med" w="med" type="triangle"/>
            </a:ln>
          </p:spPr>
        </p:cxnSp>
        <p:sp>
          <p:nvSpPr>
            <p:cNvPr id="822" name="Google Shape;822;p38"/>
            <p:cNvSpPr txBox="1"/>
            <p:nvPr/>
          </p:nvSpPr>
          <p:spPr>
            <a:xfrm rot="510033">
              <a:off x="4154499" y="2944307"/>
              <a:ext cx="787451" cy="284220"/>
            </a:xfrm>
            <a:prstGeom prst="rect">
              <a:avLst/>
            </a:prstGeom>
            <a:noFill/>
            <a:ln>
              <a:noFill/>
            </a:ln>
          </p:spPr>
          <p:txBody>
            <a:bodyPr anchorCtr="0" anchor="t" bIns="27425" lIns="27425" spcFirstLastPara="1" rIns="27425" wrap="square" tIns="27425">
              <a:noAutofit/>
            </a:bodyPr>
            <a:lstStyle/>
            <a:p>
              <a:pPr indent="0" lvl="0" marL="0" rtl="0" algn="ctr">
                <a:spcBef>
                  <a:spcPts val="0"/>
                </a:spcBef>
                <a:spcAft>
                  <a:spcPts val="0"/>
                </a:spcAft>
                <a:buNone/>
              </a:pPr>
              <a:r>
                <a:rPr lang="en">
                  <a:solidFill>
                    <a:srgbClr val="0000FF"/>
                  </a:solidFill>
                  <a:latin typeface="Roboto"/>
                  <a:ea typeface="Roboto"/>
                  <a:cs typeface="Roboto"/>
                  <a:sym typeface="Roboto"/>
                </a:rPr>
                <a:t>ACK</a:t>
              </a:r>
              <a:endParaRPr>
                <a:solidFill>
                  <a:srgbClr val="0000FF"/>
                </a:solidFill>
                <a:latin typeface="Roboto"/>
                <a:ea typeface="Roboto"/>
                <a:cs typeface="Roboto"/>
                <a:sym typeface="Roboto"/>
              </a:endParaRPr>
            </a:p>
          </p:txBody>
        </p:sp>
      </p:gr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6" name="Shape 826"/>
        <p:cNvGrpSpPr/>
        <p:nvPr/>
      </p:nvGrpSpPr>
      <p:grpSpPr>
        <a:xfrm>
          <a:off x="0" y="0"/>
          <a:ext cx="0" cy="0"/>
          <a:chOff x="0" y="0"/>
          <a:chExt cx="0" cy="0"/>
        </a:xfrm>
      </p:grpSpPr>
      <p:sp>
        <p:nvSpPr>
          <p:cNvPr id="827" name="Google Shape;827;p39"/>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TCP Connection Setup: Three-Way Handshake</a:t>
            </a:r>
            <a:endParaRPr/>
          </a:p>
        </p:txBody>
      </p:sp>
      <p:sp>
        <p:nvSpPr>
          <p:cNvPr id="828" name="Google Shape;828;p39"/>
          <p:cNvSpPr txBox="1"/>
          <p:nvPr>
            <p:ph idx="1" type="body"/>
          </p:nvPr>
        </p:nvSpPr>
        <p:spPr>
          <a:xfrm>
            <a:off x="107050" y="402200"/>
            <a:ext cx="8909700" cy="22560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Goal: Each host tells its ISN to the other host.</a:t>
            </a:r>
            <a:endParaRPr/>
          </a:p>
          <a:p>
            <a:pPr indent="-342900" lvl="0" marL="457200" rtl="0" algn="l">
              <a:spcBef>
                <a:spcPts val="600"/>
              </a:spcBef>
              <a:spcAft>
                <a:spcPts val="0"/>
              </a:spcAft>
              <a:buSzPts val="1800"/>
              <a:buAutoNum type="arabicPeriod"/>
            </a:pPr>
            <a:r>
              <a:rPr lang="en">
                <a:solidFill>
                  <a:srgbClr val="0000FF"/>
                </a:solidFill>
              </a:rPr>
              <a:t>SYN.</a:t>
            </a:r>
            <a:r>
              <a:rPr lang="en"/>
              <a:t> Client says: "My ISN is </a:t>
            </a:r>
            <a:r>
              <a:rPr i="1" lang="en"/>
              <a:t>x</a:t>
            </a:r>
            <a:r>
              <a:rPr lang="en"/>
              <a:t>."</a:t>
            </a:r>
            <a:endParaRPr/>
          </a:p>
          <a:p>
            <a:pPr indent="-342900" lvl="0" marL="457200" rtl="0" algn="l">
              <a:spcBef>
                <a:spcPts val="0"/>
              </a:spcBef>
              <a:spcAft>
                <a:spcPts val="0"/>
              </a:spcAft>
              <a:buSzPts val="1800"/>
              <a:buAutoNum type="arabicPeriod"/>
            </a:pPr>
            <a:r>
              <a:rPr lang="en">
                <a:solidFill>
                  <a:schemeClr val="accent2"/>
                </a:solidFill>
              </a:rPr>
              <a:t>SYN-ACK.</a:t>
            </a:r>
            <a:r>
              <a:rPr lang="en"/>
              <a:t> Server says: "I received </a:t>
            </a:r>
            <a:r>
              <a:rPr i="1" lang="en"/>
              <a:t>x</a:t>
            </a:r>
            <a:r>
              <a:rPr lang="en"/>
              <a:t> (expecting </a:t>
            </a:r>
            <a:r>
              <a:rPr i="1" lang="en"/>
              <a:t>x</a:t>
            </a:r>
            <a:r>
              <a:rPr lang="en"/>
              <a:t>+1 next). Also, my ISN is </a:t>
            </a:r>
            <a:r>
              <a:rPr i="1" lang="en"/>
              <a:t>y</a:t>
            </a:r>
            <a:r>
              <a:rPr lang="en"/>
              <a:t>."</a:t>
            </a:r>
            <a:endParaRPr/>
          </a:p>
          <a:p>
            <a:pPr indent="-342900" lvl="0" marL="457200" rtl="0" algn="l">
              <a:spcBef>
                <a:spcPts val="0"/>
              </a:spcBef>
              <a:spcAft>
                <a:spcPts val="0"/>
              </a:spcAft>
              <a:buSzPts val="1800"/>
              <a:buAutoNum type="arabicPeriod"/>
            </a:pPr>
            <a:r>
              <a:rPr lang="en">
                <a:solidFill>
                  <a:srgbClr val="0000FF"/>
                </a:solidFill>
              </a:rPr>
              <a:t>ACK</a:t>
            </a:r>
            <a:r>
              <a:rPr lang="en"/>
              <a:t>. Client says: "I received </a:t>
            </a:r>
            <a:r>
              <a:rPr i="1" lang="en"/>
              <a:t>y</a:t>
            </a:r>
            <a:r>
              <a:rPr lang="en"/>
              <a:t> (expecting </a:t>
            </a:r>
            <a:r>
              <a:rPr i="1" lang="en"/>
              <a:t>y</a:t>
            </a:r>
            <a:r>
              <a:rPr lang="en"/>
              <a:t>+1 next)."</a:t>
            </a:r>
            <a:endParaRPr/>
          </a:p>
          <a:p>
            <a:pPr indent="0" lvl="0" marL="0" rtl="0" algn="l">
              <a:spcBef>
                <a:spcPts val="600"/>
              </a:spcBef>
              <a:spcAft>
                <a:spcPts val="0"/>
              </a:spcAft>
              <a:buNone/>
            </a:pPr>
            <a:r>
              <a:rPr lang="en"/>
              <a:t>After the three-way handshake, both sides can start sending data.</a:t>
            </a:r>
            <a:endParaRPr/>
          </a:p>
        </p:txBody>
      </p:sp>
      <p:grpSp>
        <p:nvGrpSpPr>
          <p:cNvPr id="829" name="Google Shape;829;p39"/>
          <p:cNvGrpSpPr/>
          <p:nvPr/>
        </p:nvGrpSpPr>
        <p:grpSpPr>
          <a:xfrm>
            <a:off x="3039475" y="3322547"/>
            <a:ext cx="3015000" cy="708253"/>
            <a:chOff x="3039475" y="3322547"/>
            <a:chExt cx="3015000" cy="708253"/>
          </a:xfrm>
        </p:grpSpPr>
        <p:cxnSp>
          <p:nvCxnSpPr>
            <p:cNvPr id="830" name="Google Shape;830;p39"/>
            <p:cNvCxnSpPr/>
            <p:nvPr/>
          </p:nvCxnSpPr>
          <p:spPr>
            <a:xfrm flipH="1">
              <a:off x="3039475" y="3581400"/>
              <a:ext cx="3015000" cy="449400"/>
            </a:xfrm>
            <a:prstGeom prst="straightConnector1">
              <a:avLst/>
            </a:prstGeom>
            <a:noFill/>
            <a:ln cap="flat" cmpd="sng" w="19050">
              <a:solidFill>
                <a:schemeClr val="accent2"/>
              </a:solidFill>
              <a:prstDash val="solid"/>
              <a:round/>
              <a:headEnd len="med" w="med" type="none"/>
              <a:tailEnd len="med" w="med" type="triangle"/>
            </a:ln>
          </p:spPr>
        </p:cxnSp>
        <p:sp>
          <p:nvSpPr>
            <p:cNvPr id="831" name="Google Shape;831;p39"/>
            <p:cNvSpPr txBox="1"/>
            <p:nvPr/>
          </p:nvSpPr>
          <p:spPr>
            <a:xfrm rot="-511597">
              <a:off x="3051494" y="3533687"/>
              <a:ext cx="2869112" cy="284220"/>
            </a:xfrm>
            <a:prstGeom prst="rect">
              <a:avLst/>
            </a:prstGeom>
            <a:noFill/>
            <a:ln>
              <a:noFill/>
            </a:ln>
          </p:spPr>
          <p:txBody>
            <a:bodyPr anchorCtr="0" anchor="t" bIns="27425" lIns="27425" spcFirstLastPara="1" rIns="27425" wrap="square" tIns="27425">
              <a:noAutofit/>
            </a:bodyPr>
            <a:lstStyle/>
            <a:p>
              <a:pPr indent="0" lvl="0" marL="0" rtl="0" algn="ctr">
                <a:spcBef>
                  <a:spcPts val="0"/>
                </a:spcBef>
                <a:spcAft>
                  <a:spcPts val="0"/>
                </a:spcAft>
                <a:buNone/>
              </a:pPr>
              <a:r>
                <a:rPr lang="en">
                  <a:solidFill>
                    <a:schemeClr val="accent2"/>
                  </a:solidFill>
                  <a:latin typeface="Roboto"/>
                  <a:ea typeface="Roboto"/>
                  <a:cs typeface="Roboto"/>
                  <a:sym typeface="Roboto"/>
                </a:rPr>
                <a:t>SYN-ACK. seq=</a:t>
              </a:r>
              <a:r>
                <a:rPr i="1" lang="en">
                  <a:solidFill>
                    <a:schemeClr val="accent2"/>
                  </a:solidFill>
                  <a:latin typeface="Roboto"/>
                  <a:ea typeface="Roboto"/>
                  <a:cs typeface="Roboto"/>
                  <a:sym typeface="Roboto"/>
                </a:rPr>
                <a:t>y</a:t>
              </a:r>
              <a:r>
                <a:rPr lang="en">
                  <a:solidFill>
                    <a:schemeClr val="accent2"/>
                  </a:solidFill>
                  <a:latin typeface="Roboto"/>
                  <a:ea typeface="Roboto"/>
                  <a:cs typeface="Roboto"/>
                  <a:sym typeface="Roboto"/>
                </a:rPr>
                <a:t>, ack=</a:t>
              </a:r>
              <a:r>
                <a:rPr i="1" lang="en">
                  <a:solidFill>
                    <a:schemeClr val="accent2"/>
                  </a:solidFill>
                  <a:latin typeface="Roboto"/>
                  <a:ea typeface="Roboto"/>
                  <a:cs typeface="Roboto"/>
                  <a:sym typeface="Roboto"/>
                </a:rPr>
                <a:t>x</a:t>
              </a:r>
              <a:r>
                <a:rPr lang="en">
                  <a:solidFill>
                    <a:schemeClr val="accent2"/>
                  </a:solidFill>
                  <a:latin typeface="Roboto"/>
                  <a:ea typeface="Roboto"/>
                  <a:cs typeface="Roboto"/>
                  <a:sym typeface="Roboto"/>
                </a:rPr>
                <a:t>+1</a:t>
              </a:r>
              <a:endParaRPr>
                <a:solidFill>
                  <a:schemeClr val="accent2"/>
                </a:solidFill>
                <a:latin typeface="Roboto"/>
                <a:ea typeface="Roboto"/>
                <a:cs typeface="Roboto"/>
                <a:sym typeface="Roboto"/>
              </a:endParaRPr>
            </a:p>
          </p:txBody>
        </p:sp>
      </p:grpSp>
      <p:cxnSp>
        <p:nvCxnSpPr>
          <p:cNvPr id="832" name="Google Shape;832;p39"/>
          <p:cNvCxnSpPr/>
          <p:nvPr/>
        </p:nvCxnSpPr>
        <p:spPr>
          <a:xfrm>
            <a:off x="3037525" y="2846575"/>
            <a:ext cx="0" cy="1930800"/>
          </a:xfrm>
          <a:prstGeom prst="straightConnector1">
            <a:avLst/>
          </a:prstGeom>
          <a:noFill/>
          <a:ln cap="flat" cmpd="sng" w="19050">
            <a:solidFill>
              <a:srgbClr val="0000FF"/>
            </a:solidFill>
            <a:prstDash val="solid"/>
            <a:round/>
            <a:headEnd len="med" w="med" type="none"/>
            <a:tailEnd len="med" w="med" type="none"/>
          </a:ln>
        </p:spPr>
      </p:cxnSp>
      <p:sp>
        <p:nvSpPr>
          <p:cNvPr id="833" name="Google Shape;833;p39"/>
          <p:cNvSpPr txBox="1"/>
          <p:nvPr/>
        </p:nvSpPr>
        <p:spPr>
          <a:xfrm>
            <a:off x="2485075" y="4777424"/>
            <a:ext cx="1104900" cy="270900"/>
          </a:xfrm>
          <a:prstGeom prst="rect">
            <a:avLst/>
          </a:prstGeom>
          <a:noFill/>
          <a:ln>
            <a:noFill/>
          </a:ln>
        </p:spPr>
        <p:txBody>
          <a:bodyPr anchorCtr="0" anchor="t" bIns="27425" lIns="91425" spcFirstLastPara="1" rIns="91425" wrap="square" tIns="27425">
            <a:spAutoFit/>
          </a:bodyPr>
          <a:lstStyle/>
          <a:p>
            <a:pPr indent="0" lvl="0" marL="0" rtl="0" algn="ctr">
              <a:spcBef>
                <a:spcPts val="0"/>
              </a:spcBef>
              <a:spcAft>
                <a:spcPts val="0"/>
              </a:spcAft>
              <a:buNone/>
            </a:pPr>
            <a:r>
              <a:rPr lang="en">
                <a:solidFill>
                  <a:srgbClr val="0000FF"/>
                </a:solidFill>
                <a:latin typeface="Roboto"/>
                <a:ea typeface="Roboto"/>
                <a:cs typeface="Roboto"/>
                <a:sym typeface="Roboto"/>
              </a:rPr>
              <a:t>Client</a:t>
            </a:r>
            <a:endParaRPr>
              <a:solidFill>
                <a:srgbClr val="0000FF"/>
              </a:solidFill>
              <a:latin typeface="Roboto"/>
              <a:ea typeface="Roboto"/>
              <a:cs typeface="Roboto"/>
              <a:sym typeface="Roboto"/>
            </a:endParaRPr>
          </a:p>
        </p:txBody>
      </p:sp>
      <p:cxnSp>
        <p:nvCxnSpPr>
          <p:cNvPr id="834" name="Google Shape;834;p39"/>
          <p:cNvCxnSpPr/>
          <p:nvPr/>
        </p:nvCxnSpPr>
        <p:spPr>
          <a:xfrm>
            <a:off x="6058925" y="2846575"/>
            <a:ext cx="0" cy="1930800"/>
          </a:xfrm>
          <a:prstGeom prst="straightConnector1">
            <a:avLst/>
          </a:prstGeom>
          <a:noFill/>
          <a:ln cap="flat" cmpd="sng" w="19050">
            <a:solidFill>
              <a:schemeClr val="accent2"/>
            </a:solidFill>
            <a:prstDash val="solid"/>
            <a:round/>
            <a:headEnd len="med" w="med" type="none"/>
            <a:tailEnd len="med" w="med" type="none"/>
          </a:ln>
        </p:spPr>
      </p:cxnSp>
      <p:sp>
        <p:nvSpPr>
          <p:cNvPr id="835" name="Google Shape;835;p39"/>
          <p:cNvSpPr txBox="1"/>
          <p:nvPr/>
        </p:nvSpPr>
        <p:spPr>
          <a:xfrm>
            <a:off x="5458934" y="4777424"/>
            <a:ext cx="1200000" cy="270900"/>
          </a:xfrm>
          <a:prstGeom prst="rect">
            <a:avLst/>
          </a:prstGeom>
          <a:noFill/>
          <a:ln>
            <a:noFill/>
          </a:ln>
        </p:spPr>
        <p:txBody>
          <a:bodyPr anchorCtr="0" anchor="t" bIns="27425" lIns="91425" spcFirstLastPara="1" rIns="91425" wrap="square" tIns="27425">
            <a:spAutoFit/>
          </a:bodyPr>
          <a:lstStyle/>
          <a:p>
            <a:pPr indent="0" lvl="0" marL="0" rtl="0" algn="ctr">
              <a:spcBef>
                <a:spcPts val="0"/>
              </a:spcBef>
              <a:spcAft>
                <a:spcPts val="0"/>
              </a:spcAft>
              <a:buNone/>
            </a:pPr>
            <a:r>
              <a:rPr lang="en">
                <a:solidFill>
                  <a:schemeClr val="accent2"/>
                </a:solidFill>
                <a:latin typeface="Roboto"/>
                <a:ea typeface="Roboto"/>
                <a:cs typeface="Roboto"/>
                <a:sym typeface="Roboto"/>
              </a:rPr>
              <a:t>Server</a:t>
            </a:r>
            <a:endParaRPr>
              <a:solidFill>
                <a:schemeClr val="accent2"/>
              </a:solidFill>
              <a:latin typeface="Roboto"/>
              <a:ea typeface="Roboto"/>
              <a:cs typeface="Roboto"/>
              <a:sym typeface="Roboto"/>
            </a:endParaRPr>
          </a:p>
        </p:txBody>
      </p:sp>
      <p:grpSp>
        <p:nvGrpSpPr>
          <p:cNvPr id="836" name="Google Shape;836;p39"/>
          <p:cNvGrpSpPr/>
          <p:nvPr/>
        </p:nvGrpSpPr>
        <p:grpSpPr>
          <a:xfrm>
            <a:off x="3039500" y="2858525"/>
            <a:ext cx="3007800" cy="597249"/>
            <a:chOff x="3039500" y="3010925"/>
            <a:chExt cx="3007800" cy="597249"/>
          </a:xfrm>
        </p:grpSpPr>
        <p:cxnSp>
          <p:nvCxnSpPr>
            <p:cNvPr id="837" name="Google Shape;837;p39"/>
            <p:cNvCxnSpPr/>
            <p:nvPr/>
          </p:nvCxnSpPr>
          <p:spPr>
            <a:xfrm>
              <a:off x="3039500" y="3166274"/>
              <a:ext cx="3007800" cy="441900"/>
            </a:xfrm>
            <a:prstGeom prst="straightConnector1">
              <a:avLst/>
            </a:prstGeom>
            <a:noFill/>
            <a:ln cap="flat" cmpd="sng" w="19050">
              <a:solidFill>
                <a:srgbClr val="0000FF"/>
              </a:solidFill>
              <a:prstDash val="solid"/>
              <a:round/>
              <a:headEnd len="med" w="med" type="none"/>
              <a:tailEnd len="med" w="med" type="triangle"/>
            </a:ln>
          </p:spPr>
        </p:cxnSp>
        <p:sp>
          <p:nvSpPr>
            <p:cNvPr id="838" name="Google Shape;838;p39"/>
            <p:cNvSpPr txBox="1"/>
            <p:nvPr/>
          </p:nvSpPr>
          <p:spPr>
            <a:xfrm rot="509539">
              <a:off x="3957694" y="3092615"/>
              <a:ext cx="1127462" cy="284220"/>
            </a:xfrm>
            <a:prstGeom prst="rect">
              <a:avLst/>
            </a:prstGeom>
            <a:noFill/>
            <a:ln>
              <a:noFill/>
            </a:ln>
          </p:spPr>
          <p:txBody>
            <a:bodyPr anchorCtr="0" anchor="t" bIns="27425" lIns="27425" spcFirstLastPara="1" rIns="27425" wrap="square" tIns="27425">
              <a:noAutofit/>
            </a:bodyPr>
            <a:lstStyle/>
            <a:p>
              <a:pPr indent="0" lvl="0" marL="0" rtl="0" algn="ctr">
                <a:spcBef>
                  <a:spcPts val="0"/>
                </a:spcBef>
                <a:spcAft>
                  <a:spcPts val="0"/>
                </a:spcAft>
                <a:buNone/>
              </a:pPr>
              <a:r>
                <a:rPr lang="en">
                  <a:solidFill>
                    <a:srgbClr val="0000FF"/>
                  </a:solidFill>
                  <a:latin typeface="Roboto"/>
                  <a:ea typeface="Roboto"/>
                  <a:cs typeface="Roboto"/>
                  <a:sym typeface="Roboto"/>
                </a:rPr>
                <a:t>SYN. seq=</a:t>
              </a:r>
              <a:r>
                <a:rPr i="1" lang="en">
                  <a:solidFill>
                    <a:srgbClr val="0000FF"/>
                  </a:solidFill>
                  <a:latin typeface="Roboto"/>
                  <a:ea typeface="Roboto"/>
                  <a:cs typeface="Roboto"/>
                  <a:sym typeface="Roboto"/>
                </a:rPr>
                <a:t>x</a:t>
              </a:r>
              <a:endParaRPr i="1">
                <a:solidFill>
                  <a:srgbClr val="0000FF"/>
                </a:solidFill>
                <a:latin typeface="Roboto"/>
                <a:ea typeface="Roboto"/>
                <a:cs typeface="Roboto"/>
                <a:sym typeface="Roboto"/>
              </a:endParaRPr>
            </a:p>
          </p:txBody>
        </p:sp>
      </p:grpSp>
      <p:grpSp>
        <p:nvGrpSpPr>
          <p:cNvPr id="839" name="Google Shape;839;p39"/>
          <p:cNvGrpSpPr/>
          <p:nvPr/>
        </p:nvGrpSpPr>
        <p:grpSpPr>
          <a:xfrm>
            <a:off x="3039500" y="3999325"/>
            <a:ext cx="3007800" cy="599449"/>
            <a:chOff x="3039500" y="3999325"/>
            <a:chExt cx="3007800" cy="599449"/>
          </a:xfrm>
        </p:grpSpPr>
        <p:cxnSp>
          <p:nvCxnSpPr>
            <p:cNvPr id="840" name="Google Shape;840;p39"/>
            <p:cNvCxnSpPr/>
            <p:nvPr/>
          </p:nvCxnSpPr>
          <p:spPr>
            <a:xfrm>
              <a:off x="3039500" y="4156874"/>
              <a:ext cx="3007800" cy="441900"/>
            </a:xfrm>
            <a:prstGeom prst="straightConnector1">
              <a:avLst/>
            </a:prstGeom>
            <a:noFill/>
            <a:ln cap="flat" cmpd="sng" w="19050">
              <a:solidFill>
                <a:srgbClr val="0000FF"/>
              </a:solidFill>
              <a:prstDash val="solid"/>
              <a:round/>
              <a:headEnd len="med" w="med" type="none"/>
              <a:tailEnd len="med" w="med" type="triangle"/>
            </a:ln>
          </p:spPr>
        </p:cxnSp>
        <p:sp>
          <p:nvSpPr>
            <p:cNvPr id="841" name="Google Shape;841;p39"/>
            <p:cNvSpPr txBox="1"/>
            <p:nvPr/>
          </p:nvSpPr>
          <p:spPr>
            <a:xfrm rot="509640">
              <a:off x="3942862" y="4083115"/>
              <a:ext cx="1155676" cy="284220"/>
            </a:xfrm>
            <a:prstGeom prst="rect">
              <a:avLst/>
            </a:prstGeom>
            <a:noFill/>
            <a:ln>
              <a:noFill/>
            </a:ln>
          </p:spPr>
          <p:txBody>
            <a:bodyPr anchorCtr="0" anchor="t" bIns="27425" lIns="27425" spcFirstLastPara="1" rIns="27425" wrap="square" tIns="27425">
              <a:noAutofit/>
            </a:bodyPr>
            <a:lstStyle/>
            <a:p>
              <a:pPr indent="0" lvl="0" marL="0" rtl="0" algn="ctr">
                <a:spcBef>
                  <a:spcPts val="0"/>
                </a:spcBef>
                <a:spcAft>
                  <a:spcPts val="0"/>
                </a:spcAft>
                <a:buNone/>
              </a:pPr>
              <a:r>
                <a:rPr lang="en">
                  <a:solidFill>
                    <a:srgbClr val="0000FF"/>
                  </a:solidFill>
                  <a:latin typeface="Roboto"/>
                  <a:ea typeface="Roboto"/>
                  <a:cs typeface="Roboto"/>
                  <a:sym typeface="Roboto"/>
                </a:rPr>
                <a:t>ACK. ack=</a:t>
              </a:r>
              <a:r>
                <a:rPr i="1" lang="en">
                  <a:solidFill>
                    <a:srgbClr val="0000FF"/>
                  </a:solidFill>
                  <a:latin typeface="Roboto"/>
                  <a:ea typeface="Roboto"/>
                  <a:cs typeface="Roboto"/>
                  <a:sym typeface="Roboto"/>
                </a:rPr>
                <a:t>y</a:t>
              </a:r>
              <a:r>
                <a:rPr lang="en">
                  <a:solidFill>
                    <a:srgbClr val="0000FF"/>
                  </a:solidFill>
                  <a:latin typeface="Roboto"/>
                  <a:ea typeface="Roboto"/>
                  <a:cs typeface="Roboto"/>
                  <a:sym typeface="Roboto"/>
                </a:rPr>
                <a:t>+1</a:t>
              </a:r>
              <a:endParaRPr>
                <a:solidFill>
                  <a:srgbClr val="0000FF"/>
                </a:solidFill>
                <a:latin typeface="Roboto"/>
                <a:ea typeface="Roboto"/>
                <a:cs typeface="Roboto"/>
                <a:sym typeface="Roboto"/>
              </a:endParaRPr>
            </a:p>
          </p:txBody>
        </p:sp>
      </p:gr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5" name="Shape 845"/>
        <p:cNvGrpSpPr/>
        <p:nvPr/>
      </p:nvGrpSpPr>
      <p:grpSpPr>
        <a:xfrm>
          <a:off x="0" y="0"/>
          <a:ext cx="0" cy="0"/>
          <a:chOff x="0" y="0"/>
          <a:chExt cx="0" cy="0"/>
        </a:xfrm>
      </p:grpSpPr>
      <p:sp>
        <p:nvSpPr>
          <p:cNvPr id="846" name="Google Shape;846;p40"/>
          <p:cNvSpPr txBox="1"/>
          <p:nvPr>
            <p:ph idx="1" type="body"/>
          </p:nvPr>
        </p:nvSpPr>
        <p:spPr>
          <a:xfrm>
            <a:off x="107050" y="402200"/>
            <a:ext cx="8909700" cy="22560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Normal termination:</a:t>
            </a:r>
            <a:endParaRPr/>
          </a:p>
          <a:p>
            <a:pPr indent="-342900" lvl="0" marL="457200" rtl="0" algn="l">
              <a:spcBef>
                <a:spcPts val="600"/>
              </a:spcBef>
              <a:spcAft>
                <a:spcPts val="0"/>
              </a:spcAft>
              <a:buSzPts val="1800"/>
              <a:buChar char="●"/>
            </a:pPr>
            <a:r>
              <a:rPr lang="en"/>
              <a:t>Each </a:t>
            </a:r>
            <a:r>
              <a:rPr lang="en"/>
              <a:t>side </a:t>
            </a:r>
            <a:r>
              <a:rPr lang="en"/>
              <a:t>sends a FIN packet to say: "I'm done sending, but will keep receiving."</a:t>
            </a:r>
            <a:endParaRPr/>
          </a:p>
          <a:p>
            <a:pPr indent="-342900" lvl="0" marL="457200" rtl="0" algn="l">
              <a:spcBef>
                <a:spcPts val="0"/>
              </a:spcBef>
              <a:spcAft>
                <a:spcPts val="0"/>
              </a:spcAft>
              <a:buSzPts val="1800"/>
              <a:buChar char="●"/>
            </a:pPr>
            <a:r>
              <a:rPr lang="en"/>
              <a:t>FIN packets must be acked, just like any other data.</a:t>
            </a:r>
            <a:endParaRPr/>
          </a:p>
          <a:p>
            <a:pPr indent="-342900" lvl="0" marL="457200" rtl="0" algn="l">
              <a:spcBef>
                <a:spcPts val="0"/>
              </a:spcBef>
              <a:spcAft>
                <a:spcPts val="0"/>
              </a:spcAft>
              <a:buSzPts val="1800"/>
              <a:buChar char="●"/>
            </a:pPr>
            <a:r>
              <a:rPr lang="en"/>
              <a:t>When only one side has sent FIN, the connection is </a:t>
            </a:r>
            <a:r>
              <a:rPr i="1" lang="en"/>
              <a:t>half-closed</a:t>
            </a:r>
            <a:r>
              <a:rPr lang="en"/>
              <a:t>.</a:t>
            </a:r>
            <a:endParaRPr/>
          </a:p>
          <a:p>
            <a:pPr indent="-342900" lvl="0" marL="457200" rtl="0" algn="l">
              <a:spcBef>
                <a:spcPts val="0"/>
              </a:spcBef>
              <a:spcAft>
                <a:spcPts val="0"/>
              </a:spcAft>
              <a:buSzPts val="1800"/>
              <a:buChar char="●"/>
            </a:pPr>
            <a:r>
              <a:rPr lang="en"/>
              <a:t>When both sides have sent FIN (both done sending), the connection is closed.</a:t>
            </a:r>
            <a:endParaRPr/>
          </a:p>
        </p:txBody>
      </p:sp>
      <p:sp>
        <p:nvSpPr>
          <p:cNvPr id="847" name="Google Shape;847;p40"/>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TCP Connection Teardown</a:t>
            </a:r>
            <a:endParaRPr/>
          </a:p>
        </p:txBody>
      </p:sp>
      <p:grpSp>
        <p:nvGrpSpPr>
          <p:cNvPr id="848" name="Google Shape;848;p40"/>
          <p:cNvGrpSpPr/>
          <p:nvPr/>
        </p:nvGrpSpPr>
        <p:grpSpPr>
          <a:xfrm>
            <a:off x="3039475" y="3222015"/>
            <a:ext cx="3015000" cy="557901"/>
            <a:chOff x="3039475" y="2406099"/>
            <a:chExt cx="3015000" cy="557901"/>
          </a:xfrm>
        </p:grpSpPr>
        <p:cxnSp>
          <p:nvCxnSpPr>
            <p:cNvPr id="849" name="Google Shape;849;p40"/>
            <p:cNvCxnSpPr/>
            <p:nvPr/>
          </p:nvCxnSpPr>
          <p:spPr>
            <a:xfrm flipH="1">
              <a:off x="3039475" y="2514600"/>
              <a:ext cx="3015000" cy="449400"/>
            </a:xfrm>
            <a:prstGeom prst="straightConnector1">
              <a:avLst/>
            </a:prstGeom>
            <a:noFill/>
            <a:ln cap="flat" cmpd="sng" w="19050">
              <a:solidFill>
                <a:schemeClr val="accent2"/>
              </a:solidFill>
              <a:prstDash val="solid"/>
              <a:round/>
              <a:headEnd len="med" w="med" type="none"/>
              <a:tailEnd len="med" w="med" type="triangle"/>
            </a:ln>
          </p:spPr>
        </p:cxnSp>
        <p:sp>
          <p:nvSpPr>
            <p:cNvPr id="850" name="Google Shape;850;p40"/>
            <p:cNvSpPr txBox="1"/>
            <p:nvPr/>
          </p:nvSpPr>
          <p:spPr>
            <a:xfrm rot="-511328">
              <a:off x="4119553" y="2462889"/>
              <a:ext cx="787495" cy="284220"/>
            </a:xfrm>
            <a:prstGeom prst="rect">
              <a:avLst/>
            </a:prstGeom>
            <a:noFill/>
            <a:ln>
              <a:noFill/>
            </a:ln>
          </p:spPr>
          <p:txBody>
            <a:bodyPr anchorCtr="0" anchor="t" bIns="27425" lIns="27425" spcFirstLastPara="1" rIns="27425" wrap="square" tIns="27425">
              <a:noAutofit/>
            </a:bodyPr>
            <a:lstStyle/>
            <a:p>
              <a:pPr indent="0" lvl="0" marL="0" rtl="0" algn="ctr">
                <a:spcBef>
                  <a:spcPts val="0"/>
                </a:spcBef>
                <a:spcAft>
                  <a:spcPts val="0"/>
                </a:spcAft>
                <a:buNone/>
              </a:pPr>
              <a:r>
                <a:rPr lang="en">
                  <a:solidFill>
                    <a:schemeClr val="accent2"/>
                  </a:solidFill>
                  <a:latin typeface="Roboto"/>
                  <a:ea typeface="Roboto"/>
                  <a:cs typeface="Roboto"/>
                  <a:sym typeface="Roboto"/>
                </a:rPr>
                <a:t>ACK</a:t>
              </a:r>
              <a:endParaRPr>
                <a:solidFill>
                  <a:schemeClr val="accent2"/>
                </a:solidFill>
                <a:latin typeface="Roboto"/>
                <a:ea typeface="Roboto"/>
                <a:cs typeface="Roboto"/>
                <a:sym typeface="Roboto"/>
              </a:endParaRPr>
            </a:p>
          </p:txBody>
        </p:sp>
      </p:grpSp>
      <p:cxnSp>
        <p:nvCxnSpPr>
          <p:cNvPr id="851" name="Google Shape;851;p40"/>
          <p:cNvCxnSpPr/>
          <p:nvPr/>
        </p:nvCxnSpPr>
        <p:spPr>
          <a:xfrm>
            <a:off x="3037525" y="2612475"/>
            <a:ext cx="0" cy="2164800"/>
          </a:xfrm>
          <a:prstGeom prst="straightConnector1">
            <a:avLst/>
          </a:prstGeom>
          <a:noFill/>
          <a:ln cap="flat" cmpd="sng" w="19050">
            <a:solidFill>
              <a:srgbClr val="0000FF"/>
            </a:solidFill>
            <a:prstDash val="solid"/>
            <a:round/>
            <a:headEnd len="med" w="med" type="none"/>
            <a:tailEnd len="med" w="med" type="none"/>
          </a:ln>
        </p:spPr>
      </p:cxnSp>
      <p:sp>
        <p:nvSpPr>
          <p:cNvPr id="852" name="Google Shape;852;p40"/>
          <p:cNvSpPr txBox="1"/>
          <p:nvPr/>
        </p:nvSpPr>
        <p:spPr>
          <a:xfrm>
            <a:off x="2485075" y="4777424"/>
            <a:ext cx="1104900" cy="270900"/>
          </a:xfrm>
          <a:prstGeom prst="rect">
            <a:avLst/>
          </a:prstGeom>
          <a:noFill/>
          <a:ln>
            <a:noFill/>
          </a:ln>
        </p:spPr>
        <p:txBody>
          <a:bodyPr anchorCtr="0" anchor="t" bIns="27425" lIns="91425" spcFirstLastPara="1" rIns="91425" wrap="square" tIns="27425">
            <a:spAutoFit/>
          </a:bodyPr>
          <a:lstStyle/>
          <a:p>
            <a:pPr indent="0" lvl="0" marL="0" rtl="0" algn="ctr">
              <a:spcBef>
                <a:spcPts val="0"/>
              </a:spcBef>
              <a:spcAft>
                <a:spcPts val="0"/>
              </a:spcAft>
              <a:buNone/>
            </a:pPr>
            <a:r>
              <a:rPr lang="en">
                <a:solidFill>
                  <a:srgbClr val="0000FF"/>
                </a:solidFill>
                <a:latin typeface="Roboto"/>
                <a:ea typeface="Roboto"/>
                <a:cs typeface="Roboto"/>
                <a:sym typeface="Roboto"/>
              </a:rPr>
              <a:t>Client</a:t>
            </a:r>
            <a:endParaRPr>
              <a:solidFill>
                <a:srgbClr val="0000FF"/>
              </a:solidFill>
              <a:latin typeface="Roboto"/>
              <a:ea typeface="Roboto"/>
              <a:cs typeface="Roboto"/>
              <a:sym typeface="Roboto"/>
            </a:endParaRPr>
          </a:p>
        </p:txBody>
      </p:sp>
      <p:cxnSp>
        <p:nvCxnSpPr>
          <p:cNvPr id="853" name="Google Shape;853;p40"/>
          <p:cNvCxnSpPr/>
          <p:nvPr/>
        </p:nvCxnSpPr>
        <p:spPr>
          <a:xfrm>
            <a:off x="6058925" y="2612475"/>
            <a:ext cx="0" cy="2164800"/>
          </a:xfrm>
          <a:prstGeom prst="straightConnector1">
            <a:avLst/>
          </a:prstGeom>
          <a:noFill/>
          <a:ln cap="flat" cmpd="sng" w="19050">
            <a:solidFill>
              <a:schemeClr val="accent2"/>
            </a:solidFill>
            <a:prstDash val="solid"/>
            <a:round/>
            <a:headEnd len="med" w="med" type="none"/>
            <a:tailEnd len="med" w="med" type="none"/>
          </a:ln>
        </p:spPr>
      </p:cxnSp>
      <p:sp>
        <p:nvSpPr>
          <p:cNvPr id="854" name="Google Shape;854;p40"/>
          <p:cNvSpPr txBox="1"/>
          <p:nvPr/>
        </p:nvSpPr>
        <p:spPr>
          <a:xfrm>
            <a:off x="5458934" y="4777424"/>
            <a:ext cx="1200000" cy="270900"/>
          </a:xfrm>
          <a:prstGeom prst="rect">
            <a:avLst/>
          </a:prstGeom>
          <a:noFill/>
          <a:ln>
            <a:noFill/>
          </a:ln>
        </p:spPr>
        <p:txBody>
          <a:bodyPr anchorCtr="0" anchor="t" bIns="27425" lIns="91425" spcFirstLastPara="1" rIns="91425" wrap="square" tIns="27425">
            <a:spAutoFit/>
          </a:bodyPr>
          <a:lstStyle/>
          <a:p>
            <a:pPr indent="0" lvl="0" marL="0" rtl="0" algn="ctr">
              <a:spcBef>
                <a:spcPts val="0"/>
              </a:spcBef>
              <a:spcAft>
                <a:spcPts val="0"/>
              </a:spcAft>
              <a:buNone/>
            </a:pPr>
            <a:r>
              <a:rPr lang="en">
                <a:solidFill>
                  <a:schemeClr val="accent2"/>
                </a:solidFill>
                <a:latin typeface="Roboto"/>
                <a:ea typeface="Roboto"/>
                <a:cs typeface="Roboto"/>
                <a:sym typeface="Roboto"/>
              </a:rPr>
              <a:t>Server</a:t>
            </a:r>
            <a:endParaRPr>
              <a:solidFill>
                <a:schemeClr val="accent2"/>
              </a:solidFill>
              <a:latin typeface="Roboto"/>
              <a:ea typeface="Roboto"/>
              <a:cs typeface="Roboto"/>
              <a:sym typeface="Roboto"/>
            </a:endParaRPr>
          </a:p>
        </p:txBody>
      </p:sp>
      <p:grpSp>
        <p:nvGrpSpPr>
          <p:cNvPr id="855" name="Google Shape;855;p40"/>
          <p:cNvGrpSpPr/>
          <p:nvPr/>
        </p:nvGrpSpPr>
        <p:grpSpPr>
          <a:xfrm>
            <a:off x="3039500" y="2712982"/>
            <a:ext cx="3007800" cy="568107"/>
            <a:chOff x="3039500" y="1897067"/>
            <a:chExt cx="3007800" cy="568107"/>
          </a:xfrm>
        </p:grpSpPr>
        <p:cxnSp>
          <p:nvCxnSpPr>
            <p:cNvPr id="856" name="Google Shape;856;p40"/>
            <p:cNvCxnSpPr/>
            <p:nvPr/>
          </p:nvCxnSpPr>
          <p:spPr>
            <a:xfrm>
              <a:off x="3039500" y="2023274"/>
              <a:ext cx="3007800" cy="441900"/>
            </a:xfrm>
            <a:prstGeom prst="straightConnector1">
              <a:avLst/>
            </a:prstGeom>
            <a:noFill/>
            <a:ln cap="flat" cmpd="sng" w="19050">
              <a:solidFill>
                <a:srgbClr val="0000FF"/>
              </a:solidFill>
              <a:prstDash val="solid"/>
              <a:round/>
              <a:headEnd len="med" w="med" type="none"/>
              <a:tailEnd len="med" w="med" type="triangle"/>
            </a:ln>
          </p:spPr>
        </p:cxnSp>
        <p:sp>
          <p:nvSpPr>
            <p:cNvPr id="857" name="Google Shape;857;p40"/>
            <p:cNvSpPr txBox="1"/>
            <p:nvPr/>
          </p:nvSpPr>
          <p:spPr>
            <a:xfrm rot="510033">
              <a:off x="4154499" y="1953707"/>
              <a:ext cx="787451" cy="284220"/>
            </a:xfrm>
            <a:prstGeom prst="rect">
              <a:avLst/>
            </a:prstGeom>
            <a:noFill/>
            <a:ln>
              <a:noFill/>
            </a:ln>
          </p:spPr>
          <p:txBody>
            <a:bodyPr anchorCtr="0" anchor="t" bIns="27425" lIns="27425" spcFirstLastPara="1" rIns="27425" wrap="square" tIns="27425">
              <a:noAutofit/>
            </a:bodyPr>
            <a:lstStyle/>
            <a:p>
              <a:pPr indent="0" lvl="0" marL="0" rtl="0" algn="ctr">
                <a:spcBef>
                  <a:spcPts val="0"/>
                </a:spcBef>
                <a:spcAft>
                  <a:spcPts val="0"/>
                </a:spcAft>
                <a:buNone/>
              </a:pPr>
              <a:r>
                <a:rPr lang="en">
                  <a:solidFill>
                    <a:srgbClr val="0000FF"/>
                  </a:solidFill>
                  <a:latin typeface="Roboto"/>
                  <a:ea typeface="Roboto"/>
                  <a:cs typeface="Roboto"/>
                  <a:sym typeface="Roboto"/>
                </a:rPr>
                <a:t>FIN</a:t>
              </a:r>
              <a:endParaRPr>
                <a:solidFill>
                  <a:srgbClr val="0000FF"/>
                </a:solidFill>
                <a:latin typeface="Roboto"/>
                <a:ea typeface="Roboto"/>
                <a:cs typeface="Roboto"/>
                <a:sym typeface="Roboto"/>
              </a:endParaRPr>
            </a:p>
          </p:txBody>
        </p:sp>
      </p:grpSp>
      <p:grpSp>
        <p:nvGrpSpPr>
          <p:cNvPr id="858" name="Google Shape;858;p40"/>
          <p:cNvGrpSpPr/>
          <p:nvPr/>
        </p:nvGrpSpPr>
        <p:grpSpPr>
          <a:xfrm>
            <a:off x="3039500" y="4084582"/>
            <a:ext cx="3007800" cy="568107"/>
            <a:chOff x="3039500" y="2887667"/>
            <a:chExt cx="3007800" cy="568107"/>
          </a:xfrm>
        </p:grpSpPr>
        <p:cxnSp>
          <p:nvCxnSpPr>
            <p:cNvPr id="859" name="Google Shape;859;p40"/>
            <p:cNvCxnSpPr/>
            <p:nvPr/>
          </p:nvCxnSpPr>
          <p:spPr>
            <a:xfrm>
              <a:off x="3039500" y="3013874"/>
              <a:ext cx="3007800" cy="441900"/>
            </a:xfrm>
            <a:prstGeom prst="straightConnector1">
              <a:avLst/>
            </a:prstGeom>
            <a:noFill/>
            <a:ln cap="flat" cmpd="sng" w="19050">
              <a:solidFill>
                <a:srgbClr val="0000FF"/>
              </a:solidFill>
              <a:prstDash val="solid"/>
              <a:round/>
              <a:headEnd len="med" w="med" type="none"/>
              <a:tailEnd len="med" w="med" type="triangle"/>
            </a:ln>
          </p:spPr>
        </p:cxnSp>
        <p:sp>
          <p:nvSpPr>
            <p:cNvPr id="860" name="Google Shape;860;p40"/>
            <p:cNvSpPr txBox="1"/>
            <p:nvPr/>
          </p:nvSpPr>
          <p:spPr>
            <a:xfrm rot="510033">
              <a:off x="4154499" y="2944307"/>
              <a:ext cx="787451" cy="284220"/>
            </a:xfrm>
            <a:prstGeom prst="rect">
              <a:avLst/>
            </a:prstGeom>
            <a:noFill/>
            <a:ln>
              <a:noFill/>
            </a:ln>
          </p:spPr>
          <p:txBody>
            <a:bodyPr anchorCtr="0" anchor="t" bIns="27425" lIns="27425" spcFirstLastPara="1" rIns="27425" wrap="square" tIns="27425">
              <a:noAutofit/>
            </a:bodyPr>
            <a:lstStyle/>
            <a:p>
              <a:pPr indent="0" lvl="0" marL="0" rtl="0" algn="ctr">
                <a:spcBef>
                  <a:spcPts val="0"/>
                </a:spcBef>
                <a:spcAft>
                  <a:spcPts val="0"/>
                </a:spcAft>
                <a:buNone/>
              </a:pPr>
              <a:r>
                <a:rPr lang="en">
                  <a:solidFill>
                    <a:srgbClr val="0000FF"/>
                  </a:solidFill>
                  <a:latin typeface="Roboto"/>
                  <a:ea typeface="Roboto"/>
                  <a:cs typeface="Roboto"/>
                  <a:sym typeface="Roboto"/>
                </a:rPr>
                <a:t>ACK</a:t>
              </a:r>
              <a:endParaRPr>
                <a:solidFill>
                  <a:srgbClr val="0000FF"/>
                </a:solidFill>
                <a:latin typeface="Roboto"/>
                <a:ea typeface="Roboto"/>
                <a:cs typeface="Roboto"/>
                <a:sym typeface="Roboto"/>
              </a:endParaRPr>
            </a:p>
          </p:txBody>
        </p:sp>
      </p:grpSp>
      <p:grpSp>
        <p:nvGrpSpPr>
          <p:cNvPr id="861" name="Google Shape;861;p40"/>
          <p:cNvGrpSpPr/>
          <p:nvPr/>
        </p:nvGrpSpPr>
        <p:grpSpPr>
          <a:xfrm>
            <a:off x="3039475" y="3603015"/>
            <a:ext cx="3015000" cy="557901"/>
            <a:chOff x="3039475" y="2406099"/>
            <a:chExt cx="3015000" cy="557901"/>
          </a:xfrm>
        </p:grpSpPr>
        <p:cxnSp>
          <p:nvCxnSpPr>
            <p:cNvPr id="862" name="Google Shape;862;p40"/>
            <p:cNvCxnSpPr/>
            <p:nvPr/>
          </p:nvCxnSpPr>
          <p:spPr>
            <a:xfrm flipH="1">
              <a:off x="3039475" y="2514600"/>
              <a:ext cx="3015000" cy="449400"/>
            </a:xfrm>
            <a:prstGeom prst="straightConnector1">
              <a:avLst/>
            </a:prstGeom>
            <a:noFill/>
            <a:ln cap="flat" cmpd="sng" w="19050">
              <a:solidFill>
                <a:schemeClr val="accent2"/>
              </a:solidFill>
              <a:prstDash val="solid"/>
              <a:round/>
              <a:headEnd len="med" w="med" type="none"/>
              <a:tailEnd len="med" w="med" type="triangle"/>
            </a:ln>
          </p:spPr>
        </p:cxnSp>
        <p:sp>
          <p:nvSpPr>
            <p:cNvPr id="863" name="Google Shape;863;p40"/>
            <p:cNvSpPr txBox="1"/>
            <p:nvPr/>
          </p:nvSpPr>
          <p:spPr>
            <a:xfrm rot="-511328">
              <a:off x="4119553" y="2462889"/>
              <a:ext cx="787495" cy="284220"/>
            </a:xfrm>
            <a:prstGeom prst="rect">
              <a:avLst/>
            </a:prstGeom>
            <a:noFill/>
            <a:ln>
              <a:noFill/>
            </a:ln>
          </p:spPr>
          <p:txBody>
            <a:bodyPr anchorCtr="0" anchor="t" bIns="27425" lIns="27425" spcFirstLastPara="1" rIns="27425" wrap="square" tIns="27425">
              <a:noAutofit/>
            </a:bodyPr>
            <a:lstStyle/>
            <a:p>
              <a:pPr indent="0" lvl="0" marL="0" rtl="0" algn="ctr">
                <a:spcBef>
                  <a:spcPts val="0"/>
                </a:spcBef>
                <a:spcAft>
                  <a:spcPts val="0"/>
                </a:spcAft>
                <a:buNone/>
              </a:pPr>
              <a:r>
                <a:rPr lang="en">
                  <a:solidFill>
                    <a:schemeClr val="accent2"/>
                  </a:solidFill>
                  <a:latin typeface="Roboto"/>
                  <a:ea typeface="Roboto"/>
                  <a:cs typeface="Roboto"/>
                  <a:sym typeface="Roboto"/>
                </a:rPr>
                <a:t>FIN</a:t>
              </a:r>
              <a:endParaRPr>
                <a:solidFill>
                  <a:schemeClr val="accent2"/>
                </a:solidFill>
                <a:latin typeface="Roboto"/>
                <a:ea typeface="Roboto"/>
                <a:cs typeface="Roboto"/>
                <a:sym typeface="Roboto"/>
              </a:endParaRPr>
            </a:p>
          </p:txBody>
        </p:sp>
      </p:gr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41"/>
          <p:cNvSpPr txBox="1"/>
          <p:nvPr>
            <p:ph idx="1" type="body"/>
          </p:nvPr>
        </p:nvSpPr>
        <p:spPr>
          <a:xfrm>
            <a:off x="107050" y="402200"/>
            <a:ext cx="8909700" cy="22560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Abrupt termination can be used instead (e.g. in case of error).</a:t>
            </a:r>
            <a:endParaRPr/>
          </a:p>
          <a:p>
            <a:pPr indent="-342900" lvl="0" marL="457200" rtl="0" algn="l">
              <a:spcBef>
                <a:spcPts val="600"/>
              </a:spcBef>
              <a:spcAft>
                <a:spcPts val="0"/>
              </a:spcAft>
              <a:buSzPts val="1800"/>
              <a:buChar char="●"/>
            </a:pPr>
            <a:r>
              <a:rPr lang="en"/>
              <a:t>Send a RST (reset) to say: "I will no longer send or receive data."</a:t>
            </a:r>
            <a:endParaRPr/>
          </a:p>
          <a:p>
            <a:pPr indent="-342900" lvl="0" marL="457200" rtl="0" algn="l">
              <a:spcBef>
                <a:spcPts val="0"/>
              </a:spcBef>
              <a:spcAft>
                <a:spcPts val="0"/>
              </a:spcAft>
              <a:buSzPts val="1800"/>
              <a:buChar char="●"/>
            </a:pPr>
            <a:r>
              <a:rPr lang="en"/>
              <a:t>RST packets do not need to be acked.</a:t>
            </a:r>
            <a:endParaRPr/>
          </a:p>
          <a:p>
            <a:pPr indent="-342900" lvl="0" marL="457200" rtl="0" algn="l">
              <a:spcBef>
                <a:spcPts val="0"/>
              </a:spcBef>
              <a:spcAft>
                <a:spcPts val="0"/>
              </a:spcAft>
              <a:buSzPts val="1800"/>
              <a:buChar char="●"/>
            </a:pPr>
            <a:r>
              <a:rPr lang="en"/>
              <a:t>Any data in flight is lost.</a:t>
            </a:r>
            <a:endParaRPr/>
          </a:p>
          <a:p>
            <a:pPr indent="-342900" lvl="0" marL="457200" rtl="0" algn="l">
              <a:spcBef>
                <a:spcPts val="0"/>
              </a:spcBef>
              <a:spcAft>
                <a:spcPts val="0"/>
              </a:spcAft>
              <a:buSzPts val="1800"/>
              <a:buChar char="●"/>
            </a:pPr>
            <a:r>
              <a:rPr lang="en"/>
              <a:t>If the RST sender receives more data later, send another RST.</a:t>
            </a:r>
            <a:endParaRPr/>
          </a:p>
        </p:txBody>
      </p:sp>
      <p:sp>
        <p:nvSpPr>
          <p:cNvPr id="869" name="Google Shape;869;p41"/>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TCP Connection Teardown</a:t>
            </a:r>
            <a:endParaRPr/>
          </a:p>
        </p:txBody>
      </p:sp>
      <p:cxnSp>
        <p:nvCxnSpPr>
          <p:cNvPr id="870" name="Google Shape;870;p41"/>
          <p:cNvCxnSpPr/>
          <p:nvPr/>
        </p:nvCxnSpPr>
        <p:spPr>
          <a:xfrm>
            <a:off x="3037525" y="2612475"/>
            <a:ext cx="0" cy="2164800"/>
          </a:xfrm>
          <a:prstGeom prst="straightConnector1">
            <a:avLst/>
          </a:prstGeom>
          <a:noFill/>
          <a:ln cap="flat" cmpd="sng" w="19050">
            <a:solidFill>
              <a:srgbClr val="0000FF"/>
            </a:solidFill>
            <a:prstDash val="solid"/>
            <a:round/>
            <a:headEnd len="med" w="med" type="none"/>
            <a:tailEnd len="med" w="med" type="none"/>
          </a:ln>
        </p:spPr>
      </p:cxnSp>
      <p:sp>
        <p:nvSpPr>
          <p:cNvPr id="871" name="Google Shape;871;p41"/>
          <p:cNvSpPr txBox="1"/>
          <p:nvPr/>
        </p:nvSpPr>
        <p:spPr>
          <a:xfrm>
            <a:off x="2485075" y="4777424"/>
            <a:ext cx="1104900" cy="270900"/>
          </a:xfrm>
          <a:prstGeom prst="rect">
            <a:avLst/>
          </a:prstGeom>
          <a:noFill/>
          <a:ln>
            <a:noFill/>
          </a:ln>
        </p:spPr>
        <p:txBody>
          <a:bodyPr anchorCtr="0" anchor="t" bIns="27425" lIns="91425" spcFirstLastPara="1" rIns="91425" wrap="square" tIns="27425">
            <a:spAutoFit/>
          </a:bodyPr>
          <a:lstStyle/>
          <a:p>
            <a:pPr indent="0" lvl="0" marL="0" rtl="0" algn="ctr">
              <a:spcBef>
                <a:spcPts val="0"/>
              </a:spcBef>
              <a:spcAft>
                <a:spcPts val="0"/>
              </a:spcAft>
              <a:buNone/>
            </a:pPr>
            <a:r>
              <a:rPr lang="en">
                <a:solidFill>
                  <a:srgbClr val="0000FF"/>
                </a:solidFill>
                <a:latin typeface="Roboto"/>
                <a:ea typeface="Roboto"/>
                <a:cs typeface="Roboto"/>
                <a:sym typeface="Roboto"/>
              </a:rPr>
              <a:t>Client</a:t>
            </a:r>
            <a:endParaRPr>
              <a:solidFill>
                <a:srgbClr val="0000FF"/>
              </a:solidFill>
              <a:latin typeface="Roboto"/>
              <a:ea typeface="Roboto"/>
              <a:cs typeface="Roboto"/>
              <a:sym typeface="Roboto"/>
            </a:endParaRPr>
          </a:p>
        </p:txBody>
      </p:sp>
      <p:cxnSp>
        <p:nvCxnSpPr>
          <p:cNvPr id="872" name="Google Shape;872;p41"/>
          <p:cNvCxnSpPr/>
          <p:nvPr/>
        </p:nvCxnSpPr>
        <p:spPr>
          <a:xfrm>
            <a:off x="6058925" y="2612475"/>
            <a:ext cx="0" cy="2164800"/>
          </a:xfrm>
          <a:prstGeom prst="straightConnector1">
            <a:avLst/>
          </a:prstGeom>
          <a:noFill/>
          <a:ln cap="flat" cmpd="sng" w="19050">
            <a:solidFill>
              <a:schemeClr val="accent2"/>
            </a:solidFill>
            <a:prstDash val="solid"/>
            <a:round/>
            <a:headEnd len="med" w="med" type="none"/>
            <a:tailEnd len="med" w="med" type="none"/>
          </a:ln>
        </p:spPr>
      </p:cxnSp>
      <p:sp>
        <p:nvSpPr>
          <p:cNvPr id="873" name="Google Shape;873;p41"/>
          <p:cNvSpPr txBox="1"/>
          <p:nvPr/>
        </p:nvSpPr>
        <p:spPr>
          <a:xfrm>
            <a:off x="5458934" y="4777424"/>
            <a:ext cx="1200000" cy="270900"/>
          </a:xfrm>
          <a:prstGeom prst="rect">
            <a:avLst/>
          </a:prstGeom>
          <a:noFill/>
          <a:ln>
            <a:noFill/>
          </a:ln>
        </p:spPr>
        <p:txBody>
          <a:bodyPr anchorCtr="0" anchor="t" bIns="27425" lIns="91425" spcFirstLastPara="1" rIns="91425" wrap="square" tIns="27425">
            <a:spAutoFit/>
          </a:bodyPr>
          <a:lstStyle/>
          <a:p>
            <a:pPr indent="0" lvl="0" marL="0" rtl="0" algn="ctr">
              <a:spcBef>
                <a:spcPts val="0"/>
              </a:spcBef>
              <a:spcAft>
                <a:spcPts val="0"/>
              </a:spcAft>
              <a:buNone/>
            </a:pPr>
            <a:r>
              <a:rPr lang="en">
                <a:solidFill>
                  <a:schemeClr val="accent2"/>
                </a:solidFill>
                <a:latin typeface="Roboto"/>
                <a:ea typeface="Roboto"/>
                <a:cs typeface="Roboto"/>
                <a:sym typeface="Roboto"/>
              </a:rPr>
              <a:t>Server</a:t>
            </a:r>
            <a:endParaRPr>
              <a:solidFill>
                <a:schemeClr val="accent2"/>
              </a:solidFill>
              <a:latin typeface="Roboto"/>
              <a:ea typeface="Roboto"/>
              <a:cs typeface="Roboto"/>
              <a:sym typeface="Roboto"/>
            </a:endParaRPr>
          </a:p>
        </p:txBody>
      </p:sp>
      <p:grpSp>
        <p:nvGrpSpPr>
          <p:cNvPr id="874" name="Google Shape;874;p41"/>
          <p:cNvGrpSpPr/>
          <p:nvPr/>
        </p:nvGrpSpPr>
        <p:grpSpPr>
          <a:xfrm>
            <a:off x="3039500" y="2712982"/>
            <a:ext cx="3007800" cy="568107"/>
            <a:chOff x="3039500" y="1897067"/>
            <a:chExt cx="3007800" cy="568107"/>
          </a:xfrm>
        </p:grpSpPr>
        <p:cxnSp>
          <p:nvCxnSpPr>
            <p:cNvPr id="875" name="Google Shape;875;p41"/>
            <p:cNvCxnSpPr/>
            <p:nvPr/>
          </p:nvCxnSpPr>
          <p:spPr>
            <a:xfrm>
              <a:off x="3039500" y="2023274"/>
              <a:ext cx="3007800" cy="441900"/>
            </a:xfrm>
            <a:prstGeom prst="straightConnector1">
              <a:avLst/>
            </a:prstGeom>
            <a:noFill/>
            <a:ln cap="flat" cmpd="sng" w="19050">
              <a:solidFill>
                <a:srgbClr val="0000FF"/>
              </a:solidFill>
              <a:prstDash val="solid"/>
              <a:round/>
              <a:headEnd len="med" w="med" type="none"/>
              <a:tailEnd len="med" w="med" type="triangle"/>
            </a:ln>
          </p:spPr>
        </p:cxnSp>
        <p:sp>
          <p:nvSpPr>
            <p:cNvPr id="876" name="Google Shape;876;p41"/>
            <p:cNvSpPr txBox="1"/>
            <p:nvPr/>
          </p:nvSpPr>
          <p:spPr>
            <a:xfrm rot="510033">
              <a:off x="4154499" y="1953707"/>
              <a:ext cx="787451" cy="284220"/>
            </a:xfrm>
            <a:prstGeom prst="rect">
              <a:avLst/>
            </a:prstGeom>
            <a:noFill/>
            <a:ln>
              <a:noFill/>
            </a:ln>
          </p:spPr>
          <p:txBody>
            <a:bodyPr anchorCtr="0" anchor="t" bIns="27425" lIns="27425" spcFirstLastPara="1" rIns="27425" wrap="square" tIns="27425">
              <a:noAutofit/>
            </a:bodyPr>
            <a:lstStyle/>
            <a:p>
              <a:pPr indent="0" lvl="0" marL="0" rtl="0" algn="ctr">
                <a:spcBef>
                  <a:spcPts val="0"/>
                </a:spcBef>
                <a:spcAft>
                  <a:spcPts val="0"/>
                </a:spcAft>
                <a:buNone/>
              </a:pPr>
              <a:r>
                <a:rPr lang="en">
                  <a:solidFill>
                    <a:srgbClr val="0000FF"/>
                  </a:solidFill>
                  <a:latin typeface="Roboto"/>
                  <a:ea typeface="Roboto"/>
                  <a:cs typeface="Roboto"/>
                  <a:sym typeface="Roboto"/>
                </a:rPr>
                <a:t>RST</a:t>
              </a:r>
              <a:endParaRPr>
                <a:solidFill>
                  <a:srgbClr val="0000FF"/>
                </a:solidFill>
                <a:latin typeface="Roboto"/>
                <a:ea typeface="Roboto"/>
                <a:cs typeface="Roboto"/>
                <a:sym typeface="Roboto"/>
              </a:endParaRPr>
            </a:p>
          </p:txBody>
        </p:sp>
      </p:grpSp>
      <p:grpSp>
        <p:nvGrpSpPr>
          <p:cNvPr id="877" name="Google Shape;877;p41"/>
          <p:cNvGrpSpPr/>
          <p:nvPr/>
        </p:nvGrpSpPr>
        <p:grpSpPr>
          <a:xfrm>
            <a:off x="3039475" y="3603015"/>
            <a:ext cx="3015000" cy="557901"/>
            <a:chOff x="3039475" y="2406099"/>
            <a:chExt cx="3015000" cy="557901"/>
          </a:xfrm>
        </p:grpSpPr>
        <p:cxnSp>
          <p:nvCxnSpPr>
            <p:cNvPr id="878" name="Google Shape;878;p41"/>
            <p:cNvCxnSpPr/>
            <p:nvPr/>
          </p:nvCxnSpPr>
          <p:spPr>
            <a:xfrm flipH="1">
              <a:off x="3039475" y="2514600"/>
              <a:ext cx="3015000" cy="449400"/>
            </a:xfrm>
            <a:prstGeom prst="straightConnector1">
              <a:avLst/>
            </a:prstGeom>
            <a:noFill/>
            <a:ln cap="flat" cmpd="sng" w="19050">
              <a:solidFill>
                <a:schemeClr val="accent2"/>
              </a:solidFill>
              <a:prstDash val="solid"/>
              <a:round/>
              <a:headEnd len="med" w="med" type="none"/>
              <a:tailEnd len="med" w="med" type="triangle"/>
            </a:ln>
          </p:spPr>
        </p:cxnSp>
        <p:sp>
          <p:nvSpPr>
            <p:cNvPr id="879" name="Google Shape;879;p41"/>
            <p:cNvSpPr txBox="1"/>
            <p:nvPr/>
          </p:nvSpPr>
          <p:spPr>
            <a:xfrm rot="-511328">
              <a:off x="4119553" y="2462889"/>
              <a:ext cx="787495" cy="284220"/>
            </a:xfrm>
            <a:prstGeom prst="rect">
              <a:avLst/>
            </a:prstGeom>
            <a:noFill/>
            <a:ln>
              <a:noFill/>
            </a:ln>
          </p:spPr>
          <p:txBody>
            <a:bodyPr anchorCtr="0" anchor="t" bIns="27425" lIns="27425" spcFirstLastPara="1" rIns="27425" wrap="square" tIns="27425">
              <a:noAutofit/>
            </a:bodyPr>
            <a:lstStyle/>
            <a:p>
              <a:pPr indent="0" lvl="0" marL="0" rtl="0" algn="ctr">
                <a:spcBef>
                  <a:spcPts val="0"/>
                </a:spcBef>
                <a:spcAft>
                  <a:spcPts val="0"/>
                </a:spcAft>
                <a:buNone/>
              </a:pPr>
              <a:r>
                <a:rPr lang="en">
                  <a:solidFill>
                    <a:schemeClr val="accent2"/>
                  </a:solidFill>
                  <a:latin typeface="Roboto"/>
                  <a:ea typeface="Roboto"/>
                  <a:cs typeface="Roboto"/>
                  <a:sym typeface="Roboto"/>
                </a:rPr>
                <a:t>data</a:t>
              </a:r>
              <a:endParaRPr>
                <a:solidFill>
                  <a:schemeClr val="accent2"/>
                </a:solidFill>
                <a:latin typeface="Roboto"/>
                <a:ea typeface="Roboto"/>
                <a:cs typeface="Roboto"/>
                <a:sym typeface="Roboto"/>
              </a:endParaRPr>
            </a:p>
          </p:txBody>
        </p:sp>
      </p:grpSp>
      <p:grpSp>
        <p:nvGrpSpPr>
          <p:cNvPr id="880" name="Google Shape;880;p41"/>
          <p:cNvGrpSpPr/>
          <p:nvPr/>
        </p:nvGrpSpPr>
        <p:grpSpPr>
          <a:xfrm>
            <a:off x="3039500" y="4084582"/>
            <a:ext cx="3007800" cy="568107"/>
            <a:chOff x="3039500" y="2887667"/>
            <a:chExt cx="3007800" cy="568107"/>
          </a:xfrm>
        </p:grpSpPr>
        <p:cxnSp>
          <p:nvCxnSpPr>
            <p:cNvPr id="881" name="Google Shape;881;p41"/>
            <p:cNvCxnSpPr/>
            <p:nvPr/>
          </p:nvCxnSpPr>
          <p:spPr>
            <a:xfrm>
              <a:off x="3039500" y="3013874"/>
              <a:ext cx="3007800" cy="441900"/>
            </a:xfrm>
            <a:prstGeom prst="straightConnector1">
              <a:avLst/>
            </a:prstGeom>
            <a:noFill/>
            <a:ln cap="flat" cmpd="sng" w="19050">
              <a:solidFill>
                <a:srgbClr val="0000FF"/>
              </a:solidFill>
              <a:prstDash val="solid"/>
              <a:round/>
              <a:headEnd len="med" w="med" type="none"/>
              <a:tailEnd len="med" w="med" type="triangle"/>
            </a:ln>
          </p:spPr>
        </p:cxnSp>
        <p:sp>
          <p:nvSpPr>
            <p:cNvPr id="882" name="Google Shape;882;p41"/>
            <p:cNvSpPr txBox="1"/>
            <p:nvPr/>
          </p:nvSpPr>
          <p:spPr>
            <a:xfrm rot="510033">
              <a:off x="4154499" y="2944307"/>
              <a:ext cx="787451" cy="284220"/>
            </a:xfrm>
            <a:prstGeom prst="rect">
              <a:avLst/>
            </a:prstGeom>
            <a:noFill/>
            <a:ln>
              <a:noFill/>
            </a:ln>
          </p:spPr>
          <p:txBody>
            <a:bodyPr anchorCtr="0" anchor="t" bIns="27425" lIns="27425" spcFirstLastPara="1" rIns="27425" wrap="square" tIns="27425">
              <a:noAutofit/>
            </a:bodyPr>
            <a:lstStyle/>
            <a:p>
              <a:pPr indent="0" lvl="0" marL="0" rtl="0" algn="ctr">
                <a:spcBef>
                  <a:spcPts val="0"/>
                </a:spcBef>
                <a:spcAft>
                  <a:spcPts val="0"/>
                </a:spcAft>
                <a:buNone/>
              </a:pPr>
              <a:r>
                <a:rPr lang="en">
                  <a:solidFill>
                    <a:srgbClr val="0000FF"/>
                  </a:solidFill>
                  <a:latin typeface="Roboto"/>
                  <a:ea typeface="Roboto"/>
                  <a:cs typeface="Roboto"/>
                  <a:sym typeface="Roboto"/>
                </a:rPr>
                <a:t>RST</a:t>
              </a:r>
              <a:endParaRPr>
                <a:solidFill>
                  <a:srgbClr val="0000FF"/>
                </a:solidFill>
                <a:latin typeface="Roboto"/>
                <a:ea typeface="Roboto"/>
                <a:cs typeface="Roboto"/>
                <a:sym typeface="Roboto"/>
              </a:endParaRPr>
            </a:p>
          </p:txBody>
        </p:sp>
      </p:gr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6" name="Shape 886"/>
        <p:cNvGrpSpPr/>
        <p:nvPr/>
      </p:nvGrpSpPr>
      <p:grpSpPr>
        <a:xfrm>
          <a:off x="0" y="0"/>
          <a:ext cx="0" cy="0"/>
          <a:chOff x="0" y="0"/>
          <a:chExt cx="0" cy="0"/>
        </a:xfrm>
      </p:grpSpPr>
      <p:sp>
        <p:nvSpPr>
          <p:cNvPr id="887" name="Google Shape;887;p42"/>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TCP Setup/Teardown Transition Diagram</a:t>
            </a:r>
            <a:endParaRPr/>
          </a:p>
        </p:txBody>
      </p:sp>
      <p:sp>
        <p:nvSpPr>
          <p:cNvPr id="888" name="Google Shape;888;p42"/>
          <p:cNvSpPr/>
          <p:nvPr/>
        </p:nvSpPr>
        <p:spPr>
          <a:xfrm>
            <a:off x="3620000" y="2861700"/>
            <a:ext cx="1067100" cy="279000"/>
          </a:xfrm>
          <a:prstGeom prst="roundRect">
            <a:avLst>
              <a:gd fmla="val 16667" name="adj"/>
            </a:avLst>
          </a:prstGeom>
          <a:solidFill>
            <a:srgbClr val="F4CCCC"/>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ESTABLISHED</a:t>
            </a:r>
            <a:endParaRPr sz="1000">
              <a:latin typeface="Roboto"/>
              <a:ea typeface="Roboto"/>
              <a:cs typeface="Roboto"/>
              <a:sym typeface="Roboto"/>
            </a:endParaRPr>
          </a:p>
        </p:txBody>
      </p:sp>
      <p:sp>
        <p:nvSpPr>
          <p:cNvPr id="889" name="Google Shape;889;p42"/>
          <p:cNvSpPr/>
          <p:nvPr/>
        </p:nvSpPr>
        <p:spPr>
          <a:xfrm>
            <a:off x="5479725" y="3407250"/>
            <a:ext cx="1067100" cy="279000"/>
          </a:xfrm>
          <a:prstGeom prst="roundRect">
            <a:avLst>
              <a:gd fmla="val 16667" name="adj"/>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CLOSE_WAIT</a:t>
            </a:r>
            <a:endParaRPr sz="1000">
              <a:latin typeface="Roboto"/>
              <a:ea typeface="Roboto"/>
              <a:cs typeface="Roboto"/>
              <a:sym typeface="Roboto"/>
            </a:endParaRPr>
          </a:p>
        </p:txBody>
      </p:sp>
      <p:sp>
        <p:nvSpPr>
          <p:cNvPr id="890" name="Google Shape;890;p42"/>
          <p:cNvSpPr/>
          <p:nvPr/>
        </p:nvSpPr>
        <p:spPr>
          <a:xfrm>
            <a:off x="5479725" y="4026925"/>
            <a:ext cx="1067100" cy="279000"/>
          </a:xfrm>
          <a:prstGeom prst="roundRect">
            <a:avLst>
              <a:gd fmla="val 16667" name="adj"/>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LAST_ACK</a:t>
            </a:r>
            <a:endParaRPr sz="1000">
              <a:latin typeface="Roboto"/>
              <a:ea typeface="Roboto"/>
              <a:cs typeface="Roboto"/>
              <a:sym typeface="Roboto"/>
            </a:endParaRPr>
          </a:p>
        </p:txBody>
      </p:sp>
      <p:sp>
        <p:nvSpPr>
          <p:cNvPr id="891" name="Google Shape;891;p42"/>
          <p:cNvSpPr/>
          <p:nvPr/>
        </p:nvSpPr>
        <p:spPr>
          <a:xfrm>
            <a:off x="5479725" y="4543250"/>
            <a:ext cx="1067100" cy="279000"/>
          </a:xfrm>
          <a:prstGeom prst="roundRect">
            <a:avLst>
              <a:gd fmla="val 16667" name="adj"/>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CLOSED</a:t>
            </a:r>
            <a:endParaRPr sz="1000">
              <a:latin typeface="Roboto"/>
              <a:ea typeface="Roboto"/>
              <a:cs typeface="Roboto"/>
              <a:sym typeface="Roboto"/>
            </a:endParaRPr>
          </a:p>
        </p:txBody>
      </p:sp>
      <p:sp>
        <p:nvSpPr>
          <p:cNvPr id="892" name="Google Shape;892;p42"/>
          <p:cNvSpPr/>
          <p:nvPr/>
        </p:nvSpPr>
        <p:spPr>
          <a:xfrm>
            <a:off x="3727125" y="4543250"/>
            <a:ext cx="1067100" cy="279000"/>
          </a:xfrm>
          <a:prstGeom prst="roundRect">
            <a:avLst>
              <a:gd fmla="val 16667" name="adj"/>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TIME_WAIT</a:t>
            </a:r>
            <a:endParaRPr sz="1000">
              <a:latin typeface="Roboto"/>
              <a:ea typeface="Roboto"/>
              <a:cs typeface="Roboto"/>
              <a:sym typeface="Roboto"/>
            </a:endParaRPr>
          </a:p>
        </p:txBody>
      </p:sp>
      <p:sp>
        <p:nvSpPr>
          <p:cNvPr id="893" name="Google Shape;893;p42"/>
          <p:cNvSpPr/>
          <p:nvPr/>
        </p:nvSpPr>
        <p:spPr>
          <a:xfrm>
            <a:off x="3727125" y="4037425"/>
            <a:ext cx="1067100" cy="279000"/>
          </a:xfrm>
          <a:prstGeom prst="roundRect">
            <a:avLst>
              <a:gd fmla="val 16667" name="adj"/>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CLOSING</a:t>
            </a:r>
            <a:endParaRPr sz="1000">
              <a:latin typeface="Roboto"/>
              <a:ea typeface="Roboto"/>
              <a:cs typeface="Roboto"/>
              <a:sym typeface="Roboto"/>
            </a:endParaRPr>
          </a:p>
        </p:txBody>
      </p:sp>
      <p:sp>
        <p:nvSpPr>
          <p:cNvPr id="894" name="Google Shape;894;p42"/>
          <p:cNvSpPr/>
          <p:nvPr/>
        </p:nvSpPr>
        <p:spPr>
          <a:xfrm>
            <a:off x="1790300" y="4026925"/>
            <a:ext cx="1067100" cy="279000"/>
          </a:xfrm>
          <a:prstGeom prst="roundRect">
            <a:avLst>
              <a:gd fmla="val 16667" name="adj"/>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FIN_WAIT_2</a:t>
            </a:r>
            <a:endParaRPr sz="1000">
              <a:latin typeface="Roboto"/>
              <a:ea typeface="Roboto"/>
              <a:cs typeface="Roboto"/>
              <a:sym typeface="Roboto"/>
            </a:endParaRPr>
          </a:p>
        </p:txBody>
      </p:sp>
      <p:sp>
        <p:nvSpPr>
          <p:cNvPr id="895" name="Google Shape;895;p42"/>
          <p:cNvSpPr/>
          <p:nvPr/>
        </p:nvSpPr>
        <p:spPr>
          <a:xfrm>
            <a:off x="1790300" y="3426775"/>
            <a:ext cx="1067100" cy="279000"/>
          </a:xfrm>
          <a:prstGeom prst="roundRect">
            <a:avLst>
              <a:gd fmla="val 16667" name="adj"/>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FIN_WAIT_1</a:t>
            </a:r>
            <a:endParaRPr sz="1000">
              <a:latin typeface="Roboto"/>
              <a:ea typeface="Roboto"/>
              <a:cs typeface="Roboto"/>
              <a:sym typeface="Roboto"/>
            </a:endParaRPr>
          </a:p>
        </p:txBody>
      </p:sp>
      <p:sp>
        <p:nvSpPr>
          <p:cNvPr id="896" name="Google Shape;896;p42"/>
          <p:cNvSpPr/>
          <p:nvPr/>
        </p:nvSpPr>
        <p:spPr>
          <a:xfrm>
            <a:off x="1790300" y="2154925"/>
            <a:ext cx="1067100" cy="279000"/>
          </a:xfrm>
          <a:prstGeom prst="roundRect">
            <a:avLst>
              <a:gd fmla="val 16667" name="adj"/>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SYN_RCVD</a:t>
            </a:r>
            <a:endParaRPr sz="1000">
              <a:latin typeface="Roboto"/>
              <a:ea typeface="Roboto"/>
              <a:cs typeface="Roboto"/>
              <a:sym typeface="Roboto"/>
            </a:endParaRPr>
          </a:p>
        </p:txBody>
      </p:sp>
      <p:sp>
        <p:nvSpPr>
          <p:cNvPr id="897" name="Google Shape;897;p42"/>
          <p:cNvSpPr/>
          <p:nvPr/>
        </p:nvSpPr>
        <p:spPr>
          <a:xfrm>
            <a:off x="3620000" y="1464900"/>
            <a:ext cx="1067100" cy="279000"/>
          </a:xfrm>
          <a:prstGeom prst="roundRect">
            <a:avLst>
              <a:gd fmla="val 16667" name="adj"/>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LISTEN</a:t>
            </a:r>
            <a:endParaRPr sz="1000">
              <a:latin typeface="Roboto"/>
              <a:ea typeface="Roboto"/>
              <a:cs typeface="Roboto"/>
              <a:sym typeface="Roboto"/>
            </a:endParaRPr>
          </a:p>
        </p:txBody>
      </p:sp>
      <p:sp>
        <p:nvSpPr>
          <p:cNvPr id="898" name="Google Shape;898;p42"/>
          <p:cNvSpPr/>
          <p:nvPr/>
        </p:nvSpPr>
        <p:spPr>
          <a:xfrm>
            <a:off x="3620000" y="579425"/>
            <a:ext cx="1067100" cy="279000"/>
          </a:xfrm>
          <a:prstGeom prst="roundRect">
            <a:avLst>
              <a:gd fmla="val 16667" name="adj"/>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CLOSED</a:t>
            </a:r>
            <a:endParaRPr sz="1000">
              <a:latin typeface="Roboto"/>
              <a:ea typeface="Roboto"/>
              <a:cs typeface="Roboto"/>
              <a:sym typeface="Roboto"/>
            </a:endParaRPr>
          </a:p>
        </p:txBody>
      </p:sp>
      <p:sp>
        <p:nvSpPr>
          <p:cNvPr id="899" name="Google Shape;899;p42"/>
          <p:cNvSpPr/>
          <p:nvPr/>
        </p:nvSpPr>
        <p:spPr>
          <a:xfrm>
            <a:off x="5479725" y="2154925"/>
            <a:ext cx="1067100" cy="279000"/>
          </a:xfrm>
          <a:prstGeom prst="roundRect">
            <a:avLst>
              <a:gd fmla="val 16667" name="adj"/>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SYN_SENT</a:t>
            </a:r>
            <a:endParaRPr sz="1000">
              <a:latin typeface="Roboto"/>
              <a:ea typeface="Roboto"/>
              <a:cs typeface="Roboto"/>
              <a:sym typeface="Roboto"/>
            </a:endParaRPr>
          </a:p>
        </p:txBody>
      </p:sp>
      <p:sp>
        <p:nvSpPr>
          <p:cNvPr id="900" name="Google Shape;900;p42"/>
          <p:cNvSpPr/>
          <p:nvPr/>
        </p:nvSpPr>
        <p:spPr>
          <a:xfrm>
            <a:off x="4690000" y="801750"/>
            <a:ext cx="973200" cy="1354225"/>
          </a:xfrm>
          <a:custGeom>
            <a:rect b="b" l="l" r="r" t="t"/>
            <a:pathLst>
              <a:path extrusionOk="0" h="54169" w="38928">
                <a:moveTo>
                  <a:pt x="38928" y="54169"/>
                </a:moveTo>
                <a:cubicBezTo>
                  <a:pt x="38293" y="50359"/>
                  <a:pt x="38100" y="38764"/>
                  <a:pt x="35118" y="31309"/>
                </a:cubicBezTo>
                <a:cubicBezTo>
                  <a:pt x="32136" y="23855"/>
                  <a:pt x="26891" y="14660"/>
                  <a:pt x="21038" y="9442"/>
                </a:cubicBezTo>
                <a:cubicBezTo>
                  <a:pt x="15185" y="4224"/>
                  <a:pt x="3506" y="1574"/>
                  <a:pt x="0" y="0"/>
                </a:cubicBezTo>
              </a:path>
            </a:pathLst>
          </a:custGeom>
          <a:noFill/>
          <a:ln cap="flat" cmpd="sng" w="9525">
            <a:solidFill>
              <a:schemeClr val="dk2"/>
            </a:solidFill>
            <a:prstDash val="solid"/>
            <a:round/>
            <a:headEnd len="med" w="med" type="none"/>
            <a:tailEnd len="med" w="med" type="triangle"/>
          </a:ln>
        </p:spPr>
      </p:sp>
      <p:sp>
        <p:nvSpPr>
          <p:cNvPr id="901" name="Google Shape;901;p42"/>
          <p:cNvSpPr/>
          <p:nvPr/>
        </p:nvSpPr>
        <p:spPr>
          <a:xfrm>
            <a:off x="4271725" y="1750125"/>
            <a:ext cx="1207997" cy="497800"/>
          </a:xfrm>
          <a:custGeom>
            <a:rect b="b" l="l" r="r" t="t"/>
            <a:pathLst>
              <a:path extrusionOk="0" h="19912" w="46217">
                <a:moveTo>
                  <a:pt x="0" y="0"/>
                </a:moveTo>
                <a:cubicBezTo>
                  <a:pt x="1353" y="2292"/>
                  <a:pt x="3976" y="10547"/>
                  <a:pt x="8117" y="13749"/>
                </a:cubicBezTo>
                <a:cubicBezTo>
                  <a:pt x="12258" y="16952"/>
                  <a:pt x="18498" y="18194"/>
                  <a:pt x="24848" y="19215"/>
                </a:cubicBezTo>
                <a:cubicBezTo>
                  <a:pt x="31198" y="20237"/>
                  <a:pt x="42656" y="19768"/>
                  <a:pt x="46217" y="19878"/>
                </a:cubicBezTo>
              </a:path>
            </a:pathLst>
          </a:custGeom>
          <a:noFill/>
          <a:ln cap="flat" cmpd="sng" w="9525">
            <a:solidFill>
              <a:schemeClr val="dk2"/>
            </a:solidFill>
            <a:prstDash val="solid"/>
            <a:round/>
            <a:headEnd len="med" w="med" type="none"/>
            <a:tailEnd len="med" w="med" type="triangle"/>
          </a:ln>
        </p:spPr>
      </p:sp>
      <p:sp>
        <p:nvSpPr>
          <p:cNvPr id="902" name="Google Shape;902;p42"/>
          <p:cNvSpPr/>
          <p:nvPr/>
        </p:nvSpPr>
        <p:spPr>
          <a:xfrm flipH="1" rot="10800000">
            <a:off x="4271725" y="2359725"/>
            <a:ext cx="1207997" cy="497800"/>
          </a:xfrm>
          <a:custGeom>
            <a:rect b="b" l="l" r="r" t="t"/>
            <a:pathLst>
              <a:path extrusionOk="0" h="19912" w="46217">
                <a:moveTo>
                  <a:pt x="0" y="0"/>
                </a:moveTo>
                <a:cubicBezTo>
                  <a:pt x="1353" y="2292"/>
                  <a:pt x="3976" y="10547"/>
                  <a:pt x="8117" y="13749"/>
                </a:cubicBezTo>
                <a:cubicBezTo>
                  <a:pt x="12258" y="16952"/>
                  <a:pt x="18498" y="18194"/>
                  <a:pt x="24848" y="19215"/>
                </a:cubicBezTo>
                <a:cubicBezTo>
                  <a:pt x="31198" y="20237"/>
                  <a:pt x="42656" y="19768"/>
                  <a:pt x="46217" y="19878"/>
                </a:cubicBezTo>
              </a:path>
            </a:pathLst>
          </a:custGeom>
          <a:noFill/>
          <a:ln cap="flat" cmpd="sng" w="9525">
            <a:solidFill>
              <a:schemeClr val="dk2"/>
            </a:solidFill>
            <a:prstDash val="solid"/>
            <a:round/>
            <a:headEnd len="med" w="med" type="triangle"/>
            <a:tailEnd len="med" w="med" type="none"/>
          </a:ln>
        </p:spPr>
      </p:sp>
      <p:sp>
        <p:nvSpPr>
          <p:cNvPr id="903" name="Google Shape;903;p42"/>
          <p:cNvSpPr/>
          <p:nvPr/>
        </p:nvSpPr>
        <p:spPr>
          <a:xfrm flipH="1">
            <a:off x="2857420" y="1750125"/>
            <a:ext cx="1160855" cy="478983"/>
          </a:xfrm>
          <a:custGeom>
            <a:rect b="b" l="l" r="r" t="t"/>
            <a:pathLst>
              <a:path extrusionOk="0" h="19912" w="46217">
                <a:moveTo>
                  <a:pt x="0" y="0"/>
                </a:moveTo>
                <a:cubicBezTo>
                  <a:pt x="1353" y="2292"/>
                  <a:pt x="3976" y="10547"/>
                  <a:pt x="8117" y="13749"/>
                </a:cubicBezTo>
                <a:cubicBezTo>
                  <a:pt x="12258" y="16952"/>
                  <a:pt x="18498" y="18194"/>
                  <a:pt x="24848" y="19215"/>
                </a:cubicBezTo>
                <a:cubicBezTo>
                  <a:pt x="31198" y="20237"/>
                  <a:pt x="42656" y="19768"/>
                  <a:pt x="46217" y="19878"/>
                </a:cubicBezTo>
              </a:path>
            </a:pathLst>
          </a:custGeom>
          <a:noFill/>
          <a:ln cap="flat" cmpd="sng" w="9525">
            <a:solidFill>
              <a:schemeClr val="dk2"/>
            </a:solidFill>
            <a:prstDash val="solid"/>
            <a:round/>
            <a:headEnd len="med" w="med" type="none"/>
            <a:tailEnd len="med" w="med" type="triangle"/>
          </a:ln>
        </p:spPr>
      </p:sp>
      <p:sp>
        <p:nvSpPr>
          <p:cNvPr id="904" name="Google Shape;904;p42"/>
          <p:cNvSpPr/>
          <p:nvPr/>
        </p:nvSpPr>
        <p:spPr>
          <a:xfrm rot="10800000">
            <a:off x="2859109" y="2359725"/>
            <a:ext cx="1167441" cy="497800"/>
          </a:xfrm>
          <a:custGeom>
            <a:rect b="b" l="l" r="r" t="t"/>
            <a:pathLst>
              <a:path extrusionOk="0" h="19912" w="46217">
                <a:moveTo>
                  <a:pt x="0" y="0"/>
                </a:moveTo>
                <a:cubicBezTo>
                  <a:pt x="1353" y="2292"/>
                  <a:pt x="3976" y="10547"/>
                  <a:pt x="8117" y="13749"/>
                </a:cubicBezTo>
                <a:cubicBezTo>
                  <a:pt x="12258" y="16952"/>
                  <a:pt x="18498" y="18194"/>
                  <a:pt x="24848" y="19215"/>
                </a:cubicBezTo>
                <a:cubicBezTo>
                  <a:pt x="31198" y="20237"/>
                  <a:pt x="42656" y="19768"/>
                  <a:pt x="46217" y="19878"/>
                </a:cubicBezTo>
              </a:path>
            </a:pathLst>
          </a:custGeom>
          <a:noFill/>
          <a:ln cap="flat" cmpd="sng" w="9525">
            <a:solidFill>
              <a:schemeClr val="dk2"/>
            </a:solidFill>
            <a:prstDash val="solid"/>
            <a:round/>
            <a:headEnd len="med" w="med" type="triangle"/>
            <a:tailEnd len="med" w="med" type="none"/>
          </a:ln>
        </p:spPr>
      </p:sp>
      <p:sp>
        <p:nvSpPr>
          <p:cNvPr id="905" name="Google Shape;905;p42"/>
          <p:cNvSpPr/>
          <p:nvPr/>
        </p:nvSpPr>
        <p:spPr>
          <a:xfrm>
            <a:off x="4271725" y="3140700"/>
            <a:ext cx="1207997" cy="393610"/>
          </a:xfrm>
          <a:custGeom>
            <a:rect b="b" l="l" r="r" t="t"/>
            <a:pathLst>
              <a:path extrusionOk="0" h="19912" w="46217">
                <a:moveTo>
                  <a:pt x="0" y="0"/>
                </a:moveTo>
                <a:cubicBezTo>
                  <a:pt x="1353" y="2292"/>
                  <a:pt x="3976" y="10547"/>
                  <a:pt x="8117" y="13749"/>
                </a:cubicBezTo>
                <a:cubicBezTo>
                  <a:pt x="12258" y="16952"/>
                  <a:pt x="18498" y="18194"/>
                  <a:pt x="24848" y="19215"/>
                </a:cubicBezTo>
                <a:cubicBezTo>
                  <a:pt x="31198" y="20237"/>
                  <a:pt x="42656" y="19768"/>
                  <a:pt x="46217" y="19878"/>
                </a:cubicBezTo>
              </a:path>
            </a:pathLst>
          </a:custGeom>
          <a:noFill/>
          <a:ln cap="flat" cmpd="sng" w="9525">
            <a:solidFill>
              <a:schemeClr val="dk2"/>
            </a:solidFill>
            <a:prstDash val="solid"/>
            <a:round/>
            <a:headEnd len="med" w="med" type="none"/>
            <a:tailEnd len="med" w="med" type="triangle"/>
          </a:ln>
        </p:spPr>
      </p:sp>
      <p:sp>
        <p:nvSpPr>
          <p:cNvPr id="906" name="Google Shape;906;p42"/>
          <p:cNvSpPr/>
          <p:nvPr/>
        </p:nvSpPr>
        <p:spPr>
          <a:xfrm flipH="1">
            <a:off x="2862851" y="3140700"/>
            <a:ext cx="1155425" cy="393610"/>
          </a:xfrm>
          <a:custGeom>
            <a:rect b="b" l="l" r="r" t="t"/>
            <a:pathLst>
              <a:path extrusionOk="0" h="19912" w="46217">
                <a:moveTo>
                  <a:pt x="0" y="0"/>
                </a:moveTo>
                <a:cubicBezTo>
                  <a:pt x="1353" y="2292"/>
                  <a:pt x="3976" y="10547"/>
                  <a:pt x="8117" y="13749"/>
                </a:cubicBezTo>
                <a:cubicBezTo>
                  <a:pt x="12258" y="16952"/>
                  <a:pt x="18498" y="18194"/>
                  <a:pt x="24848" y="19215"/>
                </a:cubicBezTo>
                <a:cubicBezTo>
                  <a:pt x="31198" y="20237"/>
                  <a:pt x="42656" y="19768"/>
                  <a:pt x="46217" y="19878"/>
                </a:cubicBezTo>
              </a:path>
            </a:pathLst>
          </a:custGeom>
          <a:noFill/>
          <a:ln cap="flat" cmpd="sng" w="9525">
            <a:solidFill>
              <a:schemeClr val="dk2"/>
            </a:solidFill>
            <a:prstDash val="solid"/>
            <a:round/>
            <a:headEnd len="med" w="med" type="none"/>
            <a:tailEnd len="med" w="med" type="triangle"/>
          </a:ln>
        </p:spPr>
      </p:sp>
      <p:sp>
        <p:nvSpPr>
          <p:cNvPr id="907" name="Google Shape;907;p42"/>
          <p:cNvSpPr/>
          <p:nvPr/>
        </p:nvSpPr>
        <p:spPr>
          <a:xfrm>
            <a:off x="2323850" y="4309775"/>
            <a:ext cx="1403858" cy="391225"/>
          </a:xfrm>
          <a:custGeom>
            <a:rect b="b" l="l" r="r" t="t"/>
            <a:pathLst>
              <a:path extrusionOk="0" h="15649" w="52014">
                <a:moveTo>
                  <a:pt x="0" y="0"/>
                </a:moveTo>
                <a:cubicBezTo>
                  <a:pt x="387" y="1905"/>
                  <a:pt x="-221" y="8890"/>
                  <a:pt x="2319" y="11430"/>
                </a:cubicBezTo>
                <a:cubicBezTo>
                  <a:pt x="4859" y="13970"/>
                  <a:pt x="6958" y="14550"/>
                  <a:pt x="15240" y="15240"/>
                </a:cubicBezTo>
                <a:cubicBezTo>
                  <a:pt x="23523" y="15930"/>
                  <a:pt x="45885" y="15517"/>
                  <a:pt x="52014" y="15572"/>
                </a:cubicBezTo>
              </a:path>
            </a:pathLst>
          </a:custGeom>
          <a:noFill/>
          <a:ln cap="flat" cmpd="sng" w="9525">
            <a:solidFill>
              <a:schemeClr val="dk2"/>
            </a:solidFill>
            <a:prstDash val="solid"/>
            <a:round/>
            <a:headEnd len="med" w="med" type="none"/>
            <a:tailEnd len="med" w="med" type="triangle"/>
          </a:ln>
        </p:spPr>
      </p:sp>
      <p:cxnSp>
        <p:nvCxnSpPr>
          <p:cNvPr id="908" name="Google Shape;908;p42"/>
          <p:cNvCxnSpPr/>
          <p:nvPr/>
        </p:nvCxnSpPr>
        <p:spPr>
          <a:xfrm>
            <a:off x="4022500" y="863875"/>
            <a:ext cx="0" cy="600600"/>
          </a:xfrm>
          <a:prstGeom prst="straightConnector1">
            <a:avLst/>
          </a:prstGeom>
          <a:noFill/>
          <a:ln cap="flat" cmpd="sng" w="9525">
            <a:solidFill>
              <a:schemeClr val="dk2"/>
            </a:solidFill>
            <a:prstDash val="solid"/>
            <a:round/>
            <a:headEnd len="med" w="med" type="none"/>
            <a:tailEnd len="med" w="med" type="triangle"/>
          </a:ln>
        </p:spPr>
      </p:cxnSp>
      <p:cxnSp>
        <p:nvCxnSpPr>
          <p:cNvPr id="909" name="Google Shape;909;p42"/>
          <p:cNvCxnSpPr/>
          <p:nvPr/>
        </p:nvCxnSpPr>
        <p:spPr>
          <a:xfrm>
            <a:off x="4275948" y="863875"/>
            <a:ext cx="0" cy="600600"/>
          </a:xfrm>
          <a:prstGeom prst="straightConnector1">
            <a:avLst/>
          </a:prstGeom>
          <a:noFill/>
          <a:ln cap="flat" cmpd="sng" w="9525">
            <a:solidFill>
              <a:schemeClr val="dk2"/>
            </a:solidFill>
            <a:prstDash val="solid"/>
            <a:round/>
            <a:headEnd len="med" w="med" type="none"/>
            <a:tailEnd len="med" w="med" type="triangle"/>
          </a:ln>
        </p:spPr>
      </p:cxnSp>
      <p:cxnSp>
        <p:nvCxnSpPr>
          <p:cNvPr id="910" name="Google Shape;910;p42"/>
          <p:cNvCxnSpPr>
            <a:stCxn id="896" idx="2"/>
            <a:endCxn id="895" idx="0"/>
          </p:cNvCxnSpPr>
          <p:nvPr/>
        </p:nvCxnSpPr>
        <p:spPr>
          <a:xfrm>
            <a:off x="2323850" y="2433925"/>
            <a:ext cx="0" cy="993000"/>
          </a:xfrm>
          <a:prstGeom prst="straightConnector1">
            <a:avLst/>
          </a:prstGeom>
          <a:noFill/>
          <a:ln cap="flat" cmpd="sng" w="9525">
            <a:solidFill>
              <a:schemeClr val="dk2"/>
            </a:solidFill>
            <a:prstDash val="solid"/>
            <a:round/>
            <a:headEnd len="med" w="med" type="none"/>
            <a:tailEnd len="med" w="med" type="triangle"/>
          </a:ln>
        </p:spPr>
      </p:cxnSp>
      <p:cxnSp>
        <p:nvCxnSpPr>
          <p:cNvPr id="911" name="Google Shape;911;p42"/>
          <p:cNvCxnSpPr>
            <a:stCxn id="895" idx="2"/>
            <a:endCxn id="894" idx="0"/>
          </p:cNvCxnSpPr>
          <p:nvPr/>
        </p:nvCxnSpPr>
        <p:spPr>
          <a:xfrm>
            <a:off x="2323850" y="3705775"/>
            <a:ext cx="0" cy="321300"/>
          </a:xfrm>
          <a:prstGeom prst="straightConnector1">
            <a:avLst/>
          </a:prstGeom>
          <a:noFill/>
          <a:ln cap="flat" cmpd="sng" w="9525">
            <a:solidFill>
              <a:schemeClr val="dk2"/>
            </a:solidFill>
            <a:prstDash val="solid"/>
            <a:round/>
            <a:headEnd len="med" w="med" type="none"/>
            <a:tailEnd len="med" w="med" type="triangle"/>
          </a:ln>
        </p:spPr>
      </p:cxnSp>
      <p:cxnSp>
        <p:nvCxnSpPr>
          <p:cNvPr id="912" name="Google Shape;912;p42"/>
          <p:cNvCxnSpPr/>
          <p:nvPr/>
        </p:nvCxnSpPr>
        <p:spPr>
          <a:xfrm>
            <a:off x="2811625" y="3704300"/>
            <a:ext cx="912600" cy="912600"/>
          </a:xfrm>
          <a:prstGeom prst="straightConnector1">
            <a:avLst/>
          </a:prstGeom>
          <a:noFill/>
          <a:ln cap="flat" cmpd="sng" w="9525">
            <a:solidFill>
              <a:schemeClr val="dk2"/>
            </a:solidFill>
            <a:prstDash val="solid"/>
            <a:round/>
            <a:headEnd len="med" w="med" type="none"/>
            <a:tailEnd len="med" w="med" type="triangle"/>
          </a:ln>
        </p:spPr>
      </p:cxnSp>
      <p:cxnSp>
        <p:nvCxnSpPr>
          <p:cNvPr id="913" name="Google Shape;913;p42"/>
          <p:cNvCxnSpPr>
            <a:stCxn id="893" idx="2"/>
            <a:endCxn id="892" idx="0"/>
          </p:cNvCxnSpPr>
          <p:nvPr/>
        </p:nvCxnSpPr>
        <p:spPr>
          <a:xfrm>
            <a:off x="4260675" y="4316425"/>
            <a:ext cx="0" cy="226800"/>
          </a:xfrm>
          <a:prstGeom prst="straightConnector1">
            <a:avLst/>
          </a:prstGeom>
          <a:noFill/>
          <a:ln cap="flat" cmpd="sng" w="9525">
            <a:solidFill>
              <a:schemeClr val="dk2"/>
            </a:solidFill>
            <a:prstDash val="solid"/>
            <a:round/>
            <a:headEnd len="med" w="med" type="none"/>
            <a:tailEnd len="med" w="med" type="triangle"/>
          </a:ln>
        </p:spPr>
      </p:cxnSp>
      <p:cxnSp>
        <p:nvCxnSpPr>
          <p:cNvPr id="914" name="Google Shape;914;p42"/>
          <p:cNvCxnSpPr>
            <a:endCxn id="890" idx="0"/>
          </p:cNvCxnSpPr>
          <p:nvPr/>
        </p:nvCxnSpPr>
        <p:spPr>
          <a:xfrm>
            <a:off x="6013275" y="3686125"/>
            <a:ext cx="0" cy="340800"/>
          </a:xfrm>
          <a:prstGeom prst="straightConnector1">
            <a:avLst/>
          </a:prstGeom>
          <a:noFill/>
          <a:ln cap="flat" cmpd="sng" w="9525">
            <a:solidFill>
              <a:schemeClr val="dk2"/>
            </a:solidFill>
            <a:prstDash val="solid"/>
            <a:round/>
            <a:headEnd len="med" w="med" type="none"/>
            <a:tailEnd len="med" w="med" type="triangle"/>
          </a:ln>
        </p:spPr>
      </p:cxnSp>
      <p:cxnSp>
        <p:nvCxnSpPr>
          <p:cNvPr id="915" name="Google Shape;915;p42"/>
          <p:cNvCxnSpPr>
            <a:stCxn id="890" idx="2"/>
            <a:endCxn id="891" idx="0"/>
          </p:cNvCxnSpPr>
          <p:nvPr/>
        </p:nvCxnSpPr>
        <p:spPr>
          <a:xfrm>
            <a:off x="6013275" y="4305925"/>
            <a:ext cx="0" cy="237300"/>
          </a:xfrm>
          <a:prstGeom prst="straightConnector1">
            <a:avLst/>
          </a:prstGeom>
          <a:noFill/>
          <a:ln cap="flat" cmpd="sng" w="9525">
            <a:solidFill>
              <a:schemeClr val="dk2"/>
            </a:solidFill>
            <a:prstDash val="solid"/>
            <a:round/>
            <a:headEnd len="med" w="med" type="none"/>
            <a:tailEnd len="med" w="med" type="triangle"/>
          </a:ln>
        </p:spPr>
      </p:cxnSp>
      <p:cxnSp>
        <p:nvCxnSpPr>
          <p:cNvPr id="916" name="Google Shape;916;p42"/>
          <p:cNvCxnSpPr>
            <a:endCxn id="891" idx="1"/>
          </p:cNvCxnSpPr>
          <p:nvPr/>
        </p:nvCxnSpPr>
        <p:spPr>
          <a:xfrm>
            <a:off x="4794225" y="4682750"/>
            <a:ext cx="685500" cy="0"/>
          </a:xfrm>
          <a:prstGeom prst="straightConnector1">
            <a:avLst/>
          </a:prstGeom>
          <a:noFill/>
          <a:ln cap="flat" cmpd="sng" w="9525">
            <a:solidFill>
              <a:schemeClr val="dk2"/>
            </a:solidFill>
            <a:prstDash val="solid"/>
            <a:round/>
            <a:headEnd len="med" w="med" type="none"/>
            <a:tailEnd len="med" w="med" type="triangle"/>
          </a:ln>
        </p:spPr>
      </p:cxnSp>
      <p:sp>
        <p:nvSpPr>
          <p:cNvPr id="917" name="Google Shape;917;p42"/>
          <p:cNvSpPr txBox="1"/>
          <p:nvPr/>
        </p:nvSpPr>
        <p:spPr>
          <a:xfrm>
            <a:off x="2791625" y="4546250"/>
            <a:ext cx="616200" cy="153900"/>
          </a:xfrm>
          <a:prstGeom prst="rect">
            <a:avLst/>
          </a:prstGeom>
          <a:noFill/>
          <a:ln>
            <a:noFill/>
          </a:ln>
        </p:spPr>
        <p:txBody>
          <a:bodyPr anchorCtr="0" anchor="t" bIns="0" lIns="0" spcFirstLastPara="1" rIns="0" wrap="square" tIns="0">
            <a:spAutoFit/>
          </a:bodyPr>
          <a:lstStyle/>
          <a:p>
            <a:pPr indent="0" lvl="0" marL="0" rtl="0" algn="ctr">
              <a:spcBef>
                <a:spcPts val="0"/>
              </a:spcBef>
              <a:spcAft>
                <a:spcPts val="0"/>
              </a:spcAft>
              <a:buNone/>
            </a:pPr>
            <a:r>
              <a:rPr lang="en" sz="1000">
                <a:latin typeface="Roboto"/>
                <a:ea typeface="Roboto"/>
                <a:cs typeface="Roboto"/>
                <a:sym typeface="Roboto"/>
              </a:rPr>
              <a:t>FIN/ACK</a:t>
            </a:r>
            <a:endParaRPr sz="1000">
              <a:latin typeface="Roboto"/>
              <a:ea typeface="Roboto"/>
              <a:cs typeface="Roboto"/>
              <a:sym typeface="Roboto"/>
            </a:endParaRPr>
          </a:p>
        </p:txBody>
      </p:sp>
      <p:sp>
        <p:nvSpPr>
          <p:cNvPr id="918" name="Google Shape;918;p42"/>
          <p:cNvSpPr txBox="1"/>
          <p:nvPr/>
        </p:nvSpPr>
        <p:spPr>
          <a:xfrm rot="2700000">
            <a:off x="2763772" y="4006124"/>
            <a:ext cx="1104784" cy="154008"/>
          </a:xfrm>
          <a:prstGeom prst="rect">
            <a:avLst/>
          </a:prstGeom>
          <a:noFill/>
          <a:ln>
            <a:noFill/>
          </a:ln>
        </p:spPr>
        <p:txBody>
          <a:bodyPr anchorCtr="0" anchor="t" bIns="0" lIns="0" spcFirstLastPara="1" rIns="0" wrap="square" tIns="0">
            <a:spAutoFit/>
          </a:bodyPr>
          <a:lstStyle/>
          <a:p>
            <a:pPr indent="0" lvl="0" marL="0" rtl="0" algn="ctr">
              <a:spcBef>
                <a:spcPts val="0"/>
              </a:spcBef>
              <a:spcAft>
                <a:spcPts val="0"/>
              </a:spcAft>
              <a:buNone/>
            </a:pPr>
            <a:r>
              <a:rPr lang="en" sz="1000">
                <a:latin typeface="Roboto"/>
                <a:ea typeface="Roboto"/>
                <a:cs typeface="Roboto"/>
                <a:sym typeface="Roboto"/>
              </a:rPr>
              <a:t>ACK + FIN/ACK</a:t>
            </a:r>
            <a:endParaRPr sz="1000">
              <a:latin typeface="Roboto"/>
              <a:ea typeface="Roboto"/>
              <a:cs typeface="Roboto"/>
              <a:sym typeface="Roboto"/>
            </a:endParaRPr>
          </a:p>
        </p:txBody>
      </p:sp>
      <p:sp>
        <p:nvSpPr>
          <p:cNvPr id="919" name="Google Shape;919;p42"/>
          <p:cNvSpPr txBox="1"/>
          <p:nvPr/>
        </p:nvSpPr>
        <p:spPr>
          <a:xfrm>
            <a:off x="3849550" y="4352888"/>
            <a:ext cx="345900" cy="153900"/>
          </a:xfrm>
          <a:prstGeom prst="rect">
            <a:avLst/>
          </a:prstGeom>
          <a:noFill/>
          <a:ln>
            <a:noFill/>
          </a:ln>
        </p:spPr>
        <p:txBody>
          <a:bodyPr anchorCtr="0" anchor="t" bIns="0" lIns="0" spcFirstLastPara="1" rIns="0" wrap="square" tIns="0">
            <a:spAutoFit/>
          </a:bodyPr>
          <a:lstStyle/>
          <a:p>
            <a:pPr indent="0" lvl="0" marL="0" rtl="0" algn="ctr">
              <a:spcBef>
                <a:spcPts val="0"/>
              </a:spcBef>
              <a:spcAft>
                <a:spcPts val="0"/>
              </a:spcAft>
              <a:buNone/>
            </a:pPr>
            <a:r>
              <a:rPr lang="en" sz="1000">
                <a:latin typeface="Roboto"/>
                <a:ea typeface="Roboto"/>
                <a:cs typeface="Roboto"/>
                <a:sym typeface="Roboto"/>
              </a:rPr>
              <a:t>ACK</a:t>
            </a:r>
            <a:endParaRPr sz="1000">
              <a:latin typeface="Roboto"/>
              <a:ea typeface="Roboto"/>
              <a:cs typeface="Roboto"/>
              <a:sym typeface="Roboto"/>
            </a:endParaRPr>
          </a:p>
        </p:txBody>
      </p:sp>
      <p:sp>
        <p:nvSpPr>
          <p:cNvPr id="920" name="Google Shape;920;p42"/>
          <p:cNvSpPr txBox="1"/>
          <p:nvPr/>
        </p:nvSpPr>
        <p:spPr>
          <a:xfrm>
            <a:off x="4828875" y="4026925"/>
            <a:ext cx="616200" cy="615600"/>
          </a:xfrm>
          <a:prstGeom prst="rect">
            <a:avLst/>
          </a:prstGeom>
          <a:noFill/>
          <a:ln>
            <a:noFill/>
          </a:ln>
        </p:spPr>
        <p:txBody>
          <a:bodyPr anchorCtr="0" anchor="t" bIns="0" lIns="0" spcFirstLastPara="1" rIns="0" wrap="square" tIns="0">
            <a:spAutoFit/>
          </a:bodyPr>
          <a:lstStyle/>
          <a:p>
            <a:pPr indent="0" lvl="0" marL="0" rtl="0" algn="ctr">
              <a:spcBef>
                <a:spcPts val="0"/>
              </a:spcBef>
              <a:spcAft>
                <a:spcPts val="0"/>
              </a:spcAft>
              <a:buNone/>
            </a:pPr>
            <a:r>
              <a:rPr lang="en" sz="1000">
                <a:latin typeface="Roboto"/>
                <a:ea typeface="Roboto"/>
                <a:cs typeface="Roboto"/>
                <a:sym typeface="Roboto"/>
              </a:rPr>
              <a:t>Timeout after 2 segment lifetimes</a:t>
            </a:r>
            <a:endParaRPr sz="1000">
              <a:latin typeface="Roboto"/>
              <a:ea typeface="Roboto"/>
              <a:cs typeface="Roboto"/>
              <a:sym typeface="Roboto"/>
            </a:endParaRPr>
          </a:p>
        </p:txBody>
      </p:sp>
      <p:sp>
        <p:nvSpPr>
          <p:cNvPr id="921" name="Google Shape;921;p42"/>
          <p:cNvSpPr txBox="1"/>
          <p:nvPr/>
        </p:nvSpPr>
        <p:spPr>
          <a:xfrm>
            <a:off x="6075900" y="4347638"/>
            <a:ext cx="345900" cy="153900"/>
          </a:xfrm>
          <a:prstGeom prst="rect">
            <a:avLst/>
          </a:prstGeom>
          <a:noFill/>
          <a:ln>
            <a:noFill/>
          </a:ln>
        </p:spPr>
        <p:txBody>
          <a:bodyPr anchorCtr="0" anchor="t" bIns="0" lIns="0" spcFirstLastPara="1" rIns="0" wrap="square" tIns="0">
            <a:spAutoFit/>
          </a:bodyPr>
          <a:lstStyle/>
          <a:p>
            <a:pPr indent="0" lvl="0" marL="0" rtl="0" algn="ctr">
              <a:spcBef>
                <a:spcPts val="0"/>
              </a:spcBef>
              <a:spcAft>
                <a:spcPts val="0"/>
              </a:spcAft>
              <a:buNone/>
            </a:pPr>
            <a:r>
              <a:rPr lang="en" sz="1000">
                <a:latin typeface="Roboto"/>
                <a:ea typeface="Roboto"/>
                <a:cs typeface="Roboto"/>
                <a:sym typeface="Roboto"/>
              </a:rPr>
              <a:t>ACK</a:t>
            </a:r>
            <a:endParaRPr sz="1000">
              <a:latin typeface="Roboto"/>
              <a:ea typeface="Roboto"/>
              <a:cs typeface="Roboto"/>
              <a:sym typeface="Roboto"/>
            </a:endParaRPr>
          </a:p>
        </p:txBody>
      </p:sp>
      <p:sp>
        <p:nvSpPr>
          <p:cNvPr id="922" name="Google Shape;922;p42"/>
          <p:cNvSpPr txBox="1"/>
          <p:nvPr/>
        </p:nvSpPr>
        <p:spPr>
          <a:xfrm>
            <a:off x="6041950" y="3757838"/>
            <a:ext cx="585600" cy="153900"/>
          </a:xfrm>
          <a:prstGeom prst="rect">
            <a:avLst/>
          </a:prstGeom>
          <a:noFill/>
          <a:ln>
            <a:noFill/>
          </a:ln>
        </p:spPr>
        <p:txBody>
          <a:bodyPr anchorCtr="0" anchor="t" bIns="0" lIns="0" spcFirstLastPara="1" rIns="0" wrap="square" tIns="0">
            <a:spAutoFit/>
          </a:bodyPr>
          <a:lstStyle/>
          <a:p>
            <a:pPr indent="0" lvl="0" marL="0" rtl="0" algn="ctr">
              <a:spcBef>
                <a:spcPts val="0"/>
              </a:spcBef>
              <a:spcAft>
                <a:spcPts val="0"/>
              </a:spcAft>
              <a:buNone/>
            </a:pPr>
            <a:r>
              <a:rPr lang="en" sz="1000">
                <a:latin typeface="Roboto"/>
                <a:ea typeface="Roboto"/>
                <a:cs typeface="Roboto"/>
                <a:sym typeface="Roboto"/>
              </a:rPr>
              <a:t>Close/FIN</a:t>
            </a:r>
            <a:endParaRPr sz="1000">
              <a:latin typeface="Roboto"/>
              <a:ea typeface="Roboto"/>
              <a:cs typeface="Roboto"/>
              <a:sym typeface="Roboto"/>
            </a:endParaRPr>
          </a:p>
        </p:txBody>
      </p:sp>
      <p:sp>
        <p:nvSpPr>
          <p:cNvPr id="923" name="Google Shape;923;p42"/>
          <p:cNvSpPr txBox="1"/>
          <p:nvPr/>
        </p:nvSpPr>
        <p:spPr>
          <a:xfrm>
            <a:off x="3166225" y="3664013"/>
            <a:ext cx="585600" cy="153900"/>
          </a:xfrm>
          <a:prstGeom prst="rect">
            <a:avLst/>
          </a:prstGeom>
          <a:noFill/>
          <a:ln>
            <a:noFill/>
          </a:ln>
        </p:spPr>
        <p:txBody>
          <a:bodyPr anchorCtr="0" anchor="t" bIns="0" lIns="0" spcFirstLastPara="1" rIns="0" wrap="square" tIns="0">
            <a:spAutoFit/>
          </a:bodyPr>
          <a:lstStyle/>
          <a:p>
            <a:pPr indent="0" lvl="0" marL="0" rtl="0" algn="ctr">
              <a:spcBef>
                <a:spcPts val="0"/>
              </a:spcBef>
              <a:spcAft>
                <a:spcPts val="0"/>
              </a:spcAft>
              <a:buNone/>
            </a:pPr>
            <a:r>
              <a:rPr lang="en" sz="1000">
                <a:latin typeface="Roboto"/>
                <a:ea typeface="Roboto"/>
                <a:cs typeface="Roboto"/>
                <a:sym typeface="Roboto"/>
              </a:rPr>
              <a:t>FIN/ACK</a:t>
            </a:r>
            <a:endParaRPr sz="1000">
              <a:latin typeface="Roboto"/>
              <a:ea typeface="Roboto"/>
              <a:cs typeface="Roboto"/>
              <a:sym typeface="Roboto"/>
            </a:endParaRPr>
          </a:p>
        </p:txBody>
      </p:sp>
      <p:sp>
        <p:nvSpPr>
          <p:cNvPr id="924" name="Google Shape;924;p42"/>
          <p:cNvSpPr txBox="1"/>
          <p:nvPr/>
        </p:nvSpPr>
        <p:spPr>
          <a:xfrm>
            <a:off x="1977938" y="3747013"/>
            <a:ext cx="345900" cy="153900"/>
          </a:xfrm>
          <a:prstGeom prst="rect">
            <a:avLst/>
          </a:prstGeom>
          <a:noFill/>
          <a:ln>
            <a:noFill/>
          </a:ln>
        </p:spPr>
        <p:txBody>
          <a:bodyPr anchorCtr="0" anchor="t" bIns="0" lIns="0" spcFirstLastPara="1" rIns="0" wrap="square" tIns="0">
            <a:spAutoFit/>
          </a:bodyPr>
          <a:lstStyle/>
          <a:p>
            <a:pPr indent="0" lvl="0" marL="0" rtl="0" algn="ctr">
              <a:spcBef>
                <a:spcPts val="0"/>
              </a:spcBef>
              <a:spcAft>
                <a:spcPts val="0"/>
              </a:spcAft>
              <a:buNone/>
            </a:pPr>
            <a:r>
              <a:rPr lang="en" sz="1000">
                <a:latin typeface="Roboto"/>
                <a:ea typeface="Roboto"/>
                <a:cs typeface="Roboto"/>
                <a:sym typeface="Roboto"/>
              </a:rPr>
              <a:t>ACK</a:t>
            </a:r>
            <a:endParaRPr sz="1000">
              <a:latin typeface="Roboto"/>
              <a:ea typeface="Roboto"/>
              <a:cs typeface="Roboto"/>
              <a:sym typeface="Roboto"/>
            </a:endParaRPr>
          </a:p>
        </p:txBody>
      </p:sp>
      <p:sp>
        <p:nvSpPr>
          <p:cNvPr id="925" name="Google Shape;925;p42"/>
          <p:cNvSpPr txBox="1"/>
          <p:nvPr/>
        </p:nvSpPr>
        <p:spPr>
          <a:xfrm>
            <a:off x="3147763" y="3312425"/>
            <a:ext cx="585600" cy="153900"/>
          </a:xfrm>
          <a:prstGeom prst="rect">
            <a:avLst/>
          </a:prstGeom>
          <a:noFill/>
          <a:ln>
            <a:noFill/>
          </a:ln>
        </p:spPr>
        <p:txBody>
          <a:bodyPr anchorCtr="0" anchor="t" bIns="0" lIns="0" spcFirstLastPara="1" rIns="0" wrap="square" tIns="0">
            <a:spAutoFit/>
          </a:bodyPr>
          <a:lstStyle/>
          <a:p>
            <a:pPr indent="0" lvl="0" marL="0" rtl="0" algn="ctr">
              <a:spcBef>
                <a:spcPts val="0"/>
              </a:spcBef>
              <a:spcAft>
                <a:spcPts val="0"/>
              </a:spcAft>
              <a:buNone/>
            </a:pPr>
            <a:r>
              <a:rPr lang="en" sz="1000">
                <a:latin typeface="Roboto"/>
                <a:ea typeface="Roboto"/>
                <a:cs typeface="Roboto"/>
                <a:sym typeface="Roboto"/>
              </a:rPr>
              <a:t>Close/FIN</a:t>
            </a:r>
            <a:endParaRPr sz="1000">
              <a:latin typeface="Roboto"/>
              <a:ea typeface="Roboto"/>
              <a:cs typeface="Roboto"/>
              <a:sym typeface="Roboto"/>
            </a:endParaRPr>
          </a:p>
        </p:txBody>
      </p:sp>
      <p:sp>
        <p:nvSpPr>
          <p:cNvPr id="926" name="Google Shape;926;p42"/>
          <p:cNvSpPr txBox="1"/>
          <p:nvPr/>
        </p:nvSpPr>
        <p:spPr>
          <a:xfrm>
            <a:off x="2424538" y="2922163"/>
            <a:ext cx="585600" cy="153900"/>
          </a:xfrm>
          <a:prstGeom prst="rect">
            <a:avLst/>
          </a:prstGeom>
          <a:noFill/>
          <a:ln>
            <a:noFill/>
          </a:ln>
        </p:spPr>
        <p:txBody>
          <a:bodyPr anchorCtr="0" anchor="t" bIns="0" lIns="0" spcFirstLastPara="1" rIns="0" wrap="square" tIns="0">
            <a:spAutoFit/>
          </a:bodyPr>
          <a:lstStyle/>
          <a:p>
            <a:pPr indent="0" lvl="0" marL="0" rtl="0" algn="ctr">
              <a:spcBef>
                <a:spcPts val="0"/>
              </a:spcBef>
              <a:spcAft>
                <a:spcPts val="0"/>
              </a:spcAft>
              <a:buNone/>
            </a:pPr>
            <a:r>
              <a:rPr lang="en" sz="1000">
                <a:latin typeface="Roboto"/>
                <a:ea typeface="Roboto"/>
                <a:cs typeface="Roboto"/>
                <a:sym typeface="Roboto"/>
              </a:rPr>
              <a:t>Close/FIN</a:t>
            </a:r>
            <a:endParaRPr sz="1000">
              <a:latin typeface="Roboto"/>
              <a:ea typeface="Roboto"/>
              <a:cs typeface="Roboto"/>
              <a:sym typeface="Roboto"/>
            </a:endParaRPr>
          </a:p>
        </p:txBody>
      </p:sp>
      <p:sp>
        <p:nvSpPr>
          <p:cNvPr id="927" name="Google Shape;927;p42"/>
          <p:cNvSpPr txBox="1"/>
          <p:nvPr/>
        </p:nvSpPr>
        <p:spPr>
          <a:xfrm>
            <a:off x="3370113" y="2433913"/>
            <a:ext cx="345900" cy="153900"/>
          </a:xfrm>
          <a:prstGeom prst="rect">
            <a:avLst/>
          </a:prstGeom>
          <a:noFill/>
          <a:ln>
            <a:noFill/>
          </a:ln>
        </p:spPr>
        <p:txBody>
          <a:bodyPr anchorCtr="0" anchor="t" bIns="0" lIns="0" spcFirstLastPara="1" rIns="0" wrap="square" tIns="0">
            <a:spAutoFit/>
          </a:bodyPr>
          <a:lstStyle/>
          <a:p>
            <a:pPr indent="0" lvl="0" marL="0" rtl="0" algn="ctr">
              <a:spcBef>
                <a:spcPts val="0"/>
              </a:spcBef>
              <a:spcAft>
                <a:spcPts val="0"/>
              </a:spcAft>
              <a:buNone/>
            </a:pPr>
            <a:r>
              <a:rPr lang="en" sz="1000">
                <a:latin typeface="Roboto"/>
                <a:ea typeface="Roboto"/>
                <a:cs typeface="Roboto"/>
                <a:sym typeface="Roboto"/>
              </a:rPr>
              <a:t>ACK</a:t>
            </a:r>
            <a:endParaRPr sz="1000">
              <a:latin typeface="Roboto"/>
              <a:ea typeface="Roboto"/>
              <a:cs typeface="Roboto"/>
              <a:sym typeface="Roboto"/>
            </a:endParaRPr>
          </a:p>
        </p:txBody>
      </p:sp>
      <p:sp>
        <p:nvSpPr>
          <p:cNvPr id="928" name="Google Shape;928;p42"/>
          <p:cNvSpPr txBox="1"/>
          <p:nvPr/>
        </p:nvSpPr>
        <p:spPr>
          <a:xfrm>
            <a:off x="4709275" y="3341888"/>
            <a:ext cx="585600" cy="153900"/>
          </a:xfrm>
          <a:prstGeom prst="rect">
            <a:avLst/>
          </a:prstGeom>
          <a:noFill/>
          <a:ln>
            <a:noFill/>
          </a:ln>
        </p:spPr>
        <p:txBody>
          <a:bodyPr anchorCtr="0" anchor="t" bIns="0" lIns="0" spcFirstLastPara="1" rIns="0" wrap="square" tIns="0">
            <a:spAutoFit/>
          </a:bodyPr>
          <a:lstStyle/>
          <a:p>
            <a:pPr indent="0" lvl="0" marL="0" rtl="0" algn="ctr">
              <a:spcBef>
                <a:spcPts val="0"/>
              </a:spcBef>
              <a:spcAft>
                <a:spcPts val="0"/>
              </a:spcAft>
              <a:buNone/>
            </a:pPr>
            <a:r>
              <a:rPr lang="en" sz="1000">
                <a:latin typeface="Roboto"/>
                <a:ea typeface="Roboto"/>
                <a:cs typeface="Roboto"/>
                <a:sym typeface="Roboto"/>
              </a:rPr>
              <a:t>FIN/ACK</a:t>
            </a:r>
            <a:endParaRPr sz="1000">
              <a:latin typeface="Roboto"/>
              <a:ea typeface="Roboto"/>
              <a:cs typeface="Roboto"/>
              <a:sym typeface="Roboto"/>
            </a:endParaRPr>
          </a:p>
        </p:txBody>
      </p:sp>
      <p:sp>
        <p:nvSpPr>
          <p:cNvPr id="929" name="Google Shape;929;p42"/>
          <p:cNvSpPr txBox="1"/>
          <p:nvPr/>
        </p:nvSpPr>
        <p:spPr>
          <a:xfrm>
            <a:off x="4498900" y="2477863"/>
            <a:ext cx="948300" cy="153900"/>
          </a:xfrm>
          <a:prstGeom prst="rect">
            <a:avLst/>
          </a:prstGeom>
          <a:noFill/>
          <a:ln>
            <a:noFill/>
          </a:ln>
        </p:spPr>
        <p:txBody>
          <a:bodyPr anchorCtr="0" anchor="t" bIns="0" lIns="0" spcFirstLastPara="1" rIns="0" wrap="square" tIns="0">
            <a:spAutoFit/>
          </a:bodyPr>
          <a:lstStyle/>
          <a:p>
            <a:pPr indent="0" lvl="0" marL="0" rtl="0" algn="ctr">
              <a:spcBef>
                <a:spcPts val="0"/>
              </a:spcBef>
              <a:spcAft>
                <a:spcPts val="0"/>
              </a:spcAft>
              <a:buNone/>
            </a:pPr>
            <a:r>
              <a:rPr lang="en" sz="1000">
                <a:latin typeface="Roboto"/>
                <a:ea typeface="Roboto"/>
                <a:cs typeface="Roboto"/>
                <a:sym typeface="Roboto"/>
              </a:rPr>
              <a:t>SYN+ACK/ACK</a:t>
            </a:r>
            <a:endParaRPr sz="1000">
              <a:latin typeface="Roboto"/>
              <a:ea typeface="Roboto"/>
              <a:cs typeface="Roboto"/>
              <a:sym typeface="Roboto"/>
            </a:endParaRPr>
          </a:p>
        </p:txBody>
      </p:sp>
      <p:sp>
        <p:nvSpPr>
          <p:cNvPr id="930" name="Google Shape;930;p42"/>
          <p:cNvSpPr txBox="1"/>
          <p:nvPr/>
        </p:nvSpPr>
        <p:spPr>
          <a:xfrm>
            <a:off x="3646675" y="2154838"/>
            <a:ext cx="948300" cy="153900"/>
          </a:xfrm>
          <a:prstGeom prst="rect">
            <a:avLst/>
          </a:prstGeom>
          <a:noFill/>
          <a:ln>
            <a:noFill/>
          </a:ln>
        </p:spPr>
        <p:txBody>
          <a:bodyPr anchorCtr="0" anchor="t" bIns="0" lIns="0" spcFirstLastPara="1" rIns="0" wrap="square" tIns="0">
            <a:spAutoFit/>
          </a:bodyPr>
          <a:lstStyle/>
          <a:p>
            <a:pPr indent="0" lvl="0" marL="0" rtl="0" algn="ctr">
              <a:spcBef>
                <a:spcPts val="0"/>
              </a:spcBef>
              <a:spcAft>
                <a:spcPts val="0"/>
              </a:spcAft>
              <a:buNone/>
            </a:pPr>
            <a:r>
              <a:rPr lang="en" sz="1000">
                <a:latin typeface="Roboto"/>
                <a:ea typeface="Roboto"/>
                <a:cs typeface="Roboto"/>
                <a:sym typeface="Roboto"/>
              </a:rPr>
              <a:t>SYN/SYN+ACK</a:t>
            </a:r>
            <a:endParaRPr sz="1000">
              <a:latin typeface="Roboto"/>
              <a:ea typeface="Roboto"/>
              <a:cs typeface="Roboto"/>
              <a:sym typeface="Roboto"/>
            </a:endParaRPr>
          </a:p>
        </p:txBody>
      </p:sp>
      <p:sp>
        <p:nvSpPr>
          <p:cNvPr id="931" name="Google Shape;931;p42"/>
          <p:cNvSpPr txBox="1"/>
          <p:nvPr/>
        </p:nvSpPr>
        <p:spPr>
          <a:xfrm>
            <a:off x="2804900" y="1974850"/>
            <a:ext cx="948300" cy="153900"/>
          </a:xfrm>
          <a:prstGeom prst="rect">
            <a:avLst/>
          </a:prstGeom>
          <a:noFill/>
          <a:ln>
            <a:noFill/>
          </a:ln>
        </p:spPr>
        <p:txBody>
          <a:bodyPr anchorCtr="0" anchor="t" bIns="0" lIns="0" spcFirstLastPara="1" rIns="0" wrap="square" tIns="0">
            <a:spAutoFit/>
          </a:bodyPr>
          <a:lstStyle/>
          <a:p>
            <a:pPr indent="0" lvl="0" marL="0" rtl="0" algn="ctr">
              <a:spcBef>
                <a:spcPts val="0"/>
              </a:spcBef>
              <a:spcAft>
                <a:spcPts val="0"/>
              </a:spcAft>
              <a:buNone/>
            </a:pPr>
            <a:r>
              <a:rPr lang="en" sz="1000">
                <a:latin typeface="Roboto"/>
                <a:ea typeface="Roboto"/>
                <a:cs typeface="Roboto"/>
                <a:sym typeface="Roboto"/>
              </a:rPr>
              <a:t>SYN/SYN+ACK</a:t>
            </a:r>
            <a:endParaRPr sz="1000">
              <a:latin typeface="Roboto"/>
              <a:ea typeface="Roboto"/>
              <a:cs typeface="Roboto"/>
              <a:sym typeface="Roboto"/>
            </a:endParaRPr>
          </a:p>
        </p:txBody>
      </p:sp>
      <p:sp>
        <p:nvSpPr>
          <p:cNvPr id="932" name="Google Shape;932;p42"/>
          <p:cNvSpPr txBox="1"/>
          <p:nvPr/>
        </p:nvSpPr>
        <p:spPr>
          <a:xfrm>
            <a:off x="4527925" y="1990868"/>
            <a:ext cx="719700" cy="153900"/>
          </a:xfrm>
          <a:prstGeom prst="rect">
            <a:avLst/>
          </a:prstGeom>
          <a:noFill/>
          <a:ln>
            <a:noFill/>
          </a:ln>
        </p:spPr>
        <p:txBody>
          <a:bodyPr anchorCtr="0" anchor="t" bIns="0" lIns="0" spcFirstLastPara="1" rIns="0" wrap="square" tIns="0">
            <a:spAutoFit/>
          </a:bodyPr>
          <a:lstStyle/>
          <a:p>
            <a:pPr indent="0" lvl="0" marL="0" rtl="0" algn="ctr">
              <a:spcBef>
                <a:spcPts val="0"/>
              </a:spcBef>
              <a:spcAft>
                <a:spcPts val="0"/>
              </a:spcAft>
              <a:buNone/>
            </a:pPr>
            <a:r>
              <a:rPr lang="en" sz="1000">
                <a:latin typeface="Roboto"/>
                <a:ea typeface="Roboto"/>
                <a:cs typeface="Roboto"/>
                <a:sym typeface="Roboto"/>
              </a:rPr>
              <a:t>Send/SYN</a:t>
            </a:r>
            <a:endParaRPr sz="1000">
              <a:latin typeface="Roboto"/>
              <a:ea typeface="Roboto"/>
              <a:cs typeface="Roboto"/>
              <a:sym typeface="Roboto"/>
            </a:endParaRPr>
          </a:p>
        </p:txBody>
      </p:sp>
      <p:sp>
        <p:nvSpPr>
          <p:cNvPr id="933" name="Google Shape;933;p42"/>
          <p:cNvSpPr txBox="1"/>
          <p:nvPr/>
        </p:nvSpPr>
        <p:spPr>
          <a:xfrm>
            <a:off x="5040625" y="1215625"/>
            <a:ext cx="365100" cy="153900"/>
          </a:xfrm>
          <a:prstGeom prst="rect">
            <a:avLst/>
          </a:prstGeom>
          <a:noFill/>
          <a:ln>
            <a:noFill/>
          </a:ln>
        </p:spPr>
        <p:txBody>
          <a:bodyPr anchorCtr="0" anchor="t" bIns="0" lIns="0" spcFirstLastPara="1" rIns="0" wrap="square" tIns="0">
            <a:spAutoFit/>
          </a:bodyPr>
          <a:lstStyle/>
          <a:p>
            <a:pPr indent="0" lvl="0" marL="0" rtl="0" algn="ctr">
              <a:spcBef>
                <a:spcPts val="0"/>
              </a:spcBef>
              <a:spcAft>
                <a:spcPts val="0"/>
              </a:spcAft>
              <a:buNone/>
            </a:pPr>
            <a:r>
              <a:rPr lang="en" sz="1000">
                <a:latin typeface="Roboto"/>
                <a:ea typeface="Roboto"/>
                <a:cs typeface="Roboto"/>
                <a:sym typeface="Roboto"/>
              </a:rPr>
              <a:t>Close</a:t>
            </a:r>
            <a:endParaRPr sz="1000">
              <a:latin typeface="Roboto"/>
              <a:ea typeface="Roboto"/>
              <a:cs typeface="Roboto"/>
              <a:sym typeface="Roboto"/>
            </a:endParaRPr>
          </a:p>
        </p:txBody>
      </p:sp>
      <p:sp>
        <p:nvSpPr>
          <p:cNvPr id="934" name="Google Shape;934;p42"/>
          <p:cNvSpPr txBox="1"/>
          <p:nvPr/>
        </p:nvSpPr>
        <p:spPr>
          <a:xfrm>
            <a:off x="4300425" y="1064025"/>
            <a:ext cx="365100" cy="153900"/>
          </a:xfrm>
          <a:prstGeom prst="rect">
            <a:avLst/>
          </a:prstGeom>
          <a:noFill/>
          <a:ln>
            <a:noFill/>
          </a:ln>
        </p:spPr>
        <p:txBody>
          <a:bodyPr anchorCtr="0" anchor="t" bIns="0" lIns="0" spcFirstLastPara="1" rIns="0" wrap="square" tIns="0">
            <a:spAutoFit/>
          </a:bodyPr>
          <a:lstStyle/>
          <a:p>
            <a:pPr indent="0" lvl="0" marL="0" rtl="0" algn="ctr">
              <a:spcBef>
                <a:spcPts val="0"/>
              </a:spcBef>
              <a:spcAft>
                <a:spcPts val="0"/>
              </a:spcAft>
              <a:buNone/>
            </a:pPr>
            <a:r>
              <a:rPr lang="en" sz="1000">
                <a:latin typeface="Roboto"/>
                <a:ea typeface="Roboto"/>
                <a:cs typeface="Roboto"/>
                <a:sym typeface="Roboto"/>
              </a:rPr>
              <a:t>Close</a:t>
            </a:r>
            <a:endParaRPr sz="1000">
              <a:latin typeface="Roboto"/>
              <a:ea typeface="Roboto"/>
              <a:cs typeface="Roboto"/>
              <a:sym typeface="Roboto"/>
            </a:endParaRPr>
          </a:p>
        </p:txBody>
      </p:sp>
      <p:sp>
        <p:nvSpPr>
          <p:cNvPr id="935" name="Google Shape;935;p42"/>
          <p:cNvSpPr txBox="1"/>
          <p:nvPr/>
        </p:nvSpPr>
        <p:spPr>
          <a:xfrm>
            <a:off x="3147775" y="1064025"/>
            <a:ext cx="865800" cy="153900"/>
          </a:xfrm>
          <a:prstGeom prst="rect">
            <a:avLst/>
          </a:prstGeom>
          <a:noFill/>
          <a:ln>
            <a:noFill/>
          </a:ln>
        </p:spPr>
        <p:txBody>
          <a:bodyPr anchorCtr="0" anchor="t" bIns="0" lIns="0" spcFirstLastPara="1" rIns="0" wrap="square" tIns="0">
            <a:spAutoFit/>
          </a:bodyPr>
          <a:lstStyle/>
          <a:p>
            <a:pPr indent="0" lvl="0" marL="0" rtl="0" algn="ctr">
              <a:spcBef>
                <a:spcPts val="0"/>
              </a:spcBef>
              <a:spcAft>
                <a:spcPts val="0"/>
              </a:spcAft>
              <a:buNone/>
            </a:pPr>
            <a:r>
              <a:rPr lang="en" sz="1000">
                <a:latin typeface="Roboto"/>
                <a:ea typeface="Roboto"/>
                <a:cs typeface="Roboto"/>
                <a:sym typeface="Roboto"/>
              </a:rPr>
              <a:t>Passive open</a:t>
            </a:r>
            <a:endParaRPr sz="1000">
              <a:latin typeface="Roboto"/>
              <a:ea typeface="Roboto"/>
              <a:cs typeface="Roboto"/>
              <a:sym typeface="Roboto"/>
            </a:endParaRPr>
          </a:p>
        </p:txBody>
      </p:sp>
      <p:sp>
        <p:nvSpPr>
          <p:cNvPr id="936" name="Google Shape;936;p42"/>
          <p:cNvSpPr txBox="1"/>
          <p:nvPr/>
        </p:nvSpPr>
        <p:spPr>
          <a:xfrm>
            <a:off x="5354700" y="727663"/>
            <a:ext cx="1067100" cy="153900"/>
          </a:xfrm>
          <a:prstGeom prst="rect">
            <a:avLst/>
          </a:prstGeom>
          <a:noFill/>
          <a:ln>
            <a:noFill/>
          </a:ln>
        </p:spPr>
        <p:txBody>
          <a:bodyPr anchorCtr="0" anchor="t" bIns="0" lIns="0" spcFirstLastPara="1" rIns="0" wrap="square" tIns="0">
            <a:spAutoFit/>
          </a:bodyPr>
          <a:lstStyle/>
          <a:p>
            <a:pPr indent="0" lvl="0" marL="0" rtl="0" algn="ctr">
              <a:spcBef>
                <a:spcPts val="0"/>
              </a:spcBef>
              <a:spcAft>
                <a:spcPts val="0"/>
              </a:spcAft>
              <a:buNone/>
            </a:pPr>
            <a:r>
              <a:rPr lang="en" sz="1000">
                <a:latin typeface="Roboto"/>
                <a:ea typeface="Roboto"/>
                <a:cs typeface="Roboto"/>
                <a:sym typeface="Roboto"/>
              </a:rPr>
              <a:t>Active open/SYN</a:t>
            </a:r>
            <a:endParaRPr sz="1000">
              <a:latin typeface="Roboto"/>
              <a:ea typeface="Roboto"/>
              <a:cs typeface="Roboto"/>
              <a:sym typeface="Roboto"/>
            </a:endParaRPr>
          </a:p>
        </p:txBody>
      </p:sp>
      <p:cxnSp>
        <p:nvCxnSpPr>
          <p:cNvPr id="937" name="Google Shape;937;p42"/>
          <p:cNvCxnSpPr/>
          <p:nvPr/>
        </p:nvCxnSpPr>
        <p:spPr>
          <a:xfrm rot="10800000">
            <a:off x="2857425" y="2308713"/>
            <a:ext cx="2622300" cy="0"/>
          </a:xfrm>
          <a:prstGeom prst="straightConnector1">
            <a:avLst/>
          </a:prstGeom>
          <a:noFill/>
          <a:ln cap="flat" cmpd="sng" w="9525">
            <a:solidFill>
              <a:schemeClr val="dk2"/>
            </a:solidFill>
            <a:prstDash val="solid"/>
            <a:round/>
            <a:headEnd len="med" w="med" type="none"/>
            <a:tailEnd len="med" w="med" type="triangle"/>
          </a:ln>
        </p:spPr>
      </p:cxnSp>
      <p:sp>
        <p:nvSpPr>
          <p:cNvPr id="938" name="Google Shape;938;p42"/>
          <p:cNvSpPr/>
          <p:nvPr/>
        </p:nvSpPr>
        <p:spPr>
          <a:xfrm>
            <a:off x="2861675" y="3639075"/>
            <a:ext cx="1255725" cy="393700"/>
          </a:xfrm>
          <a:custGeom>
            <a:rect b="b" l="l" r="r" t="t"/>
            <a:pathLst>
              <a:path extrusionOk="0" h="15748" w="50229">
                <a:moveTo>
                  <a:pt x="0" y="0"/>
                </a:moveTo>
                <a:cubicBezTo>
                  <a:pt x="6583" y="434"/>
                  <a:pt x="31126" y="-21"/>
                  <a:pt x="39497" y="2604"/>
                </a:cubicBezTo>
                <a:cubicBezTo>
                  <a:pt x="47869" y="5229"/>
                  <a:pt x="48440" y="13557"/>
                  <a:pt x="50229" y="15748"/>
                </a:cubicBezTo>
              </a:path>
            </a:pathLst>
          </a:custGeom>
          <a:noFill/>
          <a:ln cap="flat" cmpd="sng" w="9525">
            <a:solidFill>
              <a:schemeClr val="dk2"/>
            </a:solidFill>
            <a:prstDash val="solid"/>
            <a:round/>
            <a:headEnd len="med" w="med" type="none"/>
            <a:tailEnd len="med" w="med" type="triangle"/>
          </a:ln>
        </p:spPr>
      </p:sp>
      <p:sp>
        <p:nvSpPr>
          <p:cNvPr id="939" name="Google Shape;939;p42"/>
          <p:cNvSpPr txBox="1"/>
          <p:nvPr/>
        </p:nvSpPr>
        <p:spPr>
          <a:xfrm>
            <a:off x="6730300" y="2514775"/>
            <a:ext cx="1981500" cy="831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a:solidFill>
                  <a:schemeClr val="accent2"/>
                </a:solidFill>
                <a:latin typeface="Roboto"/>
                <a:ea typeface="Roboto"/>
                <a:cs typeface="Roboto"/>
                <a:sym typeface="Roboto"/>
              </a:rPr>
              <a:t>The ESTABLISHED state is where all data is sent and acked.</a:t>
            </a:r>
            <a:endParaRPr>
              <a:solidFill>
                <a:schemeClr val="accent2"/>
              </a:solidFill>
              <a:latin typeface="Roboto"/>
              <a:ea typeface="Roboto"/>
              <a:cs typeface="Roboto"/>
              <a:sym typeface="Roboto"/>
            </a:endParaRPr>
          </a:p>
        </p:txBody>
      </p:sp>
      <p:sp>
        <p:nvSpPr>
          <p:cNvPr id="940" name="Google Shape;940;p42"/>
          <p:cNvSpPr/>
          <p:nvPr/>
        </p:nvSpPr>
        <p:spPr>
          <a:xfrm>
            <a:off x="4692275" y="693750"/>
            <a:ext cx="1413050" cy="1469550"/>
          </a:xfrm>
          <a:custGeom>
            <a:rect b="b" l="l" r="r" t="t"/>
            <a:pathLst>
              <a:path extrusionOk="0" h="58782" w="56522">
                <a:moveTo>
                  <a:pt x="0" y="0"/>
                </a:moveTo>
                <a:cubicBezTo>
                  <a:pt x="7590" y="2692"/>
                  <a:pt x="36120" y="6352"/>
                  <a:pt x="45540" y="16149"/>
                </a:cubicBezTo>
                <a:cubicBezTo>
                  <a:pt x="54960" y="25946"/>
                  <a:pt x="54692" y="51677"/>
                  <a:pt x="56522" y="58782"/>
                </a:cubicBezTo>
              </a:path>
            </a:pathLst>
          </a:custGeom>
          <a:noFill/>
          <a:ln cap="flat" cmpd="sng" w="9525">
            <a:solidFill>
              <a:schemeClr val="dk2"/>
            </a:solidFill>
            <a:prstDash val="solid"/>
            <a:round/>
            <a:headEnd len="med" w="med" type="none"/>
            <a:tailEnd len="med" w="med" type="triangle"/>
          </a:ln>
        </p:spPr>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4" name="Shape 944"/>
        <p:cNvGrpSpPr/>
        <p:nvPr/>
      </p:nvGrpSpPr>
      <p:grpSpPr>
        <a:xfrm>
          <a:off x="0" y="0"/>
          <a:ext cx="0" cy="0"/>
          <a:chOff x="0" y="0"/>
          <a:chExt cx="0" cy="0"/>
        </a:xfrm>
      </p:grpSpPr>
      <p:sp>
        <p:nvSpPr>
          <p:cNvPr id="945" name="Google Shape;945;p43"/>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solidFill>
                  <a:schemeClr val="accent3"/>
                </a:solidFill>
              </a:rPr>
              <a:t>TCP Setup/Teardown Transition Diagram (Simplified)</a:t>
            </a:r>
            <a:endParaRPr/>
          </a:p>
        </p:txBody>
      </p:sp>
      <p:sp>
        <p:nvSpPr>
          <p:cNvPr id="946" name="Google Shape;946;p43"/>
          <p:cNvSpPr/>
          <p:nvPr/>
        </p:nvSpPr>
        <p:spPr>
          <a:xfrm>
            <a:off x="3583966" y="4139275"/>
            <a:ext cx="1352700" cy="441300"/>
          </a:xfrm>
          <a:prstGeom prst="roundRect">
            <a:avLst>
              <a:gd fmla="val 16667" name="adj"/>
            </a:avLst>
          </a:prstGeom>
          <a:solidFill>
            <a:srgbClr val="FFFFFF"/>
          </a:solid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accent2"/>
                </a:solidFill>
                <a:latin typeface="Roboto"/>
                <a:ea typeface="Roboto"/>
                <a:cs typeface="Roboto"/>
                <a:sym typeface="Roboto"/>
              </a:rPr>
              <a:t>FIN_WAIT1</a:t>
            </a:r>
            <a:endParaRPr>
              <a:solidFill>
                <a:schemeClr val="accent2"/>
              </a:solidFill>
              <a:latin typeface="Roboto"/>
              <a:ea typeface="Roboto"/>
              <a:cs typeface="Roboto"/>
              <a:sym typeface="Roboto"/>
            </a:endParaRPr>
          </a:p>
        </p:txBody>
      </p:sp>
      <p:sp>
        <p:nvSpPr>
          <p:cNvPr id="947" name="Google Shape;947;p43"/>
          <p:cNvSpPr/>
          <p:nvPr/>
        </p:nvSpPr>
        <p:spPr>
          <a:xfrm>
            <a:off x="1405975" y="2996263"/>
            <a:ext cx="1352700" cy="441300"/>
          </a:xfrm>
          <a:prstGeom prst="roundRect">
            <a:avLst>
              <a:gd fmla="val 16667" name="adj"/>
            </a:avLst>
          </a:prstGeom>
          <a:solidFill>
            <a:srgbClr val="FFFFFF"/>
          </a:solid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accent2"/>
                </a:solidFill>
                <a:latin typeface="Roboto"/>
                <a:ea typeface="Roboto"/>
                <a:cs typeface="Roboto"/>
                <a:sym typeface="Roboto"/>
              </a:rPr>
              <a:t>FIN_WAIT2</a:t>
            </a:r>
            <a:endParaRPr>
              <a:solidFill>
                <a:schemeClr val="accent2"/>
              </a:solidFill>
              <a:latin typeface="Roboto"/>
              <a:ea typeface="Roboto"/>
              <a:cs typeface="Roboto"/>
              <a:sym typeface="Roboto"/>
            </a:endParaRPr>
          </a:p>
        </p:txBody>
      </p:sp>
      <p:sp>
        <p:nvSpPr>
          <p:cNvPr id="948" name="Google Shape;948;p43"/>
          <p:cNvSpPr/>
          <p:nvPr/>
        </p:nvSpPr>
        <p:spPr>
          <a:xfrm>
            <a:off x="5761929" y="2996263"/>
            <a:ext cx="1352700" cy="441300"/>
          </a:xfrm>
          <a:prstGeom prst="roundRect">
            <a:avLst>
              <a:gd fmla="val 16667" name="adj"/>
            </a:avLst>
          </a:prstGeom>
          <a:solidFill>
            <a:srgbClr val="FFFFFF"/>
          </a:solidFill>
          <a:ln cap="flat" cmpd="sng" w="9525">
            <a:solidFill>
              <a:schemeClr val="dk2"/>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ESTABLISHED</a:t>
            </a:r>
            <a:endParaRPr>
              <a:latin typeface="Roboto"/>
              <a:ea typeface="Roboto"/>
              <a:cs typeface="Roboto"/>
              <a:sym typeface="Roboto"/>
            </a:endParaRPr>
          </a:p>
        </p:txBody>
      </p:sp>
      <p:sp>
        <p:nvSpPr>
          <p:cNvPr id="949" name="Google Shape;949;p43"/>
          <p:cNvSpPr/>
          <p:nvPr/>
        </p:nvSpPr>
        <p:spPr>
          <a:xfrm>
            <a:off x="3583966" y="710275"/>
            <a:ext cx="1352700" cy="441300"/>
          </a:xfrm>
          <a:prstGeom prst="roundRect">
            <a:avLst>
              <a:gd fmla="val 16667" name="adj"/>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CLOSED</a:t>
            </a:r>
            <a:endParaRPr>
              <a:latin typeface="Roboto"/>
              <a:ea typeface="Roboto"/>
              <a:cs typeface="Roboto"/>
              <a:sym typeface="Roboto"/>
            </a:endParaRPr>
          </a:p>
        </p:txBody>
      </p:sp>
      <p:sp>
        <p:nvSpPr>
          <p:cNvPr id="950" name="Google Shape;950;p43"/>
          <p:cNvSpPr/>
          <p:nvPr/>
        </p:nvSpPr>
        <p:spPr>
          <a:xfrm>
            <a:off x="1405975" y="1853263"/>
            <a:ext cx="1352700" cy="441300"/>
          </a:xfrm>
          <a:prstGeom prst="roundRect">
            <a:avLst>
              <a:gd fmla="val 16667" name="adj"/>
            </a:avLst>
          </a:prstGeom>
          <a:solidFill>
            <a:srgbClr val="FFFFFF"/>
          </a:solid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accent2"/>
                </a:solidFill>
                <a:latin typeface="Roboto"/>
                <a:ea typeface="Roboto"/>
                <a:cs typeface="Roboto"/>
                <a:sym typeface="Roboto"/>
              </a:rPr>
              <a:t>TIME_WAIT</a:t>
            </a:r>
            <a:endParaRPr>
              <a:solidFill>
                <a:schemeClr val="accent2"/>
              </a:solidFill>
              <a:latin typeface="Roboto"/>
              <a:ea typeface="Roboto"/>
              <a:cs typeface="Roboto"/>
              <a:sym typeface="Roboto"/>
            </a:endParaRPr>
          </a:p>
        </p:txBody>
      </p:sp>
      <p:sp>
        <p:nvSpPr>
          <p:cNvPr id="951" name="Google Shape;951;p43"/>
          <p:cNvSpPr/>
          <p:nvPr/>
        </p:nvSpPr>
        <p:spPr>
          <a:xfrm>
            <a:off x="5761929" y="1853263"/>
            <a:ext cx="1352700" cy="441300"/>
          </a:xfrm>
          <a:prstGeom prst="roundRect">
            <a:avLst>
              <a:gd fmla="val 16667" name="adj"/>
            </a:avLst>
          </a:prstGeom>
          <a:solidFill>
            <a:srgbClr val="FFFFFF"/>
          </a:solidFill>
          <a:ln cap="flat" cmpd="sng" w="9525">
            <a:solidFill>
              <a:srgbClr val="0000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rgbClr val="0000FF"/>
                </a:solidFill>
                <a:latin typeface="Roboto"/>
                <a:ea typeface="Roboto"/>
                <a:cs typeface="Roboto"/>
                <a:sym typeface="Roboto"/>
              </a:rPr>
              <a:t>SYN_SENT</a:t>
            </a:r>
            <a:endParaRPr>
              <a:solidFill>
                <a:srgbClr val="0000FF"/>
              </a:solidFill>
              <a:latin typeface="Roboto"/>
              <a:ea typeface="Roboto"/>
              <a:cs typeface="Roboto"/>
              <a:sym typeface="Roboto"/>
            </a:endParaRPr>
          </a:p>
        </p:txBody>
      </p:sp>
      <p:cxnSp>
        <p:nvCxnSpPr>
          <p:cNvPr id="952" name="Google Shape;952;p43"/>
          <p:cNvCxnSpPr>
            <a:stCxn id="949" idx="1"/>
            <a:endCxn id="950" idx="0"/>
          </p:cNvCxnSpPr>
          <p:nvPr/>
        </p:nvCxnSpPr>
        <p:spPr>
          <a:xfrm flipH="1">
            <a:off x="2082466" y="930925"/>
            <a:ext cx="1501500" cy="922200"/>
          </a:xfrm>
          <a:prstGeom prst="curvedConnector2">
            <a:avLst/>
          </a:prstGeom>
          <a:noFill/>
          <a:ln cap="flat" cmpd="sng" w="19050">
            <a:solidFill>
              <a:schemeClr val="accent2"/>
            </a:solidFill>
            <a:prstDash val="solid"/>
            <a:round/>
            <a:headEnd len="med" w="med" type="triangle"/>
            <a:tailEnd len="med" w="med" type="none"/>
          </a:ln>
        </p:spPr>
      </p:cxnSp>
      <p:cxnSp>
        <p:nvCxnSpPr>
          <p:cNvPr id="953" name="Google Shape;953;p43"/>
          <p:cNvCxnSpPr>
            <a:stCxn id="949" idx="3"/>
            <a:endCxn id="951" idx="0"/>
          </p:cNvCxnSpPr>
          <p:nvPr/>
        </p:nvCxnSpPr>
        <p:spPr>
          <a:xfrm>
            <a:off x="4936666" y="930925"/>
            <a:ext cx="1501500" cy="922200"/>
          </a:xfrm>
          <a:prstGeom prst="curvedConnector2">
            <a:avLst/>
          </a:prstGeom>
          <a:noFill/>
          <a:ln cap="flat" cmpd="sng" w="19050">
            <a:solidFill>
              <a:srgbClr val="0000FF"/>
            </a:solidFill>
            <a:prstDash val="solid"/>
            <a:round/>
            <a:headEnd len="med" w="med" type="none"/>
            <a:tailEnd len="med" w="med" type="triangle"/>
          </a:ln>
        </p:spPr>
      </p:cxnSp>
      <p:cxnSp>
        <p:nvCxnSpPr>
          <p:cNvPr id="954" name="Google Shape;954;p43"/>
          <p:cNvCxnSpPr>
            <a:stCxn id="947" idx="2"/>
            <a:endCxn id="946" idx="1"/>
          </p:cNvCxnSpPr>
          <p:nvPr/>
        </p:nvCxnSpPr>
        <p:spPr>
          <a:xfrm flipH="1" rot="-5400000">
            <a:off x="2371825" y="3148063"/>
            <a:ext cx="922500" cy="1501500"/>
          </a:xfrm>
          <a:prstGeom prst="curvedConnector2">
            <a:avLst/>
          </a:prstGeom>
          <a:noFill/>
          <a:ln cap="flat" cmpd="sng" w="19050">
            <a:solidFill>
              <a:schemeClr val="accent2"/>
            </a:solidFill>
            <a:prstDash val="solid"/>
            <a:round/>
            <a:headEnd len="med" w="med" type="triangle"/>
            <a:tailEnd len="med" w="med" type="none"/>
          </a:ln>
        </p:spPr>
      </p:cxnSp>
      <p:cxnSp>
        <p:nvCxnSpPr>
          <p:cNvPr id="955" name="Google Shape;955;p43"/>
          <p:cNvCxnSpPr>
            <a:stCxn id="946" idx="3"/>
            <a:endCxn id="948" idx="2"/>
          </p:cNvCxnSpPr>
          <p:nvPr/>
        </p:nvCxnSpPr>
        <p:spPr>
          <a:xfrm flipH="1" rot="10800000">
            <a:off x="4936666" y="3437425"/>
            <a:ext cx="1501500" cy="922500"/>
          </a:xfrm>
          <a:prstGeom prst="curvedConnector2">
            <a:avLst/>
          </a:prstGeom>
          <a:noFill/>
          <a:ln cap="flat" cmpd="sng" w="19050">
            <a:solidFill>
              <a:schemeClr val="accent2"/>
            </a:solidFill>
            <a:prstDash val="solid"/>
            <a:round/>
            <a:headEnd len="med" w="med" type="triangle"/>
            <a:tailEnd len="med" w="med" type="none"/>
          </a:ln>
        </p:spPr>
      </p:cxnSp>
      <p:cxnSp>
        <p:nvCxnSpPr>
          <p:cNvPr id="956" name="Google Shape;956;p43"/>
          <p:cNvCxnSpPr>
            <a:endCxn id="948" idx="0"/>
          </p:cNvCxnSpPr>
          <p:nvPr/>
        </p:nvCxnSpPr>
        <p:spPr>
          <a:xfrm>
            <a:off x="6438279" y="2294563"/>
            <a:ext cx="0" cy="701700"/>
          </a:xfrm>
          <a:prstGeom prst="straightConnector1">
            <a:avLst/>
          </a:prstGeom>
          <a:noFill/>
          <a:ln cap="flat" cmpd="sng" w="19050">
            <a:solidFill>
              <a:srgbClr val="0000FF"/>
            </a:solidFill>
            <a:prstDash val="solid"/>
            <a:round/>
            <a:headEnd len="med" w="med" type="none"/>
            <a:tailEnd len="med" w="med" type="triangle"/>
          </a:ln>
        </p:spPr>
      </p:cxnSp>
      <p:cxnSp>
        <p:nvCxnSpPr>
          <p:cNvPr id="957" name="Google Shape;957;p43"/>
          <p:cNvCxnSpPr>
            <a:stCxn id="950" idx="2"/>
            <a:endCxn id="947" idx="0"/>
          </p:cNvCxnSpPr>
          <p:nvPr/>
        </p:nvCxnSpPr>
        <p:spPr>
          <a:xfrm>
            <a:off x="2082325" y="2294563"/>
            <a:ext cx="0" cy="701700"/>
          </a:xfrm>
          <a:prstGeom prst="straightConnector1">
            <a:avLst/>
          </a:prstGeom>
          <a:noFill/>
          <a:ln cap="flat" cmpd="sng" w="19050">
            <a:solidFill>
              <a:schemeClr val="accent2"/>
            </a:solidFill>
            <a:prstDash val="solid"/>
            <a:round/>
            <a:headEnd len="med" w="med" type="triangle"/>
            <a:tailEnd len="med" w="med" type="none"/>
          </a:ln>
        </p:spPr>
      </p:cxnSp>
      <p:sp>
        <p:nvSpPr>
          <p:cNvPr id="958" name="Google Shape;958;p43"/>
          <p:cNvSpPr txBox="1"/>
          <p:nvPr/>
        </p:nvSpPr>
        <p:spPr>
          <a:xfrm>
            <a:off x="5914325" y="886375"/>
            <a:ext cx="865800" cy="215400"/>
          </a:xfrm>
          <a:prstGeom prst="rect">
            <a:avLst/>
          </a:prstGeom>
          <a:noFill/>
          <a:ln>
            <a:noFill/>
          </a:ln>
        </p:spPr>
        <p:txBody>
          <a:bodyPr anchorCtr="0" anchor="t" bIns="0" lIns="0" spcFirstLastPara="1" rIns="0" wrap="square" tIns="0">
            <a:spAutoFit/>
          </a:bodyPr>
          <a:lstStyle/>
          <a:p>
            <a:pPr indent="0" lvl="0" marL="0" rtl="0" algn="l">
              <a:spcBef>
                <a:spcPts val="0"/>
              </a:spcBef>
              <a:spcAft>
                <a:spcPts val="0"/>
              </a:spcAft>
              <a:buNone/>
            </a:pPr>
            <a:r>
              <a:rPr lang="en">
                <a:solidFill>
                  <a:srgbClr val="0000FF"/>
                </a:solidFill>
                <a:latin typeface="Roboto"/>
                <a:ea typeface="Roboto"/>
                <a:cs typeface="Roboto"/>
                <a:sym typeface="Roboto"/>
              </a:rPr>
              <a:t>Send SYN</a:t>
            </a:r>
            <a:endParaRPr>
              <a:solidFill>
                <a:srgbClr val="0000FF"/>
              </a:solidFill>
              <a:latin typeface="Roboto"/>
              <a:ea typeface="Roboto"/>
              <a:cs typeface="Roboto"/>
              <a:sym typeface="Roboto"/>
            </a:endParaRPr>
          </a:p>
        </p:txBody>
      </p:sp>
      <p:sp>
        <p:nvSpPr>
          <p:cNvPr id="959" name="Google Shape;959;p43"/>
          <p:cNvSpPr txBox="1"/>
          <p:nvPr/>
        </p:nvSpPr>
        <p:spPr>
          <a:xfrm>
            <a:off x="6584275" y="2429875"/>
            <a:ext cx="1501500" cy="431100"/>
          </a:xfrm>
          <a:prstGeom prst="rect">
            <a:avLst/>
          </a:prstGeom>
          <a:noFill/>
          <a:ln>
            <a:noFill/>
          </a:ln>
        </p:spPr>
        <p:txBody>
          <a:bodyPr anchorCtr="0" anchor="t" bIns="0" lIns="0" spcFirstLastPara="1" rIns="0" wrap="square" tIns="0">
            <a:spAutoFit/>
          </a:bodyPr>
          <a:lstStyle/>
          <a:p>
            <a:pPr indent="0" lvl="0" marL="0" rtl="0" algn="l">
              <a:spcBef>
                <a:spcPts val="0"/>
              </a:spcBef>
              <a:spcAft>
                <a:spcPts val="0"/>
              </a:spcAft>
              <a:buNone/>
            </a:pPr>
            <a:r>
              <a:rPr lang="en">
                <a:solidFill>
                  <a:srgbClr val="0000FF"/>
                </a:solidFill>
                <a:latin typeface="Roboto"/>
                <a:ea typeface="Roboto"/>
                <a:cs typeface="Roboto"/>
                <a:sym typeface="Roboto"/>
              </a:rPr>
              <a:t>Receive SYN+ACK</a:t>
            </a:r>
            <a:endParaRPr>
              <a:solidFill>
                <a:srgbClr val="0000FF"/>
              </a:solidFill>
              <a:latin typeface="Roboto"/>
              <a:ea typeface="Roboto"/>
              <a:cs typeface="Roboto"/>
              <a:sym typeface="Roboto"/>
            </a:endParaRPr>
          </a:p>
          <a:p>
            <a:pPr indent="0" lvl="0" marL="0" rtl="0" algn="l">
              <a:spcBef>
                <a:spcPts val="0"/>
              </a:spcBef>
              <a:spcAft>
                <a:spcPts val="0"/>
              </a:spcAft>
              <a:buNone/>
            </a:pPr>
            <a:r>
              <a:rPr lang="en">
                <a:solidFill>
                  <a:srgbClr val="0000FF"/>
                </a:solidFill>
                <a:latin typeface="Roboto"/>
                <a:ea typeface="Roboto"/>
                <a:cs typeface="Roboto"/>
                <a:sym typeface="Roboto"/>
              </a:rPr>
              <a:t>Send ACK</a:t>
            </a:r>
            <a:endParaRPr>
              <a:solidFill>
                <a:srgbClr val="0000FF"/>
              </a:solidFill>
              <a:latin typeface="Roboto"/>
              <a:ea typeface="Roboto"/>
              <a:cs typeface="Roboto"/>
              <a:sym typeface="Roboto"/>
            </a:endParaRPr>
          </a:p>
        </p:txBody>
      </p:sp>
      <p:sp>
        <p:nvSpPr>
          <p:cNvPr id="960" name="Google Shape;960;p43"/>
          <p:cNvSpPr txBox="1"/>
          <p:nvPr/>
        </p:nvSpPr>
        <p:spPr>
          <a:xfrm>
            <a:off x="5914325" y="4239175"/>
            <a:ext cx="865800" cy="215400"/>
          </a:xfrm>
          <a:prstGeom prst="rect">
            <a:avLst/>
          </a:prstGeom>
          <a:noFill/>
          <a:ln>
            <a:noFill/>
          </a:ln>
        </p:spPr>
        <p:txBody>
          <a:bodyPr anchorCtr="0" anchor="t" bIns="0" lIns="0" spcFirstLastPara="1" rIns="0" wrap="square" tIns="0">
            <a:spAutoFit/>
          </a:bodyPr>
          <a:lstStyle/>
          <a:p>
            <a:pPr indent="0" lvl="0" marL="0" rtl="0" algn="l">
              <a:spcBef>
                <a:spcPts val="0"/>
              </a:spcBef>
              <a:spcAft>
                <a:spcPts val="0"/>
              </a:spcAft>
              <a:buNone/>
            </a:pPr>
            <a:r>
              <a:rPr lang="en">
                <a:latin typeface="Roboto"/>
                <a:ea typeface="Roboto"/>
                <a:cs typeface="Roboto"/>
                <a:sym typeface="Roboto"/>
              </a:rPr>
              <a:t>Send FIN</a:t>
            </a:r>
            <a:endParaRPr>
              <a:latin typeface="Roboto"/>
              <a:ea typeface="Roboto"/>
              <a:cs typeface="Roboto"/>
              <a:sym typeface="Roboto"/>
            </a:endParaRPr>
          </a:p>
        </p:txBody>
      </p:sp>
      <p:sp>
        <p:nvSpPr>
          <p:cNvPr id="961" name="Google Shape;961;p43"/>
          <p:cNvSpPr txBox="1"/>
          <p:nvPr/>
        </p:nvSpPr>
        <p:spPr>
          <a:xfrm>
            <a:off x="1580875" y="4239175"/>
            <a:ext cx="1084500" cy="215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a:solidFill>
                  <a:schemeClr val="accent2"/>
                </a:solidFill>
                <a:latin typeface="Roboto"/>
                <a:ea typeface="Roboto"/>
                <a:cs typeface="Roboto"/>
                <a:sym typeface="Roboto"/>
              </a:rPr>
              <a:t>Receive ACK</a:t>
            </a:r>
            <a:endParaRPr>
              <a:solidFill>
                <a:schemeClr val="accent2"/>
              </a:solidFill>
              <a:latin typeface="Roboto"/>
              <a:ea typeface="Roboto"/>
              <a:cs typeface="Roboto"/>
              <a:sym typeface="Roboto"/>
            </a:endParaRPr>
          </a:p>
        </p:txBody>
      </p:sp>
      <p:sp>
        <p:nvSpPr>
          <p:cNvPr id="962" name="Google Shape;962;p43"/>
          <p:cNvSpPr txBox="1"/>
          <p:nvPr/>
        </p:nvSpPr>
        <p:spPr>
          <a:xfrm>
            <a:off x="428425" y="2429875"/>
            <a:ext cx="1501500" cy="4311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a:solidFill>
                  <a:schemeClr val="accent2"/>
                </a:solidFill>
                <a:latin typeface="Roboto"/>
                <a:ea typeface="Roboto"/>
                <a:cs typeface="Roboto"/>
                <a:sym typeface="Roboto"/>
              </a:rPr>
              <a:t>Receive FIN</a:t>
            </a:r>
            <a:endParaRPr>
              <a:solidFill>
                <a:schemeClr val="accent2"/>
              </a:solidFill>
              <a:latin typeface="Roboto"/>
              <a:ea typeface="Roboto"/>
              <a:cs typeface="Roboto"/>
              <a:sym typeface="Roboto"/>
            </a:endParaRPr>
          </a:p>
          <a:p>
            <a:pPr indent="0" lvl="0" marL="0" rtl="0" algn="r">
              <a:spcBef>
                <a:spcPts val="0"/>
              </a:spcBef>
              <a:spcAft>
                <a:spcPts val="0"/>
              </a:spcAft>
              <a:buNone/>
            </a:pPr>
            <a:r>
              <a:rPr lang="en">
                <a:solidFill>
                  <a:schemeClr val="accent2"/>
                </a:solidFill>
                <a:latin typeface="Roboto"/>
                <a:ea typeface="Roboto"/>
                <a:cs typeface="Roboto"/>
                <a:sym typeface="Roboto"/>
              </a:rPr>
              <a:t>Send ACK</a:t>
            </a:r>
            <a:endParaRPr>
              <a:solidFill>
                <a:schemeClr val="accent2"/>
              </a:solidFill>
              <a:latin typeface="Roboto"/>
              <a:ea typeface="Roboto"/>
              <a:cs typeface="Roboto"/>
              <a:sym typeface="Roboto"/>
            </a:endParaRPr>
          </a:p>
        </p:txBody>
      </p:sp>
      <p:sp>
        <p:nvSpPr>
          <p:cNvPr id="963" name="Google Shape;963;p43"/>
          <p:cNvSpPr txBox="1"/>
          <p:nvPr/>
        </p:nvSpPr>
        <p:spPr>
          <a:xfrm>
            <a:off x="1445625" y="936175"/>
            <a:ext cx="1084500" cy="215400"/>
          </a:xfrm>
          <a:prstGeom prst="rect">
            <a:avLst/>
          </a:prstGeom>
          <a:noFill/>
          <a:ln>
            <a:noFill/>
          </a:ln>
        </p:spPr>
        <p:txBody>
          <a:bodyPr anchorCtr="0" anchor="t" bIns="0" lIns="0" spcFirstLastPara="1" rIns="0" wrap="square" tIns="0">
            <a:spAutoFit/>
          </a:bodyPr>
          <a:lstStyle/>
          <a:p>
            <a:pPr indent="0" lvl="0" marL="0" rtl="0" algn="r">
              <a:spcBef>
                <a:spcPts val="0"/>
              </a:spcBef>
              <a:spcAft>
                <a:spcPts val="0"/>
              </a:spcAft>
              <a:buNone/>
            </a:pPr>
            <a:r>
              <a:rPr lang="en">
                <a:solidFill>
                  <a:schemeClr val="accent2"/>
                </a:solidFill>
                <a:latin typeface="Roboto"/>
                <a:ea typeface="Roboto"/>
                <a:cs typeface="Roboto"/>
                <a:sym typeface="Roboto"/>
              </a:rPr>
              <a:t>Wait a while</a:t>
            </a:r>
            <a:endParaRPr>
              <a:solidFill>
                <a:schemeClr val="accent2"/>
              </a:solidFill>
              <a:latin typeface="Roboto"/>
              <a:ea typeface="Roboto"/>
              <a:cs typeface="Roboto"/>
              <a:sym typeface="Roboto"/>
            </a:endParaRPr>
          </a:p>
        </p:txBody>
      </p:sp>
      <p:sp>
        <p:nvSpPr>
          <p:cNvPr id="964" name="Google Shape;964;p43"/>
          <p:cNvSpPr txBox="1"/>
          <p:nvPr/>
        </p:nvSpPr>
        <p:spPr>
          <a:xfrm>
            <a:off x="4645275" y="1966225"/>
            <a:ext cx="517500" cy="215400"/>
          </a:xfrm>
          <a:prstGeom prst="rect">
            <a:avLst/>
          </a:prstGeom>
          <a:noFill/>
          <a:ln>
            <a:noFill/>
          </a:ln>
        </p:spPr>
        <p:txBody>
          <a:bodyPr anchorCtr="0" anchor="t" bIns="0" lIns="0" spcFirstLastPara="1" rIns="0" wrap="square" tIns="0">
            <a:spAutoFit/>
          </a:bodyPr>
          <a:lstStyle/>
          <a:p>
            <a:pPr indent="0" lvl="0" marL="0" rtl="0" algn="l">
              <a:spcBef>
                <a:spcPts val="0"/>
              </a:spcBef>
              <a:spcAft>
                <a:spcPts val="0"/>
              </a:spcAft>
              <a:buNone/>
            </a:pPr>
            <a:r>
              <a:rPr lang="en">
                <a:solidFill>
                  <a:srgbClr val="0000FF"/>
                </a:solidFill>
                <a:latin typeface="Roboto"/>
                <a:ea typeface="Roboto"/>
                <a:cs typeface="Roboto"/>
                <a:sym typeface="Roboto"/>
              </a:rPr>
              <a:t>Setup</a:t>
            </a:r>
            <a:endParaRPr>
              <a:solidFill>
                <a:srgbClr val="0000FF"/>
              </a:solidFill>
              <a:latin typeface="Roboto"/>
              <a:ea typeface="Roboto"/>
              <a:cs typeface="Roboto"/>
              <a:sym typeface="Roboto"/>
            </a:endParaRPr>
          </a:p>
        </p:txBody>
      </p:sp>
      <p:sp>
        <p:nvSpPr>
          <p:cNvPr id="965" name="Google Shape;965;p43"/>
          <p:cNvSpPr txBox="1"/>
          <p:nvPr/>
        </p:nvSpPr>
        <p:spPr>
          <a:xfrm>
            <a:off x="3166600" y="3109225"/>
            <a:ext cx="830400" cy="215400"/>
          </a:xfrm>
          <a:prstGeom prst="rect">
            <a:avLst/>
          </a:prstGeom>
          <a:noFill/>
          <a:ln>
            <a:noFill/>
          </a:ln>
        </p:spPr>
        <p:txBody>
          <a:bodyPr anchorCtr="0" anchor="t" bIns="0" lIns="0" spcFirstLastPara="1" rIns="0" wrap="square" tIns="0">
            <a:spAutoFit/>
          </a:bodyPr>
          <a:lstStyle/>
          <a:p>
            <a:pPr indent="0" lvl="0" marL="0" rtl="0" algn="l">
              <a:spcBef>
                <a:spcPts val="0"/>
              </a:spcBef>
              <a:spcAft>
                <a:spcPts val="0"/>
              </a:spcAft>
              <a:buNone/>
            </a:pPr>
            <a:r>
              <a:rPr lang="en">
                <a:solidFill>
                  <a:schemeClr val="accent2"/>
                </a:solidFill>
                <a:latin typeface="Roboto"/>
                <a:ea typeface="Roboto"/>
                <a:cs typeface="Roboto"/>
                <a:sym typeface="Roboto"/>
              </a:rPr>
              <a:t>Teardown</a:t>
            </a:r>
            <a:endParaRPr>
              <a:solidFill>
                <a:schemeClr val="accent2"/>
              </a:solidFill>
              <a:latin typeface="Roboto"/>
              <a:ea typeface="Roboto"/>
              <a:cs typeface="Roboto"/>
              <a:sym typeface="Roboto"/>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9" name="Shape 969"/>
        <p:cNvGrpSpPr/>
        <p:nvPr/>
      </p:nvGrpSpPr>
      <p:grpSpPr>
        <a:xfrm>
          <a:off x="0" y="0"/>
          <a:ext cx="0" cy="0"/>
          <a:chOff x="0" y="0"/>
          <a:chExt cx="0" cy="0"/>
        </a:xfrm>
      </p:grpSpPr>
      <p:sp>
        <p:nvSpPr>
          <p:cNvPr id="970" name="Google Shape;970;p44"/>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Piggybacking</a:t>
            </a:r>
            <a:endParaRPr/>
          </a:p>
        </p:txBody>
      </p:sp>
      <p:sp>
        <p:nvSpPr>
          <p:cNvPr id="971" name="Google Shape;971;p44"/>
          <p:cNvSpPr txBox="1"/>
          <p:nvPr>
            <p:ph idx="1" type="body"/>
          </p:nvPr>
        </p:nvSpPr>
        <p:spPr>
          <a:xfrm>
            <a:off x="107050" y="402200"/>
            <a:ext cx="8909700" cy="45306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With full-duplex, if we get a packet but have no data to send, we have two choices:</a:t>
            </a:r>
            <a:endParaRPr/>
          </a:p>
          <a:p>
            <a:pPr indent="-342900" lvl="0" marL="457200" rtl="0" algn="l">
              <a:spcBef>
                <a:spcPts val="600"/>
              </a:spcBef>
              <a:spcAft>
                <a:spcPts val="0"/>
              </a:spcAft>
              <a:buSzPts val="1800"/>
              <a:buChar char="●"/>
            </a:pPr>
            <a:r>
              <a:rPr lang="en"/>
              <a:t>Send the ack, with no data.</a:t>
            </a:r>
            <a:endParaRPr/>
          </a:p>
          <a:p>
            <a:pPr indent="-342900" lvl="0" marL="457200" rtl="0" algn="l">
              <a:spcBef>
                <a:spcPts val="0"/>
              </a:spcBef>
              <a:spcAft>
                <a:spcPts val="0"/>
              </a:spcAft>
              <a:buSzPts val="1800"/>
              <a:buChar char="●"/>
            </a:pPr>
            <a:r>
              <a:rPr b="1" lang="en"/>
              <a:t>Piggybacking</a:t>
            </a:r>
            <a:r>
              <a:rPr lang="en"/>
              <a:t>: </a:t>
            </a:r>
            <a:r>
              <a:rPr lang="en"/>
              <a:t>Wait for some data, and send the ack with the data.</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Piggybacking can be tricky because TCP is in the OS, separate from the application.</a:t>
            </a:r>
            <a:endParaRPr/>
          </a:p>
          <a:p>
            <a:pPr indent="-342900" lvl="0" marL="457200" rtl="0" algn="l">
              <a:spcBef>
                <a:spcPts val="600"/>
              </a:spcBef>
              <a:spcAft>
                <a:spcPts val="0"/>
              </a:spcAft>
              <a:buSzPts val="1800"/>
              <a:buChar char="●"/>
            </a:pPr>
            <a:r>
              <a:rPr lang="en"/>
              <a:t>OS doesn't know when application will have more data.</a:t>
            </a:r>
            <a:endParaRPr/>
          </a:p>
          <a:p>
            <a:pPr indent="-342900" lvl="0" marL="457200" rtl="0" algn="l">
              <a:spcBef>
                <a:spcPts val="0"/>
              </a:spcBef>
              <a:spcAft>
                <a:spcPts val="0"/>
              </a:spcAft>
              <a:buSzPts val="1800"/>
              <a:buChar char="●"/>
            </a:pPr>
            <a:r>
              <a:rPr lang="en"/>
              <a:t>Application isn't thinking about packets and acks.</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SYN-ACKs are always </a:t>
            </a:r>
            <a:r>
              <a:rPr lang="en"/>
              <a:t>piggybacked.</a:t>
            </a:r>
            <a:endParaRPr/>
          </a:p>
          <a:p>
            <a:pPr indent="-342900" lvl="0" marL="457200" rtl="0" algn="l">
              <a:spcBef>
                <a:spcPts val="600"/>
              </a:spcBef>
              <a:spcAft>
                <a:spcPts val="0"/>
              </a:spcAft>
              <a:buSzPts val="1800"/>
              <a:buChar char="●"/>
            </a:pPr>
            <a:r>
              <a:rPr lang="en"/>
              <a:t>Ack and initial sequence number are sent together.</a:t>
            </a:r>
            <a:endParaRPr/>
          </a:p>
          <a:p>
            <a:pPr indent="-342900" lvl="0" marL="457200" rtl="0" algn="l">
              <a:spcBef>
                <a:spcPts val="0"/>
              </a:spcBef>
              <a:spcAft>
                <a:spcPts val="0"/>
              </a:spcAft>
              <a:buSzPts val="1800"/>
              <a:buChar char="●"/>
            </a:pPr>
            <a:r>
              <a:rPr lang="en"/>
              <a:t>Not tricky, because OS is doing the handshake, not the application.</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5" name="Shape 975"/>
        <p:cNvGrpSpPr/>
        <p:nvPr/>
      </p:nvGrpSpPr>
      <p:grpSpPr>
        <a:xfrm>
          <a:off x="0" y="0"/>
          <a:ext cx="0" cy="0"/>
          <a:chOff x="0" y="0"/>
          <a:chExt cx="0" cy="0"/>
        </a:xfrm>
      </p:grpSpPr>
      <p:sp>
        <p:nvSpPr>
          <p:cNvPr id="976" name="Google Shape;976;p45"/>
          <p:cNvSpPr txBox="1"/>
          <p:nvPr>
            <p:ph idx="1" type="body"/>
          </p:nvPr>
        </p:nvSpPr>
        <p:spPr>
          <a:xfrm>
            <a:off x="4812375" y="402200"/>
            <a:ext cx="4158000" cy="42609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None/>
            </a:pPr>
            <a:r>
              <a:rPr b="1" lang="en">
                <a:solidFill>
                  <a:schemeClr val="accent3"/>
                </a:solidFill>
                <a:latin typeface="Roboto"/>
                <a:ea typeface="Roboto"/>
                <a:cs typeface="Roboto"/>
                <a:sym typeface="Roboto"/>
              </a:rPr>
              <a:t>Implementing TCP</a:t>
            </a:r>
            <a:endParaRPr>
              <a:solidFill>
                <a:srgbClr val="B7B7B7"/>
              </a:solidFill>
            </a:endParaRPr>
          </a:p>
          <a:p>
            <a:pPr indent="-342900" lvl="0" marL="457200" rtl="0" algn="l">
              <a:spcBef>
                <a:spcPts val="600"/>
              </a:spcBef>
              <a:spcAft>
                <a:spcPts val="0"/>
              </a:spcAft>
              <a:buClr>
                <a:srgbClr val="B7B7B7"/>
              </a:buClr>
              <a:buSzPts val="1800"/>
              <a:buChar char="•"/>
            </a:pPr>
            <a:r>
              <a:rPr lang="en">
                <a:solidFill>
                  <a:srgbClr val="B7B7B7"/>
                </a:solidFill>
              </a:rPr>
              <a:t>Byte Notation</a:t>
            </a:r>
            <a:br>
              <a:rPr lang="en">
                <a:solidFill>
                  <a:srgbClr val="B7B7B7"/>
                </a:solidFill>
              </a:rPr>
            </a:br>
            <a:r>
              <a:rPr lang="en">
                <a:solidFill>
                  <a:srgbClr val="B7B7B7"/>
                </a:solidFill>
              </a:rPr>
              <a:t>(Segments, Sequence Numbers)</a:t>
            </a:r>
            <a:endParaRPr>
              <a:solidFill>
                <a:srgbClr val="B7B7B7"/>
              </a:solidFill>
            </a:endParaRPr>
          </a:p>
          <a:p>
            <a:pPr indent="-342900" lvl="0" marL="457200" rtl="0" algn="l">
              <a:spcBef>
                <a:spcPts val="0"/>
              </a:spcBef>
              <a:spcAft>
                <a:spcPts val="0"/>
              </a:spcAft>
              <a:buClr>
                <a:srgbClr val="B7B7B7"/>
              </a:buClr>
              <a:buSzPts val="1800"/>
              <a:buChar char="•"/>
            </a:pPr>
            <a:r>
              <a:rPr lang="en">
                <a:solidFill>
                  <a:srgbClr val="B7B7B7"/>
                </a:solidFill>
              </a:rPr>
              <a:t>Maintaining State (Full Duplex, Connection Setup and Teardown)</a:t>
            </a:r>
            <a:endParaRPr>
              <a:solidFill>
                <a:srgbClr val="B7B7B7"/>
              </a:solidFill>
            </a:endParaRPr>
          </a:p>
          <a:p>
            <a:pPr indent="-342900" lvl="0" marL="457200" rtl="0" algn="l">
              <a:spcBef>
                <a:spcPts val="0"/>
              </a:spcBef>
              <a:spcAft>
                <a:spcPts val="0"/>
              </a:spcAft>
              <a:buClr>
                <a:schemeClr val="accent3"/>
              </a:buClr>
              <a:buSzPts val="1800"/>
              <a:buFont typeface="Roboto"/>
              <a:buChar char="•"/>
            </a:pPr>
            <a:r>
              <a:rPr b="1" lang="en">
                <a:solidFill>
                  <a:schemeClr val="accent3"/>
                </a:solidFill>
                <a:latin typeface="Roboto"/>
                <a:ea typeface="Roboto"/>
                <a:cs typeface="Roboto"/>
                <a:sym typeface="Roboto"/>
              </a:rPr>
              <a:t>Sliding Window</a:t>
            </a:r>
            <a:endParaRPr b="1">
              <a:solidFill>
                <a:schemeClr val="accent3"/>
              </a:solidFill>
              <a:latin typeface="Roboto"/>
              <a:ea typeface="Roboto"/>
              <a:cs typeface="Roboto"/>
              <a:sym typeface="Roboto"/>
            </a:endParaRPr>
          </a:p>
          <a:p>
            <a:pPr indent="-342900" lvl="0" marL="457200" rtl="0" algn="l">
              <a:spcBef>
                <a:spcPts val="0"/>
              </a:spcBef>
              <a:spcAft>
                <a:spcPts val="0"/>
              </a:spcAft>
              <a:buClr>
                <a:srgbClr val="B7B7B7"/>
              </a:buClr>
              <a:buSzPts val="1800"/>
              <a:buChar char="•"/>
            </a:pPr>
            <a:r>
              <a:rPr lang="en">
                <a:solidFill>
                  <a:srgbClr val="B7B7B7"/>
                </a:solidFill>
              </a:rPr>
              <a:t>Header</a:t>
            </a:r>
            <a:endParaRPr>
              <a:solidFill>
                <a:srgbClr val="B7B7B7"/>
              </a:solidFill>
            </a:endParaRPr>
          </a:p>
        </p:txBody>
      </p:sp>
      <p:sp>
        <p:nvSpPr>
          <p:cNvPr id="977" name="Google Shape;977;p45"/>
          <p:cNvSpPr txBox="1"/>
          <p:nvPr>
            <p:ph type="title"/>
          </p:nvPr>
        </p:nvSpPr>
        <p:spPr>
          <a:xfrm>
            <a:off x="177925" y="2003300"/>
            <a:ext cx="4038000" cy="20379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Sliding Window</a:t>
            </a:r>
            <a:endParaRPr/>
          </a:p>
        </p:txBody>
      </p:sp>
      <p:sp>
        <p:nvSpPr>
          <p:cNvPr id="978" name="Google Shape;978;p45"/>
          <p:cNvSpPr txBox="1"/>
          <p:nvPr>
            <p:ph idx="2" type="subTitle"/>
          </p:nvPr>
        </p:nvSpPr>
        <p:spPr>
          <a:xfrm>
            <a:off x="177925" y="4068000"/>
            <a:ext cx="4158000" cy="3936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None/>
            </a:pPr>
            <a:r>
              <a:rPr lang="en"/>
              <a:t>Lecture 11</a:t>
            </a:r>
            <a:r>
              <a:rPr lang="en"/>
              <a:t>, CS 168, </a:t>
            </a:r>
            <a:r>
              <a:rPr lang="en"/>
              <a:t>Summer 2025</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2" name="Shape 982"/>
        <p:cNvGrpSpPr/>
        <p:nvPr/>
      </p:nvGrpSpPr>
      <p:grpSpPr>
        <a:xfrm>
          <a:off x="0" y="0"/>
          <a:ext cx="0" cy="0"/>
          <a:chOff x="0" y="0"/>
          <a:chExt cx="0" cy="0"/>
        </a:xfrm>
      </p:grpSpPr>
      <p:sp>
        <p:nvSpPr>
          <p:cNvPr id="983" name="Google Shape;983;p46"/>
          <p:cNvSpPr/>
          <p:nvPr/>
        </p:nvSpPr>
        <p:spPr>
          <a:xfrm rot="5400000">
            <a:off x="7533988" y="3887850"/>
            <a:ext cx="722100" cy="174900"/>
          </a:xfrm>
          <a:prstGeom prst="rect">
            <a:avLst/>
          </a:prstGeom>
          <a:solidFill>
            <a:srgbClr val="D9D9D9"/>
          </a:solidFill>
          <a:ln cap="flat" cmpd="sng" w="9525">
            <a:solidFill>
              <a:srgbClr val="B7B7B7"/>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984" name="Google Shape;984;p46"/>
          <p:cNvSpPr/>
          <p:nvPr/>
        </p:nvSpPr>
        <p:spPr>
          <a:xfrm rot="5400000">
            <a:off x="8877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a:t>
            </a:r>
            <a:endParaRPr sz="1000">
              <a:latin typeface="Roboto"/>
              <a:ea typeface="Roboto"/>
              <a:cs typeface="Roboto"/>
              <a:sym typeface="Roboto"/>
            </a:endParaRPr>
          </a:p>
        </p:txBody>
      </p:sp>
      <p:sp>
        <p:nvSpPr>
          <p:cNvPr id="985" name="Google Shape;985;p46"/>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TCP Sliding Window</a:t>
            </a:r>
            <a:endParaRPr/>
          </a:p>
        </p:txBody>
      </p:sp>
      <p:sp>
        <p:nvSpPr>
          <p:cNvPr id="986" name="Google Shape;986;p46"/>
          <p:cNvSpPr/>
          <p:nvPr/>
        </p:nvSpPr>
        <p:spPr>
          <a:xfrm rot="5400000">
            <a:off x="17622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8</a:t>
            </a:r>
            <a:endParaRPr sz="1000">
              <a:latin typeface="Roboto"/>
              <a:ea typeface="Roboto"/>
              <a:cs typeface="Roboto"/>
              <a:sym typeface="Roboto"/>
            </a:endParaRPr>
          </a:p>
        </p:txBody>
      </p:sp>
      <p:sp>
        <p:nvSpPr>
          <p:cNvPr id="987" name="Google Shape;987;p46"/>
          <p:cNvSpPr/>
          <p:nvPr/>
        </p:nvSpPr>
        <p:spPr>
          <a:xfrm rot="5400000">
            <a:off x="19371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9</a:t>
            </a:r>
            <a:endParaRPr sz="1000">
              <a:latin typeface="Roboto"/>
              <a:ea typeface="Roboto"/>
              <a:cs typeface="Roboto"/>
              <a:sym typeface="Roboto"/>
            </a:endParaRPr>
          </a:p>
        </p:txBody>
      </p:sp>
      <p:sp>
        <p:nvSpPr>
          <p:cNvPr id="988" name="Google Shape;988;p46"/>
          <p:cNvSpPr/>
          <p:nvPr/>
        </p:nvSpPr>
        <p:spPr>
          <a:xfrm rot="5400000">
            <a:off x="21120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10</a:t>
            </a:r>
            <a:endParaRPr sz="1000">
              <a:latin typeface="Roboto"/>
              <a:ea typeface="Roboto"/>
              <a:cs typeface="Roboto"/>
              <a:sym typeface="Roboto"/>
            </a:endParaRPr>
          </a:p>
        </p:txBody>
      </p:sp>
      <p:sp>
        <p:nvSpPr>
          <p:cNvPr id="989" name="Google Shape;989;p46"/>
          <p:cNvSpPr/>
          <p:nvPr/>
        </p:nvSpPr>
        <p:spPr>
          <a:xfrm rot="5400000">
            <a:off x="22869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11</a:t>
            </a:r>
            <a:endParaRPr sz="1000">
              <a:latin typeface="Roboto"/>
              <a:ea typeface="Roboto"/>
              <a:cs typeface="Roboto"/>
              <a:sym typeface="Roboto"/>
            </a:endParaRPr>
          </a:p>
        </p:txBody>
      </p:sp>
      <p:sp>
        <p:nvSpPr>
          <p:cNvPr id="990" name="Google Shape;990;p46"/>
          <p:cNvSpPr/>
          <p:nvPr/>
        </p:nvSpPr>
        <p:spPr>
          <a:xfrm rot="5400000">
            <a:off x="24618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12</a:t>
            </a:r>
            <a:endParaRPr sz="1000">
              <a:latin typeface="Roboto"/>
              <a:ea typeface="Roboto"/>
              <a:cs typeface="Roboto"/>
              <a:sym typeface="Roboto"/>
            </a:endParaRPr>
          </a:p>
        </p:txBody>
      </p:sp>
      <p:sp>
        <p:nvSpPr>
          <p:cNvPr id="991" name="Google Shape;991;p46"/>
          <p:cNvSpPr/>
          <p:nvPr/>
        </p:nvSpPr>
        <p:spPr>
          <a:xfrm rot="5400000">
            <a:off x="26367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13</a:t>
            </a:r>
            <a:endParaRPr sz="1000">
              <a:latin typeface="Roboto"/>
              <a:ea typeface="Roboto"/>
              <a:cs typeface="Roboto"/>
              <a:sym typeface="Roboto"/>
            </a:endParaRPr>
          </a:p>
        </p:txBody>
      </p:sp>
      <p:sp>
        <p:nvSpPr>
          <p:cNvPr id="992" name="Google Shape;992;p46"/>
          <p:cNvSpPr/>
          <p:nvPr/>
        </p:nvSpPr>
        <p:spPr>
          <a:xfrm rot="5400000">
            <a:off x="28116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14</a:t>
            </a:r>
            <a:endParaRPr sz="1000">
              <a:latin typeface="Roboto"/>
              <a:ea typeface="Roboto"/>
              <a:cs typeface="Roboto"/>
              <a:sym typeface="Roboto"/>
            </a:endParaRPr>
          </a:p>
        </p:txBody>
      </p:sp>
      <p:sp>
        <p:nvSpPr>
          <p:cNvPr id="993" name="Google Shape;993;p46"/>
          <p:cNvSpPr/>
          <p:nvPr/>
        </p:nvSpPr>
        <p:spPr>
          <a:xfrm rot="5400000">
            <a:off x="29865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15</a:t>
            </a:r>
            <a:endParaRPr sz="1000">
              <a:latin typeface="Roboto"/>
              <a:ea typeface="Roboto"/>
              <a:cs typeface="Roboto"/>
              <a:sym typeface="Roboto"/>
            </a:endParaRPr>
          </a:p>
        </p:txBody>
      </p:sp>
      <p:sp>
        <p:nvSpPr>
          <p:cNvPr id="994" name="Google Shape;994;p46"/>
          <p:cNvSpPr/>
          <p:nvPr/>
        </p:nvSpPr>
        <p:spPr>
          <a:xfrm rot="5400000">
            <a:off x="31614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16</a:t>
            </a:r>
            <a:endParaRPr sz="1000">
              <a:latin typeface="Roboto"/>
              <a:ea typeface="Roboto"/>
              <a:cs typeface="Roboto"/>
              <a:sym typeface="Roboto"/>
            </a:endParaRPr>
          </a:p>
        </p:txBody>
      </p:sp>
      <p:sp>
        <p:nvSpPr>
          <p:cNvPr id="995" name="Google Shape;995;p46"/>
          <p:cNvSpPr/>
          <p:nvPr/>
        </p:nvSpPr>
        <p:spPr>
          <a:xfrm rot="5400000">
            <a:off x="33363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17</a:t>
            </a:r>
            <a:endParaRPr sz="1000">
              <a:latin typeface="Roboto"/>
              <a:ea typeface="Roboto"/>
              <a:cs typeface="Roboto"/>
              <a:sym typeface="Roboto"/>
            </a:endParaRPr>
          </a:p>
        </p:txBody>
      </p:sp>
      <p:sp>
        <p:nvSpPr>
          <p:cNvPr id="996" name="Google Shape;996;p46"/>
          <p:cNvSpPr/>
          <p:nvPr/>
        </p:nvSpPr>
        <p:spPr>
          <a:xfrm rot="5400000">
            <a:off x="35112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18</a:t>
            </a:r>
            <a:endParaRPr sz="1000">
              <a:latin typeface="Roboto"/>
              <a:ea typeface="Roboto"/>
              <a:cs typeface="Roboto"/>
              <a:sym typeface="Roboto"/>
            </a:endParaRPr>
          </a:p>
        </p:txBody>
      </p:sp>
      <p:sp>
        <p:nvSpPr>
          <p:cNvPr id="997" name="Google Shape;997;p46"/>
          <p:cNvSpPr/>
          <p:nvPr/>
        </p:nvSpPr>
        <p:spPr>
          <a:xfrm rot="5400000">
            <a:off x="36861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19</a:t>
            </a:r>
            <a:endParaRPr sz="1000">
              <a:latin typeface="Roboto"/>
              <a:ea typeface="Roboto"/>
              <a:cs typeface="Roboto"/>
              <a:sym typeface="Roboto"/>
            </a:endParaRPr>
          </a:p>
        </p:txBody>
      </p:sp>
      <p:sp>
        <p:nvSpPr>
          <p:cNvPr id="998" name="Google Shape;998;p46"/>
          <p:cNvSpPr/>
          <p:nvPr/>
        </p:nvSpPr>
        <p:spPr>
          <a:xfrm rot="5400000">
            <a:off x="38610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20</a:t>
            </a:r>
            <a:endParaRPr sz="1000">
              <a:latin typeface="Roboto"/>
              <a:ea typeface="Roboto"/>
              <a:cs typeface="Roboto"/>
              <a:sym typeface="Roboto"/>
            </a:endParaRPr>
          </a:p>
        </p:txBody>
      </p:sp>
      <p:sp>
        <p:nvSpPr>
          <p:cNvPr id="999" name="Google Shape;999;p46"/>
          <p:cNvSpPr/>
          <p:nvPr/>
        </p:nvSpPr>
        <p:spPr>
          <a:xfrm rot="5400000">
            <a:off x="40359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21</a:t>
            </a:r>
            <a:endParaRPr sz="1000">
              <a:latin typeface="Roboto"/>
              <a:ea typeface="Roboto"/>
              <a:cs typeface="Roboto"/>
              <a:sym typeface="Roboto"/>
            </a:endParaRPr>
          </a:p>
        </p:txBody>
      </p:sp>
      <p:sp>
        <p:nvSpPr>
          <p:cNvPr id="1000" name="Google Shape;1000;p46"/>
          <p:cNvSpPr/>
          <p:nvPr/>
        </p:nvSpPr>
        <p:spPr>
          <a:xfrm rot="5400000">
            <a:off x="42108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22</a:t>
            </a:r>
            <a:endParaRPr sz="1000">
              <a:latin typeface="Roboto"/>
              <a:ea typeface="Roboto"/>
              <a:cs typeface="Roboto"/>
              <a:sym typeface="Roboto"/>
            </a:endParaRPr>
          </a:p>
        </p:txBody>
      </p:sp>
      <p:sp>
        <p:nvSpPr>
          <p:cNvPr id="1001" name="Google Shape;1001;p46"/>
          <p:cNvSpPr/>
          <p:nvPr/>
        </p:nvSpPr>
        <p:spPr>
          <a:xfrm rot="5400000">
            <a:off x="43857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23</a:t>
            </a:r>
            <a:endParaRPr sz="1000">
              <a:latin typeface="Roboto"/>
              <a:ea typeface="Roboto"/>
              <a:cs typeface="Roboto"/>
              <a:sym typeface="Roboto"/>
            </a:endParaRPr>
          </a:p>
        </p:txBody>
      </p:sp>
      <p:sp>
        <p:nvSpPr>
          <p:cNvPr id="1002" name="Google Shape;1002;p46"/>
          <p:cNvSpPr/>
          <p:nvPr/>
        </p:nvSpPr>
        <p:spPr>
          <a:xfrm rot="5400000">
            <a:off x="45606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24</a:t>
            </a:r>
            <a:endParaRPr sz="1000">
              <a:latin typeface="Roboto"/>
              <a:ea typeface="Roboto"/>
              <a:cs typeface="Roboto"/>
              <a:sym typeface="Roboto"/>
            </a:endParaRPr>
          </a:p>
        </p:txBody>
      </p:sp>
      <p:sp>
        <p:nvSpPr>
          <p:cNvPr id="1003" name="Google Shape;1003;p46"/>
          <p:cNvSpPr/>
          <p:nvPr/>
        </p:nvSpPr>
        <p:spPr>
          <a:xfrm rot="5400000">
            <a:off x="47355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25</a:t>
            </a:r>
            <a:endParaRPr sz="1000">
              <a:latin typeface="Roboto"/>
              <a:ea typeface="Roboto"/>
              <a:cs typeface="Roboto"/>
              <a:sym typeface="Roboto"/>
            </a:endParaRPr>
          </a:p>
        </p:txBody>
      </p:sp>
      <p:sp>
        <p:nvSpPr>
          <p:cNvPr id="1004" name="Google Shape;1004;p46"/>
          <p:cNvSpPr/>
          <p:nvPr/>
        </p:nvSpPr>
        <p:spPr>
          <a:xfrm rot="5400000">
            <a:off x="49104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26</a:t>
            </a:r>
            <a:endParaRPr sz="1000">
              <a:latin typeface="Roboto"/>
              <a:ea typeface="Roboto"/>
              <a:cs typeface="Roboto"/>
              <a:sym typeface="Roboto"/>
            </a:endParaRPr>
          </a:p>
        </p:txBody>
      </p:sp>
      <p:sp>
        <p:nvSpPr>
          <p:cNvPr id="1005" name="Google Shape;1005;p46"/>
          <p:cNvSpPr/>
          <p:nvPr/>
        </p:nvSpPr>
        <p:spPr>
          <a:xfrm rot="5400000">
            <a:off x="50853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27</a:t>
            </a:r>
            <a:endParaRPr sz="1000">
              <a:latin typeface="Roboto"/>
              <a:ea typeface="Roboto"/>
              <a:cs typeface="Roboto"/>
              <a:sym typeface="Roboto"/>
            </a:endParaRPr>
          </a:p>
        </p:txBody>
      </p:sp>
      <p:sp>
        <p:nvSpPr>
          <p:cNvPr id="1006" name="Google Shape;1006;p46"/>
          <p:cNvSpPr/>
          <p:nvPr/>
        </p:nvSpPr>
        <p:spPr>
          <a:xfrm rot="5400000">
            <a:off x="52602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28</a:t>
            </a:r>
            <a:endParaRPr sz="1000">
              <a:latin typeface="Roboto"/>
              <a:ea typeface="Roboto"/>
              <a:cs typeface="Roboto"/>
              <a:sym typeface="Roboto"/>
            </a:endParaRPr>
          </a:p>
        </p:txBody>
      </p:sp>
      <p:sp>
        <p:nvSpPr>
          <p:cNvPr id="1007" name="Google Shape;1007;p46"/>
          <p:cNvSpPr/>
          <p:nvPr/>
        </p:nvSpPr>
        <p:spPr>
          <a:xfrm rot="5400000">
            <a:off x="54351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29</a:t>
            </a:r>
            <a:endParaRPr sz="1000">
              <a:latin typeface="Roboto"/>
              <a:ea typeface="Roboto"/>
              <a:cs typeface="Roboto"/>
              <a:sym typeface="Roboto"/>
            </a:endParaRPr>
          </a:p>
        </p:txBody>
      </p:sp>
      <p:sp>
        <p:nvSpPr>
          <p:cNvPr id="1008" name="Google Shape;1008;p46"/>
          <p:cNvSpPr/>
          <p:nvPr/>
        </p:nvSpPr>
        <p:spPr>
          <a:xfrm rot="5400000">
            <a:off x="56100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30</a:t>
            </a:r>
            <a:endParaRPr sz="1000">
              <a:latin typeface="Roboto"/>
              <a:ea typeface="Roboto"/>
              <a:cs typeface="Roboto"/>
              <a:sym typeface="Roboto"/>
            </a:endParaRPr>
          </a:p>
        </p:txBody>
      </p:sp>
      <p:sp>
        <p:nvSpPr>
          <p:cNvPr id="1009" name="Google Shape;1009;p46"/>
          <p:cNvSpPr/>
          <p:nvPr/>
        </p:nvSpPr>
        <p:spPr>
          <a:xfrm rot="5400000">
            <a:off x="57849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31</a:t>
            </a:r>
            <a:endParaRPr sz="1000">
              <a:latin typeface="Roboto"/>
              <a:ea typeface="Roboto"/>
              <a:cs typeface="Roboto"/>
              <a:sym typeface="Roboto"/>
            </a:endParaRPr>
          </a:p>
        </p:txBody>
      </p:sp>
      <p:sp>
        <p:nvSpPr>
          <p:cNvPr id="1010" name="Google Shape;1010;p46"/>
          <p:cNvSpPr/>
          <p:nvPr/>
        </p:nvSpPr>
        <p:spPr>
          <a:xfrm rot="5400000">
            <a:off x="59598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32</a:t>
            </a:r>
            <a:endParaRPr sz="1000">
              <a:latin typeface="Roboto"/>
              <a:ea typeface="Roboto"/>
              <a:cs typeface="Roboto"/>
              <a:sym typeface="Roboto"/>
            </a:endParaRPr>
          </a:p>
        </p:txBody>
      </p:sp>
      <p:sp>
        <p:nvSpPr>
          <p:cNvPr id="1011" name="Google Shape;1011;p46"/>
          <p:cNvSpPr/>
          <p:nvPr/>
        </p:nvSpPr>
        <p:spPr>
          <a:xfrm rot="5400000">
            <a:off x="61347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33</a:t>
            </a:r>
            <a:endParaRPr sz="1000">
              <a:latin typeface="Roboto"/>
              <a:ea typeface="Roboto"/>
              <a:cs typeface="Roboto"/>
              <a:sym typeface="Roboto"/>
            </a:endParaRPr>
          </a:p>
        </p:txBody>
      </p:sp>
      <p:sp>
        <p:nvSpPr>
          <p:cNvPr id="1012" name="Google Shape;1012;p46"/>
          <p:cNvSpPr/>
          <p:nvPr/>
        </p:nvSpPr>
        <p:spPr>
          <a:xfrm rot="5400000">
            <a:off x="63096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34</a:t>
            </a:r>
            <a:endParaRPr sz="1000">
              <a:latin typeface="Roboto"/>
              <a:ea typeface="Roboto"/>
              <a:cs typeface="Roboto"/>
              <a:sym typeface="Roboto"/>
            </a:endParaRPr>
          </a:p>
        </p:txBody>
      </p:sp>
      <p:sp>
        <p:nvSpPr>
          <p:cNvPr id="1013" name="Google Shape;1013;p46"/>
          <p:cNvSpPr/>
          <p:nvPr/>
        </p:nvSpPr>
        <p:spPr>
          <a:xfrm rot="5400000">
            <a:off x="64845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35</a:t>
            </a:r>
            <a:endParaRPr sz="1000">
              <a:latin typeface="Roboto"/>
              <a:ea typeface="Roboto"/>
              <a:cs typeface="Roboto"/>
              <a:sym typeface="Roboto"/>
            </a:endParaRPr>
          </a:p>
        </p:txBody>
      </p:sp>
      <p:sp>
        <p:nvSpPr>
          <p:cNvPr id="1014" name="Google Shape;1014;p46"/>
          <p:cNvSpPr/>
          <p:nvPr/>
        </p:nvSpPr>
        <p:spPr>
          <a:xfrm rot="5400000">
            <a:off x="66594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36</a:t>
            </a:r>
            <a:endParaRPr sz="1000">
              <a:latin typeface="Roboto"/>
              <a:ea typeface="Roboto"/>
              <a:cs typeface="Roboto"/>
              <a:sym typeface="Roboto"/>
            </a:endParaRPr>
          </a:p>
        </p:txBody>
      </p:sp>
      <p:sp>
        <p:nvSpPr>
          <p:cNvPr id="1015" name="Google Shape;1015;p46"/>
          <p:cNvSpPr/>
          <p:nvPr/>
        </p:nvSpPr>
        <p:spPr>
          <a:xfrm rot="5400000">
            <a:off x="68343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37</a:t>
            </a:r>
            <a:endParaRPr sz="1000">
              <a:latin typeface="Roboto"/>
              <a:ea typeface="Roboto"/>
              <a:cs typeface="Roboto"/>
              <a:sym typeface="Roboto"/>
            </a:endParaRPr>
          </a:p>
        </p:txBody>
      </p:sp>
      <p:sp>
        <p:nvSpPr>
          <p:cNvPr id="1016" name="Google Shape;1016;p46"/>
          <p:cNvSpPr/>
          <p:nvPr/>
        </p:nvSpPr>
        <p:spPr>
          <a:xfrm rot="5400000">
            <a:off x="70092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38</a:t>
            </a:r>
            <a:endParaRPr sz="1000">
              <a:latin typeface="Roboto"/>
              <a:ea typeface="Roboto"/>
              <a:cs typeface="Roboto"/>
              <a:sym typeface="Roboto"/>
            </a:endParaRPr>
          </a:p>
        </p:txBody>
      </p:sp>
      <p:sp>
        <p:nvSpPr>
          <p:cNvPr id="1017" name="Google Shape;1017;p46"/>
          <p:cNvSpPr/>
          <p:nvPr/>
        </p:nvSpPr>
        <p:spPr>
          <a:xfrm rot="5400000">
            <a:off x="71841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39</a:t>
            </a:r>
            <a:endParaRPr sz="1000">
              <a:latin typeface="Roboto"/>
              <a:ea typeface="Roboto"/>
              <a:cs typeface="Roboto"/>
              <a:sym typeface="Roboto"/>
            </a:endParaRPr>
          </a:p>
        </p:txBody>
      </p:sp>
      <p:sp>
        <p:nvSpPr>
          <p:cNvPr id="1018" name="Google Shape;1018;p46"/>
          <p:cNvSpPr/>
          <p:nvPr/>
        </p:nvSpPr>
        <p:spPr>
          <a:xfrm rot="5400000">
            <a:off x="73590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40</a:t>
            </a:r>
            <a:endParaRPr sz="1000">
              <a:latin typeface="Roboto"/>
              <a:ea typeface="Roboto"/>
              <a:cs typeface="Roboto"/>
              <a:sym typeface="Roboto"/>
            </a:endParaRPr>
          </a:p>
        </p:txBody>
      </p:sp>
      <p:sp>
        <p:nvSpPr>
          <p:cNvPr id="1019" name="Google Shape;1019;p46"/>
          <p:cNvSpPr/>
          <p:nvPr/>
        </p:nvSpPr>
        <p:spPr>
          <a:xfrm rot="5400000">
            <a:off x="7708888" y="3887850"/>
            <a:ext cx="722100" cy="174900"/>
          </a:xfrm>
          <a:prstGeom prst="rect">
            <a:avLst/>
          </a:prstGeom>
          <a:solidFill>
            <a:srgbClr val="D9D9D9"/>
          </a:solidFill>
          <a:ln cap="flat" cmpd="sng" w="9525">
            <a:solidFill>
              <a:srgbClr val="B7B7B7"/>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020" name="Google Shape;1020;p46"/>
          <p:cNvSpPr/>
          <p:nvPr/>
        </p:nvSpPr>
        <p:spPr>
          <a:xfrm rot="5400000">
            <a:off x="7883788" y="3887850"/>
            <a:ext cx="722100" cy="174900"/>
          </a:xfrm>
          <a:prstGeom prst="rect">
            <a:avLst/>
          </a:prstGeom>
          <a:solidFill>
            <a:srgbClr val="D9D9D9"/>
          </a:solidFill>
          <a:ln cap="flat" cmpd="sng" w="9525">
            <a:solidFill>
              <a:srgbClr val="B7B7B7"/>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021" name="Google Shape;1021;p46"/>
          <p:cNvSpPr/>
          <p:nvPr/>
        </p:nvSpPr>
        <p:spPr>
          <a:xfrm rot="5400000">
            <a:off x="5379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a:t>
            </a:r>
            <a:endParaRPr sz="1000">
              <a:latin typeface="Roboto"/>
              <a:ea typeface="Roboto"/>
              <a:cs typeface="Roboto"/>
              <a:sym typeface="Roboto"/>
            </a:endParaRPr>
          </a:p>
        </p:txBody>
      </p:sp>
      <p:sp>
        <p:nvSpPr>
          <p:cNvPr id="1022" name="Google Shape;1022;p46"/>
          <p:cNvSpPr/>
          <p:nvPr/>
        </p:nvSpPr>
        <p:spPr>
          <a:xfrm rot="5400000">
            <a:off x="7128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a:t>
            </a:r>
            <a:endParaRPr sz="1000">
              <a:latin typeface="Roboto"/>
              <a:ea typeface="Roboto"/>
              <a:cs typeface="Roboto"/>
              <a:sym typeface="Roboto"/>
            </a:endParaRPr>
          </a:p>
        </p:txBody>
      </p:sp>
      <p:sp>
        <p:nvSpPr>
          <p:cNvPr id="1023" name="Google Shape;1023;p46"/>
          <p:cNvSpPr/>
          <p:nvPr/>
        </p:nvSpPr>
        <p:spPr>
          <a:xfrm rot="5400000">
            <a:off x="3948538" y="2927550"/>
            <a:ext cx="722100" cy="2095500"/>
          </a:xfrm>
          <a:prstGeom prst="rect">
            <a:avLst/>
          </a:prstGeom>
          <a:noFill/>
          <a:ln cap="flat" cmpd="sng" w="285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000">
              <a:latin typeface="Roboto"/>
              <a:ea typeface="Roboto"/>
              <a:cs typeface="Roboto"/>
              <a:sym typeface="Roboto"/>
            </a:endParaRPr>
          </a:p>
        </p:txBody>
      </p:sp>
      <p:sp>
        <p:nvSpPr>
          <p:cNvPr id="1024" name="Google Shape;1024;p46"/>
          <p:cNvSpPr/>
          <p:nvPr/>
        </p:nvSpPr>
        <p:spPr>
          <a:xfrm rot="5400000">
            <a:off x="10626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4</a:t>
            </a:r>
            <a:endParaRPr sz="1000">
              <a:latin typeface="Roboto"/>
              <a:ea typeface="Roboto"/>
              <a:cs typeface="Roboto"/>
              <a:sym typeface="Roboto"/>
            </a:endParaRPr>
          </a:p>
        </p:txBody>
      </p:sp>
      <p:sp>
        <p:nvSpPr>
          <p:cNvPr id="1025" name="Google Shape;1025;p46"/>
          <p:cNvSpPr/>
          <p:nvPr/>
        </p:nvSpPr>
        <p:spPr>
          <a:xfrm rot="5400000">
            <a:off x="12375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5</a:t>
            </a:r>
            <a:endParaRPr sz="1000">
              <a:latin typeface="Roboto"/>
              <a:ea typeface="Roboto"/>
              <a:cs typeface="Roboto"/>
              <a:sym typeface="Roboto"/>
            </a:endParaRPr>
          </a:p>
        </p:txBody>
      </p:sp>
      <p:grpSp>
        <p:nvGrpSpPr>
          <p:cNvPr id="1026" name="Google Shape;1026;p46"/>
          <p:cNvGrpSpPr/>
          <p:nvPr/>
        </p:nvGrpSpPr>
        <p:grpSpPr>
          <a:xfrm>
            <a:off x="811588" y="4486300"/>
            <a:ext cx="2393100" cy="261300"/>
            <a:chOff x="451750" y="1912600"/>
            <a:chExt cx="2393100" cy="261300"/>
          </a:xfrm>
        </p:grpSpPr>
        <p:cxnSp>
          <p:nvCxnSpPr>
            <p:cNvPr id="1027" name="Google Shape;1027;p46"/>
            <p:cNvCxnSpPr/>
            <p:nvPr/>
          </p:nvCxnSpPr>
          <p:spPr>
            <a:xfrm>
              <a:off x="451750" y="2043250"/>
              <a:ext cx="2393100" cy="0"/>
            </a:xfrm>
            <a:prstGeom prst="straightConnector1">
              <a:avLst/>
            </a:prstGeom>
            <a:noFill/>
            <a:ln cap="flat" cmpd="sng" w="9525">
              <a:solidFill>
                <a:srgbClr val="6AA84F"/>
              </a:solidFill>
              <a:prstDash val="solid"/>
              <a:round/>
              <a:headEnd len="med" w="med" type="triangle"/>
              <a:tailEnd len="med" w="med" type="triangle"/>
            </a:ln>
          </p:spPr>
        </p:cxnSp>
        <p:sp>
          <p:nvSpPr>
            <p:cNvPr id="1028" name="Google Shape;1028;p46"/>
            <p:cNvSpPr txBox="1"/>
            <p:nvPr/>
          </p:nvSpPr>
          <p:spPr>
            <a:xfrm>
              <a:off x="1007800" y="1912600"/>
              <a:ext cx="1281000" cy="261300"/>
            </a:xfrm>
            <a:prstGeom prst="rect">
              <a:avLst/>
            </a:prstGeom>
            <a:solidFill>
              <a:srgbClr val="FFFFFF"/>
            </a:solidFill>
            <a:ln>
              <a:noFill/>
            </a:ln>
          </p:spPr>
          <p:txBody>
            <a:bodyPr anchorCtr="0" anchor="t" bIns="27425" lIns="27425" spcFirstLastPara="1" rIns="27425" wrap="square" tIns="27425">
              <a:noAutofit/>
            </a:bodyPr>
            <a:lstStyle/>
            <a:p>
              <a:pPr indent="0" lvl="0" marL="0" rtl="0" algn="ctr">
                <a:spcBef>
                  <a:spcPts val="0"/>
                </a:spcBef>
                <a:spcAft>
                  <a:spcPts val="0"/>
                </a:spcAft>
                <a:buNone/>
              </a:pPr>
              <a:r>
                <a:rPr lang="en">
                  <a:solidFill>
                    <a:srgbClr val="6AA84F"/>
                  </a:solidFill>
                  <a:latin typeface="Roboto"/>
                  <a:ea typeface="Roboto"/>
                  <a:cs typeface="Roboto"/>
                  <a:sym typeface="Roboto"/>
                </a:rPr>
                <a:t>Sent and acked</a:t>
              </a:r>
              <a:endParaRPr>
                <a:solidFill>
                  <a:srgbClr val="6AA84F"/>
                </a:solidFill>
                <a:latin typeface="Roboto"/>
                <a:ea typeface="Roboto"/>
                <a:cs typeface="Roboto"/>
                <a:sym typeface="Roboto"/>
              </a:endParaRPr>
            </a:p>
          </p:txBody>
        </p:sp>
      </p:grpSp>
      <p:sp>
        <p:nvSpPr>
          <p:cNvPr id="1029" name="Google Shape;1029;p46"/>
          <p:cNvSpPr/>
          <p:nvPr/>
        </p:nvSpPr>
        <p:spPr>
          <a:xfrm rot="5400000">
            <a:off x="14124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6</a:t>
            </a:r>
            <a:endParaRPr sz="1000">
              <a:latin typeface="Roboto"/>
              <a:ea typeface="Roboto"/>
              <a:cs typeface="Roboto"/>
              <a:sym typeface="Roboto"/>
            </a:endParaRPr>
          </a:p>
        </p:txBody>
      </p:sp>
      <p:sp>
        <p:nvSpPr>
          <p:cNvPr id="1030" name="Google Shape;1030;p46"/>
          <p:cNvSpPr/>
          <p:nvPr/>
        </p:nvSpPr>
        <p:spPr>
          <a:xfrm rot="5400000">
            <a:off x="15873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7</a:t>
            </a:r>
            <a:endParaRPr sz="1000">
              <a:latin typeface="Roboto"/>
              <a:ea typeface="Roboto"/>
              <a:cs typeface="Roboto"/>
              <a:sym typeface="Roboto"/>
            </a:endParaRPr>
          </a:p>
        </p:txBody>
      </p:sp>
      <p:grpSp>
        <p:nvGrpSpPr>
          <p:cNvPr id="1031" name="Google Shape;1031;p46"/>
          <p:cNvGrpSpPr/>
          <p:nvPr/>
        </p:nvGrpSpPr>
        <p:grpSpPr>
          <a:xfrm>
            <a:off x="5413495" y="4486300"/>
            <a:ext cx="2919162" cy="261300"/>
            <a:chOff x="4996875" y="1912600"/>
            <a:chExt cx="2975700" cy="261300"/>
          </a:xfrm>
        </p:grpSpPr>
        <p:cxnSp>
          <p:nvCxnSpPr>
            <p:cNvPr id="1032" name="Google Shape;1032;p46"/>
            <p:cNvCxnSpPr/>
            <p:nvPr/>
          </p:nvCxnSpPr>
          <p:spPr>
            <a:xfrm>
              <a:off x="4996875" y="2043250"/>
              <a:ext cx="2975700" cy="0"/>
            </a:xfrm>
            <a:prstGeom prst="straightConnector1">
              <a:avLst/>
            </a:prstGeom>
            <a:noFill/>
            <a:ln cap="flat" cmpd="sng" w="9525">
              <a:solidFill>
                <a:srgbClr val="999999"/>
              </a:solidFill>
              <a:prstDash val="solid"/>
              <a:round/>
              <a:headEnd len="med" w="med" type="triangle"/>
              <a:tailEnd len="med" w="med" type="triangle"/>
            </a:ln>
          </p:spPr>
        </p:cxnSp>
        <p:sp>
          <p:nvSpPr>
            <p:cNvPr id="1033" name="Google Shape;1033;p46"/>
            <p:cNvSpPr txBox="1"/>
            <p:nvPr/>
          </p:nvSpPr>
          <p:spPr>
            <a:xfrm>
              <a:off x="5955972" y="1912600"/>
              <a:ext cx="1057500" cy="261300"/>
            </a:xfrm>
            <a:prstGeom prst="rect">
              <a:avLst/>
            </a:prstGeom>
            <a:solidFill>
              <a:srgbClr val="FFFFFF"/>
            </a:solidFill>
            <a:ln>
              <a:noFill/>
            </a:ln>
          </p:spPr>
          <p:txBody>
            <a:bodyPr anchorCtr="0" anchor="t" bIns="27425" lIns="27425" spcFirstLastPara="1" rIns="27425" wrap="square" tIns="27425">
              <a:noAutofit/>
            </a:bodyPr>
            <a:lstStyle/>
            <a:p>
              <a:pPr indent="0" lvl="0" marL="0" rtl="0" algn="ctr">
                <a:spcBef>
                  <a:spcPts val="0"/>
                </a:spcBef>
                <a:spcAft>
                  <a:spcPts val="0"/>
                </a:spcAft>
                <a:buNone/>
              </a:pPr>
              <a:r>
                <a:rPr lang="en">
                  <a:solidFill>
                    <a:srgbClr val="999999"/>
                  </a:solidFill>
                  <a:latin typeface="Roboto"/>
                  <a:ea typeface="Roboto"/>
                  <a:cs typeface="Roboto"/>
                  <a:sym typeface="Roboto"/>
                </a:rPr>
                <a:t>Not sent yet</a:t>
              </a:r>
              <a:endParaRPr>
                <a:solidFill>
                  <a:srgbClr val="999999"/>
                </a:solidFill>
                <a:latin typeface="Roboto"/>
                <a:ea typeface="Roboto"/>
                <a:cs typeface="Roboto"/>
                <a:sym typeface="Roboto"/>
              </a:endParaRPr>
            </a:p>
          </p:txBody>
        </p:sp>
      </p:grpSp>
      <p:grpSp>
        <p:nvGrpSpPr>
          <p:cNvPr id="1034" name="Google Shape;1034;p46"/>
          <p:cNvGrpSpPr/>
          <p:nvPr/>
        </p:nvGrpSpPr>
        <p:grpSpPr>
          <a:xfrm>
            <a:off x="3261268" y="4369100"/>
            <a:ext cx="2095500" cy="493800"/>
            <a:chOff x="3261268" y="4292900"/>
            <a:chExt cx="2095500" cy="493800"/>
          </a:xfrm>
        </p:grpSpPr>
        <p:cxnSp>
          <p:nvCxnSpPr>
            <p:cNvPr id="1035" name="Google Shape;1035;p46"/>
            <p:cNvCxnSpPr/>
            <p:nvPr/>
          </p:nvCxnSpPr>
          <p:spPr>
            <a:xfrm>
              <a:off x="3261268" y="4539800"/>
              <a:ext cx="2095500" cy="0"/>
            </a:xfrm>
            <a:prstGeom prst="straightConnector1">
              <a:avLst/>
            </a:prstGeom>
            <a:noFill/>
            <a:ln cap="flat" cmpd="sng" w="9525">
              <a:solidFill>
                <a:schemeClr val="accent2"/>
              </a:solidFill>
              <a:prstDash val="solid"/>
              <a:round/>
              <a:headEnd len="med" w="med" type="triangle"/>
              <a:tailEnd len="med" w="med" type="triangle"/>
            </a:ln>
          </p:spPr>
        </p:cxnSp>
        <p:sp>
          <p:nvSpPr>
            <p:cNvPr id="1036" name="Google Shape;1036;p46"/>
            <p:cNvSpPr txBox="1"/>
            <p:nvPr/>
          </p:nvSpPr>
          <p:spPr>
            <a:xfrm>
              <a:off x="3940850" y="4292900"/>
              <a:ext cx="736500" cy="493800"/>
            </a:xfrm>
            <a:prstGeom prst="rect">
              <a:avLst/>
            </a:prstGeom>
            <a:solidFill>
              <a:srgbClr val="FFFFFF"/>
            </a:solidFill>
            <a:ln>
              <a:noFill/>
            </a:ln>
          </p:spPr>
          <p:txBody>
            <a:bodyPr anchorCtr="0" anchor="t" bIns="27425" lIns="27425" spcFirstLastPara="1" rIns="27425" wrap="square" tIns="27425">
              <a:noAutofit/>
            </a:bodyPr>
            <a:lstStyle/>
            <a:p>
              <a:pPr indent="0" lvl="0" marL="0" rtl="0" algn="ctr">
                <a:spcBef>
                  <a:spcPts val="0"/>
                </a:spcBef>
                <a:spcAft>
                  <a:spcPts val="0"/>
                </a:spcAft>
                <a:buNone/>
              </a:pPr>
              <a:r>
                <a:rPr lang="en">
                  <a:solidFill>
                    <a:schemeClr val="accent2"/>
                  </a:solidFill>
                  <a:latin typeface="Roboto"/>
                  <a:ea typeface="Roboto"/>
                  <a:cs typeface="Roboto"/>
                  <a:sym typeface="Roboto"/>
                </a:rPr>
                <a:t>Window</a:t>
              </a:r>
              <a:endParaRPr>
                <a:solidFill>
                  <a:schemeClr val="accent2"/>
                </a:solidFill>
                <a:latin typeface="Roboto"/>
                <a:ea typeface="Roboto"/>
                <a:cs typeface="Roboto"/>
                <a:sym typeface="Roboto"/>
              </a:endParaRPr>
            </a:p>
            <a:p>
              <a:pPr indent="0" lvl="0" marL="0" rtl="0" algn="ctr">
                <a:spcBef>
                  <a:spcPts val="0"/>
                </a:spcBef>
                <a:spcAft>
                  <a:spcPts val="0"/>
                </a:spcAft>
                <a:buNone/>
              </a:pPr>
              <a:r>
                <a:rPr i="1" lang="en">
                  <a:solidFill>
                    <a:schemeClr val="accent2"/>
                  </a:solidFill>
                  <a:latin typeface="Roboto"/>
                  <a:ea typeface="Roboto"/>
                  <a:cs typeface="Roboto"/>
                  <a:sym typeface="Roboto"/>
                </a:rPr>
                <a:t>W</a:t>
              </a:r>
              <a:r>
                <a:rPr lang="en">
                  <a:solidFill>
                    <a:schemeClr val="accent2"/>
                  </a:solidFill>
                  <a:latin typeface="Roboto"/>
                  <a:ea typeface="Roboto"/>
                  <a:cs typeface="Roboto"/>
                  <a:sym typeface="Roboto"/>
                </a:rPr>
                <a:t> bytes</a:t>
              </a:r>
              <a:endParaRPr>
                <a:solidFill>
                  <a:schemeClr val="accent2"/>
                </a:solidFill>
                <a:latin typeface="Roboto"/>
                <a:ea typeface="Roboto"/>
                <a:cs typeface="Roboto"/>
                <a:sym typeface="Roboto"/>
              </a:endParaRPr>
            </a:p>
          </p:txBody>
        </p:sp>
      </p:grpSp>
      <p:cxnSp>
        <p:nvCxnSpPr>
          <p:cNvPr id="1037" name="Google Shape;1037;p46"/>
          <p:cNvCxnSpPr>
            <a:stCxn id="993" idx="1"/>
            <a:endCxn id="1038" idx="2"/>
          </p:cNvCxnSpPr>
          <p:nvPr/>
        </p:nvCxnSpPr>
        <p:spPr>
          <a:xfrm rot="10800000">
            <a:off x="3347638" y="3393150"/>
            <a:ext cx="0" cy="221100"/>
          </a:xfrm>
          <a:prstGeom prst="straightConnector1">
            <a:avLst/>
          </a:prstGeom>
          <a:noFill/>
          <a:ln cap="flat" cmpd="sng" w="9525">
            <a:solidFill>
              <a:schemeClr val="accent2"/>
            </a:solidFill>
            <a:prstDash val="solid"/>
            <a:round/>
            <a:headEnd len="med" w="med" type="triangle"/>
            <a:tailEnd len="med" w="med" type="none"/>
          </a:ln>
        </p:spPr>
      </p:cxnSp>
      <p:sp>
        <p:nvSpPr>
          <p:cNvPr id="1038" name="Google Shape;1038;p46"/>
          <p:cNvSpPr txBox="1"/>
          <p:nvPr/>
        </p:nvSpPr>
        <p:spPr>
          <a:xfrm>
            <a:off x="2595100" y="3131722"/>
            <a:ext cx="1505100" cy="261300"/>
          </a:xfrm>
          <a:prstGeom prst="rect">
            <a:avLst/>
          </a:prstGeom>
          <a:noFill/>
          <a:ln>
            <a:noFill/>
          </a:ln>
        </p:spPr>
        <p:txBody>
          <a:bodyPr anchorCtr="0" anchor="t" bIns="27425" lIns="27425" spcFirstLastPara="1" rIns="27425" wrap="square" tIns="27425">
            <a:noAutofit/>
          </a:bodyPr>
          <a:lstStyle/>
          <a:p>
            <a:pPr indent="0" lvl="0" marL="0" rtl="0" algn="l">
              <a:spcBef>
                <a:spcPts val="0"/>
              </a:spcBef>
              <a:spcAft>
                <a:spcPts val="0"/>
              </a:spcAft>
              <a:buNone/>
            </a:pPr>
            <a:r>
              <a:rPr lang="en">
                <a:solidFill>
                  <a:schemeClr val="accent2"/>
                </a:solidFill>
                <a:latin typeface="Roboto"/>
                <a:ea typeface="Roboto"/>
                <a:cs typeface="Roboto"/>
                <a:sym typeface="Roboto"/>
              </a:rPr>
              <a:t>First unacked byte</a:t>
            </a:r>
            <a:endParaRPr>
              <a:solidFill>
                <a:schemeClr val="accent2"/>
              </a:solidFill>
              <a:latin typeface="Roboto"/>
              <a:ea typeface="Roboto"/>
              <a:cs typeface="Roboto"/>
              <a:sym typeface="Roboto"/>
            </a:endParaRPr>
          </a:p>
        </p:txBody>
      </p:sp>
      <p:sp>
        <p:nvSpPr>
          <p:cNvPr id="1039" name="Google Shape;1039;p46"/>
          <p:cNvSpPr txBox="1"/>
          <p:nvPr>
            <p:ph idx="1" type="body"/>
          </p:nvPr>
        </p:nvSpPr>
        <p:spPr>
          <a:xfrm>
            <a:off x="107050" y="402200"/>
            <a:ext cx="8909700" cy="26730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When we measured in packets, </a:t>
            </a:r>
            <a:r>
              <a:rPr i="1" lang="en"/>
              <a:t>W</a:t>
            </a:r>
            <a:r>
              <a:rPr lang="en"/>
              <a:t> was the maximum number of packets in flight.</a:t>
            </a:r>
            <a:endParaRPr/>
          </a:p>
          <a:p>
            <a:pPr indent="0" lvl="0" marL="0" rtl="0" algn="l">
              <a:spcBef>
                <a:spcPts val="600"/>
              </a:spcBef>
              <a:spcAft>
                <a:spcPts val="0"/>
              </a:spcAft>
              <a:buNone/>
            </a:pPr>
            <a:r>
              <a:rPr lang="en"/>
              <a:t>When we measure in bytes, </a:t>
            </a:r>
            <a:r>
              <a:rPr i="1" lang="en"/>
              <a:t>W</a:t>
            </a:r>
            <a:r>
              <a:rPr lang="en"/>
              <a:t> is the maximum number of </a:t>
            </a:r>
            <a:r>
              <a:rPr i="1" lang="en"/>
              <a:t>contiguous</a:t>
            </a:r>
            <a:r>
              <a:rPr lang="en"/>
              <a:t> bytes in flight.</a:t>
            </a:r>
            <a:endParaRPr/>
          </a:p>
          <a:p>
            <a:pPr indent="-342900" lvl="0" marL="457200" rtl="0" algn="l">
              <a:spcBef>
                <a:spcPts val="600"/>
              </a:spcBef>
              <a:spcAft>
                <a:spcPts val="0"/>
              </a:spcAft>
              <a:buSzPts val="1800"/>
              <a:buChar char="●"/>
            </a:pPr>
            <a:r>
              <a:rPr lang="en"/>
              <a:t>The window is a range of </a:t>
            </a:r>
            <a:r>
              <a:rPr i="1" lang="en"/>
              <a:t>W</a:t>
            </a:r>
            <a:r>
              <a:rPr lang="en"/>
              <a:t> contiguous bytes, starting at the first unacked byte.</a:t>
            </a:r>
            <a:endParaRPr/>
          </a:p>
          <a:p>
            <a:pPr indent="-342900" lvl="0" marL="457200" rtl="0" algn="l">
              <a:spcBef>
                <a:spcPts val="0"/>
              </a:spcBef>
              <a:spcAft>
                <a:spcPts val="0"/>
              </a:spcAft>
              <a:buSzPts val="1800"/>
              <a:buChar char="●"/>
            </a:pPr>
            <a:r>
              <a:rPr lang="en"/>
              <a:t>Only these </a:t>
            </a:r>
            <a:r>
              <a:rPr i="1" lang="en"/>
              <a:t>W</a:t>
            </a:r>
            <a:r>
              <a:rPr lang="en"/>
              <a:t> bytes are allowed to be in flight.</a:t>
            </a:r>
            <a:endParaRPr/>
          </a:p>
          <a:p>
            <a:pPr indent="0" lvl="0" marL="0" rtl="0" algn="l">
              <a:spcBef>
                <a:spcPts val="600"/>
              </a:spcBef>
              <a:spcAft>
                <a:spcPts val="0"/>
              </a:spcAft>
              <a:buNone/>
            </a:pPr>
            <a:r>
              <a:rPr lang="en"/>
              <a:t>The window slides right if and only if its </a:t>
            </a:r>
            <a:r>
              <a:rPr i="1" lang="en"/>
              <a:t>leftmost</a:t>
            </a:r>
            <a:r>
              <a:rPr lang="en"/>
              <a:t> bytes are acked.</a:t>
            </a:r>
            <a:endParaRPr/>
          </a:p>
          <a:p>
            <a:pPr indent="-342900" lvl="0" marL="457200" rtl="0" algn="l">
              <a:spcBef>
                <a:spcPts val="600"/>
              </a:spcBef>
              <a:spcAft>
                <a:spcPts val="0"/>
              </a:spcAft>
              <a:buSzPts val="1800"/>
              <a:buChar char="●"/>
            </a:pPr>
            <a:r>
              <a:rPr lang="en"/>
              <a:t>Example: When 15–18 arrive, we can send 27–30.</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3" name="Shape 1043"/>
        <p:cNvGrpSpPr/>
        <p:nvPr/>
      </p:nvGrpSpPr>
      <p:grpSpPr>
        <a:xfrm>
          <a:off x="0" y="0"/>
          <a:ext cx="0" cy="0"/>
          <a:chOff x="0" y="0"/>
          <a:chExt cx="0" cy="0"/>
        </a:xfrm>
      </p:grpSpPr>
      <p:sp>
        <p:nvSpPr>
          <p:cNvPr id="1044" name="Google Shape;1044;p47"/>
          <p:cNvSpPr/>
          <p:nvPr/>
        </p:nvSpPr>
        <p:spPr>
          <a:xfrm rot="5400000">
            <a:off x="7533988" y="3887850"/>
            <a:ext cx="722100" cy="174900"/>
          </a:xfrm>
          <a:prstGeom prst="rect">
            <a:avLst/>
          </a:prstGeom>
          <a:solidFill>
            <a:srgbClr val="D9D9D9"/>
          </a:solidFill>
          <a:ln cap="flat" cmpd="sng" w="9525">
            <a:solidFill>
              <a:srgbClr val="B7B7B7"/>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045" name="Google Shape;1045;p47"/>
          <p:cNvSpPr/>
          <p:nvPr/>
        </p:nvSpPr>
        <p:spPr>
          <a:xfrm rot="5400000">
            <a:off x="8877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a:t>
            </a:r>
            <a:endParaRPr sz="1000">
              <a:latin typeface="Roboto"/>
              <a:ea typeface="Roboto"/>
              <a:cs typeface="Roboto"/>
              <a:sym typeface="Roboto"/>
            </a:endParaRPr>
          </a:p>
        </p:txBody>
      </p:sp>
      <p:sp>
        <p:nvSpPr>
          <p:cNvPr id="1046" name="Google Shape;1046;p47"/>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TCP Sliding Window</a:t>
            </a:r>
            <a:endParaRPr/>
          </a:p>
        </p:txBody>
      </p:sp>
      <p:sp>
        <p:nvSpPr>
          <p:cNvPr id="1047" name="Google Shape;1047;p47"/>
          <p:cNvSpPr txBox="1"/>
          <p:nvPr>
            <p:ph idx="1" type="body"/>
          </p:nvPr>
        </p:nvSpPr>
        <p:spPr>
          <a:xfrm>
            <a:off x="107050" y="402200"/>
            <a:ext cx="8909700" cy="26730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Clr>
                <a:schemeClr val="dk1"/>
              </a:buClr>
              <a:buSzPts val="1100"/>
              <a:buFont typeface="Arial"/>
              <a:buNone/>
            </a:pPr>
            <a:r>
              <a:rPr lang="en"/>
              <a:t>When we measured in packets, </a:t>
            </a:r>
            <a:r>
              <a:rPr i="1" lang="en"/>
              <a:t>W</a:t>
            </a:r>
            <a:r>
              <a:rPr lang="en"/>
              <a:t> was the maximum number of packets in flight.</a:t>
            </a:r>
            <a:endParaRPr/>
          </a:p>
          <a:p>
            <a:pPr indent="0" lvl="0" marL="0" rtl="0" algn="l">
              <a:spcBef>
                <a:spcPts val="600"/>
              </a:spcBef>
              <a:spcAft>
                <a:spcPts val="0"/>
              </a:spcAft>
              <a:buClr>
                <a:schemeClr val="dk1"/>
              </a:buClr>
              <a:buSzPts val="1100"/>
              <a:buFont typeface="Arial"/>
              <a:buNone/>
            </a:pPr>
            <a:r>
              <a:rPr lang="en"/>
              <a:t>When we measure in bytes, </a:t>
            </a:r>
            <a:r>
              <a:rPr i="1" lang="en"/>
              <a:t>W</a:t>
            </a:r>
            <a:r>
              <a:rPr lang="en"/>
              <a:t> is the maximum number of </a:t>
            </a:r>
            <a:r>
              <a:rPr i="1" lang="en"/>
              <a:t>contiguous</a:t>
            </a:r>
            <a:r>
              <a:rPr lang="en"/>
              <a:t> bytes in flight.</a:t>
            </a:r>
            <a:endParaRPr/>
          </a:p>
          <a:p>
            <a:pPr indent="-342900" lvl="0" marL="457200" rtl="0" algn="l">
              <a:spcBef>
                <a:spcPts val="600"/>
              </a:spcBef>
              <a:spcAft>
                <a:spcPts val="0"/>
              </a:spcAft>
              <a:buSzPts val="1800"/>
              <a:buChar char="●"/>
            </a:pPr>
            <a:r>
              <a:rPr lang="en"/>
              <a:t>The window is a range of </a:t>
            </a:r>
            <a:r>
              <a:rPr i="1" lang="en"/>
              <a:t>W</a:t>
            </a:r>
            <a:r>
              <a:rPr lang="en"/>
              <a:t> contiguous bytes, starting at the first unacked byte.</a:t>
            </a:r>
            <a:endParaRPr/>
          </a:p>
          <a:p>
            <a:pPr indent="-342900" lvl="0" marL="457200" rtl="0" algn="l">
              <a:spcBef>
                <a:spcPts val="0"/>
              </a:spcBef>
              <a:spcAft>
                <a:spcPts val="0"/>
              </a:spcAft>
              <a:buSzPts val="1800"/>
              <a:buChar char="●"/>
            </a:pPr>
            <a:r>
              <a:rPr lang="en"/>
              <a:t>Only these </a:t>
            </a:r>
            <a:r>
              <a:rPr i="1" lang="en"/>
              <a:t>W</a:t>
            </a:r>
            <a:r>
              <a:rPr lang="en"/>
              <a:t> bytes are allowed to be in flight.</a:t>
            </a:r>
            <a:endParaRPr/>
          </a:p>
          <a:p>
            <a:pPr indent="0" lvl="0" marL="0" rtl="0" algn="l">
              <a:spcBef>
                <a:spcPts val="600"/>
              </a:spcBef>
              <a:spcAft>
                <a:spcPts val="0"/>
              </a:spcAft>
              <a:buClr>
                <a:schemeClr val="dk1"/>
              </a:buClr>
              <a:buSzPts val="1100"/>
              <a:buFont typeface="Arial"/>
              <a:buNone/>
            </a:pPr>
            <a:r>
              <a:rPr lang="en"/>
              <a:t>The window slides right if and only if its </a:t>
            </a:r>
            <a:r>
              <a:rPr i="1" lang="en"/>
              <a:t>leftmost</a:t>
            </a:r>
            <a:r>
              <a:rPr lang="en"/>
              <a:t> bytes are acked.</a:t>
            </a:r>
            <a:endParaRPr/>
          </a:p>
          <a:p>
            <a:pPr indent="-342900" lvl="0" marL="457200" rtl="0" algn="l">
              <a:spcBef>
                <a:spcPts val="600"/>
              </a:spcBef>
              <a:spcAft>
                <a:spcPts val="0"/>
              </a:spcAft>
              <a:buSzPts val="1800"/>
              <a:buChar char="●"/>
            </a:pPr>
            <a:r>
              <a:rPr lang="en"/>
              <a:t>Example: When 15–18 arrive, we can send 27–30.</a:t>
            </a:r>
            <a:endParaRPr/>
          </a:p>
        </p:txBody>
      </p:sp>
      <p:sp>
        <p:nvSpPr>
          <p:cNvPr id="1048" name="Google Shape;1048;p47"/>
          <p:cNvSpPr/>
          <p:nvPr/>
        </p:nvSpPr>
        <p:spPr>
          <a:xfrm rot="5400000">
            <a:off x="17622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8</a:t>
            </a:r>
            <a:endParaRPr sz="1000">
              <a:latin typeface="Roboto"/>
              <a:ea typeface="Roboto"/>
              <a:cs typeface="Roboto"/>
              <a:sym typeface="Roboto"/>
            </a:endParaRPr>
          </a:p>
        </p:txBody>
      </p:sp>
      <p:sp>
        <p:nvSpPr>
          <p:cNvPr id="1049" name="Google Shape;1049;p47"/>
          <p:cNvSpPr/>
          <p:nvPr/>
        </p:nvSpPr>
        <p:spPr>
          <a:xfrm rot="5400000">
            <a:off x="19371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9</a:t>
            </a:r>
            <a:endParaRPr sz="1000">
              <a:latin typeface="Roboto"/>
              <a:ea typeface="Roboto"/>
              <a:cs typeface="Roboto"/>
              <a:sym typeface="Roboto"/>
            </a:endParaRPr>
          </a:p>
        </p:txBody>
      </p:sp>
      <p:sp>
        <p:nvSpPr>
          <p:cNvPr id="1050" name="Google Shape;1050;p47"/>
          <p:cNvSpPr/>
          <p:nvPr/>
        </p:nvSpPr>
        <p:spPr>
          <a:xfrm rot="5400000">
            <a:off x="21120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10</a:t>
            </a:r>
            <a:endParaRPr sz="1000">
              <a:latin typeface="Roboto"/>
              <a:ea typeface="Roboto"/>
              <a:cs typeface="Roboto"/>
              <a:sym typeface="Roboto"/>
            </a:endParaRPr>
          </a:p>
        </p:txBody>
      </p:sp>
      <p:sp>
        <p:nvSpPr>
          <p:cNvPr id="1051" name="Google Shape;1051;p47"/>
          <p:cNvSpPr/>
          <p:nvPr/>
        </p:nvSpPr>
        <p:spPr>
          <a:xfrm rot="5400000">
            <a:off x="22869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11</a:t>
            </a:r>
            <a:endParaRPr sz="1000">
              <a:latin typeface="Roboto"/>
              <a:ea typeface="Roboto"/>
              <a:cs typeface="Roboto"/>
              <a:sym typeface="Roboto"/>
            </a:endParaRPr>
          </a:p>
        </p:txBody>
      </p:sp>
      <p:sp>
        <p:nvSpPr>
          <p:cNvPr id="1052" name="Google Shape;1052;p47"/>
          <p:cNvSpPr/>
          <p:nvPr/>
        </p:nvSpPr>
        <p:spPr>
          <a:xfrm rot="5400000">
            <a:off x="24618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12</a:t>
            </a:r>
            <a:endParaRPr sz="1000">
              <a:latin typeface="Roboto"/>
              <a:ea typeface="Roboto"/>
              <a:cs typeface="Roboto"/>
              <a:sym typeface="Roboto"/>
            </a:endParaRPr>
          </a:p>
        </p:txBody>
      </p:sp>
      <p:sp>
        <p:nvSpPr>
          <p:cNvPr id="1053" name="Google Shape;1053;p47"/>
          <p:cNvSpPr/>
          <p:nvPr/>
        </p:nvSpPr>
        <p:spPr>
          <a:xfrm rot="5400000">
            <a:off x="26367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13</a:t>
            </a:r>
            <a:endParaRPr sz="1000">
              <a:latin typeface="Roboto"/>
              <a:ea typeface="Roboto"/>
              <a:cs typeface="Roboto"/>
              <a:sym typeface="Roboto"/>
            </a:endParaRPr>
          </a:p>
        </p:txBody>
      </p:sp>
      <p:sp>
        <p:nvSpPr>
          <p:cNvPr id="1054" name="Google Shape;1054;p47"/>
          <p:cNvSpPr/>
          <p:nvPr/>
        </p:nvSpPr>
        <p:spPr>
          <a:xfrm rot="5400000">
            <a:off x="28116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14</a:t>
            </a:r>
            <a:endParaRPr sz="1000">
              <a:latin typeface="Roboto"/>
              <a:ea typeface="Roboto"/>
              <a:cs typeface="Roboto"/>
              <a:sym typeface="Roboto"/>
            </a:endParaRPr>
          </a:p>
        </p:txBody>
      </p:sp>
      <p:sp>
        <p:nvSpPr>
          <p:cNvPr id="1055" name="Google Shape;1055;p47"/>
          <p:cNvSpPr/>
          <p:nvPr/>
        </p:nvSpPr>
        <p:spPr>
          <a:xfrm rot="5400000">
            <a:off x="2986588" y="3887850"/>
            <a:ext cx="722100" cy="174900"/>
          </a:xfrm>
          <a:prstGeom prst="rect">
            <a:avLst/>
          </a:prstGeom>
          <a:solidFill>
            <a:srgbClr val="B6D7A8"/>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15</a:t>
            </a:r>
            <a:endParaRPr sz="1000">
              <a:latin typeface="Roboto"/>
              <a:ea typeface="Roboto"/>
              <a:cs typeface="Roboto"/>
              <a:sym typeface="Roboto"/>
            </a:endParaRPr>
          </a:p>
        </p:txBody>
      </p:sp>
      <p:sp>
        <p:nvSpPr>
          <p:cNvPr id="1056" name="Google Shape;1056;p47"/>
          <p:cNvSpPr/>
          <p:nvPr/>
        </p:nvSpPr>
        <p:spPr>
          <a:xfrm rot="5400000">
            <a:off x="3161488" y="3887850"/>
            <a:ext cx="722100" cy="174900"/>
          </a:xfrm>
          <a:prstGeom prst="rect">
            <a:avLst/>
          </a:prstGeom>
          <a:solidFill>
            <a:srgbClr val="B6D7A8"/>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16</a:t>
            </a:r>
            <a:endParaRPr sz="1000">
              <a:latin typeface="Roboto"/>
              <a:ea typeface="Roboto"/>
              <a:cs typeface="Roboto"/>
              <a:sym typeface="Roboto"/>
            </a:endParaRPr>
          </a:p>
        </p:txBody>
      </p:sp>
      <p:sp>
        <p:nvSpPr>
          <p:cNvPr id="1057" name="Google Shape;1057;p47"/>
          <p:cNvSpPr/>
          <p:nvPr/>
        </p:nvSpPr>
        <p:spPr>
          <a:xfrm rot="5400000">
            <a:off x="3336388" y="3887850"/>
            <a:ext cx="722100" cy="174900"/>
          </a:xfrm>
          <a:prstGeom prst="rect">
            <a:avLst/>
          </a:prstGeom>
          <a:solidFill>
            <a:srgbClr val="B6D7A8"/>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17</a:t>
            </a:r>
            <a:endParaRPr sz="1000">
              <a:latin typeface="Roboto"/>
              <a:ea typeface="Roboto"/>
              <a:cs typeface="Roboto"/>
              <a:sym typeface="Roboto"/>
            </a:endParaRPr>
          </a:p>
        </p:txBody>
      </p:sp>
      <p:sp>
        <p:nvSpPr>
          <p:cNvPr id="1058" name="Google Shape;1058;p47"/>
          <p:cNvSpPr/>
          <p:nvPr/>
        </p:nvSpPr>
        <p:spPr>
          <a:xfrm rot="5400000">
            <a:off x="3511288" y="3887850"/>
            <a:ext cx="722100" cy="174900"/>
          </a:xfrm>
          <a:prstGeom prst="rect">
            <a:avLst/>
          </a:prstGeom>
          <a:solidFill>
            <a:srgbClr val="B6D7A8"/>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18</a:t>
            </a:r>
            <a:endParaRPr sz="1000">
              <a:latin typeface="Roboto"/>
              <a:ea typeface="Roboto"/>
              <a:cs typeface="Roboto"/>
              <a:sym typeface="Roboto"/>
            </a:endParaRPr>
          </a:p>
        </p:txBody>
      </p:sp>
      <p:sp>
        <p:nvSpPr>
          <p:cNvPr id="1059" name="Google Shape;1059;p47"/>
          <p:cNvSpPr/>
          <p:nvPr/>
        </p:nvSpPr>
        <p:spPr>
          <a:xfrm rot="5400000">
            <a:off x="36861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19</a:t>
            </a:r>
            <a:endParaRPr sz="1000">
              <a:latin typeface="Roboto"/>
              <a:ea typeface="Roboto"/>
              <a:cs typeface="Roboto"/>
              <a:sym typeface="Roboto"/>
            </a:endParaRPr>
          </a:p>
        </p:txBody>
      </p:sp>
      <p:sp>
        <p:nvSpPr>
          <p:cNvPr id="1060" name="Google Shape;1060;p47"/>
          <p:cNvSpPr/>
          <p:nvPr/>
        </p:nvSpPr>
        <p:spPr>
          <a:xfrm rot="5400000">
            <a:off x="38610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20</a:t>
            </a:r>
            <a:endParaRPr sz="1000">
              <a:latin typeface="Roboto"/>
              <a:ea typeface="Roboto"/>
              <a:cs typeface="Roboto"/>
              <a:sym typeface="Roboto"/>
            </a:endParaRPr>
          </a:p>
        </p:txBody>
      </p:sp>
      <p:sp>
        <p:nvSpPr>
          <p:cNvPr id="1061" name="Google Shape;1061;p47"/>
          <p:cNvSpPr/>
          <p:nvPr/>
        </p:nvSpPr>
        <p:spPr>
          <a:xfrm rot="5400000">
            <a:off x="40359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21</a:t>
            </a:r>
            <a:endParaRPr sz="1000">
              <a:latin typeface="Roboto"/>
              <a:ea typeface="Roboto"/>
              <a:cs typeface="Roboto"/>
              <a:sym typeface="Roboto"/>
            </a:endParaRPr>
          </a:p>
        </p:txBody>
      </p:sp>
      <p:sp>
        <p:nvSpPr>
          <p:cNvPr id="1062" name="Google Shape;1062;p47"/>
          <p:cNvSpPr/>
          <p:nvPr/>
        </p:nvSpPr>
        <p:spPr>
          <a:xfrm rot="5400000">
            <a:off x="42108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22</a:t>
            </a:r>
            <a:endParaRPr sz="1000">
              <a:latin typeface="Roboto"/>
              <a:ea typeface="Roboto"/>
              <a:cs typeface="Roboto"/>
              <a:sym typeface="Roboto"/>
            </a:endParaRPr>
          </a:p>
        </p:txBody>
      </p:sp>
      <p:sp>
        <p:nvSpPr>
          <p:cNvPr id="1063" name="Google Shape;1063;p47"/>
          <p:cNvSpPr/>
          <p:nvPr/>
        </p:nvSpPr>
        <p:spPr>
          <a:xfrm rot="5400000">
            <a:off x="43857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23</a:t>
            </a:r>
            <a:endParaRPr sz="1000">
              <a:latin typeface="Roboto"/>
              <a:ea typeface="Roboto"/>
              <a:cs typeface="Roboto"/>
              <a:sym typeface="Roboto"/>
            </a:endParaRPr>
          </a:p>
        </p:txBody>
      </p:sp>
      <p:sp>
        <p:nvSpPr>
          <p:cNvPr id="1064" name="Google Shape;1064;p47"/>
          <p:cNvSpPr/>
          <p:nvPr/>
        </p:nvSpPr>
        <p:spPr>
          <a:xfrm rot="5400000">
            <a:off x="45606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24</a:t>
            </a:r>
            <a:endParaRPr sz="1000">
              <a:latin typeface="Roboto"/>
              <a:ea typeface="Roboto"/>
              <a:cs typeface="Roboto"/>
              <a:sym typeface="Roboto"/>
            </a:endParaRPr>
          </a:p>
        </p:txBody>
      </p:sp>
      <p:sp>
        <p:nvSpPr>
          <p:cNvPr id="1065" name="Google Shape;1065;p47"/>
          <p:cNvSpPr/>
          <p:nvPr/>
        </p:nvSpPr>
        <p:spPr>
          <a:xfrm rot="5400000">
            <a:off x="47355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25</a:t>
            </a:r>
            <a:endParaRPr sz="1000">
              <a:latin typeface="Roboto"/>
              <a:ea typeface="Roboto"/>
              <a:cs typeface="Roboto"/>
              <a:sym typeface="Roboto"/>
            </a:endParaRPr>
          </a:p>
        </p:txBody>
      </p:sp>
      <p:sp>
        <p:nvSpPr>
          <p:cNvPr id="1066" name="Google Shape;1066;p47"/>
          <p:cNvSpPr/>
          <p:nvPr/>
        </p:nvSpPr>
        <p:spPr>
          <a:xfrm rot="5400000">
            <a:off x="49104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26</a:t>
            </a:r>
            <a:endParaRPr sz="1000">
              <a:latin typeface="Roboto"/>
              <a:ea typeface="Roboto"/>
              <a:cs typeface="Roboto"/>
              <a:sym typeface="Roboto"/>
            </a:endParaRPr>
          </a:p>
        </p:txBody>
      </p:sp>
      <p:sp>
        <p:nvSpPr>
          <p:cNvPr id="1067" name="Google Shape;1067;p47"/>
          <p:cNvSpPr/>
          <p:nvPr/>
        </p:nvSpPr>
        <p:spPr>
          <a:xfrm rot="5400000">
            <a:off x="5085388" y="3887850"/>
            <a:ext cx="722100" cy="174900"/>
          </a:xfrm>
          <a:prstGeom prst="rect">
            <a:avLst/>
          </a:prstGeom>
          <a:solidFill>
            <a:srgbClr val="FFF2CC"/>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27</a:t>
            </a:r>
            <a:endParaRPr sz="1000">
              <a:latin typeface="Roboto"/>
              <a:ea typeface="Roboto"/>
              <a:cs typeface="Roboto"/>
              <a:sym typeface="Roboto"/>
            </a:endParaRPr>
          </a:p>
        </p:txBody>
      </p:sp>
      <p:sp>
        <p:nvSpPr>
          <p:cNvPr id="1068" name="Google Shape;1068;p47"/>
          <p:cNvSpPr/>
          <p:nvPr/>
        </p:nvSpPr>
        <p:spPr>
          <a:xfrm rot="5400000">
            <a:off x="5260288" y="3887850"/>
            <a:ext cx="722100" cy="174900"/>
          </a:xfrm>
          <a:prstGeom prst="rect">
            <a:avLst/>
          </a:prstGeom>
          <a:solidFill>
            <a:srgbClr val="FFF2CC"/>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28</a:t>
            </a:r>
            <a:endParaRPr sz="1000">
              <a:latin typeface="Roboto"/>
              <a:ea typeface="Roboto"/>
              <a:cs typeface="Roboto"/>
              <a:sym typeface="Roboto"/>
            </a:endParaRPr>
          </a:p>
        </p:txBody>
      </p:sp>
      <p:sp>
        <p:nvSpPr>
          <p:cNvPr id="1069" name="Google Shape;1069;p47"/>
          <p:cNvSpPr/>
          <p:nvPr/>
        </p:nvSpPr>
        <p:spPr>
          <a:xfrm rot="5400000">
            <a:off x="5435188" y="3887850"/>
            <a:ext cx="722100" cy="174900"/>
          </a:xfrm>
          <a:prstGeom prst="rect">
            <a:avLst/>
          </a:prstGeom>
          <a:solidFill>
            <a:srgbClr val="FFF2CC"/>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29</a:t>
            </a:r>
            <a:endParaRPr sz="1000">
              <a:latin typeface="Roboto"/>
              <a:ea typeface="Roboto"/>
              <a:cs typeface="Roboto"/>
              <a:sym typeface="Roboto"/>
            </a:endParaRPr>
          </a:p>
        </p:txBody>
      </p:sp>
      <p:sp>
        <p:nvSpPr>
          <p:cNvPr id="1070" name="Google Shape;1070;p47"/>
          <p:cNvSpPr/>
          <p:nvPr/>
        </p:nvSpPr>
        <p:spPr>
          <a:xfrm rot="5400000">
            <a:off x="5610088" y="3887850"/>
            <a:ext cx="722100" cy="174900"/>
          </a:xfrm>
          <a:prstGeom prst="rect">
            <a:avLst/>
          </a:prstGeom>
          <a:solidFill>
            <a:srgbClr val="FFF2CC"/>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30</a:t>
            </a:r>
            <a:endParaRPr sz="1000">
              <a:latin typeface="Roboto"/>
              <a:ea typeface="Roboto"/>
              <a:cs typeface="Roboto"/>
              <a:sym typeface="Roboto"/>
            </a:endParaRPr>
          </a:p>
        </p:txBody>
      </p:sp>
      <p:sp>
        <p:nvSpPr>
          <p:cNvPr id="1071" name="Google Shape;1071;p47"/>
          <p:cNvSpPr/>
          <p:nvPr/>
        </p:nvSpPr>
        <p:spPr>
          <a:xfrm rot="5400000">
            <a:off x="57849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31</a:t>
            </a:r>
            <a:endParaRPr sz="1000">
              <a:latin typeface="Roboto"/>
              <a:ea typeface="Roboto"/>
              <a:cs typeface="Roboto"/>
              <a:sym typeface="Roboto"/>
            </a:endParaRPr>
          </a:p>
        </p:txBody>
      </p:sp>
      <p:sp>
        <p:nvSpPr>
          <p:cNvPr id="1072" name="Google Shape;1072;p47"/>
          <p:cNvSpPr/>
          <p:nvPr/>
        </p:nvSpPr>
        <p:spPr>
          <a:xfrm rot="5400000">
            <a:off x="59598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32</a:t>
            </a:r>
            <a:endParaRPr sz="1000">
              <a:latin typeface="Roboto"/>
              <a:ea typeface="Roboto"/>
              <a:cs typeface="Roboto"/>
              <a:sym typeface="Roboto"/>
            </a:endParaRPr>
          </a:p>
        </p:txBody>
      </p:sp>
      <p:sp>
        <p:nvSpPr>
          <p:cNvPr id="1073" name="Google Shape;1073;p47"/>
          <p:cNvSpPr/>
          <p:nvPr/>
        </p:nvSpPr>
        <p:spPr>
          <a:xfrm rot="5400000">
            <a:off x="61347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33</a:t>
            </a:r>
            <a:endParaRPr sz="1000">
              <a:latin typeface="Roboto"/>
              <a:ea typeface="Roboto"/>
              <a:cs typeface="Roboto"/>
              <a:sym typeface="Roboto"/>
            </a:endParaRPr>
          </a:p>
        </p:txBody>
      </p:sp>
      <p:sp>
        <p:nvSpPr>
          <p:cNvPr id="1074" name="Google Shape;1074;p47"/>
          <p:cNvSpPr/>
          <p:nvPr/>
        </p:nvSpPr>
        <p:spPr>
          <a:xfrm rot="5400000">
            <a:off x="63096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34</a:t>
            </a:r>
            <a:endParaRPr sz="1000">
              <a:latin typeface="Roboto"/>
              <a:ea typeface="Roboto"/>
              <a:cs typeface="Roboto"/>
              <a:sym typeface="Roboto"/>
            </a:endParaRPr>
          </a:p>
        </p:txBody>
      </p:sp>
      <p:sp>
        <p:nvSpPr>
          <p:cNvPr id="1075" name="Google Shape;1075;p47"/>
          <p:cNvSpPr/>
          <p:nvPr/>
        </p:nvSpPr>
        <p:spPr>
          <a:xfrm rot="5400000">
            <a:off x="64845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35</a:t>
            </a:r>
            <a:endParaRPr sz="1000">
              <a:latin typeface="Roboto"/>
              <a:ea typeface="Roboto"/>
              <a:cs typeface="Roboto"/>
              <a:sym typeface="Roboto"/>
            </a:endParaRPr>
          </a:p>
        </p:txBody>
      </p:sp>
      <p:sp>
        <p:nvSpPr>
          <p:cNvPr id="1076" name="Google Shape;1076;p47"/>
          <p:cNvSpPr/>
          <p:nvPr/>
        </p:nvSpPr>
        <p:spPr>
          <a:xfrm rot="5400000">
            <a:off x="66594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36</a:t>
            </a:r>
            <a:endParaRPr sz="1000">
              <a:latin typeface="Roboto"/>
              <a:ea typeface="Roboto"/>
              <a:cs typeface="Roboto"/>
              <a:sym typeface="Roboto"/>
            </a:endParaRPr>
          </a:p>
        </p:txBody>
      </p:sp>
      <p:sp>
        <p:nvSpPr>
          <p:cNvPr id="1077" name="Google Shape;1077;p47"/>
          <p:cNvSpPr/>
          <p:nvPr/>
        </p:nvSpPr>
        <p:spPr>
          <a:xfrm rot="5400000">
            <a:off x="68343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37</a:t>
            </a:r>
            <a:endParaRPr sz="1000">
              <a:latin typeface="Roboto"/>
              <a:ea typeface="Roboto"/>
              <a:cs typeface="Roboto"/>
              <a:sym typeface="Roboto"/>
            </a:endParaRPr>
          </a:p>
        </p:txBody>
      </p:sp>
      <p:sp>
        <p:nvSpPr>
          <p:cNvPr id="1078" name="Google Shape;1078;p47"/>
          <p:cNvSpPr/>
          <p:nvPr/>
        </p:nvSpPr>
        <p:spPr>
          <a:xfrm rot="5400000">
            <a:off x="70092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38</a:t>
            </a:r>
            <a:endParaRPr sz="1000">
              <a:latin typeface="Roboto"/>
              <a:ea typeface="Roboto"/>
              <a:cs typeface="Roboto"/>
              <a:sym typeface="Roboto"/>
            </a:endParaRPr>
          </a:p>
        </p:txBody>
      </p:sp>
      <p:sp>
        <p:nvSpPr>
          <p:cNvPr id="1079" name="Google Shape;1079;p47"/>
          <p:cNvSpPr/>
          <p:nvPr/>
        </p:nvSpPr>
        <p:spPr>
          <a:xfrm rot="5400000">
            <a:off x="71841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39</a:t>
            </a:r>
            <a:endParaRPr sz="1000">
              <a:latin typeface="Roboto"/>
              <a:ea typeface="Roboto"/>
              <a:cs typeface="Roboto"/>
              <a:sym typeface="Roboto"/>
            </a:endParaRPr>
          </a:p>
        </p:txBody>
      </p:sp>
      <p:sp>
        <p:nvSpPr>
          <p:cNvPr id="1080" name="Google Shape;1080;p47"/>
          <p:cNvSpPr/>
          <p:nvPr/>
        </p:nvSpPr>
        <p:spPr>
          <a:xfrm rot="5400000">
            <a:off x="73590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40</a:t>
            </a:r>
            <a:endParaRPr sz="1000">
              <a:latin typeface="Roboto"/>
              <a:ea typeface="Roboto"/>
              <a:cs typeface="Roboto"/>
              <a:sym typeface="Roboto"/>
            </a:endParaRPr>
          </a:p>
        </p:txBody>
      </p:sp>
      <p:sp>
        <p:nvSpPr>
          <p:cNvPr id="1081" name="Google Shape;1081;p47"/>
          <p:cNvSpPr/>
          <p:nvPr/>
        </p:nvSpPr>
        <p:spPr>
          <a:xfrm rot="5400000">
            <a:off x="7708888" y="3887850"/>
            <a:ext cx="722100" cy="174900"/>
          </a:xfrm>
          <a:prstGeom prst="rect">
            <a:avLst/>
          </a:prstGeom>
          <a:solidFill>
            <a:srgbClr val="D9D9D9"/>
          </a:solidFill>
          <a:ln cap="flat" cmpd="sng" w="9525">
            <a:solidFill>
              <a:srgbClr val="B7B7B7"/>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082" name="Google Shape;1082;p47"/>
          <p:cNvSpPr/>
          <p:nvPr/>
        </p:nvSpPr>
        <p:spPr>
          <a:xfrm rot="5400000">
            <a:off x="7883788" y="3887850"/>
            <a:ext cx="722100" cy="174900"/>
          </a:xfrm>
          <a:prstGeom prst="rect">
            <a:avLst/>
          </a:prstGeom>
          <a:solidFill>
            <a:srgbClr val="D9D9D9"/>
          </a:solidFill>
          <a:ln cap="flat" cmpd="sng" w="9525">
            <a:solidFill>
              <a:srgbClr val="B7B7B7"/>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083" name="Google Shape;1083;p47"/>
          <p:cNvSpPr/>
          <p:nvPr/>
        </p:nvSpPr>
        <p:spPr>
          <a:xfrm rot="5400000">
            <a:off x="5379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a:t>
            </a:r>
            <a:endParaRPr sz="1000">
              <a:latin typeface="Roboto"/>
              <a:ea typeface="Roboto"/>
              <a:cs typeface="Roboto"/>
              <a:sym typeface="Roboto"/>
            </a:endParaRPr>
          </a:p>
        </p:txBody>
      </p:sp>
      <p:sp>
        <p:nvSpPr>
          <p:cNvPr id="1084" name="Google Shape;1084;p47"/>
          <p:cNvSpPr/>
          <p:nvPr/>
        </p:nvSpPr>
        <p:spPr>
          <a:xfrm rot="5400000">
            <a:off x="7128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a:t>
            </a:r>
            <a:endParaRPr sz="1000">
              <a:latin typeface="Roboto"/>
              <a:ea typeface="Roboto"/>
              <a:cs typeface="Roboto"/>
              <a:sym typeface="Roboto"/>
            </a:endParaRPr>
          </a:p>
        </p:txBody>
      </p:sp>
      <p:sp>
        <p:nvSpPr>
          <p:cNvPr id="1085" name="Google Shape;1085;p47"/>
          <p:cNvSpPr/>
          <p:nvPr/>
        </p:nvSpPr>
        <p:spPr>
          <a:xfrm rot="5400000">
            <a:off x="4648138" y="2927550"/>
            <a:ext cx="722100" cy="2095500"/>
          </a:xfrm>
          <a:prstGeom prst="rect">
            <a:avLst/>
          </a:prstGeom>
          <a:noFill/>
          <a:ln cap="flat" cmpd="sng" w="285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000">
              <a:latin typeface="Roboto"/>
              <a:ea typeface="Roboto"/>
              <a:cs typeface="Roboto"/>
              <a:sym typeface="Roboto"/>
            </a:endParaRPr>
          </a:p>
        </p:txBody>
      </p:sp>
      <p:grpSp>
        <p:nvGrpSpPr>
          <p:cNvPr id="1086" name="Google Shape;1086;p47"/>
          <p:cNvGrpSpPr/>
          <p:nvPr/>
        </p:nvGrpSpPr>
        <p:grpSpPr>
          <a:xfrm>
            <a:off x="811586" y="4486300"/>
            <a:ext cx="3148123" cy="261300"/>
            <a:chOff x="811586" y="4486300"/>
            <a:chExt cx="3148123" cy="261300"/>
          </a:xfrm>
        </p:grpSpPr>
        <p:cxnSp>
          <p:nvCxnSpPr>
            <p:cNvPr id="1087" name="Google Shape;1087;p47"/>
            <p:cNvCxnSpPr/>
            <p:nvPr/>
          </p:nvCxnSpPr>
          <p:spPr>
            <a:xfrm>
              <a:off x="811586" y="4616950"/>
              <a:ext cx="3148123" cy="0"/>
            </a:xfrm>
            <a:prstGeom prst="straightConnector1">
              <a:avLst/>
            </a:prstGeom>
            <a:noFill/>
            <a:ln cap="flat" cmpd="sng" w="9525">
              <a:solidFill>
                <a:srgbClr val="6AA84F"/>
              </a:solidFill>
              <a:prstDash val="solid"/>
              <a:round/>
              <a:headEnd len="med" w="med" type="triangle"/>
              <a:tailEnd len="med" w="med" type="triangle"/>
            </a:ln>
          </p:spPr>
        </p:cxnSp>
        <p:sp>
          <p:nvSpPr>
            <p:cNvPr id="1088" name="Google Shape;1088;p47"/>
            <p:cNvSpPr txBox="1"/>
            <p:nvPr/>
          </p:nvSpPr>
          <p:spPr>
            <a:xfrm>
              <a:off x="1636750" y="4486300"/>
              <a:ext cx="1323000" cy="261300"/>
            </a:xfrm>
            <a:prstGeom prst="rect">
              <a:avLst/>
            </a:prstGeom>
            <a:solidFill>
              <a:srgbClr val="FFFFFF"/>
            </a:solidFill>
            <a:ln>
              <a:noFill/>
            </a:ln>
          </p:spPr>
          <p:txBody>
            <a:bodyPr anchorCtr="0" anchor="t" bIns="27425" lIns="27425" spcFirstLastPara="1" rIns="27425" wrap="square" tIns="27425">
              <a:noAutofit/>
            </a:bodyPr>
            <a:lstStyle/>
            <a:p>
              <a:pPr indent="0" lvl="0" marL="0" rtl="0" algn="ctr">
                <a:spcBef>
                  <a:spcPts val="0"/>
                </a:spcBef>
                <a:spcAft>
                  <a:spcPts val="0"/>
                </a:spcAft>
                <a:buNone/>
              </a:pPr>
              <a:r>
                <a:rPr lang="en">
                  <a:solidFill>
                    <a:srgbClr val="6AA84F"/>
                  </a:solidFill>
                  <a:latin typeface="Roboto"/>
                  <a:ea typeface="Roboto"/>
                  <a:cs typeface="Roboto"/>
                  <a:sym typeface="Roboto"/>
                </a:rPr>
                <a:t>Sent and acked</a:t>
              </a:r>
              <a:endParaRPr>
                <a:solidFill>
                  <a:srgbClr val="6AA84F"/>
                </a:solidFill>
                <a:latin typeface="Roboto"/>
                <a:ea typeface="Roboto"/>
                <a:cs typeface="Roboto"/>
                <a:sym typeface="Roboto"/>
              </a:endParaRPr>
            </a:p>
          </p:txBody>
        </p:sp>
      </p:grpSp>
      <p:sp>
        <p:nvSpPr>
          <p:cNvPr id="1089" name="Google Shape;1089;p47"/>
          <p:cNvSpPr/>
          <p:nvPr/>
        </p:nvSpPr>
        <p:spPr>
          <a:xfrm rot="5400000">
            <a:off x="10626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4</a:t>
            </a:r>
            <a:endParaRPr sz="1000">
              <a:latin typeface="Roboto"/>
              <a:ea typeface="Roboto"/>
              <a:cs typeface="Roboto"/>
              <a:sym typeface="Roboto"/>
            </a:endParaRPr>
          </a:p>
        </p:txBody>
      </p:sp>
      <p:sp>
        <p:nvSpPr>
          <p:cNvPr id="1090" name="Google Shape;1090;p47"/>
          <p:cNvSpPr/>
          <p:nvPr/>
        </p:nvSpPr>
        <p:spPr>
          <a:xfrm rot="5400000">
            <a:off x="12375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5</a:t>
            </a:r>
            <a:endParaRPr sz="1000">
              <a:latin typeface="Roboto"/>
              <a:ea typeface="Roboto"/>
              <a:cs typeface="Roboto"/>
              <a:sym typeface="Roboto"/>
            </a:endParaRPr>
          </a:p>
        </p:txBody>
      </p:sp>
      <p:sp>
        <p:nvSpPr>
          <p:cNvPr id="1091" name="Google Shape;1091;p47"/>
          <p:cNvSpPr/>
          <p:nvPr/>
        </p:nvSpPr>
        <p:spPr>
          <a:xfrm rot="5400000">
            <a:off x="14124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6</a:t>
            </a:r>
            <a:endParaRPr sz="1000">
              <a:latin typeface="Roboto"/>
              <a:ea typeface="Roboto"/>
              <a:cs typeface="Roboto"/>
              <a:sym typeface="Roboto"/>
            </a:endParaRPr>
          </a:p>
        </p:txBody>
      </p:sp>
      <p:sp>
        <p:nvSpPr>
          <p:cNvPr id="1092" name="Google Shape;1092;p47"/>
          <p:cNvSpPr/>
          <p:nvPr/>
        </p:nvSpPr>
        <p:spPr>
          <a:xfrm rot="5400000">
            <a:off x="15873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7</a:t>
            </a:r>
            <a:endParaRPr sz="1000">
              <a:latin typeface="Roboto"/>
              <a:ea typeface="Roboto"/>
              <a:cs typeface="Roboto"/>
              <a:sym typeface="Roboto"/>
            </a:endParaRPr>
          </a:p>
        </p:txBody>
      </p:sp>
      <p:grpSp>
        <p:nvGrpSpPr>
          <p:cNvPr id="1093" name="Google Shape;1093;p47"/>
          <p:cNvGrpSpPr/>
          <p:nvPr/>
        </p:nvGrpSpPr>
        <p:grpSpPr>
          <a:xfrm>
            <a:off x="6058568" y="4486300"/>
            <a:ext cx="2274030" cy="261300"/>
            <a:chOff x="6058568" y="4486300"/>
            <a:chExt cx="2274030" cy="261300"/>
          </a:xfrm>
        </p:grpSpPr>
        <p:cxnSp>
          <p:nvCxnSpPr>
            <p:cNvPr id="1094" name="Google Shape;1094;p47"/>
            <p:cNvCxnSpPr/>
            <p:nvPr/>
          </p:nvCxnSpPr>
          <p:spPr>
            <a:xfrm>
              <a:off x="6058568" y="4616950"/>
              <a:ext cx="2274030" cy="0"/>
            </a:xfrm>
            <a:prstGeom prst="straightConnector1">
              <a:avLst/>
            </a:prstGeom>
            <a:noFill/>
            <a:ln cap="flat" cmpd="sng" w="9525">
              <a:solidFill>
                <a:srgbClr val="999999"/>
              </a:solidFill>
              <a:prstDash val="solid"/>
              <a:round/>
              <a:headEnd len="med" w="med" type="triangle"/>
              <a:tailEnd len="med" w="med" type="triangle"/>
            </a:ln>
          </p:spPr>
        </p:cxnSp>
        <p:sp>
          <p:nvSpPr>
            <p:cNvPr id="1095" name="Google Shape;1095;p47"/>
            <p:cNvSpPr txBox="1"/>
            <p:nvPr/>
          </p:nvSpPr>
          <p:spPr>
            <a:xfrm>
              <a:off x="6687397" y="4486300"/>
              <a:ext cx="1016100" cy="261300"/>
            </a:xfrm>
            <a:prstGeom prst="rect">
              <a:avLst/>
            </a:prstGeom>
            <a:solidFill>
              <a:srgbClr val="FFFFFF"/>
            </a:solidFill>
            <a:ln>
              <a:noFill/>
            </a:ln>
          </p:spPr>
          <p:txBody>
            <a:bodyPr anchorCtr="0" anchor="t" bIns="27425" lIns="27425" spcFirstLastPara="1" rIns="27425" wrap="square" tIns="27425">
              <a:noAutofit/>
            </a:bodyPr>
            <a:lstStyle/>
            <a:p>
              <a:pPr indent="0" lvl="0" marL="0" rtl="0" algn="ctr">
                <a:spcBef>
                  <a:spcPts val="0"/>
                </a:spcBef>
                <a:spcAft>
                  <a:spcPts val="0"/>
                </a:spcAft>
                <a:buNone/>
              </a:pPr>
              <a:r>
                <a:rPr lang="en">
                  <a:solidFill>
                    <a:srgbClr val="999999"/>
                  </a:solidFill>
                  <a:latin typeface="Roboto"/>
                  <a:ea typeface="Roboto"/>
                  <a:cs typeface="Roboto"/>
                  <a:sym typeface="Roboto"/>
                </a:rPr>
                <a:t>Not sent yet</a:t>
              </a:r>
              <a:endParaRPr>
                <a:solidFill>
                  <a:srgbClr val="999999"/>
                </a:solidFill>
                <a:latin typeface="Roboto"/>
                <a:ea typeface="Roboto"/>
                <a:cs typeface="Roboto"/>
                <a:sym typeface="Roboto"/>
              </a:endParaRPr>
            </a:p>
          </p:txBody>
        </p:sp>
      </p:grpSp>
      <p:grpSp>
        <p:nvGrpSpPr>
          <p:cNvPr id="1096" name="Google Shape;1096;p47"/>
          <p:cNvGrpSpPr/>
          <p:nvPr/>
        </p:nvGrpSpPr>
        <p:grpSpPr>
          <a:xfrm>
            <a:off x="3961443" y="4370050"/>
            <a:ext cx="2095500" cy="493800"/>
            <a:chOff x="3261268" y="4292900"/>
            <a:chExt cx="2095500" cy="493800"/>
          </a:xfrm>
        </p:grpSpPr>
        <p:cxnSp>
          <p:nvCxnSpPr>
            <p:cNvPr id="1097" name="Google Shape;1097;p47"/>
            <p:cNvCxnSpPr/>
            <p:nvPr/>
          </p:nvCxnSpPr>
          <p:spPr>
            <a:xfrm>
              <a:off x="3261268" y="4539800"/>
              <a:ext cx="2095500" cy="0"/>
            </a:xfrm>
            <a:prstGeom prst="straightConnector1">
              <a:avLst/>
            </a:prstGeom>
            <a:noFill/>
            <a:ln cap="flat" cmpd="sng" w="9525">
              <a:solidFill>
                <a:schemeClr val="accent2"/>
              </a:solidFill>
              <a:prstDash val="solid"/>
              <a:round/>
              <a:headEnd len="med" w="med" type="triangle"/>
              <a:tailEnd len="med" w="med" type="triangle"/>
            </a:ln>
          </p:spPr>
        </p:cxnSp>
        <p:sp>
          <p:nvSpPr>
            <p:cNvPr id="1098" name="Google Shape;1098;p47"/>
            <p:cNvSpPr txBox="1"/>
            <p:nvPr/>
          </p:nvSpPr>
          <p:spPr>
            <a:xfrm>
              <a:off x="3940850" y="4292900"/>
              <a:ext cx="736500" cy="493800"/>
            </a:xfrm>
            <a:prstGeom prst="rect">
              <a:avLst/>
            </a:prstGeom>
            <a:solidFill>
              <a:srgbClr val="FFFFFF"/>
            </a:solidFill>
            <a:ln>
              <a:noFill/>
            </a:ln>
          </p:spPr>
          <p:txBody>
            <a:bodyPr anchorCtr="0" anchor="t" bIns="27425" lIns="27425" spcFirstLastPara="1" rIns="27425" wrap="square" tIns="27425">
              <a:noAutofit/>
            </a:bodyPr>
            <a:lstStyle/>
            <a:p>
              <a:pPr indent="0" lvl="0" marL="0" rtl="0" algn="ctr">
                <a:spcBef>
                  <a:spcPts val="0"/>
                </a:spcBef>
                <a:spcAft>
                  <a:spcPts val="0"/>
                </a:spcAft>
                <a:buNone/>
              </a:pPr>
              <a:r>
                <a:rPr lang="en">
                  <a:solidFill>
                    <a:schemeClr val="accent2"/>
                  </a:solidFill>
                  <a:latin typeface="Roboto"/>
                  <a:ea typeface="Roboto"/>
                  <a:cs typeface="Roboto"/>
                  <a:sym typeface="Roboto"/>
                </a:rPr>
                <a:t>Window</a:t>
              </a:r>
              <a:endParaRPr>
                <a:solidFill>
                  <a:schemeClr val="accent2"/>
                </a:solidFill>
                <a:latin typeface="Roboto"/>
                <a:ea typeface="Roboto"/>
                <a:cs typeface="Roboto"/>
                <a:sym typeface="Roboto"/>
              </a:endParaRPr>
            </a:p>
            <a:p>
              <a:pPr indent="0" lvl="0" marL="0" rtl="0" algn="ctr">
                <a:spcBef>
                  <a:spcPts val="0"/>
                </a:spcBef>
                <a:spcAft>
                  <a:spcPts val="0"/>
                </a:spcAft>
                <a:buNone/>
              </a:pPr>
              <a:r>
                <a:rPr i="1" lang="en">
                  <a:solidFill>
                    <a:schemeClr val="accent2"/>
                  </a:solidFill>
                  <a:latin typeface="Roboto"/>
                  <a:ea typeface="Roboto"/>
                  <a:cs typeface="Roboto"/>
                  <a:sym typeface="Roboto"/>
                </a:rPr>
                <a:t>W</a:t>
              </a:r>
              <a:r>
                <a:rPr lang="en">
                  <a:solidFill>
                    <a:schemeClr val="accent2"/>
                  </a:solidFill>
                  <a:latin typeface="Roboto"/>
                  <a:ea typeface="Roboto"/>
                  <a:cs typeface="Roboto"/>
                  <a:sym typeface="Roboto"/>
                </a:rPr>
                <a:t> bytes</a:t>
              </a:r>
              <a:endParaRPr>
                <a:solidFill>
                  <a:schemeClr val="accent2"/>
                </a:solidFill>
                <a:latin typeface="Roboto"/>
                <a:ea typeface="Roboto"/>
                <a:cs typeface="Roboto"/>
                <a:sym typeface="Roboto"/>
              </a:endParaRPr>
            </a:p>
          </p:txBody>
        </p:sp>
      </p:grpSp>
      <p:cxnSp>
        <p:nvCxnSpPr>
          <p:cNvPr id="1099" name="Google Shape;1099;p47"/>
          <p:cNvCxnSpPr>
            <a:stCxn id="1059" idx="1"/>
            <a:endCxn id="1100" idx="2"/>
          </p:cNvCxnSpPr>
          <p:nvPr/>
        </p:nvCxnSpPr>
        <p:spPr>
          <a:xfrm rot="10800000">
            <a:off x="4047238" y="3393150"/>
            <a:ext cx="0" cy="221100"/>
          </a:xfrm>
          <a:prstGeom prst="straightConnector1">
            <a:avLst/>
          </a:prstGeom>
          <a:noFill/>
          <a:ln cap="flat" cmpd="sng" w="9525">
            <a:solidFill>
              <a:schemeClr val="accent2"/>
            </a:solidFill>
            <a:prstDash val="solid"/>
            <a:round/>
            <a:headEnd len="med" w="med" type="triangle"/>
            <a:tailEnd len="med" w="med" type="none"/>
          </a:ln>
        </p:spPr>
      </p:cxnSp>
      <p:sp>
        <p:nvSpPr>
          <p:cNvPr id="1100" name="Google Shape;1100;p47"/>
          <p:cNvSpPr txBox="1"/>
          <p:nvPr/>
        </p:nvSpPr>
        <p:spPr>
          <a:xfrm>
            <a:off x="3294700" y="3131722"/>
            <a:ext cx="1505100" cy="261300"/>
          </a:xfrm>
          <a:prstGeom prst="rect">
            <a:avLst/>
          </a:prstGeom>
          <a:noFill/>
          <a:ln>
            <a:noFill/>
          </a:ln>
        </p:spPr>
        <p:txBody>
          <a:bodyPr anchorCtr="0" anchor="t" bIns="27425" lIns="27425" spcFirstLastPara="1" rIns="27425" wrap="square" tIns="27425">
            <a:noAutofit/>
          </a:bodyPr>
          <a:lstStyle/>
          <a:p>
            <a:pPr indent="0" lvl="0" marL="0" rtl="0" algn="l">
              <a:spcBef>
                <a:spcPts val="0"/>
              </a:spcBef>
              <a:spcAft>
                <a:spcPts val="0"/>
              </a:spcAft>
              <a:buNone/>
            </a:pPr>
            <a:r>
              <a:rPr lang="en">
                <a:solidFill>
                  <a:schemeClr val="accent2"/>
                </a:solidFill>
                <a:latin typeface="Roboto"/>
                <a:ea typeface="Roboto"/>
                <a:cs typeface="Roboto"/>
                <a:sym typeface="Roboto"/>
              </a:rPr>
              <a:t>First unacked byte</a:t>
            </a:r>
            <a:endParaRPr>
              <a:solidFill>
                <a:schemeClr val="accent2"/>
              </a:solidFill>
              <a:latin typeface="Roboto"/>
              <a:ea typeface="Roboto"/>
              <a:cs typeface="Roboto"/>
              <a:sym typeface="Roboto"/>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4" name="Shape 1104"/>
        <p:cNvGrpSpPr/>
        <p:nvPr/>
      </p:nvGrpSpPr>
      <p:grpSpPr>
        <a:xfrm>
          <a:off x="0" y="0"/>
          <a:ext cx="0" cy="0"/>
          <a:chOff x="0" y="0"/>
          <a:chExt cx="0" cy="0"/>
        </a:xfrm>
      </p:grpSpPr>
      <p:sp>
        <p:nvSpPr>
          <p:cNvPr id="1105" name="Google Shape;1105;p48"/>
          <p:cNvSpPr/>
          <p:nvPr/>
        </p:nvSpPr>
        <p:spPr>
          <a:xfrm rot="5400000">
            <a:off x="7533988" y="3887850"/>
            <a:ext cx="722100" cy="174900"/>
          </a:xfrm>
          <a:prstGeom prst="rect">
            <a:avLst/>
          </a:prstGeom>
          <a:solidFill>
            <a:srgbClr val="D9D9D9"/>
          </a:solidFill>
          <a:ln cap="flat" cmpd="sng" w="9525">
            <a:solidFill>
              <a:srgbClr val="B7B7B7"/>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106" name="Google Shape;1106;p48"/>
          <p:cNvSpPr/>
          <p:nvPr/>
        </p:nvSpPr>
        <p:spPr>
          <a:xfrm rot="5400000">
            <a:off x="8877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a:t>
            </a:r>
            <a:endParaRPr sz="1000">
              <a:latin typeface="Roboto"/>
              <a:ea typeface="Roboto"/>
              <a:cs typeface="Roboto"/>
              <a:sym typeface="Roboto"/>
            </a:endParaRPr>
          </a:p>
        </p:txBody>
      </p:sp>
      <p:sp>
        <p:nvSpPr>
          <p:cNvPr id="1107" name="Google Shape;1107;p48"/>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TCP Sliding Window</a:t>
            </a:r>
            <a:endParaRPr/>
          </a:p>
        </p:txBody>
      </p:sp>
      <p:sp>
        <p:nvSpPr>
          <p:cNvPr id="1108" name="Google Shape;1108;p48"/>
          <p:cNvSpPr txBox="1"/>
          <p:nvPr>
            <p:ph idx="1" type="body"/>
          </p:nvPr>
        </p:nvSpPr>
        <p:spPr>
          <a:xfrm>
            <a:off x="107050" y="402200"/>
            <a:ext cx="8909700" cy="26730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When we measured in packets, </a:t>
            </a:r>
            <a:r>
              <a:rPr i="1" lang="en"/>
              <a:t>W</a:t>
            </a:r>
            <a:r>
              <a:rPr lang="en"/>
              <a:t> was the maximum number of packets in flight.</a:t>
            </a:r>
            <a:endParaRPr/>
          </a:p>
          <a:p>
            <a:pPr indent="0" lvl="0" marL="0" rtl="0" algn="l">
              <a:spcBef>
                <a:spcPts val="600"/>
              </a:spcBef>
              <a:spcAft>
                <a:spcPts val="0"/>
              </a:spcAft>
              <a:buNone/>
            </a:pPr>
            <a:r>
              <a:rPr lang="en"/>
              <a:t>When we measure in bytes, </a:t>
            </a:r>
            <a:r>
              <a:rPr i="1" lang="en"/>
              <a:t>W</a:t>
            </a:r>
            <a:r>
              <a:rPr lang="en"/>
              <a:t> is the maximum number of </a:t>
            </a:r>
            <a:r>
              <a:rPr i="1" lang="en"/>
              <a:t>contiguous</a:t>
            </a:r>
            <a:r>
              <a:rPr lang="en"/>
              <a:t> bytes in flight.</a:t>
            </a:r>
            <a:endParaRPr/>
          </a:p>
          <a:p>
            <a:pPr indent="-342900" lvl="0" marL="457200" rtl="0" algn="l">
              <a:spcBef>
                <a:spcPts val="600"/>
              </a:spcBef>
              <a:spcAft>
                <a:spcPts val="0"/>
              </a:spcAft>
              <a:buSzPts val="1800"/>
              <a:buChar char="●"/>
            </a:pPr>
            <a:r>
              <a:rPr lang="en"/>
              <a:t>The window is a range of </a:t>
            </a:r>
            <a:r>
              <a:rPr i="1" lang="en"/>
              <a:t>W</a:t>
            </a:r>
            <a:r>
              <a:rPr lang="en"/>
              <a:t> contiguous bytes, starting at the first unacked byte.</a:t>
            </a:r>
            <a:endParaRPr/>
          </a:p>
          <a:p>
            <a:pPr indent="-342900" lvl="0" marL="457200" rtl="0" algn="l">
              <a:spcBef>
                <a:spcPts val="0"/>
              </a:spcBef>
              <a:spcAft>
                <a:spcPts val="0"/>
              </a:spcAft>
              <a:buSzPts val="1800"/>
              <a:buChar char="●"/>
            </a:pPr>
            <a:r>
              <a:rPr lang="en"/>
              <a:t>Only these </a:t>
            </a:r>
            <a:r>
              <a:rPr i="1" lang="en"/>
              <a:t>W</a:t>
            </a:r>
            <a:r>
              <a:rPr lang="en"/>
              <a:t> bytes are allowed to be in flight.</a:t>
            </a:r>
            <a:endParaRPr/>
          </a:p>
          <a:p>
            <a:pPr indent="0" lvl="0" marL="0" rtl="0" algn="l">
              <a:spcBef>
                <a:spcPts val="600"/>
              </a:spcBef>
              <a:spcAft>
                <a:spcPts val="0"/>
              </a:spcAft>
              <a:buNone/>
            </a:pPr>
            <a:r>
              <a:rPr lang="en"/>
              <a:t>The window slides right if and only if its </a:t>
            </a:r>
            <a:r>
              <a:rPr i="1" lang="en"/>
              <a:t>leftmost</a:t>
            </a:r>
            <a:r>
              <a:rPr lang="en"/>
              <a:t> bytes are acked.</a:t>
            </a:r>
            <a:endParaRPr/>
          </a:p>
          <a:p>
            <a:pPr indent="-342900" lvl="0" marL="457200" rtl="0" algn="l">
              <a:spcBef>
                <a:spcPts val="600"/>
              </a:spcBef>
              <a:spcAft>
                <a:spcPts val="0"/>
              </a:spcAft>
              <a:buSzPts val="1800"/>
              <a:buChar char="●"/>
            </a:pPr>
            <a:r>
              <a:rPr lang="en"/>
              <a:t>Acking non-leftmost bytes in the window </a:t>
            </a:r>
            <a:r>
              <a:rPr lang="en"/>
              <a:t>(e.g. 19–22) </a:t>
            </a:r>
            <a:r>
              <a:rPr lang="en"/>
              <a:t>does not slide the window.</a:t>
            </a:r>
            <a:endParaRPr/>
          </a:p>
          <a:p>
            <a:pPr indent="-342900" lvl="0" marL="457200" rtl="0" algn="l">
              <a:spcBef>
                <a:spcPts val="0"/>
              </a:spcBef>
              <a:spcAft>
                <a:spcPts val="0"/>
              </a:spcAft>
              <a:buSzPts val="1800"/>
              <a:buChar char="●"/>
            </a:pPr>
            <a:r>
              <a:rPr lang="en"/>
              <a:t>The window is determined by the first unacked byte (e.g. still 15).</a:t>
            </a:r>
            <a:endParaRPr baseline="30000"/>
          </a:p>
        </p:txBody>
      </p:sp>
      <p:sp>
        <p:nvSpPr>
          <p:cNvPr id="1109" name="Google Shape;1109;p48"/>
          <p:cNvSpPr/>
          <p:nvPr/>
        </p:nvSpPr>
        <p:spPr>
          <a:xfrm rot="5400000">
            <a:off x="17622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8</a:t>
            </a:r>
            <a:endParaRPr sz="1000">
              <a:latin typeface="Roboto"/>
              <a:ea typeface="Roboto"/>
              <a:cs typeface="Roboto"/>
              <a:sym typeface="Roboto"/>
            </a:endParaRPr>
          </a:p>
        </p:txBody>
      </p:sp>
      <p:sp>
        <p:nvSpPr>
          <p:cNvPr id="1110" name="Google Shape;1110;p48"/>
          <p:cNvSpPr/>
          <p:nvPr/>
        </p:nvSpPr>
        <p:spPr>
          <a:xfrm rot="5400000">
            <a:off x="19371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9</a:t>
            </a:r>
            <a:endParaRPr sz="1000">
              <a:latin typeface="Roboto"/>
              <a:ea typeface="Roboto"/>
              <a:cs typeface="Roboto"/>
              <a:sym typeface="Roboto"/>
            </a:endParaRPr>
          </a:p>
        </p:txBody>
      </p:sp>
      <p:sp>
        <p:nvSpPr>
          <p:cNvPr id="1111" name="Google Shape;1111;p48"/>
          <p:cNvSpPr/>
          <p:nvPr/>
        </p:nvSpPr>
        <p:spPr>
          <a:xfrm rot="5400000">
            <a:off x="21120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10</a:t>
            </a:r>
            <a:endParaRPr sz="1000">
              <a:latin typeface="Roboto"/>
              <a:ea typeface="Roboto"/>
              <a:cs typeface="Roboto"/>
              <a:sym typeface="Roboto"/>
            </a:endParaRPr>
          </a:p>
        </p:txBody>
      </p:sp>
      <p:sp>
        <p:nvSpPr>
          <p:cNvPr id="1112" name="Google Shape;1112;p48"/>
          <p:cNvSpPr/>
          <p:nvPr/>
        </p:nvSpPr>
        <p:spPr>
          <a:xfrm rot="5400000">
            <a:off x="22869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11</a:t>
            </a:r>
            <a:endParaRPr sz="1000">
              <a:latin typeface="Roboto"/>
              <a:ea typeface="Roboto"/>
              <a:cs typeface="Roboto"/>
              <a:sym typeface="Roboto"/>
            </a:endParaRPr>
          </a:p>
        </p:txBody>
      </p:sp>
      <p:sp>
        <p:nvSpPr>
          <p:cNvPr id="1113" name="Google Shape;1113;p48"/>
          <p:cNvSpPr/>
          <p:nvPr/>
        </p:nvSpPr>
        <p:spPr>
          <a:xfrm rot="5400000">
            <a:off x="24618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12</a:t>
            </a:r>
            <a:endParaRPr sz="1000">
              <a:latin typeface="Roboto"/>
              <a:ea typeface="Roboto"/>
              <a:cs typeface="Roboto"/>
              <a:sym typeface="Roboto"/>
            </a:endParaRPr>
          </a:p>
        </p:txBody>
      </p:sp>
      <p:sp>
        <p:nvSpPr>
          <p:cNvPr id="1114" name="Google Shape;1114;p48"/>
          <p:cNvSpPr/>
          <p:nvPr/>
        </p:nvSpPr>
        <p:spPr>
          <a:xfrm rot="5400000">
            <a:off x="26367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13</a:t>
            </a:r>
            <a:endParaRPr sz="1000">
              <a:latin typeface="Roboto"/>
              <a:ea typeface="Roboto"/>
              <a:cs typeface="Roboto"/>
              <a:sym typeface="Roboto"/>
            </a:endParaRPr>
          </a:p>
        </p:txBody>
      </p:sp>
      <p:sp>
        <p:nvSpPr>
          <p:cNvPr id="1115" name="Google Shape;1115;p48"/>
          <p:cNvSpPr/>
          <p:nvPr/>
        </p:nvSpPr>
        <p:spPr>
          <a:xfrm rot="5400000">
            <a:off x="28116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14</a:t>
            </a:r>
            <a:endParaRPr sz="1000">
              <a:latin typeface="Roboto"/>
              <a:ea typeface="Roboto"/>
              <a:cs typeface="Roboto"/>
              <a:sym typeface="Roboto"/>
            </a:endParaRPr>
          </a:p>
        </p:txBody>
      </p:sp>
      <p:sp>
        <p:nvSpPr>
          <p:cNvPr id="1116" name="Google Shape;1116;p48"/>
          <p:cNvSpPr/>
          <p:nvPr/>
        </p:nvSpPr>
        <p:spPr>
          <a:xfrm rot="5400000">
            <a:off x="29865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15</a:t>
            </a:r>
            <a:endParaRPr sz="1000">
              <a:latin typeface="Roboto"/>
              <a:ea typeface="Roboto"/>
              <a:cs typeface="Roboto"/>
              <a:sym typeface="Roboto"/>
            </a:endParaRPr>
          </a:p>
        </p:txBody>
      </p:sp>
      <p:sp>
        <p:nvSpPr>
          <p:cNvPr id="1117" name="Google Shape;1117;p48"/>
          <p:cNvSpPr/>
          <p:nvPr/>
        </p:nvSpPr>
        <p:spPr>
          <a:xfrm rot="5400000">
            <a:off x="31614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16</a:t>
            </a:r>
            <a:endParaRPr sz="1000">
              <a:latin typeface="Roboto"/>
              <a:ea typeface="Roboto"/>
              <a:cs typeface="Roboto"/>
              <a:sym typeface="Roboto"/>
            </a:endParaRPr>
          </a:p>
        </p:txBody>
      </p:sp>
      <p:sp>
        <p:nvSpPr>
          <p:cNvPr id="1118" name="Google Shape;1118;p48"/>
          <p:cNvSpPr/>
          <p:nvPr/>
        </p:nvSpPr>
        <p:spPr>
          <a:xfrm rot="5400000">
            <a:off x="33363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17</a:t>
            </a:r>
            <a:endParaRPr sz="1000">
              <a:latin typeface="Roboto"/>
              <a:ea typeface="Roboto"/>
              <a:cs typeface="Roboto"/>
              <a:sym typeface="Roboto"/>
            </a:endParaRPr>
          </a:p>
        </p:txBody>
      </p:sp>
      <p:sp>
        <p:nvSpPr>
          <p:cNvPr id="1119" name="Google Shape;1119;p48"/>
          <p:cNvSpPr/>
          <p:nvPr/>
        </p:nvSpPr>
        <p:spPr>
          <a:xfrm rot="5400000">
            <a:off x="35112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18</a:t>
            </a:r>
            <a:endParaRPr sz="1000">
              <a:latin typeface="Roboto"/>
              <a:ea typeface="Roboto"/>
              <a:cs typeface="Roboto"/>
              <a:sym typeface="Roboto"/>
            </a:endParaRPr>
          </a:p>
        </p:txBody>
      </p:sp>
      <p:sp>
        <p:nvSpPr>
          <p:cNvPr id="1120" name="Google Shape;1120;p48"/>
          <p:cNvSpPr/>
          <p:nvPr/>
        </p:nvSpPr>
        <p:spPr>
          <a:xfrm rot="5400000">
            <a:off x="3686188" y="3887850"/>
            <a:ext cx="722100" cy="174900"/>
          </a:xfrm>
          <a:prstGeom prst="rect">
            <a:avLst/>
          </a:prstGeom>
          <a:solidFill>
            <a:srgbClr val="B6D7A8"/>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19</a:t>
            </a:r>
            <a:endParaRPr sz="1000">
              <a:latin typeface="Roboto"/>
              <a:ea typeface="Roboto"/>
              <a:cs typeface="Roboto"/>
              <a:sym typeface="Roboto"/>
            </a:endParaRPr>
          </a:p>
        </p:txBody>
      </p:sp>
      <p:sp>
        <p:nvSpPr>
          <p:cNvPr id="1121" name="Google Shape;1121;p48"/>
          <p:cNvSpPr/>
          <p:nvPr/>
        </p:nvSpPr>
        <p:spPr>
          <a:xfrm rot="5400000">
            <a:off x="3861088" y="3887850"/>
            <a:ext cx="722100" cy="174900"/>
          </a:xfrm>
          <a:prstGeom prst="rect">
            <a:avLst/>
          </a:prstGeom>
          <a:solidFill>
            <a:srgbClr val="B6D7A8"/>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20</a:t>
            </a:r>
            <a:endParaRPr sz="1000">
              <a:latin typeface="Roboto"/>
              <a:ea typeface="Roboto"/>
              <a:cs typeface="Roboto"/>
              <a:sym typeface="Roboto"/>
            </a:endParaRPr>
          </a:p>
        </p:txBody>
      </p:sp>
      <p:sp>
        <p:nvSpPr>
          <p:cNvPr id="1122" name="Google Shape;1122;p48"/>
          <p:cNvSpPr/>
          <p:nvPr/>
        </p:nvSpPr>
        <p:spPr>
          <a:xfrm rot="5400000">
            <a:off x="4035988" y="3887850"/>
            <a:ext cx="722100" cy="174900"/>
          </a:xfrm>
          <a:prstGeom prst="rect">
            <a:avLst/>
          </a:prstGeom>
          <a:solidFill>
            <a:srgbClr val="B6D7A8"/>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21</a:t>
            </a:r>
            <a:endParaRPr sz="1000">
              <a:latin typeface="Roboto"/>
              <a:ea typeface="Roboto"/>
              <a:cs typeface="Roboto"/>
              <a:sym typeface="Roboto"/>
            </a:endParaRPr>
          </a:p>
        </p:txBody>
      </p:sp>
      <p:sp>
        <p:nvSpPr>
          <p:cNvPr id="1123" name="Google Shape;1123;p48"/>
          <p:cNvSpPr/>
          <p:nvPr/>
        </p:nvSpPr>
        <p:spPr>
          <a:xfrm rot="5400000">
            <a:off x="4210888" y="3887850"/>
            <a:ext cx="722100" cy="174900"/>
          </a:xfrm>
          <a:prstGeom prst="rect">
            <a:avLst/>
          </a:prstGeom>
          <a:solidFill>
            <a:srgbClr val="B6D7A8"/>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22</a:t>
            </a:r>
            <a:endParaRPr sz="1000">
              <a:latin typeface="Roboto"/>
              <a:ea typeface="Roboto"/>
              <a:cs typeface="Roboto"/>
              <a:sym typeface="Roboto"/>
            </a:endParaRPr>
          </a:p>
        </p:txBody>
      </p:sp>
      <p:sp>
        <p:nvSpPr>
          <p:cNvPr id="1124" name="Google Shape;1124;p48"/>
          <p:cNvSpPr/>
          <p:nvPr/>
        </p:nvSpPr>
        <p:spPr>
          <a:xfrm rot="5400000">
            <a:off x="43857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23</a:t>
            </a:r>
            <a:endParaRPr sz="1000">
              <a:latin typeface="Roboto"/>
              <a:ea typeface="Roboto"/>
              <a:cs typeface="Roboto"/>
              <a:sym typeface="Roboto"/>
            </a:endParaRPr>
          </a:p>
        </p:txBody>
      </p:sp>
      <p:sp>
        <p:nvSpPr>
          <p:cNvPr id="1125" name="Google Shape;1125;p48"/>
          <p:cNvSpPr/>
          <p:nvPr/>
        </p:nvSpPr>
        <p:spPr>
          <a:xfrm rot="5400000">
            <a:off x="45606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24</a:t>
            </a:r>
            <a:endParaRPr sz="1000">
              <a:latin typeface="Roboto"/>
              <a:ea typeface="Roboto"/>
              <a:cs typeface="Roboto"/>
              <a:sym typeface="Roboto"/>
            </a:endParaRPr>
          </a:p>
        </p:txBody>
      </p:sp>
      <p:sp>
        <p:nvSpPr>
          <p:cNvPr id="1126" name="Google Shape;1126;p48"/>
          <p:cNvSpPr/>
          <p:nvPr/>
        </p:nvSpPr>
        <p:spPr>
          <a:xfrm rot="5400000">
            <a:off x="47355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25</a:t>
            </a:r>
            <a:endParaRPr sz="1000">
              <a:latin typeface="Roboto"/>
              <a:ea typeface="Roboto"/>
              <a:cs typeface="Roboto"/>
              <a:sym typeface="Roboto"/>
            </a:endParaRPr>
          </a:p>
        </p:txBody>
      </p:sp>
      <p:sp>
        <p:nvSpPr>
          <p:cNvPr id="1127" name="Google Shape;1127;p48"/>
          <p:cNvSpPr/>
          <p:nvPr/>
        </p:nvSpPr>
        <p:spPr>
          <a:xfrm rot="5400000">
            <a:off x="49104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26</a:t>
            </a:r>
            <a:endParaRPr sz="1000">
              <a:latin typeface="Roboto"/>
              <a:ea typeface="Roboto"/>
              <a:cs typeface="Roboto"/>
              <a:sym typeface="Roboto"/>
            </a:endParaRPr>
          </a:p>
        </p:txBody>
      </p:sp>
      <p:sp>
        <p:nvSpPr>
          <p:cNvPr id="1128" name="Google Shape;1128;p48"/>
          <p:cNvSpPr/>
          <p:nvPr/>
        </p:nvSpPr>
        <p:spPr>
          <a:xfrm rot="5400000">
            <a:off x="50853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27</a:t>
            </a:r>
            <a:endParaRPr sz="1000">
              <a:latin typeface="Roboto"/>
              <a:ea typeface="Roboto"/>
              <a:cs typeface="Roboto"/>
              <a:sym typeface="Roboto"/>
            </a:endParaRPr>
          </a:p>
        </p:txBody>
      </p:sp>
      <p:sp>
        <p:nvSpPr>
          <p:cNvPr id="1129" name="Google Shape;1129;p48"/>
          <p:cNvSpPr/>
          <p:nvPr/>
        </p:nvSpPr>
        <p:spPr>
          <a:xfrm rot="5400000">
            <a:off x="52602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28</a:t>
            </a:r>
            <a:endParaRPr sz="1000">
              <a:latin typeface="Roboto"/>
              <a:ea typeface="Roboto"/>
              <a:cs typeface="Roboto"/>
              <a:sym typeface="Roboto"/>
            </a:endParaRPr>
          </a:p>
        </p:txBody>
      </p:sp>
      <p:sp>
        <p:nvSpPr>
          <p:cNvPr id="1130" name="Google Shape;1130;p48"/>
          <p:cNvSpPr/>
          <p:nvPr/>
        </p:nvSpPr>
        <p:spPr>
          <a:xfrm rot="5400000">
            <a:off x="54351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29</a:t>
            </a:r>
            <a:endParaRPr sz="1000">
              <a:latin typeface="Roboto"/>
              <a:ea typeface="Roboto"/>
              <a:cs typeface="Roboto"/>
              <a:sym typeface="Roboto"/>
            </a:endParaRPr>
          </a:p>
        </p:txBody>
      </p:sp>
      <p:sp>
        <p:nvSpPr>
          <p:cNvPr id="1131" name="Google Shape;1131;p48"/>
          <p:cNvSpPr/>
          <p:nvPr/>
        </p:nvSpPr>
        <p:spPr>
          <a:xfrm rot="5400000">
            <a:off x="56100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30</a:t>
            </a:r>
            <a:endParaRPr sz="1000">
              <a:latin typeface="Roboto"/>
              <a:ea typeface="Roboto"/>
              <a:cs typeface="Roboto"/>
              <a:sym typeface="Roboto"/>
            </a:endParaRPr>
          </a:p>
        </p:txBody>
      </p:sp>
      <p:sp>
        <p:nvSpPr>
          <p:cNvPr id="1132" name="Google Shape;1132;p48"/>
          <p:cNvSpPr/>
          <p:nvPr/>
        </p:nvSpPr>
        <p:spPr>
          <a:xfrm rot="5400000">
            <a:off x="57849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31</a:t>
            </a:r>
            <a:endParaRPr sz="1000">
              <a:latin typeface="Roboto"/>
              <a:ea typeface="Roboto"/>
              <a:cs typeface="Roboto"/>
              <a:sym typeface="Roboto"/>
            </a:endParaRPr>
          </a:p>
        </p:txBody>
      </p:sp>
      <p:sp>
        <p:nvSpPr>
          <p:cNvPr id="1133" name="Google Shape;1133;p48"/>
          <p:cNvSpPr/>
          <p:nvPr/>
        </p:nvSpPr>
        <p:spPr>
          <a:xfrm rot="5400000">
            <a:off x="59598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32</a:t>
            </a:r>
            <a:endParaRPr sz="1000">
              <a:latin typeface="Roboto"/>
              <a:ea typeface="Roboto"/>
              <a:cs typeface="Roboto"/>
              <a:sym typeface="Roboto"/>
            </a:endParaRPr>
          </a:p>
        </p:txBody>
      </p:sp>
      <p:sp>
        <p:nvSpPr>
          <p:cNvPr id="1134" name="Google Shape;1134;p48"/>
          <p:cNvSpPr/>
          <p:nvPr/>
        </p:nvSpPr>
        <p:spPr>
          <a:xfrm rot="5400000">
            <a:off x="61347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33</a:t>
            </a:r>
            <a:endParaRPr sz="1000">
              <a:latin typeface="Roboto"/>
              <a:ea typeface="Roboto"/>
              <a:cs typeface="Roboto"/>
              <a:sym typeface="Roboto"/>
            </a:endParaRPr>
          </a:p>
        </p:txBody>
      </p:sp>
      <p:sp>
        <p:nvSpPr>
          <p:cNvPr id="1135" name="Google Shape;1135;p48"/>
          <p:cNvSpPr/>
          <p:nvPr/>
        </p:nvSpPr>
        <p:spPr>
          <a:xfrm rot="5400000">
            <a:off x="63096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34</a:t>
            </a:r>
            <a:endParaRPr sz="1000">
              <a:latin typeface="Roboto"/>
              <a:ea typeface="Roboto"/>
              <a:cs typeface="Roboto"/>
              <a:sym typeface="Roboto"/>
            </a:endParaRPr>
          </a:p>
        </p:txBody>
      </p:sp>
      <p:sp>
        <p:nvSpPr>
          <p:cNvPr id="1136" name="Google Shape;1136;p48"/>
          <p:cNvSpPr/>
          <p:nvPr/>
        </p:nvSpPr>
        <p:spPr>
          <a:xfrm rot="5400000">
            <a:off x="64845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35</a:t>
            </a:r>
            <a:endParaRPr sz="1000">
              <a:latin typeface="Roboto"/>
              <a:ea typeface="Roboto"/>
              <a:cs typeface="Roboto"/>
              <a:sym typeface="Roboto"/>
            </a:endParaRPr>
          </a:p>
        </p:txBody>
      </p:sp>
      <p:sp>
        <p:nvSpPr>
          <p:cNvPr id="1137" name="Google Shape;1137;p48"/>
          <p:cNvSpPr/>
          <p:nvPr/>
        </p:nvSpPr>
        <p:spPr>
          <a:xfrm rot="5400000">
            <a:off x="66594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36</a:t>
            </a:r>
            <a:endParaRPr sz="1000">
              <a:latin typeface="Roboto"/>
              <a:ea typeface="Roboto"/>
              <a:cs typeface="Roboto"/>
              <a:sym typeface="Roboto"/>
            </a:endParaRPr>
          </a:p>
        </p:txBody>
      </p:sp>
      <p:sp>
        <p:nvSpPr>
          <p:cNvPr id="1138" name="Google Shape;1138;p48"/>
          <p:cNvSpPr/>
          <p:nvPr/>
        </p:nvSpPr>
        <p:spPr>
          <a:xfrm rot="5400000">
            <a:off x="68343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37</a:t>
            </a:r>
            <a:endParaRPr sz="1000">
              <a:latin typeface="Roboto"/>
              <a:ea typeface="Roboto"/>
              <a:cs typeface="Roboto"/>
              <a:sym typeface="Roboto"/>
            </a:endParaRPr>
          </a:p>
        </p:txBody>
      </p:sp>
      <p:sp>
        <p:nvSpPr>
          <p:cNvPr id="1139" name="Google Shape;1139;p48"/>
          <p:cNvSpPr/>
          <p:nvPr/>
        </p:nvSpPr>
        <p:spPr>
          <a:xfrm rot="5400000">
            <a:off x="70092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38</a:t>
            </a:r>
            <a:endParaRPr sz="1000">
              <a:latin typeface="Roboto"/>
              <a:ea typeface="Roboto"/>
              <a:cs typeface="Roboto"/>
              <a:sym typeface="Roboto"/>
            </a:endParaRPr>
          </a:p>
        </p:txBody>
      </p:sp>
      <p:sp>
        <p:nvSpPr>
          <p:cNvPr id="1140" name="Google Shape;1140;p48"/>
          <p:cNvSpPr/>
          <p:nvPr/>
        </p:nvSpPr>
        <p:spPr>
          <a:xfrm rot="5400000">
            <a:off x="71841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39</a:t>
            </a:r>
            <a:endParaRPr sz="1000">
              <a:latin typeface="Roboto"/>
              <a:ea typeface="Roboto"/>
              <a:cs typeface="Roboto"/>
              <a:sym typeface="Roboto"/>
            </a:endParaRPr>
          </a:p>
        </p:txBody>
      </p:sp>
      <p:sp>
        <p:nvSpPr>
          <p:cNvPr id="1141" name="Google Shape;1141;p48"/>
          <p:cNvSpPr/>
          <p:nvPr/>
        </p:nvSpPr>
        <p:spPr>
          <a:xfrm rot="5400000">
            <a:off x="73590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40</a:t>
            </a:r>
            <a:endParaRPr sz="1000">
              <a:latin typeface="Roboto"/>
              <a:ea typeface="Roboto"/>
              <a:cs typeface="Roboto"/>
              <a:sym typeface="Roboto"/>
            </a:endParaRPr>
          </a:p>
        </p:txBody>
      </p:sp>
      <p:sp>
        <p:nvSpPr>
          <p:cNvPr id="1142" name="Google Shape;1142;p48"/>
          <p:cNvSpPr/>
          <p:nvPr/>
        </p:nvSpPr>
        <p:spPr>
          <a:xfrm rot="5400000">
            <a:off x="7708888" y="3887850"/>
            <a:ext cx="722100" cy="174900"/>
          </a:xfrm>
          <a:prstGeom prst="rect">
            <a:avLst/>
          </a:prstGeom>
          <a:solidFill>
            <a:srgbClr val="D9D9D9"/>
          </a:solidFill>
          <a:ln cap="flat" cmpd="sng" w="9525">
            <a:solidFill>
              <a:srgbClr val="B7B7B7"/>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143" name="Google Shape;1143;p48"/>
          <p:cNvSpPr/>
          <p:nvPr/>
        </p:nvSpPr>
        <p:spPr>
          <a:xfrm rot="5400000">
            <a:off x="7883788" y="3887850"/>
            <a:ext cx="722100" cy="174900"/>
          </a:xfrm>
          <a:prstGeom prst="rect">
            <a:avLst/>
          </a:prstGeom>
          <a:solidFill>
            <a:srgbClr val="D9D9D9"/>
          </a:solidFill>
          <a:ln cap="flat" cmpd="sng" w="9525">
            <a:solidFill>
              <a:srgbClr val="B7B7B7"/>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144" name="Google Shape;1144;p48"/>
          <p:cNvSpPr/>
          <p:nvPr/>
        </p:nvSpPr>
        <p:spPr>
          <a:xfrm rot="5400000">
            <a:off x="5379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a:t>
            </a:r>
            <a:endParaRPr sz="1000">
              <a:latin typeface="Roboto"/>
              <a:ea typeface="Roboto"/>
              <a:cs typeface="Roboto"/>
              <a:sym typeface="Roboto"/>
            </a:endParaRPr>
          </a:p>
        </p:txBody>
      </p:sp>
      <p:sp>
        <p:nvSpPr>
          <p:cNvPr id="1145" name="Google Shape;1145;p48"/>
          <p:cNvSpPr/>
          <p:nvPr/>
        </p:nvSpPr>
        <p:spPr>
          <a:xfrm rot="5400000">
            <a:off x="7128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a:t>
            </a:r>
            <a:endParaRPr sz="1000">
              <a:latin typeface="Roboto"/>
              <a:ea typeface="Roboto"/>
              <a:cs typeface="Roboto"/>
              <a:sym typeface="Roboto"/>
            </a:endParaRPr>
          </a:p>
        </p:txBody>
      </p:sp>
      <p:sp>
        <p:nvSpPr>
          <p:cNvPr id="1146" name="Google Shape;1146;p48"/>
          <p:cNvSpPr/>
          <p:nvPr/>
        </p:nvSpPr>
        <p:spPr>
          <a:xfrm rot="5400000">
            <a:off x="3948538" y="2927550"/>
            <a:ext cx="722100" cy="2095500"/>
          </a:xfrm>
          <a:prstGeom prst="rect">
            <a:avLst/>
          </a:prstGeom>
          <a:noFill/>
          <a:ln cap="flat" cmpd="sng" w="285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000">
              <a:latin typeface="Roboto"/>
              <a:ea typeface="Roboto"/>
              <a:cs typeface="Roboto"/>
              <a:sym typeface="Roboto"/>
            </a:endParaRPr>
          </a:p>
        </p:txBody>
      </p:sp>
      <p:grpSp>
        <p:nvGrpSpPr>
          <p:cNvPr id="1147" name="Google Shape;1147;p48"/>
          <p:cNvGrpSpPr/>
          <p:nvPr/>
        </p:nvGrpSpPr>
        <p:grpSpPr>
          <a:xfrm>
            <a:off x="811588" y="4486300"/>
            <a:ext cx="2393100" cy="261300"/>
            <a:chOff x="451750" y="1912600"/>
            <a:chExt cx="2393100" cy="261300"/>
          </a:xfrm>
        </p:grpSpPr>
        <p:cxnSp>
          <p:nvCxnSpPr>
            <p:cNvPr id="1148" name="Google Shape;1148;p48"/>
            <p:cNvCxnSpPr/>
            <p:nvPr/>
          </p:nvCxnSpPr>
          <p:spPr>
            <a:xfrm>
              <a:off x="451750" y="2043250"/>
              <a:ext cx="2393100" cy="0"/>
            </a:xfrm>
            <a:prstGeom prst="straightConnector1">
              <a:avLst/>
            </a:prstGeom>
            <a:noFill/>
            <a:ln cap="flat" cmpd="sng" w="9525">
              <a:solidFill>
                <a:srgbClr val="6AA84F"/>
              </a:solidFill>
              <a:prstDash val="solid"/>
              <a:round/>
              <a:headEnd len="med" w="med" type="triangle"/>
              <a:tailEnd len="med" w="med" type="triangle"/>
            </a:ln>
          </p:spPr>
        </p:cxnSp>
        <p:sp>
          <p:nvSpPr>
            <p:cNvPr id="1149" name="Google Shape;1149;p48"/>
            <p:cNvSpPr txBox="1"/>
            <p:nvPr/>
          </p:nvSpPr>
          <p:spPr>
            <a:xfrm>
              <a:off x="1007800" y="1912600"/>
              <a:ext cx="1281000" cy="261300"/>
            </a:xfrm>
            <a:prstGeom prst="rect">
              <a:avLst/>
            </a:prstGeom>
            <a:solidFill>
              <a:srgbClr val="FFFFFF"/>
            </a:solidFill>
            <a:ln>
              <a:noFill/>
            </a:ln>
          </p:spPr>
          <p:txBody>
            <a:bodyPr anchorCtr="0" anchor="t" bIns="27425" lIns="27425" spcFirstLastPara="1" rIns="27425" wrap="square" tIns="27425">
              <a:noAutofit/>
            </a:bodyPr>
            <a:lstStyle/>
            <a:p>
              <a:pPr indent="0" lvl="0" marL="0" rtl="0" algn="ctr">
                <a:spcBef>
                  <a:spcPts val="0"/>
                </a:spcBef>
                <a:spcAft>
                  <a:spcPts val="0"/>
                </a:spcAft>
                <a:buNone/>
              </a:pPr>
              <a:r>
                <a:rPr lang="en">
                  <a:solidFill>
                    <a:srgbClr val="6AA84F"/>
                  </a:solidFill>
                  <a:latin typeface="Roboto"/>
                  <a:ea typeface="Roboto"/>
                  <a:cs typeface="Roboto"/>
                  <a:sym typeface="Roboto"/>
                </a:rPr>
                <a:t>Sent and acked</a:t>
              </a:r>
              <a:endParaRPr>
                <a:solidFill>
                  <a:srgbClr val="6AA84F"/>
                </a:solidFill>
                <a:latin typeface="Roboto"/>
                <a:ea typeface="Roboto"/>
                <a:cs typeface="Roboto"/>
                <a:sym typeface="Roboto"/>
              </a:endParaRPr>
            </a:p>
          </p:txBody>
        </p:sp>
      </p:grpSp>
      <p:sp>
        <p:nvSpPr>
          <p:cNvPr id="1150" name="Google Shape;1150;p48"/>
          <p:cNvSpPr/>
          <p:nvPr/>
        </p:nvSpPr>
        <p:spPr>
          <a:xfrm rot="5400000">
            <a:off x="10626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4</a:t>
            </a:r>
            <a:endParaRPr sz="1000">
              <a:latin typeface="Roboto"/>
              <a:ea typeface="Roboto"/>
              <a:cs typeface="Roboto"/>
              <a:sym typeface="Roboto"/>
            </a:endParaRPr>
          </a:p>
        </p:txBody>
      </p:sp>
      <p:sp>
        <p:nvSpPr>
          <p:cNvPr id="1151" name="Google Shape;1151;p48"/>
          <p:cNvSpPr/>
          <p:nvPr/>
        </p:nvSpPr>
        <p:spPr>
          <a:xfrm rot="5400000">
            <a:off x="12375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5</a:t>
            </a:r>
            <a:endParaRPr sz="1000">
              <a:latin typeface="Roboto"/>
              <a:ea typeface="Roboto"/>
              <a:cs typeface="Roboto"/>
              <a:sym typeface="Roboto"/>
            </a:endParaRPr>
          </a:p>
        </p:txBody>
      </p:sp>
      <p:sp>
        <p:nvSpPr>
          <p:cNvPr id="1152" name="Google Shape;1152;p48"/>
          <p:cNvSpPr/>
          <p:nvPr/>
        </p:nvSpPr>
        <p:spPr>
          <a:xfrm rot="5400000">
            <a:off x="14124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6</a:t>
            </a:r>
            <a:endParaRPr sz="1000">
              <a:latin typeface="Roboto"/>
              <a:ea typeface="Roboto"/>
              <a:cs typeface="Roboto"/>
              <a:sym typeface="Roboto"/>
            </a:endParaRPr>
          </a:p>
        </p:txBody>
      </p:sp>
      <p:sp>
        <p:nvSpPr>
          <p:cNvPr id="1153" name="Google Shape;1153;p48"/>
          <p:cNvSpPr/>
          <p:nvPr/>
        </p:nvSpPr>
        <p:spPr>
          <a:xfrm rot="5400000">
            <a:off x="15873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7</a:t>
            </a:r>
            <a:endParaRPr sz="1000">
              <a:latin typeface="Roboto"/>
              <a:ea typeface="Roboto"/>
              <a:cs typeface="Roboto"/>
              <a:sym typeface="Roboto"/>
            </a:endParaRPr>
          </a:p>
        </p:txBody>
      </p:sp>
      <p:grpSp>
        <p:nvGrpSpPr>
          <p:cNvPr id="1154" name="Google Shape;1154;p48"/>
          <p:cNvGrpSpPr/>
          <p:nvPr/>
        </p:nvGrpSpPr>
        <p:grpSpPr>
          <a:xfrm>
            <a:off x="5413495" y="4486300"/>
            <a:ext cx="2919162" cy="261300"/>
            <a:chOff x="4996875" y="1912600"/>
            <a:chExt cx="2975700" cy="261300"/>
          </a:xfrm>
        </p:grpSpPr>
        <p:cxnSp>
          <p:nvCxnSpPr>
            <p:cNvPr id="1155" name="Google Shape;1155;p48"/>
            <p:cNvCxnSpPr/>
            <p:nvPr/>
          </p:nvCxnSpPr>
          <p:spPr>
            <a:xfrm>
              <a:off x="4996875" y="2043250"/>
              <a:ext cx="2975700" cy="0"/>
            </a:xfrm>
            <a:prstGeom prst="straightConnector1">
              <a:avLst/>
            </a:prstGeom>
            <a:noFill/>
            <a:ln cap="flat" cmpd="sng" w="9525">
              <a:solidFill>
                <a:srgbClr val="999999"/>
              </a:solidFill>
              <a:prstDash val="solid"/>
              <a:round/>
              <a:headEnd len="med" w="med" type="triangle"/>
              <a:tailEnd len="med" w="med" type="triangle"/>
            </a:ln>
          </p:spPr>
        </p:cxnSp>
        <p:sp>
          <p:nvSpPr>
            <p:cNvPr id="1156" name="Google Shape;1156;p48"/>
            <p:cNvSpPr txBox="1"/>
            <p:nvPr/>
          </p:nvSpPr>
          <p:spPr>
            <a:xfrm>
              <a:off x="5955972" y="1912600"/>
              <a:ext cx="1057500" cy="261300"/>
            </a:xfrm>
            <a:prstGeom prst="rect">
              <a:avLst/>
            </a:prstGeom>
            <a:solidFill>
              <a:srgbClr val="FFFFFF"/>
            </a:solidFill>
            <a:ln>
              <a:noFill/>
            </a:ln>
          </p:spPr>
          <p:txBody>
            <a:bodyPr anchorCtr="0" anchor="t" bIns="27425" lIns="27425" spcFirstLastPara="1" rIns="27425" wrap="square" tIns="27425">
              <a:noAutofit/>
            </a:bodyPr>
            <a:lstStyle/>
            <a:p>
              <a:pPr indent="0" lvl="0" marL="0" rtl="0" algn="ctr">
                <a:spcBef>
                  <a:spcPts val="0"/>
                </a:spcBef>
                <a:spcAft>
                  <a:spcPts val="0"/>
                </a:spcAft>
                <a:buNone/>
              </a:pPr>
              <a:r>
                <a:rPr lang="en">
                  <a:solidFill>
                    <a:srgbClr val="999999"/>
                  </a:solidFill>
                  <a:latin typeface="Roboto"/>
                  <a:ea typeface="Roboto"/>
                  <a:cs typeface="Roboto"/>
                  <a:sym typeface="Roboto"/>
                </a:rPr>
                <a:t>Not sent yet</a:t>
              </a:r>
              <a:endParaRPr>
                <a:solidFill>
                  <a:srgbClr val="999999"/>
                </a:solidFill>
                <a:latin typeface="Roboto"/>
                <a:ea typeface="Roboto"/>
                <a:cs typeface="Roboto"/>
                <a:sym typeface="Roboto"/>
              </a:endParaRPr>
            </a:p>
          </p:txBody>
        </p:sp>
      </p:grpSp>
      <p:grpSp>
        <p:nvGrpSpPr>
          <p:cNvPr id="1157" name="Google Shape;1157;p48"/>
          <p:cNvGrpSpPr/>
          <p:nvPr/>
        </p:nvGrpSpPr>
        <p:grpSpPr>
          <a:xfrm>
            <a:off x="3261268" y="4369100"/>
            <a:ext cx="2095500" cy="493800"/>
            <a:chOff x="3261268" y="4292900"/>
            <a:chExt cx="2095500" cy="493800"/>
          </a:xfrm>
        </p:grpSpPr>
        <p:cxnSp>
          <p:nvCxnSpPr>
            <p:cNvPr id="1158" name="Google Shape;1158;p48"/>
            <p:cNvCxnSpPr/>
            <p:nvPr/>
          </p:nvCxnSpPr>
          <p:spPr>
            <a:xfrm>
              <a:off x="3261268" y="4539800"/>
              <a:ext cx="2095500" cy="0"/>
            </a:xfrm>
            <a:prstGeom prst="straightConnector1">
              <a:avLst/>
            </a:prstGeom>
            <a:noFill/>
            <a:ln cap="flat" cmpd="sng" w="9525">
              <a:solidFill>
                <a:schemeClr val="accent2"/>
              </a:solidFill>
              <a:prstDash val="solid"/>
              <a:round/>
              <a:headEnd len="med" w="med" type="triangle"/>
              <a:tailEnd len="med" w="med" type="triangle"/>
            </a:ln>
          </p:spPr>
        </p:cxnSp>
        <p:sp>
          <p:nvSpPr>
            <p:cNvPr id="1159" name="Google Shape;1159;p48"/>
            <p:cNvSpPr txBox="1"/>
            <p:nvPr/>
          </p:nvSpPr>
          <p:spPr>
            <a:xfrm>
              <a:off x="3940850" y="4292900"/>
              <a:ext cx="736500" cy="493800"/>
            </a:xfrm>
            <a:prstGeom prst="rect">
              <a:avLst/>
            </a:prstGeom>
            <a:solidFill>
              <a:srgbClr val="FFFFFF"/>
            </a:solidFill>
            <a:ln>
              <a:noFill/>
            </a:ln>
          </p:spPr>
          <p:txBody>
            <a:bodyPr anchorCtr="0" anchor="t" bIns="27425" lIns="27425" spcFirstLastPara="1" rIns="27425" wrap="square" tIns="27425">
              <a:noAutofit/>
            </a:bodyPr>
            <a:lstStyle/>
            <a:p>
              <a:pPr indent="0" lvl="0" marL="0" rtl="0" algn="ctr">
                <a:spcBef>
                  <a:spcPts val="0"/>
                </a:spcBef>
                <a:spcAft>
                  <a:spcPts val="0"/>
                </a:spcAft>
                <a:buNone/>
              </a:pPr>
              <a:r>
                <a:rPr lang="en">
                  <a:solidFill>
                    <a:schemeClr val="accent2"/>
                  </a:solidFill>
                  <a:latin typeface="Roboto"/>
                  <a:ea typeface="Roboto"/>
                  <a:cs typeface="Roboto"/>
                  <a:sym typeface="Roboto"/>
                </a:rPr>
                <a:t>Window</a:t>
              </a:r>
              <a:endParaRPr>
                <a:solidFill>
                  <a:schemeClr val="accent2"/>
                </a:solidFill>
                <a:latin typeface="Roboto"/>
                <a:ea typeface="Roboto"/>
                <a:cs typeface="Roboto"/>
                <a:sym typeface="Roboto"/>
              </a:endParaRPr>
            </a:p>
            <a:p>
              <a:pPr indent="0" lvl="0" marL="0" rtl="0" algn="ctr">
                <a:spcBef>
                  <a:spcPts val="0"/>
                </a:spcBef>
                <a:spcAft>
                  <a:spcPts val="0"/>
                </a:spcAft>
                <a:buNone/>
              </a:pPr>
              <a:r>
                <a:rPr i="1" lang="en">
                  <a:solidFill>
                    <a:schemeClr val="accent2"/>
                  </a:solidFill>
                  <a:latin typeface="Roboto"/>
                  <a:ea typeface="Roboto"/>
                  <a:cs typeface="Roboto"/>
                  <a:sym typeface="Roboto"/>
                </a:rPr>
                <a:t>W</a:t>
              </a:r>
              <a:r>
                <a:rPr lang="en">
                  <a:solidFill>
                    <a:schemeClr val="accent2"/>
                  </a:solidFill>
                  <a:latin typeface="Roboto"/>
                  <a:ea typeface="Roboto"/>
                  <a:cs typeface="Roboto"/>
                  <a:sym typeface="Roboto"/>
                </a:rPr>
                <a:t> bytes</a:t>
              </a:r>
              <a:endParaRPr>
                <a:solidFill>
                  <a:schemeClr val="accent2"/>
                </a:solidFill>
                <a:latin typeface="Roboto"/>
                <a:ea typeface="Roboto"/>
                <a:cs typeface="Roboto"/>
                <a:sym typeface="Roboto"/>
              </a:endParaRPr>
            </a:p>
          </p:txBody>
        </p:sp>
      </p:grpSp>
      <p:cxnSp>
        <p:nvCxnSpPr>
          <p:cNvPr id="1160" name="Google Shape;1160;p48"/>
          <p:cNvCxnSpPr>
            <a:stCxn id="1116" idx="1"/>
            <a:endCxn id="1161" idx="2"/>
          </p:cNvCxnSpPr>
          <p:nvPr/>
        </p:nvCxnSpPr>
        <p:spPr>
          <a:xfrm rot="10800000">
            <a:off x="3347638" y="3393150"/>
            <a:ext cx="0" cy="221100"/>
          </a:xfrm>
          <a:prstGeom prst="straightConnector1">
            <a:avLst/>
          </a:prstGeom>
          <a:noFill/>
          <a:ln cap="flat" cmpd="sng" w="9525">
            <a:solidFill>
              <a:schemeClr val="accent2"/>
            </a:solidFill>
            <a:prstDash val="solid"/>
            <a:round/>
            <a:headEnd len="med" w="med" type="triangle"/>
            <a:tailEnd len="med" w="med" type="none"/>
          </a:ln>
        </p:spPr>
      </p:cxnSp>
      <p:sp>
        <p:nvSpPr>
          <p:cNvPr id="1161" name="Google Shape;1161;p48"/>
          <p:cNvSpPr txBox="1"/>
          <p:nvPr/>
        </p:nvSpPr>
        <p:spPr>
          <a:xfrm>
            <a:off x="2595100" y="3131722"/>
            <a:ext cx="1505100" cy="261300"/>
          </a:xfrm>
          <a:prstGeom prst="rect">
            <a:avLst/>
          </a:prstGeom>
          <a:noFill/>
          <a:ln>
            <a:noFill/>
          </a:ln>
        </p:spPr>
        <p:txBody>
          <a:bodyPr anchorCtr="0" anchor="t" bIns="27425" lIns="27425" spcFirstLastPara="1" rIns="27425" wrap="square" tIns="27425">
            <a:noAutofit/>
          </a:bodyPr>
          <a:lstStyle/>
          <a:p>
            <a:pPr indent="0" lvl="0" marL="0" rtl="0" algn="l">
              <a:spcBef>
                <a:spcPts val="0"/>
              </a:spcBef>
              <a:spcAft>
                <a:spcPts val="0"/>
              </a:spcAft>
              <a:buNone/>
            </a:pPr>
            <a:r>
              <a:rPr lang="en">
                <a:solidFill>
                  <a:schemeClr val="accent2"/>
                </a:solidFill>
                <a:latin typeface="Roboto"/>
                <a:ea typeface="Roboto"/>
                <a:cs typeface="Roboto"/>
                <a:sym typeface="Roboto"/>
              </a:rPr>
              <a:t>First unacked byte</a:t>
            </a:r>
            <a:endParaRPr>
              <a:solidFill>
                <a:schemeClr val="accent2"/>
              </a:solidFill>
              <a:latin typeface="Roboto"/>
              <a:ea typeface="Roboto"/>
              <a:cs typeface="Roboto"/>
              <a:sym typeface="Roboto"/>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5" name="Shape 1165"/>
        <p:cNvGrpSpPr/>
        <p:nvPr/>
      </p:nvGrpSpPr>
      <p:grpSpPr>
        <a:xfrm>
          <a:off x="0" y="0"/>
          <a:ext cx="0" cy="0"/>
          <a:chOff x="0" y="0"/>
          <a:chExt cx="0" cy="0"/>
        </a:xfrm>
      </p:grpSpPr>
      <p:sp>
        <p:nvSpPr>
          <p:cNvPr id="1166" name="Google Shape;1166;p49"/>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TCP Sliding Window</a:t>
            </a:r>
            <a:endParaRPr/>
          </a:p>
        </p:txBody>
      </p:sp>
      <p:sp>
        <p:nvSpPr>
          <p:cNvPr id="1167" name="Google Shape;1167;p49"/>
          <p:cNvSpPr txBox="1"/>
          <p:nvPr>
            <p:ph idx="1" type="body"/>
          </p:nvPr>
        </p:nvSpPr>
        <p:spPr>
          <a:xfrm>
            <a:off x="107050" y="402200"/>
            <a:ext cx="8909700" cy="26730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TCP uses cumulative acks and a sliding window.</a:t>
            </a:r>
            <a:endParaRPr/>
          </a:p>
          <a:p>
            <a:pPr indent="-342900" lvl="0" marL="457200" rtl="0" algn="l">
              <a:spcBef>
                <a:spcPts val="600"/>
              </a:spcBef>
              <a:spcAft>
                <a:spcPts val="0"/>
              </a:spcAft>
              <a:buSzPts val="1800"/>
              <a:buChar char="●"/>
            </a:pPr>
            <a:r>
              <a:rPr lang="en"/>
              <a:t>Cumulative ack: "I have received everything up to (not including) 15."</a:t>
            </a:r>
            <a:endParaRPr/>
          </a:p>
          <a:p>
            <a:pPr indent="-342900" lvl="0" marL="457200" rtl="0" algn="l">
              <a:spcBef>
                <a:spcPts val="0"/>
              </a:spcBef>
              <a:spcAft>
                <a:spcPts val="0"/>
              </a:spcAft>
              <a:buSzPts val="1800"/>
              <a:buChar char="●"/>
            </a:pPr>
            <a:r>
              <a:rPr lang="en"/>
              <a:t>Thus, first unacked byte is 15, and the sliding window is [15, 15 + </a:t>
            </a:r>
            <a:r>
              <a:rPr i="1" lang="en"/>
              <a:t>W</a:t>
            </a:r>
            <a:r>
              <a:rPr lang="en"/>
              <a:t>)</a:t>
            </a:r>
            <a:r>
              <a:rPr lang="en"/>
              <a:t>.</a:t>
            </a:r>
            <a:endParaRPr/>
          </a:p>
          <a:p>
            <a:pPr indent="0" lvl="0" marL="0" rtl="0" algn="l">
              <a:spcBef>
                <a:spcPts val="600"/>
              </a:spcBef>
              <a:spcAft>
                <a:spcPts val="0"/>
              </a:spcAft>
              <a:buNone/>
            </a:pPr>
            <a:r>
              <a:rPr i="1" lang="en"/>
              <a:t>W</a:t>
            </a:r>
            <a:r>
              <a:rPr lang="en"/>
              <a:t> is set as the minimum of two values:</a:t>
            </a:r>
            <a:endParaRPr/>
          </a:p>
          <a:p>
            <a:pPr indent="-342900" lvl="0" marL="457200" rtl="0" algn="l">
              <a:spcBef>
                <a:spcPts val="600"/>
              </a:spcBef>
              <a:spcAft>
                <a:spcPts val="0"/>
              </a:spcAft>
              <a:buSzPts val="1800"/>
              <a:buChar char="●"/>
            </a:pPr>
            <a:r>
              <a:rPr lang="en"/>
              <a:t>Advertised</a:t>
            </a:r>
            <a:r>
              <a:rPr lang="en"/>
              <a:t> window (recipient reports their remaining buffer space).</a:t>
            </a:r>
            <a:endParaRPr/>
          </a:p>
          <a:p>
            <a:pPr indent="-342900" lvl="0" marL="457200" rtl="0" algn="l">
              <a:spcBef>
                <a:spcPts val="0"/>
              </a:spcBef>
              <a:spcAft>
                <a:spcPts val="0"/>
              </a:spcAft>
              <a:buSzPts val="1800"/>
              <a:buChar char="●"/>
            </a:pPr>
            <a:r>
              <a:rPr lang="en"/>
              <a:t>Congestion window (sender magically finds value to avoid network overload).</a:t>
            </a:r>
            <a:endParaRPr/>
          </a:p>
        </p:txBody>
      </p:sp>
      <p:sp>
        <p:nvSpPr>
          <p:cNvPr id="1168" name="Google Shape;1168;p49"/>
          <p:cNvSpPr/>
          <p:nvPr/>
        </p:nvSpPr>
        <p:spPr>
          <a:xfrm rot="5400000">
            <a:off x="7533988" y="3887850"/>
            <a:ext cx="722100" cy="174900"/>
          </a:xfrm>
          <a:prstGeom prst="rect">
            <a:avLst/>
          </a:prstGeom>
          <a:solidFill>
            <a:srgbClr val="D9D9D9"/>
          </a:solidFill>
          <a:ln cap="flat" cmpd="sng" w="9525">
            <a:solidFill>
              <a:srgbClr val="B7B7B7"/>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169" name="Google Shape;1169;p49"/>
          <p:cNvSpPr/>
          <p:nvPr/>
        </p:nvSpPr>
        <p:spPr>
          <a:xfrm rot="5400000">
            <a:off x="8877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a:t>
            </a:r>
            <a:endParaRPr sz="1000">
              <a:latin typeface="Roboto"/>
              <a:ea typeface="Roboto"/>
              <a:cs typeface="Roboto"/>
              <a:sym typeface="Roboto"/>
            </a:endParaRPr>
          </a:p>
        </p:txBody>
      </p:sp>
      <p:sp>
        <p:nvSpPr>
          <p:cNvPr id="1170" name="Google Shape;1170;p49"/>
          <p:cNvSpPr/>
          <p:nvPr/>
        </p:nvSpPr>
        <p:spPr>
          <a:xfrm rot="5400000">
            <a:off x="17622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8</a:t>
            </a:r>
            <a:endParaRPr sz="1000">
              <a:latin typeface="Roboto"/>
              <a:ea typeface="Roboto"/>
              <a:cs typeface="Roboto"/>
              <a:sym typeface="Roboto"/>
            </a:endParaRPr>
          </a:p>
        </p:txBody>
      </p:sp>
      <p:sp>
        <p:nvSpPr>
          <p:cNvPr id="1171" name="Google Shape;1171;p49"/>
          <p:cNvSpPr/>
          <p:nvPr/>
        </p:nvSpPr>
        <p:spPr>
          <a:xfrm rot="5400000">
            <a:off x="19371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9</a:t>
            </a:r>
            <a:endParaRPr sz="1000">
              <a:latin typeface="Roboto"/>
              <a:ea typeface="Roboto"/>
              <a:cs typeface="Roboto"/>
              <a:sym typeface="Roboto"/>
            </a:endParaRPr>
          </a:p>
        </p:txBody>
      </p:sp>
      <p:sp>
        <p:nvSpPr>
          <p:cNvPr id="1172" name="Google Shape;1172;p49"/>
          <p:cNvSpPr/>
          <p:nvPr/>
        </p:nvSpPr>
        <p:spPr>
          <a:xfrm rot="5400000">
            <a:off x="21120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10</a:t>
            </a:r>
            <a:endParaRPr sz="1000">
              <a:latin typeface="Roboto"/>
              <a:ea typeface="Roboto"/>
              <a:cs typeface="Roboto"/>
              <a:sym typeface="Roboto"/>
            </a:endParaRPr>
          </a:p>
        </p:txBody>
      </p:sp>
      <p:sp>
        <p:nvSpPr>
          <p:cNvPr id="1173" name="Google Shape;1173;p49"/>
          <p:cNvSpPr/>
          <p:nvPr/>
        </p:nvSpPr>
        <p:spPr>
          <a:xfrm rot="5400000">
            <a:off x="22869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11</a:t>
            </a:r>
            <a:endParaRPr sz="1000">
              <a:latin typeface="Roboto"/>
              <a:ea typeface="Roboto"/>
              <a:cs typeface="Roboto"/>
              <a:sym typeface="Roboto"/>
            </a:endParaRPr>
          </a:p>
        </p:txBody>
      </p:sp>
      <p:sp>
        <p:nvSpPr>
          <p:cNvPr id="1174" name="Google Shape;1174;p49"/>
          <p:cNvSpPr/>
          <p:nvPr/>
        </p:nvSpPr>
        <p:spPr>
          <a:xfrm rot="5400000">
            <a:off x="24618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12</a:t>
            </a:r>
            <a:endParaRPr sz="1000">
              <a:latin typeface="Roboto"/>
              <a:ea typeface="Roboto"/>
              <a:cs typeface="Roboto"/>
              <a:sym typeface="Roboto"/>
            </a:endParaRPr>
          </a:p>
        </p:txBody>
      </p:sp>
      <p:sp>
        <p:nvSpPr>
          <p:cNvPr id="1175" name="Google Shape;1175;p49"/>
          <p:cNvSpPr/>
          <p:nvPr/>
        </p:nvSpPr>
        <p:spPr>
          <a:xfrm rot="5400000">
            <a:off x="26367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13</a:t>
            </a:r>
            <a:endParaRPr sz="1000">
              <a:latin typeface="Roboto"/>
              <a:ea typeface="Roboto"/>
              <a:cs typeface="Roboto"/>
              <a:sym typeface="Roboto"/>
            </a:endParaRPr>
          </a:p>
        </p:txBody>
      </p:sp>
      <p:sp>
        <p:nvSpPr>
          <p:cNvPr id="1176" name="Google Shape;1176;p49"/>
          <p:cNvSpPr/>
          <p:nvPr/>
        </p:nvSpPr>
        <p:spPr>
          <a:xfrm rot="5400000">
            <a:off x="28116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14</a:t>
            </a:r>
            <a:endParaRPr sz="1000">
              <a:latin typeface="Roboto"/>
              <a:ea typeface="Roboto"/>
              <a:cs typeface="Roboto"/>
              <a:sym typeface="Roboto"/>
            </a:endParaRPr>
          </a:p>
        </p:txBody>
      </p:sp>
      <p:sp>
        <p:nvSpPr>
          <p:cNvPr id="1177" name="Google Shape;1177;p49"/>
          <p:cNvSpPr/>
          <p:nvPr/>
        </p:nvSpPr>
        <p:spPr>
          <a:xfrm rot="5400000">
            <a:off x="29865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15</a:t>
            </a:r>
            <a:endParaRPr sz="1000">
              <a:latin typeface="Roboto"/>
              <a:ea typeface="Roboto"/>
              <a:cs typeface="Roboto"/>
              <a:sym typeface="Roboto"/>
            </a:endParaRPr>
          </a:p>
        </p:txBody>
      </p:sp>
      <p:sp>
        <p:nvSpPr>
          <p:cNvPr id="1178" name="Google Shape;1178;p49"/>
          <p:cNvSpPr/>
          <p:nvPr/>
        </p:nvSpPr>
        <p:spPr>
          <a:xfrm rot="5400000">
            <a:off x="31614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16</a:t>
            </a:r>
            <a:endParaRPr sz="1000">
              <a:latin typeface="Roboto"/>
              <a:ea typeface="Roboto"/>
              <a:cs typeface="Roboto"/>
              <a:sym typeface="Roboto"/>
            </a:endParaRPr>
          </a:p>
        </p:txBody>
      </p:sp>
      <p:sp>
        <p:nvSpPr>
          <p:cNvPr id="1179" name="Google Shape;1179;p49"/>
          <p:cNvSpPr/>
          <p:nvPr/>
        </p:nvSpPr>
        <p:spPr>
          <a:xfrm rot="5400000">
            <a:off x="33363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17</a:t>
            </a:r>
            <a:endParaRPr sz="1000">
              <a:latin typeface="Roboto"/>
              <a:ea typeface="Roboto"/>
              <a:cs typeface="Roboto"/>
              <a:sym typeface="Roboto"/>
            </a:endParaRPr>
          </a:p>
        </p:txBody>
      </p:sp>
      <p:sp>
        <p:nvSpPr>
          <p:cNvPr id="1180" name="Google Shape;1180;p49"/>
          <p:cNvSpPr/>
          <p:nvPr/>
        </p:nvSpPr>
        <p:spPr>
          <a:xfrm rot="5400000">
            <a:off x="35112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18</a:t>
            </a:r>
            <a:endParaRPr sz="1000">
              <a:latin typeface="Roboto"/>
              <a:ea typeface="Roboto"/>
              <a:cs typeface="Roboto"/>
              <a:sym typeface="Roboto"/>
            </a:endParaRPr>
          </a:p>
        </p:txBody>
      </p:sp>
      <p:sp>
        <p:nvSpPr>
          <p:cNvPr id="1181" name="Google Shape;1181;p49"/>
          <p:cNvSpPr/>
          <p:nvPr/>
        </p:nvSpPr>
        <p:spPr>
          <a:xfrm rot="5400000">
            <a:off x="36861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19</a:t>
            </a:r>
            <a:endParaRPr sz="1000">
              <a:latin typeface="Roboto"/>
              <a:ea typeface="Roboto"/>
              <a:cs typeface="Roboto"/>
              <a:sym typeface="Roboto"/>
            </a:endParaRPr>
          </a:p>
        </p:txBody>
      </p:sp>
      <p:sp>
        <p:nvSpPr>
          <p:cNvPr id="1182" name="Google Shape;1182;p49"/>
          <p:cNvSpPr/>
          <p:nvPr/>
        </p:nvSpPr>
        <p:spPr>
          <a:xfrm rot="5400000">
            <a:off x="38610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20</a:t>
            </a:r>
            <a:endParaRPr sz="1000">
              <a:latin typeface="Roboto"/>
              <a:ea typeface="Roboto"/>
              <a:cs typeface="Roboto"/>
              <a:sym typeface="Roboto"/>
            </a:endParaRPr>
          </a:p>
        </p:txBody>
      </p:sp>
      <p:sp>
        <p:nvSpPr>
          <p:cNvPr id="1183" name="Google Shape;1183;p49"/>
          <p:cNvSpPr/>
          <p:nvPr/>
        </p:nvSpPr>
        <p:spPr>
          <a:xfrm rot="5400000">
            <a:off x="40359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21</a:t>
            </a:r>
            <a:endParaRPr sz="1000">
              <a:latin typeface="Roboto"/>
              <a:ea typeface="Roboto"/>
              <a:cs typeface="Roboto"/>
              <a:sym typeface="Roboto"/>
            </a:endParaRPr>
          </a:p>
        </p:txBody>
      </p:sp>
      <p:sp>
        <p:nvSpPr>
          <p:cNvPr id="1184" name="Google Shape;1184;p49"/>
          <p:cNvSpPr/>
          <p:nvPr/>
        </p:nvSpPr>
        <p:spPr>
          <a:xfrm rot="5400000">
            <a:off x="42108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22</a:t>
            </a:r>
            <a:endParaRPr sz="1000">
              <a:latin typeface="Roboto"/>
              <a:ea typeface="Roboto"/>
              <a:cs typeface="Roboto"/>
              <a:sym typeface="Roboto"/>
            </a:endParaRPr>
          </a:p>
        </p:txBody>
      </p:sp>
      <p:sp>
        <p:nvSpPr>
          <p:cNvPr id="1185" name="Google Shape;1185;p49"/>
          <p:cNvSpPr/>
          <p:nvPr/>
        </p:nvSpPr>
        <p:spPr>
          <a:xfrm rot="5400000">
            <a:off x="43857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23</a:t>
            </a:r>
            <a:endParaRPr sz="1000">
              <a:latin typeface="Roboto"/>
              <a:ea typeface="Roboto"/>
              <a:cs typeface="Roboto"/>
              <a:sym typeface="Roboto"/>
            </a:endParaRPr>
          </a:p>
        </p:txBody>
      </p:sp>
      <p:sp>
        <p:nvSpPr>
          <p:cNvPr id="1186" name="Google Shape;1186;p49"/>
          <p:cNvSpPr/>
          <p:nvPr/>
        </p:nvSpPr>
        <p:spPr>
          <a:xfrm rot="5400000">
            <a:off x="45606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24</a:t>
            </a:r>
            <a:endParaRPr sz="1000">
              <a:latin typeface="Roboto"/>
              <a:ea typeface="Roboto"/>
              <a:cs typeface="Roboto"/>
              <a:sym typeface="Roboto"/>
            </a:endParaRPr>
          </a:p>
        </p:txBody>
      </p:sp>
      <p:sp>
        <p:nvSpPr>
          <p:cNvPr id="1187" name="Google Shape;1187;p49"/>
          <p:cNvSpPr/>
          <p:nvPr/>
        </p:nvSpPr>
        <p:spPr>
          <a:xfrm rot="5400000">
            <a:off x="47355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25</a:t>
            </a:r>
            <a:endParaRPr sz="1000">
              <a:latin typeface="Roboto"/>
              <a:ea typeface="Roboto"/>
              <a:cs typeface="Roboto"/>
              <a:sym typeface="Roboto"/>
            </a:endParaRPr>
          </a:p>
        </p:txBody>
      </p:sp>
      <p:sp>
        <p:nvSpPr>
          <p:cNvPr id="1188" name="Google Shape;1188;p49"/>
          <p:cNvSpPr/>
          <p:nvPr/>
        </p:nvSpPr>
        <p:spPr>
          <a:xfrm rot="5400000">
            <a:off x="49104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26</a:t>
            </a:r>
            <a:endParaRPr sz="1000">
              <a:latin typeface="Roboto"/>
              <a:ea typeface="Roboto"/>
              <a:cs typeface="Roboto"/>
              <a:sym typeface="Roboto"/>
            </a:endParaRPr>
          </a:p>
        </p:txBody>
      </p:sp>
      <p:sp>
        <p:nvSpPr>
          <p:cNvPr id="1189" name="Google Shape;1189;p49"/>
          <p:cNvSpPr/>
          <p:nvPr/>
        </p:nvSpPr>
        <p:spPr>
          <a:xfrm rot="5400000">
            <a:off x="50853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27</a:t>
            </a:r>
            <a:endParaRPr sz="1000">
              <a:latin typeface="Roboto"/>
              <a:ea typeface="Roboto"/>
              <a:cs typeface="Roboto"/>
              <a:sym typeface="Roboto"/>
            </a:endParaRPr>
          </a:p>
        </p:txBody>
      </p:sp>
      <p:sp>
        <p:nvSpPr>
          <p:cNvPr id="1190" name="Google Shape;1190;p49"/>
          <p:cNvSpPr/>
          <p:nvPr/>
        </p:nvSpPr>
        <p:spPr>
          <a:xfrm rot="5400000">
            <a:off x="52602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28</a:t>
            </a:r>
            <a:endParaRPr sz="1000">
              <a:latin typeface="Roboto"/>
              <a:ea typeface="Roboto"/>
              <a:cs typeface="Roboto"/>
              <a:sym typeface="Roboto"/>
            </a:endParaRPr>
          </a:p>
        </p:txBody>
      </p:sp>
      <p:sp>
        <p:nvSpPr>
          <p:cNvPr id="1191" name="Google Shape;1191;p49"/>
          <p:cNvSpPr/>
          <p:nvPr/>
        </p:nvSpPr>
        <p:spPr>
          <a:xfrm rot="5400000">
            <a:off x="54351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29</a:t>
            </a:r>
            <a:endParaRPr sz="1000">
              <a:latin typeface="Roboto"/>
              <a:ea typeface="Roboto"/>
              <a:cs typeface="Roboto"/>
              <a:sym typeface="Roboto"/>
            </a:endParaRPr>
          </a:p>
        </p:txBody>
      </p:sp>
      <p:sp>
        <p:nvSpPr>
          <p:cNvPr id="1192" name="Google Shape;1192;p49"/>
          <p:cNvSpPr/>
          <p:nvPr/>
        </p:nvSpPr>
        <p:spPr>
          <a:xfrm rot="5400000">
            <a:off x="56100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30</a:t>
            </a:r>
            <a:endParaRPr sz="1000">
              <a:latin typeface="Roboto"/>
              <a:ea typeface="Roboto"/>
              <a:cs typeface="Roboto"/>
              <a:sym typeface="Roboto"/>
            </a:endParaRPr>
          </a:p>
        </p:txBody>
      </p:sp>
      <p:sp>
        <p:nvSpPr>
          <p:cNvPr id="1193" name="Google Shape;1193;p49"/>
          <p:cNvSpPr/>
          <p:nvPr/>
        </p:nvSpPr>
        <p:spPr>
          <a:xfrm rot="5400000">
            <a:off x="57849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31</a:t>
            </a:r>
            <a:endParaRPr sz="1000">
              <a:latin typeface="Roboto"/>
              <a:ea typeface="Roboto"/>
              <a:cs typeface="Roboto"/>
              <a:sym typeface="Roboto"/>
            </a:endParaRPr>
          </a:p>
        </p:txBody>
      </p:sp>
      <p:sp>
        <p:nvSpPr>
          <p:cNvPr id="1194" name="Google Shape;1194;p49"/>
          <p:cNvSpPr/>
          <p:nvPr/>
        </p:nvSpPr>
        <p:spPr>
          <a:xfrm rot="5400000">
            <a:off x="59598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32</a:t>
            </a:r>
            <a:endParaRPr sz="1000">
              <a:latin typeface="Roboto"/>
              <a:ea typeface="Roboto"/>
              <a:cs typeface="Roboto"/>
              <a:sym typeface="Roboto"/>
            </a:endParaRPr>
          </a:p>
        </p:txBody>
      </p:sp>
      <p:sp>
        <p:nvSpPr>
          <p:cNvPr id="1195" name="Google Shape;1195;p49"/>
          <p:cNvSpPr/>
          <p:nvPr/>
        </p:nvSpPr>
        <p:spPr>
          <a:xfrm rot="5400000">
            <a:off x="61347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33</a:t>
            </a:r>
            <a:endParaRPr sz="1000">
              <a:latin typeface="Roboto"/>
              <a:ea typeface="Roboto"/>
              <a:cs typeface="Roboto"/>
              <a:sym typeface="Roboto"/>
            </a:endParaRPr>
          </a:p>
        </p:txBody>
      </p:sp>
      <p:sp>
        <p:nvSpPr>
          <p:cNvPr id="1196" name="Google Shape;1196;p49"/>
          <p:cNvSpPr/>
          <p:nvPr/>
        </p:nvSpPr>
        <p:spPr>
          <a:xfrm rot="5400000">
            <a:off x="63096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34</a:t>
            </a:r>
            <a:endParaRPr sz="1000">
              <a:latin typeface="Roboto"/>
              <a:ea typeface="Roboto"/>
              <a:cs typeface="Roboto"/>
              <a:sym typeface="Roboto"/>
            </a:endParaRPr>
          </a:p>
        </p:txBody>
      </p:sp>
      <p:sp>
        <p:nvSpPr>
          <p:cNvPr id="1197" name="Google Shape;1197;p49"/>
          <p:cNvSpPr/>
          <p:nvPr/>
        </p:nvSpPr>
        <p:spPr>
          <a:xfrm rot="5400000">
            <a:off x="64845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35</a:t>
            </a:r>
            <a:endParaRPr sz="1000">
              <a:latin typeface="Roboto"/>
              <a:ea typeface="Roboto"/>
              <a:cs typeface="Roboto"/>
              <a:sym typeface="Roboto"/>
            </a:endParaRPr>
          </a:p>
        </p:txBody>
      </p:sp>
      <p:sp>
        <p:nvSpPr>
          <p:cNvPr id="1198" name="Google Shape;1198;p49"/>
          <p:cNvSpPr/>
          <p:nvPr/>
        </p:nvSpPr>
        <p:spPr>
          <a:xfrm rot="5400000">
            <a:off x="66594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36</a:t>
            </a:r>
            <a:endParaRPr sz="1000">
              <a:latin typeface="Roboto"/>
              <a:ea typeface="Roboto"/>
              <a:cs typeface="Roboto"/>
              <a:sym typeface="Roboto"/>
            </a:endParaRPr>
          </a:p>
        </p:txBody>
      </p:sp>
      <p:sp>
        <p:nvSpPr>
          <p:cNvPr id="1199" name="Google Shape;1199;p49"/>
          <p:cNvSpPr/>
          <p:nvPr/>
        </p:nvSpPr>
        <p:spPr>
          <a:xfrm rot="5400000">
            <a:off x="68343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37</a:t>
            </a:r>
            <a:endParaRPr sz="1000">
              <a:latin typeface="Roboto"/>
              <a:ea typeface="Roboto"/>
              <a:cs typeface="Roboto"/>
              <a:sym typeface="Roboto"/>
            </a:endParaRPr>
          </a:p>
        </p:txBody>
      </p:sp>
      <p:sp>
        <p:nvSpPr>
          <p:cNvPr id="1200" name="Google Shape;1200;p49"/>
          <p:cNvSpPr/>
          <p:nvPr/>
        </p:nvSpPr>
        <p:spPr>
          <a:xfrm rot="5400000">
            <a:off x="70092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38</a:t>
            </a:r>
            <a:endParaRPr sz="1000">
              <a:latin typeface="Roboto"/>
              <a:ea typeface="Roboto"/>
              <a:cs typeface="Roboto"/>
              <a:sym typeface="Roboto"/>
            </a:endParaRPr>
          </a:p>
        </p:txBody>
      </p:sp>
      <p:sp>
        <p:nvSpPr>
          <p:cNvPr id="1201" name="Google Shape;1201;p49"/>
          <p:cNvSpPr/>
          <p:nvPr/>
        </p:nvSpPr>
        <p:spPr>
          <a:xfrm rot="5400000">
            <a:off x="71841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39</a:t>
            </a:r>
            <a:endParaRPr sz="1000">
              <a:latin typeface="Roboto"/>
              <a:ea typeface="Roboto"/>
              <a:cs typeface="Roboto"/>
              <a:sym typeface="Roboto"/>
            </a:endParaRPr>
          </a:p>
        </p:txBody>
      </p:sp>
      <p:sp>
        <p:nvSpPr>
          <p:cNvPr id="1202" name="Google Shape;1202;p49"/>
          <p:cNvSpPr/>
          <p:nvPr/>
        </p:nvSpPr>
        <p:spPr>
          <a:xfrm rot="5400000">
            <a:off x="73590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40</a:t>
            </a:r>
            <a:endParaRPr sz="1000">
              <a:latin typeface="Roboto"/>
              <a:ea typeface="Roboto"/>
              <a:cs typeface="Roboto"/>
              <a:sym typeface="Roboto"/>
            </a:endParaRPr>
          </a:p>
        </p:txBody>
      </p:sp>
      <p:sp>
        <p:nvSpPr>
          <p:cNvPr id="1203" name="Google Shape;1203;p49"/>
          <p:cNvSpPr/>
          <p:nvPr/>
        </p:nvSpPr>
        <p:spPr>
          <a:xfrm rot="5400000">
            <a:off x="7708888" y="3887850"/>
            <a:ext cx="722100" cy="174900"/>
          </a:xfrm>
          <a:prstGeom prst="rect">
            <a:avLst/>
          </a:prstGeom>
          <a:solidFill>
            <a:srgbClr val="D9D9D9"/>
          </a:solidFill>
          <a:ln cap="flat" cmpd="sng" w="9525">
            <a:solidFill>
              <a:srgbClr val="B7B7B7"/>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204" name="Google Shape;1204;p49"/>
          <p:cNvSpPr/>
          <p:nvPr/>
        </p:nvSpPr>
        <p:spPr>
          <a:xfrm rot="5400000">
            <a:off x="7883788" y="3887850"/>
            <a:ext cx="722100" cy="174900"/>
          </a:xfrm>
          <a:prstGeom prst="rect">
            <a:avLst/>
          </a:prstGeom>
          <a:solidFill>
            <a:srgbClr val="D9D9D9"/>
          </a:solidFill>
          <a:ln cap="flat" cmpd="sng" w="9525">
            <a:solidFill>
              <a:srgbClr val="B7B7B7"/>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205" name="Google Shape;1205;p49"/>
          <p:cNvSpPr/>
          <p:nvPr/>
        </p:nvSpPr>
        <p:spPr>
          <a:xfrm rot="5400000">
            <a:off x="5379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a:t>
            </a:r>
            <a:endParaRPr sz="1000">
              <a:latin typeface="Roboto"/>
              <a:ea typeface="Roboto"/>
              <a:cs typeface="Roboto"/>
              <a:sym typeface="Roboto"/>
            </a:endParaRPr>
          </a:p>
        </p:txBody>
      </p:sp>
      <p:sp>
        <p:nvSpPr>
          <p:cNvPr id="1206" name="Google Shape;1206;p49"/>
          <p:cNvSpPr/>
          <p:nvPr/>
        </p:nvSpPr>
        <p:spPr>
          <a:xfrm rot="5400000">
            <a:off x="7128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a:t>
            </a:r>
            <a:endParaRPr sz="1000">
              <a:latin typeface="Roboto"/>
              <a:ea typeface="Roboto"/>
              <a:cs typeface="Roboto"/>
              <a:sym typeface="Roboto"/>
            </a:endParaRPr>
          </a:p>
        </p:txBody>
      </p:sp>
      <p:sp>
        <p:nvSpPr>
          <p:cNvPr id="1207" name="Google Shape;1207;p49"/>
          <p:cNvSpPr/>
          <p:nvPr/>
        </p:nvSpPr>
        <p:spPr>
          <a:xfrm rot="5400000">
            <a:off x="3948538" y="2927550"/>
            <a:ext cx="722100" cy="2095500"/>
          </a:xfrm>
          <a:prstGeom prst="rect">
            <a:avLst/>
          </a:prstGeom>
          <a:noFill/>
          <a:ln cap="flat" cmpd="sng" w="285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000">
              <a:latin typeface="Roboto"/>
              <a:ea typeface="Roboto"/>
              <a:cs typeface="Roboto"/>
              <a:sym typeface="Roboto"/>
            </a:endParaRPr>
          </a:p>
        </p:txBody>
      </p:sp>
      <p:sp>
        <p:nvSpPr>
          <p:cNvPr id="1208" name="Google Shape;1208;p49"/>
          <p:cNvSpPr/>
          <p:nvPr/>
        </p:nvSpPr>
        <p:spPr>
          <a:xfrm rot="5400000">
            <a:off x="10626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4</a:t>
            </a:r>
            <a:endParaRPr sz="1000">
              <a:latin typeface="Roboto"/>
              <a:ea typeface="Roboto"/>
              <a:cs typeface="Roboto"/>
              <a:sym typeface="Roboto"/>
            </a:endParaRPr>
          </a:p>
        </p:txBody>
      </p:sp>
      <p:sp>
        <p:nvSpPr>
          <p:cNvPr id="1209" name="Google Shape;1209;p49"/>
          <p:cNvSpPr/>
          <p:nvPr/>
        </p:nvSpPr>
        <p:spPr>
          <a:xfrm rot="5400000">
            <a:off x="12375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5</a:t>
            </a:r>
            <a:endParaRPr sz="1000">
              <a:latin typeface="Roboto"/>
              <a:ea typeface="Roboto"/>
              <a:cs typeface="Roboto"/>
              <a:sym typeface="Roboto"/>
            </a:endParaRPr>
          </a:p>
        </p:txBody>
      </p:sp>
      <p:grpSp>
        <p:nvGrpSpPr>
          <p:cNvPr id="1210" name="Google Shape;1210;p49"/>
          <p:cNvGrpSpPr/>
          <p:nvPr/>
        </p:nvGrpSpPr>
        <p:grpSpPr>
          <a:xfrm>
            <a:off x="811588" y="4486300"/>
            <a:ext cx="2393100" cy="261300"/>
            <a:chOff x="451750" y="1912600"/>
            <a:chExt cx="2393100" cy="261300"/>
          </a:xfrm>
        </p:grpSpPr>
        <p:cxnSp>
          <p:nvCxnSpPr>
            <p:cNvPr id="1211" name="Google Shape;1211;p49"/>
            <p:cNvCxnSpPr/>
            <p:nvPr/>
          </p:nvCxnSpPr>
          <p:spPr>
            <a:xfrm>
              <a:off x="451750" y="2043250"/>
              <a:ext cx="2393100" cy="0"/>
            </a:xfrm>
            <a:prstGeom prst="straightConnector1">
              <a:avLst/>
            </a:prstGeom>
            <a:noFill/>
            <a:ln cap="flat" cmpd="sng" w="9525">
              <a:solidFill>
                <a:srgbClr val="6AA84F"/>
              </a:solidFill>
              <a:prstDash val="solid"/>
              <a:round/>
              <a:headEnd len="med" w="med" type="triangle"/>
              <a:tailEnd len="med" w="med" type="triangle"/>
            </a:ln>
          </p:spPr>
        </p:cxnSp>
        <p:sp>
          <p:nvSpPr>
            <p:cNvPr id="1212" name="Google Shape;1212;p49"/>
            <p:cNvSpPr txBox="1"/>
            <p:nvPr/>
          </p:nvSpPr>
          <p:spPr>
            <a:xfrm>
              <a:off x="1007800" y="1912600"/>
              <a:ext cx="1281000" cy="261300"/>
            </a:xfrm>
            <a:prstGeom prst="rect">
              <a:avLst/>
            </a:prstGeom>
            <a:solidFill>
              <a:srgbClr val="FFFFFF"/>
            </a:solidFill>
            <a:ln>
              <a:noFill/>
            </a:ln>
          </p:spPr>
          <p:txBody>
            <a:bodyPr anchorCtr="0" anchor="t" bIns="27425" lIns="27425" spcFirstLastPara="1" rIns="27425" wrap="square" tIns="27425">
              <a:noAutofit/>
            </a:bodyPr>
            <a:lstStyle/>
            <a:p>
              <a:pPr indent="0" lvl="0" marL="0" rtl="0" algn="ctr">
                <a:spcBef>
                  <a:spcPts val="0"/>
                </a:spcBef>
                <a:spcAft>
                  <a:spcPts val="0"/>
                </a:spcAft>
                <a:buNone/>
              </a:pPr>
              <a:r>
                <a:rPr lang="en">
                  <a:solidFill>
                    <a:srgbClr val="6AA84F"/>
                  </a:solidFill>
                  <a:latin typeface="Roboto"/>
                  <a:ea typeface="Roboto"/>
                  <a:cs typeface="Roboto"/>
                  <a:sym typeface="Roboto"/>
                </a:rPr>
                <a:t>Sent and acked</a:t>
              </a:r>
              <a:endParaRPr>
                <a:solidFill>
                  <a:srgbClr val="6AA84F"/>
                </a:solidFill>
                <a:latin typeface="Roboto"/>
                <a:ea typeface="Roboto"/>
                <a:cs typeface="Roboto"/>
                <a:sym typeface="Roboto"/>
              </a:endParaRPr>
            </a:p>
          </p:txBody>
        </p:sp>
      </p:grpSp>
      <p:sp>
        <p:nvSpPr>
          <p:cNvPr id="1213" name="Google Shape;1213;p49"/>
          <p:cNvSpPr/>
          <p:nvPr/>
        </p:nvSpPr>
        <p:spPr>
          <a:xfrm rot="5400000">
            <a:off x="14124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6</a:t>
            </a:r>
            <a:endParaRPr sz="1000">
              <a:latin typeface="Roboto"/>
              <a:ea typeface="Roboto"/>
              <a:cs typeface="Roboto"/>
              <a:sym typeface="Roboto"/>
            </a:endParaRPr>
          </a:p>
        </p:txBody>
      </p:sp>
      <p:sp>
        <p:nvSpPr>
          <p:cNvPr id="1214" name="Google Shape;1214;p49"/>
          <p:cNvSpPr/>
          <p:nvPr/>
        </p:nvSpPr>
        <p:spPr>
          <a:xfrm rot="5400000">
            <a:off x="15873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7</a:t>
            </a:r>
            <a:endParaRPr sz="1000">
              <a:latin typeface="Roboto"/>
              <a:ea typeface="Roboto"/>
              <a:cs typeface="Roboto"/>
              <a:sym typeface="Roboto"/>
            </a:endParaRPr>
          </a:p>
        </p:txBody>
      </p:sp>
      <p:grpSp>
        <p:nvGrpSpPr>
          <p:cNvPr id="1215" name="Google Shape;1215;p49"/>
          <p:cNvGrpSpPr/>
          <p:nvPr/>
        </p:nvGrpSpPr>
        <p:grpSpPr>
          <a:xfrm>
            <a:off x="5413495" y="4486300"/>
            <a:ext cx="2919162" cy="261300"/>
            <a:chOff x="4996875" y="1912600"/>
            <a:chExt cx="2975700" cy="261300"/>
          </a:xfrm>
        </p:grpSpPr>
        <p:cxnSp>
          <p:nvCxnSpPr>
            <p:cNvPr id="1216" name="Google Shape;1216;p49"/>
            <p:cNvCxnSpPr/>
            <p:nvPr/>
          </p:nvCxnSpPr>
          <p:spPr>
            <a:xfrm>
              <a:off x="4996875" y="2043250"/>
              <a:ext cx="2975700" cy="0"/>
            </a:xfrm>
            <a:prstGeom prst="straightConnector1">
              <a:avLst/>
            </a:prstGeom>
            <a:noFill/>
            <a:ln cap="flat" cmpd="sng" w="9525">
              <a:solidFill>
                <a:srgbClr val="999999"/>
              </a:solidFill>
              <a:prstDash val="solid"/>
              <a:round/>
              <a:headEnd len="med" w="med" type="triangle"/>
              <a:tailEnd len="med" w="med" type="triangle"/>
            </a:ln>
          </p:spPr>
        </p:cxnSp>
        <p:sp>
          <p:nvSpPr>
            <p:cNvPr id="1217" name="Google Shape;1217;p49"/>
            <p:cNvSpPr txBox="1"/>
            <p:nvPr/>
          </p:nvSpPr>
          <p:spPr>
            <a:xfrm>
              <a:off x="5955972" y="1912600"/>
              <a:ext cx="1057500" cy="261300"/>
            </a:xfrm>
            <a:prstGeom prst="rect">
              <a:avLst/>
            </a:prstGeom>
            <a:solidFill>
              <a:srgbClr val="FFFFFF"/>
            </a:solidFill>
            <a:ln>
              <a:noFill/>
            </a:ln>
          </p:spPr>
          <p:txBody>
            <a:bodyPr anchorCtr="0" anchor="t" bIns="27425" lIns="27425" spcFirstLastPara="1" rIns="27425" wrap="square" tIns="27425">
              <a:noAutofit/>
            </a:bodyPr>
            <a:lstStyle/>
            <a:p>
              <a:pPr indent="0" lvl="0" marL="0" rtl="0" algn="ctr">
                <a:spcBef>
                  <a:spcPts val="0"/>
                </a:spcBef>
                <a:spcAft>
                  <a:spcPts val="0"/>
                </a:spcAft>
                <a:buNone/>
              </a:pPr>
              <a:r>
                <a:rPr lang="en">
                  <a:solidFill>
                    <a:srgbClr val="999999"/>
                  </a:solidFill>
                  <a:latin typeface="Roboto"/>
                  <a:ea typeface="Roboto"/>
                  <a:cs typeface="Roboto"/>
                  <a:sym typeface="Roboto"/>
                </a:rPr>
                <a:t>Not sent yet</a:t>
              </a:r>
              <a:endParaRPr>
                <a:solidFill>
                  <a:srgbClr val="999999"/>
                </a:solidFill>
                <a:latin typeface="Roboto"/>
                <a:ea typeface="Roboto"/>
                <a:cs typeface="Roboto"/>
                <a:sym typeface="Roboto"/>
              </a:endParaRPr>
            </a:p>
          </p:txBody>
        </p:sp>
      </p:grpSp>
      <p:grpSp>
        <p:nvGrpSpPr>
          <p:cNvPr id="1218" name="Google Shape;1218;p49"/>
          <p:cNvGrpSpPr/>
          <p:nvPr/>
        </p:nvGrpSpPr>
        <p:grpSpPr>
          <a:xfrm>
            <a:off x="3261268" y="4369100"/>
            <a:ext cx="2095500" cy="493800"/>
            <a:chOff x="3261268" y="4292900"/>
            <a:chExt cx="2095500" cy="493800"/>
          </a:xfrm>
        </p:grpSpPr>
        <p:cxnSp>
          <p:nvCxnSpPr>
            <p:cNvPr id="1219" name="Google Shape;1219;p49"/>
            <p:cNvCxnSpPr/>
            <p:nvPr/>
          </p:nvCxnSpPr>
          <p:spPr>
            <a:xfrm>
              <a:off x="3261268" y="4539800"/>
              <a:ext cx="2095500" cy="0"/>
            </a:xfrm>
            <a:prstGeom prst="straightConnector1">
              <a:avLst/>
            </a:prstGeom>
            <a:noFill/>
            <a:ln cap="flat" cmpd="sng" w="9525">
              <a:solidFill>
                <a:schemeClr val="accent2"/>
              </a:solidFill>
              <a:prstDash val="solid"/>
              <a:round/>
              <a:headEnd len="med" w="med" type="triangle"/>
              <a:tailEnd len="med" w="med" type="triangle"/>
            </a:ln>
          </p:spPr>
        </p:cxnSp>
        <p:sp>
          <p:nvSpPr>
            <p:cNvPr id="1220" name="Google Shape;1220;p49"/>
            <p:cNvSpPr txBox="1"/>
            <p:nvPr/>
          </p:nvSpPr>
          <p:spPr>
            <a:xfrm>
              <a:off x="3940850" y="4292900"/>
              <a:ext cx="736500" cy="493800"/>
            </a:xfrm>
            <a:prstGeom prst="rect">
              <a:avLst/>
            </a:prstGeom>
            <a:solidFill>
              <a:srgbClr val="FFFFFF"/>
            </a:solidFill>
            <a:ln>
              <a:noFill/>
            </a:ln>
          </p:spPr>
          <p:txBody>
            <a:bodyPr anchorCtr="0" anchor="t" bIns="27425" lIns="27425" spcFirstLastPara="1" rIns="27425" wrap="square" tIns="27425">
              <a:noAutofit/>
            </a:bodyPr>
            <a:lstStyle/>
            <a:p>
              <a:pPr indent="0" lvl="0" marL="0" rtl="0" algn="ctr">
                <a:spcBef>
                  <a:spcPts val="0"/>
                </a:spcBef>
                <a:spcAft>
                  <a:spcPts val="0"/>
                </a:spcAft>
                <a:buNone/>
              </a:pPr>
              <a:r>
                <a:rPr lang="en">
                  <a:solidFill>
                    <a:schemeClr val="accent2"/>
                  </a:solidFill>
                  <a:latin typeface="Roboto"/>
                  <a:ea typeface="Roboto"/>
                  <a:cs typeface="Roboto"/>
                  <a:sym typeface="Roboto"/>
                </a:rPr>
                <a:t>Window</a:t>
              </a:r>
              <a:endParaRPr>
                <a:solidFill>
                  <a:schemeClr val="accent2"/>
                </a:solidFill>
                <a:latin typeface="Roboto"/>
                <a:ea typeface="Roboto"/>
                <a:cs typeface="Roboto"/>
                <a:sym typeface="Roboto"/>
              </a:endParaRPr>
            </a:p>
            <a:p>
              <a:pPr indent="0" lvl="0" marL="0" rtl="0" algn="ctr">
                <a:spcBef>
                  <a:spcPts val="0"/>
                </a:spcBef>
                <a:spcAft>
                  <a:spcPts val="0"/>
                </a:spcAft>
                <a:buNone/>
              </a:pPr>
              <a:r>
                <a:rPr i="1" lang="en">
                  <a:solidFill>
                    <a:schemeClr val="accent2"/>
                  </a:solidFill>
                  <a:latin typeface="Roboto"/>
                  <a:ea typeface="Roboto"/>
                  <a:cs typeface="Roboto"/>
                  <a:sym typeface="Roboto"/>
                </a:rPr>
                <a:t>W</a:t>
              </a:r>
              <a:r>
                <a:rPr lang="en">
                  <a:solidFill>
                    <a:schemeClr val="accent2"/>
                  </a:solidFill>
                  <a:latin typeface="Roboto"/>
                  <a:ea typeface="Roboto"/>
                  <a:cs typeface="Roboto"/>
                  <a:sym typeface="Roboto"/>
                </a:rPr>
                <a:t> bytes</a:t>
              </a:r>
              <a:endParaRPr>
                <a:solidFill>
                  <a:schemeClr val="accent2"/>
                </a:solidFill>
                <a:latin typeface="Roboto"/>
                <a:ea typeface="Roboto"/>
                <a:cs typeface="Roboto"/>
                <a:sym typeface="Roboto"/>
              </a:endParaRPr>
            </a:p>
          </p:txBody>
        </p:sp>
      </p:grpSp>
      <p:cxnSp>
        <p:nvCxnSpPr>
          <p:cNvPr id="1221" name="Google Shape;1221;p49"/>
          <p:cNvCxnSpPr>
            <a:stCxn id="1177" idx="1"/>
            <a:endCxn id="1222" idx="2"/>
          </p:cNvCxnSpPr>
          <p:nvPr/>
        </p:nvCxnSpPr>
        <p:spPr>
          <a:xfrm rot="10800000">
            <a:off x="3347638" y="3393150"/>
            <a:ext cx="0" cy="221100"/>
          </a:xfrm>
          <a:prstGeom prst="straightConnector1">
            <a:avLst/>
          </a:prstGeom>
          <a:noFill/>
          <a:ln cap="flat" cmpd="sng" w="9525">
            <a:solidFill>
              <a:schemeClr val="accent2"/>
            </a:solidFill>
            <a:prstDash val="solid"/>
            <a:round/>
            <a:headEnd len="med" w="med" type="triangle"/>
            <a:tailEnd len="med" w="med" type="none"/>
          </a:ln>
        </p:spPr>
      </p:cxnSp>
      <p:sp>
        <p:nvSpPr>
          <p:cNvPr id="1222" name="Google Shape;1222;p49"/>
          <p:cNvSpPr txBox="1"/>
          <p:nvPr/>
        </p:nvSpPr>
        <p:spPr>
          <a:xfrm>
            <a:off x="2595100" y="3131722"/>
            <a:ext cx="1505100" cy="261300"/>
          </a:xfrm>
          <a:prstGeom prst="rect">
            <a:avLst/>
          </a:prstGeom>
          <a:noFill/>
          <a:ln>
            <a:noFill/>
          </a:ln>
        </p:spPr>
        <p:txBody>
          <a:bodyPr anchorCtr="0" anchor="t" bIns="27425" lIns="27425" spcFirstLastPara="1" rIns="27425" wrap="square" tIns="27425">
            <a:noAutofit/>
          </a:bodyPr>
          <a:lstStyle/>
          <a:p>
            <a:pPr indent="0" lvl="0" marL="0" rtl="0" algn="l">
              <a:spcBef>
                <a:spcPts val="0"/>
              </a:spcBef>
              <a:spcAft>
                <a:spcPts val="0"/>
              </a:spcAft>
              <a:buNone/>
            </a:pPr>
            <a:r>
              <a:rPr lang="en">
                <a:solidFill>
                  <a:schemeClr val="accent2"/>
                </a:solidFill>
                <a:latin typeface="Roboto"/>
                <a:ea typeface="Roboto"/>
                <a:cs typeface="Roboto"/>
                <a:sym typeface="Roboto"/>
              </a:rPr>
              <a:t>First unacked byte</a:t>
            </a:r>
            <a:endParaRPr>
              <a:solidFill>
                <a:schemeClr val="accent2"/>
              </a:solidFill>
              <a:latin typeface="Roboto"/>
              <a:ea typeface="Roboto"/>
              <a:cs typeface="Roboto"/>
              <a:sym typeface="Roboto"/>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6" name="Shape 1226"/>
        <p:cNvGrpSpPr/>
        <p:nvPr/>
      </p:nvGrpSpPr>
      <p:grpSpPr>
        <a:xfrm>
          <a:off x="0" y="0"/>
          <a:ext cx="0" cy="0"/>
          <a:chOff x="0" y="0"/>
          <a:chExt cx="0" cy="0"/>
        </a:xfrm>
      </p:grpSpPr>
      <p:sp>
        <p:nvSpPr>
          <p:cNvPr id="1227" name="Google Shape;1227;p50"/>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Detecting Loss</a:t>
            </a:r>
            <a:endParaRPr/>
          </a:p>
        </p:txBody>
      </p:sp>
      <p:sp>
        <p:nvSpPr>
          <p:cNvPr id="1228" name="Google Shape;1228;p50"/>
          <p:cNvSpPr txBox="1"/>
          <p:nvPr>
            <p:ph idx="1" type="body"/>
          </p:nvPr>
        </p:nvSpPr>
        <p:spPr>
          <a:xfrm>
            <a:off x="107050" y="402200"/>
            <a:ext cx="8909700" cy="26787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Two ways to detect loss and resend. We resend if either condition is true.</a:t>
            </a:r>
            <a:endParaRPr/>
          </a:p>
          <a:p>
            <a:pPr indent="0" lvl="0" marL="0" rtl="0" algn="l">
              <a:spcBef>
                <a:spcPts val="600"/>
              </a:spcBef>
              <a:spcAft>
                <a:spcPts val="0"/>
              </a:spcAft>
              <a:buNone/>
            </a:pPr>
            <a:r>
              <a:rPr lang="en"/>
              <a:t>In both cases, we always resend the </a:t>
            </a:r>
            <a:r>
              <a:rPr i="1" lang="en"/>
              <a:t>first unacked packet</a:t>
            </a:r>
            <a:r>
              <a:rPr lang="en"/>
              <a:t> (leftmost part of window).</a:t>
            </a:r>
            <a:endParaRPr/>
          </a:p>
          <a:p>
            <a:pPr indent="-342900" lvl="0" marL="457200" rtl="0" algn="l">
              <a:spcBef>
                <a:spcPts val="600"/>
              </a:spcBef>
              <a:spcAft>
                <a:spcPts val="0"/>
              </a:spcAft>
              <a:buSzPts val="1800"/>
              <a:buAutoNum type="arabicPeriod"/>
            </a:pPr>
            <a:r>
              <a:rPr lang="en"/>
              <a:t>Ack-based: If 3 duplicate acks are received, resend.</a:t>
            </a:r>
            <a:endParaRPr/>
          </a:p>
          <a:p>
            <a:pPr indent="-342900" lvl="0" marL="457200" rtl="0" algn="l">
              <a:spcBef>
                <a:spcPts val="0"/>
              </a:spcBef>
              <a:spcAft>
                <a:spcPts val="0"/>
              </a:spcAft>
              <a:buSzPts val="1800"/>
              <a:buAutoNum type="arabicPeriod"/>
            </a:pPr>
            <a:r>
              <a:rPr lang="en"/>
              <a:t>Timer-based: Keep a single timer. If the timer expires, resend.</a:t>
            </a:r>
            <a:endParaRPr/>
          </a:p>
          <a:p>
            <a:pPr indent="-342900" lvl="1" marL="914400" rtl="0" algn="l">
              <a:spcBef>
                <a:spcPts val="0"/>
              </a:spcBef>
              <a:spcAft>
                <a:spcPts val="0"/>
              </a:spcAft>
              <a:buSzPts val="1800"/>
              <a:buChar char="○"/>
            </a:pPr>
            <a:r>
              <a:rPr lang="en"/>
              <a:t>Different from packet-based TCP, where we kept one timer per packet.</a:t>
            </a:r>
            <a:endParaRPr/>
          </a:p>
          <a:p>
            <a:pPr indent="-342900" lvl="1" marL="914400" rtl="0" algn="l">
              <a:spcBef>
                <a:spcPts val="0"/>
              </a:spcBef>
              <a:spcAft>
                <a:spcPts val="0"/>
              </a:spcAft>
              <a:buSzPts val="1800"/>
              <a:buChar char="○"/>
            </a:pPr>
            <a:r>
              <a:rPr lang="en"/>
              <a:t>Set timer by estimating RTT (e.g. measure times between packets and acks, and take a moving average).</a:t>
            </a:r>
            <a:endParaRPr/>
          </a:p>
        </p:txBody>
      </p:sp>
      <p:sp>
        <p:nvSpPr>
          <p:cNvPr id="1229" name="Google Shape;1229;p50"/>
          <p:cNvSpPr/>
          <p:nvPr/>
        </p:nvSpPr>
        <p:spPr>
          <a:xfrm rot="5400000">
            <a:off x="7533988" y="3887850"/>
            <a:ext cx="722100" cy="174900"/>
          </a:xfrm>
          <a:prstGeom prst="rect">
            <a:avLst/>
          </a:prstGeom>
          <a:solidFill>
            <a:srgbClr val="D9D9D9"/>
          </a:solidFill>
          <a:ln cap="flat" cmpd="sng" w="9525">
            <a:solidFill>
              <a:srgbClr val="B7B7B7"/>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230" name="Google Shape;1230;p50"/>
          <p:cNvSpPr/>
          <p:nvPr/>
        </p:nvSpPr>
        <p:spPr>
          <a:xfrm rot="5400000">
            <a:off x="8877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a:t>
            </a:r>
            <a:endParaRPr sz="1000">
              <a:latin typeface="Roboto"/>
              <a:ea typeface="Roboto"/>
              <a:cs typeface="Roboto"/>
              <a:sym typeface="Roboto"/>
            </a:endParaRPr>
          </a:p>
        </p:txBody>
      </p:sp>
      <p:sp>
        <p:nvSpPr>
          <p:cNvPr id="1231" name="Google Shape;1231;p50"/>
          <p:cNvSpPr/>
          <p:nvPr/>
        </p:nvSpPr>
        <p:spPr>
          <a:xfrm rot="5400000">
            <a:off x="17622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8</a:t>
            </a:r>
            <a:endParaRPr sz="1000">
              <a:latin typeface="Roboto"/>
              <a:ea typeface="Roboto"/>
              <a:cs typeface="Roboto"/>
              <a:sym typeface="Roboto"/>
            </a:endParaRPr>
          </a:p>
        </p:txBody>
      </p:sp>
      <p:sp>
        <p:nvSpPr>
          <p:cNvPr id="1232" name="Google Shape;1232;p50"/>
          <p:cNvSpPr/>
          <p:nvPr/>
        </p:nvSpPr>
        <p:spPr>
          <a:xfrm rot="5400000">
            <a:off x="19371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9</a:t>
            </a:r>
            <a:endParaRPr sz="1000">
              <a:latin typeface="Roboto"/>
              <a:ea typeface="Roboto"/>
              <a:cs typeface="Roboto"/>
              <a:sym typeface="Roboto"/>
            </a:endParaRPr>
          </a:p>
        </p:txBody>
      </p:sp>
      <p:sp>
        <p:nvSpPr>
          <p:cNvPr id="1233" name="Google Shape;1233;p50"/>
          <p:cNvSpPr/>
          <p:nvPr/>
        </p:nvSpPr>
        <p:spPr>
          <a:xfrm rot="5400000">
            <a:off x="21120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10</a:t>
            </a:r>
            <a:endParaRPr sz="1000">
              <a:latin typeface="Roboto"/>
              <a:ea typeface="Roboto"/>
              <a:cs typeface="Roboto"/>
              <a:sym typeface="Roboto"/>
            </a:endParaRPr>
          </a:p>
        </p:txBody>
      </p:sp>
      <p:sp>
        <p:nvSpPr>
          <p:cNvPr id="1234" name="Google Shape;1234;p50"/>
          <p:cNvSpPr/>
          <p:nvPr/>
        </p:nvSpPr>
        <p:spPr>
          <a:xfrm rot="5400000">
            <a:off x="22869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11</a:t>
            </a:r>
            <a:endParaRPr sz="1000">
              <a:latin typeface="Roboto"/>
              <a:ea typeface="Roboto"/>
              <a:cs typeface="Roboto"/>
              <a:sym typeface="Roboto"/>
            </a:endParaRPr>
          </a:p>
        </p:txBody>
      </p:sp>
      <p:sp>
        <p:nvSpPr>
          <p:cNvPr id="1235" name="Google Shape;1235;p50"/>
          <p:cNvSpPr/>
          <p:nvPr/>
        </p:nvSpPr>
        <p:spPr>
          <a:xfrm rot="5400000">
            <a:off x="24618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12</a:t>
            </a:r>
            <a:endParaRPr sz="1000">
              <a:latin typeface="Roboto"/>
              <a:ea typeface="Roboto"/>
              <a:cs typeface="Roboto"/>
              <a:sym typeface="Roboto"/>
            </a:endParaRPr>
          </a:p>
        </p:txBody>
      </p:sp>
      <p:sp>
        <p:nvSpPr>
          <p:cNvPr id="1236" name="Google Shape;1236;p50"/>
          <p:cNvSpPr/>
          <p:nvPr/>
        </p:nvSpPr>
        <p:spPr>
          <a:xfrm rot="5400000">
            <a:off x="26367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13</a:t>
            </a:r>
            <a:endParaRPr sz="1000">
              <a:latin typeface="Roboto"/>
              <a:ea typeface="Roboto"/>
              <a:cs typeface="Roboto"/>
              <a:sym typeface="Roboto"/>
            </a:endParaRPr>
          </a:p>
        </p:txBody>
      </p:sp>
      <p:sp>
        <p:nvSpPr>
          <p:cNvPr id="1237" name="Google Shape;1237;p50"/>
          <p:cNvSpPr/>
          <p:nvPr/>
        </p:nvSpPr>
        <p:spPr>
          <a:xfrm rot="5400000">
            <a:off x="28116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14</a:t>
            </a:r>
            <a:endParaRPr sz="1000">
              <a:latin typeface="Roboto"/>
              <a:ea typeface="Roboto"/>
              <a:cs typeface="Roboto"/>
              <a:sym typeface="Roboto"/>
            </a:endParaRPr>
          </a:p>
        </p:txBody>
      </p:sp>
      <p:sp>
        <p:nvSpPr>
          <p:cNvPr id="1238" name="Google Shape;1238;p50"/>
          <p:cNvSpPr/>
          <p:nvPr/>
        </p:nvSpPr>
        <p:spPr>
          <a:xfrm rot="5400000">
            <a:off x="2986588" y="3887850"/>
            <a:ext cx="722100" cy="174900"/>
          </a:xfrm>
          <a:prstGeom prst="rect">
            <a:avLst/>
          </a:prstGeom>
          <a:solidFill>
            <a:srgbClr val="F4CCCC"/>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15</a:t>
            </a:r>
            <a:endParaRPr sz="1000">
              <a:latin typeface="Roboto"/>
              <a:ea typeface="Roboto"/>
              <a:cs typeface="Roboto"/>
              <a:sym typeface="Roboto"/>
            </a:endParaRPr>
          </a:p>
        </p:txBody>
      </p:sp>
      <p:sp>
        <p:nvSpPr>
          <p:cNvPr id="1239" name="Google Shape;1239;p50"/>
          <p:cNvSpPr/>
          <p:nvPr/>
        </p:nvSpPr>
        <p:spPr>
          <a:xfrm rot="5400000">
            <a:off x="3161488" y="3887850"/>
            <a:ext cx="722100" cy="174900"/>
          </a:xfrm>
          <a:prstGeom prst="rect">
            <a:avLst/>
          </a:prstGeom>
          <a:solidFill>
            <a:srgbClr val="F4CCCC"/>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16</a:t>
            </a:r>
            <a:endParaRPr sz="1000">
              <a:latin typeface="Roboto"/>
              <a:ea typeface="Roboto"/>
              <a:cs typeface="Roboto"/>
              <a:sym typeface="Roboto"/>
            </a:endParaRPr>
          </a:p>
        </p:txBody>
      </p:sp>
      <p:sp>
        <p:nvSpPr>
          <p:cNvPr id="1240" name="Google Shape;1240;p50"/>
          <p:cNvSpPr/>
          <p:nvPr/>
        </p:nvSpPr>
        <p:spPr>
          <a:xfrm rot="5400000">
            <a:off x="3336388" y="3887850"/>
            <a:ext cx="722100" cy="174900"/>
          </a:xfrm>
          <a:prstGeom prst="rect">
            <a:avLst/>
          </a:prstGeom>
          <a:solidFill>
            <a:srgbClr val="F4CCCC"/>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17</a:t>
            </a:r>
            <a:endParaRPr sz="1000">
              <a:latin typeface="Roboto"/>
              <a:ea typeface="Roboto"/>
              <a:cs typeface="Roboto"/>
              <a:sym typeface="Roboto"/>
            </a:endParaRPr>
          </a:p>
        </p:txBody>
      </p:sp>
      <p:sp>
        <p:nvSpPr>
          <p:cNvPr id="1241" name="Google Shape;1241;p50"/>
          <p:cNvSpPr/>
          <p:nvPr/>
        </p:nvSpPr>
        <p:spPr>
          <a:xfrm rot="5400000">
            <a:off x="3511288" y="3887850"/>
            <a:ext cx="722100" cy="174900"/>
          </a:xfrm>
          <a:prstGeom prst="rect">
            <a:avLst/>
          </a:prstGeom>
          <a:solidFill>
            <a:srgbClr val="F4CCCC"/>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18</a:t>
            </a:r>
            <a:endParaRPr sz="1000">
              <a:latin typeface="Roboto"/>
              <a:ea typeface="Roboto"/>
              <a:cs typeface="Roboto"/>
              <a:sym typeface="Roboto"/>
            </a:endParaRPr>
          </a:p>
        </p:txBody>
      </p:sp>
      <p:sp>
        <p:nvSpPr>
          <p:cNvPr id="1242" name="Google Shape;1242;p50"/>
          <p:cNvSpPr/>
          <p:nvPr/>
        </p:nvSpPr>
        <p:spPr>
          <a:xfrm rot="5400000">
            <a:off x="36861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19</a:t>
            </a:r>
            <a:endParaRPr sz="1000">
              <a:latin typeface="Roboto"/>
              <a:ea typeface="Roboto"/>
              <a:cs typeface="Roboto"/>
              <a:sym typeface="Roboto"/>
            </a:endParaRPr>
          </a:p>
        </p:txBody>
      </p:sp>
      <p:sp>
        <p:nvSpPr>
          <p:cNvPr id="1243" name="Google Shape;1243;p50"/>
          <p:cNvSpPr/>
          <p:nvPr/>
        </p:nvSpPr>
        <p:spPr>
          <a:xfrm rot="5400000">
            <a:off x="38610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20</a:t>
            </a:r>
            <a:endParaRPr sz="1000">
              <a:latin typeface="Roboto"/>
              <a:ea typeface="Roboto"/>
              <a:cs typeface="Roboto"/>
              <a:sym typeface="Roboto"/>
            </a:endParaRPr>
          </a:p>
        </p:txBody>
      </p:sp>
      <p:sp>
        <p:nvSpPr>
          <p:cNvPr id="1244" name="Google Shape;1244;p50"/>
          <p:cNvSpPr/>
          <p:nvPr/>
        </p:nvSpPr>
        <p:spPr>
          <a:xfrm rot="5400000">
            <a:off x="40359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21</a:t>
            </a:r>
            <a:endParaRPr sz="1000">
              <a:latin typeface="Roboto"/>
              <a:ea typeface="Roboto"/>
              <a:cs typeface="Roboto"/>
              <a:sym typeface="Roboto"/>
            </a:endParaRPr>
          </a:p>
        </p:txBody>
      </p:sp>
      <p:sp>
        <p:nvSpPr>
          <p:cNvPr id="1245" name="Google Shape;1245;p50"/>
          <p:cNvSpPr/>
          <p:nvPr/>
        </p:nvSpPr>
        <p:spPr>
          <a:xfrm rot="5400000">
            <a:off x="42108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22</a:t>
            </a:r>
            <a:endParaRPr sz="1000">
              <a:latin typeface="Roboto"/>
              <a:ea typeface="Roboto"/>
              <a:cs typeface="Roboto"/>
              <a:sym typeface="Roboto"/>
            </a:endParaRPr>
          </a:p>
        </p:txBody>
      </p:sp>
      <p:sp>
        <p:nvSpPr>
          <p:cNvPr id="1246" name="Google Shape;1246;p50"/>
          <p:cNvSpPr/>
          <p:nvPr/>
        </p:nvSpPr>
        <p:spPr>
          <a:xfrm rot="5400000">
            <a:off x="43857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23</a:t>
            </a:r>
            <a:endParaRPr sz="1000">
              <a:latin typeface="Roboto"/>
              <a:ea typeface="Roboto"/>
              <a:cs typeface="Roboto"/>
              <a:sym typeface="Roboto"/>
            </a:endParaRPr>
          </a:p>
        </p:txBody>
      </p:sp>
      <p:sp>
        <p:nvSpPr>
          <p:cNvPr id="1247" name="Google Shape;1247;p50"/>
          <p:cNvSpPr/>
          <p:nvPr/>
        </p:nvSpPr>
        <p:spPr>
          <a:xfrm rot="5400000">
            <a:off x="45606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24</a:t>
            </a:r>
            <a:endParaRPr sz="1000">
              <a:latin typeface="Roboto"/>
              <a:ea typeface="Roboto"/>
              <a:cs typeface="Roboto"/>
              <a:sym typeface="Roboto"/>
            </a:endParaRPr>
          </a:p>
        </p:txBody>
      </p:sp>
      <p:sp>
        <p:nvSpPr>
          <p:cNvPr id="1248" name="Google Shape;1248;p50"/>
          <p:cNvSpPr/>
          <p:nvPr/>
        </p:nvSpPr>
        <p:spPr>
          <a:xfrm rot="5400000">
            <a:off x="47355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25</a:t>
            </a:r>
            <a:endParaRPr sz="1000">
              <a:latin typeface="Roboto"/>
              <a:ea typeface="Roboto"/>
              <a:cs typeface="Roboto"/>
              <a:sym typeface="Roboto"/>
            </a:endParaRPr>
          </a:p>
        </p:txBody>
      </p:sp>
      <p:sp>
        <p:nvSpPr>
          <p:cNvPr id="1249" name="Google Shape;1249;p50"/>
          <p:cNvSpPr/>
          <p:nvPr/>
        </p:nvSpPr>
        <p:spPr>
          <a:xfrm rot="5400000">
            <a:off x="4910488" y="3887850"/>
            <a:ext cx="722100" cy="174900"/>
          </a:xfrm>
          <a:prstGeom prst="rect">
            <a:avLst/>
          </a:prstGeom>
          <a:no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26</a:t>
            </a:r>
            <a:endParaRPr sz="1000">
              <a:latin typeface="Roboto"/>
              <a:ea typeface="Roboto"/>
              <a:cs typeface="Roboto"/>
              <a:sym typeface="Roboto"/>
            </a:endParaRPr>
          </a:p>
        </p:txBody>
      </p:sp>
      <p:sp>
        <p:nvSpPr>
          <p:cNvPr id="1250" name="Google Shape;1250;p50"/>
          <p:cNvSpPr/>
          <p:nvPr/>
        </p:nvSpPr>
        <p:spPr>
          <a:xfrm rot="5400000">
            <a:off x="50853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27</a:t>
            </a:r>
            <a:endParaRPr sz="1000">
              <a:latin typeface="Roboto"/>
              <a:ea typeface="Roboto"/>
              <a:cs typeface="Roboto"/>
              <a:sym typeface="Roboto"/>
            </a:endParaRPr>
          </a:p>
        </p:txBody>
      </p:sp>
      <p:sp>
        <p:nvSpPr>
          <p:cNvPr id="1251" name="Google Shape;1251;p50"/>
          <p:cNvSpPr/>
          <p:nvPr/>
        </p:nvSpPr>
        <p:spPr>
          <a:xfrm rot="5400000">
            <a:off x="52602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28</a:t>
            </a:r>
            <a:endParaRPr sz="1000">
              <a:latin typeface="Roboto"/>
              <a:ea typeface="Roboto"/>
              <a:cs typeface="Roboto"/>
              <a:sym typeface="Roboto"/>
            </a:endParaRPr>
          </a:p>
        </p:txBody>
      </p:sp>
      <p:sp>
        <p:nvSpPr>
          <p:cNvPr id="1252" name="Google Shape;1252;p50"/>
          <p:cNvSpPr/>
          <p:nvPr/>
        </p:nvSpPr>
        <p:spPr>
          <a:xfrm rot="5400000">
            <a:off x="54351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29</a:t>
            </a:r>
            <a:endParaRPr sz="1000">
              <a:latin typeface="Roboto"/>
              <a:ea typeface="Roboto"/>
              <a:cs typeface="Roboto"/>
              <a:sym typeface="Roboto"/>
            </a:endParaRPr>
          </a:p>
        </p:txBody>
      </p:sp>
      <p:sp>
        <p:nvSpPr>
          <p:cNvPr id="1253" name="Google Shape;1253;p50"/>
          <p:cNvSpPr/>
          <p:nvPr/>
        </p:nvSpPr>
        <p:spPr>
          <a:xfrm rot="5400000">
            <a:off x="56100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30</a:t>
            </a:r>
            <a:endParaRPr sz="1000">
              <a:latin typeface="Roboto"/>
              <a:ea typeface="Roboto"/>
              <a:cs typeface="Roboto"/>
              <a:sym typeface="Roboto"/>
            </a:endParaRPr>
          </a:p>
        </p:txBody>
      </p:sp>
      <p:sp>
        <p:nvSpPr>
          <p:cNvPr id="1254" name="Google Shape;1254;p50"/>
          <p:cNvSpPr/>
          <p:nvPr/>
        </p:nvSpPr>
        <p:spPr>
          <a:xfrm rot="5400000">
            <a:off x="57849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31</a:t>
            </a:r>
            <a:endParaRPr sz="1000">
              <a:latin typeface="Roboto"/>
              <a:ea typeface="Roboto"/>
              <a:cs typeface="Roboto"/>
              <a:sym typeface="Roboto"/>
            </a:endParaRPr>
          </a:p>
        </p:txBody>
      </p:sp>
      <p:sp>
        <p:nvSpPr>
          <p:cNvPr id="1255" name="Google Shape;1255;p50"/>
          <p:cNvSpPr/>
          <p:nvPr/>
        </p:nvSpPr>
        <p:spPr>
          <a:xfrm rot="5400000">
            <a:off x="59598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32</a:t>
            </a:r>
            <a:endParaRPr sz="1000">
              <a:latin typeface="Roboto"/>
              <a:ea typeface="Roboto"/>
              <a:cs typeface="Roboto"/>
              <a:sym typeface="Roboto"/>
            </a:endParaRPr>
          </a:p>
        </p:txBody>
      </p:sp>
      <p:sp>
        <p:nvSpPr>
          <p:cNvPr id="1256" name="Google Shape;1256;p50"/>
          <p:cNvSpPr/>
          <p:nvPr/>
        </p:nvSpPr>
        <p:spPr>
          <a:xfrm rot="5400000">
            <a:off x="61347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33</a:t>
            </a:r>
            <a:endParaRPr sz="1000">
              <a:latin typeface="Roboto"/>
              <a:ea typeface="Roboto"/>
              <a:cs typeface="Roboto"/>
              <a:sym typeface="Roboto"/>
            </a:endParaRPr>
          </a:p>
        </p:txBody>
      </p:sp>
      <p:sp>
        <p:nvSpPr>
          <p:cNvPr id="1257" name="Google Shape;1257;p50"/>
          <p:cNvSpPr/>
          <p:nvPr/>
        </p:nvSpPr>
        <p:spPr>
          <a:xfrm rot="5400000">
            <a:off x="63096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34</a:t>
            </a:r>
            <a:endParaRPr sz="1000">
              <a:latin typeface="Roboto"/>
              <a:ea typeface="Roboto"/>
              <a:cs typeface="Roboto"/>
              <a:sym typeface="Roboto"/>
            </a:endParaRPr>
          </a:p>
        </p:txBody>
      </p:sp>
      <p:sp>
        <p:nvSpPr>
          <p:cNvPr id="1258" name="Google Shape;1258;p50"/>
          <p:cNvSpPr/>
          <p:nvPr/>
        </p:nvSpPr>
        <p:spPr>
          <a:xfrm rot="5400000">
            <a:off x="64845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35</a:t>
            </a:r>
            <a:endParaRPr sz="1000">
              <a:latin typeface="Roboto"/>
              <a:ea typeface="Roboto"/>
              <a:cs typeface="Roboto"/>
              <a:sym typeface="Roboto"/>
            </a:endParaRPr>
          </a:p>
        </p:txBody>
      </p:sp>
      <p:sp>
        <p:nvSpPr>
          <p:cNvPr id="1259" name="Google Shape;1259;p50"/>
          <p:cNvSpPr/>
          <p:nvPr/>
        </p:nvSpPr>
        <p:spPr>
          <a:xfrm rot="5400000">
            <a:off x="66594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36</a:t>
            </a:r>
            <a:endParaRPr sz="1000">
              <a:latin typeface="Roboto"/>
              <a:ea typeface="Roboto"/>
              <a:cs typeface="Roboto"/>
              <a:sym typeface="Roboto"/>
            </a:endParaRPr>
          </a:p>
        </p:txBody>
      </p:sp>
      <p:sp>
        <p:nvSpPr>
          <p:cNvPr id="1260" name="Google Shape;1260;p50"/>
          <p:cNvSpPr/>
          <p:nvPr/>
        </p:nvSpPr>
        <p:spPr>
          <a:xfrm rot="5400000">
            <a:off x="68343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37</a:t>
            </a:r>
            <a:endParaRPr sz="1000">
              <a:latin typeface="Roboto"/>
              <a:ea typeface="Roboto"/>
              <a:cs typeface="Roboto"/>
              <a:sym typeface="Roboto"/>
            </a:endParaRPr>
          </a:p>
        </p:txBody>
      </p:sp>
      <p:sp>
        <p:nvSpPr>
          <p:cNvPr id="1261" name="Google Shape;1261;p50"/>
          <p:cNvSpPr/>
          <p:nvPr/>
        </p:nvSpPr>
        <p:spPr>
          <a:xfrm rot="5400000">
            <a:off x="70092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38</a:t>
            </a:r>
            <a:endParaRPr sz="1000">
              <a:latin typeface="Roboto"/>
              <a:ea typeface="Roboto"/>
              <a:cs typeface="Roboto"/>
              <a:sym typeface="Roboto"/>
            </a:endParaRPr>
          </a:p>
        </p:txBody>
      </p:sp>
      <p:sp>
        <p:nvSpPr>
          <p:cNvPr id="1262" name="Google Shape;1262;p50"/>
          <p:cNvSpPr/>
          <p:nvPr/>
        </p:nvSpPr>
        <p:spPr>
          <a:xfrm rot="5400000">
            <a:off x="71841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39</a:t>
            </a:r>
            <a:endParaRPr sz="1000">
              <a:latin typeface="Roboto"/>
              <a:ea typeface="Roboto"/>
              <a:cs typeface="Roboto"/>
              <a:sym typeface="Roboto"/>
            </a:endParaRPr>
          </a:p>
        </p:txBody>
      </p:sp>
      <p:sp>
        <p:nvSpPr>
          <p:cNvPr id="1263" name="Google Shape;1263;p50"/>
          <p:cNvSpPr/>
          <p:nvPr/>
        </p:nvSpPr>
        <p:spPr>
          <a:xfrm rot="5400000">
            <a:off x="7359088" y="3887850"/>
            <a:ext cx="722100" cy="174900"/>
          </a:xfrm>
          <a:prstGeom prst="rect">
            <a:avLst/>
          </a:prstGeom>
          <a:solidFill>
            <a:srgbClr val="D9D9D9"/>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40</a:t>
            </a:r>
            <a:endParaRPr sz="1000">
              <a:latin typeface="Roboto"/>
              <a:ea typeface="Roboto"/>
              <a:cs typeface="Roboto"/>
              <a:sym typeface="Roboto"/>
            </a:endParaRPr>
          </a:p>
        </p:txBody>
      </p:sp>
      <p:sp>
        <p:nvSpPr>
          <p:cNvPr id="1264" name="Google Shape;1264;p50"/>
          <p:cNvSpPr/>
          <p:nvPr/>
        </p:nvSpPr>
        <p:spPr>
          <a:xfrm rot="5400000">
            <a:off x="7708888" y="3887850"/>
            <a:ext cx="722100" cy="174900"/>
          </a:xfrm>
          <a:prstGeom prst="rect">
            <a:avLst/>
          </a:prstGeom>
          <a:solidFill>
            <a:srgbClr val="D9D9D9"/>
          </a:solidFill>
          <a:ln cap="flat" cmpd="sng" w="9525">
            <a:solidFill>
              <a:srgbClr val="B7B7B7"/>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265" name="Google Shape;1265;p50"/>
          <p:cNvSpPr/>
          <p:nvPr/>
        </p:nvSpPr>
        <p:spPr>
          <a:xfrm rot="5400000">
            <a:off x="7883788" y="3887850"/>
            <a:ext cx="722100" cy="174900"/>
          </a:xfrm>
          <a:prstGeom prst="rect">
            <a:avLst/>
          </a:prstGeom>
          <a:solidFill>
            <a:srgbClr val="D9D9D9"/>
          </a:solidFill>
          <a:ln cap="flat" cmpd="sng" w="9525">
            <a:solidFill>
              <a:srgbClr val="B7B7B7"/>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266" name="Google Shape;1266;p50"/>
          <p:cNvSpPr/>
          <p:nvPr/>
        </p:nvSpPr>
        <p:spPr>
          <a:xfrm rot="5400000">
            <a:off x="5379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1</a:t>
            </a:r>
            <a:endParaRPr sz="1000">
              <a:latin typeface="Roboto"/>
              <a:ea typeface="Roboto"/>
              <a:cs typeface="Roboto"/>
              <a:sym typeface="Roboto"/>
            </a:endParaRPr>
          </a:p>
        </p:txBody>
      </p:sp>
      <p:sp>
        <p:nvSpPr>
          <p:cNvPr id="1267" name="Google Shape;1267;p50"/>
          <p:cNvSpPr/>
          <p:nvPr/>
        </p:nvSpPr>
        <p:spPr>
          <a:xfrm rot="5400000">
            <a:off x="7128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2</a:t>
            </a:r>
            <a:endParaRPr sz="1000">
              <a:latin typeface="Roboto"/>
              <a:ea typeface="Roboto"/>
              <a:cs typeface="Roboto"/>
              <a:sym typeface="Roboto"/>
            </a:endParaRPr>
          </a:p>
        </p:txBody>
      </p:sp>
      <p:sp>
        <p:nvSpPr>
          <p:cNvPr id="1268" name="Google Shape;1268;p50"/>
          <p:cNvSpPr/>
          <p:nvPr/>
        </p:nvSpPr>
        <p:spPr>
          <a:xfrm rot="5400000">
            <a:off x="3948538" y="2927550"/>
            <a:ext cx="722100" cy="2095500"/>
          </a:xfrm>
          <a:prstGeom prst="rect">
            <a:avLst/>
          </a:prstGeom>
          <a:noFill/>
          <a:ln cap="flat" cmpd="sng" w="285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000">
              <a:latin typeface="Roboto"/>
              <a:ea typeface="Roboto"/>
              <a:cs typeface="Roboto"/>
              <a:sym typeface="Roboto"/>
            </a:endParaRPr>
          </a:p>
        </p:txBody>
      </p:sp>
      <p:sp>
        <p:nvSpPr>
          <p:cNvPr id="1269" name="Google Shape;1269;p50"/>
          <p:cNvSpPr/>
          <p:nvPr/>
        </p:nvSpPr>
        <p:spPr>
          <a:xfrm rot="5400000">
            <a:off x="10626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4</a:t>
            </a:r>
            <a:endParaRPr sz="1000">
              <a:latin typeface="Roboto"/>
              <a:ea typeface="Roboto"/>
              <a:cs typeface="Roboto"/>
              <a:sym typeface="Roboto"/>
            </a:endParaRPr>
          </a:p>
        </p:txBody>
      </p:sp>
      <p:sp>
        <p:nvSpPr>
          <p:cNvPr id="1270" name="Google Shape;1270;p50"/>
          <p:cNvSpPr/>
          <p:nvPr/>
        </p:nvSpPr>
        <p:spPr>
          <a:xfrm rot="5400000">
            <a:off x="12375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5</a:t>
            </a:r>
            <a:endParaRPr sz="1000">
              <a:latin typeface="Roboto"/>
              <a:ea typeface="Roboto"/>
              <a:cs typeface="Roboto"/>
              <a:sym typeface="Roboto"/>
            </a:endParaRPr>
          </a:p>
        </p:txBody>
      </p:sp>
      <p:grpSp>
        <p:nvGrpSpPr>
          <p:cNvPr id="1271" name="Google Shape;1271;p50"/>
          <p:cNvGrpSpPr/>
          <p:nvPr/>
        </p:nvGrpSpPr>
        <p:grpSpPr>
          <a:xfrm>
            <a:off x="811588" y="4486300"/>
            <a:ext cx="2393100" cy="261300"/>
            <a:chOff x="451750" y="1912600"/>
            <a:chExt cx="2393100" cy="261300"/>
          </a:xfrm>
        </p:grpSpPr>
        <p:cxnSp>
          <p:nvCxnSpPr>
            <p:cNvPr id="1272" name="Google Shape;1272;p50"/>
            <p:cNvCxnSpPr/>
            <p:nvPr/>
          </p:nvCxnSpPr>
          <p:spPr>
            <a:xfrm>
              <a:off x="451750" y="2043250"/>
              <a:ext cx="2393100" cy="0"/>
            </a:xfrm>
            <a:prstGeom prst="straightConnector1">
              <a:avLst/>
            </a:prstGeom>
            <a:noFill/>
            <a:ln cap="flat" cmpd="sng" w="9525">
              <a:solidFill>
                <a:srgbClr val="6AA84F"/>
              </a:solidFill>
              <a:prstDash val="solid"/>
              <a:round/>
              <a:headEnd len="med" w="med" type="triangle"/>
              <a:tailEnd len="med" w="med" type="triangle"/>
            </a:ln>
          </p:spPr>
        </p:cxnSp>
        <p:sp>
          <p:nvSpPr>
            <p:cNvPr id="1273" name="Google Shape;1273;p50"/>
            <p:cNvSpPr txBox="1"/>
            <p:nvPr/>
          </p:nvSpPr>
          <p:spPr>
            <a:xfrm>
              <a:off x="1007800" y="1912600"/>
              <a:ext cx="1281000" cy="261300"/>
            </a:xfrm>
            <a:prstGeom prst="rect">
              <a:avLst/>
            </a:prstGeom>
            <a:solidFill>
              <a:srgbClr val="FFFFFF"/>
            </a:solidFill>
            <a:ln>
              <a:noFill/>
            </a:ln>
          </p:spPr>
          <p:txBody>
            <a:bodyPr anchorCtr="0" anchor="t" bIns="27425" lIns="27425" spcFirstLastPara="1" rIns="27425" wrap="square" tIns="27425">
              <a:noAutofit/>
            </a:bodyPr>
            <a:lstStyle/>
            <a:p>
              <a:pPr indent="0" lvl="0" marL="0" rtl="0" algn="ctr">
                <a:spcBef>
                  <a:spcPts val="0"/>
                </a:spcBef>
                <a:spcAft>
                  <a:spcPts val="0"/>
                </a:spcAft>
                <a:buNone/>
              </a:pPr>
              <a:r>
                <a:rPr lang="en">
                  <a:solidFill>
                    <a:srgbClr val="6AA84F"/>
                  </a:solidFill>
                  <a:latin typeface="Roboto"/>
                  <a:ea typeface="Roboto"/>
                  <a:cs typeface="Roboto"/>
                  <a:sym typeface="Roboto"/>
                </a:rPr>
                <a:t>Sent and acked</a:t>
              </a:r>
              <a:endParaRPr>
                <a:solidFill>
                  <a:srgbClr val="6AA84F"/>
                </a:solidFill>
                <a:latin typeface="Roboto"/>
                <a:ea typeface="Roboto"/>
                <a:cs typeface="Roboto"/>
                <a:sym typeface="Roboto"/>
              </a:endParaRPr>
            </a:p>
          </p:txBody>
        </p:sp>
      </p:grpSp>
      <p:sp>
        <p:nvSpPr>
          <p:cNvPr id="1274" name="Google Shape;1274;p50"/>
          <p:cNvSpPr/>
          <p:nvPr/>
        </p:nvSpPr>
        <p:spPr>
          <a:xfrm rot="5400000">
            <a:off x="14124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6</a:t>
            </a:r>
            <a:endParaRPr sz="1000">
              <a:latin typeface="Roboto"/>
              <a:ea typeface="Roboto"/>
              <a:cs typeface="Roboto"/>
              <a:sym typeface="Roboto"/>
            </a:endParaRPr>
          </a:p>
        </p:txBody>
      </p:sp>
      <p:sp>
        <p:nvSpPr>
          <p:cNvPr id="1275" name="Google Shape;1275;p50"/>
          <p:cNvSpPr/>
          <p:nvPr/>
        </p:nvSpPr>
        <p:spPr>
          <a:xfrm rot="5400000">
            <a:off x="1587388" y="3887850"/>
            <a:ext cx="722100" cy="174900"/>
          </a:xfrm>
          <a:prstGeom prst="rect">
            <a:avLst/>
          </a:prstGeom>
          <a:solidFill>
            <a:srgbClr val="D9EAD3"/>
          </a:solidFill>
          <a:ln cap="flat" cmpd="sng" w="9525">
            <a:solidFill>
              <a:srgbClr val="B7B7B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Roboto"/>
                <a:ea typeface="Roboto"/>
                <a:cs typeface="Roboto"/>
                <a:sym typeface="Roboto"/>
              </a:rPr>
              <a:t>7</a:t>
            </a:r>
            <a:endParaRPr sz="1000">
              <a:latin typeface="Roboto"/>
              <a:ea typeface="Roboto"/>
              <a:cs typeface="Roboto"/>
              <a:sym typeface="Roboto"/>
            </a:endParaRPr>
          </a:p>
        </p:txBody>
      </p:sp>
      <p:grpSp>
        <p:nvGrpSpPr>
          <p:cNvPr id="1276" name="Google Shape;1276;p50"/>
          <p:cNvGrpSpPr/>
          <p:nvPr/>
        </p:nvGrpSpPr>
        <p:grpSpPr>
          <a:xfrm>
            <a:off x="5413495" y="4486300"/>
            <a:ext cx="2919162" cy="261300"/>
            <a:chOff x="4996875" y="1912600"/>
            <a:chExt cx="2975700" cy="261300"/>
          </a:xfrm>
        </p:grpSpPr>
        <p:cxnSp>
          <p:nvCxnSpPr>
            <p:cNvPr id="1277" name="Google Shape;1277;p50"/>
            <p:cNvCxnSpPr/>
            <p:nvPr/>
          </p:nvCxnSpPr>
          <p:spPr>
            <a:xfrm>
              <a:off x="4996875" y="2043250"/>
              <a:ext cx="2975700" cy="0"/>
            </a:xfrm>
            <a:prstGeom prst="straightConnector1">
              <a:avLst/>
            </a:prstGeom>
            <a:noFill/>
            <a:ln cap="flat" cmpd="sng" w="9525">
              <a:solidFill>
                <a:srgbClr val="999999"/>
              </a:solidFill>
              <a:prstDash val="solid"/>
              <a:round/>
              <a:headEnd len="med" w="med" type="triangle"/>
              <a:tailEnd len="med" w="med" type="triangle"/>
            </a:ln>
          </p:spPr>
        </p:cxnSp>
        <p:sp>
          <p:nvSpPr>
            <p:cNvPr id="1278" name="Google Shape;1278;p50"/>
            <p:cNvSpPr txBox="1"/>
            <p:nvPr/>
          </p:nvSpPr>
          <p:spPr>
            <a:xfrm>
              <a:off x="5955972" y="1912600"/>
              <a:ext cx="1057500" cy="261300"/>
            </a:xfrm>
            <a:prstGeom prst="rect">
              <a:avLst/>
            </a:prstGeom>
            <a:solidFill>
              <a:srgbClr val="FFFFFF"/>
            </a:solidFill>
            <a:ln>
              <a:noFill/>
            </a:ln>
          </p:spPr>
          <p:txBody>
            <a:bodyPr anchorCtr="0" anchor="t" bIns="27425" lIns="27425" spcFirstLastPara="1" rIns="27425" wrap="square" tIns="27425">
              <a:noAutofit/>
            </a:bodyPr>
            <a:lstStyle/>
            <a:p>
              <a:pPr indent="0" lvl="0" marL="0" rtl="0" algn="ctr">
                <a:spcBef>
                  <a:spcPts val="0"/>
                </a:spcBef>
                <a:spcAft>
                  <a:spcPts val="0"/>
                </a:spcAft>
                <a:buNone/>
              </a:pPr>
              <a:r>
                <a:rPr lang="en">
                  <a:solidFill>
                    <a:srgbClr val="999999"/>
                  </a:solidFill>
                  <a:latin typeface="Roboto"/>
                  <a:ea typeface="Roboto"/>
                  <a:cs typeface="Roboto"/>
                  <a:sym typeface="Roboto"/>
                </a:rPr>
                <a:t>Not sent yet</a:t>
              </a:r>
              <a:endParaRPr>
                <a:solidFill>
                  <a:srgbClr val="999999"/>
                </a:solidFill>
                <a:latin typeface="Roboto"/>
                <a:ea typeface="Roboto"/>
                <a:cs typeface="Roboto"/>
                <a:sym typeface="Roboto"/>
              </a:endParaRPr>
            </a:p>
          </p:txBody>
        </p:sp>
      </p:grpSp>
      <p:grpSp>
        <p:nvGrpSpPr>
          <p:cNvPr id="1279" name="Google Shape;1279;p50"/>
          <p:cNvGrpSpPr/>
          <p:nvPr/>
        </p:nvGrpSpPr>
        <p:grpSpPr>
          <a:xfrm>
            <a:off x="3261268" y="4369100"/>
            <a:ext cx="2095500" cy="493800"/>
            <a:chOff x="3261268" y="4292900"/>
            <a:chExt cx="2095500" cy="493800"/>
          </a:xfrm>
        </p:grpSpPr>
        <p:cxnSp>
          <p:nvCxnSpPr>
            <p:cNvPr id="1280" name="Google Shape;1280;p50"/>
            <p:cNvCxnSpPr/>
            <p:nvPr/>
          </p:nvCxnSpPr>
          <p:spPr>
            <a:xfrm>
              <a:off x="3261268" y="4539800"/>
              <a:ext cx="2095500" cy="0"/>
            </a:xfrm>
            <a:prstGeom prst="straightConnector1">
              <a:avLst/>
            </a:prstGeom>
            <a:noFill/>
            <a:ln cap="flat" cmpd="sng" w="9525">
              <a:solidFill>
                <a:schemeClr val="accent2"/>
              </a:solidFill>
              <a:prstDash val="solid"/>
              <a:round/>
              <a:headEnd len="med" w="med" type="triangle"/>
              <a:tailEnd len="med" w="med" type="triangle"/>
            </a:ln>
          </p:spPr>
        </p:cxnSp>
        <p:sp>
          <p:nvSpPr>
            <p:cNvPr id="1281" name="Google Shape;1281;p50"/>
            <p:cNvSpPr txBox="1"/>
            <p:nvPr/>
          </p:nvSpPr>
          <p:spPr>
            <a:xfrm>
              <a:off x="3940850" y="4292900"/>
              <a:ext cx="736500" cy="493800"/>
            </a:xfrm>
            <a:prstGeom prst="rect">
              <a:avLst/>
            </a:prstGeom>
            <a:solidFill>
              <a:srgbClr val="FFFFFF"/>
            </a:solidFill>
            <a:ln>
              <a:noFill/>
            </a:ln>
          </p:spPr>
          <p:txBody>
            <a:bodyPr anchorCtr="0" anchor="t" bIns="27425" lIns="27425" spcFirstLastPara="1" rIns="27425" wrap="square" tIns="27425">
              <a:noAutofit/>
            </a:bodyPr>
            <a:lstStyle/>
            <a:p>
              <a:pPr indent="0" lvl="0" marL="0" rtl="0" algn="ctr">
                <a:spcBef>
                  <a:spcPts val="0"/>
                </a:spcBef>
                <a:spcAft>
                  <a:spcPts val="0"/>
                </a:spcAft>
                <a:buNone/>
              </a:pPr>
              <a:r>
                <a:rPr lang="en">
                  <a:solidFill>
                    <a:schemeClr val="accent2"/>
                  </a:solidFill>
                  <a:latin typeface="Roboto"/>
                  <a:ea typeface="Roboto"/>
                  <a:cs typeface="Roboto"/>
                  <a:sym typeface="Roboto"/>
                </a:rPr>
                <a:t>Window</a:t>
              </a:r>
              <a:endParaRPr>
                <a:solidFill>
                  <a:schemeClr val="accent2"/>
                </a:solidFill>
                <a:latin typeface="Roboto"/>
                <a:ea typeface="Roboto"/>
                <a:cs typeface="Roboto"/>
                <a:sym typeface="Roboto"/>
              </a:endParaRPr>
            </a:p>
            <a:p>
              <a:pPr indent="0" lvl="0" marL="0" rtl="0" algn="ctr">
                <a:spcBef>
                  <a:spcPts val="0"/>
                </a:spcBef>
                <a:spcAft>
                  <a:spcPts val="0"/>
                </a:spcAft>
                <a:buNone/>
              </a:pPr>
              <a:r>
                <a:rPr i="1" lang="en">
                  <a:solidFill>
                    <a:schemeClr val="accent2"/>
                  </a:solidFill>
                  <a:latin typeface="Roboto"/>
                  <a:ea typeface="Roboto"/>
                  <a:cs typeface="Roboto"/>
                  <a:sym typeface="Roboto"/>
                </a:rPr>
                <a:t>W</a:t>
              </a:r>
              <a:r>
                <a:rPr lang="en">
                  <a:solidFill>
                    <a:schemeClr val="accent2"/>
                  </a:solidFill>
                  <a:latin typeface="Roboto"/>
                  <a:ea typeface="Roboto"/>
                  <a:cs typeface="Roboto"/>
                  <a:sym typeface="Roboto"/>
                </a:rPr>
                <a:t> bytes</a:t>
              </a:r>
              <a:endParaRPr>
                <a:solidFill>
                  <a:schemeClr val="accent2"/>
                </a:solidFill>
                <a:latin typeface="Roboto"/>
                <a:ea typeface="Roboto"/>
                <a:cs typeface="Roboto"/>
                <a:sym typeface="Roboto"/>
              </a:endParaRPr>
            </a:p>
          </p:txBody>
        </p:sp>
      </p:grpSp>
      <p:sp>
        <p:nvSpPr>
          <p:cNvPr id="1282" name="Google Shape;1282;p50"/>
          <p:cNvSpPr txBox="1"/>
          <p:nvPr/>
        </p:nvSpPr>
        <p:spPr>
          <a:xfrm>
            <a:off x="3239950" y="3023375"/>
            <a:ext cx="2692500" cy="506100"/>
          </a:xfrm>
          <a:prstGeom prst="rect">
            <a:avLst/>
          </a:prstGeom>
          <a:noFill/>
          <a:ln>
            <a:noFill/>
          </a:ln>
        </p:spPr>
        <p:txBody>
          <a:bodyPr anchorCtr="0" anchor="t" bIns="27425" lIns="27425" spcFirstLastPara="1" rIns="27425" wrap="square" tIns="27425">
            <a:noAutofit/>
          </a:bodyPr>
          <a:lstStyle/>
          <a:p>
            <a:pPr indent="0" lvl="0" marL="0" rtl="0" algn="l">
              <a:spcBef>
                <a:spcPts val="0"/>
              </a:spcBef>
              <a:spcAft>
                <a:spcPts val="0"/>
              </a:spcAft>
              <a:buNone/>
            </a:pPr>
            <a:r>
              <a:rPr lang="en">
                <a:solidFill>
                  <a:schemeClr val="accent2"/>
                </a:solidFill>
                <a:latin typeface="Roboto"/>
                <a:ea typeface="Roboto"/>
                <a:cs typeface="Roboto"/>
                <a:sym typeface="Roboto"/>
              </a:rPr>
              <a:t>Resend 15–18 if timer expires,</a:t>
            </a:r>
            <a:br>
              <a:rPr lang="en">
                <a:solidFill>
                  <a:schemeClr val="accent2"/>
                </a:solidFill>
                <a:latin typeface="Roboto"/>
                <a:ea typeface="Roboto"/>
                <a:cs typeface="Roboto"/>
                <a:sym typeface="Roboto"/>
              </a:rPr>
            </a:br>
            <a:r>
              <a:rPr lang="en">
                <a:solidFill>
                  <a:schemeClr val="accent2"/>
                </a:solidFill>
                <a:latin typeface="Roboto"/>
                <a:ea typeface="Roboto"/>
                <a:cs typeface="Roboto"/>
                <a:sym typeface="Roboto"/>
              </a:rPr>
              <a:t>or if 3 copies of ack(15) received.</a:t>
            </a:r>
            <a:endParaRPr>
              <a:solidFill>
                <a:schemeClr val="accent2"/>
              </a:solidFill>
              <a:latin typeface="Roboto"/>
              <a:ea typeface="Roboto"/>
              <a:cs typeface="Roboto"/>
              <a:sym typeface="Roboto"/>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6" name="Shape 1286"/>
        <p:cNvGrpSpPr/>
        <p:nvPr/>
      </p:nvGrpSpPr>
      <p:grpSpPr>
        <a:xfrm>
          <a:off x="0" y="0"/>
          <a:ext cx="0" cy="0"/>
          <a:chOff x="0" y="0"/>
          <a:chExt cx="0" cy="0"/>
        </a:xfrm>
      </p:grpSpPr>
      <p:sp>
        <p:nvSpPr>
          <p:cNvPr id="1287" name="Google Shape;1287;p51"/>
          <p:cNvSpPr txBox="1"/>
          <p:nvPr>
            <p:ph idx="1" type="body"/>
          </p:nvPr>
        </p:nvSpPr>
        <p:spPr>
          <a:xfrm>
            <a:off x="4812375" y="402200"/>
            <a:ext cx="4158000" cy="42609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None/>
            </a:pPr>
            <a:r>
              <a:rPr b="1" lang="en">
                <a:solidFill>
                  <a:schemeClr val="accent3"/>
                </a:solidFill>
                <a:latin typeface="Roboto"/>
                <a:ea typeface="Roboto"/>
                <a:cs typeface="Roboto"/>
                <a:sym typeface="Roboto"/>
              </a:rPr>
              <a:t>Implementing TCP</a:t>
            </a:r>
            <a:endParaRPr>
              <a:solidFill>
                <a:srgbClr val="B7B7B7"/>
              </a:solidFill>
            </a:endParaRPr>
          </a:p>
          <a:p>
            <a:pPr indent="-342900" lvl="0" marL="457200" rtl="0" algn="l">
              <a:spcBef>
                <a:spcPts val="600"/>
              </a:spcBef>
              <a:spcAft>
                <a:spcPts val="0"/>
              </a:spcAft>
              <a:buClr>
                <a:srgbClr val="B7B7B7"/>
              </a:buClr>
              <a:buSzPts val="1800"/>
              <a:buChar char="•"/>
            </a:pPr>
            <a:r>
              <a:rPr lang="en">
                <a:solidFill>
                  <a:srgbClr val="B7B7B7"/>
                </a:solidFill>
              </a:rPr>
              <a:t>Byte Notation</a:t>
            </a:r>
            <a:br>
              <a:rPr lang="en">
                <a:solidFill>
                  <a:srgbClr val="B7B7B7"/>
                </a:solidFill>
              </a:rPr>
            </a:br>
            <a:r>
              <a:rPr lang="en">
                <a:solidFill>
                  <a:srgbClr val="B7B7B7"/>
                </a:solidFill>
              </a:rPr>
              <a:t>(Segments, Sequence Numbers)</a:t>
            </a:r>
            <a:endParaRPr>
              <a:solidFill>
                <a:srgbClr val="B7B7B7"/>
              </a:solidFill>
            </a:endParaRPr>
          </a:p>
          <a:p>
            <a:pPr indent="-342900" lvl="0" marL="457200" rtl="0" algn="l">
              <a:spcBef>
                <a:spcPts val="0"/>
              </a:spcBef>
              <a:spcAft>
                <a:spcPts val="0"/>
              </a:spcAft>
              <a:buClr>
                <a:srgbClr val="B7B7B7"/>
              </a:buClr>
              <a:buSzPts val="1800"/>
              <a:buChar char="•"/>
            </a:pPr>
            <a:r>
              <a:rPr lang="en">
                <a:solidFill>
                  <a:srgbClr val="B7B7B7"/>
                </a:solidFill>
              </a:rPr>
              <a:t>Maintaining State (Full Duplex, Connection Setup and Teardown)</a:t>
            </a:r>
            <a:endParaRPr>
              <a:solidFill>
                <a:srgbClr val="B7B7B7"/>
              </a:solidFill>
            </a:endParaRPr>
          </a:p>
          <a:p>
            <a:pPr indent="-342900" lvl="0" marL="457200" rtl="0" algn="l">
              <a:spcBef>
                <a:spcPts val="0"/>
              </a:spcBef>
              <a:spcAft>
                <a:spcPts val="0"/>
              </a:spcAft>
              <a:buClr>
                <a:srgbClr val="B7B7B7"/>
              </a:buClr>
              <a:buSzPts val="1800"/>
              <a:buChar char="•"/>
            </a:pPr>
            <a:r>
              <a:rPr lang="en">
                <a:solidFill>
                  <a:srgbClr val="B7B7B7"/>
                </a:solidFill>
              </a:rPr>
              <a:t>Sliding Window</a:t>
            </a:r>
            <a:endParaRPr>
              <a:solidFill>
                <a:srgbClr val="B7B7B7"/>
              </a:solidFill>
            </a:endParaRPr>
          </a:p>
          <a:p>
            <a:pPr indent="-342900" lvl="0" marL="457200" rtl="0" algn="l">
              <a:spcBef>
                <a:spcPts val="0"/>
              </a:spcBef>
              <a:spcAft>
                <a:spcPts val="0"/>
              </a:spcAft>
              <a:buClr>
                <a:schemeClr val="accent3"/>
              </a:buClr>
              <a:buSzPts val="1800"/>
              <a:buFont typeface="Roboto"/>
              <a:buChar char="•"/>
            </a:pPr>
            <a:r>
              <a:rPr b="1" lang="en">
                <a:solidFill>
                  <a:schemeClr val="accent3"/>
                </a:solidFill>
                <a:latin typeface="Roboto"/>
                <a:ea typeface="Roboto"/>
                <a:cs typeface="Roboto"/>
                <a:sym typeface="Roboto"/>
              </a:rPr>
              <a:t>Header</a:t>
            </a:r>
            <a:endParaRPr>
              <a:solidFill>
                <a:srgbClr val="B7B7B7"/>
              </a:solidFill>
            </a:endParaRPr>
          </a:p>
        </p:txBody>
      </p:sp>
      <p:sp>
        <p:nvSpPr>
          <p:cNvPr id="1288" name="Google Shape;1288;p51"/>
          <p:cNvSpPr txBox="1"/>
          <p:nvPr>
            <p:ph type="title"/>
          </p:nvPr>
        </p:nvSpPr>
        <p:spPr>
          <a:xfrm>
            <a:off x="177925" y="2003300"/>
            <a:ext cx="4038000" cy="20379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TCP Header</a:t>
            </a:r>
            <a:endParaRPr/>
          </a:p>
        </p:txBody>
      </p:sp>
      <p:sp>
        <p:nvSpPr>
          <p:cNvPr id="1289" name="Google Shape;1289;p51"/>
          <p:cNvSpPr txBox="1"/>
          <p:nvPr>
            <p:ph idx="2" type="subTitle"/>
          </p:nvPr>
        </p:nvSpPr>
        <p:spPr>
          <a:xfrm>
            <a:off x="177925" y="4068000"/>
            <a:ext cx="4158000" cy="3936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None/>
            </a:pPr>
            <a:r>
              <a:rPr lang="en"/>
              <a:t>Lecture 11</a:t>
            </a:r>
            <a:r>
              <a:rPr lang="en"/>
              <a:t>, CS 168, </a:t>
            </a:r>
            <a:r>
              <a:rPr lang="en"/>
              <a:t>Summer 2025</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3" name="Shape 1293"/>
        <p:cNvGrpSpPr/>
        <p:nvPr/>
      </p:nvGrpSpPr>
      <p:grpSpPr>
        <a:xfrm>
          <a:off x="0" y="0"/>
          <a:ext cx="0" cy="0"/>
          <a:chOff x="0" y="0"/>
          <a:chExt cx="0" cy="0"/>
        </a:xfrm>
      </p:grpSpPr>
      <p:sp>
        <p:nvSpPr>
          <p:cNvPr id="1294" name="Google Shape;1294;p52"/>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TCP Header</a:t>
            </a:r>
            <a:endParaRPr/>
          </a:p>
        </p:txBody>
      </p:sp>
      <p:sp>
        <p:nvSpPr>
          <p:cNvPr id="1295" name="Google Shape;1295;p52"/>
          <p:cNvSpPr txBox="1"/>
          <p:nvPr>
            <p:ph idx="1" type="body"/>
          </p:nvPr>
        </p:nvSpPr>
        <p:spPr>
          <a:xfrm>
            <a:off x="107050" y="402200"/>
            <a:ext cx="8909700" cy="24411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What </a:t>
            </a:r>
            <a:r>
              <a:rPr lang="en"/>
              <a:t>functions does TCP implement?</a:t>
            </a:r>
            <a:endParaRPr/>
          </a:p>
          <a:p>
            <a:pPr indent="-342900" lvl="0" marL="457200" rtl="0" algn="l">
              <a:spcBef>
                <a:spcPts val="600"/>
              </a:spcBef>
              <a:spcAft>
                <a:spcPts val="0"/>
              </a:spcAft>
              <a:buSzPts val="1800"/>
              <a:buAutoNum type="arabicPeriod"/>
            </a:pPr>
            <a:r>
              <a:rPr lang="en">
                <a:highlight>
                  <a:srgbClr val="F4CCCC"/>
                </a:highlight>
              </a:rPr>
              <a:t>Demultiplexing</a:t>
            </a:r>
            <a:r>
              <a:rPr lang="en"/>
              <a:t> </a:t>
            </a:r>
            <a:r>
              <a:rPr lang="en" sz="1400">
                <a:solidFill>
                  <a:schemeClr val="accent3"/>
                </a:solidFill>
              </a:rPr>
              <a:t>(</a:t>
            </a:r>
            <a:r>
              <a:rPr i="1" lang="en" sz="1400">
                <a:solidFill>
                  <a:schemeClr val="accent3"/>
                </a:solidFill>
              </a:rPr>
              <a:t>p</a:t>
            </a:r>
            <a:r>
              <a:rPr i="1" lang="en" sz="1400">
                <a:solidFill>
                  <a:schemeClr val="accent3"/>
                </a:solidFill>
              </a:rPr>
              <a:t>orts</a:t>
            </a:r>
            <a:r>
              <a:rPr lang="en" sz="1400">
                <a:solidFill>
                  <a:schemeClr val="accent3"/>
                </a:solidFill>
              </a:rPr>
              <a:t>)</a:t>
            </a:r>
            <a:endParaRPr sz="1400">
              <a:solidFill>
                <a:schemeClr val="accent3"/>
              </a:solidFill>
            </a:endParaRPr>
          </a:p>
          <a:p>
            <a:pPr indent="-342900" lvl="0" marL="457200" rtl="0" algn="l">
              <a:spcBef>
                <a:spcPts val="0"/>
              </a:spcBef>
              <a:spcAft>
                <a:spcPts val="0"/>
              </a:spcAft>
              <a:buSzPts val="1800"/>
              <a:buAutoNum type="arabicPeriod"/>
            </a:pPr>
            <a:r>
              <a:rPr lang="en">
                <a:highlight>
                  <a:srgbClr val="FCE5CD"/>
                </a:highlight>
              </a:rPr>
              <a:t>Reliability</a:t>
            </a:r>
            <a:r>
              <a:rPr lang="en"/>
              <a:t> </a:t>
            </a:r>
            <a:r>
              <a:rPr lang="en" sz="1400">
                <a:solidFill>
                  <a:schemeClr val="accent3"/>
                </a:solidFill>
              </a:rPr>
              <a:t>(</a:t>
            </a:r>
            <a:r>
              <a:rPr i="1" lang="en" sz="1400">
                <a:solidFill>
                  <a:schemeClr val="accent3"/>
                </a:solidFill>
              </a:rPr>
              <a:t>c</a:t>
            </a:r>
            <a:r>
              <a:rPr i="1" lang="en" sz="1400">
                <a:solidFill>
                  <a:schemeClr val="accent3"/>
                </a:solidFill>
              </a:rPr>
              <a:t>hecksum, sequence and ack numbers</a:t>
            </a:r>
            <a:r>
              <a:rPr lang="en" sz="1400">
                <a:solidFill>
                  <a:schemeClr val="accent3"/>
                </a:solidFill>
              </a:rPr>
              <a:t>)</a:t>
            </a:r>
            <a:endParaRPr sz="1400">
              <a:solidFill>
                <a:schemeClr val="accent3"/>
              </a:solidFill>
            </a:endParaRPr>
          </a:p>
          <a:p>
            <a:pPr indent="-342900" lvl="0" marL="457200" rtl="0" algn="l">
              <a:spcBef>
                <a:spcPts val="0"/>
              </a:spcBef>
              <a:spcAft>
                <a:spcPts val="0"/>
              </a:spcAft>
              <a:buSzPts val="1800"/>
              <a:buAutoNum type="arabicPeriod"/>
            </a:pPr>
            <a:r>
              <a:rPr lang="en">
                <a:highlight>
                  <a:srgbClr val="D9EAD3"/>
                </a:highlight>
              </a:rPr>
              <a:t>Connection setup and teardown</a:t>
            </a:r>
            <a:r>
              <a:rPr lang="en"/>
              <a:t> </a:t>
            </a:r>
            <a:r>
              <a:rPr lang="en" sz="1400">
                <a:solidFill>
                  <a:schemeClr val="accent3"/>
                </a:solidFill>
              </a:rPr>
              <a:t>(</a:t>
            </a:r>
            <a:r>
              <a:rPr i="1" lang="en" sz="1400">
                <a:solidFill>
                  <a:schemeClr val="accent3"/>
                </a:solidFill>
              </a:rPr>
              <a:t>f</a:t>
            </a:r>
            <a:r>
              <a:rPr i="1" lang="en" sz="1400">
                <a:solidFill>
                  <a:schemeClr val="accent3"/>
                </a:solidFill>
              </a:rPr>
              <a:t>lags</a:t>
            </a:r>
            <a:r>
              <a:rPr lang="en" sz="1400">
                <a:solidFill>
                  <a:schemeClr val="accent3"/>
                </a:solidFill>
              </a:rPr>
              <a:t>)</a:t>
            </a:r>
            <a:endParaRPr sz="1400">
              <a:solidFill>
                <a:schemeClr val="accent3"/>
              </a:solidFill>
            </a:endParaRPr>
          </a:p>
          <a:p>
            <a:pPr indent="-342900" lvl="0" marL="457200" rtl="0" algn="l">
              <a:spcBef>
                <a:spcPts val="0"/>
              </a:spcBef>
              <a:spcAft>
                <a:spcPts val="0"/>
              </a:spcAft>
              <a:buSzPts val="1800"/>
              <a:buAutoNum type="arabicPeriod"/>
            </a:pPr>
            <a:r>
              <a:rPr lang="en">
                <a:highlight>
                  <a:srgbClr val="CFE2F3"/>
                </a:highlight>
              </a:rPr>
              <a:t>Flow control</a:t>
            </a:r>
            <a:r>
              <a:rPr lang="en"/>
              <a:t> </a:t>
            </a:r>
            <a:r>
              <a:rPr lang="en" sz="1400">
                <a:solidFill>
                  <a:schemeClr val="accent3"/>
                </a:solidFill>
              </a:rPr>
              <a:t>(</a:t>
            </a:r>
            <a:r>
              <a:rPr i="1" lang="en" sz="1400">
                <a:solidFill>
                  <a:schemeClr val="accent3"/>
                </a:solidFill>
              </a:rPr>
              <a:t>a</a:t>
            </a:r>
            <a:r>
              <a:rPr i="1" lang="en" sz="1400">
                <a:solidFill>
                  <a:schemeClr val="accent3"/>
                </a:solidFill>
              </a:rPr>
              <a:t>dvertised window</a:t>
            </a:r>
            <a:r>
              <a:rPr lang="en" sz="1400">
                <a:solidFill>
                  <a:schemeClr val="accent3"/>
                </a:solidFill>
              </a:rPr>
              <a:t>)</a:t>
            </a:r>
            <a:endParaRPr sz="1400">
              <a:solidFill>
                <a:schemeClr val="accent3"/>
              </a:solidFill>
            </a:endParaRPr>
          </a:p>
        </p:txBody>
      </p:sp>
      <p:graphicFrame>
        <p:nvGraphicFramePr>
          <p:cNvPr id="1296" name="Google Shape;1296;p52"/>
          <p:cNvGraphicFramePr/>
          <p:nvPr/>
        </p:nvGraphicFramePr>
        <p:xfrm>
          <a:off x="1257300" y="3055400"/>
          <a:ext cx="3000000" cy="3000000"/>
        </p:xfrm>
        <a:graphic>
          <a:graphicData uri="http://schemas.openxmlformats.org/drawingml/2006/table">
            <a:tbl>
              <a:tblPr>
                <a:noFill/>
                <a:tableStyleId>{1F736DB2-8000-4A80-A771-95157FF95D4A}</a:tableStyleId>
              </a:tblPr>
              <a:tblGrid>
                <a:gridCol w="826150"/>
                <a:gridCol w="826150"/>
                <a:gridCol w="826150"/>
                <a:gridCol w="826150"/>
                <a:gridCol w="826150"/>
                <a:gridCol w="826150"/>
                <a:gridCol w="826150"/>
                <a:gridCol w="826150"/>
              </a:tblGrid>
              <a:tr h="205675">
                <a:tc gridSpan="4">
                  <a:txBody>
                    <a:bodyPr/>
                    <a:lstStyle/>
                    <a:p>
                      <a:pPr indent="0" lvl="0" marL="0" rtl="0" algn="ctr">
                        <a:spcBef>
                          <a:spcPts val="0"/>
                        </a:spcBef>
                        <a:spcAft>
                          <a:spcPts val="0"/>
                        </a:spcAft>
                        <a:buNone/>
                      </a:pPr>
                      <a:r>
                        <a:rPr lang="en">
                          <a:latin typeface="Roboto"/>
                          <a:ea typeface="Roboto"/>
                          <a:cs typeface="Roboto"/>
                          <a:sym typeface="Roboto"/>
                        </a:rPr>
                        <a:t>Source Port (16)</a:t>
                      </a:r>
                      <a:endParaRPr>
                        <a:latin typeface="Roboto"/>
                        <a:ea typeface="Roboto"/>
                        <a:cs typeface="Roboto"/>
                        <a:sym typeface="Roboto"/>
                      </a:endParaRPr>
                    </a:p>
                  </a:txBody>
                  <a:tcPr marT="27425" marB="27425" marR="27425" marL="27425" anchor="ctr">
                    <a:solidFill>
                      <a:srgbClr val="F4CCCC"/>
                    </a:solidFill>
                  </a:tcPr>
                </a:tc>
                <a:tc hMerge="1"/>
                <a:tc hMerge="1"/>
                <a:tc hMerge="1"/>
                <a:tc gridSpan="4">
                  <a:txBody>
                    <a:bodyPr/>
                    <a:lstStyle/>
                    <a:p>
                      <a:pPr indent="0" lvl="0" marL="0" rtl="0" algn="ctr">
                        <a:spcBef>
                          <a:spcPts val="0"/>
                        </a:spcBef>
                        <a:spcAft>
                          <a:spcPts val="0"/>
                        </a:spcAft>
                        <a:buNone/>
                      </a:pPr>
                      <a:r>
                        <a:rPr lang="en">
                          <a:latin typeface="Roboto"/>
                          <a:ea typeface="Roboto"/>
                          <a:cs typeface="Roboto"/>
                          <a:sym typeface="Roboto"/>
                        </a:rPr>
                        <a:t>Destination Port (16)</a:t>
                      </a:r>
                      <a:endParaRPr>
                        <a:latin typeface="Roboto"/>
                        <a:ea typeface="Roboto"/>
                        <a:cs typeface="Roboto"/>
                        <a:sym typeface="Roboto"/>
                      </a:endParaRPr>
                    </a:p>
                  </a:txBody>
                  <a:tcPr marT="27425" marB="27425" marR="27425" marL="27425" anchor="ctr">
                    <a:solidFill>
                      <a:srgbClr val="F4CCCC"/>
                    </a:solidFill>
                  </a:tcPr>
                </a:tc>
                <a:tc hMerge="1"/>
                <a:tc hMerge="1"/>
                <a:tc hMerge="1"/>
              </a:tr>
              <a:tr h="205675">
                <a:tc gridSpan="8">
                  <a:txBody>
                    <a:bodyPr/>
                    <a:lstStyle/>
                    <a:p>
                      <a:pPr indent="0" lvl="0" marL="0" rtl="0" algn="ctr">
                        <a:spcBef>
                          <a:spcPts val="0"/>
                        </a:spcBef>
                        <a:spcAft>
                          <a:spcPts val="0"/>
                        </a:spcAft>
                        <a:buNone/>
                      </a:pPr>
                      <a:r>
                        <a:rPr lang="en">
                          <a:latin typeface="Roboto"/>
                          <a:ea typeface="Roboto"/>
                          <a:cs typeface="Roboto"/>
                          <a:sym typeface="Roboto"/>
                        </a:rPr>
                        <a:t>Sequence Number (32)</a:t>
                      </a:r>
                      <a:endParaRPr>
                        <a:latin typeface="Roboto"/>
                        <a:ea typeface="Roboto"/>
                        <a:cs typeface="Roboto"/>
                        <a:sym typeface="Roboto"/>
                      </a:endParaRPr>
                    </a:p>
                  </a:txBody>
                  <a:tcPr marT="27425" marB="27425" marR="27425" marL="27425" anchor="ctr">
                    <a:solidFill>
                      <a:srgbClr val="FCE5CD"/>
                    </a:solidFill>
                  </a:tcPr>
                </a:tc>
                <a:tc hMerge="1"/>
                <a:tc hMerge="1"/>
                <a:tc hMerge="1"/>
                <a:tc hMerge="1"/>
                <a:tc hMerge="1"/>
                <a:tc hMerge="1"/>
                <a:tc hMerge="1"/>
              </a:tr>
              <a:tr h="205675">
                <a:tc gridSpan="8">
                  <a:txBody>
                    <a:bodyPr/>
                    <a:lstStyle/>
                    <a:p>
                      <a:pPr indent="0" lvl="0" marL="0" rtl="0" algn="ctr">
                        <a:spcBef>
                          <a:spcPts val="0"/>
                        </a:spcBef>
                        <a:spcAft>
                          <a:spcPts val="0"/>
                        </a:spcAft>
                        <a:buNone/>
                      </a:pPr>
                      <a:r>
                        <a:rPr lang="en">
                          <a:latin typeface="Roboto"/>
                          <a:ea typeface="Roboto"/>
                          <a:cs typeface="Roboto"/>
                          <a:sym typeface="Roboto"/>
                        </a:rPr>
                        <a:t>Acknowledgment Number (32)</a:t>
                      </a:r>
                      <a:endParaRPr>
                        <a:latin typeface="Roboto"/>
                        <a:ea typeface="Roboto"/>
                        <a:cs typeface="Roboto"/>
                        <a:sym typeface="Roboto"/>
                      </a:endParaRPr>
                    </a:p>
                  </a:txBody>
                  <a:tcPr marT="27425" marB="27425" marR="27425" marL="27425" anchor="ctr">
                    <a:solidFill>
                      <a:srgbClr val="FCE5CD"/>
                    </a:solidFill>
                  </a:tcPr>
                </a:tc>
                <a:tc hMerge="1"/>
                <a:tc hMerge="1"/>
                <a:tc hMerge="1"/>
                <a:tc hMerge="1"/>
                <a:tc hMerge="1"/>
                <a:tc hMerge="1"/>
                <a:tc hMerge="1"/>
              </a:tr>
              <a:tr h="205675">
                <a:tc>
                  <a:txBody>
                    <a:bodyPr/>
                    <a:lstStyle/>
                    <a:p>
                      <a:pPr indent="0" lvl="0" marL="0" rtl="0" algn="ctr">
                        <a:spcBef>
                          <a:spcPts val="0"/>
                        </a:spcBef>
                        <a:spcAft>
                          <a:spcPts val="0"/>
                        </a:spcAft>
                        <a:buNone/>
                      </a:pPr>
                      <a:r>
                        <a:rPr lang="en" sz="1200">
                          <a:latin typeface="Roboto"/>
                          <a:ea typeface="Roboto"/>
                          <a:cs typeface="Roboto"/>
                          <a:sym typeface="Roboto"/>
                        </a:rPr>
                        <a:t>Hdr Len (4)</a:t>
                      </a:r>
                      <a:endParaRPr sz="1200">
                        <a:latin typeface="Roboto"/>
                        <a:ea typeface="Roboto"/>
                        <a:cs typeface="Roboto"/>
                        <a:sym typeface="Roboto"/>
                      </a:endParaRPr>
                    </a:p>
                  </a:txBody>
                  <a:tcPr marT="27425" marB="27425" marR="27425" marL="27425" anchor="ctr"/>
                </a:tc>
                <a:tc>
                  <a:txBody>
                    <a:bodyPr/>
                    <a:lstStyle/>
                    <a:p>
                      <a:pPr indent="0" lvl="0" marL="0" rtl="0" algn="ctr">
                        <a:spcBef>
                          <a:spcPts val="0"/>
                        </a:spcBef>
                        <a:spcAft>
                          <a:spcPts val="0"/>
                        </a:spcAft>
                        <a:buNone/>
                      </a:pPr>
                      <a:r>
                        <a:rPr lang="en">
                          <a:latin typeface="Consolas"/>
                          <a:ea typeface="Consolas"/>
                          <a:cs typeface="Consolas"/>
                          <a:sym typeface="Consolas"/>
                        </a:rPr>
                        <a:t>0000</a:t>
                      </a:r>
                      <a:endParaRPr>
                        <a:latin typeface="Consolas"/>
                        <a:ea typeface="Consolas"/>
                        <a:cs typeface="Consolas"/>
                        <a:sym typeface="Consolas"/>
                      </a:endParaRPr>
                    </a:p>
                  </a:txBody>
                  <a:tcPr marT="27425" marB="27425" marR="27425" marL="27425" anchor="ctr"/>
                </a:tc>
                <a:tc gridSpan="2">
                  <a:txBody>
                    <a:bodyPr/>
                    <a:lstStyle/>
                    <a:p>
                      <a:pPr indent="0" lvl="0" marL="0" rtl="0" algn="ctr">
                        <a:spcBef>
                          <a:spcPts val="0"/>
                        </a:spcBef>
                        <a:spcAft>
                          <a:spcPts val="0"/>
                        </a:spcAft>
                        <a:buNone/>
                      </a:pPr>
                      <a:r>
                        <a:rPr lang="en">
                          <a:latin typeface="Roboto"/>
                          <a:ea typeface="Roboto"/>
                          <a:cs typeface="Roboto"/>
                          <a:sym typeface="Roboto"/>
                        </a:rPr>
                        <a:t>Flags (8)</a:t>
                      </a:r>
                      <a:endParaRPr>
                        <a:latin typeface="Roboto"/>
                        <a:ea typeface="Roboto"/>
                        <a:cs typeface="Roboto"/>
                        <a:sym typeface="Roboto"/>
                      </a:endParaRPr>
                    </a:p>
                  </a:txBody>
                  <a:tcPr marT="27425" marB="27425" marR="27425" marL="27425" anchor="ctr">
                    <a:solidFill>
                      <a:srgbClr val="D9EAD3"/>
                    </a:solidFill>
                  </a:tcPr>
                </a:tc>
                <a:tc hMerge="1"/>
                <a:tc gridSpan="4">
                  <a:txBody>
                    <a:bodyPr/>
                    <a:lstStyle/>
                    <a:p>
                      <a:pPr indent="0" lvl="0" marL="0" rtl="0" algn="ctr">
                        <a:spcBef>
                          <a:spcPts val="0"/>
                        </a:spcBef>
                        <a:spcAft>
                          <a:spcPts val="0"/>
                        </a:spcAft>
                        <a:buNone/>
                      </a:pPr>
                      <a:r>
                        <a:rPr lang="en">
                          <a:latin typeface="Roboto"/>
                          <a:ea typeface="Roboto"/>
                          <a:cs typeface="Roboto"/>
                          <a:sym typeface="Roboto"/>
                        </a:rPr>
                        <a:t>Advertised Window (16)</a:t>
                      </a:r>
                      <a:endParaRPr>
                        <a:latin typeface="Roboto"/>
                        <a:ea typeface="Roboto"/>
                        <a:cs typeface="Roboto"/>
                        <a:sym typeface="Roboto"/>
                      </a:endParaRPr>
                    </a:p>
                  </a:txBody>
                  <a:tcPr marT="27425" marB="27425" marR="27425" marL="27425" anchor="ctr">
                    <a:solidFill>
                      <a:srgbClr val="CFE2F3"/>
                    </a:solidFill>
                  </a:tcPr>
                </a:tc>
                <a:tc hMerge="1"/>
                <a:tc hMerge="1"/>
                <a:tc hMerge="1"/>
              </a:tr>
              <a:tr h="205675">
                <a:tc gridSpan="4">
                  <a:txBody>
                    <a:bodyPr/>
                    <a:lstStyle/>
                    <a:p>
                      <a:pPr indent="0" lvl="0" marL="0" rtl="0" algn="ctr">
                        <a:spcBef>
                          <a:spcPts val="0"/>
                        </a:spcBef>
                        <a:spcAft>
                          <a:spcPts val="0"/>
                        </a:spcAft>
                        <a:buNone/>
                      </a:pPr>
                      <a:r>
                        <a:rPr lang="en">
                          <a:latin typeface="Roboto"/>
                          <a:ea typeface="Roboto"/>
                          <a:cs typeface="Roboto"/>
                          <a:sym typeface="Roboto"/>
                        </a:rPr>
                        <a:t>Checksum (16)</a:t>
                      </a:r>
                      <a:endParaRPr>
                        <a:latin typeface="Roboto"/>
                        <a:ea typeface="Roboto"/>
                        <a:cs typeface="Roboto"/>
                        <a:sym typeface="Roboto"/>
                      </a:endParaRPr>
                    </a:p>
                  </a:txBody>
                  <a:tcPr marT="27425" marB="27425" marR="27425" marL="27425" anchor="ctr">
                    <a:solidFill>
                      <a:srgbClr val="FCE5CD"/>
                    </a:solidFill>
                  </a:tcPr>
                </a:tc>
                <a:tc hMerge="1"/>
                <a:tc hMerge="1"/>
                <a:tc hMerge="1"/>
                <a:tc gridSpan="4">
                  <a:txBody>
                    <a:bodyPr/>
                    <a:lstStyle/>
                    <a:p>
                      <a:pPr indent="0" lvl="0" marL="0" rtl="0" algn="ctr">
                        <a:spcBef>
                          <a:spcPts val="0"/>
                        </a:spcBef>
                        <a:spcAft>
                          <a:spcPts val="0"/>
                        </a:spcAft>
                        <a:buNone/>
                      </a:pPr>
                      <a:r>
                        <a:rPr lang="en">
                          <a:latin typeface="Roboto"/>
                          <a:ea typeface="Roboto"/>
                          <a:cs typeface="Roboto"/>
                          <a:sym typeface="Roboto"/>
                        </a:rPr>
                        <a:t>Urgent Pointer (16)</a:t>
                      </a:r>
                      <a:endParaRPr>
                        <a:latin typeface="Roboto"/>
                        <a:ea typeface="Roboto"/>
                        <a:cs typeface="Roboto"/>
                        <a:sym typeface="Roboto"/>
                      </a:endParaRPr>
                    </a:p>
                  </a:txBody>
                  <a:tcPr marT="27425" marB="27425" marR="27425" marL="27425" anchor="ctr"/>
                </a:tc>
                <a:tc hMerge="1"/>
                <a:tc hMerge="1"/>
                <a:tc hMerge="1"/>
              </a:tr>
              <a:tr h="205675">
                <a:tc gridSpan="8">
                  <a:txBody>
                    <a:bodyPr/>
                    <a:lstStyle/>
                    <a:p>
                      <a:pPr indent="0" lvl="0" marL="0" rtl="0" algn="ctr">
                        <a:spcBef>
                          <a:spcPts val="0"/>
                        </a:spcBef>
                        <a:spcAft>
                          <a:spcPts val="0"/>
                        </a:spcAft>
                        <a:buNone/>
                      </a:pPr>
                      <a:r>
                        <a:rPr lang="en">
                          <a:latin typeface="Roboto"/>
                          <a:ea typeface="Roboto"/>
                          <a:cs typeface="Roboto"/>
                          <a:sym typeface="Roboto"/>
                        </a:rPr>
                        <a:t>Options (variable-length)</a:t>
                      </a:r>
                      <a:endParaRPr>
                        <a:latin typeface="Roboto"/>
                        <a:ea typeface="Roboto"/>
                        <a:cs typeface="Roboto"/>
                        <a:sym typeface="Roboto"/>
                      </a:endParaRPr>
                    </a:p>
                  </a:txBody>
                  <a:tcPr marT="27425" marB="27425" marR="27425" marL="27425" anchor="ctr"/>
                </a:tc>
                <a:tc hMerge="1"/>
                <a:tc hMerge="1"/>
                <a:tc hMerge="1"/>
                <a:tc hMerge="1"/>
                <a:tc hMerge="1"/>
                <a:tc hMerge="1"/>
                <a:tc hMerge="1"/>
              </a:tr>
              <a:tr h="205675">
                <a:tc gridSpan="8">
                  <a:txBody>
                    <a:bodyPr/>
                    <a:lstStyle/>
                    <a:p>
                      <a:pPr indent="0" lvl="0" marL="0" rtl="0" algn="ctr">
                        <a:spcBef>
                          <a:spcPts val="0"/>
                        </a:spcBef>
                        <a:spcAft>
                          <a:spcPts val="0"/>
                        </a:spcAft>
                        <a:buNone/>
                      </a:pPr>
                      <a:r>
                        <a:rPr lang="en">
                          <a:latin typeface="Roboto"/>
                          <a:ea typeface="Roboto"/>
                          <a:cs typeface="Roboto"/>
                          <a:sym typeface="Roboto"/>
                        </a:rPr>
                        <a:t>Payload</a:t>
                      </a:r>
                      <a:endParaRPr>
                        <a:latin typeface="Roboto"/>
                        <a:ea typeface="Roboto"/>
                        <a:cs typeface="Roboto"/>
                        <a:sym typeface="Roboto"/>
                      </a:endParaRPr>
                    </a:p>
                  </a:txBody>
                  <a:tcPr marT="27425" marB="27425" marR="27425" marL="27425" anchor="ctr"/>
                </a:tc>
                <a:tc hMerge="1"/>
                <a:tc hMerge="1"/>
                <a:tc hMerge="1"/>
                <a:tc hMerge="1"/>
                <a:tc hMerge="1"/>
                <a:tc hMerge="1"/>
                <a:tc hMerge="1"/>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0" name="Shape 1300"/>
        <p:cNvGrpSpPr/>
        <p:nvPr/>
      </p:nvGrpSpPr>
      <p:grpSpPr>
        <a:xfrm>
          <a:off x="0" y="0"/>
          <a:ext cx="0" cy="0"/>
          <a:chOff x="0" y="0"/>
          <a:chExt cx="0" cy="0"/>
        </a:xfrm>
      </p:grpSpPr>
      <p:sp>
        <p:nvSpPr>
          <p:cNvPr id="1301" name="Google Shape;1301;p53"/>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TCP Header</a:t>
            </a:r>
            <a:endParaRPr/>
          </a:p>
        </p:txBody>
      </p:sp>
      <p:sp>
        <p:nvSpPr>
          <p:cNvPr id="1302" name="Google Shape;1302;p53"/>
          <p:cNvSpPr txBox="1"/>
          <p:nvPr>
            <p:ph idx="1" type="body"/>
          </p:nvPr>
        </p:nvSpPr>
        <p:spPr>
          <a:xfrm>
            <a:off x="107050" y="402200"/>
            <a:ext cx="8909700" cy="24411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There are 8 flags that can be set in TCP. We care about 4 of them:</a:t>
            </a:r>
            <a:endParaRPr/>
          </a:p>
          <a:p>
            <a:pPr indent="-342900" lvl="0" marL="457200" rtl="0" algn="l">
              <a:spcBef>
                <a:spcPts val="600"/>
              </a:spcBef>
              <a:spcAft>
                <a:spcPts val="0"/>
              </a:spcAft>
              <a:buSzPts val="1800"/>
              <a:buChar char="●"/>
            </a:pPr>
            <a:r>
              <a:rPr lang="en"/>
              <a:t>SYN: I'm sending my initial sequence number.</a:t>
            </a:r>
            <a:endParaRPr/>
          </a:p>
          <a:p>
            <a:pPr indent="-342900" lvl="0" marL="457200" rtl="0" algn="l">
              <a:spcBef>
                <a:spcPts val="0"/>
              </a:spcBef>
              <a:spcAft>
                <a:spcPts val="0"/>
              </a:spcAft>
              <a:buSzPts val="1800"/>
              <a:buChar char="●"/>
            </a:pPr>
            <a:r>
              <a:rPr lang="en"/>
              <a:t>ACK: I'm </a:t>
            </a:r>
            <a:r>
              <a:rPr lang="en"/>
              <a:t>acking</a:t>
            </a:r>
            <a:r>
              <a:rPr lang="en"/>
              <a:t> data (please look at the ack number).</a:t>
            </a:r>
            <a:endParaRPr/>
          </a:p>
          <a:p>
            <a:pPr indent="-342900" lvl="0" marL="457200" rtl="0" algn="l">
              <a:spcBef>
                <a:spcPts val="0"/>
              </a:spcBef>
              <a:spcAft>
                <a:spcPts val="0"/>
              </a:spcAft>
              <a:buSzPts val="1800"/>
              <a:buChar char="●"/>
            </a:pPr>
            <a:r>
              <a:rPr lang="en"/>
              <a:t>FIN: I'm done sending data, but will keep receiving data.</a:t>
            </a:r>
            <a:endParaRPr/>
          </a:p>
          <a:p>
            <a:pPr indent="-342900" lvl="0" marL="457200" rtl="0" algn="l">
              <a:spcBef>
                <a:spcPts val="0"/>
              </a:spcBef>
              <a:spcAft>
                <a:spcPts val="0"/>
              </a:spcAft>
              <a:buSzPts val="1800"/>
              <a:buChar char="●"/>
            </a:pPr>
            <a:r>
              <a:rPr lang="en"/>
              <a:t>RST: I'm done sending and receiving data.</a:t>
            </a:r>
            <a:endParaRPr/>
          </a:p>
          <a:p>
            <a:pPr indent="0" lvl="0" marL="0" rtl="0" algn="l">
              <a:spcBef>
                <a:spcPts val="600"/>
              </a:spcBef>
              <a:spcAft>
                <a:spcPts val="0"/>
              </a:spcAft>
              <a:buNone/>
            </a:pPr>
            <a:r>
              <a:rPr lang="en"/>
              <a:t>We won't look at the other four: CWR, ECE, URG, PSH.</a:t>
            </a:r>
            <a:endParaRPr/>
          </a:p>
        </p:txBody>
      </p:sp>
      <p:graphicFrame>
        <p:nvGraphicFramePr>
          <p:cNvPr id="1303" name="Google Shape;1303;p53"/>
          <p:cNvGraphicFramePr/>
          <p:nvPr/>
        </p:nvGraphicFramePr>
        <p:xfrm>
          <a:off x="1257300" y="3055400"/>
          <a:ext cx="3000000" cy="3000000"/>
        </p:xfrm>
        <a:graphic>
          <a:graphicData uri="http://schemas.openxmlformats.org/drawingml/2006/table">
            <a:tbl>
              <a:tblPr>
                <a:noFill/>
                <a:tableStyleId>{1F736DB2-8000-4A80-A771-95157FF95D4A}</a:tableStyleId>
              </a:tblPr>
              <a:tblGrid>
                <a:gridCol w="826150"/>
                <a:gridCol w="826150"/>
                <a:gridCol w="826150"/>
                <a:gridCol w="826150"/>
                <a:gridCol w="826150"/>
                <a:gridCol w="826150"/>
                <a:gridCol w="826150"/>
                <a:gridCol w="826150"/>
              </a:tblGrid>
              <a:tr h="205675">
                <a:tc gridSpan="4">
                  <a:txBody>
                    <a:bodyPr/>
                    <a:lstStyle/>
                    <a:p>
                      <a:pPr indent="0" lvl="0" marL="0" rtl="0" algn="ctr">
                        <a:spcBef>
                          <a:spcPts val="0"/>
                        </a:spcBef>
                        <a:spcAft>
                          <a:spcPts val="0"/>
                        </a:spcAft>
                        <a:buNone/>
                      </a:pPr>
                      <a:r>
                        <a:rPr lang="en">
                          <a:latin typeface="Roboto"/>
                          <a:ea typeface="Roboto"/>
                          <a:cs typeface="Roboto"/>
                          <a:sym typeface="Roboto"/>
                        </a:rPr>
                        <a:t>Source Port (16)</a:t>
                      </a:r>
                      <a:endParaRPr>
                        <a:latin typeface="Roboto"/>
                        <a:ea typeface="Roboto"/>
                        <a:cs typeface="Roboto"/>
                        <a:sym typeface="Roboto"/>
                      </a:endParaRPr>
                    </a:p>
                  </a:txBody>
                  <a:tcPr marT="27425" marB="27425" marR="27425" marL="27425" anchor="ctr"/>
                </a:tc>
                <a:tc hMerge="1"/>
                <a:tc hMerge="1"/>
                <a:tc hMerge="1"/>
                <a:tc gridSpan="4">
                  <a:txBody>
                    <a:bodyPr/>
                    <a:lstStyle/>
                    <a:p>
                      <a:pPr indent="0" lvl="0" marL="0" rtl="0" algn="ctr">
                        <a:spcBef>
                          <a:spcPts val="0"/>
                        </a:spcBef>
                        <a:spcAft>
                          <a:spcPts val="0"/>
                        </a:spcAft>
                        <a:buNone/>
                      </a:pPr>
                      <a:r>
                        <a:rPr lang="en">
                          <a:latin typeface="Roboto"/>
                          <a:ea typeface="Roboto"/>
                          <a:cs typeface="Roboto"/>
                          <a:sym typeface="Roboto"/>
                        </a:rPr>
                        <a:t>Destination Port (16)</a:t>
                      </a:r>
                      <a:endParaRPr>
                        <a:latin typeface="Roboto"/>
                        <a:ea typeface="Roboto"/>
                        <a:cs typeface="Roboto"/>
                        <a:sym typeface="Roboto"/>
                      </a:endParaRPr>
                    </a:p>
                  </a:txBody>
                  <a:tcPr marT="27425" marB="27425" marR="27425" marL="27425" anchor="ctr"/>
                </a:tc>
                <a:tc hMerge="1"/>
                <a:tc hMerge="1"/>
                <a:tc hMerge="1"/>
              </a:tr>
              <a:tr h="205675">
                <a:tc gridSpan="8">
                  <a:txBody>
                    <a:bodyPr/>
                    <a:lstStyle/>
                    <a:p>
                      <a:pPr indent="0" lvl="0" marL="0" rtl="0" algn="ctr">
                        <a:spcBef>
                          <a:spcPts val="0"/>
                        </a:spcBef>
                        <a:spcAft>
                          <a:spcPts val="0"/>
                        </a:spcAft>
                        <a:buNone/>
                      </a:pPr>
                      <a:r>
                        <a:rPr lang="en">
                          <a:latin typeface="Roboto"/>
                          <a:ea typeface="Roboto"/>
                          <a:cs typeface="Roboto"/>
                          <a:sym typeface="Roboto"/>
                        </a:rPr>
                        <a:t>Sequence Number (32)</a:t>
                      </a:r>
                      <a:endParaRPr>
                        <a:latin typeface="Roboto"/>
                        <a:ea typeface="Roboto"/>
                        <a:cs typeface="Roboto"/>
                        <a:sym typeface="Roboto"/>
                      </a:endParaRPr>
                    </a:p>
                  </a:txBody>
                  <a:tcPr marT="27425" marB="27425" marR="27425" marL="27425" anchor="ctr"/>
                </a:tc>
                <a:tc hMerge="1"/>
                <a:tc hMerge="1"/>
                <a:tc hMerge="1"/>
                <a:tc hMerge="1"/>
                <a:tc hMerge="1"/>
                <a:tc hMerge="1"/>
                <a:tc hMerge="1"/>
              </a:tr>
              <a:tr h="205675">
                <a:tc gridSpan="8">
                  <a:txBody>
                    <a:bodyPr/>
                    <a:lstStyle/>
                    <a:p>
                      <a:pPr indent="0" lvl="0" marL="0" rtl="0" algn="ctr">
                        <a:spcBef>
                          <a:spcPts val="0"/>
                        </a:spcBef>
                        <a:spcAft>
                          <a:spcPts val="0"/>
                        </a:spcAft>
                        <a:buNone/>
                      </a:pPr>
                      <a:r>
                        <a:rPr lang="en">
                          <a:latin typeface="Roboto"/>
                          <a:ea typeface="Roboto"/>
                          <a:cs typeface="Roboto"/>
                          <a:sym typeface="Roboto"/>
                        </a:rPr>
                        <a:t>Acknowledgment Number (32)</a:t>
                      </a:r>
                      <a:endParaRPr>
                        <a:latin typeface="Roboto"/>
                        <a:ea typeface="Roboto"/>
                        <a:cs typeface="Roboto"/>
                        <a:sym typeface="Roboto"/>
                      </a:endParaRPr>
                    </a:p>
                  </a:txBody>
                  <a:tcPr marT="27425" marB="27425" marR="27425" marL="27425" anchor="ctr"/>
                </a:tc>
                <a:tc hMerge="1"/>
                <a:tc hMerge="1"/>
                <a:tc hMerge="1"/>
                <a:tc hMerge="1"/>
                <a:tc hMerge="1"/>
                <a:tc hMerge="1"/>
                <a:tc hMerge="1"/>
              </a:tr>
              <a:tr h="205675">
                <a:tc>
                  <a:txBody>
                    <a:bodyPr/>
                    <a:lstStyle/>
                    <a:p>
                      <a:pPr indent="0" lvl="0" marL="0" rtl="0" algn="ctr">
                        <a:spcBef>
                          <a:spcPts val="0"/>
                        </a:spcBef>
                        <a:spcAft>
                          <a:spcPts val="0"/>
                        </a:spcAft>
                        <a:buNone/>
                      </a:pPr>
                      <a:r>
                        <a:rPr lang="en" sz="1200">
                          <a:latin typeface="Roboto"/>
                          <a:ea typeface="Roboto"/>
                          <a:cs typeface="Roboto"/>
                          <a:sym typeface="Roboto"/>
                        </a:rPr>
                        <a:t>Hdr Len (4)</a:t>
                      </a:r>
                      <a:endParaRPr sz="1200">
                        <a:latin typeface="Roboto"/>
                        <a:ea typeface="Roboto"/>
                        <a:cs typeface="Roboto"/>
                        <a:sym typeface="Roboto"/>
                      </a:endParaRPr>
                    </a:p>
                  </a:txBody>
                  <a:tcPr marT="27425" marB="27425" marR="27425" marL="27425" anchor="ctr"/>
                </a:tc>
                <a:tc>
                  <a:txBody>
                    <a:bodyPr/>
                    <a:lstStyle/>
                    <a:p>
                      <a:pPr indent="0" lvl="0" marL="0" rtl="0" algn="ctr">
                        <a:spcBef>
                          <a:spcPts val="0"/>
                        </a:spcBef>
                        <a:spcAft>
                          <a:spcPts val="0"/>
                        </a:spcAft>
                        <a:buNone/>
                      </a:pPr>
                      <a:r>
                        <a:rPr lang="en">
                          <a:latin typeface="Consolas"/>
                          <a:ea typeface="Consolas"/>
                          <a:cs typeface="Consolas"/>
                          <a:sym typeface="Consolas"/>
                        </a:rPr>
                        <a:t>0000</a:t>
                      </a:r>
                      <a:endParaRPr>
                        <a:latin typeface="Consolas"/>
                        <a:ea typeface="Consolas"/>
                        <a:cs typeface="Consolas"/>
                        <a:sym typeface="Consolas"/>
                      </a:endParaRPr>
                    </a:p>
                  </a:txBody>
                  <a:tcPr marT="27425" marB="27425" marR="27425" marL="27425" anchor="ctr"/>
                </a:tc>
                <a:tc gridSpan="2">
                  <a:txBody>
                    <a:bodyPr/>
                    <a:lstStyle/>
                    <a:p>
                      <a:pPr indent="0" lvl="0" marL="0" rtl="0" algn="ctr">
                        <a:spcBef>
                          <a:spcPts val="0"/>
                        </a:spcBef>
                        <a:spcAft>
                          <a:spcPts val="0"/>
                        </a:spcAft>
                        <a:buNone/>
                      </a:pPr>
                      <a:r>
                        <a:rPr lang="en">
                          <a:latin typeface="Roboto"/>
                          <a:ea typeface="Roboto"/>
                          <a:cs typeface="Roboto"/>
                          <a:sym typeface="Roboto"/>
                        </a:rPr>
                        <a:t>Flags (8)</a:t>
                      </a:r>
                      <a:endParaRPr>
                        <a:latin typeface="Roboto"/>
                        <a:ea typeface="Roboto"/>
                        <a:cs typeface="Roboto"/>
                        <a:sym typeface="Roboto"/>
                      </a:endParaRPr>
                    </a:p>
                  </a:txBody>
                  <a:tcPr marT="27425" marB="27425" marR="27425" marL="27425" anchor="ctr">
                    <a:solidFill>
                      <a:srgbClr val="D9EAD3"/>
                    </a:solidFill>
                  </a:tcPr>
                </a:tc>
                <a:tc hMerge="1"/>
                <a:tc gridSpan="4">
                  <a:txBody>
                    <a:bodyPr/>
                    <a:lstStyle/>
                    <a:p>
                      <a:pPr indent="0" lvl="0" marL="0" rtl="0" algn="ctr">
                        <a:spcBef>
                          <a:spcPts val="0"/>
                        </a:spcBef>
                        <a:spcAft>
                          <a:spcPts val="0"/>
                        </a:spcAft>
                        <a:buNone/>
                      </a:pPr>
                      <a:r>
                        <a:rPr lang="en">
                          <a:latin typeface="Roboto"/>
                          <a:ea typeface="Roboto"/>
                          <a:cs typeface="Roboto"/>
                          <a:sym typeface="Roboto"/>
                        </a:rPr>
                        <a:t>Advertised Window (16)</a:t>
                      </a:r>
                      <a:endParaRPr>
                        <a:latin typeface="Roboto"/>
                        <a:ea typeface="Roboto"/>
                        <a:cs typeface="Roboto"/>
                        <a:sym typeface="Roboto"/>
                      </a:endParaRPr>
                    </a:p>
                  </a:txBody>
                  <a:tcPr marT="27425" marB="27425" marR="27425" marL="27425" anchor="ctr"/>
                </a:tc>
                <a:tc hMerge="1"/>
                <a:tc hMerge="1"/>
                <a:tc hMerge="1"/>
              </a:tr>
              <a:tr h="205675">
                <a:tc gridSpan="4">
                  <a:txBody>
                    <a:bodyPr/>
                    <a:lstStyle/>
                    <a:p>
                      <a:pPr indent="0" lvl="0" marL="0" rtl="0" algn="ctr">
                        <a:spcBef>
                          <a:spcPts val="0"/>
                        </a:spcBef>
                        <a:spcAft>
                          <a:spcPts val="0"/>
                        </a:spcAft>
                        <a:buNone/>
                      </a:pPr>
                      <a:r>
                        <a:rPr lang="en">
                          <a:latin typeface="Roboto"/>
                          <a:ea typeface="Roboto"/>
                          <a:cs typeface="Roboto"/>
                          <a:sym typeface="Roboto"/>
                        </a:rPr>
                        <a:t>Checksum (16)</a:t>
                      </a:r>
                      <a:endParaRPr>
                        <a:latin typeface="Roboto"/>
                        <a:ea typeface="Roboto"/>
                        <a:cs typeface="Roboto"/>
                        <a:sym typeface="Roboto"/>
                      </a:endParaRPr>
                    </a:p>
                  </a:txBody>
                  <a:tcPr marT="27425" marB="27425" marR="27425" marL="27425" anchor="ctr"/>
                </a:tc>
                <a:tc hMerge="1"/>
                <a:tc hMerge="1"/>
                <a:tc hMerge="1"/>
                <a:tc gridSpan="4">
                  <a:txBody>
                    <a:bodyPr/>
                    <a:lstStyle/>
                    <a:p>
                      <a:pPr indent="0" lvl="0" marL="0" rtl="0" algn="ctr">
                        <a:spcBef>
                          <a:spcPts val="0"/>
                        </a:spcBef>
                        <a:spcAft>
                          <a:spcPts val="0"/>
                        </a:spcAft>
                        <a:buNone/>
                      </a:pPr>
                      <a:r>
                        <a:rPr lang="en">
                          <a:latin typeface="Roboto"/>
                          <a:ea typeface="Roboto"/>
                          <a:cs typeface="Roboto"/>
                          <a:sym typeface="Roboto"/>
                        </a:rPr>
                        <a:t>Urgent Pointer (16)</a:t>
                      </a:r>
                      <a:endParaRPr>
                        <a:latin typeface="Roboto"/>
                        <a:ea typeface="Roboto"/>
                        <a:cs typeface="Roboto"/>
                        <a:sym typeface="Roboto"/>
                      </a:endParaRPr>
                    </a:p>
                  </a:txBody>
                  <a:tcPr marT="27425" marB="27425" marR="27425" marL="27425" anchor="ctr"/>
                </a:tc>
                <a:tc hMerge="1"/>
                <a:tc hMerge="1"/>
                <a:tc hMerge="1"/>
              </a:tr>
              <a:tr h="205675">
                <a:tc gridSpan="8">
                  <a:txBody>
                    <a:bodyPr/>
                    <a:lstStyle/>
                    <a:p>
                      <a:pPr indent="0" lvl="0" marL="0" rtl="0" algn="ctr">
                        <a:spcBef>
                          <a:spcPts val="0"/>
                        </a:spcBef>
                        <a:spcAft>
                          <a:spcPts val="0"/>
                        </a:spcAft>
                        <a:buNone/>
                      </a:pPr>
                      <a:r>
                        <a:rPr lang="en">
                          <a:latin typeface="Roboto"/>
                          <a:ea typeface="Roboto"/>
                          <a:cs typeface="Roboto"/>
                          <a:sym typeface="Roboto"/>
                        </a:rPr>
                        <a:t>Options (variable-length)</a:t>
                      </a:r>
                      <a:endParaRPr>
                        <a:latin typeface="Roboto"/>
                        <a:ea typeface="Roboto"/>
                        <a:cs typeface="Roboto"/>
                        <a:sym typeface="Roboto"/>
                      </a:endParaRPr>
                    </a:p>
                  </a:txBody>
                  <a:tcPr marT="27425" marB="27425" marR="27425" marL="27425" anchor="ctr"/>
                </a:tc>
                <a:tc hMerge="1"/>
                <a:tc hMerge="1"/>
                <a:tc hMerge="1"/>
                <a:tc hMerge="1"/>
                <a:tc hMerge="1"/>
                <a:tc hMerge="1"/>
                <a:tc hMerge="1"/>
              </a:tr>
              <a:tr h="205675">
                <a:tc gridSpan="8">
                  <a:txBody>
                    <a:bodyPr/>
                    <a:lstStyle/>
                    <a:p>
                      <a:pPr indent="0" lvl="0" marL="0" rtl="0" algn="ctr">
                        <a:spcBef>
                          <a:spcPts val="0"/>
                        </a:spcBef>
                        <a:spcAft>
                          <a:spcPts val="0"/>
                        </a:spcAft>
                        <a:buNone/>
                      </a:pPr>
                      <a:r>
                        <a:rPr lang="en">
                          <a:latin typeface="Roboto"/>
                          <a:ea typeface="Roboto"/>
                          <a:cs typeface="Roboto"/>
                          <a:sym typeface="Roboto"/>
                        </a:rPr>
                        <a:t>Payload</a:t>
                      </a:r>
                      <a:endParaRPr>
                        <a:latin typeface="Roboto"/>
                        <a:ea typeface="Roboto"/>
                        <a:cs typeface="Roboto"/>
                        <a:sym typeface="Roboto"/>
                      </a:endParaRPr>
                    </a:p>
                  </a:txBody>
                  <a:tcPr marT="27425" marB="27425" marR="27425" marL="27425" anchor="ctr"/>
                </a:tc>
                <a:tc hMerge="1"/>
                <a:tc hMerge="1"/>
                <a:tc hMerge="1"/>
                <a:tc hMerge="1"/>
                <a:tc hMerge="1"/>
                <a:tc hMerge="1"/>
                <a:tc hMerge="1"/>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7" name="Shape 1307"/>
        <p:cNvGrpSpPr/>
        <p:nvPr/>
      </p:nvGrpSpPr>
      <p:grpSpPr>
        <a:xfrm>
          <a:off x="0" y="0"/>
          <a:ext cx="0" cy="0"/>
          <a:chOff x="0" y="0"/>
          <a:chExt cx="0" cy="0"/>
        </a:xfrm>
      </p:grpSpPr>
      <p:sp>
        <p:nvSpPr>
          <p:cNvPr id="1308" name="Google Shape;1308;p54"/>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TCP Header</a:t>
            </a:r>
            <a:endParaRPr/>
          </a:p>
        </p:txBody>
      </p:sp>
      <p:sp>
        <p:nvSpPr>
          <p:cNvPr id="1309" name="Google Shape;1309;p54"/>
          <p:cNvSpPr txBox="1"/>
          <p:nvPr>
            <p:ph idx="1" type="body"/>
          </p:nvPr>
        </p:nvSpPr>
        <p:spPr>
          <a:xfrm>
            <a:off x="107050" y="402200"/>
            <a:ext cx="8909700" cy="24411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Remaining fields:</a:t>
            </a:r>
            <a:endParaRPr/>
          </a:p>
          <a:p>
            <a:pPr indent="-342900" lvl="0" marL="457200" rtl="0" algn="l">
              <a:spcBef>
                <a:spcPts val="600"/>
              </a:spcBef>
              <a:spcAft>
                <a:spcPts val="0"/>
              </a:spcAft>
              <a:buSzPts val="1800"/>
              <a:buChar char="●"/>
            </a:pPr>
            <a:r>
              <a:rPr lang="en"/>
              <a:t>Header length: Measured in 4-byte words.</a:t>
            </a:r>
            <a:endParaRPr/>
          </a:p>
          <a:p>
            <a:pPr indent="-342900" lvl="1" marL="914400" rtl="0" algn="l">
              <a:spcBef>
                <a:spcPts val="0"/>
              </a:spcBef>
              <a:spcAft>
                <a:spcPts val="0"/>
              </a:spcAft>
              <a:buSzPts val="1800"/>
              <a:buChar char="○"/>
            </a:pPr>
            <a:r>
              <a:rPr lang="en"/>
              <a:t>If no options, this is 5 (header is 20 bytes long).</a:t>
            </a:r>
            <a:endParaRPr/>
          </a:p>
          <a:p>
            <a:pPr indent="-342900" lvl="0" marL="457200" rtl="0" algn="l">
              <a:spcBef>
                <a:spcPts val="0"/>
              </a:spcBef>
              <a:spcAft>
                <a:spcPts val="0"/>
              </a:spcAft>
              <a:buSzPts val="1800"/>
              <a:buChar char="●"/>
            </a:pPr>
            <a:r>
              <a:rPr lang="en">
                <a:latin typeface="Consolas"/>
                <a:ea typeface="Consolas"/>
                <a:cs typeface="Consolas"/>
                <a:sym typeface="Consolas"/>
              </a:rPr>
              <a:t>0000</a:t>
            </a:r>
            <a:r>
              <a:rPr lang="en"/>
              <a:t>: Reserved bits (always set to 0).</a:t>
            </a:r>
            <a:endParaRPr/>
          </a:p>
          <a:p>
            <a:pPr indent="-342900" lvl="0" marL="457200" rtl="0" algn="l">
              <a:spcBef>
                <a:spcPts val="0"/>
              </a:spcBef>
              <a:spcAft>
                <a:spcPts val="0"/>
              </a:spcAft>
              <a:buSzPts val="1800"/>
              <a:buChar char="●"/>
            </a:pPr>
            <a:r>
              <a:rPr lang="en"/>
              <a:t>Urgent pointer: Used with the URG flag to indicate urgent data. Won't discuss.</a:t>
            </a:r>
            <a:endParaRPr/>
          </a:p>
          <a:p>
            <a:pPr indent="-342900" lvl="0" marL="457200" rtl="0" algn="l">
              <a:spcBef>
                <a:spcPts val="0"/>
              </a:spcBef>
              <a:spcAft>
                <a:spcPts val="0"/>
              </a:spcAft>
              <a:buSzPts val="1800"/>
              <a:buChar char="●"/>
            </a:pPr>
            <a:r>
              <a:rPr lang="en"/>
              <a:t>Options: Extra functionality.</a:t>
            </a:r>
            <a:endParaRPr/>
          </a:p>
          <a:p>
            <a:pPr indent="-342900" lvl="1" marL="914400" rtl="0" algn="l">
              <a:spcBef>
                <a:spcPts val="0"/>
              </a:spcBef>
              <a:spcAft>
                <a:spcPts val="0"/>
              </a:spcAft>
              <a:buSzPts val="1800"/>
              <a:buChar char="○"/>
            </a:pPr>
            <a:r>
              <a:rPr lang="en"/>
              <a:t>Example: SACK uses the options field to implement full-information acks.</a:t>
            </a:r>
            <a:endParaRPr/>
          </a:p>
        </p:txBody>
      </p:sp>
      <p:graphicFrame>
        <p:nvGraphicFramePr>
          <p:cNvPr id="1310" name="Google Shape;1310;p54"/>
          <p:cNvGraphicFramePr/>
          <p:nvPr/>
        </p:nvGraphicFramePr>
        <p:xfrm>
          <a:off x="1257300" y="3055400"/>
          <a:ext cx="3000000" cy="3000000"/>
        </p:xfrm>
        <a:graphic>
          <a:graphicData uri="http://schemas.openxmlformats.org/drawingml/2006/table">
            <a:tbl>
              <a:tblPr>
                <a:noFill/>
                <a:tableStyleId>{1F736DB2-8000-4A80-A771-95157FF95D4A}</a:tableStyleId>
              </a:tblPr>
              <a:tblGrid>
                <a:gridCol w="826150"/>
                <a:gridCol w="826150"/>
                <a:gridCol w="826150"/>
                <a:gridCol w="826150"/>
                <a:gridCol w="826150"/>
                <a:gridCol w="826150"/>
                <a:gridCol w="826150"/>
                <a:gridCol w="826150"/>
              </a:tblGrid>
              <a:tr h="205675">
                <a:tc gridSpan="4">
                  <a:txBody>
                    <a:bodyPr/>
                    <a:lstStyle/>
                    <a:p>
                      <a:pPr indent="0" lvl="0" marL="0" rtl="0" algn="ctr">
                        <a:spcBef>
                          <a:spcPts val="0"/>
                        </a:spcBef>
                        <a:spcAft>
                          <a:spcPts val="0"/>
                        </a:spcAft>
                        <a:buNone/>
                      </a:pPr>
                      <a:r>
                        <a:rPr lang="en">
                          <a:latin typeface="Roboto"/>
                          <a:ea typeface="Roboto"/>
                          <a:cs typeface="Roboto"/>
                          <a:sym typeface="Roboto"/>
                        </a:rPr>
                        <a:t>Source Port (16)</a:t>
                      </a:r>
                      <a:endParaRPr>
                        <a:latin typeface="Roboto"/>
                        <a:ea typeface="Roboto"/>
                        <a:cs typeface="Roboto"/>
                        <a:sym typeface="Roboto"/>
                      </a:endParaRPr>
                    </a:p>
                  </a:txBody>
                  <a:tcPr marT="27425" marB="27425" marR="27425" marL="27425" anchor="ctr"/>
                </a:tc>
                <a:tc hMerge="1"/>
                <a:tc hMerge="1"/>
                <a:tc hMerge="1"/>
                <a:tc gridSpan="4">
                  <a:txBody>
                    <a:bodyPr/>
                    <a:lstStyle/>
                    <a:p>
                      <a:pPr indent="0" lvl="0" marL="0" rtl="0" algn="ctr">
                        <a:spcBef>
                          <a:spcPts val="0"/>
                        </a:spcBef>
                        <a:spcAft>
                          <a:spcPts val="0"/>
                        </a:spcAft>
                        <a:buNone/>
                      </a:pPr>
                      <a:r>
                        <a:rPr lang="en">
                          <a:latin typeface="Roboto"/>
                          <a:ea typeface="Roboto"/>
                          <a:cs typeface="Roboto"/>
                          <a:sym typeface="Roboto"/>
                        </a:rPr>
                        <a:t>Destination Port (16)</a:t>
                      </a:r>
                      <a:endParaRPr>
                        <a:latin typeface="Roboto"/>
                        <a:ea typeface="Roboto"/>
                        <a:cs typeface="Roboto"/>
                        <a:sym typeface="Roboto"/>
                      </a:endParaRPr>
                    </a:p>
                  </a:txBody>
                  <a:tcPr marT="27425" marB="27425" marR="27425" marL="27425" anchor="ctr"/>
                </a:tc>
                <a:tc hMerge="1"/>
                <a:tc hMerge="1"/>
                <a:tc hMerge="1"/>
              </a:tr>
              <a:tr h="205675">
                <a:tc gridSpan="8">
                  <a:txBody>
                    <a:bodyPr/>
                    <a:lstStyle/>
                    <a:p>
                      <a:pPr indent="0" lvl="0" marL="0" rtl="0" algn="ctr">
                        <a:spcBef>
                          <a:spcPts val="0"/>
                        </a:spcBef>
                        <a:spcAft>
                          <a:spcPts val="0"/>
                        </a:spcAft>
                        <a:buNone/>
                      </a:pPr>
                      <a:r>
                        <a:rPr lang="en">
                          <a:latin typeface="Roboto"/>
                          <a:ea typeface="Roboto"/>
                          <a:cs typeface="Roboto"/>
                          <a:sym typeface="Roboto"/>
                        </a:rPr>
                        <a:t>Sequence Number (32)</a:t>
                      </a:r>
                      <a:endParaRPr>
                        <a:latin typeface="Roboto"/>
                        <a:ea typeface="Roboto"/>
                        <a:cs typeface="Roboto"/>
                        <a:sym typeface="Roboto"/>
                      </a:endParaRPr>
                    </a:p>
                  </a:txBody>
                  <a:tcPr marT="27425" marB="27425" marR="27425" marL="27425" anchor="ctr"/>
                </a:tc>
                <a:tc hMerge="1"/>
                <a:tc hMerge="1"/>
                <a:tc hMerge="1"/>
                <a:tc hMerge="1"/>
                <a:tc hMerge="1"/>
                <a:tc hMerge="1"/>
                <a:tc hMerge="1"/>
              </a:tr>
              <a:tr h="205675">
                <a:tc gridSpan="8">
                  <a:txBody>
                    <a:bodyPr/>
                    <a:lstStyle/>
                    <a:p>
                      <a:pPr indent="0" lvl="0" marL="0" rtl="0" algn="ctr">
                        <a:spcBef>
                          <a:spcPts val="0"/>
                        </a:spcBef>
                        <a:spcAft>
                          <a:spcPts val="0"/>
                        </a:spcAft>
                        <a:buNone/>
                      </a:pPr>
                      <a:r>
                        <a:rPr lang="en">
                          <a:latin typeface="Roboto"/>
                          <a:ea typeface="Roboto"/>
                          <a:cs typeface="Roboto"/>
                          <a:sym typeface="Roboto"/>
                        </a:rPr>
                        <a:t>Acknowledgment Number (32)</a:t>
                      </a:r>
                      <a:endParaRPr>
                        <a:latin typeface="Roboto"/>
                        <a:ea typeface="Roboto"/>
                        <a:cs typeface="Roboto"/>
                        <a:sym typeface="Roboto"/>
                      </a:endParaRPr>
                    </a:p>
                  </a:txBody>
                  <a:tcPr marT="27425" marB="27425" marR="27425" marL="27425" anchor="ctr"/>
                </a:tc>
                <a:tc hMerge="1"/>
                <a:tc hMerge="1"/>
                <a:tc hMerge="1"/>
                <a:tc hMerge="1"/>
                <a:tc hMerge="1"/>
                <a:tc hMerge="1"/>
                <a:tc hMerge="1"/>
              </a:tr>
              <a:tr h="205675">
                <a:tc>
                  <a:txBody>
                    <a:bodyPr/>
                    <a:lstStyle/>
                    <a:p>
                      <a:pPr indent="0" lvl="0" marL="0" rtl="0" algn="ctr">
                        <a:spcBef>
                          <a:spcPts val="0"/>
                        </a:spcBef>
                        <a:spcAft>
                          <a:spcPts val="0"/>
                        </a:spcAft>
                        <a:buNone/>
                      </a:pPr>
                      <a:r>
                        <a:rPr lang="en" sz="1200">
                          <a:latin typeface="Roboto"/>
                          <a:ea typeface="Roboto"/>
                          <a:cs typeface="Roboto"/>
                          <a:sym typeface="Roboto"/>
                        </a:rPr>
                        <a:t>Hdr Len (4)</a:t>
                      </a:r>
                      <a:endParaRPr sz="1200">
                        <a:latin typeface="Roboto"/>
                        <a:ea typeface="Roboto"/>
                        <a:cs typeface="Roboto"/>
                        <a:sym typeface="Roboto"/>
                      </a:endParaRPr>
                    </a:p>
                  </a:txBody>
                  <a:tcPr marT="27425" marB="27425" marR="27425" marL="27425" anchor="ctr">
                    <a:solidFill>
                      <a:srgbClr val="D9D9D9"/>
                    </a:solidFill>
                  </a:tcPr>
                </a:tc>
                <a:tc>
                  <a:txBody>
                    <a:bodyPr/>
                    <a:lstStyle/>
                    <a:p>
                      <a:pPr indent="0" lvl="0" marL="0" rtl="0" algn="ctr">
                        <a:spcBef>
                          <a:spcPts val="0"/>
                        </a:spcBef>
                        <a:spcAft>
                          <a:spcPts val="0"/>
                        </a:spcAft>
                        <a:buNone/>
                      </a:pPr>
                      <a:r>
                        <a:rPr lang="en">
                          <a:latin typeface="Consolas"/>
                          <a:ea typeface="Consolas"/>
                          <a:cs typeface="Consolas"/>
                          <a:sym typeface="Consolas"/>
                        </a:rPr>
                        <a:t>0000</a:t>
                      </a:r>
                      <a:endParaRPr>
                        <a:latin typeface="Consolas"/>
                        <a:ea typeface="Consolas"/>
                        <a:cs typeface="Consolas"/>
                        <a:sym typeface="Consolas"/>
                      </a:endParaRPr>
                    </a:p>
                  </a:txBody>
                  <a:tcPr marT="27425" marB="27425" marR="27425" marL="27425" anchor="ctr">
                    <a:solidFill>
                      <a:srgbClr val="D9D9D9"/>
                    </a:solidFill>
                  </a:tcPr>
                </a:tc>
                <a:tc gridSpan="2">
                  <a:txBody>
                    <a:bodyPr/>
                    <a:lstStyle/>
                    <a:p>
                      <a:pPr indent="0" lvl="0" marL="0" rtl="0" algn="ctr">
                        <a:spcBef>
                          <a:spcPts val="0"/>
                        </a:spcBef>
                        <a:spcAft>
                          <a:spcPts val="0"/>
                        </a:spcAft>
                        <a:buNone/>
                      </a:pPr>
                      <a:r>
                        <a:rPr lang="en">
                          <a:latin typeface="Roboto"/>
                          <a:ea typeface="Roboto"/>
                          <a:cs typeface="Roboto"/>
                          <a:sym typeface="Roboto"/>
                        </a:rPr>
                        <a:t>Flags (8)</a:t>
                      </a:r>
                      <a:endParaRPr>
                        <a:latin typeface="Roboto"/>
                        <a:ea typeface="Roboto"/>
                        <a:cs typeface="Roboto"/>
                        <a:sym typeface="Roboto"/>
                      </a:endParaRPr>
                    </a:p>
                  </a:txBody>
                  <a:tcPr marT="27425" marB="27425" marR="27425" marL="27425" anchor="ctr"/>
                </a:tc>
                <a:tc hMerge="1"/>
                <a:tc gridSpan="4">
                  <a:txBody>
                    <a:bodyPr/>
                    <a:lstStyle/>
                    <a:p>
                      <a:pPr indent="0" lvl="0" marL="0" rtl="0" algn="ctr">
                        <a:spcBef>
                          <a:spcPts val="0"/>
                        </a:spcBef>
                        <a:spcAft>
                          <a:spcPts val="0"/>
                        </a:spcAft>
                        <a:buNone/>
                      </a:pPr>
                      <a:r>
                        <a:rPr lang="en">
                          <a:latin typeface="Roboto"/>
                          <a:ea typeface="Roboto"/>
                          <a:cs typeface="Roboto"/>
                          <a:sym typeface="Roboto"/>
                        </a:rPr>
                        <a:t>Advertised Window (16)</a:t>
                      </a:r>
                      <a:endParaRPr>
                        <a:latin typeface="Roboto"/>
                        <a:ea typeface="Roboto"/>
                        <a:cs typeface="Roboto"/>
                        <a:sym typeface="Roboto"/>
                      </a:endParaRPr>
                    </a:p>
                  </a:txBody>
                  <a:tcPr marT="27425" marB="27425" marR="27425" marL="27425" anchor="ctr"/>
                </a:tc>
                <a:tc hMerge="1"/>
                <a:tc hMerge="1"/>
                <a:tc hMerge="1"/>
              </a:tr>
              <a:tr h="205675">
                <a:tc gridSpan="4">
                  <a:txBody>
                    <a:bodyPr/>
                    <a:lstStyle/>
                    <a:p>
                      <a:pPr indent="0" lvl="0" marL="0" rtl="0" algn="ctr">
                        <a:spcBef>
                          <a:spcPts val="0"/>
                        </a:spcBef>
                        <a:spcAft>
                          <a:spcPts val="0"/>
                        </a:spcAft>
                        <a:buNone/>
                      </a:pPr>
                      <a:r>
                        <a:rPr lang="en">
                          <a:latin typeface="Roboto"/>
                          <a:ea typeface="Roboto"/>
                          <a:cs typeface="Roboto"/>
                          <a:sym typeface="Roboto"/>
                        </a:rPr>
                        <a:t>Checksum (16)</a:t>
                      </a:r>
                      <a:endParaRPr>
                        <a:latin typeface="Roboto"/>
                        <a:ea typeface="Roboto"/>
                        <a:cs typeface="Roboto"/>
                        <a:sym typeface="Roboto"/>
                      </a:endParaRPr>
                    </a:p>
                  </a:txBody>
                  <a:tcPr marT="27425" marB="27425" marR="27425" marL="27425" anchor="ctr"/>
                </a:tc>
                <a:tc hMerge="1"/>
                <a:tc hMerge="1"/>
                <a:tc hMerge="1"/>
                <a:tc gridSpan="4">
                  <a:txBody>
                    <a:bodyPr/>
                    <a:lstStyle/>
                    <a:p>
                      <a:pPr indent="0" lvl="0" marL="0" rtl="0" algn="ctr">
                        <a:spcBef>
                          <a:spcPts val="0"/>
                        </a:spcBef>
                        <a:spcAft>
                          <a:spcPts val="0"/>
                        </a:spcAft>
                        <a:buNone/>
                      </a:pPr>
                      <a:r>
                        <a:rPr lang="en">
                          <a:latin typeface="Roboto"/>
                          <a:ea typeface="Roboto"/>
                          <a:cs typeface="Roboto"/>
                          <a:sym typeface="Roboto"/>
                        </a:rPr>
                        <a:t>Urgent Pointer (16)</a:t>
                      </a:r>
                      <a:endParaRPr>
                        <a:latin typeface="Roboto"/>
                        <a:ea typeface="Roboto"/>
                        <a:cs typeface="Roboto"/>
                        <a:sym typeface="Roboto"/>
                      </a:endParaRPr>
                    </a:p>
                  </a:txBody>
                  <a:tcPr marT="27425" marB="27425" marR="27425" marL="27425" anchor="ctr">
                    <a:solidFill>
                      <a:srgbClr val="D9D9D9"/>
                    </a:solidFill>
                  </a:tcPr>
                </a:tc>
                <a:tc hMerge="1"/>
                <a:tc hMerge="1"/>
                <a:tc hMerge="1"/>
              </a:tr>
              <a:tr h="205675">
                <a:tc gridSpan="8">
                  <a:txBody>
                    <a:bodyPr/>
                    <a:lstStyle/>
                    <a:p>
                      <a:pPr indent="0" lvl="0" marL="0" rtl="0" algn="ctr">
                        <a:spcBef>
                          <a:spcPts val="0"/>
                        </a:spcBef>
                        <a:spcAft>
                          <a:spcPts val="0"/>
                        </a:spcAft>
                        <a:buNone/>
                      </a:pPr>
                      <a:r>
                        <a:rPr lang="en">
                          <a:latin typeface="Roboto"/>
                          <a:ea typeface="Roboto"/>
                          <a:cs typeface="Roboto"/>
                          <a:sym typeface="Roboto"/>
                        </a:rPr>
                        <a:t>Options (variable-length)</a:t>
                      </a:r>
                      <a:endParaRPr>
                        <a:latin typeface="Roboto"/>
                        <a:ea typeface="Roboto"/>
                        <a:cs typeface="Roboto"/>
                        <a:sym typeface="Roboto"/>
                      </a:endParaRPr>
                    </a:p>
                  </a:txBody>
                  <a:tcPr marT="27425" marB="27425" marR="27425" marL="27425" anchor="ctr">
                    <a:solidFill>
                      <a:srgbClr val="D9D9D9"/>
                    </a:solidFill>
                  </a:tcPr>
                </a:tc>
                <a:tc hMerge="1"/>
                <a:tc hMerge="1"/>
                <a:tc hMerge="1"/>
                <a:tc hMerge="1"/>
                <a:tc hMerge="1"/>
                <a:tc hMerge="1"/>
                <a:tc hMerge="1"/>
              </a:tr>
              <a:tr h="205675">
                <a:tc gridSpan="8">
                  <a:txBody>
                    <a:bodyPr/>
                    <a:lstStyle/>
                    <a:p>
                      <a:pPr indent="0" lvl="0" marL="0" rtl="0" algn="ctr">
                        <a:spcBef>
                          <a:spcPts val="0"/>
                        </a:spcBef>
                        <a:spcAft>
                          <a:spcPts val="0"/>
                        </a:spcAft>
                        <a:buNone/>
                      </a:pPr>
                      <a:r>
                        <a:rPr lang="en">
                          <a:latin typeface="Roboto"/>
                          <a:ea typeface="Roboto"/>
                          <a:cs typeface="Roboto"/>
                          <a:sym typeface="Roboto"/>
                        </a:rPr>
                        <a:t>Payload</a:t>
                      </a:r>
                      <a:endParaRPr>
                        <a:latin typeface="Roboto"/>
                        <a:ea typeface="Roboto"/>
                        <a:cs typeface="Roboto"/>
                        <a:sym typeface="Roboto"/>
                      </a:endParaRPr>
                    </a:p>
                  </a:txBody>
                  <a:tcPr marT="27425" marB="27425" marR="27425" marL="27425" anchor="ctr"/>
                </a:tc>
                <a:tc hMerge="1"/>
                <a:tc hMerge="1"/>
                <a:tc hMerge="1"/>
                <a:tc hMerge="1"/>
                <a:tc hMerge="1"/>
                <a:tc hMerge="1"/>
                <a:tc hMerge="1"/>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4" name="Shape 1314"/>
        <p:cNvGrpSpPr/>
        <p:nvPr/>
      </p:nvGrpSpPr>
      <p:grpSpPr>
        <a:xfrm>
          <a:off x="0" y="0"/>
          <a:ext cx="0" cy="0"/>
          <a:chOff x="0" y="0"/>
          <a:chExt cx="0" cy="0"/>
        </a:xfrm>
      </p:grpSpPr>
      <p:sp>
        <p:nvSpPr>
          <p:cNvPr id="1315" name="Google Shape;1315;p55"/>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TCP: Summary</a:t>
            </a:r>
            <a:endParaRPr/>
          </a:p>
        </p:txBody>
      </p:sp>
      <p:sp>
        <p:nvSpPr>
          <p:cNvPr id="1316" name="Google Shape;1316;p55"/>
          <p:cNvSpPr txBox="1"/>
          <p:nvPr>
            <p:ph idx="1" type="body"/>
          </p:nvPr>
        </p:nvSpPr>
        <p:spPr>
          <a:xfrm>
            <a:off x="107050" y="402200"/>
            <a:ext cx="8909700" cy="29013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An elegant (though not perfect) piece of engineering that has stood the test of time.</a:t>
            </a:r>
            <a:endParaRPr/>
          </a:p>
          <a:p>
            <a:pPr indent="-342900" lvl="0" marL="457200" rtl="0" algn="l">
              <a:spcBef>
                <a:spcPts val="600"/>
              </a:spcBef>
              <a:spcAft>
                <a:spcPts val="0"/>
              </a:spcAft>
              <a:buSzPts val="1800"/>
              <a:buChar char="●"/>
            </a:pPr>
            <a:r>
              <a:rPr lang="en"/>
              <a:t>Thought experiment: Will TCP continue to be a good solution?</a:t>
            </a:r>
            <a:endParaRPr/>
          </a:p>
          <a:p>
            <a:pPr indent="0" lvl="0" marL="0" rtl="0" algn="l">
              <a:spcBef>
                <a:spcPts val="600"/>
              </a:spcBef>
              <a:spcAft>
                <a:spcPts val="0"/>
              </a:spcAft>
              <a:buNone/>
            </a:pPr>
            <a:r>
              <a:rPr lang="en"/>
              <a:t>Plenty of evolution in individual pieces:</a:t>
            </a:r>
            <a:endParaRPr/>
          </a:p>
          <a:p>
            <a:pPr indent="-342900" lvl="0" marL="457200" rtl="0" algn="l">
              <a:spcBef>
                <a:spcPts val="600"/>
              </a:spcBef>
              <a:spcAft>
                <a:spcPts val="0"/>
              </a:spcAft>
              <a:buSzPts val="1800"/>
              <a:buChar char="●"/>
            </a:pPr>
            <a:r>
              <a:rPr lang="en"/>
              <a:t>Congestion control was added after-the-fact.</a:t>
            </a:r>
            <a:endParaRPr/>
          </a:p>
          <a:p>
            <a:pPr indent="-342900" lvl="0" marL="457200" rtl="0" algn="l">
              <a:spcBef>
                <a:spcPts val="0"/>
              </a:spcBef>
              <a:spcAft>
                <a:spcPts val="0"/>
              </a:spcAft>
              <a:buSzPts val="1800"/>
              <a:buChar char="●"/>
            </a:pPr>
            <a:r>
              <a:rPr lang="en"/>
              <a:t>Better acknowledgments, ISN selection, timer estimation, etc.</a:t>
            </a:r>
            <a:endParaRPr/>
          </a:p>
          <a:p>
            <a:pPr indent="0" lvl="0" marL="0" rtl="0" algn="l">
              <a:spcBef>
                <a:spcPts val="600"/>
              </a:spcBef>
              <a:spcAft>
                <a:spcPts val="0"/>
              </a:spcAft>
              <a:buNone/>
            </a:pPr>
            <a:r>
              <a:rPr lang="en"/>
              <a:t>But the core architectural decisions and abstractions remain:</a:t>
            </a:r>
            <a:endParaRPr/>
          </a:p>
          <a:p>
            <a:pPr indent="-342900" lvl="0" marL="457200" rtl="0" algn="l">
              <a:spcBef>
                <a:spcPts val="600"/>
              </a:spcBef>
              <a:spcAft>
                <a:spcPts val="0"/>
              </a:spcAft>
              <a:buSzPts val="1800"/>
              <a:buChar char="●"/>
            </a:pPr>
            <a:r>
              <a:rPr lang="en"/>
              <a:t>Bytestreams, connection-oriented, windows, etc.</a:t>
            </a:r>
            <a:endParaRPr/>
          </a:p>
        </p:txBody>
      </p:sp>
      <p:pic>
        <p:nvPicPr>
          <p:cNvPr id="1317" name="Google Shape;1317;p55"/>
          <p:cNvPicPr preferRelativeResize="0"/>
          <p:nvPr/>
        </p:nvPicPr>
        <p:blipFill>
          <a:blip r:embed="rId3">
            <a:alphaModFix/>
          </a:blip>
          <a:stretch>
            <a:fillRect/>
          </a:stretch>
        </p:blipFill>
        <p:spPr>
          <a:xfrm>
            <a:off x="2926613" y="3472999"/>
            <a:ext cx="1078100" cy="1259525"/>
          </a:xfrm>
          <a:prstGeom prst="rect">
            <a:avLst/>
          </a:prstGeom>
          <a:noFill/>
          <a:ln>
            <a:noFill/>
          </a:ln>
        </p:spPr>
      </p:pic>
      <p:pic>
        <p:nvPicPr>
          <p:cNvPr id="1318" name="Google Shape;1318;p55"/>
          <p:cNvPicPr preferRelativeResize="0"/>
          <p:nvPr/>
        </p:nvPicPr>
        <p:blipFill>
          <a:blip r:embed="rId4">
            <a:alphaModFix/>
          </a:blip>
          <a:stretch>
            <a:fillRect/>
          </a:stretch>
        </p:blipFill>
        <p:spPr>
          <a:xfrm>
            <a:off x="1371613" y="3473000"/>
            <a:ext cx="1259525" cy="1259525"/>
          </a:xfrm>
          <a:prstGeom prst="rect">
            <a:avLst/>
          </a:prstGeom>
          <a:noFill/>
          <a:ln>
            <a:noFill/>
          </a:ln>
        </p:spPr>
      </p:pic>
      <p:sp>
        <p:nvSpPr>
          <p:cNvPr id="1319" name="Google Shape;1319;p55"/>
          <p:cNvSpPr txBox="1"/>
          <p:nvPr/>
        </p:nvSpPr>
        <p:spPr>
          <a:xfrm>
            <a:off x="4300200" y="3794963"/>
            <a:ext cx="3612900" cy="61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a:solidFill>
                  <a:schemeClr val="dk1"/>
                </a:solidFill>
                <a:latin typeface="Roboto"/>
                <a:ea typeface="Roboto"/>
                <a:cs typeface="Roboto"/>
                <a:sym typeface="Roboto"/>
              </a:rPr>
              <a:t>Vint Cerf and Bob Kahn </a:t>
            </a:r>
            <a:r>
              <a:rPr lang="en">
                <a:solidFill>
                  <a:schemeClr val="dk1"/>
                </a:solidFill>
                <a:latin typeface="Roboto"/>
                <a:ea typeface="Roboto"/>
                <a:cs typeface="Roboto"/>
                <a:sym typeface="Roboto"/>
              </a:rPr>
              <a:t>have</a:t>
            </a:r>
            <a:r>
              <a:rPr lang="en">
                <a:solidFill>
                  <a:schemeClr val="dk1"/>
                </a:solidFill>
                <a:latin typeface="Roboto"/>
                <a:ea typeface="Roboto"/>
                <a:cs typeface="Roboto"/>
                <a:sym typeface="Roboto"/>
              </a:rPr>
              <a:t> won basically every award ever for their work on TCP.</a:t>
            </a:r>
            <a:endParaRPr>
              <a:solidFill>
                <a:schemeClr val="dk1"/>
              </a:solidFill>
              <a:latin typeface="Roboto"/>
              <a:ea typeface="Roboto"/>
              <a:cs typeface="Roboto"/>
              <a:sym typeface="Roboto"/>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3" name="Shape 1323"/>
        <p:cNvGrpSpPr/>
        <p:nvPr/>
      </p:nvGrpSpPr>
      <p:grpSpPr>
        <a:xfrm>
          <a:off x="0" y="0"/>
          <a:ext cx="0" cy="0"/>
          <a:chOff x="0" y="0"/>
          <a:chExt cx="0" cy="0"/>
        </a:xfrm>
      </p:grpSpPr>
      <p:sp>
        <p:nvSpPr>
          <p:cNvPr id="1324" name="Google Shape;1324;p56"/>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1325" name="Google Shape;1325;p56"/>
          <p:cNvSpPr txBox="1"/>
          <p:nvPr/>
        </p:nvSpPr>
        <p:spPr>
          <a:xfrm>
            <a:off x="311700" y="3854350"/>
            <a:ext cx="8520600" cy="658500"/>
          </a:xfrm>
          <a:prstGeom prst="rect">
            <a:avLst/>
          </a:prstGeom>
          <a:noFill/>
          <a:ln>
            <a:noFill/>
          </a:ln>
        </p:spPr>
        <p:txBody>
          <a:bodyPr anchorCtr="0" anchor="t" bIns="91425" lIns="91425" spcFirstLastPara="1" rIns="91425" wrap="square" tIns="91425">
            <a:noAutofit/>
          </a:bodyPr>
          <a:lstStyle/>
          <a:p>
            <a:pPr indent="0" lvl="0" marL="0" rtl="0" algn="l">
              <a:spcBef>
                <a:spcPts val="600"/>
              </a:spcBef>
              <a:spcAft>
                <a:spcPts val="0"/>
              </a:spcAft>
              <a:buNone/>
            </a:pPr>
            <a:r>
              <a:rPr lang="en" sz="1600">
                <a:latin typeface="Roboto Medium"/>
                <a:ea typeface="Roboto Medium"/>
                <a:cs typeface="Roboto Medium"/>
                <a:sym typeface="Roboto Medium"/>
              </a:rPr>
              <a:t>CS 168, Summer 2025 </a:t>
            </a:r>
            <a:r>
              <a:rPr lang="en" sz="1600">
                <a:solidFill>
                  <a:srgbClr val="000000"/>
                </a:solidFill>
                <a:latin typeface="Roboto Medium"/>
                <a:ea typeface="Roboto Medium"/>
                <a:cs typeface="Roboto Medium"/>
                <a:sym typeface="Roboto Medium"/>
              </a:rPr>
              <a:t>@ UC Berkeley</a:t>
            </a:r>
            <a:endParaRPr sz="1600">
              <a:solidFill>
                <a:srgbClr val="000000"/>
              </a:solidFill>
              <a:latin typeface="Roboto Medium"/>
              <a:ea typeface="Roboto Medium"/>
              <a:cs typeface="Roboto Medium"/>
              <a:sym typeface="Roboto Medium"/>
            </a:endParaRPr>
          </a:p>
          <a:p>
            <a:pPr indent="0" lvl="0" marL="0" rtl="0" algn="l">
              <a:spcBef>
                <a:spcPts val="600"/>
              </a:spcBef>
              <a:spcAft>
                <a:spcPts val="0"/>
              </a:spcAft>
              <a:buNone/>
            </a:pPr>
            <a:r>
              <a:rPr lang="en" sz="1600">
                <a:latin typeface="Roboto Light"/>
                <a:ea typeface="Roboto Light"/>
                <a:cs typeface="Roboto Light"/>
                <a:sym typeface="Roboto Light"/>
              </a:rPr>
              <a:t>Slides credit: Sylvia Ratnasamy, Rob Shakir, Peyrin Kao</a:t>
            </a:r>
            <a:endParaRPr sz="1600">
              <a:solidFill>
                <a:srgbClr val="000000"/>
              </a:solidFill>
              <a:latin typeface="Roboto Light"/>
              <a:ea typeface="Roboto Light"/>
              <a:cs typeface="Roboto Light"/>
              <a:sym typeface="Roboto Light"/>
            </a:endParaRPr>
          </a:p>
        </p:txBody>
      </p:sp>
      <p:sp>
        <p:nvSpPr>
          <p:cNvPr id="1326" name="Google Shape;1326;p56"/>
          <p:cNvSpPr txBox="1"/>
          <p:nvPr/>
        </p:nvSpPr>
        <p:spPr>
          <a:xfrm>
            <a:off x="311700" y="1658975"/>
            <a:ext cx="8709600" cy="20526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sz="3600">
                <a:solidFill>
                  <a:srgbClr val="0B5394"/>
                </a:solidFill>
                <a:latin typeface="Roboto Medium"/>
                <a:ea typeface="Roboto Medium"/>
                <a:cs typeface="Roboto Medium"/>
                <a:sym typeface="Roboto Medium"/>
              </a:rPr>
              <a:t>Congestion Control, Part 1</a:t>
            </a:r>
            <a:endParaRPr sz="3600">
              <a:solidFill>
                <a:srgbClr val="0B5394"/>
              </a:solidFill>
              <a:latin typeface="Roboto Medium"/>
              <a:ea typeface="Roboto Medium"/>
              <a:cs typeface="Roboto Medium"/>
              <a:sym typeface="Roboto Medium"/>
            </a:endParaRPr>
          </a:p>
        </p:txBody>
      </p:sp>
      <p:sp>
        <p:nvSpPr>
          <p:cNvPr id="1327" name="Google Shape;1327;p56"/>
          <p:cNvSpPr txBox="1"/>
          <p:nvPr/>
        </p:nvSpPr>
        <p:spPr>
          <a:xfrm>
            <a:off x="345775" y="2740300"/>
            <a:ext cx="2762700" cy="282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rgbClr val="BF9000"/>
                </a:solidFill>
                <a:latin typeface="Roboto Medium"/>
                <a:ea typeface="Roboto Medium"/>
                <a:cs typeface="Roboto Medium"/>
                <a:sym typeface="Roboto Medium"/>
              </a:rPr>
              <a:t>Lecture 12 (Transport 3)</a:t>
            </a:r>
            <a:endParaRPr sz="1200">
              <a:solidFill>
                <a:srgbClr val="BF9000"/>
              </a:solidFill>
              <a:latin typeface="Roboto Medium"/>
              <a:ea typeface="Roboto Medium"/>
              <a:cs typeface="Roboto Medium"/>
              <a:sym typeface="Roboto Medium"/>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1" name="Shape 1331"/>
        <p:cNvGrpSpPr/>
        <p:nvPr/>
      </p:nvGrpSpPr>
      <p:grpSpPr>
        <a:xfrm>
          <a:off x="0" y="0"/>
          <a:ext cx="0" cy="0"/>
          <a:chOff x="0" y="0"/>
          <a:chExt cx="0" cy="0"/>
        </a:xfrm>
      </p:grpSpPr>
      <p:sp>
        <p:nvSpPr>
          <p:cNvPr id="1332" name="Google Shape;1332;p57"/>
          <p:cNvSpPr txBox="1"/>
          <p:nvPr>
            <p:ph idx="1" type="body"/>
          </p:nvPr>
        </p:nvSpPr>
        <p:spPr>
          <a:xfrm>
            <a:off x="4812375" y="402200"/>
            <a:ext cx="4038000" cy="42609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None/>
            </a:pPr>
            <a:r>
              <a:rPr b="1" lang="en">
                <a:solidFill>
                  <a:schemeClr val="accent3"/>
                </a:solidFill>
                <a:latin typeface="Roboto"/>
                <a:ea typeface="Roboto"/>
                <a:cs typeface="Roboto"/>
                <a:sym typeface="Roboto"/>
              </a:rPr>
              <a:t>Congestion Control Principles</a:t>
            </a:r>
            <a:endParaRPr b="1">
              <a:solidFill>
                <a:schemeClr val="accent3"/>
              </a:solidFill>
              <a:latin typeface="Roboto"/>
              <a:ea typeface="Roboto"/>
              <a:cs typeface="Roboto"/>
              <a:sym typeface="Roboto"/>
            </a:endParaRPr>
          </a:p>
          <a:p>
            <a:pPr indent="-342900" lvl="0" marL="457200" rtl="0" algn="l">
              <a:spcBef>
                <a:spcPts val="600"/>
              </a:spcBef>
              <a:spcAft>
                <a:spcPts val="0"/>
              </a:spcAft>
              <a:buClr>
                <a:schemeClr val="accent3"/>
              </a:buClr>
              <a:buSzPts val="1800"/>
              <a:buFont typeface="Roboto"/>
              <a:buChar char="•"/>
            </a:pPr>
            <a:r>
              <a:rPr b="1" lang="en">
                <a:solidFill>
                  <a:schemeClr val="accent3"/>
                </a:solidFill>
                <a:latin typeface="Roboto"/>
                <a:ea typeface="Roboto"/>
                <a:cs typeface="Roboto"/>
                <a:sym typeface="Roboto"/>
              </a:rPr>
              <a:t>Why do we need it?</a:t>
            </a:r>
            <a:endParaRPr b="1">
              <a:solidFill>
                <a:schemeClr val="accent3"/>
              </a:solidFill>
              <a:latin typeface="Roboto"/>
              <a:ea typeface="Roboto"/>
              <a:cs typeface="Roboto"/>
              <a:sym typeface="Roboto"/>
            </a:endParaRPr>
          </a:p>
          <a:p>
            <a:pPr indent="-342900" lvl="0" marL="457200" rtl="0" algn="l">
              <a:spcBef>
                <a:spcPts val="0"/>
              </a:spcBef>
              <a:spcAft>
                <a:spcPts val="0"/>
              </a:spcAft>
              <a:buClr>
                <a:srgbClr val="B7B7B7"/>
              </a:buClr>
              <a:buSzPts val="1800"/>
              <a:buChar char="•"/>
            </a:pPr>
            <a:r>
              <a:rPr lang="en">
                <a:solidFill>
                  <a:srgbClr val="B7B7B7"/>
                </a:solidFill>
              </a:rPr>
              <a:t>Why is it hard?</a:t>
            </a:r>
            <a:endParaRPr>
              <a:solidFill>
                <a:srgbClr val="B7B7B7"/>
              </a:solidFill>
            </a:endParaRPr>
          </a:p>
          <a:p>
            <a:pPr indent="-342900" lvl="0" marL="457200" rtl="0" algn="l">
              <a:spcBef>
                <a:spcPts val="0"/>
              </a:spcBef>
              <a:spcAft>
                <a:spcPts val="0"/>
              </a:spcAft>
              <a:buClr>
                <a:srgbClr val="B7B7B7"/>
              </a:buClr>
              <a:buSzPts val="1800"/>
              <a:buChar char="•"/>
            </a:pPr>
            <a:r>
              <a:rPr lang="en">
                <a:solidFill>
                  <a:srgbClr val="B7B7B7"/>
                </a:solidFill>
              </a:rPr>
              <a:t>Design Goals</a:t>
            </a:r>
            <a:endParaRPr>
              <a:solidFill>
                <a:srgbClr val="B7B7B7"/>
              </a:solidFill>
            </a:endParaRPr>
          </a:p>
          <a:p>
            <a:pPr indent="0" lvl="0" marL="0" rtl="0" algn="l">
              <a:spcBef>
                <a:spcPts val="600"/>
              </a:spcBef>
              <a:spcAft>
                <a:spcPts val="0"/>
              </a:spcAft>
              <a:buNone/>
            </a:pPr>
            <a:r>
              <a:rPr lang="en">
                <a:solidFill>
                  <a:srgbClr val="B7B7B7"/>
                </a:solidFill>
              </a:rPr>
              <a:t>Dynamic Adjustment</a:t>
            </a:r>
            <a:endParaRPr>
              <a:solidFill>
                <a:srgbClr val="B7B7B7"/>
              </a:solidFill>
            </a:endParaRPr>
          </a:p>
          <a:p>
            <a:pPr indent="-342900" lvl="0" marL="457200" rtl="0" algn="l">
              <a:spcBef>
                <a:spcPts val="600"/>
              </a:spcBef>
              <a:spcAft>
                <a:spcPts val="0"/>
              </a:spcAft>
              <a:buClr>
                <a:srgbClr val="B7B7B7"/>
              </a:buClr>
              <a:buSzPts val="1800"/>
              <a:buChar char="•"/>
            </a:pPr>
            <a:r>
              <a:rPr lang="en">
                <a:solidFill>
                  <a:srgbClr val="B7B7B7"/>
                </a:solidFill>
              </a:rPr>
              <a:t>Algorithm Sketch</a:t>
            </a:r>
            <a:endParaRPr>
              <a:solidFill>
                <a:srgbClr val="B7B7B7"/>
              </a:solidFill>
            </a:endParaRPr>
          </a:p>
          <a:p>
            <a:pPr indent="-342900" lvl="0" marL="457200" rtl="0" algn="l">
              <a:spcBef>
                <a:spcPts val="0"/>
              </a:spcBef>
              <a:spcAft>
                <a:spcPts val="0"/>
              </a:spcAft>
              <a:buClr>
                <a:srgbClr val="B7B7B7"/>
              </a:buClr>
              <a:buSzPts val="1800"/>
              <a:buChar char="•"/>
            </a:pPr>
            <a:r>
              <a:rPr lang="en">
                <a:solidFill>
                  <a:srgbClr val="B7B7B7"/>
                </a:solidFill>
              </a:rPr>
              <a:t>Reacting to Congestion (AIMD)</a:t>
            </a:r>
            <a:endParaRPr>
              <a:solidFill>
                <a:srgbClr val="B7B7B7"/>
              </a:solidFill>
            </a:endParaRPr>
          </a:p>
          <a:p>
            <a:pPr indent="-342900" lvl="0" marL="457200" rtl="0" algn="l">
              <a:spcBef>
                <a:spcPts val="0"/>
              </a:spcBef>
              <a:spcAft>
                <a:spcPts val="0"/>
              </a:spcAft>
              <a:buClr>
                <a:srgbClr val="B7B7B7"/>
              </a:buClr>
              <a:buSzPts val="1800"/>
              <a:buChar char="•"/>
            </a:pPr>
            <a:r>
              <a:rPr lang="en">
                <a:solidFill>
                  <a:srgbClr val="B7B7B7"/>
                </a:solidFill>
              </a:rPr>
              <a:t>Implementing Congestion Control with Event-Driven Updates</a:t>
            </a:r>
            <a:endParaRPr>
              <a:solidFill>
                <a:srgbClr val="B7B7B7"/>
              </a:solidFill>
            </a:endParaRPr>
          </a:p>
        </p:txBody>
      </p:sp>
      <p:sp>
        <p:nvSpPr>
          <p:cNvPr id="1333" name="Google Shape;1333;p57"/>
          <p:cNvSpPr txBox="1"/>
          <p:nvPr>
            <p:ph type="title"/>
          </p:nvPr>
        </p:nvSpPr>
        <p:spPr>
          <a:xfrm>
            <a:off x="177925" y="2003300"/>
            <a:ext cx="4038000" cy="20379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sz="3200"/>
              <a:t>Congestion Control: Why do we need it?</a:t>
            </a:r>
            <a:endParaRPr sz="3200"/>
          </a:p>
        </p:txBody>
      </p:sp>
      <p:sp>
        <p:nvSpPr>
          <p:cNvPr id="1334" name="Google Shape;1334;p57"/>
          <p:cNvSpPr txBox="1"/>
          <p:nvPr>
            <p:ph idx="2" type="subTitle"/>
          </p:nvPr>
        </p:nvSpPr>
        <p:spPr>
          <a:xfrm>
            <a:off x="177925" y="4068000"/>
            <a:ext cx="4158000" cy="3936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None/>
            </a:pPr>
            <a:r>
              <a:rPr lang="en"/>
              <a:t>Lecture 12, CS 168, Summer 2025</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8" name="Shape 1338"/>
        <p:cNvGrpSpPr/>
        <p:nvPr/>
      </p:nvGrpSpPr>
      <p:grpSpPr>
        <a:xfrm>
          <a:off x="0" y="0"/>
          <a:ext cx="0" cy="0"/>
          <a:chOff x="0" y="0"/>
          <a:chExt cx="0" cy="0"/>
        </a:xfrm>
      </p:grpSpPr>
      <p:sp>
        <p:nvSpPr>
          <p:cNvPr id="1339" name="Google Shape;1339;p58"/>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Recall: Congestion at Routers</a:t>
            </a:r>
            <a:endParaRPr/>
          </a:p>
        </p:txBody>
      </p:sp>
      <p:sp>
        <p:nvSpPr>
          <p:cNvPr id="1340" name="Google Shape;1340;p58"/>
          <p:cNvSpPr txBox="1"/>
          <p:nvPr>
            <p:ph idx="1" type="body"/>
          </p:nvPr>
        </p:nvSpPr>
        <p:spPr>
          <a:xfrm>
            <a:off x="107050" y="402200"/>
            <a:ext cx="8909700" cy="25215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If two packets arrive at the same time, the router will send one, and buffer the other.</a:t>
            </a:r>
            <a:endParaRPr/>
          </a:p>
          <a:p>
            <a:pPr indent="0" lvl="0" marL="0" rtl="0" algn="l">
              <a:spcBef>
                <a:spcPts val="600"/>
              </a:spcBef>
              <a:spcAft>
                <a:spcPts val="0"/>
              </a:spcAft>
              <a:buNone/>
            </a:pPr>
            <a:r>
              <a:rPr lang="en"/>
              <a:t>The router maintains a </a:t>
            </a:r>
            <a:r>
              <a:rPr i="1" lang="en"/>
              <a:t>queue</a:t>
            </a:r>
            <a:r>
              <a:rPr lang="en"/>
              <a:t> of packets that still need to be sent.</a:t>
            </a:r>
            <a:endParaRPr/>
          </a:p>
          <a:p>
            <a:pPr indent="-342900" lvl="0" marL="457200" rtl="0" algn="l">
              <a:spcBef>
                <a:spcPts val="600"/>
              </a:spcBef>
              <a:spcAft>
                <a:spcPts val="0"/>
              </a:spcAft>
              <a:buSzPts val="1800"/>
              <a:buChar char="●"/>
            </a:pPr>
            <a:r>
              <a:rPr lang="en"/>
              <a:t>If the queue is full, and a packet arrives, the packet gets dropped.</a:t>
            </a:r>
            <a:endParaRPr/>
          </a:p>
          <a:p>
            <a:pPr indent="0" lvl="0" marL="0" rtl="0" algn="l">
              <a:spcBef>
                <a:spcPts val="600"/>
              </a:spcBef>
              <a:spcAft>
                <a:spcPts val="0"/>
              </a:spcAft>
              <a:buNone/>
            </a:pPr>
            <a:r>
              <a:rPr lang="en"/>
              <a:t>If too many packets arrive close in time:</a:t>
            </a:r>
            <a:endParaRPr/>
          </a:p>
          <a:p>
            <a:pPr indent="-342900" lvl="0" marL="457200" rtl="0" algn="l">
              <a:spcBef>
                <a:spcPts val="600"/>
              </a:spcBef>
              <a:spcAft>
                <a:spcPts val="0"/>
              </a:spcAft>
              <a:buSzPts val="1800"/>
              <a:buChar char="●"/>
            </a:pPr>
            <a:r>
              <a:rPr lang="en"/>
              <a:t>The router cannot keep up, and gets congested.</a:t>
            </a:r>
            <a:endParaRPr/>
          </a:p>
          <a:p>
            <a:pPr indent="-342900" lvl="0" marL="457200" rtl="0" algn="l">
              <a:spcBef>
                <a:spcPts val="0"/>
              </a:spcBef>
              <a:spcAft>
                <a:spcPts val="0"/>
              </a:spcAft>
              <a:buSzPts val="1800"/>
              <a:buChar char="●"/>
            </a:pPr>
            <a:r>
              <a:rPr lang="en"/>
              <a:t>Packets can be delayed (stuck waiting in queue) or dropped (queue is full).</a:t>
            </a:r>
            <a:endParaRPr/>
          </a:p>
        </p:txBody>
      </p:sp>
      <p:cxnSp>
        <p:nvCxnSpPr>
          <p:cNvPr id="1341" name="Google Shape;1341;p58"/>
          <p:cNvCxnSpPr/>
          <p:nvPr/>
        </p:nvCxnSpPr>
        <p:spPr>
          <a:xfrm>
            <a:off x="1768888" y="3388902"/>
            <a:ext cx="2040600" cy="546900"/>
          </a:xfrm>
          <a:prstGeom prst="straightConnector1">
            <a:avLst/>
          </a:prstGeom>
          <a:noFill/>
          <a:ln cap="flat" cmpd="sng" w="19050">
            <a:solidFill>
              <a:srgbClr val="000000"/>
            </a:solidFill>
            <a:prstDash val="solid"/>
            <a:round/>
            <a:headEnd len="med" w="med" type="none"/>
            <a:tailEnd len="med" w="med" type="none"/>
          </a:ln>
        </p:spPr>
      </p:cxnSp>
      <p:sp>
        <p:nvSpPr>
          <p:cNvPr id="1342" name="Google Shape;1342;p58"/>
          <p:cNvSpPr/>
          <p:nvPr/>
        </p:nvSpPr>
        <p:spPr>
          <a:xfrm rot="900021">
            <a:off x="1954085" y="3138673"/>
            <a:ext cx="337294" cy="337294"/>
          </a:xfrm>
          <a:prstGeom prst="rect">
            <a:avLst/>
          </a:prstGeom>
          <a:solidFill>
            <a:srgbClr val="9FC5E8"/>
          </a:solidFill>
          <a:ln cap="flat" cmpd="sng" w="1905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Roboto"/>
              <a:ea typeface="Roboto"/>
              <a:cs typeface="Roboto"/>
              <a:sym typeface="Roboto"/>
            </a:endParaRPr>
          </a:p>
        </p:txBody>
      </p:sp>
      <p:cxnSp>
        <p:nvCxnSpPr>
          <p:cNvPr id="1343" name="Google Shape;1343;p58"/>
          <p:cNvCxnSpPr/>
          <p:nvPr/>
        </p:nvCxnSpPr>
        <p:spPr>
          <a:xfrm flipH="1" rot="10800000">
            <a:off x="1771588" y="4070527"/>
            <a:ext cx="2043900" cy="547800"/>
          </a:xfrm>
          <a:prstGeom prst="straightConnector1">
            <a:avLst/>
          </a:prstGeom>
          <a:noFill/>
          <a:ln cap="flat" cmpd="sng" w="19050">
            <a:solidFill>
              <a:srgbClr val="000000"/>
            </a:solidFill>
            <a:prstDash val="solid"/>
            <a:round/>
            <a:headEnd len="med" w="med" type="none"/>
            <a:tailEnd len="med" w="med" type="none"/>
          </a:ln>
        </p:spPr>
      </p:cxnSp>
      <p:sp>
        <p:nvSpPr>
          <p:cNvPr id="1344" name="Google Shape;1344;p58"/>
          <p:cNvSpPr/>
          <p:nvPr/>
        </p:nvSpPr>
        <p:spPr>
          <a:xfrm rot="-900021">
            <a:off x="2139389" y="4479217"/>
            <a:ext cx="337294" cy="337294"/>
          </a:xfrm>
          <a:prstGeom prst="rect">
            <a:avLst/>
          </a:prstGeom>
          <a:solidFill>
            <a:srgbClr val="B6D7A8"/>
          </a:solidFill>
          <a:ln cap="flat" cmpd="sng" w="1905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Roboto"/>
              <a:ea typeface="Roboto"/>
              <a:cs typeface="Roboto"/>
              <a:sym typeface="Roboto"/>
            </a:endParaRPr>
          </a:p>
        </p:txBody>
      </p:sp>
      <p:sp>
        <p:nvSpPr>
          <p:cNvPr id="1345" name="Google Shape;1345;p58"/>
          <p:cNvSpPr/>
          <p:nvPr/>
        </p:nvSpPr>
        <p:spPr>
          <a:xfrm rot="-900021">
            <a:off x="3419807" y="4136935"/>
            <a:ext cx="337294" cy="337294"/>
          </a:xfrm>
          <a:prstGeom prst="rect">
            <a:avLst/>
          </a:prstGeom>
          <a:solidFill>
            <a:srgbClr val="B6D7A8"/>
          </a:solidFill>
          <a:ln cap="flat" cmpd="sng" w="1905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1346" name="Google Shape;1346;p58"/>
          <p:cNvSpPr/>
          <p:nvPr/>
        </p:nvSpPr>
        <p:spPr>
          <a:xfrm rot="900021">
            <a:off x="2701635" y="3341073"/>
            <a:ext cx="337294" cy="337294"/>
          </a:xfrm>
          <a:prstGeom prst="rect">
            <a:avLst/>
          </a:prstGeom>
          <a:solidFill>
            <a:srgbClr val="9FC5E8"/>
          </a:solidFill>
          <a:ln cap="flat" cmpd="sng" w="1905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Roboto"/>
              <a:ea typeface="Roboto"/>
              <a:cs typeface="Roboto"/>
              <a:sym typeface="Roboto"/>
            </a:endParaRPr>
          </a:p>
        </p:txBody>
      </p:sp>
      <p:sp>
        <p:nvSpPr>
          <p:cNvPr id="1347" name="Google Shape;1347;p58"/>
          <p:cNvSpPr/>
          <p:nvPr/>
        </p:nvSpPr>
        <p:spPr>
          <a:xfrm rot="900021">
            <a:off x="3417796" y="3532162"/>
            <a:ext cx="337294" cy="337294"/>
          </a:xfrm>
          <a:prstGeom prst="rect">
            <a:avLst/>
          </a:prstGeom>
          <a:solidFill>
            <a:srgbClr val="9FC5E8"/>
          </a:solidFill>
          <a:ln cap="flat" cmpd="sng" w="1905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cxnSp>
        <p:nvCxnSpPr>
          <p:cNvPr id="1348" name="Google Shape;1348;p58"/>
          <p:cNvCxnSpPr/>
          <p:nvPr/>
        </p:nvCxnSpPr>
        <p:spPr>
          <a:xfrm>
            <a:off x="1849988" y="3056702"/>
            <a:ext cx="2040600" cy="546900"/>
          </a:xfrm>
          <a:prstGeom prst="straightConnector1">
            <a:avLst/>
          </a:prstGeom>
          <a:noFill/>
          <a:ln cap="flat" cmpd="sng" w="19050">
            <a:solidFill>
              <a:srgbClr val="000000"/>
            </a:solidFill>
            <a:prstDash val="solid"/>
            <a:round/>
            <a:headEnd len="med" w="med" type="none"/>
            <a:tailEnd len="med" w="med" type="none"/>
          </a:ln>
        </p:spPr>
      </p:cxnSp>
      <p:cxnSp>
        <p:nvCxnSpPr>
          <p:cNvPr id="1349" name="Google Shape;1349;p58"/>
          <p:cNvCxnSpPr/>
          <p:nvPr/>
        </p:nvCxnSpPr>
        <p:spPr>
          <a:xfrm flipH="1" rot="10800000">
            <a:off x="1855401" y="4395127"/>
            <a:ext cx="2043900" cy="547800"/>
          </a:xfrm>
          <a:prstGeom prst="straightConnector1">
            <a:avLst/>
          </a:prstGeom>
          <a:noFill/>
          <a:ln cap="flat" cmpd="sng" w="19050">
            <a:solidFill>
              <a:srgbClr val="000000"/>
            </a:solidFill>
            <a:prstDash val="solid"/>
            <a:round/>
            <a:headEnd len="med" w="med" type="none"/>
            <a:tailEnd len="med" w="med" type="none"/>
          </a:ln>
        </p:spPr>
      </p:cxnSp>
      <p:sp>
        <p:nvSpPr>
          <p:cNvPr id="1350" name="Google Shape;1350;p58"/>
          <p:cNvSpPr/>
          <p:nvPr/>
        </p:nvSpPr>
        <p:spPr>
          <a:xfrm>
            <a:off x="3899313" y="3716277"/>
            <a:ext cx="1179000" cy="623400"/>
          </a:xfrm>
          <a:prstGeom prst="roundRect">
            <a:avLst>
              <a:gd fmla="val 16667" name="adj"/>
            </a:avLst>
          </a:prstGeom>
          <a:noFill/>
          <a:ln cap="flat" cmpd="sng" w="1905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Router</a:t>
            </a:r>
            <a:endParaRPr>
              <a:latin typeface="Roboto"/>
              <a:ea typeface="Roboto"/>
              <a:cs typeface="Roboto"/>
              <a:sym typeface="Roboto"/>
            </a:endParaRPr>
          </a:p>
        </p:txBody>
      </p:sp>
      <p:sp>
        <p:nvSpPr>
          <p:cNvPr id="1351" name="Google Shape;1351;p58"/>
          <p:cNvSpPr/>
          <p:nvPr/>
        </p:nvSpPr>
        <p:spPr>
          <a:xfrm>
            <a:off x="5746407" y="3859385"/>
            <a:ext cx="337200" cy="337200"/>
          </a:xfrm>
          <a:prstGeom prst="rect">
            <a:avLst/>
          </a:prstGeom>
          <a:solidFill>
            <a:srgbClr val="D9D9D9"/>
          </a:solidFill>
          <a:ln cap="flat" cmpd="sng" w="1905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Roboto"/>
              <a:ea typeface="Roboto"/>
              <a:cs typeface="Roboto"/>
              <a:sym typeface="Roboto"/>
            </a:endParaRPr>
          </a:p>
        </p:txBody>
      </p:sp>
      <p:cxnSp>
        <p:nvCxnSpPr>
          <p:cNvPr id="1352" name="Google Shape;1352;p58"/>
          <p:cNvCxnSpPr/>
          <p:nvPr/>
        </p:nvCxnSpPr>
        <p:spPr>
          <a:xfrm>
            <a:off x="5078313" y="3859377"/>
            <a:ext cx="1673400" cy="0"/>
          </a:xfrm>
          <a:prstGeom prst="straightConnector1">
            <a:avLst/>
          </a:prstGeom>
          <a:noFill/>
          <a:ln cap="flat" cmpd="sng" w="19050">
            <a:solidFill>
              <a:srgbClr val="000000"/>
            </a:solidFill>
            <a:prstDash val="solid"/>
            <a:round/>
            <a:headEnd len="med" w="med" type="none"/>
            <a:tailEnd len="med" w="med" type="none"/>
          </a:ln>
        </p:spPr>
      </p:cxnSp>
      <p:cxnSp>
        <p:nvCxnSpPr>
          <p:cNvPr id="1353" name="Google Shape;1353;p58"/>
          <p:cNvCxnSpPr/>
          <p:nvPr/>
        </p:nvCxnSpPr>
        <p:spPr>
          <a:xfrm>
            <a:off x="5078313" y="4196577"/>
            <a:ext cx="1673400" cy="0"/>
          </a:xfrm>
          <a:prstGeom prst="straightConnector1">
            <a:avLst/>
          </a:prstGeom>
          <a:noFill/>
          <a:ln cap="flat" cmpd="sng" w="19050">
            <a:solidFill>
              <a:srgbClr val="000000"/>
            </a:solidFill>
            <a:prstDash val="solid"/>
            <a:round/>
            <a:headEnd len="med" w="med" type="none"/>
            <a:tailEnd len="med" w="med" type="none"/>
          </a:ln>
        </p:spPr>
      </p:cxnSp>
      <p:sp>
        <p:nvSpPr>
          <p:cNvPr id="1354" name="Google Shape;1354;p58"/>
          <p:cNvSpPr/>
          <p:nvPr/>
        </p:nvSpPr>
        <p:spPr>
          <a:xfrm>
            <a:off x="4650950" y="3018452"/>
            <a:ext cx="3213600" cy="623400"/>
          </a:xfrm>
          <a:prstGeom prst="wedgeRoundRectCallout">
            <a:avLst>
              <a:gd fmla="val -54601" name="adj1"/>
              <a:gd fmla="val 48705" name="adj2"/>
              <a:gd fmla="val 0" name="adj3"/>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a:latin typeface="Roboto"/>
                <a:ea typeface="Roboto"/>
                <a:cs typeface="Roboto"/>
                <a:sym typeface="Roboto"/>
              </a:rPr>
              <a:t>I cannot send both A and B right now.</a:t>
            </a:r>
            <a:endParaRPr>
              <a:latin typeface="Roboto"/>
              <a:ea typeface="Roboto"/>
              <a:cs typeface="Roboto"/>
              <a:sym typeface="Roboto"/>
            </a:endParaRPr>
          </a:p>
          <a:p>
            <a:pPr indent="0" lvl="0" marL="0" rtl="0" algn="l">
              <a:spcBef>
                <a:spcPts val="0"/>
              </a:spcBef>
              <a:spcAft>
                <a:spcPts val="0"/>
              </a:spcAft>
              <a:buNone/>
            </a:pPr>
            <a:r>
              <a:rPr lang="en">
                <a:latin typeface="Roboto"/>
                <a:ea typeface="Roboto"/>
                <a:cs typeface="Roboto"/>
                <a:sym typeface="Roboto"/>
              </a:rPr>
              <a:t>One of them will have to wait.</a:t>
            </a:r>
            <a:endParaRPr>
              <a:latin typeface="Roboto"/>
              <a:ea typeface="Roboto"/>
              <a:cs typeface="Roboto"/>
              <a:sym typeface="Roboto"/>
            </a:endParaRPr>
          </a:p>
        </p:txBody>
      </p:sp>
      <p:cxnSp>
        <p:nvCxnSpPr>
          <p:cNvPr id="1355" name="Google Shape;1355;p58"/>
          <p:cNvCxnSpPr/>
          <p:nvPr/>
        </p:nvCxnSpPr>
        <p:spPr>
          <a:xfrm>
            <a:off x="2181000" y="2955977"/>
            <a:ext cx="1485900" cy="398100"/>
          </a:xfrm>
          <a:prstGeom prst="straightConnector1">
            <a:avLst/>
          </a:prstGeom>
          <a:noFill/>
          <a:ln cap="flat" cmpd="sng" w="9525">
            <a:solidFill>
              <a:schemeClr val="dk2"/>
            </a:solidFill>
            <a:prstDash val="solid"/>
            <a:round/>
            <a:headEnd len="med" w="med" type="none"/>
            <a:tailEnd len="med" w="med" type="triangle"/>
          </a:ln>
        </p:spPr>
      </p:cxnSp>
      <p:cxnSp>
        <p:nvCxnSpPr>
          <p:cNvPr id="1356" name="Google Shape;1356;p58"/>
          <p:cNvCxnSpPr/>
          <p:nvPr/>
        </p:nvCxnSpPr>
        <p:spPr>
          <a:xfrm flipH="1" rot="10800000">
            <a:off x="2276027" y="4616279"/>
            <a:ext cx="1476600" cy="395700"/>
          </a:xfrm>
          <a:prstGeom prst="straightConnector1">
            <a:avLst/>
          </a:prstGeom>
          <a:noFill/>
          <a:ln cap="flat" cmpd="sng" w="9525">
            <a:solidFill>
              <a:schemeClr val="dk2"/>
            </a:solidFill>
            <a:prstDash val="solid"/>
            <a:round/>
            <a:headEnd len="med" w="med" type="none"/>
            <a:tailEnd len="med" w="med" type="triangle"/>
          </a:ln>
        </p:spPr>
      </p:cxnSp>
      <p:cxnSp>
        <p:nvCxnSpPr>
          <p:cNvPr id="1357" name="Google Shape;1357;p58"/>
          <p:cNvCxnSpPr/>
          <p:nvPr/>
        </p:nvCxnSpPr>
        <p:spPr>
          <a:xfrm>
            <a:off x="5272725" y="4395127"/>
            <a:ext cx="1479000" cy="0"/>
          </a:xfrm>
          <a:prstGeom prst="straightConnector1">
            <a:avLst/>
          </a:prstGeom>
          <a:noFill/>
          <a:ln cap="flat" cmpd="sng" w="9525">
            <a:solidFill>
              <a:schemeClr val="dk2"/>
            </a:solidFill>
            <a:prstDash val="solid"/>
            <a:round/>
            <a:headEnd len="med" w="med" type="none"/>
            <a:tailEnd len="med" w="med" type="triangle"/>
          </a:ln>
        </p:spPr>
      </p:cxn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1" name="Shape 1361"/>
        <p:cNvGrpSpPr/>
        <p:nvPr/>
      </p:nvGrpSpPr>
      <p:grpSpPr>
        <a:xfrm>
          <a:off x="0" y="0"/>
          <a:ext cx="0" cy="0"/>
          <a:chOff x="0" y="0"/>
          <a:chExt cx="0" cy="0"/>
        </a:xfrm>
      </p:grpSpPr>
      <p:sp>
        <p:nvSpPr>
          <p:cNvPr id="1362" name="Google Shape;1362;p59"/>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Congestion Delays Packets</a:t>
            </a:r>
            <a:endParaRPr/>
          </a:p>
        </p:txBody>
      </p:sp>
      <p:sp>
        <p:nvSpPr>
          <p:cNvPr id="1363" name="Google Shape;1363;p59"/>
          <p:cNvSpPr txBox="1"/>
          <p:nvPr>
            <p:ph idx="1" type="body"/>
          </p:nvPr>
        </p:nvSpPr>
        <p:spPr>
          <a:xfrm>
            <a:off x="107050" y="402200"/>
            <a:ext cx="8909700" cy="19590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For a typical queuing system with bursty arrivals:</a:t>
            </a:r>
            <a:endParaRPr/>
          </a:p>
          <a:p>
            <a:pPr indent="-342900" lvl="0" marL="457200" rtl="0" algn="l">
              <a:spcBef>
                <a:spcPts val="600"/>
              </a:spcBef>
              <a:spcAft>
                <a:spcPts val="0"/>
              </a:spcAft>
              <a:buSzPts val="1800"/>
              <a:buChar char="●"/>
            </a:pPr>
            <a:r>
              <a:rPr lang="en"/>
              <a:t>Higher load = more packets sent = higher packet delay.</a:t>
            </a:r>
            <a:endParaRPr/>
          </a:p>
          <a:p>
            <a:pPr indent="-342900" lvl="0" marL="457200" rtl="0" algn="l">
              <a:spcBef>
                <a:spcPts val="0"/>
              </a:spcBef>
              <a:spcAft>
                <a:spcPts val="0"/>
              </a:spcAft>
              <a:buSzPts val="1800"/>
              <a:buChar char="●"/>
            </a:pPr>
            <a:r>
              <a:rPr lang="en"/>
              <a:t>Delay gets really bad, even before we reach 100% load.</a:t>
            </a:r>
            <a:endParaRPr/>
          </a:p>
          <a:p>
            <a:pPr indent="-342900" lvl="0" marL="457200" rtl="0" algn="l">
              <a:spcBef>
                <a:spcPts val="0"/>
              </a:spcBef>
              <a:spcAft>
                <a:spcPts val="0"/>
              </a:spcAft>
              <a:buSzPts val="1800"/>
              <a:buChar char="●"/>
            </a:pPr>
            <a:r>
              <a:rPr lang="en"/>
              <a:t>Trade-offs: Need to balance high link utilization and low delay.</a:t>
            </a:r>
            <a:endParaRPr/>
          </a:p>
        </p:txBody>
      </p:sp>
      <p:cxnSp>
        <p:nvCxnSpPr>
          <p:cNvPr id="1364" name="Google Shape;1364;p59"/>
          <p:cNvCxnSpPr/>
          <p:nvPr/>
        </p:nvCxnSpPr>
        <p:spPr>
          <a:xfrm rot="10800000">
            <a:off x="3478950" y="2627315"/>
            <a:ext cx="0" cy="1756500"/>
          </a:xfrm>
          <a:prstGeom prst="straightConnector1">
            <a:avLst/>
          </a:prstGeom>
          <a:noFill/>
          <a:ln cap="flat" cmpd="sng" w="19050">
            <a:solidFill>
              <a:schemeClr val="dk2"/>
            </a:solidFill>
            <a:prstDash val="solid"/>
            <a:round/>
            <a:headEnd len="med" w="med" type="none"/>
            <a:tailEnd len="med" w="med" type="triangle"/>
          </a:ln>
        </p:spPr>
      </p:cxnSp>
      <p:cxnSp>
        <p:nvCxnSpPr>
          <p:cNvPr id="1365" name="Google Shape;1365;p59"/>
          <p:cNvCxnSpPr/>
          <p:nvPr/>
        </p:nvCxnSpPr>
        <p:spPr>
          <a:xfrm>
            <a:off x="3478950" y="4274651"/>
            <a:ext cx="2344800" cy="0"/>
          </a:xfrm>
          <a:prstGeom prst="straightConnector1">
            <a:avLst/>
          </a:prstGeom>
          <a:noFill/>
          <a:ln cap="flat" cmpd="sng" w="19050">
            <a:solidFill>
              <a:schemeClr val="dk2"/>
            </a:solidFill>
            <a:prstDash val="solid"/>
            <a:round/>
            <a:headEnd len="med" w="med" type="none"/>
            <a:tailEnd len="med" w="med" type="triangle"/>
          </a:ln>
        </p:spPr>
      </p:cxnSp>
      <p:sp>
        <p:nvSpPr>
          <p:cNvPr id="1366" name="Google Shape;1366;p59"/>
          <p:cNvSpPr/>
          <p:nvPr/>
        </p:nvSpPr>
        <p:spPr>
          <a:xfrm>
            <a:off x="3478950" y="2680875"/>
            <a:ext cx="2067075" cy="1528434"/>
          </a:xfrm>
          <a:custGeom>
            <a:rect b="b" l="l" r="r" t="t"/>
            <a:pathLst>
              <a:path extrusionOk="0" h="74286" w="82683">
                <a:moveTo>
                  <a:pt x="0" y="74286"/>
                </a:moveTo>
                <a:cubicBezTo>
                  <a:pt x="11950" y="72025"/>
                  <a:pt x="57922" y="73102"/>
                  <a:pt x="71702" y="60721"/>
                </a:cubicBezTo>
                <a:cubicBezTo>
                  <a:pt x="85483" y="48340"/>
                  <a:pt x="80853" y="10120"/>
                  <a:pt x="82683" y="0"/>
                </a:cubicBezTo>
              </a:path>
            </a:pathLst>
          </a:custGeom>
          <a:noFill/>
          <a:ln cap="flat" cmpd="sng" w="19050">
            <a:solidFill>
              <a:schemeClr val="accent3"/>
            </a:solidFill>
            <a:prstDash val="solid"/>
            <a:round/>
            <a:headEnd len="med" w="med" type="none"/>
            <a:tailEnd len="med" w="med" type="none"/>
          </a:ln>
        </p:spPr>
      </p:sp>
      <p:cxnSp>
        <p:nvCxnSpPr>
          <p:cNvPr id="1367" name="Google Shape;1367;p59"/>
          <p:cNvCxnSpPr/>
          <p:nvPr/>
        </p:nvCxnSpPr>
        <p:spPr>
          <a:xfrm>
            <a:off x="5603800" y="2457876"/>
            <a:ext cx="0" cy="2352300"/>
          </a:xfrm>
          <a:prstGeom prst="straightConnector1">
            <a:avLst/>
          </a:prstGeom>
          <a:noFill/>
          <a:ln cap="flat" cmpd="sng" w="9525">
            <a:solidFill>
              <a:schemeClr val="dk2"/>
            </a:solidFill>
            <a:prstDash val="dash"/>
            <a:round/>
            <a:headEnd len="med" w="med" type="none"/>
            <a:tailEnd len="med" w="med" type="none"/>
          </a:ln>
        </p:spPr>
      </p:cxnSp>
      <p:sp>
        <p:nvSpPr>
          <p:cNvPr id="1368" name="Google Shape;1368;p59"/>
          <p:cNvSpPr txBox="1"/>
          <p:nvPr/>
        </p:nvSpPr>
        <p:spPr>
          <a:xfrm>
            <a:off x="3478950" y="4304376"/>
            <a:ext cx="21249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Load</a:t>
            </a:r>
            <a:endParaRPr>
              <a:solidFill>
                <a:schemeClr val="dk1"/>
              </a:solidFill>
              <a:latin typeface="Roboto"/>
              <a:ea typeface="Roboto"/>
              <a:cs typeface="Roboto"/>
              <a:sym typeface="Roboto"/>
            </a:endParaRPr>
          </a:p>
        </p:txBody>
      </p:sp>
      <p:sp>
        <p:nvSpPr>
          <p:cNvPr id="1369" name="Google Shape;1369;p59"/>
          <p:cNvSpPr txBox="1"/>
          <p:nvPr/>
        </p:nvSpPr>
        <p:spPr>
          <a:xfrm>
            <a:off x="5603800" y="4456401"/>
            <a:ext cx="9393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100% load</a:t>
            </a:r>
            <a:endParaRPr>
              <a:solidFill>
                <a:schemeClr val="dk1"/>
              </a:solidFill>
              <a:latin typeface="Roboto"/>
              <a:ea typeface="Roboto"/>
              <a:cs typeface="Roboto"/>
              <a:sym typeface="Roboto"/>
            </a:endParaRPr>
          </a:p>
        </p:txBody>
      </p:sp>
      <p:sp>
        <p:nvSpPr>
          <p:cNvPr id="1370" name="Google Shape;1370;p59"/>
          <p:cNvSpPr txBox="1"/>
          <p:nvPr/>
        </p:nvSpPr>
        <p:spPr>
          <a:xfrm>
            <a:off x="2522400" y="3094088"/>
            <a:ext cx="880200" cy="7020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Average Packet Delay</a:t>
            </a:r>
            <a:endParaRPr>
              <a:solidFill>
                <a:schemeClr val="dk1"/>
              </a:solidFill>
              <a:latin typeface="Roboto"/>
              <a:ea typeface="Roboto"/>
              <a:cs typeface="Roboto"/>
              <a:sym typeface="Roboto"/>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4" name="Shape 1374"/>
        <p:cNvGrpSpPr/>
        <p:nvPr/>
      </p:nvGrpSpPr>
      <p:grpSpPr>
        <a:xfrm>
          <a:off x="0" y="0"/>
          <a:ext cx="0" cy="0"/>
          <a:chOff x="0" y="0"/>
          <a:chExt cx="0" cy="0"/>
        </a:xfrm>
      </p:grpSpPr>
      <p:sp>
        <p:nvSpPr>
          <p:cNvPr id="1375" name="Google Shape;1375;p60"/>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Brief History of Congestion Control</a:t>
            </a:r>
            <a:endParaRPr/>
          </a:p>
        </p:txBody>
      </p:sp>
      <p:sp>
        <p:nvSpPr>
          <p:cNvPr id="1376" name="Google Shape;1376;p60"/>
          <p:cNvSpPr txBox="1"/>
          <p:nvPr>
            <p:ph idx="1" type="body"/>
          </p:nvPr>
        </p:nvSpPr>
        <p:spPr>
          <a:xfrm>
            <a:off x="107050" y="402200"/>
            <a:ext cx="8909700" cy="2432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In the 1980s, TCP did not implement congestion control.</a:t>
            </a:r>
            <a:endParaRPr/>
          </a:p>
          <a:p>
            <a:pPr indent="-342900" lvl="0" marL="457200" rtl="0" algn="l">
              <a:spcBef>
                <a:spcPts val="600"/>
              </a:spcBef>
              <a:spcAft>
                <a:spcPts val="0"/>
              </a:spcAft>
              <a:buSzPts val="1800"/>
              <a:buChar char="●"/>
            </a:pPr>
            <a:r>
              <a:rPr lang="en"/>
              <a:t>Sending rate was only limited by flow control (recipient buffer capacity).</a:t>
            </a:r>
            <a:endParaRPr/>
          </a:p>
          <a:p>
            <a:pPr indent="-342900" lvl="0" marL="457200" rtl="0" algn="l">
              <a:spcBef>
                <a:spcPts val="0"/>
              </a:spcBef>
              <a:spcAft>
                <a:spcPts val="0"/>
              </a:spcAft>
              <a:buSzPts val="1800"/>
              <a:buChar char="●"/>
            </a:pPr>
            <a:r>
              <a:rPr lang="en"/>
              <a:t>If packets are dropped, resend them over and over, at the same fast rate.</a:t>
            </a:r>
            <a:endParaRPr/>
          </a:p>
          <a:p>
            <a:pPr indent="0" lvl="0" marL="0" rtl="0" algn="l">
              <a:spcBef>
                <a:spcPts val="600"/>
              </a:spcBef>
              <a:spcAft>
                <a:spcPts val="0"/>
              </a:spcAft>
              <a:buNone/>
            </a:pPr>
            <a:r>
              <a:rPr lang="en"/>
              <a:t>This led to a </a:t>
            </a:r>
            <a:r>
              <a:rPr i="1" lang="en"/>
              <a:t>congestion collapse</a:t>
            </a:r>
            <a:r>
              <a:rPr lang="en"/>
              <a:t>.</a:t>
            </a:r>
            <a:endParaRPr/>
          </a:p>
          <a:p>
            <a:pPr indent="-342900" lvl="0" marL="457200" rtl="0" algn="l">
              <a:spcBef>
                <a:spcPts val="600"/>
              </a:spcBef>
              <a:spcAft>
                <a:spcPts val="0"/>
              </a:spcAft>
              <a:buSzPts val="1800"/>
              <a:buChar char="●"/>
            </a:pPr>
            <a:r>
              <a:rPr lang="en"/>
              <a:t>1986: Capacity of a major link dropped to 0.1% of its original capacity.</a:t>
            </a:r>
            <a:endParaRPr sz="1400">
              <a:solidFill>
                <a:schemeClr val="accent3"/>
              </a:solidFill>
            </a:endParaRPr>
          </a:p>
          <a:p>
            <a:pPr indent="-342900" lvl="0" marL="457200" rtl="0" algn="l">
              <a:spcBef>
                <a:spcPts val="0"/>
              </a:spcBef>
              <a:spcAft>
                <a:spcPts val="0"/>
              </a:spcAft>
              <a:buSzPts val="1800"/>
              <a:buChar char="●"/>
            </a:pPr>
            <a:r>
              <a:rPr lang="en"/>
              <a:t>Why? Network was flooded with thousands of copies of every packet.</a:t>
            </a:r>
            <a:endParaRPr/>
          </a:p>
        </p:txBody>
      </p:sp>
      <p:sp>
        <p:nvSpPr>
          <p:cNvPr id="1377" name="Google Shape;1377;p60"/>
          <p:cNvSpPr/>
          <p:nvPr/>
        </p:nvSpPr>
        <p:spPr>
          <a:xfrm>
            <a:off x="380500" y="3012225"/>
            <a:ext cx="8362800" cy="17769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i="1" lang="en">
                <a:latin typeface="Roboto"/>
                <a:ea typeface="Roboto"/>
                <a:cs typeface="Roboto"/>
                <a:sym typeface="Roboto"/>
              </a:rPr>
              <a:t>In October of '86, the Internet had the first of what became a series of 'congestion collapses.' During this period, the data throughput from LBL to UC Berkeley (sites separated by 400 yards and two IMP hops) dropped from 32 Kbps to 40 bps. We were fascinated by this sudden factor-of-thousand drop in bandwidth and embarked on an investigation of why things had gotten so bad. In particular, we wondered if the 4.3BSD (Berkeley Unix) TCP was mis-behaving or if it could be tuned to work better under abysmal network conditions. The answer to both of these questions was "yes".</a:t>
            </a:r>
            <a:endParaRPr i="1">
              <a:latin typeface="Roboto"/>
              <a:ea typeface="Roboto"/>
              <a:cs typeface="Roboto"/>
              <a:sym typeface="Roboto"/>
            </a:endParaRPr>
          </a:p>
          <a:p>
            <a:pPr indent="0" lvl="0" marL="0" rtl="0" algn="l">
              <a:spcBef>
                <a:spcPts val="0"/>
              </a:spcBef>
              <a:spcAft>
                <a:spcPts val="0"/>
              </a:spcAft>
              <a:buNone/>
            </a:pPr>
            <a:r>
              <a:t/>
            </a:r>
            <a:endParaRPr i="1">
              <a:latin typeface="Roboto"/>
              <a:ea typeface="Roboto"/>
              <a:cs typeface="Roboto"/>
              <a:sym typeface="Roboto"/>
            </a:endParaRPr>
          </a:p>
          <a:p>
            <a:pPr indent="0" lvl="0" marL="0" rtl="0" algn="r">
              <a:spcBef>
                <a:spcPts val="0"/>
              </a:spcBef>
              <a:spcAft>
                <a:spcPts val="0"/>
              </a:spcAft>
              <a:buNone/>
            </a:pPr>
            <a:r>
              <a:rPr i="1" lang="en">
                <a:latin typeface="Roboto"/>
                <a:ea typeface="Roboto"/>
                <a:cs typeface="Roboto"/>
                <a:sym typeface="Roboto"/>
              </a:rPr>
              <a:t>– Karels (UCB) and Jacobson (LBL)</a:t>
            </a:r>
            <a:endParaRPr i="1">
              <a:latin typeface="Roboto"/>
              <a:ea typeface="Roboto"/>
              <a:cs typeface="Roboto"/>
              <a:sym typeface="Roboto"/>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1" name="Shape 1381"/>
        <p:cNvGrpSpPr/>
        <p:nvPr/>
      </p:nvGrpSpPr>
      <p:grpSpPr>
        <a:xfrm>
          <a:off x="0" y="0"/>
          <a:ext cx="0" cy="0"/>
          <a:chOff x="0" y="0"/>
          <a:chExt cx="0" cy="0"/>
        </a:xfrm>
      </p:grpSpPr>
      <p:sp>
        <p:nvSpPr>
          <p:cNvPr id="1382" name="Google Shape;1382;p61"/>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Brief History of Congestion Control</a:t>
            </a:r>
            <a:endParaRPr/>
          </a:p>
        </p:txBody>
      </p:sp>
      <p:sp>
        <p:nvSpPr>
          <p:cNvPr id="1383" name="Google Shape;1383;p61"/>
          <p:cNvSpPr txBox="1"/>
          <p:nvPr>
            <p:ph idx="1" type="body"/>
          </p:nvPr>
        </p:nvSpPr>
        <p:spPr>
          <a:xfrm>
            <a:off x="107050" y="402200"/>
            <a:ext cx="8909700" cy="45306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How was congestion collapse solved in the 1980s?</a:t>
            </a:r>
            <a:endParaRPr/>
          </a:p>
          <a:p>
            <a:pPr indent="-342900" lvl="0" marL="457200" rtl="0" algn="l">
              <a:spcBef>
                <a:spcPts val="600"/>
              </a:spcBef>
              <a:spcAft>
                <a:spcPts val="0"/>
              </a:spcAft>
              <a:buSzPts val="1800"/>
              <a:buChar char="●"/>
            </a:pPr>
            <a:r>
              <a:rPr lang="en"/>
              <a:t>Michael Karels and Van Jacobson were working on BSD (an early OS).</a:t>
            </a:r>
            <a:endParaRPr/>
          </a:p>
          <a:p>
            <a:pPr indent="-342900" lvl="0" marL="457200" rtl="0" algn="l">
              <a:spcBef>
                <a:spcPts val="0"/>
              </a:spcBef>
              <a:spcAft>
                <a:spcPts val="0"/>
              </a:spcAft>
              <a:buSzPts val="1800"/>
              <a:buChar char="●"/>
            </a:pPr>
            <a:r>
              <a:rPr lang="en"/>
              <a:t>They changed a few lines of TCP code to fix the problem.</a:t>
            </a:r>
            <a:endParaRPr/>
          </a:p>
          <a:p>
            <a:pPr indent="-342900" lvl="1" marL="914400" rtl="0" algn="l">
              <a:spcBef>
                <a:spcPts val="0"/>
              </a:spcBef>
              <a:spcAft>
                <a:spcPts val="0"/>
              </a:spcAft>
              <a:buSzPts val="1800"/>
              <a:buChar char="○"/>
            </a:pPr>
            <a:r>
              <a:rPr lang="en"/>
              <a:t>Recall: TCP is implemented in everybody's OS.</a:t>
            </a:r>
            <a:endParaRPr/>
          </a:p>
          <a:p>
            <a:pPr indent="-342900" lvl="1" marL="914400" rtl="0" algn="l">
              <a:spcBef>
                <a:spcPts val="0"/>
              </a:spcBef>
              <a:spcAft>
                <a:spcPts val="0"/>
              </a:spcAft>
              <a:buSzPts val="1800"/>
              <a:buChar char="○"/>
            </a:pPr>
            <a:r>
              <a:rPr lang="en"/>
              <a:t>The fix worked, and everybody quickly adopted it.</a:t>
            </a:r>
            <a:endParaRPr/>
          </a:p>
          <a:p>
            <a:pPr indent="0" lvl="0" marL="0" rtl="0" algn="l">
              <a:spcBef>
                <a:spcPts val="600"/>
              </a:spcBef>
              <a:spcAft>
                <a:spcPts val="0"/>
              </a:spcAft>
              <a:buNone/>
            </a:pPr>
            <a:r>
              <a:rPr lang="en"/>
              <a:t>The history of congestion control had a big impact on its design.</a:t>
            </a:r>
            <a:endParaRPr/>
          </a:p>
          <a:p>
            <a:pPr indent="-342900" lvl="0" marL="457200" rtl="0" algn="l">
              <a:spcBef>
                <a:spcPts val="600"/>
              </a:spcBef>
              <a:spcAft>
                <a:spcPts val="0"/>
              </a:spcAft>
              <a:buSzPts val="1800"/>
              <a:buChar char="●"/>
            </a:pPr>
            <a:r>
              <a:rPr lang="en"/>
              <a:t>Invented as an ad-hoc patch to an existing system. </a:t>
            </a:r>
            <a:r>
              <a:rPr lang="en" sz="1400">
                <a:solidFill>
                  <a:schemeClr val="accent3"/>
                </a:solidFill>
              </a:rPr>
              <a:t>(</a:t>
            </a:r>
            <a:r>
              <a:rPr i="1" lang="en" sz="1400">
                <a:solidFill>
                  <a:schemeClr val="accent3"/>
                </a:solidFill>
              </a:rPr>
              <a:t>Not in original TCP design.</a:t>
            </a:r>
            <a:r>
              <a:rPr lang="en" sz="1400">
                <a:solidFill>
                  <a:schemeClr val="accent3"/>
                </a:solidFill>
              </a:rPr>
              <a:t>)</a:t>
            </a:r>
            <a:endParaRPr sz="1400">
              <a:solidFill>
                <a:schemeClr val="accent3"/>
              </a:solidFill>
            </a:endParaRPr>
          </a:p>
          <a:p>
            <a:pPr indent="-342900" lvl="0" marL="457200" rtl="0" algn="l">
              <a:spcBef>
                <a:spcPts val="0"/>
              </a:spcBef>
              <a:spcAft>
                <a:spcPts val="0"/>
              </a:spcAft>
              <a:buSzPts val="1800"/>
              <a:buChar char="●"/>
            </a:pPr>
            <a:r>
              <a:rPr lang="en"/>
              <a:t>Implemented in the OS. </a:t>
            </a:r>
            <a:r>
              <a:rPr lang="en" sz="1400">
                <a:solidFill>
                  <a:schemeClr val="accent3"/>
                </a:solidFill>
              </a:rPr>
              <a:t>(</a:t>
            </a:r>
            <a:r>
              <a:rPr i="1" lang="en" sz="1400">
                <a:solidFill>
                  <a:schemeClr val="accent3"/>
                </a:solidFill>
              </a:rPr>
              <a:t>Not in applications, routers, etc.</a:t>
            </a:r>
            <a:r>
              <a:rPr lang="en" sz="1400">
                <a:solidFill>
                  <a:schemeClr val="accent3"/>
                </a:solidFill>
              </a:rPr>
              <a:t>)</a:t>
            </a:r>
            <a:endParaRPr sz="1400">
              <a:solidFill>
                <a:schemeClr val="accent3"/>
              </a:solidFill>
            </a:endParaRPr>
          </a:p>
          <a:p>
            <a:pPr indent="0" lvl="0" marL="0" rtl="0" algn="l">
              <a:spcBef>
                <a:spcPts val="600"/>
              </a:spcBef>
              <a:spcAft>
                <a:spcPts val="0"/>
              </a:spcAft>
              <a:buNone/>
            </a:pPr>
            <a:r>
              <a:rPr lang="en"/>
              <a:t>Fast-forward to today:</a:t>
            </a:r>
            <a:endParaRPr/>
          </a:p>
          <a:p>
            <a:pPr indent="-342900" lvl="0" marL="457200" rtl="0" algn="l">
              <a:spcBef>
                <a:spcPts val="600"/>
              </a:spcBef>
              <a:spcAft>
                <a:spcPts val="0"/>
              </a:spcAft>
              <a:buSzPts val="1800"/>
              <a:buChar char="●"/>
            </a:pPr>
            <a:r>
              <a:rPr lang="en"/>
              <a:t>Extensive research and improvements since the original patch.</a:t>
            </a:r>
            <a:endParaRPr/>
          </a:p>
          <a:p>
            <a:pPr indent="-342900" lvl="0" marL="457200" rtl="0" algn="l">
              <a:spcBef>
                <a:spcPts val="0"/>
              </a:spcBef>
              <a:spcAft>
                <a:spcPts val="0"/>
              </a:spcAft>
              <a:buSzPts val="1800"/>
              <a:buChar char="●"/>
            </a:pPr>
            <a:r>
              <a:rPr lang="en"/>
              <a:t>The core ideas in the original patch still persist.</a:t>
            </a:r>
            <a:endParaRPr/>
          </a:p>
          <a:p>
            <a:pPr indent="-342900" lvl="0" marL="457200" rtl="0" algn="l">
              <a:spcBef>
                <a:spcPts val="0"/>
              </a:spcBef>
              <a:spcAft>
                <a:spcPts val="0"/>
              </a:spcAft>
              <a:buSzPts val="1800"/>
              <a:buChar char="●"/>
            </a:pPr>
            <a:r>
              <a:rPr lang="en"/>
              <a:t>No major congestion collapses ever since.</a:t>
            </a:r>
            <a:endParaRPr/>
          </a:p>
          <a:p>
            <a:pPr indent="0" lvl="0" marL="0" rtl="0" algn="l">
              <a:spcBef>
                <a:spcPts val="600"/>
              </a:spcBef>
              <a:spcAft>
                <a:spcPts val="0"/>
              </a:spcAft>
              <a:buNone/>
            </a:pPr>
            <a:r>
              <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7" name="Shape 1387"/>
        <p:cNvGrpSpPr/>
        <p:nvPr/>
      </p:nvGrpSpPr>
      <p:grpSpPr>
        <a:xfrm>
          <a:off x="0" y="0"/>
          <a:ext cx="0" cy="0"/>
          <a:chOff x="0" y="0"/>
          <a:chExt cx="0" cy="0"/>
        </a:xfrm>
      </p:grpSpPr>
      <p:sp>
        <p:nvSpPr>
          <p:cNvPr id="1388" name="Google Shape;1388;p62"/>
          <p:cNvSpPr txBox="1"/>
          <p:nvPr>
            <p:ph idx="1" type="body"/>
          </p:nvPr>
        </p:nvSpPr>
        <p:spPr>
          <a:xfrm>
            <a:off x="4812375" y="402200"/>
            <a:ext cx="4038000" cy="42609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None/>
            </a:pPr>
            <a:r>
              <a:rPr b="1" lang="en">
                <a:solidFill>
                  <a:schemeClr val="accent3"/>
                </a:solidFill>
                <a:latin typeface="Roboto"/>
                <a:ea typeface="Roboto"/>
                <a:cs typeface="Roboto"/>
                <a:sym typeface="Roboto"/>
              </a:rPr>
              <a:t>Congestion Control Principles</a:t>
            </a:r>
            <a:endParaRPr b="1">
              <a:solidFill>
                <a:schemeClr val="accent3"/>
              </a:solidFill>
              <a:latin typeface="Roboto"/>
              <a:ea typeface="Roboto"/>
              <a:cs typeface="Roboto"/>
              <a:sym typeface="Roboto"/>
            </a:endParaRPr>
          </a:p>
          <a:p>
            <a:pPr indent="-342900" lvl="0" marL="457200" rtl="0" algn="l">
              <a:spcBef>
                <a:spcPts val="600"/>
              </a:spcBef>
              <a:spcAft>
                <a:spcPts val="0"/>
              </a:spcAft>
              <a:buClr>
                <a:srgbClr val="B7B7B7"/>
              </a:buClr>
              <a:buSzPts val="1800"/>
              <a:buChar char="•"/>
            </a:pPr>
            <a:r>
              <a:rPr lang="en">
                <a:solidFill>
                  <a:srgbClr val="B7B7B7"/>
                </a:solidFill>
              </a:rPr>
              <a:t>Why do we need it?</a:t>
            </a:r>
            <a:endParaRPr>
              <a:solidFill>
                <a:srgbClr val="B7B7B7"/>
              </a:solidFill>
            </a:endParaRPr>
          </a:p>
          <a:p>
            <a:pPr indent="-342900" lvl="0" marL="457200" rtl="0" algn="l">
              <a:spcBef>
                <a:spcPts val="0"/>
              </a:spcBef>
              <a:spcAft>
                <a:spcPts val="0"/>
              </a:spcAft>
              <a:buClr>
                <a:schemeClr val="accent3"/>
              </a:buClr>
              <a:buSzPts val="1800"/>
              <a:buFont typeface="Roboto"/>
              <a:buChar char="•"/>
            </a:pPr>
            <a:r>
              <a:rPr b="1" lang="en">
                <a:solidFill>
                  <a:schemeClr val="accent3"/>
                </a:solidFill>
                <a:latin typeface="Roboto"/>
                <a:ea typeface="Roboto"/>
                <a:cs typeface="Roboto"/>
                <a:sym typeface="Roboto"/>
              </a:rPr>
              <a:t>Why is it hard?</a:t>
            </a:r>
            <a:endParaRPr b="1">
              <a:solidFill>
                <a:schemeClr val="accent3"/>
              </a:solidFill>
              <a:latin typeface="Roboto"/>
              <a:ea typeface="Roboto"/>
              <a:cs typeface="Roboto"/>
              <a:sym typeface="Roboto"/>
            </a:endParaRPr>
          </a:p>
          <a:p>
            <a:pPr indent="-342900" lvl="0" marL="457200" rtl="0" algn="l">
              <a:spcBef>
                <a:spcPts val="0"/>
              </a:spcBef>
              <a:spcAft>
                <a:spcPts val="0"/>
              </a:spcAft>
              <a:buClr>
                <a:srgbClr val="B7B7B7"/>
              </a:buClr>
              <a:buSzPts val="1800"/>
              <a:buChar char="•"/>
            </a:pPr>
            <a:r>
              <a:rPr lang="en">
                <a:solidFill>
                  <a:srgbClr val="B7B7B7"/>
                </a:solidFill>
              </a:rPr>
              <a:t>Design Goals</a:t>
            </a:r>
            <a:endParaRPr>
              <a:solidFill>
                <a:srgbClr val="B7B7B7"/>
              </a:solidFill>
            </a:endParaRPr>
          </a:p>
          <a:p>
            <a:pPr indent="0" lvl="0" marL="0" rtl="0" algn="l">
              <a:spcBef>
                <a:spcPts val="600"/>
              </a:spcBef>
              <a:spcAft>
                <a:spcPts val="0"/>
              </a:spcAft>
              <a:buNone/>
            </a:pPr>
            <a:r>
              <a:rPr lang="en">
                <a:solidFill>
                  <a:srgbClr val="B7B7B7"/>
                </a:solidFill>
              </a:rPr>
              <a:t>Dynamic Adjustment</a:t>
            </a:r>
            <a:endParaRPr>
              <a:solidFill>
                <a:srgbClr val="B7B7B7"/>
              </a:solidFill>
            </a:endParaRPr>
          </a:p>
          <a:p>
            <a:pPr indent="-342900" lvl="0" marL="457200" rtl="0" algn="l">
              <a:spcBef>
                <a:spcPts val="600"/>
              </a:spcBef>
              <a:spcAft>
                <a:spcPts val="0"/>
              </a:spcAft>
              <a:buClr>
                <a:srgbClr val="B7B7B7"/>
              </a:buClr>
              <a:buSzPts val="1800"/>
              <a:buChar char="•"/>
            </a:pPr>
            <a:r>
              <a:rPr lang="en">
                <a:solidFill>
                  <a:srgbClr val="B7B7B7"/>
                </a:solidFill>
              </a:rPr>
              <a:t>Algorithm Sketch</a:t>
            </a:r>
            <a:endParaRPr>
              <a:solidFill>
                <a:srgbClr val="B7B7B7"/>
              </a:solidFill>
            </a:endParaRPr>
          </a:p>
          <a:p>
            <a:pPr indent="-342900" lvl="0" marL="457200" rtl="0" algn="l">
              <a:spcBef>
                <a:spcPts val="0"/>
              </a:spcBef>
              <a:spcAft>
                <a:spcPts val="0"/>
              </a:spcAft>
              <a:buClr>
                <a:srgbClr val="B7B7B7"/>
              </a:buClr>
              <a:buSzPts val="1800"/>
              <a:buChar char="•"/>
            </a:pPr>
            <a:r>
              <a:rPr lang="en">
                <a:solidFill>
                  <a:srgbClr val="B7B7B7"/>
                </a:solidFill>
              </a:rPr>
              <a:t>Reacting to Congestion (AIMD)</a:t>
            </a:r>
            <a:endParaRPr>
              <a:solidFill>
                <a:srgbClr val="B7B7B7"/>
              </a:solidFill>
            </a:endParaRPr>
          </a:p>
          <a:p>
            <a:pPr indent="-342900" lvl="0" marL="457200" rtl="0" algn="l">
              <a:spcBef>
                <a:spcPts val="0"/>
              </a:spcBef>
              <a:spcAft>
                <a:spcPts val="0"/>
              </a:spcAft>
              <a:buClr>
                <a:srgbClr val="B7B7B7"/>
              </a:buClr>
              <a:buSzPts val="1800"/>
              <a:buChar char="•"/>
            </a:pPr>
            <a:r>
              <a:rPr lang="en">
                <a:solidFill>
                  <a:srgbClr val="B7B7B7"/>
                </a:solidFill>
              </a:rPr>
              <a:t>Implementing Congestion Control with Event-Driven Updates</a:t>
            </a:r>
            <a:endParaRPr>
              <a:solidFill>
                <a:srgbClr val="B7B7B7"/>
              </a:solidFill>
            </a:endParaRPr>
          </a:p>
        </p:txBody>
      </p:sp>
      <p:sp>
        <p:nvSpPr>
          <p:cNvPr id="1389" name="Google Shape;1389;p62"/>
          <p:cNvSpPr txBox="1"/>
          <p:nvPr>
            <p:ph type="title"/>
          </p:nvPr>
        </p:nvSpPr>
        <p:spPr>
          <a:xfrm>
            <a:off x="177925" y="2003300"/>
            <a:ext cx="4038000" cy="20379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sz="3200"/>
              <a:t>Congestion Control: Why is it hard?</a:t>
            </a:r>
            <a:endParaRPr sz="3200"/>
          </a:p>
        </p:txBody>
      </p:sp>
      <p:sp>
        <p:nvSpPr>
          <p:cNvPr id="1390" name="Google Shape;1390;p62"/>
          <p:cNvSpPr txBox="1"/>
          <p:nvPr>
            <p:ph idx="2" type="subTitle"/>
          </p:nvPr>
        </p:nvSpPr>
        <p:spPr>
          <a:xfrm>
            <a:off x="177925" y="4068000"/>
            <a:ext cx="4158000" cy="3936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None/>
            </a:pPr>
            <a:r>
              <a:rPr lang="en"/>
              <a:t>Lecture 12, CS 168, Summer 2025</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4" name="Shape 1394"/>
        <p:cNvGrpSpPr/>
        <p:nvPr/>
      </p:nvGrpSpPr>
      <p:grpSpPr>
        <a:xfrm>
          <a:off x="0" y="0"/>
          <a:ext cx="0" cy="0"/>
          <a:chOff x="0" y="0"/>
          <a:chExt cx="0" cy="0"/>
        </a:xfrm>
      </p:grpSpPr>
      <p:sp>
        <p:nvSpPr>
          <p:cNvPr id="1395" name="Google Shape;1395;p63"/>
          <p:cNvSpPr/>
          <p:nvPr/>
        </p:nvSpPr>
        <p:spPr>
          <a:xfrm>
            <a:off x="3997675" y="2887025"/>
            <a:ext cx="1678975" cy="1650725"/>
          </a:xfrm>
          <a:custGeom>
            <a:rect b="b" l="l" r="r" t="t"/>
            <a:pathLst>
              <a:path extrusionOk="0" h="66029" w="67159">
                <a:moveTo>
                  <a:pt x="0" y="0"/>
                </a:moveTo>
                <a:cubicBezTo>
                  <a:pt x="4305" y="4332"/>
                  <a:pt x="15659" y="17974"/>
                  <a:pt x="25830" y="25992"/>
                </a:cubicBezTo>
                <a:cubicBezTo>
                  <a:pt x="36001" y="34010"/>
                  <a:pt x="54137" y="41437"/>
                  <a:pt x="61025" y="48110"/>
                </a:cubicBezTo>
                <a:cubicBezTo>
                  <a:pt x="67913" y="54783"/>
                  <a:pt x="66137" y="63043"/>
                  <a:pt x="67159" y="66029"/>
                </a:cubicBezTo>
              </a:path>
            </a:pathLst>
          </a:custGeom>
          <a:noFill/>
          <a:ln cap="flat" cmpd="sng" w="28575">
            <a:solidFill>
              <a:srgbClr val="FF00FF"/>
            </a:solidFill>
            <a:prstDash val="solid"/>
            <a:round/>
            <a:headEnd len="med" w="med" type="none"/>
            <a:tailEnd len="med" w="med" type="triangle"/>
          </a:ln>
        </p:spPr>
      </p:sp>
      <p:sp>
        <p:nvSpPr>
          <p:cNvPr id="1396" name="Google Shape;1396;p63"/>
          <p:cNvSpPr/>
          <p:nvPr/>
        </p:nvSpPr>
        <p:spPr>
          <a:xfrm>
            <a:off x="4106650" y="2238925"/>
            <a:ext cx="4108650" cy="1188500"/>
          </a:xfrm>
          <a:custGeom>
            <a:rect b="b" l="l" r="r" t="t"/>
            <a:pathLst>
              <a:path extrusionOk="0" h="47540" w="164346">
                <a:moveTo>
                  <a:pt x="0" y="24539"/>
                </a:moveTo>
                <a:cubicBezTo>
                  <a:pt x="4144" y="28306"/>
                  <a:pt x="18028" y="44988"/>
                  <a:pt x="24862" y="47140"/>
                </a:cubicBezTo>
                <a:cubicBezTo>
                  <a:pt x="31696" y="49293"/>
                  <a:pt x="34522" y="42217"/>
                  <a:pt x="41006" y="37454"/>
                </a:cubicBezTo>
                <a:cubicBezTo>
                  <a:pt x="47491" y="32692"/>
                  <a:pt x="56531" y="23005"/>
                  <a:pt x="63769" y="18565"/>
                </a:cubicBezTo>
                <a:cubicBezTo>
                  <a:pt x="71007" y="14125"/>
                  <a:pt x="73670" y="12807"/>
                  <a:pt x="84433" y="10816"/>
                </a:cubicBezTo>
                <a:cubicBezTo>
                  <a:pt x="95196" y="8825"/>
                  <a:pt x="115026" y="8422"/>
                  <a:pt x="128345" y="6619"/>
                </a:cubicBezTo>
                <a:cubicBezTo>
                  <a:pt x="141664" y="4816"/>
                  <a:pt x="158346" y="1103"/>
                  <a:pt x="164346" y="0"/>
                </a:cubicBezTo>
              </a:path>
            </a:pathLst>
          </a:custGeom>
          <a:noFill/>
          <a:ln cap="flat" cmpd="sng" w="28575">
            <a:solidFill>
              <a:srgbClr val="F1C232"/>
            </a:solidFill>
            <a:prstDash val="solid"/>
            <a:round/>
            <a:headEnd len="med" w="med" type="none"/>
            <a:tailEnd len="med" w="med" type="triangle"/>
          </a:ln>
        </p:spPr>
      </p:sp>
      <p:sp>
        <p:nvSpPr>
          <p:cNvPr id="1397" name="Google Shape;1397;p63"/>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Congestion Control Challenges: Depends on Destination</a:t>
            </a:r>
            <a:endParaRPr/>
          </a:p>
        </p:txBody>
      </p:sp>
      <p:sp>
        <p:nvSpPr>
          <p:cNvPr id="1398" name="Google Shape;1398;p63"/>
          <p:cNvSpPr txBox="1"/>
          <p:nvPr>
            <p:ph idx="1" type="body"/>
          </p:nvPr>
        </p:nvSpPr>
        <p:spPr>
          <a:xfrm>
            <a:off x="107050" y="402200"/>
            <a:ext cx="8909700" cy="17553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At what rate should A send traffic?</a:t>
            </a:r>
            <a:endParaRPr/>
          </a:p>
          <a:p>
            <a:pPr indent="0" lvl="0" marL="0" rtl="0" algn="l">
              <a:spcBef>
                <a:spcPts val="600"/>
              </a:spcBef>
              <a:spcAft>
                <a:spcPts val="0"/>
              </a:spcAft>
              <a:buNone/>
            </a:pPr>
            <a:r>
              <a:rPr lang="en"/>
              <a:t>It depends on the destination.</a:t>
            </a:r>
            <a:endParaRPr/>
          </a:p>
          <a:p>
            <a:pPr indent="-342900" lvl="0" marL="457200" rtl="0" algn="l">
              <a:spcBef>
                <a:spcPts val="600"/>
              </a:spcBef>
              <a:spcAft>
                <a:spcPts val="0"/>
              </a:spcAft>
              <a:buSzPts val="1800"/>
              <a:buChar char="●"/>
            </a:pPr>
            <a:r>
              <a:rPr lang="en">
                <a:solidFill>
                  <a:srgbClr val="FF00FF"/>
                </a:solidFill>
              </a:rPr>
              <a:t>A → C</a:t>
            </a:r>
            <a:r>
              <a:rPr lang="en"/>
              <a:t> can send at 10 Gbps.</a:t>
            </a:r>
            <a:endParaRPr/>
          </a:p>
          <a:p>
            <a:pPr indent="-342900" lvl="0" marL="457200" rtl="0" algn="l">
              <a:spcBef>
                <a:spcPts val="0"/>
              </a:spcBef>
              <a:spcAft>
                <a:spcPts val="0"/>
              </a:spcAft>
              <a:buSzPts val="1800"/>
              <a:buChar char="●"/>
            </a:pPr>
            <a:r>
              <a:rPr lang="en">
                <a:solidFill>
                  <a:srgbClr val="BF9000"/>
                </a:solidFill>
              </a:rPr>
              <a:t>A → F</a:t>
            </a:r>
            <a:r>
              <a:rPr lang="en"/>
              <a:t> can only send at 2 Gbps.</a:t>
            </a:r>
            <a:endParaRPr/>
          </a:p>
        </p:txBody>
      </p:sp>
      <p:sp>
        <p:nvSpPr>
          <p:cNvPr id="1399" name="Google Shape;1399;p63"/>
          <p:cNvSpPr/>
          <p:nvPr/>
        </p:nvSpPr>
        <p:spPr>
          <a:xfrm>
            <a:off x="3897375" y="2713714"/>
            <a:ext cx="285000" cy="285000"/>
          </a:xfrm>
          <a:prstGeom prst="ellipse">
            <a:avLst/>
          </a:prstGeom>
          <a:solidFill>
            <a:srgbClr val="FFFFFF">
              <a:alpha val="70000"/>
            </a:srgbClr>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sp>
        <p:nvSpPr>
          <p:cNvPr id="1400" name="Google Shape;1400;p63"/>
          <p:cNvSpPr/>
          <p:nvPr/>
        </p:nvSpPr>
        <p:spPr>
          <a:xfrm>
            <a:off x="3499850" y="3362139"/>
            <a:ext cx="285000" cy="285000"/>
          </a:xfrm>
          <a:prstGeom prst="ellipse">
            <a:avLst/>
          </a:prstGeom>
          <a:solidFill>
            <a:srgbClr val="FFFFFF"/>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1401" name="Google Shape;1401;p63"/>
          <p:cNvSpPr/>
          <p:nvPr/>
        </p:nvSpPr>
        <p:spPr>
          <a:xfrm>
            <a:off x="4614678" y="3288464"/>
            <a:ext cx="285000" cy="285000"/>
          </a:xfrm>
          <a:prstGeom prst="rect">
            <a:avLst/>
          </a:prstGeom>
          <a:solidFill>
            <a:srgbClr val="FFFFFF">
              <a:alpha val="70000"/>
            </a:srgbClr>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cxnSp>
        <p:nvCxnSpPr>
          <p:cNvPr id="1402" name="Google Shape;1402;p63"/>
          <p:cNvCxnSpPr>
            <a:stCxn id="1399" idx="5"/>
            <a:endCxn id="1401" idx="1"/>
          </p:cNvCxnSpPr>
          <p:nvPr/>
        </p:nvCxnSpPr>
        <p:spPr>
          <a:xfrm>
            <a:off x="4140638" y="2956977"/>
            <a:ext cx="474000" cy="474000"/>
          </a:xfrm>
          <a:prstGeom prst="straightConnector1">
            <a:avLst/>
          </a:prstGeom>
          <a:noFill/>
          <a:ln cap="flat" cmpd="sng" w="19050">
            <a:solidFill>
              <a:srgbClr val="000000"/>
            </a:solidFill>
            <a:prstDash val="solid"/>
            <a:round/>
            <a:headEnd len="med" w="med" type="none"/>
            <a:tailEnd len="med" w="med" type="none"/>
          </a:ln>
        </p:spPr>
      </p:cxnSp>
      <p:cxnSp>
        <p:nvCxnSpPr>
          <p:cNvPr id="1403" name="Google Shape;1403;p63"/>
          <p:cNvCxnSpPr>
            <a:stCxn id="1400" idx="6"/>
            <a:endCxn id="1401" idx="1"/>
          </p:cNvCxnSpPr>
          <p:nvPr/>
        </p:nvCxnSpPr>
        <p:spPr>
          <a:xfrm flipH="1" rot="10800000">
            <a:off x="3784850" y="3430839"/>
            <a:ext cx="829800" cy="73800"/>
          </a:xfrm>
          <a:prstGeom prst="straightConnector1">
            <a:avLst/>
          </a:prstGeom>
          <a:noFill/>
          <a:ln cap="flat" cmpd="sng" w="19050">
            <a:solidFill>
              <a:srgbClr val="000000"/>
            </a:solidFill>
            <a:prstDash val="solid"/>
            <a:round/>
            <a:headEnd len="med" w="med" type="none"/>
            <a:tailEnd len="med" w="med" type="none"/>
          </a:ln>
        </p:spPr>
      </p:cxnSp>
      <p:sp>
        <p:nvSpPr>
          <p:cNvPr id="1404" name="Google Shape;1404;p63"/>
          <p:cNvSpPr/>
          <p:nvPr/>
        </p:nvSpPr>
        <p:spPr>
          <a:xfrm>
            <a:off x="5446403" y="3861414"/>
            <a:ext cx="285000" cy="285000"/>
          </a:xfrm>
          <a:prstGeom prst="rect">
            <a:avLst/>
          </a:prstGeom>
          <a:solidFill>
            <a:srgbClr val="FFFFFF">
              <a:alpha val="70000"/>
            </a:srgbClr>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cxnSp>
        <p:nvCxnSpPr>
          <p:cNvPr id="1405" name="Google Shape;1405;p63"/>
          <p:cNvCxnSpPr>
            <a:stCxn id="1401" idx="2"/>
            <a:endCxn id="1404" idx="1"/>
          </p:cNvCxnSpPr>
          <p:nvPr/>
        </p:nvCxnSpPr>
        <p:spPr>
          <a:xfrm>
            <a:off x="4757178" y="3573464"/>
            <a:ext cx="689100" cy="430500"/>
          </a:xfrm>
          <a:prstGeom prst="straightConnector1">
            <a:avLst/>
          </a:prstGeom>
          <a:noFill/>
          <a:ln cap="flat" cmpd="sng" w="19050">
            <a:solidFill>
              <a:srgbClr val="000000"/>
            </a:solidFill>
            <a:prstDash val="solid"/>
            <a:round/>
            <a:headEnd len="med" w="med" type="none"/>
            <a:tailEnd len="med" w="med" type="none"/>
          </a:ln>
        </p:spPr>
      </p:cxnSp>
      <p:sp>
        <p:nvSpPr>
          <p:cNvPr id="1406" name="Google Shape;1406;p63"/>
          <p:cNvSpPr/>
          <p:nvPr/>
        </p:nvSpPr>
        <p:spPr>
          <a:xfrm>
            <a:off x="6633953" y="4089289"/>
            <a:ext cx="285000" cy="285000"/>
          </a:xfrm>
          <a:prstGeom prst="rect">
            <a:avLst/>
          </a:prstGeom>
          <a:solidFill>
            <a:srgbClr val="FFFFFF"/>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R7</a:t>
            </a:r>
            <a:endParaRPr>
              <a:latin typeface="Roboto"/>
              <a:ea typeface="Roboto"/>
              <a:cs typeface="Roboto"/>
              <a:sym typeface="Roboto"/>
            </a:endParaRPr>
          </a:p>
        </p:txBody>
      </p:sp>
      <p:cxnSp>
        <p:nvCxnSpPr>
          <p:cNvPr id="1407" name="Google Shape;1407;p63"/>
          <p:cNvCxnSpPr>
            <a:stCxn id="1404" idx="3"/>
            <a:endCxn id="1406" idx="1"/>
          </p:cNvCxnSpPr>
          <p:nvPr/>
        </p:nvCxnSpPr>
        <p:spPr>
          <a:xfrm>
            <a:off x="5731403" y="4003914"/>
            <a:ext cx="902700" cy="228000"/>
          </a:xfrm>
          <a:prstGeom prst="straightConnector1">
            <a:avLst/>
          </a:prstGeom>
          <a:noFill/>
          <a:ln cap="flat" cmpd="sng" w="19050">
            <a:solidFill>
              <a:srgbClr val="000000"/>
            </a:solidFill>
            <a:prstDash val="solid"/>
            <a:round/>
            <a:headEnd len="med" w="med" type="none"/>
            <a:tailEnd len="med" w="med" type="none"/>
          </a:ln>
        </p:spPr>
      </p:cxnSp>
      <p:sp>
        <p:nvSpPr>
          <p:cNvPr id="1408" name="Google Shape;1408;p63"/>
          <p:cNvSpPr/>
          <p:nvPr/>
        </p:nvSpPr>
        <p:spPr>
          <a:xfrm>
            <a:off x="6225253" y="3219639"/>
            <a:ext cx="285000" cy="285000"/>
          </a:xfrm>
          <a:prstGeom prst="rect">
            <a:avLst/>
          </a:prstGeom>
          <a:solidFill>
            <a:srgbClr val="FFFFFF"/>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R4</a:t>
            </a:r>
            <a:endParaRPr>
              <a:latin typeface="Roboto"/>
              <a:ea typeface="Roboto"/>
              <a:cs typeface="Roboto"/>
              <a:sym typeface="Roboto"/>
            </a:endParaRPr>
          </a:p>
        </p:txBody>
      </p:sp>
      <p:cxnSp>
        <p:nvCxnSpPr>
          <p:cNvPr id="1409" name="Google Shape;1409;p63"/>
          <p:cNvCxnSpPr>
            <a:stCxn id="1408" idx="1"/>
            <a:endCxn id="1404" idx="0"/>
          </p:cNvCxnSpPr>
          <p:nvPr/>
        </p:nvCxnSpPr>
        <p:spPr>
          <a:xfrm flipH="1">
            <a:off x="5588953" y="3362139"/>
            <a:ext cx="636300" cy="499200"/>
          </a:xfrm>
          <a:prstGeom prst="straightConnector1">
            <a:avLst/>
          </a:prstGeom>
          <a:noFill/>
          <a:ln cap="flat" cmpd="sng" w="19050">
            <a:solidFill>
              <a:srgbClr val="000000"/>
            </a:solidFill>
            <a:prstDash val="solid"/>
            <a:round/>
            <a:headEnd len="med" w="med" type="none"/>
            <a:tailEnd len="med" w="med" type="none"/>
          </a:ln>
        </p:spPr>
      </p:cxnSp>
      <p:cxnSp>
        <p:nvCxnSpPr>
          <p:cNvPr id="1410" name="Google Shape;1410;p63"/>
          <p:cNvCxnSpPr>
            <a:stCxn id="1408" idx="3"/>
            <a:endCxn id="1406" idx="0"/>
          </p:cNvCxnSpPr>
          <p:nvPr/>
        </p:nvCxnSpPr>
        <p:spPr>
          <a:xfrm>
            <a:off x="6510253" y="3362139"/>
            <a:ext cx="266100" cy="727200"/>
          </a:xfrm>
          <a:prstGeom prst="straightConnector1">
            <a:avLst/>
          </a:prstGeom>
          <a:noFill/>
          <a:ln cap="flat" cmpd="sng" w="19050">
            <a:solidFill>
              <a:srgbClr val="000000"/>
            </a:solidFill>
            <a:prstDash val="solid"/>
            <a:round/>
            <a:headEnd len="med" w="med" type="none"/>
            <a:tailEnd len="med" w="med" type="none"/>
          </a:ln>
        </p:spPr>
      </p:cxnSp>
      <p:sp>
        <p:nvSpPr>
          <p:cNvPr id="1411" name="Google Shape;1411;p63"/>
          <p:cNvSpPr/>
          <p:nvPr/>
        </p:nvSpPr>
        <p:spPr>
          <a:xfrm>
            <a:off x="5588953" y="2489489"/>
            <a:ext cx="285000" cy="285000"/>
          </a:xfrm>
          <a:prstGeom prst="rect">
            <a:avLst/>
          </a:prstGeom>
          <a:solidFill>
            <a:srgbClr val="FFFFFF">
              <a:alpha val="70000"/>
            </a:srgbClr>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cxnSp>
        <p:nvCxnSpPr>
          <p:cNvPr id="1412" name="Google Shape;1412;p63"/>
          <p:cNvCxnSpPr>
            <a:stCxn id="1411" idx="1"/>
            <a:endCxn id="1401" idx="0"/>
          </p:cNvCxnSpPr>
          <p:nvPr/>
        </p:nvCxnSpPr>
        <p:spPr>
          <a:xfrm flipH="1">
            <a:off x="4757053" y="2631989"/>
            <a:ext cx="831900" cy="656400"/>
          </a:xfrm>
          <a:prstGeom prst="straightConnector1">
            <a:avLst/>
          </a:prstGeom>
          <a:noFill/>
          <a:ln cap="flat" cmpd="sng" w="19050">
            <a:solidFill>
              <a:srgbClr val="000000"/>
            </a:solidFill>
            <a:prstDash val="solid"/>
            <a:round/>
            <a:headEnd len="med" w="med" type="none"/>
            <a:tailEnd len="med" w="med" type="none"/>
          </a:ln>
        </p:spPr>
      </p:cxnSp>
      <p:cxnSp>
        <p:nvCxnSpPr>
          <p:cNvPr id="1413" name="Google Shape;1413;p63"/>
          <p:cNvCxnSpPr>
            <a:stCxn id="1411" idx="3"/>
            <a:endCxn id="1408" idx="0"/>
          </p:cNvCxnSpPr>
          <p:nvPr/>
        </p:nvCxnSpPr>
        <p:spPr>
          <a:xfrm>
            <a:off x="5873953" y="2631989"/>
            <a:ext cx="493800" cy="587700"/>
          </a:xfrm>
          <a:prstGeom prst="straightConnector1">
            <a:avLst/>
          </a:prstGeom>
          <a:noFill/>
          <a:ln cap="flat" cmpd="sng" w="19050">
            <a:solidFill>
              <a:srgbClr val="000000"/>
            </a:solidFill>
            <a:prstDash val="solid"/>
            <a:round/>
            <a:headEnd len="med" w="med" type="none"/>
            <a:tailEnd len="med" w="med" type="none"/>
          </a:ln>
        </p:spPr>
      </p:cxnSp>
      <p:cxnSp>
        <p:nvCxnSpPr>
          <p:cNvPr id="1414" name="Google Shape;1414;p63"/>
          <p:cNvCxnSpPr>
            <a:stCxn id="1411" idx="3"/>
            <a:endCxn id="1415" idx="1"/>
          </p:cNvCxnSpPr>
          <p:nvPr/>
        </p:nvCxnSpPr>
        <p:spPr>
          <a:xfrm flipH="1" rot="10800000">
            <a:off x="5873953" y="2489489"/>
            <a:ext cx="1314900" cy="142500"/>
          </a:xfrm>
          <a:prstGeom prst="straightConnector1">
            <a:avLst/>
          </a:prstGeom>
          <a:noFill/>
          <a:ln cap="flat" cmpd="sng" w="19050">
            <a:solidFill>
              <a:srgbClr val="000000"/>
            </a:solidFill>
            <a:prstDash val="solid"/>
            <a:round/>
            <a:headEnd len="med" w="med" type="none"/>
            <a:tailEnd len="med" w="med" type="none"/>
          </a:ln>
        </p:spPr>
      </p:cxnSp>
      <p:sp>
        <p:nvSpPr>
          <p:cNvPr id="1415" name="Google Shape;1415;p63"/>
          <p:cNvSpPr/>
          <p:nvPr/>
        </p:nvSpPr>
        <p:spPr>
          <a:xfrm>
            <a:off x="7188953" y="2346989"/>
            <a:ext cx="285000" cy="285000"/>
          </a:xfrm>
          <a:prstGeom prst="rect">
            <a:avLst/>
          </a:prstGeom>
          <a:solidFill>
            <a:srgbClr val="FFFFFF">
              <a:alpha val="70000"/>
            </a:srgbClr>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R5</a:t>
            </a:r>
            <a:endParaRPr>
              <a:latin typeface="Roboto"/>
              <a:ea typeface="Roboto"/>
              <a:cs typeface="Roboto"/>
              <a:sym typeface="Roboto"/>
            </a:endParaRPr>
          </a:p>
        </p:txBody>
      </p:sp>
      <p:sp>
        <p:nvSpPr>
          <p:cNvPr id="1416" name="Google Shape;1416;p63"/>
          <p:cNvSpPr/>
          <p:nvPr/>
        </p:nvSpPr>
        <p:spPr>
          <a:xfrm>
            <a:off x="7473953" y="3362139"/>
            <a:ext cx="285000" cy="285000"/>
          </a:xfrm>
          <a:prstGeom prst="rect">
            <a:avLst/>
          </a:prstGeom>
          <a:solidFill>
            <a:srgbClr val="FFFFFF"/>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R6</a:t>
            </a:r>
            <a:endParaRPr>
              <a:latin typeface="Roboto"/>
              <a:ea typeface="Roboto"/>
              <a:cs typeface="Roboto"/>
              <a:sym typeface="Roboto"/>
            </a:endParaRPr>
          </a:p>
        </p:txBody>
      </p:sp>
      <p:cxnSp>
        <p:nvCxnSpPr>
          <p:cNvPr id="1417" name="Google Shape;1417;p63"/>
          <p:cNvCxnSpPr>
            <a:stCxn id="1416" idx="0"/>
            <a:endCxn id="1415" idx="2"/>
          </p:cNvCxnSpPr>
          <p:nvPr/>
        </p:nvCxnSpPr>
        <p:spPr>
          <a:xfrm rot="10800000">
            <a:off x="7331453" y="2631939"/>
            <a:ext cx="285000" cy="730200"/>
          </a:xfrm>
          <a:prstGeom prst="straightConnector1">
            <a:avLst/>
          </a:prstGeom>
          <a:noFill/>
          <a:ln cap="flat" cmpd="sng" w="19050">
            <a:solidFill>
              <a:srgbClr val="000000"/>
            </a:solidFill>
            <a:prstDash val="solid"/>
            <a:round/>
            <a:headEnd len="med" w="med" type="none"/>
            <a:tailEnd len="med" w="med" type="none"/>
          </a:ln>
        </p:spPr>
      </p:cxnSp>
      <p:cxnSp>
        <p:nvCxnSpPr>
          <p:cNvPr id="1418" name="Google Shape;1418;p63"/>
          <p:cNvCxnSpPr>
            <a:stCxn id="1416" idx="1"/>
            <a:endCxn id="1408" idx="3"/>
          </p:cNvCxnSpPr>
          <p:nvPr/>
        </p:nvCxnSpPr>
        <p:spPr>
          <a:xfrm rot="10800000">
            <a:off x="6510353" y="3362139"/>
            <a:ext cx="963600" cy="142500"/>
          </a:xfrm>
          <a:prstGeom prst="straightConnector1">
            <a:avLst/>
          </a:prstGeom>
          <a:noFill/>
          <a:ln cap="flat" cmpd="sng" w="19050">
            <a:solidFill>
              <a:srgbClr val="000000"/>
            </a:solidFill>
            <a:prstDash val="solid"/>
            <a:round/>
            <a:headEnd len="med" w="med" type="none"/>
            <a:tailEnd len="med" w="med" type="none"/>
          </a:ln>
        </p:spPr>
      </p:cxnSp>
      <p:cxnSp>
        <p:nvCxnSpPr>
          <p:cNvPr id="1419" name="Google Shape;1419;p63"/>
          <p:cNvCxnSpPr>
            <a:stCxn id="1416" idx="2"/>
            <a:endCxn id="1406" idx="3"/>
          </p:cNvCxnSpPr>
          <p:nvPr/>
        </p:nvCxnSpPr>
        <p:spPr>
          <a:xfrm flipH="1">
            <a:off x="6918953" y="3647139"/>
            <a:ext cx="697500" cy="584700"/>
          </a:xfrm>
          <a:prstGeom prst="straightConnector1">
            <a:avLst/>
          </a:prstGeom>
          <a:noFill/>
          <a:ln cap="flat" cmpd="sng" w="19050">
            <a:solidFill>
              <a:srgbClr val="000000"/>
            </a:solidFill>
            <a:prstDash val="solid"/>
            <a:round/>
            <a:headEnd len="med" w="med" type="none"/>
            <a:tailEnd len="med" w="med" type="none"/>
          </a:ln>
        </p:spPr>
      </p:cxnSp>
      <p:sp>
        <p:nvSpPr>
          <p:cNvPr id="1420" name="Google Shape;1420;p63"/>
          <p:cNvSpPr/>
          <p:nvPr/>
        </p:nvSpPr>
        <p:spPr>
          <a:xfrm>
            <a:off x="5588950" y="1920714"/>
            <a:ext cx="285000" cy="285000"/>
          </a:xfrm>
          <a:prstGeom prst="ellipse">
            <a:avLst/>
          </a:prstGeom>
          <a:solidFill>
            <a:srgbClr val="FFFFFF"/>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G</a:t>
            </a:r>
            <a:endParaRPr>
              <a:latin typeface="Roboto"/>
              <a:ea typeface="Roboto"/>
              <a:cs typeface="Roboto"/>
              <a:sym typeface="Roboto"/>
            </a:endParaRPr>
          </a:p>
        </p:txBody>
      </p:sp>
      <p:cxnSp>
        <p:nvCxnSpPr>
          <p:cNvPr id="1421" name="Google Shape;1421;p63"/>
          <p:cNvCxnSpPr>
            <a:stCxn id="1420" idx="4"/>
            <a:endCxn id="1411" idx="0"/>
          </p:cNvCxnSpPr>
          <p:nvPr/>
        </p:nvCxnSpPr>
        <p:spPr>
          <a:xfrm>
            <a:off x="5731450" y="2205714"/>
            <a:ext cx="0" cy="283800"/>
          </a:xfrm>
          <a:prstGeom prst="straightConnector1">
            <a:avLst/>
          </a:prstGeom>
          <a:noFill/>
          <a:ln cap="flat" cmpd="sng" w="19050">
            <a:solidFill>
              <a:srgbClr val="000000"/>
            </a:solidFill>
            <a:prstDash val="solid"/>
            <a:round/>
            <a:headEnd len="med" w="med" type="none"/>
            <a:tailEnd len="med" w="med" type="none"/>
          </a:ln>
        </p:spPr>
      </p:cxnSp>
      <p:sp>
        <p:nvSpPr>
          <p:cNvPr id="1422" name="Google Shape;1422;p63"/>
          <p:cNvSpPr/>
          <p:nvPr/>
        </p:nvSpPr>
        <p:spPr>
          <a:xfrm>
            <a:off x="8087600" y="2157489"/>
            <a:ext cx="285000" cy="285000"/>
          </a:xfrm>
          <a:prstGeom prst="ellipse">
            <a:avLst/>
          </a:prstGeom>
          <a:solidFill>
            <a:srgbClr val="FFFFFF">
              <a:alpha val="70000"/>
            </a:srgbClr>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F</a:t>
            </a:r>
            <a:endParaRPr>
              <a:latin typeface="Roboto"/>
              <a:ea typeface="Roboto"/>
              <a:cs typeface="Roboto"/>
              <a:sym typeface="Roboto"/>
            </a:endParaRPr>
          </a:p>
        </p:txBody>
      </p:sp>
      <p:cxnSp>
        <p:nvCxnSpPr>
          <p:cNvPr id="1423" name="Google Shape;1423;p63"/>
          <p:cNvCxnSpPr>
            <a:stCxn id="1422" idx="2"/>
            <a:endCxn id="1415" idx="3"/>
          </p:cNvCxnSpPr>
          <p:nvPr/>
        </p:nvCxnSpPr>
        <p:spPr>
          <a:xfrm flipH="1">
            <a:off x="7474100" y="2299989"/>
            <a:ext cx="613500" cy="189600"/>
          </a:xfrm>
          <a:prstGeom prst="straightConnector1">
            <a:avLst/>
          </a:prstGeom>
          <a:noFill/>
          <a:ln cap="flat" cmpd="sng" w="19050">
            <a:solidFill>
              <a:srgbClr val="000000"/>
            </a:solidFill>
            <a:prstDash val="solid"/>
            <a:round/>
            <a:headEnd len="med" w="med" type="none"/>
            <a:tailEnd len="med" w="med" type="none"/>
          </a:ln>
        </p:spPr>
      </p:cxnSp>
      <p:sp>
        <p:nvSpPr>
          <p:cNvPr id="1424" name="Google Shape;1424;p63"/>
          <p:cNvSpPr/>
          <p:nvPr/>
        </p:nvSpPr>
        <p:spPr>
          <a:xfrm>
            <a:off x="8386925" y="3469239"/>
            <a:ext cx="285000" cy="285000"/>
          </a:xfrm>
          <a:prstGeom prst="ellipse">
            <a:avLst/>
          </a:prstGeom>
          <a:solidFill>
            <a:srgbClr val="FFFFFF"/>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E</a:t>
            </a:r>
            <a:endParaRPr>
              <a:latin typeface="Roboto"/>
              <a:ea typeface="Roboto"/>
              <a:cs typeface="Roboto"/>
              <a:sym typeface="Roboto"/>
            </a:endParaRPr>
          </a:p>
        </p:txBody>
      </p:sp>
      <p:cxnSp>
        <p:nvCxnSpPr>
          <p:cNvPr id="1425" name="Google Shape;1425;p63"/>
          <p:cNvCxnSpPr>
            <a:stCxn id="1424" idx="2"/>
            <a:endCxn id="1416" idx="3"/>
          </p:cNvCxnSpPr>
          <p:nvPr/>
        </p:nvCxnSpPr>
        <p:spPr>
          <a:xfrm rot="10800000">
            <a:off x="7759025" y="3504639"/>
            <a:ext cx="627900" cy="107100"/>
          </a:xfrm>
          <a:prstGeom prst="straightConnector1">
            <a:avLst/>
          </a:prstGeom>
          <a:noFill/>
          <a:ln cap="flat" cmpd="sng" w="19050">
            <a:solidFill>
              <a:srgbClr val="000000"/>
            </a:solidFill>
            <a:prstDash val="solid"/>
            <a:round/>
            <a:headEnd len="med" w="med" type="none"/>
            <a:tailEnd len="med" w="med" type="none"/>
          </a:ln>
        </p:spPr>
      </p:cxnSp>
      <p:cxnSp>
        <p:nvCxnSpPr>
          <p:cNvPr id="1426" name="Google Shape;1426;p63"/>
          <p:cNvCxnSpPr>
            <a:stCxn id="1427" idx="0"/>
            <a:endCxn id="1406" idx="2"/>
          </p:cNvCxnSpPr>
          <p:nvPr/>
        </p:nvCxnSpPr>
        <p:spPr>
          <a:xfrm rot="10800000">
            <a:off x="6776450" y="4374189"/>
            <a:ext cx="0" cy="280800"/>
          </a:xfrm>
          <a:prstGeom prst="straightConnector1">
            <a:avLst/>
          </a:prstGeom>
          <a:noFill/>
          <a:ln cap="flat" cmpd="sng" w="19050">
            <a:solidFill>
              <a:srgbClr val="000000"/>
            </a:solidFill>
            <a:prstDash val="solid"/>
            <a:round/>
            <a:headEnd len="med" w="med" type="none"/>
            <a:tailEnd len="med" w="med" type="none"/>
          </a:ln>
        </p:spPr>
      </p:cxnSp>
      <p:sp>
        <p:nvSpPr>
          <p:cNvPr id="1427" name="Google Shape;1427;p63"/>
          <p:cNvSpPr/>
          <p:nvPr/>
        </p:nvSpPr>
        <p:spPr>
          <a:xfrm>
            <a:off x="6633950" y="4654989"/>
            <a:ext cx="285000" cy="285000"/>
          </a:xfrm>
          <a:prstGeom prst="ellipse">
            <a:avLst/>
          </a:prstGeom>
          <a:solidFill>
            <a:srgbClr val="FFFFFF"/>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D</a:t>
            </a:r>
            <a:endParaRPr>
              <a:latin typeface="Roboto"/>
              <a:ea typeface="Roboto"/>
              <a:cs typeface="Roboto"/>
              <a:sym typeface="Roboto"/>
            </a:endParaRPr>
          </a:p>
        </p:txBody>
      </p:sp>
      <p:cxnSp>
        <p:nvCxnSpPr>
          <p:cNvPr id="1428" name="Google Shape;1428;p63"/>
          <p:cNvCxnSpPr>
            <a:stCxn id="1429" idx="0"/>
            <a:endCxn id="1404" idx="2"/>
          </p:cNvCxnSpPr>
          <p:nvPr/>
        </p:nvCxnSpPr>
        <p:spPr>
          <a:xfrm rot="10800000">
            <a:off x="5588900" y="4146489"/>
            <a:ext cx="0" cy="280800"/>
          </a:xfrm>
          <a:prstGeom prst="straightConnector1">
            <a:avLst/>
          </a:prstGeom>
          <a:noFill/>
          <a:ln cap="flat" cmpd="sng" w="19050">
            <a:solidFill>
              <a:srgbClr val="000000"/>
            </a:solidFill>
            <a:prstDash val="solid"/>
            <a:round/>
            <a:headEnd len="med" w="med" type="none"/>
            <a:tailEnd len="med" w="med" type="none"/>
          </a:ln>
        </p:spPr>
      </p:cxnSp>
      <p:sp>
        <p:nvSpPr>
          <p:cNvPr id="1429" name="Google Shape;1429;p63"/>
          <p:cNvSpPr/>
          <p:nvPr/>
        </p:nvSpPr>
        <p:spPr>
          <a:xfrm>
            <a:off x="5446400" y="4427289"/>
            <a:ext cx="285000" cy="285000"/>
          </a:xfrm>
          <a:prstGeom prst="ellipse">
            <a:avLst/>
          </a:prstGeom>
          <a:solidFill>
            <a:srgbClr val="FFFFFF">
              <a:alpha val="70000"/>
            </a:srgbClr>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C</a:t>
            </a:r>
            <a:endParaRPr>
              <a:latin typeface="Roboto"/>
              <a:ea typeface="Roboto"/>
              <a:cs typeface="Roboto"/>
              <a:sym typeface="Roboto"/>
            </a:endParaRPr>
          </a:p>
        </p:txBody>
      </p:sp>
      <p:sp>
        <p:nvSpPr>
          <p:cNvPr id="1430" name="Google Shape;1430;p63"/>
          <p:cNvSpPr txBox="1"/>
          <p:nvPr/>
        </p:nvSpPr>
        <p:spPr>
          <a:xfrm>
            <a:off x="4863363" y="3794611"/>
            <a:ext cx="2850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10</a:t>
            </a:r>
            <a:endParaRPr>
              <a:solidFill>
                <a:schemeClr val="dk1"/>
              </a:solidFill>
              <a:latin typeface="Roboto"/>
              <a:ea typeface="Roboto"/>
              <a:cs typeface="Roboto"/>
              <a:sym typeface="Roboto"/>
            </a:endParaRPr>
          </a:p>
        </p:txBody>
      </p:sp>
      <p:sp>
        <p:nvSpPr>
          <p:cNvPr id="1431" name="Google Shape;1431;p63"/>
          <p:cNvSpPr txBox="1"/>
          <p:nvPr/>
        </p:nvSpPr>
        <p:spPr>
          <a:xfrm>
            <a:off x="4929288" y="2720776"/>
            <a:ext cx="2850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2</a:t>
            </a:r>
            <a:endParaRPr>
              <a:solidFill>
                <a:schemeClr val="dk1"/>
              </a:solidFill>
              <a:latin typeface="Roboto"/>
              <a:ea typeface="Roboto"/>
              <a:cs typeface="Roboto"/>
              <a:sym typeface="Roboto"/>
            </a:endParaRPr>
          </a:p>
        </p:txBody>
      </p:sp>
      <p:sp>
        <p:nvSpPr>
          <p:cNvPr id="1432" name="Google Shape;1432;p63"/>
          <p:cNvSpPr txBox="1"/>
          <p:nvPr/>
        </p:nvSpPr>
        <p:spPr>
          <a:xfrm>
            <a:off x="6130375" y="2760176"/>
            <a:ext cx="2850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1</a:t>
            </a:r>
            <a:endParaRPr>
              <a:solidFill>
                <a:schemeClr val="dk1"/>
              </a:solidFill>
              <a:latin typeface="Roboto"/>
              <a:ea typeface="Roboto"/>
              <a:cs typeface="Roboto"/>
              <a:sym typeface="Roboto"/>
            </a:endParaRPr>
          </a:p>
        </p:txBody>
      </p:sp>
      <p:sp>
        <p:nvSpPr>
          <p:cNvPr id="1433" name="Google Shape;1433;p63"/>
          <p:cNvSpPr txBox="1"/>
          <p:nvPr/>
        </p:nvSpPr>
        <p:spPr>
          <a:xfrm>
            <a:off x="6388950" y="2304251"/>
            <a:ext cx="2850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4</a:t>
            </a:r>
            <a:endParaRPr>
              <a:solidFill>
                <a:schemeClr val="dk1"/>
              </a:solidFill>
              <a:latin typeface="Roboto"/>
              <a:ea typeface="Roboto"/>
              <a:cs typeface="Roboto"/>
              <a:sym typeface="Roboto"/>
            </a:endParaRPr>
          </a:p>
        </p:txBody>
      </p:sp>
      <p:sp>
        <p:nvSpPr>
          <p:cNvPr id="1434" name="Google Shape;1434;p63"/>
          <p:cNvSpPr txBox="1"/>
          <p:nvPr/>
        </p:nvSpPr>
        <p:spPr>
          <a:xfrm>
            <a:off x="7452425" y="2811301"/>
            <a:ext cx="2850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4</a:t>
            </a:r>
            <a:endParaRPr>
              <a:solidFill>
                <a:schemeClr val="dk1"/>
              </a:solidFill>
              <a:latin typeface="Roboto"/>
              <a:ea typeface="Roboto"/>
              <a:cs typeface="Roboto"/>
              <a:sym typeface="Roboto"/>
            </a:endParaRPr>
          </a:p>
        </p:txBody>
      </p:sp>
      <p:sp>
        <p:nvSpPr>
          <p:cNvPr id="1435" name="Google Shape;1435;p63"/>
          <p:cNvSpPr txBox="1"/>
          <p:nvPr/>
        </p:nvSpPr>
        <p:spPr>
          <a:xfrm>
            <a:off x="6878325" y="3184351"/>
            <a:ext cx="2850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10</a:t>
            </a:r>
            <a:endParaRPr>
              <a:solidFill>
                <a:schemeClr val="dk1"/>
              </a:solidFill>
              <a:latin typeface="Roboto"/>
              <a:ea typeface="Roboto"/>
              <a:cs typeface="Roboto"/>
              <a:sym typeface="Roboto"/>
            </a:endParaRPr>
          </a:p>
        </p:txBody>
      </p:sp>
      <p:sp>
        <p:nvSpPr>
          <p:cNvPr id="1436" name="Google Shape;1436;p63"/>
          <p:cNvSpPr txBox="1"/>
          <p:nvPr/>
        </p:nvSpPr>
        <p:spPr>
          <a:xfrm>
            <a:off x="7251375" y="3868476"/>
            <a:ext cx="2850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10</a:t>
            </a:r>
            <a:endParaRPr>
              <a:solidFill>
                <a:schemeClr val="dk1"/>
              </a:solidFill>
              <a:latin typeface="Roboto"/>
              <a:ea typeface="Roboto"/>
              <a:cs typeface="Roboto"/>
              <a:sym typeface="Roboto"/>
            </a:endParaRPr>
          </a:p>
        </p:txBody>
      </p:sp>
      <p:sp>
        <p:nvSpPr>
          <p:cNvPr id="1437" name="Google Shape;1437;p63"/>
          <p:cNvSpPr txBox="1"/>
          <p:nvPr/>
        </p:nvSpPr>
        <p:spPr>
          <a:xfrm>
            <a:off x="6643300" y="3611751"/>
            <a:ext cx="2850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4</a:t>
            </a:r>
            <a:endParaRPr>
              <a:solidFill>
                <a:schemeClr val="dk1"/>
              </a:solidFill>
              <a:latin typeface="Roboto"/>
              <a:ea typeface="Roboto"/>
              <a:cs typeface="Roboto"/>
              <a:sym typeface="Roboto"/>
            </a:endParaRPr>
          </a:p>
        </p:txBody>
      </p:sp>
      <p:sp>
        <p:nvSpPr>
          <p:cNvPr id="1438" name="Google Shape;1438;p63"/>
          <p:cNvSpPr txBox="1"/>
          <p:nvPr/>
        </p:nvSpPr>
        <p:spPr>
          <a:xfrm>
            <a:off x="6063850" y="4103401"/>
            <a:ext cx="2850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5</a:t>
            </a:r>
            <a:endParaRPr>
              <a:solidFill>
                <a:schemeClr val="dk1"/>
              </a:solidFill>
              <a:latin typeface="Roboto"/>
              <a:ea typeface="Roboto"/>
              <a:cs typeface="Roboto"/>
              <a:sym typeface="Roboto"/>
            </a:endParaRPr>
          </a:p>
        </p:txBody>
      </p:sp>
      <p:sp>
        <p:nvSpPr>
          <p:cNvPr id="1439" name="Google Shape;1439;p63"/>
          <p:cNvSpPr txBox="1"/>
          <p:nvPr/>
        </p:nvSpPr>
        <p:spPr>
          <a:xfrm>
            <a:off x="5603988" y="3432301"/>
            <a:ext cx="2850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10</a:t>
            </a:r>
            <a:endParaRPr>
              <a:solidFill>
                <a:schemeClr val="dk1"/>
              </a:solidFill>
              <a:latin typeface="Roboto"/>
              <a:ea typeface="Roboto"/>
              <a:cs typeface="Roboto"/>
              <a:sym typeface="Roboto"/>
            </a:endParaRPr>
          </a:p>
        </p:txBody>
      </p:sp>
      <p:sp>
        <p:nvSpPr>
          <p:cNvPr id="1440" name="Google Shape;1440;p63"/>
          <p:cNvSpPr txBox="1"/>
          <p:nvPr/>
        </p:nvSpPr>
        <p:spPr>
          <a:xfrm>
            <a:off x="206550" y="4427300"/>
            <a:ext cx="2793300" cy="452400"/>
          </a:xfrm>
          <a:prstGeom prst="rect">
            <a:avLst/>
          </a:prstGeom>
          <a:noFill/>
          <a:ln>
            <a:noFill/>
          </a:ln>
        </p:spPr>
        <p:txBody>
          <a:bodyPr anchorCtr="0" anchor="t" bIns="27425" lIns="27425" spcFirstLastPara="1" rIns="27425" wrap="square" tIns="27425">
            <a:spAutoFit/>
          </a:bodyPr>
          <a:lstStyle/>
          <a:p>
            <a:pPr indent="0" lvl="0" marL="0" rtl="0" algn="l">
              <a:lnSpc>
                <a:spcPct val="115000"/>
              </a:lnSpc>
              <a:spcBef>
                <a:spcPts val="0"/>
              </a:spcBef>
              <a:spcAft>
                <a:spcPts val="0"/>
              </a:spcAft>
              <a:buNone/>
            </a:pPr>
            <a:r>
              <a:rPr lang="en" sz="1200">
                <a:solidFill>
                  <a:schemeClr val="dk1"/>
                </a:solidFill>
                <a:latin typeface="Roboto"/>
                <a:ea typeface="Roboto"/>
                <a:cs typeface="Roboto"/>
                <a:sym typeface="Roboto"/>
              </a:rPr>
              <a:t>Numbers are bandwidths, in Gbps.</a:t>
            </a:r>
            <a:endParaRPr sz="1200">
              <a:solidFill>
                <a:schemeClr val="dk1"/>
              </a:solidFill>
              <a:latin typeface="Roboto"/>
              <a:ea typeface="Roboto"/>
              <a:cs typeface="Roboto"/>
              <a:sym typeface="Roboto"/>
            </a:endParaRPr>
          </a:p>
          <a:p>
            <a:pPr indent="0" lvl="0" marL="0" rtl="0" algn="l">
              <a:lnSpc>
                <a:spcPct val="115000"/>
              </a:lnSpc>
              <a:spcBef>
                <a:spcPts val="0"/>
              </a:spcBef>
              <a:spcAft>
                <a:spcPts val="0"/>
              </a:spcAft>
              <a:buNone/>
            </a:pPr>
            <a:r>
              <a:rPr lang="en" sz="1200">
                <a:solidFill>
                  <a:schemeClr val="dk1"/>
                </a:solidFill>
                <a:latin typeface="Roboto"/>
                <a:ea typeface="Roboto"/>
                <a:cs typeface="Roboto"/>
                <a:sym typeface="Roboto"/>
              </a:rPr>
              <a:t>Ignore bandwidth of host-to-router links.</a:t>
            </a:r>
            <a:endParaRPr sz="1200">
              <a:solidFill>
                <a:schemeClr val="dk1"/>
              </a:solidFill>
              <a:latin typeface="Roboto"/>
              <a:ea typeface="Roboto"/>
              <a:cs typeface="Roboto"/>
              <a:sym typeface="Roboto"/>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4" name="Shape 1444"/>
        <p:cNvGrpSpPr/>
        <p:nvPr/>
      </p:nvGrpSpPr>
      <p:grpSpPr>
        <a:xfrm>
          <a:off x="0" y="0"/>
          <a:ext cx="0" cy="0"/>
          <a:chOff x="0" y="0"/>
          <a:chExt cx="0" cy="0"/>
        </a:xfrm>
      </p:grpSpPr>
      <p:sp>
        <p:nvSpPr>
          <p:cNvPr id="1445" name="Google Shape;1445;p64"/>
          <p:cNvSpPr/>
          <p:nvPr/>
        </p:nvSpPr>
        <p:spPr>
          <a:xfrm>
            <a:off x="4013350" y="2902425"/>
            <a:ext cx="4475950" cy="1209850"/>
          </a:xfrm>
          <a:custGeom>
            <a:rect b="b" l="l" r="r" t="t"/>
            <a:pathLst>
              <a:path extrusionOk="0" h="48394" w="179038">
                <a:moveTo>
                  <a:pt x="0" y="0"/>
                </a:moveTo>
                <a:cubicBezTo>
                  <a:pt x="4440" y="4332"/>
                  <a:pt x="16575" y="17947"/>
                  <a:pt x="26638" y="25992"/>
                </a:cubicBezTo>
                <a:cubicBezTo>
                  <a:pt x="36701" y="34037"/>
                  <a:pt x="51608" y="46899"/>
                  <a:pt x="60379" y="48271"/>
                </a:cubicBezTo>
                <a:cubicBezTo>
                  <a:pt x="69151" y="49643"/>
                  <a:pt x="73886" y="38612"/>
                  <a:pt x="79267" y="34226"/>
                </a:cubicBezTo>
                <a:cubicBezTo>
                  <a:pt x="84648" y="29840"/>
                  <a:pt x="85402" y="23382"/>
                  <a:pt x="92667" y="21956"/>
                </a:cubicBezTo>
                <a:cubicBezTo>
                  <a:pt x="99932" y="20530"/>
                  <a:pt x="108461" y="24270"/>
                  <a:pt x="122856" y="25669"/>
                </a:cubicBezTo>
                <a:cubicBezTo>
                  <a:pt x="137251" y="27068"/>
                  <a:pt x="169674" y="29571"/>
                  <a:pt x="179038" y="30351"/>
                </a:cubicBezTo>
              </a:path>
            </a:pathLst>
          </a:custGeom>
          <a:noFill/>
          <a:ln cap="flat" cmpd="sng" w="28575">
            <a:solidFill>
              <a:srgbClr val="FF00FF"/>
            </a:solidFill>
            <a:prstDash val="solid"/>
            <a:round/>
            <a:headEnd len="med" w="med" type="none"/>
            <a:tailEnd len="med" w="med" type="triangle"/>
          </a:ln>
        </p:spPr>
      </p:sp>
      <p:sp>
        <p:nvSpPr>
          <p:cNvPr id="1446" name="Google Shape;1446;p64"/>
          <p:cNvSpPr/>
          <p:nvPr/>
        </p:nvSpPr>
        <p:spPr>
          <a:xfrm>
            <a:off x="4123725" y="2681000"/>
            <a:ext cx="4322575" cy="847550"/>
          </a:xfrm>
          <a:custGeom>
            <a:rect b="b" l="l" r="r" t="t"/>
            <a:pathLst>
              <a:path extrusionOk="0" h="33902" w="172903">
                <a:moveTo>
                  <a:pt x="0" y="6296"/>
                </a:moveTo>
                <a:cubicBezTo>
                  <a:pt x="4144" y="9821"/>
                  <a:pt x="17597" y="25965"/>
                  <a:pt x="24862" y="27445"/>
                </a:cubicBezTo>
                <a:cubicBezTo>
                  <a:pt x="32127" y="28925"/>
                  <a:pt x="37105" y="19749"/>
                  <a:pt x="43589" y="15175"/>
                </a:cubicBezTo>
                <a:cubicBezTo>
                  <a:pt x="50074" y="10601"/>
                  <a:pt x="57796" y="0"/>
                  <a:pt x="63769" y="0"/>
                </a:cubicBezTo>
                <a:cubicBezTo>
                  <a:pt x="69742" y="0"/>
                  <a:pt x="75070" y="11220"/>
                  <a:pt x="79429" y="15175"/>
                </a:cubicBezTo>
                <a:cubicBezTo>
                  <a:pt x="83788" y="19130"/>
                  <a:pt x="84300" y="21848"/>
                  <a:pt x="89923" y="23731"/>
                </a:cubicBezTo>
                <a:cubicBezTo>
                  <a:pt x="95547" y="25615"/>
                  <a:pt x="99340" y="24781"/>
                  <a:pt x="113170" y="26476"/>
                </a:cubicBezTo>
                <a:cubicBezTo>
                  <a:pt x="127000" y="28171"/>
                  <a:pt x="162948" y="32664"/>
                  <a:pt x="172903" y="33902"/>
                </a:cubicBezTo>
              </a:path>
            </a:pathLst>
          </a:custGeom>
          <a:noFill/>
          <a:ln cap="flat" cmpd="sng" w="28575">
            <a:solidFill>
              <a:srgbClr val="F1C232"/>
            </a:solidFill>
            <a:prstDash val="solid"/>
            <a:round/>
            <a:headEnd len="med" w="med" type="none"/>
            <a:tailEnd len="med" w="med" type="triangle"/>
          </a:ln>
        </p:spPr>
      </p:sp>
      <p:sp>
        <p:nvSpPr>
          <p:cNvPr id="1447" name="Google Shape;1447;p64"/>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Congestion Control Challenges: Depends on Path</a:t>
            </a:r>
            <a:endParaRPr/>
          </a:p>
        </p:txBody>
      </p:sp>
      <p:sp>
        <p:nvSpPr>
          <p:cNvPr id="1448" name="Google Shape;1448;p64"/>
          <p:cNvSpPr txBox="1"/>
          <p:nvPr>
            <p:ph idx="1" type="body"/>
          </p:nvPr>
        </p:nvSpPr>
        <p:spPr>
          <a:xfrm>
            <a:off x="107050" y="402200"/>
            <a:ext cx="8909700" cy="17553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At what rate should A → E send traffic?</a:t>
            </a:r>
            <a:endParaRPr/>
          </a:p>
          <a:p>
            <a:pPr indent="0" lvl="0" marL="0" rtl="0" algn="l">
              <a:spcBef>
                <a:spcPts val="600"/>
              </a:spcBef>
              <a:spcAft>
                <a:spcPts val="0"/>
              </a:spcAft>
              <a:buNone/>
            </a:pPr>
            <a:r>
              <a:rPr lang="en"/>
              <a:t>It depends on the path through the network.</a:t>
            </a:r>
            <a:endParaRPr/>
          </a:p>
          <a:p>
            <a:pPr indent="-342900" lvl="0" marL="457200" rtl="0" algn="l">
              <a:spcBef>
                <a:spcPts val="600"/>
              </a:spcBef>
              <a:spcAft>
                <a:spcPts val="0"/>
              </a:spcAft>
              <a:buSzPts val="1800"/>
              <a:buChar char="●"/>
            </a:pPr>
            <a:r>
              <a:rPr lang="en">
                <a:solidFill>
                  <a:srgbClr val="FF00FF"/>
                </a:solidFill>
              </a:rPr>
              <a:t>A → E via R3</a:t>
            </a:r>
            <a:r>
              <a:rPr lang="en"/>
              <a:t> can send at 10 Gbps.</a:t>
            </a:r>
            <a:endParaRPr/>
          </a:p>
          <a:p>
            <a:pPr indent="-342900" lvl="0" marL="457200" rtl="0" algn="l">
              <a:spcBef>
                <a:spcPts val="0"/>
              </a:spcBef>
              <a:spcAft>
                <a:spcPts val="0"/>
              </a:spcAft>
              <a:buSzPts val="1800"/>
              <a:buChar char="●"/>
            </a:pPr>
            <a:r>
              <a:rPr lang="en">
                <a:solidFill>
                  <a:srgbClr val="BF9000"/>
                </a:solidFill>
              </a:rPr>
              <a:t>A → E via R2</a:t>
            </a:r>
            <a:r>
              <a:rPr lang="en"/>
              <a:t> can send at 1 Gbps.</a:t>
            </a:r>
            <a:endParaRPr/>
          </a:p>
        </p:txBody>
      </p:sp>
      <p:sp>
        <p:nvSpPr>
          <p:cNvPr id="1449" name="Google Shape;1449;p64"/>
          <p:cNvSpPr/>
          <p:nvPr/>
        </p:nvSpPr>
        <p:spPr>
          <a:xfrm>
            <a:off x="3897375" y="2713714"/>
            <a:ext cx="285000" cy="285000"/>
          </a:xfrm>
          <a:prstGeom prst="ellipse">
            <a:avLst/>
          </a:prstGeom>
          <a:solidFill>
            <a:srgbClr val="FFFFFF">
              <a:alpha val="70000"/>
            </a:srgbClr>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sp>
        <p:nvSpPr>
          <p:cNvPr id="1450" name="Google Shape;1450;p64"/>
          <p:cNvSpPr/>
          <p:nvPr/>
        </p:nvSpPr>
        <p:spPr>
          <a:xfrm>
            <a:off x="3499850" y="3362139"/>
            <a:ext cx="285000" cy="285000"/>
          </a:xfrm>
          <a:prstGeom prst="ellipse">
            <a:avLst/>
          </a:prstGeom>
          <a:solidFill>
            <a:srgbClr val="FFFFFF"/>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1451" name="Google Shape;1451;p64"/>
          <p:cNvSpPr/>
          <p:nvPr/>
        </p:nvSpPr>
        <p:spPr>
          <a:xfrm>
            <a:off x="4614678" y="3288464"/>
            <a:ext cx="285000" cy="285000"/>
          </a:xfrm>
          <a:prstGeom prst="rect">
            <a:avLst/>
          </a:prstGeom>
          <a:solidFill>
            <a:srgbClr val="FFFFFF">
              <a:alpha val="70000"/>
            </a:srgbClr>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cxnSp>
        <p:nvCxnSpPr>
          <p:cNvPr id="1452" name="Google Shape;1452;p64"/>
          <p:cNvCxnSpPr>
            <a:stCxn id="1449" idx="5"/>
            <a:endCxn id="1451" idx="1"/>
          </p:cNvCxnSpPr>
          <p:nvPr/>
        </p:nvCxnSpPr>
        <p:spPr>
          <a:xfrm>
            <a:off x="4140638" y="2956977"/>
            <a:ext cx="474000" cy="474000"/>
          </a:xfrm>
          <a:prstGeom prst="straightConnector1">
            <a:avLst/>
          </a:prstGeom>
          <a:noFill/>
          <a:ln cap="flat" cmpd="sng" w="19050">
            <a:solidFill>
              <a:srgbClr val="000000"/>
            </a:solidFill>
            <a:prstDash val="solid"/>
            <a:round/>
            <a:headEnd len="med" w="med" type="none"/>
            <a:tailEnd len="med" w="med" type="none"/>
          </a:ln>
        </p:spPr>
      </p:cxnSp>
      <p:cxnSp>
        <p:nvCxnSpPr>
          <p:cNvPr id="1453" name="Google Shape;1453;p64"/>
          <p:cNvCxnSpPr>
            <a:stCxn id="1450" idx="6"/>
            <a:endCxn id="1451" idx="1"/>
          </p:cNvCxnSpPr>
          <p:nvPr/>
        </p:nvCxnSpPr>
        <p:spPr>
          <a:xfrm flipH="1" rot="10800000">
            <a:off x="3784850" y="3430839"/>
            <a:ext cx="829800" cy="73800"/>
          </a:xfrm>
          <a:prstGeom prst="straightConnector1">
            <a:avLst/>
          </a:prstGeom>
          <a:noFill/>
          <a:ln cap="flat" cmpd="sng" w="19050">
            <a:solidFill>
              <a:srgbClr val="000000"/>
            </a:solidFill>
            <a:prstDash val="solid"/>
            <a:round/>
            <a:headEnd len="med" w="med" type="none"/>
            <a:tailEnd len="med" w="med" type="none"/>
          </a:ln>
        </p:spPr>
      </p:cxnSp>
      <p:sp>
        <p:nvSpPr>
          <p:cNvPr id="1454" name="Google Shape;1454;p64"/>
          <p:cNvSpPr/>
          <p:nvPr/>
        </p:nvSpPr>
        <p:spPr>
          <a:xfrm>
            <a:off x="5446403" y="3861414"/>
            <a:ext cx="285000" cy="285000"/>
          </a:xfrm>
          <a:prstGeom prst="rect">
            <a:avLst/>
          </a:prstGeom>
          <a:solidFill>
            <a:srgbClr val="FFFFFF">
              <a:alpha val="70000"/>
            </a:srgbClr>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cxnSp>
        <p:nvCxnSpPr>
          <p:cNvPr id="1455" name="Google Shape;1455;p64"/>
          <p:cNvCxnSpPr>
            <a:stCxn id="1451" idx="2"/>
            <a:endCxn id="1454" idx="1"/>
          </p:cNvCxnSpPr>
          <p:nvPr/>
        </p:nvCxnSpPr>
        <p:spPr>
          <a:xfrm>
            <a:off x="4757178" y="3573464"/>
            <a:ext cx="689100" cy="430500"/>
          </a:xfrm>
          <a:prstGeom prst="straightConnector1">
            <a:avLst/>
          </a:prstGeom>
          <a:noFill/>
          <a:ln cap="flat" cmpd="sng" w="19050">
            <a:solidFill>
              <a:srgbClr val="000000"/>
            </a:solidFill>
            <a:prstDash val="solid"/>
            <a:round/>
            <a:headEnd len="med" w="med" type="none"/>
            <a:tailEnd len="med" w="med" type="none"/>
          </a:ln>
        </p:spPr>
      </p:cxnSp>
      <p:sp>
        <p:nvSpPr>
          <p:cNvPr id="1456" name="Google Shape;1456;p64"/>
          <p:cNvSpPr/>
          <p:nvPr/>
        </p:nvSpPr>
        <p:spPr>
          <a:xfrm>
            <a:off x="6633953" y="4089289"/>
            <a:ext cx="285000" cy="285000"/>
          </a:xfrm>
          <a:prstGeom prst="rect">
            <a:avLst/>
          </a:prstGeom>
          <a:solidFill>
            <a:srgbClr val="FFFFFF"/>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R7</a:t>
            </a:r>
            <a:endParaRPr>
              <a:latin typeface="Roboto"/>
              <a:ea typeface="Roboto"/>
              <a:cs typeface="Roboto"/>
              <a:sym typeface="Roboto"/>
            </a:endParaRPr>
          </a:p>
        </p:txBody>
      </p:sp>
      <p:cxnSp>
        <p:nvCxnSpPr>
          <p:cNvPr id="1457" name="Google Shape;1457;p64"/>
          <p:cNvCxnSpPr>
            <a:stCxn id="1454" idx="3"/>
            <a:endCxn id="1456" idx="1"/>
          </p:cNvCxnSpPr>
          <p:nvPr/>
        </p:nvCxnSpPr>
        <p:spPr>
          <a:xfrm>
            <a:off x="5731403" y="4003914"/>
            <a:ext cx="902700" cy="228000"/>
          </a:xfrm>
          <a:prstGeom prst="straightConnector1">
            <a:avLst/>
          </a:prstGeom>
          <a:noFill/>
          <a:ln cap="flat" cmpd="sng" w="19050">
            <a:solidFill>
              <a:srgbClr val="000000"/>
            </a:solidFill>
            <a:prstDash val="solid"/>
            <a:round/>
            <a:headEnd len="med" w="med" type="none"/>
            <a:tailEnd len="med" w="med" type="none"/>
          </a:ln>
        </p:spPr>
      </p:cxnSp>
      <p:sp>
        <p:nvSpPr>
          <p:cNvPr id="1458" name="Google Shape;1458;p64"/>
          <p:cNvSpPr/>
          <p:nvPr/>
        </p:nvSpPr>
        <p:spPr>
          <a:xfrm>
            <a:off x="6225253" y="3219639"/>
            <a:ext cx="285000" cy="285000"/>
          </a:xfrm>
          <a:prstGeom prst="rect">
            <a:avLst/>
          </a:prstGeom>
          <a:solidFill>
            <a:srgbClr val="FFFFFF">
              <a:alpha val="70000"/>
            </a:srgbClr>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R4</a:t>
            </a:r>
            <a:endParaRPr>
              <a:latin typeface="Roboto"/>
              <a:ea typeface="Roboto"/>
              <a:cs typeface="Roboto"/>
              <a:sym typeface="Roboto"/>
            </a:endParaRPr>
          </a:p>
        </p:txBody>
      </p:sp>
      <p:cxnSp>
        <p:nvCxnSpPr>
          <p:cNvPr id="1459" name="Google Shape;1459;p64"/>
          <p:cNvCxnSpPr>
            <a:stCxn id="1458" idx="1"/>
            <a:endCxn id="1454" idx="0"/>
          </p:cNvCxnSpPr>
          <p:nvPr/>
        </p:nvCxnSpPr>
        <p:spPr>
          <a:xfrm flipH="1">
            <a:off x="5588953" y="3362139"/>
            <a:ext cx="636300" cy="499200"/>
          </a:xfrm>
          <a:prstGeom prst="straightConnector1">
            <a:avLst/>
          </a:prstGeom>
          <a:noFill/>
          <a:ln cap="flat" cmpd="sng" w="19050">
            <a:solidFill>
              <a:srgbClr val="000000"/>
            </a:solidFill>
            <a:prstDash val="solid"/>
            <a:round/>
            <a:headEnd len="med" w="med" type="none"/>
            <a:tailEnd len="med" w="med" type="none"/>
          </a:ln>
        </p:spPr>
      </p:cxnSp>
      <p:cxnSp>
        <p:nvCxnSpPr>
          <p:cNvPr id="1460" name="Google Shape;1460;p64"/>
          <p:cNvCxnSpPr>
            <a:stCxn id="1458" idx="3"/>
            <a:endCxn id="1456" idx="0"/>
          </p:cNvCxnSpPr>
          <p:nvPr/>
        </p:nvCxnSpPr>
        <p:spPr>
          <a:xfrm>
            <a:off x="6510253" y="3362139"/>
            <a:ext cx="266100" cy="727200"/>
          </a:xfrm>
          <a:prstGeom prst="straightConnector1">
            <a:avLst/>
          </a:prstGeom>
          <a:noFill/>
          <a:ln cap="flat" cmpd="sng" w="19050">
            <a:solidFill>
              <a:srgbClr val="000000"/>
            </a:solidFill>
            <a:prstDash val="solid"/>
            <a:round/>
            <a:headEnd len="med" w="med" type="none"/>
            <a:tailEnd len="med" w="med" type="none"/>
          </a:ln>
        </p:spPr>
      </p:cxnSp>
      <p:sp>
        <p:nvSpPr>
          <p:cNvPr id="1461" name="Google Shape;1461;p64"/>
          <p:cNvSpPr/>
          <p:nvPr/>
        </p:nvSpPr>
        <p:spPr>
          <a:xfrm>
            <a:off x="5588953" y="2489489"/>
            <a:ext cx="285000" cy="285000"/>
          </a:xfrm>
          <a:prstGeom prst="rect">
            <a:avLst/>
          </a:prstGeom>
          <a:solidFill>
            <a:srgbClr val="FFFFFF">
              <a:alpha val="70000"/>
            </a:srgbClr>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cxnSp>
        <p:nvCxnSpPr>
          <p:cNvPr id="1462" name="Google Shape;1462;p64"/>
          <p:cNvCxnSpPr>
            <a:stCxn id="1461" idx="1"/>
            <a:endCxn id="1451" idx="0"/>
          </p:cNvCxnSpPr>
          <p:nvPr/>
        </p:nvCxnSpPr>
        <p:spPr>
          <a:xfrm flipH="1">
            <a:off x="4757053" y="2631989"/>
            <a:ext cx="831900" cy="656400"/>
          </a:xfrm>
          <a:prstGeom prst="straightConnector1">
            <a:avLst/>
          </a:prstGeom>
          <a:noFill/>
          <a:ln cap="flat" cmpd="sng" w="19050">
            <a:solidFill>
              <a:srgbClr val="000000"/>
            </a:solidFill>
            <a:prstDash val="solid"/>
            <a:round/>
            <a:headEnd len="med" w="med" type="none"/>
            <a:tailEnd len="med" w="med" type="none"/>
          </a:ln>
        </p:spPr>
      </p:cxnSp>
      <p:cxnSp>
        <p:nvCxnSpPr>
          <p:cNvPr id="1463" name="Google Shape;1463;p64"/>
          <p:cNvCxnSpPr>
            <a:stCxn id="1461" idx="3"/>
            <a:endCxn id="1458" idx="0"/>
          </p:cNvCxnSpPr>
          <p:nvPr/>
        </p:nvCxnSpPr>
        <p:spPr>
          <a:xfrm>
            <a:off x="5873953" y="2631989"/>
            <a:ext cx="493800" cy="587700"/>
          </a:xfrm>
          <a:prstGeom prst="straightConnector1">
            <a:avLst/>
          </a:prstGeom>
          <a:noFill/>
          <a:ln cap="flat" cmpd="sng" w="19050">
            <a:solidFill>
              <a:srgbClr val="000000"/>
            </a:solidFill>
            <a:prstDash val="solid"/>
            <a:round/>
            <a:headEnd len="med" w="med" type="none"/>
            <a:tailEnd len="med" w="med" type="none"/>
          </a:ln>
        </p:spPr>
      </p:cxnSp>
      <p:cxnSp>
        <p:nvCxnSpPr>
          <p:cNvPr id="1464" name="Google Shape;1464;p64"/>
          <p:cNvCxnSpPr>
            <a:stCxn id="1461" idx="3"/>
            <a:endCxn id="1465" idx="1"/>
          </p:cNvCxnSpPr>
          <p:nvPr/>
        </p:nvCxnSpPr>
        <p:spPr>
          <a:xfrm flipH="1" rot="10800000">
            <a:off x="5873953" y="2489489"/>
            <a:ext cx="1314900" cy="142500"/>
          </a:xfrm>
          <a:prstGeom prst="straightConnector1">
            <a:avLst/>
          </a:prstGeom>
          <a:noFill/>
          <a:ln cap="flat" cmpd="sng" w="19050">
            <a:solidFill>
              <a:srgbClr val="000000"/>
            </a:solidFill>
            <a:prstDash val="solid"/>
            <a:round/>
            <a:headEnd len="med" w="med" type="none"/>
            <a:tailEnd len="med" w="med" type="none"/>
          </a:ln>
        </p:spPr>
      </p:cxnSp>
      <p:sp>
        <p:nvSpPr>
          <p:cNvPr id="1465" name="Google Shape;1465;p64"/>
          <p:cNvSpPr/>
          <p:nvPr/>
        </p:nvSpPr>
        <p:spPr>
          <a:xfrm>
            <a:off x="7188953" y="2346989"/>
            <a:ext cx="285000" cy="285000"/>
          </a:xfrm>
          <a:prstGeom prst="rect">
            <a:avLst/>
          </a:prstGeom>
          <a:solidFill>
            <a:srgbClr val="FFFFFF"/>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R5</a:t>
            </a:r>
            <a:endParaRPr>
              <a:latin typeface="Roboto"/>
              <a:ea typeface="Roboto"/>
              <a:cs typeface="Roboto"/>
              <a:sym typeface="Roboto"/>
            </a:endParaRPr>
          </a:p>
        </p:txBody>
      </p:sp>
      <p:sp>
        <p:nvSpPr>
          <p:cNvPr id="1466" name="Google Shape;1466;p64"/>
          <p:cNvSpPr/>
          <p:nvPr/>
        </p:nvSpPr>
        <p:spPr>
          <a:xfrm>
            <a:off x="7473953" y="3362139"/>
            <a:ext cx="285000" cy="285000"/>
          </a:xfrm>
          <a:prstGeom prst="rect">
            <a:avLst/>
          </a:prstGeom>
          <a:solidFill>
            <a:srgbClr val="FFFFFF">
              <a:alpha val="70000"/>
            </a:srgbClr>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R6</a:t>
            </a:r>
            <a:endParaRPr>
              <a:latin typeface="Roboto"/>
              <a:ea typeface="Roboto"/>
              <a:cs typeface="Roboto"/>
              <a:sym typeface="Roboto"/>
            </a:endParaRPr>
          </a:p>
        </p:txBody>
      </p:sp>
      <p:cxnSp>
        <p:nvCxnSpPr>
          <p:cNvPr id="1467" name="Google Shape;1467;p64"/>
          <p:cNvCxnSpPr>
            <a:stCxn id="1466" idx="0"/>
            <a:endCxn id="1465" idx="2"/>
          </p:cNvCxnSpPr>
          <p:nvPr/>
        </p:nvCxnSpPr>
        <p:spPr>
          <a:xfrm rot="10800000">
            <a:off x="7331453" y="2631939"/>
            <a:ext cx="285000" cy="730200"/>
          </a:xfrm>
          <a:prstGeom prst="straightConnector1">
            <a:avLst/>
          </a:prstGeom>
          <a:noFill/>
          <a:ln cap="flat" cmpd="sng" w="19050">
            <a:solidFill>
              <a:srgbClr val="000000"/>
            </a:solidFill>
            <a:prstDash val="solid"/>
            <a:round/>
            <a:headEnd len="med" w="med" type="none"/>
            <a:tailEnd len="med" w="med" type="none"/>
          </a:ln>
        </p:spPr>
      </p:cxnSp>
      <p:cxnSp>
        <p:nvCxnSpPr>
          <p:cNvPr id="1468" name="Google Shape;1468;p64"/>
          <p:cNvCxnSpPr>
            <a:stCxn id="1466" idx="1"/>
            <a:endCxn id="1458" idx="3"/>
          </p:cNvCxnSpPr>
          <p:nvPr/>
        </p:nvCxnSpPr>
        <p:spPr>
          <a:xfrm rot="10800000">
            <a:off x="6510353" y="3362139"/>
            <a:ext cx="963600" cy="142500"/>
          </a:xfrm>
          <a:prstGeom prst="straightConnector1">
            <a:avLst/>
          </a:prstGeom>
          <a:noFill/>
          <a:ln cap="flat" cmpd="sng" w="19050">
            <a:solidFill>
              <a:srgbClr val="000000"/>
            </a:solidFill>
            <a:prstDash val="solid"/>
            <a:round/>
            <a:headEnd len="med" w="med" type="none"/>
            <a:tailEnd len="med" w="med" type="none"/>
          </a:ln>
        </p:spPr>
      </p:cxnSp>
      <p:cxnSp>
        <p:nvCxnSpPr>
          <p:cNvPr id="1469" name="Google Shape;1469;p64"/>
          <p:cNvCxnSpPr>
            <a:stCxn id="1466" idx="2"/>
            <a:endCxn id="1456" idx="3"/>
          </p:cNvCxnSpPr>
          <p:nvPr/>
        </p:nvCxnSpPr>
        <p:spPr>
          <a:xfrm flipH="1">
            <a:off x="6918953" y="3647139"/>
            <a:ext cx="697500" cy="584700"/>
          </a:xfrm>
          <a:prstGeom prst="straightConnector1">
            <a:avLst/>
          </a:prstGeom>
          <a:noFill/>
          <a:ln cap="flat" cmpd="sng" w="19050">
            <a:solidFill>
              <a:srgbClr val="000000"/>
            </a:solidFill>
            <a:prstDash val="solid"/>
            <a:round/>
            <a:headEnd len="med" w="med" type="none"/>
            <a:tailEnd len="med" w="med" type="none"/>
          </a:ln>
        </p:spPr>
      </p:cxnSp>
      <p:sp>
        <p:nvSpPr>
          <p:cNvPr id="1470" name="Google Shape;1470;p64"/>
          <p:cNvSpPr/>
          <p:nvPr/>
        </p:nvSpPr>
        <p:spPr>
          <a:xfrm>
            <a:off x="5588950" y="1920714"/>
            <a:ext cx="285000" cy="285000"/>
          </a:xfrm>
          <a:prstGeom prst="ellipse">
            <a:avLst/>
          </a:prstGeom>
          <a:solidFill>
            <a:srgbClr val="FFFFFF"/>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G</a:t>
            </a:r>
            <a:endParaRPr>
              <a:latin typeface="Roboto"/>
              <a:ea typeface="Roboto"/>
              <a:cs typeface="Roboto"/>
              <a:sym typeface="Roboto"/>
            </a:endParaRPr>
          </a:p>
        </p:txBody>
      </p:sp>
      <p:cxnSp>
        <p:nvCxnSpPr>
          <p:cNvPr id="1471" name="Google Shape;1471;p64"/>
          <p:cNvCxnSpPr>
            <a:stCxn id="1470" idx="4"/>
            <a:endCxn id="1461" idx="0"/>
          </p:cNvCxnSpPr>
          <p:nvPr/>
        </p:nvCxnSpPr>
        <p:spPr>
          <a:xfrm>
            <a:off x="5731450" y="2205714"/>
            <a:ext cx="0" cy="283800"/>
          </a:xfrm>
          <a:prstGeom prst="straightConnector1">
            <a:avLst/>
          </a:prstGeom>
          <a:noFill/>
          <a:ln cap="flat" cmpd="sng" w="19050">
            <a:solidFill>
              <a:srgbClr val="000000"/>
            </a:solidFill>
            <a:prstDash val="solid"/>
            <a:round/>
            <a:headEnd len="med" w="med" type="none"/>
            <a:tailEnd len="med" w="med" type="none"/>
          </a:ln>
        </p:spPr>
      </p:cxnSp>
      <p:sp>
        <p:nvSpPr>
          <p:cNvPr id="1472" name="Google Shape;1472;p64"/>
          <p:cNvSpPr/>
          <p:nvPr/>
        </p:nvSpPr>
        <p:spPr>
          <a:xfrm>
            <a:off x="8087600" y="2157489"/>
            <a:ext cx="285000" cy="285000"/>
          </a:xfrm>
          <a:prstGeom prst="ellipse">
            <a:avLst/>
          </a:prstGeom>
          <a:solidFill>
            <a:srgbClr val="FFFFFF"/>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F</a:t>
            </a:r>
            <a:endParaRPr>
              <a:latin typeface="Roboto"/>
              <a:ea typeface="Roboto"/>
              <a:cs typeface="Roboto"/>
              <a:sym typeface="Roboto"/>
            </a:endParaRPr>
          </a:p>
        </p:txBody>
      </p:sp>
      <p:cxnSp>
        <p:nvCxnSpPr>
          <p:cNvPr id="1473" name="Google Shape;1473;p64"/>
          <p:cNvCxnSpPr>
            <a:stCxn id="1472" idx="2"/>
            <a:endCxn id="1465" idx="3"/>
          </p:cNvCxnSpPr>
          <p:nvPr/>
        </p:nvCxnSpPr>
        <p:spPr>
          <a:xfrm flipH="1">
            <a:off x="7474100" y="2299989"/>
            <a:ext cx="613500" cy="189600"/>
          </a:xfrm>
          <a:prstGeom prst="straightConnector1">
            <a:avLst/>
          </a:prstGeom>
          <a:noFill/>
          <a:ln cap="flat" cmpd="sng" w="19050">
            <a:solidFill>
              <a:srgbClr val="000000"/>
            </a:solidFill>
            <a:prstDash val="solid"/>
            <a:round/>
            <a:headEnd len="med" w="med" type="none"/>
            <a:tailEnd len="med" w="med" type="none"/>
          </a:ln>
        </p:spPr>
      </p:cxnSp>
      <p:sp>
        <p:nvSpPr>
          <p:cNvPr id="1474" name="Google Shape;1474;p64"/>
          <p:cNvSpPr/>
          <p:nvPr/>
        </p:nvSpPr>
        <p:spPr>
          <a:xfrm>
            <a:off x="8386925" y="3469239"/>
            <a:ext cx="285000" cy="285000"/>
          </a:xfrm>
          <a:prstGeom prst="ellipse">
            <a:avLst/>
          </a:prstGeom>
          <a:solidFill>
            <a:srgbClr val="FFFFFF">
              <a:alpha val="70000"/>
            </a:srgbClr>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E</a:t>
            </a:r>
            <a:endParaRPr>
              <a:latin typeface="Roboto"/>
              <a:ea typeface="Roboto"/>
              <a:cs typeface="Roboto"/>
              <a:sym typeface="Roboto"/>
            </a:endParaRPr>
          </a:p>
        </p:txBody>
      </p:sp>
      <p:cxnSp>
        <p:nvCxnSpPr>
          <p:cNvPr id="1475" name="Google Shape;1475;p64"/>
          <p:cNvCxnSpPr>
            <a:stCxn id="1474" idx="2"/>
            <a:endCxn id="1466" idx="3"/>
          </p:cNvCxnSpPr>
          <p:nvPr/>
        </p:nvCxnSpPr>
        <p:spPr>
          <a:xfrm rot="10800000">
            <a:off x="7759025" y="3504639"/>
            <a:ext cx="627900" cy="107100"/>
          </a:xfrm>
          <a:prstGeom prst="straightConnector1">
            <a:avLst/>
          </a:prstGeom>
          <a:noFill/>
          <a:ln cap="flat" cmpd="sng" w="19050">
            <a:solidFill>
              <a:srgbClr val="000000"/>
            </a:solidFill>
            <a:prstDash val="solid"/>
            <a:round/>
            <a:headEnd len="med" w="med" type="none"/>
            <a:tailEnd len="med" w="med" type="none"/>
          </a:ln>
        </p:spPr>
      </p:cxnSp>
      <p:cxnSp>
        <p:nvCxnSpPr>
          <p:cNvPr id="1476" name="Google Shape;1476;p64"/>
          <p:cNvCxnSpPr>
            <a:stCxn id="1477" idx="0"/>
            <a:endCxn id="1456" idx="2"/>
          </p:cNvCxnSpPr>
          <p:nvPr/>
        </p:nvCxnSpPr>
        <p:spPr>
          <a:xfrm rot="10800000">
            <a:off x="6776450" y="4374189"/>
            <a:ext cx="0" cy="280800"/>
          </a:xfrm>
          <a:prstGeom prst="straightConnector1">
            <a:avLst/>
          </a:prstGeom>
          <a:noFill/>
          <a:ln cap="flat" cmpd="sng" w="19050">
            <a:solidFill>
              <a:srgbClr val="000000"/>
            </a:solidFill>
            <a:prstDash val="solid"/>
            <a:round/>
            <a:headEnd len="med" w="med" type="none"/>
            <a:tailEnd len="med" w="med" type="none"/>
          </a:ln>
        </p:spPr>
      </p:cxnSp>
      <p:sp>
        <p:nvSpPr>
          <p:cNvPr id="1477" name="Google Shape;1477;p64"/>
          <p:cNvSpPr/>
          <p:nvPr/>
        </p:nvSpPr>
        <p:spPr>
          <a:xfrm>
            <a:off x="6633950" y="4654989"/>
            <a:ext cx="285000" cy="285000"/>
          </a:xfrm>
          <a:prstGeom prst="ellipse">
            <a:avLst/>
          </a:prstGeom>
          <a:solidFill>
            <a:srgbClr val="FFFFFF"/>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D</a:t>
            </a:r>
            <a:endParaRPr>
              <a:latin typeface="Roboto"/>
              <a:ea typeface="Roboto"/>
              <a:cs typeface="Roboto"/>
              <a:sym typeface="Roboto"/>
            </a:endParaRPr>
          </a:p>
        </p:txBody>
      </p:sp>
      <p:cxnSp>
        <p:nvCxnSpPr>
          <p:cNvPr id="1478" name="Google Shape;1478;p64"/>
          <p:cNvCxnSpPr>
            <a:stCxn id="1479" idx="0"/>
            <a:endCxn id="1454" idx="2"/>
          </p:cNvCxnSpPr>
          <p:nvPr/>
        </p:nvCxnSpPr>
        <p:spPr>
          <a:xfrm rot="10800000">
            <a:off x="5588900" y="4146489"/>
            <a:ext cx="0" cy="280800"/>
          </a:xfrm>
          <a:prstGeom prst="straightConnector1">
            <a:avLst/>
          </a:prstGeom>
          <a:noFill/>
          <a:ln cap="flat" cmpd="sng" w="19050">
            <a:solidFill>
              <a:srgbClr val="000000"/>
            </a:solidFill>
            <a:prstDash val="solid"/>
            <a:round/>
            <a:headEnd len="med" w="med" type="none"/>
            <a:tailEnd len="med" w="med" type="none"/>
          </a:ln>
        </p:spPr>
      </p:cxnSp>
      <p:sp>
        <p:nvSpPr>
          <p:cNvPr id="1479" name="Google Shape;1479;p64"/>
          <p:cNvSpPr/>
          <p:nvPr/>
        </p:nvSpPr>
        <p:spPr>
          <a:xfrm>
            <a:off x="5446400" y="4427289"/>
            <a:ext cx="285000" cy="285000"/>
          </a:xfrm>
          <a:prstGeom prst="ellipse">
            <a:avLst/>
          </a:prstGeom>
          <a:solidFill>
            <a:srgbClr val="FFFFFF"/>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C</a:t>
            </a:r>
            <a:endParaRPr>
              <a:latin typeface="Roboto"/>
              <a:ea typeface="Roboto"/>
              <a:cs typeface="Roboto"/>
              <a:sym typeface="Roboto"/>
            </a:endParaRPr>
          </a:p>
        </p:txBody>
      </p:sp>
      <p:sp>
        <p:nvSpPr>
          <p:cNvPr id="1480" name="Google Shape;1480;p64"/>
          <p:cNvSpPr txBox="1"/>
          <p:nvPr/>
        </p:nvSpPr>
        <p:spPr>
          <a:xfrm>
            <a:off x="4863363" y="3794611"/>
            <a:ext cx="2850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10</a:t>
            </a:r>
            <a:endParaRPr>
              <a:solidFill>
                <a:schemeClr val="dk1"/>
              </a:solidFill>
              <a:latin typeface="Roboto"/>
              <a:ea typeface="Roboto"/>
              <a:cs typeface="Roboto"/>
              <a:sym typeface="Roboto"/>
            </a:endParaRPr>
          </a:p>
        </p:txBody>
      </p:sp>
      <p:sp>
        <p:nvSpPr>
          <p:cNvPr id="1481" name="Google Shape;1481;p64"/>
          <p:cNvSpPr txBox="1"/>
          <p:nvPr/>
        </p:nvSpPr>
        <p:spPr>
          <a:xfrm>
            <a:off x="4929288" y="2720776"/>
            <a:ext cx="2850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2</a:t>
            </a:r>
            <a:endParaRPr>
              <a:solidFill>
                <a:schemeClr val="dk1"/>
              </a:solidFill>
              <a:latin typeface="Roboto"/>
              <a:ea typeface="Roboto"/>
              <a:cs typeface="Roboto"/>
              <a:sym typeface="Roboto"/>
            </a:endParaRPr>
          </a:p>
        </p:txBody>
      </p:sp>
      <p:sp>
        <p:nvSpPr>
          <p:cNvPr id="1482" name="Google Shape;1482;p64"/>
          <p:cNvSpPr txBox="1"/>
          <p:nvPr/>
        </p:nvSpPr>
        <p:spPr>
          <a:xfrm>
            <a:off x="6130375" y="2760176"/>
            <a:ext cx="2850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1</a:t>
            </a:r>
            <a:endParaRPr>
              <a:solidFill>
                <a:schemeClr val="dk1"/>
              </a:solidFill>
              <a:latin typeface="Roboto"/>
              <a:ea typeface="Roboto"/>
              <a:cs typeface="Roboto"/>
              <a:sym typeface="Roboto"/>
            </a:endParaRPr>
          </a:p>
        </p:txBody>
      </p:sp>
      <p:sp>
        <p:nvSpPr>
          <p:cNvPr id="1483" name="Google Shape;1483;p64"/>
          <p:cNvSpPr txBox="1"/>
          <p:nvPr/>
        </p:nvSpPr>
        <p:spPr>
          <a:xfrm>
            <a:off x="6388950" y="2304251"/>
            <a:ext cx="2850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4</a:t>
            </a:r>
            <a:endParaRPr>
              <a:solidFill>
                <a:schemeClr val="dk1"/>
              </a:solidFill>
              <a:latin typeface="Roboto"/>
              <a:ea typeface="Roboto"/>
              <a:cs typeface="Roboto"/>
              <a:sym typeface="Roboto"/>
            </a:endParaRPr>
          </a:p>
        </p:txBody>
      </p:sp>
      <p:sp>
        <p:nvSpPr>
          <p:cNvPr id="1484" name="Google Shape;1484;p64"/>
          <p:cNvSpPr txBox="1"/>
          <p:nvPr/>
        </p:nvSpPr>
        <p:spPr>
          <a:xfrm>
            <a:off x="7452425" y="2811301"/>
            <a:ext cx="2850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4</a:t>
            </a:r>
            <a:endParaRPr>
              <a:solidFill>
                <a:schemeClr val="dk1"/>
              </a:solidFill>
              <a:latin typeface="Roboto"/>
              <a:ea typeface="Roboto"/>
              <a:cs typeface="Roboto"/>
              <a:sym typeface="Roboto"/>
            </a:endParaRPr>
          </a:p>
        </p:txBody>
      </p:sp>
      <p:sp>
        <p:nvSpPr>
          <p:cNvPr id="1485" name="Google Shape;1485;p64"/>
          <p:cNvSpPr txBox="1"/>
          <p:nvPr/>
        </p:nvSpPr>
        <p:spPr>
          <a:xfrm>
            <a:off x="6878325" y="3184351"/>
            <a:ext cx="2850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10</a:t>
            </a:r>
            <a:endParaRPr>
              <a:solidFill>
                <a:schemeClr val="dk1"/>
              </a:solidFill>
              <a:latin typeface="Roboto"/>
              <a:ea typeface="Roboto"/>
              <a:cs typeface="Roboto"/>
              <a:sym typeface="Roboto"/>
            </a:endParaRPr>
          </a:p>
        </p:txBody>
      </p:sp>
      <p:sp>
        <p:nvSpPr>
          <p:cNvPr id="1486" name="Google Shape;1486;p64"/>
          <p:cNvSpPr txBox="1"/>
          <p:nvPr/>
        </p:nvSpPr>
        <p:spPr>
          <a:xfrm>
            <a:off x="7251375" y="3868476"/>
            <a:ext cx="2850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10</a:t>
            </a:r>
            <a:endParaRPr>
              <a:solidFill>
                <a:schemeClr val="dk1"/>
              </a:solidFill>
              <a:latin typeface="Roboto"/>
              <a:ea typeface="Roboto"/>
              <a:cs typeface="Roboto"/>
              <a:sym typeface="Roboto"/>
            </a:endParaRPr>
          </a:p>
        </p:txBody>
      </p:sp>
      <p:sp>
        <p:nvSpPr>
          <p:cNvPr id="1487" name="Google Shape;1487;p64"/>
          <p:cNvSpPr txBox="1"/>
          <p:nvPr/>
        </p:nvSpPr>
        <p:spPr>
          <a:xfrm>
            <a:off x="6643300" y="3611751"/>
            <a:ext cx="2850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4</a:t>
            </a:r>
            <a:endParaRPr>
              <a:solidFill>
                <a:schemeClr val="dk1"/>
              </a:solidFill>
              <a:latin typeface="Roboto"/>
              <a:ea typeface="Roboto"/>
              <a:cs typeface="Roboto"/>
              <a:sym typeface="Roboto"/>
            </a:endParaRPr>
          </a:p>
        </p:txBody>
      </p:sp>
      <p:sp>
        <p:nvSpPr>
          <p:cNvPr id="1488" name="Google Shape;1488;p64"/>
          <p:cNvSpPr txBox="1"/>
          <p:nvPr/>
        </p:nvSpPr>
        <p:spPr>
          <a:xfrm>
            <a:off x="6063850" y="4103401"/>
            <a:ext cx="2850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5</a:t>
            </a:r>
            <a:endParaRPr>
              <a:solidFill>
                <a:schemeClr val="dk1"/>
              </a:solidFill>
              <a:latin typeface="Roboto"/>
              <a:ea typeface="Roboto"/>
              <a:cs typeface="Roboto"/>
              <a:sym typeface="Roboto"/>
            </a:endParaRPr>
          </a:p>
        </p:txBody>
      </p:sp>
      <p:sp>
        <p:nvSpPr>
          <p:cNvPr id="1489" name="Google Shape;1489;p64"/>
          <p:cNvSpPr txBox="1"/>
          <p:nvPr/>
        </p:nvSpPr>
        <p:spPr>
          <a:xfrm>
            <a:off x="5603988" y="3432301"/>
            <a:ext cx="2850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10</a:t>
            </a:r>
            <a:endParaRPr>
              <a:solidFill>
                <a:schemeClr val="dk1"/>
              </a:solidFill>
              <a:latin typeface="Roboto"/>
              <a:ea typeface="Roboto"/>
              <a:cs typeface="Roboto"/>
              <a:sym typeface="Roboto"/>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3" name="Shape 1493"/>
        <p:cNvGrpSpPr/>
        <p:nvPr/>
      </p:nvGrpSpPr>
      <p:grpSpPr>
        <a:xfrm>
          <a:off x="0" y="0"/>
          <a:ext cx="0" cy="0"/>
          <a:chOff x="0" y="0"/>
          <a:chExt cx="0" cy="0"/>
        </a:xfrm>
      </p:grpSpPr>
      <p:sp>
        <p:nvSpPr>
          <p:cNvPr id="1494" name="Google Shape;1494;p65"/>
          <p:cNvSpPr/>
          <p:nvPr/>
        </p:nvSpPr>
        <p:spPr>
          <a:xfrm>
            <a:off x="4106650" y="2238925"/>
            <a:ext cx="4108650" cy="1188500"/>
          </a:xfrm>
          <a:custGeom>
            <a:rect b="b" l="l" r="r" t="t"/>
            <a:pathLst>
              <a:path extrusionOk="0" h="47540" w="164346">
                <a:moveTo>
                  <a:pt x="0" y="24539"/>
                </a:moveTo>
                <a:cubicBezTo>
                  <a:pt x="4144" y="28306"/>
                  <a:pt x="18028" y="44988"/>
                  <a:pt x="24862" y="47140"/>
                </a:cubicBezTo>
                <a:cubicBezTo>
                  <a:pt x="31696" y="49293"/>
                  <a:pt x="34522" y="42217"/>
                  <a:pt x="41006" y="37454"/>
                </a:cubicBezTo>
                <a:cubicBezTo>
                  <a:pt x="47491" y="32692"/>
                  <a:pt x="56531" y="23005"/>
                  <a:pt x="63769" y="18565"/>
                </a:cubicBezTo>
                <a:cubicBezTo>
                  <a:pt x="71007" y="14125"/>
                  <a:pt x="73670" y="12807"/>
                  <a:pt x="84433" y="10816"/>
                </a:cubicBezTo>
                <a:cubicBezTo>
                  <a:pt x="95196" y="8825"/>
                  <a:pt x="115026" y="8422"/>
                  <a:pt x="128345" y="6619"/>
                </a:cubicBezTo>
                <a:cubicBezTo>
                  <a:pt x="141664" y="4816"/>
                  <a:pt x="158346" y="1103"/>
                  <a:pt x="164346" y="0"/>
                </a:cubicBezTo>
              </a:path>
            </a:pathLst>
          </a:custGeom>
          <a:noFill/>
          <a:ln cap="flat" cmpd="sng" w="28575">
            <a:solidFill>
              <a:srgbClr val="F1C232"/>
            </a:solidFill>
            <a:prstDash val="solid"/>
            <a:round/>
            <a:headEnd len="med" w="med" type="none"/>
            <a:tailEnd len="med" w="med" type="triangle"/>
          </a:ln>
        </p:spPr>
      </p:sp>
      <p:sp>
        <p:nvSpPr>
          <p:cNvPr id="1495" name="Google Shape;1495;p65"/>
          <p:cNvSpPr/>
          <p:nvPr/>
        </p:nvSpPr>
        <p:spPr>
          <a:xfrm>
            <a:off x="3683800" y="2706750"/>
            <a:ext cx="4766571" cy="854100"/>
          </a:xfrm>
          <a:custGeom>
            <a:rect b="b" l="l" r="r" t="t"/>
            <a:pathLst>
              <a:path extrusionOk="0" h="34164" w="188402">
                <a:moveTo>
                  <a:pt x="0" y="34002"/>
                </a:moveTo>
                <a:cubicBezTo>
                  <a:pt x="7480" y="33760"/>
                  <a:pt x="35356" y="34056"/>
                  <a:pt x="44881" y="32549"/>
                </a:cubicBezTo>
                <a:cubicBezTo>
                  <a:pt x="54406" y="31042"/>
                  <a:pt x="50666" y="30316"/>
                  <a:pt x="57150" y="24962"/>
                </a:cubicBezTo>
                <a:cubicBezTo>
                  <a:pt x="63635" y="19608"/>
                  <a:pt x="77438" y="2818"/>
                  <a:pt x="83788" y="423"/>
                </a:cubicBezTo>
                <a:cubicBezTo>
                  <a:pt x="90138" y="-1972"/>
                  <a:pt x="91483" y="6853"/>
                  <a:pt x="95250" y="10593"/>
                </a:cubicBezTo>
                <a:cubicBezTo>
                  <a:pt x="99017" y="14333"/>
                  <a:pt x="102758" y="20710"/>
                  <a:pt x="106390" y="22863"/>
                </a:cubicBezTo>
                <a:cubicBezTo>
                  <a:pt x="110023" y="25016"/>
                  <a:pt x="103376" y="21626"/>
                  <a:pt x="117045" y="23509"/>
                </a:cubicBezTo>
                <a:cubicBezTo>
                  <a:pt x="130714" y="25393"/>
                  <a:pt x="176509" y="32388"/>
                  <a:pt x="188402" y="34164"/>
                </a:cubicBezTo>
              </a:path>
            </a:pathLst>
          </a:custGeom>
          <a:noFill/>
          <a:ln cap="flat" cmpd="sng" w="28575">
            <a:solidFill>
              <a:srgbClr val="FF00FF"/>
            </a:solidFill>
            <a:prstDash val="solid"/>
            <a:round/>
            <a:headEnd len="med" w="med" type="none"/>
            <a:tailEnd len="med" w="med" type="triangle"/>
          </a:ln>
        </p:spPr>
      </p:sp>
      <p:sp>
        <p:nvSpPr>
          <p:cNvPr id="1496" name="Google Shape;1496;p65"/>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Congestion Control Challenges: Depends on Competing Flows</a:t>
            </a:r>
            <a:endParaRPr/>
          </a:p>
        </p:txBody>
      </p:sp>
      <p:sp>
        <p:nvSpPr>
          <p:cNvPr id="1497" name="Google Shape;1497;p65"/>
          <p:cNvSpPr txBox="1"/>
          <p:nvPr>
            <p:ph idx="1" type="body"/>
          </p:nvPr>
        </p:nvSpPr>
        <p:spPr>
          <a:xfrm>
            <a:off x="107050" y="402200"/>
            <a:ext cx="8909700" cy="2087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At what rate should A → F send traffic?</a:t>
            </a:r>
            <a:endParaRPr/>
          </a:p>
          <a:p>
            <a:pPr indent="0" lvl="0" marL="0" rtl="0" algn="l">
              <a:spcBef>
                <a:spcPts val="600"/>
              </a:spcBef>
              <a:spcAft>
                <a:spcPts val="0"/>
              </a:spcAft>
              <a:buNone/>
            </a:pPr>
            <a:r>
              <a:rPr lang="en"/>
              <a:t>It depends on others using the network.</a:t>
            </a:r>
            <a:endParaRPr/>
          </a:p>
          <a:p>
            <a:pPr indent="-342900" lvl="0" marL="457200" rtl="0" algn="l">
              <a:spcBef>
                <a:spcPts val="600"/>
              </a:spcBef>
              <a:spcAft>
                <a:spcPts val="0"/>
              </a:spcAft>
              <a:buSzPts val="1800"/>
              <a:buChar char="●"/>
            </a:pPr>
            <a:r>
              <a:rPr lang="en">
                <a:solidFill>
                  <a:srgbClr val="BF9000"/>
                </a:solidFill>
              </a:rPr>
              <a:t>A → F</a:t>
            </a:r>
            <a:r>
              <a:rPr lang="en"/>
              <a:t> and </a:t>
            </a:r>
            <a:r>
              <a:rPr lang="en">
                <a:solidFill>
                  <a:srgbClr val="FF00FF"/>
                </a:solidFill>
              </a:rPr>
              <a:t>B → E</a:t>
            </a:r>
            <a:r>
              <a:rPr lang="en"/>
              <a:t> share a link.</a:t>
            </a:r>
            <a:endParaRPr/>
          </a:p>
          <a:p>
            <a:pPr indent="-342900" lvl="0" marL="457200" rtl="0" algn="l">
              <a:spcBef>
                <a:spcPts val="0"/>
              </a:spcBef>
              <a:spcAft>
                <a:spcPts val="0"/>
              </a:spcAft>
              <a:buSzPts val="1800"/>
              <a:buChar char="●"/>
            </a:pPr>
            <a:r>
              <a:rPr lang="en">
                <a:solidFill>
                  <a:srgbClr val="FF00FF"/>
                </a:solidFill>
              </a:rPr>
              <a:t>B → E</a:t>
            </a:r>
            <a:r>
              <a:rPr lang="en"/>
              <a:t> can send at 1 Gbps.</a:t>
            </a:r>
            <a:endParaRPr/>
          </a:p>
          <a:p>
            <a:pPr indent="-342900" lvl="0" marL="457200" rtl="0" algn="l">
              <a:spcBef>
                <a:spcPts val="0"/>
              </a:spcBef>
              <a:spcAft>
                <a:spcPts val="0"/>
              </a:spcAft>
              <a:buSzPts val="1800"/>
              <a:buChar char="●"/>
            </a:pPr>
            <a:r>
              <a:rPr lang="en">
                <a:solidFill>
                  <a:srgbClr val="BF9000"/>
                </a:solidFill>
              </a:rPr>
              <a:t>A → F</a:t>
            </a:r>
            <a:r>
              <a:rPr lang="en"/>
              <a:t> can send at 1 Gbps.</a:t>
            </a:r>
            <a:endParaRPr/>
          </a:p>
        </p:txBody>
      </p:sp>
      <p:sp>
        <p:nvSpPr>
          <p:cNvPr id="1498" name="Google Shape;1498;p65"/>
          <p:cNvSpPr/>
          <p:nvPr/>
        </p:nvSpPr>
        <p:spPr>
          <a:xfrm>
            <a:off x="3897375" y="2713714"/>
            <a:ext cx="285000" cy="285000"/>
          </a:xfrm>
          <a:prstGeom prst="ellipse">
            <a:avLst/>
          </a:prstGeom>
          <a:solidFill>
            <a:srgbClr val="FFFFFF">
              <a:alpha val="70000"/>
            </a:srgbClr>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sp>
        <p:nvSpPr>
          <p:cNvPr id="1499" name="Google Shape;1499;p65"/>
          <p:cNvSpPr/>
          <p:nvPr/>
        </p:nvSpPr>
        <p:spPr>
          <a:xfrm>
            <a:off x="3499850" y="3362139"/>
            <a:ext cx="285000" cy="285000"/>
          </a:xfrm>
          <a:prstGeom prst="ellipse">
            <a:avLst/>
          </a:prstGeom>
          <a:solidFill>
            <a:srgbClr val="FFFFFF">
              <a:alpha val="70000"/>
            </a:srgbClr>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1500" name="Google Shape;1500;p65"/>
          <p:cNvSpPr/>
          <p:nvPr/>
        </p:nvSpPr>
        <p:spPr>
          <a:xfrm>
            <a:off x="4614678" y="3288464"/>
            <a:ext cx="285000" cy="285000"/>
          </a:xfrm>
          <a:prstGeom prst="rect">
            <a:avLst/>
          </a:prstGeom>
          <a:solidFill>
            <a:srgbClr val="FFFFFF">
              <a:alpha val="70000"/>
            </a:srgbClr>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cxnSp>
        <p:nvCxnSpPr>
          <p:cNvPr id="1501" name="Google Shape;1501;p65"/>
          <p:cNvCxnSpPr>
            <a:stCxn id="1498" idx="5"/>
            <a:endCxn id="1500" idx="1"/>
          </p:cNvCxnSpPr>
          <p:nvPr/>
        </p:nvCxnSpPr>
        <p:spPr>
          <a:xfrm>
            <a:off x="4140638" y="2956977"/>
            <a:ext cx="474000" cy="474000"/>
          </a:xfrm>
          <a:prstGeom prst="straightConnector1">
            <a:avLst/>
          </a:prstGeom>
          <a:noFill/>
          <a:ln cap="flat" cmpd="sng" w="19050">
            <a:solidFill>
              <a:srgbClr val="000000"/>
            </a:solidFill>
            <a:prstDash val="solid"/>
            <a:round/>
            <a:headEnd len="med" w="med" type="none"/>
            <a:tailEnd len="med" w="med" type="none"/>
          </a:ln>
        </p:spPr>
      </p:cxnSp>
      <p:cxnSp>
        <p:nvCxnSpPr>
          <p:cNvPr id="1502" name="Google Shape;1502;p65"/>
          <p:cNvCxnSpPr>
            <a:stCxn id="1499" idx="6"/>
            <a:endCxn id="1500" idx="1"/>
          </p:cNvCxnSpPr>
          <p:nvPr/>
        </p:nvCxnSpPr>
        <p:spPr>
          <a:xfrm flipH="1" rot="10800000">
            <a:off x="3784850" y="3430839"/>
            <a:ext cx="829800" cy="73800"/>
          </a:xfrm>
          <a:prstGeom prst="straightConnector1">
            <a:avLst/>
          </a:prstGeom>
          <a:noFill/>
          <a:ln cap="flat" cmpd="sng" w="19050">
            <a:solidFill>
              <a:srgbClr val="000000"/>
            </a:solidFill>
            <a:prstDash val="solid"/>
            <a:round/>
            <a:headEnd len="med" w="med" type="none"/>
            <a:tailEnd len="med" w="med" type="none"/>
          </a:ln>
        </p:spPr>
      </p:cxnSp>
      <p:sp>
        <p:nvSpPr>
          <p:cNvPr id="1503" name="Google Shape;1503;p65"/>
          <p:cNvSpPr/>
          <p:nvPr/>
        </p:nvSpPr>
        <p:spPr>
          <a:xfrm>
            <a:off x="5446403" y="3861414"/>
            <a:ext cx="285000" cy="285000"/>
          </a:xfrm>
          <a:prstGeom prst="rect">
            <a:avLst/>
          </a:prstGeom>
          <a:solidFill>
            <a:srgbClr val="FFFFFF"/>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cxnSp>
        <p:nvCxnSpPr>
          <p:cNvPr id="1504" name="Google Shape;1504;p65"/>
          <p:cNvCxnSpPr>
            <a:stCxn id="1500" idx="2"/>
            <a:endCxn id="1503" idx="1"/>
          </p:cNvCxnSpPr>
          <p:nvPr/>
        </p:nvCxnSpPr>
        <p:spPr>
          <a:xfrm>
            <a:off x="4757178" y="3573464"/>
            <a:ext cx="689100" cy="430500"/>
          </a:xfrm>
          <a:prstGeom prst="straightConnector1">
            <a:avLst/>
          </a:prstGeom>
          <a:noFill/>
          <a:ln cap="flat" cmpd="sng" w="19050">
            <a:solidFill>
              <a:srgbClr val="000000"/>
            </a:solidFill>
            <a:prstDash val="solid"/>
            <a:round/>
            <a:headEnd len="med" w="med" type="none"/>
            <a:tailEnd len="med" w="med" type="none"/>
          </a:ln>
        </p:spPr>
      </p:cxnSp>
      <p:sp>
        <p:nvSpPr>
          <p:cNvPr id="1505" name="Google Shape;1505;p65"/>
          <p:cNvSpPr/>
          <p:nvPr/>
        </p:nvSpPr>
        <p:spPr>
          <a:xfrm>
            <a:off x="6633953" y="4089289"/>
            <a:ext cx="285000" cy="285000"/>
          </a:xfrm>
          <a:prstGeom prst="rect">
            <a:avLst/>
          </a:prstGeom>
          <a:solidFill>
            <a:srgbClr val="FFFFFF"/>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R7</a:t>
            </a:r>
            <a:endParaRPr>
              <a:latin typeface="Roboto"/>
              <a:ea typeface="Roboto"/>
              <a:cs typeface="Roboto"/>
              <a:sym typeface="Roboto"/>
            </a:endParaRPr>
          </a:p>
        </p:txBody>
      </p:sp>
      <p:cxnSp>
        <p:nvCxnSpPr>
          <p:cNvPr id="1506" name="Google Shape;1506;p65"/>
          <p:cNvCxnSpPr>
            <a:stCxn id="1503" idx="3"/>
            <a:endCxn id="1505" idx="1"/>
          </p:cNvCxnSpPr>
          <p:nvPr/>
        </p:nvCxnSpPr>
        <p:spPr>
          <a:xfrm>
            <a:off x="5731403" y="4003914"/>
            <a:ext cx="902700" cy="228000"/>
          </a:xfrm>
          <a:prstGeom prst="straightConnector1">
            <a:avLst/>
          </a:prstGeom>
          <a:noFill/>
          <a:ln cap="flat" cmpd="sng" w="19050">
            <a:solidFill>
              <a:srgbClr val="000000"/>
            </a:solidFill>
            <a:prstDash val="solid"/>
            <a:round/>
            <a:headEnd len="med" w="med" type="none"/>
            <a:tailEnd len="med" w="med" type="none"/>
          </a:ln>
        </p:spPr>
      </p:cxnSp>
      <p:sp>
        <p:nvSpPr>
          <p:cNvPr id="1507" name="Google Shape;1507;p65"/>
          <p:cNvSpPr/>
          <p:nvPr/>
        </p:nvSpPr>
        <p:spPr>
          <a:xfrm>
            <a:off x="6225253" y="3219639"/>
            <a:ext cx="285000" cy="285000"/>
          </a:xfrm>
          <a:prstGeom prst="rect">
            <a:avLst/>
          </a:prstGeom>
          <a:solidFill>
            <a:srgbClr val="FFFFFF">
              <a:alpha val="70000"/>
            </a:srgbClr>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R4</a:t>
            </a:r>
            <a:endParaRPr>
              <a:latin typeface="Roboto"/>
              <a:ea typeface="Roboto"/>
              <a:cs typeface="Roboto"/>
              <a:sym typeface="Roboto"/>
            </a:endParaRPr>
          </a:p>
        </p:txBody>
      </p:sp>
      <p:cxnSp>
        <p:nvCxnSpPr>
          <p:cNvPr id="1508" name="Google Shape;1508;p65"/>
          <p:cNvCxnSpPr>
            <a:stCxn id="1507" idx="1"/>
            <a:endCxn id="1503" idx="0"/>
          </p:cNvCxnSpPr>
          <p:nvPr/>
        </p:nvCxnSpPr>
        <p:spPr>
          <a:xfrm flipH="1">
            <a:off x="5588953" y="3362139"/>
            <a:ext cx="636300" cy="499200"/>
          </a:xfrm>
          <a:prstGeom prst="straightConnector1">
            <a:avLst/>
          </a:prstGeom>
          <a:noFill/>
          <a:ln cap="flat" cmpd="sng" w="19050">
            <a:solidFill>
              <a:srgbClr val="000000"/>
            </a:solidFill>
            <a:prstDash val="solid"/>
            <a:round/>
            <a:headEnd len="med" w="med" type="none"/>
            <a:tailEnd len="med" w="med" type="none"/>
          </a:ln>
        </p:spPr>
      </p:cxnSp>
      <p:cxnSp>
        <p:nvCxnSpPr>
          <p:cNvPr id="1509" name="Google Shape;1509;p65"/>
          <p:cNvCxnSpPr>
            <a:stCxn id="1507" idx="3"/>
            <a:endCxn id="1505" idx="0"/>
          </p:cNvCxnSpPr>
          <p:nvPr/>
        </p:nvCxnSpPr>
        <p:spPr>
          <a:xfrm>
            <a:off x="6510253" y="3362139"/>
            <a:ext cx="266100" cy="727200"/>
          </a:xfrm>
          <a:prstGeom prst="straightConnector1">
            <a:avLst/>
          </a:prstGeom>
          <a:noFill/>
          <a:ln cap="flat" cmpd="sng" w="19050">
            <a:solidFill>
              <a:srgbClr val="000000"/>
            </a:solidFill>
            <a:prstDash val="solid"/>
            <a:round/>
            <a:headEnd len="med" w="med" type="none"/>
            <a:tailEnd len="med" w="med" type="none"/>
          </a:ln>
        </p:spPr>
      </p:cxnSp>
      <p:sp>
        <p:nvSpPr>
          <p:cNvPr id="1510" name="Google Shape;1510;p65"/>
          <p:cNvSpPr/>
          <p:nvPr/>
        </p:nvSpPr>
        <p:spPr>
          <a:xfrm>
            <a:off x="5588953" y="2489489"/>
            <a:ext cx="285000" cy="285000"/>
          </a:xfrm>
          <a:prstGeom prst="rect">
            <a:avLst/>
          </a:prstGeom>
          <a:solidFill>
            <a:srgbClr val="FFFFFF">
              <a:alpha val="70000"/>
            </a:srgbClr>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cxnSp>
        <p:nvCxnSpPr>
          <p:cNvPr id="1511" name="Google Shape;1511;p65"/>
          <p:cNvCxnSpPr>
            <a:stCxn id="1510" idx="1"/>
            <a:endCxn id="1500" idx="0"/>
          </p:cNvCxnSpPr>
          <p:nvPr/>
        </p:nvCxnSpPr>
        <p:spPr>
          <a:xfrm flipH="1">
            <a:off x="4757053" y="2631989"/>
            <a:ext cx="831900" cy="656400"/>
          </a:xfrm>
          <a:prstGeom prst="straightConnector1">
            <a:avLst/>
          </a:prstGeom>
          <a:noFill/>
          <a:ln cap="flat" cmpd="sng" w="19050">
            <a:solidFill>
              <a:srgbClr val="000000"/>
            </a:solidFill>
            <a:prstDash val="solid"/>
            <a:round/>
            <a:headEnd len="med" w="med" type="none"/>
            <a:tailEnd len="med" w="med" type="none"/>
          </a:ln>
        </p:spPr>
      </p:cxnSp>
      <p:cxnSp>
        <p:nvCxnSpPr>
          <p:cNvPr id="1512" name="Google Shape;1512;p65"/>
          <p:cNvCxnSpPr>
            <a:stCxn id="1510" idx="3"/>
            <a:endCxn id="1507" idx="0"/>
          </p:cNvCxnSpPr>
          <p:nvPr/>
        </p:nvCxnSpPr>
        <p:spPr>
          <a:xfrm>
            <a:off x="5873953" y="2631989"/>
            <a:ext cx="493800" cy="587700"/>
          </a:xfrm>
          <a:prstGeom prst="straightConnector1">
            <a:avLst/>
          </a:prstGeom>
          <a:noFill/>
          <a:ln cap="flat" cmpd="sng" w="19050">
            <a:solidFill>
              <a:srgbClr val="000000"/>
            </a:solidFill>
            <a:prstDash val="solid"/>
            <a:round/>
            <a:headEnd len="med" w="med" type="none"/>
            <a:tailEnd len="med" w="med" type="none"/>
          </a:ln>
        </p:spPr>
      </p:cxnSp>
      <p:cxnSp>
        <p:nvCxnSpPr>
          <p:cNvPr id="1513" name="Google Shape;1513;p65"/>
          <p:cNvCxnSpPr>
            <a:stCxn id="1510" idx="3"/>
            <a:endCxn id="1514" idx="1"/>
          </p:cNvCxnSpPr>
          <p:nvPr/>
        </p:nvCxnSpPr>
        <p:spPr>
          <a:xfrm flipH="1" rot="10800000">
            <a:off x="5873953" y="2489489"/>
            <a:ext cx="1314900" cy="142500"/>
          </a:xfrm>
          <a:prstGeom prst="straightConnector1">
            <a:avLst/>
          </a:prstGeom>
          <a:noFill/>
          <a:ln cap="flat" cmpd="sng" w="19050">
            <a:solidFill>
              <a:srgbClr val="000000"/>
            </a:solidFill>
            <a:prstDash val="solid"/>
            <a:round/>
            <a:headEnd len="med" w="med" type="none"/>
            <a:tailEnd len="med" w="med" type="none"/>
          </a:ln>
        </p:spPr>
      </p:cxnSp>
      <p:sp>
        <p:nvSpPr>
          <p:cNvPr id="1514" name="Google Shape;1514;p65"/>
          <p:cNvSpPr/>
          <p:nvPr/>
        </p:nvSpPr>
        <p:spPr>
          <a:xfrm>
            <a:off x="7188953" y="2346989"/>
            <a:ext cx="285000" cy="285000"/>
          </a:xfrm>
          <a:prstGeom prst="rect">
            <a:avLst/>
          </a:prstGeom>
          <a:solidFill>
            <a:srgbClr val="FFFFFF">
              <a:alpha val="70000"/>
            </a:srgbClr>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R5</a:t>
            </a:r>
            <a:endParaRPr>
              <a:latin typeface="Roboto"/>
              <a:ea typeface="Roboto"/>
              <a:cs typeface="Roboto"/>
              <a:sym typeface="Roboto"/>
            </a:endParaRPr>
          </a:p>
        </p:txBody>
      </p:sp>
      <p:sp>
        <p:nvSpPr>
          <p:cNvPr id="1515" name="Google Shape;1515;p65"/>
          <p:cNvSpPr/>
          <p:nvPr/>
        </p:nvSpPr>
        <p:spPr>
          <a:xfrm>
            <a:off x="7473953" y="3362139"/>
            <a:ext cx="285000" cy="285000"/>
          </a:xfrm>
          <a:prstGeom prst="rect">
            <a:avLst/>
          </a:prstGeom>
          <a:solidFill>
            <a:srgbClr val="FFFFFF">
              <a:alpha val="70000"/>
            </a:srgbClr>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R6</a:t>
            </a:r>
            <a:endParaRPr>
              <a:latin typeface="Roboto"/>
              <a:ea typeface="Roboto"/>
              <a:cs typeface="Roboto"/>
              <a:sym typeface="Roboto"/>
            </a:endParaRPr>
          </a:p>
        </p:txBody>
      </p:sp>
      <p:cxnSp>
        <p:nvCxnSpPr>
          <p:cNvPr id="1516" name="Google Shape;1516;p65"/>
          <p:cNvCxnSpPr>
            <a:stCxn id="1515" idx="0"/>
            <a:endCxn id="1514" idx="2"/>
          </p:cNvCxnSpPr>
          <p:nvPr/>
        </p:nvCxnSpPr>
        <p:spPr>
          <a:xfrm rot="10800000">
            <a:off x="7331453" y="2631939"/>
            <a:ext cx="285000" cy="730200"/>
          </a:xfrm>
          <a:prstGeom prst="straightConnector1">
            <a:avLst/>
          </a:prstGeom>
          <a:noFill/>
          <a:ln cap="flat" cmpd="sng" w="19050">
            <a:solidFill>
              <a:srgbClr val="000000"/>
            </a:solidFill>
            <a:prstDash val="solid"/>
            <a:round/>
            <a:headEnd len="med" w="med" type="none"/>
            <a:tailEnd len="med" w="med" type="none"/>
          </a:ln>
        </p:spPr>
      </p:cxnSp>
      <p:cxnSp>
        <p:nvCxnSpPr>
          <p:cNvPr id="1517" name="Google Shape;1517;p65"/>
          <p:cNvCxnSpPr>
            <a:stCxn id="1515" idx="1"/>
            <a:endCxn id="1507" idx="3"/>
          </p:cNvCxnSpPr>
          <p:nvPr/>
        </p:nvCxnSpPr>
        <p:spPr>
          <a:xfrm rot="10800000">
            <a:off x="6510353" y="3362139"/>
            <a:ext cx="963600" cy="142500"/>
          </a:xfrm>
          <a:prstGeom prst="straightConnector1">
            <a:avLst/>
          </a:prstGeom>
          <a:noFill/>
          <a:ln cap="flat" cmpd="sng" w="19050">
            <a:solidFill>
              <a:srgbClr val="000000"/>
            </a:solidFill>
            <a:prstDash val="solid"/>
            <a:round/>
            <a:headEnd len="med" w="med" type="none"/>
            <a:tailEnd len="med" w="med" type="none"/>
          </a:ln>
        </p:spPr>
      </p:cxnSp>
      <p:cxnSp>
        <p:nvCxnSpPr>
          <p:cNvPr id="1518" name="Google Shape;1518;p65"/>
          <p:cNvCxnSpPr>
            <a:stCxn id="1515" idx="2"/>
            <a:endCxn id="1505" idx="3"/>
          </p:cNvCxnSpPr>
          <p:nvPr/>
        </p:nvCxnSpPr>
        <p:spPr>
          <a:xfrm flipH="1">
            <a:off x="6918953" y="3647139"/>
            <a:ext cx="697500" cy="584700"/>
          </a:xfrm>
          <a:prstGeom prst="straightConnector1">
            <a:avLst/>
          </a:prstGeom>
          <a:noFill/>
          <a:ln cap="flat" cmpd="sng" w="19050">
            <a:solidFill>
              <a:srgbClr val="000000"/>
            </a:solidFill>
            <a:prstDash val="solid"/>
            <a:round/>
            <a:headEnd len="med" w="med" type="none"/>
            <a:tailEnd len="med" w="med" type="none"/>
          </a:ln>
        </p:spPr>
      </p:cxnSp>
      <p:sp>
        <p:nvSpPr>
          <p:cNvPr id="1519" name="Google Shape;1519;p65"/>
          <p:cNvSpPr/>
          <p:nvPr/>
        </p:nvSpPr>
        <p:spPr>
          <a:xfrm>
            <a:off x="5588950" y="1920714"/>
            <a:ext cx="285000" cy="285000"/>
          </a:xfrm>
          <a:prstGeom prst="ellipse">
            <a:avLst/>
          </a:prstGeom>
          <a:solidFill>
            <a:srgbClr val="FFFFFF">
              <a:alpha val="70000"/>
            </a:srgbClr>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G</a:t>
            </a:r>
            <a:endParaRPr>
              <a:latin typeface="Roboto"/>
              <a:ea typeface="Roboto"/>
              <a:cs typeface="Roboto"/>
              <a:sym typeface="Roboto"/>
            </a:endParaRPr>
          </a:p>
        </p:txBody>
      </p:sp>
      <p:cxnSp>
        <p:nvCxnSpPr>
          <p:cNvPr id="1520" name="Google Shape;1520;p65"/>
          <p:cNvCxnSpPr>
            <a:stCxn id="1519" idx="4"/>
            <a:endCxn id="1510" idx="0"/>
          </p:cNvCxnSpPr>
          <p:nvPr/>
        </p:nvCxnSpPr>
        <p:spPr>
          <a:xfrm>
            <a:off x="5731450" y="2205714"/>
            <a:ext cx="0" cy="283800"/>
          </a:xfrm>
          <a:prstGeom prst="straightConnector1">
            <a:avLst/>
          </a:prstGeom>
          <a:noFill/>
          <a:ln cap="flat" cmpd="sng" w="19050">
            <a:solidFill>
              <a:srgbClr val="000000"/>
            </a:solidFill>
            <a:prstDash val="solid"/>
            <a:round/>
            <a:headEnd len="med" w="med" type="none"/>
            <a:tailEnd len="med" w="med" type="none"/>
          </a:ln>
        </p:spPr>
      </p:cxnSp>
      <p:sp>
        <p:nvSpPr>
          <p:cNvPr id="1521" name="Google Shape;1521;p65"/>
          <p:cNvSpPr/>
          <p:nvPr/>
        </p:nvSpPr>
        <p:spPr>
          <a:xfrm>
            <a:off x="8087600" y="2157489"/>
            <a:ext cx="285000" cy="285000"/>
          </a:xfrm>
          <a:prstGeom prst="ellipse">
            <a:avLst/>
          </a:prstGeom>
          <a:solidFill>
            <a:srgbClr val="FFFFFF">
              <a:alpha val="70000"/>
            </a:srgbClr>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F</a:t>
            </a:r>
            <a:endParaRPr>
              <a:latin typeface="Roboto"/>
              <a:ea typeface="Roboto"/>
              <a:cs typeface="Roboto"/>
              <a:sym typeface="Roboto"/>
            </a:endParaRPr>
          </a:p>
        </p:txBody>
      </p:sp>
      <p:cxnSp>
        <p:nvCxnSpPr>
          <p:cNvPr id="1522" name="Google Shape;1522;p65"/>
          <p:cNvCxnSpPr>
            <a:stCxn id="1521" idx="2"/>
            <a:endCxn id="1514" idx="3"/>
          </p:cNvCxnSpPr>
          <p:nvPr/>
        </p:nvCxnSpPr>
        <p:spPr>
          <a:xfrm flipH="1">
            <a:off x="7474100" y="2299989"/>
            <a:ext cx="613500" cy="189600"/>
          </a:xfrm>
          <a:prstGeom prst="straightConnector1">
            <a:avLst/>
          </a:prstGeom>
          <a:noFill/>
          <a:ln cap="flat" cmpd="sng" w="19050">
            <a:solidFill>
              <a:srgbClr val="000000"/>
            </a:solidFill>
            <a:prstDash val="solid"/>
            <a:round/>
            <a:headEnd len="med" w="med" type="none"/>
            <a:tailEnd len="med" w="med" type="none"/>
          </a:ln>
        </p:spPr>
      </p:cxnSp>
      <p:sp>
        <p:nvSpPr>
          <p:cNvPr id="1523" name="Google Shape;1523;p65"/>
          <p:cNvSpPr/>
          <p:nvPr/>
        </p:nvSpPr>
        <p:spPr>
          <a:xfrm>
            <a:off x="8386925" y="3469239"/>
            <a:ext cx="285000" cy="285000"/>
          </a:xfrm>
          <a:prstGeom prst="ellipse">
            <a:avLst/>
          </a:prstGeom>
          <a:solidFill>
            <a:srgbClr val="FFFFFF">
              <a:alpha val="70000"/>
            </a:srgbClr>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E</a:t>
            </a:r>
            <a:endParaRPr>
              <a:latin typeface="Roboto"/>
              <a:ea typeface="Roboto"/>
              <a:cs typeface="Roboto"/>
              <a:sym typeface="Roboto"/>
            </a:endParaRPr>
          </a:p>
        </p:txBody>
      </p:sp>
      <p:cxnSp>
        <p:nvCxnSpPr>
          <p:cNvPr id="1524" name="Google Shape;1524;p65"/>
          <p:cNvCxnSpPr>
            <a:stCxn id="1523" idx="2"/>
            <a:endCxn id="1515" idx="3"/>
          </p:cNvCxnSpPr>
          <p:nvPr/>
        </p:nvCxnSpPr>
        <p:spPr>
          <a:xfrm rot="10800000">
            <a:off x="7759025" y="3504639"/>
            <a:ext cx="627900" cy="107100"/>
          </a:xfrm>
          <a:prstGeom prst="straightConnector1">
            <a:avLst/>
          </a:prstGeom>
          <a:noFill/>
          <a:ln cap="flat" cmpd="sng" w="19050">
            <a:solidFill>
              <a:srgbClr val="000000"/>
            </a:solidFill>
            <a:prstDash val="solid"/>
            <a:round/>
            <a:headEnd len="med" w="med" type="none"/>
            <a:tailEnd len="med" w="med" type="none"/>
          </a:ln>
        </p:spPr>
      </p:cxnSp>
      <p:cxnSp>
        <p:nvCxnSpPr>
          <p:cNvPr id="1525" name="Google Shape;1525;p65"/>
          <p:cNvCxnSpPr>
            <a:stCxn id="1526" idx="0"/>
            <a:endCxn id="1505" idx="2"/>
          </p:cNvCxnSpPr>
          <p:nvPr/>
        </p:nvCxnSpPr>
        <p:spPr>
          <a:xfrm rot="10800000">
            <a:off x="6776450" y="4374189"/>
            <a:ext cx="0" cy="280800"/>
          </a:xfrm>
          <a:prstGeom prst="straightConnector1">
            <a:avLst/>
          </a:prstGeom>
          <a:noFill/>
          <a:ln cap="flat" cmpd="sng" w="19050">
            <a:solidFill>
              <a:srgbClr val="000000"/>
            </a:solidFill>
            <a:prstDash val="solid"/>
            <a:round/>
            <a:headEnd len="med" w="med" type="none"/>
            <a:tailEnd len="med" w="med" type="none"/>
          </a:ln>
        </p:spPr>
      </p:cxnSp>
      <p:sp>
        <p:nvSpPr>
          <p:cNvPr id="1526" name="Google Shape;1526;p65"/>
          <p:cNvSpPr/>
          <p:nvPr/>
        </p:nvSpPr>
        <p:spPr>
          <a:xfrm>
            <a:off x="6633950" y="4654989"/>
            <a:ext cx="285000" cy="285000"/>
          </a:xfrm>
          <a:prstGeom prst="ellipse">
            <a:avLst/>
          </a:prstGeom>
          <a:solidFill>
            <a:srgbClr val="FFFFFF"/>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D</a:t>
            </a:r>
            <a:endParaRPr>
              <a:latin typeface="Roboto"/>
              <a:ea typeface="Roboto"/>
              <a:cs typeface="Roboto"/>
              <a:sym typeface="Roboto"/>
            </a:endParaRPr>
          </a:p>
        </p:txBody>
      </p:sp>
      <p:cxnSp>
        <p:nvCxnSpPr>
          <p:cNvPr id="1527" name="Google Shape;1527;p65"/>
          <p:cNvCxnSpPr>
            <a:stCxn id="1528" idx="0"/>
            <a:endCxn id="1503" idx="2"/>
          </p:cNvCxnSpPr>
          <p:nvPr/>
        </p:nvCxnSpPr>
        <p:spPr>
          <a:xfrm rot="10800000">
            <a:off x="5588900" y="4146489"/>
            <a:ext cx="0" cy="280800"/>
          </a:xfrm>
          <a:prstGeom prst="straightConnector1">
            <a:avLst/>
          </a:prstGeom>
          <a:noFill/>
          <a:ln cap="flat" cmpd="sng" w="19050">
            <a:solidFill>
              <a:srgbClr val="000000"/>
            </a:solidFill>
            <a:prstDash val="solid"/>
            <a:round/>
            <a:headEnd len="med" w="med" type="none"/>
            <a:tailEnd len="med" w="med" type="none"/>
          </a:ln>
        </p:spPr>
      </p:cxnSp>
      <p:sp>
        <p:nvSpPr>
          <p:cNvPr id="1528" name="Google Shape;1528;p65"/>
          <p:cNvSpPr/>
          <p:nvPr/>
        </p:nvSpPr>
        <p:spPr>
          <a:xfrm>
            <a:off x="5446400" y="4427289"/>
            <a:ext cx="285000" cy="285000"/>
          </a:xfrm>
          <a:prstGeom prst="ellipse">
            <a:avLst/>
          </a:prstGeom>
          <a:solidFill>
            <a:srgbClr val="FFFFFF"/>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C</a:t>
            </a:r>
            <a:endParaRPr>
              <a:latin typeface="Roboto"/>
              <a:ea typeface="Roboto"/>
              <a:cs typeface="Roboto"/>
              <a:sym typeface="Roboto"/>
            </a:endParaRPr>
          </a:p>
        </p:txBody>
      </p:sp>
      <p:sp>
        <p:nvSpPr>
          <p:cNvPr id="1529" name="Google Shape;1529;p65"/>
          <p:cNvSpPr txBox="1"/>
          <p:nvPr/>
        </p:nvSpPr>
        <p:spPr>
          <a:xfrm>
            <a:off x="4863363" y="3794611"/>
            <a:ext cx="2850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10</a:t>
            </a:r>
            <a:endParaRPr>
              <a:solidFill>
                <a:schemeClr val="dk1"/>
              </a:solidFill>
              <a:latin typeface="Roboto"/>
              <a:ea typeface="Roboto"/>
              <a:cs typeface="Roboto"/>
              <a:sym typeface="Roboto"/>
            </a:endParaRPr>
          </a:p>
        </p:txBody>
      </p:sp>
      <p:sp>
        <p:nvSpPr>
          <p:cNvPr id="1530" name="Google Shape;1530;p65"/>
          <p:cNvSpPr txBox="1"/>
          <p:nvPr/>
        </p:nvSpPr>
        <p:spPr>
          <a:xfrm>
            <a:off x="4929288" y="2720776"/>
            <a:ext cx="2850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2</a:t>
            </a:r>
            <a:endParaRPr>
              <a:solidFill>
                <a:schemeClr val="dk1"/>
              </a:solidFill>
              <a:latin typeface="Roboto"/>
              <a:ea typeface="Roboto"/>
              <a:cs typeface="Roboto"/>
              <a:sym typeface="Roboto"/>
            </a:endParaRPr>
          </a:p>
        </p:txBody>
      </p:sp>
      <p:sp>
        <p:nvSpPr>
          <p:cNvPr id="1531" name="Google Shape;1531;p65"/>
          <p:cNvSpPr txBox="1"/>
          <p:nvPr/>
        </p:nvSpPr>
        <p:spPr>
          <a:xfrm>
            <a:off x="6130375" y="2760176"/>
            <a:ext cx="2850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1</a:t>
            </a:r>
            <a:endParaRPr>
              <a:solidFill>
                <a:schemeClr val="dk1"/>
              </a:solidFill>
              <a:latin typeface="Roboto"/>
              <a:ea typeface="Roboto"/>
              <a:cs typeface="Roboto"/>
              <a:sym typeface="Roboto"/>
            </a:endParaRPr>
          </a:p>
        </p:txBody>
      </p:sp>
      <p:sp>
        <p:nvSpPr>
          <p:cNvPr id="1532" name="Google Shape;1532;p65"/>
          <p:cNvSpPr txBox="1"/>
          <p:nvPr/>
        </p:nvSpPr>
        <p:spPr>
          <a:xfrm>
            <a:off x="6388950" y="2304251"/>
            <a:ext cx="2850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4</a:t>
            </a:r>
            <a:endParaRPr>
              <a:solidFill>
                <a:schemeClr val="dk1"/>
              </a:solidFill>
              <a:latin typeface="Roboto"/>
              <a:ea typeface="Roboto"/>
              <a:cs typeface="Roboto"/>
              <a:sym typeface="Roboto"/>
            </a:endParaRPr>
          </a:p>
        </p:txBody>
      </p:sp>
      <p:sp>
        <p:nvSpPr>
          <p:cNvPr id="1533" name="Google Shape;1533;p65"/>
          <p:cNvSpPr txBox="1"/>
          <p:nvPr/>
        </p:nvSpPr>
        <p:spPr>
          <a:xfrm>
            <a:off x="7452425" y="2811301"/>
            <a:ext cx="2850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4</a:t>
            </a:r>
            <a:endParaRPr>
              <a:solidFill>
                <a:schemeClr val="dk1"/>
              </a:solidFill>
              <a:latin typeface="Roboto"/>
              <a:ea typeface="Roboto"/>
              <a:cs typeface="Roboto"/>
              <a:sym typeface="Roboto"/>
            </a:endParaRPr>
          </a:p>
        </p:txBody>
      </p:sp>
      <p:sp>
        <p:nvSpPr>
          <p:cNvPr id="1534" name="Google Shape;1534;p65"/>
          <p:cNvSpPr txBox="1"/>
          <p:nvPr/>
        </p:nvSpPr>
        <p:spPr>
          <a:xfrm>
            <a:off x="6878325" y="3184351"/>
            <a:ext cx="2850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10</a:t>
            </a:r>
            <a:endParaRPr>
              <a:solidFill>
                <a:schemeClr val="dk1"/>
              </a:solidFill>
              <a:latin typeface="Roboto"/>
              <a:ea typeface="Roboto"/>
              <a:cs typeface="Roboto"/>
              <a:sym typeface="Roboto"/>
            </a:endParaRPr>
          </a:p>
        </p:txBody>
      </p:sp>
      <p:sp>
        <p:nvSpPr>
          <p:cNvPr id="1535" name="Google Shape;1535;p65"/>
          <p:cNvSpPr txBox="1"/>
          <p:nvPr/>
        </p:nvSpPr>
        <p:spPr>
          <a:xfrm>
            <a:off x="7251375" y="3868476"/>
            <a:ext cx="2850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10</a:t>
            </a:r>
            <a:endParaRPr>
              <a:solidFill>
                <a:schemeClr val="dk1"/>
              </a:solidFill>
              <a:latin typeface="Roboto"/>
              <a:ea typeface="Roboto"/>
              <a:cs typeface="Roboto"/>
              <a:sym typeface="Roboto"/>
            </a:endParaRPr>
          </a:p>
        </p:txBody>
      </p:sp>
      <p:sp>
        <p:nvSpPr>
          <p:cNvPr id="1536" name="Google Shape;1536;p65"/>
          <p:cNvSpPr txBox="1"/>
          <p:nvPr/>
        </p:nvSpPr>
        <p:spPr>
          <a:xfrm>
            <a:off x="6643300" y="3611751"/>
            <a:ext cx="2850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4</a:t>
            </a:r>
            <a:endParaRPr>
              <a:solidFill>
                <a:schemeClr val="dk1"/>
              </a:solidFill>
              <a:latin typeface="Roboto"/>
              <a:ea typeface="Roboto"/>
              <a:cs typeface="Roboto"/>
              <a:sym typeface="Roboto"/>
            </a:endParaRPr>
          </a:p>
        </p:txBody>
      </p:sp>
      <p:sp>
        <p:nvSpPr>
          <p:cNvPr id="1537" name="Google Shape;1537;p65"/>
          <p:cNvSpPr txBox="1"/>
          <p:nvPr/>
        </p:nvSpPr>
        <p:spPr>
          <a:xfrm>
            <a:off x="6063850" y="4103401"/>
            <a:ext cx="2850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5</a:t>
            </a:r>
            <a:endParaRPr>
              <a:solidFill>
                <a:schemeClr val="dk1"/>
              </a:solidFill>
              <a:latin typeface="Roboto"/>
              <a:ea typeface="Roboto"/>
              <a:cs typeface="Roboto"/>
              <a:sym typeface="Roboto"/>
            </a:endParaRPr>
          </a:p>
        </p:txBody>
      </p:sp>
      <p:sp>
        <p:nvSpPr>
          <p:cNvPr id="1538" name="Google Shape;1538;p65"/>
          <p:cNvSpPr txBox="1"/>
          <p:nvPr/>
        </p:nvSpPr>
        <p:spPr>
          <a:xfrm>
            <a:off x="5603988" y="3432301"/>
            <a:ext cx="2850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10</a:t>
            </a:r>
            <a:endParaRPr>
              <a:solidFill>
                <a:schemeClr val="dk1"/>
              </a:solidFill>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2" name="Shape 1542"/>
        <p:cNvGrpSpPr/>
        <p:nvPr/>
      </p:nvGrpSpPr>
      <p:grpSpPr>
        <a:xfrm>
          <a:off x="0" y="0"/>
          <a:ext cx="0" cy="0"/>
          <a:chOff x="0" y="0"/>
          <a:chExt cx="0" cy="0"/>
        </a:xfrm>
      </p:grpSpPr>
      <p:sp>
        <p:nvSpPr>
          <p:cNvPr id="1543" name="Google Shape;1543;p66"/>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Congestion Control Challenges: Depends on Indirect Competition</a:t>
            </a:r>
            <a:endParaRPr/>
          </a:p>
        </p:txBody>
      </p:sp>
      <p:sp>
        <p:nvSpPr>
          <p:cNvPr id="1544" name="Google Shape;1544;p66"/>
          <p:cNvSpPr txBox="1"/>
          <p:nvPr>
            <p:ph idx="1" type="body"/>
          </p:nvPr>
        </p:nvSpPr>
        <p:spPr>
          <a:xfrm>
            <a:off x="107050" y="402200"/>
            <a:ext cx="8909700" cy="2087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What if </a:t>
            </a:r>
            <a:r>
              <a:rPr lang="en">
                <a:solidFill>
                  <a:srgbClr val="0000FF"/>
                </a:solidFill>
              </a:rPr>
              <a:t>G → D</a:t>
            </a:r>
            <a:r>
              <a:rPr lang="en"/>
              <a:t> starts sending traffic?</a:t>
            </a:r>
            <a:endParaRPr/>
          </a:p>
          <a:p>
            <a:pPr indent="-342900" lvl="0" marL="457200" rtl="0" algn="l">
              <a:spcBef>
                <a:spcPts val="600"/>
              </a:spcBef>
              <a:spcAft>
                <a:spcPts val="0"/>
              </a:spcAft>
              <a:buSzPts val="1800"/>
              <a:buChar char="●"/>
            </a:pPr>
            <a:r>
              <a:rPr lang="en"/>
              <a:t>Maybe </a:t>
            </a:r>
            <a:r>
              <a:rPr lang="en">
                <a:solidFill>
                  <a:srgbClr val="FF00FF"/>
                </a:solidFill>
              </a:rPr>
              <a:t>B → E</a:t>
            </a:r>
            <a:r>
              <a:rPr lang="en"/>
              <a:t> should slow to 0.5 Gbps.</a:t>
            </a:r>
            <a:endParaRPr/>
          </a:p>
          <a:p>
            <a:pPr indent="-342900" lvl="0" marL="457200" rtl="0" algn="l">
              <a:spcBef>
                <a:spcPts val="0"/>
              </a:spcBef>
              <a:spcAft>
                <a:spcPts val="0"/>
              </a:spcAft>
              <a:buSzPts val="1800"/>
              <a:buChar char="●"/>
            </a:pPr>
            <a:r>
              <a:rPr lang="en"/>
              <a:t>Then </a:t>
            </a:r>
            <a:r>
              <a:rPr lang="en">
                <a:solidFill>
                  <a:srgbClr val="BF9000"/>
                </a:solidFill>
              </a:rPr>
              <a:t>A → F</a:t>
            </a:r>
            <a:r>
              <a:rPr lang="en"/>
              <a:t> could increase to 1.5 Gbps.</a:t>
            </a:r>
            <a:endParaRPr/>
          </a:p>
          <a:p>
            <a:pPr indent="0" lvl="0" marL="0" rtl="0" algn="l">
              <a:spcBef>
                <a:spcPts val="600"/>
              </a:spcBef>
              <a:spcAft>
                <a:spcPts val="0"/>
              </a:spcAft>
              <a:buNone/>
            </a:pPr>
            <a:r>
              <a:rPr lang="en">
                <a:solidFill>
                  <a:srgbClr val="0000FF"/>
                </a:solidFill>
              </a:rPr>
              <a:t>G → D</a:t>
            </a:r>
            <a:r>
              <a:rPr lang="en"/>
              <a:t> and </a:t>
            </a:r>
            <a:r>
              <a:rPr lang="en">
                <a:solidFill>
                  <a:srgbClr val="BF9000"/>
                </a:solidFill>
              </a:rPr>
              <a:t>A → F</a:t>
            </a:r>
            <a:r>
              <a:rPr lang="en"/>
              <a:t> share no links, but they</a:t>
            </a:r>
            <a:br>
              <a:rPr lang="en"/>
            </a:br>
            <a:r>
              <a:rPr lang="en"/>
              <a:t>still affected each other's bandwidth.</a:t>
            </a:r>
            <a:endParaRPr/>
          </a:p>
        </p:txBody>
      </p:sp>
      <p:sp>
        <p:nvSpPr>
          <p:cNvPr id="1545" name="Google Shape;1545;p66"/>
          <p:cNvSpPr/>
          <p:nvPr/>
        </p:nvSpPr>
        <p:spPr>
          <a:xfrm>
            <a:off x="3897375" y="2713714"/>
            <a:ext cx="285000" cy="285000"/>
          </a:xfrm>
          <a:prstGeom prst="ellipse">
            <a:avLst/>
          </a:prstGeom>
          <a:solidFill>
            <a:srgbClr val="FFFFFF"/>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sp>
        <p:nvSpPr>
          <p:cNvPr id="1546" name="Google Shape;1546;p66"/>
          <p:cNvSpPr/>
          <p:nvPr/>
        </p:nvSpPr>
        <p:spPr>
          <a:xfrm>
            <a:off x="3499850" y="3362139"/>
            <a:ext cx="285000" cy="285000"/>
          </a:xfrm>
          <a:prstGeom prst="ellipse">
            <a:avLst/>
          </a:prstGeom>
          <a:solidFill>
            <a:srgbClr val="FFFFFF"/>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cxnSp>
        <p:nvCxnSpPr>
          <p:cNvPr id="1547" name="Google Shape;1547;p66"/>
          <p:cNvCxnSpPr>
            <a:stCxn id="1545" idx="5"/>
            <a:endCxn id="1548" idx="1"/>
          </p:cNvCxnSpPr>
          <p:nvPr/>
        </p:nvCxnSpPr>
        <p:spPr>
          <a:xfrm>
            <a:off x="4140638" y="2956977"/>
            <a:ext cx="474000" cy="474000"/>
          </a:xfrm>
          <a:prstGeom prst="straightConnector1">
            <a:avLst/>
          </a:prstGeom>
          <a:noFill/>
          <a:ln cap="flat" cmpd="sng" w="19050">
            <a:solidFill>
              <a:srgbClr val="000000"/>
            </a:solidFill>
            <a:prstDash val="solid"/>
            <a:round/>
            <a:headEnd len="med" w="med" type="none"/>
            <a:tailEnd len="med" w="med" type="none"/>
          </a:ln>
        </p:spPr>
      </p:cxnSp>
      <p:cxnSp>
        <p:nvCxnSpPr>
          <p:cNvPr id="1549" name="Google Shape;1549;p66"/>
          <p:cNvCxnSpPr>
            <a:stCxn id="1546" idx="6"/>
            <a:endCxn id="1548" idx="1"/>
          </p:cNvCxnSpPr>
          <p:nvPr/>
        </p:nvCxnSpPr>
        <p:spPr>
          <a:xfrm flipH="1" rot="10800000">
            <a:off x="3784850" y="3430839"/>
            <a:ext cx="829800" cy="73800"/>
          </a:xfrm>
          <a:prstGeom prst="straightConnector1">
            <a:avLst/>
          </a:prstGeom>
          <a:noFill/>
          <a:ln cap="flat" cmpd="sng" w="19050">
            <a:solidFill>
              <a:srgbClr val="000000"/>
            </a:solidFill>
            <a:prstDash val="solid"/>
            <a:round/>
            <a:headEnd len="med" w="med" type="none"/>
            <a:tailEnd len="med" w="med" type="none"/>
          </a:ln>
        </p:spPr>
      </p:cxnSp>
      <p:cxnSp>
        <p:nvCxnSpPr>
          <p:cNvPr id="1550" name="Google Shape;1550;p66"/>
          <p:cNvCxnSpPr>
            <a:stCxn id="1548" idx="2"/>
            <a:endCxn id="1551" idx="1"/>
          </p:cNvCxnSpPr>
          <p:nvPr/>
        </p:nvCxnSpPr>
        <p:spPr>
          <a:xfrm>
            <a:off x="4757178" y="3573464"/>
            <a:ext cx="689100" cy="430500"/>
          </a:xfrm>
          <a:prstGeom prst="straightConnector1">
            <a:avLst/>
          </a:prstGeom>
          <a:noFill/>
          <a:ln cap="flat" cmpd="sng" w="19050">
            <a:solidFill>
              <a:srgbClr val="000000"/>
            </a:solidFill>
            <a:prstDash val="solid"/>
            <a:round/>
            <a:headEnd len="med" w="med" type="none"/>
            <a:tailEnd len="med" w="med" type="none"/>
          </a:ln>
        </p:spPr>
      </p:cxnSp>
      <p:cxnSp>
        <p:nvCxnSpPr>
          <p:cNvPr id="1552" name="Google Shape;1552;p66"/>
          <p:cNvCxnSpPr>
            <a:stCxn id="1551" idx="3"/>
            <a:endCxn id="1553" idx="1"/>
          </p:cNvCxnSpPr>
          <p:nvPr/>
        </p:nvCxnSpPr>
        <p:spPr>
          <a:xfrm>
            <a:off x="5731403" y="4003914"/>
            <a:ext cx="902700" cy="228000"/>
          </a:xfrm>
          <a:prstGeom prst="straightConnector1">
            <a:avLst/>
          </a:prstGeom>
          <a:noFill/>
          <a:ln cap="flat" cmpd="sng" w="19050">
            <a:solidFill>
              <a:srgbClr val="000000"/>
            </a:solidFill>
            <a:prstDash val="solid"/>
            <a:round/>
            <a:headEnd len="med" w="med" type="none"/>
            <a:tailEnd len="med" w="med" type="none"/>
          </a:ln>
        </p:spPr>
      </p:cxnSp>
      <p:cxnSp>
        <p:nvCxnSpPr>
          <p:cNvPr id="1554" name="Google Shape;1554;p66"/>
          <p:cNvCxnSpPr>
            <a:stCxn id="1555" idx="1"/>
            <a:endCxn id="1551" idx="0"/>
          </p:cNvCxnSpPr>
          <p:nvPr/>
        </p:nvCxnSpPr>
        <p:spPr>
          <a:xfrm flipH="1">
            <a:off x="5588953" y="3362139"/>
            <a:ext cx="636300" cy="499200"/>
          </a:xfrm>
          <a:prstGeom prst="straightConnector1">
            <a:avLst/>
          </a:prstGeom>
          <a:noFill/>
          <a:ln cap="flat" cmpd="sng" w="19050">
            <a:solidFill>
              <a:srgbClr val="000000"/>
            </a:solidFill>
            <a:prstDash val="solid"/>
            <a:round/>
            <a:headEnd len="med" w="med" type="none"/>
            <a:tailEnd len="med" w="med" type="none"/>
          </a:ln>
        </p:spPr>
      </p:cxnSp>
      <p:cxnSp>
        <p:nvCxnSpPr>
          <p:cNvPr id="1556" name="Google Shape;1556;p66"/>
          <p:cNvCxnSpPr>
            <a:stCxn id="1555" idx="3"/>
            <a:endCxn id="1553" idx="0"/>
          </p:cNvCxnSpPr>
          <p:nvPr/>
        </p:nvCxnSpPr>
        <p:spPr>
          <a:xfrm>
            <a:off x="6510253" y="3362139"/>
            <a:ext cx="266100" cy="727200"/>
          </a:xfrm>
          <a:prstGeom prst="straightConnector1">
            <a:avLst/>
          </a:prstGeom>
          <a:noFill/>
          <a:ln cap="flat" cmpd="sng" w="19050">
            <a:solidFill>
              <a:srgbClr val="000000"/>
            </a:solidFill>
            <a:prstDash val="solid"/>
            <a:round/>
            <a:headEnd len="med" w="med" type="none"/>
            <a:tailEnd len="med" w="med" type="none"/>
          </a:ln>
        </p:spPr>
      </p:cxnSp>
      <p:cxnSp>
        <p:nvCxnSpPr>
          <p:cNvPr id="1557" name="Google Shape;1557;p66"/>
          <p:cNvCxnSpPr>
            <a:stCxn id="1558" idx="1"/>
            <a:endCxn id="1548" idx="0"/>
          </p:cNvCxnSpPr>
          <p:nvPr/>
        </p:nvCxnSpPr>
        <p:spPr>
          <a:xfrm flipH="1">
            <a:off x="4757053" y="2631989"/>
            <a:ext cx="831900" cy="656400"/>
          </a:xfrm>
          <a:prstGeom prst="straightConnector1">
            <a:avLst/>
          </a:prstGeom>
          <a:noFill/>
          <a:ln cap="flat" cmpd="sng" w="19050">
            <a:solidFill>
              <a:srgbClr val="000000"/>
            </a:solidFill>
            <a:prstDash val="solid"/>
            <a:round/>
            <a:headEnd len="med" w="med" type="none"/>
            <a:tailEnd len="med" w="med" type="none"/>
          </a:ln>
        </p:spPr>
      </p:cxnSp>
      <p:cxnSp>
        <p:nvCxnSpPr>
          <p:cNvPr id="1559" name="Google Shape;1559;p66"/>
          <p:cNvCxnSpPr>
            <a:stCxn id="1558" idx="3"/>
            <a:endCxn id="1555" idx="0"/>
          </p:cNvCxnSpPr>
          <p:nvPr/>
        </p:nvCxnSpPr>
        <p:spPr>
          <a:xfrm>
            <a:off x="5873953" y="2631989"/>
            <a:ext cx="493800" cy="587700"/>
          </a:xfrm>
          <a:prstGeom prst="straightConnector1">
            <a:avLst/>
          </a:prstGeom>
          <a:noFill/>
          <a:ln cap="flat" cmpd="sng" w="19050">
            <a:solidFill>
              <a:srgbClr val="000000"/>
            </a:solidFill>
            <a:prstDash val="solid"/>
            <a:round/>
            <a:headEnd len="med" w="med" type="none"/>
            <a:tailEnd len="med" w="med" type="none"/>
          </a:ln>
        </p:spPr>
      </p:cxnSp>
      <p:cxnSp>
        <p:nvCxnSpPr>
          <p:cNvPr id="1560" name="Google Shape;1560;p66"/>
          <p:cNvCxnSpPr>
            <a:stCxn id="1558" idx="3"/>
            <a:endCxn id="1561" idx="1"/>
          </p:cNvCxnSpPr>
          <p:nvPr/>
        </p:nvCxnSpPr>
        <p:spPr>
          <a:xfrm flipH="1" rot="10800000">
            <a:off x="5873953" y="2489489"/>
            <a:ext cx="1314900" cy="142500"/>
          </a:xfrm>
          <a:prstGeom prst="straightConnector1">
            <a:avLst/>
          </a:prstGeom>
          <a:noFill/>
          <a:ln cap="flat" cmpd="sng" w="19050">
            <a:solidFill>
              <a:srgbClr val="000000"/>
            </a:solidFill>
            <a:prstDash val="solid"/>
            <a:round/>
            <a:headEnd len="med" w="med" type="none"/>
            <a:tailEnd len="med" w="med" type="none"/>
          </a:ln>
        </p:spPr>
      </p:cxnSp>
      <p:cxnSp>
        <p:nvCxnSpPr>
          <p:cNvPr id="1562" name="Google Shape;1562;p66"/>
          <p:cNvCxnSpPr>
            <a:stCxn id="1563" idx="0"/>
            <a:endCxn id="1561" idx="2"/>
          </p:cNvCxnSpPr>
          <p:nvPr/>
        </p:nvCxnSpPr>
        <p:spPr>
          <a:xfrm rot="10800000">
            <a:off x="7331453" y="2631939"/>
            <a:ext cx="285000" cy="730200"/>
          </a:xfrm>
          <a:prstGeom prst="straightConnector1">
            <a:avLst/>
          </a:prstGeom>
          <a:noFill/>
          <a:ln cap="flat" cmpd="sng" w="19050">
            <a:solidFill>
              <a:srgbClr val="000000"/>
            </a:solidFill>
            <a:prstDash val="solid"/>
            <a:round/>
            <a:headEnd len="med" w="med" type="none"/>
            <a:tailEnd len="med" w="med" type="none"/>
          </a:ln>
        </p:spPr>
      </p:cxnSp>
      <p:cxnSp>
        <p:nvCxnSpPr>
          <p:cNvPr id="1564" name="Google Shape;1564;p66"/>
          <p:cNvCxnSpPr>
            <a:stCxn id="1563" idx="1"/>
            <a:endCxn id="1555" idx="3"/>
          </p:cNvCxnSpPr>
          <p:nvPr/>
        </p:nvCxnSpPr>
        <p:spPr>
          <a:xfrm rot="10800000">
            <a:off x="6510353" y="3362139"/>
            <a:ext cx="963600" cy="142500"/>
          </a:xfrm>
          <a:prstGeom prst="straightConnector1">
            <a:avLst/>
          </a:prstGeom>
          <a:noFill/>
          <a:ln cap="flat" cmpd="sng" w="19050">
            <a:solidFill>
              <a:srgbClr val="000000"/>
            </a:solidFill>
            <a:prstDash val="solid"/>
            <a:round/>
            <a:headEnd len="med" w="med" type="none"/>
            <a:tailEnd len="med" w="med" type="none"/>
          </a:ln>
        </p:spPr>
      </p:cxnSp>
      <p:cxnSp>
        <p:nvCxnSpPr>
          <p:cNvPr id="1565" name="Google Shape;1565;p66"/>
          <p:cNvCxnSpPr>
            <a:stCxn id="1563" idx="2"/>
            <a:endCxn id="1553" idx="3"/>
          </p:cNvCxnSpPr>
          <p:nvPr/>
        </p:nvCxnSpPr>
        <p:spPr>
          <a:xfrm flipH="1">
            <a:off x="6918953" y="3647139"/>
            <a:ext cx="697500" cy="584700"/>
          </a:xfrm>
          <a:prstGeom prst="straightConnector1">
            <a:avLst/>
          </a:prstGeom>
          <a:noFill/>
          <a:ln cap="flat" cmpd="sng" w="19050">
            <a:solidFill>
              <a:srgbClr val="000000"/>
            </a:solidFill>
            <a:prstDash val="solid"/>
            <a:round/>
            <a:headEnd len="med" w="med" type="none"/>
            <a:tailEnd len="med" w="med" type="none"/>
          </a:ln>
        </p:spPr>
      </p:cxnSp>
      <p:sp>
        <p:nvSpPr>
          <p:cNvPr id="1566" name="Google Shape;1566;p66"/>
          <p:cNvSpPr/>
          <p:nvPr/>
        </p:nvSpPr>
        <p:spPr>
          <a:xfrm>
            <a:off x="5588950" y="1920714"/>
            <a:ext cx="285000" cy="285000"/>
          </a:xfrm>
          <a:prstGeom prst="ellipse">
            <a:avLst/>
          </a:prstGeom>
          <a:solidFill>
            <a:srgbClr val="FFFFFF"/>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G</a:t>
            </a:r>
            <a:endParaRPr>
              <a:latin typeface="Roboto"/>
              <a:ea typeface="Roboto"/>
              <a:cs typeface="Roboto"/>
              <a:sym typeface="Roboto"/>
            </a:endParaRPr>
          </a:p>
        </p:txBody>
      </p:sp>
      <p:cxnSp>
        <p:nvCxnSpPr>
          <p:cNvPr id="1567" name="Google Shape;1567;p66"/>
          <p:cNvCxnSpPr>
            <a:stCxn id="1566" idx="4"/>
            <a:endCxn id="1558" idx="0"/>
          </p:cNvCxnSpPr>
          <p:nvPr/>
        </p:nvCxnSpPr>
        <p:spPr>
          <a:xfrm>
            <a:off x="5731450" y="2205714"/>
            <a:ext cx="0" cy="283800"/>
          </a:xfrm>
          <a:prstGeom prst="straightConnector1">
            <a:avLst/>
          </a:prstGeom>
          <a:noFill/>
          <a:ln cap="flat" cmpd="sng" w="19050">
            <a:solidFill>
              <a:srgbClr val="000000"/>
            </a:solidFill>
            <a:prstDash val="solid"/>
            <a:round/>
            <a:headEnd len="med" w="med" type="none"/>
            <a:tailEnd len="med" w="med" type="none"/>
          </a:ln>
        </p:spPr>
      </p:cxnSp>
      <p:sp>
        <p:nvSpPr>
          <p:cNvPr id="1568" name="Google Shape;1568;p66"/>
          <p:cNvSpPr/>
          <p:nvPr/>
        </p:nvSpPr>
        <p:spPr>
          <a:xfrm>
            <a:off x="8087600" y="2157489"/>
            <a:ext cx="285000" cy="285000"/>
          </a:xfrm>
          <a:prstGeom prst="ellipse">
            <a:avLst/>
          </a:prstGeom>
          <a:solidFill>
            <a:srgbClr val="FFFFFF"/>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F</a:t>
            </a:r>
            <a:endParaRPr>
              <a:latin typeface="Roboto"/>
              <a:ea typeface="Roboto"/>
              <a:cs typeface="Roboto"/>
              <a:sym typeface="Roboto"/>
            </a:endParaRPr>
          </a:p>
        </p:txBody>
      </p:sp>
      <p:cxnSp>
        <p:nvCxnSpPr>
          <p:cNvPr id="1569" name="Google Shape;1569;p66"/>
          <p:cNvCxnSpPr>
            <a:stCxn id="1568" idx="2"/>
            <a:endCxn id="1561" idx="3"/>
          </p:cNvCxnSpPr>
          <p:nvPr/>
        </p:nvCxnSpPr>
        <p:spPr>
          <a:xfrm flipH="1">
            <a:off x="7474100" y="2299989"/>
            <a:ext cx="613500" cy="189600"/>
          </a:xfrm>
          <a:prstGeom prst="straightConnector1">
            <a:avLst/>
          </a:prstGeom>
          <a:noFill/>
          <a:ln cap="flat" cmpd="sng" w="19050">
            <a:solidFill>
              <a:srgbClr val="000000"/>
            </a:solidFill>
            <a:prstDash val="solid"/>
            <a:round/>
            <a:headEnd len="med" w="med" type="none"/>
            <a:tailEnd len="med" w="med" type="none"/>
          </a:ln>
        </p:spPr>
      </p:cxnSp>
      <p:sp>
        <p:nvSpPr>
          <p:cNvPr id="1570" name="Google Shape;1570;p66"/>
          <p:cNvSpPr/>
          <p:nvPr/>
        </p:nvSpPr>
        <p:spPr>
          <a:xfrm>
            <a:off x="8386925" y="3469239"/>
            <a:ext cx="285000" cy="285000"/>
          </a:xfrm>
          <a:prstGeom prst="ellipse">
            <a:avLst/>
          </a:prstGeom>
          <a:solidFill>
            <a:srgbClr val="FFFFFF"/>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E</a:t>
            </a:r>
            <a:endParaRPr>
              <a:latin typeface="Roboto"/>
              <a:ea typeface="Roboto"/>
              <a:cs typeface="Roboto"/>
              <a:sym typeface="Roboto"/>
            </a:endParaRPr>
          </a:p>
        </p:txBody>
      </p:sp>
      <p:cxnSp>
        <p:nvCxnSpPr>
          <p:cNvPr id="1571" name="Google Shape;1571;p66"/>
          <p:cNvCxnSpPr>
            <a:stCxn id="1570" idx="2"/>
            <a:endCxn id="1563" idx="3"/>
          </p:cNvCxnSpPr>
          <p:nvPr/>
        </p:nvCxnSpPr>
        <p:spPr>
          <a:xfrm rot="10800000">
            <a:off x="7759025" y="3504639"/>
            <a:ext cx="627900" cy="107100"/>
          </a:xfrm>
          <a:prstGeom prst="straightConnector1">
            <a:avLst/>
          </a:prstGeom>
          <a:noFill/>
          <a:ln cap="flat" cmpd="sng" w="19050">
            <a:solidFill>
              <a:srgbClr val="000000"/>
            </a:solidFill>
            <a:prstDash val="solid"/>
            <a:round/>
            <a:headEnd len="med" w="med" type="none"/>
            <a:tailEnd len="med" w="med" type="none"/>
          </a:ln>
        </p:spPr>
      </p:cxnSp>
      <p:cxnSp>
        <p:nvCxnSpPr>
          <p:cNvPr id="1572" name="Google Shape;1572;p66"/>
          <p:cNvCxnSpPr>
            <a:stCxn id="1573" idx="0"/>
            <a:endCxn id="1553" idx="2"/>
          </p:cNvCxnSpPr>
          <p:nvPr/>
        </p:nvCxnSpPr>
        <p:spPr>
          <a:xfrm rot="10800000">
            <a:off x="6776450" y="4374189"/>
            <a:ext cx="0" cy="280800"/>
          </a:xfrm>
          <a:prstGeom prst="straightConnector1">
            <a:avLst/>
          </a:prstGeom>
          <a:noFill/>
          <a:ln cap="flat" cmpd="sng" w="19050">
            <a:solidFill>
              <a:srgbClr val="000000"/>
            </a:solidFill>
            <a:prstDash val="solid"/>
            <a:round/>
            <a:headEnd len="med" w="med" type="none"/>
            <a:tailEnd len="med" w="med" type="none"/>
          </a:ln>
        </p:spPr>
      </p:cxnSp>
      <p:sp>
        <p:nvSpPr>
          <p:cNvPr id="1573" name="Google Shape;1573;p66"/>
          <p:cNvSpPr/>
          <p:nvPr/>
        </p:nvSpPr>
        <p:spPr>
          <a:xfrm>
            <a:off x="6633950" y="4654989"/>
            <a:ext cx="285000" cy="285000"/>
          </a:xfrm>
          <a:prstGeom prst="ellipse">
            <a:avLst/>
          </a:prstGeom>
          <a:solidFill>
            <a:srgbClr val="FFFFFF"/>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D</a:t>
            </a:r>
            <a:endParaRPr>
              <a:latin typeface="Roboto"/>
              <a:ea typeface="Roboto"/>
              <a:cs typeface="Roboto"/>
              <a:sym typeface="Roboto"/>
            </a:endParaRPr>
          </a:p>
        </p:txBody>
      </p:sp>
      <p:cxnSp>
        <p:nvCxnSpPr>
          <p:cNvPr id="1574" name="Google Shape;1574;p66"/>
          <p:cNvCxnSpPr>
            <a:stCxn id="1575" idx="0"/>
            <a:endCxn id="1551" idx="2"/>
          </p:cNvCxnSpPr>
          <p:nvPr/>
        </p:nvCxnSpPr>
        <p:spPr>
          <a:xfrm rot="10800000">
            <a:off x="5588900" y="4146489"/>
            <a:ext cx="0" cy="280800"/>
          </a:xfrm>
          <a:prstGeom prst="straightConnector1">
            <a:avLst/>
          </a:prstGeom>
          <a:noFill/>
          <a:ln cap="flat" cmpd="sng" w="19050">
            <a:solidFill>
              <a:srgbClr val="000000"/>
            </a:solidFill>
            <a:prstDash val="solid"/>
            <a:round/>
            <a:headEnd len="med" w="med" type="none"/>
            <a:tailEnd len="med" w="med" type="none"/>
          </a:ln>
        </p:spPr>
      </p:cxnSp>
      <p:sp>
        <p:nvSpPr>
          <p:cNvPr id="1575" name="Google Shape;1575;p66"/>
          <p:cNvSpPr/>
          <p:nvPr/>
        </p:nvSpPr>
        <p:spPr>
          <a:xfrm>
            <a:off x="5446400" y="4427289"/>
            <a:ext cx="285000" cy="285000"/>
          </a:xfrm>
          <a:prstGeom prst="ellipse">
            <a:avLst/>
          </a:prstGeom>
          <a:solidFill>
            <a:srgbClr val="FFFFFF"/>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C</a:t>
            </a:r>
            <a:endParaRPr>
              <a:latin typeface="Roboto"/>
              <a:ea typeface="Roboto"/>
              <a:cs typeface="Roboto"/>
              <a:sym typeface="Roboto"/>
            </a:endParaRPr>
          </a:p>
        </p:txBody>
      </p:sp>
      <p:sp>
        <p:nvSpPr>
          <p:cNvPr id="1576" name="Google Shape;1576;p66"/>
          <p:cNvSpPr txBox="1"/>
          <p:nvPr/>
        </p:nvSpPr>
        <p:spPr>
          <a:xfrm>
            <a:off x="4863363" y="3794611"/>
            <a:ext cx="2850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10</a:t>
            </a:r>
            <a:endParaRPr>
              <a:solidFill>
                <a:schemeClr val="dk1"/>
              </a:solidFill>
              <a:latin typeface="Roboto"/>
              <a:ea typeface="Roboto"/>
              <a:cs typeface="Roboto"/>
              <a:sym typeface="Roboto"/>
            </a:endParaRPr>
          </a:p>
        </p:txBody>
      </p:sp>
      <p:sp>
        <p:nvSpPr>
          <p:cNvPr id="1577" name="Google Shape;1577;p66"/>
          <p:cNvSpPr txBox="1"/>
          <p:nvPr/>
        </p:nvSpPr>
        <p:spPr>
          <a:xfrm>
            <a:off x="4929288" y="2720776"/>
            <a:ext cx="2850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2</a:t>
            </a:r>
            <a:endParaRPr>
              <a:solidFill>
                <a:schemeClr val="dk1"/>
              </a:solidFill>
              <a:latin typeface="Roboto"/>
              <a:ea typeface="Roboto"/>
              <a:cs typeface="Roboto"/>
              <a:sym typeface="Roboto"/>
            </a:endParaRPr>
          </a:p>
        </p:txBody>
      </p:sp>
      <p:sp>
        <p:nvSpPr>
          <p:cNvPr id="1578" name="Google Shape;1578;p66"/>
          <p:cNvSpPr txBox="1"/>
          <p:nvPr/>
        </p:nvSpPr>
        <p:spPr>
          <a:xfrm>
            <a:off x="6130375" y="2760176"/>
            <a:ext cx="2850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1</a:t>
            </a:r>
            <a:endParaRPr>
              <a:solidFill>
                <a:schemeClr val="dk1"/>
              </a:solidFill>
              <a:latin typeface="Roboto"/>
              <a:ea typeface="Roboto"/>
              <a:cs typeface="Roboto"/>
              <a:sym typeface="Roboto"/>
            </a:endParaRPr>
          </a:p>
        </p:txBody>
      </p:sp>
      <p:sp>
        <p:nvSpPr>
          <p:cNvPr id="1579" name="Google Shape;1579;p66"/>
          <p:cNvSpPr txBox="1"/>
          <p:nvPr/>
        </p:nvSpPr>
        <p:spPr>
          <a:xfrm>
            <a:off x="6388950" y="2304251"/>
            <a:ext cx="2850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4</a:t>
            </a:r>
            <a:endParaRPr>
              <a:solidFill>
                <a:schemeClr val="dk1"/>
              </a:solidFill>
              <a:latin typeface="Roboto"/>
              <a:ea typeface="Roboto"/>
              <a:cs typeface="Roboto"/>
              <a:sym typeface="Roboto"/>
            </a:endParaRPr>
          </a:p>
        </p:txBody>
      </p:sp>
      <p:sp>
        <p:nvSpPr>
          <p:cNvPr id="1580" name="Google Shape;1580;p66"/>
          <p:cNvSpPr txBox="1"/>
          <p:nvPr/>
        </p:nvSpPr>
        <p:spPr>
          <a:xfrm>
            <a:off x="7452425" y="2811301"/>
            <a:ext cx="2850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4</a:t>
            </a:r>
            <a:endParaRPr>
              <a:solidFill>
                <a:schemeClr val="dk1"/>
              </a:solidFill>
              <a:latin typeface="Roboto"/>
              <a:ea typeface="Roboto"/>
              <a:cs typeface="Roboto"/>
              <a:sym typeface="Roboto"/>
            </a:endParaRPr>
          </a:p>
        </p:txBody>
      </p:sp>
      <p:sp>
        <p:nvSpPr>
          <p:cNvPr id="1581" name="Google Shape;1581;p66"/>
          <p:cNvSpPr txBox="1"/>
          <p:nvPr/>
        </p:nvSpPr>
        <p:spPr>
          <a:xfrm>
            <a:off x="6878325" y="3184351"/>
            <a:ext cx="2850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10</a:t>
            </a:r>
            <a:endParaRPr>
              <a:solidFill>
                <a:schemeClr val="dk1"/>
              </a:solidFill>
              <a:latin typeface="Roboto"/>
              <a:ea typeface="Roboto"/>
              <a:cs typeface="Roboto"/>
              <a:sym typeface="Roboto"/>
            </a:endParaRPr>
          </a:p>
        </p:txBody>
      </p:sp>
      <p:sp>
        <p:nvSpPr>
          <p:cNvPr id="1582" name="Google Shape;1582;p66"/>
          <p:cNvSpPr txBox="1"/>
          <p:nvPr/>
        </p:nvSpPr>
        <p:spPr>
          <a:xfrm>
            <a:off x="7251375" y="3868476"/>
            <a:ext cx="2850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10</a:t>
            </a:r>
            <a:endParaRPr>
              <a:solidFill>
                <a:schemeClr val="dk1"/>
              </a:solidFill>
              <a:latin typeface="Roboto"/>
              <a:ea typeface="Roboto"/>
              <a:cs typeface="Roboto"/>
              <a:sym typeface="Roboto"/>
            </a:endParaRPr>
          </a:p>
        </p:txBody>
      </p:sp>
      <p:sp>
        <p:nvSpPr>
          <p:cNvPr id="1583" name="Google Shape;1583;p66"/>
          <p:cNvSpPr txBox="1"/>
          <p:nvPr/>
        </p:nvSpPr>
        <p:spPr>
          <a:xfrm>
            <a:off x="6643300" y="3611751"/>
            <a:ext cx="2850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4</a:t>
            </a:r>
            <a:endParaRPr>
              <a:solidFill>
                <a:schemeClr val="dk1"/>
              </a:solidFill>
              <a:latin typeface="Roboto"/>
              <a:ea typeface="Roboto"/>
              <a:cs typeface="Roboto"/>
              <a:sym typeface="Roboto"/>
            </a:endParaRPr>
          </a:p>
        </p:txBody>
      </p:sp>
      <p:sp>
        <p:nvSpPr>
          <p:cNvPr id="1584" name="Google Shape;1584;p66"/>
          <p:cNvSpPr txBox="1"/>
          <p:nvPr/>
        </p:nvSpPr>
        <p:spPr>
          <a:xfrm>
            <a:off x="6063850" y="4103401"/>
            <a:ext cx="2850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5</a:t>
            </a:r>
            <a:endParaRPr>
              <a:solidFill>
                <a:schemeClr val="dk1"/>
              </a:solidFill>
              <a:latin typeface="Roboto"/>
              <a:ea typeface="Roboto"/>
              <a:cs typeface="Roboto"/>
              <a:sym typeface="Roboto"/>
            </a:endParaRPr>
          </a:p>
        </p:txBody>
      </p:sp>
      <p:sp>
        <p:nvSpPr>
          <p:cNvPr id="1585" name="Google Shape;1585;p66"/>
          <p:cNvSpPr txBox="1"/>
          <p:nvPr/>
        </p:nvSpPr>
        <p:spPr>
          <a:xfrm>
            <a:off x="5603988" y="3432301"/>
            <a:ext cx="2850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solidFill>
                  <a:schemeClr val="dk1"/>
                </a:solidFill>
                <a:latin typeface="Roboto"/>
                <a:ea typeface="Roboto"/>
                <a:cs typeface="Roboto"/>
                <a:sym typeface="Roboto"/>
              </a:rPr>
              <a:t>10</a:t>
            </a:r>
            <a:endParaRPr>
              <a:solidFill>
                <a:schemeClr val="dk1"/>
              </a:solidFill>
              <a:latin typeface="Roboto"/>
              <a:ea typeface="Roboto"/>
              <a:cs typeface="Roboto"/>
              <a:sym typeface="Roboto"/>
            </a:endParaRPr>
          </a:p>
        </p:txBody>
      </p:sp>
      <p:sp>
        <p:nvSpPr>
          <p:cNvPr id="1586" name="Google Shape;1586;p66"/>
          <p:cNvSpPr/>
          <p:nvPr/>
        </p:nvSpPr>
        <p:spPr>
          <a:xfrm>
            <a:off x="4106650" y="2238925"/>
            <a:ext cx="4108650" cy="1188500"/>
          </a:xfrm>
          <a:custGeom>
            <a:rect b="b" l="l" r="r" t="t"/>
            <a:pathLst>
              <a:path extrusionOk="0" h="47540" w="164346">
                <a:moveTo>
                  <a:pt x="0" y="24539"/>
                </a:moveTo>
                <a:cubicBezTo>
                  <a:pt x="4144" y="28306"/>
                  <a:pt x="18028" y="44988"/>
                  <a:pt x="24862" y="47140"/>
                </a:cubicBezTo>
                <a:cubicBezTo>
                  <a:pt x="31696" y="49293"/>
                  <a:pt x="34522" y="42217"/>
                  <a:pt x="41006" y="37454"/>
                </a:cubicBezTo>
                <a:cubicBezTo>
                  <a:pt x="47491" y="32692"/>
                  <a:pt x="56531" y="23005"/>
                  <a:pt x="63769" y="18565"/>
                </a:cubicBezTo>
                <a:cubicBezTo>
                  <a:pt x="71007" y="14125"/>
                  <a:pt x="73670" y="12807"/>
                  <a:pt x="84433" y="10816"/>
                </a:cubicBezTo>
                <a:cubicBezTo>
                  <a:pt x="95196" y="8825"/>
                  <a:pt x="115026" y="8422"/>
                  <a:pt x="128345" y="6619"/>
                </a:cubicBezTo>
                <a:cubicBezTo>
                  <a:pt x="141664" y="4816"/>
                  <a:pt x="158346" y="1103"/>
                  <a:pt x="164346" y="0"/>
                </a:cubicBezTo>
              </a:path>
            </a:pathLst>
          </a:custGeom>
          <a:noFill/>
          <a:ln cap="flat" cmpd="sng" w="28575">
            <a:solidFill>
              <a:srgbClr val="F1C232"/>
            </a:solidFill>
            <a:prstDash val="solid"/>
            <a:round/>
            <a:headEnd len="med" w="med" type="none"/>
            <a:tailEnd len="med" w="med" type="triangle"/>
          </a:ln>
        </p:spPr>
      </p:sp>
      <p:sp>
        <p:nvSpPr>
          <p:cNvPr id="1587" name="Google Shape;1587;p66"/>
          <p:cNvSpPr/>
          <p:nvPr/>
        </p:nvSpPr>
        <p:spPr>
          <a:xfrm>
            <a:off x="3683800" y="2706750"/>
            <a:ext cx="4766571" cy="854100"/>
          </a:xfrm>
          <a:custGeom>
            <a:rect b="b" l="l" r="r" t="t"/>
            <a:pathLst>
              <a:path extrusionOk="0" h="34164" w="188402">
                <a:moveTo>
                  <a:pt x="0" y="34002"/>
                </a:moveTo>
                <a:cubicBezTo>
                  <a:pt x="7480" y="33760"/>
                  <a:pt x="35356" y="34056"/>
                  <a:pt x="44881" y="32549"/>
                </a:cubicBezTo>
                <a:cubicBezTo>
                  <a:pt x="54406" y="31042"/>
                  <a:pt x="50666" y="30316"/>
                  <a:pt x="57150" y="24962"/>
                </a:cubicBezTo>
                <a:cubicBezTo>
                  <a:pt x="63635" y="19608"/>
                  <a:pt x="77438" y="2818"/>
                  <a:pt x="83788" y="423"/>
                </a:cubicBezTo>
                <a:cubicBezTo>
                  <a:pt x="90138" y="-1972"/>
                  <a:pt x="91483" y="6853"/>
                  <a:pt x="95250" y="10593"/>
                </a:cubicBezTo>
                <a:cubicBezTo>
                  <a:pt x="99017" y="14333"/>
                  <a:pt x="102758" y="20710"/>
                  <a:pt x="106390" y="22863"/>
                </a:cubicBezTo>
                <a:cubicBezTo>
                  <a:pt x="110023" y="25016"/>
                  <a:pt x="103376" y="21626"/>
                  <a:pt x="117045" y="23509"/>
                </a:cubicBezTo>
                <a:cubicBezTo>
                  <a:pt x="130714" y="25393"/>
                  <a:pt x="176509" y="32388"/>
                  <a:pt x="188402" y="34164"/>
                </a:cubicBezTo>
              </a:path>
            </a:pathLst>
          </a:custGeom>
          <a:noFill/>
          <a:ln cap="flat" cmpd="sng" w="28575">
            <a:solidFill>
              <a:srgbClr val="FF00FF"/>
            </a:solidFill>
            <a:prstDash val="solid"/>
            <a:round/>
            <a:headEnd len="med" w="med" type="none"/>
            <a:tailEnd len="med" w="med" type="triangle"/>
          </a:ln>
        </p:spPr>
      </p:sp>
      <p:sp>
        <p:nvSpPr>
          <p:cNvPr id="1588" name="Google Shape;1588;p66"/>
          <p:cNvSpPr/>
          <p:nvPr/>
        </p:nvSpPr>
        <p:spPr>
          <a:xfrm>
            <a:off x="5629175" y="2074375"/>
            <a:ext cx="1114750" cy="2643600"/>
          </a:xfrm>
          <a:custGeom>
            <a:rect b="b" l="l" r="r" t="t"/>
            <a:pathLst>
              <a:path extrusionOk="0" h="105744" w="44590">
                <a:moveTo>
                  <a:pt x="0" y="0"/>
                </a:moveTo>
                <a:cubicBezTo>
                  <a:pt x="619" y="3390"/>
                  <a:pt x="-780" y="11893"/>
                  <a:pt x="3713" y="20342"/>
                </a:cubicBezTo>
                <a:cubicBezTo>
                  <a:pt x="8206" y="28791"/>
                  <a:pt x="20502" y="40065"/>
                  <a:pt x="26960" y="50693"/>
                </a:cubicBezTo>
                <a:cubicBezTo>
                  <a:pt x="33418" y="61321"/>
                  <a:pt x="39526" y="74936"/>
                  <a:pt x="42459" y="84111"/>
                </a:cubicBezTo>
                <a:cubicBezTo>
                  <a:pt x="45392" y="93286"/>
                  <a:pt x="44207" y="102139"/>
                  <a:pt x="44557" y="105744"/>
                </a:cubicBezTo>
              </a:path>
            </a:pathLst>
          </a:custGeom>
          <a:noFill/>
          <a:ln cap="flat" cmpd="sng" w="28575">
            <a:solidFill>
              <a:srgbClr val="0000FF"/>
            </a:solidFill>
            <a:prstDash val="solid"/>
            <a:round/>
            <a:headEnd len="med" w="med" type="none"/>
            <a:tailEnd len="med" w="med" type="triangle"/>
          </a:ln>
        </p:spPr>
      </p:sp>
      <p:sp>
        <p:nvSpPr>
          <p:cNvPr id="1548" name="Google Shape;1548;p66"/>
          <p:cNvSpPr/>
          <p:nvPr/>
        </p:nvSpPr>
        <p:spPr>
          <a:xfrm>
            <a:off x="4614678" y="3288464"/>
            <a:ext cx="285000" cy="285000"/>
          </a:xfrm>
          <a:prstGeom prst="rect">
            <a:avLst/>
          </a:prstGeom>
          <a:solidFill>
            <a:srgbClr val="FFFFFF">
              <a:alpha val="70000"/>
            </a:srgbClr>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1551" name="Google Shape;1551;p66"/>
          <p:cNvSpPr/>
          <p:nvPr/>
        </p:nvSpPr>
        <p:spPr>
          <a:xfrm>
            <a:off x="5446403" y="3861414"/>
            <a:ext cx="285000" cy="285000"/>
          </a:xfrm>
          <a:prstGeom prst="rect">
            <a:avLst/>
          </a:prstGeom>
          <a:solidFill>
            <a:srgbClr val="FFFFFF">
              <a:alpha val="70000"/>
            </a:srgbClr>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sp>
        <p:nvSpPr>
          <p:cNvPr id="1553" name="Google Shape;1553;p66"/>
          <p:cNvSpPr/>
          <p:nvPr/>
        </p:nvSpPr>
        <p:spPr>
          <a:xfrm>
            <a:off x="6633953" y="4089289"/>
            <a:ext cx="285000" cy="285000"/>
          </a:xfrm>
          <a:prstGeom prst="rect">
            <a:avLst/>
          </a:prstGeom>
          <a:solidFill>
            <a:srgbClr val="FFFFFF">
              <a:alpha val="70000"/>
            </a:srgbClr>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R7</a:t>
            </a:r>
            <a:endParaRPr>
              <a:latin typeface="Roboto"/>
              <a:ea typeface="Roboto"/>
              <a:cs typeface="Roboto"/>
              <a:sym typeface="Roboto"/>
            </a:endParaRPr>
          </a:p>
        </p:txBody>
      </p:sp>
      <p:sp>
        <p:nvSpPr>
          <p:cNvPr id="1555" name="Google Shape;1555;p66"/>
          <p:cNvSpPr/>
          <p:nvPr/>
        </p:nvSpPr>
        <p:spPr>
          <a:xfrm>
            <a:off x="6225253" y="3219639"/>
            <a:ext cx="285000" cy="285000"/>
          </a:xfrm>
          <a:prstGeom prst="rect">
            <a:avLst/>
          </a:prstGeom>
          <a:solidFill>
            <a:srgbClr val="FFFFFF">
              <a:alpha val="70000"/>
            </a:srgbClr>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R4</a:t>
            </a:r>
            <a:endParaRPr>
              <a:latin typeface="Roboto"/>
              <a:ea typeface="Roboto"/>
              <a:cs typeface="Roboto"/>
              <a:sym typeface="Roboto"/>
            </a:endParaRPr>
          </a:p>
        </p:txBody>
      </p:sp>
      <p:sp>
        <p:nvSpPr>
          <p:cNvPr id="1558" name="Google Shape;1558;p66"/>
          <p:cNvSpPr/>
          <p:nvPr/>
        </p:nvSpPr>
        <p:spPr>
          <a:xfrm>
            <a:off x="5588953" y="2489489"/>
            <a:ext cx="285000" cy="285000"/>
          </a:xfrm>
          <a:prstGeom prst="rect">
            <a:avLst/>
          </a:prstGeom>
          <a:solidFill>
            <a:srgbClr val="FFFFFF">
              <a:alpha val="70000"/>
            </a:srgbClr>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sp>
        <p:nvSpPr>
          <p:cNvPr id="1561" name="Google Shape;1561;p66"/>
          <p:cNvSpPr/>
          <p:nvPr/>
        </p:nvSpPr>
        <p:spPr>
          <a:xfrm>
            <a:off x="7188953" y="2346989"/>
            <a:ext cx="285000" cy="285000"/>
          </a:xfrm>
          <a:prstGeom prst="rect">
            <a:avLst/>
          </a:prstGeom>
          <a:solidFill>
            <a:srgbClr val="FFFFFF">
              <a:alpha val="70000"/>
            </a:srgbClr>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R5</a:t>
            </a:r>
            <a:endParaRPr>
              <a:latin typeface="Roboto"/>
              <a:ea typeface="Roboto"/>
              <a:cs typeface="Roboto"/>
              <a:sym typeface="Roboto"/>
            </a:endParaRPr>
          </a:p>
        </p:txBody>
      </p:sp>
      <p:sp>
        <p:nvSpPr>
          <p:cNvPr id="1563" name="Google Shape;1563;p66"/>
          <p:cNvSpPr/>
          <p:nvPr/>
        </p:nvSpPr>
        <p:spPr>
          <a:xfrm>
            <a:off x="7473953" y="3362139"/>
            <a:ext cx="285000" cy="285000"/>
          </a:xfrm>
          <a:prstGeom prst="rect">
            <a:avLst/>
          </a:prstGeom>
          <a:solidFill>
            <a:srgbClr val="FFFFFF">
              <a:alpha val="70000"/>
            </a:srgbClr>
          </a:solid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rPr lang="en">
                <a:latin typeface="Roboto"/>
                <a:ea typeface="Roboto"/>
                <a:cs typeface="Roboto"/>
                <a:sym typeface="Roboto"/>
              </a:rPr>
              <a:t>R6</a:t>
            </a:r>
            <a:endParaRPr>
              <a:latin typeface="Roboto"/>
              <a:ea typeface="Roboto"/>
              <a:cs typeface="Roboto"/>
              <a:sym typeface="Roboto"/>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2" name="Shape 1592"/>
        <p:cNvGrpSpPr/>
        <p:nvPr/>
      </p:nvGrpSpPr>
      <p:grpSpPr>
        <a:xfrm>
          <a:off x="0" y="0"/>
          <a:ext cx="0" cy="0"/>
          <a:chOff x="0" y="0"/>
          <a:chExt cx="0" cy="0"/>
        </a:xfrm>
      </p:grpSpPr>
      <p:sp>
        <p:nvSpPr>
          <p:cNvPr id="1593" name="Google Shape;1593;p67"/>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Congestion Control is a Global Problem</a:t>
            </a:r>
            <a:endParaRPr/>
          </a:p>
        </p:txBody>
      </p:sp>
      <p:sp>
        <p:nvSpPr>
          <p:cNvPr id="1594" name="Google Shape;1594;p67"/>
          <p:cNvSpPr txBox="1"/>
          <p:nvPr>
            <p:ph idx="1" type="body"/>
          </p:nvPr>
        </p:nvSpPr>
        <p:spPr>
          <a:xfrm>
            <a:off x="107050" y="402200"/>
            <a:ext cx="8909700" cy="45306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The sender's optimal rate depends on:</a:t>
            </a:r>
            <a:endParaRPr/>
          </a:p>
          <a:p>
            <a:pPr indent="-342900" lvl="0" marL="457200" rtl="0" algn="l">
              <a:spcBef>
                <a:spcPts val="600"/>
              </a:spcBef>
              <a:spcAft>
                <a:spcPts val="0"/>
              </a:spcAft>
              <a:buSzPts val="1800"/>
              <a:buChar char="●"/>
            </a:pPr>
            <a:r>
              <a:rPr lang="en"/>
              <a:t>The destination.</a:t>
            </a:r>
            <a:endParaRPr/>
          </a:p>
          <a:p>
            <a:pPr indent="-342900" lvl="0" marL="457200" rtl="0" algn="l">
              <a:spcBef>
                <a:spcPts val="0"/>
              </a:spcBef>
              <a:spcAft>
                <a:spcPts val="0"/>
              </a:spcAft>
              <a:buSzPts val="1800"/>
              <a:buChar char="●"/>
            </a:pPr>
            <a:r>
              <a:rPr lang="en"/>
              <a:t>The path to the destination.</a:t>
            </a:r>
            <a:endParaRPr/>
          </a:p>
          <a:p>
            <a:pPr indent="-342900" lvl="0" marL="457200" rtl="0" algn="l">
              <a:spcBef>
                <a:spcPts val="0"/>
              </a:spcBef>
              <a:spcAft>
                <a:spcPts val="0"/>
              </a:spcAft>
              <a:buSzPts val="1800"/>
              <a:buChar char="●"/>
            </a:pPr>
            <a:r>
              <a:rPr lang="en"/>
              <a:t>Other connections sharing links along that path.</a:t>
            </a:r>
            <a:endParaRPr/>
          </a:p>
          <a:p>
            <a:pPr indent="-342900" lvl="0" marL="457200" rtl="0" algn="l">
              <a:spcBef>
                <a:spcPts val="0"/>
              </a:spcBef>
              <a:spcAft>
                <a:spcPts val="0"/>
              </a:spcAft>
              <a:buSzPts val="1800"/>
              <a:buChar char="●"/>
            </a:pPr>
            <a:r>
              <a:rPr lang="en"/>
              <a:t>Connections sharing links with those other connections.</a:t>
            </a:r>
            <a:endParaRPr/>
          </a:p>
          <a:p>
            <a:pPr indent="-342900" lvl="0" marL="457200" rtl="0" algn="l">
              <a:spcBef>
                <a:spcPts val="0"/>
              </a:spcBef>
              <a:spcAft>
                <a:spcPts val="0"/>
              </a:spcAft>
              <a:buSzPts val="1800"/>
              <a:buChar char="●"/>
            </a:pPr>
            <a:r>
              <a:rPr lang="en"/>
              <a:t>And so on...</a:t>
            </a:r>
            <a:endParaRPr/>
          </a:p>
          <a:p>
            <a:pPr indent="0" lvl="0" marL="0" rtl="0" algn="l">
              <a:spcBef>
                <a:spcPts val="600"/>
              </a:spcBef>
              <a:spcAft>
                <a:spcPts val="0"/>
              </a:spcAft>
              <a:buNone/>
            </a:pPr>
            <a:r>
              <a:rPr lang="en"/>
              <a:t>Congestion control is a global problem.</a:t>
            </a:r>
            <a:endParaRPr/>
          </a:p>
          <a:p>
            <a:pPr indent="-342900" lvl="0" marL="457200" rtl="0" algn="l">
              <a:spcBef>
                <a:spcPts val="600"/>
              </a:spcBef>
              <a:spcAft>
                <a:spcPts val="0"/>
              </a:spcAft>
              <a:buSzPts val="1800"/>
              <a:buChar char="●"/>
            </a:pPr>
            <a:r>
              <a:rPr lang="en"/>
              <a:t>Connections in the network are highly interdependent.</a:t>
            </a:r>
            <a:endParaRPr/>
          </a:p>
          <a:p>
            <a:pPr indent="-342900" lvl="0" marL="457200" rtl="0" algn="l">
              <a:spcBef>
                <a:spcPts val="0"/>
              </a:spcBef>
              <a:spcAft>
                <a:spcPts val="0"/>
              </a:spcAft>
              <a:buSzPts val="1800"/>
              <a:buChar char="●"/>
            </a:pPr>
            <a:r>
              <a:rPr lang="en"/>
              <a:t>Solving it optimally requires a global view of the network.</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8" name="Shape 1598"/>
        <p:cNvGrpSpPr/>
        <p:nvPr/>
      </p:nvGrpSpPr>
      <p:grpSpPr>
        <a:xfrm>
          <a:off x="0" y="0"/>
          <a:ext cx="0" cy="0"/>
          <a:chOff x="0" y="0"/>
          <a:chExt cx="0" cy="0"/>
        </a:xfrm>
      </p:grpSpPr>
      <p:sp>
        <p:nvSpPr>
          <p:cNvPr id="1599" name="Google Shape;1599;p68"/>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Congestion Control as Resource Allocation Problem</a:t>
            </a:r>
            <a:endParaRPr/>
          </a:p>
        </p:txBody>
      </p:sp>
      <p:sp>
        <p:nvSpPr>
          <p:cNvPr id="1600" name="Google Shape;1600;p68"/>
          <p:cNvSpPr txBox="1"/>
          <p:nvPr>
            <p:ph idx="1" type="body"/>
          </p:nvPr>
        </p:nvSpPr>
        <p:spPr>
          <a:xfrm>
            <a:off x="107050" y="402200"/>
            <a:ext cx="8909700" cy="45306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Fundamentally, congestion control is a </a:t>
            </a:r>
            <a:r>
              <a:rPr i="1" lang="en"/>
              <a:t>resource allocation problem</a:t>
            </a:r>
            <a:r>
              <a:rPr lang="en"/>
              <a:t>.</a:t>
            </a:r>
            <a:endParaRPr/>
          </a:p>
          <a:p>
            <a:pPr indent="-342900" lvl="0" marL="457200" rtl="0" algn="l">
              <a:spcBef>
                <a:spcPts val="600"/>
              </a:spcBef>
              <a:spcAft>
                <a:spcPts val="0"/>
              </a:spcAft>
              <a:buSzPts val="1800"/>
              <a:buChar char="●"/>
            </a:pPr>
            <a:r>
              <a:rPr lang="en"/>
              <a:t>Bandwidth is a limited resource.</a:t>
            </a:r>
            <a:endParaRPr/>
          </a:p>
          <a:p>
            <a:pPr indent="-342900" lvl="0" marL="457200" rtl="0" algn="l">
              <a:spcBef>
                <a:spcPts val="0"/>
              </a:spcBef>
              <a:spcAft>
                <a:spcPts val="0"/>
              </a:spcAft>
              <a:buSzPts val="1800"/>
              <a:buChar char="●"/>
            </a:pPr>
            <a:r>
              <a:rPr lang="en"/>
              <a:t>Each connection demands a certain amount of bandwidth.</a:t>
            </a:r>
            <a:endParaRPr/>
          </a:p>
          <a:p>
            <a:pPr indent="-342900" lvl="0" marL="457200" rtl="0" algn="l">
              <a:spcBef>
                <a:spcPts val="0"/>
              </a:spcBef>
              <a:spcAft>
                <a:spcPts val="0"/>
              </a:spcAft>
              <a:buSzPts val="1800"/>
              <a:buChar char="●"/>
            </a:pPr>
            <a:r>
              <a:rPr lang="en"/>
              <a:t>We decide how much to allocate to each connection.</a:t>
            </a:r>
            <a:endParaRPr/>
          </a:p>
          <a:p>
            <a:pPr indent="0" lvl="0" marL="0" rtl="0" algn="l">
              <a:spcBef>
                <a:spcPts val="600"/>
              </a:spcBef>
              <a:spcAft>
                <a:spcPts val="0"/>
              </a:spcAft>
              <a:buNone/>
            </a:pPr>
            <a:r>
              <a:rPr lang="en"/>
              <a:t>Resource allocation is a classic problem (e.g. CPU scheduling, memory allocation).</a:t>
            </a:r>
            <a:endParaRPr/>
          </a:p>
          <a:p>
            <a:pPr indent="0" lvl="0" marL="0" rtl="0" algn="l">
              <a:spcBef>
                <a:spcPts val="600"/>
              </a:spcBef>
              <a:spcAft>
                <a:spcPts val="0"/>
              </a:spcAft>
              <a:buNone/>
            </a:pPr>
            <a:r>
              <a:rPr lang="en"/>
              <a:t>But, congestion control has additional challenges.</a:t>
            </a:r>
            <a:endParaRPr/>
          </a:p>
          <a:p>
            <a:pPr indent="-342900" lvl="0" marL="457200" rtl="0" algn="l">
              <a:spcBef>
                <a:spcPts val="600"/>
              </a:spcBef>
              <a:spcAft>
                <a:spcPts val="0"/>
              </a:spcAft>
              <a:buSzPts val="1800"/>
              <a:buChar char="●"/>
            </a:pPr>
            <a:r>
              <a:rPr lang="en"/>
              <a:t>A change in one connection can have a global impact.</a:t>
            </a:r>
            <a:endParaRPr/>
          </a:p>
          <a:p>
            <a:pPr indent="-342900" lvl="0" marL="457200" rtl="0" algn="l">
              <a:spcBef>
                <a:spcPts val="0"/>
              </a:spcBef>
              <a:spcAft>
                <a:spcPts val="0"/>
              </a:spcAft>
              <a:buSzPts val="1800"/>
              <a:buChar char="●"/>
            </a:pPr>
            <a:r>
              <a:rPr lang="en"/>
              <a:t>Network topology is constantly changing.</a:t>
            </a:r>
            <a:endParaRPr/>
          </a:p>
          <a:p>
            <a:pPr indent="-342900" lvl="0" marL="457200" rtl="0" algn="l">
              <a:spcBef>
                <a:spcPts val="0"/>
              </a:spcBef>
              <a:spcAft>
                <a:spcPts val="0"/>
              </a:spcAft>
              <a:buSzPts val="1800"/>
              <a:buChar char="●"/>
            </a:pPr>
            <a:r>
              <a:rPr lang="en"/>
              <a:t>Connections are constantly starting and ending.</a:t>
            </a:r>
            <a:endParaRPr/>
          </a:p>
          <a:p>
            <a:pPr indent="-342900" lvl="0" marL="457200" rtl="0" algn="l">
              <a:spcBef>
                <a:spcPts val="0"/>
              </a:spcBef>
              <a:spcAft>
                <a:spcPts val="0"/>
              </a:spcAft>
              <a:buSzPts val="1800"/>
              <a:buChar char="●"/>
            </a:pPr>
            <a:r>
              <a:rPr lang="en"/>
              <a:t>Everybody must solve it locally. No global view of network.</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4" name="Shape 1604"/>
        <p:cNvGrpSpPr/>
        <p:nvPr/>
      </p:nvGrpSpPr>
      <p:grpSpPr>
        <a:xfrm>
          <a:off x="0" y="0"/>
          <a:ext cx="0" cy="0"/>
          <a:chOff x="0" y="0"/>
          <a:chExt cx="0" cy="0"/>
        </a:xfrm>
      </p:grpSpPr>
      <p:sp>
        <p:nvSpPr>
          <p:cNvPr id="1605" name="Google Shape;1605;p69"/>
          <p:cNvSpPr txBox="1"/>
          <p:nvPr>
            <p:ph idx="1" type="body"/>
          </p:nvPr>
        </p:nvSpPr>
        <p:spPr>
          <a:xfrm>
            <a:off x="4812375" y="402200"/>
            <a:ext cx="4038000" cy="42609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None/>
            </a:pPr>
            <a:r>
              <a:rPr b="1" lang="en">
                <a:solidFill>
                  <a:schemeClr val="accent3"/>
                </a:solidFill>
                <a:latin typeface="Roboto"/>
                <a:ea typeface="Roboto"/>
                <a:cs typeface="Roboto"/>
                <a:sym typeface="Roboto"/>
              </a:rPr>
              <a:t>Congestion Control Principles</a:t>
            </a:r>
            <a:endParaRPr b="1">
              <a:solidFill>
                <a:schemeClr val="accent3"/>
              </a:solidFill>
              <a:latin typeface="Roboto"/>
              <a:ea typeface="Roboto"/>
              <a:cs typeface="Roboto"/>
              <a:sym typeface="Roboto"/>
            </a:endParaRPr>
          </a:p>
          <a:p>
            <a:pPr indent="-342900" lvl="0" marL="457200" rtl="0" algn="l">
              <a:spcBef>
                <a:spcPts val="600"/>
              </a:spcBef>
              <a:spcAft>
                <a:spcPts val="0"/>
              </a:spcAft>
              <a:buClr>
                <a:srgbClr val="B7B7B7"/>
              </a:buClr>
              <a:buSzPts val="1800"/>
              <a:buChar char="•"/>
            </a:pPr>
            <a:r>
              <a:rPr lang="en">
                <a:solidFill>
                  <a:srgbClr val="B7B7B7"/>
                </a:solidFill>
              </a:rPr>
              <a:t>Why do we need it?</a:t>
            </a:r>
            <a:endParaRPr>
              <a:solidFill>
                <a:srgbClr val="B7B7B7"/>
              </a:solidFill>
            </a:endParaRPr>
          </a:p>
          <a:p>
            <a:pPr indent="-342900" lvl="0" marL="457200" rtl="0" algn="l">
              <a:spcBef>
                <a:spcPts val="0"/>
              </a:spcBef>
              <a:spcAft>
                <a:spcPts val="0"/>
              </a:spcAft>
              <a:buClr>
                <a:srgbClr val="B7B7B7"/>
              </a:buClr>
              <a:buSzPts val="1800"/>
              <a:buChar char="•"/>
            </a:pPr>
            <a:r>
              <a:rPr lang="en">
                <a:solidFill>
                  <a:srgbClr val="B7B7B7"/>
                </a:solidFill>
              </a:rPr>
              <a:t>Why is it hard?</a:t>
            </a:r>
            <a:endParaRPr>
              <a:solidFill>
                <a:srgbClr val="B7B7B7"/>
              </a:solidFill>
            </a:endParaRPr>
          </a:p>
          <a:p>
            <a:pPr indent="-342900" lvl="0" marL="457200" rtl="0" algn="l">
              <a:spcBef>
                <a:spcPts val="0"/>
              </a:spcBef>
              <a:spcAft>
                <a:spcPts val="0"/>
              </a:spcAft>
              <a:buClr>
                <a:schemeClr val="accent3"/>
              </a:buClr>
              <a:buSzPts val="1800"/>
              <a:buFont typeface="Roboto"/>
              <a:buChar char="•"/>
            </a:pPr>
            <a:r>
              <a:rPr b="1" lang="en">
                <a:solidFill>
                  <a:schemeClr val="accent3"/>
                </a:solidFill>
                <a:latin typeface="Roboto"/>
                <a:ea typeface="Roboto"/>
                <a:cs typeface="Roboto"/>
                <a:sym typeface="Roboto"/>
              </a:rPr>
              <a:t>Design Goals</a:t>
            </a:r>
            <a:endParaRPr b="1">
              <a:solidFill>
                <a:schemeClr val="accent3"/>
              </a:solidFill>
              <a:latin typeface="Roboto"/>
              <a:ea typeface="Roboto"/>
              <a:cs typeface="Roboto"/>
              <a:sym typeface="Roboto"/>
            </a:endParaRPr>
          </a:p>
          <a:p>
            <a:pPr indent="0" lvl="0" marL="0" rtl="0" algn="l">
              <a:spcBef>
                <a:spcPts val="600"/>
              </a:spcBef>
              <a:spcAft>
                <a:spcPts val="0"/>
              </a:spcAft>
              <a:buNone/>
            </a:pPr>
            <a:r>
              <a:rPr lang="en">
                <a:solidFill>
                  <a:srgbClr val="B7B7B7"/>
                </a:solidFill>
              </a:rPr>
              <a:t>Dynamic Adjustment</a:t>
            </a:r>
            <a:endParaRPr>
              <a:solidFill>
                <a:srgbClr val="B7B7B7"/>
              </a:solidFill>
            </a:endParaRPr>
          </a:p>
          <a:p>
            <a:pPr indent="-342900" lvl="0" marL="457200" rtl="0" algn="l">
              <a:spcBef>
                <a:spcPts val="600"/>
              </a:spcBef>
              <a:spcAft>
                <a:spcPts val="0"/>
              </a:spcAft>
              <a:buClr>
                <a:srgbClr val="B7B7B7"/>
              </a:buClr>
              <a:buSzPts val="1800"/>
              <a:buChar char="•"/>
            </a:pPr>
            <a:r>
              <a:rPr lang="en">
                <a:solidFill>
                  <a:srgbClr val="B7B7B7"/>
                </a:solidFill>
              </a:rPr>
              <a:t>Algorithm Sketch</a:t>
            </a:r>
            <a:endParaRPr>
              <a:solidFill>
                <a:srgbClr val="B7B7B7"/>
              </a:solidFill>
            </a:endParaRPr>
          </a:p>
          <a:p>
            <a:pPr indent="-342900" lvl="0" marL="457200" rtl="0" algn="l">
              <a:spcBef>
                <a:spcPts val="0"/>
              </a:spcBef>
              <a:spcAft>
                <a:spcPts val="0"/>
              </a:spcAft>
              <a:buClr>
                <a:srgbClr val="B7B7B7"/>
              </a:buClr>
              <a:buSzPts val="1800"/>
              <a:buChar char="•"/>
            </a:pPr>
            <a:r>
              <a:rPr lang="en">
                <a:solidFill>
                  <a:srgbClr val="B7B7B7"/>
                </a:solidFill>
              </a:rPr>
              <a:t>Reacting to Congestion (AIMD)</a:t>
            </a:r>
            <a:endParaRPr>
              <a:solidFill>
                <a:srgbClr val="B7B7B7"/>
              </a:solidFill>
            </a:endParaRPr>
          </a:p>
          <a:p>
            <a:pPr indent="-342900" lvl="0" marL="457200" rtl="0" algn="l">
              <a:spcBef>
                <a:spcPts val="0"/>
              </a:spcBef>
              <a:spcAft>
                <a:spcPts val="0"/>
              </a:spcAft>
              <a:buClr>
                <a:srgbClr val="B7B7B7"/>
              </a:buClr>
              <a:buSzPts val="1800"/>
              <a:buChar char="•"/>
            </a:pPr>
            <a:r>
              <a:rPr lang="en">
                <a:solidFill>
                  <a:srgbClr val="B7B7B7"/>
                </a:solidFill>
              </a:rPr>
              <a:t>Implementing Congestion Control with Event-Driven Updates</a:t>
            </a:r>
            <a:endParaRPr>
              <a:solidFill>
                <a:srgbClr val="B7B7B7"/>
              </a:solidFill>
            </a:endParaRPr>
          </a:p>
        </p:txBody>
      </p:sp>
      <p:sp>
        <p:nvSpPr>
          <p:cNvPr id="1606" name="Google Shape;1606;p69"/>
          <p:cNvSpPr txBox="1"/>
          <p:nvPr>
            <p:ph type="title"/>
          </p:nvPr>
        </p:nvSpPr>
        <p:spPr>
          <a:xfrm>
            <a:off x="177925" y="2003300"/>
            <a:ext cx="4038000" cy="20379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Design Goals</a:t>
            </a:r>
            <a:endParaRPr/>
          </a:p>
        </p:txBody>
      </p:sp>
      <p:sp>
        <p:nvSpPr>
          <p:cNvPr id="1607" name="Google Shape;1607;p69"/>
          <p:cNvSpPr txBox="1"/>
          <p:nvPr>
            <p:ph idx="2" type="subTitle"/>
          </p:nvPr>
        </p:nvSpPr>
        <p:spPr>
          <a:xfrm>
            <a:off x="177925" y="4068000"/>
            <a:ext cx="4158000" cy="3936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None/>
            </a:pPr>
            <a:r>
              <a:rPr lang="en"/>
              <a:t>Lecture 12, CS 168, Summer 2025</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1" name="Shape 1611"/>
        <p:cNvGrpSpPr/>
        <p:nvPr/>
      </p:nvGrpSpPr>
      <p:grpSpPr>
        <a:xfrm>
          <a:off x="0" y="0"/>
          <a:ext cx="0" cy="0"/>
          <a:chOff x="0" y="0"/>
          <a:chExt cx="0" cy="0"/>
        </a:xfrm>
      </p:grpSpPr>
      <p:sp>
        <p:nvSpPr>
          <p:cNvPr id="1612" name="Google Shape;1612;p70"/>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Design Goals</a:t>
            </a:r>
            <a:endParaRPr/>
          </a:p>
        </p:txBody>
      </p:sp>
      <p:sp>
        <p:nvSpPr>
          <p:cNvPr id="1613" name="Google Shape;1613;p70"/>
          <p:cNvSpPr txBox="1"/>
          <p:nvPr>
            <p:ph idx="1" type="body"/>
          </p:nvPr>
        </p:nvSpPr>
        <p:spPr>
          <a:xfrm>
            <a:off x="107050" y="402200"/>
            <a:ext cx="8909700" cy="45306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Goals for a good congestion control algorithm:</a:t>
            </a:r>
            <a:endParaRPr/>
          </a:p>
          <a:p>
            <a:pPr indent="-342900" lvl="0" marL="457200" rtl="0" algn="l">
              <a:spcBef>
                <a:spcPts val="600"/>
              </a:spcBef>
              <a:spcAft>
                <a:spcPts val="0"/>
              </a:spcAft>
              <a:buSzPts val="1800"/>
              <a:buAutoNum type="arabicPeriod"/>
            </a:pPr>
            <a:r>
              <a:rPr lang="en"/>
              <a:t>Avoid congestion: Minimize packet delay and loss.</a:t>
            </a:r>
            <a:endParaRPr/>
          </a:p>
          <a:p>
            <a:pPr indent="-342900" lvl="0" marL="457200" rtl="0" algn="l">
              <a:spcBef>
                <a:spcPts val="0"/>
              </a:spcBef>
              <a:spcAft>
                <a:spcPts val="0"/>
              </a:spcAft>
              <a:buSzPts val="1800"/>
              <a:buAutoNum type="arabicPeriod"/>
            </a:pPr>
            <a:r>
              <a:rPr lang="en"/>
              <a:t>Efficiency: Maximize link utilization.</a:t>
            </a:r>
            <a:endParaRPr/>
          </a:p>
          <a:p>
            <a:pPr indent="-342900" lvl="0" marL="457200" rtl="0" algn="l">
              <a:spcBef>
                <a:spcPts val="0"/>
              </a:spcBef>
              <a:spcAft>
                <a:spcPts val="0"/>
              </a:spcAft>
              <a:buSzPts val="1800"/>
              <a:buAutoNum type="arabicPeriod"/>
            </a:pPr>
            <a:r>
              <a:rPr lang="en"/>
              <a:t>Fairness: Connections should share the available bandwidth.</a:t>
            </a:r>
            <a:endParaRPr/>
          </a:p>
          <a:p>
            <a:pPr indent="-342900" lvl="0" marL="457200" rtl="0" algn="l">
              <a:spcBef>
                <a:spcPts val="0"/>
              </a:spcBef>
              <a:spcAft>
                <a:spcPts val="0"/>
              </a:spcAft>
              <a:buSzPts val="1800"/>
              <a:buAutoNum type="arabicPeriod"/>
            </a:pPr>
            <a:r>
              <a:rPr lang="en"/>
              <a:t>Practical to implement: Scalable, decentralized, adaptive, etc.</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Our ultimate goal is a good tradeoff between these metrics.</a:t>
            </a:r>
            <a:endParaRPr/>
          </a:p>
          <a:p>
            <a:pPr indent="-342900" lvl="0" marL="457200" rtl="0" algn="l">
              <a:spcBef>
                <a:spcPts val="600"/>
              </a:spcBef>
              <a:spcAft>
                <a:spcPts val="0"/>
              </a:spcAft>
              <a:buSzPts val="1800"/>
              <a:buChar char="●"/>
            </a:pPr>
            <a:r>
              <a:rPr lang="en"/>
              <a:t>Could avoid congestion (1) by sending really slowly.</a:t>
            </a:r>
            <a:endParaRPr/>
          </a:p>
          <a:p>
            <a:pPr indent="-342900" lvl="0" marL="457200" rtl="0" algn="l">
              <a:spcBef>
                <a:spcPts val="0"/>
              </a:spcBef>
              <a:spcAft>
                <a:spcPts val="0"/>
              </a:spcAft>
              <a:buSzPts val="1800"/>
              <a:buChar char="●"/>
            </a:pPr>
            <a:r>
              <a:rPr lang="en"/>
              <a:t>But then we aren't using all the bandwidth on the link (2).</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7" name="Shape 1617"/>
        <p:cNvGrpSpPr/>
        <p:nvPr/>
      </p:nvGrpSpPr>
      <p:grpSpPr>
        <a:xfrm>
          <a:off x="0" y="0"/>
          <a:ext cx="0" cy="0"/>
          <a:chOff x="0" y="0"/>
          <a:chExt cx="0" cy="0"/>
        </a:xfrm>
      </p:grpSpPr>
      <p:sp>
        <p:nvSpPr>
          <p:cNvPr id="1618" name="Google Shape;1618;p71"/>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Possible Approaches</a:t>
            </a:r>
            <a:endParaRPr/>
          </a:p>
        </p:txBody>
      </p:sp>
      <p:sp>
        <p:nvSpPr>
          <p:cNvPr id="1619" name="Google Shape;1619;p71"/>
          <p:cNvSpPr txBox="1"/>
          <p:nvPr>
            <p:ph idx="1" type="body"/>
          </p:nvPr>
        </p:nvSpPr>
        <p:spPr>
          <a:xfrm>
            <a:off x="107050" y="402200"/>
            <a:ext cx="8909700" cy="45306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Reservations:</a:t>
            </a:r>
            <a:endParaRPr/>
          </a:p>
          <a:p>
            <a:pPr indent="-342900" lvl="0" marL="457200" rtl="0" algn="l">
              <a:spcBef>
                <a:spcPts val="600"/>
              </a:spcBef>
              <a:spcAft>
                <a:spcPts val="0"/>
              </a:spcAft>
              <a:buSzPts val="1800"/>
              <a:buChar char="●"/>
            </a:pPr>
            <a:r>
              <a:rPr lang="en"/>
              <a:t>Connections reserve bandwidth at the start, and release bandwidth at the end.</a:t>
            </a:r>
            <a:endParaRPr/>
          </a:p>
          <a:p>
            <a:pPr indent="-342900" lvl="0" marL="457200" rtl="0" algn="l">
              <a:spcBef>
                <a:spcPts val="0"/>
              </a:spcBef>
              <a:spcAft>
                <a:spcPts val="0"/>
              </a:spcAft>
              <a:buSzPts val="1800"/>
              <a:buChar char="●"/>
            </a:pPr>
            <a:r>
              <a:rPr lang="en"/>
              <a:t>Requires connections to know bandwidth ahead of time.</a:t>
            </a:r>
            <a:endParaRPr/>
          </a:p>
          <a:p>
            <a:pPr indent="-342900" lvl="0" marL="457200" rtl="0" algn="l">
              <a:spcBef>
                <a:spcPts val="0"/>
              </a:spcBef>
              <a:spcAft>
                <a:spcPts val="0"/>
              </a:spcAft>
              <a:buSzPts val="1800"/>
              <a:buChar char="●"/>
            </a:pPr>
            <a:r>
              <a:rPr lang="en"/>
              <a:t>Other problems: Hard to implement, inefficient bandwidth usage, etc.</a:t>
            </a:r>
            <a:endParaRPr/>
          </a:p>
          <a:p>
            <a:pPr indent="0" lvl="0" marL="0" rtl="0" algn="l">
              <a:spcBef>
                <a:spcPts val="600"/>
              </a:spcBef>
              <a:spcAft>
                <a:spcPts val="0"/>
              </a:spcAft>
              <a:buNone/>
            </a:pPr>
            <a:r>
              <a:rPr lang="en"/>
              <a:t>Pricing/priorities:</a:t>
            </a:r>
            <a:endParaRPr/>
          </a:p>
          <a:p>
            <a:pPr indent="-342900" lvl="0" marL="457200" rtl="0" algn="l">
              <a:spcBef>
                <a:spcPts val="600"/>
              </a:spcBef>
              <a:spcAft>
                <a:spcPts val="0"/>
              </a:spcAft>
              <a:buSzPts val="1800"/>
              <a:buChar char="●"/>
            </a:pPr>
            <a:r>
              <a:rPr lang="en"/>
              <a:t>Analogy: Express toll lanes on the highway. Price changes depending on traffic.</a:t>
            </a:r>
            <a:endParaRPr/>
          </a:p>
          <a:p>
            <a:pPr indent="-342900" lvl="0" marL="457200" rtl="0" algn="l">
              <a:spcBef>
                <a:spcPts val="0"/>
              </a:spcBef>
              <a:spcAft>
                <a:spcPts val="0"/>
              </a:spcAft>
              <a:buSzPts val="1800"/>
              <a:buChar char="●"/>
            </a:pPr>
            <a:r>
              <a:rPr lang="en"/>
              <a:t>Prioritize traffic from users who pay more.</a:t>
            </a:r>
            <a:endParaRPr/>
          </a:p>
          <a:p>
            <a:pPr indent="-342900" lvl="0" marL="457200" rtl="0" algn="l">
              <a:spcBef>
                <a:spcPts val="0"/>
              </a:spcBef>
              <a:spcAft>
                <a:spcPts val="0"/>
              </a:spcAft>
              <a:buSzPts val="1800"/>
              <a:buChar char="●"/>
            </a:pPr>
            <a:r>
              <a:rPr lang="en"/>
              <a:t>Requires a payment model.</a:t>
            </a:r>
            <a:endParaRPr/>
          </a:p>
          <a:p>
            <a:pPr indent="0" lvl="0" marL="0" rtl="0" algn="l">
              <a:spcBef>
                <a:spcPts val="600"/>
              </a:spcBef>
              <a:spcAft>
                <a:spcPts val="0"/>
              </a:spcAft>
              <a:buNone/>
            </a:pPr>
            <a:r>
              <a:rPr lang="en"/>
              <a:t>Dynamic adjustment:</a:t>
            </a:r>
            <a:endParaRPr/>
          </a:p>
          <a:p>
            <a:pPr indent="-342900" lvl="0" marL="457200" rtl="0" algn="l">
              <a:spcBef>
                <a:spcPts val="600"/>
              </a:spcBef>
              <a:spcAft>
                <a:spcPts val="0"/>
              </a:spcAft>
              <a:buSzPts val="1800"/>
              <a:buChar char="●"/>
            </a:pPr>
            <a:r>
              <a:rPr lang="en"/>
              <a:t>Learn the current congestion level, and adjust your rate accordingly.</a:t>
            </a:r>
            <a:endParaRPr/>
          </a:p>
          <a:p>
            <a:pPr indent="-342900" lvl="0" marL="457200" rtl="0" algn="l">
              <a:spcBef>
                <a:spcPts val="0"/>
              </a:spcBef>
              <a:spcAft>
                <a:spcPts val="0"/>
              </a:spcAft>
              <a:buSzPts val="1800"/>
              <a:buChar char="●"/>
            </a:pPr>
            <a:r>
              <a:rPr lang="en"/>
              <a:t>Requires good citizenship (no cheating).</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3" name="Shape 1623"/>
        <p:cNvGrpSpPr/>
        <p:nvPr/>
      </p:nvGrpSpPr>
      <p:grpSpPr>
        <a:xfrm>
          <a:off x="0" y="0"/>
          <a:ext cx="0" cy="0"/>
          <a:chOff x="0" y="0"/>
          <a:chExt cx="0" cy="0"/>
        </a:xfrm>
      </p:grpSpPr>
      <p:sp>
        <p:nvSpPr>
          <p:cNvPr id="1624" name="Google Shape;1624;p72"/>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solidFill>
                  <a:schemeClr val="accent3"/>
                </a:solidFill>
              </a:rPr>
              <a:t>Possible Approaches</a:t>
            </a:r>
            <a:endParaRPr/>
          </a:p>
        </p:txBody>
      </p:sp>
      <p:sp>
        <p:nvSpPr>
          <p:cNvPr id="1625" name="Google Shape;1625;p72"/>
          <p:cNvSpPr txBox="1"/>
          <p:nvPr>
            <p:ph idx="1" type="body"/>
          </p:nvPr>
        </p:nvSpPr>
        <p:spPr>
          <a:xfrm>
            <a:off x="107050" y="402200"/>
            <a:ext cx="8909700" cy="28677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3 possible approaches: reservations, pricing, and dynamic adjustment.</a:t>
            </a:r>
            <a:endParaRPr/>
          </a:p>
          <a:p>
            <a:pPr indent="0" lvl="0" marL="0" rtl="0" algn="l">
              <a:spcBef>
                <a:spcPts val="600"/>
              </a:spcBef>
              <a:spcAft>
                <a:spcPts val="0"/>
              </a:spcAft>
              <a:buNone/>
            </a:pPr>
            <a:r>
              <a:rPr lang="en"/>
              <a:t>All the algorithms we'll see are based on dynamic adjustment.</a:t>
            </a:r>
            <a:endParaRPr/>
          </a:p>
          <a:p>
            <a:pPr indent="-342900" lvl="0" marL="457200" rtl="0" algn="l">
              <a:spcBef>
                <a:spcPts val="600"/>
              </a:spcBef>
              <a:spcAft>
                <a:spcPts val="0"/>
              </a:spcAft>
              <a:buSzPts val="1800"/>
              <a:buChar char="●"/>
            </a:pPr>
            <a:r>
              <a:rPr lang="en"/>
              <a:t>If we rebuilt the Internet from scratch, another approach might be feasible.</a:t>
            </a:r>
            <a:endParaRPr/>
          </a:p>
          <a:p>
            <a:pPr indent="-342900" lvl="0" marL="457200" rtl="0" algn="l">
              <a:spcBef>
                <a:spcPts val="0"/>
              </a:spcBef>
              <a:spcAft>
                <a:spcPts val="0"/>
              </a:spcAft>
              <a:buSzPts val="1800"/>
              <a:buChar char="●"/>
            </a:pPr>
            <a:r>
              <a:rPr lang="en"/>
              <a:t>But congestion control was invented as a patch on the existing Internet.</a:t>
            </a:r>
            <a:endParaRPr/>
          </a:p>
          <a:p>
            <a:pPr indent="-342900" lvl="0" marL="457200" rtl="0" algn="l">
              <a:spcBef>
                <a:spcPts val="0"/>
              </a:spcBef>
              <a:spcAft>
                <a:spcPts val="0"/>
              </a:spcAft>
              <a:buSzPts val="1800"/>
              <a:buChar char="●"/>
            </a:pPr>
            <a:r>
              <a:rPr lang="en"/>
              <a:t>Dynamic adjustment is the best fit for the existing Internet:</a:t>
            </a:r>
            <a:endParaRPr/>
          </a:p>
          <a:p>
            <a:pPr indent="-342900" lvl="1" marL="914400" rtl="0" algn="l">
              <a:spcBef>
                <a:spcPts val="0"/>
              </a:spcBef>
              <a:spcAft>
                <a:spcPts val="0"/>
              </a:spcAft>
              <a:buSzPts val="1800"/>
              <a:buChar char="○"/>
            </a:pPr>
            <a:r>
              <a:rPr lang="en"/>
              <a:t>Doesn't require knowing bandwidth ahead of time.</a:t>
            </a:r>
            <a:endParaRPr/>
          </a:p>
          <a:p>
            <a:pPr indent="-342900" lvl="1" marL="914400" rtl="0" algn="l">
              <a:spcBef>
                <a:spcPts val="0"/>
              </a:spcBef>
              <a:spcAft>
                <a:spcPts val="0"/>
              </a:spcAft>
              <a:buSzPts val="1800"/>
              <a:buChar char="○"/>
            </a:pPr>
            <a:r>
              <a:rPr lang="en"/>
              <a:t>Doesn't require a payment model.</a:t>
            </a:r>
            <a:endParaRPr/>
          </a:p>
        </p:txBody>
      </p:sp>
      <p:sp>
        <p:nvSpPr>
          <p:cNvPr id="1626" name="Google Shape;1626;p72"/>
          <p:cNvSpPr txBox="1"/>
          <p:nvPr/>
        </p:nvSpPr>
        <p:spPr>
          <a:xfrm>
            <a:off x="2971950" y="3135750"/>
            <a:ext cx="2693100" cy="270900"/>
          </a:xfrm>
          <a:prstGeom prst="rect">
            <a:avLst/>
          </a:prstGeom>
          <a:noFill/>
          <a:ln>
            <a:noFill/>
          </a:ln>
        </p:spPr>
        <p:txBody>
          <a:bodyPr anchorCtr="0" anchor="t" bIns="27425" lIns="27425" spcFirstLastPara="1" rIns="27425" wrap="square" tIns="27425">
            <a:spAutoFit/>
          </a:bodyPr>
          <a:lstStyle/>
          <a:p>
            <a:pPr indent="0" lvl="0" marL="0" rtl="0" algn="ctr">
              <a:spcBef>
                <a:spcPts val="0"/>
              </a:spcBef>
              <a:spcAft>
                <a:spcPts val="0"/>
              </a:spcAft>
              <a:buNone/>
            </a:pPr>
            <a:r>
              <a:rPr lang="en">
                <a:latin typeface="Roboto"/>
                <a:ea typeface="Roboto"/>
                <a:cs typeface="Roboto"/>
                <a:sym typeface="Roboto"/>
              </a:rPr>
              <a:t>Congestion Control Protocols</a:t>
            </a:r>
            <a:endParaRPr>
              <a:solidFill>
                <a:srgbClr val="000000"/>
              </a:solidFill>
              <a:latin typeface="Roboto"/>
              <a:ea typeface="Roboto"/>
              <a:cs typeface="Roboto"/>
              <a:sym typeface="Roboto"/>
            </a:endParaRPr>
          </a:p>
        </p:txBody>
      </p:sp>
      <p:sp>
        <p:nvSpPr>
          <p:cNvPr id="1627" name="Google Shape;1627;p72"/>
          <p:cNvSpPr txBox="1"/>
          <p:nvPr/>
        </p:nvSpPr>
        <p:spPr>
          <a:xfrm>
            <a:off x="3677400" y="3909450"/>
            <a:ext cx="1282200" cy="270900"/>
          </a:xfrm>
          <a:prstGeom prst="rect">
            <a:avLst/>
          </a:prstGeom>
          <a:noFill/>
          <a:ln>
            <a:noFill/>
          </a:ln>
        </p:spPr>
        <p:txBody>
          <a:bodyPr anchorCtr="0" anchor="t" bIns="27425" lIns="27425" spcFirstLastPara="1" rIns="27425" wrap="square" tIns="27425">
            <a:spAutoFit/>
          </a:bodyPr>
          <a:lstStyle/>
          <a:p>
            <a:pPr indent="0" lvl="0" marL="0" rtl="0" algn="ctr">
              <a:lnSpc>
                <a:spcPct val="115000"/>
              </a:lnSpc>
              <a:spcBef>
                <a:spcPts val="0"/>
              </a:spcBef>
              <a:spcAft>
                <a:spcPts val="0"/>
              </a:spcAft>
              <a:buNone/>
            </a:pPr>
            <a:r>
              <a:rPr lang="en">
                <a:latin typeface="Roboto"/>
                <a:ea typeface="Roboto"/>
                <a:cs typeface="Roboto"/>
                <a:sym typeface="Roboto"/>
              </a:rPr>
              <a:t>Pricing</a:t>
            </a:r>
            <a:endParaRPr>
              <a:solidFill>
                <a:srgbClr val="000000"/>
              </a:solidFill>
              <a:latin typeface="Roboto"/>
              <a:ea typeface="Roboto"/>
              <a:cs typeface="Roboto"/>
              <a:sym typeface="Roboto"/>
            </a:endParaRPr>
          </a:p>
        </p:txBody>
      </p:sp>
      <p:cxnSp>
        <p:nvCxnSpPr>
          <p:cNvPr id="1628" name="Google Shape;1628;p72"/>
          <p:cNvCxnSpPr>
            <a:stCxn id="1626" idx="2"/>
            <a:endCxn id="1627" idx="0"/>
          </p:cNvCxnSpPr>
          <p:nvPr/>
        </p:nvCxnSpPr>
        <p:spPr>
          <a:xfrm>
            <a:off x="4318500" y="3406650"/>
            <a:ext cx="0" cy="502800"/>
          </a:xfrm>
          <a:prstGeom prst="straightConnector1">
            <a:avLst/>
          </a:prstGeom>
          <a:noFill/>
          <a:ln cap="flat" cmpd="sng" w="9525">
            <a:solidFill>
              <a:srgbClr val="666666"/>
            </a:solidFill>
            <a:prstDash val="solid"/>
            <a:round/>
            <a:headEnd len="med" w="med" type="none"/>
            <a:tailEnd len="med" w="med" type="none"/>
          </a:ln>
        </p:spPr>
      </p:cxnSp>
      <p:sp>
        <p:nvSpPr>
          <p:cNvPr id="1629" name="Google Shape;1629;p72"/>
          <p:cNvSpPr txBox="1"/>
          <p:nvPr/>
        </p:nvSpPr>
        <p:spPr>
          <a:xfrm>
            <a:off x="2382000" y="3909450"/>
            <a:ext cx="1282200" cy="270900"/>
          </a:xfrm>
          <a:prstGeom prst="rect">
            <a:avLst/>
          </a:prstGeom>
          <a:noFill/>
          <a:ln>
            <a:noFill/>
          </a:ln>
        </p:spPr>
        <p:txBody>
          <a:bodyPr anchorCtr="0" anchor="t" bIns="27425" lIns="27425" spcFirstLastPara="1" rIns="27425" wrap="square" tIns="27425">
            <a:spAutoFit/>
          </a:bodyPr>
          <a:lstStyle/>
          <a:p>
            <a:pPr indent="0" lvl="0" marL="0" rtl="0" algn="ctr">
              <a:lnSpc>
                <a:spcPct val="115000"/>
              </a:lnSpc>
              <a:spcBef>
                <a:spcPts val="0"/>
              </a:spcBef>
              <a:spcAft>
                <a:spcPts val="0"/>
              </a:spcAft>
              <a:buNone/>
            </a:pPr>
            <a:r>
              <a:rPr lang="en">
                <a:latin typeface="Roboto"/>
                <a:ea typeface="Roboto"/>
                <a:cs typeface="Roboto"/>
                <a:sym typeface="Roboto"/>
              </a:rPr>
              <a:t>Reservations</a:t>
            </a:r>
            <a:endParaRPr>
              <a:solidFill>
                <a:srgbClr val="000000"/>
              </a:solidFill>
              <a:latin typeface="Roboto"/>
              <a:ea typeface="Roboto"/>
              <a:cs typeface="Roboto"/>
              <a:sym typeface="Roboto"/>
            </a:endParaRPr>
          </a:p>
        </p:txBody>
      </p:sp>
      <p:cxnSp>
        <p:nvCxnSpPr>
          <p:cNvPr id="1630" name="Google Shape;1630;p72"/>
          <p:cNvCxnSpPr>
            <a:stCxn id="1626" idx="2"/>
            <a:endCxn id="1629" idx="0"/>
          </p:cNvCxnSpPr>
          <p:nvPr/>
        </p:nvCxnSpPr>
        <p:spPr>
          <a:xfrm flipH="1">
            <a:off x="3023100" y="3406650"/>
            <a:ext cx="1295400" cy="502800"/>
          </a:xfrm>
          <a:prstGeom prst="straightConnector1">
            <a:avLst/>
          </a:prstGeom>
          <a:noFill/>
          <a:ln cap="flat" cmpd="sng" w="9525">
            <a:solidFill>
              <a:srgbClr val="666666"/>
            </a:solidFill>
            <a:prstDash val="solid"/>
            <a:round/>
            <a:headEnd len="med" w="med" type="none"/>
            <a:tailEnd len="med" w="med" type="none"/>
          </a:ln>
        </p:spPr>
      </p:cxnSp>
      <p:sp>
        <p:nvSpPr>
          <p:cNvPr id="1631" name="Google Shape;1631;p72"/>
          <p:cNvSpPr txBox="1"/>
          <p:nvPr/>
        </p:nvSpPr>
        <p:spPr>
          <a:xfrm>
            <a:off x="4686900" y="3909450"/>
            <a:ext cx="1854000" cy="270900"/>
          </a:xfrm>
          <a:prstGeom prst="rect">
            <a:avLst/>
          </a:prstGeom>
          <a:noFill/>
          <a:ln>
            <a:noFill/>
          </a:ln>
        </p:spPr>
        <p:txBody>
          <a:bodyPr anchorCtr="0" anchor="t" bIns="27425" lIns="27425" spcFirstLastPara="1" rIns="27425" wrap="square" tIns="27425">
            <a:spAutoFit/>
          </a:bodyPr>
          <a:lstStyle/>
          <a:p>
            <a:pPr indent="0" lvl="0" marL="0" rtl="0" algn="ctr">
              <a:lnSpc>
                <a:spcPct val="115000"/>
              </a:lnSpc>
              <a:spcBef>
                <a:spcPts val="0"/>
              </a:spcBef>
              <a:spcAft>
                <a:spcPts val="0"/>
              </a:spcAft>
              <a:buNone/>
            </a:pPr>
            <a:r>
              <a:rPr lang="en">
                <a:latin typeface="Roboto"/>
                <a:ea typeface="Roboto"/>
                <a:cs typeface="Roboto"/>
                <a:sym typeface="Roboto"/>
              </a:rPr>
              <a:t>Dynamic Adjustment</a:t>
            </a:r>
            <a:endParaRPr>
              <a:solidFill>
                <a:srgbClr val="000000"/>
              </a:solidFill>
              <a:latin typeface="Roboto"/>
              <a:ea typeface="Roboto"/>
              <a:cs typeface="Roboto"/>
              <a:sym typeface="Roboto"/>
            </a:endParaRPr>
          </a:p>
        </p:txBody>
      </p:sp>
      <p:cxnSp>
        <p:nvCxnSpPr>
          <p:cNvPr id="1632" name="Google Shape;1632;p72"/>
          <p:cNvCxnSpPr>
            <a:stCxn id="1626" idx="2"/>
            <a:endCxn id="1631" idx="0"/>
          </p:cNvCxnSpPr>
          <p:nvPr/>
        </p:nvCxnSpPr>
        <p:spPr>
          <a:xfrm>
            <a:off x="4318500" y="3406650"/>
            <a:ext cx="1295400" cy="502800"/>
          </a:xfrm>
          <a:prstGeom prst="straightConnector1">
            <a:avLst/>
          </a:prstGeom>
          <a:noFill/>
          <a:ln cap="flat" cmpd="sng" w="9525">
            <a:solidFill>
              <a:srgbClr val="666666"/>
            </a:solidFill>
            <a:prstDash val="solid"/>
            <a:round/>
            <a:headEnd len="med" w="med" type="none"/>
            <a:tailEnd len="med" w="med" type="none"/>
          </a:ln>
        </p:spPr>
      </p:cxnSp>
    </p:spTree>
  </p:cSld>
  <p:clrMapOvr>
    <a:masterClrMapping/>
  </p:clrMapOvr>
</p:sld>
</file>

<file path=ppt/theme/theme1.xml><?xml version="1.0" encoding="utf-8"?>
<a:theme xmlns:a="http://schemas.openxmlformats.org/drawingml/2006/main" xmlns:r="http://schemas.openxmlformats.org/officeDocument/2006/relationships" name="Simple Lecture">
  <a:themeElements>
    <a:clrScheme name="Simple Light">
      <a:dk1>
        <a:srgbClr val="000000"/>
      </a:dk1>
      <a:lt1>
        <a:srgbClr val="FFFFFF"/>
      </a:lt1>
      <a:dk2>
        <a:srgbClr val="666666"/>
      </a:dk2>
      <a:lt2>
        <a:srgbClr val="C9DAF8"/>
      </a:lt2>
      <a:accent1>
        <a:srgbClr val="FCE5CD"/>
      </a:accent1>
      <a:accent2>
        <a:srgbClr val="CC4125"/>
      </a:accent2>
      <a:accent3>
        <a:srgbClr val="0B5394"/>
      </a:accent3>
      <a:accent4>
        <a:srgbClr val="BF9000"/>
      </a:accent4>
      <a:accent5>
        <a:srgbClr val="6AA84F"/>
      </a:accent5>
      <a:accent6>
        <a:srgbClr val="D9D9D9"/>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