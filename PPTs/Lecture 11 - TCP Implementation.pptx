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0" r:id="rId1"/>
  </p:sldMasterIdLst>
  <p:notesMasterIdLst>
    <p:notesMasterId r:id="rId3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</p:sldIdLst>
  <p:sldSz cx="9144000" cy="5143500" type="screen16x9"/>
  <p:notesSz cx="6858000" cy="9144000"/>
  <p:embeddedFontLst>
    <p:embeddedFont>
      <p:font typeface="Consolas" panose="020B0609020204030204" pitchFamily="49" charset="0"/>
      <p:regular r:id="rId34"/>
      <p:bold r:id="rId35"/>
      <p:italic r:id="rId36"/>
      <p:boldItalic r:id="rId37"/>
    </p:embeddedFont>
    <p:embeddedFont>
      <p:font typeface="Roboto" panose="02000000000000000000" pitchFamily="2" charset="0"/>
      <p:regular r:id="rId38"/>
      <p:bold r:id="rId39"/>
      <p:italic r:id="rId40"/>
      <p:boldItalic r:id="rId41"/>
    </p:embeddedFont>
    <p:embeddedFont>
      <p:font typeface="Roboto Light" panose="02000000000000000000" pitchFamily="2" charset="0"/>
      <p:regular r:id="rId42"/>
      <p:bold r:id="rId43"/>
      <p:italic r:id="rId44"/>
      <p:boldItalic r:id="rId45"/>
    </p:embeddedFont>
    <p:embeddedFont>
      <p:font typeface="Roboto Medium" panose="02000000000000000000" pitchFamily="2" charset="0"/>
      <p:regular r:id="rId46"/>
      <p:bold r:id="rId47"/>
      <p:italic r:id="rId48"/>
      <p:boldItalic r:id="rId4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75BB827-C052-45A9-B0EF-9423D3D430B1}" v="1" dt="2026-01-31T15:58:46.034"/>
  </p1510:revLst>
</p1510:revInfo>
</file>

<file path=ppt/tableStyles.xml><?xml version="1.0" encoding="utf-8"?>
<a:tblStyleLst xmlns:a="http://schemas.openxmlformats.org/drawingml/2006/main" def="{AF03A97D-8E77-47E1-9F38-7204C9F0EF1F}">
  <a:tblStyle styleId="{AF03A97D-8E77-47E1-9F38-7204C9F0EF1F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3" d="100"/>
          <a:sy n="133" d="100"/>
        </p:scale>
        <p:origin x="906" y="12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6.fntdata"/><Relationship Id="rId21" Type="http://schemas.openxmlformats.org/officeDocument/2006/relationships/slide" Target="slides/slide20.xml"/><Relationship Id="rId34" Type="http://schemas.openxmlformats.org/officeDocument/2006/relationships/font" Target="fonts/font1.fntdata"/><Relationship Id="rId42" Type="http://schemas.openxmlformats.org/officeDocument/2006/relationships/font" Target="fonts/font9.fntdata"/><Relationship Id="rId47" Type="http://schemas.openxmlformats.org/officeDocument/2006/relationships/font" Target="fonts/font14.fntdata"/><Relationship Id="rId50" Type="http://schemas.openxmlformats.org/officeDocument/2006/relationships/presProps" Target="presProps.xml"/><Relationship Id="rId55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4.fntdata"/><Relationship Id="rId40" Type="http://schemas.openxmlformats.org/officeDocument/2006/relationships/font" Target="fonts/font7.fntdata"/><Relationship Id="rId45" Type="http://schemas.openxmlformats.org/officeDocument/2006/relationships/font" Target="fonts/font12.fntdata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11.fntdata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2.fntdata"/><Relationship Id="rId43" Type="http://schemas.openxmlformats.org/officeDocument/2006/relationships/font" Target="fonts/font10.fntdata"/><Relationship Id="rId48" Type="http://schemas.openxmlformats.org/officeDocument/2006/relationships/font" Target="fonts/font15.fntdata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font" Target="fonts/font5.fntdata"/><Relationship Id="rId46" Type="http://schemas.openxmlformats.org/officeDocument/2006/relationships/font" Target="fonts/font13.fntdata"/><Relationship Id="rId20" Type="http://schemas.openxmlformats.org/officeDocument/2006/relationships/slide" Target="slides/slide19.xml"/><Relationship Id="rId41" Type="http://schemas.openxmlformats.org/officeDocument/2006/relationships/font" Target="fonts/font8.fntdata"/><Relationship Id="rId54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3.fntdata"/><Relationship Id="rId49" Type="http://schemas.openxmlformats.org/officeDocument/2006/relationships/font" Target="fonts/font16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modSld">
      <pc:chgData name="Zonghua Gu" userId="9a7e1853e1951ef5" providerId="LiveId" clId="{CF1FAA12-072C-4ED5-BA76-0FFFAEFDB88A}" dt="2026-01-31T15:58:46.034" v="1"/>
      <pc:docMkLst>
        <pc:docMk/>
      </pc:docMkLst>
      <pc:sldChg chg="modSp mod">
        <pc:chgData name="Zonghua Gu" userId="9a7e1853e1951ef5" providerId="LiveId" clId="{CF1FAA12-072C-4ED5-BA76-0FFFAEFDB88A}" dt="2026-01-31T15:58:34.135" v="0" actId="20577"/>
        <pc:sldMkLst>
          <pc:docMk/>
          <pc:sldMk cId="0" sldId="256"/>
        </pc:sldMkLst>
        <pc:spChg chg="mod">
          <ac:chgData name="Zonghua Gu" userId="9a7e1853e1951ef5" providerId="LiveId" clId="{CF1FAA12-072C-4ED5-BA76-0FFFAEFDB88A}" dt="2026-01-31T15:58:34.135" v="0" actId="20577"/>
          <ac:spMkLst>
            <pc:docMk/>
            <pc:sldMk cId="0" sldId="256"/>
            <ac:spMk id="143" creationId="{00000000-0000-0000-0000-000000000000}"/>
          </ac:spMkLst>
        </pc:spChg>
      </pc:sldChg>
      <pc:sldChg chg="modSp modNotes">
        <pc:chgData name="Zonghua Gu" userId="9a7e1853e1951ef5" providerId="LiveId" clId="{CF1FAA12-072C-4ED5-BA76-0FFFAEFDB88A}" dt="2026-01-31T15:58:46.034" v="1"/>
        <pc:sldMkLst>
          <pc:docMk/>
          <pc:sldMk cId="0" sldId="257"/>
        </pc:sldMkLst>
        <pc:spChg chg="mod">
          <ac:chgData name="Zonghua Gu" userId="9a7e1853e1951ef5" providerId="LiveId" clId="{CF1FAA12-072C-4ED5-BA76-0FFFAEFDB88A}" dt="2026-01-31T15:58:46.034" v="1"/>
          <ac:spMkLst>
            <pc:docMk/>
            <pc:sldMk cId="0" sldId="257"/>
            <ac:spMk id="247" creationId="{00000000-0000-0000-0000-000000000000}"/>
          </ac:spMkLst>
        </pc:spChg>
      </pc:sldChg>
      <pc:sldChg chg="modSp modNotes">
        <pc:chgData name="Zonghua Gu" userId="9a7e1853e1951ef5" providerId="LiveId" clId="{CF1FAA12-072C-4ED5-BA76-0FFFAEFDB88A}" dt="2026-01-31T15:58:46.034" v="1"/>
        <pc:sldMkLst>
          <pc:docMk/>
          <pc:sldMk cId="0" sldId="267"/>
        </pc:sldMkLst>
        <pc:spChg chg="mod">
          <ac:chgData name="Zonghua Gu" userId="9a7e1853e1951ef5" providerId="LiveId" clId="{CF1FAA12-072C-4ED5-BA76-0FFFAEFDB88A}" dt="2026-01-31T15:58:46.034" v="1"/>
          <ac:spMkLst>
            <pc:docMk/>
            <pc:sldMk cId="0" sldId="267"/>
            <ac:spMk id="787" creationId="{00000000-0000-0000-0000-000000000000}"/>
          </ac:spMkLst>
        </pc:spChg>
      </pc:sldChg>
      <pc:sldChg chg="modSp modNotes">
        <pc:chgData name="Zonghua Gu" userId="9a7e1853e1951ef5" providerId="LiveId" clId="{CF1FAA12-072C-4ED5-BA76-0FFFAEFDB88A}" dt="2026-01-31T15:58:46.034" v="1"/>
        <pc:sldMkLst>
          <pc:docMk/>
          <pc:sldMk cId="0" sldId="277"/>
        </pc:sldMkLst>
        <pc:spChg chg="mod">
          <ac:chgData name="Zonghua Gu" userId="9a7e1853e1951ef5" providerId="LiveId" clId="{CF1FAA12-072C-4ED5-BA76-0FFFAEFDB88A}" dt="2026-01-31T15:58:46.034" v="1"/>
          <ac:spMkLst>
            <pc:docMk/>
            <pc:sldMk cId="0" sldId="277"/>
            <ac:spMk id="978" creationId="{00000000-0000-0000-0000-000000000000}"/>
          </ac:spMkLst>
        </pc:spChg>
      </pc:sldChg>
      <pc:sldChg chg="modSp modNotes">
        <pc:chgData name="Zonghua Gu" userId="9a7e1853e1951ef5" providerId="LiveId" clId="{CF1FAA12-072C-4ED5-BA76-0FFFAEFDB88A}" dt="2026-01-31T15:58:46.034" v="1"/>
        <pc:sldMkLst>
          <pc:docMk/>
          <pc:sldMk cId="0" sldId="283"/>
        </pc:sldMkLst>
        <pc:spChg chg="mod">
          <ac:chgData name="Zonghua Gu" userId="9a7e1853e1951ef5" providerId="LiveId" clId="{CF1FAA12-072C-4ED5-BA76-0FFFAEFDB88A}" dt="2026-01-31T15:58:46.034" v="1"/>
          <ac:spMkLst>
            <pc:docMk/>
            <pc:sldMk cId="0" sldId="283"/>
            <ac:spMk id="1289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2ea691bae84_0_1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2ea691bae84_0_1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Slides template credit: Josh Hug, Lisa Yan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today is the second half of the TCP implementation lecture and we're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0:45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going to take what we saw last time the ideas that we Ed to design reliability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0:50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we're going to formalize them into an actual protocol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And if we have time we might also do some congestion control to get ahead on that 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2ea691bae84_0_1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3" name="Google Shape;243;g2ea691bae84_0_1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1:03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TCP and the first thing we'll do is we'll take the packet view of TCP and change it to a bite view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2ea691bae84_0_2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0" name="Google Shape;250;g2ea691bae84_0_2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ecture</a:t>
            </a:r>
            <a:r>
              <a:rPr lang="en-US" altLang="zh-C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10 designed reliability; Lecture 11 maps those ideas onto real TCP bytes, state, flags, and headers</a:t>
            </a: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g2ea691bae84_0_2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6" name="Google Shape;256;g2ea691bae84_0_2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B stream that we talked about and remember the bite stream is a sequence of bytes in order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3:33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infinite length the sender has a bite stream we feed it into a pipe and then the recipient receives those exact same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3:40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bytes in the same order reliably now the only difference between this picture and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3:46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ones you've previously seen is that I have stamped numbers on every single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3:52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bite so now we have to connect this picture with the packet picture from last time and this is how we'll square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two pictures together so the way that you build a packet as byes come in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4:05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remember the sender application doesn't have to give you the entire infinite length by stream at once it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4:11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could feed you the bytes one by one for example if it's Computing data and it's sending out any results that it computes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g2ea691bae84_0_4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3" name="Google Shape;343;g2ea691bae84_0_4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g276b9ae8b0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7" name="Google Shape;447;g276b9ae8b0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so packets larger than the MTU will get fragmented and we don't want that so we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6:53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will say the IP packet is limited to MTU bites and to figure out how big one of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6:59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these segments can be we just have to do some math this whole thing can be up to MTU bytes that's a limit that's set on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7:06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Internet it's 1500 in real life but some of it's being used for the IP header so we have to subtract that off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7:13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some of it's being used for the TCP header so we subtract that off and whatever is left that number is MSS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Google Shape;464;g276b9ae8b0f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5" name="Google Shape;465;g276b9ae8b0f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here's one thing we haven't talked about that is important for security and that is the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7:56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fact that sequence numbers actually shouldn't start at zero if you want to know why the security course cs161 goes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8:02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into a lot more detail of why this is the case but just know for this class that there is a very important security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8:09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reason and for that reason we cannot start the counting at zero instead we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8:14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have to pick some random number and here we'll call it Isn initial sequence number and then just start at that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8:21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number and start counting up so if that number is 120 okay great then the first bite is 121 and then 122 and then 123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8:30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then 124 and so on this doesn't really change anything we've talked about so far it's still a bite stream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8:37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and you're still counting the bytes all the way up the only difference is don't start counting from zero that's the only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8:44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difference and it doesn't change any of the other implementation details but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Google Shape;544;g276b9ae8b0f_0_1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5" name="Google Shape;545;g276b9ae8b0f_0_1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Google Shape;647;g276b9ae8b0f_0_3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8" name="Google Shape;648;g276b9ae8b0f_0_3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Google Shape;751;g2ea7889d45f_0_4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2" name="Google Shape;752;g2ea7889d45f_0_4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ea7889d45f_0_4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8" name="Google Shape;758;g2ea7889d45f_0_4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2" name="Google Shape;782;g276b9ae8b0f_0_4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3" name="Google Shape;783;g276b9ae8b0f_0_4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9" name="Google Shape;789;g276b9ae8b0f_0_4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0" name="Google Shape;790;g276b9ae8b0f_0_4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g276b9ae8b0f_0_4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6" name="Google Shape;796;g276b9ae8b0f_0_4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altLang="zh-CN" dirty="0"/>
              <a:t>To support full-duplex connections: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g276b9ae8b0f_0_4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5" name="Google Shape;825;g276b9ae8b0f_0_4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3" name="Google Shape;843;g276b9ae8b0f_0_5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4" name="Google Shape;844;g276b9ae8b0f_0_5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Google Shape;865;g276b9ae8b0f_0_5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6" name="Google Shape;866;g276b9ae8b0f_0_5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4" name="Google Shape;884;g276b9ae8b0f_0_5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5" name="Google Shape;885;g276b9ae8b0f_0_5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g276b9ae8b0f_0_6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3" name="Google Shape;943;g276b9ae8b0f_0_6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7" name="Google Shape;967;g27a17e4937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8" name="Google Shape;968;g27a17e4937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g2ea7889d45f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4" name="Google Shape;974;g2ea7889d45f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0" name="Google Shape;980;g2ea7889d45f_0_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1" name="Google Shape;981;g2ea7889d45f_0_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1" name="Google Shape;1041;g2ea7889d45f_0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2" name="Google Shape;1042;g2ea7889d45f_0_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2" name="Google Shape;1102;g2ea7889d45f_0_1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3" name="Google Shape;1103;g2ea7889d45f_0_1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3" name="Google Shape;1163;g2ea7889d45f_0_2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4" name="Google Shape;1164;g2ea7889d45f_0_2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4" name="Google Shape;1224;g2ea7889d45f_0_3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5" name="Google Shape;1225;g2ea7889d45f_0_3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4" name="Google Shape;1284;g2ea7889d45f_0_5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5" name="Google Shape;1285;g2ea7889d45f_0_5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1" name="Google Shape;1291;g2ea7889d45f_0_5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2" name="Google Shape;1292;g2ea7889d45f_0_5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8" name="Google Shape;1298;g2ea7889d45f_0_5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9" name="Google Shape;1299;g2ea7889d45f_0_5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5" name="Google Shape;1305;g2ea7889d45f_0_5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6" name="Google Shape;1306;g2ea7889d45f_0_5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2" name="Google Shape;1312;g2ea7889d45f_0_5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3" name="Google Shape;1313;g2ea7889d45f_0_5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1pPr>
            <a:lvl2pPr lvl="1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2pPr>
            <a:lvl3pPr lvl="2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3pPr>
            <a:lvl4pPr lvl="3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4pPr>
            <a:lvl5pPr lvl="4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5pPr>
            <a:lvl6pPr lvl="5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6pPr>
            <a:lvl7pPr lvl="6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7pPr>
            <a:lvl8pPr lvl="7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8pPr>
            <a:lvl9pPr lvl="8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153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153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b="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1" name="Google Shape;21;p4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oadmap">
  <p:cSld name="SECTION_TITLE_AND_DESCRIPTION_1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cxnSp>
        <p:nvCxnSpPr>
          <p:cNvPr id="27" name="Google Shape;27;p5"/>
          <p:cNvCxnSpPr/>
          <p:nvPr/>
        </p:nvCxnSpPr>
        <p:spPr>
          <a:xfrm>
            <a:off x="266975" y="4049175"/>
            <a:ext cx="4038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" name="Google Shape;28;p5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mo slide right">
  <p:cSld name="SECTION_TITLE_AND_DESCRIPTION_2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subTitle" idx="1"/>
          </p:nvPr>
        </p:nvSpPr>
        <p:spPr>
          <a:xfrm>
            <a:off x="4835400" y="4198275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3" name="Google Shape;33;p6"/>
          <p:cNvSpPr txBox="1"/>
          <p:nvPr/>
        </p:nvSpPr>
        <p:spPr>
          <a:xfrm>
            <a:off x="6365900" y="3724875"/>
            <a:ext cx="25911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" name="Google Shape;34;p6"/>
          <p:cNvSpPr txBox="1">
            <a:spLocks noGrp="1"/>
          </p:cNvSpPr>
          <p:nvPr>
            <p:ph type="body" idx="2"/>
          </p:nvPr>
        </p:nvSpPr>
        <p:spPr>
          <a:xfrm>
            <a:off x="95425" y="402200"/>
            <a:ext cx="43023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36" name="Google Shape;36;p6"/>
          <p:cNvCxnSpPr/>
          <p:nvPr/>
        </p:nvCxnSpPr>
        <p:spPr>
          <a:xfrm>
            <a:off x="95431" y="402210"/>
            <a:ext cx="43521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mo slide left">
  <p:cSld name="SECTION_TITLE_AND_DESCRIPTION_2_1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7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0" name="Google Shape;40;p7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" name="Google Shape;41;p7"/>
          <p:cNvSpPr txBox="1">
            <a:spLocks noGrp="1"/>
          </p:cNvSpPr>
          <p:nvPr>
            <p:ph type="body" idx="2"/>
          </p:nvPr>
        </p:nvSpPr>
        <p:spPr>
          <a:xfrm>
            <a:off x="4667425" y="402200"/>
            <a:ext cx="43023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title"/>
          </p:nvPr>
        </p:nvSpPr>
        <p:spPr>
          <a:xfrm>
            <a:off x="4572000" y="0"/>
            <a:ext cx="4572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43" name="Google Shape;43;p7"/>
          <p:cNvCxnSpPr/>
          <p:nvPr/>
        </p:nvCxnSpPr>
        <p:spPr>
          <a:xfrm>
            <a:off x="4667431" y="402210"/>
            <a:ext cx="43521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44" name="Google Shape;44;p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">
  <p:cSld name="SECTION_TITLE_AND_DESCRIPTION_2_1_1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8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51" name="Google Shape;51;p8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52" name="Google Shape;52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" name="Google Shape;54;p8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 1">
  <p:cSld name="SECTION_TITLE_AND_DESCRIPTION_2_1_1_2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9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8" name="Google Shape;58;p9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Compare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" name="Google Shape;59;p9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61" name="Google Shape;61;p9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62" name="Google Shape;62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 Solution">
  <p:cSld name="SECTION_TITLE_AND_DESCRIPTION_2_1_1_1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0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67" name="Google Shape;67;p10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Solution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" name="Google Shape;68;p10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70" name="Google Shape;70;p10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71" name="Google Shape;71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body" idx="1"/>
          </p:nvPr>
        </p:nvSpPr>
        <p:spPr>
          <a:xfrm>
            <a:off x="481238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77" name="Google Shape;77;p11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8" name="Google Shape;78;p11"/>
          <p:cNvSpPr txBox="1">
            <a:spLocks noGrp="1"/>
          </p:cNvSpPr>
          <p:nvPr>
            <p:ph type="body" idx="2"/>
          </p:nvPr>
        </p:nvSpPr>
        <p:spPr>
          <a:xfrm>
            <a:off x="9543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2" name="Google Shape;82;p12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85" name="Google Shape;85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_TITLE_AND_DESCRIPTION_3">
  <p:cSld name="SECTION_TITLE_AND_DESCRIPTION_3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4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89" name="Google Shape;89;p14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90" name="Google Shape;90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1" name="Google Shape;91;p14"/>
          <p:cNvSpPr txBox="1">
            <a:spLocks noGrp="1"/>
          </p:cNvSpPr>
          <p:nvPr>
            <p:ph type="body" idx="2"/>
          </p:nvPr>
        </p:nvSpPr>
        <p:spPr>
          <a:xfrm>
            <a:off x="481238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4" name="Google Shape;94;p15"/>
          <p:cNvSpPr txBox="1">
            <a:spLocks noGrp="1"/>
          </p:cNvSpPr>
          <p:nvPr>
            <p:ph type="title"/>
          </p:nvPr>
        </p:nvSpPr>
        <p:spPr>
          <a:xfrm>
            <a:off x="95425" y="4288400"/>
            <a:ext cx="8658900" cy="76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None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cxnSp>
        <p:nvCxnSpPr>
          <p:cNvPr id="95" name="Google Shape;95;p15"/>
          <p:cNvCxnSpPr/>
          <p:nvPr/>
        </p:nvCxnSpPr>
        <p:spPr>
          <a:xfrm>
            <a:off x="168250" y="4288400"/>
            <a:ext cx="8757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dark">
  <p:cSld name="BLANK_1">
    <p:bg>
      <p:bgPr>
        <a:solidFill>
          <a:schemeClr val="dk1"/>
        </a:solidFill>
        <a:effectLst/>
      </p:bgPr>
    </p:bg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erlude">
  <p:cSld name="SECTION_TITLE_AND_DESCRIPTION_1_3"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8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3" name="Google Shape;103;p18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pic>
        <p:nvPicPr>
          <p:cNvPr id="104" name="Google Shape;104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8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cxnSp>
        <p:nvCxnSpPr>
          <p:cNvPr id="106" name="Google Shape;106;p18"/>
          <p:cNvCxnSpPr/>
          <p:nvPr/>
        </p:nvCxnSpPr>
        <p:spPr>
          <a:xfrm>
            <a:off x="266975" y="4049175"/>
            <a:ext cx="4038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7" name="Google Shape;107;p18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 1">
  <p:cSld name="SECTION_TITLE_AND_DESCRIPTION_1_1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1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11" name="Google Shape;111;p1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12" name="Google Shape;112;p1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3" name="Google Shape;113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on left">
  <p:cSld name="SECTION_TITLE_AND_DESCRIPTION_1_1_1"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0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20"/>
          <p:cNvSpPr txBox="1">
            <a:spLocks noGrp="1"/>
          </p:cNvSpPr>
          <p:nvPr>
            <p:ph type="body" idx="1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8" name="Google Shape;118;p20"/>
          <p:cNvSpPr txBox="1">
            <a:spLocks noGrp="1"/>
          </p:cNvSpPr>
          <p:nvPr>
            <p:ph type="body" idx="2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9" name="Google Shape;119;p20"/>
          <p:cNvSpPr txBox="1">
            <a:spLocks noGrp="1"/>
          </p:cNvSpPr>
          <p:nvPr>
            <p:ph type="title"/>
          </p:nvPr>
        </p:nvSpPr>
        <p:spPr>
          <a:xfrm>
            <a:off x="4882900" y="4450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20" name="Google Shape;120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left, Heading">
  <p:cSld name="SECTION_TITLE_AND_DESCRIPTION_1_1_1_1"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4" name="Google Shape;124;p21"/>
          <p:cNvSpPr txBox="1">
            <a:spLocks noGrp="1"/>
          </p:cNvSpPr>
          <p:nvPr>
            <p:ph type="body" idx="1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5" name="Google Shape;125;p21"/>
          <p:cNvSpPr txBox="1">
            <a:spLocks noGrp="1"/>
          </p:cNvSpPr>
          <p:nvPr>
            <p:ph type="body" idx="2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6" name="Google Shape;126;p21"/>
          <p:cNvSpPr txBox="1">
            <a:spLocks noGrp="1"/>
          </p:cNvSpPr>
          <p:nvPr>
            <p:ph type="subTitle" idx="3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27" name="Google Shape;127;p21"/>
          <p:cNvSpPr txBox="1">
            <a:spLocks noGrp="1"/>
          </p:cNvSpPr>
          <p:nvPr>
            <p:ph type="title"/>
          </p:nvPr>
        </p:nvSpPr>
        <p:spPr>
          <a:xfrm>
            <a:off x="208450" y="34184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pic>
        <p:nvPicPr>
          <p:cNvPr id="128" name="Google Shape;128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SECTION_HEADER_1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31" name="Google Shape;131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on right">
  <p:cSld name="SECTION_TITLE_AND_DESCRIPTION_1_2"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3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5" name="Google Shape;135;p23"/>
          <p:cNvSpPr txBox="1">
            <a:spLocks noGrp="1"/>
          </p:cNvSpPr>
          <p:nvPr>
            <p:ph type="body" idx="1"/>
          </p:nvPr>
        </p:nvSpPr>
        <p:spPr>
          <a:xfrm>
            <a:off x="3117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6" name="Google Shape;136;p23"/>
          <p:cNvSpPr txBox="1">
            <a:spLocks noGrp="1"/>
          </p:cNvSpPr>
          <p:nvPr>
            <p:ph type="body" idx="2"/>
          </p:nvPr>
        </p:nvSpPr>
        <p:spPr>
          <a:xfrm>
            <a:off x="4882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7" name="Google Shape;137;p2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1600"/>
              <a:buFont typeface="Roboto Medium"/>
              <a:buNone/>
              <a:defRPr sz="16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57270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</a:t>
            </a:fld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311700" y="3854350"/>
            <a:ext cx="8520600" cy="65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1600" dirty="0">
              <a:solidFill>
                <a:srgbClr val="000000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44" name="Google Shape;144;p24"/>
          <p:cNvSpPr txBox="1"/>
          <p:nvPr/>
        </p:nvSpPr>
        <p:spPr>
          <a:xfrm>
            <a:off x="311700" y="1658975"/>
            <a:ext cx="8709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rPr>
              <a:t>TCP Implementation</a:t>
            </a:r>
            <a:endParaRPr sz="3600">
              <a:solidFill>
                <a:srgbClr val="0B5394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sp>
        <p:nvSpPr>
          <p:cNvPr id="145" name="Google Shape;145;p24"/>
          <p:cNvSpPr txBox="1"/>
          <p:nvPr/>
        </p:nvSpPr>
        <p:spPr>
          <a:xfrm>
            <a:off x="345775" y="2740300"/>
            <a:ext cx="2762700" cy="2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F9000"/>
                </a:solidFill>
                <a:latin typeface="Roboto Medium"/>
                <a:ea typeface="Roboto Medium"/>
                <a:cs typeface="Roboto Medium"/>
                <a:sym typeface="Roboto Medium"/>
              </a:rPr>
              <a:t>Lecture 11 (Transport 2)</a:t>
            </a:r>
            <a:endParaRPr sz="1200">
              <a:solidFill>
                <a:srgbClr val="BF9000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sp>
        <p:nvSpPr>
          <p:cNvPr id="146" name="Google Shape;146;p24"/>
          <p:cNvSpPr/>
          <p:nvPr/>
        </p:nvSpPr>
        <p:spPr>
          <a:xfrm>
            <a:off x="3966596" y="1647395"/>
            <a:ext cx="1178400" cy="232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7" name="Google Shape;147;p24"/>
          <p:cNvCxnSpPr>
            <a:endCxn id="148" idx="1"/>
          </p:cNvCxnSpPr>
          <p:nvPr/>
        </p:nvCxnSpPr>
        <p:spPr>
          <a:xfrm>
            <a:off x="4555873" y="1878833"/>
            <a:ext cx="0" cy="229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49" name="Google Shape;149;p24"/>
          <p:cNvCxnSpPr>
            <a:endCxn id="150" idx="1"/>
          </p:cNvCxnSpPr>
          <p:nvPr/>
        </p:nvCxnSpPr>
        <p:spPr>
          <a:xfrm>
            <a:off x="4686809" y="1878833"/>
            <a:ext cx="0" cy="229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1" name="Google Shape;151;p24"/>
          <p:cNvCxnSpPr>
            <a:endCxn id="152" idx="1"/>
          </p:cNvCxnSpPr>
          <p:nvPr/>
        </p:nvCxnSpPr>
        <p:spPr>
          <a:xfrm>
            <a:off x="4817744" y="1878833"/>
            <a:ext cx="0" cy="229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3" name="Google Shape;153;p24"/>
          <p:cNvCxnSpPr>
            <a:endCxn id="154" idx="1"/>
          </p:cNvCxnSpPr>
          <p:nvPr/>
        </p:nvCxnSpPr>
        <p:spPr>
          <a:xfrm>
            <a:off x="4948680" y="1878833"/>
            <a:ext cx="0" cy="229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5" name="Google Shape;155;p24"/>
          <p:cNvCxnSpPr>
            <a:endCxn id="156" idx="1"/>
          </p:cNvCxnSpPr>
          <p:nvPr/>
        </p:nvCxnSpPr>
        <p:spPr>
          <a:xfrm>
            <a:off x="5079616" y="1878833"/>
            <a:ext cx="0" cy="229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7" name="Google Shape;157;p24"/>
          <p:cNvCxnSpPr>
            <a:endCxn id="158" idx="1"/>
          </p:cNvCxnSpPr>
          <p:nvPr/>
        </p:nvCxnSpPr>
        <p:spPr>
          <a:xfrm>
            <a:off x="4424938" y="1878833"/>
            <a:ext cx="0" cy="229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9" name="Google Shape;159;p24"/>
          <p:cNvCxnSpPr>
            <a:endCxn id="160" idx="1"/>
          </p:cNvCxnSpPr>
          <p:nvPr/>
        </p:nvCxnSpPr>
        <p:spPr>
          <a:xfrm>
            <a:off x="4294002" y="1878833"/>
            <a:ext cx="0" cy="229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61" name="Google Shape;161;p24"/>
          <p:cNvCxnSpPr>
            <a:endCxn id="162" idx="1"/>
          </p:cNvCxnSpPr>
          <p:nvPr/>
        </p:nvCxnSpPr>
        <p:spPr>
          <a:xfrm>
            <a:off x="4163067" y="1878833"/>
            <a:ext cx="0" cy="229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63" name="Google Shape;163;p24"/>
          <p:cNvCxnSpPr>
            <a:endCxn id="164" idx="1"/>
          </p:cNvCxnSpPr>
          <p:nvPr/>
        </p:nvCxnSpPr>
        <p:spPr>
          <a:xfrm>
            <a:off x="4032131" y="1878833"/>
            <a:ext cx="0" cy="229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65" name="Google Shape;165;p24"/>
          <p:cNvSpPr/>
          <p:nvPr/>
        </p:nvSpPr>
        <p:spPr>
          <a:xfrm rot="5400000">
            <a:off x="3523317" y="631430"/>
            <a:ext cx="540600" cy="1308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6" name="Google Shape;166;p24"/>
          <p:cNvSpPr/>
          <p:nvPr/>
        </p:nvSpPr>
        <p:spPr>
          <a:xfrm rot="5400000">
            <a:off x="3654253" y="631430"/>
            <a:ext cx="540600" cy="1308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7" name="Google Shape;167;p24"/>
          <p:cNvSpPr/>
          <p:nvPr/>
        </p:nvSpPr>
        <p:spPr>
          <a:xfrm rot="5400000">
            <a:off x="3785188" y="631430"/>
            <a:ext cx="540600" cy="1308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8" name="Google Shape;168;p24"/>
          <p:cNvSpPr/>
          <p:nvPr/>
        </p:nvSpPr>
        <p:spPr>
          <a:xfrm rot="5400000">
            <a:off x="3916124" y="631430"/>
            <a:ext cx="540600" cy="1308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9" name="Google Shape;169;p24"/>
          <p:cNvSpPr/>
          <p:nvPr/>
        </p:nvSpPr>
        <p:spPr>
          <a:xfrm rot="5400000">
            <a:off x="4047060" y="631430"/>
            <a:ext cx="540600" cy="1308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0" name="Google Shape;170;p24"/>
          <p:cNvSpPr/>
          <p:nvPr/>
        </p:nvSpPr>
        <p:spPr>
          <a:xfrm rot="5400000">
            <a:off x="4177995" y="631430"/>
            <a:ext cx="540600" cy="1308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1" name="Google Shape;171;p24"/>
          <p:cNvSpPr/>
          <p:nvPr/>
        </p:nvSpPr>
        <p:spPr>
          <a:xfrm rot="5400000">
            <a:off x="4308931" y="631430"/>
            <a:ext cx="540600" cy="1308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2" name="Google Shape;172;p24"/>
          <p:cNvSpPr/>
          <p:nvPr/>
        </p:nvSpPr>
        <p:spPr>
          <a:xfrm rot="5400000">
            <a:off x="4439866" y="631430"/>
            <a:ext cx="540600" cy="1308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3" name="Google Shape;173;p24"/>
          <p:cNvSpPr/>
          <p:nvPr/>
        </p:nvSpPr>
        <p:spPr>
          <a:xfrm rot="5400000">
            <a:off x="4570802" y="631430"/>
            <a:ext cx="540600" cy="1308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4" name="Google Shape;174;p24"/>
          <p:cNvSpPr/>
          <p:nvPr/>
        </p:nvSpPr>
        <p:spPr>
          <a:xfrm rot="5400000">
            <a:off x="4701737" y="631430"/>
            <a:ext cx="540600" cy="1308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5" name="Google Shape;175;p24"/>
          <p:cNvSpPr/>
          <p:nvPr/>
        </p:nvSpPr>
        <p:spPr>
          <a:xfrm rot="5400000">
            <a:off x="4832673" y="631430"/>
            <a:ext cx="540600" cy="1308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6" name="Google Shape;176;p24"/>
          <p:cNvSpPr/>
          <p:nvPr/>
        </p:nvSpPr>
        <p:spPr>
          <a:xfrm rot="5400000">
            <a:off x="4963608" y="631430"/>
            <a:ext cx="540600" cy="1308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7" name="Google Shape;177;p24"/>
          <p:cNvSpPr/>
          <p:nvPr/>
        </p:nvSpPr>
        <p:spPr>
          <a:xfrm rot="5400000">
            <a:off x="5094544" y="631430"/>
            <a:ext cx="540600" cy="1308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8" name="Google Shape;178;p24"/>
          <p:cNvSpPr/>
          <p:nvPr/>
        </p:nvSpPr>
        <p:spPr>
          <a:xfrm rot="5400000">
            <a:off x="5225479" y="631430"/>
            <a:ext cx="540600" cy="1308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" name="Google Shape;179;p24"/>
          <p:cNvSpPr/>
          <p:nvPr/>
        </p:nvSpPr>
        <p:spPr>
          <a:xfrm rot="5400000">
            <a:off x="5356415" y="631430"/>
            <a:ext cx="540600" cy="1308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0" name="Google Shape;180;p24"/>
          <p:cNvSpPr/>
          <p:nvPr/>
        </p:nvSpPr>
        <p:spPr>
          <a:xfrm rot="5400000">
            <a:off x="5487350" y="631430"/>
            <a:ext cx="540600" cy="1308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1" name="Google Shape;181;p24"/>
          <p:cNvSpPr/>
          <p:nvPr/>
        </p:nvSpPr>
        <p:spPr>
          <a:xfrm rot="5400000">
            <a:off x="5618286" y="631430"/>
            <a:ext cx="540600" cy="1308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2" name="Google Shape;182;p24"/>
          <p:cNvSpPr/>
          <p:nvPr/>
        </p:nvSpPr>
        <p:spPr>
          <a:xfrm rot="5400000">
            <a:off x="5749222" y="631430"/>
            <a:ext cx="540600" cy="1308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3" name="Google Shape;183;p24"/>
          <p:cNvSpPr/>
          <p:nvPr/>
        </p:nvSpPr>
        <p:spPr>
          <a:xfrm rot="5400000">
            <a:off x="5880157" y="631430"/>
            <a:ext cx="540600" cy="1308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4" name="Google Shape;184;p24"/>
          <p:cNvSpPr/>
          <p:nvPr/>
        </p:nvSpPr>
        <p:spPr>
          <a:xfrm rot="5400000">
            <a:off x="6011093" y="631430"/>
            <a:ext cx="540600" cy="1308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5" name="Google Shape;185;p24"/>
          <p:cNvSpPr/>
          <p:nvPr/>
        </p:nvSpPr>
        <p:spPr>
          <a:xfrm rot="5400000">
            <a:off x="6142028" y="631430"/>
            <a:ext cx="540600" cy="1308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6" name="Google Shape;186;p24"/>
          <p:cNvSpPr/>
          <p:nvPr/>
        </p:nvSpPr>
        <p:spPr>
          <a:xfrm rot="5400000">
            <a:off x="6272964" y="631430"/>
            <a:ext cx="540600" cy="1308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7" name="Google Shape;187;p24"/>
          <p:cNvSpPr/>
          <p:nvPr/>
        </p:nvSpPr>
        <p:spPr>
          <a:xfrm rot="5400000">
            <a:off x="6403899" y="631430"/>
            <a:ext cx="540600" cy="1308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8" name="Google Shape;188;p24"/>
          <p:cNvSpPr/>
          <p:nvPr/>
        </p:nvSpPr>
        <p:spPr>
          <a:xfrm rot="5400000">
            <a:off x="6534835" y="631430"/>
            <a:ext cx="540600" cy="1308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9" name="Google Shape;189;p24"/>
          <p:cNvSpPr/>
          <p:nvPr/>
        </p:nvSpPr>
        <p:spPr>
          <a:xfrm rot="5400000">
            <a:off x="6665770" y="631430"/>
            <a:ext cx="540600" cy="1308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0" name="Google Shape;190;p24"/>
          <p:cNvSpPr/>
          <p:nvPr/>
        </p:nvSpPr>
        <p:spPr>
          <a:xfrm rot="5400000">
            <a:off x="6796706" y="631430"/>
            <a:ext cx="540600" cy="1308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1" name="Google Shape;191;p24"/>
          <p:cNvSpPr/>
          <p:nvPr/>
        </p:nvSpPr>
        <p:spPr>
          <a:xfrm rot="5400000">
            <a:off x="6927641" y="631430"/>
            <a:ext cx="540600" cy="1308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2" name="Google Shape;192;p24"/>
          <p:cNvSpPr/>
          <p:nvPr/>
        </p:nvSpPr>
        <p:spPr>
          <a:xfrm rot="5400000">
            <a:off x="7058577" y="631430"/>
            <a:ext cx="540600" cy="1308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3" name="Google Shape;193;p24"/>
          <p:cNvSpPr/>
          <p:nvPr/>
        </p:nvSpPr>
        <p:spPr>
          <a:xfrm rot="5400000">
            <a:off x="7189512" y="631430"/>
            <a:ext cx="540600" cy="1308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4" name="Google Shape;194;p24"/>
          <p:cNvSpPr/>
          <p:nvPr/>
        </p:nvSpPr>
        <p:spPr>
          <a:xfrm rot="5400000">
            <a:off x="7320448" y="631430"/>
            <a:ext cx="540600" cy="1308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5" name="Google Shape;195;p24"/>
          <p:cNvSpPr/>
          <p:nvPr/>
        </p:nvSpPr>
        <p:spPr>
          <a:xfrm rot="5400000">
            <a:off x="7451384" y="631430"/>
            <a:ext cx="540600" cy="1308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6" name="Google Shape;196;p24"/>
          <p:cNvSpPr/>
          <p:nvPr/>
        </p:nvSpPr>
        <p:spPr>
          <a:xfrm rot="5400000">
            <a:off x="7582319" y="631430"/>
            <a:ext cx="540600" cy="1308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7" name="Google Shape;197;p24"/>
          <p:cNvSpPr/>
          <p:nvPr/>
        </p:nvSpPr>
        <p:spPr>
          <a:xfrm rot="5400000">
            <a:off x="7713255" y="631430"/>
            <a:ext cx="540600" cy="1308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8" name="Google Shape;198;p24"/>
          <p:cNvSpPr/>
          <p:nvPr/>
        </p:nvSpPr>
        <p:spPr>
          <a:xfrm rot="5400000">
            <a:off x="7844190" y="631430"/>
            <a:ext cx="540600" cy="1308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9" name="Google Shape;199;p24"/>
          <p:cNvSpPr/>
          <p:nvPr/>
        </p:nvSpPr>
        <p:spPr>
          <a:xfrm rot="5400000">
            <a:off x="7975126" y="631430"/>
            <a:ext cx="540600" cy="1308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0" name="Google Shape;200;p24"/>
          <p:cNvSpPr/>
          <p:nvPr/>
        </p:nvSpPr>
        <p:spPr>
          <a:xfrm rot="5400000">
            <a:off x="8106061" y="631430"/>
            <a:ext cx="540600" cy="1308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1" name="Google Shape;201;p24"/>
          <p:cNvSpPr/>
          <p:nvPr/>
        </p:nvSpPr>
        <p:spPr>
          <a:xfrm>
            <a:off x="3728082" y="1195296"/>
            <a:ext cx="1178400" cy="232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4" name="Google Shape;164;p24"/>
          <p:cNvSpPr/>
          <p:nvPr/>
        </p:nvSpPr>
        <p:spPr>
          <a:xfrm rot="5400000">
            <a:off x="3761831" y="2312933"/>
            <a:ext cx="540600" cy="1308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2" name="Google Shape;162;p24"/>
          <p:cNvSpPr/>
          <p:nvPr/>
        </p:nvSpPr>
        <p:spPr>
          <a:xfrm rot="5400000">
            <a:off x="3892767" y="2312933"/>
            <a:ext cx="540600" cy="1308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0" name="Google Shape;160;p24"/>
          <p:cNvSpPr/>
          <p:nvPr/>
        </p:nvSpPr>
        <p:spPr>
          <a:xfrm rot="5400000">
            <a:off x="4023702" y="2312933"/>
            <a:ext cx="540600" cy="1308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8" name="Google Shape;158;p24"/>
          <p:cNvSpPr/>
          <p:nvPr/>
        </p:nvSpPr>
        <p:spPr>
          <a:xfrm rot="5400000">
            <a:off x="4154638" y="2312933"/>
            <a:ext cx="540600" cy="1308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8" name="Google Shape;148;p24"/>
          <p:cNvSpPr/>
          <p:nvPr/>
        </p:nvSpPr>
        <p:spPr>
          <a:xfrm rot="5400000">
            <a:off x="4285573" y="2312933"/>
            <a:ext cx="540600" cy="1308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0" name="Google Shape;150;p24"/>
          <p:cNvSpPr/>
          <p:nvPr/>
        </p:nvSpPr>
        <p:spPr>
          <a:xfrm rot="5400000">
            <a:off x="4416509" y="2312933"/>
            <a:ext cx="540600" cy="1308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2" name="Google Shape;152;p24"/>
          <p:cNvSpPr/>
          <p:nvPr/>
        </p:nvSpPr>
        <p:spPr>
          <a:xfrm rot="5400000">
            <a:off x="4547444" y="2312933"/>
            <a:ext cx="540600" cy="1308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4" name="Google Shape;154;p24"/>
          <p:cNvSpPr/>
          <p:nvPr/>
        </p:nvSpPr>
        <p:spPr>
          <a:xfrm rot="5400000">
            <a:off x="4678380" y="2312933"/>
            <a:ext cx="540600" cy="1308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6" name="Google Shape;156;p24"/>
          <p:cNvSpPr/>
          <p:nvPr/>
        </p:nvSpPr>
        <p:spPr>
          <a:xfrm rot="5400000">
            <a:off x="4809316" y="2312933"/>
            <a:ext cx="540600" cy="1308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2" name="Google Shape;202;p24"/>
          <p:cNvSpPr/>
          <p:nvPr/>
        </p:nvSpPr>
        <p:spPr>
          <a:xfrm rot="5400000">
            <a:off x="4940251" y="2312933"/>
            <a:ext cx="540600" cy="1308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3" name="Google Shape;203;p24"/>
          <p:cNvSpPr/>
          <p:nvPr/>
        </p:nvSpPr>
        <p:spPr>
          <a:xfrm rot="5400000">
            <a:off x="5071187" y="2312933"/>
            <a:ext cx="540600" cy="1308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4" name="Google Shape;204;p24"/>
          <p:cNvSpPr/>
          <p:nvPr/>
        </p:nvSpPr>
        <p:spPr>
          <a:xfrm rot="5400000">
            <a:off x="5202122" y="2312933"/>
            <a:ext cx="540600" cy="1308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5" name="Google Shape;205;p24"/>
          <p:cNvSpPr/>
          <p:nvPr/>
        </p:nvSpPr>
        <p:spPr>
          <a:xfrm rot="5400000">
            <a:off x="5333058" y="2312933"/>
            <a:ext cx="540600" cy="1308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6" name="Google Shape;206;p24"/>
          <p:cNvSpPr/>
          <p:nvPr/>
        </p:nvSpPr>
        <p:spPr>
          <a:xfrm rot="5400000">
            <a:off x="5463993" y="2312933"/>
            <a:ext cx="540600" cy="1308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7" name="Google Shape;207;p24"/>
          <p:cNvSpPr/>
          <p:nvPr/>
        </p:nvSpPr>
        <p:spPr>
          <a:xfrm rot="5400000">
            <a:off x="5594929" y="2312933"/>
            <a:ext cx="540600" cy="1308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8" name="Google Shape;208;p24"/>
          <p:cNvSpPr/>
          <p:nvPr/>
        </p:nvSpPr>
        <p:spPr>
          <a:xfrm rot="5400000">
            <a:off x="5725864" y="2312933"/>
            <a:ext cx="540600" cy="1308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9" name="Google Shape;209;p24"/>
          <p:cNvSpPr/>
          <p:nvPr/>
        </p:nvSpPr>
        <p:spPr>
          <a:xfrm rot="5400000">
            <a:off x="5856800" y="2312933"/>
            <a:ext cx="540600" cy="1308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0" name="Google Shape;210;p24"/>
          <p:cNvSpPr/>
          <p:nvPr/>
        </p:nvSpPr>
        <p:spPr>
          <a:xfrm rot="5400000">
            <a:off x="5987735" y="2312933"/>
            <a:ext cx="540600" cy="1308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1" name="Google Shape;211;p24"/>
          <p:cNvSpPr/>
          <p:nvPr/>
        </p:nvSpPr>
        <p:spPr>
          <a:xfrm rot="5400000">
            <a:off x="6118671" y="2312933"/>
            <a:ext cx="540600" cy="1308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2" name="Google Shape;212;p24"/>
          <p:cNvSpPr/>
          <p:nvPr/>
        </p:nvSpPr>
        <p:spPr>
          <a:xfrm rot="5400000">
            <a:off x="6249606" y="2312933"/>
            <a:ext cx="540600" cy="1308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3" name="Google Shape;213;p24"/>
          <p:cNvSpPr/>
          <p:nvPr/>
        </p:nvSpPr>
        <p:spPr>
          <a:xfrm rot="5400000">
            <a:off x="6380542" y="2312933"/>
            <a:ext cx="540600" cy="1308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4" name="Google Shape;214;p24"/>
          <p:cNvSpPr/>
          <p:nvPr/>
        </p:nvSpPr>
        <p:spPr>
          <a:xfrm rot="5400000">
            <a:off x="6511477" y="2312933"/>
            <a:ext cx="540600" cy="1308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5" name="Google Shape;215;p24"/>
          <p:cNvSpPr/>
          <p:nvPr/>
        </p:nvSpPr>
        <p:spPr>
          <a:xfrm rot="5400000">
            <a:off x="6642413" y="2312933"/>
            <a:ext cx="540600" cy="1308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6" name="Google Shape;216;p24"/>
          <p:cNvSpPr/>
          <p:nvPr/>
        </p:nvSpPr>
        <p:spPr>
          <a:xfrm rot="5400000">
            <a:off x="6773349" y="2312933"/>
            <a:ext cx="540600" cy="1308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7" name="Google Shape;217;p24"/>
          <p:cNvSpPr/>
          <p:nvPr/>
        </p:nvSpPr>
        <p:spPr>
          <a:xfrm rot="5400000">
            <a:off x="6904284" y="2312933"/>
            <a:ext cx="540600" cy="1308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8" name="Google Shape;218;p24"/>
          <p:cNvSpPr/>
          <p:nvPr/>
        </p:nvSpPr>
        <p:spPr>
          <a:xfrm rot="5400000">
            <a:off x="7035220" y="2312933"/>
            <a:ext cx="540600" cy="1308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9" name="Google Shape;219;p24"/>
          <p:cNvSpPr/>
          <p:nvPr/>
        </p:nvSpPr>
        <p:spPr>
          <a:xfrm rot="5400000">
            <a:off x="7166155" y="2312933"/>
            <a:ext cx="540600" cy="1308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0" name="Google Shape;220;p24"/>
          <p:cNvSpPr/>
          <p:nvPr/>
        </p:nvSpPr>
        <p:spPr>
          <a:xfrm rot="5400000">
            <a:off x="7297091" y="2312933"/>
            <a:ext cx="540600" cy="1308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1" name="Google Shape;221;p24"/>
          <p:cNvSpPr/>
          <p:nvPr/>
        </p:nvSpPr>
        <p:spPr>
          <a:xfrm rot="5400000">
            <a:off x="7428026" y="2312933"/>
            <a:ext cx="540600" cy="1308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2" name="Google Shape;222;p24"/>
          <p:cNvSpPr/>
          <p:nvPr/>
        </p:nvSpPr>
        <p:spPr>
          <a:xfrm rot="5400000">
            <a:off x="7558962" y="2312933"/>
            <a:ext cx="540600" cy="1308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3" name="Google Shape;223;p24"/>
          <p:cNvSpPr/>
          <p:nvPr/>
        </p:nvSpPr>
        <p:spPr>
          <a:xfrm rot="5400000">
            <a:off x="7689897" y="2312933"/>
            <a:ext cx="540600" cy="1308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4" name="Google Shape;224;p24"/>
          <p:cNvSpPr/>
          <p:nvPr/>
        </p:nvSpPr>
        <p:spPr>
          <a:xfrm rot="5400000">
            <a:off x="7820833" y="2312933"/>
            <a:ext cx="540600" cy="1308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5" name="Google Shape;225;p24"/>
          <p:cNvSpPr/>
          <p:nvPr/>
        </p:nvSpPr>
        <p:spPr>
          <a:xfrm rot="5400000">
            <a:off x="7951768" y="2312933"/>
            <a:ext cx="540600" cy="1308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6" name="Google Shape;226;p24"/>
          <p:cNvSpPr/>
          <p:nvPr/>
        </p:nvSpPr>
        <p:spPr>
          <a:xfrm rot="5400000">
            <a:off x="8082704" y="2312933"/>
            <a:ext cx="540600" cy="1308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7" name="Google Shape;227;p24"/>
          <p:cNvSpPr/>
          <p:nvPr/>
        </p:nvSpPr>
        <p:spPr>
          <a:xfrm rot="5400000">
            <a:off x="8213639" y="2312933"/>
            <a:ext cx="540600" cy="1308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8" name="Google Shape;228;p24"/>
          <p:cNvSpPr/>
          <p:nvPr/>
        </p:nvSpPr>
        <p:spPr>
          <a:xfrm rot="5400000">
            <a:off x="8344575" y="2312933"/>
            <a:ext cx="540600" cy="1308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29" name="Google Shape;229;p24"/>
          <p:cNvCxnSpPr>
            <a:stCxn id="169" idx="3"/>
            <a:endCxn id="201" idx="0"/>
          </p:cNvCxnSpPr>
          <p:nvPr/>
        </p:nvCxnSpPr>
        <p:spPr>
          <a:xfrm>
            <a:off x="4317360" y="967130"/>
            <a:ext cx="0" cy="228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30" name="Google Shape;230;p24"/>
          <p:cNvCxnSpPr>
            <a:stCxn id="170" idx="3"/>
          </p:cNvCxnSpPr>
          <p:nvPr/>
        </p:nvCxnSpPr>
        <p:spPr>
          <a:xfrm>
            <a:off x="4448295" y="967130"/>
            <a:ext cx="0" cy="228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31" name="Google Shape;231;p24"/>
          <p:cNvCxnSpPr>
            <a:stCxn id="171" idx="3"/>
          </p:cNvCxnSpPr>
          <p:nvPr/>
        </p:nvCxnSpPr>
        <p:spPr>
          <a:xfrm>
            <a:off x="4579231" y="967130"/>
            <a:ext cx="0" cy="228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32" name="Google Shape;232;p24"/>
          <p:cNvCxnSpPr>
            <a:stCxn id="172" idx="3"/>
          </p:cNvCxnSpPr>
          <p:nvPr/>
        </p:nvCxnSpPr>
        <p:spPr>
          <a:xfrm>
            <a:off x="4710166" y="967130"/>
            <a:ext cx="0" cy="228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33" name="Google Shape;233;p24"/>
          <p:cNvCxnSpPr>
            <a:stCxn id="173" idx="3"/>
          </p:cNvCxnSpPr>
          <p:nvPr/>
        </p:nvCxnSpPr>
        <p:spPr>
          <a:xfrm>
            <a:off x="4841102" y="967130"/>
            <a:ext cx="0" cy="228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34" name="Google Shape;234;p24"/>
          <p:cNvCxnSpPr>
            <a:stCxn id="168" idx="3"/>
          </p:cNvCxnSpPr>
          <p:nvPr/>
        </p:nvCxnSpPr>
        <p:spPr>
          <a:xfrm>
            <a:off x="4186424" y="967130"/>
            <a:ext cx="0" cy="228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35" name="Google Shape;235;p24"/>
          <p:cNvCxnSpPr>
            <a:stCxn id="167" idx="3"/>
          </p:cNvCxnSpPr>
          <p:nvPr/>
        </p:nvCxnSpPr>
        <p:spPr>
          <a:xfrm>
            <a:off x="4055488" y="967130"/>
            <a:ext cx="0" cy="228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36" name="Google Shape;236;p24"/>
          <p:cNvCxnSpPr>
            <a:stCxn id="166" idx="3"/>
          </p:cNvCxnSpPr>
          <p:nvPr/>
        </p:nvCxnSpPr>
        <p:spPr>
          <a:xfrm>
            <a:off x="3924553" y="967130"/>
            <a:ext cx="0" cy="228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37" name="Google Shape;237;p24"/>
          <p:cNvCxnSpPr>
            <a:stCxn id="165" idx="3"/>
          </p:cNvCxnSpPr>
          <p:nvPr/>
        </p:nvCxnSpPr>
        <p:spPr>
          <a:xfrm>
            <a:off x="3793617" y="967130"/>
            <a:ext cx="0" cy="228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38" name="Google Shape;238;p24"/>
          <p:cNvCxnSpPr>
            <a:stCxn id="201" idx="2"/>
            <a:endCxn id="146" idx="0"/>
          </p:cNvCxnSpPr>
          <p:nvPr/>
        </p:nvCxnSpPr>
        <p:spPr>
          <a:xfrm>
            <a:off x="4317282" y="1427796"/>
            <a:ext cx="238500" cy="219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39" name="Google Shape;239;p24"/>
          <p:cNvSpPr/>
          <p:nvPr/>
        </p:nvSpPr>
        <p:spPr>
          <a:xfrm>
            <a:off x="3403775" y="1195300"/>
            <a:ext cx="324300" cy="232500"/>
          </a:xfrm>
          <a:prstGeom prst="rect">
            <a:avLst/>
          </a:prstGeom>
          <a:solidFill>
            <a:srgbClr val="B6D7A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0" name="Google Shape;240;p24"/>
          <p:cNvSpPr/>
          <p:nvPr/>
        </p:nvSpPr>
        <p:spPr>
          <a:xfrm>
            <a:off x="3642289" y="1647399"/>
            <a:ext cx="324300" cy="232500"/>
          </a:xfrm>
          <a:prstGeom prst="rect">
            <a:avLst/>
          </a:prstGeom>
          <a:solidFill>
            <a:srgbClr val="B6D7A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80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5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Implementing TCP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Byte Notation</a:t>
            </a:r>
            <a:b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(Segments, Sequence Numbers)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Maintaining State (Full Duplex, Connection Setup and Teardown)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Sliding Window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Header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246" name="Google Shape;246;p25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/>
              <a:t>Implementing TCP: Byte Notation (Segments, Sequence Numbers)</a:t>
            </a:r>
            <a:endParaRPr sz="3200"/>
          </a:p>
        </p:txBody>
      </p:sp>
      <p:sp>
        <p:nvSpPr>
          <p:cNvPr id="247" name="Google Shape;247;p25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11,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DD852FC-3A1E-1FC3-8A4D-3BB0FB358B8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</a:t>
            </a:fld>
            <a:endParaRPr lang="en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Notation Change: Bytes vs. Packets</a:t>
            </a:r>
            <a:endParaRPr/>
          </a:p>
        </p:txBody>
      </p:sp>
      <p:sp>
        <p:nvSpPr>
          <p:cNvPr id="253" name="Google Shape;253;p26"/>
          <p:cNvSpPr txBox="1">
            <a:spLocks noGrp="1"/>
          </p:cNvSpPr>
          <p:nvPr>
            <p:ph type="body" idx="1"/>
          </p:nvPr>
        </p:nvSpPr>
        <p:spPr>
          <a:xfrm>
            <a:off x="122842" y="3624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So far, we've used </a:t>
            </a:r>
            <a:r>
              <a:rPr lang="en" i="1" dirty="0"/>
              <a:t>packets</a:t>
            </a:r>
            <a:r>
              <a:rPr lang="en" dirty="0"/>
              <a:t> as the primary unit of data.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Each packet has a number.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Acks reference packet numbers.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Window size expressed in terms of number of packets.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TCP is implemented with </a:t>
            </a:r>
            <a:r>
              <a:rPr lang="en" i="1" dirty="0"/>
              <a:t>bytes</a:t>
            </a:r>
            <a:r>
              <a:rPr lang="en" dirty="0"/>
              <a:t> as the primary unit of data.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Each byte has a </a:t>
            </a:r>
            <a:r>
              <a:rPr lang="en"/>
              <a:t>number. Packets </a:t>
            </a:r>
            <a:r>
              <a:rPr lang="en" dirty="0"/>
              <a:t>are defined by the number of the first byte inside.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ACKs reference byte numbers.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Window size expressed in terms of number of bytes.</a:t>
            </a:r>
          </a:p>
          <a:p>
            <a:pPr marL="114300" lvl="0" indent="0" algn="l" rtl="0"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dirty="0"/>
          </a:p>
          <a:p>
            <a:pPr marL="0" lvl="0" indent="0">
              <a:buNone/>
            </a:pPr>
            <a:r>
              <a:rPr lang="en-US" altLang="zh-CN" dirty="0"/>
              <a:t>Lecture 10 designed reliability; Lecture 11 maps those ideas onto real TCP bytes, state, flags, and headers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A052975-A5FD-AA77-AFA2-726B8150188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</a:t>
            </a:fld>
            <a:endParaRPr lang="en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TCP Segments</a:t>
            </a:r>
            <a:endParaRPr/>
          </a:p>
        </p:txBody>
      </p:sp>
      <p:sp>
        <p:nvSpPr>
          <p:cNvPr id="259" name="Google Shape;259;p2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02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TCP provides a reliable, in-order bytestream.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have to split this bytestream into packets.</a:t>
            </a:r>
            <a:endParaRPr/>
          </a:p>
        </p:txBody>
      </p:sp>
      <p:sp>
        <p:nvSpPr>
          <p:cNvPr id="260" name="Google Shape;260;p27"/>
          <p:cNvSpPr/>
          <p:nvPr/>
        </p:nvSpPr>
        <p:spPr>
          <a:xfrm rot="5400000">
            <a:off x="12822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Byte 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1" name="Google Shape;261;p27"/>
          <p:cNvSpPr/>
          <p:nvPr/>
        </p:nvSpPr>
        <p:spPr>
          <a:xfrm rot="5400000">
            <a:off x="14571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Byte 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2" name="Google Shape;262;p27"/>
          <p:cNvSpPr/>
          <p:nvPr/>
        </p:nvSpPr>
        <p:spPr>
          <a:xfrm rot="5400000">
            <a:off x="16320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Byte 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3" name="Google Shape;263;p27"/>
          <p:cNvSpPr/>
          <p:nvPr/>
        </p:nvSpPr>
        <p:spPr>
          <a:xfrm rot="5400000">
            <a:off x="18069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Byte 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4" name="Google Shape;264;p27"/>
          <p:cNvSpPr/>
          <p:nvPr/>
        </p:nvSpPr>
        <p:spPr>
          <a:xfrm rot="5400000">
            <a:off x="19818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5" name="Google Shape;265;p27"/>
          <p:cNvSpPr/>
          <p:nvPr/>
        </p:nvSpPr>
        <p:spPr>
          <a:xfrm rot="5400000">
            <a:off x="21567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6" name="Google Shape;266;p27"/>
          <p:cNvSpPr/>
          <p:nvPr/>
        </p:nvSpPr>
        <p:spPr>
          <a:xfrm rot="5400000">
            <a:off x="23316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7" name="Google Shape;267;p27"/>
          <p:cNvSpPr/>
          <p:nvPr/>
        </p:nvSpPr>
        <p:spPr>
          <a:xfrm rot="5400000">
            <a:off x="25065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Byte 79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8" name="Google Shape;268;p27"/>
          <p:cNvSpPr/>
          <p:nvPr/>
        </p:nvSpPr>
        <p:spPr>
          <a:xfrm rot="5400000">
            <a:off x="26814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Byte 80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9" name="Google Shape;269;p27"/>
          <p:cNvSpPr/>
          <p:nvPr/>
        </p:nvSpPr>
        <p:spPr>
          <a:xfrm rot="5400000">
            <a:off x="28563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0" name="Google Shape;270;p27"/>
          <p:cNvSpPr/>
          <p:nvPr/>
        </p:nvSpPr>
        <p:spPr>
          <a:xfrm rot="5400000">
            <a:off x="30312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1" name="Google Shape;271;p27"/>
          <p:cNvSpPr/>
          <p:nvPr/>
        </p:nvSpPr>
        <p:spPr>
          <a:xfrm rot="5400000">
            <a:off x="32061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2" name="Google Shape;272;p27"/>
          <p:cNvSpPr/>
          <p:nvPr/>
        </p:nvSpPr>
        <p:spPr>
          <a:xfrm rot="5400000">
            <a:off x="33810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3" name="Google Shape;273;p27"/>
          <p:cNvSpPr/>
          <p:nvPr/>
        </p:nvSpPr>
        <p:spPr>
          <a:xfrm rot="5400000">
            <a:off x="35559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4" name="Google Shape;274;p27"/>
          <p:cNvSpPr/>
          <p:nvPr/>
        </p:nvSpPr>
        <p:spPr>
          <a:xfrm rot="5400000">
            <a:off x="37308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5" name="Google Shape;275;p27"/>
          <p:cNvSpPr/>
          <p:nvPr/>
        </p:nvSpPr>
        <p:spPr>
          <a:xfrm rot="5400000">
            <a:off x="39057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6" name="Google Shape;276;p27"/>
          <p:cNvSpPr/>
          <p:nvPr/>
        </p:nvSpPr>
        <p:spPr>
          <a:xfrm rot="5400000">
            <a:off x="40806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7" name="Google Shape;277;p27"/>
          <p:cNvSpPr/>
          <p:nvPr/>
        </p:nvSpPr>
        <p:spPr>
          <a:xfrm rot="5400000">
            <a:off x="42555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8" name="Google Shape;278;p27"/>
          <p:cNvSpPr/>
          <p:nvPr/>
        </p:nvSpPr>
        <p:spPr>
          <a:xfrm rot="5400000">
            <a:off x="44304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9" name="Google Shape;279;p27"/>
          <p:cNvSpPr/>
          <p:nvPr/>
        </p:nvSpPr>
        <p:spPr>
          <a:xfrm rot="5400000">
            <a:off x="46053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0" name="Google Shape;280;p27"/>
          <p:cNvSpPr/>
          <p:nvPr/>
        </p:nvSpPr>
        <p:spPr>
          <a:xfrm rot="5400000">
            <a:off x="47802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1" name="Google Shape;281;p27"/>
          <p:cNvSpPr/>
          <p:nvPr/>
        </p:nvSpPr>
        <p:spPr>
          <a:xfrm rot="5400000">
            <a:off x="49551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2" name="Google Shape;282;p27"/>
          <p:cNvSpPr/>
          <p:nvPr/>
        </p:nvSpPr>
        <p:spPr>
          <a:xfrm rot="5400000">
            <a:off x="51300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3" name="Google Shape;283;p27"/>
          <p:cNvSpPr/>
          <p:nvPr/>
        </p:nvSpPr>
        <p:spPr>
          <a:xfrm rot="5400000">
            <a:off x="53049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4" name="Google Shape;284;p27"/>
          <p:cNvSpPr/>
          <p:nvPr/>
        </p:nvSpPr>
        <p:spPr>
          <a:xfrm rot="5400000">
            <a:off x="54798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5" name="Google Shape;285;p27"/>
          <p:cNvSpPr/>
          <p:nvPr/>
        </p:nvSpPr>
        <p:spPr>
          <a:xfrm rot="5400000">
            <a:off x="56547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6" name="Google Shape;286;p27"/>
          <p:cNvSpPr/>
          <p:nvPr/>
        </p:nvSpPr>
        <p:spPr>
          <a:xfrm rot="5400000">
            <a:off x="58296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7" name="Google Shape;287;p27"/>
          <p:cNvSpPr/>
          <p:nvPr/>
        </p:nvSpPr>
        <p:spPr>
          <a:xfrm rot="5400000">
            <a:off x="60045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8" name="Google Shape;288;p27"/>
          <p:cNvSpPr/>
          <p:nvPr/>
        </p:nvSpPr>
        <p:spPr>
          <a:xfrm rot="5400000">
            <a:off x="61794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9" name="Google Shape;289;p27"/>
          <p:cNvSpPr/>
          <p:nvPr/>
        </p:nvSpPr>
        <p:spPr>
          <a:xfrm rot="5400000">
            <a:off x="63543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0" name="Google Shape;290;p27"/>
          <p:cNvSpPr/>
          <p:nvPr/>
        </p:nvSpPr>
        <p:spPr>
          <a:xfrm rot="5400000">
            <a:off x="65292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1" name="Google Shape;291;p27"/>
          <p:cNvSpPr/>
          <p:nvPr/>
        </p:nvSpPr>
        <p:spPr>
          <a:xfrm rot="5400000">
            <a:off x="67041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2" name="Google Shape;292;p27"/>
          <p:cNvSpPr/>
          <p:nvPr/>
        </p:nvSpPr>
        <p:spPr>
          <a:xfrm rot="5400000">
            <a:off x="68790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3" name="Google Shape;293;p27"/>
          <p:cNvSpPr/>
          <p:nvPr/>
        </p:nvSpPr>
        <p:spPr>
          <a:xfrm rot="5400000">
            <a:off x="70539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4" name="Google Shape;294;p27"/>
          <p:cNvSpPr/>
          <p:nvPr/>
        </p:nvSpPr>
        <p:spPr>
          <a:xfrm rot="5400000">
            <a:off x="72288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5" name="Google Shape;295;p27"/>
          <p:cNvSpPr/>
          <p:nvPr/>
        </p:nvSpPr>
        <p:spPr>
          <a:xfrm rot="5400000">
            <a:off x="74037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6" name="Google Shape;296;p27"/>
          <p:cNvSpPr txBox="1"/>
          <p:nvPr/>
        </p:nvSpPr>
        <p:spPr>
          <a:xfrm>
            <a:off x="1555850" y="1486475"/>
            <a:ext cx="22737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 Application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7" name="Google Shape;297;p27"/>
          <p:cNvSpPr/>
          <p:nvPr/>
        </p:nvSpPr>
        <p:spPr>
          <a:xfrm rot="5400000">
            <a:off x="16008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Byte 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8" name="Google Shape;298;p27"/>
          <p:cNvSpPr/>
          <p:nvPr/>
        </p:nvSpPr>
        <p:spPr>
          <a:xfrm rot="5400000">
            <a:off x="17757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Byte 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9" name="Google Shape;299;p27"/>
          <p:cNvSpPr/>
          <p:nvPr/>
        </p:nvSpPr>
        <p:spPr>
          <a:xfrm rot="5400000">
            <a:off x="19506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Byte 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0" name="Google Shape;300;p27"/>
          <p:cNvSpPr/>
          <p:nvPr/>
        </p:nvSpPr>
        <p:spPr>
          <a:xfrm rot="5400000">
            <a:off x="21255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Byte 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1" name="Google Shape;301;p27"/>
          <p:cNvSpPr/>
          <p:nvPr/>
        </p:nvSpPr>
        <p:spPr>
          <a:xfrm rot="5400000">
            <a:off x="23004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2" name="Google Shape;302;p27"/>
          <p:cNvSpPr/>
          <p:nvPr/>
        </p:nvSpPr>
        <p:spPr>
          <a:xfrm rot="5400000">
            <a:off x="24753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3" name="Google Shape;303;p27"/>
          <p:cNvSpPr/>
          <p:nvPr/>
        </p:nvSpPr>
        <p:spPr>
          <a:xfrm rot="5400000">
            <a:off x="26502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4" name="Google Shape;304;p27"/>
          <p:cNvSpPr/>
          <p:nvPr/>
        </p:nvSpPr>
        <p:spPr>
          <a:xfrm rot="5400000">
            <a:off x="28251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Byte 79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5" name="Google Shape;305;p27"/>
          <p:cNvSpPr/>
          <p:nvPr/>
        </p:nvSpPr>
        <p:spPr>
          <a:xfrm rot="5400000">
            <a:off x="30000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Byte 80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6" name="Google Shape;306;p27"/>
          <p:cNvSpPr/>
          <p:nvPr/>
        </p:nvSpPr>
        <p:spPr>
          <a:xfrm rot="5400000">
            <a:off x="31749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7" name="Google Shape;307;p27"/>
          <p:cNvSpPr/>
          <p:nvPr/>
        </p:nvSpPr>
        <p:spPr>
          <a:xfrm rot="5400000">
            <a:off x="33498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8" name="Google Shape;308;p27"/>
          <p:cNvSpPr/>
          <p:nvPr/>
        </p:nvSpPr>
        <p:spPr>
          <a:xfrm rot="5400000">
            <a:off x="35247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9" name="Google Shape;309;p27"/>
          <p:cNvSpPr/>
          <p:nvPr/>
        </p:nvSpPr>
        <p:spPr>
          <a:xfrm rot="5400000">
            <a:off x="36996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0" name="Google Shape;310;p27"/>
          <p:cNvSpPr/>
          <p:nvPr/>
        </p:nvSpPr>
        <p:spPr>
          <a:xfrm rot="5400000">
            <a:off x="38745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1" name="Google Shape;311;p27"/>
          <p:cNvSpPr/>
          <p:nvPr/>
        </p:nvSpPr>
        <p:spPr>
          <a:xfrm rot="5400000">
            <a:off x="40494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2" name="Google Shape;312;p27"/>
          <p:cNvSpPr/>
          <p:nvPr/>
        </p:nvSpPr>
        <p:spPr>
          <a:xfrm rot="5400000">
            <a:off x="42243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3" name="Google Shape;313;p27"/>
          <p:cNvSpPr/>
          <p:nvPr/>
        </p:nvSpPr>
        <p:spPr>
          <a:xfrm rot="5400000">
            <a:off x="43992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4" name="Google Shape;314;p27"/>
          <p:cNvSpPr/>
          <p:nvPr/>
        </p:nvSpPr>
        <p:spPr>
          <a:xfrm rot="5400000">
            <a:off x="45741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5" name="Google Shape;315;p27"/>
          <p:cNvSpPr/>
          <p:nvPr/>
        </p:nvSpPr>
        <p:spPr>
          <a:xfrm rot="5400000">
            <a:off x="47490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6" name="Google Shape;316;p27"/>
          <p:cNvSpPr/>
          <p:nvPr/>
        </p:nvSpPr>
        <p:spPr>
          <a:xfrm rot="5400000">
            <a:off x="49239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7" name="Google Shape;317;p27"/>
          <p:cNvSpPr/>
          <p:nvPr/>
        </p:nvSpPr>
        <p:spPr>
          <a:xfrm rot="5400000">
            <a:off x="50988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8" name="Google Shape;318;p27"/>
          <p:cNvSpPr/>
          <p:nvPr/>
        </p:nvSpPr>
        <p:spPr>
          <a:xfrm rot="5400000">
            <a:off x="52737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9" name="Google Shape;319;p27"/>
          <p:cNvSpPr/>
          <p:nvPr/>
        </p:nvSpPr>
        <p:spPr>
          <a:xfrm rot="5400000">
            <a:off x="54486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0" name="Google Shape;320;p27"/>
          <p:cNvSpPr/>
          <p:nvPr/>
        </p:nvSpPr>
        <p:spPr>
          <a:xfrm rot="5400000">
            <a:off x="56235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1" name="Google Shape;321;p27"/>
          <p:cNvSpPr/>
          <p:nvPr/>
        </p:nvSpPr>
        <p:spPr>
          <a:xfrm rot="5400000">
            <a:off x="57984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2" name="Google Shape;322;p27"/>
          <p:cNvSpPr/>
          <p:nvPr/>
        </p:nvSpPr>
        <p:spPr>
          <a:xfrm rot="5400000">
            <a:off x="59733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3" name="Google Shape;323;p27"/>
          <p:cNvSpPr/>
          <p:nvPr/>
        </p:nvSpPr>
        <p:spPr>
          <a:xfrm rot="5400000">
            <a:off x="61482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4" name="Google Shape;324;p27"/>
          <p:cNvSpPr/>
          <p:nvPr/>
        </p:nvSpPr>
        <p:spPr>
          <a:xfrm rot="5400000">
            <a:off x="63231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5" name="Google Shape;325;p27"/>
          <p:cNvSpPr/>
          <p:nvPr/>
        </p:nvSpPr>
        <p:spPr>
          <a:xfrm rot="5400000">
            <a:off x="64980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6" name="Google Shape;326;p27"/>
          <p:cNvSpPr/>
          <p:nvPr/>
        </p:nvSpPr>
        <p:spPr>
          <a:xfrm rot="5400000">
            <a:off x="66729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7" name="Google Shape;327;p27"/>
          <p:cNvSpPr/>
          <p:nvPr/>
        </p:nvSpPr>
        <p:spPr>
          <a:xfrm rot="5400000">
            <a:off x="68478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8" name="Google Shape;328;p27"/>
          <p:cNvSpPr/>
          <p:nvPr/>
        </p:nvSpPr>
        <p:spPr>
          <a:xfrm rot="5400000">
            <a:off x="70227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9" name="Google Shape;329;p27"/>
          <p:cNvSpPr/>
          <p:nvPr/>
        </p:nvSpPr>
        <p:spPr>
          <a:xfrm rot="5400000">
            <a:off x="71976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0" name="Google Shape;330;p27"/>
          <p:cNvSpPr/>
          <p:nvPr/>
        </p:nvSpPr>
        <p:spPr>
          <a:xfrm rot="5400000">
            <a:off x="73725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1" name="Google Shape;331;p27"/>
          <p:cNvSpPr/>
          <p:nvPr/>
        </p:nvSpPr>
        <p:spPr>
          <a:xfrm rot="5400000">
            <a:off x="75474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2" name="Google Shape;332;p27"/>
          <p:cNvSpPr/>
          <p:nvPr/>
        </p:nvSpPr>
        <p:spPr>
          <a:xfrm rot="5400000">
            <a:off x="77223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3" name="Google Shape;333;p27"/>
          <p:cNvSpPr txBox="1"/>
          <p:nvPr/>
        </p:nvSpPr>
        <p:spPr>
          <a:xfrm>
            <a:off x="1874450" y="4725575"/>
            <a:ext cx="22737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 Application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34" name="Google Shape;334;p27"/>
          <p:cNvCxnSpPr>
            <a:stCxn id="262" idx="3"/>
            <a:endCxn id="299" idx="1"/>
          </p:cNvCxnSpPr>
          <p:nvPr/>
        </p:nvCxnSpPr>
        <p:spPr>
          <a:xfrm>
            <a:off x="1993100" y="2479475"/>
            <a:ext cx="318600" cy="1524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35" name="Google Shape;335;p27"/>
          <p:cNvCxnSpPr>
            <a:endCxn id="304" idx="1"/>
          </p:cNvCxnSpPr>
          <p:nvPr/>
        </p:nvCxnSpPr>
        <p:spPr>
          <a:xfrm>
            <a:off x="2867600" y="2479475"/>
            <a:ext cx="318600" cy="1524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36" name="Google Shape;336;p27"/>
          <p:cNvCxnSpPr>
            <a:stCxn id="272" idx="3"/>
            <a:endCxn id="309" idx="1"/>
          </p:cNvCxnSpPr>
          <p:nvPr/>
        </p:nvCxnSpPr>
        <p:spPr>
          <a:xfrm>
            <a:off x="3742100" y="2479475"/>
            <a:ext cx="318600" cy="1524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37" name="Google Shape;337;p27"/>
          <p:cNvCxnSpPr>
            <a:stCxn id="277" idx="3"/>
            <a:endCxn id="314" idx="1"/>
          </p:cNvCxnSpPr>
          <p:nvPr/>
        </p:nvCxnSpPr>
        <p:spPr>
          <a:xfrm>
            <a:off x="4616600" y="2479475"/>
            <a:ext cx="318600" cy="1524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38" name="Google Shape;338;p27"/>
          <p:cNvCxnSpPr>
            <a:stCxn id="282" idx="3"/>
            <a:endCxn id="319" idx="1"/>
          </p:cNvCxnSpPr>
          <p:nvPr/>
        </p:nvCxnSpPr>
        <p:spPr>
          <a:xfrm>
            <a:off x="5491100" y="2479475"/>
            <a:ext cx="318600" cy="1524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39" name="Google Shape;339;p27"/>
          <p:cNvCxnSpPr>
            <a:stCxn id="287" idx="3"/>
            <a:endCxn id="324" idx="1"/>
          </p:cNvCxnSpPr>
          <p:nvPr/>
        </p:nvCxnSpPr>
        <p:spPr>
          <a:xfrm>
            <a:off x="6365600" y="2479475"/>
            <a:ext cx="318600" cy="1524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40" name="Google Shape;340;p27"/>
          <p:cNvCxnSpPr>
            <a:stCxn id="292" idx="3"/>
            <a:endCxn id="329" idx="1"/>
          </p:cNvCxnSpPr>
          <p:nvPr/>
        </p:nvCxnSpPr>
        <p:spPr>
          <a:xfrm>
            <a:off x="7240100" y="2479475"/>
            <a:ext cx="318600" cy="1524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27754CB-C3B3-8878-0CD6-DCB6DC88171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</a:t>
            </a:fld>
            <a:endParaRPr lang="en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28"/>
          <p:cNvSpPr/>
          <p:nvPr/>
        </p:nvSpPr>
        <p:spPr>
          <a:xfrm>
            <a:off x="1874450" y="3388169"/>
            <a:ext cx="1574100" cy="310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TCP Segment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46" name="Google Shape;346;p28"/>
          <p:cNvCxnSpPr>
            <a:endCxn id="347" idx="1"/>
          </p:cNvCxnSpPr>
          <p:nvPr/>
        </p:nvCxnSpPr>
        <p:spPr>
          <a:xfrm>
            <a:off x="2661500" y="3697475"/>
            <a:ext cx="0" cy="306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48" name="Google Shape;348;p28"/>
          <p:cNvCxnSpPr>
            <a:endCxn id="349" idx="1"/>
          </p:cNvCxnSpPr>
          <p:nvPr/>
        </p:nvCxnSpPr>
        <p:spPr>
          <a:xfrm>
            <a:off x="2836400" y="3697475"/>
            <a:ext cx="0" cy="306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50" name="Google Shape;350;p28"/>
          <p:cNvCxnSpPr>
            <a:endCxn id="351" idx="1"/>
          </p:cNvCxnSpPr>
          <p:nvPr/>
        </p:nvCxnSpPr>
        <p:spPr>
          <a:xfrm>
            <a:off x="3011300" y="3697475"/>
            <a:ext cx="0" cy="306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52" name="Google Shape;352;p28"/>
          <p:cNvCxnSpPr>
            <a:endCxn id="353" idx="1"/>
          </p:cNvCxnSpPr>
          <p:nvPr/>
        </p:nvCxnSpPr>
        <p:spPr>
          <a:xfrm>
            <a:off x="3186200" y="3697475"/>
            <a:ext cx="0" cy="306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54" name="Google Shape;354;p28"/>
          <p:cNvCxnSpPr>
            <a:endCxn id="355" idx="1"/>
          </p:cNvCxnSpPr>
          <p:nvPr/>
        </p:nvCxnSpPr>
        <p:spPr>
          <a:xfrm>
            <a:off x="3361100" y="3697475"/>
            <a:ext cx="0" cy="306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56" name="Google Shape;356;p28"/>
          <p:cNvCxnSpPr>
            <a:endCxn id="357" idx="1"/>
          </p:cNvCxnSpPr>
          <p:nvPr/>
        </p:nvCxnSpPr>
        <p:spPr>
          <a:xfrm>
            <a:off x="2486600" y="3697475"/>
            <a:ext cx="0" cy="306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58" name="Google Shape;358;p28"/>
          <p:cNvCxnSpPr>
            <a:endCxn id="359" idx="1"/>
          </p:cNvCxnSpPr>
          <p:nvPr/>
        </p:nvCxnSpPr>
        <p:spPr>
          <a:xfrm>
            <a:off x="2311700" y="3697475"/>
            <a:ext cx="0" cy="306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60" name="Google Shape;360;p28"/>
          <p:cNvCxnSpPr>
            <a:endCxn id="361" idx="1"/>
          </p:cNvCxnSpPr>
          <p:nvPr/>
        </p:nvCxnSpPr>
        <p:spPr>
          <a:xfrm>
            <a:off x="2136800" y="3697475"/>
            <a:ext cx="0" cy="306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62" name="Google Shape;362;p28"/>
          <p:cNvCxnSpPr>
            <a:endCxn id="363" idx="1"/>
          </p:cNvCxnSpPr>
          <p:nvPr/>
        </p:nvCxnSpPr>
        <p:spPr>
          <a:xfrm>
            <a:off x="1961900" y="3697475"/>
            <a:ext cx="0" cy="306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64" name="Google Shape;364;p28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TCP Segments</a:t>
            </a:r>
            <a:endParaRPr/>
          </a:p>
        </p:txBody>
      </p:sp>
      <p:sp>
        <p:nvSpPr>
          <p:cNvPr id="365" name="Google Shape;365;p2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02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 segment is sent when the segment is full (max segment size),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or when the segment is not full, but times out waiting for more data.</a:t>
            </a:r>
            <a:endParaRPr/>
          </a:p>
        </p:txBody>
      </p:sp>
      <p:sp>
        <p:nvSpPr>
          <p:cNvPr id="366" name="Google Shape;366;p28"/>
          <p:cNvSpPr/>
          <p:nvPr/>
        </p:nvSpPr>
        <p:spPr>
          <a:xfrm rot="5400000">
            <a:off x="12822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Byte 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7" name="Google Shape;367;p28"/>
          <p:cNvSpPr/>
          <p:nvPr/>
        </p:nvSpPr>
        <p:spPr>
          <a:xfrm rot="5400000">
            <a:off x="14571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Byte 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8" name="Google Shape;368;p28"/>
          <p:cNvSpPr/>
          <p:nvPr/>
        </p:nvSpPr>
        <p:spPr>
          <a:xfrm rot="5400000">
            <a:off x="16320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Byte 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9" name="Google Shape;369;p28"/>
          <p:cNvSpPr/>
          <p:nvPr/>
        </p:nvSpPr>
        <p:spPr>
          <a:xfrm rot="5400000">
            <a:off x="18069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Byte 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0" name="Google Shape;370;p28"/>
          <p:cNvSpPr/>
          <p:nvPr/>
        </p:nvSpPr>
        <p:spPr>
          <a:xfrm rot="5400000">
            <a:off x="19818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1" name="Google Shape;371;p28"/>
          <p:cNvSpPr/>
          <p:nvPr/>
        </p:nvSpPr>
        <p:spPr>
          <a:xfrm rot="5400000">
            <a:off x="21567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2" name="Google Shape;372;p28"/>
          <p:cNvSpPr/>
          <p:nvPr/>
        </p:nvSpPr>
        <p:spPr>
          <a:xfrm rot="5400000">
            <a:off x="23316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3" name="Google Shape;373;p28"/>
          <p:cNvSpPr/>
          <p:nvPr/>
        </p:nvSpPr>
        <p:spPr>
          <a:xfrm rot="5400000">
            <a:off x="25065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Byte 79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4" name="Google Shape;374;p28"/>
          <p:cNvSpPr/>
          <p:nvPr/>
        </p:nvSpPr>
        <p:spPr>
          <a:xfrm rot="5400000">
            <a:off x="26814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Byte 80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5" name="Google Shape;375;p28"/>
          <p:cNvSpPr/>
          <p:nvPr/>
        </p:nvSpPr>
        <p:spPr>
          <a:xfrm rot="5400000">
            <a:off x="28563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6" name="Google Shape;376;p28"/>
          <p:cNvSpPr/>
          <p:nvPr/>
        </p:nvSpPr>
        <p:spPr>
          <a:xfrm rot="5400000">
            <a:off x="30312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7" name="Google Shape;377;p28"/>
          <p:cNvSpPr/>
          <p:nvPr/>
        </p:nvSpPr>
        <p:spPr>
          <a:xfrm rot="5400000">
            <a:off x="32061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8" name="Google Shape;378;p28"/>
          <p:cNvSpPr/>
          <p:nvPr/>
        </p:nvSpPr>
        <p:spPr>
          <a:xfrm rot="5400000">
            <a:off x="33810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9" name="Google Shape;379;p28"/>
          <p:cNvSpPr/>
          <p:nvPr/>
        </p:nvSpPr>
        <p:spPr>
          <a:xfrm rot="5400000">
            <a:off x="35559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80" name="Google Shape;380;p28"/>
          <p:cNvSpPr/>
          <p:nvPr/>
        </p:nvSpPr>
        <p:spPr>
          <a:xfrm rot="5400000">
            <a:off x="37308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81" name="Google Shape;381;p28"/>
          <p:cNvSpPr/>
          <p:nvPr/>
        </p:nvSpPr>
        <p:spPr>
          <a:xfrm rot="5400000">
            <a:off x="39057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82" name="Google Shape;382;p28"/>
          <p:cNvSpPr/>
          <p:nvPr/>
        </p:nvSpPr>
        <p:spPr>
          <a:xfrm rot="5400000">
            <a:off x="40806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83" name="Google Shape;383;p28"/>
          <p:cNvSpPr/>
          <p:nvPr/>
        </p:nvSpPr>
        <p:spPr>
          <a:xfrm rot="5400000">
            <a:off x="42555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84" name="Google Shape;384;p28"/>
          <p:cNvSpPr/>
          <p:nvPr/>
        </p:nvSpPr>
        <p:spPr>
          <a:xfrm rot="5400000">
            <a:off x="44304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85" name="Google Shape;385;p28"/>
          <p:cNvSpPr/>
          <p:nvPr/>
        </p:nvSpPr>
        <p:spPr>
          <a:xfrm rot="5400000">
            <a:off x="46053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86" name="Google Shape;386;p28"/>
          <p:cNvSpPr/>
          <p:nvPr/>
        </p:nvSpPr>
        <p:spPr>
          <a:xfrm rot="5400000">
            <a:off x="47802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87" name="Google Shape;387;p28"/>
          <p:cNvSpPr/>
          <p:nvPr/>
        </p:nvSpPr>
        <p:spPr>
          <a:xfrm rot="5400000">
            <a:off x="49551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88" name="Google Shape;388;p28"/>
          <p:cNvSpPr/>
          <p:nvPr/>
        </p:nvSpPr>
        <p:spPr>
          <a:xfrm rot="5400000">
            <a:off x="51300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89" name="Google Shape;389;p28"/>
          <p:cNvSpPr/>
          <p:nvPr/>
        </p:nvSpPr>
        <p:spPr>
          <a:xfrm rot="5400000">
            <a:off x="53049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0" name="Google Shape;390;p28"/>
          <p:cNvSpPr/>
          <p:nvPr/>
        </p:nvSpPr>
        <p:spPr>
          <a:xfrm rot="5400000">
            <a:off x="54798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1" name="Google Shape;391;p28"/>
          <p:cNvSpPr/>
          <p:nvPr/>
        </p:nvSpPr>
        <p:spPr>
          <a:xfrm rot="5400000">
            <a:off x="56547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2" name="Google Shape;392;p28"/>
          <p:cNvSpPr/>
          <p:nvPr/>
        </p:nvSpPr>
        <p:spPr>
          <a:xfrm rot="5400000">
            <a:off x="58296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3" name="Google Shape;393;p28"/>
          <p:cNvSpPr/>
          <p:nvPr/>
        </p:nvSpPr>
        <p:spPr>
          <a:xfrm rot="5400000">
            <a:off x="60045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4" name="Google Shape;394;p28"/>
          <p:cNvSpPr/>
          <p:nvPr/>
        </p:nvSpPr>
        <p:spPr>
          <a:xfrm rot="5400000">
            <a:off x="61794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5" name="Google Shape;395;p28"/>
          <p:cNvSpPr/>
          <p:nvPr/>
        </p:nvSpPr>
        <p:spPr>
          <a:xfrm rot="5400000">
            <a:off x="63543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6" name="Google Shape;396;p28"/>
          <p:cNvSpPr/>
          <p:nvPr/>
        </p:nvSpPr>
        <p:spPr>
          <a:xfrm rot="5400000">
            <a:off x="65292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7" name="Google Shape;397;p28"/>
          <p:cNvSpPr/>
          <p:nvPr/>
        </p:nvSpPr>
        <p:spPr>
          <a:xfrm rot="5400000">
            <a:off x="67041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8" name="Google Shape;398;p28"/>
          <p:cNvSpPr/>
          <p:nvPr/>
        </p:nvSpPr>
        <p:spPr>
          <a:xfrm rot="5400000">
            <a:off x="68790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9" name="Google Shape;399;p28"/>
          <p:cNvSpPr/>
          <p:nvPr/>
        </p:nvSpPr>
        <p:spPr>
          <a:xfrm rot="5400000">
            <a:off x="70539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0" name="Google Shape;400;p28"/>
          <p:cNvSpPr/>
          <p:nvPr/>
        </p:nvSpPr>
        <p:spPr>
          <a:xfrm rot="5400000">
            <a:off x="72288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1" name="Google Shape;401;p28"/>
          <p:cNvSpPr/>
          <p:nvPr/>
        </p:nvSpPr>
        <p:spPr>
          <a:xfrm rot="5400000">
            <a:off x="74037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2" name="Google Shape;402;p28"/>
          <p:cNvSpPr txBox="1"/>
          <p:nvPr/>
        </p:nvSpPr>
        <p:spPr>
          <a:xfrm>
            <a:off x="1555850" y="1486475"/>
            <a:ext cx="22737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 Application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3" name="Google Shape;403;p28"/>
          <p:cNvSpPr/>
          <p:nvPr/>
        </p:nvSpPr>
        <p:spPr>
          <a:xfrm>
            <a:off x="1555850" y="2784269"/>
            <a:ext cx="1574100" cy="310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TCP Segment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3" name="Google Shape;363;p28"/>
          <p:cNvSpPr/>
          <p:nvPr/>
        </p:nvSpPr>
        <p:spPr>
          <a:xfrm rot="5400000">
            <a:off x="16008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Byte 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1" name="Google Shape;361;p28"/>
          <p:cNvSpPr/>
          <p:nvPr/>
        </p:nvSpPr>
        <p:spPr>
          <a:xfrm rot="5400000">
            <a:off x="17757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Byte 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9" name="Google Shape;359;p28"/>
          <p:cNvSpPr/>
          <p:nvPr/>
        </p:nvSpPr>
        <p:spPr>
          <a:xfrm rot="5400000">
            <a:off x="19506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Byte 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7" name="Google Shape;357;p28"/>
          <p:cNvSpPr/>
          <p:nvPr/>
        </p:nvSpPr>
        <p:spPr>
          <a:xfrm rot="5400000">
            <a:off x="21255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Byte 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7" name="Google Shape;347;p28"/>
          <p:cNvSpPr/>
          <p:nvPr/>
        </p:nvSpPr>
        <p:spPr>
          <a:xfrm rot="5400000">
            <a:off x="23004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9" name="Google Shape;349;p28"/>
          <p:cNvSpPr/>
          <p:nvPr/>
        </p:nvSpPr>
        <p:spPr>
          <a:xfrm rot="5400000">
            <a:off x="24753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1" name="Google Shape;351;p28"/>
          <p:cNvSpPr/>
          <p:nvPr/>
        </p:nvSpPr>
        <p:spPr>
          <a:xfrm rot="5400000">
            <a:off x="26502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3" name="Google Shape;353;p28"/>
          <p:cNvSpPr/>
          <p:nvPr/>
        </p:nvSpPr>
        <p:spPr>
          <a:xfrm rot="5400000">
            <a:off x="28251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Byte 79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5" name="Google Shape;355;p28"/>
          <p:cNvSpPr/>
          <p:nvPr/>
        </p:nvSpPr>
        <p:spPr>
          <a:xfrm rot="5400000">
            <a:off x="30000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Byte 80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4" name="Google Shape;404;p28"/>
          <p:cNvSpPr/>
          <p:nvPr/>
        </p:nvSpPr>
        <p:spPr>
          <a:xfrm rot="5400000">
            <a:off x="31749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5" name="Google Shape;405;p28"/>
          <p:cNvSpPr/>
          <p:nvPr/>
        </p:nvSpPr>
        <p:spPr>
          <a:xfrm rot="5400000">
            <a:off x="33498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6" name="Google Shape;406;p28"/>
          <p:cNvSpPr/>
          <p:nvPr/>
        </p:nvSpPr>
        <p:spPr>
          <a:xfrm rot="5400000">
            <a:off x="35247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7" name="Google Shape;407;p28"/>
          <p:cNvSpPr/>
          <p:nvPr/>
        </p:nvSpPr>
        <p:spPr>
          <a:xfrm rot="5400000">
            <a:off x="36996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8" name="Google Shape;408;p28"/>
          <p:cNvSpPr/>
          <p:nvPr/>
        </p:nvSpPr>
        <p:spPr>
          <a:xfrm rot="5400000">
            <a:off x="38745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9" name="Google Shape;409;p28"/>
          <p:cNvSpPr/>
          <p:nvPr/>
        </p:nvSpPr>
        <p:spPr>
          <a:xfrm rot="5400000">
            <a:off x="40494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0" name="Google Shape;410;p28"/>
          <p:cNvSpPr/>
          <p:nvPr/>
        </p:nvSpPr>
        <p:spPr>
          <a:xfrm rot="5400000">
            <a:off x="42243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1" name="Google Shape;411;p28"/>
          <p:cNvSpPr/>
          <p:nvPr/>
        </p:nvSpPr>
        <p:spPr>
          <a:xfrm rot="5400000">
            <a:off x="43992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2" name="Google Shape;412;p28"/>
          <p:cNvSpPr/>
          <p:nvPr/>
        </p:nvSpPr>
        <p:spPr>
          <a:xfrm rot="5400000">
            <a:off x="45741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3" name="Google Shape;413;p28"/>
          <p:cNvSpPr/>
          <p:nvPr/>
        </p:nvSpPr>
        <p:spPr>
          <a:xfrm rot="5400000">
            <a:off x="47490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4" name="Google Shape;414;p28"/>
          <p:cNvSpPr/>
          <p:nvPr/>
        </p:nvSpPr>
        <p:spPr>
          <a:xfrm rot="5400000">
            <a:off x="49239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5" name="Google Shape;415;p28"/>
          <p:cNvSpPr/>
          <p:nvPr/>
        </p:nvSpPr>
        <p:spPr>
          <a:xfrm rot="5400000">
            <a:off x="50988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6" name="Google Shape;416;p28"/>
          <p:cNvSpPr/>
          <p:nvPr/>
        </p:nvSpPr>
        <p:spPr>
          <a:xfrm rot="5400000">
            <a:off x="52737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7" name="Google Shape;417;p28"/>
          <p:cNvSpPr/>
          <p:nvPr/>
        </p:nvSpPr>
        <p:spPr>
          <a:xfrm rot="5400000">
            <a:off x="54486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8" name="Google Shape;418;p28"/>
          <p:cNvSpPr/>
          <p:nvPr/>
        </p:nvSpPr>
        <p:spPr>
          <a:xfrm rot="5400000">
            <a:off x="56235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9" name="Google Shape;419;p28"/>
          <p:cNvSpPr/>
          <p:nvPr/>
        </p:nvSpPr>
        <p:spPr>
          <a:xfrm rot="5400000">
            <a:off x="57984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0" name="Google Shape;420;p28"/>
          <p:cNvSpPr/>
          <p:nvPr/>
        </p:nvSpPr>
        <p:spPr>
          <a:xfrm rot="5400000">
            <a:off x="59733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1" name="Google Shape;421;p28"/>
          <p:cNvSpPr/>
          <p:nvPr/>
        </p:nvSpPr>
        <p:spPr>
          <a:xfrm rot="5400000">
            <a:off x="61482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2" name="Google Shape;422;p28"/>
          <p:cNvSpPr/>
          <p:nvPr/>
        </p:nvSpPr>
        <p:spPr>
          <a:xfrm rot="5400000">
            <a:off x="63231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3" name="Google Shape;423;p28"/>
          <p:cNvSpPr/>
          <p:nvPr/>
        </p:nvSpPr>
        <p:spPr>
          <a:xfrm rot="5400000">
            <a:off x="64980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4" name="Google Shape;424;p28"/>
          <p:cNvSpPr/>
          <p:nvPr/>
        </p:nvSpPr>
        <p:spPr>
          <a:xfrm rot="5400000">
            <a:off x="66729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5" name="Google Shape;425;p28"/>
          <p:cNvSpPr/>
          <p:nvPr/>
        </p:nvSpPr>
        <p:spPr>
          <a:xfrm rot="5400000">
            <a:off x="68478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6" name="Google Shape;426;p28"/>
          <p:cNvSpPr/>
          <p:nvPr/>
        </p:nvSpPr>
        <p:spPr>
          <a:xfrm rot="5400000">
            <a:off x="70227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7" name="Google Shape;427;p28"/>
          <p:cNvSpPr/>
          <p:nvPr/>
        </p:nvSpPr>
        <p:spPr>
          <a:xfrm rot="5400000">
            <a:off x="71976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8" name="Google Shape;428;p28"/>
          <p:cNvSpPr/>
          <p:nvPr/>
        </p:nvSpPr>
        <p:spPr>
          <a:xfrm rot="5400000">
            <a:off x="73725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9" name="Google Shape;429;p28"/>
          <p:cNvSpPr/>
          <p:nvPr/>
        </p:nvSpPr>
        <p:spPr>
          <a:xfrm rot="5400000">
            <a:off x="75474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30" name="Google Shape;430;p28"/>
          <p:cNvSpPr/>
          <p:nvPr/>
        </p:nvSpPr>
        <p:spPr>
          <a:xfrm rot="5400000">
            <a:off x="77223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31" name="Google Shape;431;p28"/>
          <p:cNvSpPr txBox="1"/>
          <p:nvPr/>
        </p:nvSpPr>
        <p:spPr>
          <a:xfrm>
            <a:off x="1874450" y="4725575"/>
            <a:ext cx="22737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 Application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32" name="Google Shape;432;p28"/>
          <p:cNvCxnSpPr>
            <a:stCxn id="370" idx="3"/>
            <a:endCxn id="403" idx="0"/>
          </p:cNvCxnSpPr>
          <p:nvPr/>
        </p:nvCxnSpPr>
        <p:spPr>
          <a:xfrm>
            <a:off x="2342900" y="2479475"/>
            <a:ext cx="0" cy="304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33" name="Google Shape;433;p28"/>
          <p:cNvCxnSpPr>
            <a:stCxn id="371" idx="3"/>
          </p:cNvCxnSpPr>
          <p:nvPr/>
        </p:nvCxnSpPr>
        <p:spPr>
          <a:xfrm>
            <a:off x="2517800" y="2479475"/>
            <a:ext cx="0" cy="304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34" name="Google Shape;434;p28"/>
          <p:cNvCxnSpPr>
            <a:stCxn id="372" idx="3"/>
          </p:cNvCxnSpPr>
          <p:nvPr/>
        </p:nvCxnSpPr>
        <p:spPr>
          <a:xfrm>
            <a:off x="2692700" y="2479475"/>
            <a:ext cx="0" cy="304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35" name="Google Shape;435;p28"/>
          <p:cNvCxnSpPr>
            <a:stCxn id="373" idx="3"/>
          </p:cNvCxnSpPr>
          <p:nvPr/>
        </p:nvCxnSpPr>
        <p:spPr>
          <a:xfrm>
            <a:off x="2867600" y="2479475"/>
            <a:ext cx="0" cy="304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36" name="Google Shape;436;p28"/>
          <p:cNvCxnSpPr>
            <a:stCxn id="374" idx="3"/>
          </p:cNvCxnSpPr>
          <p:nvPr/>
        </p:nvCxnSpPr>
        <p:spPr>
          <a:xfrm>
            <a:off x="3042500" y="2479475"/>
            <a:ext cx="0" cy="304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37" name="Google Shape;437;p28"/>
          <p:cNvCxnSpPr>
            <a:stCxn id="369" idx="3"/>
          </p:cNvCxnSpPr>
          <p:nvPr/>
        </p:nvCxnSpPr>
        <p:spPr>
          <a:xfrm>
            <a:off x="2168000" y="2479475"/>
            <a:ext cx="0" cy="304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38" name="Google Shape;438;p28"/>
          <p:cNvCxnSpPr>
            <a:stCxn id="368" idx="3"/>
          </p:cNvCxnSpPr>
          <p:nvPr/>
        </p:nvCxnSpPr>
        <p:spPr>
          <a:xfrm>
            <a:off x="1993100" y="2479475"/>
            <a:ext cx="0" cy="304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39" name="Google Shape;439;p28"/>
          <p:cNvCxnSpPr>
            <a:stCxn id="367" idx="3"/>
          </p:cNvCxnSpPr>
          <p:nvPr/>
        </p:nvCxnSpPr>
        <p:spPr>
          <a:xfrm>
            <a:off x="1818200" y="2479475"/>
            <a:ext cx="0" cy="304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40" name="Google Shape;440;p28"/>
          <p:cNvCxnSpPr>
            <a:stCxn id="366" idx="3"/>
          </p:cNvCxnSpPr>
          <p:nvPr/>
        </p:nvCxnSpPr>
        <p:spPr>
          <a:xfrm>
            <a:off x="1643300" y="2479475"/>
            <a:ext cx="0" cy="304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41" name="Google Shape;441;p28"/>
          <p:cNvCxnSpPr>
            <a:stCxn id="403" idx="2"/>
            <a:endCxn id="345" idx="0"/>
          </p:cNvCxnSpPr>
          <p:nvPr/>
        </p:nvCxnSpPr>
        <p:spPr>
          <a:xfrm>
            <a:off x="2342900" y="3094769"/>
            <a:ext cx="318600" cy="293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42" name="Google Shape;442;p28"/>
          <p:cNvSpPr/>
          <p:nvPr/>
        </p:nvSpPr>
        <p:spPr>
          <a:xfrm>
            <a:off x="1122650" y="2784275"/>
            <a:ext cx="433200" cy="310500"/>
          </a:xfrm>
          <a:prstGeom prst="rect">
            <a:avLst/>
          </a:prstGeom>
          <a:solidFill>
            <a:srgbClr val="B6D7A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latin typeface="Roboto"/>
                <a:ea typeface="Roboto"/>
                <a:cs typeface="Roboto"/>
                <a:sym typeface="Roboto"/>
              </a:rPr>
              <a:t>TCP</a:t>
            </a:r>
            <a:endParaRPr sz="8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latin typeface="Roboto"/>
                <a:ea typeface="Roboto"/>
                <a:cs typeface="Roboto"/>
                <a:sym typeface="Roboto"/>
              </a:rPr>
              <a:t>HDR</a:t>
            </a:r>
            <a:endParaRPr sz="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3" name="Google Shape;443;p28"/>
          <p:cNvSpPr/>
          <p:nvPr/>
        </p:nvSpPr>
        <p:spPr>
          <a:xfrm>
            <a:off x="1441250" y="3388175"/>
            <a:ext cx="433200" cy="310500"/>
          </a:xfrm>
          <a:prstGeom prst="rect">
            <a:avLst/>
          </a:prstGeom>
          <a:solidFill>
            <a:srgbClr val="B6D7A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latin typeface="Roboto"/>
                <a:ea typeface="Roboto"/>
                <a:cs typeface="Roboto"/>
                <a:sym typeface="Roboto"/>
              </a:rPr>
              <a:t>TCP</a:t>
            </a:r>
            <a:endParaRPr sz="8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latin typeface="Roboto"/>
                <a:ea typeface="Roboto"/>
                <a:cs typeface="Roboto"/>
                <a:sym typeface="Roboto"/>
              </a:rPr>
              <a:t>HDR</a:t>
            </a:r>
            <a:endParaRPr sz="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4" name="Google Shape;444;p28"/>
          <p:cNvSpPr txBox="1"/>
          <p:nvPr/>
        </p:nvSpPr>
        <p:spPr>
          <a:xfrm>
            <a:off x="3654650" y="2825825"/>
            <a:ext cx="2697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TCP header carries a sequence number indicating where in the bytestream this segment fits.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DA627E3-81FF-0DB1-2401-063DCA4F849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</a:t>
            </a:fld>
            <a:endParaRPr lang="en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2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TCP Segments</a:t>
            </a:r>
            <a:endParaRPr/>
          </a:p>
        </p:txBody>
      </p:sp>
      <p:sp>
        <p:nvSpPr>
          <p:cNvPr id="450" name="Google Shape;450;p2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28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/>
              <a:t>TCP/IP packet</a:t>
            </a:r>
            <a:r>
              <a:rPr lang="en"/>
              <a:t>: IP packet with TCP header and TCP data inside.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Size limits: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IP packet: Maximum transmission unit (MTU).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TCP segment: Maximum segment size (MSS).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MSS = MTU – (IP header) – (TCP header).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1" name="Google Shape;451;p29"/>
          <p:cNvSpPr/>
          <p:nvPr/>
        </p:nvSpPr>
        <p:spPr>
          <a:xfrm>
            <a:off x="3241750" y="3656050"/>
            <a:ext cx="1152000" cy="739200"/>
          </a:xfrm>
          <a:prstGeom prst="rect">
            <a:avLst/>
          </a:prstGeom>
          <a:solidFill>
            <a:srgbClr val="B6D7A8"/>
          </a:solidFill>
          <a:ln w="9525" cap="flat" cmpd="sng">
            <a:solidFill>
              <a:srgbClr val="66666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TCP Header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2" name="Google Shape;452;p29"/>
          <p:cNvSpPr/>
          <p:nvPr/>
        </p:nvSpPr>
        <p:spPr>
          <a:xfrm>
            <a:off x="4393750" y="3656050"/>
            <a:ext cx="2640300" cy="739200"/>
          </a:xfrm>
          <a:prstGeom prst="rect">
            <a:avLst/>
          </a:prstGeom>
          <a:solidFill>
            <a:srgbClr val="9FC5E8"/>
          </a:solidFill>
          <a:ln w="9525" cap="flat" cmpd="sng">
            <a:solidFill>
              <a:srgbClr val="66666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TCP Payload (Segment)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3" name="Google Shape;453;p29"/>
          <p:cNvSpPr/>
          <p:nvPr/>
        </p:nvSpPr>
        <p:spPr>
          <a:xfrm>
            <a:off x="2089750" y="3656050"/>
            <a:ext cx="1152000" cy="739200"/>
          </a:xfrm>
          <a:prstGeom prst="rect">
            <a:avLst/>
          </a:prstGeom>
          <a:solidFill>
            <a:srgbClr val="F9CB9C"/>
          </a:solidFill>
          <a:ln w="9525" cap="flat" cmpd="sng">
            <a:solidFill>
              <a:srgbClr val="66666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IP Header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454" name="Google Shape;454;p29"/>
          <p:cNvGrpSpPr/>
          <p:nvPr/>
        </p:nvGrpSpPr>
        <p:grpSpPr>
          <a:xfrm>
            <a:off x="3241750" y="4504600"/>
            <a:ext cx="3792300" cy="261300"/>
            <a:chOff x="3241750" y="4504600"/>
            <a:chExt cx="3792300" cy="261300"/>
          </a:xfrm>
        </p:grpSpPr>
        <p:cxnSp>
          <p:nvCxnSpPr>
            <p:cNvPr id="455" name="Google Shape;455;p29"/>
            <p:cNvCxnSpPr/>
            <p:nvPr/>
          </p:nvCxnSpPr>
          <p:spPr>
            <a:xfrm>
              <a:off x="3241750" y="4635250"/>
              <a:ext cx="3792300" cy="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triangle" w="med" len="med"/>
              <a:tailEnd type="triangle" w="med" len="med"/>
            </a:ln>
          </p:spPr>
        </p:cxnSp>
        <p:sp>
          <p:nvSpPr>
            <p:cNvPr id="456" name="Google Shape;456;p29"/>
            <p:cNvSpPr txBox="1"/>
            <p:nvPr/>
          </p:nvSpPr>
          <p:spPr>
            <a:xfrm>
              <a:off x="4681600" y="4504600"/>
              <a:ext cx="912600" cy="2613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IP Payload</a:t>
              </a:r>
              <a:endParaRPr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57" name="Google Shape;457;p29"/>
          <p:cNvGrpSpPr/>
          <p:nvPr/>
        </p:nvGrpSpPr>
        <p:grpSpPr>
          <a:xfrm>
            <a:off x="2089750" y="2980600"/>
            <a:ext cx="4944300" cy="261300"/>
            <a:chOff x="2089750" y="2980600"/>
            <a:chExt cx="4944300" cy="261300"/>
          </a:xfrm>
        </p:grpSpPr>
        <p:cxnSp>
          <p:nvCxnSpPr>
            <p:cNvPr id="458" name="Google Shape;458;p29"/>
            <p:cNvCxnSpPr/>
            <p:nvPr/>
          </p:nvCxnSpPr>
          <p:spPr>
            <a:xfrm>
              <a:off x="2089750" y="3111250"/>
              <a:ext cx="4944300" cy="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triangle" w="med" len="med"/>
              <a:tailEnd type="triangle" w="med" len="med"/>
            </a:ln>
          </p:spPr>
        </p:cxnSp>
        <p:sp>
          <p:nvSpPr>
            <p:cNvPr id="459" name="Google Shape;459;p29"/>
            <p:cNvSpPr txBox="1"/>
            <p:nvPr/>
          </p:nvSpPr>
          <p:spPr>
            <a:xfrm>
              <a:off x="3891002" y="2980600"/>
              <a:ext cx="1362000" cy="2613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Limit </a:t>
              </a:r>
              <a:r>
                <a:rPr lang="en" i="1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MTU</a:t>
              </a:r>
              <a:r>
                <a:rPr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 bytes</a:t>
              </a:r>
              <a:endParaRPr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460" name="Google Shape;460;p29"/>
          <p:cNvGrpSpPr/>
          <p:nvPr/>
        </p:nvGrpSpPr>
        <p:grpSpPr>
          <a:xfrm>
            <a:off x="4393750" y="3285400"/>
            <a:ext cx="2640300" cy="261300"/>
            <a:chOff x="4393750" y="3285400"/>
            <a:chExt cx="2640300" cy="261300"/>
          </a:xfrm>
        </p:grpSpPr>
        <p:cxnSp>
          <p:nvCxnSpPr>
            <p:cNvPr id="461" name="Google Shape;461;p29"/>
            <p:cNvCxnSpPr/>
            <p:nvPr/>
          </p:nvCxnSpPr>
          <p:spPr>
            <a:xfrm>
              <a:off x="4393750" y="3416050"/>
              <a:ext cx="2640300" cy="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triangle" w="med" len="med"/>
              <a:tailEnd type="triangle" w="med" len="med"/>
            </a:ln>
          </p:spPr>
        </p:cxnSp>
        <p:sp>
          <p:nvSpPr>
            <p:cNvPr id="462" name="Google Shape;462;p29"/>
            <p:cNvSpPr txBox="1"/>
            <p:nvPr/>
          </p:nvSpPr>
          <p:spPr>
            <a:xfrm>
              <a:off x="5032902" y="3285400"/>
              <a:ext cx="1362000" cy="2613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Limit </a:t>
              </a:r>
              <a:r>
                <a:rPr lang="en" i="1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MSS</a:t>
              </a:r>
              <a:r>
                <a:rPr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 bytes</a:t>
              </a:r>
              <a:endParaRPr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13752AA-517C-6E75-204A-6421659B2BB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6</a:t>
            </a:fld>
            <a:endParaRPr lang="en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Google Shape;467;p30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TCP Sequence Numbers</a:t>
            </a:r>
            <a:endParaRPr dirty="0"/>
          </a:p>
        </p:txBody>
      </p:sp>
      <p:sp>
        <p:nvSpPr>
          <p:cNvPr id="468" name="Google Shape;468;p3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Numbering starts at a randomly-generated </a:t>
            </a:r>
            <a:r>
              <a:rPr lang="en" b="1" dirty="0"/>
              <a:t>Initial Sequence Number</a:t>
            </a:r>
            <a:r>
              <a:rPr lang="en" dirty="0"/>
              <a:t> (ISN).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First byte is </a:t>
            </a:r>
            <a:r>
              <a:rPr lang="en" i="1" dirty="0"/>
              <a:t>ISN</a:t>
            </a:r>
            <a:r>
              <a:rPr lang="en" dirty="0"/>
              <a:t>+1, then </a:t>
            </a:r>
            <a:r>
              <a:rPr lang="en" i="1" dirty="0"/>
              <a:t>ISN</a:t>
            </a:r>
            <a:r>
              <a:rPr lang="en" dirty="0"/>
              <a:t>+2, etc.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Starting at a randomly-chosen ISN is important for security.</a:t>
            </a:r>
            <a:endParaRPr dirty="0"/>
          </a:p>
        </p:txBody>
      </p:sp>
      <p:sp>
        <p:nvSpPr>
          <p:cNvPr id="469" name="Google Shape;469;p30"/>
          <p:cNvSpPr/>
          <p:nvPr/>
        </p:nvSpPr>
        <p:spPr>
          <a:xfrm rot="5400000">
            <a:off x="12822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ISN </a:t>
            </a:r>
            <a:r>
              <a:rPr lang="en" sz="1000">
                <a:latin typeface="Roboto"/>
                <a:ea typeface="Roboto"/>
                <a:cs typeface="Roboto"/>
                <a:sym typeface="Roboto"/>
              </a:rPr>
              <a:t>+ 1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0" name="Google Shape;470;p30"/>
          <p:cNvSpPr/>
          <p:nvPr/>
        </p:nvSpPr>
        <p:spPr>
          <a:xfrm rot="5400000">
            <a:off x="14571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ISN </a:t>
            </a:r>
            <a:r>
              <a:rPr lang="en"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+ 2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1" name="Google Shape;471;p30"/>
          <p:cNvSpPr/>
          <p:nvPr/>
        </p:nvSpPr>
        <p:spPr>
          <a:xfrm rot="5400000">
            <a:off x="16320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ISN </a:t>
            </a:r>
            <a:r>
              <a:rPr lang="en"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+ 3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2" name="Google Shape;472;p30"/>
          <p:cNvSpPr/>
          <p:nvPr/>
        </p:nvSpPr>
        <p:spPr>
          <a:xfrm rot="5400000">
            <a:off x="18069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ISN </a:t>
            </a:r>
            <a:r>
              <a:rPr lang="en"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+ 4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3" name="Google Shape;473;p30"/>
          <p:cNvSpPr/>
          <p:nvPr/>
        </p:nvSpPr>
        <p:spPr>
          <a:xfrm rot="5400000">
            <a:off x="19818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4" name="Google Shape;474;p30"/>
          <p:cNvSpPr/>
          <p:nvPr/>
        </p:nvSpPr>
        <p:spPr>
          <a:xfrm rot="5400000">
            <a:off x="21567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5" name="Google Shape;475;p30"/>
          <p:cNvSpPr/>
          <p:nvPr/>
        </p:nvSpPr>
        <p:spPr>
          <a:xfrm rot="5400000">
            <a:off x="23316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6" name="Google Shape;476;p30"/>
          <p:cNvSpPr/>
          <p:nvPr/>
        </p:nvSpPr>
        <p:spPr>
          <a:xfrm rot="5400000">
            <a:off x="25065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ISN </a:t>
            </a:r>
            <a:r>
              <a:rPr lang="en"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+ 79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7" name="Google Shape;477;p30"/>
          <p:cNvSpPr/>
          <p:nvPr/>
        </p:nvSpPr>
        <p:spPr>
          <a:xfrm rot="5400000">
            <a:off x="26814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ISN </a:t>
            </a:r>
            <a:r>
              <a:rPr lang="en"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+ 80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8" name="Google Shape;478;p30"/>
          <p:cNvSpPr/>
          <p:nvPr/>
        </p:nvSpPr>
        <p:spPr>
          <a:xfrm rot="5400000">
            <a:off x="28563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9" name="Google Shape;479;p30"/>
          <p:cNvSpPr/>
          <p:nvPr/>
        </p:nvSpPr>
        <p:spPr>
          <a:xfrm rot="5400000">
            <a:off x="30312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0" name="Google Shape;480;p30"/>
          <p:cNvSpPr/>
          <p:nvPr/>
        </p:nvSpPr>
        <p:spPr>
          <a:xfrm rot="5400000">
            <a:off x="32061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1" name="Google Shape;481;p30"/>
          <p:cNvSpPr/>
          <p:nvPr/>
        </p:nvSpPr>
        <p:spPr>
          <a:xfrm rot="5400000">
            <a:off x="33810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2" name="Google Shape;482;p30"/>
          <p:cNvSpPr/>
          <p:nvPr/>
        </p:nvSpPr>
        <p:spPr>
          <a:xfrm rot="5400000">
            <a:off x="35559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3" name="Google Shape;483;p30"/>
          <p:cNvSpPr/>
          <p:nvPr/>
        </p:nvSpPr>
        <p:spPr>
          <a:xfrm rot="5400000">
            <a:off x="37308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4" name="Google Shape;484;p30"/>
          <p:cNvSpPr/>
          <p:nvPr/>
        </p:nvSpPr>
        <p:spPr>
          <a:xfrm rot="5400000">
            <a:off x="39057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5" name="Google Shape;485;p30"/>
          <p:cNvSpPr/>
          <p:nvPr/>
        </p:nvSpPr>
        <p:spPr>
          <a:xfrm rot="5400000">
            <a:off x="40806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6" name="Google Shape;486;p30"/>
          <p:cNvSpPr/>
          <p:nvPr/>
        </p:nvSpPr>
        <p:spPr>
          <a:xfrm rot="5400000">
            <a:off x="42555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7" name="Google Shape;487;p30"/>
          <p:cNvSpPr/>
          <p:nvPr/>
        </p:nvSpPr>
        <p:spPr>
          <a:xfrm rot="5400000">
            <a:off x="44304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8" name="Google Shape;488;p30"/>
          <p:cNvSpPr/>
          <p:nvPr/>
        </p:nvSpPr>
        <p:spPr>
          <a:xfrm rot="5400000">
            <a:off x="46053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9" name="Google Shape;489;p30"/>
          <p:cNvSpPr/>
          <p:nvPr/>
        </p:nvSpPr>
        <p:spPr>
          <a:xfrm rot="5400000">
            <a:off x="47802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90" name="Google Shape;490;p30"/>
          <p:cNvSpPr/>
          <p:nvPr/>
        </p:nvSpPr>
        <p:spPr>
          <a:xfrm rot="5400000">
            <a:off x="49551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91" name="Google Shape;491;p30"/>
          <p:cNvSpPr/>
          <p:nvPr/>
        </p:nvSpPr>
        <p:spPr>
          <a:xfrm rot="5400000">
            <a:off x="51300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92" name="Google Shape;492;p30"/>
          <p:cNvSpPr/>
          <p:nvPr/>
        </p:nvSpPr>
        <p:spPr>
          <a:xfrm rot="5400000">
            <a:off x="53049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93" name="Google Shape;493;p30"/>
          <p:cNvSpPr/>
          <p:nvPr/>
        </p:nvSpPr>
        <p:spPr>
          <a:xfrm rot="5400000">
            <a:off x="54798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94" name="Google Shape;494;p30"/>
          <p:cNvSpPr/>
          <p:nvPr/>
        </p:nvSpPr>
        <p:spPr>
          <a:xfrm rot="5400000">
            <a:off x="56547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95" name="Google Shape;495;p30"/>
          <p:cNvSpPr/>
          <p:nvPr/>
        </p:nvSpPr>
        <p:spPr>
          <a:xfrm rot="5400000">
            <a:off x="58296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96" name="Google Shape;496;p30"/>
          <p:cNvSpPr/>
          <p:nvPr/>
        </p:nvSpPr>
        <p:spPr>
          <a:xfrm rot="5400000">
            <a:off x="60045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97" name="Google Shape;497;p30"/>
          <p:cNvSpPr/>
          <p:nvPr/>
        </p:nvSpPr>
        <p:spPr>
          <a:xfrm rot="5400000">
            <a:off x="61794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98" name="Google Shape;498;p30"/>
          <p:cNvSpPr/>
          <p:nvPr/>
        </p:nvSpPr>
        <p:spPr>
          <a:xfrm rot="5400000">
            <a:off x="63543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99" name="Google Shape;499;p30"/>
          <p:cNvSpPr/>
          <p:nvPr/>
        </p:nvSpPr>
        <p:spPr>
          <a:xfrm rot="5400000">
            <a:off x="65292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00" name="Google Shape;500;p30"/>
          <p:cNvSpPr/>
          <p:nvPr/>
        </p:nvSpPr>
        <p:spPr>
          <a:xfrm rot="5400000">
            <a:off x="67041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01" name="Google Shape;501;p30"/>
          <p:cNvSpPr/>
          <p:nvPr/>
        </p:nvSpPr>
        <p:spPr>
          <a:xfrm rot="5400000">
            <a:off x="68790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02" name="Google Shape;502;p30"/>
          <p:cNvSpPr/>
          <p:nvPr/>
        </p:nvSpPr>
        <p:spPr>
          <a:xfrm rot="5400000">
            <a:off x="70539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03" name="Google Shape;503;p30"/>
          <p:cNvSpPr/>
          <p:nvPr/>
        </p:nvSpPr>
        <p:spPr>
          <a:xfrm rot="5400000">
            <a:off x="72288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04" name="Google Shape;504;p30"/>
          <p:cNvSpPr/>
          <p:nvPr/>
        </p:nvSpPr>
        <p:spPr>
          <a:xfrm rot="5400000">
            <a:off x="74037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05" name="Google Shape;505;p30"/>
          <p:cNvSpPr/>
          <p:nvPr/>
        </p:nvSpPr>
        <p:spPr>
          <a:xfrm rot="5400000">
            <a:off x="16008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ISN </a:t>
            </a:r>
            <a:r>
              <a:rPr lang="en"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+ 1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06" name="Google Shape;506;p30"/>
          <p:cNvSpPr/>
          <p:nvPr/>
        </p:nvSpPr>
        <p:spPr>
          <a:xfrm rot="5400000">
            <a:off x="17757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ISN </a:t>
            </a:r>
            <a:r>
              <a:rPr lang="en"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+ 2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07" name="Google Shape;507;p30"/>
          <p:cNvSpPr/>
          <p:nvPr/>
        </p:nvSpPr>
        <p:spPr>
          <a:xfrm rot="5400000">
            <a:off x="19506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ISN </a:t>
            </a:r>
            <a:r>
              <a:rPr lang="en"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+ 3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08" name="Google Shape;508;p30"/>
          <p:cNvSpPr/>
          <p:nvPr/>
        </p:nvSpPr>
        <p:spPr>
          <a:xfrm rot="5400000">
            <a:off x="21255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ISN </a:t>
            </a:r>
            <a:r>
              <a:rPr lang="en"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+ 4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09" name="Google Shape;509;p30"/>
          <p:cNvSpPr/>
          <p:nvPr/>
        </p:nvSpPr>
        <p:spPr>
          <a:xfrm rot="5400000">
            <a:off x="23004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0" name="Google Shape;510;p30"/>
          <p:cNvSpPr/>
          <p:nvPr/>
        </p:nvSpPr>
        <p:spPr>
          <a:xfrm rot="5400000">
            <a:off x="24753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1" name="Google Shape;511;p30"/>
          <p:cNvSpPr/>
          <p:nvPr/>
        </p:nvSpPr>
        <p:spPr>
          <a:xfrm rot="5400000">
            <a:off x="26502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2" name="Google Shape;512;p30"/>
          <p:cNvSpPr/>
          <p:nvPr/>
        </p:nvSpPr>
        <p:spPr>
          <a:xfrm rot="5400000">
            <a:off x="28251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ISN </a:t>
            </a:r>
            <a:r>
              <a:rPr lang="en"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+ 79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3" name="Google Shape;513;p30"/>
          <p:cNvSpPr/>
          <p:nvPr/>
        </p:nvSpPr>
        <p:spPr>
          <a:xfrm rot="5400000">
            <a:off x="30000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ISN </a:t>
            </a:r>
            <a:r>
              <a:rPr lang="en"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+ 80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4" name="Google Shape;514;p30"/>
          <p:cNvSpPr/>
          <p:nvPr/>
        </p:nvSpPr>
        <p:spPr>
          <a:xfrm rot="5400000">
            <a:off x="31749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5" name="Google Shape;515;p30"/>
          <p:cNvSpPr/>
          <p:nvPr/>
        </p:nvSpPr>
        <p:spPr>
          <a:xfrm rot="5400000">
            <a:off x="33498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6" name="Google Shape;516;p30"/>
          <p:cNvSpPr/>
          <p:nvPr/>
        </p:nvSpPr>
        <p:spPr>
          <a:xfrm rot="5400000">
            <a:off x="35247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7" name="Google Shape;517;p30"/>
          <p:cNvSpPr/>
          <p:nvPr/>
        </p:nvSpPr>
        <p:spPr>
          <a:xfrm rot="5400000">
            <a:off x="36996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8" name="Google Shape;518;p30"/>
          <p:cNvSpPr/>
          <p:nvPr/>
        </p:nvSpPr>
        <p:spPr>
          <a:xfrm rot="5400000">
            <a:off x="38745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9" name="Google Shape;519;p30"/>
          <p:cNvSpPr/>
          <p:nvPr/>
        </p:nvSpPr>
        <p:spPr>
          <a:xfrm rot="5400000">
            <a:off x="40494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20" name="Google Shape;520;p30"/>
          <p:cNvSpPr/>
          <p:nvPr/>
        </p:nvSpPr>
        <p:spPr>
          <a:xfrm rot="5400000">
            <a:off x="42243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21" name="Google Shape;521;p30"/>
          <p:cNvSpPr/>
          <p:nvPr/>
        </p:nvSpPr>
        <p:spPr>
          <a:xfrm rot="5400000">
            <a:off x="43992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22" name="Google Shape;522;p30"/>
          <p:cNvSpPr/>
          <p:nvPr/>
        </p:nvSpPr>
        <p:spPr>
          <a:xfrm rot="5400000">
            <a:off x="45741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23" name="Google Shape;523;p30"/>
          <p:cNvSpPr/>
          <p:nvPr/>
        </p:nvSpPr>
        <p:spPr>
          <a:xfrm rot="5400000">
            <a:off x="47490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24" name="Google Shape;524;p30"/>
          <p:cNvSpPr/>
          <p:nvPr/>
        </p:nvSpPr>
        <p:spPr>
          <a:xfrm rot="5400000">
            <a:off x="49239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25" name="Google Shape;525;p30"/>
          <p:cNvSpPr/>
          <p:nvPr/>
        </p:nvSpPr>
        <p:spPr>
          <a:xfrm rot="5400000">
            <a:off x="50988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26" name="Google Shape;526;p30"/>
          <p:cNvSpPr/>
          <p:nvPr/>
        </p:nvSpPr>
        <p:spPr>
          <a:xfrm rot="5400000">
            <a:off x="52737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27" name="Google Shape;527;p30"/>
          <p:cNvSpPr/>
          <p:nvPr/>
        </p:nvSpPr>
        <p:spPr>
          <a:xfrm rot="5400000">
            <a:off x="54486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28" name="Google Shape;528;p30"/>
          <p:cNvSpPr/>
          <p:nvPr/>
        </p:nvSpPr>
        <p:spPr>
          <a:xfrm rot="5400000">
            <a:off x="56235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29" name="Google Shape;529;p30"/>
          <p:cNvSpPr/>
          <p:nvPr/>
        </p:nvSpPr>
        <p:spPr>
          <a:xfrm rot="5400000">
            <a:off x="57984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30" name="Google Shape;530;p30"/>
          <p:cNvSpPr/>
          <p:nvPr/>
        </p:nvSpPr>
        <p:spPr>
          <a:xfrm rot="5400000">
            <a:off x="59733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31" name="Google Shape;531;p30"/>
          <p:cNvSpPr/>
          <p:nvPr/>
        </p:nvSpPr>
        <p:spPr>
          <a:xfrm rot="5400000">
            <a:off x="61482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32" name="Google Shape;532;p30"/>
          <p:cNvSpPr/>
          <p:nvPr/>
        </p:nvSpPr>
        <p:spPr>
          <a:xfrm rot="5400000">
            <a:off x="63231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33" name="Google Shape;533;p30"/>
          <p:cNvSpPr/>
          <p:nvPr/>
        </p:nvSpPr>
        <p:spPr>
          <a:xfrm rot="5400000">
            <a:off x="64980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34" name="Google Shape;534;p30"/>
          <p:cNvSpPr/>
          <p:nvPr/>
        </p:nvSpPr>
        <p:spPr>
          <a:xfrm rot="5400000">
            <a:off x="66729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35" name="Google Shape;535;p30"/>
          <p:cNvSpPr/>
          <p:nvPr/>
        </p:nvSpPr>
        <p:spPr>
          <a:xfrm rot="5400000">
            <a:off x="68478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36" name="Google Shape;536;p30"/>
          <p:cNvSpPr/>
          <p:nvPr/>
        </p:nvSpPr>
        <p:spPr>
          <a:xfrm rot="5400000">
            <a:off x="70227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37" name="Google Shape;537;p30"/>
          <p:cNvSpPr/>
          <p:nvPr/>
        </p:nvSpPr>
        <p:spPr>
          <a:xfrm rot="5400000">
            <a:off x="71976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38" name="Google Shape;538;p30"/>
          <p:cNvSpPr/>
          <p:nvPr/>
        </p:nvSpPr>
        <p:spPr>
          <a:xfrm rot="5400000">
            <a:off x="73725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39" name="Google Shape;539;p30"/>
          <p:cNvSpPr/>
          <p:nvPr/>
        </p:nvSpPr>
        <p:spPr>
          <a:xfrm rot="5400000">
            <a:off x="75474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0" name="Google Shape;540;p30"/>
          <p:cNvSpPr/>
          <p:nvPr/>
        </p:nvSpPr>
        <p:spPr>
          <a:xfrm rot="5400000">
            <a:off x="77223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1" name="Google Shape;541;p30"/>
          <p:cNvSpPr txBox="1"/>
          <p:nvPr/>
        </p:nvSpPr>
        <p:spPr>
          <a:xfrm>
            <a:off x="1874450" y="4725575"/>
            <a:ext cx="22737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 Application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2" name="Google Shape;542;p30"/>
          <p:cNvSpPr txBox="1"/>
          <p:nvPr/>
        </p:nvSpPr>
        <p:spPr>
          <a:xfrm>
            <a:off x="1555850" y="2496425"/>
            <a:ext cx="22737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 Application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78887E1-21C1-75BF-5C9F-B2721663348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7</a:t>
            </a:fld>
            <a:endParaRPr lang="en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p31"/>
          <p:cNvSpPr/>
          <p:nvPr/>
        </p:nvSpPr>
        <p:spPr>
          <a:xfrm>
            <a:off x="4672850" y="3388169"/>
            <a:ext cx="1574100" cy="310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TCP Segment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48" name="Google Shape;548;p31"/>
          <p:cNvCxnSpPr>
            <a:endCxn id="549" idx="1"/>
          </p:cNvCxnSpPr>
          <p:nvPr/>
        </p:nvCxnSpPr>
        <p:spPr>
          <a:xfrm>
            <a:off x="5459900" y="3697475"/>
            <a:ext cx="0" cy="306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50" name="Google Shape;550;p31"/>
          <p:cNvCxnSpPr>
            <a:endCxn id="551" idx="1"/>
          </p:cNvCxnSpPr>
          <p:nvPr/>
        </p:nvCxnSpPr>
        <p:spPr>
          <a:xfrm>
            <a:off x="5634800" y="3697475"/>
            <a:ext cx="0" cy="306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52" name="Google Shape;552;p31"/>
          <p:cNvCxnSpPr>
            <a:endCxn id="553" idx="1"/>
          </p:cNvCxnSpPr>
          <p:nvPr/>
        </p:nvCxnSpPr>
        <p:spPr>
          <a:xfrm>
            <a:off x="5809700" y="3697475"/>
            <a:ext cx="0" cy="306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54" name="Google Shape;554;p31"/>
          <p:cNvCxnSpPr>
            <a:endCxn id="555" idx="1"/>
          </p:cNvCxnSpPr>
          <p:nvPr/>
        </p:nvCxnSpPr>
        <p:spPr>
          <a:xfrm>
            <a:off x="5984600" y="3697475"/>
            <a:ext cx="0" cy="306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56" name="Google Shape;556;p31"/>
          <p:cNvCxnSpPr>
            <a:endCxn id="557" idx="1"/>
          </p:cNvCxnSpPr>
          <p:nvPr/>
        </p:nvCxnSpPr>
        <p:spPr>
          <a:xfrm>
            <a:off x="6159500" y="3697475"/>
            <a:ext cx="0" cy="306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58" name="Google Shape;558;p31"/>
          <p:cNvCxnSpPr>
            <a:endCxn id="559" idx="1"/>
          </p:cNvCxnSpPr>
          <p:nvPr/>
        </p:nvCxnSpPr>
        <p:spPr>
          <a:xfrm>
            <a:off x="5285000" y="3697475"/>
            <a:ext cx="0" cy="306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60" name="Google Shape;560;p31"/>
          <p:cNvCxnSpPr>
            <a:endCxn id="561" idx="1"/>
          </p:cNvCxnSpPr>
          <p:nvPr/>
        </p:nvCxnSpPr>
        <p:spPr>
          <a:xfrm>
            <a:off x="5110100" y="3697475"/>
            <a:ext cx="0" cy="306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62" name="Google Shape;562;p31"/>
          <p:cNvCxnSpPr>
            <a:endCxn id="563" idx="1"/>
          </p:cNvCxnSpPr>
          <p:nvPr/>
        </p:nvCxnSpPr>
        <p:spPr>
          <a:xfrm>
            <a:off x="4935200" y="3697475"/>
            <a:ext cx="0" cy="306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64" name="Google Shape;564;p31"/>
          <p:cNvCxnSpPr>
            <a:endCxn id="565" idx="1"/>
          </p:cNvCxnSpPr>
          <p:nvPr/>
        </p:nvCxnSpPr>
        <p:spPr>
          <a:xfrm>
            <a:off x="4760300" y="3697475"/>
            <a:ext cx="0" cy="306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66" name="Google Shape;566;p3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TCP Sequence Numbers</a:t>
            </a:r>
            <a:endParaRPr/>
          </a:p>
        </p:txBody>
      </p:sp>
      <p:sp>
        <p:nvSpPr>
          <p:cNvPr id="567" name="Google Shape;567;p3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02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sequence number of a segment is the number of the </a:t>
            </a:r>
            <a:r>
              <a:rPr lang="en" i="1"/>
              <a:t>first byte</a:t>
            </a:r>
            <a:r>
              <a:rPr lang="en"/>
              <a:t> in the segment.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Example: In the segment below, the sequence number is </a:t>
            </a:r>
            <a:r>
              <a:rPr lang="en" i="1">
                <a:solidFill>
                  <a:schemeClr val="accent2"/>
                </a:solidFill>
              </a:rPr>
              <a:t>ISN</a:t>
            </a:r>
            <a:r>
              <a:rPr lang="en">
                <a:solidFill>
                  <a:schemeClr val="accent2"/>
                </a:solidFill>
              </a:rPr>
              <a:t> + 140</a:t>
            </a:r>
            <a:r>
              <a:rPr lang="en"/>
              <a:t>.</a:t>
            </a:r>
            <a:endParaRPr/>
          </a:p>
        </p:txBody>
      </p:sp>
      <p:sp>
        <p:nvSpPr>
          <p:cNvPr id="568" name="Google Shape;568;p31"/>
          <p:cNvSpPr/>
          <p:nvPr/>
        </p:nvSpPr>
        <p:spPr>
          <a:xfrm rot="5400000">
            <a:off x="12822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ISN + 1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69" name="Google Shape;569;p31"/>
          <p:cNvSpPr/>
          <p:nvPr/>
        </p:nvSpPr>
        <p:spPr>
          <a:xfrm rot="5400000">
            <a:off x="14571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ISN + 2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70" name="Google Shape;570;p31"/>
          <p:cNvSpPr/>
          <p:nvPr/>
        </p:nvSpPr>
        <p:spPr>
          <a:xfrm rot="5400000">
            <a:off x="16320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ISN + 3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71" name="Google Shape;571;p31"/>
          <p:cNvSpPr/>
          <p:nvPr/>
        </p:nvSpPr>
        <p:spPr>
          <a:xfrm rot="5400000">
            <a:off x="18069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ISN + 4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72" name="Google Shape;572;p31"/>
          <p:cNvSpPr/>
          <p:nvPr/>
        </p:nvSpPr>
        <p:spPr>
          <a:xfrm rot="5400000">
            <a:off x="19818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73" name="Google Shape;573;p31"/>
          <p:cNvSpPr/>
          <p:nvPr/>
        </p:nvSpPr>
        <p:spPr>
          <a:xfrm rot="5400000">
            <a:off x="21567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74" name="Google Shape;574;p31"/>
          <p:cNvSpPr/>
          <p:nvPr/>
        </p:nvSpPr>
        <p:spPr>
          <a:xfrm rot="5400000">
            <a:off x="23316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75" name="Google Shape;575;p31"/>
          <p:cNvSpPr/>
          <p:nvPr/>
        </p:nvSpPr>
        <p:spPr>
          <a:xfrm rot="5400000">
            <a:off x="25065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ISN + 79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76" name="Google Shape;576;p31"/>
          <p:cNvSpPr/>
          <p:nvPr/>
        </p:nvSpPr>
        <p:spPr>
          <a:xfrm rot="5400000">
            <a:off x="26814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ISN + 80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77" name="Google Shape;577;p31"/>
          <p:cNvSpPr/>
          <p:nvPr/>
        </p:nvSpPr>
        <p:spPr>
          <a:xfrm rot="5400000">
            <a:off x="28563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78" name="Google Shape;578;p31"/>
          <p:cNvSpPr/>
          <p:nvPr/>
        </p:nvSpPr>
        <p:spPr>
          <a:xfrm rot="5400000">
            <a:off x="30312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79" name="Google Shape;579;p31"/>
          <p:cNvSpPr/>
          <p:nvPr/>
        </p:nvSpPr>
        <p:spPr>
          <a:xfrm rot="5400000">
            <a:off x="32061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80" name="Google Shape;580;p31"/>
          <p:cNvSpPr/>
          <p:nvPr/>
        </p:nvSpPr>
        <p:spPr>
          <a:xfrm rot="5400000">
            <a:off x="33810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81" name="Google Shape;581;p31"/>
          <p:cNvSpPr/>
          <p:nvPr/>
        </p:nvSpPr>
        <p:spPr>
          <a:xfrm rot="5400000">
            <a:off x="35559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82" name="Google Shape;582;p31"/>
          <p:cNvSpPr/>
          <p:nvPr/>
        </p:nvSpPr>
        <p:spPr>
          <a:xfrm rot="5400000">
            <a:off x="37308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83" name="Google Shape;583;p31"/>
          <p:cNvSpPr/>
          <p:nvPr/>
        </p:nvSpPr>
        <p:spPr>
          <a:xfrm rot="5400000">
            <a:off x="39057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84" name="Google Shape;584;p31"/>
          <p:cNvSpPr/>
          <p:nvPr/>
        </p:nvSpPr>
        <p:spPr>
          <a:xfrm rot="5400000">
            <a:off x="40806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ISN+140</a:t>
            </a:r>
            <a:endParaRPr sz="10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85" name="Google Shape;585;p31"/>
          <p:cNvSpPr/>
          <p:nvPr/>
        </p:nvSpPr>
        <p:spPr>
          <a:xfrm rot="5400000">
            <a:off x="42555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ISN+141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86" name="Google Shape;586;p31"/>
          <p:cNvSpPr/>
          <p:nvPr/>
        </p:nvSpPr>
        <p:spPr>
          <a:xfrm rot="5400000">
            <a:off x="44304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ISN+142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87" name="Google Shape;587;p31"/>
          <p:cNvSpPr/>
          <p:nvPr/>
        </p:nvSpPr>
        <p:spPr>
          <a:xfrm rot="5400000">
            <a:off x="46053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ISN+143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88" name="Google Shape;588;p31"/>
          <p:cNvSpPr/>
          <p:nvPr/>
        </p:nvSpPr>
        <p:spPr>
          <a:xfrm rot="5400000">
            <a:off x="47802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89" name="Google Shape;589;p31"/>
          <p:cNvSpPr/>
          <p:nvPr/>
        </p:nvSpPr>
        <p:spPr>
          <a:xfrm rot="5400000">
            <a:off x="49551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0" name="Google Shape;590;p31"/>
          <p:cNvSpPr/>
          <p:nvPr/>
        </p:nvSpPr>
        <p:spPr>
          <a:xfrm rot="5400000">
            <a:off x="51300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1" name="Google Shape;591;p31"/>
          <p:cNvSpPr/>
          <p:nvPr/>
        </p:nvSpPr>
        <p:spPr>
          <a:xfrm rot="5400000">
            <a:off x="53049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ISN+218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2" name="Google Shape;592;p31"/>
          <p:cNvSpPr/>
          <p:nvPr/>
        </p:nvSpPr>
        <p:spPr>
          <a:xfrm rot="5400000">
            <a:off x="54798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ISN+219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3" name="Google Shape;593;p31"/>
          <p:cNvSpPr/>
          <p:nvPr/>
        </p:nvSpPr>
        <p:spPr>
          <a:xfrm rot="5400000">
            <a:off x="56547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4" name="Google Shape;594;p31"/>
          <p:cNvSpPr/>
          <p:nvPr/>
        </p:nvSpPr>
        <p:spPr>
          <a:xfrm rot="5400000">
            <a:off x="58296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5" name="Google Shape;595;p31"/>
          <p:cNvSpPr/>
          <p:nvPr/>
        </p:nvSpPr>
        <p:spPr>
          <a:xfrm rot="5400000">
            <a:off x="60045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6" name="Google Shape;596;p31"/>
          <p:cNvSpPr/>
          <p:nvPr/>
        </p:nvSpPr>
        <p:spPr>
          <a:xfrm rot="5400000">
            <a:off x="61794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7" name="Google Shape;597;p31"/>
          <p:cNvSpPr/>
          <p:nvPr/>
        </p:nvSpPr>
        <p:spPr>
          <a:xfrm rot="5400000">
            <a:off x="63543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8" name="Google Shape;598;p31"/>
          <p:cNvSpPr/>
          <p:nvPr/>
        </p:nvSpPr>
        <p:spPr>
          <a:xfrm rot="5400000">
            <a:off x="65292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9" name="Google Shape;599;p31"/>
          <p:cNvSpPr/>
          <p:nvPr/>
        </p:nvSpPr>
        <p:spPr>
          <a:xfrm rot="5400000">
            <a:off x="67041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0" name="Google Shape;600;p31"/>
          <p:cNvSpPr/>
          <p:nvPr/>
        </p:nvSpPr>
        <p:spPr>
          <a:xfrm rot="5400000">
            <a:off x="68790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1" name="Google Shape;601;p31"/>
          <p:cNvSpPr/>
          <p:nvPr/>
        </p:nvSpPr>
        <p:spPr>
          <a:xfrm rot="5400000">
            <a:off x="70539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2" name="Google Shape;602;p31"/>
          <p:cNvSpPr/>
          <p:nvPr/>
        </p:nvSpPr>
        <p:spPr>
          <a:xfrm rot="5400000">
            <a:off x="72288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31"/>
          <p:cNvSpPr/>
          <p:nvPr/>
        </p:nvSpPr>
        <p:spPr>
          <a:xfrm rot="5400000">
            <a:off x="74037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4" name="Google Shape;604;p31"/>
          <p:cNvSpPr/>
          <p:nvPr/>
        </p:nvSpPr>
        <p:spPr>
          <a:xfrm>
            <a:off x="4354250" y="2784269"/>
            <a:ext cx="1574100" cy="310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TCP Segment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5" name="Google Shape;605;p31"/>
          <p:cNvSpPr/>
          <p:nvPr/>
        </p:nvSpPr>
        <p:spPr>
          <a:xfrm rot="5400000">
            <a:off x="16008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ISN + 1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6" name="Google Shape;606;p31"/>
          <p:cNvSpPr/>
          <p:nvPr/>
        </p:nvSpPr>
        <p:spPr>
          <a:xfrm rot="5400000">
            <a:off x="17757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ISN + 2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7" name="Google Shape;607;p31"/>
          <p:cNvSpPr/>
          <p:nvPr/>
        </p:nvSpPr>
        <p:spPr>
          <a:xfrm rot="5400000">
            <a:off x="19506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ISN + 3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8" name="Google Shape;608;p31"/>
          <p:cNvSpPr/>
          <p:nvPr/>
        </p:nvSpPr>
        <p:spPr>
          <a:xfrm rot="5400000">
            <a:off x="21255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ISN + 4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9" name="Google Shape;609;p31"/>
          <p:cNvSpPr/>
          <p:nvPr/>
        </p:nvSpPr>
        <p:spPr>
          <a:xfrm rot="5400000">
            <a:off x="23004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0" name="Google Shape;610;p31"/>
          <p:cNvSpPr/>
          <p:nvPr/>
        </p:nvSpPr>
        <p:spPr>
          <a:xfrm rot="5400000">
            <a:off x="24753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1" name="Google Shape;611;p31"/>
          <p:cNvSpPr/>
          <p:nvPr/>
        </p:nvSpPr>
        <p:spPr>
          <a:xfrm rot="5400000">
            <a:off x="26502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2" name="Google Shape;612;p31"/>
          <p:cNvSpPr/>
          <p:nvPr/>
        </p:nvSpPr>
        <p:spPr>
          <a:xfrm rot="5400000">
            <a:off x="28251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ISN + 79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3" name="Google Shape;613;p31"/>
          <p:cNvSpPr/>
          <p:nvPr/>
        </p:nvSpPr>
        <p:spPr>
          <a:xfrm rot="5400000">
            <a:off x="30000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ISN + 80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4" name="Google Shape;614;p31"/>
          <p:cNvSpPr/>
          <p:nvPr/>
        </p:nvSpPr>
        <p:spPr>
          <a:xfrm rot="5400000">
            <a:off x="31749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5" name="Google Shape;615;p31"/>
          <p:cNvSpPr/>
          <p:nvPr/>
        </p:nvSpPr>
        <p:spPr>
          <a:xfrm rot="5400000">
            <a:off x="33498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6" name="Google Shape;616;p31"/>
          <p:cNvSpPr/>
          <p:nvPr/>
        </p:nvSpPr>
        <p:spPr>
          <a:xfrm rot="5400000">
            <a:off x="35247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7" name="Google Shape;617;p31"/>
          <p:cNvSpPr/>
          <p:nvPr/>
        </p:nvSpPr>
        <p:spPr>
          <a:xfrm rot="5400000">
            <a:off x="36996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8" name="Google Shape;618;p31"/>
          <p:cNvSpPr/>
          <p:nvPr/>
        </p:nvSpPr>
        <p:spPr>
          <a:xfrm rot="5400000">
            <a:off x="38745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9" name="Google Shape;619;p31"/>
          <p:cNvSpPr/>
          <p:nvPr/>
        </p:nvSpPr>
        <p:spPr>
          <a:xfrm rot="5400000">
            <a:off x="40494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0" name="Google Shape;620;p31"/>
          <p:cNvSpPr/>
          <p:nvPr/>
        </p:nvSpPr>
        <p:spPr>
          <a:xfrm rot="5400000">
            <a:off x="42243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65" name="Google Shape;565;p31"/>
          <p:cNvSpPr/>
          <p:nvPr/>
        </p:nvSpPr>
        <p:spPr>
          <a:xfrm rot="5400000">
            <a:off x="43992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ISN+140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63" name="Google Shape;563;p31"/>
          <p:cNvSpPr/>
          <p:nvPr/>
        </p:nvSpPr>
        <p:spPr>
          <a:xfrm rot="5400000">
            <a:off x="45741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ISN+141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61" name="Google Shape;561;p31"/>
          <p:cNvSpPr/>
          <p:nvPr/>
        </p:nvSpPr>
        <p:spPr>
          <a:xfrm rot="5400000">
            <a:off x="47490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ISN+142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9" name="Google Shape;559;p31"/>
          <p:cNvSpPr/>
          <p:nvPr/>
        </p:nvSpPr>
        <p:spPr>
          <a:xfrm rot="5400000">
            <a:off x="49239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ISN+143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9" name="Google Shape;549;p31"/>
          <p:cNvSpPr/>
          <p:nvPr/>
        </p:nvSpPr>
        <p:spPr>
          <a:xfrm rot="5400000">
            <a:off x="50988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1" name="Google Shape;551;p31"/>
          <p:cNvSpPr/>
          <p:nvPr/>
        </p:nvSpPr>
        <p:spPr>
          <a:xfrm rot="5400000">
            <a:off x="52737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3" name="Google Shape;553;p31"/>
          <p:cNvSpPr/>
          <p:nvPr/>
        </p:nvSpPr>
        <p:spPr>
          <a:xfrm rot="5400000">
            <a:off x="54486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5" name="Google Shape;555;p31"/>
          <p:cNvSpPr/>
          <p:nvPr/>
        </p:nvSpPr>
        <p:spPr>
          <a:xfrm rot="5400000">
            <a:off x="56235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ISN+218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7" name="Google Shape;557;p31"/>
          <p:cNvSpPr/>
          <p:nvPr/>
        </p:nvSpPr>
        <p:spPr>
          <a:xfrm rot="5400000">
            <a:off x="57984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ISN+219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1" name="Google Shape;621;p31"/>
          <p:cNvSpPr/>
          <p:nvPr/>
        </p:nvSpPr>
        <p:spPr>
          <a:xfrm rot="5400000">
            <a:off x="59733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2" name="Google Shape;622;p31"/>
          <p:cNvSpPr/>
          <p:nvPr/>
        </p:nvSpPr>
        <p:spPr>
          <a:xfrm rot="5400000">
            <a:off x="61482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3" name="Google Shape;623;p31"/>
          <p:cNvSpPr/>
          <p:nvPr/>
        </p:nvSpPr>
        <p:spPr>
          <a:xfrm rot="5400000">
            <a:off x="63231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4" name="Google Shape;624;p31"/>
          <p:cNvSpPr/>
          <p:nvPr/>
        </p:nvSpPr>
        <p:spPr>
          <a:xfrm rot="5400000">
            <a:off x="64980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5" name="Google Shape;625;p31"/>
          <p:cNvSpPr/>
          <p:nvPr/>
        </p:nvSpPr>
        <p:spPr>
          <a:xfrm rot="5400000">
            <a:off x="66729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6" name="Google Shape;626;p31"/>
          <p:cNvSpPr/>
          <p:nvPr/>
        </p:nvSpPr>
        <p:spPr>
          <a:xfrm rot="5400000">
            <a:off x="68478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7" name="Google Shape;627;p31"/>
          <p:cNvSpPr/>
          <p:nvPr/>
        </p:nvSpPr>
        <p:spPr>
          <a:xfrm rot="5400000">
            <a:off x="70227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8" name="Google Shape;628;p31"/>
          <p:cNvSpPr/>
          <p:nvPr/>
        </p:nvSpPr>
        <p:spPr>
          <a:xfrm rot="5400000">
            <a:off x="71976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9" name="Google Shape;629;p31"/>
          <p:cNvSpPr/>
          <p:nvPr/>
        </p:nvSpPr>
        <p:spPr>
          <a:xfrm rot="5400000">
            <a:off x="73725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30" name="Google Shape;630;p31"/>
          <p:cNvSpPr/>
          <p:nvPr/>
        </p:nvSpPr>
        <p:spPr>
          <a:xfrm rot="5400000">
            <a:off x="75474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31" name="Google Shape;631;p31"/>
          <p:cNvSpPr/>
          <p:nvPr/>
        </p:nvSpPr>
        <p:spPr>
          <a:xfrm rot="5400000">
            <a:off x="77223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32" name="Google Shape;632;p31"/>
          <p:cNvSpPr txBox="1"/>
          <p:nvPr/>
        </p:nvSpPr>
        <p:spPr>
          <a:xfrm>
            <a:off x="1874450" y="4725575"/>
            <a:ext cx="22737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 Application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3" name="Google Shape;633;p31"/>
          <p:cNvCxnSpPr>
            <a:endCxn id="604" idx="0"/>
          </p:cNvCxnSpPr>
          <p:nvPr/>
        </p:nvCxnSpPr>
        <p:spPr>
          <a:xfrm>
            <a:off x="5131400" y="2476469"/>
            <a:ext cx="9900" cy="307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34" name="Google Shape;634;p31"/>
          <p:cNvCxnSpPr>
            <a:stCxn id="589" idx="3"/>
          </p:cNvCxnSpPr>
          <p:nvPr/>
        </p:nvCxnSpPr>
        <p:spPr>
          <a:xfrm>
            <a:off x="5316200" y="2479475"/>
            <a:ext cx="0" cy="304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35" name="Google Shape;635;p31"/>
          <p:cNvCxnSpPr>
            <a:stCxn id="590" idx="3"/>
          </p:cNvCxnSpPr>
          <p:nvPr/>
        </p:nvCxnSpPr>
        <p:spPr>
          <a:xfrm>
            <a:off x="5491100" y="2479475"/>
            <a:ext cx="0" cy="304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36" name="Google Shape;636;p31"/>
          <p:cNvCxnSpPr>
            <a:stCxn id="591" idx="3"/>
          </p:cNvCxnSpPr>
          <p:nvPr/>
        </p:nvCxnSpPr>
        <p:spPr>
          <a:xfrm>
            <a:off x="5666000" y="2479475"/>
            <a:ext cx="0" cy="304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37" name="Google Shape;637;p31"/>
          <p:cNvCxnSpPr>
            <a:stCxn id="592" idx="3"/>
          </p:cNvCxnSpPr>
          <p:nvPr/>
        </p:nvCxnSpPr>
        <p:spPr>
          <a:xfrm>
            <a:off x="5840900" y="2479475"/>
            <a:ext cx="0" cy="304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38" name="Google Shape;638;p31"/>
          <p:cNvCxnSpPr>
            <a:stCxn id="587" idx="3"/>
          </p:cNvCxnSpPr>
          <p:nvPr/>
        </p:nvCxnSpPr>
        <p:spPr>
          <a:xfrm>
            <a:off x="4966400" y="2479475"/>
            <a:ext cx="0" cy="304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39" name="Google Shape;639;p31"/>
          <p:cNvCxnSpPr>
            <a:stCxn id="586" idx="3"/>
          </p:cNvCxnSpPr>
          <p:nvPr/>
        </p:nvCxnSpPr>
        <p:spPr>
          <a:xfrm>
            <a:off x="4791500" y="2479475"/>
            <a:ext cx="0" cy="304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40" name="Google Shape;640;p31"/>
          <p:cNvCxnSpPr>
            <a:stCxn id="585" idx="3"/>
          </p:cNvCxnSpPr>
          <p:nvPr/>
        </p:nvCxnSpPr>
        <p:spPr>
          <a:xfrm>
            <a:off x="4616600" y="2479475"/>
            <a:ext cx="0" cy="304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41" name="Google Shape;641;p31"/>
          <p:cNvCxnSpPr>
            <a:stCxn id="584" idx="3"/>
          </p:cNvCxnSpPr>
          <p:nvPr/>
        </p:nvCxnSpPr>
        <p:spPr>
          <a:xfrm>
            <a:off x="4441700" y="2479475"/>
            <a:ext cx="0" cy="304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42" name="Google Shape;642;p31"/>
          <p:cNvCxnSpPr>
            <a:stCxn id="604" idx="2"/>
            <a:endCxn id="547" idx="0"/>
          </p:cNvCxnSpPr>
          <p:nvPr/>
        </p:nvCxnSpPr>
        <p:spPr>
          <a:xfrm>
            <a:off x="5141300" y="3094769"/>
            <a:ext cx="318600" cy="293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643" name="Google Shape;643;p31"/>
          <p:cNvSpPr/>
          <p:nvPr/>
        </p:nvSpPr>
        <p:spPr>
          <a:xfrm>
            <a:off x="3921050" y="2784275"/>
            <a:ext cx="433200" cy="310500"/>
          </a:xfrm>
          <a:prstGeom prst="rect">
            <a:avLst/>
          </a:prstGeom>
          <a:solidFill>
            <a:srgbClr val="B6D7A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latin typeface="Roboto"/>
                <a:ea typeface="Roboto"/>
                <a:cs typeface="Roboto"/>
                <a:sym typeface="Roboto"/>
              </a:rPr>
              <a:t>TCP</a:t>
            </a:r>
            <a:endParaRPr sz="8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latin typeface="Roboto"/>
                <a:ea typeface="Roboto"/>
                <a:cs typeface="Roboto"/>
                <a:sym typeface="Roboto"/>
              </a:rPr>
              <a:t>HDR</a:t>
            </a:r>
            <a:endParaRPr sz="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4" name="Google Shape;644;p31"/>
          <p:cNvSpPr/>
          <p:nvPr/>
        </p:nvSpPr>
        <p:spPr>
          <a:xfrm>
            <a:off x="4239650" y="3388175"/>
            <a:ext cx="433200" cy="310500"/>
          </a:xfrm>
          <a:prstGeom prst="rect">
            <a:avLst/>
          </a:prstGeom>
          <a:solidFill>
            <a:srgbClr val="B6D7A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latin typeface="Roboto"/>
                <a:ea typeface="Roboto"/>
                <a:cs typeface="Roboto"/>
                <a:sym typeface="Roboto"/>
              </a:rPr>
              <a:t>TCP</a:t>
            </a:r>
            <a:endParaRPr sz="8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latin typeface="Roboto"/>
                <a:ea typeface="Roboto"/>
                <a:cs typeface="Roboto"/>
                <a:sym typeface="Roboto"/>
              </a:rPr>
              <a:t>HDR</a:t>
            </a:r>
            <a:endParaRPr sz="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5" name="Google Shape;645;p31"/>
          <p:cNvSpPr txBox="1"/>
          <p:nvPr/>
        </p:nvSpPr>
        <p:spPr>
          <a:xfrm>
            <a:off x="1555850" y="2496425"/>
            <a:ext cx="22737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 Application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AC97CB4-A8C8-C49D-ECCE-52085FD702D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8</a:t>
            </a:fld>
            <a:endParaRPr lang="en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Google Shape;650;p32"/>
          <p:cNvSpPr/>
          <p:nvPr/>
        </p:nvSpPr>
        <p:spPr>
          <a:xfrm>
            <a:off x="4672850" y="3388169"/>
            <a:ext cx="1574100" cy="310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TCP Segment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51" name="Google Shape;651;p32"/>
          <p:cNvCxnSpPr>
            <a:endCxn id="652" idx="1"/>
          </p:cNvCxnSpPr>
          <p:nvPr/>
        </p:nvCxnSpPr>
        <p:spPr>
          <a:xfrm>
            <a:off x="5459900" y="3697475"/>
            <a:ext cx="0" cy="306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53" name="Google Shape;653;p32"/>
          <p:cNvCxnSpPr>
            <a:endCxn id="654" idx="1"/>
          </p:cNvCxnSpPr>
          <p:nvPr/>
        </p:nvCxnSpPr>
        <p:spPr>
          <a:xfrm>
            <a:off x="5634800" y="3697475"/>
            <a:ext cx="0" cy="306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55" name="Google Shape;655;p32"/>
          <p:cNvCxnSpPr>
            <a:endCxn id="656" idx="1"/>
          </p:cNvCxnSpPr>
          <p:nvPr/>
        </p:nvCxnSpPr>
        <p:spPr>
          <a:xfrm>
            <a:off x="5809700" y="3697475"/>
            <a:ext cx="0" cy="306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57" name="Google Shape;657;p32"/>
          <p:cNvCxnSpPr>
            <a:endCxn id="658" idx="1"/>
          </p:cNvCxnSpPr>
          <p:nvPr/>
        </p:nvCxnSpPr>
        <p:spPr>
          <a:xfrm>
            <a:off x="5984600" y="3697475"/>
            <a:ext cx="0" cy="306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59" name="Google Shape;659;p32"/>
          <p:cNvCxnSpPr>
            <a:endCxn id="660" idx="1"/>
          </p:cNvCxnSpPr>
          <p:nvPr/>
        </p:nvCxnSpPr>
        <p:spPr>
          <a:xfrm>
            <a:off x="6159500" y="3697475"/>
            <a:ext cx="0" cy="306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61" name="Google Shape;661;p32"/>
          <p:cNvCxnSpPr>
            <a:endCxn id="662" idx="1"/>
          </p:cNvCxnSpPr>
          <p:nvPr/>
        </p:nvCxnSpPr>
        <p:spPr>
          <a:xfrm>
            <a:off x="5285000" y="3697475"/>
            <a:ext cx="0" cy="306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63" name="Google Shape;663;p32"/>
          <p:cNvCxnSpPr>
            <a:endCxn id="664" idx="1"/>
          </p:cNvCxnSpPr>
          <p:nvPr/>
        </p:nvCxnSpPr>
        <p:spPr>
          <a:xfrm>
            <a:off x="5110100" y="3697475"/>
            <a:ext cx="0" cy="306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65" name="Google Shape;665;p32"/>
          <p:cNvCxnSpPr>
            <a:endCxn id="666" idx="1"/>
          </p:cNvCxnSpPr>
          <p:nvPr/>
        </p:nvCxnSpPr>
        <p:spPr>
          <a:xfrm>
            <a:off x="4935200" y="3697475"/>
            <a:ext cx="0" cy="306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67" name="Google Shape;667;p32"/>
          <p:cNvCxnSpPr>
            <a:endCxn id="668" idx="1"/>
          </p:cNvCxnSpPr>
          <p:nvPr/>
        </p:nvCxnSpPr>
        <p:spPr>
          <a:xfrm>
            <a:off x="4760300" y="3697475"/>
            <a:ext cx="0" cy="306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669" name="Google Shape;669;p3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TCP Ack Numbers</a:t>
            </a:r>
            <a:endParaRPr/>
          </a:p>
        </p:txBody>
      </p:sp>
      <p:sp>
        <p:nvSpPr>
          <p:cNvPr id="670" name="Google Shape;670;p3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24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ack number indicates the next expected byte (i.e. the first unreceived byte).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Example: All bytes up to (and including) </a:t>
            </a:r>
            <a:r>
              <a:rPr lang="en" i="1"/>
              <a:t>ISN</a:t>
            </a:r>
            <a:r>
              <a:rPr lang="en"/>
              <a:t> + 219 have been received, so the next unreceived byte is </a:t>
            </a:r>
            <a:r>
              <a:rPr lang="en" i="1">
                <a:solidFill>
                  <a:schemeClr val="accent2"/>
                </a:solidFill>
              </a:rPr>
              <a:t>ISN</a:t>
            </a:r>
            <a:r>
              <a:rPr lang="en">
                <a:solidFill>
                  <a:schemeClr val="accent2"/>
                </a:solidFill>
              </a:rPr>
              <a:t> + 220</a:t>
            </a:r>
            <a:r>
              <a:rPr lang="en"/>
              <a:t>.</a:t>
            </a:r>
            <a:endParaRPr/>
          </a:p>
        </p:txBody>
      </p:sp>
      <p:sp>
        <p:nvSpPr>
          <p:cNvPr id="671" name="Google Shape;671;p32"/>
          <p:cNvSpPr/>
          <p:nvPr/>
        </p:nvSpPr>
        <p:spPr>
          <a:xfrm rot="5400000">
            <a:off x="12822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ISN + 1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32"/>
          <p:cNvSpPr/>
          <p:nvPr/>
        </p:nvSpPr>
        <p:spPr>
          <a:xfrm rot="5400000">
            <a:off x="14571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ISN + 2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3" name="Google Shape;673;p32"/>
          <p:cNvSpPr/>
          <p:nvPr/>
        </p:nvSpPr>
        <p:spPr>
          <a:xfrm rot="5400000">
            <a:off x="16320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ISN + 3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4" name="Google Shape;674;p32"/>
          <p:cNvSpPr/>
          <p:nvPr/>
        </p:nvSpPr>
        <p:spPr>
          <a:xfrm rot="5400000">
            <a:off x="18069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ISN + 4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5" name="Google Shape;675;p32"/>
          <p:cNvSpPr/>
          <p:nvPr/>
        </p:nvSpPr>
        <p:spPr>
          <a:xfrm rot="5400000">
            <a:off x="19818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32"/>
          <p:cNvSpPr/>
          <p:nvPr/>
        </p:nvSpPr>
        <p:spPr>
          <a:xfrm rot="5400000">
            <a:off x="21567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7" name="Google Shape;677;p32"/>
          <p:cNvSpPr/>
          <p:nvPr/>
        </p:nvSpPr>
        <p:spPr>
          <a:xfrm rot="5400000">
            <a:off x="23316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8" name="Google Shape;678;p32"/>
          <p:cNvSpPr/>
          <p:nvPr/>
        </p:nvSpPr>
        <p:spPr>
          <a:xfrm rot="5400000">
            <a:off x="25065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ISN + 79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9" name="Google Shape;679;p32"/>
          <p:cNvSpPr/>
          <p:nvPr/>
        </p:nvSpPr>
        <p:spPr>
          <a:xfrm rot="5400000">
            <a:off x="26814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ISN + 80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0" name="Google Shape;680;p32"/>
          <p:cNvSpPr/>
          <p:nvPr/>
        </p:nvSpPr>
        <p:spPr>
          <a:xfrm rot="5400000">
            <a:off x="28563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1" name="Google Shape;681;p32"/>
          <p:cNvSpPr/>
          <p:nvPr/>
        </p:nvSpPr>
        <p:spPr>
          <a:xfrm rot="5400000">
            <a:off x="30312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2" name="Google Shape;682;p32"/>
          <p:cNvSpPr/>
          <p:nvPr/>
        </p:nvSpPr>
        <p:spPr>
          <a:xfrm rot="5400000">
            <a:off x="32061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3" name="Google Shape;683;p32"/>
          <p:cNvSpPr/>
          <p:nvPr/>
        </p:nvSpPr>
        <p:spPr>
          <a:xfrm rot="5400000">
            <a:off x="33810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4" name="Google Shape;684;p32"/>
          <p:cNvSpPr/>
          <p:nvPr/>
        </p:nvSpPr>
        <p:spPr>
          <a:xfrm rot="5400000">
            <a:off x="35559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5" name="Google Shape;685;p32"/>
          <p:cNvSpPr/>
          <p:nvPr/>
        </p:nvSpPr>
        <p:spPr>
          <a:xfrm rot="5400000">
            <a:off x="37308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6" name="Google Shape;686;p32"/>
          <p:cNvSpPr/>
          <p:nvPr/>
        </p:nvSpPr>
        <p:spPr>
          <a:xfrm rot="5400000">
            <a:off x="39057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7" name="Google Shape;687;p32"/>
          <p:cNvSpPr/>
          <p:nvPr/>
        </p:nvSpPr>
        <p:spPr>
          <a:xfrm rot="5400000">
            <a:off x="40806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ISN+140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8" name="Google Shape;688;p32"/>
          <p:cNvSpPr/>
          <p:nvPr/>
        </p:nvSpPr>
        <p:spPr>
          <a:xfrm rot="5400000">
            <a:off x="42555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ISN+141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9" name="Google Shape;689;p32"/>
          <p:cNvSpPr/>
          <p:nvPr/>
        </p:nvSpPr>
        <p:spPr>
          <a:xfrm rot="5400000">
            <a:off x="44304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ISN+142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0" name="Google Shape;690;p32"/>
          <p:cNvSpPr/>
          <p:nvPr/>
        </p:nvSpPr>
        <p:spPr>
          <a:xfrm rot="5400000">
            <a:off x="46053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ISN+143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1" name="Google Shape;691;p32"/>
          <p:cNvSpPr/>
          <p:nvPr/>
        </p:nvSpPr>
        <p:spPr>
          <a:xfrm rot="5400000">
            <a:off x="47802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2" name="Google Shape;692;p32"/>
          <p:cNvSpPr/>
          <p:nvPr/>
        </p:nvSpPr>
        <p:spPr>
          <a:xfrm rot="5400000">
            <a:off x="49551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32"/>
          <p:cNvSpPr/>
          <p:nvPr/>
        </p:nvSpPr>
        <p:spPr>
          <a:xfrm rot="5400000">
            <a:off x="51300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4" name="Google Shape;694;p32"/>
          <p:cNvSpPr/>
          <p:nvPr/>
        </p:nvSpPr>
        <p:spPr>
          <a:xfrm rot="5400000">
            <a:off x="53049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ISN+218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5" name="Google Shape;695;p32"/>
          <p:cNvSpPr/>
          <p:nvPr/>
        </p:nvSpPr>
        <p:spPr>
          <a:xfrm rot="5400000">
            <a:off x="54798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ISN+219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6" name="Google Shape;696;p32"/>
          <p:cNvSpPr/>
          <p:nvPr/>
        </p:nvSpPr>
        <p:spPr>
          <a:xfrm rot="5400000">
            <a:off x="56547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7" name="Google Shape;697;p32"/>
          <p:cNvSpPr/>
          <p:nvPr/>
        </p:nvSpPr>
        <p:spPr>
          <a:xfrm rot="5400000">
            <a:off x="58296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8" name="Google Shape;698;p32"/>
          <p:cNvSpPr/>
          <p:nvPr/>
        </p:nvSpPr>
        <p:spPr>
          <a:xfrm rot="5400000">
            <a:off x="60045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9" name="Google Shape;699;p32"/>
          <p:cNvSpPr/>
          <p:nvPr/>
        </p:nvSpPr>
        <p:spPr>
          <a:xfrm rot="5400000">
            <a:off x="61794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00" name="Google Shape;700;p32"/>
          <p:cNvSpPr/>
          <p:nvPr/>
        </p:nvSpPr>
        <p:spPr>
          <a:xfrm rot="5400000">
            <a:off x="63543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01" name="Google Shape;701;p32"/>
          <p:cNvSpPr/>
          <p:nvPr/>
        </p:nvSpPr>
        <p:spPr>
          <a:xfrm rot="5400000">
            <a:off x="65292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02" name="Google Shape;702;p32"/>
          <p:cNvSpPr/>
          <p:nvPr/>
        </p:nvSpPr>
        <p:spPr>
          <a:xfrm rot="5400000">
            <a:off x="67041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03" name="Google Shape;703;p32"/>
          <p:cNvSpPr/>
          <p:nvPr/>
        </p:nvSpPr>
        <p:spPr>
          <a:xfrm rot="5400000">
            <a:off x="68790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04" name="Google Shape;704;p32"/>
          <p:cNvSpPr/>
          <p:nvPr/>
        </p:nvSpPr>
        <p:spPr>
          <a:xfrm rot="5400000">
            <a:off x="70539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05" name="Google Shape;705;p32"/>
          <p:cNvSpPr/>
          <p:nvPr/>
        </p:nvSpPr>
        <p:spPr>
          <a:xfrm rot="5400000">
            <a:off x="72288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06" name="Google Shape;706;p32"/>
          <p:cNvSpPr/>
          <p:nvPr/>
        </p:nvSpPr>
        <p:spPr>
          <a:xfrm rot="5400000">
            <a:off x="7403750" y="20309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07" name="Google Shape;707;p32"/>
          <p:cNvSpPr txBox="1"/>
          <p:nvPr/>
        </p:nvSpPr>
        <p:spPr>
          <a:xfrm>
            <a:off x="1555850" y="2496425"/>
            <a:ext cx="22737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Sender Application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08" name="Google Shape;708;p32"/>
          <p:cNvSpPr/>
          <p:nvPr/>
        </p:nvSpPr>
        <p:spPr>
          <a:xfrm>
            <a:off x="4354250" y="2784269"/>
            <a:ext cx="1574100" cy="3105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TCP Segment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09" name="Google Shape;709;p32"/>
          <p:cNvSpPr/>
          <p:nvPr/>
        </p:nvSpPr>
        <p:spPr>
          <a:xfrm rot="5400000">
            <a:off x="16008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ISN + 1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10" name="Google Shape;710;p32"/>
          <p:cNvSpPr/>
          <p:nvPr/>
        </p:nvSpPr>
        <p:spPr>
          <a:xfrm rot="5400000">
            <a:off x="17757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ISN + 2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11" name="Google Shape;711;p32"/>
          <p:cNvSpPr/>
          <p:nvPr/>
        </p:nvSpPr>
        <p:spPr>
          <a:xfrm rot="5400000">
            <a:off x="19506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ISN + 3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12" name="Google Shape;712;p32"/>
          <p:cNvSpPr/>
          <p:nvPr/>
        </p:nvSpPr>
        <p:spPr>
          <a:xfrm rot="5400000">
            <a:off x="21255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ISN + 4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13" name="Google Shape;713;p32"/>
          <p:cNvSpPr/>
          <p:nvPr/>
        </p:nvSpPr>
        <p:spPr>
          <a:xfrm rot="5400000">
            <a:off x="23004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14" name="Google Shape;714;p32"/>
          <p:cNvSpPr/>
          <p:nvPr/>
        </p:nvSpPr>
        <p:spPr>
          <a:xfrm rot="5400000">
            <a:off x="24753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15" name="Google Shape;715;p32"/>
          <p:cNvSpPr/>
          <p:nvPr/>
        </p:nvSpPr>
        <p:spPr>
          <a:xfrm rot="5400000">
            <a:off x="26502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16" name="Google Shape;716;p32"/>
          <p:cNvSpPr/>
          <p:nvPr/>
        </p:nvSpPr>
        <p:spPr>
          <a:xfrm rot="5400000">
            <a:off x="28251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ISN + 79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17" name="Google Shape;717;p32"/>
          <p:cNvSpPr/>
          <p:nvPr/>
        </p:nvSpPr>
        <p:spPr>
          <a:xfrm rot="5400000">
            <a:off x="30000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ISN + 80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18" name="Google Shape;718;p32"/>
          <p:cNvSpPr/>
          <p:nvPr/>
        </p:nvSpPr>
        <p:spPr>
          <a:xfrm rot="5400000">
            <a:off x="31749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19" name="Google Shape;719;p32"/>
          <p:cNvSpPr/>
          <p:nvPr/>
        </p:nvSpPr>
        <p:spPr>
          <a:xfrm rot="5400000">
            <a:off x="33498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0" name="Google Shape;720;p32"/>
          <p:cNvSpPr/>
          <p:nvPr/>
        </p:nvSpPr>
        <p:spPr>
          <a:xfrm rot="5400000">
            <a:off x="35247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32"/>
          <p:cNvSpPr/>
          <p:nvPr/>
        </p:nvSpPr>
        <p:spPr>
          <a:xfrm rot="5400000">
            <a:off x="36996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2" name="Google Shape;722;p32"/>
          <p:cNvSpPr/>
          <p:nvPr/>
        </p:nvSpPr>
        <p:spPr>
          <a:xfrm rot="5400000">
            <a:off x="38745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3" name="Google Shape;723;p32"/>
          <p:cNvSpPr/>
          <p:nvPr/>
        </p:nvSpPr>
        <p:spPr>
          <a:xfrm rot="5400000">
            <a:off x="40494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4" name="Google Shape;724;p32"/>
          <p:cNvSpPr/>
          <p:nvPr/>
        </p:nvSpPr>
        <p:spPr>
          <a:xfrm rot="5400000">
            <a:off x="42243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8" name="Google Shape;668;p32"/>
          <p:cNvSpPr/>
          <p:nvPr/>
        </p:nvSpPr>
        <p:spPr>
          <a:xfrm rot="5400000">
            <a:off x="43992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ISN+140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6" name="Google Shape;666;p32"/>
          <p:cNvSpPr/>
          <p:nvPr/>
        </p:nvSpPr>
        <p:spPr>
          <a:xfrm rot="5400000">
            <a:off x="45741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ISN+141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4" name="Google Shape;664;p32"/>
          <p:cNvSpPr/>
          <p:nvPr/>
        </p:nvSpPr>
        <p:spPr>
          <a:xfrm rot="5400000">
            <a:off x="47490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ISN+142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2" name="Google Shape;662;p32"/>
          <p:cNvSpPr/>
          <p:nvPr/>
        </p:nvSpPr>
        <p:spPr>
          <a:xfrm rot="5400000">
            <a:off x="49239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ISN+143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2" name="Google Shape;652;p32"/>
          <p:cNvSpPr/>
          <p:nvPr/>
        </p:nvSpPr>
        <p:spPr>
          <a:xfrm rot="5400000">
            <a:off x="50988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4" name="Google Shape;654;p32"/>
          <p:cNvSpPr/>
          <p:nvPr/>
        </p:nvSpPr>
        <p:spPr>
          <a:xfrm rot="5400000">
            <a:off x="52737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32"/>
          <p:cNvSpPr/>
          <p:nvPr/>
        </p:nvSpPr>
        <p:spPr>
          <a:xfrm rot="5400000">
            <a:off x="54486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8" name="Google Shape;658;p32"/>
          <p:cNvSpPr/>
          <p:nvPr/>
        </p:nvSpPr>
        <p:spPr>
          <a:xfrm rot="5400000">
            <a:off x="56235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ISN+218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0" name="Google Shape;660;p32"/>
          <p:cNvSpPr/>
          <p:nvPr/>
        </p:nvSpPr>
        <p:spPr>
          <a:xfrm rot="5400000">
            <a:off x="57984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ISN+219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5" name="Google Shape;725;p32"/>
          <p:cNvSpPr/>
          <p:nvPr/>
        </p:nvSpPr>
        <p:spPr>
          <a:xfrm rot="5400000">
            <a:off x="59733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6" name="Google Shape;726;p32"/>
          <p:cNvSpPr/>
          <p:nvPr/>
        </p:nvSpPr>
        <p:spPr>
          <a:xfrm rot="5400000">
            <a:off x="61482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7" name="Google Shape;727;p32"/>
          <p:cNvSpPr/>
          <p:nvPr/>
        </p:nvSpPr>
        <p:spPr>
          <a:xfrm rot="5400000">
            <a:off x="63231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8" name="Google Shape;728;p32"/>
          <p:cNvSpPr/>
          <p:nvPr/>
        </p:nvSpPr>
        <p:spPr>
          <a:xfrm rot="5400000">
            <a:off x="64980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9" name="Google Shape;729;p32"/>
          <p:cNvSpPr/>
          <p:nvPr/>
        </p:nvSpPr>
        <p:spPr>
          <a:xfrm rot="5400000">
            <a:off x="66729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30" name="Google Shape;730;p32"/>
          <p:cNvSpPr/>
          <p:nvPr/>
        </p:nvSpPr>
        <p:spPr>
          <a:xfrm rot="5400000">
            <a:off x="68478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31" name="Google Shape;731;p32"/>
          <p:cNvSpPr/>
          <p:nvPr/>
        </p:nvSpPr>
        <p:spPr>
          <a:xfrm rot="5400000">
            <a:off x="70227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32" name="Google Shape;732;p32"/>
          <p:cNvSpPr/>
          <p:nvPr/>
        </p:nvSpPr>
        <p:spPr>
          <a:xfrm rot="5400000">
            <a:off x="71976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33" name="Google Shape;733;p32"/>
          <p:cNvSpPr/>
          <p:nvPr/>
        </p:nvSpPr>
        <p:spPr>
          <a:xfrm rot="5400000">
            <a:off x="73725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34" name="Google Shape;734;p32"/>
          <p:cNvSpPr/>
          <p:nvPr/>
        </p:nvSpPr>
        <p:spPr>
          <a:xfrm rot="5400000">
            <a:off x="75474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35" name="Google Shape;735;p32"/>
          <p:cNvSpPr/>
          <p:nvPr/>
        </p:nvSpPr>
        <p:spPr>
          <a:xfrm rot="5400000">
            <a:off x="7722350" y="4277075"/>
            <a:ext cx="722100" cy="1749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36" name="Google Shape;736;p32"/>
          <p:cNvSpPr txBox="1"/>
          <p:nvPr/>
        </p:nvSpPr>
        <p:spPr>
          <a:xfrm>
            <a:off x="1874450" y="4725575"/>
            <a:ext cx="22737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Recipient Application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37" name="Google Shape;737;p32"/>
          <p:cNvCxnSpPr>
            <a:stCxn id="692" idx="3"/>
          </p:cNvCxnSpPr>
          <p:nvPr/>
        </p:nvCxnSpPr>
        <p:spPr>
          <a:xfrm>
            <a:off x="5316200" y="2479475"/>
            <a:ext cx="0" cy="304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38" name="Google Shape;738;p32"/>
          <p:cNvCxnSpPr>
            <a:stCxn id="693" idx="3"/>
          </p:cNvCxnSpPr>
          <p:nvPr/>
        </p:nvCxnSpPr>
        <p:spPr>
          <a:xfrm>
            <a:off x="5491100" y="2479475"/>
            <a:ext cx="0" cy="304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39" name="Google Shape;739;p32"/>
          <p:cNvCxnSpPr>
            <a:stCxn id="694" idx="3"/>
          </p:cNvCxnSpPr>
          <p:nvPr/>
        </p:nvCxnSpPr>
        <p:spPr>
          <a:xfrm>
            <a:off x="5666000" y="2479475"/>
            <a:ext cx="0" cy="304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40" name="Google Shape;740;p32"/>
          <p:cNvCxnSpPr>
            <a:stCxn id="695" idx="3"/>
          </p:cNvCxnSpPr>
          <p:nvPr/>
        </p:nvCxnSpPr>
        <p:spPr>
          <a:xfrm>
            <a:off x="5840900" y="2479475"/>
            <a:ext cx="0" cy="304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41" name="Google Shape;741;p32"/>
          <p:cNvCxnSpPr>
            <a:stCxn id="690" idx="3"/>
          </p:cNvCxnSpPr>
          <p:nvPr/>
        </p:nvCxnSpPr>
        <p:spPr>
          <a:xfrm>
            <a:off x="4966400" y="2479475"/>
            <a:ext cx="0" cy="304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42" name="Google Shape;742;p32"/>
          <p:cNvCxnSpPr>
            <a:stCxn id="689" idx="3"/>
          </p:cNvCxnSpPr>
          <p:nvPr/>
        </p:nvCxnSpPr>
        <p:spPr>
          <a:xfrm>
            <a:off x="4791500" y="2479475"/>
            <a:ext cx="0" cy="304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43" name="Google Shape;743;p32"/>
          <p:cNvCxnSpPr>
            <a:stCxn id="688" idx="3"/>
          </p:cNvCxnSpPr>
          <p:nvPr/>
        </p:nvCxnSpPr>
        <p:spPr>
          <a:xfrm>
            <a:off x="4616600" y="2479475"/>
            <a:ext cx="0" cy="304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44" name="Google Shape;744;p32"/>
          <p:cNvCxnSpPr>
            <a:stCxn id="687" idx="3"/>
          </p:cNvCxnSpPr>
          <p:nvPr/>
        </p:nvCxnSpPr>
        <p:spPr>
          <a:xfrm>
            <a:off x="4441700" y="2479475"/>
            <a:ext cx="0" cy="304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45" name="Google Shape;745;p32"/>
          <p:cNvCxnSpPr>
            <a:stCxn id="708" idx="2"/>
            <a:endCxn id="650" idx="0"/>
          </p:cNvCxnSpPr>
          <p:nvPr/>
        </p:nvCxnSpPr>
        <p:spPr>
          <a:xfrm>
            <a:off x="5141300" y="3094769"/>
            <a:ext cx="318600" cy="293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746" name="Google Shape;746;p32"/>
          <p:cNvSpPr/>
          <p:nvPr/>
        </p:nvSpPr>
        <p:spPr>
          <a:xfrm>
            <a:off x="3921050" y="2784275"/>
            <a:ext cx="433200" cy="310500"/>
          </a:xfrm>
          <a:prstGeom prst="rect">
            <a:avLst/>
          </a:prstGeom>
          <a:solidFill>
            <a:srgbClr val="B6D7A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latin typeface="Roboto"/>
                <a:ea typeface="Roboto"/>
                <a:cs typeface="Roboto"/>
                <a:sym typeface="Roboto"/>
              </a:rPr>
              <a:t>TCP</a:t>
            </a:r>
            <a:endParaRPr sz="8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latin typeface="Roboto"/>
                <a:ea typeface="Roboto"/>
                <a:cs typeface="Roboto"/>
                <a:sym typeface="Roboto"/>
              </a:rPr>
              <a:t>HDR</a:t>
            </a:r>
            <a:endParaRPr sz="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47" name="Google Shape;747;p32"/>
          <p:cNvSpPr/>
          <p:nvPr/>
        </p:nvSpPr>
        <p:spPr>
          <a:xfrm>
            <a:off x="4239650" y="3388175"/>
            <a:ext cx="433200" cy="310500"/>
          </a:xfrm>
          <a:prstGeom prst="rect">
            <a:avLst/>
          </a:prstGeom>
          <a:solidFill>
            <a:srgbClr val="B6D7A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latin typeface="Roboto"/>
                <a:ea typeface="Roboto"/>
                <a:cs typeface="Roboto"/>
                <a:sym typeface="Roboto"/>
              </a:rPr>
              <a:t>TCP</a:t>
            </a:r>
            <a:endParaRPr sz="8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latin typeface="Roboto"/>
                <a:ea typeface="Roboto"/>
                <a:cs typeface="Roboto"/>
                <a:sym typeface="Roboto"/>
              </a:rPr>
              <a:t>HDR</a:t>
            </a:r>
            <a:endParaRPr sz="8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48" name="Google Shape;748;p32"/>
          <p:cNvCxnSpPr>
            <a:stCxn id="691" idx="3"/>
            <a:endCxn id="708" idx="0"/>
          </p:cNvCxnSpPr>
          <p:nvPr/>
        </p:nvCxnSpPr>
        <p:spPr>
          <a:xfrm>
            <a:off x="5141300" y="2479475"/>
            <a:ext cx="0" cy="304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749" name="Google Shape;749;p32"/>
          <p:cNvSpPr/>
          <p:nvPr/>
        </p:nvSpPr>
        <p:spPr>
          <a:xfrm>
            <a:off x="6362300" y="3094775"/>
            <a:ext cx="1693200" cy="393600"/>
          </a:xfrm>
          <a:prstGeom prst="wedgeRoundRectCallout">
            <a:avLst>
              <a:gd name="adj1" fmla="val -51553"/>
              <a:gd name="adj2" fmla="val 170179"/>
              <a:gd name="adj3" fmla="val 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Ack: ISN + 220.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47E2115-25A3-ED20-F146-C3D826C3ED8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9</a:t>
            </a:fld>
            <a:endParaRPr lang="en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4" name="Google Shape;754;p33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TCP Sequence and Ack Numbers</a:t>
            </a:r>
            <a:endParaRPr/>
          </a:p>
        </p:txBody>
      </p:sp>
      <p:sp>
        <p:nvSpPr>
          <p:cNvPr id="755" name="Google Shape;755;p3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The sequence number of a segment is the number of the </a:t>
            </a:r>
            <a:r>
              <a:rPr lang="en" i="1" dirty="0"/>
              <a:t>first byte</a:t>
            </a:r>
            <a:r>
              <a:rPr lang="en" dirty="0"/>
              <a:t> in the segment.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Sender sends a packet with sequence number </a:t>
            </a:r>
            <a:r>
              <a:rPr lang="en" i="1" dirty="0"/>
              <a:t>j</a:t>
            </a:r>
            <a:r>
              <a:rPr lang="en" dirty="0"/>
              <a:t>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The packet contains </a:t>
            </a:r>
            <a:r>
              <a:rPr lang="en" i="1" dirty="0"/>
              <a:t>B</a:t>
            </a:r>
            <a:r>
              <a:rPr lang="en" dirty="0"/>
              <a:t> bytes.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Bytes in the packet are numbered: </a:t>
            </a:r>
            <a:r>
              <a:rPr lang="en" i="1" dirty="0"/>
              <a:t>j</a:t>
            </a:r>
            <a:r>
              <a:rPr lang="en" dirty="0"/>
              <a:t>,  </a:t>
            </a:r>
            <a:r>
              <a:rPr lang="en" i="1" dirty="0"/>
              <a:t>j</a:t>
            </a:r>
            <a:r>
              <a:rPr lang="en" dirty="0"/>
              <a:t>+1,  </a:t>
            </a:r>
            <a:r>
              <a:rPr lang="en" i="1" dirty="0"/>
              <a:t>j</a:t>
            </a:r>
            <a:r>
              <a:rPr lang="en" dirty="0"/>
              <a:t>+2,  </a:t>
            </a:r>
            <a:r>
              <a:rPr lang="en" i="1" dirty="0"/>
              <a:t>j</a:t>
            </a:r>
            <a:r>
              <a:rPr lang="en" dirty="0"/>
              <a:t>+3, ..., ,  </a:t>
            </a:r>
            <a:r>
              <a:rPr lang="en" i="1" dirty="0"/>
              <a:t>j</a:t>
            </a:r>
            <a:r>
              <a:rPr lang="en" dirty="0"/>
              <a:t>+</a:t>
            </a:r>
            <a:r>
              <a:rPr lang="en" i="1" dirty="0"/>
              <a:t>B</a:t>
            </a:r>
            <a:r>
              <a:rPr lang="en" dirty="0"/>
              <a:t>–1.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Recipient sends a cumulative ack (number of highest byte received, plus one).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If all prior data is received, ack number is </a:t>
            </a:r>
            <a:r>
              <a:rPr lang="en" i="1" dirty="0"/>
              <a:t>j</a:t>
            </a:r>
            <a:r>
              <a:rPr lang="en" dirty="0"/>
              <a:t>+</a:t>
            </a:r>
            <a:r>
              <a:rPr lang="en" i="1" dirty="0"/>
              <a:t>B, </a:t>
            </a:r>
            <a:r>
              <a:rPr lang="en" dirty="0"/>
              <a:t>the next expected byte, or the first unreceived byte.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If earlier data before this packet is missing, the ack number will be lower.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07D3A40-54A6-B3C4-26F2-D0DFD45520F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10</a:t>
            </a:fld>
            <a:endParaRPr lang="en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3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TCP Sequence and Ack Numbers</a:t>
            </a:r>
            <a:endParaRPr/>
          </a:p>
        </p:txBody>
      </p:sp>
      <p:sp>
        <p:nvSpPr>
          <p:cNvPr id="761" name="Google Shape;761;p3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41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Assuming only one packet in flight, all packets length </a:t>
            </a:r>
            <a:r>
              <a:rPr lang="en" i="1" dirty="0"/>
              <a:t>B</a:t>
            </a:r>
            <a:r>
              <a:rPr lang="en" dirty="0"/>
              <a:t>, and no loss: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The last ack number is equal to the next sequence number.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Receiver ack: "I expect </a:t>
            </a:r>
            <a:r>
              <a:rPr lang="en" i="1" dirty="0"/>
              <a:t>j</a:t>
            </a:r>
            <a:r>
              <a:rPr lang="en" dirty="0"/>
              <a:t> + </a:t>
            </a:r>
            <a:r>
              <a:rPr lang="en" i="1" dirty="0"/>
              <a:t>B</a:t>
            </a:r>
            <a:r>
              <a:rPr lang="en" dirty="0"/>
              <a:t> next." → Sender: "I'm sending </a:t>
            </a:r>
            <a:r>
              <a:rPr lang="en" i="1" dirty="0"/>
              <a:t>j</a:t>
            </a:r>
            <a:r>
              <a:rPr lang="en" dirty="0"/>
              <a:t> + </a:t>
            </a:r>
            <a:r>
              <a:rPr lang="en" i="1" dirty="0"/>
              <a:t>B</a:t>
            </a:r>
            <a:r>
              <a:rPr lang="en" dirty="0"/>
              <a:t>."</a:t>
            </a:r>
            <a:endParaRPr dirty="0"/>
          </a:p>
        </p:txBody>
      </p:sp>
      <p:cxnSp>
        <p:nvCxnSpPr>
          <p:cNvPr id="762" name="Google Shape;762;p34"/>
          <p:cNvCxnSpPr/>
          <p:nvPr/>
        </p:nvCxnSpPr>
        <p:spPr>
          <a:xfrm>
            <a:off x="3037525" y="1791725"/>
            <a:ext cx="0" cy="2985600"/>
          </a:xfrm>
          <a:prstGeom prst="straightConnector1">
            <a:avLst/>
          </a:prstGeom>
          <a:noFill/>
          <a:ln w="19050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63" name="Google Shape;763;p34"/>
          <p:cNvSpPr txBox="1"/>
          <p:nvPr/>
        </p:nvSpPr>
        <p:spPr>
          <a:xfrm>
            <a:off x="2485075" y="4777424"/>
            <a:ext cx="11049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764" name="Google Shape;764;p34"/>
          <p:cNvCxnSpPr/>
          <p:nvPr/>
        </p:nvCxnSpPr>
        <p:spPr>
          <a:xfrm>
            <a:off x="6058925" y="1791725"/>
            <a:ext cx="0" cy="29856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65" name="Google Shape;765;p34"/>
          <p:cNvSpPr txBox="1"/>
          <p:nvPr/>
        </p:nvSpPr>
        <p:spPr>
          <a:xfrm>
            <a:off x="5458934" y="4777424"/>
            <a:ext cx="1200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66" name="Google Shape;766;p34"/>
          <p:cNvGrpSpPr/>
          <p:nvPr/>
        </p:nvGrpSpPr>
        <p:grpSpPr>
          <a:xfrm>
            <a:off x="3039475" y="2235652"/>
            <a:ext cx="3019775" cy="728348"/>
            <a:chOff x="3039475" y="1702252"/>
            <a:chExt cx="3019775" cy="728348"/>
          </a:xfrm>
        </p:grpSpPr>
        <p:cxnSp>
          <p:nvCxnSpPr>
            <p:cNvPr id="767" name="Google Shape;767;p34"/>
            <p:cNvCxnSpPr/>
            <p:nvPr/>
          </p:nvCxnSpPr>
          <p:spPr>
            <a:xfrm flipH="1">
              <a:off x="3039475" y="1981200"/>
              <a:ext cx="3015000" cy="4494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768" name="Google Shape;768;p34"/>
            <p:cNvSpPr txBox="1"/>
            <p:nvPr/>
          </p:nvSpPr>
          <p:spPr>
            <a:xfrm rot="-511693">
              <a:off x="3050742" y="1923442"/>
              <a:ext cx="3004117" cy="2842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ack = </a:t>
              </a:r>
              <a:r>
                <a:rPr lang="en" i="1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j </a:t>
              </a:r>
              <a:r>
                <a:rPr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+ </a:t>
              </a:r>
              <a:r>
                <a:rPr lang="en" i="1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B</a:t>
              </a:r>
              <a:endParaRPr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69" name="Google Shape;769;p34"/>
          <p:cNvGrpSpPr/>
          <p:nvPr/>
        </p:nvGrpSpPr>
        <p:grpSpPr>
          <a:xfrm>
            <a:off x="3039500" y="1791725"/>
            <a:ext cx="3007800" cy="597249"/>
            <a:chOff x="3039500" y="3010925"/>
            <a:chExt cx="3007800" cy="597249"/>
          </a:xfrm>
        </p:grpSpPr>
        <p:cxnSp>
          <p:nvCxnSpPr>
            <p:cNvPr id="770" name="Google Shape;770;p34"/>
            <p:cNvCxnSpPr/>
            <p:nvPr/>
          </p:nvCxnSpPr>
          <p:spPr>
            <a:xfrm>
              <a:off x="3039500" y="3166274"/>
              <a:ext cx="3007800" cy="441900"/>
            </a:xfrm>
            <a:prstGeom prst="straightConnector1">
              <a:avLst/>
            </a:prstGeom>
            <a:noFill/>
            <a:ln w="19050" cap="flat" cmpd="sng">
              <a:solidFill>
                <a:srgbClr val="0000FF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771" name="Google Shape;771;p34"/>
            <p:cNvSpPr txBox="1"/>
            <p:nvPr/>
          </p:nvSpPr>
          <p:spPr>
            <a:xfrm rot="509539">
              <a:off x="3957694" y="3092615"/>
              <a:ext cx="1127462" cy="2842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0000FF"/>
                  </a:solidFill>
                  <a:latin typeface="Roboto"/>
                  <a:ea typeface="Roboto"/>
                  <a:cs typeface="Roboto"/>
                  <a:sym typeface="Roboto"/>
                </a:rPr>
                <a:t>seq = </a:t>
              </a:r>
              <a:r>
                <a:rPr lang="en" i="1">
                  <a:solidFill>
                    <a:srgbClr val="0000FF"/>
                  </a:solidFill>
                  <a:latin typeface="Roboto"/>
                  <a:ea typeface="Roboto"/>
                  <a:cs typeface="Roboto"/>
                  <a:sym typeface="Roboto"/>
                </a:rPr>
                <a:t>j</a:t>
              </a:r>
              <a:endParaRPr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72" name="Google Shape;772;p34"/>
          <p:cNvGrpSpPr/>
          <p:nvPr/>
        </p:nvGrpSpPr>
        <p:grpSpPr>
          <a:xfrm>
            <a:off x="3039500" y="2932525"/>
            <a:ext cx="3007800" cy="599449"/>
            <a:chOff x="3039500" y="3999325"/>
            <a:chExt cx="3007800" cy="599449"/>
          </a:xfrm>
        </p:grpSpPr>
        <p:cxnSp>
          <p:nvCxnSpPr>
            <p:cNvPr id="773" name="Google Shape;773;p34"/>
            <p:cNvCxnSpPr/>
            <p:nvPr/>
          </p:nvCxnSpPr>
          <p:spPr>
            <a:xfrm>
              <a:off x="3039500" y="4156874"/>
              <a:ext cx="3007800" cy="441900"/>
            </a:xfrm>
            <a:prstGeom prst="straightConnector1">
              <a:avLst/>
            </a:prstGeom>
            <a:noFill/>
            <a:ln w="19050" cap="flat" cmpd="sng">
              <a:solidFill>
                <a:srgbClr val="0000FF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774" name="Google Shape;774;p34"/>
            <p:cNvSpPr txBox="1"/>
            <p:nvPr/>
          </p:nvSpPr>
          <p:spPr>
            <a:xfrm rot="509640">
              <a:off x="3942862" y="4083115"/>
              <a:ext cx="1155676" cy="2842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0000FF"/>
                  </a:solidFill>
                  <a:latin typeface="Roboto"/>
                  <a:ea typeface="Roboto"/>
                  <a:cs typeface="Roboto"/>
                  <a:sym typeface="Roboto"/>
                </a:rPr>
                <a:t>seq = </a:t>
              </a:r>
              <a:r>
                <a:rPr lang="en" i="1">
                  <a:solidFill>
                    <a:srgbClr val="0000FF"/>
                  </a:solidFill>
                  <a:latin typeface="Roboto"/>
                  <a:ea typeface="Roboto"/>
                  <a:cs typeface="Roboto"/>
                  <a:sym typeface="Roboto"/>
                </a:rPr>
                <a:t>j</a:t>
              </a:r>
              <a:r>
                <a:rPr lang="en">
                  <a:solidFill>
                    <a:srgbClr val="0000FF"/>
                  </a:solidFill>
                  <a:latin typeface="Roboto"/>
                  <a:ea typeface="Roboto"/>
                  <a:cs typeface="Roboto"/>
                  <a:sym typeface="Roboto"/>
                </a:rPr>
                <a:t> + </a:t>
              </a:r>
              <a:r>
                <a:rPr lang="en" i="1">
                  <a:solidFill>
                    <a:srgbClr val="0000FF"/>
                  </a:solidFill>
                  <a:latin typeface="Roboto"/>
                  <a:ea typeface="Roboto"/>
                  <a:cs typeface="Roboto"/>
                  <a:sym typeface="Roboto"/>
                </a:rPr>
                <a:t>B</a:t>
              </a:r>
              <a:endParaRPr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75" name="Google Shape;775;p34"/>
          <p:cNvGrpSpPr/>
          <p:nvPr/>
        </p:nvGrpSpPr>
        <p:grpSpPr>
          <a:xfrm>
            <a:off x="3039475" y="3378652"/>
            <a:ext cx="3019775" cy="728348"/>
            <a:chOff x="3039475" y="1702252"/>
            <a:chExt cx="3019775" cy="728348"/>
          </a:xfrm>
        </p:grpSpPr>
        <p:cxnSp>
          <p:nvCxnSpPr>
            <p:cNvPr id="776" name="Google Shape;776;p34"/>
            <p:cNvCxnSpPr/>
            <p:nvPr/>
          </p:nvCxnSpPr>
          <p:spPr>
            <a:xfrm flipH="1">
              <a:off x="3039475" y="1981200"/>
              <a:ext cx="3015000" cy="4494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777" name="Google Shape;777;p34"/>
            <p:cNvSpPr txBox="1"/>
            <p:nvPr/>
          </p:nvSpPr>
          <p:spPr>
            <a:xfrm rot="-511693">
              <a:off x="3050742" y="1923442"/>
              <a:ext cx="3004117" cy="2842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ack = </a:t>
              </a:r>
              <a:r>
                <a:rPr lang="en" i="1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j </a:t>
              </a:r>
              <a:r>
                <a:rPr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+ 2</a:t>
              </a:r>
              <a:r>
                <a:rPr lang="en" i="1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B</a:t>
              </a:r>
              <a:endParaRPr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778" name="Google Shape;778;p34"/>
          <p:cNvGrpSpPr/>
          <p:nvPr/>
        </p:nvGrpSpPr>
        <p:grpSpPr>
          <a:xfrm>
            <a:off x="3039500" y="4075525"/>
            <a:ext cx="3007800" cy="599449"/>
            <a:chOff x="3039500" y="3999325"/>
            <a:chExt cx="3007800" cy="599449"/>
          </a:xfrm>
        </p:grpSpPr>
        <p:cxnSp>
          <p:nvCxnSpPr>
            <p:cNvPr id="779" name="Google Shape;779;p34"/>
            <p:cNvCxnSpPr/>
            <p:nvPr/>
          </p:nvCxnSpPr>
          <p:spPr>
            <a:xfrm>
              <a:off x="3039500" y="4156874"/>
              <a:ext cx="3007800" cy="441900"/>
            </a:xfrm>
            <a:prstGeom prst="straightConnector1">
              <a:avLst/>
            </a:prstGeom>
            <a:noFill/>
            <a:ln w="19050" cap="flat" cmpd="sng">
              <a:solidFill>
                <a:srgbClr val="0000FF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780" name="Google Shape;780;p34"/>
            <p:cNvSpPr txBox="1"/>
            <p:nvPr/>
          </p:nvSpPr>
          <p:spPr>
            <a:xfrm rot="509640">
              <a:off x="3942862" y="4083115"/>
              <a:ext cx="1155676" cy="2842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0000FF"/>
                  </a:solidFill>
                  <a:latin typeface="Roboto"/>
                  <a:ea typeface="Roboto"/>
                  <a:cs typeface="Roboto"/>
                  <a:sym typeface="Roboto"/>
                </a:rPr>
                <a:t>seq = </a:t>
              </a:r>
              <a:r>
                <a:rPr lang="en" i="1">
                  <a:solidFill>
                    <a:srgbClr val="0000FF"/>
                  </a:solidFill>
                  <a:latin typeface="Roboto"/>
                  <a:ea typeface="Roboto"/>
                  <a:cs typeface="Roboto"/>
                  <a:sym typeface="Roboto"/>
                </a:rPr>
                <a:t>j</a:t>
              </a:r>
              <a:r>
                <a:rPr lang="en">
                  <a:solidFill>
                    <a:srgbClr val="0000FF"/>
                  </a:solidFill>
                  <a:latin typeface="Roboto"/>
                  <a:ea typeface="Roboto"/>
                  <a:cs typeface="Roboto"/>
                  <a:sym typeface="Roboto"/>
                </a:rPr>
                <a:t> + 2</a:t>
              </a:r>
              <a:r>
                <a:rPr lang="en" i="1">
                  <a:solidFill>
                    <a:srgbClr val="0000FF"/>
                  </a:solidFill>
                  <a:latin typeface="Roboto"/>
                  <a:ea typeface="Roboto"/>
                  <a:cs typeface="Roboto"/>
                  <a:sym typeface="Roboto"/>
                </a:rPr>
                <a:t>B</a:t>
              </a:r>
              <a:endParaRPr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A7EF051-D3E4-2FB5-C878-F880A08A5C6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11</a:t>
            </a:fld>
            <a:endParaRPr lang="en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5" name="Google Shape;785;p35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15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Implementing TCP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Byte Notation</a:t>
            </a:r>
            <a:br>
              <a:rPr lang="en" dirty="0">
                <a:solidFill>
                  <a:srgbClr val="B7B7B7"/>
                </a:solidFill>
              </a:rPr>
            </a:br>
            <a:r>
              <a:rPr lang="en" dirty="0">
                <a:solidFill>
                  <a:srgbClr val="B7B7B7"/>
                </a:solidFill>
              </a:rPr>
              <a:t>(Segments, Sequence Numbers)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Maintaining State (Full Duplex, Connection Setup and Teardown)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Sliding Window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Header</a:t>
            </a:r>
            <a:endParaRPr dirty="0">
              <a:solidFill>
                <a:srgbClr val="B7B7B7"/>
              </a:solidFill>
            </a:endParaRPr>
          </a:p>
        </p:txBody>
      </p:sp>
      <p:sp>
        <p:nvSpPr>
          <p:cNvPr id="786" name="Google Shape;786;p35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Maintaining State (Full Duplex)</a:t>
            </a:r>
            <a:endParaRPr/>
          </a:p>
        </p:txBody>
      </p:sp>
      <p:sp>
        <p:nvSpPr>
          <p:cNvPr id="787" name="Google Shape;787;p35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11,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D5BAAFE-2778-CC9A-DB0E-E2CD07D74B8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12</a:t>
            </a:fld>
            <a:endParaRPr lang="en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p3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TCP State</a:t>
            </a:r>
            <a:endParaRPr/>
          </a:p>
        </p:txBody>
      </p:sp>
      <p:sp>
        <p:nvSpPr>
          <p:cNvPr id="793" name="Google Shape;793;p3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Reliability requires maintaining </a:t>
            </a:r>
            <a:r>
              <a:rPr lang="en" i="1"/>
              <a:t>state</a:t>
            </a:r>
            <a:r>
              <a:rPr lang="en"/>
              <a:t> at the end hosts.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Sender has to remember: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Which packets have been sent and not acked?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How much longer on the timer before I resend a packet?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Receiver has to buffer the out-of-order packets.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State is maintained at the end hosts, not in the network.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In each separate connection, both end hosts need to maintain state.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BD3B3A3-A5BD-8761-E76B-8B6E007D08D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13</a:t>
            </a:fld>
            <a:endParaRPr lang="en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p3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TCP is Full-Duplex</a:t>
            </a:r>
            <a:endParaRPr/>
          </a:p>
        </p:txBody>
      </p:sp>
      <p:sp>
        <p:nvSpPr>
          <p:cNvPr id="799" name="Google Shape;799;p3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343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So far, we defined a sender and a recipient in every connection.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Connections in TCP are </a:t>
            </a:r>
            <a:r>
              <a:rPr lang="en" b="1" dirty="0"/>
              <a:t>full-duplex</a:t>
            </a:r>
            <a:r>
              <a:rPr lang="en" dirty="0"/>
              <a:t>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Both hosts can send data, and both hosts can receive data.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A can send to B, and B can send to A, simultaneously, in the same connection.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Two sets of sequence numbers: One for A→B bytes, and one for B→A bytes.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Each packet carries both data and ack information.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"Here are some bytes starting at 15..."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"...Also, I ack receiving all your bytes up to (not including) 84."</a:t>
            </a:r>
            <a:endParaRPr dirty="0"/>
          </a:p>
        </p:txBody>
      </p:sp>
      <p:graphicFrame>
        <p:nvGraphicFramePr>
          <p:cNvPr id="800" name="Google Shape;800;p37"/>
          <p:cNvGraphicFramePr/>
          <p:nvPr/>
        </p:nvGraphicFramePr>
        <p:xfrm>
          <a:off x="604025" y="3961400"/>
          <a:ext cx="3619525" cy="673350"/>
        </p:xfrm>
        <a:graphic>
          <a:graphicData uri="http://schemas.openxmlformats.org/drawingml/2006/table">
            <a:tbl>
              <a:tblPr>
                <a:noFill/>
                <a:tableStyleId>{AF03A97D-8E77-47E1-9F38-7204C9F0EF1F}</a:tableStyleId>
              </a:tblPr>
              <a:tblGrid>
                <a:gridCol w="517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7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17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17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170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366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15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00" marR="45700" marT="45700" marB="45700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16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00" marR="45700" marT="45700" marB="45700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17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00" marR="45700" marT="45700" marB="45700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18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00" marR="45700" marT="45700" marB="45700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19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00" marR="45700" marT="45700" marB="45700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20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00" marR="45700" marT="45700" marB="45700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21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00" marR="45700" marT="45700" marB="457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66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H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00" marR="45700" marT="45700" marB="45700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e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00" marR="45700" marT="45700" marB="45700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l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00" marR="45700" marT="45700" marB="45700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l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00" marR="45700" marT="45700" marB="45700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o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00" marR="45700" marT="45700" marB="45700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,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00" marR="45700" marT="45700" marB="45700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B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00" marR="45700" marT="45700" marB="457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01" name="Google Shape;801;p37"/>
          <p:cNvGraphicFramePr/>
          <p:nvPr/>
        </p:nvGraphicFramePr>
        <p:xfrm>
          <a:off x="4920425" y="3961400"/>
          <a:ext cx="3619525" cy="670480"/>
        </p:xfrm>
        <a:graphic>
          <a:graphicData uri="http://schemas.openxmlformats.org/drawingml/2006/table">
            <a:tbl>
              <a:tblPr>
                <a:noFill/>
                <a:tableStyleId>{AF03A97D-8E77-47E1-9F38-7204C9F0EF1F}</a:tableStyleId>
              </a:tblPr>
              <a:tblGrid>
                <a:gridCol w="517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7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7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17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17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170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3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77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00" marR="45700" marT="45700" marB="45700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78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00" marR="45700" marT="45700" marB="45700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79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00" marR="45700" marT="45700" marB="45700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80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00" marR="45700" marT="45700" marB="45700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81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00" marR="45700" marT="45700" marB="45700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82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00" marR="45700" marT="45700" marB="45700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83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00" marR="45700" marT="45700" marB="457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H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00" marR="45700" marT="45700" marB="45700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e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00" marR="45700" marT="45700" marB="45700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l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00" marR="45700" marT="45700" marB="45700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l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00" marR="45700" marT="45700" marB="45700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o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00" marR="45700" marT="45700" marB="45700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,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00" marR="45700" marT="45700" marB="45700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00" marR="45700" marT="45700" marB="457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02" name="Google Shape;802;p37"/>
          <p:cNvSpPr txBox="1"/>
          <p:nvPr/>
        </p:nvSpPr>
        <p:spPr>
          <a:xfrm>
            <a:off x="604025" y="4631850"/>
            <a:ext cx="2273700" cy="30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 to B bytestream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03" name="Google Shape;803;p37"/>
          <p:cNvSpPr txBox="1"/>
          <p:nvPr/>
        </p:nvSpPr>
        <p:spPr>
          <a:xfrm>
            <a:off x="4920425" y="4631850"/>
            <a:ext cx="2273700" cy="30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B to A bytestream</a:t>
            </a:r>
            <a:endParaRPr sz="16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7933542-F655-22E6-B7E9-AAC33D2C78D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14</a:t>
            </a:fld>
            <a:endParaRPr lang="en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7" name="Google Shape;827;p3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TCP Connection Setup: Three-Way Handshake</a:t>
            </a:r>
            <a:endParaRPr/>
          </a:p>
        </p:txBody>
      </p:sp>
      <p:sp>
        <p:nvSpPr>
          <p:cNvPr id="828" name="Google Shape;828;p3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25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Goal: Each host tells its ISN to the other host.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lang="en">
                <a:solidFill>
                  <a:srgbClr val="0000FF"/>
                </a:solidFill>
              </a:rPr>
              <a:t>SYN.</a:t>
            </a:r>
            <a:r>
              <a:rPr lang="en"/>
              <a:t> Client says: "My ISN is </a:t>
            </a:r>
            <a:r>
              <a:rPr lang="en" i="1"/>
              <a:t>x</a:t>
            </a:r>
            <a:r>
              <a:rPr lang="en"/>
              <a:t>."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>
                <a:solidFill>
                  <a:schemeClr val="accent2"/>
                </a:solidFill>
              </a:rPr>
              <a:t>SYN-ACK.</a:t>
            </a:r>
            <a:r>
              <a:rPr lang="en"/>
              <a:t> Server says: "I received </a:t>
            </a:r>
            <a:r>
              <a:rPr lang="en" i="1"/>
              <a:t>x</a:t>
            </a:r>
            <a:r>
              <a:rPr lang="en"/>
              <a:t> (expecting </a:t>
            </a:r>
            <a:r>
              <a:rPr lang="en" i="1"/>
              <a:t>x</a:t>
            </a:r>
            <a:r>
              <a:rPr lang="en"/>
              <a:t>+1 next). Also, my ISN is </a:t>
            </a:r>
            <a:r>
              <a:rPr lang="en" i="1"/>
              <a:t>y</a:t>
            </a:r>
            <a:r>
              <a:rPr lang="en"/>
              <a:t>."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>
                <a:solidFill>
                  <a:srgbClr val="0000FF"/>
                </a:solidFill>
              </a:rPr>
              <a:t>ACK</a:t>
            </a:r>
            <a:r>
              <a:rPr lang="en"/>
              <a:t>. Client says: "I received </a:t>
            </a:r>
            <a:r>
              <a:rPr lang="en" i="1"/>
              <a:t>y</a:t>
            </a:r>
            <a:r>
              <a:rPr lang="en"/>
              <a:t> (expecting </a:t>
            </a:r>
            <a:r>
              <a:rPr lang="en" i="1"/>
              <a:t>y</a:t>
            </a:r>
            <a:r>
              <a:rPr lang="en"/>
              <a:t>+1 next)."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After the three-way handshake, both sides can start sending data.</a:t>
            </a:r>
            <a:endParaRPr/>
          </a:p>
        </p:txBody>
      </p:sp>
      <p:grpSp>
        <p:nvGrpSpPr>
          <p:cNvPr id="829" name="Google Shape;829;p39"/>
          <p:cNvGrpSpPr/>
          <p:nvPr/>
        </p:nvGrpSpPr>
        <p:grpSpPr>
          <a:xfrm>
            <a:off x="3039475" y="3322547"/>
            <a:ext cx="3015000" cy="708253"/>
            <a:chOff x="3039475" y="3322547"/>
            <a:chExt cx="3015000" cy="708253"/>
          </a:xfrm>
        </p:grpSpPr>
        <p:cxnSp>
          <p:nvCxnSpPr>
            <p:cNvPr id="830" name="Google Shape;830;p39"/>
            <p:cNvCxnSpPr/>
            <p:nvPr/>
          </p:nvCxnSpPr>
          <p:spPr>
            <a:xfrm flipH="1">
              <a:off x="3039475" y="3581400"/>
              <a:ext cx="3015000" cy="4494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831" name="Google Shape;831;p39"/>
            <p:cNvSpPr txBox="1"/>
            <p:nvPr/>
          </p:nvSpPr>
          <p:spPr>
            <a:xfrm rot="-511597">
              <a:off x="3051494" y="3533687"/>
              <a:ext cx="2869112" cy="2842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SYN-ACK. seq=</a:t>
              </a:r>
              <a:r>
                <a:rPr lang="en" i="1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y</a:t>
              </a:r>
              <a:r>
                <a:rPr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, ack=</a:t>
              </a:r>
              <a:r>
                <a:rPr lang="en" i="1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x</a:t>
              </a:r>
              <a:r>
                <a:rPr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+1</a:t>
              </a:r>
              <a:endParaRPr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cxnSp>
        <p:nvCxnSpPr>
          <p:cNvPr id="832" name="Google Shape;832;p39"/>
          <p:cNvCxnSpPr/>
          <p:nvPr/>
        </p:nvCxnSpPr>
        <p:spPr>
          <a:xfrm>
            <a:off x="3037525" y="2846575"/>
            <a:ext cx="0" cy="1930800"/>
          </a:xfrm>
          <a:prstGeom prst="straightConnector1">
            <a:avLst/>
          </a:prstGeom>
          <a:noFill/>
          <a:ln w="19050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33" name="Google Shape;833;p39"/>
          <p:cNvSpPr txBox="1"/>
          <p:nvPr/>
        </p:nvSpPr>
        <p:spPr>
          <a:xfrm>
            <a:off x="2485075" y="4777424"/>
            <a:ext cx="11049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Client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34" name="Google Shape;834;p39"/>
          <p:cNvCxnSpPr/>
          <p:nvPr/>
        </p:nvCxnSpPr>
        <p:spPr>
          <a:xfrm>
            <a:off x="6058925" y="2846575"/>
            <a:ext cx="0" cy="19308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35" name="Google Shape;835;p39"/>
          <p:cNvSpPr txBox="1"/>
          <p:nvPr/>
        </p:nvSpPr>
        <p:spPr>
          <a:xfrm>
            <a:off x="5458934" y="4777424"/>
            <a:ext cx="1200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Server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836" name="Google Shape;836;p39"/>
          <p:cNvGrpSpPr/>
          <p:nvPr/>
        </p:nvGrpSpPr>
        <p:grpSpPr>
          <a:xfrm>
            <a:off x="3039500" y="2858525"/>
            <a:ext cx="3007800" cy="597249"/>
            <a:chOff x="3039500" y="3010925"/>
            <a:chExt cx="3007800" cy="597249"/>
          </a:xfrm>
        </p:grpSpPr>
        <p:cxnSp>
          <p:nvCxnSpPr>
            <p:cNvPr id="837" name="Google Shape;837;p39"/>
            <p:cNvCxnSpPr/>
            <p:nvPr/>
          </p:nvCxnSpPr>
          <p:spPr>
            <a:xfrm>
              <a:off x="3039500" y="3166274"/>
              <a:ext cx="3007800" cy="441900"/>
            </a:xfrm>
            <a:prstGeom prst="straightConnector1">
              <a:avLst/>
            </a:prstGeom>
            <a:noFill/>
            <a:ln w="19050" cap="flat" cmpd="sng">
              <a:solidFill>
                <a:srgbClr val="0000FF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838" name="Google Shape;838;p39"/>
            <p:cNvSpPr txBox="1"/>
            <p:nvPr/>
          </p:nvSpPr>
          <p:spPr>
            <a:xfrm rot="509539">
              <a:off x="3957694" y="3092615"/>
              <a:ext cx="1127462" cy="2842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0000FF"/>
                  </a:solidFill>
                  <a:latin typeface="Roboto"/>
                  <a:ea typeface="Roboto"/>
                  <a:cs typeface="Roboto"/>
                  <a:sym typeface="Roboto"/>
                </a:rPr>
                <a:t>SYN. seq=</a:t>
              </a:r>
              <a:r>
                <a:rPr lang="en" i="1">
                  <a:solidFill>
                    <a:srgbClr val="0000FF"/>
                  </a:solidFill>
                  <a:latin typeface="Roboto"/>
                  <a:ea typeface="Roboto"/>
                  <a:cs typeface="Roboto"/>
                  <a:sym typeface="Roboto"/>
                </a:rPr>
                <a:t>x</a:t>
              </a:r>
              <a:endParaRPr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839" name="Google Shape;839;p39"/>
          <p:cNvGrpSpPr/>
          <p:nvPr/>
        </p:nvGrpSpPr>
        <p:grpSpPr>
          <a:xfrm>
            <a:off x="3039500" y="3999325"/>
            <a:ext cx="3007800" cy="599449"/>
            <a:chOff x="3039500" y="3999325"/>
            <a:chExt cx="3007800" cy="599449"/>
          </a:xfrm>
        </p:grpSpPr>
        <p:cxnSp>
          <p:nvCxnSpPr>
            <p:cNvPr id="840" name="Google Shape;840;p39"/>
            <p:cNvCxnSpPr/>
            <p:nvPr/>
          </p:nvCxnSpPr>
          <p:spPr>
            <a:xfrm>
              <a:off x="3039500" y="4156874"/>
              <a:ext cx="3007800" cy="441900"/>
            </a:xfrm>
            <a:prstGeom prst="straightConnector1">
              <a:avLst/>
            </a:prstGeom>
            <a:noFill/>
            <a:ln w="19050" cap="flat" cmpd="sng">
              <a:solidFill>
                <a:srgbClr val="0000FF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841" name="Google Shape;841;p39"/>
            <p:cNvSpPr txBox="1"/>
            <p:nvPr/>
          </p:nvSpPr>
          <p:spPr>
            <a:xfrm rot="509640">
              <a:off x="3942862" y="4083115"/>
              <a:ext cx="1155676" cy="2842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0000FF"/>
                  </a:solidFill>
                  <a:latin typeface="Roboto"/>
                  <a:ea typeface="Roboto"/>
                  <a:cs typeface="Roboto"/>
                  <a:sym typeface="Roboto"/>
                </a:rPr>
                <a:t>ACK. ack=</a:t>
              </a:r>
              <a:r>
                <a:rPr lang="en" i="1">
                  <a:solidFill>
                    <a:srgbClr val="0000FF"/>
                  </a:solidFill>
                  <a:latin typeface="Roboto"/>
                  <a:ea typeface="Roboto"/>
                  <a:cs typeface="Roboto"/>
                  <a:sym typeface="Roboto"/>
                </a:rPr>
                <a:t>y</a:t>
              </a:r>
              <a:r>
                <a:rPr lang="en">
                  <a:solidFill>
                    <a:srgbClr val="0000FF"/>
                  </a:solidFill>
                  <a:latin typeface="Roboto"/>
                  <a:ea typeface="Roboto"/>
                  <a:cs typeface="Roboto"/>
                  <a:sym typeface="Roboto"/>
                </a:rPr>
                <a:t>+1</a:t>
              </a:r>
              <a:endParaRPr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9822903-4A9F-DDC0-1606-46CCDFD156E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15</a:t>
            </a:fld>
            <a:endParaRPr lang="en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" name="Google Shape;846;p4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25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Normal termination: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Each side sends a FIN packet to say: "I'm done sending, but will keep receiving."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FIN packets must be acked, just like any other data.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only one side has sent FIN, the connection is </a:t>
            </a:r>
            <a:r>
              <a:rPr lang="en" i="1"/>
              <a:t>half-closed</a:t>
            </a:r>
            <a:r>
              <a:rPr lang="en"/>
              <a:t>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both sides have sent FIN (both done sending), the connection is closed.</a:t>
            </a:r>
            <a:endParaRPr/>
          </a:p>
        </p:txBody>
      </p:sp>
      <p:sp>
        <p:nvSpPr>
          <p:cNvPr id="847" name="Google Shape;847;p40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TCP Connection Teardown</a:t>
            </a:r>
            <a:endParaRPr/>
          </a:p>
        </p:txBody>
      </p:sp>
      <p:grpSp>
        <p:nvGrpSpPr>
          <p:cNvPr id="848" name="Google Shape;848;p40"/>
          <p:cNvGrpSpPr/>
          <p:nvPr/>
        </p:nvGrpSpPr>
        <p:grpSpPr>
          <a:xfrm>
            <a:off x="3039475" y="3222015"/>
            <a:ext cx="3015000" cy="557901"/>
            <a:chOff x="3039475" y="2406099"/>
            <a:chExt cx="3015000" cy="557901"/>
          </a:xfrm>
        </p:grpSpPr>
        <p:cxnSp>
          <p:nvCxnSpPr>
            <p:cNvPr id="849" name="Google Shape;849;p40"/>
            <p:cNvCxnSpPr/>
            <p:nvPr/>
          </p:nvCxnSpPr>
          <p:spPr>
            <a:xfrm flipH="1">
              <a:off x="3039475" y="2514600"/>
              <a:ext cx="3015000" cy="4494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850" name="Google Shape;850;p40"/>
            <p:cNvSpPr txBox="1"/>
            <p:nvPr/>
          </p:nvSpPr>
          <p:spPr>
            <a:xfrm rot="-511328">
              <a:off x="4119553" y="2462889"/>
              <a:ext cx="787495" cy="2842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ACK</a:t>
              </a:r>
              <a:endParaRPr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cxnSp>
        <p:nvCxnSpPr>
          <p:cNvPr id="851" name="Google Shape;851;p40"/>
          <p:cNvCxnSpPr/>
          <p:nvPr/>
        </p:nvCxnSpPr>
        <p:spPr>
          <a:xfrm>
            <a:off x="3037525" y="2612475"/>
            <a:ext cx="0" cy="2164800"/>
          </a:xfrm>
          <a:prstGeom prst="straightConnector1">
            <a:avLst/>
          </a:prstGeom>
          <a:noFill/>
          <a:ln w="19050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52" name="Google Shape;852;p40"/>
          <p:cNvSpPr txBox="1"/>
          <p:nvPr/>
        </p:nvSpPr>
        <p:spPr>
          <a:xfrm>
            <a:off x="2485075" y="4777424"/>
            <a:ext cx="11049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Client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53" name="Google Shape;853;p40"/>
          <p:cNvCxnSpPr/>
          <p:nvPr/>
        </p:nvCxnSpPr>
        <p:spPr>
          <a:xfrm>
            <a:off x="6058925" y="2612475"/>
            <a:ext cx="0" cy="21648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54" name="Google Shape;854;p40"/>
          <p:cNvSpPr txBox="1"/>
          <p:nvPr/>
        </p:nvSpPr>
        <p:spPr>
          <a:xfrm>
            <a:off x="5458934" y="4777424"/>
            <a:ext cx="1200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Server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855" name="Google Shape;855;p40"/>
          <p:cNvGrpSpPr/>
          <p:nvPr/>
        </p:nvGrpSpPr>
        <p:grpSpPr>
          <a:xfrm>
            <a:off x="3039500" y="2712982"/>
            <a:ext cx="3007800" cy="568107"/>
            <a:chOff x="3039500" y="1897067"/>
            <a:chExt cx="3007800" cy="568107"/>
          </a:xfrm>
        </p:grpSpPr>
        <p:cxnSp>
          <p:nvCxnSpPr>
            <p:cNvPr id="856" name="Google Shape;856;p40"/>
            <p:cNvCxnSpPr/>
            <p:nvPr/>
          </p:nvCxnSpPr>
          <p:spPr>
            <a:xfrm>
              <a:off x="3039500" y="2023274"/>
              <a:ext cx="3007800" cy="441900"/>
            </a:xfrm>
            <a:prstGeom prst="straightConnector1">
              <a:avLst/>
            </a:prstGeom>
            <a:noFill/>
            <a:ln w="19050" cap="flat" cmpd="sng">
              <a:solidFill>
                <a:srgbClr val="0000FF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857" name="Google Shape;857;p40"/>
            <p:cNvSpPr txBox="1"/>
            <p:nvPr/>
          </p:nvSpPr>
          <p:spPr>
            <a:xfrm rot="510033">
              <a:off x="4154499" y="1953707"/>
              <a:ext cx="787451" cy="2842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0000FF"/>
                  </a:solidFill>
                  <a:latin typeface="Roboto"/>
                  <a:ea typeface="Roboto"/>
                  <a:cs typeface="Roboto"/>
                  <a:sym typeface="Roboto"/>
                </a:rPr>
                <a:t>FIN</a:t>
              </a:r>
              <a:endParaRPr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858" name="Google Shape;858;p40"/>
          <p:cNvGrpSpPr/>
          <p:nvPr/>
        </p:nvGrpSpPr>
        <p:grpSpPr>
          <a:xfrm>
            <a:off x="3039500" y="4084582"/>
            <a:ext cx="3007800" cy="568107"/>
            <a:chOff x="3039500" y="2887667"/>
            <a:chExt cx="3007800" cy="568107"/>
          </a:xfrm>
        </p:grpSpPr>
        <p:cxnSp>
          <p:nvCxnSpPr>
            <p:cNvPr id="859" name="Google Shape;859;p40"/>
            <p:cNvCxnSpPr/>
            <p:nvPr/>
          </p:nvCxnSpPr>
          <p:spPr>
            <a:xfrm>
              <a:off x="3039500" y="3013874"/>
              <a:ext cx="3007800" cy="441900"/>
            </a:xfrm>
            <a:prstGeom prst="straightConnector1">
              <a:avLst/>
            </a:prstGeom>
            <a:noFill/>
            <a:ln w="19050" cap="flat" cmpd="sng">
              <a:solidFill>
                <a:srgbClr val="0000FF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860" name="Google Shape;860;p40"/>
            <p:cNvSpPr txBox="1"/>
            <p:nvPr/>
          </p:nvSpPr>
          <p:spPr>
            <a:xfrm rot="510033">
              <a:off x="4154499" y="2944307"/>
              <a:ext cx="787451" cy="2842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0000FF"/>
                  </a:solidFill>
                  <a:latin typeface="Roboto"/>
                  <a:ea typeface="Roboto"/>
                  <a:cs typeface="Roboto"/>
                  <a:sym typeface="Roboto"/>
                </a:rPr>
                <a:t>ACK</a:t>
              </a:r>
              <a:endParaRPr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861" name="Google Shape;861;p40"/>
          <p:cNvGrpSpPr/>
          <p:nvPr/>
        </p:nvGrpSpPr>
        <p:grpSpPr>
          <a:xfrm>
            <a:off x="3039475" y="3603015"/>
            <a:ext cx="3015000" cy="557901"/>
            <a:chOff x="3039475" y="2406099"/>
            <a:chExt cx="3015000" cy="557901"/>
          </a:xfrm>
        </p:grpSpPr>
        <p:cxnSp>
          <p:nvCxnSpPr>
            <p:cNvPr id="862" name="Google Shape;862;p40"/>
            <p:cNvCxnSpPr/>
            <p:nvPr/>
          </p:nvCxnSpPr>
          <p:spPr>
            <a:xfrm flipH="1">
              <a:off x="3039475" y="2514600"/>
              <a:ext cx="3015000" cy="4494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863" name="Google Shape;863;p40"/>
            <p:cNvSpPr txBox="1"/>
            <p:nvPr/>
          </p:nvSpPr>
          <p:spPr>
            <a:xfrm rot="-511328">
              <a:off x="4119553" y="2462889"/>
              <a:ext cx="787495" cy="2842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FIN</a:t>
              </a:r>
              <a:endParaRPr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C198D05-76D6-26E7-3A29-34C3000ECB4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16</a:t>
            </a:fld>
            <a:endParaRPr lang="en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8" name="Google Shape;868;p4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25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Abrupt termination can be used instead (e.g. in case of error).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Send a RST (reset) to say: "I will no longer send or receive data."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RST packets do not need to be acked.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Any data in flight is lost.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the RST sender receives more data later, send another RST.</a:t>
            </a:r>
            <a:endParaRPr/>
          </a:p>
        </p:txBody>
      </p:sp>
      <p:sp>
        <p:nvSpPr>
          <p:cNvPr id="869" name="Google Shape;869;p4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TCP Connection Teardown</a:t>
            </a:r>
            <a:endParaRPr/>
          </a:p>
        </p:txBody>
      </p:sp>
      <p:cxnSp>
        <p:nvCxnSpPr>
          <p:cNvPr id="870" name="Google Shape;870;p41"/>
          <p:cNvCxnSpPr/>
          <p:nvPr/>
        </p:nvCxnSpPr>
        <p:spPr>
          <a:xfrm>
            <a:off x="3037525" y="2612475"/>
            <a:ext cx="0" cy="2164800"/>
          </a:xfrm>
          <a:prstGeom prst="straightConnector1">
            <a:avLst/>
          </a:prstGeom>
          <a:noFill/>
          <a:ln w="19050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71" name="Google Shape;871;p41"/>
          <p:cNvSpPr txBox="1"/>
          <p:nvPr/>
        </p:nvSpPr>
        <p:spPr>
          <a:xfrm>
            <a:off x="2485075" y="4777424"/>
            <a:ext cx="11049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Client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72" name="Google Shape;872;p41"/>
          <p:cNvCxnSpPr/>
          <p:nvPr/>
        </p:nvCxnSpPr>
        <p:spPr>
          <a:xfrm>
            <a:off x="6058925" y="2612475"/>
            <a:ext cx="0" cy="21648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73" name="Google Shape;873;p41"/>
          <p:cNvSpPr txBox="1"/>
          <p:nvPr/>
        </p:nvSpPr>
        <p:spPr>
          <a:xfrm>
            <a:off x="5458934" y="4777424"/>
            <a:ext cx="1200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Server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874" name="Google Shape;874;p41"/>
          <p:cNvGrpSpPr/>
          <p:nvPr/>
        </p:nvGrpSpPr>
        <p:grpSpPr>
          <a:xfrm>
            <a:off x="3039500" y="2712982"/>
            <a:ext cx="3007800" cy="568107"/>
            <a:chOff x="3039500" y="1897067"/>
            <a:chExt cx="3007800" cy="568107"/>
          </a:xfrm>
        </p:grpSpPr>
        <p:cxnSp>
          <p:nvCxnSpPr>
            <p:cNvPr id="875" name="Google Shape;875;p41"/>
            <p:cNvCxnSpPr/>
            <p:nvPr/>
          </p:nvCxnSpPr>
          <p:spPr>
            <a:xfrm>
              <a:off x="3039500" y="2023274"/>
              <a:ext cx="3007800" cy="441900"/>
            </a:xfrm>
            <a:prstGeom prst="straightConnector1">
              <a:avLst/>
            </a:prstGeom>
            <a:noFill/>
            <a:ln w="19050" cap="flat" cmpd="sng">
              <a:solidFill>
                <a:srgbClr val="0000FF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876" name="Google Shape;876;p41"/>
            <p:cNvSpPr txBox="1"/>
            <p:nvPr/>
          </p:nvSpPr>
          <p:spPr>
            <a:xfrm rot="510033">
              <a:off x="4154499" y="1953707"/>
              <a:ext cx="787451" cy="2842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0000FF"/>
                  </a:solidFill>
                  <a:latin typeface="Roboto"/>
                  <a:ea typeface="Roboto"/>
                  <a:cs typeface="Roboto"/>
                  <a:sym typeface="Roboto"/>
                </a:rPr>
                <a:t>RST</a:t>
              </a:r>
              <a:endParaRPr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877" name="Google Shape;877;p41"/>
          <p:cNvGrpSpPr/>
          <p:nvPr/>
        </p:nvGrpSpPr>
        <p:grpSpPr>
          <a:xfrm>
            <a:off x="3039475" y="3603015"/>
            <a:ext cx="3015000" cy="557901"/>
            <a:chOff x="3039475" y="2406099"/>
            <a:chExt cx="3015000" cy="557901"/>
          </a:xfrm>
        </p:grpSpPr>
        <p:cxnSp>
          <p:nvCxnSpPr>
            <p:cNvPr id="878" name="Google Shape;878;p41"/>
            <p:cNvCxnSpPr/>
            <p:nvPr/>
          </p:nvCxnSpPr>
          <p:spPr>
            <a:xfrm flipH="1">
              <a:off x="3039475" y="2514600"/>
              <a:ext cx="3015000" cy="4494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879" name="Google Shape;879;p41"/>
            <p:cNvSpPr txBox="1"/>
            <p:nvPr/>
          </p:nvSpPr>
          <p:spPr>
            <a:xfrm rot="-511328">
              <a:off x="4119553" y="2462889"/>
              <a:ext cx="787495" cy="2842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data</a:t>
              </a:r>
              <a:endParaRPr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880" name="Google Shape;880;p41"/>
          <p:cNvGrpSpPr/>
          <p:nvPr/>
        </p:nvGrpSpPr>
        <p:grpSpPr>
          <a:xfrm>
            <a:off x="3039500" y="4084582"/>
            <a:ext cx="3007800" cy="568107"/>
            <a:chOff x="3039500" y="2887667"/>
            <a:chExt cx="3007800" cy="568107"/>
          </a:xfrm>
        </p:grpSpPr>
        <p:cxnSp>
          <p:nvCxnSpPr>
            <p:cNvPr id="881" name="Google Shape;881;p41"/>
            <p:cNvCxnSpPr/>
            <p:nvPr/>
          </p:nvCxnSpPr>
          <p:spPr>
            <a:xfrm>
              <a:off x="3039500" y="3013874"/>
              <a:ext cx="3007800" cy="441900"/>
            </a:xfrm>
            <a:prstGeom prst="straightConnector1">
              <a:avLst/>
            </a:prstGeom>
            <a:noFill/>
            <a:ln w="19050" cap="flat" cmpd="sng">
              <a:solidFill>
                <a:srgbClr val="0000FF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882" name="Google Shape;882;p41"/>
            <p:cNvSpPr txBox="1"/>
            <p:nvPr/>
          </p:nvSpPr>
          <p:spPr>
            <a:xfrm rot="510033">
              <a:off x="4154499" y="2944307"/>
              <a:ext cx="787451" cy="2842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0000FF"/>
                  </a:solidFill>
                  <a:latin typeface="Roboto"/>
                  <a:ea typeface="Roboto"/>
                  <a:cs typeface="Roboto"/>
                  <a:sym typeface="Roboto"/>
                </a:rPr>
                <a:t>RST</a:t>
              </a:r>
              <a:endParaRPr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068D567-35A2-BF4C-0E88-E70913A33FF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17</a:t>
            </a:fld>
            <a:endParaRPr lang="en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7" name="Google Shape;887;p4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TCP Setup/Teardown Transition Diagram</a:t>
            </a:r>
            <a:endParaRPr/>
          </a:p>
        </p:txBody>
      </p:sp>
      <p:sp>
        <p:nvSpPr>
          <p:cNvPr id="888" name="Google Shape;888;p42"/>
          <p:cNvSpPr/>
          <p:nvPr/>
        </p:nvSpPr>
        <p:spPr>
          <a:xfrm>
            <a:off x="3620000" y="2861700"/>
            <a:ext cx="1067100" cy="2790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ESTABLISHED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9" name="Google Shape;889;p42"/>
          <p:cNvSpPr/>
          <p:nvPr/>
        </p:nvSpPr>
        <p:spPr>
          <a:xfrm>
            <a:off x="5479725" y="3407250"/>
            <a:ext cx="1067100" cy="279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CLOSE_WAIT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0" name="Google Shape;890;p42"/>
          <p:cNvSpPr/>
          <p:nvPr/>
        </p:nvSpPr>
        <p:spPr>
          <a:xfrm>
            <a:off x="5479725" y="4026925"/>
            <a:ext cx="1067100" cy="279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LAST_ACK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1" name="Google Shape;891;p42"/>
          <p:cNvSpPr/>
          <p:nvPr/>
        </p:nvSpPr>
        <p:spPr>
          <a:xfrm>
            <a:off x="5479725" y="4543250"/>
            <a:ext cx="1067100" cy="279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CLOSED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2" name="Google Shape;892;p42"/>
          <p:cNvSpPr/>
          <p:nvPr/>
        </p:nvSpPr>
        <p:spPr>
          <a:xfrm>
            <a:off x="3727125" y="4543250"/>
            <a:ext cx="1067100" cy="279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TIME_WAIT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3" name="Google Shape;893;p42"/>
          <p:cNvSpPr/>
          <p:nvPr/>
        </p:nvSpPr>
        <p:spPr>
          <a:xfrm>
            <a:off x="3727125" y="4037425"/>
            <a:ext cx="1067100" cy="279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CLOSING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4" name="Google Shape;894;p42"/>
          <p:cNvSpPr/>
          <p:nvPr/>
        </p:nvSpPr>
        <p:spPr>
          <a:xfrm>
            <a:off x="1790300" y="4026925"/>
            <a:ext cx="1067100" cy="279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FIN_WAIT_2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5" name="Google Shape;895;p42"/>
          <p:cNvSpPr/>
          <p:nvPr/>
        </p:nvSpPr>
        <p:spPr>
          <a:xfrm>
            <a:off x="1790300" y="3426775"/>
            <a:ext cx="1067100" cy="279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FIN_WAIT_1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6" name="Google Shape;896;p42"/>
          <p:cNvSpPr/>
          <p:nvPr/>
        </p:nvSpPr>
        <p:spPr>
          <a:xfrm>
            <a:off x="1790300" y="2154925"/>
            <a:ext cx="1067100" cy="279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SYN_RCVD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7" name="Google Shape;897;p42"/>
          <p:cNvSpPr/>
          <p:nvPr/>
        </p:nvSpPr>
        <p:spPr>
          <a:xfrm>
            <a:off x="3620000" y="1464900"/>
            <a:ext cx="1067100" cy="279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LISTEN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8" name="Google Shape;898;p42"/>
          <p:cNvSpPr/>
          <p:nvPr/>
        </p:nvSpPr>
        <p:spPr>
          <a:xfrm>
            <a:off x="3620000" y="579425"/>
            <a:ext cx="1067100" cy="279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CLOSED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9" name="Google Shape;899;p42"/>
          <p:cNvSpPr/>
          <p:nvPr/>
        </p:nvSpPr>
        <p:spPr>
          <a:xfrm>
            <a:off x="5479725" y="2154925"/>
            <a:ext cx="1067100" cy="279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SYN_SENT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0" name="Google Shape;900;p42"/>
          <p:cNvSpPr/>
          <p:nvPr/>
        </p:nvSpPr>
        <p:spPr>
          <a:xfrm>
            <a:off x="4690000" y="801750"/>
            <a:ext cx="973200" cy="1354225"/>
          </a:xfrm>
          <a:custGeom>
            <a:avLst/>
            <a:gdLst/>
            <a:ahLst/>
            <a:cxnLst/>
            <a:rect l="l" t="t" r="r" b="b"/>
            <a:pathLst>
              <a:path w="38928" h="54169" extrusionOk="0">
                <a:moveTo>
                  <a:pt x="38928" y="54169"/>
                </a:moveTo>
                <a:cubicBezTo>
                  <a:pt x="38293" y="50359"/>
                  <a:pt x="38100" y="38764"/>
                  <a:pt x="35118" y="31309"/>
                </a:cubicBezTo>
                <a:cubicBezTo>
                  <a:pt x="32136" y="23855"/>
                  <a:pt x="26891" y="14660"/>
                  <a:pt x="21038" y="9442"/>
                </a:cubicBezTo>
                <a:cubicBezTo>
                  <a:pt x="15185" y="4224"/>
                  <a:pt x="3506" y="1574"/>
                  <a:pt x="0" y="0"/>
                </a:cubicBezTo>
              </a:path>
            </a:pathLst>
          </a:cu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901" name="Google Shape;901;p42"/>
          <p:cNvSpPr/>
          <p:nvPr/>
        </p:nvSpPr>
        <p:spPr>
          <a:xfrm>
            <a:off x="4271725" y="1750125"/>
            <a:ext cx="1207997" cy="497800"/>
          </a:xfrm>
          <a:custGeom>
            <a:avLst/>
            <a:gdLst/>
            <a:ahLst/>
            <a:cxnLst/>
            <a:rect l="l" t="t" r="r" b="b"/>
            <a:pathLst>
              <a:path w="46217" h="19912" extrusionOk="0">
                <a:moveTo>
                  <a:pt x="0" y="0"/>
                </a:moveTo>
                <a:cubicBezTo>
                  <a:pt x="1353" y="2292"/>
                  <a:pt x="3976" y="10547"/>
                  <a:pt x="8117" y="13749"/>
                </a:cubicBezTo>
                <a:cubicBezTo>
                  <a:pt x="12258" y="16952"/>
                  <a:pt x="18498" y="18194"/>
                  <a:pt x="24848" y="19215"/>
                </a:cubicBezTo>
                <a:cubicBezTo>
                  <a:pt x="31198" y="20237"/>
                  <a:pt x="42656" y="19768"/>
                  <a:pt x="46217" y="19878"/>
                </a:cubicBezTo>
              </a:path>
            </a:pathLst>
          </a:cu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902" name="Google Shape;902;p42"/>
          <p:cNvSpPr/>
          <p:nvPr/>
        </p:nvSpPr>
        <p:spPr>
          <a:xfrm rot="10800000" flipH="1">
            <a:off x="4271725" y="2359725"/>
            <a:ext cx="1207997" cy="497800"/>
          </a:xfrm>
          <a:custGeom>
            <a:avLst/>
            <a:gdLst/>
            <a:ahLst/>
            <a:cxnLst/>
            <a:rect l="l" t="t" r="r" b="b"/>
            <a:pathLst>
              <a:path w="46217" h="19912" extrusionOk="0">
                <a:moveTo>
                  <a:pt x="0" y="0"/>
                </a:moveTo>
                <a:cubicBezTo>
                  <a:pt x="1353" y="2292"/>
                  <a:pt x="3976" y="10547"/>
                  <a:pt x="8117" y="13749"/>
                </a:cubicBezTo>
                <a:cubicBezTo>
                  <a:pt x="12258" y="16952"/>
                  <a:pt x="18498" y="18194"/>
                  <a:pt x="24848" y="19215"/>
                </a:cubicBezTo>
                <a:cubicBezTo>
                  <a:pt x="31198" y="20237"/>
                  <a:pt x="42656" y="19768"/>
                  <a:pt x="46217" y="19878"/>
                </a:cubicBezTo>
              </a:path>
            </a:pathLst>
          </a:cu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903" name="Google Shape;903;p42"/>
          <p:cNvSpPr/>
          <p:nvPr/>
        </p:nvSpPr>
        <p:spPr>
          <a:xfrm flipH="1">
            <a:off x="2857420" y="1750125"/>
            <a:ext cx="1160855" cy="478983"/>
          </a:xfrm>
          <a:custGeom>
            <a:avLst/>
            <a:gdLst/>
            <a:ahLst/>
            <a:cxnLst/>
            <a:rect l="l" t="t" r="r" b="b"/>
            <a:pathLst>
              <a:path w="46217" h="19912" extrusionOk="0">
                <a:moveTo>
                  <a:pt x="0" y="0"/>
                </a:moveTo>
                <a:cubicBezTo>
                  <a:pt x="1353" y="2292"/>
                  <a:pt x="3976" y="10547"/>
                  <a:pt x="8117" y="13749"/>
                </a:cubicBezTo>
                <a:cubicBezTo>
                  <a:pt x="12258" y="16952"/>
                  <a:pt x="18498" y="18194"/>
                  <a:pt x="24848" y="19215"/>
                </a:cubicBezTo>
                <a:cubicBezTo>
                  <a:pt x="31198" y="20237"/>
                  <a:pt x="42656" y="19768"/>
                  <a:pt x="46217" y="19878"/>
                </a:cubicBezTo>
              </a:path>
            </a:pathLst>
          </a:cu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904" name="Google Shape;904;p42"/>
          <p:cNvSpPr/>
          <p:nvPr/>
        </p:nvSpPr>
        <p:spPr>
          <a:xfrm rot="10800000">
            <a:off x="2859109" y="2359725"/>
            <a:ext cx="1167441" cy="497800"/>
          </a:xfrm>
          <a:custGeom>
            <a:avLst/>
            <a:gdLst/>
            <a:ahLst/>
            <a:cxnLst/>
            <a:rect l="l" t="t" r="r" b="b"/>
            <a:pathLst>
              <a:path w="46217" h="19912" extrusionOk="0">
                <a:moveTo>
                  <a:pt x="0" y="0"/>
                </a:moveTo>
                <a:cubicBezTo>
                  <a:pt x="1353" y="2292"/>
                  <a:pt x="3976" y="10547"/>
                  <a:pt x="8117" y="13749"/>
                </a:cubicBezTo>
                <a:cubicBezTo>
                  <a:pt x="12258" y="16952"/>
                  <a:pt x="18498" y="18194"/>
                  <a:pt x="24848" y="19215"/>
                </a:cubicBezTo>
                <a:cubicBezTo>
                  <a:pt x="31198" y="20237"/>
                  <a:pt x="42656" y="19768"/>
                  <a:pt x="46217" y="19878"/>
                </a:cubicBezTo>
              </a:path>
            </a:pathLst>
          </a:custGeom>
          <a:noFill/>
          <a:ln w="9525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905" name="Google Shape;905;p42"/>
          <p:cNvSpPr/>
          <p:nvPr/>
        </p:nvSpPr>
        <p:spPr>
          <a:xfrm>
            <a:off x="4271725" y="3140700"/>
            <a:ext cx="1207997" cy="393610"/>
          </a:xfrm>
          <a:custGeom>
            <a:avLst/>
            <a:gdLst/>
            <a:ahLst/>
            <a:cxnLst/>
            <a:rect l="l" t="t" r="r" b="b"/>
            <a:pathLst>
              <a:path w="46217" h="19912" extrusionOk="0">
                <a:moveTo>
                  <a:pt x="0" y="0"/>
                </a:moveTo>
                <a:cubicBezTo>
                  <a:pt x="1353" y="2292"/>
                  <a:pt x="3976" y="10547"/>
                  <a:pt x="8117" y="13749"/>
                </a:cubicBezTo>
                <a:cubicBezTo>
                  <a:pt x="12258" y="16952"/>
                  <a:pt x="18498" y="18194"/>
                  <a:pt x="24848" y="19215"/>
                </a:cubicBezTo>
                <a:cubicBezTo>
                  <a:pt x="31198" y="20237"/>
                  <a:pt x="42656" y="19768"/>
                  <a:pt x="46217" y="19878"/>
                </a:cubicBezTo>
              </a:path>
            </a:pathLst>
          </a:cu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906" name="Google Shape;906;p42"/>
          <p:cNvSpPr/>
          <p:nvPr/>
        </p:nvSpPr>
        <p:spPr>
          <a:xfrm flipH="1">
            <a:off x="2862851" y="3140700"/>
            <a:ext cx="1155425" cy="393610"/>
          </a:xfrm>
          <a:custGeom>
            <a:avLst/>
            <a:gdLst/>
            <a:ahLst/>
            <a:cxnLst/>
            <a:rect l="l" t="t" r="r" b="b"/>
            <a:pathLst>
              <a:path w="46217" h="19912" extrusionOk="0">
                <a:moveTo>
                  <a:pt x="0" y="0"/>
                </a:moveTo>
                <a:cubicBezTo>
                  <a:pt x="1353" y="2292"/>
                  <a:pt x="3976" y="10547"/>
                  <a:pt x="8117" y="13749"/>
                </a:cubicBezTo>
                <a:cubicBezTo>
                  <a:pt x="12258" y="16952"/>
                  <a:pt x="18498" y="18194"/>
                  <a:pt x="24848" y="19215"/>
                </a:cubicBezTo>
                <a:cubicBezTo>
                  <a:pt x="31198" y="20237"/>
                  <a:pt x="42656" y="19768"/>
                  <a:pt x="46217" y="19878"/>
                </a:cubicBezTo>
              </a:path>
            </a:pathLst>
          </a:cu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907" name="Google Shape;907;p42"/>
          <p:cNvSpPr/>
          <p:nvPr/>
        </p:nvSpPr>
        <p:spPr>
          <a:xfrm>
            <a:off x="2323850" y="4309775"/>
            <a:ext cx="1403858" cy="391225"/>
          </a:xfrm>
          <a:custGeom>
            <a:avLst/>
            <a:gdLst/>
            <a:ahLst/>
            <a:cxnLst/>
            <a:rect l="l" t="t" r="r" b="b"/>
            <a:pathLst>
              <a:path w="52014" h="15649" extrusionOk="0">
                <a:moveTo>
                  <a:pt x="0" y="0"/>
                </a:moveTo>
                <a:cubicBezTo>
                  <a:pt x="387" y="1905"/>
                  <a:pt x="-221" y="8890"/>
                  <a:pt x="2319" y="11430"/>
                </a:cubicBezTo>
                <a:cubicBezTo>
                  <a:pt x="4859" y="13970"/>
                  <a:pt x="6958" y="14550"/>
                  <a:pt x="15240" y="15240"/>
                </a:cubicBezTo>
                <a:cubicBezTo>
                  <a:pt x="23523" y="15930"/>
                  <a:pt x="45885" y="15517"/>
                  <a:pt x="52014" y="15572"/>
                </a:cubicBezTo>
              </a:path>
            </a:pathLst>
          </a:cu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cxnSp>
        <p:nvCxnSpPr>
          <p:cNvPr id="908" name="Google Shape;908;p42"/>
          <p:cNvCxnSpPr/>
          <p:nvPr/>
        </p:nvCxnSpPr>
        <p:spPr>
          <a:xfrm>
            <a:off x="4022500" y="863875"/>
            <a:ext cx="0" cy="600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09" name="Google Shape;909;p42"/>
          <p:cNvCxnSpPr/>
          <p:nvPr/>
        </p:nvCxnSpPr>
        <p:spPr>
          <a:xfrm>
            <a:off x="4275948" y="863875"/>
            <a:ext cx="0" cy="600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10" name="Google Shape;910;p42"/>
          <p:cNvCxnSpPr>
            <a:stCxn id="896" idx="2"/>
            <a:endCxn id="895" idx="0"/>
          </p:cNvCxnSpPr>
          <p:nvPr/>
        </p:nvCxnSpPr>
        <p:spPr>
          <a:xfrm>
            <a:off x="2323850" y="2433925"/>
            <a:ext cx="0" cy="993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11" name="Google Shape;911;p42"/>
          <p:cNvCxnSpPr>
            <a:stCxn id="895" idx="2"/>
            <a:endCxn id="894" idx="0"/>
          </p:cNvCxnSpPr>
          <p:nvPr/>
        </p:nvCxnSpPr>
        <p:spPr>
          <a:xfrm>
            <a:off x="2323850" y="3705775"/>
            <a:ext cx="0" cy="321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12" name="Google Shape;912;p42"/>
          <p:cNvCxnSpPr/>
          <p:nvPr/>
        </p:nvCxnSpPr>
        <p:spPr>
          <a:xfrm>
            <a:off x="2811625" y="3704300"/>
            <a:ext cx="912600" cy="912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13" name="Google Shape;913;p42"/>
          <p:cNvCxnSpPr>
            <a:stCxn id="893" idx="2"/>
            <a:endCxn id="892" idx="0"/>
          </p:cNvCxnSpPr>
          <p:nvPr/>
        </p:nvCxnSpPr>
        <p:spPr>
          <a:xfrm>
            <a:off x="4260675" y="4316425"/>
            <a:ext cx="0" cy="226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14" name="Google Shape;914;p42"/>
          <p:cNvCxnSpPr>
            <a:endCxn id="890" idx="0"/>
          </p:cNvCxnSpPr>
          <p:nvPr/>
        </p:nvCxnSpPr>
        <p:spPr>
          <a:xfrm>
            <a:off x="6013275" y="3686125"/>
            <a:ext cx="0" cy="340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15" name="Google Shape;915;p42"/>
          <p:cNvCxnSpPr>
            <a:stCxn id="890" idx="2"/>
            <a:endCxn id="891" idx="0"/>
          </p:cNvCxnSpPr>
          <p:nvPr/>
        </p:nvCxnSpPr>
        <p:spPr>
          <a:xfrm>
            <a:off x="6013275" y="4305925"/>
            <a:ext cx="0" cy="237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16" name="Google Shape;916;p42"/>
          <p:cNvCxnSpPr>
            <a:endCxn id="891" idx="1"/>
          </p:cNvCxnSpPr>
          <p:nvPr/>
        </p:nvCxnSpPr>
        <p:spPr>
          <a:xfrm>
            <a:off x="4794225" y="4682750"/>
            <a:ext cx="6855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17" name="Google Shape;917;p42"/>
          <p:cNvSpPr txBox="1"/>
          <p:nvPr/>
        </p:nvSpPr>
        <p:spPr>
          <a:xfrm>
            <a:off x="2791625" y="4546250"/>
            <a:ext cx="6162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FIN/ACK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18" name="Google Shape;918;p42"/>
          <p:cNvSpPr txBox="1"/>
          <p:nvPr/>
        </p:nvSpPr>
        <p:spPr>
          <a:xfrm rot="2700000">
            <a:off x="2763772" y="4006124"/>
            <a:ext cx="1104784" cy="154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ACK + FIN/ACK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19" name="Google Shape;919;p42"/>
          <p:cNvSpPr txBox="1"/>
          <p:nvPr/>
        </p:nvSpPr>
        <p:spPr>
          <a:xfrm>
            <a:off x="3849550" y="4352888"/>
            <a:ext cx="3459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ACK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0" name="Google Shape;920;p42"/>
          <p:cNvSpPr txBox="1"/>
          <p:nvPr/>
        </p:nvSpPr>
        <p:spPr>
          <a:xfrm>
            <a:off x="4828875" y="4026925"/>
            <a:ext cx="6162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Timeout after 2 segment lifetimes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1" name="Google Shape;921;p42"/>
          <p:cNvSpPr txBox="1"/>
          <p:nvPr/>
        </p:nvSpPr>
        <p:spPr>
          <a:xfrm>
            <a:off x="6075900" y="4347638"/>
            <a:ext cx="3459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ACK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2" name="Google Shape;922;p42"/>
          <p:cNvSpPr txBox="1"/>
          <p:nvPr/>
        </p:nvSpPr>
        <p:spPr>
          <a:xfrm>
            <a:off x="6041950" y="3757838"/>
            <a:ext cx="5856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Close/FIN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3" name="Google Shape;923;p42"/>
          <p:cNvSpPr txBox="1"/>
          <p:nvPr/>
        </p:nvSpPr>
        <p:spPr>
          <a:xfrm>
            <a:off x="3166225" y="3664013"/>
            <a:ext cx="5856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FIN/ACK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4" name="Google Shape;924;p42"/>
          <p:cNvSpPr txBox="1"/>
          <p:nvPr/>
        </p:nvSpPr>
        <p:spPr>
          <a:xfrm>
            <a:off x="1977938" y="3747013"/>
            <a:ext cx="3459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ACK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5" name="Google Shape;925;p42"/>
          <p:cNvSpPr txBox="1"/>
          <p:nvPr/>
        </p:nvSpPr>
        <p:spPr>
          <a:xfrm>
            <a:off x="3147763" y="3312425"/>
            <a:ext cx="5856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Close/FIN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6" name="Google Shape;926;p42"/>
          <p:cNvSpPr txBox="1"/>
          <p:nvPr/>
        </p:nvSpPr>
        <p:spPr>
          <a:xfrm>
            <a:off x="2424538" y="2922163"/>
            <a:ext cx="5856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Close/FIN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7" name="Google Shape;927;p42"/>
          <p:cNvSpPr txBox="1"/>
          <p:nvPr/>
        </p:nvSpPr>
        <p:spPr>
          <a:xfrm>
            <a:off x="3370113" y="2433913"/>
            <a:ext cx="3459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ACK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8" name="Google Shape;928;p42"/>
          <p:cNvSpPr txBox="1"/>
          <p:nvPr/>
        </p:nvSpPr>
        <p:spPr>
          <a:xfrm>
            <a:off x="4709275" y="3341888"/>
            <a:ext cx="5856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FIN/ACK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9" name="Google Shape;929;p42"/>
          <p:cNvSpPr txBox="1"/>
          <p:nvPr/>
        </p:nvSpPr>
        <p:spPr>
          <a:xfrm>
            <a:off x="4498900" y="2477863"/>
            <a:ext cx="9483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SYN+ACK/ACK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0" name="Google Shape;930;p42"/>
          <p:cNvSpPr txBox="1"/>
          <p:nvPr/>
        </p:nvSpPr>
        <p:spPr>
          <a:xfrm>
            <a:off x="3646675" y="2154838"/>
            <a:ext cx="9483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SYN/SYN+ACK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1" name="Google Shape;931;p42"/>
          <p:cNvSpPr txBox="1"/>
          <p:nvPr/>
        </p:nvSpPr>
        <p:spPr>
          <a:xfrm>
            <a:off x="2804900" y="1974850"/>
            <a:ext cx="9483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SYN/SYN+ACK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2" name="Google Shape;932;p42"/>
          <p:cNvSpPr txBox="1"/>
          <p:nvPr/>
        </p:nvSpPr>
        <p:spPr>
          <a:xfrm>
            <a:off x="4527925" y="1990868"/>
            <a:ext cx="7197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Send/SYN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3" name="Google Shape;933;p42"/>
          <p:cNvSpPr txBox="1"/>
          <p:nvPr/>
        </p:nvSpPr>
        <p:spPr>
          <a:xfrm>
            <a:off x="5040625" y="1215625"/>
            <a:ext cx="3651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Close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4" name="Google Shape;934;p42"/>
          <p:cNvSpPr txBox="1"/>
          <p:nvPr/>
        </p:nvSpPr>
        <p:spPr>
          <a:xfrm>
            <a:off x="4300425" y="1064025"/>
            <a:ext cx="3651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Close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5" name="Google Shape;935;p42"/>
          <p:cNvSpPr txBox="1"/>
          <p:nvPr/>
        </p:nvSpPr>
        <p:spPr>
          <a:xfrm>
            <a:off x="3147775" y="1064025"/>
            <a:ext cx="8658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Passive open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6" name="Google Shape;936;p42"/>
          <p:cNvSpPr txBox="1"/>
          <p:nvPr/>
        </p:nvSpPr>
        <p:spPr>
          <a:xfrm>
            <a:off x="5354700" y="727663"/>
            <a:ext cx="10671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Active open/SYN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37" name="Google Shape;937;p42"/>
          <p:cNvCxnSpPr/>
          <p:nvPr/>
        </p:nvCxnSpPr>
        <p:spPr>
          <a:xfrm rot="10800000">
            <a:off x="2857425" y="2308713"/>
            <a:ext cx="26223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38" name="Google Shape;938;p42"/>
          <p:cNvSpPr/>
          <p:nvPr/>
        </p:nvSpPr>
        <p:spPr>
          <a:xfrm>
            <a:off x="2861675" y="3639075"/>
            <a:ext cx="1255725" cy="393700"/>
          </a:xfrm>
          <a:custGeom>
            <a:avLst/>
            <a:gdLst/>
            <a:ahLst/>
            <a:cxnLst/>
            <a:rect l="l" t="t" r="r" b="b"/>
            <a:pathLst>
              <a:path w="50229" h="15748" extrusionOk="0">
                <a:moveTo>
                  <a:pt x="0" y="0"/>
                </a:moveTo>
                <a:cubicBezTo>
                  <a:pt x="6583" y="434"/>
                  <a:pt x="31126" y="-21"/>
                  <a:pt x="39497" y="2604"/>
                </a:cubicBezTo>
                <a:cubicBezTo>
                  <a:pt x="47869" y="5229"/>
                  <a:pt x="48440" y="13557"/>
                  <a:pt x="50229" y="15748"/>
                </a:cubicBezTo>
              </a:path>
            </a:pathLst>
          </a:cu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939" name="Google Shape;939;p42"/>
          <p:cNvSpPr txBox="1"/>
          <p:nvPr/>
        </p:nvSpPr>
        <p:spPr>
          <a:xfrm>
            <a:off x="6730300" y="2514775"/>
            <a:ext cx="19815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The ESTABLISHED state is where all data is sent and acked.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0" name="Google Shape;940;p42"/>
          <p:cNvSpPr/>
          <p:nvPr/>
        </p:nvSpPr>
        <p:spPr>
          <a:xfrm>
            <a:off x="4692275" y="693750"/>
            <a:ext cx="1413050" cy="1469550"/>
          </a:xfrm>
          <a:custGeom>
            <a:avLst/>
            <a:gdLst/>
            <a:ahLst/>
            <a:cxnLst/>
            <a:rect l="l" t="t" r="r" b="b"/>
            <a:pathLst>
              <a:path w="56522" h="58782" extrusionOk="0">
                <a:moveTo>
                  <a:pt x="0" y="0"/>
                </a:moveTo>
                <a:cubicBezTo>
                  <a:pt x="7590" y="2692"/>
                  <a:pt x="36120" y="6352"/>
                  <a:pt x="45540" y="16149"/>
                </a:cubicBezTo>
                <a:cubicBezTo>
                  <a:pt x="54960" y="25946"/>
                  <a:pt x="54692" y="51677"/>
                  <a:pt x="56522" y="58782"/>
                </a:cubicBezTo>
              </a:path>
            </a:pathLst>
          </a:cu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F1D93B7-72B4-3D9B-5EAF-CB0BD0F058C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18</a:t>
            </a:fld>
            <a:endParaRPr lang="en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5" name="Google Shape;945;p43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TCP Setup/Teardown Transition Diagram (Simplified)</a:t>
            </a:r>
            <a:endParaRPr/>
          </a:p>
        </p:txBody>
      </p:sp>
      <p:sp>
        <p:nvSpPr>
          <p:cNvPr id="946" name="Google Shape;946;p43"/>
          <p:cNvSpPr/>
          <p:nvPr/>
        </p:nvSpPr>
        <p:spPr>
          <a:xfrm>
            <a:off x="3583966" y="4139275"/>
            <a:ext cx="1352700" cy="4413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FIN_WAIT1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7" name="Google Shape;947;p43"/>
          <p:cNvSpPr/>
          <p:nvPr/>
        </p:nvSpPr>
        <p:spPr>
          <a:xfrm>
            <a:off x="1405975" y="2996263"/>
            <a:ext cx="1352700" cy="4413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FIN_WAIT2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8" name="Google Shape;948;p43"/>
          <p:cNvSpPr/>
          <p:nvPr/>
        </p:nvSpPr>
        <p:spPr>
          <a:xfrm>
            <a:off x="5761929" y="2996263"/>
            <a:ext cx="1352700" cy="4413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ESTABLISHED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9" name="Google Shape;949;p43"/>
          <p:cNvSpPr/>
          <p:nvPr/>
        </p:nvSpPr>
        <p:spPr>
          <a:xfrm>
            <a:off x="3583966" y="710275"/>
            <a:ext cx="1352700" cy="4413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CLOSED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0" name="Google Shape;950;p43"/>
          <p:cNvSpPr/>
          <p:nvPr/>
        </p:nvSpPr>
        <p:spPr>
          <a:xfrm>
            <a:off x="1405975" y="1853263"/>
            <a:ext cx="1352700" cy="4413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TIME_WAIT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1" name="Google Shape;951;p43"/>
          <p:cNvSpPr/>
          <p:nvPr/>
        </p:nvSpPr>
        <p:spPr>
          <a:xfrm>
            <a:off x="5761929" y="1853263"/>
            <a:ext cx="1352700" cy="4413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 cap="flat" cmpd="sng">
            <a:solidFill>
              <a:srgbClr val="0000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SYN_SENT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52" name="Google Shape;952;p43"/>
          <p:cNvCxnSpPr>
            <a:stCxn id="949" idx="1"/>
            <a:endCxn id="950" idx="0"/>
          </p:cNvCxnSpPr>
          <p:nvPr/>
        </p:nvCxnSpPr>
        <p:spPr>
          <a:xfrm flipH="1">
            <a:off x="2082466" y="930925"/>
            <a:ext cx="1501500" cy="922200"/>
          </a:xfrm>
          <a:prstGeom prst="curvedConnector2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953" name="Google Shape;953;p43"/>
          <p:cNvCxnSpPr>
            <a:stCxn id="949" idx="3"/>
            <a:endCxn id="951" idx="0"/>
          </p:cNvCxnSpPr>
          <p:nvPr/>
        </p:nvCxnSpPr>
        <p:spPr>
          <a:xfrm>
            <a:off x="4936666" y="930925"/>
            <a:ext cx="1501500" cy="922200"/>
          </a:xfrm>
          <a:prstGeom prst="curvedConnector2">
            <a:avLst/>
          </a:prstGeom>
          <a:noFill/>
          <a:ln w="19050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54" name="Google Shape;954;p43"/>
          <p:cNvCxnSpPr>
            <a:stCxn id="947" idx="2"/>
            <a:endCxn id="946" idx="1"/>
          </p:cNvCxnSpPr>
          <p:nvPr/>
        </p:nvCxnSpPr>
        <p:spPr>
          <a:xfrm rot="-5400000" flipH="1">
            <a:off x="2371825" y="3148063"/>
            <a:ext cx="922500" cy="1501500"/>
          </a:xfrm>
          <a:prstGeom prst="curvedConnector2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955" name="Google Shape;955;p43"/>
          <p:cNvCxnSpPr>
            <a:stCxn id="946" idx="3"/>
            <a:endCxn id="948" idx="2"/>
          </p:cNvCxnSpPr>
          <p:nvPr/>
        </p:nvCxnSpPr>
        <p:spPr>
          <a:xfrm rot="10800000" flipH="1">
            <a:off x="4936666" y="3437425"/>
            <a:ext cx="1501500" cy="922500"/>
          </a:xfrm>
          <a:prstGeom prst="curvedConnector2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956" name="Google Shape;956;p43"/>
          <p:cNvCxnSpPr>
            <a:endCxn id="948" idx="0"/>
          </p:cNvCxnSpPr>
          <p:nvPr/>
        </p:nvCxnSpPr>
        <p:spPr>
          <a:xfrm>
            <a:off x="6438279" y="2294563"/>
            <a:ext cx="0" cy="701700"/>
          </a:xfrm>
          <a:prstGeom prst="straightConnector1">
            <a:avLst/>
          </a:prstGeom>
          <a:noFill/>
          <a:ln w="19050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57" name="Google Shape;957;p43"/>
          <p:cNvCxnSpPr>
            <a:stCxn id="950" idx="2"/>
            <a:endCxn id="947" idx="0"/>
          </p:cNvCxnSpPr>
          <p:nvPr/>
        </p:nvCxnSpPr>
        <p:spPr>
          <a:xfrm>
            <a:off x="2082325" y="2294563"/>
            <a:ext cx="0" cy="7017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958" name="Google Shape;958;p43"/>
          <p:cNvSpPr txBox="1"/>
          <p:nvPr/>
        </p:nvSpPr>
        <p:spPr>
          <a:xfrm>
            <a:off x="5914325" y="886375"/>
            <a:ext cx="865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Send SYN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9" name="Google Shape;959;p43"/>
          <p:cNvSpPr txBox="1"/>
          <p:nvPr/>
        </p:nvSpPr>
        <p:spPr>
          <a:xfrm>
            <a:off x="6584275" y="2429875"/>
            <a:ext cx="1501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Receive SYN+ACK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Send ACK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0" name="Google Shape;960;p43"/>
          <p:cNvSpPr txBox="1"/>
          <p:nvPr/>
        </p:nvSpPr>
        <p:spPr>
          <a:xfrm>
            <a:off x="5914325" y="4239175"/>
            <a:ext cx="865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Send FIN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1" name="Google Shape;961;p43"/>
          <p:cNvSpPr txBox="1"/>
          <p:nvPr/>
        </p:nvSpPr>
        <p:spPr>
          <a:xfrm>
            <a:off x="1580875" y="4239175"/>
            <a:ext cx="1084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Receive ACK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2" name="Google Shape;962;p43"/>
          <p:cNvSpPr txBox="1"/>
          <p:nvPr/>
        </p:nvSpPr>
        <p:spPr>
          <a:xfrm>
            <a:off x="428425" y="2429875"/>
            <a:ext cx="1501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Receive FIN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Send ACK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3" name="Google Shape;963;p43"/>
          <p:cNvSpPr txBox="1"/>
          <p:nvPr/>
        </p:nvSpPr>
        <p:spPr>
          <a:xfrm>
            <a:off x="1445625" y="936175"/>
            <a:ext cx="1084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Wait a while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4" name="Google Shape;964;p43"/>
          <p:cNvSpPr txBox="1"/>
          <p:nvPr/>
        </p:nvSpPr>
        <p:spPr>
          <a:xfrm>
            <a:off x="4645275" y="1966225"/>
            <a:ext cx="517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Setup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5" name="Google Shape;965;p43"/>
          <p:cNvSpPr txBox="1"/>
          <p:nvPr/>
        </p:nvSpPr>
        <p:spPr>
          <a:xfrm>
            <a:off x="3166600" y="3109225"/>
            <a:ext cx="8304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Teardown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CFFAC02-BECB-7125-B423-E9F59FE10C7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19</a:t>
            </a:fld>
            <a:endParaRPr lang="en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0" name="Google Shape;970;p4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Piggybacking</a:t>
            </a:r>
            <a:endParaRPr/>
          </a:p>
        </p:txBody>
      </p:sp>
      <p:sp>
        <p:nvSpPr>
          <p:cNvPr id="971" name="Google Shape;971;p4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With full-duplex, if we get a packet but have no data to send, we have two choices: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Send the ack, with no data.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b="1"/>
              <a:t>Piggybacking</a:t>
            </a:r>
            <a:r>
              <a:rPr lang="en"/>
              <a:t>: Wait for some data, and send the ack with the data.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Piggybacking can be tricky because TCP is in the OS, separate from the application.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OS doesn't know when application will have more data.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Application isn't thinking about packets and acks.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SYN-ACKs are always piggybacked.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Ack and initial sequence number are sent together.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Not tricky, because OS is doing the handshake, not the application.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5A2EA99-7F2B-FF63-EAD7-30B693505AC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20</a:t>
            </a:fld>
            <a:endParaRPr lang="en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Google Shape;976;p45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15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Implementing TCP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Byte Notation</a:t>
            </a:r>
            <a:br>
              <a:rPr lang="en">
                <a:solidFill>
                  <a:srgbClr val="B7B7B7"/>
                </a:solidFill>
              </a:rPr>
            </a:br>
            <a:r>
              <a:rPr lang="en">
                <a:solidFill>
                  <a:srgbClr val="B7B7B7"/>
                </a:solidFill>
              </a:rPr>
              <a:t>(Segments, Sequence Numbers)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Maintaining State (Full Duplex, Connection Setup and Teardown)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Sliding Window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Header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977" name="Google Shape;977;p45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Sliding Window</a:t>
            </a:r>
            <a:endParaRPr/>
          </a:p>
        </p:txBody>
      </p:sp>
      <p:sp>
        <p:nvSpPr>
          <p:cNvPr id="978" name="Google Shape;978;p45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11,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A0E87CE-77E1-2CAB-BC9F-4578D43054A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21</a:t>
            </a:fld>
            <a:endParaRPr lang="en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3" name="Google Shape;983;p46"/>
          <p:cNvSpPr/>
          <p:nvPr/>
        </p:nvSpPr>
        <p:spPr>
          <a:xfrm rot="5400000">
            <a:off x="7533988" y="3887850"/>
            <a:ext cx="7221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4" name="Google Shape;984;p46"/>
          <p:cNvSpPr/>
          <p:nvPr/>
        </p:nvSpPr>
        <p:spPr>
          <a:xfrm rot="5400000">
            <a:off x="887788" y="3887850"/>
            <a:ext cx="7221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5" name="Google Shape;985;p4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TCP Sliding Window</a:t>
            </a:r>
            <a:endParaRPr/>
          </a:p>
        </p:txBody>
      </p:sp>
      <p:sp>
        <p:nvSpPr>
          <p:cNvPr id="986" name="Google Shape;986;p46"/>
          <p:cNvSpPr/>
          <p:nvPr/>
        </p:nvSpPr>
        <p:spPr>
          <a:xfrm rot="5400000">
            <a:off x="1762288" y="3887850"/>
            <a:ext cx="7221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7" name="Google Shape;987;p46"/>
          <p:cNvSpPr/>
          <p:nvPr/>
        </p:nvSpPr>
        <p:spPr>
          <a:xfrm rot="5400000">
            <a:off x="1937188" y="3887850"/>
            <a:ext cx="7221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8" name="Google Shape;988;p46"/>
          <p:cNvSpPr/>
          <p:nvPr/>
        </p:nvSpPr>
        <p:spPr>
          <a:xfrm rot="5400000">
            <a:off x="2112088" y="3887850"/>
            <a:ext cx="7221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9" name="Google Shape;989;p46"/>
          <p:cNvSpPr/>
          <p:nvPr/>
        </p:nvSpPr>
        <p:spPr>
          <a:xfrm rot="5400000">
            <a:off x="2286988" y="3887850"/>
            <a:ext cx="7221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0" name="Google Shape;990;p46"/>
          <p:cNvSpPr/>
          <p:nvPr/>
        </p:nvSpPr>
        <p:spPr>
          <a:xfrm rot="5400000">
            <a:off x="2461888" y="3887850"/>
            <a:ext cx="7221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1" name="Google Shape;991;p46"/>
          <p:cNvSpPr/>
          <p:nvPr/>
        </p:nvSpPr>
        <p:spPr>
          <a:xfrm rot="5400000">
            <a:off x="2636788" y="3887850"/>
            <a:ext cx="7221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2" name="Google Shape;992;p46"/>
          <p:cNvSpPr/>
          <p:nvPr/>
        </p:nvSpPr>
        <p:spPr>
          <a:xfrm rot="5400000">
            <a:off x="2811688" y="3887850"/>
            <a:ext cx="7221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3" name="Google Shape;993;p46"/>
          <p:cNvSpPr/>
          <p:nvPr/>
        </p:nvSpPr>
        <p:spPr>
          <a:xfrm rot="5400000">
            <a:off x="2986588" y="3887850"/>
            <a:ext cx="722100" cy="1749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4" name="Google Shape;994;p46"/>
          <p:cNvSpPr/>
          <p:nvPr/>
        </p:nvSpPr>
        <p:spPr>
          <a:xfrm rot="5400000">
            <a:off x="3161488" y="3887850"/>
            <a:ext cx="722100" cy="1749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5" name="Google Shape;995;p46"/>
          <p:cNvSpPr/>
          <p:nvPr/>
        </p:nvSpPr>
        <p:spPr>
          <a:xfrm rot="5400000">
            <a:off x="3336388" y="3887850"/>
            <a:ext cx="722100" cy="1749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6" name="Google Shape;996;p46"/>
          <p:cNvSpPr/>
          <p:nvPr/>
        </p:nvSpPr>
        <p:spPr>
          <a:xfrm rot="5400000">
            <a:off x="3511288" y="3887850"/>
            <a:ext cx="722100" cy="1749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7" name="Google Shape;997;p46"/>
          <p:cNvSpPr/>
          <p:nvPr/>
        </p:nvSpPr>
        <p:spPr>
          <a:xfrm rot="5400000">
            <a:off x="3686188" y="3887850"/>
            <a:ext cx="722100" cy="1749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8" name="Google Shape;998;p46"/>
          <p:cNvSpPr/>
          <p:nvPr/>
        </p:nvSpPr>
        <p:spPr>
          <a:xfrm rot="5400000">
            <a:off x="3861088" y="3887850"/>
            <a:ext cx="722100" cy="1749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20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99" name="Google Shape;999;p46"/>
          <p:cNvSpPr/>
          <p:nvPr/>
        </p:nvSpPr>
        <p:spPr>
          <a:xfrm rot="5400000">
            <a:off x="4035988" y="3887850"/>
            <a:ext cx="722100" cy="1749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21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0" name="Google Shape;1000;p46"/>
          <p:cNvSpPr/>
          <p:nvPr/>
        </p:nvSpPr>
        <p:spPr>
          <a:xfrm rot="5400000">
            <a:off x="4210888" y="3887850"/>
            <a:ext cx="722100" cy="1749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22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1" name="Google Shape;1001;p46"/>
          <p:cNvSpPr/>
          <p:nvPr/>
        </p:nvSpPr>
        <p:spPr>
          <a:xfrm rot="5400000">
            <a:off x="4385788" y="3887850"/>
            <a:ext cx="722100" cy="1749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23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2" name="Google Shape;1002;p46"/>
          <p:cNvSpPr/>
          <p:nvPr/>
        </p:nvSpPr>
        <p:spPr>
          <a:xfrm rot="5400000">
            <a:off x="4560688" y="3887850"/>
            <a:ext cx="722100" cy="1749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24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3" name="Google Shape;1003;p46"/>
          <p:cNvSpPr/>
          <p:nvPr/>
        </p:nvSpPr>
        <p:spPr>
          <a:xfrm rot="5400000">
            <a:off x="4735588" y="3887850"/>
            <a:ext cx="722100" cy="1749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25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4" name="Google Shape;1004;p46"/>
          <p:cNvSpPr/>
          <p:nvPr/>
        </p:nvSpPr>
        <p:spPr>
          <a:xfrm rot="5400000">
            <a:off x="4910488" y="3887850"/>
            <a:ext cx="722100" cy="1749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26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5" name="Google Shape;1005;p46"/>
          <p:cNvSpPr/>
          <p:nvPr/>
        </p:nvSpPr>
        <p:spPr>
          <a:xfrm rot="5400000">
            <a:off x="5085388" y="3887850"/>
            <a:ext cx="7221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27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6" name="Google Shape;1006;p46"/>
          <p:cNvSpPr/>
          <p:nvPr/>
        </p:nvSpPr>
        <p:spPr>
          <a:xfrm rot="5400000">
            <a:off x="5260288" y="3887850"/>
            <a:ext cx="7221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28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7" name="Google Shape;1007;p46"/>
          <p:cNvSpPr/>
          <p:nvPr/>
        </p:nvSpPr>
        <p:spPr>
          <a:xfrm rot="5400000">
            <a:off x="5435188" y="3887850"/>
            <a:ext cx="7221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29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8" name="Google Shape;1008;p46"/>
          <p:cNvSpPr/>
          <p:nvPr/>
        </p:nvSpPr>
        <p:spPr>
          <a:xfrm rot="5400000">
            <a:off x="5610088" y="3887850"/>
            <a:ext cx="7221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30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09" name="Google Shape;1009;p46"/>
          <p:cNvSpPr/>
          <p:nvPr/>
        </p:nvSpPr>
        <p:spPr>
          <a:xfrm rot="5400000">
            <a:off x="5784988" y="3887850"/>
            <a:ext cx="7221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31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0" name="Google Shape;1010;p46"/>
          <p:cNvSpPr/>
          <p:nvPr/>
        </p:nvSpPr>
        <p:spPr>
          <a:xfrm rot="5400000">
            <a:off x="5959888" y="3887850"/>
            <a:ext cx="7221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32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1" name="Google Shape;1011;p46"/>
          <p:cNvSpPr/>
          <p:nvPr/>
        </p:nvSpPr>
        <p:spPr>
          <a:xfrm rot="5400000">
            <a:off x="6134788" y="3887850"/>
            <a:ext cx="7221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33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2" name="Google Shape;1012;p46"/>
          <p:cNvSpPr/>
          <p:nvPr/>
        </p:nvSpPr>
        <p:spPr>
          <a:xfrm rot="5400000">
            <a:off x="6309688" y="3887850"/>
            <a:ext cx="7221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34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3" name="Google Shape;1013;p46"/>
          <p:cNvSpPr/>
          <p:nvPr/>
        </p:nvSpPr>
        <p:spPr>
          <a:xfrm rot="5400000">
            <a:off x="6484588" y="3887850"/>
            <a:ext cx="7221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35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4" name="Google Shape;1014;p46"/>
          <p:cNvSpPr/>
          <p:nvPr/>
        </p:nvSpPr>
        <p:spPr>
          <a:xfrm rot="5400000">
            <a:off x="6659488" y="3887850"/>
            <a:ext cx="7221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36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5" name="Google Shape;1015;p46"/>
          <p:cNvSpPr/>
          <p:nvPr/>
        </p:nvSpPr>
        <p:spPr>
          <a:xfrm rot="5400000">
            <a:off x="6834388" y="3887850"/>
            <a:ext cx="7221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37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6" name="Google Shape;1016;p46"/>
          <p:cNvSpPr/>
          <p:nvPr/>
        </p:nvSpPr>
        <p:spPr>
          <a:xfrm rot="5400000">
            <a:off x="7009288" y="3887850"/>
            <a:ext cx="7221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38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7" name="Google Shape;1017;p46"/>
          <p:cNvSpPr/>
          <p:nvPr/>
        </p:nvSpPr>
        <p:spPr>
          <a:xfrm rot="5400000">
            <a:off x="7184188" y="3887850"/>
            <a:ext cx="7221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39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8" name="Google Shape;1018;p46"/>
          <p:cNvSpPr/>
          <p:nvPr/>
        </p:nvSpPr>
        <p:spPr>
          <a:xfrm rot="5400000">
            <a:off x="7359088" y="3887850"/>
            <a:ext cx="7221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40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19" name="Google Shape;1019;p46"/>
          <p:cNvSpPr/>
          <p:nvPr/>
        </p:nvSpPr>
        <p:spPr>
          <a:xfrm rot="5400000">
            <a:off x="7708888" y="3887850"/>
            <a:ext cx="7221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0" name="Google Shape;1020;p46"/>
          <p:cNvSpPr/>
          <p:nvPr/>
        </p:nvSpPr>
        <p:spPr>
          <a:xfrm rot="5400000">
            <a:off x="7883788" y="3887850"/>
            <a:ext cx="7221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1" name="Google Shape;1021;p46"/>
          <p:cNvSpPr/>
          <p:nvPr/>
        </p:nvSpPr>
        <p:spPr>
          <a:xfrm rot="5400000">
            <a:off x="537988" y="3887850"/>
            <a:ext cx="7221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2" name="Google Shape;1022;p46"/>
          <p:cNvSpPr/>
          <p:nvPr/>
        </p:nvSpPr>
        <p:spPr>
          <a:xfrm rot="5400000">
            <a:off x="712888" y="3887850"/>
            <a:ext cx="7221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3" name="Google Shape;1023;p46"/>
          <p:cNvSpPr/>
          <p:nvPr/>
        </p:nvSpPr>
        <p:spPr>
          <a:xfrm rot="5400000">
            <a:off x="3948538" y="2927550"/>
            <a:ext cx="722100" cy="20955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4" name="Google Shape;1024;p46"/>
          <p:cNvSpPr/>
          <p:nvPr/>
        </p:nvSpPr>
        <p:spPr>
          <a:xfrm rot="5400000">
            <a:off x="1062688" y="3887850"/>
            <a:ext cx="7221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5" name="Google Shape;1025;p46"/>
          <p:cNvSpPr/>
          <p:nvPr/>
        </p:nvSpPr>
        <p:spPr>
          <a:xfrm rot="5400000">
            <a:off x="1237588" y="3887850"/>
            <a:ext cx="7221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026" name="Google Shape;1026;p46"/>
          <p:cNvGrpSpPr/>
          <p:nvPr/>
        </p:nvGrpSpPr>
        <p:grpSpPr>
          <a:xfrm>
            <a:off x="811588" y="4486300"/>
            <a:ext cx="2393100" cy="261300"/>
            <a:chOff x="451750" y="1912600"/>
            <a:chExt cx="2393100" cy="261300"/>
          </a:xfrm>
        </p:grpSpPr>
        <p:cxnSp>
          <p:nvCxnSpPr>
            <p:cNvPr id="1027" name="Google Shape;1027;p46"/>
            <p:cNvCxnSpPr/>
            <p:nvPr/>
          </p:nvCxnSpPr>
          <p:spPr>
            <a:xfrm>
              <a:off x="451750" y="2043250"/>
              <a:ext cx="2393100" cy="0"/>
            </a:xfrm>
            <a:prstGeom prst="straightConnector1">
              <a:avLst/>
            </a:prstGeom>
            <a:noFill/>
            <a:ln w="9525" cap="flat" cmpd="sng">
              <a:solidFill>
                <a:srgbClr val="6AA84F"/>
              </a:solidFill>
              <a:prstDash val="solid"/>
              <a:round/>
              <a:headEnd type="triangle" w="med" len="med"/>
              <a:tailEnd type="triangle" w="med" len="med"/>
            </a:ln>
          </p:spPr>
        </p:cxnSp>
        <p:sp>
          <p:nvSpPr>
            <p:cNvPr id="1028" name="Google Shape;1028;p46"/>
            <p:cNvSpPr txBox="1"/>
            <p:nvPr/>
          </p:nvSpPr>
          <p:spPr>
            <a:xfrm>
              <a:off x="1007800" y="1912600"/>
              <a:ext cx="1281000" cy="2613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6AA84F"/>
                  </a:solidFill>
                  <a:latin typeface="Roboto"/>
                  <a:ea typeface="Roboto"/>
                  <a:cs typeface="Roboto"/>
                  <a:sym typeface="Roboto"/>
                </a:rPr>
                <a:t>Sent and acked</a:t>
              </a:r>
              <a:endParaRPr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1029" name="Google Shape;1029;p46"/>
          <p:cNvSpPr/>
          <p:nvPr/>
        </p:nvSpPr>
        <p:spPr>
          <a:xfrm rot="5400000">
            <a:off x="1412488" y="3887850"/>
            <a:ext cx="7221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0" name="Google Shape;1030;p46"/>
          <p:cNvSpPr/>
          <p:nvPr/>
        </p:nvSpPr>
        <p:spPr>
          <a:xfrm rot="5400000">
            <a:off x="1587388" y="3887850"/>
            <a:ext cx="7221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031" name="Google Shape;1031;p46"/>
          <p:cNvGrpSpPr/>
          <p:nvPr/>
        </p:nvGrpSpPr>
        <p:grpSpPr>
          <a:xfrm>
            <a:off x="5413495" y="4486300"/>
            <a:ext cx="2919162" cy="261300"/>
            <a:chOff x="4996875" y="1912600"/>
            <a:chExt cx="2975700" cy="261300"/>
          </a:xfrm>
        </p:grpSpPr>
        <p:cxnSp>
          <p:nvCxnSpPr>
            <p:cNvPr id="1032" name="Google Shape;1032;p46"/>
            <p:cNvCxnSpPr/>
            <p:nvPr/>
          </p:nvCxnSpPr>
          <p:spPr>
            <a:xfrm>
              <a:off x="4996875" y="2043250"/>
              <a:ext cx="2975700" cy="0"/>
            </a:xfrm>
            <a:prstGeom prst="straightConnector1">
              <a:avLst/>
            </a:prstGeom>
            <a:noFill/>
            <a:ln w="9525" cap="flat" cmpd="sng">
              <a:solidFill>
                <a:srgbClr val="999999"/>
              </a:solidFill>
              <a:prstDash val="solid"/>
              <a:round/>
              <a:headEnd type="triangle" w="med" len="med"/>
              <a:tailEnd type="triangle" w="med" len="med"/>
            </a:ln>
          </p:spPr>
        </p:cxnSp>
        <p:sp>
          <p:nvSpPr>
            <p:cNvPr id="1033" name="Google Shape;1033;p46"/>
            <p:cNvSpPr txBox="1"/>
            <p:nvPr/>
          </p:nvSpPr>
          <p:spPr>
            <a:xfrm>
              <a:off x="5955972" y="1912600"/>
              <a:ext cx="1057500" cy="2613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999999"/>
                  </a:solidFill>
                  <a:latin typeface="Roboto"/>
                  <a:ea typeface="Roboto"/>
                  <a:cs typeface="Roboto"/>
                  <a:sym typeface="Roboto"/>
                </a:rPr>
                <a:t>Not sent yet</a:t>
              </a:r>
              <a:endParaRPr>
                <a:solidFill>
                  <a:srgbClr val="999999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34" name="Google Shape;1034;p46"/>
          <p:cNvGrpSpPr/>
          <p:nvPr/>
        </p:nvGrpSpPr>
        <p:grpSpPr>
          <a:xfrm>
            <a:off x="3261268" y="4369100"/>
            <a:ext cx="2095500" cy="493800"/>
            <a:chOff x="3261268" y="4292900"/>
            <a:chExt cx="2095500" cy="493800"/>
          </a:xfrm>
        </p:grpSpPr>
        <p:cxnSp>
          <p:nvCxnSpPr>
            <p:cNvPr id="1035" name="Google Shape;1035;p46"/>
            <p:cNvCxnSpPr/>
            <p:nvPr/>
          </p:nvCxnSpPr>
          <p:spPr>
            <a:xfrm>
              <a:off x="3261268" y="4539800"/>
              <a:ext cx="2095500" cy="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triangle" w="med" len="med"/>
              <a:tailEnd type="triangle" w="med" len="med"/>
            </a:ln>
          </p:spPr>
        </p:cxnSp>
        <p:sp>
          <p:nvSpPr>
            <p:cNvPr id="1036" name="Google Shape;1036;p46"/>
            <p:cNvSpPr txBox="1"/>
            <p:nvPr/>
          </p:nvSpPr>
          <p:spPr>
            <a:xfrm>
              <a:off x="3940850" y="4292900"/>
              <a:ext cx="736500" cy="493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Window</a:t>
              </a:r>
              <a:endParaRPr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i="1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W</a:t>
              </a:r>
              <a:r>
                <a:rPr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 bytes</a:t>
              </a:r>
              <a:endParaRPr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cxnSp>
        <p:nvCxnSpPr>
          <p:cNvPr id="1037" name="Google Shape;1037;p46"/>
          <p:cNvCxnSpPr>
            <a:stCxn id="993" idx="1"/>
            <a:endCxn id="1038" idx="2"/>
          </p:cNvCxnSpPr>
          <p:nvPr/>
        </p:nvCxnSpPr>
        <p:spPr>
          <a:xfrm rot="10800000">
            <a:off x="3347638" y="3393150"/>
            <a:ext cx="0" cy="22110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1038" name="Google Shape;1038;p46"/>
          <p:cNvSpPr txBox="1"/>
          <p:nvPr/>
        </p:nvSpPr>
        <p:spPr>
          <a:xfrm>
            <a:off x="2595100" y="3131722"/>
            <a:ext cx="1505100" cy="26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First unacked byte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9" name="Google Shape;1039;p4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67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When we measured in packets, </a:t>
            </a:r>
            <a:r>
              <a:rPr lang="en" i="1"/>
              <a:t>W</a:t>
            </a:r>
            <a:r>
              <a:rPr lang="en"/>
              <a:t> was the maximum number of packets in flight.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When we measure in bytes, </a:t>
            </a:r>
            <a:r>
              <a:rPr lang="en" i="1"/>
              <a:t>W</a:t>
            </a:r>
            <a:r>
              <a:rPr lang="en"/>
              <a:t> is the maximum number of </a:t>
            </a:r>
            <a:r>
              <a:rPr lang="en" i="1"/>
              <a:t>contiguous</a:t>
            </a:r>
            <a:r>
              <a:rPr lang="en"/>
              <a:t> bytes in flight.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window is a range of </a:t>
            </a:r>
            <a:r>
              <a:rPr lang="en" i="1"/>
              <a:t>W</a:t>
            </a:r>
            <a:r>
              <a:rPr lang="en"/>
              <a:t> contiguous bytes, starting at the first unacked byte.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Only these </a:t>
            </a:r>
            <a:r>
              <a:rPr lang="en" i="1"/>
              <a:t>W</a:t>
            </a:r>
            <a:r>
              <a:rPr lang="en"/>
              <a:t> bytes are allowed to be in flight.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window slides right if and only if its </a:t>
            </a:r>
            <a:r>
              <a:rPr lang="en" i="1"/>
              <a:t>leftmost</a:t>
            </a:r>
            <a:r>
              <a:rPr lang="en"/>
              <a:t> bytes are acked.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Example: When 15–18 arrive, we can send 27–30.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D39E6D0-B316-2286-F0FD-56C324B3881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22</a:t>
            </a:fld>
            <a:endParaRPr lang="en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" name="Google Shape;1044;p47"/>
          <p:cNvSpPr/>
          <p:nvPr/>
        </p:nvSpPr>
        <p:spPr>
          <a:xfrm rot="5400000">
            <a:off x="7533988" y="3887850"/>
            <a:ext cx="7221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5" name="Google Shape;1045;p47"/>
          <p:cNvSpPr/>
          <p:nvPr/>
        </p:nvSpPr>
        <p:spPr>
          <a:xfrm rot="5400000">
            <a:off x="887788" y="3887850"/>
            <a:ext cx="7221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6" name="Google Shape;1046;p4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TCP Sliding Window</a:t>
            </a:r>
            <a:endParaRPr/>
          </a:p>
        </p:txBody>
      </p:sp>
      <p:sp>
        <p:nvSpPr>
          <p:cNvPr id="1047" name="Google Shape;1047;p4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67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When we measured in packets, </a:t>
            </a:r>
            <a:r>
              <a:rPr lang="en" i="1"/>
              <a:t>W</a:t>
            </a:r>
            <a:r>
              <a:rPr lang="en"/>
              <a:t> was the maximum number of packets in flight.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When we measure in bytes, </a:t>
            </a:r>
            <a:r>
              <a:rPr lang="en" i="1"/>
              <a:t>W</a:t>
            </a:r>
            <a:r>
              <a:rPr lang="en"/>
              <a:t> is the maximum number of </a:t>
            </a:r>
            <a:r>
              <a:rPr lang="en" i="1"/>
              <a:t>contiguous</a:t>
            </a:r>
            <a:r>
              <a:rPr lang="en"/>
              <a:t> bytes in flight.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window is a range of </a:t>
            </a:r>
            <a:r>
              <a:rPr lang="en" i="1"/>
              <a:t>W</a:t>
            </a:r>
            <a:r>
              <a:rPr lang="en"/>
              <a:t> contiguous bytes, starting at the first unacked byte.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Only these </a:t>
            </a:r>
            <a:r>
              <a:rPr lang="en" i="1"/>
              <a:t>W</a:t>
            </a:r>
            <a:r>
              <a:rPr lang="en"/>
              <a:t> bytes are allowed to be in flight.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The window slides right if and only if its </a:t>
            </a:r>
            <a:r>
              <a:rPr lang="en" i="1"/>
              <a:t>leftmost</a:t>
            </a:r>
            <a:r>
              <a:rPr lang="en"/>
              <a:t> bytes are acked.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Example: When 15–18 arrive, we can send 27–30.</a:t>
            </a:r>
            <a:endParaRPr/>
          </a:p>
        </p:txBody>
      </p:sp>
      <p:sp>
        <p:nvSpPr>
          <p:cNvPr id="1048" name="Google Shape;1048;p47"/>
          <p:cNvSpPr/>
          <p:nvPr/>
        </p:nvSpPr>
        <p:spPr>
          <a:xfrm rot="5400000">
            <a:off x="1762288" y="3887850"/>
            <a:ext cx="7221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9" name="Google Shape;1049;p47"/>
          <p:cNvSpPr/>
          <p:nvPr/>
        </p:nvSpPr>
        <p:spPr>
          <a:xfrm rot="5400000">
            <a:off x="1937188" y="3887850"/>
            <a:ext cx="7221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0" name="Google Shape;1050;p47"/>
          <p:cNvSpPr/>
          <p:nvPr/>
        </p:nvSpPr>
        <p:spPr>
          <a:xfrm rot="5400000">
            <a:off x="2112088" y="3887850"/>
            <a:ext cx="7221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1" name="Google Shape;1051;p47"/>
          <p:cNvSpPr/>
          <p:nvPr/>
        </p:nvSpPr>
        <p:spPr>
          <a:xfrm rot="5400000">
            <a:off x="2286988" y="3887850"/>
            <a:ext cx="7221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2" name="Google Shape;1052;p47"/>
          <p:cNvSpPr/>
          <p:nvPr/>
        </p:nvSpPr>
        <p:spPr>
          <a:xfrm rot="5400000">
            <a:off x="2461888" y="3887850"/>
            <a:ext cx="7221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3" name="Google Shape;1053;p47"/>
          <p:cNvSpPr/>
          <p:nvPr/>
        </p:nvSpPr>
        <p:spPr>
          <a:xfrm rot="5400000">
            <a:off x="2636788" y="3887850"/>
            <a:ext cx="7221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4" name="Google Shape;1054;p47"/>
          <p:cNvSpPr/>
          <p:nvPr/>
        </p:nvSpPr>
        <p:spPr>
          <a:xfrm rot="5400000">
            <a:off x="2811688" y="3887850"/>
            <a:ext cx="7221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5" name="Google Shape;1055;p47"/>
          <p:cNvSpPr/>
          <p:nvPr/>
        </p:nvSpPr>
        <p:spPr>
          <a:xfrm rot="5400000">
            <a:off x="2986588" y="3887850"/>
            <a:ext cx="722100" cy="174900"/>
          </a:xfrm>
          <a:prstGeom prst="rect">
            <a:avLst/>
          </a:prstGeom>
          <a:solidFill>
            <a:srgbClr val="B6D7A8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6" name="Google Shape;1056;p47"/>
          <p:cNvSpPr/>
          <p:nvPr/>
        </p:nvSpPr>
        <p:spPr>
          <a:xfrm rot="5400000">
            <a:off x="3161488" y="3887850"/>
            <a:ext cx="722100" cy="174900"/>
          </a:xfrm>
          <a:prstGeom prst="rect">
            <a:avLst/>
          </a:prstGeom>
          <a:solidFill>
            <a:srgbClr val="B6D7A8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7" name="Google Shape;1057;p47"/>
          <p:cNvSpPr/>
          <p:nvPr/>
        </p:nvSpPr>
        <p:spPr>
          <a:xfrm rot="5400000">
            <a:off x="3336388" y="3887850"/>
            <a:ext cx="722100" cy="174900"/>
          </a:xfrm>
          <a:prstGeom prst="rect">
            <a:avLst/>
          </a:prstGeom>
          <a:solidFill>
            <a:srgbClr val="B6D7A8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8" name="Google Shape;1058;p47"/>
          <p:cNvSpPr/>
          <p:nvPr/>
        </p:nvSpPr>
        <p:spPr>
          <a:xfrm rot="5400000">
            <a:off x="3511288" y="3887850"/>
            <a:ext cx="722100" cy="174900"/>
          </a:xfrm>
          <a:prstGeom prst="rect">
            <a:avLst/>
          </a:prstGeom>
          <a:solidFill>
            <a:srgbClr val="B6D7A8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9" name="Google Shape;1059;p47"/>
          <p:cNvSpPr/>
          <p:nvPr/>
        </p:nvSpPr>
        <p:spPr>
          <a:xfrm rot="5400000">
            <a:off x="3686188" y="3887850"/>
            <a:ext cx="722100" cy="1749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0" name="Google Shape;1060;p47"/>
          <p:cNvSpPr/>
          <p:nvPr/>
        </p:nvSpPr>
        <p:spPr>
          <a:xfrm rot="5400000">
            <a:off x="3861088" y="3887850"/>
            <a:ext cx="722100" cy="1749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20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1" name="Google Shape;1061;p47"/>
          <p:cNvSpPr/>
          <p:nvPr/>
        </p:nvSpPr>
        <p:spPr>
          <a:xfrm rot="5400000">
            <a:off x="4035988" y="3887850"/>
            <a:ext cx="722100" cy="1749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21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2" name="Google Shape;1062;p47"/>
          <p:cNvSpPr/>
          <p:nvPr/>
        </p:nvSpPr>
        <p:spPr>
          <a:xfrm rot="5400000">
            <a:off x="4210888" y="3887850"/>
            <a:ext cx="722100" cy="1749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22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3" name="Google Shape;1063;p47"/>
          <p:cNvSpPr/>
          <p:nvPr/>
        </p:nvSpPr>
        <p:spPr>
          <a:xfrm rot="5400000">
            <a:off x="4385788" y="3887850"/>
            <a:ext cx="722100" cy="1749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23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4" name="Google Shape;1064;p47"/>
          <p:cNvSpPr/>
          <p:nvPr/>
        </p:nvSpPr>
        <p:spPr>
          <a:xfrm rot="5400000">
            <a:off x="4560688" y="3887850"/>
            <a:ext cx="722100" cy="1749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24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5" name="Google Shape;1065;p47"/>
          <p:cNvSpPr/>
          <p:nvPr/>
        </p:nvSpPr>
        <p:spPr>
          <a:xfrm rot="5400000">
            <a:off x="4735588" y="3887850"/>
            <a:ext cx="722100" cy="1749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25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6" name="Google Shape;1066;p47"/>
          <p:cNvSpPr/>
          <p:nvPr/>
        </p:nvSpPr>
        <p:spPr>
          <a:xfrm rot="5400000">
            <a:off x="4910488" y="3887850"/>
            <a:ext cx="722100" cy="1749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26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7" name="Google Shape;1067;p47"/>
          <p:cNvSpPr/>
          <p:nvPr/>
        </p:nvSpPr>
        <p:spPr>
          <a:xfrm rot="5400000">
            <a:off x="5085388" y="3887850"/>
            <a:ext cx="722100" cy="174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27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8" name="Google Shape;1068;p47"/>
          <p:cNvSpPr/>
          <p:nvPr/>
        </p:nvSpPr>
        <p:spPr>
          <a:xfrm rot="5400000">
            <a:off x="5260288" y="3887850"/>
            <a:ext cx="722100" cy="174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28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9" name="Google Shape;1069;p47"/>
          <p:cNvSpPr/>
          <p:nvPr/>
        </p:nvSpPr>
        <p:spPr>
          <a:xfrm rot="5400000">
            <a:off x="5435188" y="3887850"/>
            <a:ext cx="722100" cy="174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29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0" name="Google Shape;1070;p47"/>
          <p:cNvSpPr/>
          <p:nvPr/>
        </p:nvSpPr>
        <p:spPr>
          <a:xfrm rot="5400000">
            <a:off x="5610088" y="3887850"/>
            <a:ext cx="722100" cy="174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30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1" name="Google Shape;1071;p47"/>
          <p:cNvSpPr/>
          <p:nvPr/>
        </p:nvSpPr>
        <p:spPr>
          <a:xfrm rot="5400000">
            <a:off x="5784988" y="3887850"/>
            <a:ext cx="7221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31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2" name="Google Shape;1072;p47"/>
          <p:cNvSpPr/>
          <p:nvPr/>
        </p:nvSpPr>
        <p:spPr>
          <a:xfrm rot="5400000">
            <a:off x="5959888" y="3887850"/>
            <a:ext cx="7221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32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3" name="Google Shape;1073;p47"/>
          <p:cNvSpPr/>
          <p:nvPr/>
        </p:nvSpPr>
        <p:spPr>
          <a:xfrm rot="5400000">
            <a:off x="6134788" y="3887850"/>
            <a:ext cx="7221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33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4" name="Google Shape;1074;p47"/>
          <p:cNvSpPr/>
          <p:nvPr/>
        </p:nvSpPr>
        <p:spPr>
          <a:xfrm rot="5400000">
            <a:off x="6309688" y="3887850"/>
            <a:ext cx="7221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34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5" name="Google Shape;1075;p47"/>
          <p:cNvSpPr/>
          <p:nvPr/>
        </p:nvSpPr>
        <p:spPr>
          <a:xfrm rot="5400000">
            <a:off x="6484588" y="3887850"/>
            <a:ext cx="7221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35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6" name="Google Shape;1076;p47"/>
          <p:cNvSpPr/>
          <p:nvPr/>
        </p:nvSpPr>
        <p:spPr>
          <a:xfrm rot="5400000">
            <a:off x="6659488" y="3887850"/>
            <a:ext cx="7221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36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7" name="Google Shape;1077;p47"/>
          <p:cNvSpPr/>
          <p:nvPr/>
        </p:nvSpPr>
        <p:spPr>
          <a:xfrm rot="5400000">
            <a:off x="6834388" y="3887850"/>
            <a:ext cx="7221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37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8" name="Google Shape;1078;p47"/>
          <p:cNvSpPr/>
          <p:nvPr/>
        </p:nvSpPr>
        <p:spPr>
          <a:xfrm rot="5400000">
            <a:off x="7009288" y="3887850"/>
            <a:ext cx="7221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38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79" name="Google Shape;1079;p47"/>
          <p:cNvSpPr/>
          <p:nvPr/>
        </p:nvSpPr>
        <p:spPr>
          <a:xfrm rot="5400000">
            <a:off x="7184188" y="3887850"/>
            <a:ext cx="7221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39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80" name="Google Shape;1080;p47"/>
          <p:cNvSpPr/>
          <p:nvPr/>
        </p:nvSpPr>
        <p:spPr>
          <a:xfrm rot="5400000">
            <a:off x="7359088" y="3887850"/>
            <a:ext cx="7221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40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81" name="Google Shape;1081;p47"/>
          <p:cNvSpPr/>
          <p:nvPr/>
        </p:nvSpPr>
        <p:spPr>
          <a:xfrm rot="5400000">
            <a:off x="7708888" y="3887850"/>
            <a:ext cx="7221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82" name="Google Shape;1082;p47"/>
          <p:cNvSpPr/>
          <p:nvPr/>
        </p:nvSpPr>
        <p:spPr>
          <a:xfrm rot="5400000">
            <a:off x="7883788" y="3887850"/>
            <a:ext cx="7221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83" name="Google Shape;1083;p47"/>
          <p:cNvSpPr/>
          <p:nvPr/>
        </p:nvSpPr>
        <p:spPr>
          <a:xfrm rot="5400000">
            <a:off x="537988" y="3887850"/>
            <a:ext cx="7221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84" name="Google Shape;1084;p47"/>
          <p:cNvSpPr/>
          <p:nvPr/>
        </p:nvSpPr>
        <p:spPr>
          <a:xfrm rot="5400000">
            <a:off x="712888" y="3887850"/>
            <a:ext cx="7221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85" name="Google Shape;1085;p47"/>
          <p:cNvSpPr/>
          <p:nvPr/>
        </p:nvSpPr>
        <p:spPr>
          <a:xfrm rot="5400000">
            <a:off x="4648138" y="2927550"/>
            <a:ext cx="722100" cy="20955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086" name="Google Shape;1086;p47"/>
          <p:cNvGrpSpPr/>
          <p:nvPr/>
        </p:nvGrpSpPr>
        <p:grpSpPr>
          <a:xfrm>
            <a:off x="811586" y="4486300"/>
            <a:ext cx="3148123" cy="261300"/>
            <a:chOff x="811586" y="4486300"/>
            <a:chExt cx="3148123" cy="261300"/>
          </a:xfrm>
        </p:grpSpPr>
        <p:cxnSp>
          <p:nvCxnSpPr>
            <p:cNvPr id="1087" name="Google Shape;1087;p47"/>
            <p:cNvCxnSpPr/>
            <p:nvPr/>
          </p:nvCxnSpPr>
          <p:spPr>
            <a:xfrm>
              <a:off x="811586" y="4616950"/>
              <a:ext cx="3148123" cy="0"/>
            </a:xfrm>
            <a:prstGeom prst="straightConnector1">
              <a:avLst/>
            </a:prstGeom>
            <a:noFill/>
            <a:ln w="9525" cap="flat" cmpd="sng">
              <a:solidFill>
                <a:srgbClr val="6AA84F"/>
              </a:solidFill>
              <a:prstDash val="solid"/>
              <a:round/>
              <a:headEnd type="triangle" w="med" len="med"/>
              <a:tailEnd type="triangle" w="med" len="med"/>
            </a:ln>
          </p:spPr>
        </p:cxnSp>
        <p:sp>
          <p:nvSpPr>
            <p:cNvPr id="1088" name="Google Shape;1088;p47"/>
            <p:cNvSpPr txBox="1"/>
            <p:nvPr/>
          </p:nvSpPr>
          <p:spPr>
            <a:xfrm>
              <a:off x="1636750" y="4486300"/>
              <a:ext cx="1323000" cy="2613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6AA84F"/>
                  </a:solidFill>
                  <a:latin typeface="Roboto"/>
                  <a:ea typeface="Roboto"/>
                  <a:cs typeface="Roboto"/>
                  <a:sym typeface="Roboto"/>
                </a:rPr>
                <a:t>Sent and acked</a:t>
              </a:r>
              <a:endParaRPr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1089" name="Google Shape;1089;p47"/>
          <p:cNvSpPr/>
          <p:nvPr/>
        </p:nvSpPr>
        <p:spPr>
          <a:xfrm rot="5400000">
            <a:off x="1062688" y="3887850"/>
            <a:ext cx="7221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0" name="Google Shape;1090;p47"/>
          <p:cNvSpPr/>
          <p:nvPr/>
        </p:nvSpPr>
        <p:spPr>
          <a:xfrm rot="5400000">
            <a:off x="1237588" y="3887850"/>
            <a:ext cx="7221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1" name="Google Shape;1091;p47"/>
          <p:cNvSpPr/>
          <p:nvPr/>
        </p:nvSpPr>
        <p:spPr>
          <a:xfrm rot="5400000">
            <a:off x="1412488" y="3887850"/>
            <a:ext cx="7221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2" name="Google Shape;1092;p47"/>
          <p:cNvSpPr/>
          <p:nvPr/>
        </p:nvSpPr>
        <p:spPr>
          <a:xfrm rot="5400000">
            <a:off x="1587388" y="3887850"/>
            <a:ext cx="7221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093" name="Google Shape;1093;p47"/>
          <p:cNvGrpSpPr/>
          <p:nvPr/>
        </p:nvGrpSpPr>
        <p:grpSpPr>
          <a:xfrm>
            <a:off x="6058568" y="4486300"/>
            <a:ext cx="2274030" cy="261300"/>
            <a:chOff x="6058568" y="4486300"/>
            <a:chExt cx="2274030" cy="261300"/>
          </a:xfrm>
        </p:grpSpPr>
        <p:cxnSp>
          <p:nvCxnSpPr>
            <p:cNvPr id="1094" name="Google Shape;1094;p47"/>
            <p:cNvCxnSpPr/>
            <p:nvPr/>
          </p:nvCxnSpPr>
          <p:spPr>
            <a:xfrm>
              <a:off x="6058568" y="4616950"/>
              <a:ext cx="2274030" cy="0"/>
            </a:xfrm>
            <a:prstGeom prst="straightConnector1">
              <a:avLst/>
            </a:prstGeom>
            <a:noFill/>
            <a:ln w="9525" cap="flat" cmpd="sng">
              <a:solidFill>
                <a:srgbClr val="999999"/>
              </a:solidFill>
              <a:prstDash val="solid"/>
              <a:round/>
              <a:headEnd type="triangle" w="med" len="med"/>
              <a:tailEnd type="triangle" w="med" len="med"/>
            </a:ln>
          </p:spPr>
        </p:cxnSp>
        <p:sp>
          <p:nvSpPr>
            <p:cNvPr id="1095" name="Google Shape;1095;p47"/>
            <p:cNvSpPr txBox="1"/>
            <p:nvPr/>
          </p:nvSpPr>
          <p:spPr>
            <a:xfrm>
              <a:off x="6687397" y="4486300"/>
              <a:ext cx="1016100" cy="2613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999999"/>
                  </a:solidFill>
                  <a:latin typeface="Roboto"/>
                  <a:ea typeface="Roboto"/>
                  <a:cs typeface="Roboto"/>
                  <a:sym typeface="Roboto"/>
                </a:rPr>
                <a:t>Not sent yet</a:t>
              </a:r>
              <a:endParaRPr>
                <a:solidFill>
                  <a:srgbClr val="999999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096" name="Google Shape;1096;p47"/>
          <p:cNvGrpSpPr/>
          <p:nvPr/>
        </p:nvGrpSpPr>
        <p:grpSpPr>
          <a:xfrm>
            <a:off x="3961443" y="4370050"/>
            <a:ext cx="2095500" cy="493800"/>
            <a:chOff x="3261268" y="4292900"/>
            <a:chExt cx="2095500" cy="493800"/>
          </a:xfrm>
        </p:grpSpPr>
        <p:cxnSp>
          <p:nvCxnSpPr>
            <p:cNvPr id="1097" name="Google Shape;1097;p47"/>
            <p:cNvCxnSpPr/>
            <p:nvPr/>
          </p:nvCxnSpPr>
          <p:spPr>
            <a:xfrm>
              <a:off x="3261268" y="4539800"/>
              <a:ext cx="2095500" cy="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triangle" w="med" len="med"/>
              <a:tailEnd type="triangle" w="med" len="med"/>
            </a:ln>
          </p:spPr>
        </p:cxnSp>
        <p:sp>
          <p:nvSpPr>
            <p:cNvPr id="1098" name="Google Shape;1098;p47"/>
            <p:cNvSpPr txBox="1"/>
            <p:nvPr/>
          </p:nvSpPr>
          <p:spPr>
            <a:xfrm>
              <a:off x="3940850" y="4292900"/>
              <a:ext cx="736500" cy="493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Window</a:t>
              </a:r>
              <a:endParaRPr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i="1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W</a:t>
              </a:r>
              <a:r>
                <a:rPr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 bytes</a:t>
              </a:r>
              <a:endParaRPr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cxnSp>
        <p:nvCxnSpPr>
          <p:cNvPr id="1099" name="Google Shape;1099;p47"/>
          <p:cNvCxnSpPr>
            <a:stCxn id="1059" idx="1"/>
            <a:endCxn id="1100" idx="2"/>
          </p:cNvCxnSpPr>
          <p:nvPr/>
        </p:nvCxnSpPr>
        <p:spPr>
          <a:xfrm rot="10800000">
            <a:off x="4047238" y="3393150"/>
            <a:ext cx="0" cy="22110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1100" name="Google Shape;1100;p47"/>
          <p:cNvSpPr txBox="1"/>
          <p:nvPr/>
        </p:nvSpPr>
        <p:spPr>
          <a:xfrm>
            <a:off x="3294700" y="3131722"/>
            <a:ext cx="1505100" cy="26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First unacked byte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74B7006-818D-AE49-E550-A1D361D85BD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23</a:t>
            </a:fld>
            <a:endParaRPr lang="en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" name="Google Shape;1105;p48"/>
          <p:cNvSpPr/>
          <p:nvPr/>
        </p:nvSpPr>
        <p:spPr>
          <a:xfrm rot="5400000">
            <a:off x="7533988" y="3887850"/>
            <a:ext cx="7221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06" name="Google Shape;1106;p48"/>
          <p:cNvSpPr/>
          <p:nvPr/>
        </p:nvSpPr>
        <p:spPr>
          <a:xfrm rot="5400000">
            <a:off x="887788" y="3887850"/>
            <a:ext cx="7221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07" name="Google Shape;1107;p48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TCP Sliding Window</a:t>
            </a:r>
            <a:endParaRPr/>
          </a:p>
        </p:txBody>
      </p:sp>
      <p:sp>
        <p:nvSpPr>
          <p:cNvPr id="1108" name="Google Shape;1108;p4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67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When we measured in packets, </a:t>
            </a:r>
            <a:r>
              <a:rPr lang="en" i="1"/>
              <a:t>W</a:t>
            </a:r>
            <a:r>
              <a:rPr lang="en"/>
              <a:t> was the maximum number of packets in flight.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When we measure in bytes, </a:t>
            </a:r>
            <a:r>
              <a:rPr lang="en" i="1"/>
              <a:t>W</a:t>
            </a:r>
            <a:r>
              <a:rPr lang="en"/>
              <a:t> is the maximum number of </a:t>
            </a:r>
            <a:r>
              <a:rPr lang="en" i="1"/>
              <a:t>contiguous</a:t>
            </a:r>
            <a:r>
              <a:rPr lang="en"/>
              <a:t> bytes in flight.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window is a range of </a:t>
            </a:r>
            <a:r>
              <a:rPr lang="en" i="1"/>
              <a:t>W</a:t>
            </a:r>
            <a:r>
              <a:rPr lang="en"/>
              <a:t> contiguous bytes, starting at the first unacked byte.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Only these </a:t>
            </a:r>
            <a:r>
              <a:rPr lang="en" i="1"/>
              <a:t>W</a:t>
            </a:r>
            <a:r>
              <a:rPr lang="en"/>
              <a:t> bytes are allowed to be in flight.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window slides right if and only if its </a:t>
            </a:r>
            <a:r>
              <a:rPr lang="en" i="1"/>
              <a:t>leftmost</a:t>
            </a:r>
            <a:r>
              <a:rPr lang="en"/>
              <a:t> bytes are acked.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Acking non-leftmost bytes in the window (e.g. 19–22) does not slide the window.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window is determined by the first unacked byte (e.g. still 15).</a:t>
            </a:r>
            <a:endParaRPr baseline="30000"/>
          </a:p>
        </p:txBody>
      </p:sp>
      <p:sp>
        <p:nvSpPr>
          <p:cNvPr id="1109" name="Google Shape;1109;p48"/>
          <p:cNvSpPr/>
          <p:nvPr/>
        </p:nvSpPr>
        <p:spPr>
          <a:xfrm rot="5400000">
            <a:off x="1762288" y="3887850"/>
            <a:ext cx="7221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10" name="Google Shape;1110;p48"/>
          <p:cNvSpPr/>
          <p:nvPr/>
        </p:nvSpPr>
        <p:spPr>
          <a:xfrm rot="5400000">
            <a:off x="1937188" y="3887850"/>
            <a:ext cx="7221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11" name="Google Shape;1111;p48"/>
          <p:cNvSpPr/>
          <p:nvPr/>
        </p:nvSpPr>
        <p:spPr>
          <a:xfrm rot="5400000">
            <a:off x="2112088" y="3887850"/>
            <a:ext cx="7221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12" name="Google Shape;1112;p48"/>
          <p:cNvSpPr/>
          <p:nvPr/>
        </p:nvSpPr>
        <p:spPr>
          <a:xfrm rot="5400000">
            <a:off x="2286988" y="3887850"/>
            <a:ext cx="7221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13" name="Google Shape;1113;p48"/>
          <p:cNvSpPr/>
          <p:nvPr/>
        </p:nvSpPr>
        <p:spPr>
          <a:xfrm rot="5400000">
            <a:off x="2461888" y="3887850"/>
            <a:ext cx="7221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14" name="Google Shape;1114;p48"/>
          <p:cNvSpPr/>
          <p:nvPr/>
        </p:nvSpPr>
        <p:spPr>
          <a:xfrm rot="5400000">
            <a:off x="2636788" y="3887850"/>
            <a:ext cx="7221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15" name="Google Shape;1115;p48"/>
          <p:cNvSpPr/>
          <p:nvPr/>
        </p:nvSpPr>
        <p:spPr>
          <a:xfrm rot="5400000">
            <a:off x="2811688" y="3887850"/>
            <a:ext cx="7221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16" name="Google Shape;1116;p48"/>
          <p:cNvSpPr/>
          <p:nvPr/>
        </p:nvSpPr>
        <p:spPr>
          <a:xfrm rot="5400000">
            <a:off x="2986588" y="3887850"/>
            <a:ext cx="722100" cy="1749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17" name="Google Shape;1117;p48"/>
          <p:cNvSpPr/>
          <p:nvPr/>
        </p:nvSpPr>
        <p:spPr>
          <a:xfrm rot="5400000">
            <a:off x="3161488" y="3887850"/>
            <a:ext cx="722100" cy="1749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18" name="Google Shape;1118;p48"/>
          <p:cNvSpPr/>
          <p:nvPr/>
        </p:nvSpPr>
        <p:spPr>
          <a:xfrm rot="5400000">
            <a:off x="3336388" y="3887850"/>
            <a:ext cx="722100" cy="1749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19" name="Google Shape;1119;p48"/>
          <p:cNvSpPr/>
          <p:nvPr/>
        </p:nvSpPr>
        <p:spPr>
          <a:xfrm rot="5400000">
            <a:off x="3511288" y="3887850"/>
            <a:ext cx="722100" cy="1749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0" name="Google Shape;1120;p48"/>
          <p:cNvSpPr/>
          <p:nvPr/>
        </p:nvSpPr>
        <p:spPr>
          <a:xfrm rot="5400000">
            <a:off x="3686188" y="3887850"/>
            <a:ext cx="722100" cy="174900"/>
          </a:xfrm>
          <a:prstGeom prst="rect">
            <a:avLst/>
          </a:prstGeom>
          <a:solidFill>
            <a:srgbClr val="B6D7A8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1" name="Google Shape;1121;p48"/>
          <p:cNvSpPr/>
          <p:nvPr/>
        </p:nvSpPr>
        <p:spPr>
          <a:xfrm rot="5400000">
            <a:off x="3861088" y="3887850"/>
            <a:ext cx="722100" cy="174900"/>
          </a:xfrm>
          <a:prstGeom prst="rect">
            <a:avLst/>
          </a:prstGeom>
          <a:solidFill>
            <a:srgbClr val="B6D7A8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20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2" name="Google Shape;1122;p48"/>
          <p:cNvSpPr/>
          <p:nvPr/>
        </p:nvSpPr>
        <p:spPr>
          <a:xfrm rot="5400000">
            <a:off x="4035988" y="3887850"/>
            <a:ext cx="722100" cy="174900"/>
          </a:xfrm>
          <a:prstGeom prst="rect">
            <a:avLst/>
          </a:prstGeom>
          <a:solidFill>
            <a:srgbClr val="B6D7A8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21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3" name="Google Shape;1123;p48"/>
          <p:cNvSpPr/>
          <p:nvPr/>
        </p:nvSpPr>
        <p:spPr>
          <a:xfrm rot="5400000">
            <a:off x="4210888" y="3887850"/>
            <a:ext cx="722100" cy="174900"/>
          </a:xfrm>
          <a:prstGeom prst="rect">
            <a:avLst/>
          </a:prstGeom>
          <a:solidFill>
            <a:srgbClr val="B6D7A8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22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4" name="Google Shape;1124;p48"/>
          <p:cNvSpPr/>
          <p:nvPr/>
        </p:nvSpPr>
        <p:spPr>
          <a:xfrm rot="5400000">
            <a:off x="4385788" y="3887850"/>
            <a:ext cx="722100" cy="1749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23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5" name="Google Shape;1125;p48"/>
          <p:cNvSpPr/>
          <p:nvPr/>
        </p:nvSpPr>
        <p:spPr>
          <a:xfrm rot="5400000">
            <a:off x="4560688" y="3887850"/>
            <a:ext cx="722100" cy="1749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24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6" name="Google Shape;1126;p48"/>
          <p:cNvSpPr/>
          <p:nvPr/>
        </p:nvSpPr>
        <p:spPr>
          <a:xfrm rot="5400000">
            <a:off x="4735588" y="3887850"/>
            <a:ext cx="722100" cy="1749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25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7" name="Google Shape;1127;p48"/>
          <p:cNvSpPr/>
          <p:nvPr/>
        </p:nvSpPr>
        <p:spPr>
          <a:xfrm rot="5400000">
            <a:off x="4910488" y="3887850"/>
            <a:ext cx="722100" cy="1749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26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8" name="Google Shape;1128;p48"/>
          <p:cNvSpPr/>
          <p:nvPr/>
        </p:nvSpPr>
        <p:spPr>
          <a:xfrm rot="5400000">
            <a:off x="5085388" y="3887850"/>
            <a:ext cx="7221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27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9" name="Google Shape;1129;p48"/>
          <p:cNvSpPr/>
          <p:nvPr/>
        </p:nvSpPr>
        <p:spPr>
          <a:xfrm rot="5400000">
            <a:off x="5260288" y="3887850"/>
            <a:ext cx="7221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28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0" name="Google Shape;1130;p48"/>
          <p:cNvSpPr/>
          <p:nvPr/>
        </p:nvSpPr>
        <p:spPr>
          <a:xfrm rot="5400000">
            <a:off x="5435188" y="3887850"/>
            <a:ext cx="7221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29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1" name="Google Shape;1131;p48"/>
          <p:cNvSpPr/>
          <p:nvPr/>
        </p:nvSpPr>
        <p:spPr>
          <a:xfrm rot="5400000">
            <a:off x="5610088" y="3887850"/>
            <a:ext cx="7221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30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2" name="Google Shape;1132;p48"/>
          <p:cNvSpPr/>
          <p:nvPr/>
        </p:nvSpPr>
        <p:spPr>
          <a:xfrm rot="5400000">
            <a:off x="5784988" y="3887850"/>
            <a:ext cx="7221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31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3" name="Google Shape;1133;p48"/>
          <p:cNvSpPr/>
          <p:nvPr/>
        </p:nvSpPr>
        <p:spPr>
          <a:xfrm rot="5400000">
            <a:off x="5959888" y="3887850"/>
            <a:ext cx="7221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32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4" name="Google Shape;1134;p48"/>
          <p:cNvSpPr/>
          <p:nvPr/>
        </p:nvSpPr>
        <p:spPr>
          <a:xfrm rot="5400000">
            <a:off x="6134788" y="3887850"/>
            <a:ext cx="7221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33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5" name="Google Shape;1135;p48"/>
          <p:cNvSpPr/>
          <p:nvPr/>
        </p:nvSpPr>
        <p:spPr>
          <a:xfrm rot="5400000">
            <a:off x="6309688" y="3887850"/>
            <a:ext cx="7221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34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6" name="Google Shape;1136;p48"/>
          <p:cNvSpPr/>
          <p:nvPr/>
        </p:nvSpPr>
        <p:spPr>
          <a:xfrm rot="5400000">
            <a:off x="6484588" y="3887850"/>
            <a:ext cx="7221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35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7" name="Google Shape;1137;p48"/>
          <p:cNvSpPr/>
          <p:nvPr/>
        </p:nvSpPr>
        <p:spPr>
          <a:xfrm rot="5400000">
            <a:off x="6659488" y="3887850"/>
            <a:ext cx="7221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36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8" name="Google Shape;1138;p48"/>
          <p:cNvSpPr/>
          <p:nvPr/>
        </p:nvSpPr>
        <p:spPr>
          <a:xfrm rot="5400000">
            <a:off x="6834388" y="3887850"/>
            <a:ext cx="7221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37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9" name="Google Shape;1139;p48"/>
          <p:cNvSpPr/>
          <p:nvPr/>
        </p:nvSpPr>
        <p:spPr>
          <a:xfrm rot="5400000">
            <a:off x="7009288" y="3887850"/>
            <a:ext cx="7221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38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0" name="Google Shape;1140;p48"/>
          <p:cNvSpPr/>
          <p:nvPr/>
        </p:nvSpPr>
        <p:spPr>
          <a:xfrm rot="5400000">
            <a:off x="7184188" y="3887850"/>
            <a:ext cx="7221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39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1" name="Google Shape;1141;p48"/>
          <p:cNvSpPr/>
          <p:nvPr/>
        </p:nvSpPr>
        <p:spPr>
          <a:xfrm rot="5400000">
            <a:off x="7359088" y="3887850"/>
            <a:ext cx="7221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40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2" name="Google Shape;1142;p48"/>
          <p:cNvSpPr/>
          <p:nvPr/>
        </p:nvSpPr>
        <p:spPr>
          <a:xfrm rot="5400000">
            <a:off x="7708888" y="3887850"/>
            <a:ext cx="7221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3" name="Google Shape;1143;p48"/>
          <p:cNvSpPr/>
          <p:nvPr/>
        </p:nvSpPr>
        <p:spPr>
          <a:xfrm rot="5400000">
            <a:off x="7883788" y="3887850"/>
            <a:ext cx="7221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4" name="Google Shape;1144;p48"/>
          <p:cNvSpPr/>
          <p:nvPr/>
        </p:nvSpPr>
        <p:spPr>
          <a:xfrm rot="5400000">
            <a:off x="537988" y="3887850"/>
            <a:ext cx="7221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5" name="Google Shape;1145;p48"/>
          <p:cNvSpPr/>
          <p:nvPr/>
        </p:nvSpPr>
        <p:spPr>
          <a:xfrm rot="5400000">
            <a:off x="712888" y="3887850"/>
            <a:ext cx="7221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46" name="Google Shape;1146;p48"/>
          <p:cNvSpPr/>
          <p:nvPr/>
        </p:nvSpPr>
        <p:spPr>
          <a:xfrm rot="5400000">
            <a:off x="3948538" y="2927550"/>
            <a:ext cx="722100" cy="20955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147" name="Google Shape;1147;p48"/>
          <p:cNvGrpSpPr/>
          <p:nvPr/>
        </p:nvGrpSpPr>
        <p:grpSpPr>
          <a:xfrm>
            <a:off x="811588" y="4486300"/>
            <a:ext cx="2393100" cy="261300"/>
            <a:chOff x="451750" y="1912600"/>
            <a:chExt cx="2393100" cy="261300"/>
          </a:xfrm>
        </p:grpSpPr>
        <p:cxnSp>
          <p:nvCxnSpPr>
            <p:cNvPr id="1148" name="Google Shape;1148;p48"/>
            <p:cNvCxnSpPr/>
            <p:nvPr/>
          </p:nvCxnSpPr>
          <p:spPr>
            <a:xfrm>
              <a:off x="451750" y="2043250"/>
              <a:ext cx="2393100" cy="0"/>
            </a:xfrm>
            <a:prstGeom prst="straightConnector1">
              <a:avLst/>
            </a:prstGeom>
            <a:noFill/>
            <a:ln w="9525" cap="flat" cmpd="sng">
              <a:solidFill>
                <a:srgbClr val="6AA84F"/>
              </a:solidFill>
              <a:prstDash val="solid"/>
              <a:round/>
              <a:headEnd type="triangle" w="med" len="med"/>
              <a:tailEnd type="triangle" w="med" len="med"/>
            </a:ln>
          </p:spPr>
        </p:cxnSp>
        <p:sp>
          <p:nvSpPr>
            <p:cNvPr id="1149" name="Google Shape;1149;p48"/>
            <p:cNvSpPr txBox="1"/>
            <p:nvPr/>
          </p:nvSpPr>
          <p:spPr>
            <a:xfrm>
              <a:off x="1007800" y="1912600"/>
              <a:ext cx="1281000" cy="2613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6AA84F"/>
                  </a:solidFill>
                  <a:latin typeface="Roboto"/>
                  <a:ea typeface="Roboto"/>
                  <a:cs typeface="Roboto"/>
                  <a:sym typeface="Roboto"/>
                </a:rPr>
                <a:t>Sent and acked</a:t>
              </a:r>
              <a:endParaRPr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1150" name="Google Shape;1150;p48"/>
          <p:cNvSpPr/>
          <p:nvPr/>
        </p:nvSpPr>
        <p:spPr>
          <a:xfrm rot="5400000">
            <a:off x="1062688" y="3887850"/>
            <a:ext cx="7221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51" name="Google Shape;1151;p48"/>
          <p:cNvSpPr/>
          <p:nvPr/>
        </p:nvSpPr>
        <p:spPr>
          <a:xfrm rot="5400000">
            <a:off x="1237588" y="3887850"/>
            <a:ext cx="7221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52" name="Google Shape;1152;p48"/>
          <p:cNvSpPr/>
          <p:nvPr/>
        </p:nvSpPr>
        <p:spPr>
          <a:xfrm rot="5400000">
            <a:off x="1412488" y="3887850"/>
            <a:ext cx="7221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53" name="Google Shape;1153;p48"/>
          <p:cNvSpPr/>
          <p:nvPr/>
        </p:nvSpPr>
        <p:spPr>
          <a:xfrm rot="5400000">
            <a:off x="1587388" y="3887850"/>
            <a:ext cx="7221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154" name="Google Shape;1154;p48"/>
          <p:cNvGrpSpPr/>
          <p:nvPr/>
        </p:nvGrpSpPr>
        <p:grpSpPr>
          <a:xfrm>
            <a:off x="5413495" y="4486300"/>
            <a:ext cx="2919162" cy="261300"/>
            <a:chOff x="4996875" y="1912600"/>
            <a:chExt cx="2975700" cy="261300"/>
          </a:xfrm>
        </p:grpSpPr>
        <p:cxnSp>
          <p:nvCxnSpPr>
            <p:cNvPr id="1155" name="Google Shape;1155;p48"/>
            <p:cNvCxnSpPr/>
            <p:nvPr/>
          </p:nvCxnSpPr>
          <p:spPr>
            <a:xfrm>
              <a:off x="4996875" y="2043250"/>
              <a:ext cx="2975700" cy="0"/>
            </a:xfrm>
            <a:prstGeom prst="straightConnector1">
              <a:avLst/>
            </a:prstGeom>
            <a:noFill/>
            <a:ln w="9525" cap="flat" cmpd="sng">
              <a:solidFill>
                <a:srgbClr val="999999"/>
              </a:solidFill>
              <a:prstDash val="solid"/>
              <a:round/>
              <a:headEnd type="triangle" w="med" len="med"/>
              <a:tailEnd type="triangle" w="med" len="med"/>
            </a:ln>
          </p:spPr>
        </p:cxnSp>
        <p:sp>
          <p:nvSpPr>
            <p:cNvPr id="1156" name="Google Shape;1156;p48"/>
            <p:cNvSpPr txBox="1"/>
            <p:nvPr/>
          </p:nvSpPr>
          <p:spPr>
            <a:xfrm>
              <a:off x="5955972" y="1912600"/>
              <a:ext cx="1057500" cy="2613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999999"/>
                  </a:solidFill>
                  <a:latin typeface="Roboto"/>
                  <a:ea typeface="Roboto"/>
                  <a:cs typeface="Roboto"/>
                  <a:sym typeface="Roboto"/>
                </a:rPr>
                <a:t>Not sent yet</a:t>
              </a:r>
              <a:endParaRPr>
                <a:solidFill>
                  <a:srgbClr val="999999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157" name="Google Shape;1157;p48"/>
          <p:cNvGrpSpPr/>
          <p:nvPr/>
        </p:nvGrpSpPr>
        <p:grpSpPr>
          <a:xfrm>
            <a:off x="3261268" y="4369100"/>
            <a:ext cx="2095500" cy="493800"/>
            <a:chOff x="3261268" y="4292900"/>
            <a:chExt cx="2095500" cy="493800"/>
          </a:xfrm>
        </p:grpSpPr>
        <p:cxnSp>
          <p:nvCxnSpPr>
            <p:cNvPr id="1158" name="Google Shape;1158;p48"/>
            <p:cNvCxnSpPr/>
            <p:nvPr/>
          </p:nvCxnSpPr>
          <p:spPr>
            <a:xfrm>
              <a:off x="3261268" y="4539800"/>
              <a:ext cx="2095500" cy="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triangle" w="med" len="med"/>
              <a:tailEnd type="triangle" w="med" len="med"/>
            </a:ln>
          </p:spPr>
        </p:cxnSp>
        <p:sp>
          <p:nvSpPr>
            <p:cNvPr id="1159" name="Google Shape;1159;p48"/>
            <p:cNvSpPr txBox="1"/>
            <p:nvPr/>
          </p:nvSpPr>
          <p:spPr>
            <a:xfrm>
              <a:off x="3940850" y="4292900"/>
              <a:ext cx="736500" cy="493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Window</a:t>
              </a:r>
              <a:endParaRPr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i="1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W</a:t>
              </a:r>
              <a:r>
                <a:rPr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 bytes</a:t>
              </a:r>
              <a:endParaRPr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cxnSp>
        <p:nvCxnSpPr>
          <p:cNvPr id="1160" name="Google Shape;1160;p48"/>
          <p:cNvCxnSpPr>
            <a:stCxn id="1116" idx="1"/>
            <a:endCxn id="1161" idx="2"/>
          </p:cNvCxnSpPr>
          <p:nvPr/>
        </p:nvCxnSpPr>
        <p:spPr>
          <a:xfrm rot="10800000">
            <a:off x="3347638" y="3393150"/>
            <a:ext cx="0" cy="22110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1161" name="Google Shape;1161;p48"/>
          <p:cNvSpPr txBox="1"/>
          <p:nvPr/>
        </p:nvSpPr>
        <p:spPr>
          <a:xfrm>
            <a:off x="2595100" y="3131722"/>
            <a:ext cx="1505100" cy="26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First unacked byte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A0C6CDE-DEFC-0BC8-ECBB-03AA9BE3262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24</a:t>
            </a:fld>
            <a:endParaRPr lang="en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6" name="Google Shape;1166;p4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TCP Sliding Window</a:t>
            </a:r>
            <a:endParaRPr/>
          </a:p>
        </p:txBody>
      </p:sp>
      <p:sp>
        <p:nvSpPr>
          <p:cNvPr id="1167" name="Google Shape;1167;p4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67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TCP uses cumulative acks and a sliding window.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Cumulative ack: "I have received everything up to (not including) 15."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Thus, first unacked byte is 15, and the sliding window is [15, 15 + </a:t>
            </a:r>
            <a:r>
              <a:rPr lang="en" i="1" dirty="0"/>
              <a:t>W</a:t>
            </a:r>
            <a:r>
              <a:rPr lang="en" dirty="0"/>
              <a:t>).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 dirty="0"/>
              <a:t>W</a:t>
            </a:r>
            <a:r>
              <a:rPr lang="en" dirty="0"/>
              <a:t> is set as the minimum of two values: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Advertised window (recipient reports their remaining buffer space).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Congestion window (sender magically finds value to avoid network overload).</a:t>
            </a:r>
            <a:endParaRPr dirty="0"/>
          </a:p>
        </p:txBody>
      </p:sp>
      <p:sp>
        <p:nvSpPr>
          <p:cNvPr id="1168" name="Google Shape;1168;p49"/>
          <p:cNvSpPr/>
          <p:nvPr/>
        </p:nvSpPr>
        <p:spPr>
          <a:xfrm rot="5400000">
            <a:off x="7533988" y="3887850"/>
            <a:ext cx="7221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69" name="Google Shape;1169;p49"/>
          <p:cNvSpPr/>
          <p:nvPr/>
        </p:nvSpPr>
        <p:spPr>
          <a:xfrm rot="5400000">
            <a:off x="887788" y="3887850"/>
            <a:ext cx="7221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0" name="Google Shape;1170;p49"/>
          <p:cNvSpPr/>
          <p:nvPr/>
        </p:nvSpPr>
        <p:spPr>
          <a:xfrm rot="5400000">
            <a:off x="1762288" y="3887850"/>
            <a:ext cx="7221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1" name="Google Shape;1171;p49"/>
          <p:cNvSpPr/>
          <p:nvPr/>
        </p:nvSpPr>
        <p:spPr>
          <a:xfrm rot="5400000">
            <a:off x="1937188" y="3887850"/>
            <a:ext cx="7221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2" name="Google Shape;1172;p49"/>
          <p:cNvSpPr/>
          <p:nvPr/>
        </p:nvSpPr>
        <p:spPr>
          <a:xfrm rot="5400000">
            <a:off x="2112088" y="3887850"/>
            <a:ext cx="7221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3" name="Google Shape;1173;p49"/>
          <p:cNvSpPr/>
          <p:nvPr/>
        </p:nvSpPr>
        <p:spPr>
          <a:xfrm rot="5400000">
            <a:off x="2286988" y="3887850"/>
            <a:ext cx="7221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4" name="Google Shape;1174;p49"/>
          <p:cNvSpPr/>
          <p:nvPr/>
        </p:nvSpPr>
        <p:spPr>
          <a:xfrm rot="5400000">
            <a:off x="2461888" y="3887850"/>
            <a:ext cx="7221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5" name="Google Shape;1175;p49"/>
          <p:cNvSpPr/>
          <p:nvPr/>
        </p:nvSpPr>
        <p:spPr>
          <a:xfrm rot="5400000">
            <a:off x="2636788" y="3887850"/>
            <a:ext cx="7221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6" name="Google Shape;1176;p49"/>
          <p:cNvSpPr/>
          <p:nvPr/>
        </p:nvSpPr>
        <p:spPr>
          <a:xfrm rot="5400000">
            <a:off x="2811688" y="3887850"/>
            <a:ext cx="7221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7" name="Google Shape;1177;p49"/>
          <p:cNvSpPr/>
          <p:nvPr/>
        </p:nvSpPr>
        <p:spPr>
          <a:xfrm rot="5400000">
            <a:off x="2986588" y="3887850"/>
            <a:ext cx="722100" cy="1749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8" name="Google Shape;1178;p49"/>
          <p:cNvSpPr/>
          <p:nvPr/>
        </p:nvSpPr>
        <p:spPr>
          <a:xfrm rot="5400000">
            <a:off x="3161488" y="3887850"/>
            <a:ext cx="722100" cy="1749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9" name="Google Shape;1179;p49"/>
          <p:cNvSpPr/>
          <p:nvPr/>
        </p:nvSpPr>
        <p:spPr>
          <a:xfrm rot="5400000">
            <a:off x="3336388" y="3887850"/>
            <a:ext cx="722100" cy="1749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80" name="Google Shape;1180;p49"/>
          <p:cNvSpPr/>
          <p:nvPr/>
        </p:nvSpPr>
        <p:spPr>
          <a:xfrm rot="5400000">
            <a:off x="3511288" y="3887850"/>
            <a:ext cx="722100" cy="1749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81" name="Google Shape;1181;p49"/>
          <p:cNvSpPr/>
          <p:nvPr/>
        </p:nvSpPr>
        <p:spPr>
          <a:xfrm rot="5400000">
            <a:off x="3686188" y="3887850"/>
            <a:ext cx="722100" cy="1749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82" name="Google Shape;1182;p49"/>
          <p:cNvSpPr/>
          <p:nvPr/>
        </p:nvSpPr>
        <p:spPr>
          <a:xfrm rot="5400000">
            <a:off x="3861088" y="3887850"/>
            <a:ext cx="722100" cy="1749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20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83" name="Google Shape;1183;p49"/>
          <p:cNvSpPr/>
          <p:nvPr/>
        </p:nvSpPr>
        <p:spPr>
          <a:xfrm rot="5400000">
            <a:off x="4035988" y="3887850"/>
            <a:ext cx="722100" cy="1749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21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84" name="Google Shape;1184;p49"/>
          <p:cNvSpPr/>
          <p:nvPr/>
        </p:nvSpPr>
        <p:spPr>
          <a:xfrm rot="5400000">
            <a:off x="4210888" y="3887850"/>
            <a:ext cx="722100" cy="1749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22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85" name="Google Shape;1185;p49"/>
          <p:cNvSpPr/>
          <p:nvPr/>
        </p:nvSpPr>
        <p:spPr>
          <a:xfrm rot="5400000">
            <a:off x="4385788" y="3887850"/>
            <a:ext cx="722100" cy="1749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23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86" name="Google Shape;1186;p49"/>
          <p:cNvSpPr/>
          <p:nvPr/>
        </p:nvSpPr>
        <p:spPr>
          <a:xfrm rot="5400000">
            <a:off x="4560688" y="3887850"/>
            <a:ext cx="722100" cy="1749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24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87" name="Google Shape;1187;p49"/>
          <p:cNvSpPr/>
          <p:nvPr/>
        </p:nvSpPr>
        <p:spPr>
          <a:xfrm rot="5400000">
            <a:off x="4735588" y="3887850"/>
            <a:ext cx="722100" cy="1749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25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88" name="Google Shape;1188;p49"/>
          <p:cNvSpPr/>
          <p:nvPr/>
        </p:nvSpPr>
        <p:spPr>
          <a:xfrm rot="5400000">
            <a:off x="4910488" y="3887850"/>
            <a:ext cx="722100" cy="1749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26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89" name="Google Shape;1189;p49"/>
          <p:cNvSpPr/>
          <p:nvPr/>
        </p:nvSpPr>
        <p:spPr>
          <a:xfrm rot="5400000">
            <a:off x="5085388" y="3887850"/>
            <a:ext cx="7221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27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0" name="Google Shape;1190;p49"/>
          <p:cNvSpPr/>
          <p:nvPr/>
        </p:nvSpPr>
        <p:spPr>
          <a:xfrm rot="5400000">
            <a:off x="5260288" y="3887850"/>
            <a:ext cx="7221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28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1" name="Google Shape;1191;p49"/>
          <p:cNvSpPr/>
          <p:nvPr/>
        </p:nvSpPr>
        <p:spPr>
          <a:xfrm rot="5400000">
            <a:off x="5435188" y="3887850"/>
            <a:ext cx="7221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29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2" name="Google Shape;1192;p49"/>
          <p:cNvSpPr/>
          <p:nvPr/>
        </p:nvSpPr>
        <p:spPr>
          <a:xfrm rot="5400000">
            <a:off x="5610088" y="3887850"/>
            <a:ext cx="7221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30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3" name="Google Shape;1193;p49"/>
          <p:cNvSpPr/>
          <p:nvPr/>
        </p:nvSpPr>
        <p:spPr>
          <a:xfrm rot="5400000">
            <a:off x="5784988" y="3887850"/>
            <a:ext cx="7221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31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4" name="Google Shape;1194;p49"/>
          <p:cNvSpPr/>
          <p:nvPr/>
        </p:nvSpPr>
        <p:spPr>
          <a:xfrm rot="5400000">
            <a:off x="5959888" y="3887850"/>
            <a:ext cx="7221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32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5" name="Google Shape;1195;p49"/>
          <p:cNvSpPr/>
          <p:nvPr/>
        </p:nvSpPr>
        <p:spPr>
          <a:xfrm rot="5400000">
            <a:off x="6134788" y="3887850"/>
            <a:ext cx="7221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33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6" name="Google Shape;1196;p49"/>
          <p:cNvSpPr/>
          <p:nvPr/>
        </p:nvSpPr>
        <p:spPr>
          <a:xfrm rot="5400000">
            <a:off x="6309688" y="3887850"/>
            <a:ext cx="7221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34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7" name="Google Shape;1197;p49"/>
          <p:cNvSpPr/>
          <p:nvPr/>
        </p:nvSpPr>
        <p:spPr>
          <a:xfrm rot="5400000">
            <a:off x="6484588" y="3887850"/>
            <a:ext cx="7221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35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8" name="Google Shape;1198;p49"/>
          <p:cNvSpPr/>
          <p:nvPr/>
        </p:nvSpPr>
        <p:spPr>
          <a:xfrm rot="5400000">
            <a:off x="6659488" y="3887850"/>
            <a:ext cx="7221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36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9" name="Google Shape;1199;p49"/>
          <p:cNvSpPr/>
          <p:nvPr/>
        </p:nvSpPr>
        <p:spPr>
          <a:xfrm rot="5400000">
            <a:off x="6834388" y="3887850"/>
            <a:ext cx="7221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37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00" name="Google Shape;1200;p49"/>
          <p:cNvSpPr/>
          <p:nvPr/>
        </p:nvSpPr>
        <p:spPr>
          <a:xfrm rot="5400000">
            <a:off x="7009288" y="3887850"/>
            <a:ext cx="7221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38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01" name="Google Shape;1201;p49"/>
          <p:cNvSpPr/>
          <p:nvPr/>
        </p:nvSpPr>
        <p:spPr>
          <a:xfrm rot="5400000">
            <a:off x="7184188" y="3887850"/>
            <a:ext cx="7221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39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02" name="Google Shape;1202;p49"/>
          <p:cNvSpPr/>
          <p:nvPr/>
        </p:nvSpPr>
        <p:spPr>
          <a:xfrm rot="5400000">
            <a:off x="7359088" y="3887850"/>
            <a:ext cx="7221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40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03" name="Google Shape;1203;p49"/>
          <p:cNvSpPr/>
          <p:nvPr/>
        </p:nvSpPr>
        <p:spPr>
          <a:xfrm rot="5400000">
            <a:off x="7708888" y="3887850"/>
            <a:ext cx="7221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04" name="Google Shape;1204;p49"/>
          <p:cNvSpPr/>
          <p:nvPr/>
        </p:nvSpPr>
        <p:spPr>
          <a:xfrm rot="5400000">
            <a:off x="7883788" y="3887850"/>
            <a:ext cx="7221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05" name="Google Shape;1205;p49"/>
          <p:cNvSpPr/>
          <p:nvPr/>
        </p:nvSpPr>
        <p:spPr>
          <a:xfrm rot="5400000">
            <a:off x="537988" y="3887850"/>
            <a:ext cx="7221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06" name="Google Shape;1206;p49"/>
          <p:cNvSpPr/>
          <p:nvPr/>
        </p:nvSpPr>
        <p:spPr>
          <a:xfrm rot="5400000">
            <a:off x="712888" y="3887850"/>
            <a:ext cx="7221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07" name="Google Shape;1207;p49"/>
          <p:cNvSpPr/>
          <p:nvPr/>
        </p:nvSpPr>
        <p:spPr>
          <a:xfrm rot="5400000">
            <a:off x="3948538" y="2927550"/>
            <a:ext cx="722100" cy="20955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08" name="Google Shape;1208;p49"/>
          <p:cNvSpPr/>
          <p:nvPr/>
        </p:nvSpPr>
        <p:spPr>
          <a:xfrm rot="5400000">
            <a:off x="1062688" y="3887850"/>
            <a:ext cx="7221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09" name="Google Shape;1209;p49"/>
          <p:cNvSpPr/>
          <p:nvPr/>
        </p:nvSpPr>
        <p:spPr>
          <a:xfrm rot="5400000">
            <a:off x="1237588" y="3887850"/>
            <a:ext cx="7221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210" name="Google Shape;1210;p49"/>
          <p:cNvGrpSpPr/>
          <p:nvPr/>
        </p:nvGrpSpPr>
        <p:grpSpPr>
          <a:xfrm>
            <a:off x="811588" y="4486300"/>
            <a:ext cx="2393100" cy="261300"/>
            <a:chOff x="451750" y="1912600"/>
            <a:chExt cx="2393100" cy="261300"/>
          </a:xfrm>
        </p:grpSpPr>
        <p:cxnSp>
          <p:nvCxnSpPr>
            <p:cNvPr id="1211" name="Google Shape;1211;p49"/>
            <p:cNvCxnSpPr/>
            <p:nvPr/>
          </p:nvCxnSpPr>
          <p:spPr>
            <a:xfrm>
              <a:off x="451750" y="2043250"/>
              <a:ext cx="2393100" cy="0"/>
            </a:xfrm>
            <a:prstGeom prst="straightConnector1">
              <a:avLst/>
            </a:prstGeom>
            <a:noFill/>
            <a:ln w="9525" cap="flat" cmpd="sng">
              <a:solidFill>
                <a:srgbClr val="6AA84F"/>
              </a:solidFill>
              <a:prstDash val="solid"/>
              <a:round/>
              <a:headEnd type="triangle" w="med" len="med"/>
              <a:tailEnd type="triangle" w="med" len="med"/>
            </a:ln>
          </p:spPr>
        </p:cxnSp>
        <p:sp>
          <p:nvSpPr>
            <p:cNvPr id="1212" name="Google Shape;1212;p49"/>
            <p:cNvSpPr txBox="1"/>
            <p:nvPr/>
          </p:nvSpPr>
          <p:spPr>
            <a:xfrm>
              <a:off x="1007800" y="1912600"/>
              <a:ext cx="1281000" cy="2613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6AA84F"/>
                  </a:solidFill>
                  <a:latin typeface="Roboto"/>
                  <a:ea typeface="Roboto"/>
                  <a:cs typeface="Roboto"/>
                  <a:sym typeface="Roboto"/>
                </a:rPr>
                <a:t>Sent and acked</a:t>
              </a:r>
              <a:endParaRPr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1213" name="Google Shape;1213;p49"/>
          <p:cNvSpPr/>
          <p:nvPr/>
        </p:nvSpPr>
        <p:spPr>
          <a:xfrm rot="5400000">
            <a:off x="1412488" y="3887850"/>
            <a:ext cx="7221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14" name="Google Shape;1214;p49"/>
          <p:cNvSpPr/>
          <p:nvPr/>
        </p:nvSpPr>
        <p:spPr>
          <a:xfrm rot="5400000">
            <a:off x="1587388" y="3887850"/>
            <a:ext cx="7221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215" name="Google Shape;1215;p49"/>
          <p:cNvGrpSpPr/>
          <p:nvPr/>
        </p:nvGrpSpPr>
        <p:grpSpPr>
          <a:xfrm>
            <a:off x="5413495" y="4486300"/>
            <a:ext cx="2919162" cy="261300"/>
            <a:chOff x="4996875" y="1912600"/>
            <a:chExt cx="2975700" cy="261300"/>
          </a:xfrm>
        </p:grpSpPr>
        <p:cxnSp>
          <p:nvCxnSpPr>
            <p:cNvPr id="1216" name="Google Shape;1216;p49"/>
            <p:cNvCxnSpPr/>
            <p:nvPr/>
          </p:nvCxnSpPr>
          <p:spPr>
            <a:xfrm>
              <a:off x="4996875" y="2043250"/>
              <a:ext cx="2975700" cy="0"/>
            </a:xfrm>
            <a:prstGeom prst="straightConnector1">
              <a:avLst/>
            </a:prstGeom>
            <a:noFill/>
            <a:ln w="9525" cap="flat" cmpd="sng">
              <a:solidFill>
                <a:srgbClr val="999999"/>
              </a:solidFill>
              <a:prstDash val="solid"/>
              <a:round/>
              <a:headEnd type="triangle" w="med" len="med"/>
              <a:tailEnd type="triangle" w="med" len="med"/>
            </a:ln>
          </p:spPr>
        </p:cxnSp>
        <p:sp>
          <p:nvSpPr>
            <p:cNvPr id="1217" name="Google Shape;1217;p49"/>
            <p:cNvSpPr txBox="1"/>
            <p:nvPr/>
          </p:nvSpPr>
          <p:spPr>
            <a:xfrm>
              <a:off x="5955972" y="1912600"/>
              <a:ext cx="1057500" cy="2613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999999"/>
                  </a:solidFill>
                  <a:latin typeface="Roboto"/>
                  <a:ea typeface="Roboto"/>
                  <a:cs typeface="Roboto"/>
                  <a:sym typeface="Roboto"/>
                </a:rPr>
                <a:t>Not sent yet</a:t>
              </a:r>
              <a:endParaRPr>
                <a:solidFill>
                  <a:srgbClr val="999999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218" name="Google Shape;1218;p49"/>
          <p:cNvGrpSpPr/>
          <p:nvPr/>
        </p:nvGrpSpPr>
        <p:grpSpPr>
          <a:xfrm>
            <a:off x="3261268" y="4369100"/>
            <a:ext cx="2095500" cy="493800"/>
            <a:chOff x="3261268" y="4292900"/>
            <a:chExt cx="2095500" cy="493800"/>
          </a:xfrm>
        </p:grpSpPr>
        <p:cxnSp>
          <p:nvCxnSpPr>
            <p:cNvPr id="1219" name="Google Shape;1219;p49"/>
            <p:cNvCxnSpPr/>
            <p:nvPr/>
          </p:nvCxnSpPr>
          <p:spPr>
            <a:xfrm>
              <a:off x="3261268" y="4539800"/>
              <a:ext cx="2095500" cy="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triangle" w="med" len="med"/>
              <a:tailEnd type="triangle" w="med" len="med"/>
            </a:ln>
          </p:spPr>
        </p:cxnSp>
        <p:sp>
          <p:nvSpPr>
            <p:cNvPr id="1220" name="Google Shape;1220;p49"/>
            <p:cNvSpPr txBox="1"/>
            <p:nvPr/>
          </p:nvSpPr>
          <p:spPr>
            <a:xfrm>
              <a:off x="3940850" y="4292900"/>
              <a:ext cx="736500" cy="493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Window</a:t>
              </a:r>
              <a:endParaRPr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i="1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W</a:t>
              </a:r>
              <a:r>
                <a:rPr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 bytes</a:t>
              </a:r>
              <a:endParaRPr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cxnSp>
        <p:nvCxnSpPr>
          <p:cNvPr id="1221" name="Google Shape;1221;p49"/>
          <p:cNvCxnSpPr>
            <a:stCxn id="1177" idx="1"/>
            <a:endCxn id="1222" idx="2"/>
          </p:cNvCxnSpPr>
          <p:nvPr/>
        </p:nvCxnSpPr>
        <p:spPr>
          <a:xfrm rot="10800000">
            <a:off x="3347638" y="3393150"/>
            <a:ext cx="0" cy="22110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1222" name="Google Shape;1222;p49"/>
          <p:cNvSpPr txBox="1"/>
          <p:nvPr/>
        </p:nvSpPr>
        <p:spPr>
          <a:xfrm>
            <a:off x="2595100" y="3131722"/>
            <a:ext cx="1505100" cy="26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First unacked byte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768C023-A286-C038-9609-BB08A2A5FDB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25</a:t>
            </a:fld>
            <a:endParaRPr lang="en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7" name="Google Shape;1227;p50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Detecting Loss</a:t>
            </a:r>
            <a:endParaRPr/>
          </a:p>
        </p:txBody>
      </p:sp>
      <p:sp>
        <p:nvSpPr>
          <p:cNvPr id="1228" name="Google Shape;1228;p5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67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Two ways to detect loss and resend. We resend if either condition is true.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In both cases, we always resend the </a:t>
            </a:r>
            <a:r>
              <a:rPr lang="en" i="1"/>
              <a:t>first unacked packet</a:t>
            </a:r>
            <a:r>
              <a:rPr lang="en"/>
              <a:t> (leftmost part of window).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Ack-based: If 3 duplicate acks are received, resend.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Timer-based: Keep a single timer. If the timer expires, resend.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Different from packet-based TCP, where we kept one timer per packet.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Set timer by estimating RTT (e.g. measure times between packets and acks, and take a moving average).</a:t>
            </a:r>
            <a:endParaRPr/>
          </a:p>
        </p:txBody>
      </p:sp>
      <p:sp>
        <p:nvSpPr>
          <p:cNvPr id="1229" name="Google Shape;1229;p50"/>
          <p:cNvSpPr/>
          <p:nvPr/>
        </p:nvSpPr>
        <p:spPr>
          <a:xfrm rot="5400000">
            <a:off x="7533988" y="3887850"/>
            <a:ext cx="7221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30" name="Google Shape;1230;p50"/>
          <p:cNvSpPr/>
          <p:nvPr/>
        </p:nvSpPr>
        <p:spPr>
          <a:xfrm rot="5400000">
            <a:off x="887788" y="3887850"/>
            <a:ext cx="7221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31" name="Google Shape;1231;p50"/>
          <p:cNvSpPr/>
          <p:nvPr/>
        </p:nvSpPr>
        <p:spPr>
          <a:xfrm rot="5400000">
            <a:off x="1762288" y="3887850"/>
            <a:ext cx="7221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32" name="Google Shape;1232;p50"/>
          <p:cNvSpPr/>
          <p:nvPr/>
        </p:nvSpPr>
        <p:spPr>
          <a:xfrm rot="5400000">
            <a:off x="1937188" y="3887850"/>
            <a:ext cx="7221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33" name="Google Shape;1233;p50"/>
          <p:cNvSpPr/>
          <p:nvPr/>
        </p:nvSpPr>
        <p:spPr>
          <a:xfrm rot="5400000">
            <a:off x="2112088" y="3887850"/>
            <a:ext cx="7221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34" name="Google Shape;1234;p50"/>
          <p:cNvSpPr/>
          <p:nvPr/>
        </p:nvSpPr>
        <p:spPr>
          <a:xfrm rot="5400000">
            <a:off x="2286988" y="3887850"/>
            <a:ext cx="7221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35" name="Google Shape;1235;p50"/>
          <p:cNvSpPr/>
          <p:nvPr/>
        </p:nvSpPr>
        <p:spPr>
          <a:xfrm rot="5400000">
            <a:off x="2461888" y="3887850"/>
            <a:ext cx="7221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36" name="Google Shape;1236;p50"/>
          <p:cNvSpPr/>
          <p:nvPr/>
        </p:nvSpPr>
        <p:spPr>
          <a:xfrm rot="5400000">
            <a:off x="2636788" y="3887850"/>
            <a:ext cx="7221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37" name="Google Shape;1237;p50"/>
          <p:cNvSpPr/>
          <p:nvPr/>
        </p:nvSpPr>
        <p:spPr>
          <a:xfrm rot="5400000">
            <a:off x="2811688" y="3887850"/>
            <a:ext cx="7221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38" name="Google Shape;1238;p50"/>
          <p:cNvSpPr/>
          <p:nvPr/>
        </p:nvSpPr>
        <p:spPr>
          <a:xfrm rot="5400000">
            <a:off x="2986588" y="3887850"/>
            <a:ext cx="722100" cy="174900"/>
          </a:xfrm>
          <a:prstGeom prst="rect">
            <a:avLst/>
          </a:prstGeom>
          <a:solidFill>
            <a:srgbClr val="F4CCCC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39" name="Google Shape;1239;p50"/>
          <p:cNvSpPr/>
          <p:nvPr/>
        </p:nvSpPr>
        <p:spPr>
          <a:xfrm rot="5400000">
            <a:off x="3161488" y="3887850"/>
            <a:ext cx="722100" cy="174900"/>
          </a:xfrm>
          <a:prstGeom prst="rect">
            <a:avLst/>
          </a:prstGeom>
          <a:solidFill>
            <a:srgbClr val="F4CCCC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40" name="Google Shape;1240;p50"/>
          <p:cNvSpPr/>
          <p:nvPr/>
        </p:nvSpPr>
        <p:spPr>
          <a:xfrm rot="5400000">
            <a:off x="3336388" y="3887850"/>
            <a:ext cx="722100" cy="174900"/>
          </a:xfrm>
          <a:prstGeom prst="rect">
            <a:avLst/>
          </a:prstGeom>
          <a:solidFill>
            <a:srgbClr val="F4CCCC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41" name="Google Shape;1241;p50"/>
          <p:cNvSpPr/>
          <p:nvPr/>
        </p:nvSpPr>
        <p:spPr>
          <a:xfrm rot="5400000">
            <a:off x="3511288" y="3887850"/>
            <a:ext cx="722100" cy="174900"/>
          </a:xfrm>
          <a:prstGeom prst="rect">
            <a:avLst/>
          </a:prstGeom>
          <a:solidFill>
            <a:srgbClr val="F4CCCC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42" name="Google Shape;1242;p50"/>
          <p:cNvSpPr/>
          <p:nvPr/>
        </p:nvSpPr>
        <p:spPr>
          <a:xfrm rot="5400000">
            <a:off x="3686188" y="3887850"/>
            <a:ext cx="722100" cy="1749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43" name="Google Shape;1243;p50"/>
          <p:cNvSpPr/>
          <p:nvPr/>
        </p:nvSpPr>
        <p:spPr>
          <a:xfrm rot="5400000">
            <a:off x="3861088" y="3887850"/>
            <a:ext cx="722100" cy="1749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20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44" name="Google Shape;1244;p50"/>
          <p:cNvSpPr/>
          <p:nvPr/>
        </p:nvSpPr>
        <p:spPr>
          <a:xfrm rot="5400000">
            <a:off x="4035988" y="3887850"/>
            <a:ext cx="722100" cy="1749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21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45" name="Google Shape;1245;p50"/>
          <p:cNvSpPr/>
          <p:nvPr/>
        </p:nvSpPr>
        <p:spPr>
          <a:xfrm rot="5400000">
            <a:off x="4210888" y="3887850"/>
            <a:ext cx="722100" cy="1749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22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46" name="Google Shape;1246;p50"/>
          <p:cNvSpPr/>
          <p:nvPr/>
        </p:nvSpPr>
        <p:spPr>
          <a:xfrm rot="5400000">
            <a:off x="4385788" y="3887850"/>
            <a:ext cx="722100" cy="1749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23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47" name="Google Shape;1247;p50"/>
          <p:cNvSpPr/>
          <p:nvPr/>
        </p:nvSpPr>
        <p:spPr>
          <a:xfrm rot="5400000">
            <a:off x="4560688" y="3887850"/>
            <a:ext cx="722100" cy="1749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24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48" name="Google Shape;1248;p50"/>
          <p:cNvSpPr/>
          <p:nvPr/>
        </p:nvSpPr>
        <p:spPr>
          <a:xfrm rot="5400000">
            <a:off x="4735588" y="3887850"/>
            <a:ext cx="722100" cy="1749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25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49" name="Google Shape;1249;p50"/>
          <p:cNvSpPr/>
          <p:nvPr/>
        </p:nvSpPr>
        <p:spPr>
          <a:xfrm rot="5400000">
            <a:off x="4910488" y="3887850"/>
            <a:ext cx="722100" cy="174900"/>
          </a:xfrm>
          <a:prstGeom prst="rect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26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50" name="Google Shape;1250;p50"/>
          <p:cNvSpPr/>
          <p:nvPr/>
        </p:nvSpPr>
        <p:spPr>
          <a:xfrm rot="5400000">
            <a:off x="5085388" y="3887850"/>
            <a:ext cx="7221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27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51" name="Google Shape;1251;p50"/>
          <p:cNvSpPr/>
          <p:nvPr/>
        </p:nvSpPr>
        <p:spPr>
          <a:xfrm rot="5400000">
            <a:off x="5260288" y="3887850"/>
            <a:ext cx="7221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28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52" name="Google Shape;1252;p50"/>
          <p:cNvSpPr/>
          <p:nvPr/>
        </p:nvSpPr>
        <p:spPr>
          <a:xfrm rot="5400000">
            <a:off x="5435188" y="3887850"/>
            <a:ext cx="7221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29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53" name="Google Shape;1253;p50"/>
          <p:cNvSpPr/>
          <p:nvPr/>
        </p:nvSpPr>
        <p:spPr>
          <a:xfrm rot="5400000">
            <a:off x="5610088" y="3887850"/>
            <a:ext cx="7221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30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54" name="Google Shape;1254;p50"/>
          <p:cNvSpPr/>
          <p:nvPr/>
        </p:nvSpPr>
        <p:spPr>
          <a:xfrm rot="5400000">
            <a:off x="5784988" y="3887850"/>
            <a:ext cx="7221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31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55" name="Google Shape;1255;p50"/>
          <p:cNvSpPr/>
          <p:nvPr/>
        </p:nvSpPr>
        <p:spPr>
          <a:xfrm rot="5400000">
            <a:off x="5959888" y="3887850"/>
            <a:ext cx="7221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32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56" name="Google Shape;1256;p50"/>
          <p:cNvSpPr/>
          <p:nvPr/>
        </p:nvSpPr>
        <p:spPr>
          <a:xfrm rot="5400000">
            <a:off x="6134788" y="3887850"/>
            <a:ext cx="7221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33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57" name="Google Shape;1257;p50"/>
          <p:cNvSpPr/>
          <p:nvPr/>
        </p:nvSpPr>
        <p:spPr>
          <a:xfrm rot="5400000">
            <a:off x="6309688" y="3887850"/>
            <a:ext cx="7221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34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58" name="Google Shape;1258;p50"/>
          <p:cNvSpPr/>
          <p:nvPr/>
        </p:nvSpPr>
        <p:spPr>
          <a:xfrm rot="5400000">
            <a:off x="6484588" y="3887850"/>
            <a:ext cx="7221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35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59" name="Google Shape;1259;p50"/>
          <p:cNvSpPr/>
          <p:nvPr/>
        </p:nvSpPr>
        <p:spPr>
          <a:xfrm rot="5400000">
            <a:off x="6659488" y="3887850"/>
            <a:ext cx="7221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36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60" name="Google Shape;1260;p50"/>
          <p:cNvSpPr/>
          <p:nvPr/>
        </p:nvSpPr>
        <p:spPr>
          <a:xfrm rot="5400000">
            <a:off x="6834388" y="3887850"/>
            <a:ext cx="7221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37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61" name="Google Shape;1261;p50"/>
          <p:cNvSpPr/>
          <p:nvPr/>
        </p:nvSpPr>
        <p:spPr>
          <a:xfrm rot="5400000">
            <a:off x="7009288" y="3887850"/>
            <a:ext cx="7221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38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62" name="Google Shape;1262;p50"/>
          <p:cNvSpPr/>
          <p:nvPr/>
        </p:nvSpPr>
        <p:spPr>
          <a:xfrm rot="5400000">
            <a:off x="7184188" y="3887850"/>
            <a:ext cx="7221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39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63" name="Google Shape;1263;p50"/>
          <p:cNvSpPr/>
          <p:nvPr/>
        </p:nvSpPr>
        <p:spPr>
          <a:xfrm rot="5400000">
            <a:off x="7359088" y="3887850"/>
            <a:ext cx="7221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40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64" name="Google Shape;1264;p50"/>
          <p:cNvSpPr/>
          <p:nvPr/>
        </p:nvSpPr>
        <p:spPr>
          <a:xfrm rot="5400000">
            <a:off x="7708888" y="3887850"/>
            <a:ext cx="7221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65" name="Google Shape;1265;p50"/>
          <p:cNvSpPr/>
          <p:nvPr/>
        </p:nvSpPr>
        <p:spPr>
          <a:xfrm rot="5400000">
            <a:off x="7883788" y="3887850"/>
            <a:ext cx="722100" cy="17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B7B7B7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...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66" name="Google Shape;1266;p50"/>
          <p:cNvSpPr/>
          <p:nvPr/>
        </p:nvSpPr>
        <p:spPr>
          <a:xfrm rot="5400000">
            <a:off x="537988" y="3887850"/>
            <a:ext cx="7221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1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67" name="Google Shape;1267;p50"/>
          <p:cNvSpPr/>
          <p:nvPr/>
        </p:nvSpPr>
        <p:spPr>
          <a:xfrm rot="5400000">
            <a:off x="712888" y="3887850"/>
            <a:ext cx="7221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2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68" name="Google Shape;1268;p50"/>
          <p:cNvSpPr/>
          <p:nvPr/>
        </p:nvSpPr>
        <p:spPr>
          <a:xfrm rot="5400000">
            <a:off x="3948538" y="2927550"/>
            <a:ext cx="722100" cy="2095500"/>
          </a:xfrm>
          <a:prstGeom prst="rect">
            <a:avLst/>
          </a:prstGeom>
          <a:noFill/>
          <a:ln w="2857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69" name="Google Shape;1269;p50"/>
          <p:cNvSpPr/>
          <p:nvPr/>
        </p:nvSpPr>
        <p:spPr>
          <a:xfrm rot="5400000">
            <a:off x="1062688" y="3887850"/>
            <a:ext cx="7221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4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70" name="Google Shape;1270;p50"/>
          <p:cNvSpPr/>
          <p:nvPr/>
        </p:nvSpPr>
        <p:spPr>
          <a:xfrm rot="5400000">
            <a:off x="1237588" y="3887850"/>
            <a:ext cx="7221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5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271" name="Google Shape;1271;p50"/>
          <p:cNvGrpSpPr/>
          <p:nvPr/>
        </p:nvGrpSpPr>
        <p:grpSpPr>
          <a:xfrm>
            <a:off x="811588" y="4486300"/>
            <a:ext cx="2393100" cy="261300"/>
            <a:chOff x="451750" y="1912600"/>
            <a:chExt cx="2393100" cy="261300"/>
          </a:xfrm>
        </p:grpSpPr>
        <p:cxnSp>
          <p:nvCxnSpPr>
            <p:cNvPr id="1272" name="Google Shape;1272;p50"/>
            <p:cNvCxnSpPr/>
            <p:nvPr/>
          </p:nvCxnSpPr>
          <p:spPr>
            <a:xfrm>
              <a:off x="451750" y="2043250"/>
              <a:ext cx="2393100" cy="0"/>
            </a:xfrm>
            <a:prstGeom prst="straightConnector1">
              <a:avLst/>
            </a:prstGeom>
            <a:noFill/>
            <a:ln w="9525" cap="flat" cmpd="sng">
              <a:solidFill>
                <a:srgbClr val="6AA84F"/>
              </a:solidFill>
              <a:prstDash val="solid"/>
              <a:round/>
              <a:headEnd type="triangle" w="med" len="med"/>
              <a:tailEnd type="triangle" w="med" len="med"/>
            </a:ln>
          </p:spPr>
        </p:cxnSp>
        <p:sp>
          <p:nvSpPr>
            <p:cNvPr id="1273" name="Google Shape;1273;p50"/>
            <p:cNvSpPr txBox="1"/>
            <p:nvPr/>
          </p:nvSpPr>
          <p:spPr>
            <a:xfrm>
              <a:off x="1007800" y="1912600"/>
              <a:ext cx="1281000" cy="2613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6AA84F"/>
                  </a:solidFill>
                  <a:latin typeface="Roboto"/>
                  <a:ea typeface="Roboto"/>
                  <a:cs typeface="Roboto"/>
                  <a:sym typeface="Roboto"/>
                </a:rPr>
                <a:t>Sent and acked</a:t>
              </a:r>
              <a:endParaRPr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1274" name="Google Shape;1274;p50"/>
          <p:cNvSpPr/>
          <p:nvPr/>
        </p:nvSpPr>
        <p:spPr>
          <a:xfrm rot="5400000">
            <a:off x="1412488" y="3887850"/>
            <a:ext cx="7221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6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75" name="Google Shape;1275;p50"/>
          <p:cNvSpPr/>
          <p:nvPr/>
        </p:nvSpPr>
        <p:spPr>
          <a:xfrm rot="5400000">
            <a:off x="1587388" y="3887850"/>
            <a:ext cx="722100" cy="17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Roboto"/>
                <a:ea typeface="Roboto"/>
                <a:cs typeface="Roboto"/>
                <a:sym typeface="Roboto"/>
              </a:rPr>
              <a:t>7</a:t>
            </a:r>
            <a:endParaRPr sz="1000"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276" name="Google Shape;1276;p50"/>
          <p:cNvGrpSpPr/>
          <p:nvPr/>
        </p:nvGrpSpPr>
        <p:grpSpPr>
          <a:xfrm>
            <a:off x="5413495" y="4486300"/>
            <a:ext cx="2919162" cy="261300"/>
            <a:chOff x="4996875" y="1912600"/>
            <a:chExt cx="2975700" cy="261300"/>
          </a:xfrm>
        </p:grpSpPr>
        <p:cxnSp>
          <p:nvCxnSpPr>
            <p:cNvPr id="1277" name="Google Shape;1277;p50"/>
            <p:cNvCxnSpPr/>
            <p:nvPr/>
          </p:nvCxnSpPr>
          <p:spPr>
            <a:xfrm>
              <a:off x="4996875" y="2043250"/>
              <a:ext cx="2975700" cy="0"/>
            </a:xfrm>
            <a:prstGeom prst="straightConnector1">
              <a:avLst/>
            </a:prstGeom>
            <a:noFill/>
            <a:ln w="9525" cap="flat" cmpd="sng">
              <a:solidFill>
                <a:srgbClr val="999999"/>
              </a:solidFill>
              <a:prstDash val="solid"/>
              <a:round/>
              <a:headEnd type="triangle" w="med" len="med"/>
              <a:tailEnd type="triangle" w="med" len="med"/>
            </a:ln>
          </p:spPr>
        </p:cxnSp>
        <p:sp>
          <p:nvSpPr>
            <p:cNvPr id="1278" name="Google Shape;1278;p50"/>
            <p:cNvSpPr txBox="1"/>
            <p:nvPr/>
          </p:nvSpPr>
          <p:spPr>
            <a:xfrm>
              <a:off x="5955972" y="1912600"/>
              <a:ext cx="1057500" cy="2613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999999"/>
                  </a:solidFill>
                  <a:latin typeface="Roboto"/>
                  <a:ea typeface="Roboto"/>
                  <a:cs typeface="Roboto"/>
                  <a:sym typeface="Roboto"/>
                </a:rPr>
                <a:t>Not sent yet</a:t>
              </a:r>
              <a:endParaRPr>
                <a:solidFill>
                  <a:srgbClr val="999999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279" name="Google Shape;1279;p50"/>
          <p:cNvGrpSpPr/>
          <p:nvPr/>
        </p:nvGrpSpPr>
        <p:grpSpPr>
          <a:xfrm>
            <a:off x="3261268" y="4369100"/>
            <a:ext cx="2095500" cy="493800"/>
            <a:chOff x="3261268" y="4292900"/>
            <a:chExt cx="2095500" cy="493800"/>
          </a:xfrm>
        </p:grpSpPr>
        <p:cxnSp>
          <p:nvCxnSpPr>
            <p:cNvPr id="1280" name="Google Shape;1280;p50"/>
            <p:cNvCxnSpPr/>
            <p:nvPr/>
          </p:nvCxnSpPr>
          <p:spPr>
            <a:xfrm>
              <a:off x="3261268" y="4539800"/>
              <a:ext cx="2095500" cy="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triangle" w="med" len="med"/>
              <a:tailEnd type="triangle" w="med" len="med"/>
            </a:ln>
          </p:spPr>
        </p:cxnSp>
        <p:sp>
          <p:nvSpPr>
            <p:cNvPr id="1281" name="Google Shape;1281;p50"/>
            <p:cNvSpPr txBox="1"/>
            <p:nvPr/>
          </p:nvSpPr>
          <p:spPr>
            <a:xfrm>
              <a:off x="3940850" y="4292900"/>
              <a:ext cx="736500" cy="493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27425" tIns="27425" rIns="27425" bIns="27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Window</a:t>
              </a:r>
              <a:endParaRPr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i="1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W</a:t>
              </a:r>
              <a:r>
                <a:rPr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 bytes</a:t>
              </a:r>
              <a:endParaRPr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1282" name="Google Shape;1282;p50"/>
          <p:cNvSpPr txBox="1"/>
          <p:nvPr/>
        </p:nvSpPr>
        <p:spPr>
          <a:xfrm>
            <a:off x="3239950" y="3023375"/>
            <a:ext cx="2692500" cy="50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Resend 15–18 if timer expires,</a:t>
            </a:r>
            <a:b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or if 3 copies of ack(15) received.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AF48BEF-A959-899C-22CB-41D54950200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26</a:t>
            </a:fld>
            <a:endParaRPr lang="en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7" name="Google Shape;1287;p51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15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Implementing TCP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Byte Notation</a:t>
            </a:r>
            <a:br>
              <a:rPr lang="en">
                <a:solidFill>
                  <a:srgbClr val="B7B7B7"/>
                </a:solidFill>
              </a:rPr>
            </a:br>
            <a:r>
              <a:rPr lang="en">
                <a:solidFill>
                  <a:srgbClr val="B7B7B7"/>
                </a:solidFill>
              </a:rPr>
              <a:t>(Segments, Sequence Numbers)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Maintaining State (Full Duplex, Connection Setup and Teardown)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Sliding Window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Header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1288" name="Google Shape;1288;p51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TCP Header</a:t>
            </a:r>
            <a:endParaRPr/>
          </a:p>
        </p:txBody>
      </p:sp>
      <p:sp>
        <p:nvSpPr>
          <p:cNvPr id="1289" name="Google Shape;1289;p51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11,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9BE808E-7DAF-FE8A-78F3-301601FA81F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27</a:t>
            </a:fld>
            <a:endParaRPr lang="en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4" name="Google Shape;1294;p5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TCP Header</a:t>
            </a:r>
            <a:endParaRPr/>
          </a:p>
        </p:txBody>
      </p:sp>
      <p:sp>
        <p:nvSpPr>
          <p:cNvPr id="1295" name="Google Shape;1295;p5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44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What functions does TCP implement?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lang="en">
                <a:highlight>
                  <a:srgbClr val="F4CCCC"/>
                </a:highlight>
              </a:rPr>
              <a:t>Demultiplexing</a:t>
            </a:r>
            <a:r>
              <a:rPr lang="en"/>
              <a:t>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ports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>
                <a:highlight>
                  <a:srgbClr val="FCE5CD"/>
                </a:highlight>
              </a:rPr>
              <a:t>Reliability</a:t>
            </a:r>
            <a:r>
              <a:rPr lang="en"/>
              <a:t>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checksum, sequence and ack numbers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>
                <a:highlight>
                  <a:srgbClr val="D9EAD3"/>
                </a:highlight>
              </a:rPr>
              <a:t>Connection setup and teardown</a:t>
            </a:r>
            <a:r>
              <a:rPr lang="en"/>
              <a:t>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flags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>
                <a:highlight>
                  <a:srgbClr val="CFE2F3"/>
                </a:highlight>
              </a:rPr>
              <a:t>Flow control</a:t>
            </a:r>
            <a:r>
              <a:rPr lang="en"/>
              <a:t>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advertised window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</p:txBody>
      </p:sp>
      <p:graphicFrame>
        <p:nvGraphicFramePr>
          <p:cNvPr id="1296" name="Google Shape;1296;p52"/>
          <p:cNvGraphicFramePr/>
          <p:nvPr/>
        </p:nvGraphicFramePr>
        <p:xfrm>
          <a:off x="1257300" y="3055400"/>
          <a:ext cx="6609200" cy="1877470"/>
        </p:xfrm>
        <a:graphic>
          <a:graphicData uri="http://schemas.openxmlformats.org/drawingml/2006/table">
            <a:tbl>
              <a:tblPr>
                <a:noFill/>
                <a:tableStyleId>{AF03A97D-8E77-47E1-9F38-7204C9F0EF1F}</a:tableStyleId>
              </a:tblPr>
              <a:tblGrid>
                <a:gridCol w="826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6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61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6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61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61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61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261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5675">
                <a:tc grid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Source Port (16)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>
                    <a:solidFill>
                      <a:srgbClr val="F4CCCC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 Port (16)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>
                    <a:solidFill>
                      <a:srgbClr val="F4CCCC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675">
                <a:tc gridSpan="8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Sequence Number (32)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>
                    <a:solidFill>
                      <a:srgbClr val="FCE5C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5675">
                <a:tc gridSpan="8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Acknowledgment Number (32)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>
                    <a:solidFill>
                      <a:srgbClr val="FCE5C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56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Hdr Len (4)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0000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27425" marR="27425" marT="27425" marB="27425" anchor="ctr"/>
                </a:tc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Flags (8)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>
                    <a:solidFill>
                      <a:srgbClr val="D9EAD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Advertised Window (16)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>
                    <a:solidFill>
                      <a:srgbClr val="CFE2F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5675">
                <a:tc grid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Checksum (16)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>
                    <a:solidFill>
                      <a:srgbClr val="FCE5C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Urgent Pointer (16)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5675">
                <a:tc gridSpan="8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Options (variable-length)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675">
                <a:tc gridSpan="8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Payload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A3A412D-4A65-538F-7985-48EE3708FBE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28</a:t>
            </a:fld>
            <a:endParaRPr lang="en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1" name="Google Shape;1301;p53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TCP Header</a:t>
            </a:r>
            <a:endParaRPr/>
          </a:p>
        </p:txBody>
      </p:sp>
      <p:sp>
        <p:nvSpPr>
          <p:cNvPr id="1302" name="Google Shape;1302;p5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44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There are 8 flags that can be set in TCP. We care about 4 of them: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SYN: I'm sending my initial sequence number.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ACK: I'm acking data (please look at the ack number).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FIN: I'm done sending data, but will keep receiving data.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RST: I'm done sending and receiving data.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won't look at the other four: CWR, ECE, URG, PSH.</a:t>
            </a:r>
            <a:endParaRPr/>
          </a:p>
        </p:txBody>
      </p:sp>
      <p:graphicFrame>
        <p:nvGraphicFramePr>
          <p:cNvPr id="1303" name="Google Shape;1303;p53"/>
          <p:cNvGraphicFramePr/>
          <p:nvPr/>
        </p:nvGraphicFramePr>
        <p:xfrm>
          <a:off x="1257300" y="3055400"/>
          <a:ext cx="6609200" cy="1877470"/>
        </p:xfrm>
        <a:graphic>
          <a:graphicData uri="http://schemas.openxmlformats.org/drawingml/2006/table">
            <a:tbl>
              <a:tblPr>
                <a:noFill/>
                <a:tableStyleId>{AF03A97D-8E77-47E1-9F38-7204C9F0EF1F}</a:tableStyleId>
              </a:tblPr>
              <a:tblGrid>
                <a:gridCol w="826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6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61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6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61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61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61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261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5675">
                <a:tc grid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Source Port (16)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 Port (16)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675">
                <a:tc gridSpan="8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Sequence Number (32)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5675">
                <a:tc gridSpan="8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Acknowledgment Number (32)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56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Hdr Len (4)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0000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27425" marR="27425" marT="27425" marB="27425" anchor="ctr"/>
                </a:tc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Flags (8)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>
                    <a:solidFill>
                      <a:srgbClr val="D9EAD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Advertised Window (16)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5675">
                <a:tc grid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Checksum (16)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Urgent Pointer (16)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5675">
                <a:tc gridSpan="8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Options (variable-length)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675">
                <a:tc gridSpan="8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Payload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3945FC8-6875-B71E-E5F4-5A8DBEFA769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29</a:t>
            </a:fld>
            <a:endParaRPr lang="en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8" name="Google Shape;1308;p5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TCP Header</a:t>
            </a:r>
            <a:endParaRPr/>
          </a:p>
        </p:txBody>
      </p:sp>
      <p:sp>
        <p:nvSpPr>
          <p:cNvPr id="1309" name="Google Shape;1309;p5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44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Remaining fields: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Header length: Measured in 4-byte words.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If no options, this is 5 (header is 20 bytes long).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0000</a:t>
            </a:r>
            <a:r>
              <a:rPr lang="en"/>
              <a:t>: Reserved bits (always set to 0).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Urgent pointer: Used with the URG flag to indicate urgent data. Won't discuss.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Options: Extra functionality.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Example: SACK uses the options field to implement full-information acks.</a:t>
            </a:r>
            <a:endParaRPr/>
          </a:p>
        </p:txBody>
      </p:sp>
      <p:graphicFrame>
        <p:nvGraphicFramePr>
          <p:cNvPr id="1310" name="Google Shape;1310;p54"/>
          <p:cNvGraphicFramePr/>
          <p:nvPr/>
        </p:nvGraphicFramePr>
        <p:xfrm>
          <a:off x="1257300" y="3055400"/>
          <a:ext cx="6609200" cy="1877470"/>
        </p:xfrm>
        <a:graphic>
          <a:graphicData uri="http://schemas.openxmlformats.org/drawingml/2006/table">
            <a:tbl>
              <a:tblPr>
                <a:noFill/>
                <a:tableStyleId>{AF03A97D-8E77-47E1-9F38-7204C9F0EF1F}</a:tableStyleId>
              </a:tblPr>
              <a:tblGrid>
                <a:gridCol w="826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6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61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6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61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61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61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261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5675">
                <a:tc grid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Source Port (16)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 Port (16)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675">
                <a:tc gridSpan="8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Sequence Number (32)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5675">
                <a:tc gridSpan="8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Acknowledgment Number (32)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56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Hdr Len (4)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0000</a:t>
                      </a:r>
                      <a:endParaRPr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27425" marR="27425" marT="27425" marB="27425" anchor="ctr">
                    <a:solidFill>
                      <a:srgbClr val="D9D9D9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Flags (8)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Advertised Window (16)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5675">
                <a:tc grid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Checksum (16)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Urgent Pointer (16)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5675">
                <a:tc gridSpan="8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Options (variable-length)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675">
                <a:tc gridSpan="8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Payload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1B684E1-920B-36C7-C64E-880CC4BF7D2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30</a:t>
            </a:fld>
            <a:endParaRPr lang="en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5" name="Google Shape;1315;p5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TCP: Summary</a:t>
            </a:r>
            <a:endParaRPr/>
          </a:p>
        </p:txBody>
      </p:sp>
      <p:sp>
        <p:nvSpPr>
          <p:cNvPr id="1316" name="Google Shape;1316;p5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90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An elegant (though not perfect) piece of engineering that has stood the test of time.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Thought experiment: Will TCP continue to be a good solution?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Plenty of evolution in individual pieces: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Congestion control was added after-the-fact.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Better acknowledgments, ISN selection, timer estimation, etc.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But the core architectural decisions and abstractions remain: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Bytestreams, connection-oriented, windows, etc.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2B92BAB-3152-5230-2A02-1382B5D5389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31</a:t>
            </a:fld>
            <a:endParaRPr lang="en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ecture">
  <a:themeElements>
    <a:clrScheme name="Simple Light">
      <a:dk1>
        <a:srgbClr val="000000"/>
      </a:dk1>
      <a:lt1>
        <a:srgbClr val="FFFFFF"/>
      </a:lt1>
      <a:dk2>
        <a:srgbClr val="666666"/>
      </a:dk2>
      <a:lt2>
        <a:srgbClr val="C9DAF8"/>
      </a:lt2>
      <a:accent1>
        <a:srgbClr val="FCE5CD"/>
      </a:accent1>
      <a:accent2>
        <a:srgbClr val="CC4125"/>
      </a:accent2>
      <a:accent3>
        <a:srgbClr val="0B5394"/>
      </a:accent3>
      <a:accent4>
        <a:srgbClr val="BF9000"/>
      </a:accent4>
      <a:accent5>
        <a:srgbClr val="6AA84F"/>
      </a:accent5>
      <a:accent6>
        <a:srgbClr val="D9D9D9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81</TotalTime>
  <Words>3822</Words>
  <Application>Microsoft Office PowerPoint</Application>
  <PresentationFormat>On-screen Show (16:9)</PresentationFormat>
  <Paragraphs>1122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7" baseType="lpstr">
      <vt:lpstr>Roboto</vt:lpstr>
      <vt:lpstr>Roboto Light</vt:lpstr>
      <vt:lpstr>Consolas</vt:lpstr>
      <vt:lpstr>Arial</vt:lpstr>
      <vt:lpstr>Roboto Medium</vt:lpstr>
      <vt:lpstr>Simple Lecture</vt:lpstr>
      <vt:lpstr>PowerPoint Presentation</vt:lpstr>
      <vt:lpstr>Implementing TCP: Byte Notation (Segments, Sequence Numbers)</vt:lpstr>
      <vt:lpstr>Notation Change: Bytes vs. Packets</vt:lpstr>
      <vt:lpstr>TCP Segments</vt:lpstr>
      <vt:lpstr>TCP Segments</vt:lpstr>
      <vt:lpstr>TCP Segments</vt:lpstr>
      <vt:lpstr>TCP Sequence Numbers</vt:lpstr>
      <vt:lpstr>TCP Sequence Numbers</vt:lpstr>
      <vt:lpstr>TCP Ack Numbers</vt:lpstr>
      <vt:lpstr>TCP Sequence and Ack Numbers</vt:lpstr>
      <vt:lpstr>TCP Sequence and Ack Numbers</vt:lpstr>
      <vt:lpstr>Maintaining State (Full Duplex)</vt:lpstr>
      <vt:lpstr>TCP State</vt:lpstr>
      <vt:lpstr>TCP is Full-Duplex</vt:lpstr>
      <vt:lpstr>TCP Connection Setup: Three-Way Handshake</vt:lpstr>
      <vt:lpstr>TCP Connection Teardown</vt:lpstr>
      <vt:lpstr>TCP Connection Teardown</vt:lpstr>
      <vt:lpstr>TCP Setup/Teardown Transition Diagram</vt:lpstr>
      <vt:lpstr>TCP Setup/Teardown Transition Diagram (Simplified)</vt:lpstr>
      <vt:lpstr>Piggybacking</vt:lpstr>
      <vt:lpstr>Sliding Window</vt:lpstr>
      <vt:lpstr>TCP Sliding Window</vt:lpstr>
      <vt:lpstr>TCP Sliding Window</vt:lpstr>
      <vt:lpstr>TCP Sliding Window</vt:lpstr>
      <vt:lpstr>TCP Sliding Window</vt:lpstr>
      <vt:lpstr>Detecting Loss</vt:lpstr>
      <vt:lpstr>TCP Header</vt:lpstr>
      <vt:lpstr>TCP Header</vt:lpstr>
      <vt:lpstr>TCP Header</vt:lpstr>
      <vt:lpstr>TCP Header</vt:lpstr>
      <vt:lpstr>TCP: Summary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Zonghua Gu</cp:lastModifiedBy>
  <cp:revision>3</cp:revision>
  <dcterms:modified xsi:type="dcterms:W3CDTF">2026-04-14T18:38:48Z</dcterms:modified>
</cp:coreProperties>
</file>