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61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9" r:id="rId22"/>
    <p:sldId id="280" r:id="rId23"/>
    <p:sldId id="281" r:id="rId24"/>
    <p:sldId id="283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5" r:id="rId44"/>
    <p:sldId id="306" r:id="rId45"/>
    <p:sldId id="307" r:id="rId46"/>
    <p:sldId id="308" r:id="rId47"/>
    <p:sldId id="310" r:id="rId48"/>
    <p:sldId id="311" r:id="rId49"/>
    <p:sldId id="313" r:id="rId50"/>
    <p:sldId id="314" r:id="rId51"/>
    <p:sldId id="315" r:id="rId52"/>
    <p:sldId id="316" r:id="rId53"/>
    <p:sldId id="317" r:id="rId54"/>
    <p:sldId id="318" r:id="rId55"/>
    <p:sldId id="319" r:id="rId56"/>
    <p:sldId id="320" r:id="rId57"/>
    <p:sldId id="322" r:id="rId58"/>
    <p:sldId id="323" r:id="rId59"/>
    <p:sldId id="321" r:id="rId60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2"/>
      <p:bold r:id="rId63"/>
      <p:italic r:id="rId64"/>
      <p:boldItalic r:id="rId65"/>
    </p:embeddedFont>
    <p:embeddedFont>
      <p:font typeface="Roboto Light" panose="02000000000000000000" pitchFamily="2" charset="0"/>
      <p:regular r:id="rId66"/>
      <p:bold r:id="rId67"/>
      <p:italic r:id="rId68"/>
      <p:boldItalic r:id="rId69"/>
    </p:embeddedFont>
    <p:embeddedFont>
      <p:font typeface="Roboto Medium" panose="02000000000000000000" pitchFamily="2" charset="0"/>
      <p:regular r:id="rId70"/>
      <p:bold r:id="rId71"/>
      <p:italic r:id="rId72"/>
      <p:boldItalic r:id="rId7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3D9472-EA19-4D04-B9D5-CB03C4941896}">
  <a:tblStyle styleId="{F13D9472-EA19-4D04-B9D5-CB03C494189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320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2.fntdata"/><Relationship Id="rId68" Type="http://schemas.openxmlformats.org/officeDocument/2006/relationships/font" Target="fonts/font7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5.fntdata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3.fntdata"/><Relationship Id="rId69" Type="http://schemas.openxmlformats.org/officeDocument/2006/relationships/font" Target="fonts/font8.fntdata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1.fntdata"/><Relationship Id="rId70" Type="http://schemas.openxmlformats.org/officeDocument/2006/relationships/font" Target="fonts/font9.fntdata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4.fntdata"/><Relationship Id="rId73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font" Target="fonts/font10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67217662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67217662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ea67217662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2ea67217662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ea67217662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2ea67217662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If the queue is full, and a packet arrives, the packet gets dropped.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ea67217662_0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2ea67217662_0_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Recall: TCP is implemented in everybody's OS.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ea67217662_0_3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ea67217662_0_3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ea67217662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ea67217662_0_3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ea67217662_0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ea67217662_0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ea67217662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2ea67217662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2ea67217662_0_5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2ea67217662_0_5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ea67217662_0_6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2ea67217662_0_6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ea67217662_0_6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ea67217662_0_6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2ea67217662_0_6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2ea67217662_0_6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2ea67217662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2ea67217662_0_6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zh-CN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Could avoid congestion (1) by sending really slowly.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But then we aren't using all the bandwidth on the link (2).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ea67217662_0_6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2ea67217662_0_6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2ea67217662_0_6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2ea67217662_0_6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ea67217662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2ea67217662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2ea76ad914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2ea76ad914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2ea76ad9140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2ea76ad9140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2ea76ad9140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2ea76ad9140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2ea76ad9140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2ea76ad9140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ea76ad9140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ea76ad9140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2ea76ad9140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2" name="Google Shape;642;g2ea76ad9140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2ea76ad9140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5" name="Google Shape;665;g2ea76ad9140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2ea98c467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2ea98c4672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2ea98c46726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" name="Google Shape;708;g2ea98c46726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ea98c4672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ea98c4672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2ea98c46726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g2ea98c46726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2ea98c46726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2ea98c46726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2ea98c46726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2ea98c46726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g2ea98c46726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9" name="Google Shape;759;g2ea98c46726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2ea98c46726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5" name="Google Shape;765;g2ea98c46726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2ea98c46726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2ea98c46726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g2ea98c46726_0_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0" name="Google Shape;840;g2ea98c46726_0_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2ea98c46726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2ea98c46726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g2ea98c46726_0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2" name="Google Shape;912;g2ea98c46726_0_3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g2ea98c46726_0_3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9" name="Google Shape;919;g2ea98c46726_0_3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2ea98c46726_0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1" name="Google Shape;941;g2ea98c46726_0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g2ea98c46726_0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" name="Google Shape;948;g2ea98c46726_0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2ea98c46726_0_4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9" name="Google Shape;979;g2ea98c46726_0_4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g2ea98c46726_0_4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6" name="Google Shape;986;g2ea98c46726_0_4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g2ea98c46726_0_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3" name="Google Shape;993;g2ea98c46726_0_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2ea98c46726_0_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0" name="Google Shape;1000;g2ea98c46726_0_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altLang="zh-CN" dirty="0"/>
              <a:t>Of the four options, AIMD is the only one that ensures fairness.</a:t>
            </a:r>
          </a:p>
          <a:p>
            <a:pPr marL="0" lvl="0" indent="0">
              <a:buNone/>
            </a:pPr>
            <a:r>
              <a:rPr lang="en-US" altLang="zh-CN" dirty="0"/>
              <a:t>AIMD embodies gentle increase, rapid decrease.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Yes, all the zig-zags were measured to go through the origin or be at 45 degrees, I don't know why I bothered to do this</a:t>
            </a:r>
            <a:endParaRPr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Google Shape;1041;g2ea98c46726_0_4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2" name="Google Shape;1042;g2ea98c46726_0_4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2ea98c46726_0_6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2ea98c46726_0_6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98c46726_0_6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98c46726_0_6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g2ea98c46726_0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8" name="Google Shape;1078;g2ea98c46726_0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Window size and rate are directly correlated.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g2ea98c46726_0_6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0" name="Google Shape;1090;g2ea98c46726_0_6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g2ea98c46726_0_7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2" name="Google Shape;1102;g2ea98c46726_0_7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Google Shape;1113;g2eadfa32501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4" name="Google Shape;1114;g2eadfa32501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g2eadfa3250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0" name="Google Shape;1120;g2eadfa3250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g2157c73999f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7" name="Google Shape;1167;g2157c73999f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2157c73999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7" name="Google Shape;1187;g2157c73999f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g2157c73999f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6" name="Google Shape;1206;g2157c73999f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g2eb3fef333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3" name="Google Shape;1213;g2eb3fef333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2eb3fef333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9" name="Google Shape;1219;g2eb3fef333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Google Shape;1224;g2eb3fef333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5" name="Google Shape;1225;g2eb3fef333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altLang="zh-CN" dirty="0"/>
              <a:t>https://www.geeksforgeeks.org/computer-networks/tcp-congestion-control/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0719142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2eb3fef333b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2eb3fef333b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computer-networks/tcp-congestion-control/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spcBef>
                <a:spcPts val="600"/>
              </a:spcBef>
            </a:pPr>
            <a:r>
              <a:rPr lang="en-US" altLang="zh-CN" sz="1600" dirty="0"/>
              <a:t>Lecture 12, Spring 2026</a:t>
            </a: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Congestion Control, Part 1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12 (Transport 3)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Why do we need it?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Congestion Control: Why do we need it?</a:t>
            </a:r>
            <a:endParaRPr sz="3200"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08B32B-5D25-791A-8613-8C3C49C071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Recall: Congestion at Routers</a:t>
            </a:r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647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If two packets arrive at the same time, the router will send one, and buffer the other.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router maintains a </a:t>
            </a:r>
            <a:r>
              <a:rPr lang="en" i="1" dirty="0"/>
              <a:t>queue</a:t>
            </a:r>
            <a:r>
              <a:rPr lang="en" dirty="0"/>
              <a:t> of packets that still need to be sent. If too many packets arrive close in time: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router cannot keep up, and gets congested.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Packets can be delayed (stuck waiting in queue) or dropped (queue is full).</a:t>
            </a:r>
          </a:p>
          <a:p>
            <a:pPr marL="0" lvl="0" indent="0">
              <a:buNone/>
            </a:pPr>
            <a:r>
              <a:rPr lang="en-US" altLang="zh-CN" dirty="0"/>
              <a:t>For a typical queuing system with bursty arrivals:</a:t>
            </a:r>
          </a:p>
          <a:p>
            <a:pPr lvl="0"/>
            <a:r>
              <a:rPr lang="en-US" altLang="zh-CN" dirty="0"/>
              <a:t>Higher load = more packets sent = higher packet delay.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Delay gets really bad, even before we reach 100% load.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Trade-offs: Need to balance high link utilization and low delay.</a:t>
            </a:r>
          </a:p>
        </p:txBody>
      </p:sp>
      <p:cxnSp>
        <p:nvCxnSpPr>
          <p:cNvPr id="159" name="Google Shape;159;p26"/>
          <p:cNvCxnSpPr/>
          <p:nvPr/>
        </p:nvCxnSpPr>
        <p:spPr>
          <a:xfrm>
            <a:off x="182481" y="3229573"/>
            <a:ext cx="2040600" cy="546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" name="Google Shape;160;p26"/>
          <p:cNvSpPr/>
          <p:nvPr/>
        </p:nvSpPr>
        <p:spPr>
          <a:xfrm rot="900021">
            <a:off x="367678" y="2979344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" name="Google Shape;161;p26"/>
          <p:cNvCxnSpPr/>
          <p:nvPr/>
        </p:nvCxnSpPr>
        <p:spPr>
          <a:xfrm rot="10800000" flipH="1">
            <a:off x="185181" y="3911198"/>
            <a:ext cx="2043900" cy="54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" name="Google Shape;162;p26"/>
          <p:cNvSpPr/>
          <p:nvPr/>
        </p:nvSpPr>
        <p:spPr>
          <a:xfrm rot="-900021">
            <a:off x="552982" y="4319888"/>
            <a:ext cx="337294" cy="337294"/>
          </a:xfrm>
          <a:prstGeom prst="rect">
            <a:avLst/>
          </a:prstGeom>
          <a:solidFill>
            <a:srgbClr val="B6D7A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26"/>
          <p:cNvSpPr/>
          <p:nvPr/>
        </p:nvSpPr>
        <p:spPr>
          <a:xfrm rot="-900021">
            <a:off x="1833400" y="3977606"/>
            <a:ext cx="337294" cy="337294"/>
          </a:xfrm>
          <a:prstGeom prst="rect">
            <a:avLst/>
          </a:prstGeom>
          <a:solidFill>
            <a:srgbClr val="B6D7A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26"/>
          <p:cNvSpPr/>
          <p:nvPr/>
        </p:nvSpPr>
        <p:spPr>
          <a:xfrm rot="900021">
            <a:off x="1115228" y="3181744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26"/>
          <p:cNvSpPr/>
          <p:nvPr/>
        </p:nvSpPr>
        <p:spPr>
          <a:xfrm rot="900021">
            <a:off x="1831389" y="3372833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" name="Google Shape;166;p26"/>
          <p:cNvCxnSpPr/>
          <p:nvPr/>
        </p:nvCxnSpPr>
        <p:spPr>
          <a:xfrm>
            <a:off x="263581" y="2897373"/>
            <a:ext cx="2040600" cy="546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" name="Google Shape;167;p26"/>
          <p:cNvCxnSpPr/>
          <p:nvPr/>
        </p:nvCxnSpPr>
        <p:spPr>
          <a:xfrm rot="10800000" flipH="1">
            <a:off x="268994" y="4235798"/>
            <a:ext cx="2043900" cy="54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" name="Google Shape;168;p26"/>
          <p:cNvSpPr/>
          <p:nvPr/>
        </p:nvSpPr>
        <p:spPr>
          <a:xfrm>
            <a:off x="2312906" y="3556948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6"/>
          <p:cNvSpPr/>
          <p:nvPr/>
        </p:nvSpPr>
        <p:spPr>
          <a:xfrm>
            <a:off x="4160000" y="3700056"/>
            <a:ext cx="337200" cy="337200"/>
          </a:xfrm>
          <a:prstGeom prst="rect">
            <a:avLst/>
          </a:prstGeom>
          <a:solidFill>
            <a:srgbClr val="D9D9D9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" name="Google Shape;170;p26"/>
          <p:cNvCxnSpPr/>
          <p:nvPr/>
        </p:nvCxnSpPr>
        <p:spPr>
          <a:xfrm>
            <a:off x="3491906" y="3700048"/>
            <a:ext cx="1673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171;p26"/>
          <p:cNvCxnSpPr/>
          <p:nvPr/>
        </p:nvCxnSpPr>
        <p:spPr>
          <a:xfrm>
            <a:off x="3491906" y="4037248"/>
            <a:ext cx="1673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" name="Google Shape;172;p26"/>
          <p:cNvSpPr/>
          <p:nvPr/>
        </p:nvSpPr>
        <p:spPr>
          <a:xfrm>
            <a:off x="2867726" y="2766924"/>
            <a:ext cx="2061165" cy="715599"/>
          </a:xfrm>
          <a:prstGeom prst="wedgeRoundRectCallout">
            <a:avLst>
              <a:gd name="adj1" fmla="val -54601"/>
              <a:gd name="adj2" fmla="val 48705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I cannot send both A and B right now.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One of them will have to wait.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" name="Google Shape;173;p26"/>
          <p:cNvCxnSpPr/>
          <p:nvPr/>
        </p:nvCxnSpPr>
        <p:spPr>
          <a:xfrm>
            <a:off x="594593" y="2796648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4" name="Google Shape;174;p26"/>
          <p:cNvCxnSpPr/>
          <p:nvPr/>
        </p:nvCxnSpPr>
        <p:spPr>
          <a:xfrm rot="10800000" flipH="1">
            <a:off x="689620" y="4456950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5" name="Google Shape;175;p26"/>
          <p:cNvCxnSpPr/>
          <p:nvPr/>
        </p:nvCxnSpPr>
        <p:spPr>
          <a:xfrm>
            <a:off x="3686318" y="4235798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" name="Google Shape;182;p27">
            <a:extLst>
              <a:ext uri="{FF2B5EF4-FFF2-40B4-BE49-F238E27FC236}">
                <a16:creationId xmlns:a16="http://schemas.microsoft.com/office/drawing/2014/main" id="{4882E1A4-F805-27D2-EC04-3B8D56388DD3}"/>
              </a:ext>
            </a:extLst>
          </p:cNvPr>
          <p:cNvCxnSpPr/>
          <p:nvPr/>
        </p:nvCxnSpPr>
        <p:spPr>
          <a:xfrm rot="10800000">
            <a:off x="5972800" y="2770811"/>
            <a:ext cx="0" cy="1756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" name="Google Shape;183;p27">
            <a:extLst>
              <a:ext uri="{FF2B5EF4-FFF2-40B4-BE49-F238E27FC236}">
                <a16:creationId xmlns:a16="http://schemas.microsoft.com/office/drawing/2014/main" id="{B45F3D57-1FA8-0EDE-CC7D-FEE2EF64C75B}"/>
              </a:ext>
            </a:extLst>
          </p:cNvPr>
          <p:cNvCxnSpPr/>
          <p:nvPr/>
        </p:nvCxnSpPr>
        <p:spPr>
          <a:xfrm>
            <a:off x="5972800" y="4418147"/>
            <a:ext cx="2344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" name="Google Shape;184;p27">
            <a:extLst>
              <a:ext uri="{FF2B5EF4-FFF2-40B4-BE49-F238E27FC236}">
                <a16:creationId xmlns:a16="http://schemas.microsoft.com/office/drawing/2014/main" id="{B12E80B9-EE12-D3CB-4F30-A68B84C83CBC}"/>
              </a:ext>
            </a:extLst>
          </p:cNvPr>
          <p:cNvSpPr/>
          <p:nvPr/>
        </p:nvSpPr>
        <p:spPr>
          <a:xfrm>
            <a:off x="5972800" y="2824371"/>
            <a:ext cx="2067075" cy="1528434"/>
          </a:xfrm>
          <a:custGeom>
            <a:avLst/>
            <a:gdLst/>
            <a:ahLst/>
            <a:cxnLst/>
            <a:rect l="l" t="t" r="r" b="b"/>
            <a:pathLst>
              <a:path w="82683" h="74286" extrusionOk="0">
                <a:moveTo>
                  <a:pt x="0" y="74286"/>
                </a:moveTo>
                <a:cubicBezTo>
                  <a:pt x="11950" y="72025"/>
                  <a:pt x="57922" y="73102"/>
                  <a:pt x="71702" y="60721"/>
                </a:cubicBezTo>
                <a:cubicBezTo>
                  <a:pt x="85483" y="48340"/>
                  <a:pt x="80853" y="10120"/>
                  <a:pt x="82683" y="0"/>
                </a:cubicBezTo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5" name="Google Shape;185;p27">
            <a:extLst>
              <a:ext uri="{FF2B5EF4-FFF2-40B4-BE49-F238E27FC236}">
                <a16:creationId xmlns:a16="http://schemas.microsoft.com/office/drawing/2014/main" id="{638EF5FE-E383-9138-DEAB-586885238ED5}"/>
              </a:ext>
            </a:extLst>
          </p:cNvPr>
          <p:cNvCxnSpPr/>
          <p:nvPr/>
        </p:nvCxnSpPr>
        <p:spPr>
          <a:xfrm>
            <a:off x="8097650" y="2601372"/>
            <a:ext cx="0" cy="235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" name="Google Shape;186;p27">
            <a:extLst>
              <a:ext uri="{FF2B5EF4-FFF2-40B4-BE49-F238E27FC236}">
                <a16:creationId xmlns:a16="http://schemas.microsoft.com/office/drawing/2014/main" id="{D51E5B69-2E2A-5E4F-9292-DDC14F6B8EFF}"/>
              </a:ext>
            </a:extLst>
          </p:cNvPr>
          <p:cNvSpPr txBox="1"/>
          <p:nvPr/>
        </p:nvSpPr>
        <p:spPr>
          <a:xfrm>
            <a:off x="5972800" y="4447872"/>
            <a:ext cx="212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Load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187;p27">
            <a:extLst>
              <a:ext uri="{FF2B5EF4-FFF2-40B4-BE49-F238E27FC236}">
                <a16:creationId xmlns:a16="http://schemas.microsoft.com/office/drawing/2014/main" id="{790B6CB9-BA62-6F5D-8C41-B664DC4FC352}"/>
              </a:ext>
            </a:extLst>
          </p:cNvPr>
          <p:cNvSpPr txBox="1"/>
          <p:nvPr/>
        </p:nvSpPr>
        <p:spPr>
          <a:xfrm>
            <a:off x="8039875" y="4467103"/>
            <a:ext cx="9393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100% load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188;p27">
            <a:extLst>
              <a:ext uri="{FF2B5EF4-FFF2-40B4-BE49-F238E27FC236}">
                <a16:creationId xmlns:a16="http://schemas.microsoft.com/office/drawing/2014/main" id="{89FB197B-EDA5-5255-89BB-3B642913153D}"/>
              </a:ext>
            </a:extLst>
          </p:cNvPr>
          <p:cNvSpPr txBox="1"/>
          <p:nvPr/>
        </p:nvSpPr>
        <p:spPr>
          <a:xfrm>
            <a:off x="5165355" y="2770811"/>
            <a:ext cx="8802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Average Packet Delay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0CE445-54D5-6BF6-8DE7-D82C8769BB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Congestion Control</a:t>
            </a:r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the 1980s, TCP did not implement congestion control.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rate was only limited by flow control (recipient buffer capacity).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packets are dropped, resend them over and over, at the same fast rate.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led to a </a:t>
            </a:r>
            <a:r>
              <a:rPr lang="en" i="1" dirty="0"/>
              <a:t>congestion collapse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1986: Capacity of a major link dropped to 0.1% of its original capacity.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Why? Network was flooded with thousands of copies of every packet.</a:t>
            </a:r>
          </a:p>
          <a:p>
            <a:pPr lvl="0"/>
            <a:r>
              <a:rPr lang="en-US" altLang="zh-CN" dirty="0"/>
              <a:t>Michael Karels and Van Jacobson changed a few lines of TCP code in BSD (an early OS) to fix the problem.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The fix worked, and everybody quickly adopted it.</a:t>
            </a:r>
          </a:p>
          <a:p>
            <a:pPr lvl="0"/>
            <a:r>
              <a:rPr lang="en-US" altLang="zh-CN" dirty="0"/>
              <a:t>Extensive research and improvements since the original patch.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B5F5B-D676-0267-DAC8-52A65DA6B7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Why is it hard?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07" name="Google Shape;207;p3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Congestion Control: Why is it hard?</a:t>
            </a:r>
            <a:endParaRPr sz="3200"/>
          </a:p>
        </p:txBody>
      </p:sp>
      <p:sp>
        <p:nvSpPr>
          <p:cNvPr id="208" name="Google Shape;208;p3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9063AA-7DCC-DCB9-D203-A19991F92F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/>
          <p:cNvSpPr/>
          <p:nvPr/>
        </p:nvSpPr>
        <p:spPr>
          <a:xfrm>
            <a:off x="3997675" y="2887025"/>
            <a:ext cx="1678975" cy="1650725"/>
          </a:xfrm>
          <a:custGeom>
            <a:avLst/>
            <a:gdLst/>
            <a:ahLst/>
            <a:cxnLst/>
            <a:rect l="l" t="t" r="r" b="b"/>
            <a:pathLst>
              <a:path w="67159" h="66029" extrusionOk="0">
                <a:moveTo>
                  <a:pt x="0" y="0"/>
                </a:moveTo>
                <a:cubicBezTo>
                  <a:pt x="4305" y="4332"/>
                  <a:pt x="15659" y="17974"/>
                  <a:pt x="25830" y="25992"/>
                </a:cubicBezTo>
                <a:cubicBezTo>
                  <a:pt x="36001" y="34010"/>
                  <a:pt x="54137" y="41437"/>
                  <a:pt x="61025" y="48110"/>
                </a:cubicBezTo>
                <a:cubicBezTo>
                  <a:pt x="67913" y="54783"/>
                  <a:pt x="66137" y="63043"/>
                  <a:pt x="67159" y="66029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Google Shape;214;p31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Google Shape;215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Destination</a:t>
            </a:r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the destination.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A → C</a:t>
            </a:r>
            <a:r>
              <a:rPr lang="en"/>
              <a:t> can send at 10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can only send at 2 Gbps.</a:t>
            </a:r>
            <a:endParaRPr/>
          </a:p>
        </p:txBody>
      </p:sp>
      <p:sp>
        <p:nvSpPr>
          <p:cNvPr id="217" name="Google Shape;217;p31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31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31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31"/>
          <p:cNvCxnSpPr>
            <a:stCxn id="217" idx="5"/>
            <a:endCxn id="219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31"/>
          <p:cNvCxnSpPr>
            <a:stCxn id="218" idx="6"/>
            <a:endCxn id="219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1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3" name="Google Shape;223;p31"/>
          <p:cNvCxnSpPr>
            <a:stCxn id="219" idx="2"/>
            <a:endCxn id="222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4" name="Google Shape;224;p31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31"/>
          <p:cNvCxnSpPr>
            <a:stCxn id="222" idx="3"/>
            <a:endCxn id="224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6" name="Google Shape;226;p31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31"/>
          <p:cNvCxnSpPr>
            <a:stCxn id="226" idx="1"/>
            <a:endCxn id="222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31"/>
          <p:cNvCxnSpPr>
            <a:stCxn id="226" idx="3"/>
            <a:endCxn id="224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9" name="Google Shape;229;p31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0" name="Google Shape;230;p31"/>
          <p:cNvCxnSpPr>
            <a:stCxn id="229" idx="1"/>
            <a:endCxn id="219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31"/>
          <p:cNvCxnSpPr>
            <a:stCxn id="229" idx="3"/>
            <a:endCxn id="226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31"/>
          <p:cNvCxnSpPr>
            <a:stCxn id="229" idx="3"/>
            <a:endCxn id="23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3" name="Google Shape;233;p31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31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5" name="Google Shape;235;p31"/>
          <p:cNvCxnSpPr>
            <a:stCxn id="234" idx="0"/>
            <a:endCxn id="23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31"/>
          <p:cNvCxnSpPr>
            <a:stCxn id="234" idx="1"/>
            <a:endCxn id="226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7" name="Google Shape;237;p31"/>
          <p:cNvCxnSpPr>
            <a:stCxn id="234" idx="2"/>
            <a:endCxn id="224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8" name="Google Shape;238;p31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9" name="Google Shape;239;p31"/>
          <p:cNvCxnSpPr>
            <a:stCxn id="238" idx="4"/>
            <a:endCxn id="229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0" name="Google Shape;240;p31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1" name="Google Shape;241;p31"/>
          <p:cNvCxnSpPr>
            <a:stCxn id="240" idx="2"/>
            <a:endCxn id="23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2" name="Google Shape;242;p31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3" name="Google Shape;243;p31"/>
          <p:cNvCxnSpPr>
            <a:stCxn id="242" idx="2"/>
            <a:endCxn id="234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4" name="Google Shape;244;p31"/>
          <p:cNvCxnSpPr>
            <a:stCxn id="245" idx="0"/>
            <a:endCxn id="224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5" name="Google Shape;245;p31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6" name="Google Shape;246;p31"/>
          <p:cNvCxnSpPr>
            <a:stCxn id="247" idx="0"/>
            <a:endCxn id="222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" name="Google Shape;247;p31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31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31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31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1" name="Google Shape;251;p31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2" name="Google Shape;252;p31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3" name="Google Shape;253;p31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31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5" name="Google Shape;255;p31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31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31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31"/>
          <p:cNvSpPr txBox="1"/>
          <p:nvPr/>
        </p:nvSpPr>
        <p:spPr>
          <a:xfrm>
            <a:off x="206550" y="4427300"/>
            <a:ext cx="3736372" cy="692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Numbers denote bandwidth in Gbps.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Ignore bandwidth of host-to-router LAN links, which is very high compared to router-to-router WAN links.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CFAFC4-5DF3-59D7-1C02-0D19E8D4AF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2"/>
          <p:cNvSpPr/>
          <p:nvPr/>
        </p:nvSpPr>
        <p:spPr>
          <a:xfrm>
            <a:off x="4013350" y="2902425"/>
            <a:ext cx="4475950" cy="1209850"/>
          </a:xfrm>
          <a:custGeom>
            <a:avLst/>
            <a:gdLst/>
            <a:ahLst/>
            <a:cxnLst/>
            <a:rect l="l" t="t" r="r" b="b"/>
            <a:pathLst>
              <a:path w="179038" h="48394" extrusionOk="0">
                <a:moveTo>
                  <a:pt x="0" y="0"/>
                </a:moveTo>
                <a:cubicBezTo>
                  <a:pt x="4440" y="4332"/>
                  <a:pt x="16575" y="17947"/>
                  <a:pt x="26638" y="25992"/>
                </a:cubicBezTo>
                <a:cubicBezTo>
                  <a:pt x="36701" y="34037"/>
                  <a:pt x="51608" y="46899"/>
                  <a:pt x="60379" y="48271"/>
                </a:cubicBezTo>
                <a:cubicBezTo>
                  <a:pt x="69151" y="49643"/>
                  <a:pt x="73886" y="38612"/>
                  <a:pt x="79267" y="34226"/>
                </a:cubicBezTo>
                <a:cubicBezTo>
                  <a:pt x="84648" y="29840"/>
                  <a:pt x="85402" y="23382"/>
                  <a:pt x="92667" y="21956"/>
                </a:cubicBezTo>
                <a:cubicBezTo>
                  <a:pt x="99932" y="20530"/>
                  <a:pt x="108461" y="24270"/>
                  <a:pt x="122856" y="25669"/>
                </a:cubicBezTo>
                <a:cubicBezTo>
                  <a:pt x="137251" y="27068"/>
                  <a:pt x="169674" y="29571"/>
                  <a:pt x="179038" y="30351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Google Shape;264;p32"/>
          <p:cNvSpPr/>
          <p:nvPr/>
        </p:nvSpPr>
        <p:spPr>
          <a:xfrm>
            <a:off x="4123725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Google Shape;265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Path</a:t>
            </a:r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→ E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the path through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A → E via R3</a:t>
            </a:r>
            <a:r>
              <a:rPr lang="en"/>
              <a:t> can send at 10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E via R2</a:t>
            </a:r>
            <a:r>
              <a:rPr lang="en"/>
              <a:t> can send at 1 Gbps.</a:t>
            </a:r>
            <a:endParaRPr/>
          </a:p>
        </p:txBody>
      </p:sp>
      <p:sp>
        <p:nvSpPr>
          <p:cNvPr id="267" name="Google Shape;267;p32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32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32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0" name="Google Shape;270;p32"/>
          <p:cNvCxnSpPr>
            <a:stCxn id="267" idx="5"/>
            <a:endCxn id="269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1" name="Google Shape;271;p32"/>
          <p:cNvCxnSpPr>
            <a:stCxn id="268" idx="6"/>
            <a:endCxn id="269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2" name="Google Shape;272;p32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3" name="Google Shape;273;p32"/>
          <p:cNvCxnSpPr>
            <a:stCxn id="269" idx="2"/>
            <a:endCxn id="272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4" name="Google Shape;274;p32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5" name="Google Shape;275;p32"/>
          <p:cNvCxnSpPr>
            <a:stCxn id="272" idx="3"/>
            <a:endCxn id="274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6" name="Google Shape;276;p32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7" name="Google Shape;277;p32"/>
          <p:cNvCxnSpPr>
            <a:stCxn id="276" idx="1"/>
            <a:endCxn id="272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8" name="Google Shape;278;p32"/>
          <p:cNvCxnSpPr>
            <a:stCxn id="276" idx="3"/>
            <a:endCxn id="274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9" name="Google Shape;279;p32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0" name="Google Shape;280;p32"/>
          <p:cNvCxnSpPr>
            <a:stCxn id="279" idx="1"/>
            <a:endCxn id="269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32"/>
          <p:cNvCxnSpPr>
            <a:stCxn id="279" idx="3"/>
            <a:endCxn id="276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2" name="Google Shape;282;p32"/>
          <p:cNvCxnSpPr>
            <a:stCxn id="279" idx="3"/>
            <a:endCxn id="28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3" name="Google Shape;283;p32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4" name="Google Shape;284;p32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5" name="Google Shape;285;p32"/>
          <p:cNvCxnSpPr>
            <a:stCxn id="284" idx="0"/>
            <a:endCxn id="28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6" name="Google Shape;286;p32"/>
          <p:cNvCxnSpPr>
            <a:stCxn id="284" idx="1"/>
            <a:endCxn id="276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7" name="Google Shape;287;p32"/>
          <p:cNvCxnSpPr>
            <a:stCxn id="284" idx="2"/>
            <a:endCxn id="274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8" name="Google Shape;288;p32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9" name="Google Shape;289;p32"/>
          <p:cNvCxnSpPr>
            <a:stCxn id="288" idx="4"/>
            <a:endCxn id="279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0" name="Google Shape;290;p32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1" name="Google Shape;291;p32"/>
          <p:cNvCxnSpPr>
            <a:stCxn id="290" idx="2"/>
            <a:endCxn id="28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2" name="Google Shape;292;p32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3" name="Google Shape;293;p32"/>
          <p:cNvCxnSpPr>
            <a:stCxn id="292" idx="2"/>
            <a:endCxn id="284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2"/>
          <p:cNvCxnSpPr>
            <a:stCxn id="295" idx="0"/>
            <a:endCxn id="274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5" name="Google Shape;295;p32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6" name="Google Shape;296;p32"/>
          <p:cNvCxnSpPr>
            <a:stCxn id="297" idx="0"/>
            <a:endCxn id="272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7" name="Google Shape;297;p32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8" name="Google Shape;298;p32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32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32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1" name="Google Shape;301;p32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32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3" name="Google Shape;303;p32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32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32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32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D943E2-15B0-A244-2F68-8FE1EE884D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3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Google Shape;313;p33"/>
          <p:cNvSpPr/>
          <p:nvPr/>
        </p:nvSpPr>
        <p:spPr>
          <a:xfrm>
            <a:off x="3683800" y="2706750"/>
            <a:ext cx="4766571" cy="854100"/>
          </a:xfrm>
          <a:custGeom>
            <a:avLst/>
            <a:gdLst/>
            <a:ahLst/>
            <a:cxnLst/>
            <a:rect l="l" t="t" r="r" b="b"/>
            <a:pathLst>
              <a:path w="188402" h="34164" extrusionOk="0">
                <a:moveTo>
                  <a:pt x="0" y="34002"/>
                </a:moveTo>
                <a:cubicBezTo>
                  <a:pt x="7480" y="33760"/>
                  <a:pt x="35356" y="34056"/>
                  <a:pt x="44881" y="32549"/>
                </a:cubicBezTo>
                <a:cubicBezTo>
                  <a:pt x="54406" y="31042"/>
                  <a:pt x="50666" y="30316"/>
                  <a:pt x="57150" y="24962"/>
                </a:cubicBezTo>
                <a:cubicBezTo>
                  <a:pt x="63635" y="19608"/>
                  <a:pt x="77438" y="2818"/>
                  <a:pt x="83788" y="423"/>
                </a:cubicBezTo>
                <a:cubicBezTo>
                  <a:pt x="90138" y="-1972"/>
                  <a:pt x="91483" y="6853"/>
                  <a:pt x="95250" y="10593"/>
                </a:cubicBezTo>
                <a:cubicBezTo>
                  <a:pt x="99017" y="14333"/>
                  <a:pt x="102758" y="20710"/>
                  <a:pt x="106390" y="22863"/>
                </a:cubicBezTo>
                <a:cubicBezTo>
                  <a:pt x="110023" y="25016"/>
                  <a:pt x="103376" y="21626"/>
                  <a:pt x="117045" y="23509"/>
                </a:cubicBezTo>
                <a:cubicBezTo>
                  <a:pt x="130714" y="25393"/>
                  <a:pt x="176509" y="32388"/>
                  <a:pt x="188402" y="34164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Google Shape;314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Competing Flows</a:t>
            </a:r>
            <a:endParaRPr/>
          </a:p>
        </p:txBody>
      </p:sp>
      <p:sp>
        <p:nvSpPr>
          <p:cNvPr id="315" name="Google Shape;315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→ F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others using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and </a:t>
            </a: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share a link.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can send at 1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can send at 1 Gbps.</a:t>
            </a:r>
            <a:endParaRPr/>
          </a:p>
        </p:txBody>
      </p:sp>
      <p:sp>
        <p:nvSpPr>
          <p:cNvPr id="316" name="Google Shape;316;p33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33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33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9" name="Google Shape;319;p33"/>
          <p:cNvCxnSpPr>
            <a:stCxn id="316" idx="5"/>
            <a:endCxn id="318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0" name="Google Shape;320;p33"/>
          <p:cNvCxnSpPr>
            <a:stCxn id="317" idx="6"/>
            <a:endCxn id="318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1" name="Google Shape;321;p33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2" name="Google Shape;322;p33"/>
          <p:cNvCxnSpPr>
            <a:stCxn id="318" idx="2"/>
            <a:endCxn id="321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3" name="Google Shape;323;p33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4" name="Google Shape;324;p33"/>
          <p:cNvCxnSpPr>
            <a:stCxn id="321" idx="3"/>
            <a:endCxn id="323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5" name="Google Shape;325;p33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6" name="Google Shape;326;p33"/>
          <p:cNvCxnSpPr>
            <a:stCxn id="325" idx="1"/>
            <a:endCxn id="321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7" name="Google Shape;327;p33"/>
          <p:cNvCxnSpPr>
            <a:stCxn id="325" idx="3"/>
            <a:endCxn id="323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8" name="Google Shape;328;p33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9" name="Google Shape;329;p33"/>
          <p:cNvCxnSpPr>
            <a:stCxn id="328" idx="1"/>
            <a:endCxn id="318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0" name="Google Shape;330;p33"/>
          <p:cNvCxnSpPr>
            <a:stCxn id="328" idx="3"/>
            <a:endCxn id="325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1" name="Google Shape;331;p33"/>
          <p:cNvCxnSpPr>
            <a:stCxn id="328" idx="3"/>
            <a:endCxn id="332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p33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33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4" name="Google Shape;334;p33"/>
          <p:cNvCxnSpPr>
            <a:stCxn id="333" idx="0"/>
            <a:endCxn id="332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5" name="Google Shape;335;p33"/>
          <p:cNvCxnSpPr>
            <a:stCxn id="333" idx="1"/>
            <a:endCxn id="325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6" name="Google Shape;336;p33"/>
          <p:cNvCxnSpPr>
            <a:stCxn id="333" idx="2"/>
            <a:endCxn id="323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7" name="Google Shape;337;p33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8" name="Google Shape;338;p33"/>
          <p:cNvCxnSpPr>
            <a:stCxn id="337" idx="4"/>
            <a:endCxn id="328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p33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0" name="Google Shape;340;p33"/>
          <p:cNvCxnSpPr>
            <a:stCxn id="339" idx="2"/>
            <a:endCxn id="332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1" name="Google Shape;341;p33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2" name="Google Shape;342;p33"/>
          <p:cNvCxnSpPr>
            <a:stCxn id="341" idx="2"/>
            <a:endCxn id="333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3" name="Google Shape;343;p33"/>
          <p:cNvCxnSpPr>
            <a:stCxn id="344" idx="0"/>
            <a:endCxn id="323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4" name="Google Shape;344;p33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5" name="Google Shape;345;p33"/>
          <p:cNvCxnSpPr>
            <a:stCxn id="346" idx="0"/>
            <a:endCxn id="321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6" name="Google Shape;346;p33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7" name="Google Shape;347;p33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8" name="Google Shape;348;p33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9" name="Google Shape;349;p33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0" name="Google Shape;350;p33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33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3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33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33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33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3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CE8D1A-C445-6015-F094-29D7B92077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Indirect Competition</a:t>
            </a:r>
            <a:endParaRPr/>
          </a:p>
        </p:txBody>
      </p:sp>
      <p:sp>
        <p:nvSpPr>
          <p:cNvPr id="362" name="Google Shape;362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</a:t>
            </a:r>
            <a:r>
              <a:rPr lang="en">
                <a:solidFill>
                  <a:srgbClr val="0000FF"/>
                </a:solidFill>
              </a:rPr>
              <a:t>G → D</a:t>
            </a:r>
            <a:r>
              <a:rPr lang="en"/>
              <a:t> starts sending traffic?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Maybe </a:t>
            </a: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should slow to 0.5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 </a:t>
            </a: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could increase to 1.5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</a:rPr>
              <a:t>G → D</a:t>
            </a:r>
            <a:r>
              <a:rPr lang="en"/>
              <a:t> and </a:t>
            </a: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share no links, but they</a:t>
            </a:r>
            <a:br>
              <a:rPr lang="en"/>
            </a:br>
            <a:r>
              <a:rPr lang="en"/>
              <a:t>still affected each other's bandwidth.</a:t>
            </a:r>
            <a:endParaRPr/>
          </a:p>
        </p:txBody>
      </p:sp>
      <p:sp>
        <p:nvSpPr>
          <p:cNvPr id="363" name="Google Shape;363;p34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4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65" name="Google Shape;365;p34"/>
          <p:cNvCxnSpPr>
            <a:stCxn id="363" idx="5"/>
            <a:endCxn id="366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" name="Google Shape;367;p34"/>
          <p:cNvCxnSpPr>
            <a:stCxn id="364" idx="6"/>
            <a:endCxn id="366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8" name="Google Shape;368;p34"/>
          <p:cNvCxnSpPr>
            <a:stCxn id="366" idx="2"/>
            <a:endCxn id="369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0" name="Google Shape;370;p34"/>
          <p:cNvCxnSpPr>
            <a:stCxn id="369" idx="3"/>
            <a:endCxn id="371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2" name="Google Shape;372;p34"/>
          <p:cNvCxnSpPr>
            <a:stCxn id="373" idx="1"/>
            <a:endCxn id="369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4" name="Google Shape;374;p34"/>
          <p:cNvCxnSpPr>
            <a:stCxn id="373" idx="3"/>
            <a:endCxn id="371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5" name="Google Shape;375;p34"/>
          <p:cNvCxnSpPr>
            <a:stCxn id="376" idx="1"/>
            <a:endCxn id="366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7" name="Google Shape;377;p34"/>
          <p:cNvCxnSpPr>
            <a:stCxn id="376" idx="3"/>
            <a:endCxn id="373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8" name="Google Shape;378;p34"/>
          <p:cNvCxnSpPr>
            <a:stCxn id="376" idx="3"/>
            <a:endCxn id="379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0" name="Google Shape;380;p34"/>
          <p:cNvCxnSpPr>
            <a:stCxn id="381" idx="0"/>
            <a:endCxn id="379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2" name="Google Shape;382;p34"/>
          <p:cNvCxnSpPr>
            <a:stCxn id="381" idx="1"/>
            <a:endCxn id="373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3" name="Google Shape;383;p34"/>
          <p:cNvCxnSpPr>
            <a:stCxn id="381" idx="2"/>
            <a:endCxn id="371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4" name="Google Shape;384;p34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5" name="Google Shape;385;p34"/>
          <p:cNvCxnSpPr>
            <a:stCxn id="384" idx="4"/>
            <a:endCxn id="376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6" name="Google Shape;386;p34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7" name="Google Shape;387;p34"/>
          <p:cNvCxnSpPr>
            <a:stCxn id="386" idx="2"/>
            <a:endCxn id="379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8" name="Google Shape;388;p34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9" name="Google Shape;389;p34"/>
          <p:cNvCxnSpPr>
            <a:stCxn id="388" idx="2"/>
            <a:endCxn id="381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0" name="Google Shape;390;p34"/>
          <p:cNvCxnSpPr>
            <a:stCxn id="391" idx="0"/>
            <a:endCxn id="371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1" name="Google Shape;391;p34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2" name="Google Shape;392;p34"/>
          <p:cNvCxnSpPr>
            <a:stCxn id="393" idx="0"/>
            <a:endCxn id="369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3" name="Google Shape;393;p34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4" name="Google Shape;394;p34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5" name="Google Shape;395;p34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6" name="Google Shape;396;p34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7" name="Google Shape;397;p34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8" name="Google Shape;398;p34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34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34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34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34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4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34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Google Shape;405;p34"/>
          <p:cNvSpPr/>
          <p:nvPr/>
        </p:nvSpPr>
        <p:spPr>
          <a:xfrm>
            <a:off x="3683800" y="2706750"/>
            <a:ext cx="4766571" cy="854100"/>
          </a:xfrm>
          <a:custGeom>
            <a:avLst/>
            <a:gdLst/>
            <a:ahLst/>
            <a:cxnLst/>
            <a:rect l="l" t="t" r="r" b="b"/>
            <a:pathLst>
              <a:path w="188402" h="34164" extrusionOk="0">
                <a:moveTo>
                  <a:pt x="0" y="34002"/>
                </a:moveTo>
                <a:cubicBezTo>
                  <a:pt x="7480" y="33760"/>
                  <a:pt x="35356" y="34056"/>
                  <a:pt x="44881" y="32549"/>
                </a:cubicBezTo>
                <a:cubicBezTo>
                  <a:pt x="54406" y="31042"/>
                  <a:pt x="50666" y="30316"/>
                  <a:pt x="57150" y="24962"/>
                </a:cubicBezTo>
                <a:cubicBezTo>
                  <a:pt x="63635" y="19608"/>
                  <a:pt x="77438" y="2818"/>
                  <a:pt x="83788" y="423"/>
                </a:cubicBezTo>
                <a:cubicBezTo>
                  <a:pt x="90138" y="-1972"/>
                  <a:pt x="91483" y="6853"/>
                  <a:pt x="95250" y="10593"/>
                </a:cubicBezTo>
                <a:cubicBezTo>
                  <a:pt x="99017" y="14333"/>
                  <a:pt x="102758" y="20710"/>
                  <a:pt x="106390" y="22863"/>
                </a:cubicBezTo>
                <a:cubicBezTo>
                  <a:pt x="110023" y="25016"/>
                  <a:pt x="103376" y="21626"/>
                  <a:pt x="117045" y="23509"/>
                </a:cubicBezTo>
                <a:cubicBezTo>
                  <a:pt x="130714" y="25393"/>
                  <a:pt x="176509" y="32388"/>
                  <a:pt x="188402" y="34164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Google Shape;406;p34"/>
          <p:cNvSpPr/>
          <p:nvPr/>
        </p:nvSpPr>
        <p:spPr>
          <a:xfrm>
            <a:off x="5629175" y="2074375"/>
            <a:ext cx="1114750" cy="2643600"/>
          </a:xfrm>
          <a:custGeom>
            <a:avLst/>
            <a:gdLst/>
            <a:ahLst/>
            <a:cxnLst/>
            <a:rect l="l" t="t" r="r" b="b"/>
            <a:pathLst>
              <a:path w="44590" h="105744" extrusionOk="0">
                <a:moveTo>
                  <a:pt x="0" y="0"/>
                </a:moveTo>
                <a:cubicBezTo>
                  <a:pt x="619" y="3390"/>
                  <a:pt x="-780" y="11893"/>
                  <a:pt x="3713" y="20342"/>
                </a:cubicBezTo>
                <a:cubicBezTo>
                  <a:pt x="8206" y="28791"/>
                  <a:pt x="20502" y="40065"/>
                  <a:pt x="26960" y="50693"/>
                </a:cubicBezTo>
                <a:cubicBezTo>
                  <a:pt x="33418" y="61321"/>
                  <a:pt x="39526" y="74936"/>
                  <a:pt x="42459" y="84111"/>
                </a:cubicBezTo>
                <a:cubicBezTo>
                  <a:pt x="45392" y="93286"/>
                  <a:pt x="44207" y="102139"/>
                  <a:pt x="44557" y="105744"/>
                </a:cubicBezTo>
              </a:path>
            </a:pathLst>
          </a:cu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Google Shape;366;p34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4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p34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3" name="Google Shape;373;p34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6" name="Google Shape;376;p34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9" name="Google Shape;379;p34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1" name="Google Shape;381;p34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44909B-67BB-8916-7E8F-E51D197E53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is a Global Problem</a:t>
            </a:r>
            <a:endParaRPr/>
          </a:p>
        </p:txBody>
      </p:sp>
      <p:sp>
        <p:nvSpPr>
          <p:cNvPr id="412" name="Google Shape;412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sender's optimal rate depends 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path to the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 connections sharing links along that path.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sharing links with those other connections.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so on...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Congestion control is a global problem.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in the network are highly interdependent.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Solving it optimally requires a global view of the network.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76C2E0-34DA-EB2D-A609-5DD07A8D374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as Resource Allocation Problem</a:t>
            </a:r>
            <a:endParaRPr/>
          </a:p>
        </p:txBody>
      </p:sp>
      <p:sp>
        <p:nvSpPr>
          <p:cNvPr id="418" name="Google Shape;418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Fundamentally, congestion control is a </a:t>
            </a:r>
            <a:r>
              <a:rPr lang="en" i="1"/>
              <a:t>resource allocation problem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is a limited resource.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connection demands a certain amount of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decide how much to allocate to each connection.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Resource allocation is a classic problem (e.g. CPU scheduling, memory allocation).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But, congestion control has additional challenges.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change in one connection can have a global impact.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Network topology is constantly changing.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are constantly starting and ending.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Everybody must solve it locally. No global view of network.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F1A9ED-A333-39AC-D3E7-23E4778839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Design Goals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424" name="Google Shape;424;p37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Goals</a:t>
            </a:r>
            <a:endParaRPr/>
          </a:p>
        </p:txBody>
      </p:sp>
      <p:sp>
        <p:nvSpPr>
          <p:cNvPr id="425" name="Google Shape;425;p37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0EED37-4FCB-F0AA-26FA-BF4DDD69C5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Goals</a:t>
            </a:r>
            <a:endParaRPr/>
          </a:p>
        </p:txBody>
      </p:sp>
      <p:sp>
        <p:nvSpPr>
          <p:cNvPr id="431" name="Google Shape;431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Goals for a good congestion control algorithm: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Avoid congestion: Minimize packet delay and loss.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Efficiency: Maximize link utilization.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Fairness: Connections should share the available bandwidth.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Practical to implement: Scalable, decentralized, adaptive, etc.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Our ultimate goal is a good tradeoff between these metrics.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068BD2-3B08-4D52-D504-4302E827C1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Possible Approaches</a:t>
            </a:r>
            <a:endParaRPr/>
          </a:p>
        </p:txBody>
      </p:sp>
      <p:sp>
        <p:nvSpPr>
          <p:cNvPr id="437" name="Google Shape;437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Reservations: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reserve bandwidth at the start, and release bandwidth at the end.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connections to know bandwidth ahead of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 problems: Hard to implement, inefficient bandwidth usage, etc.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Pricing/priorities: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Express toll lanes on the highway. Price changes depending on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Prioritize traffic from users who pay more.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a payment model.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Dynamic adjustment: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 the current congestion level, and adjust your rate accordingly.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good citizenship (no cheating).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6E1787-9420-8D46-E6C6-B7F9DC463E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Possible Approaches</a:t>
            </a:r>
            <a:endParaRPr/>
          </a:p>
        </p:txBody>
      </p:sp>
      <p:sp>
        <p:nvSpPr>
          <p:cNvPr id="443" name="Google Shape;443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86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3 possible approaches: reservations, pricing, and dynamic adjustment.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the algorithms we'll see are based on dynamic adjustment.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we rebuilt the Internet from scratch, another approach might be feasible.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congestion control was invented as a patch on the existing Internet.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Dynamic adjustment is the best fit for the existing Internet: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Doesn't require knowing bandwidth ahead of time.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Doesn't require a payment model.</a:t>
            </a:r>
            <a:endParaRPr/>
          </a:p>
        </p:txBody>
      </p:sp>
      <p:sp>
        <p:nvSpPr>
          <p:cNvPr id="444" name="Google Shape;444;p40"/>
          <p:cNvSpPr txBox="1"/>
          <p:nvPr/>
        </p:nvSpPr>
        <p:spPr>
          <a:xfrm>
            <a:off x="2971950" y="3135750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5" name="Google Shape;445;p40"/>
          <p:cNvSpPr txBox="1"/>
          <p:nvPr/>
        </p:nvSpPr>
        <p:spPr>
          <a:xfrm>
            <a:off x="3677400" y="39094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6" name="Google Shape;446;p40"/>
          <p:cNvCxnSpPr>
            <a:stCxn id="444" idx="2"/>
            <a:endCxn id="445" idx="0"/>
          </p:cNvCxnSpPr>
          <p:nvPr/>
        </p:nvCxnSpPr>
        <p:spPr>
          <a:xfrm>
            <a:off x="4318500" y="3406650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7" name="Google Shape;447;p40"/>
          <p:cNvSpPr txBox="1"/>
          <p:nvPr/>
        </p:nvSpPr>
        <p:spPr>
          <a:xfrm>
            <a:off x="2382000" y="39094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8" name="Google Shape;448;p40"/>
          <p:cNvCxnSpPr>
            <a:stCxn id="444" idx="2"/>
            <a:endCxn id="447" idx="0"/>
          </p:cNvCxnSpPr>
          <p:nvPr/>
        </p:nvCxnSpPr>
        <p:spPr>
          <a:xfrm flipH="1">
            <a:off x="3023100" y="34066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9" name="Google Shape;449;p40"/>
          <p:cNvSpPr txBox="1"/>
          <p:nvPr/>
        </p:nvSpPr>
        <p:spPr>
          <a:xfrm>
            <a:off x="4686900" y="3909450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0" name="Google Shape;450;p40"/>
          <p:cNvCxnSpPr>
            <a:stCxn id="444" idx="2"/>
            <a:endCxn id="449" idx="0"/>
          </p:cNvCxnSpPr>
          <p:nvPr/>
        </p:nvCxnSpPr>
        <p:spPr>
          <a:xfrm>
            <a:off x="4318500" y="34066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AD5796-8B63-C55D-3CC4-BD50CB1A47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Algorithm Sketch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456" name="Google Shape;456;p4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Adjustment: Algorithm Sketch</a:t>
            </a:r>
            <a:endParaRPr/>
          </a:p>
        </p:txBody>
      </p:sp>
      <p:sp>
        <p:nvSpPr>
          <p:cNvPr id="457" name="Google Shape;457;p4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49EC1A-0EE4-8BF5-AE19-1AC98E430C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Adjustment: Discovery</a:t>
            </a:r>
            <a:endParaRPr/>
          </a:p>
        </p:txBody>
      </p:sp>
      <p:sp>
        <p:nvSpPr>
          <p:cNvPr id="463" name="Google Shape;463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Discovery: Host A discovers it can send data at 10 Gbps.</a:t>
            </a:r>
            <a:endParaRPr/>
          </a:p>
        </p:txBody>
      </p:sp>
      <p:sp>
        <p:nvSpPr>
          <p:cNvPr id="464" name="Google Shape;464;p42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5" name="Google Shape;465;p42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6" name="Google Shape;466;p42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7" name="Google Shape;467;p42"/>
          <p:cNvCxnSpPr>
            <a:stCxn id="464" idx="5"/>
            <a:endCxn id="466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8" name="Google Shape;468;p42"/>
          <p:cNvCxnSpPr>
            <a:stCxn id="465" idx="6"/>
            <a:endCxn id="466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p42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0" name="Google Shape;470;p42"/>
          <p:cNvCxnSpPr>
            <a:stCxn id="466" idx="2"/>
            <a:endCxn id="469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1" name="Google Shape;471;p42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2" name="Google Shape;472;p42"/>
          <p:cNvCxnSpPr>
            <a:stCxn id="469" idx="3"/>
            <a:endCxn id="471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3" name="Google Shape;473;p42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4" name="Google Shape;474;p42"/>
          <p:cNvCxnSpPr>
            <a:stCxn id="473" idx="1"/>
            <a:endCxn id="469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5" name="Google Shape;475;p42"/>
          <p:cNvCxnSpPr>
            <a:stCxn id="473" idx="3"/>
            <a:endCxn id="471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6" name="Google Shape;476;p42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7" name="Google Shape;477;p42"/>
          <p:cNvCxnSpPr>
            <a:stCxn id="476" idx="1"/>
            <a:endCxn id="466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8" name="Google Shape;478;p42"/>
          <p:cNvCxnSpPr>
            <a:stCxn id="476" idx="3"/>
            <a:endCxn id="473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9" name="Google Shape;479;p42"/>
          <p:cNvCxnSpPr>
            <a:stCxn id="476" idx="3"/>
            <a:endCxn id="480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p42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1" name="Google Shape;481;p42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2" name="Google Shape;482;p42"/>
          <p:cNvCxnSpPr>
            <a:stCxn id="481" idx="0"/>
            <a:endCxn id="480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3" name="Google Shape;483;p42"/>
          <p:cNvCxnSpPr>
            <a:stCxn id="481" idx="1"/>
            <a:endCxn id="473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4" name="Google Shape;484;p42"/>
          <p:cNvCxnSpPr>
            <a:stCxn id="481" idx="2"/>
            <a:endCxn id="471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5" name="Google Shape;485;p42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6" name="Google Shape;486;p42"/>
          <p:cNvCxnSpPr>
            <a:stCxn id="485" idx="4"/>
            <a:endCxn id="476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7" name="Google Shape;487;p42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8" name="Google Shape;488;p42"/>
          <p:cNvCxnSpPr>
            <a:stCxn id="487" idx="2"/>
            <a:endCxn id="480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9" name="Google Shape;489;p42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0" name="Google Shape;490;p42"/>
          <p:cNvCxnSpPr>
            <a:stCxn id="489" idx="2"/>
            <a:endCxn id="481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1" name="Google Shape;491;p42"/>
          <p:cNvCxnSpPr>
            <a:stCxn id="492" idx="0"/>
            <a:endCxn id="471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2" name="Google Shape;492;p42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3" name="Google Shape;493;p42"/>
          <p:cNvCxnSpPr>
            <a:stCxn id="494" idx="0"/>
            <a:endCxn id="469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4" name="Google Shape;494;p42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2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6" name="Google Shape;496;p42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7" name="Google Shape;497;p42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8" name="Google Shape;498;p42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9" name="Google Shape;499;p42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0" name="Google Shape;500;p42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1" name="Google Shape;501;p42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2" name="Google Shape;502;p42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3" name="Google Shape;503;p42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4" name="Google Shape;504;p42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5" name="Google Shape;505;p42"/>
          <p:cNvSpPr/>
          <p:nvPr/>
        </p:nvSpPr>
        <p:spPr>
          <a:xfrm>
            <a:off x="4013350" y="2902425"/>
            <a:ext cx="4475950" cy="1209850"/>
          </a:xfrm>
          <a:custGeom>
            <a:avLst/>
            <a:gdLst/>
            <a:ahLst/>
            <a:cxnLst/>
            <a:rect l="l" t="t" r="r" b="b"/>
            <a:pathLst>
              <a:path w="179038" h="48394" extrusionOk="0">
                <a:moveTo>
                  <a:pt x="0" y="0"/>
                </a:moveTo>
                <a:cubicBezTo>
                  <a:pt x="4440" y="4332"/>
                  <a:pt x="16575" y="17947"/>
                  <a:pt x="26638" y="25992"/>
                </a:cubicBezTo>
                <a:cubicBezTo>
                  <a:pt x="36701" y="34037"/>
                  <a:pt x="51608" y="46899"/>
                  <a:pt x="60379" y="48271"/>
                </a:cubicBezTo>
                <a:cubicBezTo>
                  <a:pt x="69151" y="49643"/>
                  <a:pt x="73886" y="38612"/>
                  <a:pt x="79267" y="34226"/>
                </a:cubicBezTo>
                <a:cubicBezTo>
                  <a:pt x="84648" y="29840"/>
                  <a:pt x="85402" y="23382"/>
                  <a:pt x="92667" y="21956"/>
                </a:cubicBezTo>
                <a:cubicBezTo>
                  <a:pt x="99932" y="20530"/>
                  <a:pt x="108461" y="24270"/>
                  <a:pt x="122856" y="25669"/>
                </a:cubicBezTo>
                <a:cubicBezTo>
                  <a:pt x="137251" y="27068"/>
                  <a:pt x="169674" y="29571"/>
                  <a:pt x="179038" y="30351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068CFE-3096-C548-9FD7-61C24A0214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Dynamic Adjustment: Detection and Adjustment</a:t>
            </a:r>
            <a:endParaRPr/>
          </a:p>
        </p:txBody>
      </p:sp>
      <p:sp>
        <p:nvSpPr>
          <p:cNvPr id="511" name="Google Shape;511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Later, the R1 → R3 link goes down. A's traffic is rerouted.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Detection: A notices that 10 Gbps is congesting the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Adjustment: A decides to slow down to 1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p43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43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4" name="Google Shape;514;p43"/>
          <p:cNvCxnSpPr>
            <a:stCxn id="512" idx="5"/>
            <a:endCxn id="515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6" name="Google Shape;516;p43"/>
          <p:cNvCxnSpPr>
            <a:stCxn id="513" idx="6"/>
            <a:endCxn id="515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7" name="Google Shape;517;p43"/>
          <p:cNvCxnSpPr>
            <a:stCxn id="518" idx="3"/>
            <a:endCxn id="519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0" name="Google Shape;520;p43"/>
          <p:cNvCxnSpPr>
            <a:stCxn id="521" idx="1"/>
            <a:endCxn id="518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2" name="Google Shape;522;p43"/>
          <p:cNvCxnSpPr>
            <a:stCxn id="521" idx="3"/>
            <a:endCxn id="519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3" name="Google Shape;523;p43"/>
          <p:cNvCxnSpPr>
            <a:stCxn id="524" idx="1"/>
            <a:endCxn id="515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5" name="Google Shape;525;p43"/>
          <p:cNvCxnSpPr>
            <a:stCxn id="524" idx="3"/>
            <a:endCxn id="521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6" name="Google Shape;526;p43"/>
          <p:cNvCxnSpPr>
            <a:stCxn id="524" idx="3"/>
            <a:endCxn id="527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8" name="Google Shape;528;p43"/>
          <p:cNvCxnSpPr>
            <a:stCxn id="529" idx="0"/>
            <a:endCxn id="527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0" name="Google Shape;530;p43"/>
          <p:cNvCxnSpPr>
            <a:stCxn id="529" idx="1"/>
            <a:endCxn id="521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1" name="Google Shape;531;p43"/>
          <p:cNvCxnSpPr>
            <a:stCxn id="529" idx="2"/>
            <a:endCxn id="519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2" name="Google Shape;532;p43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3" name="Google Shape;533;p43"/>
          <p:cNvCxnSpPr>
            <a:stCxn id="532" idx="4"/>
            <a:endCxn id="524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4" name="Google Shape;534;p43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5" name="Google Shape;535;p43"/>
          <p:cNvCxnSpPr>
            <a:stCxn id="534" idx="2"/>
            <a:endCxn id="527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6" name="Google Shape;536;p43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7" name="Google Shape;537;p43"/>
          <p:cNvCxnSpPr>
            <a:stCxn id="536" idx="2"/>
            <a:endCxn id="529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8" name="Google Shape;538;p43"/>
          <p:cNvCxnSpPr>
            <a:stCxn id="539" idx="0"/>
            <a:endCxn id="519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9" name="Google Shape;539;p43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0" name="Google Shape;540;p43"/>
          <p:cNvCxnSpPr>
            <a:stCxn id="541" idx="0"/>
            <a:endCxn id="518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p43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43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43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43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43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3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43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8" name="Google Shape;548;p43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9" name="Google Shape;549;p43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43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43"/>
          <p:cNvSpPr/>
          <p:nvPr/>
        </p:nvSpPr>
        <p:spPr>
          <a:xfrm>
            <a:off x="4094101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Google Shape;515;p43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8" name="Google Shape;518;p43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9" name="Google Shape;519;p43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1" name="Google Shape;521;p43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4" name="Google Shape;524;p43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7" name="Google Shape;527;p43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9" name="Google Shape;529;p43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02C244-1AE8-4E0D-DC55-F2F03C2040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Dynamic Adjustment: Detection and Adjustment</a:t>
            </a:r>
            <a:endParaRPr/>
          </a:p>
        </p:txBody>
      </p:sp>
      <p:sp>
        <p:nvSpPr>
          <p:cNvPr id="557" name="Google Shape;557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Later, G → D starts sending traffic.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Detection: A notices that 1 Gbps is congesting the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Adjustment: A decides to slow down to 0.5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44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9" name="Google Shape;559;p44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0" name="Google Shape;560;p44"/>
          <p:cNvCxnSpPr>
            <a:stCxn id="558" idx="5"/>
            <a:endCxn id="561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2" name="Google Shape;562;p44"/>
          <p:cNvCxnSpPr>
            <a:stCxn id="559" idx="6"/>
            <a:endCxn id="561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3" name="Google Shape;563;p44"/>
          <p:cNvCxnSpPr>
            <a:stCxn id="564" idx="3"/>
            <a:endCxn id="565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6" name="Google Shape;566;p44"/>
          <p:cNvCxnSpPr>
            <a:stCxn id="567" idx="1"/>
            <a:endCxn id="564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8" name="Google Shape;568;p44"/>
          <p:cNvCxnSpPr>
            <a:stCxn id="567" idx="3"/>
            <a:endCxn id="565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9" name="Google Shape;569;p44"/>
          <p:cNvCxnSpPr>
            <a:stCxn id="570" idx="1"/>
            <a:endCxn id="561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1" name="Google Shape;571;p44"/>
          <p:cNvCxnSpPr>
            <a:stCxn id="570" idx="3"/>
            <a:endCxn id="567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2" name="Google Shape;572;p44"/>
          <p:cNvCxnSpPr>
            <a:stCxn id="570" idx="3"/>
            <a:endCxn id="57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4" name="Google Shape;574;p44"/>
          <p:cNvCxnSpPr>
            <a:stCxn id="575" idx="0"/>
            <a:endCxn id="57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6" name="Google Shape;576;p44"/>
          <p:cNvCxnSpPr>
            <a:stCxn id="575" idx="1"/>
            <a:endCxn id="567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7" name="Google Shape;577;p44"/>
          <p:cNvCxnSpPr>
            <a:stCxn id="575" idx="2"/>
            <a:endCxn id="565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8" name="Google Shape;578;p44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79" name="Google Shape;579;p44"/>
          <p:cNvCxnSpPr>
            <a:stCxn id="578" idx="4"/>
            <a:endCxn id="570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0" name="Google Shape;580;p44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1" name="Google Shape;581;p44"/>
          <p:cNvCxnSpPr>
            <a:stCxn id="580" idx="2"/>
            <a:endCxn id="57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2" name="Google Shape;582;p44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3" name="Google Shape;583;p44"/>
          <p:cNvCxnSpPr>
            <a:stCxn id="582" idx="2"/>
            <a:endCxn id="575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4" name="Google Shape;584;p44"/>
          <p:cNvCxnSpPr>
            <a:stCxn id="585" idx="0"/>
            <a:endCxn id="565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5" name="Google Shape;585;p44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6" name="Google Shape;586;p44"/>
          <p:cNvCxnSpPr>
            <a:stCxn id="587" idx="0"/>
            <a:endCxn id="564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7" name="Google Shape;587;p44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8" name="Google Shape;588;p44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9" name="Google Shape;589;p44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0" name="Google Shape;590;p44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1" name="Google Shape;591;p44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2" name="Google Shape;592;p44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p44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4" name="Google Shape;594;p44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5" name="Google Shape;595;p44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6" name="Google Shape;596;p44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7" name="Google Shape;597;p44"/>
          <p:cNvSpPr/>
          <p:nvPr/>
        </p:nvSpPr>
        <p:spPr>
          <a:xfrm>
            <a:off x="4094101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Google Shape;598;p44"/>
          <p:cNvSpPr/>
          <p:nvPr/>
        </p:nvSpPr>
        <p:spPr>
          <a:xfrm>
            <a:off x="5698298" y="2074375"/>
            <a:ext cx="1114750" cy="2643600"/>
          </a:xfrm>
          <a:custGeom>
            <a:avLst/>
            <a:gdLst/>
            <a:ahLst/>
            <a:cxnLst/>
            <a:rect l="l" t="t" r="r" b="b"/>
            <a:pathLst>
              <a:path w="44590" h="105744" extrusionOk="0">
                <a:moveTo>
                  <a:pt x="0" y="0"/>
                </a:moveTo>
                <a:cubicBezTo>
                  <a:pt x="619" y="3390"/>
                  <a:pt x="-780" y="11893"/>
                  <a:pt x="3713" y="20342"/>
                </a:cubicBezTo>
                <a:cubicBezTo>
                  <a:pt x="8206" y="28791"/>
                  <a:pt x="20502" y="40065"/>
                  <a:pt x="26960" y="50693"/>
                </a:cubicBezTo>
                <a:cubicBezTo>
                  <a:pt x="33418" y="61321"/>
                  <a:pt x="39526" y="74936"/>
                  <a:pt x="42459" y="84111"/>
                </a:cubicBezTo>
                <a:cubicBezTo>
                  <a:pt x="45392" y="93286"/>
                  <a:pt x="44207" y="102139"/>
                  <a:pt x="44557" y="105744"/>
                </a:cubicBezTo>
              </a:path>
            </a:pathLst>
          </a:cu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Google Shape;561;p44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44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5" name="Google Shape;565;p44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7" name="Google Shape;567;p44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0" name="Google Shape;570;p44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3" name="Google Shape;573;p44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5" name="Google Shape;575;p44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305A6D-2931-D276-B150-FD44E37352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Types of Dynamic Adjustment Algorithms</a:t>
            </a:r>
            <a:endParaRPr/>
          </a:p>
        </p:txBody>
      </p:sp>
      <p:sp>
        <p:nvSpPr>
          <p:cNvPr id="604" name="Google Shape;604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6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Solutions can be classified into 2 types, depending on where they're implemented: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Host-based</a:t>
            </a:r>
            <a:r>
              <a:rPr lang="en"/>
              <a:t> congestion control: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 uses this one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Implemented at the end hosts. No special support from routers.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adjust rate based on </a:t>
            </a:r>
            <a:r>
              <a:rPr lang="en" i="1"/>
              <a:t>implicit</a:t>
            </a:r>
            <a:r>
              <a:rPr lang="en"/>
              <a:t> feedback from routers.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Router-assisted</a:t>
            </a:r>
            <a:r>
              <a:rPr lang="en"/>
              <a:t> congestion control: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signal congestion back to end hosts.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pick rate based on </a:t>
            </a:r>
            <a:r>
              <a:rPr lang="en" i="1"/>
              <a:t>explicit</a:t>
            </a:r>
            <a:r>
              <a:rPr lang="en"/>
              <a:t> feedback from routers.</a:t>
            </a:r>
            <a:endParaRPr/>
          </a:p>
        </p:txBody>
      </p:sp>
      <p:sp>
        <p:nvSpPr>
          <p:cNvPr id="605" name="Google Shape;605;p45"/>
          <p:cNvSpPr txBox="1"/>
          <p:nvPr/>
        </p:nvSpPr>
        <p:spPr>
          <a:xfrm>
            <a:off x="2971950" y="3211950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6" name="Google Shape;606;p45"/>
          <p:cNvSpPr txBox="1"/>
          <p:nvPr/>
        </p:nvSpPr>
        <p:spPr>
          <a:xfrm>
            <a:off x="3677400" y="39856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7" name="Google Shape;607;p45"/>
          <p:cNvCxnSpPr>
            <a:stCxn id="605" idx="2"/>
            <a:endCxn id="606" idx="0"/>
          </p:cNvCxnSpPr>
          <p:nvPr/>
        </p:nvCxnSpPr>
        <p:spPr>
          <a:xfrm>
            <a:off x="4318500" y="3482850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8" name="Google Shape;608;p45"/>
          <p:cNvSpPr txBox="1"/>
          <p:nvPr/>
        </p:nvSpPr>
        <p:spPr>
          <a:xfrm>
            <a:off x="2382000" y="39856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9" name="Google Shape;609;p45"/>
          <p:cNvCxnSpPr>
            <a:stCxn id="605" idx="2"/>
            <a:endCxn id="608" idx="0"/>
          </p:cNvCxnSpPr>
          <p:nvPr/>
        </p:nvCxnSpPr>
        <p:spPr>
          <a:xfrm flipH="1">
            <a:off x="3023100" y="34828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0" name="Google Shape;610;p45"/>
          <p:cNvSpPr txBox="1"/>
          <p:nvPr/>
        </p:nvSpPr>
        <p:spPr>
          <a:xfrm>
            <a:off x="4686900" y="3985650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1" name="Google Shape;611;p45"/>
          <p:cNvCxnSpPr>
            <a:stCxn id="605" idx="2"/>
            <a:endCxn id="610" idx="0"/>
          </p:cNvCxnSpPr>
          <p:nvPr/>
        </p:nvCxnSpPr>
        <p:spPr>
          <a:xfrm>
            <a:off x="4318500" y="34828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2" name="Google Shape;612;p45"/>
          <p:cNvSpPr txBox="1"/>
          <p:nvPr/>
        </p:nvSpPr>
        <p:spPr>
          <a:xfrm>
            <a:off x="6081600" y="4683150"/>
            <a:ext cx="1350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Router-assisted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45"/>
          <p:cNvSpPr txBox="1"/>
          <p:nvPr/>
        </p:nvSpPr>
        <p:spPr>
          <a:xfrm>
            <a:off x="3960025" y="4683150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4" name="Google Shape;614;p45"/>
          <p:cNvCxnSpPr>
            <a:stCxn id="610" idx="2"/>
            <a:endCxn id="613" idx="0"/>
          </p:cNvCxnSpPr>
          <p:nvPr/>
        </p:nvCxnSpPr>
        <p:spPr>
          <a:xfrm flipH="1">
            <a:off x="4485600" y="4256550"/>
            <a:ext cx="1128300" cy="4266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5" name="Google Shape;615;p45"/>
          <p:cNvCxnSpPr>
            <a:stCxn id="610" idx="2"/>
            <a:endCxn id="612" idx="0"/>
          </p:cNvCxnSpPr>
          <p:nvPr/>
        </p:nvCxnSpPr>
        <p:spPr>
          <a:xfrm>
            <a:off x="5613900" y="4256550"/>
            <a:ext cx="1143000" cy="4266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6" name="Google Shape;616;p45"/>
          <p:cNvSpPr txBox="1"/>
          <p:nvPr/>
        </p:nvSpPr>
        <p:spPr>
          <a:xfrm>
            <a:off x="3431100" y="4698600"/>
            <a:ext cx="479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Today</a:t>
            </a:r>
            <a:endParaRPr sz="1200"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45"/>
          <p:cNvSpPr/>
          <p:nvPr/>
        </p:nvSpPr>
        <p:spPr>
          <a:xfrm>
            <a:off x="3960125" y="4683150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45"/>
          <p:cNvSpPr/>
          <p:nvPr/>
        </p:nvSpPr>
        <p:spPr>
          <a:xfrm>
            <a:off x="6081600" y="4683150"/>
            <a:ext cx="13506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45"/>
          <p:cNvSpPr txBox="1"/>
          <p:nvPr/>
        </p:nvSpPr>
        <p:spPr>
          <a:xfrm>
            <a:off x="7484200" y="4695000"/>
            <a:ext cx="7350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Next time</a:t>
            </a:r>
            <a:endParaRPr sz="1200"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675064-C719-1198-FEFB-D07F0C986D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do we pick the initial rate?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do we detect congestion?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much do we increase/decrease by?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Components of a solution: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Discovering an initial rate.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Detecting congestion.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Reacting to congestion (or lack thereof) by increasing/decreasing rate.</a:t>
            </a:r>
            <a:endParaRPr/>
          </a:p>
        </p:txBody>
      </p:sp>
      <p:sp>
        <p:nvSpPr>
          <p:cNvPr id="635" name="Google Shape;635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636" name="Google Shape;636;p47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637" name="Google Shape;637;p47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38" name="Google Shape;638;p47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39" name="Google Shape;639;p47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0BD0F9-85AA-7454-C349-4AB6A85E15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Congestion</a:t>
            </a:r>
            <a:endParaRPr/>
          </a:p>
        </p:txBody>
      </p:sp>
      <p:sp>
        <p:nvSpPr>
          <p:cNvPr id="645" name="Google Shape;645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There are 2 ways for the host to detect congestion.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Remember: The host can't see the whole network.</a:t>
            </a:r>
            <a:endParaRPr/>
          </a:p>
        </p:txBody>
      </p:sp>
      <p:sp>
        <p:nvSpPr>
          <p:cNvPr id="646" name="Google Shape;646;p48"/>
          <p:cNvSpPr txBox="1"/>
          <p:nvPr/>
        </p:nvSpPr>
        <p:spPr>
          <a:xfrm>
            <a:off x="2636850" y="2094975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7" name="Google Shape;647;p48"/>
          <p:cNvSpPr txBox="1"/>
          <p:nvPr/>
        </p:nvSpPr>
        <p:spPr>
          <a:xfrm>
            <a:off x="3342300" y="28686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48"/>
          <p:cNvCxnSpPr>
            <a:stCxn id="646" idx="2"/>
            <a:endCxn id="647" idx="0"/>
          </p:cNvCxnSpPr>
          <p:nvPr/>
        </p:nvCxnSpPr>
        <p:spPr>
          <a:xfrm>
            <a:off x="3983400" y="2365875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9" name="Google Shape;649;p48"/>
          <p:cNvSpPr txBox="1"/>
          <p:nvPr/>
        </p:nvSpPr>
        <p:spPr>
          <a:xfrm>
            <a:off x="2046900" y="28686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0" name="Google Shape;650;p48"/>
          <p:cNvCxnSpPr>
            <a:stCxn id="646" idx="2"/>
            <a:endCxn id="649" idx="0"/>
          </p:cNvCxnSpPr>
          <p:nvPr/>
        </p:nvCxnSpPr>
        <p:spPr>
          <a:xfrm flipH="1">
            <a:off x="2688000" y="23658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1" name="Google Shape;651;p48"/>
          <p:cNvSpPr txBox="1"/>
          <p:nvPr/>
        </p:nvSpPr>
        <p:spPr>
          <a:xfrm>
            <a:off x="4351800" y="2868675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2" name="Google Shape;652;p48"/>
          <p:cNvCxnSpPr>
            <a:stCxn id="646" idx="2"/>
            <a:endCxn id="651" idx="0"/>
          </p:cNvCxnSpPr>
          <p:nvPr/>
        </p:nvCxnSpPr>
        <p:spPr>
          <a:xfrm>
            <a:off x="3983400" y="23658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48"/>
          <p:cNvSpPr txBox="1"/>
          <p:nvPr/>
        </p:nvSpPr>
        <p:spPr>
          <a:xfrm>
            <a:off x="5746500" y="3642375"/>
            <a:ext cx="1350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Router-assisted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48"/>
          <p:cNvSpPr txBox="1"/>
          <p:nvPr/>
        </p:nvSpPr>
        <p:spPr>
          <a:xfrm>
            <a:off x="3624925" y="36423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5" name="Google Shape;655;p48"/>
          <p:cNvCxnSpPr>
            <a:stCxn id="651" idx="2"/>
            <a:endCxn id="654" idx="0"/>
          </p:cNvCxnSpPr>
          <p:nvPr/>
        </p:nvCxnSpPr>
        <p:spPr>
          <a:xfrm flipH="1">
            <a:off x="4150500" y="3139575"/>
            <a:ext cx="11283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6" name="Google Shape;656;p48"/>
          <p:cNvCxnSpPr>
            <a:stCxn id="651" idx="2"/>
            <a:endCxn id="653" idx="0"/>
          </p:cNvCxnSpPr>
          <p:nvPr/>
        </p:nvCxnSpPr>
        <p:spPr>
          <a:xfrm>
            <a:off x="5278800" y="3139575"/>
            <a:ext cx="11430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7" name="Google Shape;657;p48"/>
          <p:cNvSpPr txBox="1"/>
          <p:nvPr/>
        </p:nvSpPr>
        <p:spPr>
          <a:xfrm>
            <a:off x="3015325" y="44160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Loss-based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8" name="Google Shape;658;p48"/>
          <p:cNvSpPr txBox="1"/>
          <p:nvPr/>
        </p:nvSpPr>
        <p:spPr>
          <a:xfrm>
            <a:off x="4234525" y="44160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Delay-based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9" name="Google Shape;659;p48"/>
          <p:cNvCxnSpPr>
            <a:stCxn id="654" idx="2"/>
            <a:endCxn id="657" idx="0"/>
          </p:cNvCxnSpPr>
          <p:nvPr/>
        </p:nvCxnSpPr>
        <p:spPr>
          <a:xfrm flipH="1">
            <a:off x="3540925" y="39132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0" name="Google Shape;660;p48"/>
          <p:cNvCxnSpPr>
            <a:stCxn id="654" idx="2"/>
            <a:endCxn id="658" idx="0"/>
          </p:cNvCxnSpPr>
          <p:nvPr/>
        </p:nvCxnSpPr>
        <p:spPr>
          <a:xfrm>
            <a:off x="4150525" y="39132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1" name="Google Shape;661;p48"/>
          <p:cNvSpPr/>
          <p:nvPr/>
        </p:nvSpPr>
        <p:spPr>
          <a:xfrm>
            <a:off x="3015325" y="44160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48"/>
          <p:cNvSpPr/>
          <p:nvPr/>
        </p:nvSpPr>
        <p:spPr>
          <a:xfrm>
            <a:off x="4234525" y="44160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803222-A23B-BC23-192A-1728B9C68F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Congestion</a:t>
            </a:r>
            <a:endParaRPr/>
          </a:p>
        </p:txBody>
      </p:sp>
      <p:sp>
        <p:nvSpPr>
          <p:cNvPr id="668" name="Google Shape;668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Loss-based detection</a:t>
            </a:r>
            <a:r>
              <a:rPr lang="en" dirty="0"/>
              <a:t>: If we lose a packet, declare congestion. (This is what TCP uses.)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Unambiguous signal: Every packet is either lost (resent), or not lost.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TCP already detects loss for reliability.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Not all loss is caused by congestion. (e.g. checksum error).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delayed packet could be mistakenly declared lost.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we detect loss, the network is already congested (queues are full).</a:t>
            </a:r>
          </a:p>
          <a:p>
            <a:pPr marL="0" lvl="0" indent="0">
              <a:buNone/>
            </a:pPr>
            <a:r>
              <a:rPr lang="en-US" altLang="zh-CN" b="1" dirty="0"/>
              <a:t>Delay-based detection</a:t>
            </a:r>
            <a:r>
              <a:rPr lang="en-US" altLang="zh-CN" dirty="0"/>
              <a:t>: If packets are delayed, declare congestion.</a:t>
            </a:r>
          </a:p>
          <a:p>
            <a:pPr lvl="0"/>
            <a:r>
              <a:rPr lang="en-US" altLang="zh-CN" dirty="0"/>
              <a:t>Challenge: Packet delay length varies with queue size and other traffic.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Long considered tricky to get right.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5DA442-320C-98A3-4966-4C40364412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zh-CN" dirty="0"/>
              <a:t>Discovering an Initial Rate: Slow Start</a:t>
            </a:r>
            <a:endParaRPr dirty="0"/>
          </a:p>
        </p:txBody>
      </p:sp>
      <p:sp>
        <p:nvSpPr>
          <p:cNvPr id="680" name="Google Shape;680;p51"/>
          <p:cNvSpPr txBox="1">
            <a:spLocks noGrp="1"/>
          </p:cNvSpPr>
          <p:nvPr>
            <p:ph type="body" idx="1"/>
          </p:nvPr>
        </p:nvSpPr>
        <p:spPr>
          <a:xfrm>
            <a:off x="107051" y="260636"/>
            <a:ext cx="4673618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 for discovering initial rate: Estimate available bandwidth.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 slow for safety.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Starting too fast would cause congestion.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Ramp up quickly for efficiency.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 of inefficiency: Suppose we added 0.5 Mbps every 0.1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1 Mbps available, we'll reach the target in 0.2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1 Gbps available, we'll reach the target in 200 seconds.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Lots of time wasted sending at suboptimal rates.</a:t>
            </a:r>
            <a:endParaRPr dirty="0"/>
          </a:p>
        </p:txBody>
      </p:sp>
      <p:sp>
        <p:nvSpPr>
          <p:cNvPr id="21" name="Google Shape;686;p52">
            <a:extLst>
              <a:ext uri="{FF2B5EF4-FFF2-40B4-BE49-F238E27FC236}">
                <a16:creationId xmlns:a16="http://schemas.microsoft.com/office/drawing/2014/main" id="{4C34F922-6D0F-29EE-8DF0-B853614D664B}"/>
              </a:ext>
            </a:extLst>
          </p:cNvPr>
          <p:cNvSpPr txBox="1">
            <a:spLocks/>
          </p:cNvSpPr>
          <p:nvPr/>
        </p:nvSpPr>
        <p:spPr>
          <a:xfrm>
            <a:off x="4572000" y="260636"/>
            <a:ext cx="4444750" cy="19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US" sz="1400" b="1" dirty="0"/>
              <a:t>Slow start</a:t>
            </a:r>
            <a:r>
              <a:rPr lang="en-US" sz="1400" dirty="0"/>
              <a:t> is an algorithm for discovering the initial rate:</a:t>
            </a:r>
          </a:p>
          <a:p>
            <a:r>
              <a:rPr lang="en-US" sz="1400" dirty="0"/>
              <a:t>Start with a small rate (could be much less than actual bandwidth).</a:t>
            </a:r>
          </a:p>
          <a:p>
            <a:pPr>
              <a:spcBef>
                <a:spcPts val="0"/>
              </a:spcBef>
            </a:pPr>
            <a:r>
              <a:rPr lang="en-US" sz="1400" dirty="0"/>
              <a:t>Increase exponentially (e.g. double rate each time) until we detect loss.</a:t>
            </a:r>
          </a:p>
          <a:p>
            <a:pPr>
              <a:spcBef>
                <a:spcPts val="0"/>
              </a:spcBef>
            </a:pPr>
            <a:r>
              <a:rPr lang="en-US" sz="1400" dirty="0"/>
              <a:t>A safe rate is the most recent rate before detecting loss.</a:t>
            </a:r>
          </a:p>
          <a:p>
            <a:pPr lvl="1">
              <a:spcBef>
                <a:spcPts val="0"/>
              </a:spcBef>
            </a:pPr>
            <a:r>
              <a:rPr lang="en-US" sz="1400" dirty="0"/>
              <a:t>0.5 × rate when loss occurred.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3C905DF-2AB3-46F5-3E7A-DB6F882D9161}"/>
              </a:ext>
            </a:extLst>
          </p:cNvPr>
          <p:cNvGrpSpPr/>
          <p:nvPr/>
        </p:nvGrpSpPr>
        <p:grpSpPr>
          <a:xfrm>
            <a:off x="2960949" y="2705834"/>
            <a:ext cx="5941402" cy="2346038"/>
            <a:chOff x="2205875" y="2433150"/>
            <a:chExt cx="5941402" cy="2346038"/>
          </a:xfrm>
        </p:grpSpPr>
        <p:grpSp>
          <p:nvGrpSpPr>
            <p:cNvPr id="41" name="Google Shape;687;p52">
              <a:extLst>
                <a:ext uri="{FF2B5EF4-FFF2-40B4-BE49-F238E27FC236}">
                  <a16:creationId xmlns:a16="http://schemas.microsoft.com/office/drawing/2014/main" id="{551DF8AC-7FEE-7E08-9CF7-CFED37F5ECDF}"/>
                </a:ext>
              </a:extLst>
            </p:cNvPr>
            <p:cNvGrpSpPr/>
            <p:nvPr/>
          </p:nvGrpSpPr>
          <p:grpSpPr>
            <a:xfrm>
              <a:off x="2377550" y="2542225"/>
              <a:ext cx="3229300" cy="2199625"/>
              <a:chOff x="2377550" y="2542225"/>
              <a:chExt cx="3229300" cy="2199625"/>
            </a:xfrm>
          </p:grpSpPr>
          <p:sp>
            <p:nvSpPr>
              <p:cNvPr id="42" name="Google Shape;688;p52">
                <a:extLst>
                  <a:ext uri="{FF2B5EF4-FFF2-40B4-BE49-F238E27FC236}">
                    <a16:creationId xmlns:a16="http://schemas.microsoft.com/office/drawing/2014/main" id="{4D8EEE32-63AF-2C38-15B2-09AA8EE84752}"/>
                  </a:ext>
                </a:extLst>
              </p:cNvPr>
              <p:cNvSpPr/>
              <p:nvPr/>
            </p:nvSpPr>
            <p:spPr>
              <a:xfrm>
                <a:off x="2377550" y="2542225"/>
                <a:ext cx="3229292" cy="2199625"/>
              </a:xfrm>
              <a:custGeom>
                <a:avLst/>
                <a:gdLst/>
                <a:ahLst/>
                <a:cxnLst/>
                <a:rect l="l" t="t" r="r" b="b"/>
                <a:pathLst>
                  <a:path w="152884" h="87985" extrusionOk="0">
                    <a:moveTo>
                      <a:pt x="0" y="87985"/>
                    </a:moveTo>
                    <a:cubicBezTo>
                      <a:pt x="18727" y="85267"/>
                      <a:pt x="86882" y="86343"/>
                      <a:pt x="112363" y="71679"/>
                    </a:cubicBezTo>
                    <a:cubicBezTo>
                      <a:pt x="137844" y="57015"/>
                      <a:pt x="146131" y="11947"/>
                      <a:pt x="152884" y="0"/>
                    </a:cubicBezTo>
                  </a:path>
                </a:pathLst>
              </a:cu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cxnSp>
            <p:nvCxnSpPr>
              <p:cNvPr id="43" name="Google Shape;689;p52">
                <a:extLst>
                  <a:ext uri="{FF2B5EF4-FFF2-40B4-BE49-F238E27FC236}">
                    <a16:creationId xmlns:a16="http://schemas.microsoft.com/office/drawing/2014/main" id="{42707D8A-23D7-AEA7-239E-3D91E6FC1012}"/>
                  </a:ext>
                </a:extLst>
              </p:cNvPr>
              <p:cNvCxnSpPr>
                <a:endCxn id="50" idx="0"/>
              </p:cNvCxnSpPr>
              <p:nvPr/>
            </p:nvCxnSpPr>
            <p:spPr>
              <a:xfrm>
                <a:off x="5606850" y="2564250"/>
                <a:ext cx="0" cy="1143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4" name="Google Shape;691;p52">
              <a:extLst>
                <a:ext uri="{FF2B5EF4-FFF2-40B4-BE49-F238E27FC236}">
                  <a16:creationId xmlns:a16="http://schemas.microsoft.com/office/drawing/2014/main" id="{881F0663-AD35-96D0-3F5E-A1CD9669478E}"/>
                </a:ext>
              </a:extLst>
            </p:cNvPr>
            <p:cNvSpPr/>
            <p:nvPr/>
          </p:nvSpPr>
          <p:spPr>
            <a:xfrm>
              <a:off x="2332025" y="4692488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" name="Google Shape;692;p52">
              <a:extLst>
                <a:ext uri="{FF2B5EF4-FFF2-40B4-BE49-F238E27FC236}">
                  <a16:creationId xmlns:a16="http://schemas.microsoft.com/office/drawing/2014/main" id="{E80B0232-CF25-635D-C0AF-CA2E6D0A08AC}"/>
                </a:ext>
              </a:extLst>
            </p:cNvPr>
            <p:cNvSpPr/>
            <p:nvPr/>
          </p:nvSpPr>
          <p:spPr>
            <a:xfrm>
              <a:off x="2876500" y="4652659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" name="Google Shape;693;p52">
              <a:extLst>
                <a:ext uri="{FF2B5EF4-FFF2-40B4-BE49-F238E27FC236}">
                  <a16:creationId xmlns:a16="http://schemas.microsoft.com/office/drawing/2014/main" id="{865FFED7-F7C5-C7ED-216B-F1102FA2A34F}"/>
                </a:ext>
              </a:extLst>
            </p:cNvPr>
            <p:cNvSpPr/>
            <p:nvPr/>
          </p:nvSpPr>
          <p:spPr>
            <a:xfrm>
              <a:off x="3414650" y="4612708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" name="Google Shape;694;p52">
              <a:extLst>
                <a:ext uri="{FF2B5EF4-FFF2-40B4-BE49-F238E27FC236}">
                  <a16:creationId xmlns:a16="http://schemas.microsoft.com/office/drawing/2014/main" id="{8BA9D434-7D1E-E5D6-BB44-DC43FDD53965}"/>
                </a:ext>
              </a:extLst>
            </p:cNvPr>
            <p:cNvSpPr/>
            <p:nvPr/>
          </p:nvSpPr>
          <p:spPr>
            <a:xfrm>
              <a:off x="3948850" y="4542653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" name="Google Shape;695;p52">
              <a:extLst>
                <a:ext uri="{FF2B5EF4-FFF2-40B4-BE49-F238E27FC236}">
                  <a16:creationId xmlns:a16="http://schemas.microsoft.com/office/drawing/2014/main" id="{813C65FC-52A3-C304-910B-F213F3193BB7}"/>
                </a:ext>
              </a:extLst>
            </p:cNvPr>
            <p:cNvSpPr/>
            <p:nvPr/>
          </p:nvSpPr>
          <p:spPr>
            <a:xfrm>
              <a:off x="4485300" y="4408334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" name="Google Shape;696;p52">
              <a:extLst>
                <a:ext uri="{FF2B5EF4-FFF2-40B4-BE49-F238E27FC236}">
                  <a16:creationId xmlns:a16="http://schemas.microsoft.com/office/drawing/2014/main" id="{600461AA-06E5-0E5B-A227-068298269895}"/>
                </a:ext>
              </a:extLst>
            </p:cNvPr>
            <p:cNvSpPr/>
            <p:nvPr/>
          </p:nvSpPr>
          <p:spPr>
            <a:xfrm>
              <a:off x="5139125" y="3707550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" name="Google Shape;690;p52">
              <a:extLst>
                <a:ext uri="{FF2B5EF4-FFF2-40B4-BE49-F238E27FC236}">
                  <a16:creationId xmlns:a16="http://schemas.microsoft.com/office/drawing/2014/main" id="{7B7220BE-09F4-7F1E-CA97-65F7504E2392}"/>
                </a:ext>
              </a:extLst>
            </p:cNvPr>
            <p:cNvSpPr/>
            <p:nvPr/>
          </p:nvSpPr>
          <p:spPr>
            <a:xfrm>
              <a:off x="5563500" y="3707550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" name="Google Shape;697;p52">
              <a:extLst>
                <a:ext uri="{FF2B5EF4-FFF2-40B4-BE49-F238E27FC236}">
                  <a16:creationId xmlns:a16="http://schemas.microsoft.com/office/drawing/2014/main" id="{D078B080-F50E-EA28-5B12-5C06F5D6FE89}"/>
                </a:ext>
              </a:extLst>
            </p:cNvPr>
            <p:cNvSpPr/>
            <p:nvPr/>
          </p:nvSpPr>
          <p:spPr>
            <a:xfrm>
              <a:off x="5563500" y="2528400"/>
              <a:ext cx="86700" cy="86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" name="Google Shape;698;p52">
              <a:extLst>
                <a:ext uri="{FF2B5EF4-FFF2-40B4-BE49-F238E27FC236}">
                  <a16:creationId xmlns:a16="http://schemas.microsoft.com/office/drawing/2014/main" id="{8308516D-6A37-F309-1F82-B3D9835EF9FA}"/>
                </a:ext>
              </a:extLst>
            </p:cNvPr>
            <p:cNvSpPr txBox="1"/>
            <p:nvPr/>
          </p:nvSpPr>
          <p:spPr>
            <a:xfrm>
              <a:off x="2205875" y="43521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" name="Google Shape;699;p52">
              <a:extLst>
                <a:ext uri="{FF2B5EF4-FFF2-40B4-BE49-F238E27FC236}">
                  <a16:creationId xmlns:a16="http://schemas.microsoft.com/office/drawing/2014/main" id="{8DA3A289-BDC2-AC6E-E9E2-09EFE9266A2D}"/>
                </a:ext>
              </a:extLst>
            </p:cNvPr>
            <p:cNvSpPr txBox="1"/>
            <p:nvPr/>
          </p:nvSpPr>
          <p:spPr>
            <a:xfrm>
              <a:off x="2759875" y="433550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" name="Google Shape;700;p52">
              <a:extLst>
                <a:ext uri="{FF2B5EF4-FFF2-40B4-BE49-F238E27FC236}">
                  <a16:creationId xmlns:a16="http://schemas.microsoft.com/office/drawing/2014/main" id="{86651E94-D16C-67C1-19C2-2C0C75D35BA9}"/>
                </a:ext>
              </a:extLst>
            </p:cNvPr>
            <p:cNvSpPr txBox="1"/>
            <p:nvPr/>
          </p:nvSpPr>
          <p:spPr>
            <a:xfrm>
              <a:off x="3288500" y="42654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" name="Google Shape;701;p52">
              <a:extLst>
                <a:ext uri="{FF2B5EF4-FFF2-40B4-BE49-F238E27FC236}">
                  <a16:creationId xmlns:a16="http://schemas.microsoft.com/office/drawing/2014/main" id="{959E0911-D372-7B05-771C-5E812326686C}"/>
                </a:ext>
              </a:extLst>
            </p:cNvPr>
            <p:cNvSpPr txBox="1"/>
            <p:nvPr/>
          </p:nvSpPr>
          <p:spPr>
            <a:xfrm>
              <a:off x="3822700" y="4217825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8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" name="Google Shape;702;p52">
              <a:extLst>
                <a:ext uri="{FF2B5EF4-FFF2-40B4-BE49-F238E27FC236}">
                  <a16:creationId xmlns:a16="http://schemas.microsoft.com/office/drawing/2014/main" id="{1D2979FC-60D7-5574-CAE5-9A28CD074DB3}"/>
                </a:ext>
              </a:extLst>
            </p:cNvPr>
            <p:cNvSpPr txBox="1"/>
            <p:nvPr/>
          </p:nvSpPr>
          <p:spPr>
            <a:xfrm>
              <a:off x="4359150" y="40749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16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" name="Google Shape;703;p52">
              <a:extLst>
                <a:ext uri="{FF2B5EF4-FFF2-40B4-BE49-F238E27FC236}">
                  <a16:creationId xmlns:a16="http://schemas.microsoft.com/office/drawing/2014/main" id="{4678570B-22DE-888F-8A4A-3105C9CEE80A}"/>
                </a:ext>
              </a:extLst>
            </p:cNvPr>
            <p:cNvSpPr txBox="1"/>
            <p:nvPr/>
          </p:nvSpPr>
          <p:spPr>
            <a:xfrm>
              <a:off x="4771875" y="361230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32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" name="Google Shape;704;p52">
              <a:extLst>
                <a:ext uri="{FF2B5EF4-FFF2-40B4-BE49-F238E27FC236}">
                  <a16:creationId xmlns:a16="http://schemas.microsoft.com/office/drawing/2014/main" id="{20AA576C-99E9-3858-93AC-1DF2DD15FD9C}"/>
                </a:ext>
              </a:extLst>
            </p:cNvPr>
            <p:cNvSpPr txBox="1"/>
            <p:nvPr/>
          </p:nvSpPr>
          <p:spPr>
            <a:xfrm>
              <a:off x="5747125" y="3612300"/>
              <a:ext cx="2369308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32 was the last safe rate.</a:t>
              </a:r>
              <a:endParaRPr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" name="Google Shape;705;p52">
              <a:extLst>
                <a:ext uri="{FF2B5EF4-FFF2-40B4-BE49-F238E27FC236}">
                  <a16:creationId xmlns:a16="http://schemas.microsoft.com/office/drawing/2014/main" id="{16D25026-A121-BB85-9F60-11D1CF9D9ED3}"/>
                </a:ext>
              </a:extLst>
            </p:cNvPr>
            <p:cNvSpPr txBox="1"/>
            <p:nvPr/>
          </p:nvSpPr>
          <p:spPr>
            <a:xfrm>
              <a:off x="5708125" y="2433150"/>
              <a:ext cx="2439152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64 – congestion detected!</a:t>
              </a:r>
              <a:endParaRPr sz="16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1" name="Slide Number Placeholder 60">
            <a:extLst>
              <a:ext uri="{FF2B5EF4-FFF2-40B4-BE49-F238E27FC236}">
                <a16:creationId xmlns:a16="http://schemas.microsoft.com/office/drawing/2014/main" id="{0AE12C61-7193-C18A-BC25-8DDEBD314C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5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Reacting to Congestion (AIMD)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711" name="Google Shape;711;p5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Reacting to Congestion</a:t>
            </a:r>
            <a:endParaRPr/>
          </a:p>
        </p:txBody>
      </p:sp>
      <p:sp>
        <p:nvSpPr>
          <p:cNvPr id="712" name="Google Shape;712;p5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598654-8C6C-B081-9FC5-7E860CDBF6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much do we increase/decrease by?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</p:txBody>
      </p:sp>
      <p:sp>
        <p:nvSpPr>
          <p:cNvPr id="718" name="Google Shape;718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719" name="Google Shape;719;p54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720" name="Google Shape;720;p54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1" name="Google Shape;721;p54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22" name="Google Shape;722;p54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21A825-9C2E-0124-F4C2-90B3DCF0B2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Reacting to Congestion</a:t>
            </a:r>
            <a:endParaRPr/>
          </a:p>
        </p:txBody>
      </p:sp>
      <p:sp>
        <p:nvSpPr>
          <p:cNvPr id="728" name="Google Shape;728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Rate adjustment: How much do we increase/decrease by?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Critical part of congestion control design.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quickly a host adapts to changes in available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effectively bandwidth is consumed.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bandwidth is shared (fairness).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Goals for rate adjustment: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Efficiency: High utilization of link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Fairness: Each flow gets an equal share of bandwidth.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9983B7-7691-1AA5-8A2A-05626F7FAC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Ways to Adjust Rate</a:t>
            </a:r>
            <a:endParaRPr/>
          </a:p>
        </p:txBody>
      </p:sp>
      <p:sp>
        <p:nvSpPr>
          <p:cNvPr id="734" name="Google Shape;734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At a high level, we can either adjust quickly or slowly.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Fast: </a:t>
            </a:r>
            <a:r>
              <a:rPr lang="en" b="1" dirty="0"/>
              <a:t>Multiplicative</a:t>
            </a:r>
            <a:r>
              <a:rPr lang="en" dirty="0"/>
              <a:t> changes.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by doubling: R → 2R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by halving: R → R/2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Slow: </a:t>
            </a:r>
            <a:r>
              <a:rPr lang="en" b="1" dirty="0"/>
              <a:t>Additive</a:t>
            </a:r>
            <a:r>
              <a:rPr lang="en" dirty="0"/>
              <a:t> changes.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by adding: R → R + 1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by subtracting: R → R – 1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can combine these rates in four ways: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AIAD:   	Additive Increase, Additive Decrease.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>
                <a:solidFill>
                  <a:srgbClr val="C00000"/>
                </a:solidFill>
              </a:rPr>
              <a:t>AIMD:  	Additive Increase, Multiplicative Decrease.</a:t>
            </a:r>
            <a:endParaRPr dirty="0">
              <a:solidFill>
                <a:srgbClr val="C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MIAD: 	Multiplicative Increase, Additive Decrease.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MIMD: 	Multiplicative Increase, Multiplicative Decrease.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125BA5-846E-A1F1-B23D-9487A6554EA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9" name="Google Shape;739;p57"/>
          <p:cNvCxnSpPr/>
          <p:nvPr/>
        </p:nvCxnSpPr>
        <p:spPr>
          <a:xfrm>
            <a:off x="1672000" y="3348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0" name="Google Shape;740;p57"/>
          <p:cNvCxnSpPr/>
          <p:nvPr/>
        </p:nvCxnSpPr>
        <p:spPr>
          <a:xfrm>
            <a:off x="1672000" y="35005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1" name="Google Shape;741;p57"/>
          <p:cNvCxnSpPr/>
          <p:nvPr/>
        </p:nvCxnSpPr>
        <p:spPr>
          <a:xfrm>
            <a:off x="1672000" y="36529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2" name="Google Shape;742;p57"/>
          <p:cNvCxnSpPr/>
          <p:nvPr/>
        </p:nvCxnSpPr>
        <p:spPr>
          <a:xfrm>
            <a:off x="1672000" y="38053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3" name="Google Shape;743;p57"/>
          <p:cNvCxnSpPr/>
          <p:nvPr/>
        </p:nvCxnSpPr>
        <p:spPr>
          <a:xfrm>
            <a:off x="1672000" y="39577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4" name="Google Shape;744;p57"/>
          <p:cNvCxnSpPr/>
          <p:nvPr/>
        </p:nvCxnSpPr>
        <p:spPr>
          <a:xfrm>
            <a:off x="1672000" y="4110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5" name="Google Shape;745;p57"/>
          <p:cNvCxnSpPr/>
          <p:nvPr/>
        </p:nvCxnSpPr>
        <p:spPr>
          <a:xfrm>
            <a:off x="1672000" y="42625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6" name="Google Shape;746;p57"/>
          <p:cNvCxnSpPr/>
          <p:nvPr/>
        </p:nvCxnSpPr>
        <p:spPr>
          <a:xfrm>
            <a:off x="1672000" y="44149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7" name="Google Shape;747;p57"/>
          <p:cNvCxnSpPr/>
          <p:nvPr/>
        </p:nvCxnSpPr>
        <p:spPr>
          <a:xfrm>
            <a:off x="1672000" y="45673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8" name="Google Shape;748;p57"/>
          <p:cNvCxnSpPr/>
          <p:nvPr/>
        </p:nvCxnSpPr>
        <p:spPr>
          <a:xfrm>
            <a:off x="1672000" y="47197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9" name="Google Shape;749;p57"/>
          <p:cNvCxnSpPr/>
          <p:nvPr/>
        </p:nvCxnSpPr>
        <p:spPr>
          <a:xfrm>
            <a:off x="1672000" y="4872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0" name="Google Shape;750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Why AIMD?</a:t>
            </a:r>
            <a:endParaRPr dirty="0"/>
          </a:p>
        </p:txBody>
      </p:sp>
      <p:sp>
        <p:nvSpPr>
          <p:cNvPr id="751" name="Google Shape;751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8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AIMD (Additive Increase, Multiplicative Decrease) is the best option.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Intuition: Sending too much is worse than sending too little.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too much: Congestion, packets dropped and retransmitted.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too little: Somewhat lower throughput.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General approach: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Gentle increase when uncongested. (exploration)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Rapid decrease when congestion detected.</a:t>
            </a:r>
            <a:endParaRPr dirty="0"/>
          </a:p>
        </p:txBody>
      </p:sp>
      <p:sp>
        <p:nvSpPr>
          <p:cNvPr id="752" name="Google Shape;752;p57"/>
          <p:cNvSpPr/>
          <p:nvPr/>
        </p:nvSpPr>
        <p:spPr>
          <a:xfrm>
            <a:off x="1922425" y="3355100"/>
            <a:ext cx="5291050" cy="1523975"/>
          </a:xfrm>
          <a:custGeom>
            <a:avLst/>
            <a:gdLst/>
            <a:ahLst/>
            <a:cxnLst/>
            <a:rect l="l" t="t" r="r" b="b"/>
            <a:pathLst>
              <a:path w="211642" h="60959" extrusionOk="0">
                <a:moveTo>
                  <a:pt x="0" y="60959"/>
                </a:moveTo>
                <a:lnTo>
                  <a:pt x="63584" y="24249"/>
                </a:lnTo>
                <a:lnTo>
                  <a:pt x="63584" y="42555"/>
                </a:lnTo>
                <a:lnTo>
                  <a:pt x="116263" y="12141"/>
                </a:lnTo>
                <a:lnTo>
                  <a:pt x="116263" y="36743"/>
                </a:lnTo>
                <a:lnTo>
                  <a:pt x="179904" y="0"/>
                </a:lnTo>
                <a:lnTo>
                  <a:pt x="179904" y="30285"/>
                </a:lnTo>
                <a:lnTo>
                  <a:pt x="211642" y="11961"/>
                </a:lnTo>
                <a:lnTo>
                  <a:pt x="211642" y="3642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3" name="Google Shape;753;p57"/>
          <p:cNvSpPr txBox="1"/>
          <p:nvPr/>
        </p:nvSpPr>
        <p:spPr>
          <a:xfrm rot="-5400000">
            <a:off x="3282475" y="357900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4" name="Google Shape;754;p57"/>
          <p:cNvSpPr txBox="1"/>
          <p:nvPr/>
        </p:nvSpPr>
        <p:spPr>
          <a:xfrm rot="-5400000">
            <a:off x="4597248" y="3275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5" name="Google Shape;755;p57"/>
          <p:cNvSpPr txBox="1"/>
          <p:nvPr/>
        </p:nvSpPr>
        <p:spPr>
          <a:xfrm rot="-5400000">
            <a:off x="6186478" y="29716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57"/>
          <p:cNvSpPr txBox="1"/>
          <p:nvPr/>
        </p:nvSpPr>
        <p:spPr>
          <a:xfrm rot="-5400000">
            <a:off x="6976575" y="3275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532475-D5A5-D7CF-7E47-5C78950F79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AIMD? Intuition</a:t>
            </a:r>
            <a:endParaRPr/>
          </a:p>
        </p:txBody>
      </p:sp>
      <p:sp>
        <p:nvSpPr>
          <p:cNvPr id="762" name="Google Shape;762;p5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Of the four options, AIMD is the only one that ensures fairness.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To see why, let's build a simple model: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Two flows using a single link of fixed capacity </a:t>
            </a:r>
            <a:r>
              <a:rPr lang="en" i="1" dirty="0"/>
              <a:t>C</a:t>
            </a:r>
            <a:r>
              <a:rPr lang="en" dirty="0"/>
              <a:t>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Both flows are </a:t>
            </a:r>
            <a:r>
              <a:rPr lang="en" i="1" dirty="0"/>
              <a:t>independently</a:t>
            </a:r>
            <a:r>
              <a:rPr lang="en" dirty="0"/>
              <a:t> running </a:t>
            </a:r>
            <a:r>
              <a:rPr lang="en" i="1" dirty="0"/>
              <a:t>identical</a:t>
            </a:r>
            <a:r>
              <a:rPr lang="en" dirty="0"/>
              <a:t> dynamic adjustment algorithms.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Flows are sending at rates </a:t>
            </a:r>
            <a:r>
              <a:rPr lang="en" i="1" dirty="0"/>
              <a:t>X</a:t>
            </a:r>
            <a:r>
              <a:rPr lang="en" dirty="0"/>
              <a:t> and </a:t>
            </a:r>
            <a:r>
              <a:rPr lang="en" i="1" dirty="0"/>
              <a:t>Y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&gt; </a:t>
            </a:r>
            <a:r>
              <a:rPr lang="en" i="1" dirty="0"/>
              <a:t>C</a:t>
            </a:r>
            <a:r>
              <a:rPr lang="en" dirty="0"/>
              <a:t>, the network is congested.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&lt; </a:t>
            </a:r>
            <a:r>
              <a:rPr lang="en" i="1" dirty="0"/>
              <a:t>C</a:t>
            </a:r>
            <a:r>
              <a:rPr lang="en" dirty="0"/>
              <a:t>, the network is underloaded.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Goals: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Full link utilization: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= </a:t>
            </a:r>
            <a:r>
              <a:rPr lang="en" i="1" dirty="0"/>
              <a:t>C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Fair sharing: </a:t>
            </a:r>
            <a:r>
              <a:rPr lang="en" i="1" dirty="0"/>
              <a:t>X</a:t>
            </a:r>
            <a:r>
              <a:rPr lang="en" dirty="0"/>
              <a:t> = </a:t>
            </a:r>
            <a:r>
              <a:rPr lang="en" i="1" dirty="0"/>
              <a:t>Y</a:t>
            </a:r>
            <a:r>
              <a:rPr lang="en" dirty="0"/>
              <a:t>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981A1E-A1D6-E62E-9552-1609B225D3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Rate Adjustment Graph</a:t>
            </a:r>
            <a:endParaRPr/>
          </a:p>
        </p:txBody>
      </p:sp>
      <p:sp>
        <p:nvSpPr>
          <p:cNvPr id="768" name="Google Shape;768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Assume </a:t>
            </a:r>
            <a:r>
              <a:rPr lang="en" i="1" dirty="0"/>
              <a:t>C</a:t>
            </a:r>
            <a:r>
              <a:rPr lang="en" dirty="0"/>
              <a:t> = 1.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Efficiency line</a:t>
            </a:r>
            <a:r>
              <a:rPr lang="en" dirty="0"/>
              <a:t>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= 1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Congestion: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&gt; 1: above the efficiency line.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Unused capacity: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&lt; 1: below the efficiency line.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/>
          </a:p>
          <a:p>
            <a:pPr marL="0" lvl="0" indent="0">
              <a:buNone/>
            </a:pPr>
            <a:r>
              <a:rPr lang="en-US" altLang="zh-CN" b="1" dirty="0"/>
              <a:t>Fairness line</a:t>
            </a:r>
            <a:r>
              <a:rPr lang="en-US" altLang="zh-CN" dirty="0"/>
              <a:t>: </a:t>
            </a:r>
            <a:r>
              <a:rPr lang="en-US" altLang="zh-CN" i="1" dirty="0"/>
              <a:t>X</a:t>
            </a:r>
            <a:r>
              <a:rPr lang="en-US" altLang="zh-CN" dirty="0"/>
              <a:t> = </a:t>
            </a:r>
            <a:r>
              <a:rPr lang="en-US" altLang="zh-CN" i="1" dirty="0"/>
              <a:t>Y</a:t>
            </a:r>
            <a:endParaRPr lang="en-US" altLang="zh-CN" dirty="0"/>
          </a:p>
          <a:p>
            <a:pPr marL="0" lvl="0" indent="0">
              <a:buNone/>
            </a:pPr>
            <a:r>
              <a:rPr lang="en-US" altLang="zh-CN" dirty="0"/>
              <a:t>The lines intersect at (0.5, 0.5).</a:t>
            </a:r>
          </a:p>
          <a:p>
            <a:pPr marL="0" lvl="0" indent="0">
              <a:buNone/>
            </a:pPr>
            <a:r>
              <a:rPr lang="en-US" altLang="zh-CN" dirty="0"/>
              <a:t>This allocation is both fair and efficient.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CE227C-32C1-28D0-713F-4277D27A59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  <p:grpSp>
        <p:nvGrpSpPr>
          <p:cNvPr id="3" name="Google Shape;792;p60">
            <a:extLst>
              <a:ext uri="{FF2B5EF4-FFF2-40B4-BE49-F238E27FC236}">
                <a16:creationId xmlns:a16="http://schemas.microsoft.com/office/drawing/2014/main" id="{D0660111-D4CE-6C78-AA9E-80F4A8392C59}"/>
              </a:ext>
            </a:extLst>
          </p:cNvPr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4" name="Google Shape;793;p60">
              <a:extLst>
                <a:ext uri="{FF2B5EF4-FFF2-40B4-BE49-F238E27FC236}">
                  <a16:creationId xmlns:a16="http://schemas.microsoft.com/office/drawing/2014/main" id="{3B15D466-F548-1B97-0329-7DA4FCE2FD2D}"/>
                </a:ext>
              </a:extLst>
            </p:cNvPr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5" name="Google Shape;794;p60">
              <a:extLst>
                <a:ext uri="{FF2B5EF4-FFF2-40B4-BE49-F238E27FC236}">
                  <a16:creationId xmlns:a16="http://schemas.microsoft.com/office/drawing/2014/main" id="{A00DDADF-1278-BA4D-2662-FC321D1CD7E2}"/>
                </a:ext>
              </a:extLst>
            </p:cNvPr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6" name="Google Shape;795;p60">
              <a:extLst>
                <a:ext uri="{FF2B5EF4-FFF2-40B4-BE49-F238E27FC236}">
                  <a16:creationId xmlns:a16="http://schemas.microsoft.com/office/drawing/2014/main" id="{7F2E8997-D952-9C18-D892-E25D689F1078}"/>
                </a:ext>
              </a:extLst>
            </p:cNvPr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" name="Google Shape;796;p60">
            <a:extLst>
              <a:ext uri="{FF2B5EF4-FFF2-40B4-BE49-F238E27FC236}">
                <a16:creationId xmlns:a16="http://schemas.microsoft.com/office/drawing/2014/main" id="{D03CE19C-E0EF-A63F-E046-3CD100DBBCEA}"/>
              </a:ext>
            </a:extLst>
          </p:cNvPr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" name="Google Shape;797;p60">
              <a:extLst>
                <a:ext uri="{FF2B5EF4-FFF2-40B4-BE49-F238E27FC236}">
                  <a16:creationId xmlns:a16="http://schemas.microsoft.com/office/drawing/2014/main" id="{4A660778-6B69-FB34-07D2-DCA50F625436}"/>
                </a:ext>
              </a:extLst>
            </p:cNvPr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" name="Google Shape;798;p60">
              <a:extLst>
                <a:ext uri="{FF2B5EF4-FFF2-40B4-BE49-F238E27FC236}">
                  <a16:creationId xmlns:a16="http://schemas.microsoft.com/office/drawing/2014/main" id="{42356096-7F2D-7172-F9D3-845092115906}"/>
                </a:ext>
              </a:extLst>
            </p:cNvPr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" name="Google Shape;799;p60">
              <a:extLst>
                <a:ext uri="{FF2B5EF4-FFF2-40B4-BE49-F238E27FC236}">
                  <a16:creationId xmlns:a16="http://schemas.microsoft.com/office/drawing/2014/main" id="{2E2DD28E-3402-1755-AF16-AAAD03DB62DA}"/>
                </a:ext>
              </a:extLst>
            </p:cNvPr>
            <p:cNvCxnSpPr>
              <a:endCxn id="9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1" name="Google Shape;801;p60">
            <a:extLst>
              <a:ext uri="{FF2B5EF4-FFF2-40B4-BE49-F238E27FC236}">
                <a16:creationId xmlns:a16="http://schemas.microsoft.com/office/drawing/2014/main" id="{5F430BC7-5441-D050-1A05-92B7F003DA10}"/>
              </a:ext>
            </a:extLst>
          </p:cNvPr>
          <p:cNvCxnSpPr/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804;p60">
            <a:extLst>
              <a:ext uri="{FF2B5EF4-FFF2-40B4-BE49-F238E27FC236}">
                <a16:creationId xmlns:a16="http://schemas.microsoft.com/office/drawing/2014/main" id="{E5CFE710-55B3-2539-9CE2-09F3CAA9AA48}"/>
              </a:ext>
            </a:extLst>
          </p:cNvPr>
          <p:cNvCxnSpPr/>
          <p:nvPr/>
        </p:nvCxnSpPr>
        <p:spPr>
          <a:xfrm rot="10800000" flipH="1">
            <a:off x="6934800" y="3651443"/>
            <a:ext cx="690900" cy="690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3" name="Google Shape;805;p60">
            <a:extLst>
              <a:ext uri="{FF2B5EF4-FFF2-40B4-BE49-F238E27FC236}">
                <a16:creationId xmlns:a16="http://schemas.microsoft.com/office/drawing/2014/main" id="{EB6DA7F7-55F0-D600-AF46-7D068E8A0EB8}"/>
              </a:ext>
            </a:extLst>
          </p:cNvPr>
          <p:cNvCxnSpPr/>
          <p:nvPr/>
        </p:nvCxnSpPr>
        <p:spPr>
          <a:xfrm rot="10800000" flipH="1">
            <a:off x="7773000" y="2813243"/>
            <a:ext cx="690900" cy="690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806;p60">
            <a:extLst>
              <a:ext uri="{FF2B5EF4-FFF2-40B4-BE49-F238E27FC236}">
                <a16:creationId xmlns:a16="http://schemas.microsoft.com/office/drawing/2014/main" id="{1E8B8F05-81F3-FECD-23A2-36B4B3234C5A}"/>
              </a:ext>
            </a:extLst>
          </p:cNvPr>
          <p:cNvSpPr txBox="1"/>
          <p:nvPr/>
        </p:nvSpPr>
        <p:spPr>
          <a:xfrm rot="-2700000">
            <a:off x="7545352" y="2972474"/>
            <a:ext cx="908349" cy="215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Congested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Google Shape;807;p60">
            <a:extLst>
              <a:ext uri="{FF2B5EF4-FFF2-40B4-BE49-F238E27FC236}">
                <a16:creationId xmlns:a16="http://schemas.microsoft.com/office/drawing/2014/main" id="{E63CEF2F-535B-ABBF-9CC5-6109052320C6}"/>
              </a:ext>
            </a:extLst>
          </p:cNvPr>
          <p:cNvSpPr txBox="1"/>
          <p:nvPr/>
        </p:nvSpPr>
        <p:spPr>
          <a:xfrm rot="-2700000">
            <a:off x="6817580" y="3740562"/>
            <a:ext cx="827739" cy="215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Inefficient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" name="Google Shape;808;p60">
            <a:extLst>
              <a:ext uri="{FF2B5EF4-FFF2-40B4-BE49-F238E27FC236}">
                <a16:creationId xmlns:a16="http://schemas.microsoft.com/office/drawing/2014/main" id="{FCDB7FE6-7D49-269B-3FBD-585BB422E79F}"/>
              </a:ext>
            </a:extLst>
          </p:cNvPr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Google Shape;809;p60">
            <a:extLst>
              <a:ext uri="{FF2B5EF4-FFF2-40B4-BE49-F238E27FC236}">
                <a16:creationId xmlns:a16="http://schemas.microsoft.com/office/drawing/2014/main" id="{6A9418D3-931F-A0B6-5659-B1949C2D4E02}"/>
              </a:ext>
            </a:extLst>
          </p:cNvPr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" name="Google Shape;810;p60">
            <a:extLst>
              <a:ext uri="{FF2B5EF4-FFF2-40B4-BE49-F238E27FC236}">
                <a16:creationId xmlns:a16="http://schemas.microsoft.com/office/drawing/2014/main" id="{9364E2EB-2DAE-62D4-3016-9A3AA30D8850}"/>
              </a:ext>
            </a:extLst>
          </p:cNvPr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C8F37FE-5F48-179D-815C-62E17DFCAA48}"/>
              </a:ext>
            </a:extLst>
          </p:cNvPr>
          <p:cNvSpPr/>
          <p:nvPr/>
        </p:nvSpPr>
        <p:spPr>
          <a:xfrm>
            <a:off x="6862599" y="2757055"/>
            <a:ext cx="182436" cy="173181"/>
          </a:xfrm>
          <a:prstGeom prst="ellipse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Rate Adjustment Graph</a:t>
            </a:r>
            <a:endParaRPr/>
          </a:p>
        </p:txBody>
      </p:sp>
      <p:sp>
        <p:nvSpPr>
          <p:cNvPr id="816" name="Google Shape;816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(0.2, 0.5) is inefficient (below blue line).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Only 0.7 bandwidth used.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(0.7, 0.5) is inefficient (above blue line).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1.2 bandwidth used (capacity is </a:t>
            </a:r>
            <a:r>
              <a:rPr lang="en" i="1"/>
              <a:t>C</a:t>
            </a:r>
            <a:r>
              <a:rPr lang="en"/>
              <a:t> = 1).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(0.7, 0.3) is efficient, but unfair.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 blue line, but not on green line.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 bandwidth used, but, 0.7 ≠ 0.3.</a:t>
            </a:r>
            <a:endParaRPr/>
          </a:p>
        </p:txBody>
      </p:sp>
      <p:grpSp>
        <p:nvGrpSpPr>
          <p:cNvPr id="817" name="Google Shape;817;p61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18" name="Google Shape;818;p61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19" name="Google Shape;819;p61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20" name="Google Shape;820;p61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21" name="Google Shape;821;p61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22" name="Google Shape;822;p61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23" name="Google Shape;823;p61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24" name="Google Shape;824;p61"/>
            <p:cNvCxnSpPr>
              <a:stCxn id="825" idx="1"/>
              <a:endCxn id="82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26" name="Google Shape;826;p61"/>
          <p:cNvCxnSpPr>
            <a:stCxn id="827" idx="1"/>
            <a:endCxn id="82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9" name="Google Shape;829;p61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30" name="Google Shape;830;p61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1" name="Google Shape;831;p61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2" name="Google Shape;832;p61"/>
          <p:cNvSpPr/>
          <p:nvPr/>
        </p:nvSpPr>
        <p:spPr>
          <a:xfrm>
            <a:off x="5707825" y="27497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61"/>
          <p:cNvSpPr txBox="1"/>
          <p:nvPr/>
        </p:nvSpPr>
        <p:spPr>
          <a:xfrm>
            <a:off x="5367325" y="2534300"/>
            <a:ext cx="820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(0.2, 0.5)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4" name="Google Shape;834;p61"/>
          <p:cNvSpPr txBox="1"/>
          <p:nvPr/>
        </p:nvSpPr>
        <p:spPr>
          <a:xfrm>
            <a:off x="7466727" y="2534300"/>
            <a:ext cx="7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(0.7, 0.5)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1"/>
          <p:cNvSpPr txBox="1"/>
          <p:nvPr/>
        </p:nvSpPr>
        <p:spPr>
          <a:xfrm>
            <a:off x="7931575" y="3616925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(0.7, 0.3)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6" name="Google Shape;836;p61"/>
          <p:cNvSpPr/>
          <p:nvPr/>
        </p:nvSpPr>
        <p:spPr>
          <a:xfrm>
            <a:off x="7775575" y="27497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7" name="Google Shape;837;p61"/>
          <p:cNvSpPr/>
          <p:nvPr/>
        </p:nvSpPr>
        <p:spPr>
          <a:xfrm>
            <a:off x="7775575" y="3655025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A148AD-677B-733F-F407-2AC4CC133A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Additive Adjustments on Graph</a:t>
            </a:r>
            <a:endParaRPr/>
          </a:p>
        </p:txBody>
      </p:sp>
      <p:sp>
        <p:nvSpPr>
          <p:cNvPr id="843" name="Google Shape;843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Both flows </a:t>
            </a:r>
            <a:r>
              <a:rPr lang="en" i="1"/>
              <a:t>independently</a:t>
            </a:r>
            <a:r>
              <a:rPr lang="en"/>
              <a:t> running </a:t>
            </a:r>
            <a:r>
              <a:rPr lang="en" i="1"/>
              <a:t>identical</a:t>
            </a:r>
            <a:r>
              <a:rPr lang="en"/>
              <a:t> algorithms.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current allocation is (</a:t>
            </a:r>
            <a:r>
              <a:rPr lang="en" i="1"/>
              <a:t>X</a:t>
            </a:r>
            <a:r>
              <a:rPr lang="en"/>
              <a:t>, </a:t>
            </a:r>
            <a:r>
              <a:rPr lang="en" i="1"/>
              <a:t>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increase additively: (</a:t>
            </a:r>
            <a:r>
              <a:rPr lang="en" i="1"/>
              <a:t>X </a:t>
            </a:r>
            <a:r>
              <a:rPr lang="en"/>
              <a:t>+ </a:t>
            </a:r>
            <a:r>
              <a:rPr lang="en" i="1"/>
              <a:t>a</a:t>
            </a:r>
            <a:r>
              <a:rPr lang="en"/>
              <a:t>, </a:t>
            </a:r>
            <a:r>
              <a:rPr lang="en" i="1"/>
              <a:t>Y </a:t>
            </a:r>
            <a:r>
              <a:rPr lang="en"/>
              <a:t>+ </a:t>
            </a:r>
            <a:r>
              <a:rPr lang="en" i="1"/>
              <a:t>a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decrease additively: (</a:t>
            </a:r>
            <a:r>
              <a:rPr lang="en" i="1"/>
              <a:t>X</a:t>
            </a:r>
            <a:r>
              <a:rPr lang="en"/>
              <a:t> – </a:t>
            </a:r>
            <a:r>
              <a:rPr lang="en" i="1"/>
              <a:t>b</a:t>
            </a:r>
            <a:r>
              <a:rPr lang="en"/>
              <a:t>, Y – </a:t>
            </a:r>
            <a:r>
              <a:rPr lang="en" i="1"/>
              <a:t>b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Allocations always stay on a line with slope = 1.</a:t>
            </a:r>
            <a:endParaRPr/>
          </a:p>
        </p:txBody>
      </p:sp>
      <p:grpSp>
        <p:nvGrpSpPr>
          <p:cNvPr id="844" name="Google Shape;844;p62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45" name="Google Shape;845;p62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46" name="Google Shape;846;p62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47" name="Google Shape;847;p62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48" name="Google Shape;848;p62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49" name="Google Shape;849;p62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50" name="Google Shape;850;p62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51" name="Google Shape;851;p62"/>
            <p:cNvCxnSpPr>
              <a:stCxn id="852" idx="1"/>
              <a:endCxn id="850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53" name="Google Shape;853;p62"/>
          <p:cNvCxnSpPr>
            <a:stCxn id="854" idx="1"/>
            <a:endCxn id="855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6" name="Google Shape;856;p62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7" name="Google Shape;857;p62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62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2"/>
          <p:cNvSpPr txBox="1"/>
          <p:nvPr/>
        </p:nvSpPr>
        <p:spPr>
          <a:xfrm>
            <a:off x="6580775" y="1921250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62"/>
          <p:cNvSpPr/>
          <p:nvPr/>
        </p:nvSpPr>
        <p:spPr>
          <a:xfrm>
            <a:off x="6378650" y="19593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62"/>
          <p:cNvSpPr txBox="1"/>
          <p:nvPr/>
        </p:nvSpPr>
        <p:spPr>
          <a:xfrm>
            <a:off x="7068050" y="1387850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62"/>
          <p:cNvSpPr/>
          <p:nvPr/>
        </p:nvSpPr>
        <p:spPr>
          <a:xfrm>
            <a:off x="6912050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62"/>
          <p:cNvSpPr txBox="1"/>
          <p:nvPr/>
        </p:nvSpPr>
        <p:spPr>
          <a:xfrm>
            <a:off x="5848850" y="2607050"/>
            <a:ext cx="917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62"/>
          <p:cNvSpPr/>
          <p:nvPr/>
        </p:nvSpPr>
        <p:spPr>
          <a:xfrm>
            <a:off x="5692850" y="26451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5" name="Google Shape;865;p62"/>
          <p:cNvCxnSpPr>
            <a:endCxn id="862" idx="3"/>
          </p:cNvCxnSpPr>
          <p:nvPr/>
        </p:nvCxnSpPr>
        <p:spPr>
          <a:xfrm rot="10800000" flipH="1">
            <a:off x="5811635" y="1544765"/>
            <a:ext cx="1120800" cy="112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89758D-E14F-BF63-0E36-B73E00371F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Multiplicative Adjustments on Graph</a:t>
            </a:r>
            <a:endParaRPr/>
          </a:p>
        </p:txBody>
      </p:sp>
      <p:sp>
        <p:nvSpPr>
          <p:cNvPr id="871" name="Google Shape;871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Both flows </a:t>
            </a:r>
            <a:r>
              <a:rPr lang="en" i="1"/>
              <a:t>independently</a:t>
            </a:r>
            <a:r>
              <a:rPr lang="en"/>
              <a:t> running </a:t>
            </a:r>
            <a:r>
              <a:rPr lang="en" i="1"/>
              <a:t>identical</a:t>
            </a:r>
            <a:r>
              <a:rPr lang="en"/>
              <a:t> algorithms.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current allocation is (</a:t>
            </a:r>
            <a:r>
              <a:rPr lang="en" i="1"/>
              <a:t>X</a:t>
            </a:r>
            <a:r>
              <a:rPr lang="en"/>
              <a:t>, </a:t>
            </a:r>
            <a:r>
              <a:rPr lang="en" i="1"/>
              <a:t>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increase multiplicatively: (</a:t>
            </a:r>
            <a:r>
              <a:rPr lang="en" i="1"/>
              <a:t>cX</a:t>
            </a:r>
            <a:r>
              <a:rPr lang="en"/>
              <a:t>, </a:t>
            </a:r>
            <a:r>
              <a:rPr lang="en" i="1"/>
              <a:t>cY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decrease multiplicatively: (</a:t>
            </a:r>
            <a:r>
              <a:rPr lang="en" i="1"/>
              <a:t>X/d</a:t>
            </a:r>
            <a:r>
              <a:rPr lang="en"/>
              <a:t>, </a:t>
            </a:r>
            <a:r>
              <a:rPr lang="en" i="1"/>
              <a:t>Y/d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Allocations always stay on a line with slope = </a:t>
            </a:r>
            <a:r>
              <a:rPr lang="en" i="1"/>
              <a:t>Y</a:t>
            </a:r>
            <a:r>
              <a:rPr lang="en"/>
              <a:t>/</a:t>
            </a:r>
            <a:r>
              <a:rPr lang="en" i="1"/>
              <a:t>X</a:t>
            </a:r>
            <a:r>
              <a:rPr lang="en"/>
              <a:t>, going through the origin.</a:t>
            </a:r>
            <a:endParaRPr/>
          </a:p>
        </p:txBody>
      </p:sp>
      <p:grpSp>
        <p:nvGrpSpPr>
          <p:cNvPr id="872" name="Google Shape;872;p63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73" name="Google Shape;873;p63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74" name="Google Shape;874;p63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75" name="Google Shape;875;p63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76" name="Google Shape;876;p63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77" name="Google Shape;877;p63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78" name="Google Shape;878;p63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79" name="Google Shape;879;p63"/>
            <p:cNvCxnSpPr>
              <a:stCxn id="880" idx="1"/>
              <a:endCxn id="878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81" name="Google Shape;881;p63"/>
          <p:cNvCxnSpPr>
            <a:stCxn id="882" idx="1"/>
            <a:endCxn id="883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4" name="Google Shape;884;p63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5" name="Google Shape;885;p63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63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63"/>
          <p:cNvSpPr txBox="1"/>
          <p:nvPr/>
        </p:nvSpPr>
        <p:spPr>
          <a:xfrm>
            <a:off x="6814374" y="1996403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8" name="Google Shape;888;p63"/>
          <p:cNvSpPr/>
          <p:nvPr/>
        </p:nvSpPr>
        <p:spPr>
          <a:xfrm>
            <a:off x="6612249" y="2034503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63"/>
          <p:cNvSpPr txBox="1"/>
          <p:nvPr/>
        </p:nvSpPr>
        <p:spPr>
          <a:xfrm>
            <a:off x="7068050" y="1387850"/>
            <a:ext cx="637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63"/>
          <p:cNvSpPr txBox="1"/>
          <p:nvPr/>
        </p:nvSpPr>
        <p:spPr>
          <a:xfrm>
            <a:off x="5419823" y="2689700"/>
            <a:ext cx="760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63"/>
          <p:cNvSpPr/>
          <p:nvPr/>
        </p:nvSpPr>
        <p:spPr>
          <a:xfrm>
            <a:off x="6202439" y="27278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2" name="Google Shape;892;p63"/>
          <p:cNvCxnSpPr>
            <a:endCxn id="893" idx="4"/>
          </p:cNvCxnSpPr>
          <p:nvPr/>
        </p:nvCxnSpPr>
        <p:spPr>
          <a:xfrm rot="10800000" flipH="1">
            <a:off x="5312450" y="1565150"/>
            <a:ext cx="1669200" cy="2927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94" name="Google Shape;894;p63"/>
          <p:cNvSpPr/>
          <p:nvPr/>
        </p:nvSpPr>
        <p:spPr>
          <a:xfrm>
            <a:off x="6942325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63"/>
          <p:cNvSpPr txBox="1"/>
          <p:nvPr/>
        </p:nvSpPr>
        <p:spPr>
          <a:xfrm>
            <a:off x="202655" y="4062950"/>
            <a:ext cx="435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Rise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63"/>
          <p:cNvSpPr txBox="1"/>
          <p:nvPr/>
        </p:nvSpPr>
        <p:spPr>
          <a:xfrm>
            <a:off x="202655" y="4278350"/>
            <a:ext cx="435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Run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63"/>
          <p:cNvSpPr txBox="1"/>
          <p:nvPr/>
        </p:nvSpPr>
        <p:spPr>
          <a:xfrm>
            <a:off x="700075" y="41764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8" name="Google Shape;898;p63"/>
          <p:cNvCxnSpPr/>
          <p:nvPr/>
        </p:nvCxnSpPr>
        <p:spPr>
          <a:xfrm>
            <a:off x="230800" y="4273015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9" name="Google Shape;899;p63"/>
          <p:cNvSpPr txBox="1"/>
          <p:nvPr/>
        </p:nvSpPr>
        <p:spPr>
          <a:xfrm>
            <a:off x="968800" y="4057625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63"/>
          <p:cNvSpPr txBox="1"/>
          <p:nvPr/>
        </p:nvSpPr>
        <p:spPr>
          <a:xfrm>
            <a:off x="968800" y="4273025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1" name="Google Shape;901;p63"/>
          <p:cNvCxnSpPr/>
          <p:nvPr/>
        </p:nvCxnSpPr>
        <p:spPr>
          <a:xfrm>
            <a:off x="1016686" y="4267690"/>
            <a:ext cx="666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2" name="Google Shape;902;p63"/>
          <p:cNvSpPr txBox="1"/>
          <p:nvPr/>
        </p:nvSpPr>
        <p:spPr>
          <a:xfrm>
            <a:off x="1979800" y="4052300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1)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p63"/>
          <p:cNvSpPr txBox="1"/>
          <p:nvPr/>
        </p:nvSpPr>
        <p:spPr>
          <a:xfrm>
            <a:off x="1979800" y="4267700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1)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4" name="Google Shape;904;p63"/>
          <p:cNvCxnSpPr/>
          <p:nvPr/>
        </p:nvCxnSpPr>
        <p:spPr>
          <a:xfrm>
            <a:off x="2027686" y="4262365"/>
            <a:ext cx="666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5" name="Google Shape;905;p63"/>
          <p:cNvSpPr txBox="1"/>
          <p:nvPr/>
        </p:nvSpPr>
        <p:spPr>
          <a:xfrm>
            <a:off x="1735763" y="41546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6" name="Google Shape;906;p63"/>
          <p:cNvSpPr txBox="1"/>
          <p:nvPr/>
        </p:nvSpPr>
        <p:spPr>
          <a:xfrm>
            <a:off x="2970400" y="4052300"/>
            <a:ext cx="218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63"/>
          <p:cNvSpPr txBox="1"/>
          <p:nvPr/>
        </p:nvSpPr>
        <p:spPr>
          <a:xfrm>
            <a:off x="2970400" y="4267700"/>
            <a:ext cx="218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8" name="Google Shape;908;p63"/>
          <p:cNvCxnSpPr/>
          <p:nvPr/>
        </p:nvCxnSpPr>
        <p:spPr>
          <a:xfrm>
            <a:off x="2984543" y="4262365"/>
            <a:ext cx="196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9" name="Google Shape;909;p63"/>
          <p:cNvSpPr txBox="1"/>
          <p:nvPr/>
        </p:nvSpPr>
        <p:spPr>
          <a:xfrm>
            <a:off x="2726038" y="41546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FB6A6C-6430-D527-8129-87AF699D79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AIAD (Additive Increase, Additive Decrease) Dynamics</a:t>
            </a:r>
            <a:endParaRPr/>
          </a:p>
        </p:txBody>
      </p:sp>
      <p:sp>
        <p:nvSpPr>
          <p:cNvPr id="915" name="Google Shape;915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+1		Decrease: –2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4	sum = 6, congested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2	sum = 2,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back to where we started!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Notice: The </a:t>
            </a:r>
            <a:r>
              <a:rPr lang="en" i="1" dirty="0"/>
              <a:t>difference</a:t>
            </a:r>
            <a:r>
              <a:rPr lang="en" dirty="0"/>
              <a:t> in allocations stays the same!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AIAD maintains the same unfairness across iterations.</a:t>
            </a:r>
            <a:endParaRPr dirty="0"/>
          </a:p>
        </p:txBody>
      </p:sp>
      <p:sp>
        <p:nvSpPr>
          <p:cNvPr id="916" name="Google Shape;916;p64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7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330C25-C84B-8922-DAFF-1867BC4F2F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AIAD (Additive Increase, Additive Decrease) Adjustments on Graph</a:t>
            </a:r>
            <a:endParaRPr/>
          </a:p>
        </p:txBody>
      </p:sp>
      <p:sp>
        <p:nvSpPr>
          <p:cNvPr id="922" name="Google Shape;922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Increase: +</a:t>
            </a:r>
            <a:r>
              <a:rPr lang="en" i="1"/>
              <a:t>a</a:t>
            </a:r>
            <a:r>
              <a:rPr lang="en"/>
              <a:t>		Decrease: –</a:t>
            </a:r>
            <a:r>
              <a:rPr lang="en" i="1"/>
              <a:t>b</a:t>
            </a:r>
            <a:endParaRPr i="1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moving along the line with slope 1.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AIAD does not converge to fairness.</a:t>
            </a:r>
            <a:endParaRPr/>
          </a:p>
        </p:txBody>
      </p:sp>
      <p:cxnSp>
        <p:nvCxnSpPr>
          <p:cNvPr id="923" name="Google Shape;923;p65"/>
          <p:cNvCxnSpPr/>
          <p:nvPr/>
        </p:nvCxnSpPr>
        <p:spPr>
          <a:xfrm rot="10800000">
            <a:off x="5306100" y="4492550"/>
            <a:ext cx="3650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24" name="Google Shape;924;p65"/>
          <p:cNvCxnSpPr>
            <a:stCxn id="925" idx="1"/>
            <a:endCxn id="926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7" name="Google Shape;927;p65"/>
          <p:cNvCxnSpPr/>
          <p:nvPr/>
        </p:nvCxnSpPr>
        <p:spPr>
          <a:xfrm>
            <a:off x="5306100" y="842450"/>
            <a:ext cx="0" cy="365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28" name="Google Shape;928;p65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9" name="Google Shape;929;p65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65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 i="1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1" name="Google Shape;931;p65"/>
          <p:cNvSpPr txBox="1"/>
          <p:nvPr/>
        </p:nvSpPr>
        <p:spPr>
          <a:xfrm>
            <a:off x="6580775" y="1921250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65"/>
          <p:cNvSpPr/>
          <p:nvPr/>
        </p:nvSpPr>
        <p:spPr>
          <a:xfrm>
            <a:off x="6378650" y="19593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65"/>
          <p:cNvSpPr txBox="1"/>
          <p:nvPr/>
        </p:nvSpPr>
        <p:spPr>
          <a:xfrm>
            <a:off x="7068050" y="1387850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65"/>
          <p:cNvSpPr/>
          <p:nvPr/>
        </p:nvSpPr>
        <p:spPr>
          <a:xfrm>
            <a:off x="6912050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65"/>
          <p:cNvSpPr txBox="1"/>
          <p:nvPr/>
        </p:nvSpPr>
        <p:spPr>
          <a:xfrm>
            <a:off x="5848850" y="2607050"/>
            <a:ext cx="917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65"/>
          <p:cNvSpPr/>
          <p:nvPr/>
        </p:nvSpPr>
        <p:spPr>
          <a:xfrm>
            <a:off x="5692850" y="26451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7" name="Google Shape;937;p65"/>
          <p:cNvCxnSpPr/>
          <p:nvPr/>
        </p:nvCxnSpPr>
        <p:spPr>
          <a:xfrm rot="10800000" flipH="1">
            <a:off x="6477550" y="1560950"/>
            <a:ext cx="471000" cy="47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8" name="Google Shape;938;p65"/>
          <p:cNvCxnSpPr/>
          <p:nvPr/>
        </p:nvCxnSpPr>
        <p:spPr>
          <a:xfrm rot="10800000" flipH="1">
            <a:off x="5788899" y="1467699"/>
            <a:ext cx="1156200" cy="1156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660745-B8E3-0DBB-0C95-8E31498B6C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MIMD (Multiplicative Increase, Multiplicative Decrease) Dynamics</a:t>
            </a:r>
            <a:endParaRPr/>
          </a:p>
        </p:txBody>
      </p:sp>
      <p:sp>
        <p:nvSpPr>
          <p:cNvPr id="944" name="Google Shape;944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×2		Decrease: ÷4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0.5	</a:t>
            </a:r>
            <a:r>
              <a:rPr lang="en" i="1" dirty="0"/>
              <a:t>Y</a:t>
            </a:r>
            <a:r>
              <a:rPr lang="en" dirty="0"/>
              <a:t> = 1	sum = 1.5,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2	sum = 3,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4	sum = 6,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0.5	</a:t>
            </a:r>
            <a:r>
              <a:rPr lang="en" i="1" dirty="0"/>
              <a:t>Y</a:t>
            </a:r>
            <a:r>
              <a:rPr lang="en" dirty="0"/>
              <a:t> = 1	back to where we started!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Notice: The </a:t>
            </a:r>
            <a:r>
              <a:rPr lang="en" i="1" dirty="0"/>
              <a:t>ratio </a:t>
            </a:r>
            <a:r>
              <a:rPr lang="en" dirty="0"/>
              <a:t>of allocations stays the same!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MIMD maintains the same unfairness across iterations.</a:t>
            </a:r>
            <a:endParaRPr dirty="0"/>
          </a:p>
        </p:txBody>
      </p:sp>
      <p:sp>
        <p:nvSpPr>
          <p:cNvPr id="945" name="Google Shape;945;p66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7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4939B4-1EEB-80AF-7D67-C2C273B23B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50" name="Google Shape;950;p67"/>
          <p:cNvCxnSpPr>
            <a:endCxn id="951" idx="4"/>
          </p:cNvCxnSpPr>
          <p:nvPr/>
        </p:nvCxnSpPr>
        <p:spPr>
          <a:xfrm rot="10800000" flipH="1">
            <a:off x="5312450" y="1565150"/>
            <a:ext cx="1669200" cy="29271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952" name="Google Shape;952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MIMD (Multiplicative Increase, Multiplicative Decrease) Adjustments on Graph</a:t>
            </a:r>
            <a:endParaRPr/>
          </a:p>
        </p:txBody>
      </p:sp>
      <p:sp>
        <p:nvSpPr>
          <p:cNvPr id="953" name="Google Shape;953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Increase: ×</a:t>
            </a:r>
            <a:r>
              <a:rPr lang="en" i="1"/>
              <a:t>c</a:t>
            </a:r>
            <a:r>
              <a:rPr lang="en"/>
              <a:t>		Decrease: ÷</a:t>
            </a:r>
            <a:r>
              <a:rPr lang="en" i="1"/>
              <a:t>d</a:t>
            </a:r>
            <a:endParaRPr i="1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moving along the line connected to the origin.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MIMD does not converge to fairness.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4" name="Google Shape;954;p67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955" name="Google Shape;955;p67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56" name="Google Shape;956;p67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957" name="Google Shape;957;p67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58" name="Google Shape;958;p67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959" name="Google Shape;959;p67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60" name="Google Shape;960;p67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961" name="Google Shape;961;p67"/>
            <p:cNvCxnSpPr>
              <a:stCxn id="962" idx="1"/>
              <a:endCxn id="960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963" name="Google Shape;963;p67"/>
          <p:cNvCxnSpPr>
            <a:stCxn id="964" idx="1"/>
            <a:endCxn id="965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66" name="Google Shape;966;p67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67" name="Google Shape;967;p67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67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67"/>
          <p:cNvSpPr txBox="1"/>
          <p:nvPr/>
        </p:nvSpPr>
        <p:spPr>
          <a:xfrm>
            <a:off x="6814374" y="1996403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67"/>
          <p:cNvSpPr/>
          <p:nvPr/>
        </p:nvSpPr>
        <p:spPr>
          <a:xfrm>
            <a:off x="6612249" y="2034503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67"/>
          <p:cNvSpPr txBox="1"/>
          <p:nvPr/>
        </p:nvSpPr>
        <p:spPr>
          <a:xfrm>
            <a:off x="7068050" y="1387850"/>
            <a:ext cx="637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67"/>
          <p:cNvSpPr txBox="1"/>
          <p:nvPr/>
        </p:nvSpPr>
        <p:spPr>
          <a:xfrm>
            <a:off x="5419823" y="2689700"/>
            <a:ext cx="760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67"/>
          <p:cNvSpPr/>
          <p:nvPr/>
        </p:nvSpPr>
        <p:spPr>
          <a:xfrm>
            <a:off x="6202439" y="27278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67"/>
          <p:cNvSpPr/>
          <p:nvPr/>
        </p:nvSpPr>
        <p:spPr>
          <a:xfrm>
            <a:off x="6942325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5" name="Google Shape;975;p67"/>
          <p:cNvCxnSpPr/>
          <p:nvPr/>
        </p:nvCxnSpPr>
        <p:spPr>
          <a:xfrm rot="10800000" flipH="1">
            <a:off x="6284733" y="2109658"/>
            <a:ext cx="353400" cy="619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76" name="Google Shape;976;p67"/>
          <p:cNvCxnSpPr/>
          <p:nvPr/>
        </p:nvCxnSpPr>
        <p:spPr>
          <a:xfrm rot="10800000" flipH="1">
            <a:off x="6305646" y="1562221"/>
            <a:ext cx="713100" cy="1246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353560-67C4-1B18-932D-49336CA816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38</a:t>
            </a:fld>
            <a:endParaRPr lang="en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MIAD (Multiplicative Increase, Additive Decrease) Dynamics</a:t>
            </a:r>
            <a:endParaRPr/>
          </a:p>
        </p:txBody>
      </p:sp>
      <p:sp>
        <p:nvSpPr>
          <p:cNvPr id="982" name="Google Shape;982;p6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×2		Decrease: –1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6	sum = 8,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5	sum = 6,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4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Fourth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8	</a:t>
            </a:r>
            <a:r>
              <a:rPr lang="en" i="1" dirty="0"/>
              <a:t>X</a:t>
            </a:r>
            <a:r>
              <a:rPr lang="en" dirty="0"/>
              <a:t> stuck at 0 forever!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gap in allocation doubles when we increase. </a:t>
            </a:r>
            <a:r>
              <a:rPr lang="en" sz="1400" dirty="0">
                <a:solidFill>
                  <a:schemeClr val="accent3"/>
                </a:solidFill>
              </a:rPr>
              <a:t>before: 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.     after: 2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2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 = 2(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gap in allocation stays the same when we decrease.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Same as AIAD.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MIAD is </a:t>
            </a:r>
            <a:r>
              <a:rPr lang="en" i="1" dirty="0"/>
              <a:t>maximally unfair</a:t>
            </a:r>
            <a:r>
              <a:rPr lang="en" dirty="0"/>
              <a:t>. The gap increases until one person has all the bandwidth!</a:t>
            </a:r>
            <a:endParaRPr dirty="0"/>
          </a:p>
        </p:txBody>
      </p:sp>
      <p:sp>
        <p:nvSpPr>
          <p:cNvPr id="983" name="Google Shape;983;p68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83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8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D941BB-02F8-B3FF-05C4-628061E01E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39</a:t>
            </a:fld>
            <a:endParaRPr lang="e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+1		Decrease: ÷2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	</a:t>
            </a:r>
            <a:r>
              <a:rPr lang="en" i="1" dirty="0"/>
              <a:t>Y</a:t>
            </a:r>
            <a:r>
              <a:rPr lang="en" dirty="0"/>
              <a:t> = 2	sum = 3,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	</a:t>
            </a:r>
            <a:r>
              <a:rPr lang="en" i="1" dirty="0"/>
              <a:t>Y</a:t>
            </a:r>
            <a:r>
              <a:rPr lang="en" dirty="0"/>
              <a:t> = 3	sum = 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3		</a:t>
            </a:r>
            <a:r>
              <a:rPr lang="en" i="1" dirty="0"/>
              <a:t>Y</a:t>
            </a:r>
            <a:r>
              <a:rPr lang="en" dirty="0"/>
              <a:t> = 4	sum = 7,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1.5		</a:t>
            </a:r>
            <a:r>
              <a:rPr lang="en" i="1" dirty="0"/>
              <a:t>Y</a:t>
            </a:r>
            <a:r>
              <a:rPr lang="en" dirty="0"/>
              <a:t> = 2	sum = 3.5,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Fourth iteration:	</a:t>
            </a:r>
            <a:r>
              <a:rPr lang="en" i="1" dirty="0"/>
              <a:t>X</a:t>
            </a:r>
            <a:r>
              <a:rPr lang="en" dirty="0"/>
              <a:t> = 2.5		</a:t>
            </a:r>
            <a:r>
              <a:rPr lang="en" i="1" dirty="0"/>
              <a:t>Y</a:t>
            </a:r>
            <a:r>
              <a:rPr lang="en" dirty="0"/>
              <a:t> = 3	sum = 5.5,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Fifth iteration:	</a:t>
            </a:r>
            <a:r>
              <a:rPr lang="en" i="1" dirty="0"/>
              <a:t>X</a:t>
            </a:r>
            <a:r>
              <a:rPr lang="en" dirty="0"/>
              <a:t> = 1.25		</a:t>
            </a:r>
            <a:r>
              <a:rPr lang="en" i="1" dirty="0"/>
              <a:t>Y</a:t>
            </a:r>
            <a:r>
              <a:rPr lang="en" dirty="0"/>
              <a:t> = 1.5	sum = 2.75,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Sixth iteration:	</a:t>
            </a:r>
            <a:r>
              <a:rPr lang="en" i="1" dirty="0"/>
              <a:t>X</a:t>
            </a:r>
            <a:r>
              <a:rPr lang="en" dirty="0"/>
              <a:t> = 2.25		</a:t>
            </a:r>
            <a:r>
              <a:rPr lang="en" i="1" dirty="0"/>
              <a:t>Y</a:t>
            </a:r>
            <a:r>
              <a:rPr lang="en" dirty="0"/>
              <a:t> = 2.5	sum = 4.75,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Seventh iteration:	</a:t>
            </a:r>
            <a:r>
              <a:rPr lang="en" i="1" dirty="0"/>
              <a:t>X</a:t>
            </a:r>
            <a:r>
              <a:rPr lang="en" dirty="0"/>
              <a:t> = 3.25		</a:t>
            </a:r>
            <a:r>
              <a:rPr lang="en" i="1" dirty="0"/>
              <a:t>Y</a:t>
            </a:r>
            <a:r>
              <a:rPr lang="en" dirty="0"/>
              <a:t> = 3.5	sum = 6.75,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Eighth iteration:	</a:t>
            </a:r>
            <a:r>
              <a:rPr lang="en" i="1" dirty="0"/>
              <a:t>X</a:t>
            </a:r>
            <a:r>
              <a:rPr lang="en" dirty="0"/>
              <a:t> = 1.625	</a:t>
            </a:r>
            <a:r>
              <a:rPr lang="en" i="1" dirty="0"/>
              <a:t>Y</a:t>
            </a:r>
            <a:r>
              <a:rPr lang="en" dirty="0"/>
              <a:t> = 1.75	sum = 3.375,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Ninth iteration:	</a:t>
            </a:r>
            <a:r>
              <a:rPr lang="en" i="1" dirty="0"/>
              <a:t>X</a:t>
            </a:r>
            <a:r>
              <a:rPr lang="en" dirty="0"/>
              <a:t> = 2.625	</a:t>
            </a:r>
            <a:r>
              <a:rPr lang="en" i="1" dirty="0"/>
              <a:t>Y</a:t>
            </a:r>
            <a:r>
              <a:rPr lang="en" dirty="0"/>
              <a:t> = 2.75	approaching 2.5 each!</a:t>
            </a:r>
            <a:endParaRPr i="1" dirty="0"/>
          </a:p>
        </p:txBody>
      </p:sp>
      <p:sp>
        <p:nvSpPr>
          <p:cNvPr id="989" name="Google Shape;989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AIMD (Additive Increase, Multiplicative Decrease) Dynamics</a:t>
            </a:r>
            <a:endParaRPr/>
          </a:p>
        </p:txBody>
      </p:sp>
      <p:sp>
        <p:nvSpPr>
          <p:cNvPr id="990" name="Google Shape;990;p69"/>
          <p:cNvSpPr txBox="1">
            <a:spLocks noGrp="1"/>
          </p:cNvSpPr>
          <p:nvPr>
            <p:ph type="body" idx="1"/>
          </p:nvPr>
        </p:nvSpPr>
        <p:spPr>
          <a:xfrm>
            <a:off x="7429500" y="402200"/>
            <a:ext cx="158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8C10DB-AF04-9129-A690-953FAB9931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40</a:t>
            </a:fld>
            <a:endParaRPr lang="en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686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in allocation stays the same when we increase.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in allocation halves when we decrease.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Before: </a:t>
            </a:r>
            <a:r>
              <a:rPr lang="en" i="1"/>
              <a:t>Y</a:t>
            </a:r>
            <a:r>
              <a:rPr lang="en"/>
              <a:t> – </a:t>
            </a:r>
            <a:r>
              <a:rPr lang="en" i="1"/>
              <a:t>X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After: (0.5 </a:t>
            </a:r>
            <a:r>
              <a:rPr lang="en" i="1"/>
              <a:t>Y</a:t>
            </a:r>
            <a:r>
              <a:rPr lang="en"/>
              <a:t> – 0.5 </a:t>
            </a:r>
            <a:r>
              <a:rPr lang="en" i="1"/>
              <a:t>X</a:t>
            </a:r>
            <a:r>
              <a:rPr lang="en"/>
              <a:t>) = 0.5(</a:t>
            </a:r>
            <a:r>
              <a:rPr lang="en" i="1"/>
              <a:t>Y</a:t>
            </a:r>
            <a:r>
              <a:rPr lang="en"/>
              <a:t> – </a:t>
            </a:r>
            <a:r>
              <a:rPr lang="en" i="1"/>
              <a:t>X</a:t>
            </a:r>
            <a:r>
              <a:rPr lang="en"/>
              <a:t>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approaches 0, so AIMD approaches fairness!</a:t>
            </a:r>
            <a:endParaRPr/>
          </a:p>
        </p:txBody>
      </p:sp>
      <p:sp>
        <p:nvSpPr>
          <p:cNvPr id="996" name="Google Shape;996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AIMD (Additive Increase, Multiplicative Decrease) Dynamics</a:t>
            </a:r>
            <a:endParaRPr/>
          </a:p>
        </p:txBody>
      </p:sp>
      <p:sp>
        <p:nvSpPr>
          <p:cNvPr id="997" name="Google Shape;997;p70"/>
          <p:cNvSpPr txBox="1">
            <a:spLocks noGrp="1"/>
          </p:cNvSpPr>
          <p:nvPr>
            <p:ph type="body" idx="1"/>
          </p:nvPr>
        </p:nvSpPr>
        <p:spPr>
          <a:xfrm>
            <a:off x="7429500" y="402200"/>
            <a:ext cx="158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DB0313-7D0E-0A82-BF22-FCB273C6AB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41</a:t>
            </a:fld>
            <a:endParaRPr lang="en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71"/>
          <p:cNvSpPr/>
          <p:nvPr/>
        </p:nvSpPr>
        <p:spPr>
          <a:xfrm rot="-8838585">
            <a:off x="6023397" y="1533896"/>
            <a:ext cx="619889" cy="1311842"/>
          </a:xfrm>
          <a:prstGeom prst="triangle">
            <a:avLst>
              <a:gd name="adj" fmla="val 50000"/>
            </a:avLst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3" name="Google Shape;1003;p71"/>
          <p:cNvCxnSpPr/>
          <p:nvPr/>
        </p:nvCxnSpPr>
        <p:spPr>
          <a:xfrm rot="10800000" flipH="1">
            <a:off x="5312529" y="2077283"/>
            <a:ext cx="1344600" cy="24150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04" name="Google Shape;1004;p71"/>
          <p:cNvCxnSpPr/>
          <p:nvPr/>
        </p:nvCxnSpPr>
        <p:spPr>
          <a:xfrm rot="10800000" flipH="1">
            <a:off x="5312450" y="1697450"/>
            <a:ext cx="1045800" cy="27948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05" name="Google Shape;1005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AIMD (Additive Increase, Multiplicative Decrease) Adjustments on Graph</a:t>
            </a:r>
            <a:endParaRPr/>
          </a:p>
        </p:txBody>
      </p:sp>
      <p:sp>
        <p:nvSpPr>
          <p:cNvPr id="1006" name="Google Shape;1006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</a:t>
            </a:r>
            <a:r>
              <a:rPr lang="en" i="1" dirty="0"/>
              <a:t>a</a:t>
            </a:r>
            <a:r>
              <a:rPr lang="en" dirty="0"/>
              <a:t>		Decrease: ÷</a:t>
            </a:r>
            <a:r>
              <a:rPr lang="en" i="1" dirty="0"/>
              <a:t>d</a:t>
            </a:r>
            <a:endParaRPr i="1" dirty="0"/>
          </a:p>
          <a:p>
            <a:pPr marL="0" lvl="0" indent="0">
              <a:buNone/>
            </a:pPr>
            <a:r>
              <a:rPr lang="en" dirty="0"/>
              <a:t>AIMD (</a:t>
            </a:r>
            <a:r>
              <a:rPr lang="en" altLang="zh-CN" dirty="0"/>
              <a:t>slow-start/</a:t>
            </a:r>
            <a:r>
              <a:rPr lang="en-US" altLang="zh-CN" dirty="0"/>
              <a:t>gentle increase, rapid decrease</a:t>
            </a:r>
            <a:r>
              <a:rPr lang="en" dirty="0"/>
              <a:t>) converges to fairness!</a:t>
            </a:r>
          </a:p>
          <a:p>
            <a:pPr marL="0" lvl="0" indent="0">
              <a:buNone/>
            </a:pPr>
            <a:endParaRPr lang="en-US" altLang="zh-CN" dirty="0"/>
          </a:p>
          <a:p>
            <a:pPr marL="0" lvl="0" indent="0">
              <a:buNone/>
            </a:pPr>
            <a:r>
              <a:rPr lang="en-US" altLang="zh-CN" dirty="0"/>
              <a:t>Of the four options:</a:t>
            </a:r>
          </a:p>
          <a:p>
            <a:pPr lvl="0"/>
            <a:r>
              <a:rPr lang="en-US" altLang="zh-CN" dirty="0"/>
              <a:t>AIAD and MIMD retain unfairness.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MIAD approaches maximum unfairness (one person with all the bandwidth).</a:t>
            </a:r>
          </a:p>
          <a:p>
            <a:pPr>
              <a:spcBef>
                <a:spcPts val="0"/>
              </a:spcBef>
            </a:pPr>
            <a:r>
              <a:rPr lang="en-US" altLang="zh-CN" dirty="0"/>
              <a:t>AIMD is the only one that ensures fairness.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007" name="Google Shape;1007;p71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1008" name="Google Shape;1008;p71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009" name="Google Shape;1009;p71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10" name="Google Shape;1010;p71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11" name="Google Shape;1011;p71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1012" name="Google Shape;1012;p71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013" name="Google Shape;1013;p71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14" name="Google Shape;1014;p71"/>
            <p:cNvCxnSpPr>
              <a:stCxn id="1015" idx="1"/>
              <a:endCxn id="101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016" name="Google Shape;1016;p71"/>
          <p:cNvCxnSpPr>
            <a:stCxn id="1017" idx="1"/>
            <a:endCxn id="101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9" name="Google Shape;1019;p71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20" name="Google Shape;1020;p71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1" name="Google Shape;1021;p71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2" name="Google Shape;1022;p71"/>
          <p:cNvSpPr/>
          <p:nvPr/>
        </p:nvSpPr>
        <p:spPr>
          <a:xfrm>
            <a:off x="6586015" y="2008269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3" name="Google Shape;1023;p71"/>
          <p:cNvSpPr/>
          <p:nvPr/>
        </p:nvSpPr>
        <p:spPr>
          <a:xfrm>
            <a:off x="5889364" y="2703175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4" name="Google Shape;1024;p71"/>
          <p:cNvSpPr/>
          <p:nvPr/>
        </p:nvSpPr>
        <p:spPr>
          <a:xfrm>
            <a:off x="6264095" y="167938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5" name="Google Shape;1025;p71"/>
          <p:cNvCxnSpPr>
            <a:stCxn id="1023" idx="7"/>
            <a:endCxn id="1022" idx="3"/>
          </p:cNvCxnSpPr>
          <p:nvPr/>
        </p:nvCxnSpPr>
        <p:spPr>
          <a:xfrm rot="10800000" flipH="1">
            <a:off x="6008179" y="2127160"/>
            <a:ext cx="598200" cy="59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6" name="Google Shape;1026;p71"/>
          <p:cNvCxnSpPr/>
          <p:nvPr/>
        </p:nvCxnSpPr>
        <p:spPr>
          <a:xfrm rot="10800000" flipH="1">
            <a:off x="5981925" y="1694375"/>
            <a:ext cx="378300" cy="1012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027" name="Google Shape;1027;p71"/>
          <p:cNvCxnSpPr/>
          <p:nvPr/>
        </p:nvCxnSpPr>
        <p:spPr>
          <a:xfrm rot="10800000" flipH="1">
            <a:off x="6316225" y="2091075"/>
            <a:ext cx="336000" cy="599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28" name="Google Shape;1028;p71"/>
          <p:cNvSpPr/>
          <p:nvPr/>
        </p:nvSpPr>
        <p:spPr>
          <a:xfrm>
            <a:off x="6252521" y="2687700"/>
            <a:ext cx="83400" cy="834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9" name="Google Shape;1029;p71"/>
          <p:cNvCxnSpPr>
            <a:stCxn id="1028" idx="7"/>
            <a:endCxn id="1030" idx="3"/>
          </p:cNvCxnSpPr>
          <p:nvPr/>
        </p:nvCxnSpPr>
        <p:spPr>
          <a:xfrm rot="10800000" flipH="1">
            <a:off x="6323707" y="2253814"/>
            <a:ext cx="448800" cy="4461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0" name="Google Shape;1030;p71"/>
          <p:cNvSpPr/>
          <p:nvPr/>
        </p:nvSpPr>
        <p:spPr>
          <a:xfrm>
            <a:off x="6760346" y="2182625"/>
            <a:ext cx="83400" cy="834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1" name="Google Shape;1031;p71"/>
          <p:cNvSpPr/>
          <p:nvPr/>
        </p:nvSpPr>
        <p:spPr>
          <a:xfrm>
            <a:off x="6510600" y="2223050"/>
            <a:ext cx="611975" cy="627600"/>
          </a:xfrm>
          <a:custGeom>
            <a:avLst/>
            <a:gdLst/>
            <a:ahLst/>
            <a:cxnLst/>
            <a:rect l="l" t="t" r="r" b="b"/>
            <a:pathLst>
              <a:path w="24479" h="25104" extrusionOk="0">
                <a:moveTo>
                  <a:pt x="11866" y="0"/>
                </a:moveTo>
                <a:lnTo>
                  <a:pt x="0" y="19009"/>
                </a:lnTo>
                <a:lnTo>
                  <a:pt x="16104" y="2906"/>
                </a:lnTo>
                <a:lnTo>
                  <a:pt x="3431" y="20341"/>
                </a:lnTo>
                <a:lnTo>
                  <a:pt x="18082" y="5691"/>
                </a:lnTo>
                <a:lnTo>
                  <a:pt x="5852" y="21552"/>
                </a:lnTo>
                <a:lnTo>
                  <a:pt x="20302" y="7103"/>
                </a:lnTo>
                <a:lnTo>
                  <a:pt x="7346" y="23086"/>
                </a:lnTo>
                <a:lnTo>
                  <a:pt x="21634" y="8799"/>
                </a:lnTo>
                <a:lnTo>
                  <a:pt x="7528" y="22905"/>
                </a:lnTo>
                <a:lnTo>
                  <a:pt x="21513" y="8920"/>
                </a:lnTo>
                <a:lnTo>
                  <a:pt x="8799" y="24377"/>
                </a:lnTo>
                <a:lnTo>
                  <a:pt x="23066" y="10110"/>
                </a:lnTo>
                <a:lnTo>
                  <a:pt x="9061" y="24115"/>
                </a:lnTo>
                <a:lnTo>
                  <a:pt x="23288" y="9888"/>
                </a:lnTo>
                <a:lnTo>
                  <a:pt x="10211" y="25104"/>
                </a:lnTo>
                <a:lnTo>
                  <a:pt x="24479" y="10837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706372-4859-40F8-4763-1EB7759E10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42</a:t>
            </a:fld>
            <a:endParaRPr lang="en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2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Additive increase.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Multiplicative decrease.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</p:txBody>
      </p:sp>
      <p:sp>
        <p:nvSpPr>
          <p:cNvPr id="1045" name="Google Shape;1045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1046" name="Google Shape;1046;p73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1047" name="Google Shape;1047;p73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48" name="Google Shape;1048;p73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49" name="Google Shape;1049;p73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50" name="Google Shape;1050;p73"/>
          <p:cNvSpPr txBox="1"/>
          <p:nvPr/>
        </p:nvSpPr>
        <p:spPr>
          <a:xfrm rot="-5400000">
            <a:off x="4086200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73"/>
          <p:cNvSpPr txBox="1"/>
          <p:nvPr/>
        </p:nvSpPr>
        <p:spPr>
          <a:xfrm rot="-5400000">
            <a:off x="5400973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73"/>
          <p:cNvSpPr txBox="1"/>
          <p:nvPr/>
        </p:nvSpPr>
        <p:spPr>
          <a:xfrm rot="-5400000">
            <a:off x="6990203" y="261977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73"/>
          <p:cNvSpPr txBox="1"/>
          <p:nvPr/>
        </p:nvSpPr>
        <p:spPr>
          <a:xfrm rot="-5400000">
            <a:off x="7780300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54" name="Google Shape;1054;p73"/>
          <p:cNvGrpSpPr/>
          <p:nvPr/>
        </p:nvGrpSpPr>
        <p:grpSpPr>
          <a:xfrm>
            <a:off x="2833278" y="3509594"/>
            <a:ext cx="1484832" cy="1058020"/>
            <a:chOff x="2377550" y="2542225"/>
            <a:chExt cx="3229300" cy="2199625"/>
          </a:xfrm>
        </p:grpSpPr>
        <p:sp>
          <p:nvSpPr>
            <p:cNvPr id="1055" name="Google Shape;1055;p73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056" name="Google Shape;1056;p73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57" name="Google Shape;1057;p73"/>
          <p:cNvSpPr/>
          <p:nvPr/>
        </p:nvSpPr>
        <p:spPr>
          <a:xfrm>
            <a:off x="4317925" y="3002900"/>
            <a:ext cx="3704300" cy="1058025"/>
          </a:xfrm>
          <a:custGeom>
            <a:avLst/>
            <a:gdLst/>
            <a:ahLst/>
            <a:cxnLst/>
            <a:rect l="l" t="t" r="r" b="b"/>
            <a:pathLst>
              <a:path w="148172" h="42321" extrusionOk="0">
                <a:moveTo>
                  <a:pt x="0" y="42321"/>
                </a:moveTo>
                <a:lnTo>
                  <a:pt x="52663" y="11916"/>
                </a:lnTo>
                <a:lnTo>
                  <a:pt x="52663" y="36849"/>
                </a:lnTo>
                <a:lnTo>
                  <a:pt x="116488" y="0"/>
                </a:lnTo>
                <a:lnTo>
                  <a:pt x="116488" y="30849"/>
                </a:lnTo>
                <a:lnTo>
                  <a:pt x="148172" y="12556"/>
                </a:lnTo>
                <a:lnTo>
                  <a:pt x="148172" y="3621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058" name="Google Shape;1058;p73"/>
          <p:cNvCxnSpPr/>
          <p:nvPr/>
        </p:nvCxnSpPr>
        <p:spPr>
          <a:xfrm>
            <a:off x="2871575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59" name="Google Shape;1059;p73"/>
          <p:cNvSpPr txBox="1"/>
          <p:nvPr/>
        </p:nvSpPr>
        <p:spPr>
          <a:xfrm>
            <a:off x="3109637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73"/>
          <p:cNvSpPr txBox="1"/>
          <p:nvPr/>
        </p:nvSpPr>
        <p:spPr>
          <a:xfrm>
            <a:off x="645400" y="3414425"/>
            <a:ext cx="2013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This algorithm creates a sawtooth-shaped graph as the rate is adjusted.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1" name="Google Shape;1061;p73"/>
          <p:cNvCxnSpPr/>
          <p:nvPr/>
        </p:nvCxnSpPr>
        <p:spPr>
          <a:xfrm>
            <a:off x="4318100" y="4809100"/>
            <a:ext cx="37044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62" name="Google Shape;1062;p73"/>
          <p:cNvSpPr txBox="1"/>
          <p:nvPr/>
        </p:nvSpPr>
        <p:spPr>
          <a:xfrm>
            <a:off x="5905550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85342B-8328-549F-440E-C235C9E7D2C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43</a:t>
            </a:fld>
            <a:endParaRPr lang="en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p7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Congestion Control with Event-Driven Updates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7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Implementing Congestion Control with Event-Driven Updates</a:t>
            </a:r>
            <a:endParaRPr sz="3200"/>
          </a:p>
        </p:txBody>
      </p:sp>
      <p:sp>
        <p:nvSpPr>
          <p:cNvPr id="1069" name="Google Shape;1069;p7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2A8AB0-6257-DA5C-C76F-43D1EA64F3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44</a:t>
            </a:fld>
            <a:endParaRPr lang="en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Review: Setting Window Size</a:t>
            </a:r>
            <a:endParaRPr/>
          </a:p>
        </p:txBody>
      </p:sp>
      <p:sp>
        <p:nvSpPr>
          <p:cNvPr id="1075" name="Google Shape;1075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837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maintains a window of </a:t>
            </a:r>
            <a:r>
              <a:rPr lang="en" i="1"/>
              <a:t>W</a:t>
            </a:r>
            <a:r>
              <a:rPr lang="en"/>
              <a:t> packets in flight.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Pick window size </a:t>
            </a:r>
            <a:r>
              <a:rPr lang="en" i="1"/>
              <a:t>W</a:t>
            </a:r>
            <a:r>
              <a:rPr lang="en"/>
              <a:t> to balance three goals: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Take advantage of network capacity ("fill the pipe").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actually used (impractical to calculate, and never the minimum).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Don't overload the recipient.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Receiver window (RWND): Recipient reports how much space it has left.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Don't overload links.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Congestion window (CWND): Sender runs a congestion control algorithm.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>
                <a:solidFill>
                  <a:srgbClr val="000000"/>
                </a:solidFill>
              </a:rPr>
              <a:t> is the minimum of RWND and CWND.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For today, we'll assume RWND &gt; CWND, so window is determined by CWND.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Often true in practice too.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CDD559-02C9-347B-F9CF-830287FE6C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45</a:t>
            </a:fld>
            <a:endParaRPr lang="en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Review: Measuring Packets vs. Bytes</a:t>
            </a:r>
            <a:endParaRPr/>
          </a:p>
        </p:txBody>
      </p:sp>
      <p:sp>
        <p:nvSpPr>
          <p:cNvPr id="1081" name="Google Shape;1081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837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Real TCP measures data in bytes.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Thus, real TCP maintains CWND in bytes.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this lecture, we'll measure CWND in packets for convenience.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 convert to bytes, recall: 1 packet = </a:t>
            </a:r>
            <a:r>
              <a:rPr lang="en" i="1" dirty="0"/>
              <a:t>MSS</a:t>
            </a:r>
            <a:r>
              <a:rPr lang="en" dirty="0"/>
              <a:t>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MSS</a:t>
            </a:r>
            <a:r>
              <a:rPr lang="en" dirty="0"/>
              <a:t> = Maximum Segment Size.</a:t>
            </a:r>
          </a:p>
          <a:p>
            <a:pPr marL="0" lvl="0" indent="0">
              <a:buNone/>
            </a:pPr>
            <a:r>
              <a:rPr lang="en-US" altLang="zh-CN" b="1" dirty="0"/>
              <a:t>Congestion control </a:t>
            </a:r>
            <a:r>
              <a:rPr lang="en-US" altLang="zh-CN" dirty="0"/>
              <a:t>is used to set the window size (CWND).</a:t>
            </a:r>
          </a:p>
          <a:p>
            <a:pPr lvl="0"/>
            <a:r>
              <a:rPr lang="en-US" altLang="zh-CN" dirty="0"/>
              <a:t>Recall: Rate = CWND / RTT.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Larger window = higher rate.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AE7457-3E4C-B016-4E0E-4DF2E75E23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46</a:t>
            </a:fld>
            <a:endParaRPr lang="en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Additive increase.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Multiplicative decrease.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long is "some period of time"?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Ideally, each iteration lasts for one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Problem: RTT is hard to measure, and changes dynamically.</a:t>
            </a:r>
            <a:endParaRPr/>
          </a:p>
        </p:txBody>
      </p:sp>
      <p:sp>
        <p:nvSpPr>
          <p:cNvPr id="1093" name="Google Shape;1093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1094" name="Google Shape;1094;p78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1095" name="Google Shape;1095;p78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78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97" name="Google Shape;1097;p78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98" name="Google Shape;1098;p78"/>
          <p:cNvSpPr txBox="1"/>
          <p:nvPr/>
        </p:nvSpPr>
        <p:spPr>
          <a:xfrm>
            <a:off x="5745050" y="1290950"/>
            <a:ext cx="34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???</a:t>
            </a:r>
            <a:endParaRPr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8"/>
          <p:cNvSpPr/>
          <p:nvPr/>
        </p:nvSpPr>
        <p:spPr>
          <a:xfrm>
            <a:off x="3552950" y="1266050"/>
            <a:ext cx="2192100" cy="320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EFDE01-52D0-CA8E-B319-31B2F849C5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47</a:t>
            </a:fld>
            <a:endParaRPr lang="en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Updates</a:t>
            </a:r>
            <a:endParaRPr/>
          </a:p>
        </p:txBody>
      </p:sp>
      <p:sp>
        <p:nvSpPr>
          <p:cNvPr id="1105" name="Google Shape;1105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Instead of updating after "some period of time," CWND updates are </a:t>
            </a:r>
            <a:r>
              <a:rPr lang="en" b="1" dirty="0"/>
              <a:t>event-driven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Sender adjusts CWND each time something interesting happens in TCP.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get an ack for new data.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This means there was no congestion.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CWND (additive increase in AIMD).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get 3 duplicate acks and declare a packet lost.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Probably an isolated loss, since we're still getting subsequent acks.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CWND (multiplicative decrease in AIMD).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timer expires and we declare a packet lost.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We probably lost several packets – didn't get any duplicate acks. Bad news!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Abandon current rate and start over from slow-start.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A31CEE-4F25-46BE-00FA-67D13C59AB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48</a:t>
            </a:fld>
            <a:endParaRPr lang="en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Slow Start</a:t>
            </a:r>
            <a:endParaRPr/>
          </a:p>
        </p:txBody>
      </p:sp>
      <p:sp>
        <p:nvSpPr>
          <p:cNvPr id="1117" name="Google Shape;1117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Conceptual slow start: Double CWND after each RTT.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Event-driven slow start: Increase CWND by 1 after each ack.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time we </a:t>
            </a:r>
            <a:r>
              <a:rPr lang="en" dirty="0">
                <a:solidFill>
                  <a:srgbClr val="C00000"/>
                </a:solidFill>
              </a:rPr>
              <a:t>get an ack</a:t>
            </a:r>
            <a:r>
              <a:rPr lang="en" dirty="0"/>
              <a:t>, we can </a:t>
            </a:r>
            <a:r>
              <a:rPr lang="en" dirty="0">
                <a:solidFill>
                  <a:srgbClr val="C00000"/>
                </a:solidFill>
              </a:rPr>
              <a:t>send one more packet </a:t>
            </a:r>
            <a:r>
              <a:rPr lang="en" dirty="0"/>
              <a:t>(sliding window).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But, we can also </a:t>
            </a:r>
            <a:r>
              <a:rPr lang="en" dirty="0">
                <a:solidFill>
                  <a:srgbClr val="C00000"/>
                </a:solidFill>
              </a:rPr>
              <a:t>increase CWND by 1 </a:t>
            </a:r>
            <a:r>
              <a:rPr lang="en" dirty="0"/>
              <a:t>and </a:t>
            </a:r>
            <a:r>
              <a:rPr lang="en" dirty="0">
                <a:solidFill>
                  <a:srgbClr val="C00000"/>
                </a:solidFill>
              </a:rPr>
              <a:t>send another packet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 total: Each time we </a:t>
            </a:r>
            <a:r>
              <a:rPr lang="en" dirty="0">
                <a:solidFill>
                  <a:srgbClr val="C00000"/>
                </a:solidFill>
              </a:rPr>
              <a:t>get an ack</a:t>
            </a:r>
            <a:r>
              <a:rPr lang="en" dirty="0"/>
              <a:t>, we can </a:t>
            </a:r>
            <a:r>
              <a:rPr lang="en" dirty="0">
                <a:solidFill>
                  <a:srgbClr val="C00000"/>
                </a:solidFill>
              </a:rPr>
              <a:t>send out 2 packets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Example: In one RTT, if we get 8 acks, we can send out 16 packets.</a:t>
            </a:r>
          </a:p>
          <a:p>
            <a:pPr marL="0" lvl="0" indent="0">
              <a:buNone/>
            </a:pPr>
            <a:r>
              <a:rPr lang="en-US" altLang="zh-CN" dirty="0"/>
              <a:t>t = 0 RTTs:			CWND = 1	Send 1 packet</a:t>
            </a:r>
          </a:p>
          <a:p>
            <a:pPr marL="0" lvl="0" indent="0">
              <a:buNone/>
            </a:pPr>
            <a:r>
              <a:rPr lang="en-US" altLang="zh-CN" dirty="0"/>
              <a:t>t = 1 RTT:	get 1 ack	CWND = 2	Send 2 packets</a:t>
            </a:r>
          </a:p>
          <a:p>
            <a:pPr marL="0" lvl="0" indent="0">
              <a:buNone/>
            </a:pPr>
            <a:r>
              <a:rPr lang="en-US" altLang="zh-CN" dirty="0"/>
              <a:t>t = 2 RTTs:	get 2 acks	CWND = 4	Send 4 packets</a:t>
            </a:r>
          </a:p>
          <a:p>
            <a:pPr marL="0" lvl="0" indent="0">
              <a:buNone/>
            </a:pPr>
            <a:r>
              <a:rPr lang="en-US" altLang="zh-CN" dirty="0"/>
              <a:t>t = 3 RTTs:	get 4 acks	CWND = 8	Send 8 packets</a:t>
            </a:r>
          </a:p>
          <a:p>
            <a:pPr marL="0" lvl="0" indent="0">
              <a:buNone/>
            </a:pPr>
            <a:r>
              <a:rPr lang="en-US" altLang="zh-CN" dirty="0"/>
              <a:t>t = 4 RTTs:	get 8 acks	CWND = 16	Send 16 packets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3C1E5A-C86F-A3A0-BC87-CB45F368D6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49</a:t>
            </a:fld>
            <a:endParaRPr lang="en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p82"/>
          <p:cNvSpPr/>
          <p:nvPr/>
        </p:nvSpPr>
        <p:spPr>
          <a:xfrm>
            <a:off x="2905763" y="3207775"/>
            <a:ext cx="3019500" cy="805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82"/>
          <p:cNvSpPr/>
          <p:nvPr/>
        </p:nvSpPr>
        <p:spPr>
          <a:xfrm>
            <a:off x="2905763" y="2369575"/>
            <a:ext cx="3019500" cy="838200"/>
          </a:xfrm>
          <a:prstGeom prst="rect">
            <a:avLst/>
          </a:prstGeom>
          <a:solidFill>
            <a:srgbClr val="B7B7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82"/>
          <p:cNvSpPr/>
          <p:nvPr/>
        </p:nvSpPr>
        <p:spPr>
          <a:xfrm>
            <a:off x="2905763" y="1531250"/>
            <a:ext cx="3019500" cy="838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5" name="Google Shape;1125;p82"/>
          <p:cNvSpPr/>
          <p:nvPr/>
        </p:nvSpPr>
        <p:spPr>
          <a:xfrm>
            <a:off x="2907738" y="688550"/>
            <a:ext cx="3019500" cy="842700"/>
          </a:xfrm>
          <a:prstGeom prst="rect">
            <a:avLst/>
          </a:prstGeom>
          <a:solidFill>
            <a:srgbClr val="B7B7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6" name="Google Shape;1126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Slow Start</a:t>
            </a:r>
            <a:endParaRPr/>
          </a:p>
        </p:txBody>
      </p:sp>
      <p:sp>
        <p:nvSpPr>
          <p:cNvPr id="1127" name="Google Shape;1127;p82"/>
          <p:cNvSpPr txBox="1"/>
          <p:nvPr/>
        </p:nvSpPr>
        <p:spPr>
          <a:xfrm>
            <a:off x="2531363" y="4661900"/>
            <a:ext cx="748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8" name="Google Shape;1128;p82"/>
          <p:cNvSpPr txBox="1"/>
          <p:nvPr/>
        </p:nvSpPr>
        <p:spPr>
          <a:xfrm>
            <a:off x="5461113" y="4661900"/>
            <a:ext cx="932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9" name="Google Shape;1129;p82"/>
          <p:cNvCxnSpPr/>
          <p:nvPr/>
        </p:nvCxnSpPr>
        <p:spPr>
          <a:xfrm>
            <a:off x="2905763" y="538025"/>
            <a:ext cx="0" cy="4123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0" name="Google Shape;1130;p82"/>
          <p:cNvCxnSpPr/>
          <p:nvPr/>
        </p:nvCxnSpPr>
        <p:spPr>
          <a:xfrm>
            <a:off x="5927163" y="538025"/>
            <a:ext cx="0" cy="4123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1" name="Google Shape;1131;p82"/>
          <p:cNvCxnSpPr/>
          <p:nvPr/>
        </p:nvCxnSpPr>
        <p:spPr>
          <a:xfrm>
            <a:off x="2907738" y="68840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2" name="Google Shape;1132;p82"/>
          <p:cNvCxnSpPr/>
          <p:nvPr/>
        </p:nvCxnSpPr>
        <p:spPr>
          <a:xfrm flipH="1">
            <a:off x="2907738" y="1109881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3" name="Google Shape;1133;p82"/>
          <p:cNvCxnSpPr/>
          <p:nvPr/>
        </p:nvCxnSpPr>
        <p:spPr>
          <a:xfrm>
            <a:off x="2907738" y="15313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4" name="Google Shape;1134;p82"/>
          <p:cNvCxnSpPr/>
          <p:nvPr/>
        </p:nvCxnSpPr>
        <p:spPr>
          <a:xfrm flipH="1">
            <a:off x="2907738" y="19528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5" name="Google Shape;1135;p82"/>
          <p:cNvCxnSpPr/>
          <p:nvPr/>
        </p:nvCxnSpPr>
        <p:spPr>
          <a:xfrm>
            <a:off x="2907738" y="16504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6" name="Google Shape;1136;p82"/>
          <p:cNvCxnSpPr/>
          <p:nvPr/>
        </p:nvCxnSpPr>
        <p:spPr>
          <a:xfrm flipH="1">
            <a:off x="2907738" y="20719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7" name="Google Shape;1137;p82"/>
          <p:cNvCxnSpPr/>
          <p:nvPr/>
        </p:nvCxnSpPr>
        <p:spPr>
          <a:xfrm>
            <a:off x="2907738" y="23695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8" name="Google Shape;1138;p82"/>
          <p:cNvCxnSpPr/>
          <p:nvPr/>
        </p:nvCxnSpPr>
        <p:spPr>
          <a:xfrm flipH="1">
            <a:off x="2907738" y="27910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9" name="Google Shape;1139;p82"/>
          <p:cNvCxnSpPr/>
          <p:nvPr/>
        </p:nvCxnSpPr>
        <p:spPr>
          <a:xfrm>
            <a:off x="2907738" y="24886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0" name="Google Shape;1140;p82"/>
          <p:cNvCxnSpPr/>
          <p:nvPr/>
        </p:nvCxnSpPr>
        <p:spPr>
          <a:xfrm flipH="1">
            <a:off x="2907738" y="29101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1" name="Google Shape;1141;p82"/>
          <p:cNvCxnSpPr/>
          <p:nvPr/>
        </p:nvCxnSpPr>
        <p:spPr>
          <a:xfrm>
            <a:off x="2907738" y="25981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2" name="Google Shape;1142;p82"/>
          <p:cNvCxnSpPr/>
          <p:nvPr/>
        </p:nvCxnSpPr>
        <p:spPr>
          <a:xfrm flipH="1">
            <a:off x="2907738" y="30196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3" name="Google Shape;1143;p82"/>
          <p:cNvCxnSpPr/>
          <p:nvPr/>
        </p:nvCxnSpPr>
        <p:spPr>
          <a:xfrm>
            <a:off x="2907738" y="27172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4" name="Google Shape;1144;p82"/>
          <p:cNvCxnSpPr/>
          <p:nvPr/>
        </p:nvCxnSpPr>
        <p:spPr>
          <a:xfrm flipH="1">
            <a:off x="2907738" y="31387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5" name="Google Shape;1145;p82"/>
          <p:cNvCxnSpPr/>
          <p:nvPr/>
        </p:nvCxnSpPr>
        <p:spPr>
          <a:xfrm>
            <a:off x="2907738" y="32077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6" name="Google Shape;1146;p82"/>
          <p:cNvCxnSpPr/>
          <p:nvPr/>
        </p:nvCxnSpPr>
        <p:spPr>
          <a:xfrm>
            <a:off x="2907738" y="33268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7" name="Google Shape;1147;p82"/>
          <p:cNvCxnSpPr/>
          <p:nvPr/>
        </p:nvCxnSpPr>
        <p:spPr>
          <a:xfrm>
            <a:off x="2907738" y="34363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8" name="Google Shape;1148;p82"/>
          <p:cNvCxnSpPr/>
          <p:nvPr/>
        </p:nvCxnSpPr>
        <p:spPr>
          <a:xfrm>
            <a:off x="2907738" y="35554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9" name="Google Shape;1149;p82"/>
          <p:cNvCxnSpPr/>
          <p:nvPr/>
        </p:nvCxnSpPr>
        <p:spPr>
          <a:xfrm>
            <a:off x="2907738" y="36649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0" name="Google Shape;1150;p82"/>
          <p:cNvCxnSpPr/>
          <p:nvPr/>
        </p:nvCxnSpPr>
        <p:spPr>
          <a:xfrm>
            <a:off x="2907738" y="37840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1" name="Google Shape;1151;p82"/>
          <p:cNvCxnSpPr/>
          <p:nvPr/>
        </p:nvCxnSpPr>
        <p:spPr>
          <a:xfrm>
            <a:off x="2907738" y="38935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2" name="Google Shape;1152;p82"/>
          <p:cNvCxnSpPr/>
          <p:nvPr/>
        </p:nvCxnSpPr>
        <p:spPr>
          <a:xfrm>
            <a:off x="2907738" y="40126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53" name="Google Shape;1153;p82"/>
          <p:cNvSpPr txBox="1"/>
          <p:nvPr/>
        </p:nvSpPr>
        <p:spPr>
          <a:xfrm>
            <a:off x="2127387" y="5928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CWND = 1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4" name="Google Shape;1154;p82"/>
          <p:cNvSpPr txBox="1"/>
          <p:nvPr/>
        </p:nvSpPr>
        <p:spPr>
          <a:xfrm>
            <a:off x="2127387" y="1406300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= 2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5" name="Google Shape;1155;p82"/>
          <p:cNvSpPr txBox="1"/>
          <p:nvPr/>
        </p:nvSpPr>
        <p:spPr>
          <a:xfrm>
            <a:off x="2127387" y="222203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CWND = 3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6" name="Google Shape;1156;p82"/>
          <p:cNvSpPr txBox="1"/>
          <p:nvPr/>
        </p:nvSpPr>
        <p:spPr>
          <a:xfrm>
            <a:off x="2127387" y="237443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CWND = 4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7" name="Google Shape;1157;p82"/>
          <p:cNvSpPr txBox="1"/>
          <p:nvPr/>
        </p:nvSpPr>
        <p:spPr>
          <a:xfrm>
            <a:off x="2127387" y="30220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= 5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8" name="Google Shape;1158;p82"/>
          <p:cNvSpPr txBox="1"/>
          <p:nvPr/>
        </p:nvSpPr>
        <p:spPr>
          <a:xfrm>
            <a:off x="2127387" y="31744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9900FF"/>
                </a:solidFill>
                <a:latin typeface="Roboto"/>
                <a:ea typeface="Roboto"/>
                <a:cs typeface="Roboto"/>
                <a:sym typeface="Roboto"/>
              </a:rPr>
              <a:t>CWND = 6</a:t>
            </a:r>
            <a:endParaRPr sz="1200">
              <a:solidFill>
                <a:srgbClr val="99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9" name="Google Shape;1159;p82"/>
          <p:cNvSpPr txBox="1"/>
          <p:nvPr/>
        </p:nvSpPr>
        <p:spPr>
          <a:xfrm>
            <a:off x="2127387" y="33268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CWND = 7</a:t>
            </a:r>
            <a:endParaRPr sz="1200"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0" name="Google Shape;1160;p82"/>
          <p:cNvSpPr txBox="1"/>
          <p:nvPr/>
        </p:nvSpPr>
        <p:spPr>
          <a:xfrm>
            <a:off x="2127387" y="34792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CWND = 8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1" name="Google Shape;1161;p82"/>
          <p:cNvSpPr txBox="1"/>
          <p:nvPr/>
        </p:nvSpPr>
        <p:spPr>
          <a:xfrm rot="5400000">
            <a:off x="5712387" y="10175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First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p82"/>
          <p:cNvSpPr txBox="1"/>
          <p:nvPr/>
        </p:nvSpPr>
        <p:spPr>
          <a:xfrm rot="5400000">
            <a:off x="5671138" y="1856600"/>
            <a:ext cx="8313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Second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3" name="Google Shape;1163;p82"/>
          <p:cNvSpPr txBox="1"/>
          <p:nvPr/>
        </p:nvSpPr>
        <p:spPr>
          <a:xfrm rot="5400000">
            <a:off x="5712387" y="26939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Third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4" name="Google Shape;1164;p82"/>
          <p:cNvSpPr txBox="1"/>
          <p:nvPr/>
        </p:nvSpPr>
        <p:spPr>
          <a:xfrm rot="5400000">
            <a:off x="5671138" y="3533000"/>
            <a:ext cx="8313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Fourth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6F1CDE-6896-235F-B250-93C451816B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50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83"/>
          <p:cNvSpPr/>
          <p:nvPr/>
        </p:nvSpPr>
        <p:spPr>
          <a:xfrm>
            <a:off x="3404075" y="3765475"/>
            <a:ext cx="4029150" cy="299700"/>
          </a:xfrm>
          <a:custGeom>
            <a:avLst/>
            <a:gdLst/>
            <a:ahLst/>
            <a:cxnLst/>
            <a:rect l="l" t="t" r="r" b="b"/>
            <a:pathLst>
              <a:path w="161166" h="11988" extrusionOk="0">
                <a:moveTo>
                  <a:pt x="0" y="11988"/>
                </a:moveTo>
                <a:lnTo>
                  <a:pt x="52613" y="11988"/>
                </a:lnTo>
                <a:lnTo>
                  <a:pt x="52613" y="5976"/>
                </a:lnTo>
                <a:lnTo>
                  <a:pt x="116458" y="5976"/>
                </a:lnTo>
                <a:lnTo>
                  <a:pt x="116458" y="0"/>
                </a:lnTo>
                <a:lnTo>
                  <a:pt x="148179" y="0"/>
                </a:lnTo>
                <a:lnTo>
                  <a:pt x="148179" y="5746"/>
                </a:lnTo>
                <a:lnTo>
                  <a:pt x="161166" y="5746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0" name="Google Shape;1170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Slow Start: SSTHRESH</a:t>
            </a:r>
            <a:endParaRPr/>
          </a:p>
        </p:txBody>
      </p:sp>
      <p:sp>
        <p:nvSpPr>
          <p:cNvPr id="1171" name="Google Shape;1171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Increase CWND by 1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Eventually, we encounter a packet loss.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CWND = CWND/2.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SSTHRESH = CWND/2.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SSTHRESH</a:t>
            </a:r>
            <a:r>
              <a:rPr lang="en"/>
              <a:t> helps us remember the last safe rate.</a:t>
            </a:r>
            <a:endParaRPr/>
          </a:p>
        </p:txBody>
      </p:sp>
      <p:sp>
        <p:nvSpPr>
          <p:cNvPr id="1172" name="Google Shape;1172;p83"/>
          <p:cNvSpPr txBox="1"/>
          <p:nvPr/>
        </p:nvSpPr>
        <p:spPr>
          <a:xfrm rot="-5400000">
            <a:off x="3171813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83"/>
          <p:cNvSpPr txBox="1"/>
          <p:nvPr/>
        </p:nvSpPr>
        <p:spPr>
          <a:xfrm rot="-5400000">
            <a:off x="4486585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83"/>
          <p:cNvSpPr txBox="1"/>
          <p:nvPr/>
        </p:nvSpPr>
        <p:spPr>
          <a:xfrm rot="-5400000">
            <a:off x="6075815" y="261977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75" name="Google Shape;1175;p83"/>
          <p:cNvGrpSpPr/>
          <p:nvPr/>
        </p:nvGrpSpPr>
        <p:grpSpPr>
          <a:xfrm>
            <a:off x="1918891" y="3509594"/>
            <a:ext cx="1484832" cy="1058020"/>
            <a:chOff x="2377550" y="2542225"/>
            <a:chExt cx="3229300" cy="2199625"/>
          </a:xfrm>
        </p:grpSpPr>
        <p:sp>
          <p:nvSpPr>
            <p:cNvPr id="1176" name="Google Shape;1176;p83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177" name="Google Shape;1177;p83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78" name="Google Shape;1178;p83"/>
          <p:cNvSpPr/>
          <p:nvPr/>
        </p:nvSpPr>
        <p:spPr>
          <a:xfrm>
            <a:off x="3403538" y="3002900"/>
            <a:ext cx="3704300" cy="1058025"/>
          </a:xfrm>
          <a:custGeom>
            <a:avLst/>
            <a:gdLst/>
            <a:ahLst/>
            <a:cxnLst/>
            <a:rect l="l" t="t" r="r" b="b"/>
            <a:pathLst>
              <a:path w="148172" h="42321" extrusionOk="0">
                <a:moveTo>
                  <a:pt x="0" y="42321"/>
                </a:moveTo>
                <a:lnTo>
                  <a:pt x="52663" y="11916"/>
                </a:lnTo>
                <a:lnTo>
                  <a:pt x="52663" y="36849"/>
                </a:lnTo>
                <a:lnTo>
                  <a:pt x="116488" y="0"/>
                </a:lnTo>
                <a:lnTo>
                  <a:pt x="116488" y="30849"/>
                </a:lnTo>
                <a:lnTo>
                  <a:pt x="148172" y="12556"/>
                </a:lnTo>
                <a:lnTo>
                  <a:pt x="148172" y="3621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179" name="Google Shape;1179;p83"/>
          <p:cNvCxnSpPr/>
          <p:nvPr/>
        </p:nvCxnSpPr>
        <p:spPr>
          <a:xfrm>
            <a:off x="1957188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80" name="Google Shape;1180;p83"/>
          <p:cNvSpPr txBox="1"/>
          <p:nvPr/>
        </p:nvSpPr>
        <p:spPr>
          <a:xfrm>
            <a:off x="2195250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1" name="Google Shape;1181;p83"/>
          <p:cNvCxnSpPr/>
          <p:nvPr/>
        </p:nvCxnSpPr>
        <p:spPr>
          <a:xfrm>
            <a:off x="3403713" y="4809100"/>
            <a:ext cx="37044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82" name="Google Shape;1182;p83"/>
          <p:cNvSpPr txBox="1"/>
          <p:nvPr/>
        </p:nvSpPr>
        <p:spPr>
          <a:xfrm>
            <a:off x="4991163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83"/>
          <p:cNvSpPr txBox="1"/>
          <p:nvPr/>
        </p:nvSpPr>
        <p:spPr>
          <a:xfrm rot="-5400000">
            <a:off x="6865913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4" name="Google Shape;1184;p83"/>
          <p:cNvSpPr txBox="1"/>
          <p:nvPr/>
        </p:nvSpPr>
        <p:spPr>
          <a:xfrm>
            <a:off x="3393500" y="4102200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61D9B7-A461-5EEC-FC42-3D39E5D461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51</a:t>
            </a:fld>
            <a:endParaRPr lang="en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AIMD Adjustments: Additive Increase</a:t>
            </a:r>
            <a:endParaRPr/>
          </a:p>
        </p:txBody>
      </p:sp>
      <p:sp>
        <p:nvSpPr>
          <p:cNvPr id="1190" name="Google Shape;1190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93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Conceptual AIMD increase: Add 1 to CWND after each RTT.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increase: Increase CWND by 1/CWND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Intuition: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 CWND by a fraction of a packet on each ack.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one RTT's worth of packets, CWND will increase by 1.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80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bytes:</a:t>
            </a:r>
            <a:br>
              <a:rPr lang="en"/>
            </a:b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               × </a:t>
            </a:r>
            <a:r>
              <a:rPr lang="en" i="1"/>
              <a:t>MSS</a:t>
            </a:r>
            <a:endParaRPr/>
          </a:p>
        </p:txBody>
      </p:sp>
      <p:sp>
        <p:nvSpPr>
          <p:cNvPr id="1191" name="Google Shape;1191;p84"/>
          <p:cNvSpPr txBox="1"/>
          <p:nvPr/>
        </p:nvSpPr>
        <p:spPr>
          <a:xfrm>
            <a:off x="2581976" y="270259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1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2" name="Google Shape;1192;p84"/>
          <p:cNvSpPr txBox="1"/>
          <p:nvPr/>
        </p:nvSpPr>
        <p:spPr>
          <a:xfrm>
            <a:off x="2581976" y="298314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CWND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3" name="Google Shape;1193;p84"/>
          <p:cNvCxnSpPr/>
          <p:nvPr/>
        </p:nvCxnSpPr>
        <p:spPr>
          <a:xfrm>
            <a:off x="2581915" y="2977805"/>
            <a:ext cx="720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4" name="Google Shape;1194;p84"/>
          <p:cNvSpPr txBox="1"/>
          <p:nvPr/>
        </p:nvSpPr>
        <p:spPr>
          <a:xfrm>
            <a:off x="2581976" y="361699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MSS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84"/>
          <p:cNvSpPr txBox="1"/>
          <p:nvPr/>
        </p:nvSpPr>
        <p:spPr>
          <a:xfrm>
            <a:off x="2581976" y="389754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CWND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6" name="Google Shape;1196;p84"/>
          <p:cNvCxnSpPr/>
          <p:nvPr/>
        </p:nvCxnSpPr>
        <p:spPr>
          <a:xfrm>
            <a:off x="2581915" y="3892205"/>
            <a:ext cx="720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7" name="Google Shape;1197;p84"/>
          <p:cNvCxnSpPr>
            <a:endCxn id="1195" idx="2"/>
          </p:cNvCxnSpPr>
          <p:nvPr/>
        </p:nvCxnSpPr>
        <p:spPr>
          <a:xfrm rot="10800000">
            <a:off x="2942126" y="4174740"/>
            <a:ext cx="0" cy="235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98" name="Google Shape;1198;p84"/>
          <p:cNvSpPr txBox="1"/>
          <p:nvPr/>
        </p:nvSpPr>
        <p:spPr>
          <a:xfrm>
            <a:off x="1533875" y="4412125"/>
            <a:ext cx="2327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(1/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in packets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) fraction rewritten in bytes by multiplying top and bottom by packet size: (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MSS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in bytes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9" name="Google Shape;1199;p84"/>
          <p:cNvCxnSpPr>
            <a:stCxn id="1200" idx="0"/>
          </p:cNvCxnSpPr>
          <p:nvPr/>
        </p:nvCxnSpPr>
        <p:spPr>
          <a:xfrm rot="10800000">
            <a:off x="4086150" y="3909675"/>
            <a:ext cx="784500" cy="481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0" name="Google Shape;1200;p84"/>
          <p:cNvSpPr txBox="1"/>
          <p:nvPr/>
        </p:nvSpPr>
        <p:spPr>
          <a:xfrm>
            <a:off x="4102950" y="4391475"/>
            <a:ext cx="153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increase after each RTT should be 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MSS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bytes, not 1 packet.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1" name="Google Shape;1201;p84"/>
          <p:cNvCxnSpPr>
            <a:stCxn id="1202" idx="1"/>
          </p:cNvCxnSpPr>
          <p:nvPr/>
        </p:nvCxnSpPr>
        <p:spPr>
          <a:xfrm rot="10800000">
            <a:off x="3439600" y="2977800"/>
            <a:ext cx="20439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3" name="Google Shape;1203;p84"/>
          <p:cNvSpPr txBox="1"/>
          <p:nvPr/>
        </p:nvSpPr>
        <p:spPr>
          <a:xfrm>
            <a:off x="5514950" y="2892607"/>
            <a:ext cx="2552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Note: Technically, increase on each ack is different, but approximation is close enough.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update: 	3.00 + (1/3.00) = 3.33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Second update:	3.33 + (1/3.33) = 3.63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Third update:	3.63 + (1/3.63) = 3.93 ≈ 4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6D127A-BE58-F120-3C9A-AEC4B2054C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52</a:t>
            </a:fld>
            <a:endParaRPr lang="en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AIMD Adjustments: Additive Increase</a:t>
            </a:r>
            <a:endParaRPr/>
          </a:p>
        </p:txBody>
      </p:sp>
      <p:sp>
        <p:nvSpPr>
          <p:cNvPr id="1209" name="Google Shape;1209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6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increase: Increase CWND by a fraction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After one RTT (aka one window) of packets, CWND increases by 1.</a:t>
            </a:r>
            <a:endParaRPr/>
          </a:p>
        </p:txBody>
      </p:sp>
      <p:graphicFrame>
        <p:nvGraphicFramePr>
          <p:cNvPr id="1210" name="Google Shape;1210;p85"/>
          <p:cNvGraphicFramePr/>
          <p:nvPr/>
        </p:nvGraphicFramePr>
        <p:xfrm>
          <a:off x="196800" y="1526675"/>
          <a:ext cx="8730200" cy="3047820"/>
        </p:xfrm>
        <a:graphic>
          <a:graphicData uri="http://schemas.openxmlformats.org/drawingml/2006/table">
            <a:tbl>
              <a:tblPr>
                <a:noFill/>
                <a:tableStyleId>{F13D9472-EA19-4D04-B9D5-CB03C4941896}</a:tableStyleId>
              </a:tblPr>
              <a:tblGrid>
                <a:gridCol w="276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Measured in packets: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Measured in bytes: (</a:t>
                      </a:r>
                      <a:r>
                        <a:rPr lang="en" sz="1600" i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50 bytes)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Old CWND: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3 packets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150 bytes (3 packets)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Fraction of increase per ack: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1/</a:t>
                      </a: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CWND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1/3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/</a:t>
                      </a: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CWND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50/150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increase after 1 RTT: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+1 packet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i="1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+50 bytes</a:t>
                      </a:r>
                      <a:endParaRPr sz="1600" i="1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Increase after each ack: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+1 packet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× 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1/3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+1/3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+50 bytes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× 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50/150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+50/3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Increase after 3 acks: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  3 + (1/3) + (1/3) + (1/3)</a:t>
                      </a:r>
                      <a:b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= 4 packets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  150 + (50/3) + (50/3) + (50/3)</a:t>
                      </a:r>
                      <a:b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= 200 bytes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FC2DC9-4855-1174-A65E-1F50B435B8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53</a:t>
            </a:fld>
            <a:endParaRPr lang="en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AIMD Adjustments: Multiplicative Decrease</a:t>
            </a:r>
            <a:endParaRPr/>
          </a:p>
        </p:txBody>
      </p:sp>
      <p:sp>
        <p:nvSpPr>
          <p:cNvPr id="1216" name="Google Shape;1216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Conceptual AIMD decrease: Divide CWND in half when loss detected.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decrease: Divide CWND in half when </a:t>
            </a:r>
            <a:r>
              <a:rPr lang="en" i="1"/>
              <a:t>3 duplicate acks</a:t>
            </a:r>
            <a:r>
              <a:rPr lang="en"/>
              <a:t> detected.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Remember the last safe rate.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CWND</a:t>
            </a:r>
            <a:r>
              <a:rPr lang="en"/>
              <a:t> should never decrease below 1 packet (</a:t>
            </a:r>
            <a:r>
              <a:rPr lang="en" i="1"/>
              <a:t>MSS</a:t>
            </a:r>
            <a:r>
              <a:rPr lang="en"/>
              <a:t> bytes).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dividing by 2 causes </a:t>
            </a:r>
            <a:r>
              <a:rPr lang="en" i="1"/>
              <a:t>CWND</a:t>
            </a:r>
            <a:r>
              <a:rPr lang="en"/>
              <a:t> to fall below 1, it's okay to round up to 1 packet.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32C721-1DCE-FB84-7623-4D9783A201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54</a:t>
            </a:fld>
            <a:endParaRPr lang="en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Event-Driven Adjustments: Timeout</a:t>
            </a:r>
            <a:endParaRPr/>
          </a:p>
        </p:txBody>
      </p:sp>
      <p:sp>
        <p:nvSpPr>
          <p:cNvPr id="1222" name="Google Shape;1222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 packet is lost from timeout, abandon current rate and restart from slow-start.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Rationale: We didn't get any duplicate acks before timing out, so we probably lost multiple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current </a:t>
            </a:r>
            <a:r>
              <a:rPr lang="en" i="1"/>
              <a:t>CWND</a:t>
            </a:r>
            <a:r>
              <a:rPr lang="en"/>
              <a:t> might be way off. Safest to rediscover a good rate from scratch.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design decision errs on the side of caution.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Implementation: When timeout occurs: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/2.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Remember the last safe rate.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CWND</a:t>
            </a:r>
            <a:r>
              <a:rPr lang="en"/>
              <a:t> ← 1 packet, and re-enter slow start mode.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99F2C3-4ED9-324C-76D1-E806A4FC2E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55</a:t>
            </a:fld>
            <a:endParaRPr lang="en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p88"/>
          <p:cNvSpPr/>
          <p:nvPr/>
        </p:nvSpPr>
        <p:spPr>
          <a:xfrm>
            <a:off x="1873375" y="3563825"/>
            <a:ext cx="6863450" cy="490175"/>
          </a:xfrm>
          <a:custGeom>
            <a:avLst/>
            <a:gdLst/>
            <a:ahLst/>
            <a:cxnLst/>
            <a:rect l="l" t="t" r="r" b="b"/>
            <a:pathLst>
              <a:path w="274538" h="19607" extrusionOk="0">
                <a:moveTo>
                  <a:pt x="0" y="19607"/>
                </a:moveTo>
                <a:lnTo>
                  <a:pt x="52782" y="19607"/>
                </a:lnTo>
                <a:lnTo>
                  <a:pt x="52782" y="14032"/>
                </a:lnTo>
                <a:lnTo>
                  <a:pt x="116716" y="14032"/>
                </a:lnTo>
                <a:lnTo>
                  <a:pt x="116716" y="9014"/>
                </a:lnTo>
                <a:lnTo>
                  <a:pt x="192281" y="9014"/>
                </a:lnTo>
                <a:lnTo>
                  <a:pt x="192281" y="14961"/>
                </a:lnTo>
                <a:lnTo>
                  <a:pt x="246643" y="14961"/>
                </a:lnTo>
                <a:lnTo>
                  <a:pt x="246643" y="0"/>
                </a:lnTo>
                <a:lnTo>
                  <a:pt x="274538" y="0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8" name="Google Shape;1228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Updates: SSTHRESH</a:t>
            </a:r>
            <a:endParaRPr/>
          </a:p>
        </p:txBody>
      </p:sp>
      <p:sp>
        <p:nvSpPr>
          <p:cNvPr id="1229" name="Google Shape;1229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SSTHRESH</a:t>
            </a:r>
            <a:r>
              <a:rPr lang="en" dirty="0"/>
              <a:t> helps us remember the last safe rate.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slow-start detects loss: Update </a:t>
            </a:r>
            <a:r>
              <a:rPr lang="en" i="1" dirty="0"/>
              <a:t>SSTHRESH</a:t>
            </a:r>
            <a:r>
              <a:rPr lang="en" dirty="0"/>
              <a:t> ← </a:t>
            </a:r>
            <a:r>
              <a:rPr lang="en" i="1" dirty="0"/>
              <a:t>CWND</a:t>
            </a:r>
            <a:r>
              <a:rPr lang="en" dirty="0"/>
              <a:t>/2.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a packet times out in AIMD: Update </a:t>
            </a:r>
            <a:r>
              <a:rPr lang="en" i="1" dirty="0"/>
              <a:t>SSTHRESH</a:t>
            </a:r>
            <a:r>
              <a:rPr lang="en" dirty="0"/>
              <a:t> ← </a:t>
            </a:r>
            <a:r>
              <a:rPr lang="en" i="1" dirty="0"/>
              <a:t>CWND</a:t>
            </a:r>
            <a:r>
              <a:rPr lang="en" dirty="0"/>
              <a:t>/2.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During slow start: If </a:t>
            </a:r>
            <a:r>
              <a:rPr lang="en" i="1" dirty="0"/>
              <a:t>CWND</a:t>
            </a:r>
            <a:r>
              <a:rPr lang="en" dirty="0"/>
              <a:t> exceeds </a:t>
            </a:r>
            <a:r>
              <a:rPr lang="en" i="1" dirty="0"/>
              <a:t>SSTHRESH</a:t>
            </a:r>
            <a:r>
              <a:rPr lang="en" dirty="0"/>
              <a:t>, switch to additive increases.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SSTHRESH</a:t>
            </a:r>
            <a:r>
              <a:rPr lang="en" dirty="0"/>
              <a:t> = ∞ for first slow-start.</a:t>
            </a:r>
            <a:endParaRPr dirty="0"/>
          </a:p>
        </p:txBody>
      </p:sp>
      <p:sp>
        <p:nvSpPr>
          <p:cNvPr id="1230" name="Google Shape;1230;p88"/>
          <p:cNvSpPr txBox="1"/>
          <p:nvPr/>
        </p:nvSpPr>
        <p:spPr>
          <a:xfrm rot="-5400000">
            <a:off x="1643325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1" name="Google Shape;1231;p88"/>
          <p:cNvSpPr txBox="1"/>
          <p:nvPr/>
        </p:nvSpPr>
        <p:spPr>
          <a:xfrm rot="-5400000">
            <a:off x="2958098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2" name="Google Shape;1232;p88"/>
          <p:cNvSpPr txBox="1"/>
          <p:nvPr/>
        </p:nvSpPr>
        <p:spPr>
          <a:xfrm rot="-5400000">
            <a:off x="4438738" y="2511175"/>
            <a:ext cx="679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233" name="Google Shape;1233;p88"/>
          <p:cNvGrpSpPr/>
          <p:nvPr/>
        </p:nvGrpSpPr>
        <p:grpSpPr>
          <a:xfrm>
            <a:off x="390403" y="3509594"/>
            <a:ext cx="1484832" cy="1058020"/>
            <a:chOff x="2377550" y="2542225"/>
            <a:chExt cx="3229300" cy="2199625"/>
          </a:xfrm>
        </p:grpSpPr>
        <p:sp>
          <p:nvSpPr>
            <p:cNvPr id="1234" name="Google Shape;1234;p88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235" name="Google Shape;1235;p88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236" name="Google Shape;1236;p88"/>
          <p:cNvCxnSpPr/>
          <p:nvPr/>
        </p:nvCxnSpPr>
        <p:spPr>
          <a:xfrm>
            <a:off x="428700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37" name="Google Shape;1237;p88"/>
          <p:cNvSpPr txBox="1"/>
          <p:nvPr/>
        </p:nvSpPr>
        <p:spPr>
          <a:xfrm>
            <a:off x="666762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38" name="Google Shape;1238;p88"/>
          <p:cNvCxnSpPr/>
          <p:nvPr/>
        </p:nvCxnSpPr>
        <p:spPr>
          <a:xfrm>
            <a:off x="1875225" y="4809100"/>
            <a:ext cx="28557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39" name="Google Shape;1239;p88"/>
          <p:cNvSpPr txBox="1"/>
          <p:nvPr/>
        </p:nvSpPr>
        <p:spPr>
          <a:xfrm>
            <a:off x="3038325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88"/>
          <p:cNvSpPr txBox="1"/>
          <p:nvPr/>
        </p:nvSpPr>
        <p:spPr>
          <a:xfrm rot="-5400000">
            <a:off x="6429076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88"/>
          <p:cNvSpPr txBox="1"/>
          <p:nvPr/>
        </p:nvSpPr>
        <p:spPr>
          <a:xfrm>
            <a:off x="1865013" y="4102200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88"/>
          <p:cNvSpPr/>
          <p:nvPr/>
        </p:nvSpPr>
        <p:spPr>
          <a:xfrm>
            <a:off x="1874388" y="3002775"/>
            <a:ext cx="2915000" cy="1569700"/>
          </a:xfrm>
          <a:custGeom>
            <a:avLst/>
            <a:gdLst/>
            <a:ahLst/>
            <a:cxnLst/>
            <a:rect l="l" t="t" r="r" b="b"/>
            <a:pathLst>
              <a:path w="116600" h="62788" extrusionOk="0">
                <a:moveTo>
                  <a:pt x="0" y="20560"/>
                </a:moveTo>
                <a:lnTo>
                  <a:pt x="0" y="42305"/>
                </a:lnTo>
                <a:lnTo>
                  <a:pt x="52661" y="11901"/>
                </a:lnTo>
                <a:lnTo>
                  <a:pt x="52661" y="36915"/>
                </a:lnTo>
                <a:lnTo>
                  <a:pt x="116600" y="0"/>
                </a:lnTo>
                <a:lnTo>
                  <a:pt x="116600" y="30875"/>
                </a:lnTo>
                <a:lnTo>
                  <a:pt x="116600" y="62788"/>
                </a:lnTo>
              </a:path>
            </a:pathLst>
          </a:cu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3" name="Google Shape;1243;p88"/>
          <p:cNvSpPr txBox="1"/>
          <p:nvPr/>
        </p:nvSpPr>
        <p:spPr>
          <a:xfrm>
            <a:off x="4784438" y="3818588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4" name="Google Shape;1244;p88"/>
          <p:cNvSpPr/>
          <p:nvPr/>
        </p:nvSpPr>
        <p:spPr>
          <a:xfrm>
            <a:off x="4779784" y="3788564"/>
            <a:ext cx="1401000" cy="770975"/>
          </a:xfrm>
          <a:custGeom>
            <a:avLst/>
            <a:gdLst/>
            <a:ahLst/>
            <a:cxnLst/>
            <a:rect l="l" t="t" r="r" b="b"/>
            <a:pathLst>
              <a:path w="56040" h="30839" extrusionOk="0">
                <a:moveTo>
                  <a:pt x="0" y="30839"/>
                </a:moveTo>
                <a:cubicBezTo>
                  <a:pt x="6891" y="29800"/>
                  <a:pt x="32006" y="29743"/>
                  <a:pt x="41346" y="24603"/>
                </a:cubicBezTo>
                <a:cubicBezTo>
                  <a:pt x="50686" y="19463"/>
                  <a:pt x="53591" y="4101"/>
                  <a:pt x="56040" y="0"/>
                </a:cubicBez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245" name="Google Shape;1245;p88"/>
          <p:cNvCxnSpPr/>
          <p:nvPr/>
        </p:nvCxnSpPr>
        <p:spPr>
          <a:xfrm>
            <a:off x="4772100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46" name="Google Shape;1246;p88"/>
          <p:cNvSpPr txBox="1"/>
          <p:nvPr/>
        </p:nvSpPr>
        <p:spPr>
          <a:xfrm>
            <a:off x="5010162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7" name="Google Shape;1247;p88"/>
          <p:cNvCxnSpPr/>
          <p:nvPr/>
        </p:nvCxnSpPr>
        <p:spPr>
          <a:xfrm>
            <a:off x="6218625" y="4809100"/>
            <a:ext cx="25461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48" name="Google Shape;1248;p88"/>
          <p:cNvSpPr txBox="1"/>
          <p:nvPr/>
        </p:nvSpPr>
        <p:spPr>
          <a:xfrm>
            <a:off x="7226925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9" name="Google Shape;1249;p88"/>
          <p:cNvSpPr/>
          <p:nvPr/>
        </p:nvSpPr>
        <p:spPr>
          <a:xfrm>
            <a:off x="6175025" y="2575988"/>
            <a:ext cx="2424425" cy="1359100"/>
          </a:xfrm>
          <a:custGeom>
            <a:avLst/>
            <a:gdLst/>
            <a:ahLst/>
            <a:cxnLst/>
            <a:rect l="l" t="t" r="r" b="b"/>
            <a:pathLst>
              <a:path w="96977" h="54364" extrusionOk="0">
                <a:moveTo>
                  <a:pt x="0" y="48649"/>
                </a:moveTo>
                <a:lnTo>
                  <a:pt x="20145" y="28504"/>
                </a:lnTo>
                <a:lnTo>
                  <a:pt x="20145" y="54364"/>
                </a:lnTo>
                <a:lnTo>
                  <a:pt x="74509" y="0"/>
                </a:lnTo>
                <a:lnTo>
                  <a:pt x="74509" y="39982"/>
                </a:lnTo>
                <a:lnTo>
                  <a:pt x="96977" y="17515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0" name="Google Shape;1250;p88"/>
          <p:cNvSpPr txBox="1"/>
          <p:nvPr/>
        </p:nvSpPr>
        <p:spPr>
          <a:xfrm rot="-5400000">
            <a:off x="7796751" y="2211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B211E1-7BD4-4E3B-9BB2-DDC4C11ACF4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56</a:t>
            </a:fld>
            <a:endParaRPr lang="en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5F2F7-A668-F538-2E67-5B1BB31CA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TCP Congestion Control Summary</a:t>
            </a:r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7433CF-1247-3EC5-22AD-CF787C0AAB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800" y="402200"/>
            <a:ext cx="4370400" cy="4530600"/>
          </a:xfrm>
        </p:spPr>
        <p:txBody>
          <a:bodyPr>
            <a:normAutofit fontScale="85000" lnSpcReduction="10000"/>
          </a:bodyPr>
          <a:lstStyle/>
          <a:p>
            <a:r>
              <a:rPr lang="nl-NL" altLang="zh-CN" b="1" dirty="0"/>
              <a:t>1. Slow Start Phase: </a:t>
            </a:r>
          </a:p>
          <a:p>
            <a:pPr lvl="1"/>
            <a:r>
              <a:rPr lang="en-US" altLang="zh-CN" dirty="0"/>
              <a:t>Exponential Increment: after every RTT, CWND doubles. </a:t>
            </a:r>
            <a:endParaRPr lang="nl-NL" altLang="zh-CN" dirty="0"/>
          </a:p>
          <a:p>
            <a:pPr lvl="1"/>
            <a:r>
              <a:rPr lang="nl-NL" altLang="zh-CN" dirty="0"/>
              <a:t>Initially </a:t>
            </a:r>
            <a:r>
              <a:rPr lang="en-US" altLang="zh-CN" dirty="0"/>
              <a:t>CWND</a:t>
            </a:r>
            <a:r>
              <a:rPr lang="nl-NL" altLang="zh-CN" dirty="0"/>
              <a:t> = 1</a:t>
            </a:r>
            <a:br>
              <a:rPr lang="nl-NL" altLang="zh-CN" dirty="0"/>
            </a:br>
            <a:r>
              <a:rPr lang="nl-NL" altLang="zh-CN" dirty="0"/>
              <a:t>After 1 RTT, </a:t>
            </a:r>
            <a:r>
              <a:rPr lang="en-US" altLang="zh-CN" dirty="0"/>
              <a:t>CWND</a:t>
            </a:r>
            <a:r>
              <a:rPr lang="nl-NL" altLang="zh-CN" dirty="0"/>
              <a:t> = 2^1 = 2</a:t>
            </a:r>
            <a:br>
              <a:rPr lang="nl-NL" altLang="zh-CN" dirty="0"/>
            </a:br>
            <a:r>
              <a:rPr lang="nl-NL" altLang="zh-CN" dirty="0"/>
              <a:t>2 RTT, </a:t>
            </a:r>
            <a:r>
              <a:rPr lang="en-US" altLang="zh-CN" dirty="0"/>
              <a:t>CWND</a:t>
            </a:r>
            <a:r>
              <a:rPr lang="nl-NL" altLang="zh-CN" dirty="0"/>
              <a:t> = 2^2 = 4</a:t>
            </a:r>
            <a:br>
              <a:rPr lang="nl-NL" altLang="zh-CN" dirty="0"/>
            </a:br>
            <a:r>
              <a:rPr lang="nl-NL" altLang="zh-CN" dirty="0"/>
              <a:t>3 RTT, </a:t>
            </a:r>
            <a:r>
              <a:rPr lang="en-US" altLang="zh-CN" dirty="0"/>
              <a:t>CWND</a:t>
            </a:r>
            <a:r>
              <a:rPr lang="nl-NL" altLang="zh-CN" dirty="0"/>
              <a:t> = 2^3 = 8</a:t>
            </a:r>
          </a:p>
          <a:p>
            <a:r>
              <a:rPr lang="nl-NL" altLang="zh-CN" b="1" dirty="0"/>
              <a:t>2. Congestion Avoidance Phase</a:t>
            </a:r>
          </a:p>
          <a:p>
            <a:pPr lvl="1"/>
            <a:r>
              <a:rPr lang="en-US" altLang="zh-CN" dirty="0"/>
              <a:t>Additive Increment: This phase starts upon reaching</a:t>
            </a:r>
            <a:r>
              <a:rPr lang="en" altLang="zh-CN" i="1" dirty="0"/>
              <a:t> SSTHRESH</a:t>
            </a:r>
            <a:r>
              <a:rPr lang="en-US" altLang="zh-CN" dirty="0"/>
              <a:t>. CWND increases additively. After each RTT CWND = CWND + 1.</a:t>
            </a:r>
            <a:endParaRPr lang="nl-NL" altLang="zh-CN" dirty="0"/>
          </a:p>
          <a:p>
            <a:pPr lvl="1"/>
            <a:r>
              <a:rPr lang="nl-NL" altLang="zh-CN" dirty="0"/>
              <a:t>Initially </a:t>
            </a:r>
            <a:r>
              <a:rPr lang="en-US" altLang="zh-CN" dirty="0"/>
              <a:t>CWND</a:t>
            </a:r>
            <a:r>
              <a:rPr lang="nl-NL" altLang="zh-CN" dirty="0"/>
              <a:t> = i</a:t>
            </a:r>
            <a:br>
              <a:rPr lang="nl-NL" altLang="zh-CN" dirty="0"/>
            </a:br>
            <a:r>
              <a:rPr lang="nl-NL" altLang="zh-CN" dirty="0"/>
              <a:t>After 1 RTT, </a:t>
            </a:r>
            <a:r>
              <a:rPr lang="en-US" altLang="zh-CN" dirty="0"/>
              <a:t>CWND</a:t>
            </a:r>
            <a:r>
              <a:rPr lang="nl-NL" altLang="zh-CN" dirty="0"/>
              <a:t> = i+1</a:t>
            </a:r>
            <a:br>
              <a:rPr lang="nl-NL" altLang="zh-CN" dirty="0"/>
            </a:br>
            <a:r>
              <a:rPr lang="nl-NL" altLang="zh-CN" dirty="0"/>
              <a:t>2 RTT, </a:t>
            </a:r>
            <a:r>
              <a:rPr lang="en-US" altLang="zh-CN" dirty="0"/>
              <a:t>CWND</a:t>
            </a:r>
            <a:r>
              <a:rPr lang="nl-NL" altLang="zh-CN" dirty="0"/>
              <a:t> = i+2</a:t>
            </a:r>
            <a:br>
              <a:rPr lang="nl-NL" altLang="zh-CN" dirty="0"/>
            </a:br>
            <a:r>
              <a:rPr lang="nl-NL" altLang="zh-CN" dirty="0"/>
              <a:t>3 RTT, </a:t>
            </a:r>
            <a:r>
              <a:rPr lang="en-US" altLang="zh-CN" dirty="0"/>
              <a:t>CWND</a:t>
            </a:r>
            <a:r>
              <a:rPr lang="nl-NL" altLang="zh-CN" dirty="0"/>
              <a:t> = i+3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49044-34C4-A690-7F8B-ADE891CF44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57</a:t>
            </a:fld>
            <a:endParaRPr lang="en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16F639E-0D77-513B-64CC-25C257750F08}"/>
              </a:ext>
            </a:extLst>
          </p:cNvPr>
          <p:cNvSpPr txBox="1">
            <a:spLocks/>
          </p:cNvSpPr>
          <p:nvPr/>
        </p:nvSpPr>
        <p:spPr>
          <a:xfrm>
            <a:off x="4435200" y="402200"/>
            <a:ext cx="4311608" cy="45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fontAlgn="base"/>
            <a:r>
              <a:rPr lang="nl-NL" altLang="zh-CN" sz="1400" b="1" dirty="0"/>
              <a:t>3. Congestion Detection Phase</a:t>
            </a:r>
          </a:p>
          <a:p>
            <a:pPr fontAlgn="base"/>
            <a:r>
              <a:rPr lang="en-US" altLang="zh-CN" sz="1400" b="1" dirty="0"/>
              <a:t>Case 1:</a:t>
            </a:r>
            <a:r>
              <a:rPr lang="en-US" altLang="zh-CN" sz="1400" dirty="0"/>
              <a:t> Retransmission due to Timeout – congestion possibility is high.</a:t>
            </a:r>
          </a:p>
          <a:p>
            <a:pPr lvl="1" fontAlgn="base"/>
            <a:r>
              <a:rPr lang="en-US" altLang="zh-CN" sz="1400" dirty="0"/>
              <a:t>(a) </a:t>
            </a:r>
            <a:r>
              <a:rPr lang="en" altLang="zh-CN" sz="1400" dirty="0"/>
              <a:t>SSTHRESH</a:t>
            </a:r>
            <a:r>
              <a:rPr lang="en-US" altLang="zh-CN" sz="1400" dirty="0"/>
              <a:t> set to half of the current CWND.</a:t>
            </a:r>
            <a:br>
              <a:rPr lang="en-US" altLang="zh-CN" sz="1400" dirty="0"/>
            </a:br>
            <a:r>
              <a:rPr lang="en-US" altLang="zh-CN" sz="1400" dirty="0"/>
              <a:t>(b) set CWND = 1</a:t>
            </a:r>
            <a:br>
              <a:rPr lang="en-US" altLang="zh-CN" sz="1400" dirty="0"/>
            </a:br>
            <a:r>
              <a:rPr lang="en-US" altLang="zh-CN" sz="1400" dirty="0"/>
              <a:t>(c) go to Slow Start phase.</a:t>
            </a:r>
          </a:p>
          <a:p>
            <a:pPr fontAlgn="base"/>
            <a:r>
              <a:rPr lang="en-US" altLang="zh-CN" sz="1400" b="1" dirty="0"/>
              <a:t>Case 2: </a:t>
            </a:r>
            <a:r>
              <a:rPr lang="en-US" altLang="zh-CN" sz="1400" dirty="0"/>
              <a:t>Retransmission due to 3 duplicate ACKs – congestion possibility is low.</a:t>
            </a:r>
          </a:p>
          <a:p>
            <a:pPr lvl="1" fontAlgn="base"/>
            <a:r>
              <a:rPr lang="en-US" altLang="zh-CN" sz="1400" dirty="0"/>
              <a:t>(a) </a:t>
            </a:r>
            <a:r>
              <a:rPr lang="en" altLang="zh-CN" sz="1400" dirty="0"/>
              <a:t>SSTHRESH</a:t>
            </a:r>
            <a:r>
              <a:rPr lang="en-US" altLang="zh-CN" sz="1400" dirty="0"/>
              <a:t> set to half of the current CWND</a:t>
            </a:r>
            <a:br>
              <a:rPr lang="en-US" altLang="zh-CN" sz="1400" dirty="0"/>
            </a:br>
            <a:r>
              <a:rPr lang="en-US" altLang="zh-CN" sz="1400" dirty="0"/>
              <a:t>(b) set CWND = </a:t>
            </a:r>
            <a:r>
              <a:rPr lang="en" altLang="zh-CN" sz="1400" dirty="0"/>
              <a:t>SSTHRESH</a:t>
            </a:r>
            <a:br>
              <a:rPr lang="en-US" altLang="zh-CN" sz="1400" dirty="0"/>
            </a:br>
            <a:r>
              <a:rPr lang="en-US" altLang="zh-CN" sz="1400" dirty="0"/>
              <a:t>(c) go to Congestion Avoidance phase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DB30BD-7A0A-7C21-655E-8647D93EC2A1}"/>
              </a:ext>
            </a:extLst>
          </p:cNvPr>
          <p:cNvSpPr txBox="1"/>
          <p:nvPr/>
        </p:nvSpPr>
        <p:spPr>
          <a:xfrm>
            <a:off x="2662200" y="4802901"/>
            <a:ext cx="4590000" cy="2539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nl-NL" altLang="zh-CN" sz="1050" dirty="0">
                <a:hlinkClick r:id="rId3"/>
              </a:rPr>
              <a:t>https://www.geeksforgeeks.org/computer-networks/tcp-congestion-control/</a:t>
            </a:r>
            <a:r>
              <a:rPr lang="nl-NL" altLang="zh-CN" sz="1050" dirty="0"/>
              <a:t> </a:t>
            </a:r>
            <a:endParaRPr lang="zh-CN" altLang="en-US" sz="1050" dirty="0"/>
          </a:p>
        </p:txBody>
      </p:sp>
    </p:spTree>
    <p:extLst>
      <p:ext uri="{BB962C8B-B14F-4D97-AF65-F5344CB8AC3E}">
        <p14:creationId xmlns:p14="http://schemas.microsoft.com/office/powerpoint/2010/main" val="37699678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ngestion Detection Phase in TCP">
            <a:extLst>
              <a:ext uri="{FF2B5EF4-FFF2-40B4-BE49-F238E27FC236}">
                <a16:creationId xmlns:a16="http://schemas.microsoft.com/office/drawing/2014/main" id="{024DD72D-60A7-7CA0-DFEB-FFD187A75D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100" y="446350"/>
            <a:ext cx="8972900" cy="4486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B6EA9F-BC78-114E-E645-7DCF81C3A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altLang="zh-CN" dirty="0"/>
              <a:t>TCP Congestion Control Example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BE5399-8D1B-6AAC-9D63-8ACABF538E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58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663798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p8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TCP Congestion Control</a:t>
            </a:r>
            <a:endParaRPr/>
          </a:p>
        </p:txBody>
      </p:sp>
      <p:sp>
        <p:nvSpPr>
          <p:cNvPr id="1256" name="Google Shape;1256;p8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Detecting congestion: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Loss-based. (Delay-based is the alternative.)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Discovering an initial rate: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Slow-start. Double rate until loss or safe rate (</a:t>
            </a:r>
            <a:r>
              <a:rPr lang="en" i="1"/>
              <a:t>SSTHRESH</a:t>
            </a:r>
            <a:r>
              <a:rPr lang="en"/>
              <a:t>) exceeded.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Event-driven: Add 1 to </a:t>
            </a:r>
            <a:r>
              <a:rPr lang="en" i="1"/>
              <a:t>CWND</a:t>
            </a:r>
            <a:r>
              <a:rPr lang="en"/>
              <a:t> on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Adapting rate to congestion: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AIMD (additive increase, multiplicative decrease) approaches fairness.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Event-driven: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Add 1/</a:t>
            </a:r>
            <a:r>
              <a:rPr lang="en" i="1"/>
              <a:t>CWND</a:t>
            </a:r>
            <a:r>
              <a:rPr lang="en"/>
              <a:t> on each ack. After one RTT, </a:t>
            </a:r>
            <a:r>
              <a:rPr lang="en" i="1"/>
              <a:t>CWND</a:t>
            </a:r>
            <a:r>
              <a:rPr lang="en"/>
              <a:t> will have increased by 1.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Divide </a:t>
            </a:r>
            <a:r>
              <a:rPr lang="en" i="1"/>
              <a:t>CWND</a:t>
            </a:r>
            <a:r>
              <a:rPr lang="en"/>
              <a:t> in half when there are 3 duplicate acks.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packet is lost on timeout, restart from slow-start.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A190FC-B955-1181-E037-BB930ACDD5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59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5690</Words>
  <Application>Microsoft Office PowerPoint</Application>
  <PresentationFormat>On-screen Show (16:9)</PresentationFormat>
  <Paragraphs>954</Paragraphs>
  <Slides>59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4" baseType="lpstr">
      <vt:lpstr>Roboto Light</vt:lpstr>
      <vt:lpstr>Roboto</vt:lpstr>
      <vt:lpstr>Arial</vt:lpstr>
      <vt:lpstr>Roboto Medium</vt:lpstr>
      <vt:lpstr>Simple Lecture</vt:lpstr>
      <vt:lpstr>PowerPoint Presentation</vt:lpstr>
      <vt:lpstr>Congestion Control: Why do we need it?</vt:lpstr>
      <vt:lpstr>Recall: Congestion at Routers</vt:lpstr>
      <vt:lpstr>Brief History of Congestion Control</vt:lpstr>
      <vt:lpstr>Congestion Control: Why is it hard?</vt:lpstr>
      <vt:lpstr>Congestion Control Challenges: Depends on Destination</vt:lpstr>
      <vt:lpstr>Congestion Control Challenges: Depends on Path</vt:lpstr>
      <vt:lpstr>Congestion Control Challenges: Depends on Competing Flows</vt:lpstr>
      <vt:lpstr>Congestion Control Challenges: Depends on Indirect Competition</vt:lpstr>
      <vt:lpstr>Congestion Control is a Global Problem</vt:lpstr>
      <vt:lpstr>Congestion Control as Resource Allocation Problem</vt:lpstr>
      <vt:lpstr>Design Goals</vt:lpstr>
      <vt:lpstr>Design Goals</vt:lpstr>
      <vt:lpstr>Possible Approaches</vt:lpstr>
      <vt:lpstr>Possible Approaches</vt:lpstr>
      <vt:lpstr>Dynamic Adjustment: Algorithm Sketch</vt:lpstr>
      <vt:lpstr>Dynamic Adjustment: Discovery</vt:lpstr>
      <vt:lpstr>Dynamic Adjustment: Detection and Adjustment</vt:lpstr>
      <vt:lpstr>Dynamic Adjustment: Detection and Adjustment</vt:lpstr>
      <vt:lpstr>Types of Dynamic Adjustment Algorithms</vt:lpstr>
      <vt:lpstr>Host-Based Dynamic Adjustment: Algorithm Sketch</vt:lpstr>
      <vt:lpstr>Detecting Congestion</vt:lpstr>
      <vt:lpstr>Detecting Congestion</vt:lpstr>
      <vt:lpstr>Discovering an Initial Rate: Slow Start</vt:lpstr>
      <vt:lpstr>Reacting to Congestion</vt:lpstr>
      <vt:lpstr>Host-Based Dynamic Adjustment: Algorithm Sketch</vt:lpstr>
      <vt:lpstr>Reacting to Congestion</vt:lpstr>
      <vt:lpstr>Ways to Adjust Rate</vt:lpstr>
      <vt:lpstr>Why AIMD?</vt:lpstr>
      <vt:lpstr>Why AIMD? Intuition</vt:lpstr>
      <vt:lpstr>Rate Adjustment Graph</vt:lpstr>
      <vt:lpstr>Rate Adjustment Graph</vt:lpstr>
      <vt:lpstr>Additive Adjustments on Graph</vt:lpstr>
      <vt:lpstr>Multiplicative Adjustments on Graph</vt:lpstr>
      <vt:lpstr>AIAD (Additive Increase, Additive Decrease) Dynamics</vt:lpstr>
      <vt:lpstr>AIAD (Additive Increase, Additive Decrease) Adjustments on Graph</vt:lpstr>
      <vt:lpstr>MIMD (Multiplicative Increase, Multiplicative Decrease) Dynamics</vt:lpstr>
      <vt:lpstr>MIMD (Multiplicative Increase, Multiplicative Decrease) Adjustments on Graph</vt:lpstr>
      <vt:lpstr>MIAD (Multiplicative Increase, Additive Decrease) Dynamics</vt:lpstr>
      <vt:lpstr>AIMD (Additive Increase, Multiplicative Decrease) Dynamics</vt:lpstr>
      <vt:lpstr>AIMD (Additive Increase, Multiplicative Decrease) Dynamics</vt:lpstr>
      <vt:lpstr>AIMD (Additive Increase, Multiplicative Decrease) Adjustments on Graph</vt:lpstr>
      <vt:lpstr>Host-Based Dynamic Adjustment: Algorithm Sketch</vt:lpstr>
      <vt:lpstr>Implementing Congestion Control with Event-Driven Updates</vt:lpstr>
      <vt:lpstr>Review: Setting Window Size</vt:lpstr>
      <vt:lpstr>Review: Measuring Packets vs. Bytes</vt:lpstr>
      <vt:lpstr>Host-Based Dynamic Adjustment: Algorithm Sketch</vt:lpstr>
      <vt:lpstr>Event-Driven Updates</vt:lpstr>
      <vt:lpstr>Event-Driven Slow Start</vt:lpstr>
      <vt:lpstr>Event-Driven Slow Start</vt:lpstr>
      <vt:lpstr>Event-Driven Slow Start: SSTHRESH</vt:lpstr>
      <vt:lpstr>Event-Driven AIMD Adjustments: Additive Increase</vt:lpstr>
      <vt:lpstr>Event-Driven AIMD Adjustments: Additive Increase</vt:lpstr>
      <vt:lpstr>Event-Driven AIMD Adjustments: Multiplicative Decrease</vt:lpstr>
      <vt:lpstr>Event-Driven Adjustments: Timeout</vt:lpstr>
      <vt:lpstr>Event-Driven Updates: SSTHRESH</vt:lpstr>
      <vt:lpstr>TCP Congestion Control Summary</vt:lpstr>
      <vt:lpstr>TCP Congestion Control Example</vt:lpstr>
      <vt:lpstr>Summary: TCP Congestion Control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11</cp:revision>
  <dcterms:modified xsi:type="dcterms:W3CDTF">2026-05-05T18:35:46Z</dcterms:modified>
</cp:coreProperties>
</file>