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0"/>
  </p:notesMasterIdLst>
  <p:sldIdLst>
    <p:sldId id="256" r:id="rId2"/>
    <p:sldId id="257" r:id="rId3"/>
    <p:sldId id="258" r:id="rId4"/>
    <p:sldId id="259" r:id="rId5"/>
    <p:sldId id="262" r:id="rId6"/>
    <p:sldId id="265" r:id="rId7"/>
    <p:sldId id="266" r:id="rId8"/>
    <p:sldId id="267" r:id="rId9"/>
    <p:sldId id="268" r:id="rId10"/>
    <p:sldId id="269" r:id="rId11"/>
    <p:sldId id="271" r:id="rId12"/>
    <p:sldId id="273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1"/>
      <p:bold r:id="rId62"/>
      <p:italic r:id="rId63"/>
      <p:boldItalic r:id="rId64"/>
    </p:embeddedFont>
    <p:embeddedFont>
      <p:font typeface="Roboto Light" panose="02000000000000000000" pitchFamily="2" charset="0"/>
      <p:regular r:id="rId65"/>
      <p:bold r:id="rId66"/>
      <p:italic r:id="rId67"/>
      <p:boldItalic r:id="rId68"/>
    </p:embeddedFont>
    <p:embeddedFont>
      <p:font typeface="Roboto Medium" panose="02000000000000000000" pitchFamily="2" charset="0"/>
      <p:regular r:id="rId69"/>
      <p:bold r:id="rId70"/>
      <p:italic r:id="rId71"/>
      <p:boldItalic r:id="rId7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52B043-E6C4-4C12-863F-9D12C0FB8E64}" v="3" dt="2026-03-26T21:24:54.288"/>
  </p1510:revLst>
</p1510:revInfo>
</file>

<file path=ppt/tableStyles.xml><?xml version="1.0" encoding="utf-8"?>
<a:tblStyleLst xmlns:a="http://schemas.openxmlformats.org/drawingml/2006/main" def="{640098EA-F5DE-4482-BE86-79975F08261D}">
  <a:tblStyle styleId="{640098EA-F5DE-4482-BE86-79975F082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39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3.fntdata"/><Relationship Id="rId68" Type="http://schemas.openxmlformats.org/officeDocument/2006/relationships/font" Target="fonts/font8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6.fntdata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4.fntdata"/><Relationship Id="rId69" Type="http://schemas.openxmlformats.org/officeDocument/2006/relationships/font" Target="fonts/font9.fntdata"/><Relationship Id="rId77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2.fntdata"/><Relationship Id="rId70" Type="http://schemas.openxmlformats.org/officeDocument/2006/relationships/font" Target="fonts/font10.fntdata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5.fntdata"/><Relationship Id="rId73" Type="http://schemas.openxmlformats.org/officeDocument/2006/relationships/presProps" Target="presProps.xml"/><Relationship Id="rId78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font" Target="fonts/font1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3-26T21:25:55.668" v="537" actId="20577"/>
      <pc:docMkLst>
        <pc:docMk/>
      </pc:docMkLst>
      <pc:sldChg chg="modSp mod">
        <pc:chgData name="Zonghua Gu" userId="9a7e1853e1951ef5" providerId="LiveId" clId="{CF1FAA12-072C-4ED5-BA76-0FFFAEFDB88A}" dt="2026-03-26T18:46:58.985" v="267" actId="1035"/>
        <pc:sldMkLst>
          <pc:docMk/>
          <pc:sldMk cId="0" sldId="268"/>
        </pc:sldMkLst>
        <pc:cxnChg chg="mod">
          <ac:chgData name="Zonghua Gu" userId="9a7e1853e1951ef5" providerId="LiveId" clId="{CF1FAA12-072C-4ED5-BA76-0FFFAEFDB88A}" dt="2026-03-26T18:46:58.985" v="267" actId="1035"/>
          <ac:cxnSpMkLst>
            <pc:docMk/>
            <pc:sldMk cId="0" sldId="268"/>
            <ac:cxnSpMk id="414" creationId="{00000000-0000-0000-0000-000000000000}"/>
          </ac:cxnSpMkLst>
        </pc:cxnChg>
        <pc:cxnChg chg="mod">
          <ac:chgData name="Zonghua Gu" userId="9a7e1853e1951ef5" providerId="LiveId" clId="{CF1FAA12-072C-4ED5-BA76-0FFFAEFDB88A}" dt="2026-03-26T18:46:58.985" v="267" actId="1035"/>
          <ac:cxnSpMkLst>
            <pc:docMk/>
            <pc:sldMk cId="0" sldId="268"/>
            <ac:cxnSpMk id="415" creationId="{00000000-0000-0000-0000-000000000000}"/>
          </ac:cxnSpMkLst>
        </pc:cxnChg>
      </pc:sldChg>
      <pc:sldChg chg="modSp mod">
        <pc:chgData name="Zonghua Gu" userId="9a7e1853e1951ef5" providerId="LiveId" clId="{CF1FAA12-072C-4ED5-BA76-0FFFAEFDB88A}" dt="2026-03-26T19:17:37.999" v="268" actId="207"/>
        <pc:sldMkLst>
          <pc:docMk/>
          <pc:sldMk cId="0" sldId="312"/>
        </pc:sldMkLst>
        <pc:spChg chg="mod">
          <ac:chgData name="Zonghua Gu" userId="9a7e1853e1951ef5" providerId="LiveId" clId="{CF1FAA12-072C-4ED5-BA76-0FFFAEFDB88A}" dt="2026-03-26T19:17:37.999" v="268" actId="207"/>
          <ac:spMkLst>
            <pc:docMk/>
            <pc:sldMk cId="0" sldId="312"/>
            <ac:spMk id="108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3-26T21:25:55.668" v="537" actId="20577"/>
        <pc:sldMkLst>
          <pc:docMk/>
          <pc:sldMk cId="0" sldId="320"/>
        </pc:sldMkLst>
        <pc:spChg chg="mod">
          <ac:chgData name="Zonghua Gu" userId="9a7e1853e1951ef5" providerId="LiveId" clId="{CF1FAA12-072C-4ED5-BA76-0FFFAEFDB88A}" dt="2026-03-26T21:25:55.668" v="537" actId="20577"/>
          <ac:spMkLst>
            <pc:docMk/>
            <pc:sldMk cId="0" sldId="320"/>
            <ac:spMk id="116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Jon_Postel_(full_frame).jpg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9db0c453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9db0c453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e9db0c453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e9db0c453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today it's all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interdomain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e9db0c4538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e9db0c4538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the network of networks that we've been talking about and so far we've used algorithms like dist vector and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to compute routes within the network so our distance Vector protocol was able to find all of the routes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this network that's great but we haven't talked about how to do inter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domain routing and that's going to be today's Focus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e9db0c4538_0_4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2e9db0c4538_0_4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finding the paths between the networks and then next time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talk about how we combine in domain and in domain to think about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routers are actually doing but for today we're going to ignore what's going on inside of these circles and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tra this big circle as one unit and we'll think about how all of these networks find paths between 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e9db0c4538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2e9db0c4538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https://commons.wikimedia.org/wiki/File:Jon_Postel_(full_frame).jpg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so one question is where do the asn’s come from if you decide to create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you need a new autonomous system number who gives it to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early internet it was one one guy that guy and if you wanted an autonomous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system you would call this guy up and he would give you a number and he would maintain the list of all the numbers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this is not sustainable especially because he passed away so instead we use an organization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 and if you want a new autonomous system you call up this organization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give you a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e9db0c4538_0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e9db0c4538_0_6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classify autonomous systems into one of two types there is a stub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autonomous system and these only send and receive packets on behalf of the users inside that system so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of these like the end hosts if you comparing to intra domain routing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how end hosts they didn't forward packets for other people they just sent and rece received their 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so you can think of stub as's as doing the same thing they only send and receive their own packets for the hosts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of their Network and they're not responsible for forwarding packets between other as's so for example UC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is not an internet company we do not forward packets for other people across the world our responsibility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to send and receive packets for our students or the people in our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most as's in real life are stub as's they're not responsible for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and they only send and receive their own packets by contrast the other type of as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Transit as these do forward packets on behalf of other as's and you can think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these kind of like the routers in the intra domain model so remember that routers were responsible for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between other hosts that's what a Transit as does now one difference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the transit as and the router in the intro domain model is that Transit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asist still might have hosts inside of them that want to to send and receive packets so so not only do they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on behalf of other as's but they also send and receive packets for their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hosts and examples of Transit as's might be companies whose responsibility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to do with the internet so for example AT&amp;T is an internet company they offer internet service to other people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that's why they're a Transit as or Verizon is another example some Transit as's are very large and they span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whole world others are limited to just a small region and that's totally fine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the purposes of our class we'll classify all the as's into one of these two types but do note that especially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nowadays the difference between these two is starting to get a little bit blurry and there are some as's that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hard to classify as one of these two so for example these big tech companies like Google and Amazon it's a little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unclear which of these two as's they fall into you could say they're stub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they're sending and receiving traffic for their users but maybe they're also Transit as because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offer internet services to other users these companies are just so big and they do so many different things that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not really clear where they fall into for our class we won't worry about them we'll just think about stub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e9db0c4538_0_6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e9db0c4538_0_6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one thing that makes autonomous systems different from everything we've seen so far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you've seen so far in other computer science courses is the fact that they are businesses and the fact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are businesses means that we also have to think about how they make money this is probably not something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to think about when you were programming in data structures or you were thinking about how a computer worked it wasn't really about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it was about making the computer work and making the code do what you want but today we have to think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as's making money so that makes this protocol I think quite different from other ones you've seen before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e9db0c4538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e9db0c4538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the way that routing works all depends on business relationships it all comes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money and in particular if two parents of as's or of one pair of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two as's are related to each other they have to have a relationship in business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so if two as's have a link between each other we have to specify what kind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link it is the link could either be a customer provider link and what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is one of the as's is a customer the other one is a provider the customer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paying the provider and in exchange the provider is offering service it's saying I will forward your packets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and I will receive packets and forward them to you but in exchange you must pay me money so some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as graph look like that there are also relationships called puring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in this case the two as's are still connected bya link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neither side pays the other instead they sign a contract with each other in real life as a business and the contract says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don't have to pay each other but in exchange I'll forward you some traffic and you need to forward me roughly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amount of traffic and that's what aing relationship looks like in real life those contracts can get complicated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this is how we'll simplify for this class so these are the two types of relationships that a pair of as's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if they have a link between them we have to specify who pays whom or if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a peering relationship that they don't pay each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e9db0c4538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2e9db0c4538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draw them in a graph the way that we're going to draw them is we're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draw arrows from the provider to the customer so for example this picture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saying that c is the customer and it is paying a for service and in exchange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agreeing to forward packets on behalf of C so if C wants to send packets to someone else it can forward the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 A can forward the packet along to its destination and if anyone has packets to send to C they can send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a and a will send them along to C so a is forwarding C's traffic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exchange C must pay a and the arrows always point from provider to customer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always have a hard time remembering the direction but it's provider to customer and if we ever draw a line with two dots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either end that would be a puring relationship so this says that A and B are peers they don't pay each other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exchange traffic between between each other if they so desire now one common confusion when people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 business graphs for the first time is they think that the arrows represent packets being sent that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wrong you don't want to think about packets in that way Ju Just because I draw an arrow from C to F it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 that packets can only go in One Direction in fact packets can get sent from F to C or from C to F so the Arrow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not say anything about where you send the packets it only says that f is the customer and C is the provider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got to remember when you stare at these graphs don't think about the arrows in terms of packets being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can get sent along the link in both directions just like in any other routing protocol we've seen all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are bidirectional the graph is just to show the business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were talking about you got to be careful this one always trips people up so now that we've seen this graph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e9db0c4538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2e9db0c4538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identify which as's are the stub ones and which ones are the transit ones I think these three are the stub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have no outgoing arrows to anyone else this means they are not providing service to other people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e9db0c4538_0_7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e9db0c4538_0_7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one property of an as graph because of these business relationships is that it is a cyclic that means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has no Cycles if an as graph has a cycle it means that you are somehow paying yourself for service which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it doesn't really make sense here for example B would be paying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a would be paying C and then C would be paying B it doesn't really make sense for money to go back to yourself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would say this is an invalid as graph it'd be weird if you paid someone else for service and then they paid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service that's kind of weird that being said cycles of peering relationships are okay so it's okay if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and C are all peers but you cannot have directed Cycles like this where you're paying yourself money and giving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yourself service that doesn't really work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9db0c4538_0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9db0c4538_0_7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tier one as those are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bosses at the very top of the hierarchy so in this picture A and B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were the Tier 1 as's here A B and C are the tier one as s's you know they're 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top because they have no incoming edges there's nobody above them if there was someone above and another incoming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Edge they would not be tier one but because they're at the very top and there are no more edges pointing at them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are a tier one as this means they have no providers they're not paying anyone else for service they are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original source of the service if you're a tier one as you have to have a peering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relationship with all the other tier one as's so for example here A B and C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must have all the pairwise peering relationships that are possible so A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 must be Pierce B and C must be Pierce A and C must also be Pierce if there was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fourth tier one as like d you would have to connect D to c b and a using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puring relationships for reasons that we will see soon but it's important that all the tier one as's are connected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each other because this guarantees that the as graph is is connected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stare at the hierarchy it's not quite a tree because trees have a single distinct root and there is no single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distinct route here so the way that we guarantee that everything is connected is we have everyone at the top connected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each other so there isn't one distinct roote but because everyone at the top layer is connected to each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helps us guarantee that the whole internet is connected as long as you can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trace your money up to a tier onea s the Tier 1 as should be connected to everyone else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2e9db0c4538_0_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2e9db0c4538_0_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2e9db0c4538_0_8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g2e9db0c4538_0_8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2e9db0c4538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2e9db0c4538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19:5</a:t>
            </a:r>
            <a:r>
              <a:rPr lang="en-US" dirty="0"/>
              <a:t>"Explicitly" - Some minor leakage is inevitable.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next there's a couple Challen challenges that we need to think about as we're designing this routing scheme one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scalability so as mentioned earlier we need to make sure that this routing scales to the entire internet we saw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already that there are close to a 100,000 as's and that number is growing and in order to route to 100,000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as's Each of which probably has tons of hosts we need to use hierarchical IP addressing like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talked about last time and this will allow us to have a single entry that says something like everybody in Europe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way well that's much easier than writing out every single entry for every single host in Europe you can have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single entry that says everybody in Europe with an IP address that starts with these bits just send it that way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it summarizes millions of hosts in a single entry so that's something we're going to have to use in order to scale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routing scheme up and these two properties that come next are a bit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newer they're probably things you haven't seen before but they're important now that we're considering as's as businesses in real life as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 something you probably don't want to do is reveal all of your secrets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businesses have secrets and it's probably good to protect them so one thing that we need here that wasn't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case in intad domain rounding is privacy the asss should not have to announce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unnecessary information to its neighbors or anyone else outside of the as so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example an as should not have to tell everyone who it's paying for Internet service that could be private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information maybe as a company you don't want to tell people who you're paying to service your internet so you shouldn't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to reveal that as part of this routing protocol and there's also other information we'll see in general we have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be careful not to reveal information to other as's if it's potentially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sensitive that being said there is some leakage that we can't get away with and there is some work done to try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reverse engineer some secret information based on the routing protocol so it's not perfect but we'll do our best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hide sensitive information when possible even if sometimes we're not able to hide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 single thing or we leak a little bit of information by accident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little bit different is autonomy and this means that as's should be able to choose their own policies based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 goals so each as should be able to decide what routes it likes better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what routes it doesn't like now this is very different from something like the distance Vector protocol or the link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State protocol where everyone agreed that the goal was to minimize cost everyone agreed you agreed I agreed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 the routers agreed that minimizing cost was the best thing to do but now that we have autonomy as's might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like least cost maybe they want something a little bit more expensive because they prefer it for some reason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 have to support other goals that asss might have so we need scalability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 need these two new goals of privacy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autonomy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9db0c4538_0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9db0c4538_0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so what does policy-based routing mean as mentioned earlier as's have to be able to choose the policies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they like and they should be able to choose their favorite paths whatever that means for them so in intra domain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inside of a network we set that a valid path was one that had no loops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no dead ends so that's going to be the same every business out there does not want Loops does not want dead 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we can be pretty sure of because if you have a loop you're not sending the packet so we still agree that everyone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doesn't want a loop everyone doesn't want the dead end that's okay now the difference is what makes the path good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in domain everyone agreed it was least cost in interdomain routing we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looking in instead for paths that respect every as's preference so if you prefer something and I prefer something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should use that path even if it's not the least cost path and we'll also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cases where the preferences actually are in conflict and what to do in those cases but in summary we have to respect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every as's preferences even if those preferences don't lead to least cost paths and that's going to create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extra challenge for us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9db0c4538_0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9db0c4538_0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 what is a policy it turns out just </a:t>
            </a:r>
            <a:r>
              <a:rPr lang="en-US" dirty="0"/>
              <a:t>More creative policies: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 prefer AS#12 on weekdays, and AS#13 on weekends.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anything can be a policy for an as and the protocol will Design supports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just about any policy you can think of so here are a bunch of examples some policies Define you carrying traffic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 a Transit as you have to forward other people's traffic and you can Define policies like I really don't like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 number 2046 I just don't like them so I refuse to forward their traffic sorry if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traffic I refuse to forward it you cannot use me as a route if the traffic is coming from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as246 so that's an example of a policy that has to do with forwarding traffic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can also be policies that Define how your traffic is handled so this is not you forwarding other people's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traffic this is you sending and receiving your own traffic you can say when I send packets if you have a choice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between as 10 and 14 please use 10 because I like 10 better for what reason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our problem as's can choose their own preferences or you can say please don't use 54 unless there are no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Alternatives then use 54 and there's all sorts of different exotic policies you can come up with you can invent any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policy you like you could say on weekdays use 12 on weekends use 13 you can do whatever you want but ultimately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our protocol has to respect whatever policy these as's could possibly think of and that's going to make routing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little bit more challenging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2e9db0c4538_0_1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2e9db0c4538_0_1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most as's follow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standard set of rules that we'll call the ga Rexford rules it's not guaranteed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most of them do this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2e9db0c4538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2e9db0c4538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in theory you can do whatever you want you like 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weekdays 13 on weekends that's great but in real life there are some standard conventions that most people follow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they're based on two properties that I think almost every business can agree on so no matter what business you're in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every business in the world could agree that making money is good and I also think that every business in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world could agree you should not do work for free you should get paid if you're doing work so that's what these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e9db0c4538_0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e9db0c4538_0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like here's you your s and you receive advertisements from three different as's a sends you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 saying I can reach autonomous system D and B also sends an advertisement saying I can also reach 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C also sends an advertisement saying I can reach D so you receive three different options for how to reach 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the goxer rulle say it doesn't matter what the cost of these links are you decide based on money first so I look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well if I use this link I have to pay for it I don't want to do that if I use this link I don't make any money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I use this link I send the packet to a customer who pays me I like that so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choose this advertisement and accept to forward packets via C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9db0c4538_0_10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9db0c4538_0_10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that link goes down suddenly this link doesn't exist anymore you no longer have a customer so you should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the pier because that's free and this one costs you money and it's the worst so we go customer first then peer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provider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e9db0c4538_0_9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e9db0c4538_0_9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in distance Vector protocols everyone participated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when you receive an advertisement you forward it to everyone because you're happy to be on any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you're the shortest path for someone else that's great you should join and be part of the path so in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protocols there was no restriction on participating in routes if you were a router you could be on any route however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that money is a concern you're no longer going to agree to participate in any route that's out there in particular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only participate in routes if you make money and this reflects the other goal we talked about which is to not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for free if you want to make money you don't want to do work for free so do not participate in routes where you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being forced to work and you're not getting paid now how do you check if you get paid you look at the route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along so look to your left look to your right look at your two Neighbors on the path and check if one of them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if one of them as a customer you're getting paid this is a path you're willing to participate in but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look to your left and you look to your right and neither of them is a customer you are not getting paid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either doing work for free or even worse you're paying to do work we don't want to do that so we will not participate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route and that means that we will not send an advertisement claiming that we can be part of this route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e9db0c4538_0_1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e9db0c4538_0_1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what this looks like in practice there's a lot of different cases we'll just run through them all one by one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the first case your B you look to your left it's a customer you look to your right it's a customer it's a great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day you're going to be paid from both sides this is amazing you are definitely going to participate in this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at least one of your neighbors is a customer now one important thing to note again is that this is an as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arrows don't represent the packets being sent the packets are being forwarded from A to B to C according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slide they could also be forwarded from C to B to a the arrows have nothing to do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packets being sent they have to do with money flowing from A to B so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case you're making money on both sides you will participate in this route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2e9db0c4538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2e9db0c4538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about this route you'll participate as well because you look to your left you're not making money but you look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and you are making money so this is a route that you will participate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2e9db0c4538_0_1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2e9db0c4538_0_1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this one's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strange you look to your right there's a customer that will pay you and you look to your left and there's a provider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to pay so at first glance you might say I don't know if I want to participate in this because I'm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but then I'm paying some of it to a but you should still participate in this and the reason why is because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don't participate in this how do you give service to C remember that c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for service and if you refuse routes like this you are refusing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up the hierarchy to the tier one as's to reach other destinations so you could reject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you'd be a very bad provider because you are not accepting routes that offer connectivity to far away places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can't reach a bunch of the internet so this route is important to accept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this is how you offer service to your customers It Is by accepting routes toward your providers who then send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to other far away places so at first glance you might be tempted to not participate but you have to participate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give your customer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2e9db0c4538_0_1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2e9db0c4538_0_1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now let's look at the cases where we don't accept here's a case where you don't accept to your left is a peer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is a pier there no good nobody is sending you money there is no point in participating in this path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that means is that peers don't provide Transit between other peers so a packet will not hop across a big chain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peers because all of the peers along the chain will will refuse to participate they'll say I'm not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 will not do this for you for free so that's a property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this picture peers do not forward packets between other peers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don't make money here's another case where you don't make money you look to your right it's a provider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 have to pay you look to your that was your left you look to your right it's a peer and they're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you any money either so once again you don't participate nobody is making you money it's no good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2e9db0c4538_0_1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2e9db0c4538_0_12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this means is that if you receive packets or send packets along appearing link what can you conclude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side it must be a customer so something useful to conclude here is if you receive a packet from aing link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one of the sides is a peer the other side must be a customer because someone has to pay you money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peer isn't paying you so this other side must be a customer to pay you that's what these words say it's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the way that we've designed this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e9db0c453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e9db0c453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final one 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both sides are providers now this is terrible because you have to pay the left side to participate and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 the right side to participate you would simply never do this so B will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this path and a consequence of this is that routes are valy free that will be defined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concretely later but intuitively what that means is if you draw paths through the graph the paths will never dip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turn around and go back up because if your path ever goes down and then back up in the hierarchy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forcing someone to pay both sides and they would never do so so this is another path that no one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because it doesn't make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2e9db0c4538_0_1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2e9db0c4538_0_1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e9db0c4538_0_1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e9db0c4538_0_1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looks at both of its neighbors and says yes I get paid by one of them namely D so I will participate C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yes I get paid by E so I will participate and a it's lucky day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won't get paid by both sides so it will also participate therefore this is a valid route everyone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2e9db0c4538_0_1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9" name="Google Shape;789;g2e9db0c4538_0_1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[changelog] 3/3/25: swapped orders for slides 39 and 40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2e9db0c4538_0_1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2e9db0c4538_0_1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2e9db0c453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2e9db0c453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2e9db0c4538_0_1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2" name="Google Shape;852;g2e9db0c4538_0_1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if you put all these properties together there is a useful property you can derive which is that all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have a single Peak this is a consequence of all the things we've talked about previously and if you take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we've said about participating in routes and you summarize it it would look something like this well it's not a new property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a derivation of things we've already talked about and every path that you could possibly draw in the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hierarchy that everyone agrees to participate in they will all take a form like this you'll start somewhere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you'll first start climbing up so there's zero or more uphill links so you start at a and you climb up going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customers to Providers and that also means money is Flowing upwards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eventually once you get to the peak you can Traverse zero peering links that's okay or you can Traverse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peering link that's it why can you not Traverse multiple peering links because if you're staying up here and there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Plateau a chain of peers well then all the intermediate peers would refuse to participate so that's not possible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2e9db0c4538_0_17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1" name="Google Shape;871;g2e9db0c4538_0_17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well there's a useful proof that G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Rexford came up with so what they noticed is that all of the as's tend to follow these set of rules that have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with making money and they were able to construct a proof based on these 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properties so here are the assumptions and the proof we say if all three of these statements are true then we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these two nice properties so what are the statements the prerequisites for this proof are as follows number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starting from any as and climbing up the hierarchy must lead to a tier one 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that's something we talked about earlier it is true in the modern internet now you could build some weird as graph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doesn't obey that but in the modern as graph on the internet it is true that wherever you start if you climb up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end up at a tier one as that's fact number one fact number two the as graph has no Cycles again this is true in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modern internet you could certainly create a weird alternate universe internet where this is not true but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modern internet the as graph has no Cycles you cannot pay yourself assumption number three is that everyone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follows the rules that we just talked about you only participate in paths if you get paid and when you have a choice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 paths you choose the most profitable one so we need all three of these things to be true and if they are true gow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Rexford wrote a whole paper look up their names and you'll find it and the paper says if these three things are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true you get these two nice properties one property is that the entire as graph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connected any two as's in the graph can communicate and in particular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can communicate on a path that everyone agrees to participate in so you get something called reachability 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roughly intuitively this is not the proof but you can try to connect this to the single Peak path that we talked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if you build the as hierarchy the way that we've been talking about and everyone follows the gal Rexford rules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 can always draw a graph like this in the as graph between any pair of as's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doesn't matter where a and F are in the as graph you can always draw a path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climbs up to the Tier 1 as hops over to a different Tier 1 as and goes back down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the destination so you get a property called reachability any two as's can talk to each other along a path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makes everybody happy that's nice this is why the internet actually works and we don't say you can't reach Asia it's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because of this property right here and the other nice property is Convergence that means all the asss agree on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paths so if you think of them as having forwarding tables which is not something we've talked about yet but if they had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imaginary forwarding tables those forwarding tables would be consistent so everyone agrees on the path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being taken and that's something we'll dive into more next time but that's the proof it says if the as graph is built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we talked about it don't do weird things like have cycles and if everyone follows the rules then we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reachability and convergence now one minor note about this proof is it only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guarantees these properties in steady state so if the network topology and the policy stay the same forever you do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these properties but if something changes like a new as appears it might take some time for everyone to recp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compute the paths and reconverge on something but eventually it will converge as long as everyone continues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follow these rules and this also means that if you break any of these three assumptions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lose this proof so if any as goes out there and says actually I love losing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money well suddenly you can't guarantee these properties because they are not following the rules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2e9db0c4538_0_1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7" name="Google Shape;877;g2e9db0c4538_0_1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the first part of today we talked about autonomous systems that reflect business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as's and we said that those business relationships impact what route you choose that is when you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which one do you like and also what routes are acceptable which means when you're asked to participate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a route do you agree or not and we saw that scalability autonomy and privacy were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considerations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2e9db0c4538_0_1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2e9db0c4538_0_14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2e9db0c4538_0_1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2e9db0c4538_0_1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Autonomous systems were a new idea to computer science.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No precedent for "find paths according to business policy."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Ideas behind BGP were developed on the fly (1989–1995).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It's not perfect, but it's stood the test of time.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2e9db0c4538_0_1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2e9db0c4538_0_1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2e9db0c4538_0_1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2e9db0c4538_0_1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2e9db0c4538_0_1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2e9db0c4538_0_1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Changelog: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[3/5/25] changed “customer &gt; provider &gt; peer” to</a:t>
            </a:r>
            <a:r>
              <a:rPr lang="en">
                <a:solidFill>
                  <a:schemeClr val="dk1"/>
                </a:solidFill>
              </a:rPr>
              <a:t> “customer &gt; peer &gt; provider”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you receive multiple advertisements which one do you pick you pick the one from the customer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there is one otherwise pick the one from the peer otherwise pick the one from the provider it's something you've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and if you want to compare it to distance Vector distance Vector said pick the shortest one we now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pick the one that makes you the most money this is an import decision that's just a fancy word for accepting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so this is something you've already seen and yeah you've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it now something to note by the way is that the import decision determines how you forward packets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sound a little bit confusing I think it's less confusing than it sounds it basically says when you accept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 that determines where you're forwarding packets that makes sense if you receive advertisements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b and c and you choose C that is you import C that means you're forwarding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see because you chose their advertisement now what about exporting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one's a little bit trickier so this is where we have to think about whether we participate in a route because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should only export a route and tell all of our neighbors if the route makes us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money and we agree to participate so now we're going to link up the idea of participation into an actual policy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2e9db0c4538_0_1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2e9db0c4538_0_1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here is that in distance Vector protocols everyone participated in anything nobody said I refuse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everyone agreed to participate in any path and that was reflected in the fact that you advertise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to all of your neighbors you tell everyone anyone can send packets to me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participate in whatever route you like if you want to send packets that's great I participate if you want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that's great I will also participate the distance Vector was very nice it let everyone participate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in bgp you will not let everyone participate you will only let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participate if it makes you 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2e9db0c4538_0_15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2e9db0c4538_0_15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e9db0c4538_0_1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8" name="Google Shape;978;g2e9db0c4538_0_1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2e9db0c4538_0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2e9db0c4538_0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g2e9db0c4538_0_1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3" name="Google Shape;1023;g2e9db0c4538_0_1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2e9db0c4538_0_1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2e9db0c4538_0_1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2e9db0c4538_0_1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2e9db0c4538_0_1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2e9db0c4538_0_16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4" name="Google Shape;1084;g2e9db0c4538_0_16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9db0c4538_0_1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9db0c4538_0_1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there are two more changes we need and we will have arrived at a pretty nice bgp protocol so once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fix these two things we're all done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2e9db0c4538_0_1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8" name="Google Shape;1098;g2e9db0c4538_0_1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g2e9db0c4538_0_17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4" name="Google Shape;1104;g2e9db0c4538_0_17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remember that things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be scalable this has to support the entire internet and reachability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thousands and thousands of as's and so you cannot have a table with a 100,000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it's just too big to maintain and store so instead all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tables are going to be a they can be aggregated so what that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ever have a lot of prefixes with the same next toop you should aggregate them all into a longer prefix right 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2ed46e632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2ed46e632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2e9db0c4538_0_17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3" name="Google Shape;1133;g2e9db0c4538_0_17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2e9db0c4538_0_17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5" name="Google Shape;1145;g2e9db0c4538_0_17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2e9db0c4538_0_1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1" name="Google Shape;1151;g2e9db0c4538_0_1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0879c207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0879c207_2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Policy (e.g. Gao-Rexford rules) reflects business goals.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dirty="0"/>
              <a:t>Making money is good. Don't do work for free.</a:t>
            </a:r>
          </a:p>
          <a:p>
            <a:pPr lvl="1">
              <a:spcBef>
                <a:spcPts val="0"/>
              </a:spcBef>
            </a:pPr>
            <a:r>
              <a:rPr lang="en-US" altLang="zh-CN" dirty="0">
                <a:solidFill>
                  <a:srgbClr val="FF0000"/>
                </a:solidFill>
              </a:rPr>
              <a:t>Every intermediate AS along a route should make money from its customer(s). </a:t>
            </a:r>
            <a:r>
              <a:rPr lang="en-US" altLang="zh-CN" dirty="0"/>
              <a:t>Otherwise, it is not a legal route based on Gao-Rexford rules. 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dirty="0"/>
              <a:t>Reachability, convergence are guaranteed if you follow Gao-Rexford rules.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lang="en-US" altLang="zh-CN" dirty="0"/>
          </a:p>
          <a:p>
            <a:pPr marL="9144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  <a:tabLst/>
              <a:defRPr/>
            </a:pPr>
            <a:r>
              <a:rPr lang="en" altLang="zh-CN" dirty="0"/>
              <a:t>Paths are selected based on policy.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Inter-Domain Routing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8 (Routing 5)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5278830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6751641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4741423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158001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323345" y="119563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4741423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5876556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323345" y="200303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" name="Google Shape;154;p24"/>
          <p:cNvCxnSpPr>
            <a:stCxn id="146" idx="4"/>
            <a:endCxn id="148" idx="0"/>
          </p:cNvCxnSpPr>
          <p:nvPr/>
        </p:nvCxnSpPr>
        <p:spPr>
          <a:xfrm flipH="1">
            <a:off x="5130180" y="752150"/>
            <a:ext cx="537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24"/>
          <p:cNvCxnSpPr>
            <a:stCxn id="146" idx="4"/>
            <a:endCxn id="149" idx="0"/>
          </p:cNvCxnSpPr>
          <p:nvPr/>
        </p:nvCxnSpPr>
        <p:spPr>
          <a:xfrm>
            <a:off x="5667480" y="752150"/>
            <a:ext cx="879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" name="Google Shape;156;p24"/>
          <p:cNvCxnSpPr>
            <a:stCxn id="148" idx="4"/>
            <a:endCxn id="151" idx="0"/>
          </p:cNvCxnSpPr>
          <p:nvPr/>
        </p:nvCxnSpPr>
        <p:spPr>
          <a:xfrm>
            <a:off x="5130073" y="163900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>
            <a:stCxn id="148" idx="5"/>
            <a:endCxn id="152" idx="1"/>
          </p:cNvCxnSpPr>
          <p:nvPr/>
        </p:nvCxnSpPr>
        <p:spPr>
          <a:xfrm>
            <a:off x="5404890" y="1574066"/>
            <a:ext cx="585600" cy="493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24"/>
          <p:cNvCxnSpPr>
            <a:stCxn id="149" idx="4"/>
            <a:endCxn id="152" idx="0"/>
          </p:cNvCxnSpPr>
          <p:nvPr/>
        </p:nvCxnSpPr>
        <p:spPr>
          <a:xfrm flipH="1">
            <a:off x="6265251" y="1639001"/>
            <a:ext cx="28140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24"/>
          <p:cNvCxnSpPr>
            <a:stCxn id="150" idx="4"/>
            <a:endCxn id="153" idx="0"/>
          </p:cNvCxnSpPr>
          <p:nvPr/>
        </p:nvCxnSpPr>
        <p:spPr>
          <a:xfrm>
            <a:off x="7711995" y="163903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" name="Google Shape;160;p24"/>
          <p:cNvCxnSpPr>
            <a:stCxn id="149" idx="6"/>
            <a:endCxn id="150" idx="2"/>
          </p:cNvCxnSpPr>
          <p:nvPr/>
        </p:nvCxnSpPr>
        <p:spPr>
          <a:xfrm>
            <a:off x="6935301" y="1417301"/>
            <a:ext cx="387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61" name="Google Shape;161;p24"/>
          <p:cNvCxnSpPr>
            <a:stCxn id="147" idx="4"/>
            <a:endCxn id="150" idx="0"/>
          </p:cNvCxnSpPr>
          <p:nvPr/>
        </p:nvCxnSpPr>
        <p:spPr>
          <a:xfrm>
            <a:off x="7140291" y="752150"/>
            <a:ext cx="5718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DCD0B49-0F78-39FF-F288-5A32CBB998E7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are ASes?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7" name="Google Shape;167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Autonomous Systems</a:t>
            </a:r>
            <a:endParaRPr/>
          </a:p>
        </p:txBody>
      </p:sp>
      <p:sp>
        <p:nvSpPr>
          <p:cNvPr id="168" name="Google Shape;168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2248D5-FF9A-ED63-DB01-B735D90A1D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/>
          <p:nvPr/>
        </p:nvSpPr>
        <p:spPr>
          <a:xfrm>
            <a:off x="3846013" y="1510025"/>
            <a:ext cx="1571400" cy="17163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3514750" y="3452075"/>
            <a:ext cx="2141400" cy="136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6"/>
          <p:cNvSpPr/>
          <p:nvPr/>
        </p:nvSpPr>
        <p:spPr>
          <a:xfrm>
            <a:off x="6426350" y="1531026"/>
            <a:ext cx="2218800" cy="33588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285742" y="2059850"/>
            <a:ext cx="2487600" cy="254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Intra-Domain vs. Inter-Domain Routing</a:t>
            </a:r>
            <a:endParaRPr/>
          </a:p>
        </p:txBody>
      </p:sp>
      <p:sp>
        <p:nvSpPr>
          <p:cNvPr id="178" name="Google Shape;178;p26"/>
          <p:cNvSpPr/>
          <p:nvPr/>
        </p:nvSpPr>
        <p:spPr>
          <a:xfrm>
            <a:off x="1415675" y="3603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1415675" y="289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/>
          <p:nvPr/>
        </p:nvSpPr>
        <p:spPr>
          <a:xfrm>
            <a:off x="2393963" y="318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1049888" y="233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1781463" y="233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6"/>
          <p:cNvSpPr/>
          <p:nvPr/>
        </p:nvSpPr>
        <p:spPr>
          <a:xfrm>
            <a:off x="702163" y="3309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02163" y="389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" name="Google Shape;185;p26"/>
          <p:cNvCxnSpPr>
            <a:stCxn id="181" idx="5"/>
            <a:endCxn id="179" idx="0"/>
          </p:cNvCxnSpPr>
          <p:nvPr/>
        </p:nvCxnSpPr>
        <p:spPr>
          <a:xfrm>
            <a:off x="1293150" y="2580338"/>
            <a:ext cx="264900" cy="315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6" name="Google Shape;186;p26"/>
          <p:cNvCxnSpPr>
            <a:stCxn id="179" idx="0"/>
            <a:endCxn id="182" idx="3"/>
          </p:cNvCxnSpPr>
          <p:nvPr/>
        </p:nvCxnSpPr>
        <p:spPr>
          <a:xfrm rot="10800000" flipH="1">
            <a:off x="1558175" y="2580350"/>
            <a:ext cx="264900" cy="315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6"/>
          <p:cNvCxnSpPr>
            <a:stCxn id="178" idx="1"/>
            <a:endCxn id="183" idx="6"/>
          </p:cNvCxnSpPr>
          <p:nvPr/>
        </p:nvCxnSpPr>
        <p:spPr>
          <a:xfrm rot="10800000">
            <a:off x="987275" y="34520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" name="Google Shape;188;p26"/>
          <p:cNvCxnSpPr>
            <a:stCxn id="178" idx="1"/>
            <a:endCxn id="184" idx="6"/>
          </p:cNvCxnSpPr>
          <p:nvPr/>
        </p:nvCxnSpPr>
        <p:spPr>
          <a:xfrm flipH="1">
            <a:off x="987275" y="37457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" name="Google Shape;189;p26"/>
          <p:cNvCxnSpPr>
            <a:stCxn id="178" idx="3"/>
            <a:endCxn id="180" idx="1"/>
          </p:cNvCxnSpPr>
          <p:nvPr/>
        </p:nvCxnSpPr>
        <p:spPr>
          <a:xfrm rot="10800000" flipH="1">
            <a:off x="1700675" y="3330875"/>
            <a:ext cx="693300" cy="414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0" name="Google Shape;190;p26"/>
          <p:cNvCxnSpPr>
            <a:stCxn id="179" idx="2"/>
            <a:endCxn id="178" idx="0"/>
          </p:cNvCxnSpPr>
          <p:nvPr/>
        </p:nvCxnSpPr>
        <p:spPr>
          <a:xfrm>
            <a:off x="1558175" y="3180950"/>
            <a:ext cx="0" cy="422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26"/>
          <p:cNvSpPr/>
          <p:nvPr/>
        </p:nvSpPr>
        <p:spPr>
          <a:xfrm>
            <a:off x="5102525" y="21737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6"/>
          <p:cNvSpPr/>
          <p:nvPr/>
        </p:nvSpPr>
        <p:spPr>
          <a:xfrm>
            <a:off x="4367825" y="2173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4465250" y="16169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" name="Google Shape;194;p26"/>
          <p:cNvCxnSpPr>
            <a:stCxn id="191" idx="0"/>
            <a:endCxn id="193" idx="5"/>
          </p:cNvCxnSpPr>
          <p:nvPr/>
        </p:nvCxnSpPr>
        <p:spPr>
          <a:xfrm rot="10800000">
            <a:off x="4708625" y="1860213"/>
            <a:ext cx="536400" cy="313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>
            <a:stCxn id="191" idx="1"/>
            <a:endCxn id="192" idx="6"/>
          </p:cNvCxnSpPr>
          <p:nvPr/>
        </p:nvCxnSpPr>
        <p:spPr>
          <a:xfrm rot="10800000">
            <a:off x="4652825" y="2316213"/>
            <a:ext cx="4497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6" name="Google Shape;196;p26"/>
          <p:cNvSpPr/>
          <p:nvPr/>
        </p:nvSpPr>
        <p:spPr>
          <a:xfrm>
            <a:off x="4225225" y="2786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7" name="Google Shape;197;p26"/>
          <p:cNvCxnSpPr>
            <a:stCxn id="191" idx="2"/>
            <a:endCxn id="196" idx="0"/>
          </p:cNvCxnSpPr>
          <p:nvPr/>
        </p:nvCxnSpPr>
        <p:spPr>
          <a:xfrm flipH="1">
            <a:off x="4367825" y="2458713"/>
            <a:ext cx="877200" cy="327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" name="Google Shape;198;p26"/>
          <p:cNvSpPr/>
          <p:nvPr/>
        </p:nvSpPr>
        <p:spPr>
          <a:xfrm>
            <a:off x="3778688" y="37132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6"/>
          <p:cNvSpPr/>
          <p:nvPr/>
        </p:nvSpPr>
        <p:spPr>
          <a:xfrm>
            <a:off x="5102525" y="37132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6"/>
          <p:cNvSpPr/>
          <p:nvPr/>
        </p:nvSpPr>
        <p:spPr>
          <a:xfrm>
            <a:off x="3778688" y="423928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" name="Google Shape;201;p26"/>
          <p:cNvCxnSpPr>
            <a:stCxn id="200" idx="0"/>
            <a:endCxn id="198" idx="2"/>
          </p:cNvCxnSpPr>
          <p:nvPr/>
        </p:nvCxnSpPr>
        <p:spPr>
          <a:xfrm rot="10800000">
            <a:off x="3921188" y="3998086"/>
            <a:ext cx="0" cy="241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6"/>
          <p:cNvCxnSpPr>
            <a:stCxn id="198" idx="3"/>
            <a:endCxn id="199" idx="1"/>
          </p:cNvCxnSpPr>
          <p:nvPr/>
        </p:nvCxnSpPr>
        <p:spPr>
          <a:xfrm>
            <a:off x="4063688" y="3855713"/>
            <a:ext cx="1038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3" name="Google Shape;203;p26"/>
          <p:cNvSpPr/>
          <p:nvPr/>
        </p:nvSpPr>
        <p:spPr>
          <a:xfrm>
            <a:off x="5102525" y="423921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" name="Google Shape;204;p26"/>
          <p:cNvCxnSpPr>
            <a:stCxn id="203" idx="0"/>
            <a:endCxn id="199" idx="2"/>
          </p:cNvCxnSpPr>
          <p:nvPr/>
        </p:nvCxnSpPr>
        <p:spPr>
          <a:xfrm rot="10800000">
            <a:off x="5245025" y="3998311"/>
            <a:ext cx="0" cy="240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5" name="Google Shape;205;p26"/>
          <p:cNvSpPr/>
          <p:nvPr/>
        </p:nvSpPr>
        <p:spPr>
          <a:xfrm>
            <a:off x="6473363" y="33958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26"/>
          <p:cNvSpPr/>
          <p:nvPr/>
        </p:nvSpPr>
        <p:spPr>
          <a:xfrm>
            <a:off x="6622700" y="22953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6"/>
          <p:cNvSpPr/>
          <p:nvPr/>
        </p:nvSpPr>
        <p:spPr>
          <a:xfrm>
            <a:off x="7433075" y="298687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6"/>
          <p:cNvSpPr/>
          <p:nvPr/>
        </p:nvSpPr>
        <p:spPr>
          <a:xfrm>
            <a:off x="7438875" y="36313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6"/>
          <p:cNvSpPr/>
          <p:nvPr/>
        </p:nvSpPr>
        <p:spPr>
          <a:xfrm>
            <a:off x="7438875" y="22953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" name="Google Shape;210;p26"/>
          <p:cNvCxnSpPr>
            <a:stCxn id="206" idx="3"/>
            <a:endCxn id="209" idx="2"/>
          </p:cNvCxnSpPr>
          <p:nvPr/>
        </p:nvCxnSpPr>
        <p:spPr>
          <a:xfrm>
            <a:off x="6907700" y="2437839"/>
            <a:ext cx="5313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1" name="Google Shape;211;p26"/>
          <p:cNvSpPr/>
          <p:nvPr/>
        </p:nvSpPr>
        <p:spPr>
          <a:xfrm>
            <a:off x="7067275" y="42795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6"/>
          <p:cNvSpPr/>
          <p:nvPr/>
        </p:nvSpPr>
        <p:spPr>
          <a:xfrm>
            <a:off x="7798850" y="42795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6"/>
          <p:cNvCxnSpPr>
            <a:stCxn id="212" idx="1"/>
            <a:endCxn id="208" idx="2"/>
          </p:cNvCxnSpPr>
          <p:nvPr/>
        </p:nvCxnSpPr>
        <p:spPr>
          <a:xfrm rot="10800000">
            <a:off x="7581387" y="3916251"/>
            <a:ext cx="259200" cy="40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6"/>
          <p:cNvCxnSpPr>
            <a:stCxn id="211" idx="7"/>
            <a:endCxn id="208" idx="2"/>
          </p:cNvCxnSpPr>
          <p:nvPr/>
        </p:nvCxnSpPr>
        <p:spPr>
          <a:xfrm rot="10800000" flipH="1">
            <a:off x="7310538" y="3916251"/>
            <a:ext cx="270900" cy="40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26"/>
          <p:cNvCxnSpPr>
            <a:stCxn id="207" idx="0"/>
            <a:endCxn id="206" idx="3"/>
          </p:cNvCxnSpPr>
          <p:nvPr/>
        </p:nvCxnSpPr>
        <p:spPr>
          <a:xfrm rot="10800000">
            <a:off x="6907775" y="2437876"/>
            <a:ext cx="667800" cy="549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26"/>
          <p:cNvCxnSpPr>
            <a:stCxn id="207" idx="1"/>
            <a:endCxn id="205" idx="3"/>
          </p:cNvCxnSpPr>
          <p:nvPr/>
        </p:nvCxnSpPr>
        <p:spPr>
          <a:xfrm flipH="1">
            <a:off x="6758375" y="3129376"/>
            <a:ext cx="674700" cy="408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6"/>
          <p:cNvCxnSpPr>
            <a:stCxn id="207" idx="2"/>
            <a:endCxn id="208" idx="0"/>
          </p:cNvCxnSpPr>
          <p:nvPr/>
        </p:nvCxnSpPr>
        <p:spPr>
          <a:xfrm>
            <a:off x="7575575" y="3271876"/>
            <a:ext cx="5700" cy="359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8" name="Google Shape;218;p26"/>
          <p:cNvSpPr/>
          <p:nvPr/>
        </p:nvSpPr>
        <p:spPr>
          <a:xfrm>
            <a:off x="8154500" y="298686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6"/>
          <p:cNvCxnSpPr>
            <a:stCxn id="207" idx="3"/>
            <a:endCxn id="218" idx="2"/>
          </p:cNvCxnSpPr>
          <p:nvPr/>
        </p:nvCxnSpPr>
        <p:spPr>
          <a:xfrm>
            <a:off x="7718075" y="3129376"/>
            <a:ext cx="436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6"/>
          <p:cNvCxnSpPr>
            <a:stCxn id="180" idx="3"/>
            <a:endCxn id="198" idx="1"/>
          </p:cNvCxnSpPr>
          <p:nvPr/>
        </p:nvCxnSpPr>
        <p:spPr>
          <a:xfrm>
            <a:off x="2678963" y="3330950"/>
            <a:ext cx="1099800" cy="524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6"/>
          <p:cNvCxnSpPr>
            <a:stCxn id="180" idx="3"/>
            <a:endCxn id="196" idx="1"/>
          </p:cNvCxnSpPr>
          <p:nvPr/>
        </p:nvCxnSpPr>
        <p:spPr>
          <a:xfrm rot="10800000" flipH="1">
            <a:off x="2678963" y="2928950"/>
            <a:ext cx="1546200" cy="40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6"/>
          <p:cNvCxnSpPr>
            <a:stCxn id="191" idx="3"/>
            <a:endCxn id="206" idx="1"/>
          </p:cNvCxnSpPr>
          <p:nvPr/>
        </p:nvCxnSpPr>
        <p:spPr>
          <a:xfrm>
            <a:off x="5387525" y="2316213"/>
            <a:ext cx="1235100" cy="12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6"/>
          <p:cNvCxnSpPr>
            <a:stCxn id="199" idx="3"/>
            <a:endCxn id="205" idx="1"/>
          </p:cNvCxnSpPr>
          <p:nvPr/>
        </p:nvCxnSpPr>
        <p:spPr>
          <a:xfrm rot="10800000" flipH="1">
            <a:off x="5387525" y="3538388"/>
            <a:ext cx="1085700" cy="317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26"/>
          <p:cNvSpPr/>
          <p:nvPr/>
        </p:nvSpPr>
        <p:spPr>
          <a:xfrm>
            <a:off x="7438875" y="17619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6"/>
          <p:cNvCxnSpPr>
            <a:stCxn id="206" idx="3"/>
            <a:endCxn id="224" idx="3"/>
          </p:cNvCxnSpPr>
          <p:nvPr/>
        </p:nvCxnSpPr>
        <p:spPr>
          <a:xfrm rot="10800000" flipH="1">
            <a:off x="6907700" y="2005239"/>
            <a:ext cx="573000" cy="43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Recall: The Internet is a network of networks.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used intra-domain routing to compute routes inside each network.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3DA05B-B3EF-060B-42BE-3D277C9D2E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7"/>
          <p:cNvSpPr/>
          <p:nvPr/>
        </p:nvSpPr>
        <p:spPr>
          <a:xfrm>
            <a:off x="3507823" y="3612389"/>
            <a:ext cx="2141400" cy="136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6419423" y="1691340"/>
            <a:ext cx="2218800" cy="33588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7"/>
          <p:cNvSpPr/>
          <p:nvPr/>
        </p:nvSpPr>
        <p:spPr>
          <a:xfrm>
            <a:off x="278815" y="2220164"/>
            <a:ext cx="2487600" cy="254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Intra-Domain vs. Inter-Domain Routing</a:t>
            </a:r>
            <a:endParaRPr/>
          </a:p>
        </p:txBody>
      </p:sp>
      <p:sp>
        <p:nvSpPr>
          <p:cNvPr id="235" name="Google Shape;235;p27"/>
          <p:cNvSpPr/>
          <p:nvPr/>
        </p:nvSpPr>
        <p:spPr>
          <a:xfrm>
            <a:off x="1408748" y="376358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1408748" y="30562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7"/>
          <p:cNvSpPr/>
          <p:nvPr/>
        </p:nvSpPr>
        <p:spPr>
          <a:xfrm>
            <a:off x="2387036" y="33487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7"/>
          <p:cNvSpPr/>
          <p:nvPr/>
        </p:nvSpPr>
        <p:spPr>
          <a:xfrm>
            <a:off x="1042961" y="249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7"/>
          <p:cNvSpPr/>
          <p:nvPr/>
        </p:nvSpPr>
        <p:spPr>
          <a:xfrm>
            <a:off x="1774536" y="249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695236" y="34697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695236" y="405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>
            <a:stCxn id="238" idx="5"/>
            <a:endCxn id="236" idx="0"/>
          </p:cNvCxnSpPr>
          <p:nvPr/>
        </p:nvCxnSpPr>
        <p:spPr>
          <a:xfrm>
            <a:off x="1286223" y="2740652"/>
            <a:ext cx="264900" cy="315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3" name="Google Shape;243;p27"/>
          <p:cNvCxnSpPr>
            <a:stCxn id="236" idx="0"/>
            <a:endCxn id="239" idx="3"/>
          </p:cNvCxnSpPr>
          <p:nvPr/>
        </p:nvCxnSpPr>
        <p:spPr>
          <a:xfrm rot="10800000" flipH="1">
            <a:off x="1551248" y="2740664"/>
            <a:ext cx="264900" cy="315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27"/>
          <p:cNvCxnSpPr>
            <a:stCxn id="235" idx="1"/>
            <a:endCxn id="240" idx="6"/>
          </p:cNvCxnSpPr>
          <p:nvPr/>
        </p:nvCxnSpPr>
        <p:spPr>
          <a:xfrm rot="10800000">
            <a:off x="980348" y="3612389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27"/>
          <p:cNvCxnSpPr>
            <a:stCxn id="235" idx="1"/>
            <a:endCxn id="241" idx="6"/>
          </p:cNvCxnSpPr>
          <p:nvPr/>
        </p:nvCxnSpPr>
        <p:spPr>
          <a:xfrm flipH="1">
            <a:off x="980348" y="3906089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7"/>
          <p:cNvCxnSpPr>
            <a:stCxn id="235" idx="3"/>
            <a:endCxn id="237" idx="1"/>
          </p:cNvCxnSpPr>
          <p:nvPr/>
        </p:nvCxnSpPr>
        <p:spPr>
          <a:xfrm rot="10800000" flipH="1">
            <a:off x="1693748" y="3491189"/>
            <a:ext cx="693300" cy="414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7" name="Google Shape;247;p27"/>
          <p:cNvCxnSpPr>
            <a:stCxn id="236" idx="2"/>
            <a:endCxn id="235" idx="0"/>
          </p:cNvCxnSpPr>
          <p:nvPr/>
        </p:nvCxnSpPr>
        <p:spPr>
          <a:xfrm>
            <a:off x="1551248" y="3341264"/>
            <a:ext cx="0" cy="422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8" name="Google Shape;248;p27"/>
          <p:cNvSpPr/>
          <p:nvPr/>
        </p:nvSpPr>
        <p:spPr>
          <a:xfrm>
            <a:off x="3771761" y="3873527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/>
          <p:nvPr/>
        </p:nvSpPr>
        <p:spPr>
          <a:xfrm>
            <a:off x="5095598" y="3873602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7"/>
          <p:cNvSpPr/>
          <p:nvPr/>
        </p:nvSpPr>
        <p:spPr>
          <a:xfrm>
            <a:off x="3771761" y="4399600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7"/>
          <p:cNvCxnSpPr>
            <a:stCxn id="250" idx="0"/>
            <a:endCxn id="248" idx="2"/>
          </p:cNvCxnSpPr>
          <p:nvPr/>
        </p:nvCxnSpPr>
        <p:spPr>
          <a:xfrm rot="10800000">
            <a:off x="3914261" y="4158400"/>
            <a:ext cx="0" cy="2412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2" name="Google Shape;252;p27"/>
          <p:cNvCxnSpPr>
            <a:stCxn id="248" idx="3"/>
            <a:endCxn id="249" idx="1"/>
          </p:cNvCxnSpPr>
          <p:nvPr/>
        </p:nvCxnSpPr>
        <p:spPr>
          <a:xfrm>
            <a:off x="4056761" y="4016027"/>
            <a:ext cx="103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7"/>
          <p:cNvSpPr/>
          <p:nvPr/>
        </p:nvSpPr>
        <p:spPr>
          <a:xfrm>
            <a:off x="5095598" y="439952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4" name="Google Shape;254;p27"/>
          <p:cNvCxnSpPr>
            <a:stCxn id="253" idx="0"/>
            <a:endCxn id="249" idx="2"/>
          </p:cNvCxnSpPr>
          <p:nvPr/>
        </p:nvCxnSpPr>
        <p:spPr>
          <a:xfrm rot="10800000">
            <a:off x="5238098" y="4158625"/>
            <a:ext cx="0" cy="240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5" name="Google Shape;255;p27"/>
          <p:cNvSpPr/>
          <p:nvPr/>
        </p:nvSpPr>
        <p:spPr>
          <a:xfrm>
            <a:off x="6466436" y="355614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7"/>
          <p:cNvSpPr/>
          <p:nvPr/>
        </p:nvSpPr>
        <p:spPr>
          <a:xfrm>
            <a:off x="6615773" y="245565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7"/>
          <p:cNvSpPr/>
          <p:nvPr/>
        </p:nvSpPr>
        <p:spPr>
          <a:xfrm>
            <a:off x="7426148" y="314719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7"/>
          <p:cNvSpPr/>
          <p:nvPr/>
        </p:nvSpPr>
        <p:spPr>
          <a:xfrm>
            <a:off x="7431948" y="379165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7"/>
          <p:cNvSpPr/>
          <p:nvPr/>
        </p:nvSpPr>
        <p:spPr>
          <a:xfrm>
            <a:off x="7431948" y="245565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7"/>
          <p:cNvCxnSpPr>
            <a:stCxn id="256" idx="3"/>
            <a:endCxn id="259" idx="2"/>
          </p:cNvCxnSpPr>
          <p:nvPr/>
        </p:nvCxnSpPr>
        <p:spPr>
          <a:xfrm>
            <a:off x="6900773" y="2598153"/>
            <a:ext cx="531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1" name="Google Shape;261;p27"/>
          <p:cNvSpPr/>
          <p:nvPr/>
        </p:nvSpPr>
        <p:spPr>
          <a:xfrm>
            <a:off x="7060348" y="443982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7"/>
          <p:cNvSpPr/>
          <p:nvPr/>
        </p:nvSpPr>
        <p:spPr>
          <a:xfrm>
            <a:off x="7791923" y="443982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7"/>
          <p:cNvCxnSpPr>
            <a:stCxn id="262" idx="1"/>
            <a:endCxn id="258" idx="2"/>
          </p:cNvCxnSpPr>
          <p:nvPr/>
        </p:nvCxnSpPr>
        <p:spPr>
          <a:xfrm rot="10800000">
            <a:off x="7574460" y="4076565"/>
            <a:ext cx="259200" cy="40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7"/>
          <p:cNvCxnSpPr>
            <a:stCxn id="261" idx="7"/>
            <a:endCxn id="258" idx="2"/>
          </p:cNvCxnSpPr>
          <p:nvPr/>
        </p:nvCxnSpPr>
        <p:spPr>
          <a:xfrm rot="10800000" flipH="1">
            <a:off x="7303611" y="4076565"/>
            <a:ext cx="270900" cy="40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7"/>
          <p:cNvCxnSpPr>
            <a:stCxn id="257" idx="0"/>
            <a:endCxn id="256" idx="3"/>
          </p:cNvCxnSpPr>
          <p:nvPr/>
        </p:nvCxnSpPr>
        <p:spPr>
          <a:xfrm rot="10800000">
            <a:off x="6900848" y="2598190"/>
            <a:ext cx="667800" cy="549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6" name="Google Shape;266;p27"/>
          <p:cNvCxnSpPr>
            <a:stCxn id="257" idx="1"/>
            <a:endCxn id="255" idx="3"/>
          </p:cNvCxnSpPr>
          <p:nvPr/>
        </p:nvCxnSpPr>
        <p:spPr>
          <a:xfrm flipH="1">
            <a:off x="6751448" y="3289690"/>
            <a:ext cx="674700" cy="408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7" name="Google Shape;267;p27"/>
          <p:cNvCxnSpPr>
            <a:stCxn id="257" idx="2"/>
            <a:endCxn id="258" idx="0"/>
          </p:cNvCxnSpPr>
          <p:nvPr/>
        </p:nvCxnSpPr>
        <p:spPr>
          <a:xfrm>
            <a:off x="7568648" y="3432190"/>
            <a:ext cx="5700" cy="359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8" name="Google Shape;268;p27"/>
          <p:cNvSpPr/>
          <p:nvPr/>
        </p:nvSpPr>
        <p:spPr>
          <a:xfrm>
            <a:off x="8147573" y="314717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27"/>
          <p:cNvCxnSpPr>
            <a:stCxn id="257" idx="3"/>
            <a:endCxn id="268" idx="2"/>
          </p:cNvCxnSpPr>
          <p:nvPr/>
        </p:nvCxnSpPr>
        <p:spPr>
          <a:xfrm>
            <a:off x="7711148" y="3289690"/>
            <a:ext cx="436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0" name="Google Shape;270;p27"/>
          <p:cNvCxnSpPr>
            <a:stCxn id="237" idx="3"/>
            <a:endCxn id="248" idx="1"/>
          </p:cNvCxnSpPr>
          <p:nvPr/>
        </p:nvCxnSpPr>
        <p:spPr>
          <a:xfrm>
            <a:off x="2672036" y="3491264"/>
            <a:ext cx="1099800" cy="52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27"/>
          <p:cNvCxnSpPr>
            <a:stCxn id="249" idx="3"/>
            <a:endCxn id="255" idx="1"/>
          </p:cNvCxnSpPr>
          <p:nvPr/>
        </p:nvCxnSpPr>
        <p:spPr>
          <a:xfrm rot="10800000" flipH="1">
            <a:off x="5380598" y="3698702"/>
            <a:ext cx="1085700" cy="31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27"/>
          <p:cNvSpPr/>
          <p:nvPr/>
        </p:nvSpPr>
        <p:spPr>
          <a:xfrm>
            <a:off x="7431948" y="192225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27"/>
          <p:cNvCxnSpPr>
            <a:stCxn id="256" idx="3"/>
            <a:endCxn id="272" idx="3"/>
          </p:cNvCxnSpPr>
          <p:nvPr/>
        </p:nvCxnSpPr>
        <p:spPr>
          <a:xfrm rot="10800000" flipH="1">
            <a:off x="6900773" y="2165553"/>
            <a:ext cx="573000" cy="432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27"/>
          <p:cNvSpPr/>
          <p:nvPr/>
        </p:nvSpPr>
        <p:spPr>
          <a:xfrm>
            <a:off x="3839086" y="1670339"/>
            <a:ext cx="1571400" cy="17163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7"/>
          <p:cNvSpPr/>
          <p:nvPr/>
        </p:nvSpPr>
        <p:spPr>
          <a:xfrm>
            <a:off x="5095598" y="2334027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7"/>
          <p:cNvSpPr/>
          <p:nvPr/>
        </p:nvSpPr>
        <p:spPr>
          <a:xfrm>
            <a:off x="4360898" y="2334027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7"/>
          <p:cNvSpPr/>
          <p:nvPr/>
        </p:nvSpPr>
        <p:spPr>
          <a:xfrm>
            <a:off x="4458323" y="1777252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8" name="Google Shape;278;p27"/>
          <p:cNvCxnSpPr>
            <a:stCxn id="275" idx="0"/>
            <a:endCxn id="277" idx="5"/>
          </p:cNvCxnSpPr>
          <p:nvPr/>
        </p:nvCxnSpPr>
        <p:spPr>
          <a:xfrm rot="10800000">
            <a:off x="4701698" y="2020527"/>
            <a:ext cx="536400" cy="313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27"/>
          <p:cNvCxnSpPr>
            <a:stCxn id="275" idx="1"/>
            <a:endCxn id="276" idx="6"/>
          </p:cNvCxnSpPr>
          <p:nvPr/>
        </p:nvCxnSpPr>
        <p:spPr>
          <a:xfrm rot="10800000">
            <a:off x="4645898" y="2476527"/>
            <a:ext cx="4497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0" name="Google Shape;280;p27"/>
          <p:cNvSpPr/>
          <p:nvPr/>
        </p:nvSpPr>
        <p:spPr>
          <a:xfrm>
            <a:off x="4218298" y="294683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1" name="Google Shape;281;p27"/>
          <p:cNvCxnSpPr>
            <a:stCxn id="275" idx="2"/>
            <a:endCxn id="280" idx="0"/>
          </p:cNvCxnSpPr>
          <p:nvPr/>
        </p:nvCxnSpPr>
        <p:spPr>
          <a:xfrm flipH="1">
            <a:off x="4360898" y="2619027"/>
            <a:ext cx="877200" cy="327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27"/>
          <p:cNvCxnSpPr>
            <a:endCxn id="280" idx="1"/>
          </p:cNvCxnSpPr>
          <p:nvPr/>
        </p:nvCxnSpPr>
        <p:spPr>
          <a:xfrm rot="10800000" flipH="1">
            <a:off x="2672098" y="3089339"/>
            <a:ext cx="1546200" cy="40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27"/>
          <p:cNvCxnSpPr>
            <a:stCxn id="275" idx="3"/>
          </p:cNvCxnSpPr>
          <p:nvPr/>
        </p:nvCxnSpPr>
        <p:spPr>
          <a:xfrm>
            <a:off x="5380598" y="2476527"/>
            <a:ext cx="1235100" cy="12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4" name="Google Shape;284;p27"/>
          <p:cNvSpPr txBox="1">
            <a:spLocks noGrp="1"/>
          </p:cNvSpPr>
          <p:nvPr>
            <p:ph type="body" idx="1"/>
          </p:nvPr>
        </p:nvSpPr>
        <p:spPr>
          <a:xfrm>
            <a:off x="117150" y="305696"/>
            <a:ext cx="8909700" cy="16217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b="1" dirty="0"/>
              <a:t>Autonomous System (AS)</a:t>
            </a:r>
            <a:r>
              <a:rPr lang="en-US" altLang="zh-CN" dirty="0"/>
              <a:t>: One or more local networks, all under a single administrative control. Sometimes informally called "domains. Each AS is assigned a unique AS number (ASN).</a:t>
            </a:r>
          </a:p>
          <a:p>
            <a:pPr marL="0" indent="0">
              <a:buNone/>
            </a:pPr>
            <a:r>
              <a:rPr lang="en-US" altLang="zh-CN" b="1" dirty="0"/>
              <a:t>Inter-domain topology</a:t>
            </a:r>
            <a:r>
              <a:rPr lang="en-US" altLang="zh-CN" dirty="0"/>
              <a:t> (or </a:t>
            </a:r>
            <a:r>
              <a:rPr lang="en-US" altLang="zh-CN" b="1" dirty="0"/>
              <a:t>AS graph</a:t>
            </a:r>
            <a:r>
              <a:rPr lang="en-US" altLang="zh-CN" dirty="0"/>
              <a:t>): A graph of </a:t>
            </a:r>
            <a:r>
              <a:rPr lang="en-US" altLang="zh-CN" dirty="0" err="1"/>
              <a:t>ASes</a:t>
            </a:r>
            <a:r>
              <a:rPr lang="en-US" altLang="zh-CN" dirty="0"/>
              <a:t>, with the individual routers and hosts abstracted away. Each node is an AS.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8824F8-7B76-B606-A29C-F0FB4DBFD6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Autonomous Systems</a:t>
            </a:r>
            <a:endParaRPr/>
          </a:p>
        </p:txBody>
      </p:sp>
      <p:sp>
        <p:nvSpPr>
          <p:cNvPr id="354" name="Google Shape;354;p30"/>
          <p:cNvSpPr txBox="1">
            <a:spLocks noGrp="1"/>
          </p:cNvSpPr>
          <p:nvPr>
            <p:ph type="body" idx="1"/>
          </p:nvPr>
        </p:nvSpPr>
        <p:spPr>
          <a:xfrm>
            <a:off x="127251" y="327858"/>
            <a:ext cx="8909700" cy="1240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" dirty="0"/>
              <a:t>New ASNs are assigned by Internet Assigned Numbers Authority (IANA).</a:t>
            </a:r>
          </a:p>
          <a:p>
            <a:pPr marL="0" indent="0">
              <a:buNone/>
            </a:pPr>
            <a:r>
              <a:rPr lang="en-US" dirty="0"/>
              <a:t>Number of </a:t>
            </a:r>
            <a:r>
              <a:rPr lang="en-US" dirty="0" err="1"/>
              <a:t>ASes</a:t>
            </a:r>
            <a:r>
              <a:rPr lang="en-US" dirty="0"/>
              <a:t> increases over time: Over 90,000 today!</a:t>
            </a:r>
          </a:p>
          <a:p>
            <a:pPr marL="0" indent="0">
              <a:buNone/>
            </a:pPr>
            <a:r>
              <a:rPr lang="en-US" dirty="0" err="1"/>
              <a:t>ASes</a:t>
            </a:r>
            <a:r>
              <a:rPr lang="en-US" dirty="0"/>
              <a:t> by country: USA has the most, followed by Brazil.</a:t>
            </a:r>
          </a:p>
          <a:p>
            <a:pPr marL="0" indent="0">
              <a:buNone/>
            </a:pPr>
            <a:endParaRPr lang="en-US"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363" name="Google Shape;36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251" y="1568604"/>
            <a:ext cx="4570610" cy="3512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688" y="1732462"/>
            <a:ext cx="4556262" cy="310907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8EA364-AF1A-C3DA-D5A5-21FB975AA4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Autonomous Systems</a:t>
            </a:r>
            <a:endParaRPr/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180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latin typeface="Roboto"/>
                <a:ea typeface="Roboto"/>
                <a:cs typeface="Roboto"/>
                <a:sym typeface="Roboto"/>
              </a:rPr>
              <a:t>Stub AS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: Only sends/receives packets on behalf of hosts inside the AS.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Similar to end hosts in intra-domain model.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Does not forward packets between other ASes.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Examples: Hofstra Univ, local bank.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Most ASes are this type.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4647750" y="402200"/>
            <a:ext cx="4337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Transit AS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: Forwards packets on behalf of other ASes.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Similar to routers in intra-domain model.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still send/receive packets for hosts inside the AS.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Examples: AT&amp;T, Verizon.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vary in scale (global, regional).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33"/>
          <p:cNvSpPr txBox="1">
            <a:spLocks noGrp="1"/>
          </p:cNvSpPr>
          <p:nvPr>
            <p:ph type="body" idx="2"/>
          </p:nvPr>
        </p:nvSpPr>
        <p:spPr>
          <a:xfrm>
            <a:off x="161125" y="4228825"/>
            <a:ext cx="5155800" cy="7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>
                <a:latin typeface="Roboto"/>
                <a:ea typeface="Roboto"/>
                <a:cs typeface="Roboto"/>
                <a:sym typeface="Roboto"/>
              </a:rPr>
              <a:t>Note: Some modern ASes (e.g. Google, Amazon) blur the line between stub and transit.</a:t>
            </a:r>
            <a:endParaRPr sz="14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3F849D-81D0-103E-3D5A-C5E099CB9B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Business Relationships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84" name="Google Shape;384;p3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E3D459-66ED-3BE2-4CDC-0E68923838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91" name="Google Shape;391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Inter-domain topology is shaped between business relationships between ASes.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different ways for a pair of ASes to be related: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Customer-provider</a:t>
            </a:r>
            <a:r>
              <a:rPr lang="en"/>
              <a:t> relationship: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customer pays the provider.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exchange, the provider offers to forward traffic to/from the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Peering</a:t>
            </a:r>
            <a:r>
              <a:rPr lang="en"/>
              <a:t> relationship: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don't pay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exchange roughly equal traffic.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B2F8CB-A11F-4C24-00FE-2C5B2F0C5D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397" name="Google Shape;39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644387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Representing business relationships in the AS graph: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Provider                     Customer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Peer                    Peer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arrows do not represent direction of packets (e.g. F can send packets to C).</a:t>
            </a:r>
          </a:p>
          <a:p>
            <a:pPr marL="0" lvl="0" indent="0">
              <a:buNone/>
            </a:pPr>
            <a:r>
              <a:rPr lang="en-US" dirty="0"/>
              <a:t>The AS graph forms a hierarchy (all arrows point down).</a:t>
            </a:r>
          </a:p>
          <a:p>
            <a:pPr lvl="0"/>
            <a:r>
              <a:rPr lang="en-US" dirty="0"/>
              <a:t>Service flows down: Higher nodes provide service to lower nodes.</a:t>
            </a:r>
          </a:p>
          <a:p>
            <a:pPr lvl="0">
              <a:spcBef>
                <a:spcPts val="0"/>
              </a:spcBef>
            </a:pPr>
            <a:r>
              <a:rPr lang="en-US" dirty="0"/>
              <a:t>Money flows up: Lower nodes pay money to higher nodes.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8" name="Google Shape;398;p36"/>
          <p:cNvSpPr/>
          <p:nvPr/>
        </p:nvSpPr>
        <p:spPr>
          <a:xfrm>
            <a:off x="5326062" y="1100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6"/>
          <p:cNvSpPr/>
          <p:nvPr/>
        </p:nvSpPr>
        <p:spPr>
          <a:xfrm>
            <a:off x="7164037" y="1100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6"/>
          <p:cNvSpPr/>
          <p:nvPr/>
        </p:nvSpPr>
        <p:spPr>
          <a:xfrm>
            <a:off x="4655412" y="2206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6423212" y="2206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6"/>
          <p:cNvSpPr/>
          <p:nvPr/>
        </p:nvSpPr>
        <p:spPr>
          <a:xfrm>
            <a:off x="7877487" y="22068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6"/>
          <p:cNvSpPr/>
          <p:nvPr/>
        </p:nvSpPr>
        <p:spPr>
          <a:xfrm>
            <a:off x="4655412" y="32144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6"/>
          <p:cNvSpPr/>
          <p:nvPr/>
        </p:nvSpPr>
        <p:spPr>
          <a:xfrm>
            <a:off x="6071987" y="32144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36"/>
          <p:cNvSpPr/>
          <p:nvPr/>
        </p:nvSpPr>
        <p:spPr>
          <a:xfrm>
            <a:off x="7877487" y="321443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6"/>
          <p:cNvCxnSpPr>
            <a:stCxn id="398" idx="4"/>
            <a:endCxn id="400" idx="0"/>
          </p:cNvCxnSpPr>
          <p:nvPr/>
        </p:nvCxnSpPr>
        <p:spPr>
          <a:xfrm flipH="1">
            <a:off x="5140212" y="1653300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7" name="Google Shape;407;p36"/>
          <p:cNvCxnSpPr>
            <a:stCxn id="398" idx="4"/>
            <a:endCxn id="401" idx="0"/>
          </p:cNvCxnSpPr>
          <p:nvPr/>
        </p:nvCxnSpPr>
        <p:spPr>
          <a:xfrm>
            <a:off x="5811012" y="1653300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8" name="Google Shape;408;p36"/>
          <p:cNvCxnSpPr>
            <a:stCxn id="398" idx="6"/>
            <a:endCxn id="399" idx="2"/>
          </p:cNvCxnSpPr>
          <p:nvPr/>
        </p:nvCxnSpPr>
        <p:spPr>
          <a:xfrm>
            <a:off x="6295962" y="1376700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09" name="Google Shape;409;p36"/>
          <p:cNvCxnSpPr>
            <a:stCxn id="400" idx="4"/>
            <a:endCxn id="403" idx="0"/>
          </p:cNvCxnSpPr>
          <p:nvPr/>
        </p:nvCxnSpPr>
        <p:spPr>
          <a:xfrm>
            <a:off x="5140362" y="276002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0" name="Google Shape;410;p36"/>
          <p:cNvCxnSpPr>
            <a:stCxn id="400" idx="5"/>
            <a:endCxn id="404" idx="1"/>
          </p:cNvCxnSpPr>
          <p:nvPr/>
        </p:nvCxnSpPr>
        <p:spPr>
          <a:xfrm>
            <a:off x="5483273" y="2679011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1" name="Google Shape;411;p36"/>
          <p:cNvCxnSpPr>
            <a:stCxn id="401" idx="4"/>
            <a:endCxn id="404" idx="0"/>
          </p:cNvCxnSpPr>
          <p:nvPr/>
        </p:nvCxnSpPr>
        <p:spPr>
          <a:xfrm flipH="1">
            <a:off x="6556862" y="2760025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2" name="Google Shape;412;p36"/>
          <p:cNvCxnSpPr>
            <a:stCxn id="402" idx="4"/>
            <a:endCxn id="405" idx="0"/>
          </p:cNvCxnSpPr>
          <p:nvPr/>
        </p:nvCxnSpPr>
        <p:spPr>
          <a:xfrm>
            <a:off x="8362437" y="2760063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3" name="Google Shape;413;p36"/>
          <p:cNvCxnSpPr>
            <a:stCxn id="401" idx="6"/>
            <a:endCxn id="402" idx="2"/>
          </p:cNvCxnSpPr>
          <p:nvPr/>
        </p:nvCxnSpPr>
        <p:spPr>
          <a:xfrm>
            <a:off x="7393112" y="2483425"/>
            <a:ext cx="484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14" name="Google Shape;414;p36"/>
          <p:cNvCxnSpPr/>
          <p:nvPr/>
        </p:nvCxnSpPr>
        <p:spPr>
          <a:xfrm>
            <a:off x="1576763" y="1442068"/>
            <a:ext cx="10500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5" name="Google Shape;415;p36"/>
          <p:cNvCxnSpPr/>
          <p:nvPr/>
        </p:nvCxnSpPr>
        <p:spPr>
          <a:xfrm>
            <a:off x="1266513" y="1771993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16" name="Google Shape;416;p36"/>
          <p:cNvCxnSpPr>
            <a:stCxn id="399" idx="4"/>
            <a:endCxn id="402" idx="0"/>
          </p:cNvCxnSpPr>
          <p:nvPr/>
        </p:nvCxnSpPr>
        <p:spPr>
          <a:xfrm>
            <a:off x="7648987" y="1653300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78D481-7D7B-2ED2-2346-52AB0EE90E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422" name="Google Shape;422;p37"/>
          <p:cNvSpPr txBox="1">
            <a:spLocks noGrp="1"/>
          </p:cNvSpPr>
          <p:nvPr>
            <p:ph type="body" idx="1"/>
          </p:nvPr>
        </p:nvSpPr>
        <p:spPr>
          <a:xfrm>
            <a:off x="107049" y="312992"/>
            <a:ext cx="4516989" cy="1877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Stub ASes in this graph: F, G, 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 outgoing edges: Not providing service to anybody.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Incoming edge(s) shows who they're buying service from.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3" name="Google Shape;423;p37"/>
          <p:cNvSpPr/>
          <p:nvPr/>
        </p:nvSpPr>
        <p:spPr>
          <a:xfrm>
            <a:off x="938721" y="21983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37"/>
          <p:cNvSpPr/>
          <p:nvPr/>
        </p:nvSpPr>
        <p:spPr>
          <a:xfrm>
            <a:off x="2776696" y="21983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268071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37"/>
          <p:cNvSpPr/>
          <p:nvPr/>
        </p:nvSpPr>
        <p:spPr>
          <a:xfrm>
            <a:off x="2035871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37"/>
          <p:cNvSpPr/>
          <p:nvPr/>
        </p:nvSpPr>
        <p:spPr>
          <a:xfrm>
            <a:off x="3490146" y="330510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37"/>
          <p:cNvSpPr/>
          <p:nvPr/>
        </p:nvSpPr>
        <p:spPr>
          <a:xfrm>
            <a:off x="268071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37"/>
          <p:cNvSpPr/>
          <p:nvPr/>
        </p:nvSpPr>
        <p:spPr>
          <a:xfrm>
            <a:off x="1684646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37"/>
          <p:cNvSpPr/>
          <p:nvPr/>
        </p:nvSpPr>
        <p:spPr>
          <a:xfrm>
            <a:off x="3490146" y="431268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1" name="Google Shape;431;p37"/>
          <p:cNvCxnSpPr>
            <a:stCxn id="423" idx="4"/>
            <a:endCxn id="425" idx="0"/>
          </p:cNvCxnSpPr>
          <p:nvPr/>
        </p:nvCxnSpPr>
        <p:spPr>
          <a:xfrm flipH="1">
            <a:off x="752871" y="2751542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2" name="Google Shape;432;p37"/>
          <p:cNvCxnSpPr>
            <a:stCxn id="423" idx="4"/>
            <a:endCxn id="426" idx="0"/>
          </p:cNvCxnSpPr>
          <p:nvPr/>
        </p:nvCxnSpPr>
        <p:spPr>
          <a:xfrm>
            <a:off x="1423671" y="2751542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3" name="Google Shape;433;p37"/>
          <p:cNvCxnSpPr>
            <a:stCxn id="423" idx="6"/>
            <a:endCxn id="424" idx="2"/>
          </p:cNvCxnSpPr>
          <p:nvPr/>
        </p:nvCxnSpPr>
        <p:spPr>
          <a:xfrm>
            <a:off x="1908621" y="2474942"/>
            <a:ext cx="8682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34" name="Google Shape;434;p37"/>
          <p:cNvCxnSpPr>
            <a:stCxn id="425" idx="4"/>
            <a:endCxn id="428" idx="0"/>
          </p:cNvCxnSpPr>
          <p:nvPr/>
        </p:nvCxnSpPr>
        <p:spPr>
          <a:xfrm>
            <a:off x="753021" y="3858267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5" name="Google Shape;435;p37"/>
          <p:cNvCxnSpPr>
            <a:stCxn id="425" idx="5"/>
            <a:endCxn id="429" idx="1"/>
          </p:cNvCxnSpPr>
          <p:nvPr/>
        </p:nvCxnSpPr>
        <p:spPr>
          <a:xfrm>
            <a:off x="1095932" y="3777253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6" name="Google Shape;436;p37"/>
          <p:cNvCxnSpPr>
            <a:stCxn id="426" idx="4"/>
            <a:endCxn id="429" idx="0"/>
          </p:cNvCxnSpPr>
          <p:nvPr/>
        </p:nvCxnSpPr>
        <p:spPr>
          <a:xfrm flipH="1">
            <a:off x="2169521" y="3858267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7" name="Google Shape;437;p37"/>
          <p:cNvCxnSpPr>
            <a:stCxn id="427" idx="4"/>
            <a:endCxn id="430" idx="0"/>
          </p:cNvCxnSpPr>
          <p:nvPr/>
        </p:nvCxnSpPr>
        <p:spPr>
          <a:xfrm>
            <a:off x="3975096" y="385830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" name="Google Shape;438;p37"/>
          <p:cNvCxnSpPr>
            <a:stCxn id="426" idx="6"/>
            <a:endCxn id="427" idx="2"/>
          </p:cNvCxnSpPr>
          <p:nvPr/>
        </p:nvCxnSpPr>
        <p:spPr>
          <a:xfrm>
            <a:off x="3005771" y="3581667"/>
            <a:ext cx="4845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39" name="Google Shape;439;p37"/>
          <p:cNvCxnSpPr>
            <a:stCxn id="424" idx="4"/>
            <a:endCxn id="427" idx="0"/>
          </p:cNvCxnSpPr>
          <p:nvPr/>
        </p:nvCxnSpPr>
        <p:spPr>
          <a:xfrm>
            <a:off x="3261646" y="2751542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6" name="Google Shape;446;p38"/>
          <p:cNvSpPr/>
          <p:nvPr/>
        </p:nvSpPr>
        <p:spPr>
          <a:xfrm>
            <a:off x="5583104" y="21983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38"/>
          <p:cNvSpPr/>
          <p:nvPr/>
        </p:nvSpPr>
        <p:spPr>
          <a:xfrm>
            <a:off x="7421079" y="21983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8"/>
          <p:cNvSpPr/>
          <p:nvPr/>
        </p:nvSpPr>
        <p:spPr>
          <a:xfrm>
            <a:off x="4912454" y="3305029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8"/>
          <p:cNvSpPr/>
          <p:nvPr/>
        </p:nvSpPr>
        <p:spPr>
          <a:xfrm>
            <a:off x="6680254" y="3305029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38"/>
          <p:cNvSpPr/>
          <p:nvPr/>
        </p:nvSpPr>
        <p:spPr>
          <a:xfrm>
            <a:off x="8134529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38"/>
          <p:cNvSpPr/>
          <p:nvPr/>
        </p:nvSpPr>
        <p:spPr>
          <a:xfrm>
            <a:off x="4912454" y="43126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38"/>
          <p:cNvSpPr/>
          <p:nvPr/>
        </p:nvSpPr>
        <p:spPr>
          <a:xfrm>
            <a:off x="6329029" y="43126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8"/>
          <p:cNvSpPr/>
          <p:nvPr/>
        </p:nvSpPr>
        <p:spPr>
          <a:xfrm>
            <a:off x="8134529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8"/>
          <p:cNvCxnSpPr>
            <a:stCxn id="446" idx="4"/>
            <a:endCxn id="448" idx="0"/>
          </p:cNvCxnSpPr>
          <p:nvPr/>
        </p:nvCxnSpPr>
        <p:spPr>
          <a:xfrm flipH="1">
            <a:off x="5397254" y="2751504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5" name="Google Shape;455;p38"/>
          <p:cNvCxnSpPr>
            <a:stCxn id="446" idx="4"/>
            <a:endCxn id="449" idx="0"/>
          </p:cNvCxnSpPr>
          <p:nvPr/>
        </p:nvCxnSpPr>
        <p:spPr>
          <a:xfrm>
            <a:off x="6068054" y="2751504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6" name="Google Shape;456;p38"/>
          <p:cNvCxnSpPr>
            <a:stCxn id="446" idx="6"/>
            <a:endCxn id="447" idx="2"/>
          </p:cNvCxnSpPr>
          <p:nvPr/>
        </p:nvCxnSpPr>
        <p:spPr>
          <a:xfrm>
            <a:off x="6553004" y="2474904"/>
            <a:ext cx="8682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57" name="Google Shape;457;p38"/>
          <p:cNvCxnSpPr>
            <a:stCxn id="448" idx="4"/>
            <a:endCxn id="451" idx="0"/>
          </p:cNvCxnSpPr>
          <p:nvPr/>
        </p:nvCxnSpPr>
        <p:spPr>
          <a:xfrm>
            <a:off x="5397404" y="3858229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8" name="Google Shape;458;p38"/>
          <p:cNvCxnSpPr>
            <a:stCxn id="448" idx="5"/>
            <a:endCxn id="452" idx="1"/>
          </p:cNvCxnSpPr>
          <p:nvPr/>
        </p:nvCxnSpPr>
        <p:spPr>
          <a:xfrm>
            <a:off x="5740315" y="3777215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9" name="Google Shape;459;p38"/>
          <p:cNvCxnSpPr>
            <a:stCxn id="449" idx="4"/>
            <a:endCxn id="452" idx="0"/>
          </p:cNvCxnSpPr>
          <p:nvPr/>
        </p:nvCxnSpPr>
        <p:spPr>
          <a:xfrm flipH="1">
            <a:off x="6813904" y="3858229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0" name="Google Shape;460;p38"/>
          <p:cNvCxnSpPr>
            <a:stCxn id="450" idx="4"/>
            <a:endCxn id="453" idx="0"/>
          </p:cNvCxnSpPr>
          <p:nvPr/>
        </p:nvCxnSpPr>
        <p:spPr>
          <a:xfrm>
            <a:off x="8619479" y="3858267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1" name="Google Shape;461;p38"/>
          <p:cNvCxnSpPr>
            <a:stCxn id="449" idx="6"/>
            <a:endCxn id="450" idx="2"/>
          </p:cNvCxnSpPr>
          <p:nvPr/>
        </p:nvCxnSpPr>
        <p:spPr>
          <a:xfrm>
            <a:off x="7650154" y="3581629"/>
            <a:ext cx="4845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62" name="Google Shape;462;p38"/>
          <p:cNvCxnSpPr>
            <a:stCxn id="447" idx="4"/>
            <a:endCxn id="450" idx="0"/>
          </p:cNvCxnSpPr>
          <p:nvPr/>
        </p:nvCxnSpPr>
        <p:spPr>
          <a:xfrm>
            <a:off x="7906029" y="2751504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Google Shape;422;p37">
            <a:extLst>
              <a:ext uri="{FF2B5EF4-FFF2-40B4-BE49-F238E27FC236}">
                <a16:creationId xmlns:a16="http://schemas.microsoft.com/office/drawing/2014/main" id="{F0BD812E-7BA8-5918-6158-340E910205C6}"/>
              </a:ext>
            </a:extLst>
          </p:cNvPr>
          <p:cNvSpPr txBox="1">
            <a:spLocks/>
          </p:cNvSpPr>
          <p:nvPr/>
        </p:nvSpPr>
        <p:spPr>
          <a:xfrm>
            <a:off x="4688546" y="334128"/>
            <a:ext cx="4455454" cy="1350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SzPts val="1100"/>
              <a:buNone/>
            </a:pPr>
            <a:r>
              <a:rPr lang="en-US" dirty="0"/>
              <a:t>Transit </a:t>
            </a:r>
            <a:r>
              <a:rPr lang="en-US" dirty="0" err="1"/>
              <a:t>ASes</a:t>
            </a:r>
            <a:r>
              <a:rPr lang="en-US" dirty="0"/>
              <a:t> in this graph: A, B, C, D, E.</a:t>
            </a:r>
          </a:p>
          <a:p>
            <a:pPr marL="0" lvl="0" indent="0">
              <a:buNone/>
            </a:pPr>
            <a:r>
              <a:rPr lang="en-US" dirty="0"/>
              <a:t>Outgoing edges indicate they're providing service to somebody.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BFC852-39B2-FA1A-86BC-5C22254127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is Acyclic</a:t>
            </a:r>
            <a:endParaRPr/>
          </a:p>
        </p:txBody>
      </p:sp>
      <p:sp>
        <p:nvSpPr>
          <p:cNvPr id="468" name="Google Shape;468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AS graph has no cycles.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cycle means you're paying yourself, which doesn't make sense.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cycle of peering relationships is okay.</a:t>
            </a:r>
            <a:endParaRPr dirty="0"/>
          </a:p>
        </p:txBody>
      </p:sp>
      <p:sp>
        <p:nvSpPr>
          <p:cNvPr id="469" name="Google Shape;469;p39"/>
          <p:cNvSpPr/>
          <p:nvPr/>
        </p:nvSpPr>
        <p:spPr>
          <a:xfrm>
            <a:off x="2290413" y="25072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9"/>
          <p:cNvSpPr/>
          <p:nvPr/>
        </p:nvSpPr>
        <p:spPr>
          <a:xfrm>
            <a:off x="1484763" y="36135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3095988" y="36135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9"/>
          <p:cNvCxnSpPr>
            <a:stCxn id="469" idx="3"/>
            <a:endCxn id="470" idx="0"/>
          </p:cNvCxnSpPr>
          <p:nvPr/>
        </p:nvCxnSpPr>
        <p:spPr>
          <a:xfrm flipH="1">
            <a:off x="1969851" y="2979386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3" name="Google Shape;473;p39"/>
          <p:cNvCxnSpPr>
            <a:stCxn id="471" idx="0"/>
            <a:endCxn id="469" idx="5"/>
          </p:cNvCxnSpPr>
          <p:nvPr/>
        </p:nvCxnSpPr>
        <p:spPr>
          <a:xfrm rot="10800000">
            <a:off x="3118338" y="2979375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4" name="Google Shape;474;p39"/>
          <p:cNvCxnSpPr>
            <a:stCxn id="475" idx="0"/>
            <a:endCxn id="476" idx="3"/>
          </p:cNvCxnSpPr>
          <p:nvPr/>
        </p:nvCxnSpPr>
        <p:spPr>
          <a:xfrm rot="10800000" flipH="1">
            <a:off x="5542838" y="2938863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77" name="Google Shape;477;p39"/>
          <p:cNvCxnSpPr>
            <a:stCxn id="470" idx="6"/>
            <a:endCxn id="471" idx="2"/>
          </p:cNvCxnSpPr>
          <p:nvPr/>
        </p:nvCxnSpPr>
        <p:spPr>
          <a:xfrm>
            <a:off x="2454663" y="3890175"/>
            <a:ext cx="641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6" name="Google Shape;476;p39"/>
          <p:cNvSpPr/>
          <p:nvPr/>
        </p:nvSpPr>
        <p:spPr>
          <a:xfrm>
            <a:off x="5863538" y="24666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9"/>
          <p:cNvSpPr/>
          <p:nvPr/>
        </p:nvSpPr>
        <p:spPr>
          <a:xfrm>
            <a:off x="5057888" y="35730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6669113" y="35730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9" name="Google Shape;479;p39"/>
          <p:cNvCxnSpPr>
            <a:stCxn id="478" idx="0"/>
            <a:endCxn id="476" idx="5"/>
          </p:cNvCxnSpPr>
          <p:nvPr/>
        </p:nvCxnSpPr>
        <p:spPr>
          <a:xfrm rot="10800000">
            <a:off x="6691463" y="2938863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80" name="Google Shape;480;p39"/>
          <p:cNvCxnSpPr>
            <a:stCxn id="478" idx="2"/>
            <a:endCxn id="475" idx="6"/>
          </p:cNvCxnSpPr>
          <p:nvPr/>
        </p:nvCxnSpPr>
        <p:spPr>
          <a:xfrm rot="10800000">
            <a:off x="6027713" y="3849663"/>
            <a:ext cx="6414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1" name="Google Shape;481;p39"/>
          <p:cNvSpPr txBox="1">
            <a:spLocks noGrp="1"/>
          </p:cNvSpPr>
          <p:nvPr>
            <p:ph type="body" idx="1"/>
          </p:nvPr>
        </p:nvSpPr>
        <p:spPr>
          <a:xfrm>
            <a:off x="1484775" y="4305025"/>
            <a:ext cx="25812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39"/>
          <p:cNvSpPr txBox="1">
            <a:spLocks noGrp="1"/>
          </p:cNvSpPr>
          <p:nvPr>
            <p:ph type="body" idx="1"/>
          </p:nvPr>
        </p:nvSpPr>
        <p:spPr>
          <a:xfrm>
            <a:off x="5057825" y="4305025"/>
            <a:ext cx="25812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FC93AC-4C30-0106-71C5-26423D862C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Tier 1 ASes</a:t>
            </a:r>
            <a:endParaRPr dirty="0"/>
          </a:p>
        </p:txBody>
      </p:sp>
      <p:sp>
        <p:nvSpPr>
          <p:cNvPr id="511" name="Google Shape;511;p41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4297803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b="1" dirty="0"/>
              <a:t>Tier 1 ASes</a:t>
            </a:r>
            <a:r>
              <a:rPr lang="en" sz="1600" dirty="0"/>
              <a:t>: ASes at the top of the hierarchy.</a:t>
            </a:r>
            <a:endParaRPr sz="16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/>
              <a:t>A Tier 1 AS: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Has no providers (no incoming edges).</a:t>
            </a:r>
            <a:endParaRPr sz="16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Has a peering relationship with every other Tier 1 AS.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This helps ensure the AS graph is connected (no disconnected components).</a:t>
            </a:r>
          </a:p>
          <a:p>
            <a:pPr lvl="0"/>
            <a:r>
              <a:rPr lang="en-US" sz="1600" dirty="0"/>
              <a:t>~20 Tier 1 </a:t>
            </a:r>
            <a:r>
              <a:rPr lang="en-US" sz="1600" dirty="0" err="1"/>
              <a:t>ASes</a:t>
            </a:r>
            <a:r>
              <a:rPr lang="en-US" sz="1600" dirty="0"/>
              <a:t> in real life.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USA: AT&amp;T, Verizon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Europe: Telecom Italia, France Telecom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Asia: NTT Communications (Japan)</a:t>
            </a:r>
          </a:p>
          <a:p>
            <a:pPr lvl="0">
              <a:spcBef>
                <a:spcPts val="0"/>
              </a:spcBef>
            </a:pPr>
            <a:r>
              <a:rPr lang="en-US" sz="1600" dirty="0"/>
              <a:t>These companies usually own infrastructure spanning the whole world.</a:t>
            </a:r>
          </a:p>
        </p:txBody>
      </p:sp>
      <p:sp>
        <p:nvSpPr>
          <p:cNvPr id="512" name="Google Shape;512;p41"/>
          <p:cNvSpPr/>
          <p:nvPr/>
        </p:nvSpPr>
        <p:spPr>
          <a:xfrm>
            <a:off x="4391100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1"/>
          <p:cNvSpPr/>
          <p:nvPr/>
        </p:nvSpPr>
        <p:spPr>
          <a:xfrm>
            <a:off x="6229075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1"/>
          <p:cNvCxnSpPr>
            <a:stCxn id="512" idx="4"/>
          </p:cNvCxnSpPr>
          <p:nvPr/>
        </p:nvCxnSpPr>
        <p:spPr>
          <a:xfrm flipH="1">
            <a:off x="4070250" y="2471757"/>
            <a:ext cx="805800" cy="803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5" name="Google Shape;515;p41"/>
          <p:cNvCxnSpPr>
            <a:stCxn id="512" idx="4"/>
          </p:cNvCxnSpPr>
          <p:nvPr/>
        </p:nvCxnSpPr>
        <p:spPr>
          <a:xfrm>
            <a:off x="4876050" y="2471757"/>
            <a:ext cx="8301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41"/>
          <p:cNvCxnSpPr>
            <a:stCxn id="512" idx="6"/>
            <a:endCxn id="513" idx="2"/>
          </p:cNvCxnSpPr>
          <p:nvPr/>
        </p:nvCxnSpPr>
        <p:spPr>
          <a:xfrm>
            <a:off x="5361000" y="2195157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17" name="Google Shape;517;p41"/>
          <p:cNvCxnSpPr>
            <a:stCxn id="513" idx="4"/>
          </p:cNvCxnSpPr>
          <p:nvPr/>
        </p:nvCxnSpPr>
        <p:spPr>
          <a:xfrm>
            <a:off x="6714025" y="2471757"/>
            <a:ext cx="479400" cy="902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8" name="Google Shape;518;p41"/>
          <p:cNvSpPr/>
          <p:nvPr/>
        </p:nvSpPr>
        <p:spPr>
          <a:xfrm>
            <a:off x="8067050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9" name="Google Shape;519;p41"/>
          <p:cNvCxnSpPr>
            <a:stCxn id="513" idx="4"/>
          </p:cNvCxnSpPr>
          <p:nvPr/>
        </p:nvCxnSpPr>
        <p:spPr>
          <a:xfrm flipH="1">
            <a:off x="6251725" y="2471757"/>
            <a:ext cx="4623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" name="Google Shape;520;p41"/>
          <p:cNvCxnSpPr>
            <a:stCxn id="512" idx="4"/>
          </p:cNvCxnSpPr>
          <p:nvPr/>
        </p:nvCxnSpPr>
        <p:spPr>
          <a:xfrm>
            <a:off x="4876050" y="2471757"/>
            <a:ext cx="0" cy="840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41"/>
          <p:cNvCxnSpPr>
            <a:stCxn id="518" idx="4"/>
          </p:cNvCxnSpPr>
          <p:nvPr/>
        </p:nvCxnSpPr>
        <p:spPr>
          <a:xfrm>
            <a:off x="8552000" y="2471757"/>
            <a:ext cx="479400" cy="902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" name="Google Shape;522;p41"/>
          <p:cNvCxnSpPr>
            <a:stCxn id="518" idx="4"/>
          </p:cNvCxnSpPr>
          <p:nvPr/>
        </p:nvCxnSpPr>
        <p:spPr>
          <a:xfrm flipH="1">
            <a:off x="8089700" y="2471757"/>
            <a:ext cx="4623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3" name="Google Shape;523;p41"/>
          <p:cNvCxnSpPr>
            <a:stCxn id="513" idx="6"/>
            <a:endCxn id="518" idx="2"/>
          </p:cNvCxnSpPr>
          <p:nvPr/>
        </p:nvCxnSpPr>
        <p:spPr>
          <a:xfrm>
            <a:off x="7198975" y="2195157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24" name="Google Shape;524;p41"/>
          <p:cNvCxnSpPr>
            <a:stCxn id="512" idx="0"/>
          </p:cNvCxnSpPr>
          <p:nvPr/>
        </p:nvCxnSpPr>
        <p:spPr>
          <a:xfrm rot="10800000">
            <a:off x="4876050" y="1539657"/>
            <a:ext cx="0" cy="3789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525" name="Google Shape;525;p41"/>
          <p:cNvCxnSpPr>
            <a:stCxn id="518" idx="0"/>
          </p:cNvCxnSpPr>
          <p:nvPr/>
        </p:nvCxnSpPr>
        <p:spPr>
          <a:xfrm rot="10800000">
            <a:off x="8552000" y="1539657"/>
            <a:ext cx="0" cy="3789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526" name="Google Shape;526;p41"/>
          <p:cNvCxnSpPr/>
          <p:nvPr/>
        </p:nvCxnSpPr>
        <p:spPr>
          <a:xfrm>
            <a:off x="4889803" y="1553603"/>
            <a:ext cx="3676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4A4F72-E4C2-F7E8-7438-0C6D70D57A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AS Graphs</a:t>
            </a:r>
            <a:endParaRPr/>
          </a:p>
        </p:txBody>
      </p:sp>
      <p:sp>
        <p:nvSpPr>
          <p:cNvPr id="538" name="Google Shape;53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Every non-Tier 1 AS has at least one provider (incoming edge).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at any AS and walking up the graph will eventually lead to a Tier 1 AS.</a:t>
            </a:r>
            <a:endParaRPr dirty="0"/>
          </a:p>
        </p:txBody>
      </p:sp>
      <p:sp>
        <p:nvSpPr>
          <p:cNvPr id="539" name="Google Shape;539;p43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43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43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3"/>
          <p:cNvCxnSpPr>
            <a:stCxn id="539" idx="4"/>
            <a:endCxn id="541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8" name="Google Shape;548;p43"/>
          <p:cNvCxnSpPr>
            <a:stCxn id="539" idx="4"/>
            <a:endCxn id="542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9" name="Google Shape;549;p43"/>
          <p:cNvCxnSpPr>
            <a:stCxn id="539" idx="6"/>
            <a:endCxn id="540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50" name="Google Shape;550;p43"/>
          <p:cNvCxnSpPr>
            <a:stCxn id="541" idx="4"/>
            <a:endCxn id="544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1" name="Google Shape;551;p43"/>
          <p:cNvCxnSpPr>
            <a:stCxn id="541" idx="5"/>
            <a:endCxn id="545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2" name="Google Shape;552;p43"/>
          <p:cNvCxnSpPr>
            <a:stCxn id="542" idx="4"/>
            <a:endCxn id="545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3" name="Google Shape;553;p43"/>
          <p:cNvCxnSpPr>
            <a:stCxn id="543" idx="4"/>
            <a:endCxn id="546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4" name="Google Shape;554;p43"/>
          <p:cNvCxnSpPr>
            <a:stCxn id="542" idx="6"/>
            <a:endCxn id="543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55" name="Google Shape;555;p43"/>
          <p:cNvCxnSpPr>
            <a:stCxn id="540" idx="4"/>
            <a:endCxn id="543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26788-10D8-2B5D-DFD9-C5E3BDB0E4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Policy-Based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61" name="Google Shape;561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Goals of Inter-Domain Routing:</a:t>
            </a:r>
            <a:br>
              <a:rPr lang="en" sz="2800"/>
            </a:br>
            <a:r>
              <a:rPr lang="en" sz="2800"/>
              <a:t>Policy-Based Routing</a:t>
            </a:r>
            <a:endParaRPr sz="2800"/>
          </a:p>
        </p:txBody>
      </p:sp>
      <p:sp>
        <p:nvSpPr>
          <p:cNvPr id="562" name="Google Shape;562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78FBA9-92D3-4E45-0865-8B042D20B3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Inter-Domain Routing</a:t>
            </a:r>
            <a:endParaRPr/>
          </a:p>
        </p:txBody>
      </p:sp>
      <p:sp>
        <p:nvSpPr>
          <p:cNvPr id="568" name="Google Shape;568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Scalability: Routing must scale to the entire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Solution: Hierarchical IP addressing.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Privacy: ASes don't want to explicitly announce sensitive information.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shouldn't have to tell everybody who my provider is.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Companies might not want to reveal information to rivals.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Autonomy: ASes want the freedom to choose their own policies.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Policy is usually based on business goals.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848299-0BB4-D427-376B-740EB1F823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74" name="Google Shape;574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Autonomy: ASes want the freedom to choose their own </a:t>
            </a:r>
            <a:r>
              <a:rPr lang="en" b="1"/>
              <a:t>policies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Valid paths: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No loops, no dead ends.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definition: Same.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Good paths: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Least-cost paths.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definitions: Paths that respect every AS's policies.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FC1E6A-097D-C0A8-0F36-FB403AD235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80" name="Google Shape;5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Autonomy: ASes want the freedom to choose their own </a:t>
            </a:r>
            <a:r>
              <a:rPr lang="en" b="1" dirty="0"/>
              <a:t>policies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Examples of policies: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Define how I will handle traffic from others: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don't want to carry AS#2046's traffic through my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Defines how others should handle my traffic: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prefer if my traffic was carried by AS#10 instead of AS#4.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Don't send my traffic through AS#54 unless absolutely necessary.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find paths that respect every AS's policies.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8874B9-C9D1-2F9D-626D-41FD08ADEA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Gao-Rexford Rules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86" name="Google Shape;586;p4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</a:t>
            </a:r>
            <a:endParaRPr/>
          </a:p>
        </p:txBody>
      </p:sp>
      <p:sp>
        <p:nvSpPr>
          <p:cNvPr id="587" name="Google Shape;587;p4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6B96-247B-2258-21A2-DEB47F3EA0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Gao-Rexford Rules: Choosing Routes</a:t>
            </a:r>
            <a:endParaRPr dirty="0"/>
          </a:p>
        </p:txBody>
      </p:sp>
      <p:sp>
        <p:nvSpPr>
          <p:cNvPr id="593" name="Google Shape;593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Most ASes follow standard conventions: </a:t>
            </a:r>
            <a:r>
              <a:rPr lang="en" b="1" dirty="0"/>
              <a:t>Gao-Rexford Rules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These conventions reflect real-world business practices: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Making money is good.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Don't do work for free.</a:t>
            </a:r>
          </a:p>
          <a:p>
            <a:pPr marL="0" lvl="0" indent="0">
              <a:buNone/>
            </a:pPr>
            <a:r>
              <a:rPr lang="en-US" dirty="0"/>
              <a:t>Distance-vector protocol: Prefer the </a:t>
            </a:r>
            <a:r>
              <a:rPr lang="en-US" i="1" dirty="0"/>
              <a:t>shortest</a:t>
            </a:r>
            <a:r>
              <a:rPr lang="en-US" dirty="0"/>
              <a:t> path.</a:t>
            </a:r>
          </a:p>
          <a:p>
            <a:pPr marL="0" lvl="0" indent="0">
              <a:buNone/>
            </a:pPr>
            <a:r>
              <a:rPr lang="en-US" dirty="0"/>
              <a:t>Gao-Rexford rules: Prefer the </a:t>
            </a:r>
            <a:r>
              <a:rPr lang="en-US" i="1" dirty="0"/>
              <a:t>most profitable</a:t>
            </a:r>
            <a:r>
              <a:rPr lang="en-US" dirty="0"/>
              <a:t> path.</a:t>
            </a:r>
          </a:p>
          <a:p>
            <a:pPr lvl="0"/>
            <a:r>
              <a:rPr lang="en-US" dirty="0"/>
              <a:t>Best: Path where the next hop is a customer. (They pay me.)</a:t>
            </a:r>
          </a:p>
          <a:p>
            <a:pPr lvl="0">
              <a:spcBef>
                <a:spcPts val="0"/>
              </a:spcBef>
            </a:pPr>
            <a:r>
              <a:rPr lang="en-US" dirty="0"/>
              <a:t>Less good: Path where the next hop is a peer. (I don't make money.)</a:t>
            </a:r>
          </a:p>
          <a:p>
            <a:pPr lvl="0">
              <a:spcBef>
                <a:spcPts val="0"/>
              </a:spcBef>
            </a:pPr>
            <a:r>
              <a:rPr lang="en-US" dirty="0"/>
              <a:t>Worst: Path where the next hop is a provider. (I have to pay.)</a:t>
            </a:r>
          </a:p>
          <a:p>
            <a:pPr marL="0" lvl="0" indent="0">
              <a:buNone/>
            </a:pPr>
            <a:r>
              <a:rPr lang="en-US" dirty="0"/>
              <a:t>Reflects real-world business practice: Making money is good.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14AF6F-BB12-7F29-608B-F4514D321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08" name="Google Shape;608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lang="en" i="1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09" name="Google Shape;609;p51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0" name="Google Shape;610;p51"/>
          <p:cNvCxnSpPr>
            <a:stCxn id="609" idx="6"/>
            <a:endCxn id="611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612" name="Google Shape;612;p51"/>
          <p:cNvCxnSpPr>
            <a:stCxn id="613" idx="2"/>
            <a:endCxn id="609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4" name="Google Shape;614;p51"/>
          <p:cNvCxnSpPr>
            <a:stCxn id="609" idx="5"/>
            <a:endCxn id="615" idx="2"/>
          </p:cNvCxnSpPr>
          <p:nvPr/>
        </p:nvCxnSpPr>
        <p:spPr>
          <a:xfrm>
            <a:off x="3837724" y="3296536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3" name="Google Shape;613;p51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1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51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51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C, because C will pay me to forward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51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51"/>
          <p:cNvCxnSpPr>
            <a:stCxn id="617" idx="0"/>
            <a:endCxn id="613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0" name="Google Shape;620;p51"/>
          <p:cNvCxnSpPr>
            <a:stCxn id="617" idx="4"/>
            <a:endCxn id="615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B02CE6-FA9D-9051-0D35-E2FD2AC18E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cxnSp>
        <p:nvCxnSpPr>
          <p:cNvPr id="3" name="Google Shape;610;p51">
            <a:extLst>
              <a:ext uri="{FF2B5EF4-FFF2-40B4-BE49-F238E27FC236}">
                <a16:creationId xmlns:a16="http://schemas.microsoft.com/office/drawing/2014/main" id="{A9400459-8DB4-99AD-43D4-325462C29B1C}"/>
              </a:ext>
            </a:extLst>
          </p:cNvPr>
          <p:cNvCxnSpPr>
            <a:cxnSpLocks/>
            <a:stCxn id="611" idx="6"/>
          </p:cNvCxnSpPr>
          <p:nvPr/>
        </p:nvCxnSpPr>
        <p:spPr>
          <a:xfrm>
            <a:off x="7057675" y="3100950"/>
            <a:ext cx="918913" cy="98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26" name="Google Shape;62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lang="en" i="1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27" name="Google Shape;627;p52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8" name="Google Shape;628;p52"/>
          <p:cNvCxnSpPr>
            <a:stCxn id="627" idx="6"/>
            <a:endCxn id="629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630" name="Google Shape;630;p52"/>
          <p:cNvCxnSpPr>
            <a:stCxn id="631" idx="2"/>
            <a:endCxn id="627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1" name="Google Shape;631;p52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52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52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52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B. I don't make money, but at least I don't have to pay.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4" name="Google Shape;634;p52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5" name="Google Shape;635;p52"/>
          <p:cNvCxnSpPr>
            <a:stCxn id="634" idx="0"/>
            <a:endCxn id="631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7" name="Google Shape;637;p52"/>
          <p:cNvCxnSpPr>
            <a:stCxn id="634" idx="4"/>
            <a:endCxn id="632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6D1D0D-D905-E06D-9DF5-8C00ECB16B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  <p:cxnSp>
        <p:nvCxnSpPr>
          <p:cNvPr id="3" name="Google Shape;610;p51">
            <a:extLst>
              <a:ext uri="{FF2B5EF4-FFF2-40B4-BE49-F238E27FC236}">
                <a16:creationId xmlns:a16="http://schemas.microsoft.com/office/drawing/2014/main" id="{EF7431F5-09E7-2537-AE74-FBB7AF8DD16E}"/>
              </a:ext>
            </a:extLst>
          </p:cNvPr>
          <p:cNvCxnSpPr>
            <a:cxnSpLocks/>
          </p:cNvCxnSpPr>
          <p:nvPr/>
        </p:nvCxnSpPr>
        <p:spPr>
          <a:xfrm>
            <a:off x="7057675" y="3100950"/>
            <a:ext cx="918913" cy="98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Participating in Routes</a:t>
            </a:r>
            <a:endParaRPr/>
          </a:p>
        </p:txBody>
      </p:sp>
      <p:sp>
        <p:nvSpPr>
          <p:cNvPr id="643" name="Google Shape;64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protocol: I am okay with participating in any route.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"Participating": Being one of the routers forwarding packets along a path.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Gao-Rexford rules: I will only participate in routes where I get paid.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Reflects real-world business relationship: Don't do work for free.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check if I get paid: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Look at my two neighbors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I get paid if and only if one of my neighbors is a customer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3C8CEB-E97A-2C3B-1782-D455E90AEF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49" name="Google Shape;649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50" name="Google Shape;650;p54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1" name="Google Shape;651;p54"/>
          <p:cNvCxnSpPr>
            <a:stCxn id="650" idx="5"/>
            <a:endCxn id="652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3" name="Google Shape;653;p54"/>
          <p:cNvCxnSpPr>
            <a:stCxn id="654" idx="6"/>
            <a:endCxn id="650" idx="3"/>
          </p:cNvCxnSpPr>
          <p:nvPr/>
        </p:nvCxnSpPr>
        <p:spPr>
          <a:xfrm rot="10800000" flipH="1">
            <a:off x="2675975" y="36784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652" name="Google Shape;652;p54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54"/>
          <p:cNvSpPr/>
          <p:nvPr/>
        </p:nvSpPr>
        <p:spPr>
          <a:xfrm>
            <a:off x="84987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54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6" name="Google Shape;656;p54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54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and C are both paying me. I'm gonna be rich!!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54"/>
          <p:cNvCxnSpPr/>
          <p:nvPr/>
        </p:nvCxnSpPr>
        <p:spPr>
          <a:xfrm>
            <a:off x="368150" y="4244875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54"/>
          <p:cNvCxnSpPr>
            <a:stCxn id="652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60" name="Google Shape;660;p54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61" name="Google Shape;661;p54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A93EFB-F87C-F59F-597E-9F4514B5B0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67" name="Google Shape;6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9" name="Google Shape;669;p55"/>
          <p:cNvCxnSpPr>
            <a:stCxn id="668" idx="5"/>
            <a:endCxn id="670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1" name="Google Shape;671;p55"/>
          <p:cNvCxnSpPr>
            <a:stCxn id="672" idx="6"/>
            <a:endCxn id="668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70" name="Google Shape;670;p55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55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3" name="Google Shape;673;p55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4" name="Google Shape;674;p55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55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is not paying me, but at least C is paying me.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55"/>
          <p:cNvCxnSpPr>
            <a:endCxn id="672" idx="2"/>
          </p:cNvCxnSpPr>
          <p:nvPr/>
        </p:nvCxnSpPr>
        <p:spPr>
          <a:xfrm>
            <a:off x="36807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55"/>
          <p:cNvCxnSpPr>
            <a:stCxn id="670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78" name="Google Shape;678;p55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79" name="Google Shape;679;p55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0A766F-9519-2949-378E-DDB886EECF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85" name="Google Shape;685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9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this scenario: I get paid by C, but I have to pay 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should still participate because this is how I offer service to my customers.</a:t>
            </a:r>
            <a:endParaRPr/>
          </a:p>
        </p:txBody>
      </p:sp>
      <p:sp>
        <p:nvSpPr>
          <p:cNvPr id="686" name="Google Shape;686;p56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7" name="Google Shape;687;p56"/>
          <p:cNvCxnSpPr>
            <a:stCxn id="686" idx="5"/>
            <a:endCxn id="688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9" name="Google Shape;689;p56"/>
          <p:cNvCxnSpPr>
            <a:stCxn id="690" idx="6"/>
            <a:endCxn id="686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88" name="Google Shape;688;p56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56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1" name="Google Shape;691;p56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92" name="Google Shape;692;p56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56"/>
          <p:cNvSpPr/>
          <p:nvPr/>
        </p:nvSpPr>
        <p:spPr>
          <a:xfrm>
            <a:off x="3804925" y="2367450"/>
            <a:ext cx="3110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I'm getting paid by C. I might have to send some of it to A but that's okay.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56"/>
          <p:cNvCxnSpPr>
            <a:endCxn id="690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56"/>
          <p:cNvCxnSpPr>
            <a:stCxn id="688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96" name="Google Shape;696;p56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97" name="Google Shape;697;p56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2BEB77-FF19-FEAD-00E7-C6B201BD16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03" name="Google Shape;703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6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 get paid and participate if and only if at least one of my neighbors is a customer.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Peers do not provide transit between other peers.</a:t>
            </a:r>
            <a:endParaRPr dirty="0"/>
          </a:p>
        </p:txBody>
      </p:sp>
      <p:sp>
        <p:nvSpPr>
          <p:cNvPr id="704" name="Google Shape;704;p57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5" name="Google Shape;705;p57"/>
          <p:cNvCxnSpPr>
            <a:stCxn id="704" idx="6"/>
            <a:endCxn id="706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707" name="Google Shape;707;p57"/>
          <p:cNvCxnSpPr>
            <a:stCxn id="708" idx="6"/>
            <a:endCxn id="704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706" name="Google Shape;706;p57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57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57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is paying me to do this. I won't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0" name="Google Shape;710;p57"/>
          <p:cNvCxnSpPr/>
          <p:nvPr/>
        </p:nvCxnSpPr>
        <p:spPr>
          <a:xfrm>
            <a:off x="368150" y="3482875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11" name="Google Shape;711;p57"/>
          <p:cNvCxnSpPr>
            <a:stCxn id="706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2" name="Google Shape;712;p57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13" name="Google Shape;713;p57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57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15" name="Google Shape;715;p57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6DD935-05A8-47BF-9609-F0F8A3C03F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21" name="Google Shape;721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one of my neighbors is a peer, the other neighbor must be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AS only carries traffic to/from its own customers over a peering link.</a:t>
            </a:r>
            <a:endParaRPr/>
          </a:p>
        </p:txBody>
      </p:sp>
      <p:sp>
        <p:nvSpPr>
          <p:cNvPr id="722" name="Google Shape;722;p58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3" name="Google Shape;723;p58"/>
          <p:cNvCxnSpPr>
            <a:stCxn id="722" idx="6"/>
            <a:endCxn id="724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725" name="Google Shape;725;p58"/>
          <p:cNvCxnSpPr>
            <a:stCxn id="726" idx="6"/>
            <a:endCxn id="722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58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7" name="Google Shape;727;p58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8" name="Google Shape;728;p58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58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A, and I am not paid by C. 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0" name="Google Shape;730;p58"/>
          <p:cNvCxnSpPr>
            <a:endCxn id="726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31" name="Google Shape;731;p58"/>
          <p:cNvCxnSpPr>
            <a:stCxn id="724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32" name="Google Shape;732;p58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33" name="Google Shape;733;p58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862BC2-4F08-E13F-2BA8-476A04EFA8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39" name="Google Shape;739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are </a:t>
            </a:r>
            <a:r>
              <a:rPr lang="en" b="1"/>
              <a:t>valley-free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Travelling downhill, and turning around and going back uphill is not allowed.</a:t>
            </a:r>
            <a:endParaRPr/>
          </a:p>
        </p:txBody>
      </p:sp>
      <p:sp>
        <p:nvSpPr>
          <p:cNvPr id="740" name="Google Shape;740;p59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1" name="Google Shape;741;p59"/>
          <p:cNvCxnSpPr>
            <a:stCxn id="740" idx="6"/>
            <a:endCxn id="742" idx="2"/>
          </p:cNvCxnSpPr>
          <p:nvPr/>
        </p:nvCxnSpPr>
        <p:spPr>
          <a:xfrm rot="10800000" flipH="1">
            <a:off x="4523538" y="2720873"/>
            <a:ext cx="877800" cy="7620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743" name="Google Shape;743;p59"/>
          <p:cNvCxnSpPr>
            <a:stCxn id="744" idx="6"/>
            <a:endCxn id="740" idx="2"/>
          </p:cNvCxnSpPr>
          <p:nvPr/>
        </p:nvCxnSpPr>
        <p:spPr>
          <a:xfrm>
            <a:off x="2675975" y="2720873"/>
            <a:ext cx="877800" cy="762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2" name="Google Shape;742;p59"/>
          <p:cNvSpPr/>
          <p:nvPr/>
        </p:nvSpPr>
        <p:spPr>
          <a:xfrm>
            <a:off x="540122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59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5" name="Google Shape;745;p59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6" name="Google Shape;746;p59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59"/>
          <p:cNvSpPr/>
          <p:nvPr/>
        </p:nvSpPr>
        <p:spPr>
          <a:xfrm>
            <a:off x="716700" y="3573575"/>
            <a:ext cx="2583300" cy="659400"/>
          </a:xfrm>
          <a:prstGeom prst="wedgeRoundRectCallout">
            <a:avLst>
              <a:gd name="adj1" fmla="val 61178"/>
              <a:gd name="adj2" fmla="val -37822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both A and C. Only a fool would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59"/>
          <p:cNvCxnSpPr>
            <a:endCxn id="744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9"/>
          <p:cNvCxnSpPr>
            <a:stCxn id="742" idx="6"/>
          </p:cNvCxnSpPr>
          <p:nvPr/>
        </p:nvCxnSpPr>
        <p:spPr>
          <a:xfrm>
            <a:off x="722732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50" name="Google Shape;750;p59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51" name="Google Shape;751;p59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592CC5-B748-B2B3-6FC8-8120CEE1DF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57" name="Google Shape;757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</p:txBody>
      </p:sp>
      <p:sp>
        <p:nvSpPr>
          <p:cNvPr id="758" name="Google Shape;758;p60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60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0" name="Google Shape;760;p60"/>
          <p:cNvCxnSpPr>
            <a:stCxn id="758" idx="3"/>
            <a:endCxn id="759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1" name="Google Shape;761;p60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2" name="Google Shape;762;p60"/>
          <p:cNvCxnSpPr>
            <a:stCxn id="758" idx="5"/>
            <a:endCxn id="761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3" name="Google Shape;763;p60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60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5" name="Google Shape;765;p60"/>
          <p:cNvCxnSpPr>
            <a:stCxn id="759" idx="4"/>
            <a:endCxn id="763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6" name="Google Shape;766;p60"/>
          <p:cNvCxnSpPr>
            <a:stCxn id="761" idx="4"/>
            <a:endCxn id="764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7" name="Google Shape;767;p60"/>
          <p:cNvSpPr/>
          <p:nvPr/>
        </p:nvSpPr>
        <p:spPr>
          <a:xfrm>
            <a:off x="37900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7E39AC-7F6A-8CE7-B51B-BD527B469A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73" name="Google Shape;773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774" name="Google Shape;774;p61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61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6" name="Google Shape;776;p61"/>
          <p:cNvCxnSpPr>
            <a:stCxn id="774" idx="3"/>
            <a:endCxn id="775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77" name="Google Shape;777;p61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8" name="Google Shape;778;p61"/>
          <p:cNvCxnSpPr>
            <a:stCxn id="774" idx="5"/>
            <a:endCxn id="777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79" name="Google Shape;779;p61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61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1"/>
          <p:cNvCxnSpPr>
            <a:stCxn id="775" idx="4"/>
            <a:endCxn id="779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2" name="Google Shape;782;p61"/>
          <p:cNvCxnSpPr>
            <a:stCxn id="777" idx="4"/>
            <a:endCxn id="780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3" name="Google Shape;783;p61"/>
          <p:cNvSpPr/>
          <p:nvPr/>
        </p:nvSpPr>
        <p:spPr>
          <a:xfrm>
            <a:off x="37900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84" name="Google Shape;784;p61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paý A.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61"/>
          <p:cNvSpPr/>
          <p:nvPr/>
        </p:nvSpPr>
        <p:spPr>
          <a:xfrm>
            <a:off x="1752600" y="2085250"/>
            <a:ext cx="18954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B and C.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1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name="adj1" fmla="val -59485"/>
              <a:gd name="adj2" fmla="val 3500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</a:p>
          <a:p>
            <a:pPr lvl="0" algn="ctr"/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paý A.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6B9E27-7D21-86C4-1152-0F18A6BEE2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92" name="Google Shape;792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</p:txBody>
      </p:sp>
      <p:sp>
        <p:nvSpPr>
          <p:cNvPr id="793" name="Google Shape;793;p62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62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5" name="Google Shape;795;p62"/>
          <p:cNvCxnSpPr>
            <a:stCxn id="793" idx="3"/>
            <a:endCxn id="794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2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2"/>
          <p:cNvCxnSpPr>
            <a:stCxn id="793" idx="5"/>
            <a:endCxn id="796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8" name="Google Shape;798;p62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62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62"/>
          <p:cNvCxnSpPr>
            <a:stCxn id="794" idx="4"/>
            <a:endCxn id="798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1" name="Google Shape;801;p62"/>
          <p:cNvCxnSpPr>
            <a:stCxn id="796" idx="4"/>
            <a:endCxn id="799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2" name="Google Shape;802;p62"/>
          <p:cNvCxnSpPr>
            <a:stCxn id="796" idx="2"/>
            <a:endCxn id="794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03" name="Google Shape;803;p62"/>
          <p:cNvSpPr/>
          <p:nvPr/>
        </p:nvSpPr>
        <p:spPr>
          <a:xfrm>
            <a:off x="36916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552974-A7B7-6514-4A9B-EE7F65C150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09" name="Google Shape;809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810" name="Google Shape;810;p63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63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2" name="Google Shape;812;p63"/>
          <p:cNvCxnSpPr>
            <a:stCxn id="810" idx="3"/>
            <a:endCxn id="811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13" name="Google Shape;813;p63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63"/>
          <p:cNvCxnSpPr>
            <a:stCxn id="810" idx="5"/>
            <a:endCxn id="813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15" name="Google Shape;815;p63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63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7" name="Google Shape;817;p63"/>
          <p:cNvCxnSpPr>
            <a:stCxn id="811" idx="4"/>
            <a:endCxn id="815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8" name="Google Shape;818;p63"/>
          <p:cNvCxnSpPr>
            <a:stCxn id="813" idx="4"/>
            <a:endCxn id="816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9" name="Google Shape;819;p63"/>
          <p:cNvCxnSpPr>
            <a:stCxn id="813" idx="2"/>
            <a:endCxn id="811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20" name="Google Shape;820;p63"/>
          <p:cNvSpPr/>
          <p:nvPr/>
        </p:nvSpPr>
        <p:spPr>
          <a:xfrm>
            <a:off x="36916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21" name="Google Shape;821;p63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63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name="adj1" fmla="val -59485"/>
              <a:gd name="adj2" fmla="val 3500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4253E2-2298-0096-49A1-358CC62457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28" name="Google Shape;828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the new link, B and C save money (they don't have to pay A anymore).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Trade-off: B and C have to pay to build that link.</a:t>
            </a:r>
            <a:endParaRPr/>
          </a:p>
        </p:txBody>
      </p:sp>
      <p:sp>
        <p:nvSpPr>
          <p:cNvPr id="829" name="Google Shape;829;p64"/>
          <p:cNvSpPr/>
          <p:nvPr/>
        </p:nvSpPr>
        <p:spPr>
          <a:xfrm>
            <a:off x="58993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64"/>
          <p:cNvSpPr/>
          <p:nvPr/>
        </p:nvSpPr>
        <p:spPr>
          <a:xfrm>
            <a:off x="50715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1" name="Google Shape;831;p64"/>
          <p:cNvCxnSpPr>
            <a:stCxn id="829" idx="3"/>
            <a:endCxn id="830" idx="0"/>
          </p:cNvCxnSpPr>
          <p:nvPr/>
        </p:nvCxnSpPr>
        <p:spPr>
          <a:xfrm flipH="1">
            <a:off x="55563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2" name="Google Shape;832;p64"/>
          <p:cNvSpPr/>
          <p:nvPr/>
        </p:nvSpPr>
        <p:spPr>
          <a:xfrm>
            <a:off x="67272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3" name="Google Shape;833;p64"/>
          <p:cNvCxnSpPr>
            <a:stCxn id="829" idx="5"/>
            <a:endCxn id="832" idx="0"/>
          </p:cNvCxnSpPr>
          <p:nvPr/>
        </p:nvCxnSpPr>
        <p:spPr>
          <a:xfrm>
            <a:off x="67272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4" name="Google Shape;834;p64"/>
          <p:cNvSpPr/>
          <p:nvPr/>
        </p:nvSpPr>
        <p:spPr>
          <a:xfrm>
            <a:off x="50715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4"/>
          <p:cNvSpPr/>
          <p:nvPr/>
        </p:nvSpPr>
        <p:spPr>
          <a:xfrm>
            <a:off x="67272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64"/>
          <p:cNvCxnSpPr>
            <a:stCxn id="830" idx="4"/>
            <a:endCxn id="834" idx="0"/>
          </p:cNvCxnSpPr>
          <p:nvPr/>
        </p:nvCxnSpPr>
        <p:spPr>
          <a:xfrm>
            <a:off x="55564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7" name="Google Shape;837;p64"/>
          <p:cNvCxnSpPr>
            <a:stCxn id="832" idx="4"/>
            <a:endCxn id="835" idx="0"/>
          </p:cNvCxnSpPr>
          <p:nvPr/>
        </p:nvCxnSpPr>
        <p:spPr>
          <a:xfrm>
            <a:off x="72121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8" name="Google Shape;838;p64"/>
          <p:cNvCxnSpPr>
            <a:stCxn id="832" idx="2"/>
            <a:endCxn id="830" idx="6"/>
          </p:cNvCxnSpPr>
          <p:nvPr/>
        </p:nvCxnSpPr>
        <p:spPr>
          <a:xfrm rot="10800000">
            <a:off x="60414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39" name="Google Shape;839;p64"/>
          <p:cNvSpPr/>
          <p:nvPr/>
        </p:nvSpPr>
        <p:spPr>
          <a:xfrm>
            <a:off x="57490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40" name="Google Shape;840;p64"/>
          <p:cNvSpPr/>
          <p:nvPr/>
        </p:nvSpPr>
        <p:spPr>
          <a:xfrm>
            <a:off x="20131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4"/>
          <p:cNvSpPr/>
          <p:nvPr/>
        </p:nvSpPr>
        <p:spPr>
          <a:xfrm>
            <a:off x="11853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2" name="Google Shape;842;p64"/>
          <p:cNvCxnSpPr>
            <a:stCxn id="840" idx="3"/>
            <a:endCxn id="841" idx="0"/>
          </p:cNvCxnSpPr>
          <p:nvPr/>
        </p:nvCxnSpPr>
        <p:spPr>
          <a:xfrm flipH="1">
            <a:off x="16701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3" name="Google Shape;843;p64"/>
          <p:cNvSpPr/>
          <p:nvPr/>
        </p:nvSpPr>
        <p:spPr>
          <a:xfrm>
            <a:off x="28410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64"/>
          <p:cNvCxnSpPr>
            <a:stCxn id="840" idx="5"/>
            <a:endCxn id="843" idx="0"/>
          </p:cNvCxnSpPr>
          <p:nvPr/>
        </p:nvCxnSpPr>
        <p:spPr>
          <a:xfrm>
            <a:off x="28410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5" name="Google Shape;845;p64"/>
          <p:cNvSpPr/>
          <p:nvPr/>
        </p:nvSpPr>
        <p:spPr>
          <a:xfrm>
            <a:off x="11853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4"/>
          <p:cNvSpPr/>
          <p:nvPr/>
        </p:nvSpPr>
        <p:spPr>
          <a:xfrm>
            <a:off x="28410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7" name="Google Shape;847;p64"/>
          <p:cNvCxnSpPr>
            <a:stCxn id="841" idx="4"/>
            <a:endCxn id="845" idx="0"/>
          </p:cNvCxnSpPr>
          <p:nvPr/>
        </p:nvCxnSpPr>
        <p:spPr>
          <a:xfrm>
            <a:off x="16702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8" name="Google Shape;848;p64"/>
          <p:cNvCxnSpPr>
            <a:stCxn id="843" idx="4"/>
            <a:endCxn id="846" idx="0"/>
          </p:cNvCxnSpPr>
          <p:nvPr/>
        </p:nvCxnSpPr>
        <p:spPr>
          <a:xfrm>
            <a:off x="33259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9" name="Google Shape;849;p64"/>
          <p:cNvSpPr/>
          <p:nvPr/>
        </p:nvSpPr>
        <p:spPr>
          <a:xfrm>
            <a:off x="19612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27E5D3-FFDA-AA84-BA8A-8AE185E2A5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Properties of Routes with Gao-Rexford Rules</a:t>
            </a:r>
            <a:endParaRPr/>
          </a:p>
        </p:txBody>
      </p:sp>
      <p:sp>
        <p:nvSpPr>
          <p:cNvPr id="855" name="Google Shape;855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Routes are </a:t>
            </a:r>
            <a:r>
              <a:rPr lang="en" b="1"/>
              <a:t>single-peaked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first climb 0 or more uphill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reach a peak, and traverse 0 or 1 peering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go strictly downhill all the way to the destination.</a:t>
            </a:r>
            <a:endParaRPr/>
          </a:p>
        </p:txBody>
      </p:sp>
      <p:sp>
        <p:nvSpPr>
          <p:cNvPr id="856" name="Google Shape;856;p65"/>
          <p:cNvSpPr/>
          <p:nvPr/>
        </p:nvSpPr>
        <p:spPr>
          <a:xfrm>
            <a:off x="1001563" y="3833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7" name="Google Shape;857;p65"/>
          <p:cNvCxnSpPr>
            <a:stCxn id="856" idx="7"/>
            <a:endCxn id="858" idx="3"/>
          </p:cNvCxnSpPr>
          <p:nvPr/>
        </p:nvCxnSpPr>
        <p:spPr>
          <a:xfrm rot="10800000" flipH="1">
            <a:off x="1829424" y="3543837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8" name="Google Shape;858;p65"/>
          <p:cNvSpPr/>
          <p:nvPr/>
        </p:nvSpPr>
        <p:spPr>
          <a:xfrm>
            <a:off x="2144563" y="3071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5"/>
          <p:cNvSpPr/>
          <p:nvPr/>
        </p:nvSpPr>
        <p:spPr>
          <a:xfrm>
            <a:off x="3287563" y="2309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65"/>
          <p:cNvCxnSpPr>
            <a:stCxn id="858" idx="7"/>
            <a:endCxn id="859" idx="3"/>
          </p:cNvCxnSpPr>
          <p:nvPr/>
        </p:nvCxnSpPr>
        <p:spPr>
          <a:xfrm rot="10800000" flipH="1">
            <a:off x="2972424" y="2781837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1" name="Google Shape;861;p65"/>
          <p:cNvSpPr/>
          <p:nvPr/>
        </p:nvSpPr>
        <p:spPr>
          <a:xfrm>
            <a:off x="4811563" y="2309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2" name="Google Shape;862;p65"/>
          <p:cNvCxnSpPr>
            <a:stCxn id="859" idx="6"/>
            <a:endCxn id="861" idx="2"/>
          </p:cNvCxnSpPr>
          <p:nvPr/>
        </p:nvCxnSpPr>
        <p:spPr>
          <a:xfrm>
            <a:off x="4257463" y="2586223"/>
            <a:ext cx="5541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63" name="Google Shape;863;p65"/>
          <p:cNvSpPr/>
          <p:nvPr/>
        </p:nvSpPr>
        <p:spPr>
          <a:xfrm>
            <a:off x="7097563" y="383214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5"/>
          <p:cNvSpPr/>
          <p:nvPr/>
        </p:nvSpPr>
        <p:spPr>
          <a:xfrm>
            <a:off x="5954563" y="307014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5"/>
          <p:cNvCxnSpPr>
            <a:stCxn id="864" idx="1"/>
            <a:endCxn id="861" idx="5"/>
          </p:cNvCxnSpPr>
          <p:nvPr/>
        </p:nvCxnSpPr>
        <p:spPr>
          <a:xfrm rot="10800000">
            <a:off x="5639401" y="2781862"/>
            <a:ext cx="457200" cy="369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66" name="Google Shape;866;p65"/>
          <p:cNvCxnSpPr>
            <a:stCxn id="863" idx="1"/>
            <a:endCxn id="864" idx="5"/>
          </p:cNvCxnSpPr>
          <p:nvPr/>
        </p:nvCxnSpPr>
        <p:spPr>
          <a:xfrm rot="10800000">
            <a:off x="6782401" y="3542362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67" name="Google Shape;867;p65"/>
          <p:cNvCxnSpPr/>
          <p:nvPr/>
        </p:nvCxnSpPr>
        <p:spPr>
          <a:xfrm>
            <a:off x="1040625" y="4662625"/>
            <a:ext cx="7026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8" name="Google Shape;868;p65"/>
          <p:cNvSpPr txBox="1"/>
          <p:nvPr/>
        </p:nvSpPr>
        <p:spPr>
          <a:xfrm>
            <a:off x="1040625" y="4681275"/>
            <a:ext cx="70269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 → D → E → F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4874C0-3783-4903-53C1-B72F7CDCE9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Proving Reachability and Convergence with Gao-Rexford</a:t>
            </a:r>
            <a:endParaRPr dirty="0"/>
          </a:p>
        </p:txBody>
      </p:sp>
      <p:sp>
        <p:nvSpPr>
          <p:cNvPr id="874" name="Google Shape;87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all of these are true: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from any AS and moving up the hierarchy will lead to a Tier 1 AS.</a:t>
            </a:r>
          </a:p>
          <a:p>
            <a:pPr lvl="0"/>
            <a:r>
              <a:rPr lang="en-US" dirty="0"/>
              <a:t>All Tier 1 </a:t>
            </a:r>
            <a:r>
              <a:rPr lang="en-US" dirty="0" err="1"/>
              <a:t>Ases</a:t>
            </a:r>
            <a:r>
              <a:rPr lang="en-US" dirty="0"/>
              <a:t> </a:t>
            </a:r>
            <a:r>
              <a:rPr lang="en-US" altLang="zh-CN" dirty="0"/>
              <a:t>(with no provider)</a:t>
            </a:r>
            <a:r>
              <a:rPr lang="en-US" dirty="0"/>
              <a:t> form a fully connected peering clique.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AS graph has no cycles.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All ASes follow the Gao-Rexford rules.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Then we can guarantee these two properties: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Reachability</a:t>
            </a:r>
            <a:r>
              <a:rPr lang="en" dirty="0"/>
              <a:t>: Any two ASes in the graph can communicate.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Convergence</a:t>
            </a:r>
            <a:r>
              <a:rPr lang="en" dirty="0"/>
              <a:t>: All ASes agree on paths.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These properties hold in steady-state.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Steady-state: Network topology and policies remain unchanged.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something changes, it might take some time for ASes to reconverge.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C2144-5E7C-ACE6-B374-78A6D70334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Autonomous Systems, Policy-Based Routing</a:t>
            </a:r>
            <a:endParaRPr/>
          </a:p>
        </p:txBody>
      </p:sp>
      <p:sp>
        <p:nvSpPr>
          <p:cNvPr id="880" name="Google Shape;880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topology reflects business relationships between ASes.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Business relationships impact what routes are chosen, and what routes are acceptable.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Inter-domain routing design must support: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Scalability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Autonomy (support policy choices)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Privacy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2344C1-F0C7-89A1-1CB0-F7C1714A54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6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Importing and Exporting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886" name="Google Shape;886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Importing and Exporting</a:t>
            </a:r>
            <a:endParaRPr/>
          </a:p>
        </p:txBody>
      </p:sp>
      <p:sp>
        <p:nvSpPr>
          <p:cNvPr id="887" name="Google Shape;887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8078C1-C24E-BB22-9F62-89F02858AE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Brief History of BGP</a:t>
            </a:r>
            <a:endParaRPr/>
          </a:p>
        </p:txBody>
      </p:sp>
      <p:sp>
        <p:nvSpPr>
          <p:cNvPr id="893" name="Google Shape;893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Least-cost routing algorithms are based on old ideas.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Shortest-path algorithms predate the Internet:</a:t>
            </a:r>
            <a:br>
              <a:rPr lang="en" dirty="0"/>
            </a:br>
            <a:r>
              <a:rPr lang="en" dirty="0"/>
              <a:t>Dijkstra's (1956), Bellman-Ford (1958).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Autonomous systems grew out of necessity.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Internet control transferred from the US government to various companies.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 Internet grew too big for least-cost routing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is the one and only inter-domain routing protocol.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Remember: Everyone must agree on the same one.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39D7DA-A95D-2896-83BF-AD0A3E44A5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Starting Point: Distance-Vector or Link-State?</a:t>
            </a:r>
            <a:endParaRPr/>
          </a:p>
        </p:txBody>
      </p:sp>
      <p:sp>
        <p:nvSpPr>
          <p:cNvPr id="899" name="Google Shape;89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or link-state: Which would be a better starting point?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 is a bad choice.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privacy: I have to reveal my policies to everybody else.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autonomy: Everyone has to agree on a metric (e.g. least-cost) for consistency.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is a better choice.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extends distance-vector to accommodate policy.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and distance-vector are similar: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Advertisements are specific to one destination (i.e. one prefix).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No global sharing of network topology.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Iterative and distributed convergence on paths.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B32B62-FBEB-6670-3BA2-69FE547CC8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and Exporting Paths</a:t>
            </a:r>
            <a:endParaRPr/>
          </a:p>
        </p:txBody>
      </p:sp>
      <p:sp>
        <p:nvSpPr>
          <p:cNvPr id="905" name="Google Shape;905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New terminology for old ideas:</a:t>
            </a:r>
            <a:endParaRPr/>
          </a:p>
        </p:txBody>
      </p:sp>
      <p:sp>
        <p:nvSpPr>
          <p:cNvPr id="906" name="Google Shape;906;p71"/>
          <p:cNvSpPr txBox="1"/>
          <p:nvPr/>
        </p:nvSpPr>
        <p:spPr>
          <a:xfrm>
            <a:off x="1420713" y="2021000"/>
            <a:ext cx="21936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Advertise (</a:t>
            </a:r>
            <a:r>
              <a:rPr lang="en" sz="1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to one or more of your neighbors.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71"/>
          <p:cNvSpPr txBox="1"/>
          <p:nvPr/>
        </p:nvSpPr>
        <p:spPr>
          <a:xfrm>
            <a:off x="4906288" y="2159600"/>
            <a:ext cx="21936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Select (</a:t>
            </a:r>
            <a:r>
              <a:rPr lang="en" sz="1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you hear about.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71"/>
          <p:cNvCxnSpPr>
            <a:stCxn id="906" idx="0"/>
            <a:endCxn id="907" idx="0"/>
          </p:cNvCxnSpPr>
          <p:nvPr/>
        </p:nvCxnSpPr>
        <p:spPr>
          <a:xfrm rot="-5400000" flipH="1">
            <a:off x="4191063" y="347450"/>
            <a:ext cx="138600" cy="3485700"/>
          </a:xfrm>
          <a:prstGeom prst="curvedConnector3">
            <a:avLst>
              <a:gd name="adj1" fmla="val -572258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9" name="Google Shape;909;p71"/>
          <p:cNvCxnSpPr>
            <a:stCxn id="906" idx="2"/>
            <a:endCxn id="907" idx="2"/>
          </p:cNvCxnSpPr>
          <p:nvPr/>
        </p:nvCxnSpPr>
        <p:spPr>
          <a:xfrm rot="-5400000">
            <a:off x="4191063" y="1501850"/>
            <a:ext cx="138600" cy="3485700"/>
          </a:xfrm>
          <a:prstGeom prst="curvedConnector3">
            <a:avLst>
              <a:gd name="adj1" fmla="val -569318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0" name="Google Shape;910;p71"/>
          <p:cNvSpPr txBox="1">
            <a:spLocks noGrp="1"/>
          </p:cNvSpPr>
          <p:nvPr>
            <p:ph type="body" idx="1"/>
          </p:nvPr>
        </p:nvSpPr>
        <p:spPr>
          <a:xfrm>
            <a:off x="107050" y="4288400"/>
            <a:ext cx="89097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 policy to decide which route to import, and who to export routes to.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2A39DE-AFE9-6C46-9F9F-579CA1F8D0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import policy: Pick the route advertised by customer &gt; peer &gt; provider.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Pick the shortest route.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Import decision determines where an AS sends its outbound traffic.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Because this involves choosing a route.</a:t>
            </a:r>
            <a:endParaRPr/>
          </a:p>
        </p:txBody>
      </p:sp>
      <p:sp>
        <p:nvSpPr>
          <p:cNvPr id="916" name="Google Shape;91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Paths</a:t>
            </a:r>
            <a:endParaRPr/>
          </a:p>
        </p:txBody>
      </p:sp>
      <p:sp>
        <p:nvSpPr>
          <p:cNvPr id="917" name="Google Shape;917;p72"/>
          <p:cNvSpPr/>
          <p:nvPr/>
        </p:nvSpPr>
        <p:spPr>
          <a:xfrm>
            <a:off x="2878450" y="31291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72"/>
          <p:cNvCxnSpPr>
            <a:stCxn id="917" idx="6"/>
            <a:endCxn id="919" idx="2"/>
          </p:cNvCxnSpPr>
          <p:nvPr/>
        </p:nvCxnSpPr>
        <p:spPr>
          <a:xfrm>
            <a:off x="3848350" y="3405750"/>
            <a:ext cx="18660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20" name="Google Shape;920;p72"/>
          <p:cNvCxnSpPr>
            <a:stCxn id="921" idx="2"/>
            <a:endCxn id="917" idx="7"/>
          </p:cNvCxnSpPr>
          <p:nvPr/>
        </p:nvCxnSpPr>
        <p:spPr>
          <a:xfrm flipH="1">
            <a:off x="3706205" y="2503300"/>
            <a:ext cx="20082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2" name="Google Shape;922;p72"/>
          <p:cNvCxnSpPr>
            <a:stCxn id="917" idx="5"/>
            <a:endCxn id="923" idx="2"/>
          </p:cNvCxnSpPr>
          <p:nvPr/>
        </p:nvCxnSpPr>
        <p:spPr>
          <a:xfrm>
            <a:off x="3706311" y="3601336"/>
            <a:ext cx="20082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1" name="Google Shape;921;p72"/>
          <p:cNvSpPr/>
          <p:nvPr/>
        </p:nvSpPr>
        <p:spPr>
          <a:xfrm>
            <a:off x="5714405" y="2226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72"/>
          <p:cNvSpPr/>
          <p:nvPr/>
        </p:nvSpPr>
        <p:spPr>
          <a:xfrm>
            <a:off x="5714412" y="31291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72"/>
          <p:cNvSpPr/>
          <p:nvPr/>
        </p:nvSpPr>
        <p:spPr>
          <a:xfrm>
            <a:off x="5714415" y="40316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4" name="Google Shape;924;p72"/>
          <p:cNvCxnSpPr/>
          <p:nvPr/>
        </p:nvCxnSpPr>
        <p:spPr>
          <a:xfrm flipH="1">
            <a:off x="3926938" y="2460950"/>
            <a:ext cx="1657800" cy="5832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5" name="Google Shape;925;p72"/>
          <p:cNvSpPr txBox="1"/>
          <p:nvPr/>
        </p:nvSpPr>
        <p:spPr>
          <a:xfrm rot="-1139422">
            <a:off x="4010566" y="2534603"/>
            <a:ext cx="1399468" cy="21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6" name="Google Shape;926;p72"/>
          <p:cNvCxnSpPr/>
          <p:nvPr/>
        </p:nvCxnSpPr>
        <p:spPr>
          <a:xfrm rot="10800000">
            <a:off x="3987438" y="3572650"/>
            <a:ext cx="1517400" cy="5700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7" name="Google Shape;927;p72"/>
          <p:cNvSpPr txBox="1"/>
          <p:nvPr/>
        </p:nvSpPr>
        <p:spPr>
          <a:xfrm rot="1213091">
            <a:off x="4151948" y="3680825"/>
            <a:ext cx="1399321" cy="215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72"/>
          <p:cNvCxnSpPr/>
          <p:nvPr/>
        </p:nvCxnSpPr>
        <p:spPr>
          <a:xfrm rot="10800000">
            <a:off x="4054188" y="3335075"/>
            <a:ext cx="13728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9" name="Google Shape;929;p72"/>
          <p:cNvSpPr txBox="1"/>
          <p:nvPr/>
        </p:nvSpPr>
        <p:spPr>
          <a:xfrm>
            <a:off x="4117422" y="3117286"/>
            <a:ext cx="139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72"/>
          <p:cNvSpPr/>
          <p:nvPr/>
        </p:nvSpPr>
        <p:spPr>
          <a:xfrm>
            <a:off x="316513" y="25290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 prefer the path via </a:t>
            </a:r>
            <a:r>
              <a:rPr lang="en" dirty="0">
                <a:solidFill>
                  <a:srgbClr val="C00000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because C will pay me to forward packets.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1" name="Google Shape;931;p72"/>
          <p:cNvCxnSpPr/>
          <p:nvPr/>
        </p:nvCxnSpPr>
        <p:spPr>
          <a:xfrm>
            <a:off x="2891602" y="4738825"/>
            <a:ext cx="568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2" name="Google Shape;932;p72"/>
          <p:cNvSpPr txBox="1"/>
          <p:nvPr/>
        </p:nvSpPr>
        <p:spPr>
          <a:xfrm>
            <a:off x="2891602" y="4757475"/>
            <a:ext cx="56808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72"/>
          <p:cNvSpPr/>
          <p:nvPr/>
        </p:nvSpPr>
        <p:spPr>
          <a:xfrm>
            <a:off x="8097900" y="31291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4" name="Google Shape;934;p72"/>
          <p:cNvCxnSpPr>
            <a:stCxn id="933" idx="1"/>
            <a:endCxn id="921" idx="6"/>
          </p:cNvCxnSpPr>
          <p:nvPr/>
        </p:nvCxnSpPr>
        <p:spPr>
          <a:xfrm rot="10800000">
            <a:off x="7540639" y="2503364"/>
            <a:ext cx="6993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5" name="Google Shape;935;p72"/>
          <p:cNvCxnSpPr>
            <a:stCxn id="933" idx="2"/>
            <a:endCxn id="919" idx="6"/>
          </p:cNvCxnSpPr>
          <p:nvPr/>
        </p:nvCxnSpPr>
        <p:spPr>
          <a:xfrm rot="10800000">
            <a:off x="7540500" y="3405750"/>
            <a:ext cx="557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6" name="Google Shape;936;p72"/>
          <p:cNvCxnSpPr>
            <a:stCxn id="933" idx="3"/>
            <a:endCxn id="923" idx="6"/>
          </p:cNvCxnSpPr>
          <p:nvPr/>
        </p:nvCxnSpPr>
        <p:spPr>
          <a:xfrm flipH="1">
            <a:off x="7540639" y="3601336"/>
            <a:ext cx="6993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C57545-2B9E-F65C-B62B-7758C653D8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Advertise a route to all neighbors.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Export decision determines what traffic an AS will carry.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Advertising a route means I'm letting others forward traffic through me.</a:t>
            </a:r>
            <a:endParaRPr/>
          </a:p>
        </p:txBody>
      </p:sp>
      <p:sp>
        <p:nvSpPr>
          <p:cNvPr id="942" name="Google Shape;942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</a:t>
            </a:r>
            <a:endParaRPr/>
          </a:p>
        </p:txBody>
      </p:sp>
      <p:sp>
        <p:nvSpPr>
          <p:cNvPr id="943" name="Google Shape;943;p73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73"/>
          <p:cNvCxnSpPr>
            <a:stCxn id="943" idx="2"/>
            <a:endCxn id="945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46" name="Google Shape;946;p73"/>
          <p:cNvCxnSpPr>
            <a:stCxn id="947" idx="5"/>
            <a:endCxn id="943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8" name="Google Shape;948;p73"/>
          <p:cNvCxnSpPr>
            <a:stCxn id="943" idx="3"/>
            <a:endCxn id="949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7" name="Google Shape;947;p73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73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73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73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1" name="Google Shape;951;p73"/>
          <p:cNvCxnSpPr>
            <a:stCxn id="950" idx="2"/>
            <a:endCxn id="943" idx="6"/>
          </p:cNvCxnSpPr>
          <p:nvPr/>
        </p:nvCxnSpPr>
        <p:spPr>
          <a:xfrm rot="10800000">
            <a:off x="604110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73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3" name="Google Shape;953;p73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73"/>
          <p:cNvSpPr/>
          <p:nvPr/>
        </p:nvSpPr>
        <p:spPr>
          <a:xfrm>
            <a:off x="5892000" y="2473225"/>
            <a:ext cx="26286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a route to D, but should I tell A, B, C about it?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A45E24-7206-2DF8-C3FF-DAA817ED8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60" name="Google Shape;960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Customers</a:t>
            </a:r>
            <a:endParaRPr/>
          </a:p>
        </p:txBody>
      </p:sp>
      <p:sp>
        <p:nvSpPr>
          <p:cNvPr id="961" name="Google Shape;961;p74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2" name="Google Shape;962;p74"/>
          <p:cNvCxnSpPr>
            <a:stCxn id="961" idx="2"/>
            <a:endCxn id="963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64" name="Google Shape;964;p74"/>
          <p:cNvCxnSpPr>
            <a:stCxn id="965" idx="5"/>
            <a:endCxn id="961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6" name="Google Shape;966;p74"/>
          <p:cNvCxnSpPr>
            <a:stCxn id="961" idx="3"/>
            <a:endCxn id="967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" name="Google Shape;965;p74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74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74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74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9" name="Google Shape;969;p74"/>
          <p:cNvCxnSpPr>
            <a:stCxn id="961" idx="6"/>
            <a:endCxn id="968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0" name="Google Shape;970;p74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three of these routes make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74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72" name="Google Shape;972;p74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973" name="Google Shape;973;p74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4" name="Google Shape;974;p74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5" name="Google Shape;975;p74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4286F1-E552-E073-FEBB-5EB7B30B4C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81" name="Google Shape;98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Customers</a:t>
            </a:r>
            <a:endParaRPr/>
          </a:p>
        </p:txBody>
      </p:sp>
      <p:sp>
        <p:nvSpPr>
          <p:cNvPr id="982" name="Google Shape;982;p75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3" name="Google Shape;983;p75"/>
          <p:cNvCxnSpPr>
            <a:stCxn id="982" idx="2"/>
            <a:endCxn id="984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85" name="Google Shape;985;p75"/>
          <p:cNvCxnSpPr>
            <a:stCxn id="986" idx="5"/>
            <a:endCxn id="982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87" name="Google Shape;987;p75"/>
          <p:cNvCxnSpPr>
            <a:stCxn id="982" idx="3"/>
            <a:endCxn id="988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6" name="Google Shape;986;p75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75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75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75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0" name="Google Shape;990;p75"/>
          <p:cNvCxnSpPr>
            <a:stCxn id="982" idx="6"/>
            <a:endCxn id="989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91" name="Google Shape;991;p75"/>
          <p:cNvCxnSpPr/>
          <p:nvPr/>
        </p:nvCxnSpPr>
        <p:spPr>
          <a:xfrm rot="10800000">
            <a:off x="2926675" y="2649725"/>
            <a:ext cx="2029500" cy="3945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2" name="Google Shape;992;p75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tell everyone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75"/>
          <p:cNvSpPr txBox="1"/>
          <p:nvPr/>
        </p:nvSpPr>
        <p:spPr>
          <a:xfrm rot="672814">
            <a:off x="3241684" y="2637779"/>
            <a:ext cx="1399212" cy="21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4" name="Google Shape;994;p75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5" name="Google Shape;995;p75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75"/>
          <p:cNvCxnSpPr/>
          <p:nvPr/>
        </p:nvCxnSpPr>
        <p:spPr>
          <a:xfrm rot="10800000">
            <a:off x="3139350" y="3330221"/>
            <a:ext cx="17964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7" name="Google Shape;997;p75"/>
          <p:cNvSpPr txBox="1"/>
          <p:nvPr/>
        </p:nvSpPr>
        <p:spPr>
          <a:xfrm rot="-1474">
            <a:off x="3353693" y="3128683"/>
            <a:ext cx="1398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75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9" name="Google Shape;999;p75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1E02E0-5024-E2A2-DD7E-1E9008943C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05" name="Google Shape;1005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Peers</a:t>
            </a:r>
            <a:endParaRPr/>
          </a:p>
        </p:txBody>
      </p:sp>
      <p:sp>
        <p:nvSpPr>
          <p:cNvPr id="1006" name="Google Shape;1006;p76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76"/>
          <p:cNvCxnSpPr>
            <a:stCxn id="1006" idx="2"/>
            <a:endCxn id="1008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09" name="Google Shape;1009;p76"/>
          <p:cNvCxnSpPr>
            <a:stCxn id="1010" idx="5"/>
            <a:endCxn id="1006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1" name="Google Shape;1011;p76"/>
          <p:cNvCxnSpPr>
            <a:stCxn id="1006" idx="3"/>
            <a:endCxn id="1012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0" name="Google Shape;1010;p76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76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76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76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76"/>
          <p:cNvCxnSpPr>
            <a:stCxn id="1006" idx="6"/>
            <a:endCxn id="1013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15" name="Google Shape;1015;p76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76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17" name="Google Shape;1017;p76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1018" name="Google Shape;1018;p76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9" name="Google Shape;1019;p76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20" name="Google Shape;1020;p76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0CB44A-29E8-D8F8-F347-7E4AC69EA3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26" name="Google Shape;1026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Peers</a:t>
            </a:r>
            <a:endParaRPr/>
          </a:p>
        </p:txBody>
      </p:sp>
      <p:sp>
        <p:nvSpPr>
          <p:cNvPr id="1027" name="Google Shape;1027;p77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8" name="Google Shape;1028;p77"/>
          <p:cNvCxnSpPr>
            <a:stCxn id="1027" idx="2"/>
            <a:endCxn id="102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30" name="Google Shape;1030;p77"/>
          <p:cNvCxnSpPr>
            <a:stCxn id="1031" idx="5"/>
            <a:endCxn id="102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77"/>
          <p:cNvCxnSpPr>
            <a:stCxn id="1027" idx="3"/>
            <a:endCxn id="103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1" name="Google Shape;1031;p77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77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77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77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5" name="Google Shape;1035;p77"/>
          <p:cNvCxnSpPr>
            <a:stCxn id="1027" idx="6"/>
            <a:endCxn id="103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36" name="Google Shape;1036;p77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7" name="Google Shape;1037;p77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8" name="Google Shape;1038;p77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9" name="Google Shape;1039;p77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0" name="Google Shape;1040;p77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CD6171-23EE-524A-856B-DAFE8A3CC9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46" name="Google Shape;1046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Providers</a:t>
            </a:r>
            <a:endParaRPr/>
          </a:p>
        </p:txBody>
      </p:sp>
      <p:sp>
        <p:nvSpPr>
          <p:cNvPr id="1047" name="Google Shape;1047;p78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78"/>
          <p:cNvCxnSpPr>
            <a:stCxn id="1047" idx="2"/>
            <a:endCxn id="104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50" name="Google Shape;1050;p78"/>
          <p:cNvCxnSpPr>
            <a:stCxn id="1051" idx="5"/>
            <a:endCxn id="104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2" name="Google Shape;1052;p78"/>
          <p:cNvCxnSpPr>
            <a:stCxn id="1047" idx="3"/>
            <a:endCxn id="105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1" name="Google Shape;1051;p78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78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8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78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5" name="Google Shape;1055;p78"/>
          <p:cNvCxnSpPr>
            <a:stCxn id="1047" idx="6"/>
            <a:endCxn id="105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56" name="Google Shape;1056;p78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78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8" name="Google Shape;1058;p78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1059" name="Google Shape;1059;p78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0" name="Google Shape;1060;p78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61" name="Google Shape;1061;p78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7FDE00-8484-41C4-A387-FEF913A4DC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67" name="Google Shape;106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sp>
        <p:nvSpPr>
          <p:cNvPr id="1068" name="Google Shape;1068;p79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9" name="Google Shape;1069;p79"/>
          <p:cNvCxnSpPr>
            <a:stCxn id="1068" idx="2"/>
            <a:endCxn id="1070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71" name="Google Shape;1071;p79"/>
          <p:cNvCxnSpPr>
            <a:stCxn id="1072" idx="5"/>
            <a:endCxn id="1068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3" name="Google Shape;1073;p79"/>
          <p:cNvCxnSpPr>
            <a:stCxn id="1068" idx="3"/>
            <a:endCxn id="1074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2" name="Google Shape;1072;p79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79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79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79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79"/>
          <p:cNvCxnSpPr>
            <a:stCxn id="1068" idx="6"/>
            <a:endCxn id="1075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77" name="Google Shape;1077;p79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79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9" name="Google Shape;1079;p79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0" name="Google Shape;1080;p79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1" name="Google Shape;1081;p79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F461F8-F469-3958-6792-0B68610942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Gao-Rexford export policy: I only export a route if participating in it makes me money.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Key idea: </a:t>
            </a:r>
            <a:r>
              <a:rPr lang="en" dirty="0">
                <a:solidFill>
                  <a:srgbClr val="FF0000"/>
                </a:solidFill>
              </a:rPr>
              <a:t>The route needs a customer on at least one side.</a:t>
            </a:r>
            <a:endParaRPr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customer advertised the route, we already have a customer on one side.</a:t>
            </a:r>
            <a:br>
              <a:rPr lang="en" dirty="0"/>
            </a:br>
            <a:r>
              <a:rPr lang="en" dirty="0"/>
              <a:t>The other side can be anybody.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peer/provider advertised the route, we're still missing a customer.</a:t>
            </a:r>
            <a:br>
              <a:rPr lang="en" dirty="0"/>
            </a:br>
            <a:r>
              <a:rPr lang="en" dirty="0"/>
              <a:t>The other side must be a customer.</a:t>
            </a:r>
            <a:endParaRPr dirty="0"/>
          </a:p>
        </p:txBody>
      </p:sp>
      <p:sp>
        <p:nvSpPr>
          <p:cNvPr id="1087" name="Google Shape;108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graphicFrame>
        <p:nvGraphicFramePr>
          <p:cNvPr id="1088" name="Google Shape;1088;p80"/>
          <p:cNvGraphicFramePr/>
          <p:nvPr/>
        </p:nvGraphicFramePr>
        <p:xfrm>
          <a:off x="1289525" y="3149800"/>
          <a:ext cx="7014425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57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 advertised by...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Export route to...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Everyone (providers, peers, customers)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Peer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Provider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59CC43-19CF-80E4-6984-248FB92002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81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Aggregation and Path-Vector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8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Aggregation and Path-Vector</a:t>
            </a:r>
            <a:endParaRPr/>
          </a:p>
        </p:txBody>
      </p:sp>
      <p:sp>
        <p:nvSpPr>
          <p:cNvPr id="1095" name="Google Shape;1095;p8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7BDCC6-485B-4D64-A94D-A1A8EB125A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Modifications from Distance-Vector to BGP</a:t>
            </a:r>
            <a:endParaRPr/>
          </a:p>
        </p:txBody>
      </p:sp>
      <p:sp>
        <p:nvSpPr>
          <p:cNvPr id="1101" name="Google Shape;11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we've made so far: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 paths based on policy (e.g. prefer customer &gt; peer &gt; provider),</a:t>
            </a:r>
            <a:br>
              <a:rPr lang="en"/>
            </a:br>
            <a:r>
              <a:rPr lang="en"/>
              <a:t>instead of based on least-cost.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 paths based on policy (e.g. only advertise profitable routes),</a:t>
            </a:r>
            <a:br>
              <a:rPr lang="en"/>
            </a:br>
            <a:r>
              <a:rPr lang="en"/>
              <a:t>instead of advertising all routes.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make two more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Aggregating prefixes for scalability.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Changing from distance-vector to path-vector.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43E45-6798-08DD-2E79-D62530158B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#1: Aggregating Prefixes</a:t>
            </a:r>
            <a:endParaRPr/>
          </a:p>
        </p:txBody>
      </p:sp>
      <p:sp>
        <p:nvSpPr>
          <p:cNvPr id="1107" name="Google Shape;1107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8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For scalability, each forwarding table entry maps a range of IPs to a next hop.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AS is addressed by a prefix (all machines inside the AS share the same prefix).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BGP can </a:t>
            </a:r>
            <a:r>
              <a:rPr lang="en" b="1"/>
              <a:t>aggregate</a:t>
            </a:r>
            <a:r>
              <a:rPr lang="en"/>
              <a:t> multiple entries into one, combining ranges into one larger range.</a:t>
            </a:r>
            <a:endParaRPr/>
          </a:p>
        </p:txBody>
      </p:sp>
      <p:graphicFrame>
        <p:nvGraphicFramePr>
          <p:cNvPr id="1108" name="Google Shape;1108;p83"/>
          <p:cNvGraphicFramePr/>
          <p:nvPr>
            <p:extLst>
              <p:ext uri="{D42A27DB-BD31-4B8C-83A1-F6EECF244321}">
                <p14:modId xmlns:p14="http://schemas.microsoft.com/office/powerpoint/2010/main" val="2056395335"/>
              </p:ext>
            </p:extLst>
          </p:nvPr>
        </p:nvGraphicFramePr>
        <p:xfrm>
          <a:off x="447300" y="3243500"/>
          <a:ext cx="3946400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12.1.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12.2.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12.3.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09" name="Google Shape;1109;p83"/>
          <p:cNvGraphicFramePr/>
          <p:nvPr>
            <p:extLst>
              <p:ext uri="{D42A27DB-BD31-4B8C-83A1-F6EECF244321}">
                <p14:modId xmlns:p14="http://schemas.microsoft.com/office/powerpoint/2010/main" val="2585748400"/>
              </p:ext>
            </p:extLst>
          </p:nvPr>
        </p:nvGraphicFramePr>
        <p:xfrm>
          <a:off x="5035100" y="3243500"/>
          <a:ext cx="3946400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0.0.0/8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110" name="Google Shape;1110;p83"/>
          <p:cNvCxnSpPr/>
          <p:nvPr/>
        </p:nvCxnSpPr>
        <p:spPr>
          <a:xfrm>
            <a:off x="4393700" y="4312500"/>
            <a:ext cx="641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2FF16E-606B-5A57-81C3-6DC0DEA326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Modification #1: Aggregating Prefixes</a:t>
            </a:r>
            <a:endParaRPr/>
          </a:p>
        </p:txBody>
      </p:sp>
      <p:sp>
        <p:nvSpPr>
          <p:cNvPr id="1116" name="Google Shape;1116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Aggregation scales because addresses are hierarchical.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Multi-homing: An AS having multiple providers.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aggregation.</a:t>
            </a:r>
            <a:endParaRPr/>
          </a:p>
        </p:txBody>
      </p:sp>
      <p:cxnSp>
        <p:nvCxnSpPr>
          <p:cNvPr id="1117" name="Google Shape;1117;p84"/>
          <p:cNvCxnSpPr>
            <a:stCxn id="1118" idx="4"/>
            <a:endCxn id="1119" idx="7"/>
          </p:cNvCxnSpPr>
          <p:nvPr/>
        </p:nvCxnSpPr>
        <p:spPr>
          <a:xfrm flipH="1">
            <a:off x="4671000" y="2869950"/>
            <a:ext cx="1076100" cy="6297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0" name="Google Shape;1120;p84"/>
          <p:cNvCxnSpPr>
            <a:stCxn id="1121" idx="6"/>
            <a:endCxn id="1118" idx="2"/>
          </p:cNvCxnSpPr>
          <p:nvPr/>
        </p:nvCxnSpPr>
        <p:spPr>
          <a:xfrm>
            <a:off x="1839900" y="2569200"/>
            <a:ext cx="3166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118" name="Google Shape;1118;p84"/>
          <p:cNvSpPr/>
          <p:nvPr/>
        </p:nvSpPr>
        <p:spPr>
          <a:xfrm>
            <a:off x="5006100" y="2268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AT&amp;T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4.0.0.0/8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84"/>
          <p:cNvSpPr/>
          <p:nvPr/>
        </p:nvSpPr>
        <p:spPr>
          <a:xfrm>
            <a:off x="357900" y="2268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84"/>
          <p:cNvSpPr/>
          <p:nvPr/>
        </p:nvSpPr>
        <p:spPr>
          <a:xfrm>
            <a:off x="50061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UCLA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4.78.0.0/16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84"/>
          <p:cNvSpPr/>
          <p:nvPr/>
        </p:nvSpPr>
        <p:spPr>
          <a:xfrm>
            <a:off x="34059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4.24.0.0/16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4"/>
          <p:cNvSpPr/>
          <p:nvPr/>
        </p:nvSpPr>
        <p:spPr>
          <a:xfrm>
            <a:off x="66063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UCSF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4.91.0.0/16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4" name="Google Shape;1124;p84"/>
          <p:cNvCxnSpPr>
            <a:stCxn id="1118" idx="4"/>
            <a:endCxn id="1122" idx="0"/>
          </p:cNvCxnSpPr>
          <p:nvPr/>
        </p:nvCxnSpPr>
        <p:spPr>
          <a:xfrm>
            <a:off x="5747100" y="2869950"/>
            <a:ext cx="0" cy="541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84"/>
          <p:cNvCxnSpPr>
            <a:stCxn id="1118" idx="4"/>
            <a:endCxn id="1123" idx="0"/>
          </p:cNvCxnSpPr>
          <p:nvPr/>
        </p:nvCxnSpPr>
        <p:spPr>
          <a:xfrm>
            <a:off x="5747100" y="2869950"/>
            <a:ext cx="1600200" cy="541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6" name="Google Shape;1126;p84"/>
          <p:cNvCxnSpPr/>
          <p:nvPr/>
        </p:nvCxnSpPr>
        <p:spPr>
          <a:xfrm>
            <a:off x="1794275" y="2346150"/>
            <a:ext cx="180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27" name="Google Shape;1127;p84"/>
          <p:cNvSpPr txBox="1"/>
          <p:nvPr/>
        </p:nvSpPr>
        <p:spPr>
          <a:xfrm>
            <a:off x="1794275" y="2086050"/>
            <a:ext cx="1647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4.0.0.0/8 is this way.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8" name="Google Shape;1128;p84"/>
          <p:cNvCxnSpPr>
            <a:stCxn id="1121" idx="5"/>
            <a:endCxn id="1119" idx="2"/>
          </p:cNvCxnSpPr>
          <p:nvPr/>
        </p:nvCxnSpPr>
        <p:spPr>
          <a:xfrm>
            <a:off x="1622866" y="2781862"/>
            <a:ext cx="1782900" cy="930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9" name="Google Shape;1129;p84"/>
          <p:cNvCxnSpPr/>
          <p:nvPr/>
        </p:nvCxnSpPr>
        <p:spPr>
          <a:xfrm>
            <a:off x="1470200" y="2904425"/>
            <a:ext cx="744300" cy="388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0" name="Google Shape;1130;p84"/>
          <p:cNvSpPr txBox="1"/>
          <p:nvPr/>
        </p:nvSpPr>
        <p:spPr>
          <a:xfrm>
            <a:off x="824850" y="3068550"/>
            <a:ext cx="925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4.24.0.0/16 is this way.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E0B28D-8193-FA0D-6A2A-7B737DA4D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 with distance-vector-based BGP: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might be loops.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Least-cost routing guaranteed no loops.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Switching to policy-based routing caused us to lose that guarantee.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support Gao-Rexford rules, but not arbitrary policies.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Suppose my policy is: "My traffic should never pass through AS#2019.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get an announcement: "I am AS#20 and I can reach D with cost 10.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do I know if this route satisfies my policy?</a:t>
            </a:r>
            <a:endParaRPr/>
          </a:p>
        </p:txBody>
      </p:sp>
      <p:sp>
        <p:nvSpPr>
          <p:cNvPr id="1136" name="Google Shape;1136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1137" name="Google Shape;1137;p85"/>
          <p:cNvSpPr/>
          <p:nvPr/>
        </p:nvSpPr>
        <p:spPr>
          <a:xfrm>
            <a:off x="986975" y="23574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85"/>
          <p:cNvSpPr/>
          <p:nvPr/>
        </p:nvSpPr>
        <p:spPr>
          <a:xfrm>
            <a:off x="2598200" y="23574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85"/>
          <p:cNvCxnSpPr>
            <a:stCxn id="1137" idx="6"/>
            <a:endCxn id="1138" idx="2"/>
          </p:cNvCxnSpPr>
          <p:nvPr/>
        </p:nvCxnSpPr>
        <p:spPr>
          <a:xfrm>
            <a:off x="1956875" y="2634088"/>
            <a:ext cx="641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85"/>
          <p:cNvSpPr txBox="1"/>
          <p:nvPr/>
        </p:nvSpPr>
        <p:spPr>
          <a:xfrm>
            <a:off x="4071425" y="2295550"/>
            <a:ext cx="3906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B's policy: "I like sending packets via C."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C's policy: "I like sending packets via B."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85"/>
          <p:cNvCxnSpPr/>
          <p:nvPr/>
        </p:nvCxnSpPr>
        <p:spPr>
          <a:xfrm>
            <a:off x="1606463" y="3014475"/>
            <a:ext cx="1342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5"/>
          <p:cNvCxnSpPr/>
          <p:nvPr/>
        </p:nvCxnSpPr>
        <p:spPr>
          <a:xfrm>
            <a:off x="1606463" y="2252475"/>
            <a:ext cx="1342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B5924-EBE2-C9B2-8413-6DA7F59392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Change from distance-vector to </a:t>
            </a:r>
            <a:r>
              <a:rPr lang="en" b="1"/>
              <a:t>path-vector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advertising distance to destination, advertise the whole AS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"I am A, and I have a path to D via A → B → C → D."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solves both of our problems.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detection: Check if adding myself to the path creates a loop.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I'm C, adding myself to the path creates a cycle: C → A → B → C → D.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path has a cycle (after adding myself), reject the advertisement.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Arbitrary policies: The entire path is available for checking against policy.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my policy is "don't send my packets through B," I can check the path and reject the advertisement.</a:t>
            </a:r>
            <a:endParaRPr/>
          </a:p>
        </p:txBody>
      </p:sp>
      <p:sp>
        <p:nvSpPr>
          <p:cNvPr id="1148" name="Google Shape;1148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BC0EEA-7A83-526A-8370-29F563AC52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Stub ASes Use Default Routes</a:t>
            </a:r>
            <a:endParaRPr/>
          </a:p>
        </p:txBody>
      </p:sp>
      <p:sp>
        <p:nvSpPr>
          <p:cNvPr id="1154" name="Google Shape;1154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stub AS is connected to a single provider, it doesn't need to run BGP.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stub AS default-routes everything to the provider.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provider advertises that they can reach the stub AS's prefix.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provider is advertising on behalf of the stub.</a:t>
            </a:r>
            <a:endParaRPr/>
          </a:p>
        </p:txBody>
      </p:sp>
      <p:sp>
        <p:nvSpPr>
          <p:cNvPr id="1155" name="Google Shape;1155;p87"/>
          <p:cNvSpPr/>
          <p:nvPr/>
        </p:nvSpPr>
        <p:spPr>
          <a:xfrm>
            <a:off x="2435746" y="2999000"/>
            <a:ext cx="16110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Provider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7"/>
          <p:cNvSpPr/>
          <p:nvPr/>
        </p:nvSpPr>
        <p:spPr>
          <a:xfrm>
            <a:off x="2435746" y="4006575"/>
            <a:ext cx="16110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Stub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7" name="Google Shape;1157;p87"/>
          <p:cNvCxnSpPr>
            <a:stCxn id="1155" idx="4"/>
            <a:endCxn id="1156" idx="0"/>
          </p:cNvCxnSpPr>
          <p:nvPr/>
        </p:nvCxnSpPr>
        <p:spPr>
          <a:xfrm>
            <a:off x="3241246" y="3552200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8" name="Google Shape;1158;p87"/>
          <p:cNvSpPr/>
          <p:nvPr/>
        </p:nvSpPr>
        <p:spPr>
          <a:xfrm>
            <a:off x="4219975" y="3552200"/>
            <a:ext cx="2468100" cy="6360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everything to provider.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7"/>
          <p:cNvSpPr/>
          <p:nvPr/>
        </p:nvSpPr>
        <p:spPr>
          <a:xfrm>
            <a:off x="4208675" y="2531400"/>
            <a:ext cx="2769600" cy="6360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stub packets ↓ this way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↓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" name="Google Shape;1157;p87">
            <a:extLst>
              <a:ext uri="{FF2B5EF4-FFF2-40B4-BE49-F238E27FC236}">
                <a16:creationId xmlns:a16="http://schemas.microsoft.com/office/drawing/2014/main" id="{4F63C1DA-05EC-920E-A19E-D3AE9B174429}"/>
              </a:ext>
            </a:extLst>
          </p:cNvPr>
          <p:cNvCxnSpPr/>
          <p:nvPr/>
        </p:nvCxnSpPr>
        <p:spPr>
          <a:xfrm>
            <a:off x="3233812" y="2531400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83A42E-8B3E-E6EF-F7AE-956E00330C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Inter-Domain Routing</a:t>
            </a:r>
            <a:endParaRPr/>
          </a:p>
        </p:txBody>
      </p:sp>
      <p:sp>
        <p:nvSpPr>
          <p:cNvPr id="1165" name="Google Shape;1165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In the AS graph, edges reflect physical connections and business relationships.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Customers pay providers. Peers don't pay each other.</a:t>
            </a:r>
            <a:endParaRPr sz="1600" dirty="0"/>
          </a:p>
          <a:p>
            <a:r>
              <a:rPr lang="en-US" altLang="zh-CN" sz="1600" dirty="0"/>
              <a:t>Under Gao-Rexford, a route is </a:t>
            </a:r>
            <a:r>
              <a:rPr lang="en-US" altLang="zh-CN" sz="1600" b="1" dirty="0"/>
              <a:t>legal</a:t>
            </a:r>
            <a:r>
              <a:rPr lang="en-US" altLang="zh-CN" sz="1600" dirty="0"/>
              <a:t> if it is </a:t>
            </a:r>
            <a:r>
              <a:rPr lang="en-US" altLang="zh-CN" sz="1600" b="1" dirty="0"/>
              <a:t>valley-free</a:t>
            </a:r>
            <a:r>
              <a:rPr lang="en-US" altLang="zh-CN" sz="1600" dirty="0"/>
              <a:t> and respects export preference rules:</a:t>
            </a:r>
          </a:p>
          <a:p>
            <a:pPr lvl="1"/>
            <a:r>
              <a:rPr lang="en-US" altLang="zh-CN" sz="1600" dirty="0"/>
              <a:t>an AS may learn a route from a </a:t>
            </a:r>
            <a:r>
              <a:rPr lang="en-US" altLang="zh-CN" sz="1600" b="1" dirty="0"/>
              <a:t>customer</a:t>
            </a:r>
            <a:r>
              <a:rPr lang="en-US" altLang="zh-CN" sz="1600" dirty="0"/>
              <a:t>, </a:t>
            </a:r>
            <a:r>
              <a:rPr lang="en-US" altLang="zh-CN" sz="1600" b="1" dirty="0"/>
              <a:t>peer</a:t>
            </a:r>
            <a:r>
              <a:rPr lang="en-US" altLang="zh-CN" sz="1600" dirty="0"/>
              <a:t>, or </a:t>
            </a:r>
            <a:r>
              <a:rPr lang="en-US" altLang="zh-CN" sz="1600" b="1" dirty="0"/>
              <a:t>provider</a:t>
            </a:r>
            <a:r>
              <a:rPr lang="en-US" altLang="zh-CN" sz="1600" dirty="0"/>
              <a:t>; </a:t>
            </a:r>
          </a:p>
          <a:p>
            <a:pPr lvl="1"/>
            <a:r>
              <a:rPr lang="en-US" altLang="zh-CN" sz="1600" dirty="0"/>
              <a:t>it prefers </a:t>
            </a:r>
            <a:r>
              <a:rPr lang="en-US" altLang="zh-CN" sz="1600" b="1" dirty="0"/>
              <a:t>customer routes</a:t>
            </a:r>
            <a:r>
              <a:rPr lang="en-US" altLang="zh-CN" sz="1600" dirty="0"/>
              <a:t> over </a:t>
            </a:r>
            <a:r>
              <a:rPr lang="en-US" altLang="zh-CN" sz="1600" b="1" dirty="0"/>
              <a:t>peer routes</a:t>
            </a:r>
            <a:r>
              <a:rPr lang="en-US" altLang="zh-CN" sz="1600" dirty="0"/>
              <a:t> over </a:t>
            </a:r>
            <a:r>
              <a:rPr lang="en-US" altLang="zh-CN" sz="1600" b="1" dirty="0"/>
              <a:t>provider routes</a:t>
            </a:r>
            <a:r>
              <a:rPr lang="en-US" altLang="zh-CN" sz="1600" dirty="0"/>
              <a:t>; </a:t>
            </a:r>
          </a:p>
          <a:p>
            <a:pPr lvl="1"/>
            <a:r>
              <a:rPr lang="en-US" altLang="zh-CN" sz="1600" dirty="0"/>
              <a:t>it exports </a:t>
            </a:r>
            <a:r>
              <a:rPr lang="en-US" altLang="zh-CN" sz="1600" b="1" dirty="0"/>
              <a:t>customer-learned routes</a:t>
            </a:r>
            <a:r>
              <a:rPr lang="en-US" altLang="zh-CN" sz="1600" dirty="0"/>
              <a:t> to everyone, but </a:t>
            </a:r>
            <a:r>
              <a:rPr lang="en-US" altLang="zh-CN" sz="1600" b="1" dirty="0"/>
              <a:t>peer/provider-learned routes only to customers</a:t>
            </a:r>
            <a:r>
              <a:rPr lang="en-US" altLang="zh-CN" sz="1600" dirty="0"/>
              <a:t>.</a:t>
            </a:r>
          </a:p>
          <a:p>
            <a:pPr lvl="1"/>
            <a:r>
              <a:rPr lang="en-US" altLang="zh-CN" sz="1600" dirty="0">
                <a:solidFill>
                  <a:srgbClr val="FF0000"/>
                </a:solidFill>
              </a:rPr>
              <a:t>Every intermediate AS on a legal path has at least one customer neighbor along that path.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BGP extends distance-vector to implement inter-domain routing.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Destinations are IP prefixes that can be aggregated.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Each AS advertises its path to a prefix.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Policy dictates which paths an AS selects (import policy), and which paths it advertises (export policy).</a:t>
            </a:r>
            <a:endParaRPr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568782-026A-1368-C64A-6D89C3251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F750D-5CD7-DC38-D29B-1C246599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zh-CN" dirty="0"/>
              <a:t>Gao-Rexford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Simplified Rule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C76D3-34A1-5BA4-3C74-AF8E00E2D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458" y="359567"/>
            <a:ext cx="8909700" cy="4530600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1600" dirty="0">
                <a:solidFill>
                  <a:srgbClr val="C00000"/>
                </a:solidFill>
              </a:rPr>
              <a:t>Every intermediate AS on a legal path has at least one customer neighbor along that path.</a:t>
            </a:r>
          </a:p>
          <a:p>
            <a:r>
              <a:rPr lang="en-US" altLang="zh-CN" sz="1600" dirty="0"/>
              <a:t>An "intermediate AS" is any router in the middle of a path (not the source, and not the final destination).</a:t>
            </a:r>
          </a:p>
          <a:p>
            <a:r>
              <a:rPr lang="en-US" altLang="zh-CN" sz="1600" dirty="0"/>
              <a:t>Because routing costs money, an intermediate AS will only carry transit traffic if it is getting paid. Since customers are the only ones who pay an AS, </a:t>
            </a:r>
            <a:r>
              <a:rPr lang="en-US" altLang="zh-CN" sz="1600" b="1" dirty="0"/>
              <a:t>an AS will only act as a middleman if it is making money from at least one of the two directions.</a:t>
            </a:r>
            <a:r>
              <a:rPr lang="en-US" altLang="zh-CN" sz="1600" dirty="0"/>
              <a:t> You can test reachability by tracing the path and checking the middle-men. If even one intermediate AS fails the "customer neighbor" check, the whole path is dead.</a:t>
            </a:r>
          </a:p>
          <a:p>
            <a:r>
              <a:rPr lang="en-US" altLang="zh-CN" sz="1600" dirty="0"/>
              <a:t>If you look at the neighbors immediately before and after the intermediate AS on a given path:</a:t>
            </a:r>
          </a:p>
          <a:p>
            <a:pPr lvl="1"/>
            <a:r>
              <a:rPr lang="en-US" altLang="zh-CN" sz="1600" dirty="0"/>
              <a:t>✅</a:t>
            </a:r>
            <a:r>
              <a:rPr lang="en-US" altLang="zh-CN" sz="1400" dirty="0"/>
              <a:t> </a:t>
            </a:r>
            <a:r>
              <a:rPr lang="en-US" altLang="zh-CN" sz="1400" b="1" dirty="0"/>
              <a:t>Legal (Gets Paid):</a:t>
            </a:r>
            <a:r>
              <a:rPr lang="en-US" altLang="zh-CN" sz="1400" dirty="0"/>
              <a:t> Provider ↔ </a:t>
            </a:r>
            <a:r>
              <a:rPr lang="en-US" altLang="zh-CN" sz="1400" b="1" dirty="0"/>
              <a:t>Intermediate</a:t>
            </a:r>
            <a:r>
              <a:rPr lang="en-US" altLang="zh-CN" sz="1400" dirty="0"/>
              <a:t> ↔ Customer (Has a customer)</a:t>
            </a:r>
          </a:p>
          <a:p>
            <a:pPr lvl="1"/>
            <a:r>
              <a:rPr lang="en-US" altLang="zh-CN" sz="1400" dirty="0"/>
              <a:t>✅ </a:t>
            </a:r>
            <a:r>
              <a:rPr lang="en-US" altLang="zh-CN" sz="1400" b="1" dirty="0"/>
              <a:t>Legal (Gets Paid):</a:t>
            </a:r>
            <a:r>
              <a:rPr lang="en-US" altLang="zh-CN" sz="1400" dirty="0"/>
              <a:t> Peer ↔ </a:t>
            </a:r>
            <a:r>
              <a:rPr lang="en-US" altLang="zh-CN" sz="1400" b="1" dirty="0"/>
              <a:t>Intermediate</a:t>
            </a:r>
            <a:r>
              <a:rPr lang="en-US" altLang="zh-CN" sz="1400" dirty="0"/>
              <a:t> ↔ Customer (Has a customer)</a:t>
            </a:r>
          </a:p>
          <a:p>
            <a:pPr lvl="1"/>
            <a:r>
              <a:rPr lang="en-US" altLang="zh-CN" sz="1400" dirty="0"/>
              <a:t>✅ </a:t>
            </a:r>
            <a:r>
              <a:rPr lang="en-US" altLang="zh-CN" sz="1400" b="1" dirty="0"/>
              <a:t>Legal (Gets Paid):</a:t>
            </a:r>
            <a:r>
              <a:rPr lang="en-US" altLang="zh-CN" sz="1400" dirty="0"/>
              <a:t> Customer ↔ </a:t>
            </a:r>
            <a:r>
              <a:rPr lang="en-US" altLang="zh-CN" sz="1400" b="1" dirty="0"/>
              <a:t>Intermediate</a:t>
            </a:r>
            <a:r>
              <a:rPr lang="en-US" altLang="zh-CN" sz="1400" dirty="0"/>
              <a:t> ↔ Customer (Has two customers!)</a:t>
            </a:r>
          </a:p>
          <a:p>
            <a:pPr lvl="1"/>
            <a:r>
              <a:rPr lang="en-US" altLang="zh-CN" sz="1400" dirty="0"/>
              <a:t>❌ </a:t>
            </a:r>
            <a:r>
              <a:rPr lang="en-US" altLang="zh-CN" sz="1400" b="1" dirty="0"/>
              <a:t>Illegal (Free Transit):</a:t>
            </a:r>
            <a:r>
              <a:rPr lang="en-US" altLang="zh-CN" sz="1400" dirty="0"/>
              <a:t> Provider ↔ </a:t>
            </a:r>
            <a:r>
              <a:rPr lang="en-US" altLang="zh-CN" sz="1400" b="1" dirty="0"/>
              <a:t>Intermediate</a:t>
            </a:r>
            <a:r>
              <a:rPr lang="en-US" altLang="zh-CN" sz="1400" dirty="0"/>
              <a:t> ↔ Provider (No customers)</a:t>
            </a:r>
          </a:p>
          <a:p>
            <a:pPr lvl="1"/>
            <a:r>
              <a:rPr lang="en-US" altLang="zh-CN" sz="1400" dirty="0"/>
              <a:t>❌ </a:t>
            </a:r>
            <a:r>
              <a:rPr lang="en-US" altLang="zh-CN" sz="1400" b="1" dirty="0"/>
              <a:t>Illegal (Free Transit):</a:t>
            </a:r>
            <a:r>
              <a:rPr lang="en-US" altLang="zh-CN" sz="1400" dirty="0"/>
              <a:t> Peer ↔ </a:t>
            </a:r>
            <a:r>
              <a:rPr lang="en-US" altLang="zh-CN" sz="1400" b="1" dirty="0"/>
              <a:t>Intermediate</a:t>
            </a:r>
            <a:r>
              <a:rPr lang="en-US" altLang="zh-CN" sz="1400" dirty="0"/>
              <a:t> ↔ Peer (No customers)</a:t>
            </a:r>
          </a:p>
          <a:p>
            <a:pPr lvl="1"/>
            <a:r>
              <a:rPr lang="en-US" altLang="zh-CN" sz="1400" dirty="0"/>
              <a:t>❌ </a:t>
            </a:r>
            <a:r>
              <a:rPr lang="en-US" altLang="zh-CN" sz="1400" b="1" dirty="0"/>
              <a:t>Illegal (Free Transit):</a:t>
            </a:r>
            <a:r>
              <a:rPr lang="en-US" altLang="zh-CN" sz="1400" dirty="0"/>
              <a:t> Provider ↔ </a:t>
            </a:r>
            <a:r>
              <a:rPr lang="en-US" altLang="zh-CN" sz="1400" b="1" dirty="0"/>
              <a:t>Intermediate</a:t>
            </a:r>
            <a:r>
              <a:rPr lang="en-US" altLang="zh-CN" sz="1400" dirty="0"/>
              <a:t> ↔ Peer (No customers)a</a:t>
            </a:r>
            <a:endParaRPr lang="zh-CN" alt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9DEC3-4F3E-ACE8-9CAA-EBC5CF222E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58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424600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11002</Words>
  <Application>Microsoft Office PowerPoint</Application>
  <PresentationFormat>On-screen Show (16:9)</PresentationFormat>
  <Paragraphs>1340</Paragraphs>
  <Slides>58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Roboto Medium</vt:lpstr>
      <vt:lpstr>Arial</vt:lpstr>
      <vt:lpstr>Roboto Light</vt:lpstr>
      <vt:lpstr>Roboto</vt:lpstr>
      <vt:lpstr>Simple Lecture</vt:lpstr>
      <vt:lpstr>PowerPoint Presentation</vt:lpstr>
      <vt:lpstr>Autonomous Systems</vt:lpstr>
      <vt:lpstr>Intra-Domain vs. Inter-Domain Routing</vt:lpstr>
      <vt:lpstr>Intra-Domain vs. Inter-Domain Routing</vt:lpstr>
      <vt:lpstr>Brief History of Autonomous Systems</vt:lpstr>
      <vt:lpstr>Types of Autonomous Systems</vt:lpstr>
      <vt:lpstr>Business Relationships</vt:lpstr>
      <vt:lpstr>Business Relationships</vt:lpstr>
      <vt:lpstr>AS Graph with Business Relationships</vt:lpstr>
      <vt:lpstr>AS Graph with Business Relationships</vt:lpstr>
      <vt:lpstr>AS Graph is Acyclic</vt:lpstr>
      <vt:lpstr>Tier 1 ASes</vt:lpstr>
      <vt:lpstr>Properties of AS Graphs</vt:lpstr>
      <vt:lpstr>Goals of Inter-Domain Routing: Policy-Based Routing</vt:lpstr>
      <vt:lpstr>Goals of Inter-Domain Routing</vt:lpstr>
      <vt:lpstr>Policy-Based Routing</vt:lpstr>
      <vt:lpstr>Policy-Based Routing</vt:lpstr>
      <vt:lpstr>Gao-Rexford Rules</vt:lpstr>
      <vt:lpstr>Gao-Rexford Rules: Choosing Routes</vt:lpstr>
      <vt:lpstr>Gao-Rexford Rules: Choosing Routes</vt:lpstr>
      <vt:lpstr>Gao-Rexford Rules: Choosing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Policy-Based Routing Example</vt:lpstr>
      <vt:lpstr>Policy-Based Routing Example</vt:lpstr>
      <vt:lpstr>Policy-Based Routing Example</vt:lpstr>
      <vt:lpstr>Policy-Based Routing Example</vt:lpstr>
      <vt:lpstr>Policy-Based Routing Example</vt:lpstr>
      <vt:lpstr>Properties of Routes with Gao-Rexford Rules</vt:lpstr>
      <vt:lpstr>Proving Reachability and Convergence with Gao-Rexford</vt:lpstr>
      <vt:lpstr>Summary: Autonomous Systems, Policy-Based Routing</vt:lpstr>
      <vt:lpstr>BGP: Importing and Exporting</vt:lpstr>
      <vt:lpstr>A Brief History of BGP</vt:lpstr>
      <vt:lpstr>Starting Point: Distance-Vector or Link-State?</vt:lpstr>
      <vt:lpstr>Importing and Exporting Paths</vt:lpstr>
      <vt:lpstr>Importing Paths</vt:lpstr>
      <vt:lpstr>Exporting Paths</vt:lpstr>
      <vt:lpstr>Exporting Paths From Customers</vt:lpstr>
      <vt:lpstr>Exporting Paths From Customers</vt:lpstr>
      <vt:lpstr>Exporting Paths From Peers</vt:lpstr>
      <vt:lpstr>Exporting Paths From Peers</vt:lpstr>
      <vt:lpstr>Exporting Paths From Providers</vt:lpstr>
      <vt:lpstr>Exporting Paths From Providers</vt:lpstr>
      <vt:lpstr>Exporting Paths From Providers</vt:lpstr>
      <vt:lpstr>BGP: Aggregation and Path-Vector</vt:lpstr>
      <vt:lpstr>Modifications from Distance-Vector to BGP</vt:lpstr>
      <vt:lpstr>Modification #1: Aggregating Prefixes</vt:lpstr>
      <vt:lpstr>Modification #1: Aggregating Prefixes</vt:lpstr>
      <vt:lpstr>Modification #2: Distance-Vector → Path-Vector</vt:lpstr>
      <vt:lpstr>Modification #2: Distance-Vector → Path-Vector</vt:lpstr>
      <vt:lpstr>Stub ASes Use Default Routes</vt:lpstr>
      <vt:lpstr>Summary: Inter-Domain Routing</vt:lpstr>
      <vt:lpstr>Gao-Rexford: Simplified Rule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8</cp:revision>
  <dcterms:modified xsi:type="dcterms:W3CDTF">2026-04-08T22:42:31Z</dcterms:modified>
</cp:coreProperties>
</file>