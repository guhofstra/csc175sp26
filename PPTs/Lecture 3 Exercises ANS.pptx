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notesSlides/notesSlide5.xml" ContentType="application/vnd.openxmlformats-officedocument.presentationml.notesSlide+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notesSlides/notesSlide6.xml" ContentType="application/vnd.openxmlformats-officedocument.presentationml.notesSlide+xml"/>
  <Override PartName="/ppt/ink/ink13.xml" ContentType="application/inkml+xml"/>
  <Override PartName="/ppt/ink/ink14.xml" ContentType="application/inkml+xml"/>
  <Override PartName="/ppt/notesSlides/notesSlide7.xml" ContentType="application/vnd.openxmlformats-officedocument.presentationml.notesSlide+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18"/>
  </p:notesMasterIdLst>
  <p:sldIdLst>
    <p:sldId id="257" r:id="rId2"/>
    <p:sldId id="1004" r:id="rId3"/>
    <p:sldId id="1263" r:id="rId4"/>
    <p:sldId id="1266" r:id="rId5"/>
    <p:sldId id="1259" r:id="rId6"/>
    <p:sldId id="1265" r:id="rId7"/>
    <p:sldId id="1267" r:id="rId8"/>
    <p:sldId id="1268" r:id="rId9"/>
    <p:sldId id="1269" r:id="rId10"/>
    <p:sldId id="1270" r:id="rId11"/>
    <p:sldId id="1272" r:id="rId12"/>
    <p:sldId id="1273" r:id="rId13"/>
    <p:sldId id="1274" r:id="rId14"/>
    <p:sldId id="1275" r:id="rId15"/>
    <p:sldId id="1276" r:id="rId16"/>
    <p:sldId id="1277" r:id="rId17"/>
  </p:sldIdLst>
  <p:sldSz cx="9144000" cy="5143500" type="screen16x9"/>
  <p:notesSz cx="6858000" cy="9144000"/>
  <p:embeddedFontLst>
    <p:embeddedFont>
      <p:font typeface="ＭＳ Ｐゴシック" panose="020B0600070205080204" pitchFamily="34" charset="-128"/>
      <p:regular r:id="rId19"/>
    </p:embeddedFont>
    <p:embeddedFont>
      <p:font typeface="Cambria Math" panose="02040503050406030204" pitchFamily="18" charset="0"/>
      <p:regular r:id="rId20"/>
    </p:embeddedFont>
    <p:embeddedFont>
      <p:font typeface="Roboto" panose="02000000000000000000" pitchFamily="2" charset="0"/>
      <p:regular r:id="rId21"/>
      <p:bold r:id="rId22"/>
      <p:italic r:id="rId23"/>
      <p:boldItalic r:id="rId24"/>
    </p:embeddedFont>
    <p:embeddedFont>
      <p:font typeface="Roboto Light" panose="02000000000000000000" pitchFamily="2" charset="0"/>
      <p:regular r:id="rId25"/>
      <p:bold r:id="rId26"/>
      <p:italic r:id="rId27"/>
      <p:boldItalic r:id="rId28"/>
    </p:embeddedFont>
    <p:embeddedFont>
      <p:font typeface="Roboto Medium" panose="02000000000000000000" pitchFamily="2" charset="0"/>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16DF321-CFFE-45A2-82D9-C165B3959C78}" v="428" dt="2026-02-01T03:13:59.9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092" autoAdjust="0"/>
  </p:normalViewPr>
  <p:slideViewPr>
    <p:cSldViewPr snapToGrid="0">
      <p:cViewPr varScale="1">
        <p:scale>
          <a:sx n="89" d="100"/>
          <a:sy n="89" d="100"/>
        </p:scale>
        <p:origin x="1282" y="62"/>
      </p:cViewPr>
      <p:guideLst/>
    </p:cSldViewPr>
  </p:slideViewPr>
  <p:notesTextViewPr>
    <p:cViewPr>
      <p:scale>
        <a:sx n="1" d="1"/>
        <a:sy n="1" d="1"/>
      </p:scale>
      <p:origin x="0" y="0"/>
    </p:cViewPr>
  </p:notesTextViewPr>
  <p:sorterViewPr>
    <p:cViewPr>
      <p:scale>
        <a:sx n="100" d="100"/>
        <a:sy n="100" d="100"/>
      </p:scale>
      <p:origin x="0" y="-96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21" Type="http://schemas.openxmlformats.org/officeDocument/2006/relationships/font" Target="fonts/font3.fntdata"/><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font" Target="fonts/font14.fntdata"/><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modMainMaster">
      <pc:chgData name="Zonghua Gu" userId="9a7e1853e1951ef5" providerId="LiveId" clId="{CF1FAA12-072C-4ED5-BA76-0FFFAEFDB88A}" dt="2026-02-01T03:14:30.310" v="1138"/>
      <pc:docMkLst>
        <pc:docMk/>
      </pc:docMkLst>
      <pc:sldChg chg="modSp mod">
        <pc:chgData name="Zonghua Gu" userId="9a7e1853e1951ef5" providerId="LiveId" clId="{CF1FAA12-072C-4ED5-BA76-0FFFAEFDB88A}" dt="2026-02-01T02:47:37.758" v="645" actId="20577"/>
        <pc:sldMkLst>
          <pc:docMk/>
          <pc:sldMk cId="0" sldId="257"/>
        </pc:sldMkLst>
        <pc:spChg chg="mod">
          <ac:chgData name="Zonghua Gu" userId="9a7e1853e1951ef5" providerId="LiveId" clId="{CF1FAA12-072C-4ED5-BA76-0FFFAEFDB88A}" dt="2026-02-01T02:47:37.758" v="645" actId="20577"/>
          <ac:spMkLst>
            <pc:docMk/>
            <pc:sldMk cId="0" sldId="257"/>
            <ac:spMk id="167" creationId="{00000000-0000-0000-0000-000000000000}"/>
          </ac:spMkLst>
        </pc:spChg>
      </pc:sldChg>
      <pc:sldChg chg="modSp mod">
        <pc:chgData name="Zonghua Gu" userId="9a7e1853e1951ef5" providerId="LiveId" clId="{CF1FAA12-072C-4ED5-BA76-0FFFAEFDB88A}" dt="2026-01-30T02:33:26.862" v="254" actId="20577"/>
        <pc:sldMkLst>
          <pc:docMk/>
          <pc:sldMk cId="1533311895" sldId="1259"/>
        </pc:sldMkLst>
        <pc:spChg chg="mod">
          <ac:chgData name="Zonghua Gu" userId="9a7e1853e1951ef5" providerId="LiveId" clId="{CF1FAA12-072C-4ED5-BA76-0FFFAEFDB88A}" dt="2026-01-30T02:33:26.862" v="254" actId="20577"/>
          <ac:spMkLst>
            <pc:docMk/>
            <pc:sldMk cId="1533311895" sldId="1259"/>
            <ac:spMk id="3" creationId="{F2B8676C-9679-44F2-BCB3-BE98A23F06B6}"/>
          </ac:spMkLst>
        </pc:spChg>
      </pc:sldChg>
      <pc:sldChg chg="modSp mod">
        <pc:chgData name="Zonghua Gu" userId="9a7e1853e1951ef5" providerId="LiveId" clId="{CF1FAA12-072C-4ED5-BA76-0FFFAEFDB88A}" dt="2026-01-30T02:24:31.467" v="81" actId="20577"/>
        <pc:sldMkLst>
          <pc:docMk/>
          <pc:sldMk cId="547263288" sldId="1265"/>
        </pc:sldMkLst>
        <pc:spChg chg="mod">
          <ac:chgData name="Zonghua Gu" userId="9a7e1853e1951ef5" providerId="LiveId" clId="{CF1FAA12-072C-4ED5-BA76-0FFFAEFDB88A}" dt="2026-01-30T02:24:31.467" v="81" actId="20577"/>
          <ac:spMkLst>
            <pc:docMk/>
            <pc:sldMk cId="547263288" sldId="1265"/>
            <ac:spMk id="3" creationId="{AAF29413-F7B6-95BF-4926-E80D77CE1F99}"/>
          </ac:spMkLst>
        </pc:spChg>
      </pc:sldChg>
      <pc:sldChg chg="delSp modSp add mod">
        <pc:chgData name="Zonghua Gu" userId="9a7e1853e1951ef5" providerId="LiveId" clId="{CF1FAA12-072C-4ED5-BA76-0FFFAEFDB88A}" dt="2026-01-30T02:25:23.796" v="164" actId="20577"/>
        <pc:sldMkLst>
          <pc:docMk/>
          <pc:sldMk cId="3787782379" sldId="1267"/>
        </pc:sldMkLst>
        <pc:spChg chg="mod">
          <ac:chgData name="Zonghua Gu" userId="9a7e1853e1951ef5" providerId="LiveId" clId="{CF1FAA12-072C-4ED5-BA76-0FFFAEFDB88A}" dt="2026-01-30T02:20:41.941" v="2" actId="20577"/>
          <ac:spMkLst>
            <pc:docMk/>
            <pc:sldMk cId="3787782379" sldId="1267"/>
            <ac:spMk id="2" creationId="{D6C796FF-6B04-3C50-3911-52B6AB202DBA}"/>
          </ac:spMkLst>
        </pc:spChg>
        <pc:spChg chg="mod">
          <ac:chgData name="Zonghua Gu" userId="9a7e1853e1951ef5" providerId="LiveId" clId="{CF1FAA12-072C-4ED5-BA76-0FFFAEFDB88A}" dt="2026-01-30T02:25:23.796" v="164" actId="20577"/>
          <ac:spMkLst>
            <pc:docMk/>
            <pc:sldMk cId="3787782379" sldId="1267"/>
            <ac:spMk id="3" creationId="{E5A0EDEB-DF4F-02F2-0219-D7E5E5242A29}"/>
          </ac:spMkLst>
        </pc:spChg>
      </pc:sldChg>
      <pc:sldChg chg="modSp add mod">
        <pc:chgData name="Zonghua Gu" userId="9a7e1853e1951ef5" providerId="LiveId" clId="{CF1FAA12-072C-4ED5-BA76-0FFFAEFDB88A}" dt="2026-02-01T03:14:17.884" v="1136" actId="1076"/>
        <pc:sldMkLst>
          <pc:docMk/>
          <pc:sldMk cId="1696198607" sldId="1268"/>
        </pc:sldMkLst>
        <pc:spChg chg="mod">
          <ac:chgData name="Zonghua Gu" userId="9a7e1853e1951ef5" providerId="LiveId" clId="{CF1FAA12-072C-4ED5-BA76-0FFFAEFDB88A}" dt="2026-01-30T02:22:07.295" v="30" actId="14100"/>
          <ac:spMkLst>
            <pc:docMk/>
            <pc:sldMk cId="1696198607" sldId="1268"/>
            <ac:spMk id="2" creationId="{7DE68150-C920-EE05-AEC2-745546471785}"/>
          </ac:spMkLst>
        </pc:spChg>
        <pc:spChg chg="mod">
          <ac:chgData name="Zonghua Gu" userId="9a7e1853e1951ef5" providerId="LiveId" clId="{CF1FAA12-072C-4ED5-BA76-0FFFAEFDB88A}" dt="2026-02-01T03:14:17.884" v="1136" actId="1076"/>
          <ac:spMkLst>
            <pc:docMk/>
            <pc:sldMk cId="1696198607" sldId="1268"/>
            <ac:spMk id="3" creationId="{986DDED0-DD66-63C1-CEC6-FDA581D3FB0B}"/>
          </ac:spMkLst>
        </pc:spChg>
      </pc:sldChg>
      <pc:sldChg chg="modSp add mod">
        <pc:chgData name="Zonghua Gu" userId="9a7e1853e1951ef5" providerId="LiveId" clId="{CF1FAA12-072C-4ED5-BA76-0FFFAEFDB88A}" dt="2026-01-30T02:28:24.975" v="180" actId="20577"/>
        <pc:sldMkLst>
          <pc:docMk/>
          <pc:sldMk cId="3940767055" sldId="1269"/>
        </pc:sldMkLst>
        <pc:spChg chg="mod">
          <ac:chgData name="Zonghua Gu" userId="9a7e1853e1951ef5" providerId="LiveId" clId="{CF1FAA12-072C-4ED5-BA76-0FFFAEFDB88A}" dt="2026-01-30T02:27:16.975" v="169" actId="20577"/>
          <ac:spMkLst>
            <pc:docMk/>
            <pc:sldMk cId="3940767055" sldId="1269"/>
            <ac:spMk id="2" creationId="{247AE1F6-D8E5-0339-7CA0-4F67013794D3}"/>
          </ac:spMkLst>
        </pc:spChg>
        <pc:spChg chg="mod">
          <ac:chgData name="Zonghua Gu" userId="9a7e1853e1951ef5" providerId="LiveId" clId="{CF1FAA12-072C-4ED5-BA76-0FFFAEFDB88A}" dt="2026-01-30T02:28:24.975" v="180" actId="20577"/>
          <ac:spMkLst>
            <pc:docMk/>
            <pc:sldMk cId="3940767055" sldId="1269"/>
            <ac:spMk id="3" creationId="{AF542915-B4F9-DBBE-C4D4-2041C46C8D1C}"/>
          </ac:spMkLst>
        </pc:spChg>
      </pc:sldChg>
      <pc:sldChg chg="modSp add mod">
        <pc:chgData name="Zonghua Gu" userId="9a7e1853e1951ef5" providerId="LiveId" clId="{CF1FAA12-072C-4ED5-BA76-0FFFAEFDB88A}" dt="2026-01-30T02:53:18.910" v="630" actId="5793"/>
        <pc:sldMkLst>
          <pc:docMk/>
          <pc:sldMk cId="2472874222" sldId="1270"/>
        </pc:sldMkLst>
        <pc:spChg chg="mod">
          <ac:chgData name="Zonghua Gu" userId="9a7e1853e1951ef5" providerId="LiveId" clId="{CF1FAA12-072C-4ED5-BA76-0FFFAEFDB88A}" dt="2026-01-30T02:53:10.999" v="626" actId="20577"/>
          <ac:spMkLst>
            <pc:docMk/>
            <pc:sldMk cId="2472874222" sldId="1270"/>
            <ac:spMk id="2" creationId="{A48BADFC-134D-1D9E-796C-50BE1A88812E}"/>
          </ac:spMkLst>
        </pc:spChg>
        <pc:spChg chg="mod">
          <ac:chgData name="Zonghua Gu" userId="9a7e1853e1951ef5" providerId="LiveId" clId="{CF1FAA12-072C-4ED5-BA76-0FFFAEFDB88A}" dt="2026-01-30T02:53:18.910" v="630" actId="5793"/>
          <ac:spMkLst>
            <pc:docMk/>
            <pc:sldMk cId="2472874222" sldId="1270"/>
            <ac:spMk id="3" creationId="{C3262BEE-8C80-914D-3D07-05C465837FA0}"/>
          </ac:spMkLst>
        </pc:spChg>
      </pc:sldChg>
      <pc:sldChg chg="addSp modSp add mod modNotes">
        <pc:chgData name="Zonghua Gu" userId="9a7e1853e1951ef5" providerId="LiveId" clId="{CF1FAA12-072C-4ED5-BA76-0FFFAEFDB88A}" dt="2026-01-30T02:53:59.322" v="640" actId="20577"/>
        <pc:sldMkLst>
          <pc:docMk/>
          <pc:sldMk cId="2247612272" sldId="1272"/>
        </pc:sldMkLst>
        <pc:spChg chg="mod">
          <ac:chgData name="Zonghua Gu" userId="9a7e1853e1951ef5" providerId="LiveId" clId="{CF1FAA12-072C-4ED5-BA76-0FFFAEFDB88A}" dt="2026-01-30T02:53:42.635" v="635" actId="20577"/>
          <ac:spMkLst>
            <pc:docMk/>
            <pc:sldMk cId="2247612272" sldId="1272"/>
            <ac:spMk id="2" creationId="{BEAD83E8-8F76-9C17-5ABB-915FFC20352B}"/>
          </ac:spMkLst>
        </pc:spChg>
        <pc:spChg chg="mod">
          <ac:chgData name="Zonghua Gu" userId="9a7e1853e1951ef5" providerId="LiveId" clId="{CF1FAA12-072C-4ED5-BA76-0FFFAEFDB88A}" dt="2026-01-30T02:53:59.322" v="640" actId="20577"/>
          <ac:spMkLst>
            <pc:docMk/>
            <pc:sldMk cId="2247612272" sldId="1272"/>
            <ac:spMk id="3" creationId="{5128AC50-2E5A-BA00-9067-9CDF801D2F2F}"/>
          </ac:spMkLst>
        </pc:spChg>
      </pc:sldChg>
      <pc:sldChg chg="modSp add mod">
        <pc:chgData name="Zonghua Gu" userId="9a7e1853e1951ef5" providerId="LiveId" clId="{CF1FAA12-072C-4ED5-BA76-0FFFAEFDB88A}" dt="2026-01-30T02:54:19.912" v="642" actId="20577"/>
        <pc:sldMkLst>
          <pc:docMk/>
          <pc:sldMk cId="2647804915" sldId="1273"/>
        </pc:sldMkLst>
        <pc:spChg chg="mod">
          <ac:chgData name="Zonghua Gu" userId="9a7e1853e1951ef5" providerId="LiveId" clId="{CF1FAA12-072C-4ED5-BA76-0FFFAEFDB88A}" dt="2026-01-30T02:53:38.228" v="634" actId="20577"/>
          <ac:spMkLst>
            <pc:docMk/>
            <pc:sldMk cId="2647804915" sldId="1273"/>
            <ac:spMk id="2" creationId="{7A0A17A1-BF40-43B6-9911-CCD0F0E16811}"/>
          </ac:spMkLst>
        </pc:spChg>
        <pc:spChg chg="mod">
          <ac:chgData name="Zonghua Gu" userId="9a7e1853e1951ef5" providerId="LiveId" clId="{CF1FAA12-072C-4ED5-BA76-0FFFAEFDB88A}" dt="2026-01-30T02:54:19.912" v="642" actId="20577"/>
          <ac:spMkLst>
            <pc:docMk/>
            <pc:sldMk cId="2647804915" sldId="1273"/>
            <ac:spMk id="3" creationId="{3724FA8A-497E-41ED-C4BD-72F5FC280FAE}"/>
          </ac:spMkLst>
        </pc:spChg>
      </pc:sldChg>
      <pc:sldChg chg="new del">
        <pc:chgData name="Zonghua Gu" userId="9a7e1853e1951ef5" providerId="LiveId" clId="{CF1FAA12-072C-4ED5-BA76-0FFFAEFDB88A}" dt="2026-02-01T02:48:06.048" v="647" actId="680"/>
        <pc:sldMkLst>
          <pc:docMk/>
          <pc:sldMk cId="2066151820" sldId="1274"/>
        </pc:sldMkLst>
      </pc:sldChg>
      <pc:sldChg chg="addSp modSp add mod">
        <pc:chgData name="Zonghua Gu" userId="9a7e1853e1951ef5" providerId="LiveId" clId="{CF1FAA12-072C-4ED5-BA76-0FFFAEFDB88A}" dt="2026-02-01T03:01:10.496" v="945" actId="27636"/>
        <pc:sldMkLst>
          <pc:docMk/>
          <pc:sldMk cId="4059797061" sldId="1274"/>
        </pc:sldMkLst>
        <pc:spChg chg="mod">
          <ac:chgData name="Zonghua Gu" userId="9a7e1853e1951ef5" providerId="LiveId" clId="{CF1FAA12-072C-4ED5-BA76-0FFFAEFDB88A}" dt="2026-02-01T02:59:34.828" v="906" actId="20577"/>
          <ac:spMkLst>
            <pc:docMk/>
            <pc:sldMk cId="4059797061" sldId="1274"/>
            <ac:spMk id="2" creationId="{A32FC9C6-5635-D4CB-5A42-F596F5C4907C}"/>
          </ac:spMkLst>
        </pc:spChg>
        <pc:spChg chg="mod">
          <ac:chgData name="Zonghua Gu" userId="9a7e1853e1951ef5" providerId="LiveId" clId="{CF1FAA12-072C-4ED5-BA76-0FFFAEFDB88A}" dt="2026-02-01T03:01:10.496" v="945" actId="27636"/>
          <ac:spMkLst>
            <pc:docMk/>
            <pc:sldMk cId="4059797061" sldId="1274"/>
            <ac:spMk id="3" creationId="{08B1A53D-BE96-9908-6EB6-D5CF7B0E825C}"/>
          </ac:spMkLst>
        </pc:spChg>
        <pc:picChg chg="add mod">
          <ac:chgData name="Zonghua Gu" userId="9a7e1853e1951ef5" providerId="LiveId" clId="{CF1FAA12-072C-4ED5-BA76-0FFFAEFDB88A}" dt="2026-02-01T02:52:23.400" v="734" actId="1076"/>
          <ac:picMkLst>
            <pc:docMk/>
            <pc:sldMk cId="4059797061" sldId="1274"/>
            <ac:picMk id="5" creationId="{DD8101C4-61B5-B86D-2A93-BCAF5BD00D59}"/>
          </ac:picMkLst>
        </pc:picChg>
      </pc:sldChg>
      <pc:sldChg chg="modSp add mod ord">
        <pc:chgData name="Zonghua Gu" userId="9a7e1853e1951ef5" providerId="LiveId" clId="{CF1FAA12-072C-4ED5-BA76-0FFFAEFDB88A}" dt="2026-02-01T03:14:30.310" v="1138"/>
        <pc:sldMkLst>
          <pc:docMk/>
          <pc:sldMk cId="661331575" sldId="1275"/>
        </pc:sldMkLst>
        <pc:spChg chg="mod">
          <ac:chgData name="Zonghua Gu" userId="9a7e1853e1951ef5" providerId="LiveId" clId="{CF1FAA12-072C-4ED5-BA76-0FFFAEFDB88A}" dt="2026-02-01T03:11:31.269" v="1070" actId="14100"/>
          <ac:spMkLst>
            <pc:docMk/>
            <pc:sldMk cId="661331575" sldId="1275"/>
            <ac:spMk id="2" creationId="{61F00D06-4459-E1AF-4433-EB7EB451761C}"/>
          </ac:spMkLst>
        </pc:spChg>
        <pc:spChg chg="mod">
          <ac:chgData name="Zonghua Gu" userId="9a7e1853e1951ef5" providerId="LiveId" clId="{CF1FAA12-072C-4ED5-BA76-0FFFAEFDB88A}" dt="2026-02-01T02:59:13.571" v="904" actId="20577"/>
          <ac:spMkLst>
            <pc:docMk/>
            <pc:sldMk cId="661331575" sldId="1275"/>
            <ac:spMk id="3" creationId="{BCD90292-74C8-9145-40C4-220F2EBBDB5A}"/>
          </ac:spMkLst>
        </pc:spChg>
        <pc:picChg chg="mod">
          <ac:chgData name="Zonghua Gu" userId="9a7e1853e1951ef5" providerId="LiveId" clId="{CF1FAA12-072C-4ED5-BA76-0FFFAEFDB88A}" dt="2026-02-01T02:54:31.614" v="793" actId="1076"/>
          <ac:picMkLst>
            <pc:docMk/>
            <pc:sldMk cId="661331575" sldId="1275"/>
            <ac:picMk id="5" creationId="{82263838-146D-C20D-CD01-6B1CDBC1F761}"/>
          </ac:picMkLst>
        </pc:picChg>
      </pc:sldChg>
      <pc:sldChg chg="modSp add mod">
        <pc:chgData name="Zonghua Gu" userId="9a7e1853e1951ef5" providerId="LiveId" clId="{CF1FAA12-072C-4ED5-BA76-0FFFAEFDB88A}" dt="2026-02-01T03:12:34.894" v="1116" actId="20577"/>
        <pc:sldMkLst>
          <pc:docMk/>
          <pc:sldMk cId="349922459" sldId="1276"/>
        </pc:sldMkLst>
        <pc:spChg chg="mod">
          <ac:chgData name="Zonghua Gu" userId="9a7e1853e1951ef5" providerId="LiveId" clId="{CF1FAA12-072C-4ED5-BA76-0FFFAEFDB88A}" dt="2026-02-01T02:59:57.031" v="913" actId="20577"/>
          <ac:spMkLst>
            <pc:docMk/>
            <pc:sldMk cId="349922459" sldId="1276"/>
            <ac:spMk id="2" creationId="{21CF0434-D174-6BE2-1629-31C6E6E7EF45}"/>
          </ac:spMkLst>
        </pc:spChg>
        <pc:spChg chg="mod">
          <ac:chgData name="Zonghua Gu" userId="9a7e1853e1951ef5" providerId="LiveId" clId="{CF1FAA12-072C-4ED5-BA76-0FFFAEFDB88A}" dt="2026-02-01T03:12:34.894" v="1116" actId="20577"/>
          <ac:spMkLst>
            <pc:docMk/>
            <pc:sldMk cId="349922459" sldId="1276"/>
            <ac:spMk id="3" creationId="{074BA215-8363-02BC-EBDF-A16B8D17B68B}"/>
          </ac:spMkLst>
        </pc:spChg>
        <pc:picChg chg="mod">
          <ac:chgData name="Zonghua Gu" userId="9a7e1853e1951ef5" providerId="LiveId" clId="{CF1FAA12-072C-4ED5-BA76-0FFFAEFDB88A}" dt="2026-02-01T03:11:16.125" v="1065" actId="1076"/>
          <ac:picMkLst>
            <pc:docMk/>
            <pc:sldMk cId="349922459" sldId="1276"/>
            <ac:picMk id="5" creationId="{7FA3061E-A000-9427-7DFB-24A54F3921DF}"/>
          </ac:picMkLst>
        </pc:picChg>
      </pc:sldChg>
      <pc:sldChg chg="new del">
        <pc:chgData name="Zonghua Gu" userId="9a7e1853e1951ef5" providerId="LiveId" clId="{CF1FAA12-072C-4ED5-BA76-0FFFAEFDB88A}" dt="2026-02-01T02:59:37.790" v="908" actId="680"/>
        <pc:sldMkLst>
          <pc:docMk/>
          <pc:sldMk cId="2143236628" sldId="1276"/>
        </pc:sldMkLst>
      </pc:sldChg>
      <pc:sldChg chg="modSp add mod">
        <pc:chgData name="Zonghua Gu" userId="9a7e1853e1951ef5" providerId="LiveId" clId="{CF1FAA12-072C-4ED5-BA76-0FFFAEFDB88A}" dt="2026-02-01T03:13:23.614" v="1135" actId="20577"/>
        <pc:sldMkLst>
          <pc:docMk/>
          <pc:sldMk cId="623579125" sldId="1277"/>
        </pc:sldMkLst>
        <pc:spChg chg="mod">
          <ac:chgData name="Zonghua Gu" userId="9a7e1853e1951ef5" providerId="LiveId" clId="{CF1FAA12-072C-4ED5-BA76-0FFFAEFDB88A}" dt="2026-02-01T03:11:46.960" v="1081" actId="1076"/>
          <ac:spMkLst>
            <pc:docMk/>
            <pc:sldMk cId="623579125" sldId="1277"/>
            <ac:spMk id="2" creationId="{BCD43FDC-6B0A-1999-F9EC-ECC81C570141}"/>
          </ac:spMkLst>
        </pc:spChg>
        <pc:spChg chg="mod">
          <ac:chgData name="Zonghua Gu" userId="9a7e1853e1951ef5" providerId="LiveId" clId="{CF1FAA12-072C-4ED5-BA76-0FFFAEFDB88A}" dt="2026-02-01T03:13:23.614" v="1135" actId="20577"/>
          <ac:spMkLst>
            <pc:docMk/>
            <pc:sldMk cId="623579125" sldId="1277"/>
            <ac:spMk id="3" creationId="{BB363AB7-8BDB-FC7D-22A1-C299003B130E}"/>
          </ac:spMkLst>
        </pc:spChg>
      </pc:sldChg>
      <pc:sldMasterChg chg="modSldLayout">
        <pc:chgData name="Zonghua Gu" userId="9a7e1853e1951ef5" providerId="LiveId" clId="{CF1FAA12-072C-4ED5-BA76-0FFFAEFDB88A}" dt="2026-02-01T02:52:48.662" v="738" actId="20577"/>
        <pc:sldMasterMkLst>
          <pc:docMk/>
          <pc:sldMasterMk cId="0" sldId="2147483670"/>
        </pc:sldMasterMkLst>
        <pc:sldLayoutChg chg="modSp mod">
          <pc:chgData name="Zonghua Gu" userId="9a7e1853e1951ef5" providerId="LiveId" clId="{CF1FAA12-072C-4ED5-BA76-0FFFAEFDB88A}" dt="2026-02-01T02:52:48.662" v="738" actId="20577"/>
          <pc:sldLayoutMkLst>
            <pc:docMk/>
            <pc:sldMasterMk cId="0" sldId="2147483670"/>
            <pc:sldLayoutMk cId="1180794181" sldId="2147483671"/>
          </pc:sldLayoutMkLst>
          <pc:spChg chg="mod">
            <ac:chgData name="Zonghua Gu" userId="9a7e1853e1951ef5" providerId="LiveId" clId="{CF1FAA12-072C-4ED5-BA76-0FFFAEFDB88A}" dt="2026-02-01T02:52:48.662" v="738" actId="20577"/>
            <ac:spMkLst>
              <pc:docMk/>
              <pc:sldMasterMk cId="0" sldId="2147483670"/>
              <pc:sldLayoutMk cId="1180794181" sldId="2147483671"/>
              <ac:spMk id="10" creationId="{2E873D4E-4EDA-1349-AB14-5DC995BFCD39}"/>
            </ac:spMkLst>
          </pc:spChg>
        </pc:sldLayoutChg>
      </pc:sldMaster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5.33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6.29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7.146"/>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8.01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7.146"/>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8.01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7.146"/>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8.01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7.146"/>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8.01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7.146"/>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8.01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7.146"/>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8.01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7.146"/>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8.01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7.146"/>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8.01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7.146"/>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8.01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7.146"/>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8.01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7.146"/>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8.01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2efe69fe1a6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2efe69fe1a6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here's the outline we're going</a:t>
            </a:r>
            <a:endParaRPr/>
          </a:p>
          <a:p>
            <a:pPr marL="0" lvl="0" indent="0" algn="l" rtl="0">
              <a:spcBef>
                <a:spcPts val="0"/>
              </a:spcBef>
              <a:spcAft>
                <a:spcPts val="0"/>
              </a:spcAft>
              <a:buNone/>
            </a:pPr>
            <a:r>
              <a:rPr lang="en"/>
              <a:t>38:16</a:t>
            </a:r>
            <a:endParaRPr/>
          </a:p>
          <a:p>
            <a:pPr marL="0" lvl="0" indent="0" algn="l" rtl="0">
              <a:spcBef>
                <a:spcPts val="0"/>
              </a:spcBef>
              <a:spcAft>
                <a:spcPts val="0"/>
              </a:spcAft>
              <a:buNone/>
            </a:pPr>
            <a:r>
              <a:rPr lang="en"/>
              <a:t>to start by talking about links in a lot of detail think about how you measure the performance of links what makes a</a:t>
            </a:r>
            <a:endParaRPr/>
          </a:p>
          <a:p>
            <a:pPr marL="0" lvl="0" indent="0" algn="l" rtl="0">
              <a:spcBef>
                <a:spcPts val="0"/>
              </a:spcBef>
              <a:spcAft>
                <a:spcPts val="0"/>
              </a:spcAft>
              <a:buNone/>
            </a:pPr>
            <a:r>
              <a:rPr lang="en"/>
              <a:t>38:21</a:t>
            </a:r>
            <a:endParaRPr/>
          </a:p>
          <a:p>
            <a:pPr marL="0" lvl="0" indent="0" algn="l" rtl="0">
              <a:spcBef>
                <a:spcPts val="0"/>
              </a:spcBef>
              <a:spcAft>
                <a:spcPts val="0"/>
              </a:spcAft>
              <a:buNone/>
            </a:pPr>
            <a:r>
              <a:rPr lang="en"/>
              <a:t>link good what makes a link bad what are the trade-offs we'll talk about what happens if links get overloaded and then</a:t>
            </a:r>
            <a:endParaRPr/>
          </a:p>
          <a:p>
            <a:pPr marL="0" lvl="0" indent="0" algn="l" rtl="0">
              <a:spcBef>
                <a:spcPts val="0"/>
              </a:spcBef>
              <a:spcAft>
                <a:spcPts val="0"/>
              </a:spcAft>
              <a:buNone/>
            </a:pPr>
            <a:r>
              <a:rPr lang="en"/>
              <a:t>38:27</a:t>
            </a:r>
            <a:endParaRPr/>
          </a:p>
          <a:p>
            <a:pPr marL="0" lvl="0" indent="0" algn="l" rtl="0">
              <a:spcBef>
                <a:spcPts val="0"/>
              </a:spcBef>
              <a:spcAft>
                <a:spcPts val="0"/>
              </a:spcAft>
              <a:buNone/>
            </a:pPr>
            <a:r>
              <a:rPr lang="en"/>
              <a:t>the very end now that we finished all of the introduction I can actually give you a preview of all the topics you're going</a:t>
            </a:r>
            <a:endParaRPr/>
          </a:p>
          <a:p>
            <a:pPr marL="0" lvl="0" indent="0" algn="l" rtl="0">
              <a:spcBef>
                <a:spcPts val="0"/>
              </a:spcBef>
              <a:spcAft>
                <a:spcPts val="0"/>
              </a:spcAft>
              <a:buNone/>
            </a:pPr>
            <a:r>
              <a:rPr lang="en"/>
              <a:t>38:33</a:t>
            </a:r>
            <a:endParaRPr/>
          </a:p>
          <a:p>
            <a:pPr marL="0" lvl="0" indent="0" algn="l" rtl="0">
              <a:spcBef>
                <a:spcPts val="0"/>
              </a:spcBef>
              <a:spcAft>
                <a:spcPts val="0"/>
              </a:spcAft>
              <a:buNone/>
            </a:pPr>
            <a:r>
              <a:rPr lang="en"/>
              <a:t>to see in a lot more detail so these three sets of lectures have really been about giving you a highlevel 10,000 foot</a:t>
            </a:r>
            <a:endParaRPr/>
          </a:p>
          <a:p>
            <a:pPr marL="0" lvl="0" indent="0" algn="l" rtl="0">
              <a:spcBef>
                <a:spcPts val="0"/>
              </a:spcBef>
              <a:spcAft>
                <a:spcPts val="0"/>
              </a:spcAft>
              <a:buNone/>
            </a:pPr>
            <a:r>
              <a:rPr lang="en"/>
              <a:t>38:39</a:t>
            </a:r>
            <a:endParaRPr/>
          </a:p>
          <a:p>
            <a:pPr marL="0" lvl="0" indent="0" algn="l" rtl="0">
              <a:spcBef>
                <a:spcPts val="0"/>
              </a:spcBef>
              <a:spcAft>
                <a:spcPts val="0"/>
              </a:spcAft>
              <a:buNone/>
            </a:pPr>
            <a:r>
              <a:rPr lang="en"/>
              <a:t>picture of what you're going to see this semester and then at the very end I'll show you the exact places where we'll be</a:t>
            </a:r>
            <a:endParaRPr/>
          </a:p>
          <a:p>
            <a:pPr marL="0" lvl="0" indent="0" algn="l" rtl="0">
              <a:spcBef>
                <a:spcPts val="0"/>
              </a:spcBef>
              <a:spcAft>
                <a:spcPts val="0"/>
              </a:spcAft>
              <a:buNone/>
            </a:pPr>
            <a:r>
              <a:rPr lang="en"/>
              <a:t>38:45</a:t>
            </a:r>
            <a:endParaRPr/>
          </a:p>
          <a:p>
            <a:pPr marL="0" lvl="0" indent="0" algn="l" rtl="0">
              <a:spcBef>
                <a:spcPts val="0"/>
              </a:spcBef>
              <a:spcAft>
                <a:spcPts val="0"/>
              </a:spcAft>
              <a:buNone/>
            </a:pPr>
            <a:r>
              <a:rPr lang="en"/>
              <a:t>really diving in and talking about things in lots more detail but before we get there let's not get ahead of</a:t>
            </a:r>
            <a:endParaRPr/>
          </a:p>
          <a:p>
            <a:pPr marL="0" lvl="0" indent="0" algn="l" rtl="0">
              <a:spcBef>
                <a:spcPts val="0"/>
              </a:spcBef>
              <a:spcAft>
                <a:spcPts val="0"/>
              </a:spcAft>
              <a:buNone/>
            </a:pPr>
            <a:r>
              <a:rPr lang="en"/>
              <a:t>38:50</a:t>
            </a:r>
            <a:endParaRPr/>
          </a:p>
          <a:p>
            <a:pPr marL="0" lvl="0" indent="0" algn="l" rtl="0">
              <a:spcBef>
                <a:spcPts val="0"/>
              </a:spcBef>
              <a:spcAft>
                <a:spcPts val="0"/>
              </a:spcAft>
              <a:buNone/>
            </a:pPr>
            <a:r>
              <a:rPr lang="en"/>
              <a:t>ourselves let's start with talking about links and how to measure their performanc</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264319" indent="-221456" defTabSz="685800">
              <a:spcBef>
                <a:spcPts val="450"/>
              </a:spcBef>
              <a:buNone/>
              <a:defRPr/>
            </a:pPr>
            <a:r>
              <a:rPr lang="en-US" sz="1400" i="1" dirty="0" err="1">
                <a:solidFill>
                  <a:srgbClr val="CC0000"/>
                </a:solidFill>
                <a:latin typeface="Calibri" panose="020F0502020204030204"/>
              </a:rPr>
              <a:t>d</a:t>
            </a:r>
            <a:r>
              <a:rPr lang="en-US" sz="1400" baseline="-25000" dirty="0" err="1">
                <a:solidFill>
                  <a:srgbClr val="CC0000"/>
                </a:solidFill>
                <a:latin typeface="Calibri" panose="020F0502020204030204"/>
              </a:rPr>
              <a:t>proc</a:t>
            </a:r>
            <a:r>
              <a:rPr lang="en-US" sz="1400" dirty="0">
                <a:solidFill>
                  <a:srgbClr val="CC0000"/>
                </a:solidFill>
                <a:latin typeface="Calibri" panose="020F0502020204030204"/>
              </a:rPr>
              <a:t>: nodal processing</a:t>
            </a:r>
            <a:r>
              <a:rPr lang="en-US" sz="1400" dirty="0">
                <a:solidFill>
                  <a:prstClr val="black"/>
                </a:solidFill>
                <a:latin typeface="Calibri" panose="020F0502020204030204"/>
              </a:rPr>
              <a:t> </a:t>
            </a:r>
          </a:p>
          <a:p>
            <a:pPr marL="261938" indent="-175022" defTabSz="685800">
              <a:spcBef>
                <a:spcPts val="450"/>
              </a:spcBef>
              <a:buFont typeface="Wingdings" charset="0"/>
              <a:buChar char="§"/>
              <a:defRPr/>
            </a:pPr>
            <a:r>
              <a:rPr lang="en-US" sz="1100" dirty="0">
                <a:solidFill>
                  <a:prstClr val="black"/>
                </a:solidFill>
                <a:latin typeface="Calibri" panose="020F0502020204030204"/>
              </a:rPr>
              <a:t>check bit errors</a:t>
            </a:r>
          </a:p>
          <a:p>
            <a:pPr marL="261938" indent="-175022" defTabSz="685800">
              <a:spcBef>
                <a:spcPts val="450"/>
              </a:spcBef>
              <a:buFont typeface="Wingdings" charset="0"/>
              <a:buChar char="§"/>
              <a:defRPr/>
            </a:pPr>
            <a:r>
              <a:rPr lang="en-US" sz="1100" dirty="0">
                <a:solidFill>
                  <a:prstClr val="black"/>
                </a:solidFill>
                <a:latin typeface="Calibri" panose="020F0502020204030204"/>
              </a:rPr>
              <a:t>determine output link</a:t>
            </a:r>
            <a:r>
              <a:rPr kumimoji="0" lang="en-US" sz="1100" b="0" i="0" u="none" strike="noStrike" kern="1200" cap="none" spc="0" normalizeH="0" baseline="0" noProof="0" dirty="0">
                <a:ln>
                  <a:noFill/>
                </a:ln>
                <a:solidFill>
                  <a:srgbClr val="CC0000"/>
                </a:solidFill>
                <a:effectLst/>
                <a:uLnTx/>
                <a:uFillTx/>
                <a:latin typeface="Calibri" panose="020F0502020204030204"/>
                <a:ea typeface="Arial"/>
                <a:cs typeface="Arial"/>
                <a:sym typeface="Arial"/>
              </a:rPr>
              <a:t>nodal processing</a:t>
            </a:r>
            <a:r>
              <a:rPr kumimoji="0" lang="en-US" sz="1100" b="0" i="0" u="none" strike="noStrike" kern="1200" cap="none" spc="0" normalizeH="0" baseline="0" noProof="0" dirty="0">
                <a:ln>
                  <a:noFill/>
                </a:ln>
                <a:solidFill>
                  <a:prstClr val="black"/>
                </a:solidFill>
                <a:effectLst/>
                <a:uLnTx/>
                <a:uFillTx/>
                <a:latin typeface="Calibri" panose="020F0502020204030204"/>
                <a:ea typeface="Arial"/>
                <a:cs typeface="Arial"/>
                <a:sym typeface="Arial"/>
              </a:rPr>
              <a:t> </a:t>
            </a:r>
            <a:endParaRPr lang="en-US" sz="1100" dirty="0">
              <a:solidFill>
                <a:prstClr val="black"/>
              </a:solidFill>
              <a:latin typeface="Calibri" panose="020F0502020204030204"/>
            </a:endParaRPr>
          </a:p>
          <a:p>
            <a:pPr marL="261938" indent="-175022" defTabSz="685800">
              <a:spcBef>
                <a:spcPts val="450"/>
              </a:spcBef>
              <a:buFont typeface="Wingdings" charset="0"/>
              <a:buChar char="§"/>
              <a:defRPr/>
            </a:pPr>
            <a:r>
              <a:rPr lang="en-US" sz="1100" dirty="0">
                <a:solidFill>
                  <a:prstClr val="black"/>
                </a:solidFill>
                <a:latin typeface="Calibri" panose="020F0502020204030204"/>
              </a:rPr>
              <a:t>typically &lt; microsecs</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917502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Each link has transmission delay 1000 bits/1 Mbps = 1ms. So each link has total delay of transmission + propagation = 1+1=2 </a:t>
            </a:r>
            <a:r>
              <a:rPr lang="en-US" dirty="0" err="1"/>
              <a:t>ms.</a:t>
            </a:r>
            <a:endParaRPr lang="en-US" dirty="0"/>
          </a:p>
          <a:p>
            <a:r>
              <a:rPr lang="en-US" dirty="0"/>
              <a:t>For the three links, the total delay = 2 + 2 + 2 = 6 </a:t>
            </a:r>
            <a:r>
              <a:rPr lang="en-US" dirty="0" err="1"/>
              <a:t>ms.</a:t>
            </a:r>
            <a:r>
              <a:rPr lang="en-US" dirty="0"/>
              <a:t> `</a:t>
            </a:r>
          </a:p>
          <a:p>
            <a:endParaRPr lang="en-US" dirty="0"/>
          </a:p>
        </p:txBody>
      </p:sp>
    </p:spTree>
    <p:extLst>
      <p:ext uri="{BB962C8B-B14F-4D97-AF65-F5344CB8AC3E}">
        <p14:creationId xmlns:p14="http://schemas.microsoft.com/office/powerpoint/2010/main" val="10314698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5CE25-3C64-269B-682C-2F157F7F71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112ACE-4700-456F-7A92-38115258EB38}"/>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224E7CA-097C-86E0-BC7F-831AEDD644E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7109985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ANS: If all packets are 20,000 bits long it takes 200 us to send the packet over the 100Mbps link, 400 </a:t>
            </a:r>
            <a:r>
              <a:rPr lang="en-US" dirty="0" err="1"/>
              <a:t>usec</a:t>
            </a:r>
            <a:r>
              <a:rPr lang="en-US" dirty="0"/>
              <a:t> to send over the 50Mbps link, and 20 us to send over the 1Gbps link. Sum of the three-link transmission is 620 us = 0.62 </a:t>
            </a:r>
            <a:r>
              <a:rPr lang="en-US" dirty="0" err="1"/>
              <a:t>ms.</a:t>
            </a:r>
            <a:r>
              <a:rPr lang="en-US" dirty="0"/>
              <a:t> Thus, the total end-to-end delay is 250 + 0.62 = 250.62 </a:t>
            </a:r>
            <a:r>
              <a:rPr lang="en-US" dirty="0" err="1"/>
              <a:t>ms.</a:t>
            </a:r>
            <a:endParaRPr lang="en-US" dirty="0"/>
          </a:p>
          <a:p>
            <a:r>
              <a:rPr lang="en-US" dirty="0"/>
              <a:t>(Detailed calculations shown on the right.)</a:t>
            </a:r>
          </a:p>
          <a:p>
            <a:endParaRPr lang="en-US" dirty="0"/>
          </a:p>
        </p:txBody>
      </p:sp>
    </p:spTree>
    <p:extLst>
      <p:ext uri="{BB962C8B-B14F-4D97-AF65-F5344CB8AC3E}">
        <p14:creationId xmlns:p14="http://schemas.microsoft.com/office/powerpoint/2010/main" val="4028432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100" b="1" i="0" u="none" strike="noStrike" cap="none" dirty="0">
                <a:solidFill>
                  <a:srgbClr val="000000"/>
                </a:solidFill>
                <a:effectLst/>
                <a:latin typeface="Arial"/>
                <a:ea typeface="Arial"/>
                <a:cs typeface="Arial"/>
                <a:sym typeface="Arial"/>
              </a:rPr>
              <a:t>Computer Networks 14 | Delay in Computer Network | CS &amp; IT | GATE Crash Course</a:t>
            </a:r>
          </a:p>
          <a:p>
            <a:r>
              <a:rPr lang="en-US" dirty="0"/>
              <a:t>https://www.youtube.com/watch?v=vXyNFzq7Ixc&amp;list=PL3eEXnCBViH-hlNCNwdfV7VrEcTquANGa&amp;index=15</a:t>
            </a:r>
          </a:p>
        </p:txBody>
      </p:sp>
    </p:spTree>
    <p:extLst>
      <p:ext uri="{BB962C8B-B14F-4D97-AF65-F5344CB8AC3E}">
        <p14:creationId xmlns:p14="http://schemas.microsoft.com/office/powerpoint/2010/main" val="24679868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C51D8-D460-B934-B615-7E0E79C5BF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7B055F-9853-1B9A-DF05-7C00098FEFF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D183EB6-A486-C94A-7C45-0030FA4B0E78}"/>
              </a:ext>
            </a:extLst>
          </p:cNvPr>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100" b="1" i="0" u="none" strike="noStrike" cap="none" dirty="0">
                <a:solidFill>
                  <a:srgbClr val="000000"/>
                </a:solidFill>
                <a:effectLst/>
                <a:latin typeface="Arial"/>
                <a:ea typeface="Arial"/>
                <a:cs typeface="Arial"/>
                <a:sym typeface="Arial"/>
              </a:rPr>
              <a:t>Computer Networks 14 | Delay in Computer Network | CS &amp; IT | GATE Crash Course</a:t>
            </a:r>
          </a:p>
          <a:p>
            <a:r>
              <a:rPr lang="en-US" dirty="0"/>
              <a:t>https://www.youtube.com/watch?v=vXyNFzq7Ixc&amp;list=PL3eEXnCBViH-hlNCNwdfV7VrEcTquANGa&amp;index=15</a:t>
            </a:r>
          </a:p>
        </p:txBody>
      </p:sp>
    </p:spTree>
    <p:extLst>
      <p:ext uri="{BB962C8B-B14F-4D97-AF65-F5344CB8AC3E}">
        <p14:creationId xmlns:p14="http://schemas.microsoft.com/office/powerpoint/2010/main" val="37861880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48D4C-6954-CC4D-A491-4B78BF548F31}"/>
              </a:ext>
            </a:extLst>
          </p:cNvPr>
          <p:cNvSpPr>
            <a:spLocks noGrp="1"/>
          </p:cNvSpPr>
          <p:nvPr>
            <p:ph type="title"/>
          </p:nvPr>
        </p:nvSpPr>
        <p:spPr/>
        <p:txBody>
          <a:bodyPr>
            <a:normAutofit/>
          </a:bodyPr>
          <a:lstStyle>
            <a:lvl1pPr>
              <a:defRPr sz="3300">
                <a:latin typeface="+mj-lt"/>
              </a:defRPr>
            </a:lvl1pPr>
          </a:lstStyle>
          <a:p>
            <a:r>
              <a:rPr lang="en-US" dirty="0"/>
              <a:t>Click to edit Master title style</a:t>
            </a:r>
          </a:p>
        </p:txBody>
      </p:sp>
      <p:sp>
        <p:nvSpPr>
          <p:cNvPr id="3" name="Content Placeholder 2">
            <a:extLst>
              <a:ext uri="{FF2B5EF4-FFF2-40B4-BE49-F238E27FC236}">
                <a16:creationId xmlns:a16="http://schemas.microsoft.com/office/drawing/2014/main" id="{3ABE2032-3F11-1945-8A1D-25EC80CF9166}"/>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DCF1CB-5DBA-8B49-A839-F079E4BF4377}"/>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5">
            <a:extLst>
              <a:ext uri="{FF2B5EF4-FFF2-40B4-BE49-F238E27FC236}">
                <a16:creationId xmlns:a16="http://schemas.microsoft.com/office/drawing/2014/main" id="{2E873D4E-4EDA-1349-AB14-5DC995BFCD39}"/>
              </a:ext>
            </a:extLst>
          </p:cNvPr>
          <p:cNvSpPr>
            <a:spLocks noGrp="1"/>
          </p:cNvSpPr>
          <p:nvPr>
            <p:ph type="sldNum" sz="quarter" idx="4"/>
          </p:nvPr>
        </p:nvSpPr>
        <p:spPr>
          <a:xfrm>
            <a:off x="6914712" y="4832317"/>
            <a:ext cx="2057400" cy="273844"/>
          </a:xfrm>
          <a:prstGeom prst="rect">
            <a:avLst/>
          </a:prstGeom>
        </p:spPr>
        <p:txBody>
          <a:bodyPr vert="horz" lIns="91440" tIns="45720" rIns="91440" bIns="45720" rtlCol="0" anchor="ctr"/>
          <a:lstStyle>
            <a:lvl1pPr algn="r">
              <a:defRPr sz="825">
                <a:solidFill>
                  <a:schemeClr val="bg1">
                    <a:lumMod val="50000"/>
                  </a:schemeClr>
                </a:solidFill>
              </a:defRPr>
            </a:lvl1pPr>
          </a:lstStyle>
          <a:p>
            <a:fld id="{C4204591-24BD-A542-B9D5-F8D8A88D2FEE}" type="slidenum">
              <a:rPr lang="en-US" smtClean="0"/>
              <a:pPr/>
              <a:t>‹#›</a:t>
            </a:fld>
            <a:endParaRPr lang="en-US" dirty="0"/>
          </a:p>
        </p:txBody>
      </p:sp>
    </p:spTree>
    <p:extLst>
      <p:ext uri="{BB962C8B-B14F-4D97-AF65-F5344CB8AC3E}">
        <p14:creationId xmlns:p14="http://schemas.microsoft.com/office/powerpoint/2010/main" val="11807941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91440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1" r:id="rId2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0.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0.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7.png"/><Relationship Id="rId2" Type="http://schemas.openxmlformats.org/officeDocument/2006/relationships/customXml" Target="../ink/ink1.xml"/><Relationship Id="rId1" Type="http://schemas.openxmlformats.org/officeDocument/2006/relationships/slideLayout" Target="../slideLayouts/slideLayout20.xml"/><Relationship Id="rId6" Type="http://schemas.openxmlformats.org/officeDocument/2006/relationships/customXml" Target="../ink/ink4.xml"/><Relationship Id="rId5" Type="http://schemas.openxmlformats.org/officeDocument/2006/relationships/customXml" Target="../ink/ink3.xml"/><Relationship Id="rId4" Type="http://schemas.openxmlformats.org/officeDocument/2006/relationships/customXml" Target="../ink/ink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3" Type="http://schemas.openxmlformats.org/officeDocument/2006/relationships/customXml" Target="../ink/ink5.xml"/><Relationship Id="rId2" Type="http://schemas.openxmlformats.org/officeDocument/2006/relationships/image" Target="../media/image9.png"/><Relationship Id="rId1" Type="http://schemas.openxmlformats.org/officeDocument/2006/relationships/slideLayout" Target="../slideLayouts/slideLayout20.xml"/><Relationship Id="rId5" Type="http://schemas.openxmlformats.org/officeDocument/2006/relationships/customXml" Target="../ink/ink6.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customXml" Target="../ink/ink7.xml"/><Relationship Id="rId2" Type="http://schemas.openxmlformats.org/officeDocument/2006/relationships/image" Target="../media/image10.png"/><Relationship Id="rId1" Type="http://schemas.openxmlformats.org/officeDocument/2006/relationships/slideLayout" Target="../slideLayouts/slideLayout20.xml"/><Relationship Id="rId5" Type="http://schemas.openxmlformats.org/officeDocument/2006/relationships/customXml" Target="../ink/ink8.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customXml" Target="../ink/ink9.xml"/><Relationship Id="rId2" Type="http://schemas.openxmlformats.org/officeDocument/2006/relationships/image" Target="../media/image11.png"/><Relationship Id="rId1" Type="http://schemas.openxmlformats.org/officeDocument/2006/relationships/slideLayout" Target="../slideLayouts/slideLayout20.xml"/><Relationship Id="rId5" Type="http://schemas.openxmlformats.org/officeDocument/2006/relationships/customXml" Target="../ink/ink10.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customXml" Target="../ink/ink11.xml"/><Relationship Id="rId2" Type="http://schemas.openxmlformats.org/officeDocument/2006/relationships/image" Target="../media/image12.png"/><Relationship Id="rId1" Type="http://schemas.openxmlformats.org/officeDocument/2006/relationships/slideLayout" Target="../slideLayouts/slideLayout20.xml"/><Relationship Id="rId5" Type="http://schemas.openxmlformats.org/officeDocument/2006/relationships/customXml" Target="../ink/ink1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0.xml"/><Relationship Id="rId6" Type="http://schemas.openxmlformats.org/officeDocument/2006/relationships/customXml" Target="../ink/ink14.xml"/><Relationship Id="rId5" Type="http://schemas.openxmlformats.org/officeDocument/2006/relationships/image" Target="../media/image6.png"/><Relationship Id="rId4" Type="http://schemas.openxmlformats.org/officeDocument/2006/relationships/customXml" Target="../ink/ink13.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0.xml"/><Relationship Id="rId6" Type="http://schemas.openxmlformats.org/officeDocument/2006/relationships/customXml" Target="../ink/ink16.xml"/><Relationship Id="rId5" Type="http://schemas.openxmlformats.org/officeDocument/2006/relationships/image" Target="../media/image6.png"/><Relationship Id="rId4" Type="http://schemas.openxmlformats.org/officeDocument/2006/relationships/customXml" Target="../ink/ink15.xml"/></Relationships>
</file>

<file path=ppt/slides/_rels/slide13.xml.rels><?xml version="1.0" encoding="UTF-8" standalone="yes"?>
<Relationships xmlns="http://schemas.openxmlformats.org/package/2006/relationships"><Relationship Id="rId2" Type="http://schemas.openxmlformats.org/officeDocument/2006/relationships/customXml" Target="../ink/ink17.xml"/><Relationship Id="rId1" Type="http://schemas.openxmlformats.org/officeDocument/2006/relationships/slideLayout" Target="../slideLayouts/slideLayout20.xml"/><Relationship Id="rId6" Type="http://schemas.openxmlformats.org/officeDocument/2006/relationships/image" Target="../media/image15.png"/><Relationship Id="rId5" Type="http://schemas.openxmlformats.org/officeDocument/2006/relationships/customXml" Target="../ink/ink18.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2" Type="http://schemas.openxmlformats.org/officeDocument/2006/relationships/customXml" Target="../ink/ink19.xml"/><Relationship Id="rId1" Type="http://schemas.openxmlformats.org/officeDocument/2006/relationships/slideLayout" Target="../slideLayouts/slideLayout20.xml"/><Relationship Id="rId6" Type="http://schemas.openxmlformats.org/officeDocument/2006/relationships/image" Target="../media/image15.png"/><Relationship Id="rId5" Type="http://schemas.openxmlformats.org/officeDocument/2006/relationships/customXml" Target="../ink/ink20.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2" Type="http://schemas.openxmlformats.org/officeDocument/2006/relationships/customXml" Target="../ink/ink21.xml"/><Relationship Id="rId1" Type="http://schemas.openxmlformats.org/officeDocument/2006/relationships/slideLayout" Target="../slideLayouts/slideLayout20.xml"/><Relationship Id="rId6" Type="http://schemas.openxmlformats.org/officeDocument/2006/relationships/image" Target="../media/image16.png"/><Relationship Id="rId5" Type="http://schemas.openxmlformats.org/officeDocument/2006/relationships/customXml" Target="../ink/ink22.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2" Type="http://schemas.openxmlformats.org/officeDocument/2006/relationships/customXml" Target="../ink/ink23.xml"/><Relationship Id="rId1" Type="http://schemas.openxmlformats.org/officeDocument/2006/relationships/slideLayout" Target="../slideLayouts/slideLayout20.xml"/><Relationship Id="rId6" Type="http://schemas.openxmlformats.org/officeDocument/2006/relationships/image" Target="../media/image16.png"/><Relationship Id="rId5" Type="http://schemas.openxmlformats.org/officeDocument/2006/relationships/customXml" Target="../ink/ink24.xml"/><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Links</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Bandwidth and Propagation Delay</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b="1" dirty="0">
                <a:solidFill>
                  <a:schemeClr val="accent3"/>
                </a:solidFill>
                <a:latin typeface="Roboto"/>
                <a:ea typeface="Roboto"/>
                <a:cs typeface="Roboto"/>
              </a:rPr>
              <a:t>Pipe Diagrams</a:t>
            </a:r>
            <a:endParaRPr b="1" dirty="0">
              <a:solidFill>
                <a:schemeClr val="accent3"/>
              </a:solidFill>
              <a:latin typeface="Roboto"/>
              <a:ea typeface="Roboto"/>
              <a:cs typeface="Roboto"/>
            </a:endParaRPr>
          </a:p>
          <a:p>
            <a:pPr marL="457200" lvl="0" indent="-342900" algn="l" rtl="0">
              <a:spcBef>
                <a:spcPts val="0"/>
              </a:spcBef>
              <a:spcAft>
                <a:spcPts val="0"/>
              </a:spcAft>
              <a:buClr>
                <a:srgbClr val="B7B7B7"/>
              </a:buClr>
              <a:buSzPts val="1800"/>
              <a:buChar char="•"/>
            </a:pPr>
            <a:r>
              <a:rPr lang="en" b="1" dirty="0">
                <a:solidFill>
                  <a:schemeClr val="accent3"/>
                </a:solidFill>
                <a:latin typeface="Roboto"/>
                <a:ea typeface="Roboto"/>
                <a:cs typeface="Roboto"/>
              </a:rPr>
              <a:t>Overloaded Links</a:t>
            </a:r>
            <a:endParaRPr b="1" dirty="0">
              <a:solidFill>
                <a:schemeClr val="accent3"/>
              </a:solidFill>
              <a:latin typeface="Roboto"/>
              <a:ea typeface="Roboto"/>
              <a:cs typeface="Roboto"/>
            </a:endParaRPr>
          </a:p>
        </p:txBody>
      </p:sp>
      <p:sp>
        <p:nvSpPr>
          <p:cNvPr id="168" name="Google Shape;168;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Bandwidth and Propagation Delay</a:t>
            </a:r>
            <a:br>
              <a:rPr lang="en" dirty="0"/>
            </a:br>
            <a:r>
              <a:rPr lang="en" dirty="0"/>
              <a:t>Exercises ANS</a:t>
            </a:r>
            <a:endParaRPr dirty="0"/>
          </a:p>
        </p:txBody>
      </p:sp>
      <p:sp>
        <p:nvSpPr>
          <p:cNvPr id="169" name="Google Shape;169;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dirty="0"/>
              <a:t>Lecture 3</a:t>
            </a:r>
            <a:r>
              <a:rPr lang="en"/>
              <a:t>, Spring </a:t>
            </a:r>
            <a:r>
              <a:rPr lang="en" dirty="0"/>
              <a:t>2026</a:t>
            </a:r>
            <a:endParaRPr dirty="0"/>
          </a:p>
        </p:txBody>
      </p:sp>
      <p:sp>
        <p:nvSpPr>
          <p:cNvPr id="3" name="Slide Number Placeholder 2">
            <a:extLst>
              <a:ext uri="{FF2B5EF4-FFF2-40B4-BE49-F238E27FC236}">
                <a16:creationId xmlns:a16="http://schemas.microsoft.com/office/drawing/2014/main" id="{BB1700D9-8E43-5310-ED82-BC6D7108F65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a:t>
            </a:fld>
            <a:endParaRPr lang="e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5" name="Group 134">
            <a:extLst>
              <a:ext uri="{FF2B5EF4-FFF2-40B4-BE49-F238E27FC236}">
                <a16:creationId xmlns:a16="http://schemas.microsoft.com/office/drawing/2014/main" id="{3AD72523-4228-9C47-B195-4AAF96A160BD}"/>
              </a:ext>
            </a:extLst>
          </p:cNvPr>
          <p:cNvGrpSpPr/>
          <p:nvPr/>
        </p:nvGrpSpPr>
        <p:grpSpPr>
          <a:xfrm>
            <a:off x="3471949" y="1126138"/>
            <a:ext cx="1133514" cy="647753"/>
            <a:chOff x="7493876" y="2774731"/>
            <a:chExt cx="1481958" cy="894622"/>
          </a:xfrm>
        </p:grpSpPr>
        <p:sp>
          <p:nvSpPr>
            <p:cNvPr id="136" name="Freeform 135">
              <a:extLst>
                <a:ext uri="{FF2B5EF4-FFF2-40B4-BE49-F238E27FC236}">
                  <a16:creationId xmlns:a16="http://schemas.microsoft.com/office/drawing/2014/main" id="{9FB9E0EF-9063-B545-BC2B-062A0488CC72}"/>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sp>
          <p:nvSpPr>
            <p:cNvPr id="137" name="Oval 136">
              <a:extLst>
                <a:ext uri="{FF2B5EF4-FFF2-40B4-BE49-F238E27FC236}">
                  <a16:creationId xmlns:a16="http://schemas.microsoft.com/office/drawing/2014/main" id="{B0BF60BF-9AF2-D948-8319-1FF102BC7D3E}"/>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grpSp>
          <p:nvGrpSpPr>
            <p:cNvPr id="138" name="Group 137">
              <a:extLst>
                <a:ext uri="{FF2B5EF4-FFF2-40B4-BE49-F238E27FC236}">
                  <a16:creationId xmlns:a16="http://schemas.microsoft.com/office/drawing/2014/main" id="{B32B55C6-F759-234F-8CF0-5FB387F35BC4}"/>
                </a:ext>
              </a:extLst>
            </p:cNvPr>
            <p:cNvGrpSpPr/>
            <p:nvPr/>
          </p:nvGrpSpPr>
          <p:grpSpPr>
            <a:xfrm>
              <a:off x="7713663" y="2848339"/>
              <a:ext cx="1042107" cy="425543"/>
              <a:chOff x="7786941" y="2884917"/>
              <a:chExt cx="897649" cy="353919"/>
            </a:xfrm>
          </p:grpSpPr>
          <p:sp>
            <p:nvSpPr>
              <p:cNvPr id="139" name="Freeform 138">
                <a:extLst>
                  <a:ext uri="{FF2B5EF4-FFF2-40B4-BE49-F238E27FC236}">
                    <a16:creationId xmlns:a16="http://schemas.microsoft.com/office/drawing/2014/main" id="{B1153D6F-A3DF-7246-9629-9228753ADE5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40" name="Freeform 139">
                <a:extLst>
                  <a:ext uri="{FF2B5EF4-FFF2-40B4-BE49-F238E27FC236}">
                    <a16:creationId xmlns:a16="http://schemas.microsoft.com/office/drawing/2014/main" id="{1C55D52C-AF37-4949-9428-203518D525C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41" name="Freeform 140">
                <a:extLst>
                  <a:ext uri="{FF2B5EF4-FFF2-40B4-BE49-F238E27FC236}">
                    <a16:creationId xmlns:a16="http://schemas.microsoft.com/office/drawing/2014/main" id="{58904F43-F0C7-374E-ADE8-8A024A66279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42" name="Freeform 141">
                <a:extLst>
                  <a:ext uri="{FF2B5EF4-FFF2-40B4-BE49-F238E27FC236}">
                    <a16:creationId xmlns:a16="http://schemas.microsoft.com/office/drawing/2014/main" id="{874597C3-FAA4-A147-A86C-C5108827045C}"/>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grpSp>
      </p:grpSp>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618950" y="218960"/>
            <a:ext cx="7886700" cy="670967"/>
          </a:xfrm>
        </p:spPr>
        <p:txBody>
          <a:bodyPr>
            <a:normAutofit fontScale="90000"/>
          </a:bodyPr>
          <a:lstStyle/>
          <a:p>
            <a:r>
              <a:rPr lang="en-US" dirty="0">
                <a:ea typeface="ＭＳ Ｐゴシック" panose="020B0600070205080204" pitchFamily="34" charset="-128"/>
              </a:rPr>
              <a:t>Packet delay: four sources</a:t>
            </a:r>
            <a:endParaRPr lang="en-US" dirty="0"/>
          </a:p>
        </p:txBody>
      </p:sp>
      <p:sp>
        <p:nvSpPr>
          <p:cNvPr id="58" name="Rectangle 4">
            <a:extLst>
              <a:ext uri="{FF2B5EF4-FFF2-40B4-BE49-F238E27FC236}">
                <a16:creationId xmlns:a16="http://schemas.microsoft.com/office/drawing/2014/main" id="{AC2D03E9-7C61-0A43-A247-276B596B9942}"/>
              </a:ext>
            </a:extLst>
          </p:cNvPr>
          <p:cNvSpPr txBox="1">
            <a:spLocks noChangeArrowheads="1"/>
          </p:cNvSpPr>
          <p:nvPr/>
        </p:nvSpPr>
        <p:spPr>
          <a:xfrm>
            <a:off x="663961" y="3321886"/>
            <a:ext cx="2857500" cy="1379696"/>
          </a:xfrm>
          <a:prstGeom prst="rect">
            <a:avLst/>
          </a:prstGeom>
        </p:spPr>
        <p:txBody>
          <a:bodyPr vert="horz" lIns="68580" tIns="34290" rIns="68580" bIns="34290" rtlCol="0">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64319" indent="-221456" defTabSz="685800">
              <a:spcBef>
                <a:spcPts val="450"/>
              </a:spcBef>
              <a:buNone/>
              <a:defRPr/>
            </a:pPr>
            <a:endParaRPr lang="en-US" sz="1800" dirty="0">
              <a:solidFill>
                <a:prstClr val="black"/>
              </a:solidFill>
              <a:latin typeface="Calibri" panose="020F0502020204030204"/>
            </a:endParaRPr>
          </a:p>
        </p:txBody>
      </p:sp>
      <p:sp>
        <p:nvSpPr>
          <p:cNvPr id="75" name="Rectangle 58">
            <a:extLst>
              <a:ext uri="{FF2B5EF4-FFF2-40B4-BE49-F238E27FC236}">
                <a16:creationId xmlns:a16="http://schemas.microsoft.com/office/drawing/2014/main" id="{9033E5DB-6EA3-CE4C-B1A8-C9C804BDCB3F}"/>
              </a:ext>
            </a:extLst>
          </p:cNvPr>
          <p:cNvSpPr>
            <a:spLocks noChangeArrowheads="1"/>
          </p:cNvSpPr>
          <p:nvPr/>
        </p:nvSpPr>
        <p:spPr bwMode="auto">
          <a:xfrm>
            <a:off x="0" y="3112300"/>
            <a:ext cx="2605177" cy="104553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258366" indent="-258366" defTabSz="685800">
              <a:lnSpc>
                <a:spcPct val="90000"/>
              </a:lnSpc>
              <a:spcBef>
                <a:spcPts val="450"/>
              </a:spcBef>
              <a:buClr>
                <a:srgbClr val="3333CC"/>
              </a:buClr>
              <a:buSzPct val="85000"/>
              <a:defRPr/>
            </a:pPr>
            <a:r>
              <a:rPr lang="en-US" sz="1500" kern="1200" dirty="0">
                <a:solidFill>
                  <a:srgbClr val="FF0000"/>
                </a:solidFill>
                <a:latin typeface="Calibri" panose="020F0502020204030204"/>
                <a:ea typeface="ＭＳ Ｐゴシック" charset="0"/>
                <a:cs typeface="ＭＳ Ｐゴシック" charset="0"/>
              </a:rPr>
              <a:t> </a:t>
            </a:r>
            <a:r>
              <a:rPr lang="en-US" sz="2100" i="1" kern="1200" dirty="0" err="1">
                <a:solidFill>
                  <a:srgbClr val="CC0000"/>
                </a:solidFill>
                <a:latin typeface="Calibri" panose="020F0502020204030204"/>
                <a:ea typeface="ＭＳ Ｐゴシック" charset="0"/>
                <a:cs typeface="ＭＳ Ｐゴシック" charset="0"/>
              </a:rPr>
              <a:t>d</a:t>
            </a:r>
            <a:r>
              <a:rPr lang="en-US" sz="2100" kern="1200" baseline="-25000" dirty="0" err="1">
                <a:solidFill>
                  <a:srgbClr val="CC0000"/>
                </a:solidFill>
                <a:latin typeface="Calibri" panose="020F0502020204030204"/>
                <a:ea typeface="ＭＳ Ｐゴシック" charset="0"/>
                <a:cs typeface="ＭＳ Ｐゴシック" charset="0"/>
              </a:rPr>
              <a:t>q</a:t>
            </a:r>
            <a:r>
              <a:rPr lang="en-US" sz="2100" kern="1200" dirty="0">
                <a:solidFill>
                  <a:srgbClr val="CC0000"/>
                </a:solidFill>
                <a:latin typeface="Calibri" panose="020F0502020204030204"/>
                <a:ea typeface="ＭＳ Ｐゴシック" charset="0"/>
                <a:cs typeface="ＭＳ Ｐゴシック" charset="0"/>
              </a:rPr>
              <a:t>: queueing delay</a:t>
            </a:r>
          </a:p>
          <a:p>
            <a:pPr marL="173831" indent="-173831" defTabSz="685800">
              <a:lnSpc>
                <a:spcPct val="90000"/>
              </a:lnSpc>
              <a:spcBef>
                <a:spcPts val="450"/>
              </a:spcBef>
              <a:buClr>
                <a:srgbClr val="000099"/>
              </a:buClr>
              <a:buFont typeface="Wingdings" charset="0"/>
              <a:buChar char="§"/>
              <a:defRPr/>
            </a:pPr>
            <a:r>
              <a:rPr lang="en-US" sz="1800" kern="1200" dirty="0">
                <a:latin typeface="Calibri" panose="020F0502020204030204"/>
                <a:ea typeface="ＭＳ Ｐゴシック" charset="0"/>
                <a:cs typeface="ＭＳ Ｐゴシック" charset="0"/>
              </a:rPr>
              <a:t>time waiting at output link for transmission </a:t>
            </a:r>
          </a:p>
          <a:p>
            <a:pPr marL="173831" indent="-173831" defTabSz="685800">
              <a:lnSpc>
                <a:spcPct val="90000"/>
              </a:lnSpc>
              <a:spcBef>
                <a:spcPts val="450"/>
              </a:spcBef>
              <a:buClr>
                <a:srgbClr val="000099"/>
              </a:buClr>
              <a:buFont typeface="Wingdings" charset="0"/>
              <a:buChar char="§"/>
              <a:defRPr/>
            </a:pPr>
            <a:r>
              <a:rPr lang="en-US" sz="1800" kern="1200" dirty="0">
                <a:latin typeface="Calibri" panose="020F0502020204030204"/>
                <a:ea typeface="ＭＳ Ｐゴシック" charset="0"/>
                <a:cs typeface="ＭＳ Ｐゴシック" charset="0"/>
              </a:rPr>
              <a:t>depends on congestion level of router</a:t>
            </a:r>
          </a:p>
        </p:txBody>
      </p:sp>
      <p:sp>
        <p:nvSpPr>
          <p:cNvPr id="77" name="Line 24">
            <a:extLst>
              <a:ext uri="{FF2B5EF4-FFF2-40B4-BE49-F238E27FC236}">
                <a16:creationId xmlns:a16="http://schemas.microsoft.com/office/drawing/2014/main" id="{79DB8C95-768E-854F-9CEA-5533DCECBE17}"/>
              </a:ext>
            </a:extLst>
          </p:cNvPr>
          <p:cNvSpPr>
            <a:spLocks noChangeShapeType="1"/>
          </p:cNvSpPr>
          <p:nvPr/>
        </p:nvSpPr>
        <p:spPr bwMode="auto">
          <a:xfrm>
            <a:off x="2914385" y="1138147"/>
            <a:ext cx="556052" cy="2667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80" name="Rectangle 29">
            <a:extLst>
              <a:ext uri="{FF2B5EF4-FFF2-40B4-BE49-F238E27FC236}">
                <a16:creationId xmlns:a16="http://schemas.microsoft.com/office/drawing/2014/main" id="{9803C6B5-AE4A-F54B-86CB-D404B2A716C1}"/>
              </a:ext>
            </a:extLst>
          </p:cNvPr>
          <p:cNvSpPr>
            <a:spLocks noChangeArrowheads="1"/>
          </p:cNvSpPr>
          <p:nvPr/>
        </p:nvSpPr>
        <p:spPr bwMode="auto">
          <a:xfrm>
            <a:off x="5046909" y="1302454"/>
            <a:ext cx="110735"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1" name="Rectangle 30">
            <a:extLst>
              <a:ext uri="{FF2B5EF4-FFF2-40B4-BE49-F238E27FC236}">
                <a16:creationId xmlns:a16="http://schemas.microsoft.com/office/drawing/2014/main" id="{2BFFBBBA-8F3E-7640-8D9F-E3A7047BB5BB}"/>
              </a:ext>
            </a:extLst>
          </p:cNvPr>
          <p:cNvSpPr>
            <a:spLocks noChangeArrowheads="1"/>
          </p:cNvSpPr>
          <p:nvPr/>
        </p:nvSpPr>
        <p:spPr bwMode="auto">
          <a:xfrm>
            <a:off x="4107456" y="1356032"/>
            <a:ext cx="110734"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2" name="Rectangle 31">
            <a:extLst>
              <a:ext uri="{FF2B5EF4-FFF2-40B4-BE49-F238E27FC236}">
                <a16:creationId xmlns:a16="http://schemas.microsoft.com/office/drawing/2014/main" id="{212ACD5F-D6C3-824B-9E9F-FCD292654FC1}"/>
              </a:ext>
            </a:extLst>
          </p:cNvPr>
          <p:cNvSpPr>
            <a:spLocks noChangeArrowheads="1"/>
          </p:cNvSpPr>
          <p:nvPr/>
        </p:nvSpPr>
        <p:spPr bwMode="auto">
          <a:xfrm>
            <a:off x="4228907" y="1356032"/>
            <a:ext cx="110734" cy="150019"/>
          </a:xfrm>
          <a:prstGeom prst="rect">
            <a:avLst/>
          </a:prstGeom>
          <a:solidFill>
            <a:srgbClr val="00B050"/>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3" name="Line 35">
            <a:extLst>
              <a:ext uri="{FF2B5EF4-FFF2-40B4-BE49-F238E27FC236}">
                <a16:creationId xmlns:a16="http://schemas.microsoft.com/office/drawing/2014/main" id="{988CA620-4CC5-3D4B-81DA-0F82F93E3D34}"/>
              </a:ext>
            </a:extLst>
          </p:cNvPr>
          <p:cNvSpPr>
            <a:spLocks noChangeShapeType="1"/>
          </p:cNvSpPr>
          <p:nvPr/>
        </p:nvSpPr>
        <p:spPr bwMode="auto">
          <a:xfrm flipV="1">
            <a:off x="6230172" y="1175734"/>
            <a:ext cx="27505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84" name="Rectangle 38">
            <a:extLst>
              <a:ext uri="{FF2B5EF4-FFF2-40B4-BE49-F238E27FC236}">
                <a16:creationId xmlns:a16="http://schemas.microsoft.com/office/drawing/2014/main" id="{5F99C41D-D784-474B-94F5-AC46161751AD}"/>
              </a:ext>
            </a:extLst>
          </p:cNvPr>
          <p:cNvSpPr>
            <a:spLocks noChangeArrowheads="1"/>
          </p:cNvSpPr>
          <p:nvPr/>
        </p:nvSpPr>
        <p:spPr bwMode="auto">
          <a:xfrm>
            <a:off x="4325352" y="1309598"/>
            <a:ext cx="110735"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5" name="Text Box 39">
            <a:extLst>
              <a:ext uri="{FF2B5EF4-FFF2-40B4-BE49-F238E27FC236}">
                <a16:creationId xmlns:a16="http://schemas.microsoft.com/office/drawing/2014/main" id="{4FBD0AA4-42C3-2B49-BDB1-0979DED2C5D6}"/>
              </a:ext>
            </a:extLst>
          </p:cNvPr>
          <p:cNvSpPr txBox="1">
            <a:spLocks noChangeArrowheads="1"/>
          </p:cNvSpPr>
          <p:nvPr/>
        </p:nvSpPr>
        <p:spPr bwMode="auto">
          <a:xfrm>
            <a:off x="4976666" y="991330"/>
            <a:ext cx="132388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1800" kern="1200" dirty="0">
                <a:solidFill>
                  <a:srgbClr val="CC0000"/>
                </a:solidFill>
                <a:latin typeface="Calibri" panose="020F0502020204030204"/>
                <a:cs typeface="+mn-cs"/>
              </a:rPr>
              <a:t>propagation</a:t>
            </a:r>
            <a:endParaRPr lang="en-US" altLang="en-US" sz="1500" kern="1200" dirty="0">
              <a:solidFill>
                <a:srgbClr val="CC0000"/>
              </a:solidFill>
              <a:latin typeface="Calibri" panose="020F0502020204030204"/>
              <a:cs typeface="+mn-cs"/>
            </a:endParaRPr>
          </a:p>
        </p:txBody>
      </p:sp>
      <p:sp>
        <p:nvSpPr>
          <p:cNvPr id="86" name="Line 40">
            <a:extLst>
              <a:ext uri="{FF2B5EF4-FFF2-40B4-BE49-F238E27FC236}">
                <a16:creationId xmlns:a16="http://schemas.microsoft.com/office/drawing/2014/main" id="{7B62D1A5-A310-5848-8995-E8F4780C47C7}"/>
              </a:ext>
            </a:extLst>
          </p:cNvPr>
          <p:cNvSpPr>
            <a:spLocks noChangeShapeType="1"/>
          </p:cNvSpPr>
          <p:nvPr/>
        </p:nvSpPr>
        <p:spPr bwMode="auto">
          <a:xfrm rot="10800000">
            <a:off x="4753979" y="1173753"/>
            <a:ext cx="239329"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89" name="Line 45">
            <a:extLst>
              <a:ext uri="{FF2B5EF4-FFF2-40B4-BE49-F238E27FC236}">
                <a16:creationId xmlns:a16="http://schemas.microsoft.com/office/drawing/2014/main" id="{EDEDB796-E60B-E245-AAE8-8E7D4AD0954B}"/>
              </a:ext>
            </a:extLst>
          </p:cNvPr>
          <p:cNvSpPr>
            <a:spLocks noChangeShapeType="1"/>
          </p:cNvSpPr>
          <p:nvPr/>
        </p:nvSpPr>
        <p:spPr bwMode="auto">
          <a:xfrm rot="10800000" flipV="1">
            <a:off x="4089595" y="1702504"/>
            <a:ext cx="289338" cy="0"/>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0" name="Text Box 46">
            <a:extLst>
              <a:ext uri="{FF2B5EF4-FFF2-40B4-BE49-F238E27FC236}">
                <a16:creationId xmlns:a16="http://schemas.microsoft.com/office/drawing/2014/main" id="{EED5545D-BA61-2046-A423-41F4F0BCD65B}"/>
              </a:ext>
            </a:extLst>
          </p:cNvPr>
          <p:cNvSpPr txBox="1">
            <a:spLocks noChangeArrowheads="1"/>
          </p:cNvSpPr>
          <p:nvPr/>
        </p:nvSpPr>
        <p:spPr bwMode="auto">
          <a:xfrm>
            <a:off x="4395603" y="2018519"/>
            <a:ext cx="106471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1800" kern="1200" dirty="0">
                <a:solidFill>
                  <a:srgbClr val="CC0000"/>
                </a:solidFill>
                <a:latin typeface="Calibri" panose="020F0502020204030204"/>
                <a:cs typeface="+mn-cs"/>
              </a:rPr>
              <a:t>queueing</a:t>
            </a:r>
            <a:endParaRPr lang="en-US" altLang="en-US" sz="1500" kern="1200" dirty="0">
              <a:solidFill>
                <a:srgbClr val="CC0000"/>
              </a:solidFill>
              <a:latin typeface="Calibri" panose="020F0502020204030204"/>
              <a:cs typeface="+mn-cs"/>
            </a:endParaRPr>
          </a:p>
        </p:txBody>
      </p:sp>
      <p:sp>
        <p:nvSpPr>
          <p:cNvPr id="91" name="Line 47">
            <a:extLst>
              <a:ext uri="{FF2B5EF4-FFF2-40B4-BE49-F238E27FC236}">
                <a16:creationId xmlns:a16="http://schemas.microsoft.com/office/drawing/2014/main" id="{ACC9FCD3-B95B-4D4B-87FC-A93C4585FCF2}"/>
              </a:ext>
            </a:extLst>
          </p:cNvPr>
          <p:cNvSpPr>
            <a:spLocks noChangeShapeType="1"/>
          </p:cNvSpPr>
          <p:nvPr/>
        </p:nvSpPr>
        <p:spPr bwMode="auto">
          <a:xfrm rot="10800000">
            <a:off x="4211045" y="1702503"/>
            <a:ext cx="446510" cy="41433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2" name="Rectangle 3">
            <a:extLst>
              <a:ext uri="{FF2B5EF4-FFF2-40B4-BE49-F238E27FC236}">
                <a16:creationId xmlns:a16="http://schemas.microsoft.com/office/drawing/2014/main" id="{2521317A-C1CF-B84E-8D60-CC1E8C06357E}"/>
              </a:ext>
            </a:extLst>
          </p:cNvPr>
          <p:cNvSpPr>
            <a:spLocks noChangeArrowheads="1"/>
          </p:cNvSpPr>
          <p:nvPr/>
        </p:nvSpPr>
        <p:spPr bwMode="auto">
          <a:xfrm>
            <a:off x="2255932" y="2489717"/>
            <a:ext cx="4631496" cy="415528"/>
          </a:xfrm>
          <a:prstGeom prst="rect">
            <a:avLst/>
          </a:prstGeom>
          <a:noFill/>
          <a:ln w="19050">
            <a:noFill/>
            <a:miter lim="800000"/>
            <a:headEnd/>
            <a:tailEnd/>
          </a:ln>
          <a:extLst>
            <a:ext uri="{909E8E84-426E-40DD-AFC4-6F175D3DCCD1}">
              <a14:hiddenFill xmlns:a14="http://schemas.microsoft.com/office/drawing/2010/main">
                <a:solidFill>
                  <a:srgbClr val="FFFFFF"/>
                </a:solidFill>
              </a14:hiddenFill>
            </a:ext>
          </a:extLst>
        </p:spPr>
        <p:txBody>
          <a:bodyPr/>
          <a:lstStyle>
            <a:lvl1pPr marL="285750" indent="-285750">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214313" indent="-214313" defTabSz="685800">
              <a:lnSpc>
                <a:spcPct val="85000"/>
              </a:lnSpc>
              <a:spcBef>
                <a:spcPct val="20000"/>
              </a:spcBef>
              <a:buClr>
                <a:srgbClr val="000099"/>
              </a:buClr>
              <a:buSzPct val="75000"/>
              <a:defRPr/>
            </a:pPr>
            <a:r>
              <a:rPr lang="en-US" altLang="en-US" i="1" kern="1200" dirty="0" err="1">
                <a:solidFill>
                  <a:srgbClr val="000000"/>
                </a:solidFill>
                <a:latin typeface="Calibri" panose="020F0502020204030204"/>
                <a:cs typeface="+mn-cs"/>
              </a:rPr>
              <a:t>d</a:t>
            </a:r>
            <a:r>
              <a:rPr lang="en-US" altLang="en-US" kern="1200" baseline="-25000" dirty="0" err="1">
                <a:solidFill>
                  <a:srgbClr val="000000"/>
                </a:solidFill>
                <a:latin typeface="Calibri" panose="020F0502020204030204"/>
                <a:cs typeface="+mn-cs"/>
              </a:rPr>
              <a:t>nodal</a:t>
            </a:r>
            <a:r>
              <a:rPr lang="en-US" altLang="en-US" kern="1200" dirty="0">
                <a:solidFill>
                  <a:srgbClr val="000000"/>
                </a:solidFill>
                <a:latin typeface="Calibri" panose="020F0502020204030204"/>
                <a:cs typeface="+mn-cs"/>
              </a:rPr>
              <a:t> = </a:t>
            </a:r>
            <a:r>
              <a:rPr lang="en-US" altLang="en-US" i="1" kern="1200" dirty="0">
                <a:solidFill>
                  <a:srgbClr val="000000"/>
                </a:solidFill>
                <a:latin typeface="Calibri" panose="020F0502020204030204"/>
                <a:cs typeface="+mn-cs"/>
              </a:rPr>
              <a:t>d</a:t>
            </a:r>
            <a:r>
              <a:rPr lang="en-US" altLang="en-US" kern="1200" baseline="-25000" dirty="0">
                <a:solidFill>
                  <a:srgbClr val="000000"/>
                </a:solidFill>
                <a:latin typeface="Calibri" panose="020F0502020204030204"/>
                <a:cs typeface="+mn-cs"/>
              </a:rPr>
              <a:t>queue</a:t>
            </a:r>
            <a:r>
              <a:rPr lang="en-US" altLang="en-US" kern="1200" dirty="0">
                <a:solidFill>
                  <a:srgbClr val="000000"/>
                </a:solidFill>
                <a:latin typeface="Calibri" panose="020F0502020204030204"/>
                <a:cs typeface="+mn-cs"/>
              </a:rPr>
              <a:t> + </a:t>
            </a:r>
            <a:r>
              <a:rPr lang="en-US" altLang="en-US" i="1" kern="1200" dirty="0">
                <a:solidFill>
                  <a:srgbClr val="000000"/>
                </a:solidFill>
                <a:latin typeface="Calibri" panose="020F0502020204030204"/>
                <a:cs typeface="+mn-cs"/>
              </a:rPr>
              <a:t>d</a:t>
            </a:r>
            <a:r>
              <a:rPr lang="en-US" altLang="en-US" kern="1200" baseline="-25000" dirty="0">
                <a:solidFill>
                  <a:srgbClr val="000000"/>
                </a:solidFill>
                <a:latin typeface="Calibri" panose="020F0502020204030204"/>
                <a:cs typeface="+mn-cs"/>
              </a:rPr>
              <a:t>trans</a:t>
            </a:r>
            <a:r>
              <a:rPr lang="en-US" altLang="en-US" kern="1200" dirty="0">
                <a:solidFill>
                  <a:srgbClr val="000000"/>
                </a:solidFill>
                <a:latin typeface="Calibri" panose="020F0502020204030204"/>
                <a:cs typeface="+mn-cs"/>
              </a:rPr>
              <a:t> +  </a:t>
            </a:r>
            <a:r>
              <a:rPr lang="en-US" altLang="en-US" i="1" kern="1200" dirty="0">
                <a:solidFill>
                  <a:srgbClr val="000000"/>
                </a:solidFill>
                <a:latin typeface="Calibri" panose="020F0502020204030204"/>
                <a:cs typeface="+mn-cs"/>
              </a:rPr>
              <a:t>d</a:t>
            </a:r>
            <a:r>
              <a:rPr lang="en-US" altLang="en-US" kern="1200" baseline="-25000" dirty="0">
                <a:solidFill>
                  <a:srgbClr val="000000"/>
                </a:solidFill>
                <a:latin typeface="Calibri" panose="020F0502020204030204"/>
                <a:cs typeface="+mn-cs"/>
              </a:rPr>
              <a:t>prop</a:t>
            </a:r>
            <a:endParaRPr lang="en-US" altLang="en-US" kern="1200" dirty="0">
              <a:solidFill>
                <a:srgbClr val="000000"/>
              </a:solidFill>
              <a:latin typeface="Calibri" panose="020F0502020204030204"/>
              <a:cs typeface="+mn-cs"/>
            </a:endParaRPr>
          </a:p>
        </p:txBody>
      </p:sp>
      <p:sp>
        <p:nvSpPr>
          <p:cNvPr id="93" name="Line 25">
            <a:extLst>
              <a:ext uri="{FF2B5EF4-FFF2-40B4-BE49-F238E27FC236}">
                <a16:creationId xmlns:a16="http://schemas.microsoft.com/office/drawing/2014/main" id="{F5D3A1C5-3798-AA4A-9717-BC9CD2814C06}"/>
              </a:ext>
            </a:extLst>
          </p:cNvPr>
          <p:cNvSpPr>
            <a:spLocks noChangeShapeType="1"/>
          </p:cNvSpPr>
          <p:nvPr/>
        </p:nvSpPr>
        <p:spPr bwMode="auto">
          <a:xfrm flipV="1">
            <a:off x="2912974" y="1542960"/>
            <a:ext cx="551510" cy="4124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4" name="Rectangle 32">
            <a:extLst>
              <a:ext uri="{FF2B5EF4-FFF2-40B4-BE49-F238E27FC236}">
                <a16:creationId xmlns:a16="http://schemas.microsoft.com/office/drawing/2014/main" id="{499B4666-F248-7346-9FEA-7936F1E56AE7}"/>
              </a:ext>
            </a:extLst>
          </p:cNvPr>
          <p:cNvSpPr>
            <a:spLocks noChangeArrowheads="1"/>
          </p:cNvSpPr>
          <p:nvPr/>
        </p:nvSpPr>
        <p:spPr bwMode="auto">
          <a:xfrm>
            <a:off x="3318027" y="1281023"/>
            <a:ext cx="110735"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95" name="Line 33">
            <a:extLst>
              <a:ext uri="{FF2B5EF4-FFF2-40B4-BE49-F238E27FC236}">
                <a16:creationId xmlns:a16="http://schemas.microsoft.com/office/drawing/2014/main" id="{468D7A2B-9164-6E4A-96CE-D29F3704091E}"/>
              </a:ext>
            </a:extLst>
          </p:cNvPr>
          <p:cNvSpPr>
            <a:spLocks noChangeShapeType="1"/>
          </p:cNvSpPr>
          <p:nvPr/>
        </p:nvSpPr>
        <p:spPr bwMode="auto">
          <a:xfrm>
            <a:off x="3281117" y="1233397"/>
            <a:ext cx="15836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6" name="Text Box 36">
            <a:extLst>
              <a:ext uri="{FF2B5EF4-FFF2-40B4-BE49-F238E27FC236}">
                <a16:creationId xmlns:a16="http://schemas.microsoft.com/office/drawing/2014/main" id="{3AB8F241-2337-4244-89DF-4C80D59B3367}"/>
              </a:ext>
            </a:extLst>
          </p:cNvPr>
          <p:cNvSpPr txBox="1">
            <a:spLocks noChangeArrowheads="1"/>
          </p:cNvSpPr>
          <p:nvPr/>
        </p:nvSpPr>
        <p:spPr bwMode="auto">
          <a:xfrm>
            <a:off x="2311237" y="901213"/>
            <a:ext cx="340158"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2100" kern="1200" dirty="0">
                <a:solidFill>
                  <a:srgbClr val="000000"/>
                </a:solidFill>
                <a:latin typeface="Calibri" panose="020F0502020204030204"/>
                <a:cs typeface="+mn-cs"/>
              </a:rPr>
              <a:t>A</a:t>
            </a:r>
          </a:p>
        </p:txBody>
      </p:sp>
      <p:sp>
        <p:nvSpPr>
          <p:cNvPr id="97" name="Text Box 37">
            <a:extLst>
              <a:ext uri="{FF2B5EF4-FFF2-40B4-BE49-F238E27FC236}">
                <a16:creationId xmlns:a16="http://schemas.microsoft.com/office/drawing/2014/main" id="{68CF5C6F-336B-3C4A-90BF-D34A028745C5}"/>
              </a:ext>
            </a:extLst>
          </p:cNvPr>
          <p:cNvSpPr txBox="1">
            <a:spLocks noChangeArrowheads="1"/>
          </p:cNvSpPr>
          <p:nvPr/>
        </p:nvSpPr>
        <p:spPr bwMode="auto">
          <a:xfrm>
            <a:off x="2332795" y="1615588"/>
            <a:ext cx="330540"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2100" kern="1200" dirty="0">
                <a:solidFill>
                  <a:prstClr val="black"/>
                </a:solidFill>
                <a:latin typeface="Calibri" panose="020F0502020204030204"/>
                <a:cs typeface="+mn-cs"/>
              </a:rPr>
              <a:t>B</a:t>
            </a:r>
          </a:p>
        </p:txBody>
      </p:sp>
      <p:grpSp>
        <p:nvGrpSpPr>
          <p:cNvPr id="98" name="Group 66">
            <a:extLst>
              <a:ext uri="{FF2B5EF4-FFF2-40B4-BE49-F238E27FC236}">
                <a16:creationId xmlns:a16="http://schemas.microsoft.com/office/drawing/2014/main" id="{7A33E76B-0B7D-BD4C-95A3-F5F9B6632736}"/>
              </a:ext>
            </a:extLst>
          </p:cNvPr>
          <p:cNvGrpSpPr>
            <a:grpSpLocks/>
          </p:cNvGrpSpPr>
          <p:nvPr/>
        </p:nvGrpSpPr>
        <p:grpSpPr bwMode="auto">
          <a:xfrm>
            <a:off x="2391170" y="901213"/>
            <a:ext cx="584629" cy="509588"/>
            <a:chOff x="-44" y="1473"/>
            <a:chExt cx="981" cy="1105"/>
          </a:xfrm>
        </p:grpSpPr>
        <p:pic>
          <p:nvPicPr>
            <p:cNvPr id="116" name="Picture 67" descr="desktop_computer_stylized_medium">
              <a:extLst>
                <a:ext uri="{FF2B5EF4-FFF2-40B4-BE49-F238E27FC236}">
                  <a16:creationId xmlns:a16="http://schemas.microsoft.com/office/drawing/2014/main" id="{388E3E99-7752-0140-B682-2CFDCCFDA0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7" name="Freeform 68">
              <a:extLst>
                <a:ext uri="{FF2B5EF4-FFF2-40B4-BE49-F238E27FC236}">
                  <a16:creationId xmlns:a16="http://schemas.microsoft.com/office/drawing/2014/main" id="{C233087D-1E28-874B-99E3-90A56E5DA77B}"/>
                </a:ext>
              </a:extLst>
            </p:cNvPr>
            <p:cNvSpPr>
              <a:spLocks/>
            </p:cNvSpPr>
            <p:nvPr/>
          </p:nvSpPr>
          <p:spPr bwMode="auto">
            <a:xfrm flipH="1">
              <a:off x="374" y="1579"/>
              <a:ext cx="477" cy="506"/>
            </a:xfrm>
            <a:custGeom>
              <a:avLst/>
              <a:gdLst>
                <a:gd name="T0" fmla="*/ 0 w 356"/>
                <a:gd name="T1" fmla="*/ 0 h 368"/>
                <a:gd name="T2" fmla="*/ 32377 w 356"/>
                <a:gd name="T3" fmla="*/ 2307 h 368"/>
                <a:gd name="T4" fmla="*/ 38409 w 356"/>
                <a:gd name="T5" fmla="*/ 48069 h 368"/>
                <a:gd name="T6" fmla="*/ 8465 w 356"/>
                <a:gd name="T7" fmla="*/ 60116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defTabSz="685800">
                <a:buClrTx/>
                <a:defRPr/>
              </a:pPr>
              <a:endParaRPr lang="en-US" sz="1500" kern="1200" dirty="0">
                <a:solidFill>
                  <a:prstClr val="black"/>
                </a:solidFill>
                <a:latin typeface="Calibri" panose="020F0502020204030204"/>
                <a:ea typeface="+mn-ea"/>
                <a:cs typeface="+mn-cs"/>
              </a:endParaRPr>
            </a:p>
          </p:txBody>
        </p:sp>
      </p:grpSp>
      <p:grpSp>
        <p:nvGrpSpPr>
          <p:cNvPr id="99" name="Group 69">
            <a:extLst>
              <a:ext uri="{FF2B5EF4-FFF2-40B4-BE49-F238E27FC236}">
                <a16:creationId xmlns:a16="http://schemas.microsoft.com/office/drawing/2014/main" id="{53B22ADC-2C36-5141-AAAC-31B53FC8C1F4}"/>
              </a:ext>
            </a:extLst>
          </p:cNvPr>
          <p:cNvGrpSpPr>
            <a:grpSpLocks/>
          </p:cNvGrpSpPr>
          <p:nvPr/>
        </p:nvGrpSpPr>
        <p:grpSpPr bwMode="auto">
          <a:xfrm>
            <a:off x="2384276" y="1656439"/>
            <a:ext cx="584630" cy="509588"/>
            <a:chOff x="-44" y="1473"/>
            <a:chExt cx="981" cy="1105"/>
          </a:xfrm>
        </p:grpSpPr>
        <p:pic>
          <p:nvPicPr>
            <p:cNvPr id="114" name="Picture 70" descr="desktop_computer_stylized_medium">
              <a:extLst>
                <a:ext uri="{FF2B5EF4-FFF2-40B4-BE49-F238E27FC236}">
                  <a16:creationId xmlns:a16="http://schemas.microsoft.com/office/drawing/2014/main" id="{DA4C023E-F595-544A-9929-08480475A5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5" name="Freeform 71">
              <a:extLst>
                <a:ext uri="{FF2B5EF4-FFF2-40B4-BE49-F238E27FC236}">
                  <a16:creationId xmlns:a16="http://schemas.microsoft.com/office/drawing/2014/main" id="{BD3780DD-1306-2540-89B8-0A42DEECFC61}"/>
                </a:ext>
              </a:extLst>
            </p:cNvPr>
            <p:cNvSpPr>
              <a:spLocks/>
            </p:cNvSpPr>
            <p:nvPr/>
          </p:nvSpPr>
          <p:spPr bwMode="auto">
            <a:xfrm flipH="1">
              <a:off x="374" y="1579"/>
              <a:ext cx="477" cy="506"/>
            </a:xfrm>
            <a:custGeom>
              <a:avLst/>
              <a:gdLst>
                <a:gd name="T0" fmla="*/ 0 w 356"/>
                <a:gd name="T1" fmla="*/ 0 h 368"/>
                <a:gd name="T2" fmla="*/ 32377 w 356"/>
                <a:gd name="T3" fmla="*/ 2307 h 368"/>
                <a:gd name="T4" fmla="*/ 38409 w 356"/>
                <a:gd name="T5" fmla="*/ 48069 h 368"/>
                <a:gd name="T6" fmla="*/ 8465 w 356"/>
                <a:gd name="T7" fmla="*/ 60116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defTabSz="685800">
                <a:buClrTx/>
                <a:defRPr/>
              </a:pPr>
              <a:endParaRPr lang="en-US" sz="1500" kern="1200" dirty="0">
                <a:solidFill>
                  <a:prstClr val="black"/>
                </a:solidFill>
                <a:latin typeface="Calibri" panose="020F0502020204030204"/>
                <a:ea typeface="+mn-ea"/>
                <a:cs typeface="+mn-cs"/>
              </a:endParaRPr>
            </a:p>
          </p:txBody>
        </p:sp>
      </p:grpSp>
      <p:sp>
        <p:nvSpPr>
          <p:cNvPr id="100" name="Text Box 41">
            <a:extLst>
              <a:ext uri="{FF2B5EF4-FFF2-40B4-BE49-F238E27FC236}">
                <a16:creationId xmlns:a16="http://schemas.microsoft.com/office/drawing/2014/main" id="{488CD73E-ECC7-E842-9578-1478C5F11784}"/>
              </a:ext>
            </a:extLst>
          </p:cNvPr>
          <p:cNvSpPr txBox="1">
            <a:spLocks noChangeArrowheads="1"/>
          </p:cNvSpPr>
          <p:nvPr/>
        </p:nvSpPr>
        <p:spPr bwMode="auto">
          <a:xfrm>
            <a:off x="3073591" y="659892"/>
            <a:ext cx="137255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1800" kern="1200" dirty="0">
                <a:solidFill>
                  <a:srgbClr val="CC0000"/>
                </a:solidFill>
                <a:latin typeface="Calibri" panose="020F0502020204030204"/>
                <a:cs typeface="+mn-cs"/>
              </a:rPr>
              <a:t>transmission</a:t>
            </a:r>
          </a:p>
        </p:txBody>
      </p:sp>
      <p:sp>
        <p:nvSpPr>
          <p:cNvPr id="101" name="Line 42">
            <a:extLst>
              <a:ext uri="{FF2B5EF4-FFF2-40B4-BE49-F238E27FC236}">
                <a16:creationId xmlns:a16="http://schemas.microsoft.com/office/drawing/2014/main" id="{B22F26F3-A41E-8848-BDA7-FE528ACF22F9}"/>
              </a:ext>
            </a:extLst>
          </p:cNvPr>
          <p:cNvSpPr>
            <a:spLocks noChangeShapeType="1"/>
          </p:cNvSpPr>
          <p:nvPr/>
        </p:nvSpPr>
        <p:spPr bwMode="auto">
          <a:xfrm rot="10800000" flipH="1" flipV="1">
            <a:off x="3977670" y="883354"/>
            <a:ext cx="396500" cy="40005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103" name="Rectangle 31">
            <a:extLst>
              <a:ext uri="{FF2B5EF4-FFF2-40B4-BE49-F238E27FC236}">
                <a16:creationId xmlns:a16="http://schemas.microsoft.com/office/drawing/2014/main" id="{9C43DB7F-CC6C-3D47-AEBE-0F3B6F7415AB}"/>
              </a:ext>
            </a:extLst>
          </p:cNvPr>
          <p:cNvSpPr>
            <a:spLocks noChangeArrowheads="1"/>
          </p:cNvSpPr>
          <p:nvPr/>
        </p:nvSpPr>
        <p:spPr bwMode="auto">
          <a:xfrm>
            <a:off x="2990457" y="1773122"/>
            <a:ext cx="104830" cy="138898"/>
          </a:xfrm>
          <a:prstGeom prst="rect">
            <a:avLst/>
          </a:prstGeom>
          <a:solidFill>
            <a:srgbClr val="00B050"/>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104" name="Line 33">
            <a:extLst>
              <a:ext uri="{FF2B5EF4-FFF2-40B4-BE49-F238E27FC236}">
                <a16:creationId xmlns:a16="http://schemas.microsoft.com/office/drawing/2014/main" id="{1420A34E-BA5D-D248-8FAC-DCC28151FB9C}"/>
              </a:ext>
            </a:extLst>
          </p:cNvPr>
          <p:cNvSpPr>
            <a:spLocks noChangeShapeType="1"/>
          </p:cNvSpPr>
          <p:nvPr/>
        </p:nvSpPr>
        <p:spPr bwMode="auto">
          <a:xfrm flipV="1">
            <a:off x="3121954" y="1750335"/>
            <a:ext cx="164760" cy="12145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E0E58503-FA9B-1542-A0D6-E85B92D1E5BA}"/>
              </a:ext>
            </a:extLst>
          </p:cNvPr>
          <p:cNvCxnSpPr/>
          <p:nvPr/>
        </p:nvCxnSpPr>
        <p:spPr>
          <a:xfrm>
            <a:off x="4609063" y="1479340"/>
            <a:ext cx="254174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7" name="Group 126">
            <a:extLst>
              <a:ext uri="{FF2B5EF4-FFF2-40B4-BE49-F238E27FC236}">
                <a16:creationId xmlns:a16="http://schemas.microsoft.com/office/drawing/2014/main" id="{E49D3C3B-F6BB-8747-AE74-C4B438FB99F4}"/>
              </a:ext>
            </a:extLst>
          </p:cNvPr>
          <p:cNvGrpSpPr/>
          <p:nvPr/>
        </p:nvGrpSpPr>
        <p:grpSpPr>
          <a:xfrm>
            <a:off x="6941889" y="1134114"/>
            <a:ext cx="1133514" cy="647753"/>
            <a:chOff x="7493876" y="2774731"/>
            <a:chExt cx="1481958" cy="894622"/>
          </a:xfrm>
        </p:grpSpPr>
        <p:sp>
          <p:nvSpPr>
            <p:cNvPr id="128" name="Freeform 127">
              <a:extLst>
                <a:ext uri="{FF2B5EF4-FFF2-40B4-BE49-F238E27FC236}">
                  <a16:creationId xmlns:a16="http://schemas.microsoft.com/office/drawing/2014/main" id="{5D7E8999-C7DA-4C41-AF40-118E01514749}"/>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sp>
          <p:nvSpPr>
            <p:cNvPr id="129" name="Oval 128">
              <a:extLst>
                <a:ext uri="{FF2B5EF4-FFF2-40B4-BE49-F238E27FC236}">
                  <a16:creationId xmlns:a16="http://schemas.microsoft.com/office/drawing/2014/main" id="{21FE0DA3-6E20-DC4B-8111-DD2816780A5C}"/>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grpSp>
          <p:nvGrpSpPr>
            <p:cNvPr id="130" name="Group 129">
              <a:extLst>
                <a:ext uri="{FF2B5EF4-FFF2-40B4-BE49-F238E27FC236}">
                  <a16:creationId xmlns:a16="http://schemas.microsoft.com/office/drawing/2014/main" id="{227FD192-76B7-BB4E-8D74-8B6F33DBA7D5}"/>
                </a:ext>
              </a:extLst>
            </p:cNvPr>
            <p:cNvGrpSpPr/>
            <p:nvPr/>
          </p:nvGrpSpPr>
          <p:grpSpPr>
            <a:xfrm>
              <a:off x="7713663" y="2848339"/>
              <a:ext cx="1042107" cy="425543"/>
              <a:chOff x="7786941" y="2884917"/>
              <a:chExt cx="897649" cy="353919"/>
            </a:xfrm>
          </p:grpSpPr>
          <p:sp>
            <p:nvSpPr>
              <p:cNvPr id="131" name="Freeform 130">
                <a:extLst>
                  <a:ext uri="{FF2B5EF4-FFF2-40B4-BE49-F238E27FC236}">
                    <a16:creationId xmlns:a16="http://schemas.microsoft.com/office/drawing/2014/main" id="{130CC598-6AE0-744A-9CEF-611CD26990D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32" name="Freeform 131">
                <a:extLst>
                  <a:ext uri="{FF2B5EF4-FFF2-40B4-BE49-F238E27FC236}">
                    <a16:creationId xmlns:a16="http://schemas.microsoft.com/office/drawing/2014/main" id="{F0B09B4D-82A4-6D4A-B104-F100560C4499}"/>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33" name="Freeform 132">
                <a:extLst>
                  <a:ext uri="{FF2B5EF4-FFF2-40B4-BE49-F238E27FC236}">
                    <a16:creationId xmlns:a16="http://schemas.microsoft.com/office/drawing/2014/main" id="{7CB1C4B0-5780-D24E-8D85-35BA5CE4255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34" name="Freeform 133">
                <a:extLst>
                  <a:ext uri="{FF2B5EF4-FFF2-40B4-BE49-F238E27FC236}">
                    <a16:creationId xmlns:a16="http://schemas.microsoft.com/office/drawing/2014/main" id="{A78B6DE2-15CA-DC49-A0BD-10E78562E1D3}"/>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grpSp>
      </p:grpSp>
      <p:sp>
        <p:nvSpPr>
          <p:cNvPr id="52" name="Rectangle 3">
            <a:extLst>
              <a:ext uri="{FF2B5EF4-FFF2-40B4-BE49-F238E27FC236}">
                <a16:creationId xmlns:a16="http://schemas.microsoft.com/office/drawing/2014/main" id="{A295C9C7-DA39-ED42-847F-83EE93D04F56}"/>
              </a:ext>
            </a:extLst>
          </p:cNvPr>
          <p:cNvSpPr>
            <a:spLocks noChangeArrowheads="1"/>
          </p:cNvSpPr>
          <p:nvPr/>
        </p:nvSpPr>
        <p:spPr bwMode="auto">
          <a:xfrm>
            <a:off x="2532391" y="3112300"/>
            <a:ext cx="3179005" cy="155852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257175" indent="-257175" defTabSz="685800">
              <a:lnSpc>
                <a:spcPct val="90000"/>
              </a:lnSpc>
              <a:spcBef>
                <a:spcPts val="450"/>
              </a:spcBef>
              <a:buClr>
                <a:srgbClr val="000099"/>
              </a:buClr>
              <a:buSzPct val="65000"/>
              <a:defRPr/>
            </a:pPr>
            <a:r>
              <a:rPr lang="en-US" sz="2100" i="1" kern="1200" dirty="0" err="1">
                <a:solidFill>
                  <a:srgbClr val="CC0000"/>
                </a:solidFill>
                <a:latin typeface="Calibri" panose="020F0502020204030204"/>
                <a:ea typeface="ＭＳ Ｐゴシック" charset="0"/>
                <a:cs typeface="ＭＳ Ｐゴシック" charset="0"/>
              </a:rPr>
              <a:t>d</a:t>
            </a:r>
            <a:r>
              <a:rPr lang="en-US" sz="2100" kern="1200" baseline="-25000" dirty="0" err="1">
                <a:solidFill>
                  <a:srgbClr val="CC0000"/>
                </a:solidFill>
                <a:latin typeface="Calibri" panose="020F0502020204030204"/>
                <a:ea typeface="ＭＳ Ｐゴシック" charset="0"/>
                <a:cs typeface="ＭＳ Ｐゴシック" charset="0"/>
              </a:rPr>
              <a:t>tx</a:t>
            </a:r>
            <a:r>
              <a:rPr lang="en-US" sz="2100" kern="1200" dirty="0">
                <a:solidFill>
                  <a:srgbClr val="CC0000"/>
                </a:solidFill>
                <a:latin typeface="Calibri" panose="020F0502020204030204"/>
                <a:ea typeface="ＭＳ Ｐゴシック" charset="0"/>
                <a:cs typeface="ＭＳ Ｐゴシック" charset="0"/>
              </a:rPr>
              <a:t>: transmission delay:</a:t>
            </a: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L</a:t>
            </a:r>
            <a:r>
              <a:rPr lang="en-US" sz="1800" kern="1200" dirty="0">
                <a:latin typeface="Calibri" panose="020F0502020204030204"/>
                <a:ea typeface="ＭＳ Ｐゴシック" charset="0"/>
                <a:cs typeface="ＭＳ Ｐゴシック" charset="0"/>
              </a:rPr>
              <a:t>: packet length (bits) </a:t>
            </a: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R</a:t>
            </a:r>
            <a:r>
              <a:rPr lang="en-US" sz="1800" kern="1200" dirty="0">
                <a:latin typeface="Calibri" panose="020F0502020204030204"/>
                <a:ea typeface="ＭＳ Ｐゴシック" charset="0"/>
                <a:cs typeface="ＭＳ Ｐゴシック" charset="0"/>
              </a:rPr>
              <a:t>: link </a:t>
            </a:r>
            <a:r>
              <a:rPr lang="en-US" sz="1800" i="1" kern="1200" dirty="0">
                <a:latin typeface="Calibri" panose="020F0502020204030204"/>
                <a:ea typeface="ＭＳ Ｐゴシック" charset="0"/>
                <a:cs typeface="ＭＳ Ｐゴシック" charset="0"/>
              </a:rPr>
              <a:t>transmission rate (bps)</a:t>
            </a:r>
          </a:p>
          <a:p>
            <a:pPr marL="173831" indent="-173831" defTabSz="685800">
              <a:lnSpc>
                <a:spcPct val="90000"/>
              </a:lnSpc>
              <a:spcBef>
                <a:spcPts val="450"/>
              </a:spcBef>
              <a:buClr>
                <a:srgbClr val="000099"/>
              </a:buClr>
              <a:buFont typeface="Wingdings" charset="0"/>
              <a:buChar char="§"/>
              <a:defRPr/>
            </a:pPr>
            <a:r>
              <a:rPr lang="en-US" sz="1800" i="1" kern="1200" dirty="0">
                <a:solidFill>
                  <a:srgbClr val="CC0000"/>
                </a:solidFill>
                <a:latin typeface="Calibri" panose="020F0502020204030204"/>
                <a:ea typeface="ＭＳ Ｐゴシック" charset="0"/>
                <a:cs typeface="ＭＳ Ｐゴシック" charset="0"/>
              </a:rPr>
              <a:t>d</a:t>
            </a:r>
            <a:r>
              <a:rPr lang="en-US" sz="1800" i="1" kern="1200" baseline="-25000" dirty="0">
                <a:solidFill>
                  <a:srgbClr val="CC0000"/>
                </a:solidFill>
                <a:latin typeface="Calibri" panose="020F0502020204030204"/>
                <a:ea typeface="ＭＳ Ｐゴシック" charset="0"/>
                <a:cs typeface="ＭＳ Ｐゴシック" charset="0"/>
              </a:rPr>
              <a:t>trans</a:t>
            </a:r>
            <a:r>
              <a:rPr lang="en-US" sz="1800" i="1" kern="1200" dirty="0">
                <a:solidFill>
                  <a:srgbClr val="CC0000"/>
                </a:solidFill>
                <a:latin typeface="Calibri" panose="020F0502020204030204"/>
                <a:ea typeface="ＭＳ Ｐゴシック" charset="0"/>
                <a:cs typeface="ＭＳ Ｐゴシック" charset="0"/>
              </a:rPr>
              <a:t> </a:t>
            </a:r>
            <a:r>
              <a:rPr lang="en-US" sz="1800" i="1" kern="1200" dirty="0">
                <a:latin typeface="Calibri" panose="020F0502020204030204"/>
                <a:ea typeface="ＭＳ Ｐゴシック" charset="0"/>
                <a:cs typeface="ＭＳ Ｐゴシック" charset="0"/>
              </a:rPr>
              <a:t>= L/R</a:t>
            </a:r>
          </a:p>
        </p:txBody>
      </p:sp>
      <p:sp>
        <p:nvSpPr>
          <p:cNvPr id="53" name="Rectangle 4">
            <a:extLst>
              <a:ext uri="{FF2B5EF4-FFF2-40B4-BE49-F238E27FC236}">
                <a16:creationId xmlns:a16="http://schemas.microsoft.com/office/drawing/2014/main" id="{4367B5FB-6961-314F-9C99-C943E30E405F}"/>
              </a:ext>
            </a:extLst>
          </p:cNvPr>
          <p:cNvSpPr>
            <a:spLocks noChangeArrowheads="1"/>
          </p:cNvSpPr>
          <p:nvPr/>
        </p:nvSpPr>
        <p:spPr bwMode="auto">
          <a:xfrm>
            <a:off x="5638611" y="3112300"/>
            <a:ext cx="3433318" cy="16430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257175" indent="-257175" defTabSz="685800">
              <a:lnSpc>
                <a:spcPct val="85000"/>
              </a:lnSpc>
              <a:spcBef>
                <a:spcPct val="20000"/>
              </a:spcBef>
              <a:buClr>
                <a:srgbClr val="000099"/>
              </a:buClr>
              <a:buSzPct val="65000"/>
              <a:defRPr/>
            </a:pPr>
            <a:r>
              <a:rPr lang="en-US" sz="2100" i="1" kern="1200" dirty="0">
                <a:solidFill>
                  <a:srgbClr val="CC0000"/>
                </a:solidFill>
                <a:latin typeface="Calibri" panose="020F0502020204030204"/>
                <a:ea typeface="ＭＳ Ｐゴシック" charset="0"/>
                <a:cs typeface="ＭＳ Ｐゴシック" charset="0"/>
              </a:rPr>
              <a:t>d</a:t>
            </a:r>
            <a:r>
              <a:rPr lang="en-US" sz="2100" kern="1200" baseline="-25000" dirty="0">
                <a:solidFill>
                  <a:srgbClr val="CC0000"/>
                </a:solidFill>
                <a:latin typeface="Calibri" panose="020F0502020204030204"/>
                <a:ea typeface="ＭＳ Ｐゴシック" charset="0"/>
                <a:cs typeface="ＭＳ Ｐゴシック" charset="0"/>
              </a:rPr>
              <a:t>prop</a:t>
            </a:r>
            <a:r>
              <a:rPr lang="en-US" sz="2100" kern="1200" dirty="0">
                <a:solidFill>
                  <a:srgbClr val="CC0000"/>
                </a:solidFill>
                <a:latin typeface="Calibri" panose="020F0502020204030204"/>
                <a:ea typeface="ＭＳ Ｐゴシック" charset="0"/>
                <a:cs typeface="ＭＳ Ｐゴシック" charset="0"/>
              </a:rPr>
              <a:t>: propagation delay:</a:t>
            </a:r>
            <a:endParaRPr lang="en-US" sz="1350" kern="1200" dirty="0">
              <a:solidFill>
                <a:srgbClr val="CC0000"/>
              </a:solidFill>
              <a:latin typeface="Calibri" panose="020F0502020204030204"/>
              <a:ea typeface="ＭＳ Ｐゴシック" charset="0"/>
              <a:cs typeface="ＭＳ Ｐゴシック" charset="0"/>
            </a:endParaRP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d</a:t>
            </a:r>
            <a:r>
              <a:rPr lang="en-US" sz="1800" kern="1200" dirty="0">
                <a:latin typeface="Calibri" panose="020F0502020204030204"/>
                <a:ea typeface="ＭＳ Ｐゴシック" charset="0"/>
                <a:cs typeface="ＭＳ Ｐゴシック" charset="0"/>
              </a:rPr>
              <a:t>: length of physical link</a:t>
            </a: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s</a:t>
            </a:r>
            <a:r>
              <a:rPr lang="en-US" sz="1800" kern="1200" dirty="0">
                <a:latin typeface="Calibri" panose="020F0502020204030204"/>
                <a:ea typeface="ＭＳ Ｐゴシック" charset="0"/>
                <a:cs typeface="ＭＳ Ｐゴシック" charset="0"/>
              </a:rPr>
              <a:t>: propagation speed (~2x10</a:t>
            </a:r>
            <a:r>
              <a:rPr lang="en-US" sz="1800" kern="1200" baseline="30000" dirty="0">
                <a:latin typeface="Calibri" panose="020F0502020204030204"/>
                <a:ea typeface="ＭＳ Ｐゴシック" charset="0"/>
                <a:cs typeface="ＭＳ Ｐゴシック" charset="0"/>
              </a:rPr>
              <a:t>8</a:t>
            </a:r>
            <a:r>
              <a:rPr lang="en-US" sz="1800" kern="1200" dirty="0">
                <a:latin typeface="Calibri" panose="020F0502020204030204"/>
                <a:ea typeface="ＭＳ Ｐゴシック" charset="0"/>
                <a:cs typeface="ＭＳ Ｐゴシック" charset="0"/>
              </a:rPr>
              <a:t> m/sec)</a:t>
            </a:r>
          </a:p>
          <a:p>
            <a:pPr marL="173831" indent="-173831" defTabSz="685800">
              <a:lnSpc>
                <a:spcPct val="90000"/>
              </a:lnSpc>
              <a:spcBef>
                <a:spcPts val="450"/>
              </a:spcBef>
              <a:buClr>
                <a:srgbClr val="000099"/>
              </a:buClr>
              <a:buFont typeface="Wingdings" charset="0"/>
              <a:buChar char="§"/>
              <a:defRPr/>
            </a:pPr>
            <a:r>
              <a:rPr lang="en-US" sz="1800" i="1" kern="1200" dirty="0">
                <a:solidFill>
                  <a:srgbClr val="CC0000"/>
                </a:solidFill>
                <a:latin typeface="Calibri" panose="020F0502020204030204"/>
                <a:ea typeface="ＭＳ Ｐゴシック" charset="0"/>
                <a:cs typeface="ＭＳ Ｐゴシック" charset="0"/>
              </a:rPr>
              <a:t>d</a:t>
            </a:r>
            <a:r>
              <a:rPr lang="en-US" sz="1800" kern="1200" baseline="-25000" dirty="0">
                <a:solidFill>
                  <a:srgbClr val="CC0000"/>
                </a:solidFill>
                <a:latin typeface="Calibri" panose="020F0502020204030204"/>
                <a:ea typeface="ＭＳ Ｐゴシック" charset="0"/>
                <a:cs typeface="ＭＳ Ｐゴシック" charset="0"/>
              </a:rPr>
              <a:t>prop</a:t>
            </a:r>
            <a:r>
              <a:rPr lang="en-US" sz="1800" kern="1200" dirty="0">
                <a:latin typeface="Calibri" panose="020F0502020204030204"/>
                <a:ea typeface="ＭＳ Ｐゴシック" charset="0"/>
                <a:cs typeface="ＭＳ Ｐゴシック" charset="0"/>
              </a:rPr>
              <a:t> = </a:t>
            </a:r>
            <a:r>
              <a:rPr lang="en-US" sz="1800" i="1" kern="1200" dirty="0">
                <a:latin typeface="Calibri" panose="020F0502020204030204"/>
                <a:ea typeface="ＭＳ Ｐゴシック" charset="0"/>
                <a:cs typeface="ＭＳ Ｐゴシック" charset="0"/>
              </a:rPr>
              <a:t>d</a:t>
            </a:r>
            <a:r>
              <a:rPr lang="en-US" sz="1800" kern="1200" dirty="0">
                <a:latin typeface="Calibri" panose="020F0502020204030204"/>
                <a:ea typeface="ＭＳ Ｐゴシック" charset="0"/>
                <a:cs typeface="ＭＳ Ｐゴシック" charset="0"/>
              </a:rPr>
              <a:t>/</a:t>
            </a:r>
            <a:r>
              <a:rPr lang="en-US" sz="1800" i="1" kern="1200" dirty="0">
                <a:latin typeface="Calibri" panose="020F0502020204030204"/>
                <a:ea typeface="ＭＳ Ｐゴシック" charset="0"/>
                <a:cs typeface="ＭＳ Ｐゴシック" charset="0"/>
              </a:rPr>
              <a:t>s</a:t>
            </a:r>
          </a:p>
        </p:txBody>
      </p:sp>
      <p:sp>
        <p:nvSpPr>
          <p:cNvPr id="4" name="TextBox 3">
            <a:extLst>
              <a:ext uri="{FF2B5EF4-FFF2-40B4-BE49-F238E27FC236}">
                <a16:creationId xmlns:a16="http://schemas.microsoft.com/office/drawing/2014/main" id="{1F114893-DF20-B64F-71DF-D751A1CC3FA0}"/>
              </a:ext>
            </a:extLst>
          </p:cNvPr>
          <p:cNvSpPr txBox="1"/>
          <p:nvPr/>
        </p:nvSpPr>
        <p:spPr>
          <a:xfrm>
            <a:off x="7355270" y="56799"/>
            <a:ext cx="1704506" cy="461665"/>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Calibri" panose="020F0502020204030204"/>
                <a:ea typeface="+mn-ea"/>
                <a:cs typeface="+mn-cs"/>
              </a:rPr>
              <a:t>IMPORTANT</a:t>
            </a:r>
            <a:endParaRPr kumimoji="0" lang="en-SE" sz="2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TextBox 9">
            <a:extLst>
              <a:ext uri="{FF2B5EF4-FFF2-40B4-BE49-F238E27FC236}">
                <a16:creationId xmlns:a16="http://schemas.microsoft.com/office/drawing/2014/main" id="{1E28A315-E06F-7067-763F-5162A92F118B}"/>
              </a:ext>
            </a:extLst>
          </p:cNvPr>
          <p:cNvSpPr txBox="1"/>
          <p:nvPr/>
        </p:nvSpPr>
        <p:spPr>
          <a:xfrm>
            <a:off x="34756" y="1439199"/>
            <a:ext cx="2372098" cy="95410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en-US" kern="1200" dirty="0">
                <a:solidFill>
                  <a:schemeClr val="tx1"/>
                </a:solidFill>
                <a:latin typeface="Calibri" panose="020F0502020204030204"/>
                <a:ea typeface="+mn-ea"/>
                <a:cs typeface="+mn-cs"/>
              </a:rPr>
              <a:t>The </a:t>
            </a: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nodal processing delay (check bit errors, determine output link) is typically very small and can be ignored</a:t>
            </a:r>
            <a:endParaRPr lang="en-US" dirty="0">
              <a:solidFill>
                <a:schemeClr val="tx1"/>
              </a:solidFill>
            </a:endParaRPr>
          </a:p>
        </p:txBody>
      </p:sp>
      <p:sp>
        <p:nvSpPr>
          <p:cNvPr id="6" name="Slide Number Placeholder 5">
            <a:extLst>
              <a:ext uri="{FF2B5EF4-FFF2-40B4-BE49-F238E27FC236}">
                <a16:creationId xmlns:a16="http://schemas.microsoft.com/office/drawing/2014/main" id="{2471214F-B1AF-A534-2870-602CE650250E}"/>
              </a:ext>
            </a:extLst>
          </p:cNvPr>
          <p:cNvSpPr>
            <a:spLocks noGrp="1"/>
          </p:cNvSpPr>
          <p:nvPr>
            <p:ph type="sldNum" sz="quarter" idx="4"/>
          </p:nvPr>
        </p:nvSpPr>
        <p:spPr/>
        <p:txBody>
          <a:bodyPr/>
          <a:lstStyle/>
          <a:p>
            <a:fld id="{C4204591-24BD-A542-B9D5-F8D8A88D2FEE}" type="slidenum">
              <a:rPr lang="en-US" smtClean="0"/>
              <a:pPr/>
              <a:t>2</a:t>
            </a:fld>
            <a:endParaRPr lang="en-US" dirty="0"/>
          </a:p>
        </p:txBody>
      </p:sp>
    </p:spTree>
    <p:extLst>
      <p:ext uri="{BB962C8B-B14F-4D97-AF65-F5344CB8AC3E}">
        <p14:creationId xmlns:p14="http://schemas.microsoft.com/office/powerpoint/2010/main" val="4534572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nodePh="1">
                                  <p:stCondLst>
                                    <p:cond delay="0"/>
                                  </p:stCondLst>
                                  <p:endCondLst>
                                    <p:cond evt="begin" delay="0">
                                      <p:tn val="5"/>
                                    </p:cond>
                                  </p:endCondLst>
                                  <p:childTnLst>
                                    <p:set>
                                      <p:cBhvr>
                                        <p:cTn id="6" dur="1" fill="hold">
                                          <p:stCondLst>
                                            <p:cond delay="0"/>
                                          </p:stCondLst>
                                        </p:cTn>
                                        <p:tgtEl>
                                          <p:spTgt spid="58"/>
                                        </p:tgtEl>
                                        <p:attrNameLst>
                                          <p:attrName>style.visibility</p:attrName>
                                        </p:attrNameLst>
                                      </p:cBhvr>
                                      <p:to>
                                        <p:strVal val="visible"/>
                                      </p:to>
                                    </p:set>
                                    <p:animEffect transition="in" filter="dissolve">
                                      <p:cBhvr>
                                        <p:cTn id="7" dur="500"/>
                                        <p:tgtEl>
                                          <p:spTgt spid="5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75"/>
                                        </p:tgtEl>
                                        <p:attrNameLst>
                                          <p:attrName>style.visibility</p:attrName>
                                        </p:attrNameLst>
                                      </p:cBhvr>
                                      <p:to>
                                        <p:strVal val="visible"/>
                                      </p:to>
                                    </p:set>
                                    <p:animEffect transition="in" filter="dissolve">
                                      <p:cBhvr>
                                        <p:cTn id="12" dur="500"/>
                                        <p:tgtEl>
                                          <p:spTgt spid="7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dissolve">
                                      <p:cBhvr>
                                        <p:cTn id="17" dur="500"/>
                                        <p:tgtEl>
                                          <p:spTgt spid="5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53"/>
                                        </p:tgtEl>
                                        <p:attrNameLst>
                                          <p:attrName>style.visibility</p:attrName>
                                        </p:attrNameLst>
                                      </p:cBhvr>
                                      <p:to>
                                        <p:strVal val="visible"/>
                                      </p:to>
                                    </p:set>
                                    <p:animEffect transition="in" filter="dissolve">
                                      <p:cBhvr>
                                        <p:cTn id="22"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75" grpId="0"/>
      <p:bldP spid="52" grpId="0"/>
      <p:bldP spid="5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914B2-C161-4BFE-80A6-71DC7F5DA392}"/>
              </a:ext>
            </a:extLst>
          </p:cNvPr>
          <p:cNvSpPr>
            <a:spLocks noGrp="1"/>
          </p:cNvSpPr>
          <p:nvPr>
            <p:ph type="title"/>
          </p:nvPr>
        </p:nvSpPr>
        <p:spPr>
          <a:xfrm>
            <a:off x="637277" y="226180"/>
            <a:ext cx="4486275" cy="670967"/>
          </a:xfrm>
        </p:spPr>
        <p:txBody>
          <a:bodyPr>
            <a:normAutofit fontScale="90000"/>
          </a:bodyPr>
          <a:lstStyle/>
          <a:p>
            <a:r>
              <a:rPr lang="en-US" dirty="0"/>
              <a:t>Q1 End-­to­‐end delay </a:t>
            </a:r>
          </a:p>
        </p:txBody>
      </p:sp>
      <p:sp>
        <p:nvSpPr>
          <p:cNvPr id="3" name="Content Placeholder 2">
            <a:extLst>
              <a:ext uri="{FF2B5EF4-FFF2-40B4-BE49-F238E27FC236}">
                <a16:creationId xmlns:a16="http://schemas.microsoft.com/office/drawing/2014/main" id="{14A8C199-202B-428F-BCFF-DE6A5AABCDCD}"/>
              </a:ext>
            </a:extLst>
          </p:cNvPr>
          <p:cNvSpPr>
            <a:spLocks noGrp="1"/>
          </p:cNvSpPr>
          <p:nvPr>
            <p:ph sz="half" idx="1"/>
          </p:nvPr>
        </p:nvSpPr>
        <p:spPr>
          <a:xfrm>
            <a:off x="267419" y="897147"/>
            <a:ext cx="4247431" cy="3735576"/>
          </a:xfrm>
        </p:spPr>
        <p:txBody>
          <a:bodyPr>
            <a:normAutofit fontScale="92500" lnSpcReduction="10000"/>
          </a:bodyPr>
          <a:lstStyle/>
          <a:p>
            <a:r>
              <a:rPr lang="en-US" dirty="0"/>
              <a:t>Consider the network shown in the figure, with three links, each with a transmission rate of 1 Mbps, and a propagation delay of 1 msec per link. Assume the length of a packet is 1000 bits.</a:t>
            </a:r>
          </a:p>
          <a:p>
            <a:r>
              <a:rPr lang="en-US" dirty="0"/>
              <a:t>What is the end-end delay of a packet from when it first begins transmission on link 1, until is it received in full by the server at the end of link 3.  Assume that queueing delays are zero.</a:t>
            </a:r>
          </a:p>
        </p:txBody>
      </p:sp>
      <p:pic>
        <p:nvPicPr>
          <p:cNvPr id="6" name="Picture 5">
            <a:extLst>
              <a:ext uri="{FF2B5EF4-FFF2-40B4-BE49-F238E27FC236}">
                <a16:creationId xmlns:a16="http://schemas.microsoft.com/office/drawing/2014/main" id="{DF20A3C5-C68E-4D7F-9BC3-42DE800C88DC}"/>
              </a:ext>
            </a:extLst>
          </p:cNvPr>
          <p:cNvPicPr>
            <a:picLocks noChangeAspect="1"/>
          </p:cNvPicPr>
          <p:nvPr/>
        </p:nvPicPr>
        <p:blipFill>
          <a:blip r:embed="rId3"/>
          <a:stretch>
            <a:fillRect/>
          </a:stretch>
        </p:blipFill>
        <p:spPr>
          <a:xfrm>
            <a:off x="4514850" y="1990084"/>
            <a:ext cx="4529138" cy="1008966"/>
          </a:xfrm>
          <a:prstGeom prst="rect">
            <a:avLst/>
          </a:prstGeom>
        </p:spPr>
      </p:pic>
      <p:sp>
        <p:nvSpPr>
          <p:cNvPr id="4" name="Slide Number Placeholder 3">
            <a:extLst>
              <a:ext uri="{FF2B5EF4-FFF2-40B4-BE49-F238E27FC236}">
                <a16:creationId xmlns:a16="http://schemas.microsoft.com/office/drawing/2014/main" id="{28DDB450-B6B5-ADD8-C4AB-80B6F0A2A8EE}"/>
              </a:ext>
            </a:extLst>
          </p:cNvPr>
          <p:cNvSpPr>
            <a:spLocks noGrp="1"/>
          </p:cNvSpPr>
          <p:nvPr>
            <p:ph type="sldNum" sz="quarter" idx="4"/>
          </p:nvPr>
        </p:nvSpPr>
        <p:spPr/>
        <p:txBody>
          <a:bodyPr/>
          <a:lstStyle/>
          <a:p>
            <a:fld id="{C4204591-24BD-A542-B9D5-F8D8A88D2FEE}" type="slidenum">
              <a:rPr lang="en-US" smtClean="0"/>
              <a:pPr/>
              <a:t>3</a:t>
            </a:fld>
            <a:endParaRPr lang="en-US" dirty="0"/>
          </a:p>
        </p:txBody>
      </p:sp>
    </p:spTree>
    <p:extLst>
      <p:ext uri="{BB962C8B-B14F-4D97-AF65-F5344CB8AC3E}">
        <p14:creationId xmlns:p14="http://schemas.microsoft.com/office/powerpoint/2010/main" val="16605820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4445D-91D8-0A91-E5F6-EFB7107A4A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Content Placeholder 3">
                <a:extLst>
                  <a:ext uri="{FF2B5EF4-FFF2-40B4-BE49-F238E27FC236}">
                    <a16:creationId xmlns:a16="http://schemas.microsoft.com/office/drawing/2014/main" id="{E81B0F1B-178E-A3B4-B3D2-DD0E379F8F84}"/>
                  </a:ext>
                </a:extLst>
              </p:cNvPr>
              <p:cNvSpPr>
                <a:spLocks noGrp="1"/>
              </p:cNvSpPr>
              <p:nvPr>
                <p:ph sz="half" idx="2"/>
              </p:nvPr>
            </p:nvSpPr>
            <p:spPr>
              <a:xfrm>
                <a:off x="237905" y="1009832"/>
                <a:ext cx="8400770" cy="3553541"/>
              </a:xfrm>
            </p:spPr>
            <p:txBody>
              <a:bodyPr>
                <a:normAutofit/>
              </a:bodyPr>
              <a:lstStyle/>
              <a:p>
                <a:r>
                  <a:rPr lang="en-US" dirty="0"/>
                  <a:t>Packet length </a:t>
                </a:r>
                <a14:m>
                  <m:oMath xmlns:m="http://schemas.openxmlformats.org/officeDocument/2006/math">
                    <m:r>
                      <a:rPr lang="en-US" i="1">
                        <a:latin typeface="Cambria Math" panose="02040503050406030204" pitchFamily="18" charset="0"/>
                      </a:rPr>
                      <m:t>𝐿</m:t>
                    </m:r>
                    <m:r>
                      <a:rPr lang="en-US">
                        <a:latin typeface="Cambria Math" panose="02040503050406030204" pitchFamily="18" charset="0"/>
                      </a:rPr>
                      <m:t>=</m:t>
                    </m:r>
                    <m:r>
                      <a:rPr lang="en-US">
                        <a:latin typeface="Cambria Math" panose="02040503050406030204" pitchFamily="18" charset="0"/>
                      </a:rPr>
                      <m:t>1000</m:t>
                    </m:r>
                  </m:oMath>
                </a14:m>
                <a:r>
                  <a:rPr lang="en-US" dirty="0"/>
                  <a:t>bits, link rate </a:t>
                </a:r>
                <a14:m>
                  <m:oMath xmlns:m="http://schemas.openxmlformats.org/officeDocument/2006/math">
                    <m:r>
                      <a:rPr lang="en-US" i="1">
                        <a:latin typeface="Cambria Math" panose="02040503050406030204" pitchFamily="18" charset="0"/>
                      </a:rPr>
                      <m:t>𝑅</m:t>
                    </m:r>
                    <m:r>
                      <a:rPr lang="en-US">
                        <a:latin typeface="Cambria Math" panose="02040503050406030204" pitchFamily="18" charset="0"/>
                      </a:rPr>
                      <m:t>=</m:t>
                    </m:r>
                    <m:r>
                      <a:rPr lang="en-US">
                        <a:latin typeface="Cambria Math" panose="02040503050406030204" pitchFamily="18" charset="0"/>
                      </a:rPr>
                      <m:t>1</m:t>
                    </m:r>
                  </m:oMath>
                </a14:m>
                <a:r>
                  <a:rPr lang="en-US" dirty="0"/>
                  <a:t>Mbps → transmission delay per link</a:t>
                </a:r>
                <a:br>
                  <a:rPr lang="en-US" dirty="0"/>
                </a:b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𝑡𝑥</m:t>
                        </m:r>
                      </m:sub>
                    </m:sSub>
                    <m:r>
                      <a:rPr lang="ar-AE">
                        <a:latin typeface="Cambria Math" panose="02040503050406030204" pitchFamily="18" charset="0"/>
                      </a:rPr>
                      <m:t>=</m:t>
                    </m:r>
                    <m:r>
                      <a:rPr lang="ar-AE" i="1">
                        <a:latin typeface="Cambria Math" panose="02040503050406030204" pitchFamily="18" charset="0"/>
                      </a:rPr>
                      <m:t>𝐿</m:t>
                    </m:r>
                    <m:r>
                      <a:rPr lang="ar-AE">
                        <a:latin typeface="Cambria Math" panose="02040503050406030204" pitchFamily="18" charset="0"/>
                      </a:rPr>
                      <m:t>/</m:t>
                    </m:r>
                    <m:r>
                      <a:rPr lang="ar-AE" i="1">
                        <a:latin typeface="Cambria Math" panose="02040503050406030204" pitchFamily="18" charset="0"/>
                      </a:rPr>
                      <m:t>𝑅</m:t>
                    </m:r>
                    <m:r>
                      <a:rPr lang="ar-AE">
                        <a:latin typeface="Cambria Math" panose="02040503050406030204" pitchFamily="18" charset="0"/>
                      </a:rPr>
                      <m:t>=</m:t>
                    </m:r>
                    <m:r>
                      <a:rPr lang="ar-AE">
                        <a:latin typeface="Cambria Math" panose="02040503050406030204" pitchFamily="18" charset="0"/>
                      </a:rPr>
                      <m:t>1000</m:t>
                    </m:r>
                    <m:r>
                      <a:rPr lang="ar-AE">
                        <a:latin typeface="Cambria Math" panose="02040503050406030204" pitchFamily="18" charset="0"/>
                      </a:rPr>
                      <m:t>/</m:t>
                    </m:r>
                    <m:r>
                      <a:rPr lang="ar-AE">
                        <a:latin typeface="Cambria Math" panose="02040503050406030204" pitchFamily="18" charset="0"/>
                      </a:rPr>
                      <m:t>1</m:t>
                    </m:r>
                    <m:r>
                      <a:rPr lang="ar-AE">
                        <a:latin typeface="Cambria Math" panose="02040503050406030204" pitchFamily="18" charset="0"/>
                      </a:rPr>
                      <m:t>,</m:t>
                    </m:r>
                    <m:r>
                      <a:rPr lang="ar-AE">
                        <a:latin typeface="Cambria Math" panose="02040503050406030204" pitchFamily="18" charset="0"/>
                      </a:rPr>
                      <m:t>000</m:t>
                    </m:r>
                    <m:r>
                      <a:rPr lang="ar-AE">
                        <a:latin typeface="Cambria Math" panose="02040503050406030204" pitchFamily="18" charset="0"/>
                      </a:rPr>
                      <m:t>,</m:t>
                    </m:r>
                    <m:r>
                      <a:rPr lang="ar-AE">
                        <a:latin typeface="Cambria Math" panose="02040503050406030204" pitchFamily="18" charset="0"/>
                      </a:rPr>
                      <m:t>000</m:t>
                    </m:r>
                    <m:r>
                      <a:rPr lang="ar-AE">
                        <a:latin typeface="Cambria Math" panose="02040503050406030204" pitchFamily="18" charset="0"/>
                      </a:rPr>
                      <m:t>=</m:t>
                    </m:r>
                    <m:r>
                      <a:rPr lang="ar-AE">
                        <a:latin typeface="Cambria Math" panose="02040503050406030204" pitchFamily="18" charset="0"/>
                      </a:rPr>
                      <m:t>0</m:t>
                    </m:r>
                    <m:r>
                      <a:rPr lang="ar-AE">
                        <a:latin typeface="Cambria Math" panose="02040503050406030204" pitchFamily="18" charset="0"/>
                      </a:rPr>
                      <m:t>.</m:t>
                    </m:r>
                    <m:r>
                      <a:rPr lang="ar-AE">
                        <a:latin typeface="Cambria Math" panose="02040503050406030204" pitchFamily="18" charset="0"/>
                      </a:rPr>
                      <m:t>001</m:t>
                    </m:r>
                  </m:oMath>
                </a14:m>
                <a:r>
                  <a:rPr lang="en-US" dirty="0"/>
                  <a:t>s = </a:t>
                </a:r>
                <a:r>
                  <a:rPr lang="en-US" b="1" dirty="0"/>
                  <a:t>1 </a:t>
                </a:r>
                <a:r>
                  <a:rPr lang="en-US" b="1" dirty="0" err="1"/>
                  <a:t>ms</a:t>
                </a:r>
                <a:r>
                  <a:rPr lang="en-US" dirty="0" err="1"/>
                  <a:t>.</a:t>
                </a:r>
                <a:endParaRPr lang="en-US" dirty="0"/>
              </a:p>
              <a:p>
                <a:r>
                  <a:rPr lang="en-US" dirty="0"/>
                  <a:t>Propagation delay per link = </a:t>
                </a:r>
                <a:r>
                  <a:rPr lang="en-US" b="1" dirty="0"/>
                  <a:t>1 </a:t>
                </a:r>
                <a:r>
                  <a:rPr lang="en-US" b="1" dirty="0" err="1"/>
                  <a:t>ms</a:t>
                </a:r>
                <a:r>
                  <a:rPr lang="en-US" dirty="0" err="1"/>
                  <a:t>.</a:t>
                </a:r>
                <a:endParaRPr lang="en-US" dirty="0"/>
              </a:p>
              <a:p>
                <a:r>
                  <a:rPr lang="en-US" dirty="0"/>
                  <a:t>Each link contributes </a:t>
                </a: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𝑡𝑥</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𝑝𝑟𝑜𝑝</m:t>
                        </m:r>
                      </m:sub>
                    </m:sSub>
                    <m:r>
                      <a:rPr lang="ar-AE">
                        <a:latin typeface="Cambria Math" panose="02040503050406030204" pitchFamily="18" charset="0"/>
                      </a:rPr>
                      <m:t>=</m:t>
                    </m:r>
                    <m:r>
                      <a:rPr lang="ar-AE">
                        <a:latin typeface="Cambria Math" panose="02040503050406030204" pitchFamily="18" charset="0"/>
                      </a:rPr>
                      <m:t>1</m:t>
                    </m:r>
                    <m:r>
                      <a:rPr lang="ar-AE">
                        <a:latin typeface="Cambria Math" panose="02040503050406030204" pitchFamily="18" charset="0"/>
                      </a:rPr>
                      <m:t>+</m:t>
                    </m:r>
                    <m:r>
                      <a:rPr lang="ar-AE">
                        <a:latin typeface="Cambria Math" panose="02040503050406030204" pitchFamily="18" charset="0"/>
                      </a:rPr>
                      <m:t>1</m:t>
                    </m:r>
                    <m:r>
                      <a:rPr lang="ar-AE">
                        <a:latin typeface="Cambria Math" panose="02040503050406030204" pitchFamily="18" charset="0"/>
                      </a:rPr>
                      <m:t>=</m:t>
                    </m:r>
                    <m:r>
                      <a:rPr lang="ar-AE">
                        <a:latin typeface="Cambria Math" panose="02040503050406030204" pitchFamily="18" charset="0"/>
                      </a:rPr>
                      <m:t>2</m:t>
                    </m:r>
                  </m:oMath>
                </a14:m>
                <a:r>
                  <a:rPr lang="en-US" dirty="0" err="1"/>
                  <a:t>ms.</a:t>
                </a:r>
                <a:endParaRPr lang="en-US" dirty="0"/>
              </a:p>
              <a:p>
                <a:r>
                  <a:rPr lang="en-US" dirty="0"/>
                  <a:t>Three links → total </a:t>
                </a:r>
                <a14:m>
                  <m:oMath xmlns:m="http://schemas.openxmlformats.org/officeDocument/2006/math">
                    <m:r>
                      <a:rPr lang="en-US">
                        <a:latin typeface="Cambria Math" panose="02040503050406030204" pitchFamily="18" charset="0"/>
                      </a:rPr>
                      <m:t>3</m:t>
                    </m:r>
                    <m:r>
                      <a:rPr lang="en-US">
                        <a:latin typeface="Cambria Math" panose="02040503050406030204" pitchFamily="18" charset="0"/>
                      </a:rPr>
                      <m:t>×</m:t>
                    </m:r>
                    <m:r>
                      <a:rPr lang="en-US">
                        <a:latin typeface="Cambria Math" panose="02040503050406030204" pitchFamily="18" charset="0"/>
                      </a:rPr>
                      <m:t>2</m:t>
                    </m:r>
                  </m:oMath>
                </a14:m>
                <a:r>
                  <a:rPr lang="en-US" dirty="0" err="1"/>
                  <a:t>ms</a:t>
                </a:r>
                <a:r>
                  <a:rPr lang="en-US" dirty="0"/>
                  <a:t> = </a:t>
                </a:r>
                <a:r>
                  <a:rPr lang="en-US" b="1" dirty="0"/>
                  <a:t>6 </a:t>
                </a:r>
                <a:r>
                  <a:rPr lang="en-US" b="1" dirty="0" err="1"/>
                  <a:t>ms</a:t>
                </a:r>
                <a:r>
                  <a:rPr lang="en-US" dirty="0" err="1"/>
                  <a:t>.</a:t>
                </a:r>
                <a:endParaRPr lang="en-US" dirty="0"/>
              </a:p>
              <a:p>
                <a:endParaRPr lang="en-US" dirty="0"/>
              </a:p>
            </p:txBody>
          </p:sp>
        </mc:Choice>
        <mc:Fallback xmlns="">
          <p:sp>
            <p:nvSpPr>
              <p:cNvPr id="5" name="Content Placeholder 3">
                <a:extLst>
                  <a:ext uri="{FF2B5EF4-FFF2-40B4-BE49-F238E27FC236}">
                    <a16:creationId xmlns:a16="http://schemas.microsoft.com/office/drawing/2014/main" id="{E81B0F1B-178E-A3B4-B3D2-DD0E379F8F84}"/>
                  </a:ext>
                </a:extLst>
              </p:cNvPr>
              <p:cNvSpPr>
                <a:spLocks noGrp="1" noRot="1" noChangeAspect="1" noMove="1" noResize="1" noEditPoints="1" noAdjustHandles="1" noChangeArrowheads="1" noChangeShapeType="1" noTextEdit="1"/>
              </p:cNvSpPr>
              <p:nvPr>
                <p:ph sz="half" idx="2"/>
              </p:nvPr>
            </p:nvSpPr>
            <p:spPr>
              <a:xfrm>
                <a:off x="237905" y="1009832"/>
                <a:ext cx="8400770" cy="3553541"/>
              </a:xfrm>
              <a:blipFill>
                <a:blip r:embed="rId3"/>
                <a:stretch>
                  <a:fillRect/>
                </a:stretch>
              </a:blipFill>
            </p:spPr>
            <p:txBody>
              <a:bodyPr/>
              <a:lstStyle/>
              <a:p>
                <a:r>
                  <a:rPr lang="en-US">
                    <a:noFill/>
                  </a:rPr>
                  <a:t> </a:t>
                </a:r>
              </a:p>
            </p:txBody>
          </p:sp>
        </mc:Fallback>
      </mc:AlternateContent>
      <p:sp>
        <p:nvSpPr>
          <p:cNvPr id="8" name="Title 1">
            <a:extLst>
              <a:ext uri="{FF2B5EF4-FFF2-40B4-BE49-F238E27FC236}">
                <a16:creationId xmlns:a16="http://schemas.microsoft.com/office/drawing/2014/main" id="{99A64FE7-8119-8F18-0BDB-51A11BC03AA0}"/>
              </a:ext>
            </a:extLst>
          </p:cNvPr>
          <p:cNvSpPr>
            <a:spLocks noGrp="1"/>
          </p:cNvSpPr>
          <p:nvPr>
            <p:ph type="title"/>
          </p:nvPr>
        </p:nvSpPr>
        <p:spPr>
          <a:xfrm>
            <a:off x="505325" y="338866"/>
            <a:ext cx="4705029" cy="670967"/>
          </a:xfrm>
        </p:spPr>
        <p:txBody>
          <a:bodyPr>
            <a:normAutofit fontScale="90000"/>
          </a:bodyPr>
          <a:lstStyle/>
          <a:p>
            <a:r>
              <a:rPr lang="en-US" dirty="0"/>
              <a:t>Q1 End-­to­‐end delay ANS </a:t>
            </a:r>
          </a:p>
        </p:txBody>
      </p:sp>
      <p:sp>
        <p:nvSpPr>
          <p:cNvPr id="3" name="Slide Number Placeholder 2">
            <a:extLst>
              <a:ext uri="{FF2B5EF4-FFF2-40B4-BE49-F238E27FC236}">
                <a16:creationId xmlns:a16="http://schemas.microsoft.com/office/drawing/2014/main" id="{8C140476-9AEB-B878-0B9C-18BACB8A11F6}"/>
              </a:ext>
            </a:extLst>
          </p:cNvPr>
          <p:cNvSpPr>
            <a:spLocks noGrp="1"/>
          </p:cNvSpPr>
          <p:nvPr>
            <p:ph type="sldNum" sz="quarter" idx="4"/>
          </p:nvPr>
        </p:nvSpPr>
        <p:spPr/>
        <p:txBody>
          <a:bodyPr/>
          <a:lstStyle/>
          <a:p>
            <a:fld id="{C4204591-24BD-A542-B9D5-F8D8A88D2FEE}" type="slidenum">
              <a:rPr lang="en-US" smtClean="0"/>
              <a:pPr/>
              <a:t>4</a:t>
            </a:fld>
            <a:endParaRPr lang="en-US" dirty="0"/>
          </a:p>
        </p:txBody>
      </p:sp>
    </p:spTree>
    <p:extLst>
      <p:ext uri="{BB962C8B-B14F-4D97-AF65-F5344CB8AC3E}">
        <p14:creationId xmlns:p14="http://schemas.microsoft.com/office/powerpoint/2010/main" val="15199896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F22ED-37E6-4035-812B-1E8BC9C40AD6}"/>
              </a:ext>
            </a:extLst>
          </p:cNvPr>
          <p:cNvSpPr>
            <a:spLocks noGrp="1"/>
          </p:cNvSpPr>
          <p:nvPr>
            <p:ph type="title"/>
          </p:nvPr>
        </p:nvSpPr>
        <p:spPr>
          <a:xfrm>
            <a:off x="505326" y="338866"/>
            <a:ext cx="4247148" cy="670967"/>
          </a:xfrm>
        </p:spPr>
        <p:txBody>
          <a:bodyPr>
            <a:normAutofit fontScale="90000"/>
          </a:bodyPr>
          <a:lstStyle/>
          <a:p>
            <a:r>
              <a:rPr lang="en-US" dirty="0"/>
              <a:t>Q2 End-­to­‐end delay </a:t>
            </a:r>
          </a:p>
        </p:txBody>
      </p:sp>
      <p:sp>
        <p:nvSpPr>
          <p:cNvPr id="3" name="Content Placeholder 2">
            <a:extLst>
              <a:ext uri="{FF2B5EF4-FFF2-40B4-BE49-F238E27FC236}">
                <a16:creationId xmlns:a16="http://schemas.microsoft.com/office/drawing/2014/main" id="{F2B8676C-9679-44F2-BCB3-BE98A23F06B6}"/>
              </a:ext>
            </a:extLst>
          </p:cNvPr>
          <p:cNvSpPr>
            <a:spLocks noGrp="1"/>
          </p:cNvSpPr>
          <p:nvPr>
            <p:ph sz="half" idx="1"/>
          </p:nvPr>
        </p:nvSpPr>
        <p:spPr>
          <a:xfrm>
            <a:off x="0" y="1009833"/>
            <a:ext cx="4514850" cy="4133667"/>
          </a:xfrm>
        </p:spPr>
        <p:txBody>
          <a:bodyPr>
            <a:normAutofit fontScale="92500"/>
          </a:bodyPr>
          <a:lstStyle/>
          <a:p>
            <a:r>
              <a:rPr lang="en-US" sz="1600" dirty="0"/>
              <a:t>Consider the scenario shown in Figure 1: a server is connected to a router by a 100Mbps link with a 50ms propagation delay. This router is connected to two other routers, each over a 50Mbps link with a 200ms propagation delay. A 1Gbps link connects each host to each of these routers with 0 propagation delay. All packets in the network have size of 20,000 bits.</a:t>
            </a:r>
          </a:p>
          <a:p>
            <a:r>
              <a:rPr lang="en-US" sz="1600" dirty="0"/>
              <a:t>What is the end-­to­‐end delay (in </a:t>
            </a:r>
            <a:r>
              <a:rPr lang="en-US" sz="1600" dirty="0" err="1"/>
              <a:t>ms</a:t>
            </a:r>
            <a:r>
              <a:rPr lang="en-US" sz="1600" dirty="0"/>
              <a:t>) from when a packet is transmitted by the server to when it is received by the client? Assume there’s no queuing delay at the routers. </a:t>
            </a:r>
          </a:p>
        </p:txBody>
      </p:sp>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96D8F998-432C-4A41-BBEF-67AB4A478786}"/>
                  </a:ext>
                </a:extLst>
              </p14:cNvPr>
              <p14:cNvContentPartPr/>
              <p14:nvPr/>
            </p14:nvContentPartPr>
            <p14:xfrm>
              <a:off x="4162524" y="468673"/>
              <a:ext cx="270" cy="270"/>
            </p14:xfrm>
          </p:contentPart>
        </mc:Choice>
        <mc:Fallback xmlns="">
          <p:pic>
            <p:nvPicPr>
              <p:cNvPr id="6" name="Ink 5">
                <a:extLst>
                  <a:ext uri="{FF2B5EF4-FFF2-40B4-BE49-F238E27FC236}">
                    <a16:creationId xmlns:a16="http://schemas.microsoft.com/office/drawing/2014/main" id="{96D8F998-432C-4A41-BBEF-67AB4A478786}"/>
                  </a:ext>
                </a:extLst>
              </p:cNvPr>
              <p:cNvPicPr/>
              <p:nvPr/>
            </p:nvPicPr>
            <p:blipFill>
              <a:blip r:embed="rId3"/>
              <a:stretch>
                <a:fillRect/>
              </a:stretch>
            </p:blipFill>
            <p:spPr>
              <a:xfrm>
                <a:off x="4155774" y="461923"/>
                <a:ext cx="13500" cy="135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640A62D0-82F8-4CD4-9F6F-1195B827C41B}"/>
                  </a:ext>
                </a:extLst>
              </p14:cNvPr>
              <p14:cNvContentPartPr/>
              <p14:nvPr/>
            </p14:nvContentPartPr>
            <p14:xfrm>
              <a:off x="4355304" y="576943"/>
              <a:ext cx="270" cy="270"/>
            </p14:xfrm>
          </p:contentPart>
        </mc:Choice>
        <mc:Fallback xmlns="">
          <p:pic>
            <p:nvPicPr>
              <p:cNvPr id="7" name="Ink 6">
                <a:extLst>
                  <a:ext uri="{FF2B5EF4-FFF2-40B4-BE49-F238E27FC236}">
                    <a16:creationId xmlns:a16="http://schemas.microsoft.com/office/drawing/2014/main" id="{640A62D0-82F8-4CD4-9F6F-1195B827C41B}"/>
                  </a:ext>
                </a:extLst>
              </p:cNvPr>
              <p:cNvPicPr/>
              <p:nvPr/>
            </p:nvPicPr>
            <p:blipFill>
              <a:blip r:embed="rId3"/>
              <a:stretch>
                <a:fillRect/>
              </a:stretch>
            </p:blipFill>
            <p:spPr>
              <a:xfrm>
                <a:off x="4348554" y="570193"/>
                <a:ext cx="13500" cy="135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DE675B20-89E1-4D27-933B-98606F59FBD5}"/>
                  </a:ext>
                </a:extLst>
              </p14:cNvPr>
              <p14:cNvContentPartPr/>
              <p14:nvPr/>
            </p14:nvContentPartPr>
            <p14:xfrm>
              <a:off x="2394024" y="1900753"/>
              <a:ext cx="270" cy="270"/>
            </p14:xfrm>
          </p:contentPart>
        </mc:Choice>
        <mc:Fallback xmlns="">
          <p:pic>
            <p:nvPicPr>
              <p:cNvPr id="8" name="Ink 7">
                <a:extLst>
                  <a:ext uri="{FF2B5EF4-FFF2-40B4-BE49-F238E27FC236}">
                    <a16:creationId xmlns:a16="http://schemas.microsoft.com/office/drawing/2014/main" id="{DE675B20-89E1-4D27-933B-98606F59FBD5}"/>
                  </a:ext>
                </a:extLst>
              </p:cNvPr>
              <p:cNvPicPr/>
              <p:nvPr/>
            </p:nvPicPr>
            <p:blipFill>
              <a:blip r:embed="rId3"/>
              <a:stretch>
                <a:fillRect/>
              </a:stretch>
            </p:blipFill>
            <p:spPr>
              <a:xfrm>
                <a:off x="2387274" y="1894003"/>
                <a:ext cx="13500" cy="135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C0089B61-CEF3-4A8A-B3DC-36179B12D810}"/>
                  </a:ext>
                </a:extLst>
              </p14:cNvPr>
              <p14:cNvContentPartPr/>
              <p14:nvPr/>
            </p14:nvContentPartPr>
            <p14:xfrm>
              <a:off x="1142574" y="1551373"/>
              <a:ext cx="270" cy="270"/>
            </p14:xfrm>
          </p:contentPart>
        </mc:Choice>
        <mc:Fallback xmlns="">
          <p:pic>
            <p:nvPicPr>
              <p:cNvPr id="9" name="Ink 8">
                <a:extLst>
                  <a:ext uri="{FF2B5EF4-FFF2-40B4-BE49-F238E27FC236}">
                    <a16:creationId xmlns:a16="http://schemas.microsoft.com/office/drawing/2014/main" id="{C0089B61-CEF3-4A8A-B3DC-36179B12D810}"/>
                  </a:ext>
                </a:extLst>
              </p:cNvPr>
              <p:cNvPicPr/>
              <p:nvPr/>
            </p:nvPicPr>
            <p:blipFill>
              <a:blip r:embed="rId3"/>
              <a:stretch>
                <a:fillRect/>
              </a:stretch>
            </p:blipFill>
            <p:spPr>
              <a:xfrm>
                <a:off x="1135824" y="1544623"/>
                <a:ext cx="13500" cy="13500"/>
              </a:xfrm>
              <a:prstGeom prst="rect">
                <a:avLst/>
              </a:prstGeom>
            </p:spPr>
          </p:pic>
        </mc:Fallback>
      </mc:AlternateContent>
      <p:sp>
        <p:nvSpPr>
          <p:cNvPr id="12" name="AutoShape 4">
            <a:extLst>
              <a:ext uri="{FF2B5EF4-FFF2-40B4-BE49-F238E27FC236}">
                <a16:creationId xmlns:a16="http://schemas.microsoft.com/office/drawing/2014/main" id="{6B92C2C3-DB8F-435E-88E5-BDB35A55DC5D}"/>
              </a:ext>
            </a:extLst>
          </p:cNvPr>
          <p:cNvSpPr>
            <a:spLocks noChangeAspect="1" noChangeArrowheads="1"/>
          </p:cNvSpPr>
          <p:nvPr/>
        </p:nvSpPr>
        <p:spPr bwMode="auto">
          <a:xfrm>
            <a:off x="3239691" y="1325166"/>
            <a:ext cx="2664619" cy="249316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050"/>
          </a:p>
        </p:txBody>
      </p:sp>
      <p:pic>
        <p:nvPicPr>
          <p:cNvPr id="16" name="Picture 15">
            <a:extLst>
              <a:ext uri="{FF2B5EF4-FFF2-40B4-BE49-F238E27FC236}">
                <a16:creationId xmlns:a16="http://schemas.microsoft.com/office/drawing/2014/main" id="{AC1F5761-15A8-42FC-ACC1-15EF84C22131}"/>
              </a:ext>
            </a:extLst>
          </p:cNvPr>
          <p:cNvPicPr>
            <a:picLocks noChangeAspect="1"/>
          </p:cNvPicPr>
          <p:nvPr/>
        </p:nvPicPr>
        <p:blipFill>
          <a:blip r:embed="rId7"/>
          <a:stretch>
            <a:fillRect/>
          </a:stretch>
        </p:blipFill>
        <p:spPr>
          <a:xfrm>
            <a:off x="4737524" y="674349"/>
            <a:ext cx="4223594" cy="3954819"/>
          </a:xfrm>
          <a:prstGeom prst="rect">
            <a:avLst/>
          </a:prstGeom>
        </p:spPr>
      </p:pic>
      <p:sp>
        <p:nvSpPr>
          <p:cNvPr id="5" name="Slide Number Placeholder 4">
            <a:extLst>
              <a:ext uri="{FF2B5EF4-FFF2-40B4-BE49-F238E27FC236}">
                <a16:creationId xmlns:a16="http://schemas.microsoft.com/office/drawing/2014/main" id="{93C2361B-509F-0249-1C38-4A72D018ED31}"/>
              </a:ext>
            </a:extLst>
          </p:cNvPr>
          <p:cNvSpPr>
            <a:spLocks noGrp="1"/>
          </p:cNvSpPr>
          <p:nvPr>
            <p:ph type="sldNum" sz="quarter" idx="4"/>
          </p:nvPr>
        </p:nvSpPr>
        <p:spPr/>
        <p:txBody>
          <a:bodyPr/>
          <a:lstStyle/>
          <a:p>
            <a:fld id="{C4204591-24BD-A542-B9D5-F8D8A88D2FEE}" type="slidenum">
              <a:rPr lang="en-US" smtClean="0"/>
              <a:pPr/>
              <a:t>5</a:t>
            </a:fld>
            <a:endParaRPr lang="en-US" dirty="0"/>
          </a:p>
        </p:txBody>
      </p:sp>
    </p:spTree>
    <p:extLst>
      <p:ext uri="{BB962C8B-B14F-4D97-AF65-F5344CB8AC3E}">
        <p14:creationId xmlns:p14="http://schemas.microsoft.com/office/powerpoint/2010/main" val="15333118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AF29413-F7B6-95BF-4926-E80D77CE1F99}"/>
                  </a:ext>
                </a:extLst>
              </p:cNvPr>
              <p:cNvSpPr>
                <a:spLocks noGrp="1"/>
              </p:cNvSpPr>
              <p:nvPr>
                <p:ph sz="half" idx="1"/>
              </p:nvPr>
            </p:nvSpPr>
            <p:spPr>
              <a:xfrm>
                <a:off x="362309" y="873424"/>
                <a:ext cx="8117457" cy="4270076"/>
              </a:xfrm>
            </p:spPr>
            <p:txBody>
              <a:bodyPr/>
              <a:lstStyle/>
              <a:p>
                <a:pPr>
                  <a:lnSpc>
                    <a:spcPct val="100000"/>
                  </a:lnSpc>
                </a:pPr>
                <a:r>
                  <a:rPr lang="en-US" sz="1600" b="1" dirty="0"/>
                  <a:t>Transmission delays:</a:t>
                </a:r>
              </a:p>
              <a:p>
                <a:pPr>
                  <a:lnSpc>
                    <a:spcPct val="100000"/>
                  </a:lnSpc>
                </a:pPr>
                <a:r>
                  <a:rPr lang="en-US" sz="1600" b="1" dirty="0"/>
                  <a:t>100 Mbps link</a:t>
                </a:r>
                <a:r>
                  <a:rPr lang="en-US" sz="1600" dirty="0"/>
                  <a:t>:</a:t>
                </a:r>
                <a14:m>
                  <m:oMath xmlns:m="http://schemas.openxmlformats.org/officeDocument/2006/math">
                    <m:r>
                      <a:rPr lang="en-US" sz="1600" b="0" i="0" smtClean="0">
                        <a:latin typeface="Cambria Math" panose="02040503050406030204" pitchFamily="18" charset="0"/>
                      </a:rPr>
                      <m:t> </m:t>
                    </m:r>
                    <m:r>
                      <a:rPr lang="en-US" sz="1600">
                        <a:latin typeface="Cambria Math" panose="02040503050406030204" pitchFamily="18" charset="0"/>
                      </a:rPr>
                      <m:t>20</m:t>
                    </m:r>
                    <m:r>
                      <a:rPr lang="en-US" sz="1600">
                        <a:latin typeface="Cambria Math" panose="02040503050406030204" pitchFamily="18" charset="0"/>
                      </a:rPr>
                      <m:t>,</m:t>
                    </m:r>
                    <m:r>
                      <a:rPr lang="en-US" sz="1600">
                        <a:latin typeface="Cambria Math" panose="02040503050406030204" pitchFamily="18" charset="0"/>
                      </a:rPr>
                      <m:t>000</m:t>
                    </m:r>
                    <m:r>
                      <a:rPr lang="en-US" sz="1600">
                        <a:latin typeface="Cambria Math" panose="02040503050406030204" pitchFamily="18" charset="0"/>
                      </a:rPr>
                      <m:t>/</m:t>
                    </m:r>
                    <m:r>
                      <a:rPr lang="en-US" sz="1600">
                        <a:latin typeface="Cambria Math" panose="02040503050406030204" pitchFamily="18" charset="0"/>
                      </a:rPr>
                      <m:t>100</m:t>
                    </m:r>
                    <m:r>
                      <a:rPr lang="en-US" sz="1600">
                        <a:latin typeface="Cambria Math" panose="02040503050406030204" pitchFamily="18" charset="0"/>
                      </a:rPr>
                      <m:t>,</m:t>
                    </m:r>
                    <m:r>
                      <a:rPr lang="en-US" sz="1600">
                        <a:latin typeface="Cambria Math" panose="02040503050406030204" pitchFamily="18" charset="0"/>
                      </a:rPr>
                      <m:t>000</m:t>
                    </m:r>
                    <m:r>
                      <a:rPr lang="en-US" sz="1600">
                        <a:latin typeface="Cambria Math" panose="02040503050406030204" pitchFamily="18" charset="0"/>
                      </a:rPr>
                      <m:t>,</m:t>
                    </m:r>
                    <m:r>
                      <a:rPr lang="en-US" sz="1600">
                        <a:latin typeface="Cambria Math" panose="02040503050406030204" pitchFamily="18" charset="0"/>
                      </a:rPr>
                      <m:t>000</m:t>
                    </m:r>
                    <m:r>
                      <a:rPr lang="en-US" sz="1600">
                        <a:latin typeface="Cambria Math" panose="02040503050406030204" pitchFamily="18" charset="0"/>
                      </a:rPr>
                      <m:t>=</m:t>
                    </m:r>
                    <m:r>
                      <a:rPr lang="en-US" sz="1600">
                        <a:latin typeface="Cambria Math" panose="02040503050406030204" pitchFamily="18" charset="0"/>
                      </a:rPr>
                      <m:t>0</m:t>
                    </m:r>
                    <m:r>
                      <a:rPr lang="en-US" sz="1600">
                        <a:latin typeface="Cambria Math" panose="02040503050406030204" pitchFamily="18" charset="0"/>
                      </a:rPr>
                      <m:t>.</m:t>
                    </m:r>
                    <m:r>
                      <a:rPr lang="en-US" sz="1600">
                        <a:latin typeface="Cambria Math" panose="02040503050406030204" pitchFamily="18" charset="0"/>
                      </a:rPr>
                      <m:t>0002</m:t>
                    </m:r>
                  </m:oMath>
                </a14:m>
                <a:r>
                  <a:rPr lang="en-US" sz="1600" dirty="0"/>
                  <a:t>s = </a:t>
                </a:r>
                <a:r>
                  <a:rPr lang="en-US" sz="1600" b="1" dirty="0"/>
                  <a:t>200 </a:t>
                </a:r>
                <a:r>
                  <a:rPr lang="el-GR" sz="1600" b="1" dirty="0"/>
                  <a:t>μ</a:t>
                </a:r>
                <a:r>
                  <a:rPr lang="en-US" sz="1600" b="1" dirty="0"/>
                  <a:t>s</a:t>
                </a:r>
                <a:endParaRPr lang="en-US" sz="1600" dirty="0"/>
              </a:p>
              <a:p>
                <a:pPr>
                  <a:lnSpc>
                    <a:spcPct val="100000"/>
                  </a:lnSpc>
                </a:pPr>
                <a:r>
                  <a:rPr lang="en-US" sz="1600" b="1" dirty="0"/>
                  <a:t>50 Mbps link</a:t>
                </a:r>
                <a:r>
                  <a:rPr lang="en-US" sz="1600" dirty="0"/>
                  <a:t>:</a:t>
                </a:r>
                <a14:m>
                  <m:oMath xmlns:m="http://schemas.openxmlformats.org/officeDocument/2006/math">
                    <m:r>
                      <a:rPr lang="en-US" sz="1600" b="0" i="0" smtClean="0">
                        <a:latin typeface="Cambria Math" panose="02040503050406030204" pitchFamily="18" charset="0"/>
                      </a:rPr>
                      <m:t> </m:t>
                    </m:r>
                    <m:r>
                      <a:rPr lang="en-US" sz="1600">
                        <a:latin typeface="Cambria Math" panose="02040503050406030204" pitchFamily="18" charset="0"/>
                      </a:rPr>
                      <m:t>20</m:t>
                    </m:r>
                    <m:r>
                      <a:rPr lang="en-US" sz="1600">
                        <a:latin typeface="Cambria Math" panose="02040503050406030204" pitchFamily="18" charset="0"/>
                      </a:rPr>
                      <m:t>,</m:t>
                    </m:r>
                    <m:r>
                      <a:rPr lang="en-US" sz="1600">
                        <a:latin typeface="Cambria Math" panose="02040503050406030204" pitchFamily="18" charset="0"/>
                      </a:rPr>
                      <m:t>000</m:t>
                    </m:r>
                    <m:r>
                      <a:rPr lang="en-US" sz="1600">
                        <a:latin typeface="Cambria Math" panose="02040503050406030204" pitchFamily="18" charset="0"/>
                      </a:rPr>
                      <m:t>/</m:t>
                    </m:r>
                    <m:r>
                      <a:rPr lang="en-US" sz="1600">
                        <a:latin typeface="Cambria Math" panose="02040503050406030204" pitchFamily="18" charset="0"/>
                      </a:rPr>
                      <m:t>50</m:t>
                    </m:r>
                    <m:r>
                      <a:rPr lang="en-US" sz="1600">
                        <a:latin typeface="Cambria Math" panose="02040503050406030204" pitchFamily="18" charset="0"/>
                      </a:rPr>
                      <m:t>,</m:t>
                    </m:r>
                    <m:r>
                      <a:rPr lang="en-US" sz="1600">
                        <a:latin typeface="Cambria Math" panose="02040503050406030204" pitchFamily="18" charset="0"/>
                      </a:rPr>
                      <m:t>000</m:t>
                    </m:r>
                    <m:r>
                      <a:rPr lang="en-US" sz="1600">
                        <a:latin typeface="Cambria Math" panose="02040503050406030204" pitchFamily="18" charset="0"/>
                      </a:rPr>
                      <m:t>,</m:t>
                    </m:r>
                    <m:r>
                      <a:rPr lang="en-US" sz="1600">
                        <a:latin typeface="Cambria Math" panose="02040503050406030204" pitchFamily="18" charset="0"/>
                      </a:rPr>
                      <m:t>000</m:t>
                    </m:r>
                    <m:r>
                      <a:rPr lang="en-US" sz="1600">
                        <a:latin typeface="Cambria Math" panose="02040503050406030204" pitchFamily="18" charset="0"/>
                      </a:rPr>
                      <m:t>=</m:t>
                    </m:r>
                    <m:r>
                      <a:rPr lang="en-US" sz="1600">
                        <a:latin typeface="Cambria Math" panose="02040503050406030204" pitchFamily="18" charset="0"/>
                      </a:rPr>
                      <m:t>0</m:t>
                    </m:r>
                    <m:r>
                      <a:rPr lang="en-US" sz="1600">
                        <a:latin typeface="Cambria Math" panose="02040503050406030204" pitchFamily="18" charset="0"/>
                      </a:rPr>
                      <m:t>.</m:t>
                    </m:r>
                    <m:r>
                      <a:rPr lang="en-US" sz="1600">
                        <a:latin typeface="Cambria Math" panose="02040503050406030204" pitchFamily="18" charset="0"/>
                      </a:rPr>
                      <m:t>0004</m:t>
                    </m:r>
                  </m:oMath>
                </a14:m>
                <a:r>
                  <a:rPr lang="en-US" sz="1600" dirty="0"/>
                  <a:t>s = </a:t>
                </a:r>
                <a:r>
                  <a:rPr lang="en-US" sz="1600" b="1" dirty="0"/>
                  <a:t>400 </a:t>
                </a:r>
                <a:r>
                  <a:rPr lang="el-GR" sz="1600" b="1" dirty="0"/>
                  <a:t>μ</a:t>
                </a:r>
                <a:r>
                  <a:rPr lang="en-US" sz="1600" b="1" dirty="0"/>
                  <a:t>s</a:t>
                </a:r>
                <a:endParaRPr lang="en-US" sz="1600" dirty="0"/>
              </a:p>
              <a:p>
                <a:pPr>
                  <a:lnSpc>
                    <a:spcPct val="100000"/>
                  </a:lnSpc>
                </a:pPr>
                <a:r>
                  <a:rPr lang="en-US" sz="1600" b="1" dirty="0"/>
                  <a:t>1 Gbps link</a:t>
                </a:r>
                <a:r>
                  <a:rPr lang="en-US" sz="1600" dirty="0"/>
                  <a:t>:</a:t>
                </a:r>
                <a14:m>
                  <m:oMath xmlns:m="http://schemas.openxmlformats.org/officeDocument/2006/math">
                    <m:r>
                      <a:rPr lang="en-US" sz="1600" b="0" i="0" smtClean="0">
                        <a:latin typeface="Cambria Math" panose="02040503050406030204" pitchFamily="18" charset="0"/>
                      </a:rPr>
                      <m:t> </m:t>
                    </m:r>
                    <m:r>
                      <a:rPr lang="en-US" sz="1600">
                        <a:latin typeface="Cambria Math" panose="02040503050406030204" pitchFamily="18" charset="0"/>
                      </a:rPr>
                      <m:t>20</m:t>
                    </m:r>
                    <m:r>
                      <a:rPr lang="en-US" sz="1600">
                        <a:latin typeface="Cambria Math" panose="02040503050406030204" pitchFamily="18" charset="0"/>
                      </a:rPr>
                      <m:t>,</m:t>
                    </m:r>
                    <m:r>
                      <a:rPr lang="en-US" sz="1600">
                        <a:latin typeface="Cambria Math" panose="02040503050406030204" pitchFamily="18" charset="0"/>
                      </a:rPr>
                      <m:t>000</m:t>
                    </m:r>
                    <m:r>
                      <a:rPr lang="en-US" sz="1600">
                        <a:latin typeface="Cambria Math" panose="02040503050406030204" pitchFamily="18" charset="0"/>
                      </a:rPr>
                      <m:t>/</m:t>
                    </m:r>
                    <m:r>
                      <a:rPr lang="en-US" sz="1600">
                        <a:latin typeface="Cambria Math" panose="02040503050406030204" pitchFamily="18" charset="0"/>
                      </a:rPr>
                      <m:t>1</m:t>
                    </m:r>
                    <m:r>
                      <a:rPr lang="en-US" sz="1600">
                        <a:latin typeface="Cambria Math" panose="02040503050406030204" pitchFamily="18" charset="0"/>
                      </a:rPr>
                      <m:t>,</m:t>
                    </m:r>
                    <m:r>
                      <a:rPr lang="en-US" sz="1600">
                        <a:latin typeface="Cambria Math" panose="02040503050406030204" pitchFamily="18" charset="0"/>
                      </a:rPr>
                      <m:t>000</m:t>
                    </m:r>
                    <m:r>
                      <a:rPr lang="en-US" sz="1600">
                        <a:latin typeface="Cambria Math" panose="02040503050406030204" pitchFamily="18" charset="0"/>
                      </a:rPr>
                      <m:t>,</m:t>
                    </m:r>
                    <m:r>
                      <a:rPr lang="en-US" sz="1600">
                        <a:latin typeface="Cambria Math" panose="02040503050406030204" pitchFamily="18" charset="0"/>
                      </a:rPr>
                      <m:t>000</m:t>
                    </m:r>
                    <m:r>
                      <a:rPr lang="en-US" sz="1600">
                        <a:latin typeface="Cambria Math" panose="02040503050406030204" pitchFamily="18" charset="0"/>
                      </a:rPr>
                      <m:t>,</m:t>
                    </m:r>
                    <m:r>
                      <a:rPr lang="en-US" sz="1600">
                        <a:latin typeface="Cambria Math" panose="02040503050406030204" pitchFamily="18" charset="0"/>
                      </a:rPr>
                      <m:t>000</m:t>
                    </m:r>
                    <m:r>
                      <a:rPr lang="en-US" sz="1600">
                        <a:latin typeface="Cambria Math" panose="02040503050406030204" pitchFamily="18" charset="0"/>
                      </a:rPr>
                      <m:t>=</m:t>
                    </m:r>
                    <m:r>
                      <a:rPr lang="en-US" sz="1600">
                        <a:latin typeface="Cambria Math" panose="02040503050406030204" pitchFamily="18" charset="0"/>
                      </a:rPr>
                      <m:t>0</m:t>
                    </m:r>
                    <m:r>
                      <a:rPr lang="en-US" sz="1600">
                        <a:latin typeface="Cambria Math" panose="02040503050406030204" pitchFamily="18" charset="0"/>
                      </a:rPr>
                      <m:t>.</m:t>
                    </m:r>
                    <m:r>
                      <a:rPr lang="en-US" sz="1600">
                        <a:latin typeface="Cambria Math" panose="02040503050406030204" pitchFamily="18" charset="0"/>
                      </a:rPr>
                      <m:t>00002</m:t>
                    </m:r>
                  </m:oMath>
                </a14:m>
                <a:r>
                  <a:rPr lang="en-US" sz="1600" dirty="0"/>
                  <a:t>s = </a:t>
                </a:r>
                <a:r>
                  <a:rPr lang="en-US" sz="1600" b="1" dirty="0"/>
                  <a:t>20 </a:t>
                </a:r>
                <a:r>
                  <a:rPr lang="el-GR" sz="1600" b="1" dirty="0"/>
                  <a:t>μ</a:t>
                </a:r>
                <a:r>
                  <a:rPr lang="en-US" sz="1600" b="1" dirty="0"/>
                  <a:t>s</a:t>
                </a:r>
                <a:endParaRPr lang="en-US" sz="1600" dirty="0"/>
              </a:p>
              <a:p>
                <a:pPr>
                  <a:lnSpc>
                    <a:spcPct val="100000"/>
                  </a:lnSpc>
                </a:pPr>
                <a:r>
                  <a:rPr lang="en-US" sz="1600" dirty="0"/>
                  <a:t>Total transmission delay: </a:t>
                </a:r>
                <a14:m>
                  <m:oMath xmlns:m="http://schemas.openxmlformats.org/officeDocument/2006/math">
                    <m:sSub>
                      <m:sSubPr>
                        <m:ctrlPr>
                          <a:rPr lang="ar-AE" sz="1600" i="1">
                            <a:latin typeface="Cambria Math" panose="02040503050406030204" pitchFamily="18" charset="0"/>
                          </a:rPr>
                        </m:ctrlPr>
                      </m:sSubPr>
                      <m:e>
                        <m:r>
                          <a:rPr lang="ar-AE" sz="1600" i="1">
                            <a:latin typeface="Cambria Math" panose="02040503050406030204" pitchFamily="18" charset="0"/>
                          </a:rPr>
                          <m:t>𝑡</m:t>
                        </m:r>
                      </m:e>
                      <m:sub>
                        <m:r>
                          <a:rPr lang="ar-AE" sz="1600" i="1">
                            <a:latin typeface="Cambria Math" panose="02040503050406030204" pitchFamily="18" charset="0"/>
                          </a:rPr>
                          <m:t>𝑡𝑥</m:t>
                        </m:r>
                      </m:sub>
                    </m:sSub>
                    <m:r>
                      <a:rPr lang="ar-AE" sz="1600">
                        <a:latin typeface="Cambria Math" panose="02040503050406030204" pitchFamily="18" charset="0"/>
                      </a:rPr>
                      <m:t>=</m:t>
                    </m:r>
                    <m:r>
                      <a:rPr lang="en-US" sz="1600">
                        <a:latin typeface="Cambria Math" panose="02040503050406030204" pitchFamily="18" charset="0"/>
                      </a:rPr>
                      <m:t>200</m:t>
                    </m:r>
                    <m:r>
                      <a:rPr lang="en-US" sz="1600">
                        <a:latin typeface="Cambria Math" panose="02040503050406030204" pitchFamily="18" charset="0"/>
                      </a:rPr>
                      <m:t>+</m:t>
                    </m:r>
                    <m:r>
                      <a:rPr lang="en-US" sz="1600">
                        <a:latin typeface="Cambria Math" panose="02040503050406030204" pitchFamily="18" charset="0"/>
                      </a:rPr>
                      <m:t>400</m:t>
                    </m:r>
                    <m:r>
                      <a:rPr lang="en-US" sz="1600">
                        <a:latin typeface="Cambria Math" panose="02040503050406030204" pitchFamily="18" charset="0"/>
                      </a:rPr>
                      <m:t>+</m:t>
                    </m:r>
                    <m:r>
                      <a:rPr lang="en-US" sz="1600">
                        <a:latin typeface="Cambria Math" panose="02040503050406030204" pitchFamily="18" charset="0"/>
                      </a:rPr>
                      <m:t>20</m:t>
                    </m:r>
                    <m:r>
                      <a:rPr lang="en-US" sz="1600">
                        <a:latin typeface="Cambria Math" panose="02040503050406030204" pitchFamily="18" charset="0"/>
                      </a:rPr>
                      <m:t>=</m:t>
                    </m:r>
                    <m:r>
                      <a:rPr lang="en-US" sz="1600">
                        <a:latin typeface="Cambria Math" panose="02040503050406030204" pitchFamily="18" charset="0"/>
                      </a:rPr>
                      <m:t>620</m:t>
                    </m:r>
                  </m:oMath>
                </a14:m>
                <a:r>
                  <a:rPr lang="en-US" sz="1600" dirty="0"/>
                  <a:t> </a:t>
                </a:r>
                <a:r>
                  <a:rPr lang="el-GR" sz="1600" dirty="0"/>
                  <a:t>μ</a:t>
                </a:r>
                <a:r>
                  <a:rPr lang="en-US" sz="1600" dirty="0"/>
                  <a:t>s = </a:t>
                </a:r>
                <a:r>
                  <a:rPr lang="en-US" sz="1600" b="1" dirty="0"/>
                  <a:t>0.62 </a:t>
                </a:r>
                <a:r>
                  <a:rPr lang="en-US" sz="1600" b="1" dirty="0" err="1"/>
                  <a:t>ms</a:t>
                </a:r>
                <a:endParaRPr lang="en-US" sz="1600" dirty="0"/>
              </a:p>
              <a:p>
                <a:pPr>
                  <a:lnSpc>
                    <a:spcPct val="100000"/>
                  </a:lnSpc>
                </a:pPr>
                <a:r>
                  <a:rPr lang="en-US" sz="1600" b="1" dirty="0"/>
                  <a:t>Propagation delays:</a:t>
                </a:r>
              </a:p>
              <a:p>
                <a:pPr>
                  <a:lnSpc>
                    <a:spcPct val="100000"/>
                  </a:lnSpc>
                </a:pPr>
                <a:r>
                  <a:rPr lang="en-US" sz="1600" dirty="0"/>
                  <a:t>Server → router: </a:t>
                </a:r>
                <a:r>
                  <a:rPr lang="en-US" sz="1600" b="1" dirty="0"/>
                  <a:t>50 </a:t>
                </a:r>
                <a:r>
                  <a:rPr lang="en-US" sz="1600" b="1" dirty="0" err="1"/>
                  <a:t>ms</a:t>
                </a:r>
                <a:endParaRPr lang="en-US" sz="1600" dirty="0"/>
              </a:p>
              <a:p>
                <a:pPr>
                  <a:lnSpc>
                    <a:spcPct val="100000"/>
                  </a:lnSpc>
                </a:pPr>
                <a:r>
                  <a:rPr lang="en-US" sz="1600" dirty="0"/>
                  <a:t>Router → router: </a:t>
                </a:r>
                <a:r>
                  <a:rPr lang="en-US" sz="1600" b="1" dirty="0"/>
                  <a:t>200 </a:t>
                </a:r>
                <a:r>
                  <a:rPr lang="en-US" sz="1600" b="1" dirty="0" err="1"/>
                  <a:t>ms</a:t>
                </a:r>
                <a:endParaRPr lang="en-US" sz="1600" dirty="0"/>
              </a:p>
              <a:p>
                <a:pPr>
                  <a:lnSpc>
                    <a:spcPct val="100000"/>
                  </a:lnSpc>
                </a:pPr>
                <a:r>
                  <a:rPr lang="en-US" sz="1600" dirty="0"/>
                  <a:t>Router → client: </a:t>
                </a:r>
                <a:r>
                  <a:rPr lang="en-US" sz="1600" b="1" dirty="0"/>
                  <a:t>0 </a:t>
                </a:r>
                <a:r>
                  <a:rPr lang="en-US" sz="1600" b="1" dirty="0" err="1"/>
                  <a:t>ms</a:t>
                </a:r>
                <a:endParaRPr lang="en-US" sz="1600" dirty="0"/>
              </a:p>
              <a:p>
                <a:pPr>
                  <a:lnSpc>
                    <a:spcPct val="100000"/>
                  </a:lnSpc>
                </a:pPr>
                <a:r>
                  <a:rPr lang="en-US" sz="1600" dirty="0"/>
                  <a:t>Total propagation delay:</a:t>
                </a:r>
                <a14:m>
                  <m:oMath xmlns:m="http://schemas.openxmlformats.org/officeDocument/2006/math">
                    <m:r>
                      <a:rPr lang="en-US" sz="1600" b="0" i="0" smtClean="0">
                        <a:latin typeface="Cambria Math" panose="02040503050406030204" pitchFamily="18" charset="0"/>
                      </a:rPr>
                      <m:t> </m:t>
                    </m:r>
                    <m:sSub>
                      <m:sSubPr>
                        <m:ctrlPr>
                          <a:rPr lang="ar-AE" sz="1600" i="1">
                            <a:latin typeface="Cambria Math" panose="02040503050406030204" pitchFamily="18" charset="0"/>
                          </a:rPr>
                        </m:ctrlPr>
                      </m:sSubPr>
                      <m:e>
                        <m:r>
                          <a:rPr lang="ar-AE" sz="1600" i="1">
                            <a:latin typeface="Cambria Math" panose="02040503050406030204" pitchFamily="18" charset="0"/>
                          </a:rPr>
                          <m:t>𝑡</m:t>
                        </m:r>
                      </m:e>
                      <m:sub>
                        <m:r>
                          <a:rPr lang="ar-AE" sz="1600" i="1">
                            <a:latin typeface="Cambria Math" panose="02040503050406030204" pitchFamily="18" charset="0"/>
                          </a:rPr>
                          <m:t>𝑝𝑟𝑜𝑝</m:t>
                        </m:r>
                      </m:sub>
                    </m:sSub>
                    <m:r>
                      <a:rPr lang="en-US" sz="1600" b="0" i="1" smtClean="0">
                        <a:latin typeface="Cambria Math" panose="02040503050406030204" pitchFamily="18" charset="0"/>
                      </a:rPr>
                      <m:t>=</m:t>
                    </m:r>
                    <m:r>
                      <a:rPr lang="en-US" sz="1600">
                        <a:latin typeface="Cambria Math" panose="02040503050406030204" pitchFamily="18" charset="0"/>
                      </a:rPr>
                      <m:t>50</m:t>
                    </m:r>
                    <m:r>
                      <a:rPr lang="en-US" sz="1600">
                        <a:latin typeface="Cambria Math" panose="02040503050406030204" pitchFamily="18" charset="0"/>
                      </a:rPr>
                      <m:t>+</m:t>
                    </m:r>
                    <m:r>
                      <a:rPr lang="en-US" sz="1600">
                        <a:latin typeface="Cambria Math" panose="02040503050406030204" pitchFamily="18" charset="0"/>
                      </a:rPr>
                      <m:t>200</m:t>
                    </m:r>
                    <m:r>
                      <a:rPr lang="en-US" sz="1600">
                        <a:latin typeface="Cambria Math" panose="02040503050406030204" pitchFamily="18" charset="0"/>
                      </a:rPr>
                      <m:t>=</m:t>
                    </m:r>
                    <m:r>
                      <a:rPr lang="en-US" sz="1600">
                        <a:latin typeface="Cambria Math" panose="02040503050406030204" pitchFamily="18" charset="0"/>
                      </a:rPr>
                      <m:t>250</m:t>
                    </m:r>
                    <m:r>
                      <a:rPr lang="en-US" sz="1600" b="0" i="0" smtClean="0">
                        <a:latin typeface="Cambria Math" panose="02040503050406030204" pitchFamily="18" charset="0"/>
                      </a:rPr>
                      <m:t> </m:t>
                    </m:r>
                  </m:oMath>
                </a14:m>
                <a:r>
                  <a:rPr lang="en-US" sz="1600" dirty="0" err="1"/>
                  <a:t>ms</a:t>
                </a:r>
                <a:endParaRPr lang="en-US" sz="1600" dirty="0"/>
              </a:p>
              <a:p>
                <a:pPr>
                  <a:lnSpc>
                    <a:spcPct val="100000"/>
                  </a:lnSpc>
                </a:pPr>
                <a:r>
                  <a:rPr lang="en-US" sz="1600" b="1" dirty="0"/>
                  <a:t>End-to-end delay</a:t>
                </a:r>
              </a:p>
              <a:p>
                <a:pPr>
                  <a:lnSpc>
                    <a:spcPct val="100000"/>
                  </a:lnSpc>
                </a:pPr>
                <a14:m>
                  <m:oMath xmlns:m="http://schemas.openxmlformats.org/officeDocument/2006/math">
                    <m:r>
                      <a:rPr lang="en-US" sz="1600">
                        <a:latin typeface="Cambria Math" panose="02040503050406030204" pitchFamily="18" charset="0"/>
                      </a:rPr>
                      <m:t>250</m:t>
                    </m:r>
                    <m:r>
                      <m:rPr>
                        <m:nor/>
                      </m:rPr>
                      <a:rPr lang="en-US" sz="1600" i="1"/>
                      <m:t> </m:t>
                    </m:r>
                    <m:r>
                      <m:rPr>
                        <m:nor/>
                      </m:rPr>
                      <a:rPr lang="en-US" sz="1600" i="1"/>
                      <m:t>ms</m:t>
                    </m:r>
                    <m:r>
                      <a:rPr lang="en-US" sz="1600">
                        <a:latin typeface="Cambria Math" panose="02040503050406030204" pitchFamily="18" charset="0"/>
                      </a:rPr>
                      <m:t>+</m:t>
                    </m:r>
                    <m:r>
                      <a:rPr lang="en-US" sz="1600">
                        <a:latin typeface="Cambria Math" panose="02040503050406030204" pitchFamily="18" charset="0"/>
                      </a:rPr>
                      <m:t>0</m:t>
                    </m:r>
                    <m:r>
                      <a:rPr lang="en-US" sz="1600">
                        <a:latin typeface="Cambria Math" panose="02040503050406030204" pitchFamily="18" charset="0"/>
                      </a:rPr>
                      <m:t>.</m:t>
                    </m:r>
                    <m:r>
                      <a:rPr lang="en-US" sz="1600">
                        <a:latin typeface="Cambria Math" panose="02040503050406030204" pitchFamily="18" charset="0"/>
                      </a:rPr>
                      <m:t>62</m:t>
                    </m:r>
                    <m:r>
                      <m:rPr>
                        <m:nor/>
                      </m:rPr>
                      <a:rPr lang="en-US" sz="1600" i="1"/>
                      <m:t> </m:t>
                    </m:r>
                    <m:r>
                      <m:rPr>
                        <m:nor/>
                      </m:rPr>
                      <a:rPr lang="en-US" sz="1600" i="1"/>
                      <m:t>ms</m:t>
                    </m:r>
                    <m:r>
                      <a:rPr lang="en-US" sz="1600">
                        <a:latin typeface="Cambria Math" panose="02040503050406030204" pitchFamily="18" charset="0"/>
                      </a:rPr>
                      <m:t>=</m:t>
                    </m:r>
                  </m:oMath>
                </a14:m>
                <a:r>
                  <a:rPr lang="en-US" sz="1600" dirty="0"/>
                  <a:t> </a:t>
                </a:r>
                <a14:m>
                  <m:oMath xmlns:m="http://schemas.openxmlformats.org/officeDocument/2006/math">
                    <m:r>
                      <a:rPr lang="en-US" sz="1600">
                        <a:latin typeface="Cambria Math" panose="02040503050406030204" pitchFamily="18" charset="0"/>
                      </a:rPr>
                      <m:t>250</m:t>
                    </m:r>
                    <m:r>
                      <a:rPr lang="en-US" sz="1600" b="0" i="0" smtClean="0">
                        <a:latin typeface="Cambria Math" panose="02040503050406030204" pitchFamily="18" charset="0"/>
                      </a:rPr>
                      <m:t>.</m:t>
                    </m:r>
                    <m:r>
                      <a:rPr lang="en-US" sz="1600" b="0" i="0" smtClean="0">
                        <a:latin typeface="Cambria Math" panose="02040503050406030204" pitchFamily="18" charset="0"/>
                      </a:rPr>
                      <m:t>62</m:t>
                    </m:r>
                    <m:r>
                      <m:rPr>
                        <m:nor/>
                      </m:rPr>
                      <a:rPr lang="en-US" sz="1600" i="1"/>
                      <m:t> </m:t>
                    </m:r>
                    <m:r>
                      <m:rPr>
                        <m:nor/>
                      </m:rPr>
                      <a:rPr lang="en-US" sz="1600" i="1"/>
                      <m:t>ms</m:t>
                    </m:r>
                  </m:oMath>
                </a14:m>
                <a:endParaRPr lang="en-US" sz="1600" dirty="0"/>
              </a:p>
            </p:txBody>
          </p:sp>
        </mc:Choice>
        <mc:Fallback xmlns="">
          <p:sp>
            <p:nvSpPr>
              <p:cNvPr id="3" name="Content Placeholder 2">
                <a:extLst>
                  <a:ext uri="{FF2B5EF4-FFF2-40B4-BE49-F238E27FC236}">
                    <a16:creationId xmlns:a16="http://schemas.microsoft.com/office/drawing/2014/main" id="{AAF29413-F7B6-95BF-4926-E80D77CE1F99}"/>
                  </a:ext>
                </a:extLst>
              </p:cNvPr>
              <p:cNvSpPr>
                <a:spLocks noGrp="1" noRot="1" noChangeAspect="1" noMove="1" noResize="1" noEditPoints="1" noAdjustHandles="1" noChangeArrowheads="1" noChangeShapeType="1" noTextEdit="1"/>
              </p:cNvSpPr>
              <p:nvPr>
                <p:ph sz="half" idx="1"/>
              </p:nvPr>
            </p:nvSpPr>
            <p:spPr>
              <a:xfrm>
                <a:off x="362309" y="873424"/>
                <a:ext cx="8117457" cy="4270076"/>
              </a:xfrm>
              <a:blipFill>
                <a:blip r:embed="rId3"/>
                <a:stretch>
                  <a:fillRect/>
                </a:stretch>
              </a:blipFill>
            </p:spPr>
            <p:txBody>
              <a:bodyPr/>
              <a:lstStyle/>
              <a:p>
                <a:r>
                  <a:rPr lang="en-US">
                    <a:noFill/>
                  </a:rPr>
                  <a:t> </a:t>
                </a:r>
              </a:p>
            </p:txBody>
          </p:sp>
        </mc:Fallback>
      </mc:AlternateContent>
      <p:sp>
        <p:nvSpPr>
          <p:cNvPr id="8" name="Title 1">
            <a:extLst>
              <a:ext uri="{FF2B5EF4-FFF2-40B4-BE49-F238E27FC236}">
                <a16:creationId xmlns:a16="http://schemas.microsoft.com/office/drawing/2014/main" id="{57B04D29-7352-8C5B-7844-EF4BA6701978}"/>
              </a:ext>
            </a:extLst>
          </p:cNvPr>
          <p:cNvSpPr>
            <a:spLocks noGrp="1"/>
          </p:cNvSpPr>
          <p:nvPr>
            <p:ph type="title"/>
          </p:nvPr>
        </p:nvSpPr>
        <p:spPr>
          <a:xfrm>
            <a:off x="505325" y="338866"/>
            <a:ext cx="4705029" cy="670967"/>
          </a:xfrm>
        </p:spPr>
        <p:txBody>
          <a:bodyPr>
            <a:normAutofit fontScale="90000"/>
          </a:bodyPr>
          <a:lstStyle/>
          <a:p>
            <a:r>
              <a:rPr lang="en-US" dirty="0"/>
              <a:t>Q1 End-­to­‐end delay ANS </a:t>
            </a:r>
          </a:p>
        </p:txBody>
      </p:sp>
      <p:sp>
        <p:nvSpPr>
          <p:cNvPr id="4" name="Slide Number Placeholder 3">
            <a:extLst>
              <a:ext uri="{FF2B5EF4-FFF2-40B4-BE49-F238E27FC236}">
                <a16:creationId xmlns:a16="http://schemas.microsoft.com/office/drawing/2014/main" id="{0537A2E6-0625-B3BE-988B-AD901B65A264}"/>
              </a:ext>
            </a:extLst>
          </p:cNvPr>
          <p:cNvSpPr>
            <a:spLocks noGrp="1"/>
          </p:cNvSpPr>
          <p:nvPr>
            <p:ph type="sldNum" sz="quarter" idx="4"/>
          </p:nvPr>
        </p:nvSpPr>
        <p:spPr/>
        <p:txBody>
          <a:bodyPr/>
          <a:lstStyle/>
          <a:p>
            <a:fld id="{C4204591-24BD-A542-B9D5-F8D8A88D2FEE}" type="slidenum">
              <a:rPr lang="en-US" smtClean="0"/>
              <a:pPr/>
              <a:t>6</a:t>
            </a:fld>
            <a:endParaRPr lang="en-US" dirty="0"/>
          </a:p>
        </p:txBody>
      </p:sp>
    </p:spTree>
    <p:extLst>
      <p:ext uri="{BB962C8B-B14F-4D97-AF65-F5344CB8AC3E}">
        <p14:creationId xmlns:p14="http://schemas.microsoft.com/office/powerpoint/2010/main" val="5472632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54B36-D754-FCDC-5B2C-D21289D334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796FF-6B04-3C50-3911-52B6AB202DBA}"/>
              </a:ext>
            </a:extLst>
          </p:cNvPr>
          <p:cNvSpPr>
            <a:spLocks noGrp="1"/>
          </p:cNvSpPr>
          <p:nvPr>
            <p:ph type="title"/>
          </p:nvPr>
        </p:nvSpPr>
        <p:spPr>
          <a:xfrm>
            <a:off x="505326" y="338866"/>
            <a:ext cx="4247148" cy="670967"/>
          </a:xfrm>
        </p:spPr>
        <p:txBody>
          <a:bodyPr>
            <a:normAutofit fontScale="90000"/>
          </a:bodyPr>
          <a:lstStyle/>
          <a:p>
            <a:r>
              <a:rPr lang="en-US" dirty="0"/>
              <a:t>Q3 End-­to­‐end delay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5A0EDEB-DF4F-02F2-0219-D7E5E5242A29}"/>
                  </a:ext>
                </a:extLst>
              </p:cNvPr>
              <p:cNvSpPr>
                <a:spLocks noGrp="1"/>
              </p:cNvSpPr>
              <p:nvPr>
                <p:ph sz="half" idx="1"/>
              </p:nvPr>
            </p:nvSpPr>
            <p:spPr>
              <a:xfrm>
                <a:off x="0" y="1009833"/>
                <a:ext cx="8816196" cy="4133667"/>
              </a:xfrm>
            </p:spPr>
            <p:txBody>
              <a:bodyPr>
                <a:normAutofit/>
              </a:bodyPr>
              <a:lstStyle/>
              <a:p>
                <a:r>
                  <a:rPr lang="en-US" sz="1600" dirty="0"/>
                  <a:t>Consider a 100 Mbps link between an earth station (sender) and a satellite (receiver) at an altitude of 2100 km. The signal propagates at a speed of </a:t>
                </a:r>
                <a14:m>
                  <m:oMath xmlns:m="http://schemas.openxmlformats.org/officeDocument/2006/math">
                    <m:r>
                      <a:rPr lang="en-US">
                        <a:latin typeface="Cambria Math" panose="02040503050406030204" pitchFamily="18" charset="0"/>
                      </a:rPr>
                      <m:t>3</m:t>
                    </m:r>
                    <m:r>
                      <a:rPr lang="en-US">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8</m:t>
                        </m:r>
                      </m:sup>
                    </m:sSup>
                  </m:oMath>
                </a14:m>
                <a:r>
                  <a:rPr lang="en-US" sz="1600" dirty="0"/>
                  <a:t>m/s. Calculate the time taken (in </a:t>
                </a:r>
                <a:r>
                  <a:rPr lang="en-US" sz="1600" dirty="0" err="1"/>
                  <a:t>ms</a:t>
                </a:r>
                <a:r>
                  <a:rPr lang="en-US" sz="1600" dirty="0"/>
                  <a:t>) for the receiver to receive a packet of 1000 bytes transmitted by the sender. (There is no router so there is no queuing delay.)</a:t>
                </a:r>
              </a:p>
            </p:txBody>
          </p:sp>
        </mc:Choice>
        <mc:Fallback xmlns="">
          <p:sp>
            <p:nvSpPr>
              <p:cNvPr id="3" name="Content Placeholder 2">
                <a:extLst>
                  <a:ext uri="{FF2B5EF4-FFF2-40B4-BE49-F238E27FC236}">
                    <a16:creationId xmlns:a16="http://schemas.microsoft.com/office/drawing/2014/main" id="{E5A0EDEB-DF4F-02F2-0219-D7E5E5242A29}"/>
                  </a:ext>
                </a:extLst>
              </p:cNvPr>
              <p:cNvSpPr>
                <a:spLocks noGrp="1" noRot="1" noChangeAspect="1" noMove="1" noResize="1" noEditPoints="1" noAdjustHandles="1" noChangeArrowheads="1" noChangeShapeType="1" noTextEdit="1"/>
              </p:cNvSpPr>
              <p:nvPr>
                <p:ph sz="half" idx="1"/>
              </p:nvPr>
            </p:nvSpPr>
            <p:spPr>
              <a:xfrm>
                <a:off x="0" y="1009833"/>
                <a:ext cx="8816196" cy="4133667"/>
              </a:xfrm>
              <a:blipFill>
                <a:blip r:embed="rId2"/>
                <a:stretch>
                  <a:fillRect r="-207"/>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3">
            <p14:nvContentPartPr>
              <p14:cNvPr id="8" name="Ink 7">
                <a:extLst>
                  <a:ext uri="{FF2B5EF4-FFF2-40B4-BE49-F238E27FC236}">
                    <a16:creationId xmlns:a16="http://schemas.microsoft.com/office/drawing/2014/main" id="{7E73B5BA-0C66-2920-2BD4-6E9FD018625B}"/>
                  </a:ext>
                </a:extLst>
              </p14:cNvPr>
              <p14:cNvContentPartPr/>
              <p14:nvPr/>
            </p14:nvContentPartPr>
            <p14:xfrm>
              <a:off x="2394024" y="1900753"/>
              <a:ext cx="270" cy="270"/>
            </p14:xfrm>
          </p:contentPart>
        </mc:Choice>
        <mc:Fallback xmlns="">
          <p:pic>
            <p:nvPicPr>
              <p:cNvPr id="8" name="Ink 7">
                <a:extLst>
                  <a:ext uri="{FF2B5EF4-FFF2-40B4-BE49-F238E27FC236}">
                    <a16:creationId xmlns:a16="http://schemas.microsoft.com/office/drawing/2014/main" id="{7E73B5BA-0C66-2920-2BD4-6E9FD018625B}"/>
                  </a:ext>
                </a:extLst>
              </p:cNvPr>
              <p:cNvPicPr/>
              <p:nvPr/>
            </p:nvPicPr>
            <p:blipFill>
              <a:blip r:embed="rId4"/>
              <a:stretch>
                <a:fillRect/>
              </a:stretch>
            </p:blipFill>
            <p:spPr>
              <a:xfrm>
                <a:off x="2387274" y="1894003"/>
                <a:ext cx="13500" cy="135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A9932EF1-F11C-8B53-E268-7D3EFE8F8E0A}"/>
                  </a:ext>
                </a:extLst>
              </p14:cNvPr>
              <p14:cNvContentPartPr/>
              <p14:nvPr/>
            </p14:nvContentPartPr>
            <p14:xfrm>
              <a:off x="1142574" y="1551373"/>
              <a:ext cx="270" cy="270"/>
            </p14:xfrm>
          </p:contentPart>
        </mc:Choice>
        <mc:Fallback xmlns="">
          <p:pic>
            <p:nvPicPr>
              <p:cNvPr id="9" name="Ink 8">
                <a:extLst>
                  <a:ext uri="{FF2B5EF4-FFF2-40B4-BE49-F238E27FC236}">
                    <a16:creationId xmlns:a16="http://schemas.microsoft.com/office/drawing/2014/main" id="{A9932EF1-F11C-8B53-E268-7D3EFE8F8E0A}"/>
                  </a:ext>
                </a:extLst>
              </p:cNvPr>
              <p:cNvPicPr/>
              <p:nvPr/>
            </p:nvPicPr>
            <p:blipFill>
              <a:blip r:embed="rId4"/>
              <a:stretch>
                <a:fillRect/>
              </a:stretch>
            </p:blipFill>
            <p:spPr>
              <a:xfrm>
                <a:off x="1135824" y="1544623"/>
                <a:ext cx="13500" cy="13500"/>
              </a:xfrm>
              <a:prstGeom prst="rect">
                <a:avLst/>
              </a:prstGeom>
            </p:spPr>
          </p:pic>
        </mc:Fallback>
      </mc:AlternateContent>
      <p:sp>
        <p:nvSpPr>
          <p:cNvPr id="12" name="AutoShape 4">
            <a:extLst>
              <a:ext uri="{FF2B5EF4-FFF2-40B4-BE49-F238E27FC236}">
                <a16:creationId xmlns:a16="http://schemas.microsoft.com/office/drawing/2014/main" id="{C9576285-9447-3003-FA0A-B9A3503DBB9E}"/>
              </a:ext>
            </a:extLst>
          </p:cNvPr>
          <p:cNvSpPr>
            <a:spLocks noChangeAspect="1" noChangeArrowheads="1"/>
          </p:cNvSpPr>
          <p:nvPr/>
        </p:nvSpPr>
        <p:spPr bwMode="auto">
          <a:xfrm>
            <a:off x="3239691" y="1325166"/>
            <a:ext cx="2664619" cy="249316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050"/>
          </a:p>
        </p:txBody>
      </p:sp>
      <p:sp>
        <p:nvSpPr>
          <p:cNvPr id="5" name="Slide Number Placeholder 4">
            <a:extLst>
              <a:ext uri="{FF2B5EF4-FFF2-40B4-BE49-F238E27FC236}">
                <a16:creationId xmlns:a16="http://schemas.microsoft.com/office/drawing/2014/main" id="{0FEDD5B0-BCC5-0862-4680-0C8B4874BDF3}"/>
              </a:ext>
            </a:extLst>
          </p:cNvPr>
          <p:cNvSpPr>
            <a:spLocks noGrp="1"/>
          </p:cNvSpPr>
          <p:nvPr>
            <p:ph type="sldNum" sz="quarter" idx="4"/>
          </p:nvPr>
        </p:nvSpPr>
        <p:spPr/>
        <p:txBody>
          <a:bodyPr/>
          <a:lstStyle/>
          <a:p>
            <a:fld id="{C4204591-24BD-A542-B9D5-F8D8A88D2FEE}" type="slidenum">
              <a:rPr lang="en-US" smtClean="0"/>
              <a:pPr/>
              <a:t>7</a:t>
            </a:fld>
            <a:endParaRPr lang="en-US" dirty="0"/>
          </a:p>
        </p:txBody>
      </p:sp>
    </p:spTree>
    <p:extLst>
      <p:ext uri="{BB962C8B-B14F-4D97-AF65-F5344CB8AC3E}">
        <p14:creationId xmlns:p14="http://schemas.microsoft.com/office/powerpoint/2010/main" val="37877823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69510-912B-112E-E8B6-6BE5A111AF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E68150-C920-EE05-AEC2-745546471785}"/>
              </a:ext>
            </a:extLst>
          </p:cNvPr>
          <p:cNvSpPr>
            <a:spLocks noGrp="1"/>
          </p:cNvSpPr>
          <p:nvPr>
            <p:ph type="title"/>
          </p:nvPr>
        </p:nvSpPr>
        <p:spPr>
          <a:xfrm>
            <a:off x="505326" y="338866"/>
            <a:ext cx="6111134" cy="670967"/>
          </a:xfrm>
        </p:spPr>
        <p:txBody>
          <a:bodyPr>
            <a:normAutofit fontScale="90000"/>
          </a:bodyPr>
          <a:lstStyle/>
          <a:p>
            <a:r>
              <a:rPr lang="en-US" dirty="0"/>
              <a:t>Q3 End-­to­‐end delay ANS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86DDED0-DD66-63C1-CEC6-FDA581D3FB0B}"/>
                  </a:ext>
                </a:extLst>
              </p:cNvPr>
              <p:cNvSpPr>
                <a:spLocks noGrp="1"/>
              </p:cNvSpPr>
              <p:nvPr>
                <p:ph sz="half" idx="1"/>
              </p:nvPr>
            </p:nvSpPr>
            <p:spPr>
              <a:xfrm>
                <a:off x="0" y="853367"/>
                <a:ext cx="8816196" cy="4133667"/>
              </a:xfrm>
            </p:spPr>
            <p:txBody>
              <a:bodyPr>
                <a:normAutofit fontScale="92500"/>
              </a:bodyPr>
              <a:lstStyle/>
              <a:p>
                <a:r>
                  <a:rPr lang="en-US" sz="1600" b="1" dirty="0"/>
                  <a:t>1. Transmission delay.</a:t>
                </a:r>
              </a:p>
              <a:p>
                <a:r>
                  <a:rPr lang="en-US" sz="1600" dirty="0"/>
                  <a:t>Packet size:</a:t>
                </a:r>
                <a14:m>
                  <m:oMath xmlns:m="http://schemas.openxmlformats.org/officeDocument/2006/math">
                    <m:r>
                      <a:rPr lang="en-US" b="0" i="0" smtClean="0">
                        <a:latin typeface="Cambria Math" panose="02040503050406030204" pitchFamily="18" charset="0"/>
                      </a:rPr>
                      <m:t> </m:t>
                    </m:r>
                    <m:r>
                      <a:rPr lang="en-US">
                        <a:latin typeface="Cambria Math" panose="02040503050406030204" pitchFamily="18" charset="0"/>
                      </a:rPr>
                      <m:t>1000</m:t>
                    </m:r>
                  </m:oMath>
                </a14:m>
                <a:r>
                  <a:rPr lang="en-US" sz="1600" dirty="0"/>
                  <a:t>bytes </a:t>
                </a:r>
                <a14:m>
                  <m:oMath xmlns:m="http://schemas.openxmlformats.org/officeDocument/2006/math">
                    <m:r>
                      <a:rPr lang="en-US">
                        <a:latin typeface="Cambria Math" panose="02040503050406030204" pitchFamily="18" charset="0"/>
                      </a:rPr>
                      <m:t>=</m:t>
                    </m:r>
                    <m:r>
                      <a:rPr lang="en-US">
                        <a:latin typeface="Cambria Math" panose="02040503050406030204" pitchFamily="18" charset="0"/>
                      </a:rPr>
                      <m:t>8000</m:t>
                    </m:r>
                  </m:oMath>
                </a14:m>
                <a:r>
                  <a:rPr lang="en-US" sz="1600" dirty="0"/>
                  <a:t>bits</a:t>
                </a:r>
              </a:p>
              <a:p>
                <a:r>
                  <a:rPr lang="en-US" sz="1600" dirty="0"/>
                  <a:t>Link rate:</a:t>
                </a:r>
                <a14:m>
                  <m:oMath xmlns:m="http://schemas.openxmlformats.org/officeDocument/2006/math">
                    <m:r>
                      <a:rPr lang="en-US" b="0" i="0" smtClean="0">
                        <a:latin typeface="Cambria Math" panose="02040503050406030204" pitchFamily="18" charset="0"/>
                      </a:rPr>
                      <m:t> </m:t>
                    </m:r>
                    <m:r>
                      <a:rPr lang="en-US">
                        <a:latin typeface="Cambria Math" panose="02040503050406030204" pitchFamily="18" charset="0"/>
                      </a:rPr>
                      <m:t>100</m:t>
                    </m:r>
                  </m:oMath>
                </a14:m>
                <a:r>
                  <a:rPr lang="en-US" sz="1600" dirty="0"/>
                  <a:t>Mbps </a:t>
                </a:r>
                <a14:m>
                  <m:oMath xmlns:m="http://schemas.openxmlformats.org/officeDocument/2006/math">
                    <m:r>
                      <a:rPr lang="en-US">
                        <a:latin typeface="Cambria Math" panose="02040503050406030204" pitchFamily="18" charset="0"/>
                      </a:rPr>
                      <m:t>=</m:t>
                    </m:r>
                    <m:r>
                      <a:rPr lang="en-US">
                        <a:latin typeface="Cambria Math" panose="02040503050406030204" pitchFamily="18" charset="0"/>
                      </a:rPr>
                      <m:t>100</m:t>
                    </m:r>
                    <m:r>
                      <a:rPr lang="en-US">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6</m:t>
                        </m:r>
                      </m:sup>
                    </m:sSup>
                  </m:oMath>
                </a14:m>
                <a:r>
                  <a:rPr lang="en-US" sz="1600" dirty="0"/>
                  <a:t>bits/s</a:t>
                </a:r>
              </a:p>
              <a:p>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𝑡𝑥</m:t>
                        </m:r>
                      </m:sub>
                    </m:sSub>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8000</m:t>
                        </m:r>
                      </m:num>
                      <m:den>
                        <m:r>
                          <a:rPr lang="ar-AE">
                            <a:latin typeface="Cambria Math" panose="02040503050406030204" pitchFamily="18" charset="0"/>
                          </a:rPr>
                          <m:t>100</m:t>
                        </m:r>
                        <m:r>
                          <a:rPr lang="ar-AE">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6</m:t>
                            </m:r>
                          </m:sup>
                        </m:sSup>
                      </m:den>
                    </m:f>
                    <m:r>
                      <a:rPr lang="ar-AE">
                        <a:latin typeface="Cambria Math" panose="02040503050406030204" pitchFamily="18" charset="0"/>
                      </a:rPr>
                      <m:t>=</m:t>
                    </m:r>
                    <m:r>
                      <a:rPr lang="ar-AE">
                        <a:latin typeface="Cambria Math" panose="02040503050406030204" pitchFamily="18" charset="0"/>
                      </a:rPr>
                      <m:t>8</m:t>
                    </m:r>
                    <m:r>
                      <a:rPr lang="ar-AE">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m:t>
                        </m:r>
                        <m:r>
                          <a:rPr lang="ar-AE">
                            <a:latin typeface="Cambria Math" panose="02040503050406030204" pitchFamily="18" charset="0"/>
                          </a:rPr>
                          <m:t>5</m:t>
                        </m:r>
                      </m:sup>
                    </m:sSup>
                    <m:r>
                      <m:rPr>
                        <m:nor/>
                      </m:rPr>
                      <a:rPr lang="ar-AE" i="1"/>
                      <m:t> </m:t>
                    </m:r>
                    <m:r>
                      <m:rPr>
                        <m:nor/>
                      </m:rPr>
                      <a:rPr lang="en-US" i="1"/>
                      <m:t>s</m:t>
                    </m:r>
                    <m:r>
                      <a:rPr lang="en-US">
                        <a:latin typeface="Cambria Math" panose="02040503050406030204" pitchFamily="18" charset="0"/>
                      </a:rPr>
                      <m:t>=</m:t>
                    </m:r>
                    <m:r>
                      <a:rPr lang="en-US">
                        <a:latin typeface="Cambria Math" panose="02040503050406030204" pitchFamily="18" charset="0"/>
                      </a:rPr>
                      <m:t>0</m:t>
                    </m:r>
                    <m:r>
                      <a:rPr lang="en-US">
                        <a:latin typeface="Cambria Math" panose="02040503050406030204" pitchFamily="18" charset="0"/>
                      </a:rPr>
                      <m:t>.</m:t>
                    </m:r>
                    <m:r>
                      <a:rPr lang="en-US">
                        <a:latin typeface="Cambria Math" panose="02040503050406030204" pitchFamily="18" charset="0"/>
                      </a:rPr>
                      <m:t>08</m:t>
                    </m:r>
                    <m:r>
                      <m:rPr>
                        <m:nor/>
                      </m:rPr>
                      <a:rPr lang="en-US" i="1"/>
                      <m:t> </m:t>
                    </m:r>
                    <m:r>
                      <m:rPr>
                        <m:nor/>
                      </m:rPr>
                      <a:rPr lang="en-US" i="1"/>
                      <m:t>ms</m:t>
                    </m:r>
                  </m:oMath>
                </a14:m>
                <a:endParaRPr lang="en-US" sz="1600" dirty="0"/>
              </a:p>
              <a:p>
                <a:r>
                  <a:rPr lang="en-US" sz="1600" b="1" dirty="0"/>
                  <a:t>2. Propagation delay</a:t>
                </a:r>
              </a:p>
              <a:p>
                <a:r>
                  <a:rPr lang="en-US" sz="1600" dirty="0"/>
                  <a:t>Distance:</a:t>
                </a:r>
                <a14:m>
                  <m:oMath xmlns:m="http://schemas.openxmlformats.org/officeDocument/2006/math">
                    <m:r>
                      <a:rPr lang="en-US" b="0" i="0" smtClean="0">
                        <a:latin typeface="Cambria Math" panose="02040503050406030204" pitchFamily="18" charset="0"/>
                      </a:rPr>
                      <m:t> </m:t>
                    </m:r>
                    <m:r>
                      <a:rPr lang="en-US">
                        <a:latin typeface="Cambria Math" panose="02040503050406030204" pitchFamily="18" charset="0"/>
                      </a:rPr>
                      <m:t>2100</m:t>
                    </m:r>
                  </m:oMath>
                </a14:m>
                <a:r>
                  <a:rPr lang="en-US" sz="1600" dirty="0"/>
                  <a:t>km </a:t>
                </a:r>
                <a14:m>
                  <m:oMath xmlns:m="http://schemas.openxmlformats.org/officeDocument/2006/math">
                    <m:r>
                      <a:rPr lang="en-US">
                        <a:latin typeface="Cambria Math" panose="02040503050406030204" pitchFamily="18" charset="0"/>
                      </a:rPr>
                      <m:t>=</m:t>
                    </m:r>
                    <m:r>
                      <a:rPr lang="en-US">
                        <a:latin typeface="Cambria Math" panose="02040503050406030204" pitchFamily="18" charset="0"/>
                      </a:rPr>
                      <m:t>2</m:t>
                    </m:r>
                    <m:r>
                      <a:rPr lang="en-US">
                        <a:latin typeface="Cambria Math" panose="02040503050406030204" pitchFamily="18" charset="0"/>
                      </a:rPr>
                      <m:t>.</m:t>
                    </m:r>
                    <m:r>
                      <a:rPr lang="en-US">
                        <a:latin typeface="Cambria Math" panose="02040503050406030204" pitchFamily="18" charset="0"/>
                      </a:rPr>
                      <m:t>1</m:t>
                    </m:r>
                    <m:r>
                      <a:rPr lang="en-US">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6</m:t>
                        </m:r>
                      </m:sup>
                    </m:sSup>
                  </m:oMath>
                </a14:m>
                <a:r>
                  <a:rPr lang="en-US" sz="1600" dirty="0"/>
                  <a:t>m</a:t>
                </a:r>
              </a:p>
              <a:p>
                <a:r>
                  <a:rPr lang="en-US" sz="1600" dirty="0"/>
                  <a:t>Propagation speed:</a:t>
                </a:r>
                <a14:m>
                  <m:oMath xmlns:m="http://schemas.openxmlformats.org/officeDocument/2006/math">
                    <m:r>
                      <a:rPr lang="en-US" b="0" i="0" smtClean="0">
                        <a:latin typeface="Cambria Math" panose="02040503050406030204" pitchFamily="18" charset="0"/>
                      </a:rPr>
                      <m:t> </m:t>
                    </m:r>
                    <m:r>
                      <a:rPr lang="en-US">
                        <a:latin typeface="Cambria Math" panose="02040503050406030204" pitchFamily="18" charset="0"/>
                      </a:rPr>
                      <m:t>3</m:t>
                    </m:r>
                    <m:r>
                      <a:rPr lang="en-US">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8</m:t>
                        </m:r>
                      </m:sup>
                    </m:sSup>
                  </m:oMath>
                </a14:m>
                <a:r>
                  <a:rPr lang="en-US" sz="1600" dirty="0"/>
                  <a:t>m/s</a:t>
                </a:r>
              </a:p>
              <a:p>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𝑝𝑟𝑜𝑝</m:t>
                        </m:r>
                      </m:sub>
                    </m:sSub>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2</m:t>
                        </m:r>
                        <m:r>
                          <a:rPr lang="ar-AE">
                            <a:latin typeface="Cambria Math" panose="02040503050406030204" pitchFamily="18" charset="0"/>
                          </a:rPr>
                          <m:t>.</m:t>
                        </m:r>
                        <m:r>
                          <a:rPr lang="ar-AE">
                            <a:latin typeface="Cambria Math" panose="02040503050406030204" pitchFamily="18" charset="0"/>
                          </a:rPr>
                          <m:t>1</m:t>
                        </m:r>
                        <m:r>
                          <a:rPr lang="ar-AE">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6</m:t>
                            </m:r>
                          </m:sup>
                        </m:sSup>
                      </m:num>
                      <m:den>
                        <m:r>
                          <a:rPr lang="ar-AE">
                            <a:latin typeface="Cambria Math" panose="02040503050406030204" pitchFamily="18" charset="0"/>
                          </a:rPr>
                          <m:t>3</m:t>
                        </m:r>
                        <m:r>
                          <a:rPr lang="ar-AE">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8</m:t>
                            </m:r>
                          </m:sup>
                        </m:sSup>
                      </m:den>
                    </m:f>
                    <m:r>
                      <a:rPr lang="ar-AE">
                        <a:latin typeface="Cambria Math" panose="02040503050406030204" pitchFamily="18" charset="0"/>
                      </a:rPr>
                      <m:t>=</m:t>
                    </m:r>
                    <m:r>
                      <a:rPr lang="ar-AE">
                        <a:latin typeface="Cambria Math" panose="02040503050406030204" pitchFamily="18" charset="0"/>
                      </a:rPr>
                      <m:t>7</m:t>
                    </m:r>
                    <m:r>
                      <a:rPr lang="ar-AE">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m:t>
                        </m:r>
                        <m:r>
                          <a:rPr lang="ar-AE">
                            <a:latin typeface="Cambria Math" panose="02040503050406030204" pitchFamily="18" charset="0"/>
                          </a:rPr>
                          <m:t>3</m:t>
                        </m:r>
                      </m:sup>
                    </m:sSup>
                    <m:r>
                      <m:rPr>
                        <m:nor/>
                      </m:rPr>
                      <a:rPr lang="ar-AE" i="1"/>
                      <m:t> </m:t>
                    </m:r>
                    <m:r>
                      <m:rPr>
                        <m:nor/>
                      </m:rPr>
                      <a:rPr lang="en-US" i="1"/>
                      <m:t>s</m:t>
                    </m:r>
                    <m:r>
                      <a:rPr lang="en-US">
                        <a:latin typeface="Cambria Math" panose="02040503050406030204" pitchFamily="18" charset="0"/>
                      </a:rPr>
                      <m:t>=</m:t>
                    </m:r>
                    <m:r>
                      <a:rPr lang="en-US">
                        <a:latin typeface="Cambria Math" panose="02040503050406030204" pitchFamily="18" charset="0"/>
                      </a:rPr>
                      <m:t>7</m:t>
                    </m:r>
                    <m:r>
                      <a:rPr lang="en-US">
                        <a:latin typeface="Cambria Math" panose="02040503050406030204" pitchFamily="18" charset="0"/>
                      </a:rPr>
                      <m:t>.</m:t>
                    </m:r>
                    <m:r>
                      <a:rPr lang="en-US">
                        <a:latin typeface="Cambria Math" panose="02040503050406030204" pitchFamily="18" charset="0"/>
                      </a:rPr>
                      <m:t>00</m:t>
                    </m:r>
                    <m:r>
                      <m:rPr>
                        <m:nor/>
                      </m:rPr>
                      <a:rPr lang="en-US" i="1"/>
                      <m:t> </m:t>
                    </m:r>
                    <m:r>
                      <m:rPr>
                        <m:nor/>
                      </m:rPr>
                      <a:rPr lang="en-US" i="1"/>
                      <m:t>ms</m:t>
                    </m:r>
                  </m:oMath>
                </a14:m>
                <a:endParaRPr lang="en-US" sz="1600" dirty="0"/>
              </a:p>
              <a:p>
                <a:r>
                  <a:rPr lang="en-US" sz="1600" b="1" dirty="0"/>
                  <a:t>3. Total delay</a:t>
                </a:r>
              </a:p>
              <a:p>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𝑡𝑜𝑡𝑎𝑙</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𝑡𝑥</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𝑝𝑟𝑜𝑝</m:t>
                        </m:r>
                      </m:sub>
                    </m:sSub>
                    <m:r>
                      <a:rPr lang="ar-AE">
                        <a:latin typeface="Cambria Math" panose="02040503050406030204" pitchFamily="18" charset="0"/>
                      </a:rPr>
                      <m:t>=</m:t>
                    </m:r>
                    <m:r>
                      <a:rPr lang="ar-AE">
                        <a:latin typeface="Cambria Math" panose="02040503050406030204" pitchFamily="18" charset="0"/>
                      </a:rPr>
                      <m:t>0</m:t>
                    </m:r>
                    <m:r>
                      <a:rPr lang="ar-AE">
                        <a:latin typeface="Cambria Math" panose="02040503050406030204" pitchFamily="18" charset="0"/>
                      </a:rPr>
                      <m:t>.</m:t>
                    </m:r>
                    <m:r>
                      <a:rPr lang="ar-AE">
                        <a:latin typeface="Cambria Math" panose="02040503050406030204" pitchFamily="18" charset="0"/>
                      </a:rPr>
                      <m:t>08</m:t>
                    </m:r>
                    <m:r>
                      <a:rPr lang="ar-AE">
                        <a:latin typeface="Cambria Math" panose="02040503050406030204" pitchFamily="18" charset="0"/>
                      </a:rPr>
                      <m:t>+</m:t>
                    </m:r>
                    <m:r>
                      <a:rPr lang="ar-AE">
                        <a:latin typeface="Cambria Math" panose="02040503050406030204" pitchFamily="18" charset="0"/>
                      </a:rPr>
                      <m:t>7</m:t>
                    </m:r>
                    <m:r>
                      <a:rPr lang="ar-AE">
                        <a:latin typeface="Cambria Math" panose="02040503050406030204" pitchFamily="18" charset="0"/>
                      </a:rPr>
                      <m:t>.</m:t>
                    </m:r>
                    <m:r>
                      <a:rPr lang="ar-AE">
                        <a:latin typeface="Cambria Math" panose="02040503050406030204" pitchFamily="18" charset="0"/>
                      </a:rPr>
                      <m:t>00</m:t>
                    </m:r>
                    <m:r>
                      <a:rPr lang="ar-AE">
                        <a:latin typeface="Cambria Math" panose="02040503050406030204" pitchFamily="18" charset="0"/>
                      </a:rPr>
                      <m:t>=</m:t>
                    </m:r>
                    <m:r>
                      <a:rPr lang="ar-AE">
                        <a:latin typeface="Cambria Math" panose="02040503050406030204" pitchFamily="18" charset="0"/>
                      </a:rPr>
                      <m:t>7</m:t>
                    </m:r>
                    <m:r>
                      <a:rPr lang="ar-AE">
                        <a:latin typeface="Cambria Math" panose="02040503050406030204" pitchFamily="18" charset="0"/>
                      </a:rPr>
                      <m:t>.</m:t>
                    </m:r>
                    <m:r>
                      <a:rPr lang="ar-AE">
                        <a:latin typeface="Cambria Math" panose="02040503050406030204" pitchFamily="18" charset="0"/>
                      </a:rPr>
                      <m:t>08</m:t>
                    </m:r>
                    <m:r>
                      <m:rPr>
                        <m:nor/>
                      </m:rPr>
                      <a:rPr lang="ar-AE" i="1"/>
                      <m:t> </m:t>
                    </m:r>
                    <m:r>
                      <m:rPr>
                        <m:nor/>
                      </m:rPr>
                      <a:rPr lang="en-US" i="1"/>
                      <m:t>ms</m:t>
                    </m:r>
                  </m:oMath>
                </a14:m>
                <a:endParaRPr lang="en-US" sz="1600" dirty="0"/>
              </a:p>
              <a:p>
                <a:endParaRPr lang="en-US" sz="1600" dirty="0"/>
              </a:p>
            </p:txBody>
          </p:sp>
        </mc:Choice>
        <mc:Fallback>
          <p:sp>
            <p:nvSpPr>
              <p:cNvPr id="3" name="Content Placeholder 2">
                <a:extLst>
                  <a:ext uri="{FF2B5EF4-FFF2-40B4-BE49-F238E27FC236}">
                    <a16:creationId xmlns:a16="http://schemas.microsoft.com/office/drawing/2014/main" id="{986DDED0-DD66-63C1-CEC6-FDA581D3FB0B}"/>
                  </a:ext>
                </a:extLst>
              </p:cNvPr>
              <p:cNvSpPr>
                <a:spLocks noGrp="1" noRot="1" noChangeAspect="1" noMove="1" noResize="1" noEditPoints="1" noAdjustHandles="1" noChangeArrowheads="1" noChangeShapeType="1" noTextEdit="1"/>
              </p:cNvSpPr>
              <p:nvPr>
                <p:ph sz="half" idx="1"/>
              </p:nvPr>
            </p:nvSpPr>
            <p:spPr>
              <a:xfrm>
                <a:off x="0" y="853367"/>
                <a:ext cx="8816196" cy="4133667"/>
              </a:xfrm>
              <a:blipFill>
                <a:blip r:embed="rId2"/>
                <a:stretch>
                  <a:fillRect b="-442"/>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3">
            <p14:nvContentPartPr>
              <p14:cNvPr id="8" name="Ink 7">
                <a:extLst>
                  <a:ext uri="{FF2B5EF4-FFF2-40B4-BE49-F238E27FC236}">
                    <a16:creationId xmlns:a16="http://schemas.microsoft.com/office/drawing/2014/main" id="{9CBEDF10-4BE7-8FC9-B099-C4D18B995B09}"/>
                  </a:ext>
                </a:extLst>
              </p14:cNvPr>
              <p14:cNvContentPartPr/>
              <p14:nvPr/>
            </p14:nvContentPartPr>
            <p14:xfrm>
              <a:off x="2394024" y="1900753"/>
              <a:ext cx="270" cy="270"/>
            </p14:xfrm>
          </p:contentPart>
        </mc:Choice>
        <mc:Fallback xmlns="">
          <p:pic>
            <p:nvPicPr>
              <p:cNvPr id="8" name="Ink 7">
                <a:extLst>
                  <a:ext uri="{FF2B5EF4-FFF2-40B4-BE49-F238E27FC236}">
                    <a16:creationId xmlns:a16="http://schemas.microsoft.com/office/drawing/2014/main" id="{9CBEDF10-4BE7-8FC9-B099-C4D18B995B09}"/>
                  </a:ext>
                </a:extLst>
              </p:cNvPr>
              <p:cNvPicPr/>
              <p:nvPr/>
            </p:nvPicPr>
            <p:blipFill>
              <a:blip r:embed="rId4"/>
              <a:stretch>
                <a:fillRect/>
              </a:stretch>
            </p:blipFill>
            <p:spPr>
              <a:xfrm>
                <a:off x="2387274" y="1894003"/>
                <a:ext cx="13500" cy="135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38FBA92F-45F1-A2D0-71BC-578A9AB196F3}"/>
                  </a:ext>
                </a:extLst>
              </p14:cNvPr>
              <p14:cNvContentPartPr/>
              <p14:nvPr/>
            </p14:nvContentPartPr>
            <p14:xfrm>
              <a:off x="1142574" y="1551373"/>
              <a:ext cx="270" cy="270"/>
            </p14:xfrm>
          </p:contentPart>
        </mc:Choice>
        <mc:Fallback xmlns="">
          <p:pic>
            <p:nvPicPr>
              <p:cNvPr id="9" name="Ink 8">
                <a:extLst>
                  <a:ext uri="{FF2B5EF4-FFF2-40B4-BE49-F238E27FC236}">
                    <a16:creationId xmlns:a16="http://schemas.microsoft.com/office/drawing/2014/main" id="{38FBA92F-45F1-A2D0-71BC-578A9AB196F3}"/>
                  </a:ext>
                </a:extLst>
              </p:cNvPr>
              <p:cNvPicPr/>
              <p:nvPr/>
            </p:nvPicPr>
            <p:blipFill>
              <a:blip r:embed="rId4"/>
              <a:stretch>
                <a:fillRect/>
              </a:stretch>
            </p:blipFill>
            <p:spPr>
              <a:xfrm>
                <a:off x="1135824" y="1544623"/>
                <a:ext cx="13500" cy="13500"/>
              </a:xfrm>
              <a:prstGeom prst="rect">
                <a:avLst/>
              </a:prstGeom>
            </p:spPr>
          </p:pic>
        </mc:Fallback>
      </mc:AlternateContent>
      <p:sp>
        <p:nvSpPr>
          <p:cNvPr id="12" name="AutoShape 4">
            <a:extLst>
              <a:ext uri="{FF2B5EF4-FFF2-40B4-BE49-F238E27FC236}">
                <a16:creationId xmlns:a16="http://schemas.microsoft.com/office/drawing/2014/main" id="{3B0F82AD-BEEA-45C7-0BAE-BD1ADA944A53}"/>
              </a:ext>
            </a:extLst>
          </p:cNvPr>
          <p:cNvSpPr>
            <a:spLocks noChangeAspect="1" noChangeArrowheads="1"/>
          </p:cNvSpPr>
          <p:nvPr/>
        </p:nvSpPr>
        <p:spPr bwMode="auto">
          <a:xfrm>
            <a:off x="3239691" y="1325166"/>
            <a:ext cx="2664619" cy="249316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050"/>
          </a:p>
        </p:txBody>
      </p:sp>
      <p:sp>
        <p:nvSpPr>
          <p:cNvPr id="5" name="Slide Number Placeholder 4">
            <a:extLst>
              <a:ext uri="{FF2B5EF4-FFF2-40B4-BE49-F238E27FC236}">
                <a16:creationId xmlns:a16="http://schemas.microsoft.com/office/drawing/2014/main" id="{BB56AF58-0F26-11A5-6EAF-AF9DC70B72FD}"/>
              </a:ext>
            </a:extLst>
          </p:cNvPr>
          <p:cNvSpPr>
            <a:spLocks noGrp="1"/>
          </p:cNvSpPr>
          <p:nvPr>
            <p:ph type="sldNum" sz="quarter" idx="4"/>
          </p:nvPr>
        </p:nvSpPr>
        <p:spPr/>
        <p:txBody>
          <a:bodyPr/>
          <a:lstStyle/>
          <a:p>
            <a:fld id="{C4204591-24BD-A542-B9D5-F8D8A88D2FEE}" type="slidenum">
              <a:rPr lang="en-US" smtClean="0"/>
              <a:pPr/>
              <a:t>8</a:t>
            </a:fld>
            <a:endParaRPr lang="en-US" dirty="0"/>
          </a:p>
        </p:txBody>
      </p:sp>
    </p:spTree>
    <p:extLst>
      <p:ext uri="{BB962C8B-B14F-4D97-AF65-F5344CB8AC3E}">
        <p14:creationId xmlns:p14="http://schemas.microsoft.com/office/powerpoint/2010/main" val="16961986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27920-11B3-D76E-AE61-F2AD5E11BF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7AE1F6-D8E5-0339-7CA0-4F67013794D3}"/>
              </a:ext>
            </a:extLst>
          </p:cNvPr>
          <p:cNvSpPr>
            <a:spLocks noGrp="1"/>
          </p:cNvSpPr>
          <p:nvPr>
            <p:ph type="title"/>
          </p:nvPr>
        </p:nvSpPr>
        <p:spPr>
          <a:xfrm>
            <a:off x="505326" y="338866"/>
            <a:ext cx="4247148" cy="670967"/>
          </a:xfrm>
        </p:spPr>
        <p:txBody>
          <a:bodyPr>
            <a:normAutofit fontScale="90000"/>
          </a:bodyPr>
          <a:lstStyle/>
          <a:p>
            <a:r>
              <a:rPr lang="en-US" dirty="0"/>
              <a:t>Q4 End-­to­‐end delay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F542915-B4F9-DBBE-C4D4-2041C46C8D1C}"/>
                  </a:ext>
                </a:extLst>
              </p:cNvPr>
              <p:cNvSpPr>
                <a:spLocks noGrp="1"/>
              </p:cNvSpPr>
              <p:nvPr>
                <p:ph sz="half" idx="1"/>
              </p:nvPr>
            </p:nvSpPr>
            <p:spPr>
              <a:xfrm>
                <a:off x="0" y="1009833"/>
                <a:ext cx="8816196" cy="4133667"/>
              </a:xfrm>
            </p:spPr>
            <p:txBody>
              <a:bodyPr>
                <a:normAutofit/>
              </a:bodyPr>
              <a:lstStyle/>
              <a:p>
                <a:r>
                  <a:rPr lang="en-US" sz="1600" dirty="0"/>
                  <a:t>Consider two computers X and Y connected via a single link of bandwidth 512 Gbps. Suppose that both hosts are separated by distance M meters, and the propagation delay along the link is </a:t>
                </a:r>
                <a14:m>
                  <m:oMath xmlns:m="http://schemas.openxmlformats.org/officeDocument/2006/math">
                    <m:r>
                      <a:rPr lang="en-US">
                        <a:latin typeface="Cambria Math" panose="02040503050406030204" pitchFamily="18" charset="0"/>
                      </a:rPr>
                      <m:t>2</m:t>
                    </m:r>
                    <m:r>
                      <a:rPr lang="en-US">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9</m:t>
                        </m:r>
                      </m:sup>
                    </m:sSup>
                  </m:oMath>
                </a14:m>
                <a:r>
                  <a:rPr lang="en-US" sz="1600" dirty="0"/>
                  <a:t>meters/sec. Computer X has to send a packet of size 1 Kbyte to computer Y. What will be the distance M such that the propagation delay is equal to the transmission delay?</a:t>
                </a:r>
              </a:p>
            </p:txBody>
          </p:sp>
        </mc:Choice>
        <mc:Fallback xmlns="">
          <p:sp>
            <p:nvSpPr>
              <p:cNvPr id="3" name="Content Placeholder 2">
                <a:extLst>
                  <a:ext uri="{FF2B5EF4-FFF2-40B4-BE49-F238E27FC236}">
                    <a16:creationId xmlns:a16="http://schemas.microsoft.com/office/drawing/2014/main" id="{AF542915-B4F9-DBBE-C4D4-2041C46C8D1C}"/>
                  </a:ext>
                </a:extLst>
              </p:cNvPr>
              <p:cNvSpPr>
                <a:spLocks noGrp="1" noRot="1" noChangeAspect="1" noMove="1" noResize="1" noEditPoints="1" noAdjustHandles="1" noChangeArrowheads="1" noChangeShapeType="1" noTextEdit="1"/>
              </p:cNvSpPr>
              <p:nvPr>
                <p:ph sz="half" idx="1"/>
              </p:nvPr>
            </p:nvSpPr>
            <p:spPr>
              <a:xfrm>
                <a:off x="0" y="1009833"/>
                <a:ext cx="8816196" cy="4133667"/>
              </a:xfrm>
              <a:blipFill>
                <a:blip r:embed="rId2"/>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3">
            <p14:nvContentPartPr>
              <p14:cNvPr id="8" name="Ink 7">
                <a:extLst>
                  <a:ext uri="{FF2B5EF4-FFF2-40B4-BE49-F238E27FC236}">
                    <a16:creationId xmlns:a16="http://schemas.microsoft.com/office/drawing/2014/main" id="{BF9B16F1-26FB-0E56-FA0A-E1AE729E92E6}"/>
                  </a:ext>
                </a:extLst>
              </p14:cNvPr>
              <p14:cNvContentPartPr/>
              <p14:nvPr/>
            </p14:nvContentPartPr>
            <p14:xfrm>
              <a:off x="2394024" y="1900753"/>
              <a:ext cx="270" cy="270"/>
            </p14:xfrm>
          </p:contentPart>
        </mc:Choice>
        <mc:Fallback xmlns="">
          <p:pic>
            <p:nvPicPr>
              <p:cNvPr id="8" name="Ink 7">
                <a:extLst>
                  <a:ext uri="{FF2B5EF4-FFF2-40B4-BE49-F238E27FC236}">
                    <a16:creationId xmlns:a16="http://schemas.microsoft.com/office/drawing/2014/main" id="{BF9B16F1-26FB-0E56-FA0A-E1AE729E92E6}"/>
                  </a:ext>
                </a:extLst>
              </p:cNvPr>
              <p:cNvPicPr/>
              <p:nvPr/>
            </p:nvPicPr>
            <p:blipFill>
              <a:blip r:embed="rId4"/>
              <a:stretch>
                <a:fillRect/>
              </a:stretch>
            </p:blipFill>
            <p:spPr>
              <a:xfrm>
                <a:off x="2387274" y="1894003"/>
                <a:ext cx="13500" cy="135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BC90F249-0F8D-8A72-C826-5B5928532520}"/>
                  </a:ext>
                </a:extLst>
              </p14:cNvPr>
              <p14:cNvContentPartPr/>
              <p14:nvPr/>
            </p14:nvContentPartPr>
            <p14:xfrm>
              <a:off x="1142574" y="1551373"/>
              <a:ext cx="270" cy="270"/>
            </p14:xfrm>
          </p:contentPart>
        </mc:Choice>
        <mc:Fallback xmlns="">
          <p:pic>
            <p:nvPicPr>
              <p:cNvPr id="9" name="Ink 8">
                <a:extLst>
                  <a:ext uri="{FF2B5EF4-FFF2-40B4-BE49-F238E27FC236}">
                    <a16:creationId xmlns:a16="http://schemas.microsoft.com/office/drawing/2014/main" id="{BC90F249-0F8D-8A72-C826-5B5928532520}"/>
                  </a:ext>
                </a:extLst>
              </p:cNvPr>
              <p:cNvPicPr/>
              <p:nvPr/>
            </p:nvPicPr>
            <p:blipFill>
              <a:blip r:embed="rId4"/>
              <a:stretch>
                <a:fillRect/>
              </a:stretch>
            </p:blipFill>
            <p:spPr>
              <a:xfrm>
                <a:off x="1135824" y="1544623"/>
                <a:ext cx="13500" cy="13500"/>
              </a:xfrm>
              <a:prstGeom prst="rect">
                <a:avLst/>
              </a:prstGeom>
            </p:spPr>
          </p:pic>
        </mc:Fallback>
      </mc:AlternateContent>
      <p:sp>
        <p:nvSpPr>
          <p:cNvPr id="12" name="AutoShape 4">
            <a:extLst>
              <a:ext uri="{FF2B5EF4-FFF2-40B4-BE49-F238E27FC236}">
                <a16:creationId xmlns:a16="http://schemas.microsoft.com/office/drawing/2014/main" id="{4F627A13-160A-CA35-4A74-6E36D1D5F755}"/>
              </a:ext>
            </a:extLst>
          </p:cNvPr>
          <p:cNvSpPr>
            <a:spLocks noChangeAspect="1" noChangeArrowheads="1"/>
          </p:cNvSpPr>
          <p:nvPr/>
        </p:nvSpPr>
        <p:spPr bwMode="auto">
          <a:xfrm>
            <a:off x="3239691" y="1325166"/>
            <a:ext cx="2664619" cy="249316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050"/>
          </a:p>
        </p:txBody>
      </p:sp>
      <p:sp>
        <p:nvSpPr>
          <p:cNvPr id="5" name="Slide Number Placeholder 4">
            <a:extLst>
              <a:ext uri="{FF2B5EF4-FFF2-40B4-BE49-F238E27FC236}">
                <a16:creationId xmlns:a16="http://schemas.microsoft.com/office/drawing/2014/main" id="{18E420C5-DA48-DC21-0C91-103F706D88A1}"/>
              </a:ext>
            </a:extLst>
          </p:cNvPr>
          <p:cNvSpPr>
            <a:spLocks noGrp="1"/>
          </p:cNvSpPr>
          <p:nvPr>
            <p:ph type="sldNum" sz="quarter" idx="4"/>
          </p:nvPr>
        </p:nvSpPr>
        <p:spPr/>
        <p:txBody>
          <a:bodyPr/>
          <a:lstStyle/>
          <a:p>
            <a:fld id="{C4204591-24BD-A542-B9D5-F8D8A88D2FEE}" type="slidenum">
              <a:rPr lang="en-US" smtClean="0"/>
              <a:pPr/>
              <a:t>9</a:t>
            </a:fld>
            <a:endParaRPr lang="en-US" dirty="0"/>
          </a:p>
        </p:txBody>
      </p:sp>
    </p:spTree>
    <p:extLst>
      <p:ext uri="{BB962C8B-B14F-4D97-AF65-F5344CB8AC3E}">
        <p14:creationId xmlns:p14="http://schemas.microsoft.com/office/powerpoint/2010/main" val="39407670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516EC-C5B9-6C61-751E-A72BBD43EA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8BADFC-134D-1D9E-796C-50BE1A88812E}"/>
              </a:ext>
            </a:extLst>
          </p:cNvPr>
          <p:cNvSpPr>
            <a:spLocks noGrp="1"/>
          </p:cNvSpPr>
          <p:nvPr>
            <p:ph type="title"/>
          </p:nvPr>
        </p:nvSpPr>
        <p:spPr>
          <a:xfrm>
            <a:off x="505326" y="338866"/>
            <a:ext cx="5398984" cy="670967"/>
          </a:xfrm>
        </p:spPr>
        <p:txBody>
          <a:bodyPr>
            <a:normAutofit fontScale="90000"/>
          </a:bodyPr>
          <a:lstStyle/>
          <a:p>
            <a:r>
              <a:rPr lang="en-US" dirty="0"/>
              <a:t>Q4 End-­to­‐end delay ANS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3262BEE-8C80-914D-3D07-05C465837FA0}"/>
                  </a:ext>
                </a:extLst>
              </p:cNvPr>
              <p:cNvSpPr>
                <a:spLocks noGrp="1"/>
              </p:cNvSpPr>
              <p:nvPr>
                <p:ph sz="half" idx="1"/>
              </p:nvPr>
            </p:nvSpPr>
            <p:spPr>
              <a:xfrm>
                <a:off x="0" y="888521"/>
                <a:ext cx="8816196" cy="4254979"/>
              </a:xfrm>
            </p:spPr>
            <p:txBody>
              <a:bodyPr>
                <a:normAutofit/>
              </a:bodyPr>
              <a:lstStyle/>
              <a:p>
                <a:r>
                  <a:rPr lang="en-US" sz="1600" b="1" dirty="0"/>
                  <a:t>Step 1: Transmission delay</a:t>
                </a:r>
              </a:p>
              <a:p>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𝑡𝑥</m:t>
                        </m:r>
                      </m:sub>
                    </m:sSub>
                    <m:r>
                      <a:rPr lang="ar-AE">
                        <a:latin typeface="Cambria Math" panose="02040503050406030204" pitchFamily="18" charset="0"/>
                      </a:rPr>
                      <m:t>=</m:t>
                    </m:r>
                    <m:f>
                      <m:fPr>
                        <m:ctrlPr>
                          <a:rPr lang="ar-AE" i="1">
                            <a:latin typeface="Cambria Math" panose="02040503050406030204" pitchFamily="18" charset="0"/>
                          </a:rPr>
                        </m:ctrlPr>
                      </m:fPr>
                      <m:num>
                        <m:r>
                          <m:rPr>
                            <m:nor/>
                          </m:rPr>
                          <a:rPr lang="en-US" i="1"/>
                          <m:t>packet</m:t>
                        </m:r>
                        <m:r>
                          <m:rPr>
                            <m:nor/>
                          </m:rPr>
                          <a:rPr lang="en-US" i="1"/>
                          <m:t> </m:t>
                        </m:r>
                        <m:r>
                          <m:rPr>
                            <m:nor/>
                          </m:rPr>
                          <a:rPr lang="en-US" i="1"/>
                          <m:t>size</m:t>
                        </m:r>
                      </m:num>
                      <m:den>
                        <m:r>
                          <m:rPr>
                            <m:nor/>
                          </m:rPr>
                          <a:rPr lang="en-US" i="1"/>
                          <m:t>bandwidth</m:t>
                        </m:r>
                      </m:den>
                    </m:f>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8192</m:t>
                        </m:r>
                      </m:num>
                      <m:den>
                        <m:r>
                          <a:rPr lang="ar-AE">
                            <a:latin typeface="Cambria Math" panose="02040503050406030204" pitchFamily="18" charset="0"/>
                          </a:rPr>
                          <m:t>512</m:t>
                        </m:r>
                        <m:r>
                          <a:rPr lang="ar-AE">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9</m:t>
                            </m:r>
                          </m:sup>
                        </m:sSup>
                      </m:den>
                    </m:f>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16</m:t>
                        </m:r>
                      </m:num>
                      <m:den>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9</m:t>
                            </m:r>
                          </m:sup>
                        </m:sSup>
                      </m:den>
                    </m:f>
                    <m:r>
                      <a:rPr lang="ar-AE">
                        <a:latin typeface="Cambria Math" panose="02040503050406030204" pitchFamily="18" charset="0"/>
                      </a:rPr>
                      <m:t>=</m:t>
                    </m:r>
                    <m:r>
                      <a:rPr lang="ar-AE">
                        <a:latin typeface="Cambria Math" panose="02040503050406030204" pitchFamily="18" charset="0"/>
                      </a:rPr>
                      <m:t>1</m:t>
                    </m:r>
                    <m:r>
                      <a:rPr lang="ar-AE">
                        <a:latin typeface="Cambria Math" panose="02040503050406030204" pitchFamily="18" charset="0"/>
                      </a:rPr>
                      <m:t>.</m:t>
                    </m:r>
                    <m:r>
                      <a:rPr lang="ar-AE">
                        <a:latin typeface="Cambria Math" panose="02040503050406030204" pitchFamily="18" charset="0"/>
                      </a:rPr>
                      <m:t>6</m:t>
                    </m:r>
                    <m:r>
                      <a:rPr lang="ar-AE">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m:t>
                        </m:r>
                        <m:r>
                          <a:rPr lang="ar-AE">
                            <a:latin typeface="Cambria Math" panose="02040503050406030204" pitchFamily="18" charset="0"/>
                          </a:rPr>
                          <m:t>8</m:t>
                        </m:r>
                      </m:sup>
                    </m:sSup>
                    <m:r>
                      <m:rPr>
                        <m:nor/>
                      </m:rPr>
                      <a:rPr lang="ar-AE" i="1"/>
                      <m:t> </m:t>
                    </m:r>
                    <m:r>
                      <m:rPr>
                        <m:nor/>
                      </m:rPr>
                      <a:rPr lang="en-US" i="1"/>
                      <m:t>s</m:t>
                    </m:r>
                  </m:oMath>
                </a14:m>
                <a:endParaRPr lang="en-US" sz="1600" dirty="0"/>
              </a:p>
              <a:p>
                <a:r>
                  <a:rPr lang="en-US" sz="1600" dirty="0"/>
                  <a:t>(1 Kbyte = 1024 bytes = 1024×8 = 8192 bits. Notice it is NOT 1000 bytes.)\</a:t>
                </a:r>
              </a:p>
              <a:p>
                <a:br>
                  <a:rPr lang="en-US" sz="1600" dirty="0"/>
                </a:br>
                <a:r>
                  <a:rPr lang="en-US" sz="1600" b="1" dirty="0"/>
                  <a:t>Step 2: Propagation delay</a:t>
                </a:r>
              </a:p>
              <a:p>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𝑝𝑟𝑜𝑝</m:t>
                        </m:r>
                      </m:sub>
                    </m:sSub>
                    <m:r>
                      <a:rPr lang="ar-AE">
                        <a:latin typeface="Cambria Math" panose="02040503050406030204" pitchFamily="18" charset="0"/>
                      </a:rPr>
                      <m:t>=</m:t>
                    </m:r>
                    <m:f>
                      <m:fPr>
                        <m:ctrlPr>
                          <a:rPr lang="ar-AE" i="1">
                            <a:latin typeface="Cambria Math" panose="02040503050406030204" pitchFamily="18" charset="0"/>
                          </a:rPr>
                        </m:ctrlPr>
                      </m:fPr>
                      <m:num>
                        <m:r>
                          <a:rPr lang="ar-AE" i="1">
                            <a:latin typeface="Cambria Math" panose="02040503050406030204" pitchFamily="18" charset="0"/>
                          </a:rPr>
                          <m:t>𝑀</m:t>
                        </m:r>
                      </m:num>
                      <m:den>
                        <m:r>
                          <a:rPr lang="ar-AE">
                            <a:latin typeface="Cambria Math" panose="02040503050406030204" pitchFamily="18" charset="0"/>
                          </a:rPr>
                          <m:t>2</m:t>
                        </m:r>
                        <m:r>
                          <a:rPr lang="ar-AE">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9</m:t>
                            </m:r>
                          </m:sup>
                        </m:sSup>
                      </m:den>
                    </m:f>
                  </m:oMath>
                </a14:m>
                <a:endParaRPr lang="ar-AE" sz="1600" dirty="0"/>
              </a:p>
              <a:p>
                <a:br>
                  <a:rPr lang="ar-AE" sz="1600" dirty="0"/>
                </a:br>
                <a:r>
                  <a:rPr lang="en-US" sz="1600" b="1" dirty="0"/>
                  <a:t>Step 3: Set them equal</a:t>
                </a:r>
              </a:p>
              <a:p>
                <a14:m>
                  <m:oMath xmlns:m="http://schemas.openxmlformats.org/officeDocument/2006/math">
                    <m:f>
                      <m:fPr>
                        <m:ctrlPr>
                          <a:rPr lang="ar-AE" i="1">
                            <a:latin typeface="Cambria Math" panose="02040503050406030204" pitchFamily="18" charset="0"/>
                          </a:rPr>
                        </m:ctrlPr>
                      </m:fPr>
                      <m:num>
                        <m:r>
                          <a:rPr lang="ar-AE" i="1">
                            <a:latin typeface="Cambria Math" panose="02040503050406030204" pitchFamily="18" charset="0"/>
                          </a:rPr>
                          <m:t>𝑀</m:t>
                        </m:r>
                      </m:num>
                      <m:den>
                        <m:r>
                          <a:rPr lang="ar-AE">
                            <a:latin typeface="Cambria Math" panose="02040503050406030204" pitchFamily="18" charset="0"/>
                          </a:rPr>
                          <m:t>2</m:t>
                        </m:r>
                        <m:r>
                          <a:rPr lang="ar-AE">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9</m:t>
                            </m:r>
                          </m:sup>
                        </m:sSup>
                      </m:den>
                    </m:f>
                    <m:r>
                      <a:rPr lang="ar-AE">
                        <a:latin typeface="Cambria Math" panose="02040503050406030204" pitchFamily="18" charset="0"/>
                      </a:rPr>
                      <m:t>=</m:t>
                    </m:r>
                    <m:r>
                      <a:rPr lang="ar-AE">
                        <a:latin typeface="Cambria Math" panose="02040503050406030204" pitchFamily="18" charset="0"/>
                      </a:rPr>
                      <m:t>1</m:t>
                    </m:r>
                    <m:r>
                      <a:rPr lang="ar-AE">
                        <a:latin typeface="Cambria Math" panose="02040503050406030204" pitchFamily="18" charset="0"/>
                      </a:rPr>
                      <m:t>.</m:t>
                    </m:r>
                    <m:r>
                      <a:rPr lang="ar-AE">
                        <a:latin typeface="Cambria Math" panose="02040503050406030204" pitchFamily="18" charset="0"/>
                      </a:rPr>
                      <m:t>6</m:t>
                    </m:r>
                    <m:r>
                      <a:rPr lang="ar-AE">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10</m:t>
                        </m:r>
                      </m:e>
                      <m:sup>
                        <m:r>
                          <a:rPr lang="ar-AE">
                            <a:latin typeface="Cambria Math" panose="02040503050406030204" pitchFamily="18" charset="0"/>
                          </a:rPr>
                          <m:t>−</m:t>
                        </m:r>
                        <m:r>
                          <a:rPr lang="ar-AE">
                            <a:latin typeface="Cambria Math" panose="02040503050406030204" pitchFamily="18" charset="0"/>
                          </a:rPr>
                          <m:t>8</m:t>
                        </m:r>
                      </m:sup>
                    </m:sSup>
                  </m:oMath>
                </a14:m>
                <a:endParaRPr lang="ar-AE" sz="1600" dirty="0"/>
              </a:p>
              <a:p>
                <a14:m>
                  <m:oMath xmlns:m="http://schemas.openxmlformats.org/officeDocument/2006/math">
                    <m:r>
                      <a:rPr lang="ar-AE" i="1">
                        <a:latin typeface="Cambria Math" panose="02040503050406030204" pitchFamily="18" charset="0"/>
                      </a:rPr>
                      <m:t>𝑀</m:t>
                    </m:r>
                    <m:r>
                      <a:rPr lang="ar-AE">
                        <a:latin typeface="Cambria Math" panose="02040503050406030204" pitchFamily="18" charset="0"/>
                      </a:rPr>
                      <m:t>=</m:t>
                    </m:r>
                    <m:r>
                      <a:rPr lang="ar-AE">
                        <a:latin typeface="Cambria Math" panose="02040503050406030204" pitchFamily="18" charset="0"/>
                      </a:rPr>
                      <m:t>32</m:t>
                    </m:r>
                  </m:oMath>
                </a14:m>
                <a:r>
                  <a:rPr lang="en-US" sz="1600" dirty="0"/>
                  <a:t> meters</a:t>
                </a:r>
                <a:endParaRPr lang="ar-AE" sz="1600" dirty="0"/>
              </a:p>
            </p:txBody>
          </p:sp>
        </mc:Choice>
        <mc:Fallback xmlns="">
          <p:sp>
            <p:nvSpPr>
              <p:cNvPr id="3" name="Content Placeholder 2">
                <a:extLst>
                  <a:ext uri="{FF2B5EF4-FFF2-40B4-BE49-F238E27FC236}">
                    <a16:creationId xmlns:a16="http://schemas.microsoft.com/office/drawing/2014/main" id="{C3262BEE-8C80-914D-3D07-05C465837FA0}"/>
                  </a:ext>
                </a:extLst>
              </p:cNvPr>
              <p:cNvSpPr>
                <a:spLocks noGrp="1" noRot="1" noChangeAspect="1" noMove="1" noResize="1" noEditPoints="1" noAdjustHandles="1" noChangeArrowheads="1" noChangeShapeType="1" noTextEdit="1"/>
              </p:cNvSpPr>
              <p:nvPr>
                <p:ph sz="half" idx="1"/>
              </p:nvPr>
            </p:nvSpPr>
            <p:spPr>
              <a:xfrm>
                <a:off x="0" y="888521"/>
                <a:ext cx="8816196" cy="4254979"/>
              </a:xfrm>
              <a:blipFill>
                <a:blip r:embed="rId2"/>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3">
            <p14:nvContentPartPr>
              <p14:cNvPr id="8" name="Ink 7">
                <a:extLst>
                  <a:ext uri="{FF2B5EF4-FFF2-40B4-BE49-F238E27FC236}">
                    <a16:creationId xmlns:a16="http://schemas.microsoft.com/office/drawing/2014/main" id="{06977C89-8C39-4E13-A648-E586461BACFF}"/>
                  </a:ext>
                </a:extLst>
              </p14:cNvPr>
              <p14:cNvContentPartPr/>
              <p14:nvPr/>
            </p14:nvContentPartPr>
            <p14:xfrm>
              <a:off x="2394024" y="1900753"/>
              <a:ext cx="270" cy="270"/>
            </p14:xfrm>
          </p:contentPart>
        </mc:Choice>
        <mc:Fallback xmlns="">
          <p:pic>
            <p:nvPicPr>
              <p:cNvPr id="8" name="Ink 7">
                <a:extLst>
                  <a:ext uri="{FF2B5EF4-FFF2-40B4-BE49-F238E27FC236}">
                    <a16:creationId xmlns:a16="http://schemas.microsoft.com/office/drawing/2014/main" id="{06977C89-8C39-4E13-A648-E586461BACFF}"/>
                  </a:ext>
                </a:extLst>
              </p:cNvPr>
              <p:cNvPicPr/>
              <p:nvPr/>
            </p:nvPicPr>
            <p:blipFill>
              <a:blip r:embed="rId4"/>
              <a:stretch>
                <a:fillRect/>
              </a:stretch>
            </p:blipFill>
            <p:spPr>
              <a:xfrm>
                <a:off x="2387274" y="1894003"/>
                <a:ext cx="13500" cy="135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E10F497E-8ECC-512B-92C3-D60118102573}"/>
                  </a:ext>
                </a:extLst>
              </p14:cNvPr>
              <p14:cNvContentPartPr/>
              <p14:nvPr/>
            </p14:nvContentPartPr>
            <p14:xfrm>
              <a:off x="1142574" y="1551373"/>
              <a:ext cx="270" cy="270"/>
            </p14:xfrm>
          </p:contentPart>
        </mc:Choice>
        <mc:Fallback xmlns="">
          <p:pic>
            <p:nvPicPr>
              <p:cNvPr id="9" name="Ink 8">
                <a:extLst>
                  <a:ext uri="{FF2B5EF4-FFF2-40B4-BE49-F238E27FC236}">
                    <a16:creationId xmlns:a16="http://schemas.microsoft.com/office/drawing/2014/main" id="{E10F497E-8ECC-512B-92C3-D60118102573}"/>
                  </a:ext>
                </a:extLst>
              </p:cNvPr>
              <p:cNvPicPr/>
              <p:nvPr/>
            </p:nvPicPr>
            <p:blipFill>
              <a:blip r:embed="rId4"/>
              <a:stretch>
                <a:fillRect/>
              </a:stretch>
            </p:blipFill>
            <p:spPr>
              <a:xfrm>
                <a:off x="1135824" y="1544623"/>
                <a:ext cx="13500" cy="13500"/>
              </a:xfrm>
              <a:prstGeom prst="rect">
                <a:avLst/>
              </a:prstGeom>
            </p:spPr>
          </p:pic>
        </mc:Fallback>
      </mc:AlternateContent>
      <p:sp>
        <p:nvSpPr>
          <p:cNvPr id="12" name="AutoShape 4">
            <a:extLst>
              <a:ext uri="{FF2B5EF4-FFF2-40B4-BE49-F238E27FC236}">
                <a16:creationId xmlns:a16="http://schemas.microsoft.com/office/drawing/2014/main" id="{26F9C95C-4C10-453E-FA7E-08015C2BA551}"/>
              </a:ext>
            </a:extLst>
          </p:cNvPr>
          <p:cNvSpPr>
            <a:spLocks noChangeAspect="1" noChangeArrowheads="1"/>
          </p:cNvSpPr>
          <p:nvPr/>
        </p:nvSpPr>
        <p:spPr bwMode="auto">
          <a:xfrm>
            <a:off x="3239691" y="1325166"/>
            <a:ext cx="2664619" cy="249316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050"/>
          </a:p>
        </p:txBody>
      </p:sp>
      <p:sp>
        <p:nvSpPr>
          <p:cNvPr id="5" name="Slide Number Placeholder 4">
            <a:extLst>
              <a:ext uri="{FF2B5EF4-FFF2-40B4-BE49-F238E27FC236}">
                <a16:creationId xmlns:a16="http://schemas.microsoft.com/office/drawing/2014/main" id="{5E0C8E04-71D0-BBFA-0EC7-0D3ABC9C238D}"/>
              </a:ext>
            </a:extLst>
          </p:cNvPr>
          <p:cNvSpPr>
            <a:spLocks noGrp="1"/>
          </p:cNvSpPr>
          <p:nvPr>
            <p:ph type="sldNum" sz="quarter" idx="4"/>
          </p:nvPr>
        </p:nvSpPr>
        <p:spPr/>
        <p:txBody>
          <a:bodyPr/>
          <a:lstStyle/>
          <a:p>
            <a:fld id="{C4204591-24BD-A542-B9D5-F8D8A88D2FEE}" type="slidenum">
              <a:rPr lang="en-US" smtClean="0"/>
              <a:pPr/>
              <a:t>10</a:t>
            </a:fld>
            <a:endParaRPr lang="en-US" dirty="0"/>
          </a:p>
        </p:txBody>
      </p:sp>
    </p:spTree>
    <p:extLst>
      <p:ext uri="{BB962C8B-B14F-4D97-AF65-F5344CB8AC3E}">
        <p14:creationId xmlns:p14="http://schemas.microsoft.com/office/powerpoint/2010/main" val="24728742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F77A-82FB-D76C-D8D3-C8D912DE09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AD83E8-8F76-9C17-5ABB-915FFC20352B}"/>
              </a:ext>
            </a:extLst>
          </p:cNvPr>
          <p:cNvSpPr>
            <a:spLocks noGrp="1"/>
          </p:cNvSpPr>
          <p:nvPr>
            <p:ph type="title"/>
          </p:nvPr>
        </p:nvSpPr>
        <p:spPr>
          <a:xfrm>
            <a:off x="505325" y="338866"/>
            <a:ext cx="5075965" cy="670967"/>
          </a:xfrm>
        </p:spPr>
        <p:txBody>
          <a:bodyPr>
            <a:normAutofit fontScale="90000"/>
          </a:bodyPr>
          <a:lstStyle/>
          <a:p>
            <a:r>
              <a:rPr lang="en-US" dirty="0"/>
              <a:t>Q5 Transmission delay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128AC50-2E5A-BA00-9067-9CDF801D2F2F}"/>
                  </a:ext>
                </a:extLst>
              </p:cNvPr>
              <p:cNvSpPr>
                <a:spLocks noGrp="1"/>
              </p:cNvSpPr>
              <p:nvPr>
                <p:ph sz="half" idx="1"/>
              </p:nvPr>
            </p:nvSpPr>
            <p:spPr>
              <a:xfrm>
                <a:off x="0" y="1009833"/>
                <a:ext cx="8816196" cy="4133667"/>
              </a:xfrm>
            </p:spPr>
            <p:txBody>
              <a:bodyPr>
                <a:normAutofit/>
              </a:bodyPr>
              <a:lstStyle/>
              <a:p>
                <a:r>
                  <a:rPr lang="en-US" sz="1600" dirty="0"/>
                  <a:t>1. Calculate transmission delay for message size </a:t>
                </a:r>
                <a14:m>
                  <m:oMath xmlns:m="http://schemas.openxmlformats.org/officeDocument/2006/math">
                    <m:r>
                      <a:rPr lang="en-US" b="0" i="1">
                        <a:latin typeface="Cambria Math" panose="02040503050406030204" pitchFamily="18" charset="0"/>
                      </a:rPr>
                      <m:t>𝐿</m:t>
                    </m:r>
                    <m:r>
                      <a:rPr lang="en-US" b="0">
                        <a:latin typeface="Cambria Math" panose="02040503050406030204" pitchFamily="18" charset="0"/>
                      </a:rPr>
                      <m:t>=</m:t>
                    </m:r>
                    <m:r>
                      <a:rPr lang="en-US" b="0">
                        <a:latin typeface="Cambria Math" panose="02040503050406030204" pitchFamily="18" charset="0"/>
                      </a:rPr>
                      <m:t>8000</m:t>
                    </m:r>
                  </m:oMath>
                </a14:m>
                <a:r>
                  <a:rPr lang="en-US" sz="1600" dirty="0"/>
                  <a:t>bits, network bandwidth </a:t>
                </a:r>
                <a14:m>
                  <m:oMath xmlns:m="http://schemas.openxmlformats.org/officeDocument/2006/math">
                    <m:r>
                      <a:rPr lang="en-US" b="0" i="1">
                        <a:latin typeface="Cambria Math" panose="02040503050406030204" pitchFamily="18" charset="0"/>
                      </a:rPr>
                      <m:t>𝐵</m:t>
                    </m:r>
                    <m:r>
                      <a:rPr lang="en-US" b="0">
                        <a:latin typeface="Cambria Math" panose="02040503050406030204" pitchFamily="18" charset="0"/>
                      </a:rPr>
                      <m:t>=</m:t>
                    </m:r>
                    <m:r>
                      <a:rPr lang="en-US" b="0">
                        <a:latin typeface="Cambria Math" panose="02040503050406030204" pitchFamily="18" charset="0"/>
                      </a:rPr>
                      <m:t>8000</m:t>
                    </m:r>
                  </m:oMath>
                </a14:m>
                <a:r>
                  <a:rPr lang="en-US" sz="1600" dirty="0"/>
                  <a:t>bits/sec</a:t>
                </a:r>
              </a:p>
              <a:p>
                <a:r>
                  <a:rPr lang="en-US" dirty="0"/>
                  <a:t>ANS:</a:t>
                </a:r>
                <a:endParaRPr lang="en-US" b="0" dirty="0"/>
              </a:p>
              <a:p>
                <a:r>
                  <a:rPr lang="en-US" sz="1600" dirty="0"/>
                  <a:t>2. Calculate transmission delay for message size </a:t>
                </a:r>
                <a14:m>
                  <m:oMath xmlns:m="http://schemas.openxmlformats.org/officeDocument/2006/math">
                    <m:r>
                      <a:rPr lang="en-US" sz="1600" b="0" i="1">
                        <a:latin typeface="Cambria Math" panose="02040503050406030204" pitchFamily="18" charset="0"/>
                      </a:rPr>
                      <m:t>𝐿</m:t>
                    </m:r>
                    <m:r>
                      <a:rPr lang="en-US" sz="1600" b="0">
                        <a:latin typeface="Cambria Math" panose="02040503050406030204" pitchFamily="18" charset="0"/>
                      </a:rPr>
                      <m:t>=</m:t>
                    </m:r>
                    <m:r>
                      <m:rPr>
                        <m:nor/>
                      </m:rPr>
                      <a:rPr lang="en-US" sz="1600" b="0" smtClean="0">
                        <a:latin typeface="Cambria Math" panose="02040503050406030204" pitchFamily="18" charset="0"/>
                      </a:rPr>
                      <m:t>1</m:t>
                    </m:r>
                    <m:r>
                      <m:rPr>
                        <m:nor/>
                      </m:rPr>
                      <a:rPr lang="en-US" sz="1600"/>
                      <m:t> </m:t>
                    </m:r>
                    <m:r>
                      <m:rPr>
                        <m:nor/>
                      </m:rPr>
                      <a:rPr lang="en-US" sz="1600"/>
                      <m:t>Kbyte</m:t>
                    </m:r>
                    <m:r>
                      <m:rPr>
                        <m:nor/>
                      </m:rPr>
                      <a:rPr lang="en-US" sz="1600" b="0" smtClean="0"/>
                      <m:t>s</m:t>
                    </m:r>
                  </m:oMath>
                </a14:m>
                <a:r>
                  <a:rPr lang="en-US" sz="1600" dirty="0">
                    <a:latin typeface="Cambria Math" panose="02040503050406030204" pitchFamily="18" charset="0"/>
                  </a:rPr>
                  <a:t>, </a:t>
                </a:r>
                <a:r>
                  <a:rPr lang="en-US" sz="1600" dirty="0"/>
                  <a:t>network bandwidth </a:t>
                </a:r>
                <a14:m>
                  <m:oMath xmlns:m="http://schemas.openxmlformats.org/officeDocument/2006/math">
                    <m:r>
                      <a:rPr lang="en-US" sz="1600" b="0" i="1">
                        <a:latin typeface="Cambria Math" panose="02040503050406030204" pitchFamily="18" charset="0"/>
                      </a:rPr>
                      <m:t>𝐵</m:t>
                    </m:r>
                    <m:r>
                      <a:rPr lang="en-US" sz="1600" b="0">
                        <a:latin typeface="Cambria Math" panose="02040503050406030204" pitchFamily="18" charset="0"/>
                      </a:rPr>
                      <m:t>=</m:t>
                    </m:r>
                    <m:r>
                      <a:rPr lang="en-US" sz="1600" b="0">
                        <a:latin typeface="Cambria Math" panose="02040503050406030204" pitchFamily="18" charset="0"/>
                      </a:rPr>
                      <m:t>8</m:t>
                    </m:r>
                    <m:r>
                      <m:rPr>
                        <m:nor/>
                      </m:rPr>
                      <a:rPr lang="en-US" sz="1600" i="1"/>
                      <m:t> </m:t>
                    </m:r>
                    <m:r>
                      <m:rPr>
                        <m:nor/>
                      </m:rPr>
                      <a:rPr lang="en-US" sz="1600" i="1"/>
                      <m:t>Kbps</m:t>
                    </m:r>
                  </m:oMath>
                </a14:m>
                <a:endParaRPr lang="en-US" sz="1600" i="1" dirty="0">
                  <a:latin typeface="Cambria Math" panose="02040503050406030204" pitchFamily="18" charset="0"/>
                </a:endParaRPr>
              </a:p>
              <a:p>
                <a:r>
                  <a:rPr lang="en-US" sz="1600" dirty="0"/>
                  <a:t>ANS:</a:t>
                </a:r>
              </a:p>
            </p:txBody>
          </p:sp>
        </mc:Choice>
        <mc:Fallback xmlns="">
          <p:sp>
            <p:nvSpPr>
              <p:cNvPr id="3" name="Content Placeholder 2">
                <a:extLst>
                  <a:ext uri="{FF2B5EF4-FFF2-40B4-BE49-F238E27FC236}">
                    <a16:creationId xmlns:a16="http://schemas.microsoft.com/office/drawing/2014/main" id="{5128AC50-2E5A-BA00-9067-9CDF801D2F2F}"/>
                  </a:ext>
                </a:extLst>
              </p:cNvPr>
              <p:cNvSpPr>
                <a:spLocks noGrp="1" noRot="1" noChangeAspect="1" noMove="1" noResize="1" noEditPoints="1" noAdjustHandles="1" noChangeArrowheads="1" noChangeShapeType="1" noTextEdit="1"/>
              </p:cNvSpPr>
              <p:nvPr>
                <p:ph sz="half" idx="1"/>
              </p:nvPr>
            </p:nvSpPr>
            <p:spPr>
              <a:xfrm>
                <a:off x="0" y="1009833"/>
                <a:ext cx="8816196" cy="4133667"/>
              </a:xfrm>
              <a:blipFill>
                <a:blip r:embed="rId3"/>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E6315AA9-A48D-4A1A-9D7E-A80F389D1BD5}"/>
                  </a:ext>
                </a:extLst>
              </p14:cNvPr>
              <p14:cNvContentPartPr/>
              <p14:nvPr/>
            </p14:nvContentPartPr>
            <p14:xfrm>
              <a:off x="2394024" y="1900753"/>
              <a:ext cx="270" cy="270"/>
            </p14:xfrm>
          </p:contentPart>
        </mc:Choice>
        <mc:Fallback xmlns="">
          <p:pic>
            <p:nvPicPr>
              <p:cNvPr id="8" name="Ink 7">
                <a:extLst>
                  <a:ext uri="{FF2B5EF4-FFF2-40B4-BE49-F238E27FC236}">
                    <a16:creationId xmlns:a16="http://schemas.microsoft.com/office/drawing/2014/main" id="{E6315AA9-A48D-4A1A-9D7E-A80F389D1BD5}"/>
                  </a:ext>
                </a:extLst>
              </p:cNvPr>
              <p:cNvPicPr/>
              <p:nvPr/>
            </p:nvPicPr>
            <p:blipFill>
              <a:blip r:embed="rId5"/>
              <a:stretch>
                <a:fillRect/>
              </a:stretch>
            </p:blipFill>
            <p:spPr>
              <a:xfrm>
                <a:off x="2387274" y="1894003"/>
                <a:ext cx="13500" cy="135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E32FA9C8-4FC5-A9FD-D8B2-753F00777A44}"/>
                  </a:ext>
                </a:extLst>
              </p14:cNvPr>
              <p14:cNvContentPartPr/>
              <p14:nvPr/>
            </p14:nvContentPartPr>
            <p14:xfrm>
              <a:off x="1142574" y="1551373"/>
              <a:ext cx="270" cy="270"/>
            </p14:xfrm>
          </p:contentPart>
        </mc:Choice>
        <mc:Fallback xmlns="">
          <p:pic>
            <p:nvPicPr>
              <p:cNvPr id="9" name="Ink 8">
                <a:extLst>
                  <a:ext uri="{FF2B5EF4-FFF2-40B4-BE49-F238E27FC236}">
                    <a16:creationId xmlns:a16="http://schemas.microsoft.com/office/drawing/2014/main" id="{E32FA9C8-4FC5-A9FD-D8B2-753F00777A44}"/>
                  </a:ext>
                </a:extLst>
              </p:cNvPr>
              <p:cNvPicPr/>
              <p:nvPr/>
            </p:nvPicPr>
            <p:blipFill>
              <a:blip r:embed="rId5"/>
              <a:stretch>
                <a:fillRect/>
              </a:stretch>
            </p:blipFill>
            <p:spPr>
              <a:xfrm>
                <a:off x="1135824" y="1544623"/>
                <a:ext cx="13500" cy="13500"/>
              </a:xfrm>
              <a:prstGeom prst="rect">
                <a:avLst/>
              </a:prstGeom>
            </p:spPr>
          </p:pic>
        </mc:Fallback>
      </mc:AlternateContent>
      <p:sp>
        <p:nvSpPr>
          <p:cNvPr id="12" name="AutoShape 4">
            <a:extLst>
              <a:ext uri="{FF2B5EF4-FFF2-40B4-BE49-F238E27FC236}">
                <a16:creationId xmlns:a16="http://schemas.microsoft.com/office/drawing/2014/main" id="{7F27429E-1937-2238-1180-57AC2F4B42A4}"/>
              </a:ext>
            </a:extLst>
          </p:cNvPr>
          <p:cNvSpPr>
            <a:spLocks noChangeAspect="1" noChangeArrowheads="1"/>
          </p:cNvSpPr>
          <p:nvPr/>
        </p:nvSpPr>
        <p:spPr bwMode="auto">
          <a:xfrm>
            <a:off x="3239691" y="1325166"/>
            <a:ext cx="2664619" cy="249316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050"/>
          </a:p>
        </p:txBody>
      </p:sp>
      <p:sp>
        <p:nvSpPr>
          <p:cNvPr id="5" name="Slide Number Placeholder 4">
            <a:extLst>
              <a:ext uri="{FF2B5EF4-FFF2-40B4-BE49-F238E27FC236}">
                <a16:creationId xmlns:a16="http://schemas.microsoft.com/office/drawing/2014/main" id="{087023DE-858E-CE3A-6BD3-A38639D9D6C7}"/>
              </a:ext>
            </a:extLst>
          </p:cNvPr>
          <p:cNvSpPr>
            <a:spLocks noGrp="1"/>
          </p:cNvSpPr>
          <p:nvPr>
            <p:ph type="sldNum" sz="quarter" idx="4"/>
          </p:nvPr>
        </p:nvSpPr>
        <p:spPr/>
        <p:txBody>
          <a:bodyPr/>
          <a:lstStyle/>
          <a:p>
            <a:fld id="{C4204591-24BD-A542-B9D5-F8D8A88D2FEE}" type="slidenum">
              <a:rPr lang="en-US" smtClean="0"/>
              <a:pPr/>
              <a:t>11</a:t>
            </a:fld>
            <a:endParaRPr lang="en-US" dirty="0"/>
          </a:p>
        </p:txBody>
      </p:sp>
    </p:spTree>
    <p:extLst>
      <p:ext uri="{BB962C8B-B14F-4D97-AF65-F5344CB8AC3E}">
        <p14:creationId xmlns:p14="http://schemas.microsoft.com/office/powerpoint/2010/main" val="22476122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1BC08-F2AD-4B45-0F92-5DC97D6346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0A17A1-BF40-43B6-9911-CCD0F0E16811}"/>
              </a:ext>
            </a:extLst>
          </p:cNvPr>
          <p:cNvSpPr>
            <a:spLocks noGrp="1"/>
          </p:cNvSpPr>
          <p:nvPr>
            <p:ph type="title"/>
          </p:nvPr>
        </p:nvSpPr>
        <p:spPr>
          <a:xfrm>
            <a:off x="505325" y="338866"/>
            <a:ext cx="5075965" cy="670967"/>
          </a:xfrm>
        </p:spPr>
        <p:txBody>
          <a:bodyPr>
            <a:normAutofit fontScale="90000"/>
          </a:bodyPr>
          <a:lstStyle/>
          <a:p>
            <a:r>
              <a:rPr lang="en-US" dirty="0"/>
              <a:t>Q5 Transmission delay </a:t>
            </a:r>
            <a:r>
              <a:rPr lang="en-US" altLang="zh-CN" dirty="0"/>
              <a:t>ANS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724FA8A-497E-41ED-C4BD-72F5FC280FAE}"/>
                  </a:ext>
                </a:extLst>
              </p:cNvPr>
              <p:cNvSpPr>
                <a:spLocks noGrp="1"/>
              </p:cNvSpPr>
              <p:nvPr>
                <p:ph sz="half" idx="1"/>
              </p:nvPr>
            </p:nvSpPr>
            <p:spPr>
              <a:xfrm>
                <a:off x="0" y="1009833"/>
                <a:ext cx="8816196" cy="4133667"/>
              </a:xfrm>
            </p:spPr>
            <p:txBody>
              <a:bodyPr>
                <a:normAutofit/>
              </a:bodyPr>
              <a:lstStyle/>
              <a:p>
                <a:r>
                  <a:rPr lang="en-US" sz="1600" dirty="0"/>
                  <a:t>1. Calculate transmission delay for message size </a:t>
                </a:r>
                <a14:m>
                  <m:oMath xmlns:m="http://schemas.openxmlformats.org/officeDocument/2006/math">
                    <m:r>
                      <a:rPr lang="en-US" b="0" i="1">
                        <a:latin typeface="Cambria Math" panose="02040503050406030204" pitchFamily="18" charset="0"/>
                      </a:rPr>
                      <m:t>𝐿</m:t>
                    </m:r>
                    <m:r>
                      <a:rPr lang="en-US" b="0">
                        <a:latin typeface="Cambria Math" panose="02040503050406030204" pitchFamily="18" charset="0"/>
                      </a:rPr>
                      <m:t>=</m:t>
                    </m:r>
                    <m:r>
                      <a:rPr lang="en-US" b="0">
                        <a:latin typeface="Cambria Math" panose="02040503050406030204" pitchFamily="18" charset="0"/>
                      </a:rPr>
                      <m:t>8000</m:t>
                    </m:r>
                  </m:oMath>
                </a14:m>
                <a:r>
                  <a:rPr lang="en-US" sz="1600" dirty="0"/>
                  <a:t>bits, network bandwidth </a:t>
                </a:r>
                <a14:m>
                  <m:oMath xmlns:m="http://schemas.openxmlformats.org/officeDocument/2006/math">
                    <m:r>
                      <a:rPr lang="en-US" b="0" i="1">
                        <a:latin typeface="Cambria Math" panose="02040503050406030204" pitchFamily="18" charset="0"/>
                      </a:rPr>
                      <m:t>𝐵</m:t>
                    </m:r>
                    <m:r>
                      <a:rPr lang="en-US" b="0">
                        <a:latin typeface="Cambria Math" panose="02040503050406030204" pitchFamily="18" charset="0"/>
                      </a:rPr>
                      <m:t>=</m:t>
                    </m:r>
                    <m:r>
                      <a:rPr lang="en-US" b="0">
                        <a:latin typeface="Cambria Math" panose="02040503050406030204" pitchFamily="18" charset="0"/>
                      </a:rPr>
                      <m:t>8000</m:t>
                    </m:r>
                  </m:oMath>
                </a14:m>
                <a:r>
                  <a:rPr lang="en-US" sz="1600" dirty="0"/>
                  <a:t>bits/sec</a:t>
                </a:r>
              </a:p>
              <a:p>
                <a:r>
                  <a:rPr lang="en-US" dirty="0"/>
                  <a:t>ANS: </a:t>
                </a:r>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𝑡</m:t>
                        </m:r>
                      </m:e>
                      <m:sub>
                        <m:r>
                          <a:rPr lang="en-US" i="1">
                            <a:latin typeface="Cambria Math" panose="02040503050406030204" pitchFamily="18" charset="0"/>
                          </a:rPr>
                          <m:t>𝑡𝑥</m:t>
                        </m:r>
                      </m:sub>
                    </m:sSub>
                    <m:r>
                      <a:rPr lang="ar-AE">
                        <a:latin typeface="Cambria Math" panose="02040503050406030204" pitchFamily="18" charset="0"/>
                      </a:rPr>
                      <m:t>=</m:t>
                    </m:r>
                    <m:f>
                      <m:fPr>
                        <m:ctrlPr>
                          <a:rPr lang="ar-AE" i="1">
                            <a:latin typeface="Cambria Math" panose="02040503050406030204" pitchFamily="18" charset="0"/>
                          </a:rPr>
                        </m:ctrlPr>
                      </m:fPr>
                      <m:num>
                        <m:r>
                          <a:rPr lang="ar-AE" i="1">
                            <a:latin typeface="Cambria Math" panose="02040503050406030204" pitchFamily="18" charset="0"/>
                          </a:rPr>
                          <m:t>𝐿</m:t>
                        </m:r>
                      </m:num>
                      <m:den>
                        <m:r>
                          <a:rPr lang="ar-AE" i="1">
                            <a:latin typeface="Cambria Math" panose="02040503050406030204" pitchFamily="18" charset="0"/>
                          </a:rPr>
                          <m:t>𝐵</m:t>
                        </m:r>
                      </m:den>
                    </m:f>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8000</m:t>
                        </m:r>
                        <m:r>
                          <a:rPr lang="en-US">
                            <a:latin typeface="Cambria Math" panose="02040503050406030204" pitchFamily="18" charset="0"/>
                          </a:rPr>
                          <m:t> </m:t>
                        </m:r>
                        <m:r>
                          <m:rPr>
                            <m:sty m:val="p"/>
                          </m:rPr>
                          <a:rPr lang="en-US">
                            <a:latin typeface="Cambria Math" panose="02040503050406030204" pitchFamily="18" charset="0"/>
                          </a:rPr>
                          <m:t>bits</m:t>
                        </m:r>
                      </m:num>
                      <m:den>
                        <m:r>
                          <a:rPr lang="ar-AE">
                            <a:latin typeface="Cambria Math" panose="02040503050406030204" pitchFamily="18" charset="0"/>
                          </a:rPr>
                          <m:t>8000</m:t>
                        </m:r>
                        <m:r>
                          <a:rPr lang="en-US">
                            <a:latin typeface="Cambria Math" panose="02040503050406030204" pitchFamily="18" charset="0"/>
                          </a:rPr>
                          <m:t> </m:t>
                        </m:r>
                        <m:r>
                          <m:rPr>
                            <m:sty m:val="p"/>
                          </m:rPr>
                          <a:rPr lang="en-US">
                            <a:latin typeface="Cambria Math" panose="02040503050406030204" pitchFamily="18" charset="0"/>
                          </a:rPr>
                          <m:t>bits</m:t>
                        </m:r>
                        <m:r>
                          <a:rPr lang="en-US">
                            <a:latin typeface="Cambria Math" panose="02040503050406030204" pitchFamily="18" charset="0"/>
                          </a:rPr>
                          <m:t>/</m:t>
                        </m:r>
                        <m:r>
                          <m:rPr>
                            <m:sty m:val="p"/>
                          </m:rPr>
                          <a:rPr lang="en-US">
                            <a:latin typeface="Cambria Math" panose="02040503050406030204" pitchFamily="18" charset="0"/>
                          </a:rPr>
                          <m:t>sec</m:t>
                        </m:r>
                      </m:den>
                    </m:f>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 </m:t>
                    </m:r>
                    <m:r>
                      <a:rPr lang="en-US" i="1">
                        <a:latin typeface="Cambria Math" panose="02040503050406030204" pitchFamily="18" charset="0"/>
                      </a:rPr>
                      <m:t>𝑠𝑒𝑐</m:t>
                    </m:r>
                  </m:oMath>
                </a14:m>
                <a:endParaRPr lang="en-US" b="0" dirty="0"/>
              </a:p>
              <a:p>
                <a:r>
                  <a:rPr lang="en-US" sz="1600" dirty="0"/>
                  <a:t>2. Calculate transmission delay for message size </a:t>
                </a:r>
                <a14:m>
                  <m:oMath xmlns:m="http://schemas.openxmlformats.org/officeDocument/2006/math">
                    <m:r>
                      <a:rPr lang="en-US" sz="1600" b="0" i="1">
                        <a:latin typeface="Cambria Math" panose="02040503050406030204" pitchFamily="18" charset="0"/>
                      </a:rPr>
                      <m:t>𝐿</m:t>
                    </m:r>
                    <m:r>
                      <a:rPr lang="en-US" sz="1600" b="0">
                        <a:latin typeface="Cambria Math" panose="02040503050406030204" pitchFamily="18" charset="0"/>
                      </a:rPr>
                      <m:t>=</m:t>
                    </m:r>
                    <m:r>
                      <m:rPr>
                        <m:nor/>
                      </m:rPr>
                      <a:rPr lang="en-US" sz="1600" b="0" smtClean="0">
                        <a:latin typeface="Cambria Math" panose="02040503050406030204" pitchFamily="18" charset="0"/>
                      </a:rPr>
                      <m:t>1</m:t>
                    </m:r>
                    <m:r>
                      <m:rPr>
                        <m:nor/>
                      </m:rPr>
                      <a:rPr lang="en-US" sz="1600"/>
                      <m:t> </m:t>
                    </m:r>
                    <m:r>
                      <m:rPr>
                        <m:nor/>
                      </m:rPr>
                      <a:rPr lang="en-US" sz="1600"/>
                      <m:t>Kbyte</m:t>
                    </m:r>
                    <m:r>
                      <m:rPr>
                        <m:nor/>
                      </m:rPr>
                      <a:rPr lang="en-US" sz="1600" b="0" smtClean="0"/>
                      <m:t>s</m:t>
                    </m:r>
                  </m:oMath>
                </a14:m>
                <a:r>
                  <a:rPr lang="en-US" sz="1600" dirty="0">
                    <a:latin typeface="Cambria Math" panose="02040503050406030204" pitchFamily="18" charset="0"/>
                  </a:rPr>
                  <a:t>, </a:t>
                </a:r>
                <a:r>
                  <a:rPr lang="en-US" sz="1600" dirty="0"/>
                  <a:t>network bandwidth </a:t>
                </a:r>
                <a14:m>
                  <m:oMath xmlns:m="http://schemas.openxmlformats.org/officeDocument/2006/math">
                    <m:r>
                      <a:rPr lang="en-US" sz="1600" b="0" i="1">
                        <a:latin typeface="Cambria Math" panose="02040503050406030204" pitchFamily="18" charset="0"/>
                      </a:rPr>
                      <m:t>𝐵</m:t>
                    </m:r>
                    <m:r>
                      <a:rPr lang="en-US" sz="1600" b="0">
                        <a:latin typeface="Cambria Math" panose="02040503050406030204" pitchFamily="18" charset="0"/>
                      </a:rPr>
                      <m:t>=</m:t>
                    </m:r>
                    <m:r>
                      <a:rPr lang="en-US" sz="1600" b="0">
                        <a:latin typeface="Cambria Math" panose="02040503050406030204" pitchFamily="18" charset="0"/>
                      </a:rPr>
                      <m:t>8</m:t>
                    </m:r>
                    <m:r>
                      <m:rPr>
                        <m:nor/>
                      </m:rPr>
                      <a:rPr lang="en-US" sz="1600" i="1"/>
                      <m:t> </m:t>
                    </m:r>
                    <m:r>
                      <m:rPr>
                        <m:nor/>
                      </m:rPr>
                      <a:rPr lang="en-US" sz="1600" i="1"/>
                      <m:t>Kbps</m:t>
                    </m:r>
                  </m:oMath>
                </a14:m>
                <a:endParaRPr lang="en-US" sz="1600" i="1" dirty="0">
                  <a:latin typeface="Cambria Math" panose="02040503050406030204" pitchFamily="18" charset="0"/>
                </a:endParaRPr>
              </a:p>
              <a:p>
                <a:r>
                  <a:rPr lang="en-US" sz="1600" dirty="0"/>
                  <a:t>ANS:</a:t>
                </a:r>
                <a14:m>
                  <m:oMath xmlns:m="http://schemas.openxmlformats.org/officeDocument/2006/math">
                    <m:r>
                      <a:rPr lang="en-US" sz="1600" b="0" i="0" smtClean="0">
                        <a:latin typeface="Cambria Math" panose="02040503050406030204" pitchFamily="18" charset="0"/>
                      </a:rPr>
                      <m:t> </m:t>
                    </m:r>
                    <m:sSub>
                      <m:sSubPr>
                        <m:ctrlPr>
                          <a:rPr lang="ar-AE" sz="1600" i="1">
                            <a:latin typeface="Cambria Math" panose="02040503050406030204" pitchFamily="18" charset="0"/>
                          </a:rPr>
                        </m:ctrlPr>
                      </m:sSubPr>
                      <m:e>
                        <m:r>
                          <a:rPr lang="en-US" sz="1600" b="0" i="1" smtClean="0">
                            <a:latin typeface="Cambria Math" panose="02040503050406030204" pitchFamily="18" charset="0"/>
                          </a:rPr>
                          <m:t>𝑡</m:t>
                        </m:r>
                      </m:e>
                      <m:sub>
                        <m:r>
                          <a:rPr lang="en-US" sz="1600" i="1">
                            <a:latin typeface="Cambria Math" panose="02040503050406030204" pitchFamily="18" charset="0"/>
                          </a:rPr>
                          <m:t>𝑡𝑥</m:t>
                        </m:r>
                      </m:sub>
                    </m:sSub>
                    <m:r>
                      <a:rPr lang="ar-AE" sz="1600">
                        <a:latin typeface="Cambria Math" panose="02040503050406030204" pitchFamily="18" charset="0"/>
                      </a:rPr>
                      <m:t>=</m:t>
                    </m:r>
                    <m:f>
                      <m:fPr>
                        <m:ctrlPr>
                          <a:rPr lang="ar-AE" sz="1600" i="1">
                            <a:latin typeface="Cambria Math" panose="02040503050406030204" pitchFamily="18" charset="0"/>
                          </a:rPr>
                        </m:ctrlPr>
                      </m:fPr>
                      <m:num>
                        <m:r>
                          <a:rPr lang="ar-AE" sz="1600" i="1">
                            <a:latin typeface="Cambria Math" panose="02040503050406030204" pitchFamily="18" charset="0"/>
                          </a:rPr>
                          <m:t>𝐿</m:t>
                        </m:r>
                      </m:num>
                      <m:den>
                        <m:r>
                          <a:rPr lang="ar-AE" sz="1600" i="1">
                            <a:latin typeface="Cambria Math" panose="02040503050406030204" pitchFamily="18" charset="0"/>
                          </a:rPr>
                          <m:t>𝐵</m:t>
                        </m:r>
                      </m:den>
                    </m:f>
                    <m:r>
                      <a:rPr lang="ar-AE" sz="1600">
                        <a:latin typeface="Cambria Math" panose="02040503050406030204" pitchFamily="18" charset="0"/>
                      </a:rPr>
                      <m:t>=</m:t>
                    </m:r>
                    <m:f>
                      <m:fPr>
                        <m:ctrlPr>
                          <a:rPr lang="ar-AE" sz="1600" i="1">
                            <a:latin typeface="Cambria Math" panose="02040503050406030204" pitchFamily="18" charset="0"/>
                          </a:rPr>
                        </m:ctrlPr>
                      </m:fPr>
                      <m:num>
                        <m:r>
                          <a:rPr lang="en-US" sz="1600" b="0" i="0" smtClean="0">
                            <a:latin typeface="Cambria Math" panose="02040503050406030204" pitchFamily="18" charset="0"/>
                          </a:rPr>
                          <m:t>1</m:t>
                        </m:r>
                        <m:r>
                          <a:rPr lang="en-US" sz="1600" b="0" i="0" smtClean="0">
                            <a:latin typeface="Cambria Math" panose="02040503050406030204" pitchFamily="18" charset="0"/>
                          </a:rPr>
                          <m:t> </m:t>
                        </m:r>
                        <m:r>
                          <m:rPr>
                            <m:sty m:val="p"/>
                          </m:rPr>
                          <a:rPr lang="en-US" sz="1600" b="0" i="0" smtClean="0">
                            <a:latin typeface="Cambria Math" panose="02040503050406030204" pitchFamily="18" charset="0"/>
                          </a:rPr>
                          <m:t>Kbytes</m:t>
                        </m:r>
                      </m:num>
                      <m:den>
                        <m:r>
                          <a:rPr lang="ar-AE" sz="1600">
                            <a:latin typeface="Cambria Math" panose="02040503050406030204" pitchFamily="18" charset="0"/>
                          </a:rPr>
                          <m:t>8</m:t>
                        </m:r>
                        <m:r>
                          <a:rPr lang="en-US" sz="1600" b="0" i="0" smtClean="0">
                            <a:latin typeface="Cambria Math" panose="02040503050406030204" pitchFamily="18" charset="0"/>
                          </a:rPr>
                          <m:t> </m:t>
                        </m:r>
                        <m:r>
                          <m:rPr>
                            <m:sty m:val="p"/>
                          </m:rPr>
                          <a:rPr lang="en-US" sz="1600" b="0" i="0" smtClean="0">
                            <a:latin typeface="Cambria Math" panose="02040503050406030204" pitchFamily="18" charset="0"/>
                          </a:rPr>
                          <m:t>Kbps</m:t>
                        </m:r>
                      </m:den>
                    </m:f>
                    <m:r>
                      <a:rPr lang="en-US" sz="1600" i="1">
                        <a:latin typeface="Cambria Math" panose="02040503050406030204" pitchFamily="18" charset="0"/>
                      </a:rPr>
                      <m:t>=</m:t>
                    </m:r>
                    <m:f>
                      <m:fPr>
                        <m:ctrlPr>
                          <a:rPr lang="ar-AE" sz="1600" i="1">
                            <a:latin typeface="Cambria Math" panose="02040503050406030204" pitchFamily="18" charset="0"/>
                          </a:rPr>
                        </m:ctrlPr>
                      </m:fPr>
                      <m:num>
                        <m:r>
                          <a:rPr lang="ar-AE" sz="1600" smtClean="0">
                            <a:latin typeface="Cambria Math" panose="02040503050406030204" pitchFamily="18" charset="0"/>
                          </a:rPr>
                          <m:t>8</m:t>
                        </m:r>
                        <m:r>
                          <a:rPr lang="en-US" sz="1600" b="0" i="0" smtClean="0">
                            <a:latin typeface="Cambria Math" panose="02040503050406030204" pitchFamily="18" charset="0"/>
                          </a:rPr>
                          <m:t>192</m:t>
                        </m:r>
                        <m:r>
                          <a:rPr lang="en-US" sz="1600" b="0" i="0" smtClean="0">
                            <a:latin typeface="Cambria Math" panose="02040503050406030204" pitchFamily="18" charset="0"/>
                          </a:rPr>
                          <m:t> </m:t>
                        </m:r>
                        <m:r>
                          <m:rPr>
                            <m:sty m:val="p"/>
                          </m:rPr>
                          <a:rPr lang="en-US" sz="1600">
                            <a:latin typeface="Cambria Math" panose="02040503050406030204" pitchFamily="18" charset="0"/>
                          </a:rPr>
                          <m:t>bits</m:t>
                        </m:r>
                      </m:num>
                      <m:den>
                        <m:r>
                          <a:rPr lang="ar-AE" sz="1600">
                            <a:latin typeface="Cambria Math" panose="02040503050406030204" pitchFamily="18" charset="0"/>
                          </a:rPr>
                          <m:t>8000</m:t>
                        </m:r>
                        <m:r>
                          <a:rPr lang="en-US" sz="1600">
                            <a:latin typeface="Cambria Math" panose="02040503050406030204" pitchFamily="18" charset="0"/>
                          </a:rPr>
                          <m:t> </m:t>
                        </m:r>
                        <m:r>
                          <m:rPr>
                            <m:sty m:val="p"/>
                          </m:rPr>
                          <a:rPr lang="en-US" sz="1600">
                            <a:latin typeface="Cambria Math" panose="02040503050406030204" pitchFamily="18" charset="0"/>
                          </a:rPr>
                          <m:t>bits</m:t>
                        </m:r>
                        <m:r>
                          <a:rPr lang="en-US" sz="1600">
                            <a:latin typeface="Cambria Math" panose="02040503050406030204" pitchFamily="18" charset="0"/>
                          </a:rPr>
                          <m:t>/</m:t>
                        </m:r>
                        <m:r>
                          <m:rPr>
                            <m:sty m:val="p"/>
                          </m:rPr>
                          <a:rPr lang="en-US" sz="1600">
                            <a:latin typeface="Cambria Math" panose="02040503050406030204" pitchFamily="18" charset="0"/>
                          </a:rPr>
                          <m:t>sec</m:t>
                        </m:r>
                      </m:den>
                    </m:f>
                    <m:r>
                      <m:rPr>
                        <m:nor/>
                      </m:rPr>
                      <a:rPr lang="en-US" sz="1600"/>
                      <m:t>≈</m:t>
                    </m:r>
                    <m:r>
                      <m:rPr>
                        <m:nor/>
                      </m:rPr>
                      <a:rPr lang="en-US" sz="1600" b="0" i="0" smtClean="0"/>
                      <m:t> </m:t>
                    </m:r>
                    <m:r>
                      <a:rPr lang="en-US" sz="1600" b="0" i="1" smtClean="0">
                        <a:latin typeface="Cambria Math" panose="02040503050406030204" pitchFamily="18" charset="0"/>
                      </a:rPr>
                      <m:t>1</m:t>
                    </m:r>
                    <m:r>
                      <a:rPr lang="en-US" sz="1600" b="0" i="1" smtClean="0">
                        <a:latin typeface="Cambria Math" panose="02040503050406030204" pitchFamily="18" charset="0"/>
                      </a:rPr>
                      <m:t>.</m:t>
                    </m:r>
                    <m:r>
                      <a:rPr lang="en-US" sz="1600" b="0" i="1" smtClean="0">
                        <a:latin typeface="Cambria Math" panose="02040503050406030204" pitchFamily="18" charset="0"/>
                      </a:rPr>
                      <m:t>02</m:t>
                    </m:r>
                    <m:r>
                      <a:rPr lang="en-US" sz="1600" b="0" i="1" smtClean="0">
                        <a:latin typeface="Cambria Math" panose="02040503050406030204" pitchFamily="18" charset="0"/>
                      </a:rPr>
                      <m:t> </m:t>
                    </m:r>
                    <m:r>
                      <a:rPr lang="en-US" sz="1600" b="0" i="1" smtClean="0">
                        <a:latin typeface="Cambria Math" panose="02040503050406030204" pitchFamily="18" charset="0"/>
                      </a:rPr>
                      <m:t>𝑠𝑒𝑐</m:t>
                    </m:r>
                  </m:oMath>
                </a14:m>
                <a:endParaRPr lang="en-US" sz="1600" dirty="0"/>
              </a:p>
            </p:txBody>
          </p:sp>
        </mc:Choice>
        <mc:Fallback xmlns="">
          <p:sp>
            <p:nvSpPr>
              <p:cNvPr id="3" name="Content Placeholder 2">
                <a:extLst>
                  <a:ext uri="{FF2B5EF4-FFF2-40B4-BE49-F238E27FC236}">
                    <a16:creationId xmlns:a16="http://schemas.microsoft.com/office/drawing/2014/main" id="{3724FA8A-497E-41ED-C4BD-72F5FC280FAE}"/>
                  </a:ext>
                </a:extLst>
              </p:cNvPr>
              <p:cNvSpPr>
                <a:spLocks noGrp="1" noRot="1" noChangeAspect="1" noMove="1" noResize="1" noEditPoints="1" noAdjustHandles="1" noChangeArrowheads="1" noChangeShapeType="1" noTextEdit="1"/>
              </p:cNvSpPr>
              <p:nvPr>
                <p:ph sz="half" idx="1"/>
              </p:nvPr>
            </p:nvSpPr>
            <p:spPr>
              <a:xfrm>
                <a:off x="0" y="1009833"/>
                <a:ext cx="8816196" cy="4133667"/>
              </a:xfrm>
              <a:blipFill>
                <a:blip r:embed="rId3"/>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C89FF3F9-8E4D-4F14-1DBE-FD0BE73EA2BF}"/>
                  </a:ext>
                </a:extLst>
              </p14:cNvPr>
              <p14:cNvContentPartPr/>
              <p14:nvPr/>
            </p14:nvContentPartPr>
            <p14:xfrm>
              <a:off x="2394024" y="1900753"/>
              <a:ext cx="270" cy="270"/>
            </p14:xfrm>
          </p:contentPart>
        </mc:Choice>
        <mc:Fallback xmlns="">
          <p:pic>
            <p:nvPicPr>
              <p:cNvPr id="8" name="Ink 7">
                <a:extLst>
                  <a:ext uri="{FF2B5EF4-FFF2-40B4-BE49-F238E27FC236}">
                    <a16:creationId xmlns:a16="http://schemas.microsoft.com/office/drawing/2014/main" id="{C89FF3F9-8E4D-4F14-1DBE-FD0BE73EA2BF}"/>
                  </a:ext>
                </a:extLst>
              </p:cNvPr>
              <p:cNvPicPr/>
              <p:nvPr/>
            </p:nvPicPr>
            <p:blipFill>
              <a:blip r:embed="rId5"/>
              <a:stretch>
                <a:fillRect/>
              </a:stretch>
            </p:blipFill>
            <p:spPr>
              <a:xfrm>
                <a:off x="2387274" y="1894003"/>
                <a:ext cx="13500" cy="135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68B37DA4-32A6-CFF4-E896-B89FC4A0EF31}"/>
                  </a:ext>
                </a:extLst>
              </p14:cNvPr>
              <p14:cNvContentPartPr/>
              <p14:nvPr/>
            </p14:nvContentPartPr>
            <p14:xfrm>
              <a:off x="1142574" y="1551373"/>
              <a:ext cx="270" cy="270"/>
            </p14:xfrm>
          </p:contentPart>
        </mc:Choice>
        <mc:Fallback xmlns="">
          <p:pic>
            <p:nvPicPr>
              <p:cNvPr id="9" name="Ink 8">
                <a:extLst>
                  <a:ext uri="{FF2B5EF4-FFF2-40B4-BE49-F238E27FC236}">
                    <a16:creationId xmlns:a16="http://schemas.microsoft.com/office/drawing/2014/main" id="{68B37DA4-32A6-CFF4-E896-B89FC4A0EF31}"/>
                  </a:ext>
                </a:extLst>
              </p:cNvPr>
              <p:cNvPicPr/>
              <p:nvPr/>
            </p:nvPicPr>
            <p:blipFill>
              <a:blip r:embed="rId5"/>
              <a:stretch>
                <a:fillRect/>
              </a:stretch>
            </p:blipFill>
            <p:spPr>
              <a:xfrm>
                <a:off x="1135824" y="1544623"/>
                <a:ext cx="13500" cy="13500"/>
              </a:xfrm>
              <a:prstGeom prst="rect">
                <a:avLst/>
              </a:prstGeom>
            </p:spPr>
          </p:pic>
        </mc:Fallback>
      </mc:AlternateContent>
      <p:sp>
        <p:nvSpPr>
          <p:cNvPr id="12" name="AutoShape 4">
            <a:extLst>
              <a:ext uri="{FF2B5EF4-FFF2-40B4-BE49-F238E27FC236}">
                <a16:creationId xmlns:a16="http://schemas.microsoft.com/office/drawing/2014/main" id="{E343D72F-56E4-1C7B-7AD0-ED30C20D63C4}"/>
              </a:ext>
            </a:extLst>
          </p:cNvPr>
          <p:cNvSpPr>
            <a:spLocks noChangeAspect="1" noChangeArrowheads="1"/>
          </p:cNvSpPr>
          <p:nvPr/>
        </p:nvSpPr>
        <p:spPr bwMode="auto">
          <a:xfrm>
            <a:off x="3239691" y="1325166"/>
            <a:ext cx="2664619" cy="249316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050"/>
          </a:p>
        </p:txBody>
      </p:sp>
      <p:sp>
        <p:nvSpPr>
          <p:cNvPr id="5" name="Slide Number Placeholder 4">
            <a:extLst>
              <a:ext uri="{FF2B5EF4-FFF2-40B4-BE49-F238E27FC236}">
                <a16:creationId xmlns:a16="http://schemas.microsoft.com/office/drawing/2014/main" id="{6EBA2943-D25A-A780-4E7D-AC283B7F044B}"/>
              </a:ext>
            </a:extLst>
          </p:cNvPr>
          <p:cNvSpPr>
            <a:spLocks noGrp="1"/>
          </p:cNvSpPr>
          <p:nvPr>
            <p:ph type="sldNum" sz="quarter" idx="4"/>
          </p:nvPr>
        </p:nvSpPr>
        <p:spPr/>
        <p:txBody>
          <a:bodyPr/>
          <a:lstStyle/>
          <a:p>
            <a:fld id="{C4204591-24BD-A542-B9D5-F8D8A88D2FEE}" type="slidenum">
              <a:rPr lang="en-US" smtClean="0"/>
              <a:pPr/>
              <a:t>12</a:t>
            </a:fld>
            <a:endParaRPr lang="en-US" dirty="0"/>
          </a:p>
        </p:txBody>
      </p:sp>
    </p:spTree>
    <p:extLst>
      <p:ext uri="{BB962C8B-B14F-4D97-AF65-F5344CB8AC3E}">
        <p14:creationId xmlns:p14="http://schemas.microsoft.com/office/powerpoint/2010/main" val="2647804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34941-33F7-CED5-B96B-7F80E23295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2FC9C6-5635-D4CB-5A42-F596F5C4907C}"/>
              </a:ext>
            </a:extLst>
          </p:cNvPr>
          <p:cNvSpPr>
            <a:spLocks noGrp="1"/>
          </p:cNvSpPr>
          <p:nvPr>
            <p:ph type="title"/>
          </p:nvPr>
        </p:nvSpPr>
        <p:spPr>
          <a:xfrm>
            <a:off x="505326" y="338866"/>
            <a:ext cx="4247148" cy="670967"/>
          </a:xfrm>
        </p:spPr>
        <p:txBody>
          <a:bodyPr>
            <a:normAutofit fontScale="90000"/>
          </a:bodyPr>
          <a:lstStyle/>
          <a:p>
            <a:r>
              <a:rPr lang="en-US" dirty="0"/>
              <a:t>Q5.1 Pipe Diagram</a:t>
            </a:r>
          </a:p>
        </p:txBody>
      </p:sp>
      <p:sp>
        <p:nvSpPr>
          <p:cNvPr id="3" name="Content Placeholder 2">
            <a:extLst>
              <a:ext uri="{FF2B5EF4-FFF2-40B4-BE49-F238E27FC236}">
                <a16:creationId xmlns:a16="http://schemas.microsoft.com/office/drawing/2014/main" id="{08B1A53D-BE96-9908-6EB6-D5CF7B0E825C}"/>
              </a:ext>
            </a:extLst>
          </p:cNvPr>
          <p:cNvSpPr>
            <a:spLocks noGrp="1"/>
          </p:cNvSpPr>
          <p:nvPr>
            <p:ph sz="half" idx="1"/>
          </p:nvPr>
        </p:nvSpPr>
        <p:spPr>
          <a:xfrm>
            <a:off x="91820" y="1009834"/>
            <a:ext cx="8724376" cy="4027992"/>
          </a:xfrm>
        </p:spPr>
        <p:txBody>
          <a:bodyPr>
            <a:normAutofit/>
          </a:bodyPr>
          <a:lstStyle/>
          <a:p>
            <a:r>
              <a:rPr lang="en-US" sz="1600" dirty="0"/>
              <a:t>Consider the pipe diagram, with a single packet in the pipe.</a:t>
            </a:r>
          </a:p>
          <a:p>
            <a:r>
              <a:rPr lang="en-US" sz="1600" dirty="0"/>
              <a:t>1) What is the size of this packet?</a:t>
            </a:r>
          </a:p>
          <a:p>
            <a:r>
              <a:rPr lang="en-US" sz="1600" dirty="0"/>
              <a:t>2) How long does it take to send a packet of the same size as the packet shown?(Count from the time the first byte is sent, to the time the last byte is received.)</a:t>
            </a:r>
          </a:p>
          <a:p>
            <a:r>
              <a:rPr lang="en-US" sz="1600" dirty="0"/>
              <a:t>3) How long does it take to send 7 packets, all of the same size as the packet shown?(Count from the time the first byte of the first packet is sent, to the time the last byte of the last packet is received.)</a:t>
            </a:r>
          </a:p>
          <a:p>
            <a:r>
              <a:rPr lang="en-US" sz="1600" dirty="0"/>
              <a:t>4) What is the maximum number of packets that could be in the process of being sent </a:t>
            </a:r>
            <a:r>
              <a:rPr lang="en-US" sz="1600" dirty="0" err="1"/>
              <a:t>alongthis</a:t>
            </a:r>
            <a:r>
              <a:rPr lang="en-US" sz="1600" dirty="0"/>
              <a:t> link, at any given </a:t>
            </a:r>
            <a:r>
              <a:rPr lang="en-US" sz="1600" dirty="0" err="1"/>
              <a:t>moment?Don’t</a:t>
            </a:r>
            <a:r>
              <a:rPr lang="en-US" sz="1600" dirty="0"/>
              <a:t> worry about fractions and rounding (e.g. assume 𝑥, 𝑦, and 𝑧 are defined such that all </a:t>
            </a:r>
            <a:r>
              <a:rPr lang="en-US" sz="1600" dirty="0" err="1"/>
              <a:t>answerchoices</a:t>
            </a:r>
            <a:r>
              <a:rPr lang="en-US" sz="1600" dirty="0"/>
              <a:t> are integers).</a:t>
            </a:r>
          </a:p>
          <a:p>
            <a:endParaRPr lang="en-US" sz="1600" dirty="0"/>
          </a:p>
        </p:txBody>
      </p:sp>
      <mc:AlternateContent xmlns:mc="http://schemas.openxmlformats.org/markup-compatibility/2006" xmlns:p14="http://schemas.microsoft.com/office/powerpoint/2010/main">
        <mc:Choice Requires="p14">
          <p:contentPart p14:bwMode="auto" r:id="rId2">
            <p14:nvContentPartPr>
              <p14:cNvPr id="8" name="Ink 7">
                <a:extLst>
                  <a:ext uri="{FF2B5EF4-FFF2-40B4-BE49-F238E27FC236}">
                    <a16:creationId xmlns:a16="http://schemas.microsoft.com/office/drawing/2014/main" id="{20582250-1FE1-A030-8F53-A1DD6C1DFDAD}"/>
                  </a:ext>
                </a:extLst>
              </p14:cNvPr>
              <p14:cNvContentPartPr/>
              <p14:nvPr/>
            </p14:nvContentPartPr>
            <p14:xfrm>
              <a:off x="2394024" y="1900753"/>
              <a:ext cx="270" cy="270"/>
            </p14:xfrm>
          </p:contentPart>
        </mc:Choice>
        <mc:Fallback xmlns="">
          <p:pic>
            <p:nvPicPr>
              <p:cNvPr id="8" name="Ink 7">
                <a:extLst>
                  <a:ext uri="{FF2B5EF4-FFF2-40B4-BE49-F238E27FC236}">
                    <a16:creationId xmlns:a16="http://schemas.microsoft.com/office/drawing/2014/main" id="{BF9B16F1-26FB-0E56-FA0A-E1AE729E92E6}"/>
                  </a:ext>
                </a:extLst>
              </p:cNvPr>
              <p:cNvPicPr/>
              <p:nvPr/>
            </p:nvPicPr>
            <p:blipFill>
              <a:blip r:embed="rId4"/>
              <a:stretch>
                <a:fillRect/>
              </a:stretch>
            </p:blipFill>
            <p:spPr>
              <a:xfrm>
                <a:off x="2387274" y="1894003"/>
                <a:ext cx="13500" cy="135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2CA5184B-A4D6-E349-D4DA-85B4DAB3B93E}"/>
                  </a:ext>
                </a:extLst>
              </p14:cNvPr>
              <p14:cNvContentPartPr/>
              <p14:nvPr/>
            </p14:nvContentPartPr>
            <p14:xfrm>
              <a:off x="1142574" y="1551373"/>
              <a:ext cx="270" cy="270"/>
            </p14:xfrm>
          </p:contentPart>
        </mc:Choice>
        <mc:Fallback xmlns="">
          <p:pic>
            <p:nvPicPr>
              <p:cNvPr id="9" name="Ink 8">
                <a:extLst>
                  <a:ext uri="{FF2B5EF4-FFF2-40B4-BE49-F238E27FC236}">
                    <a16:creationId xmlns:a16="http://schemas.microsoft.com/office/drawing/2014/main" id="{BC90F249-0F8D-8A72-C826-5B5928532520}"/>
                  </a:ext>
                </a:extLst>
              </p:cNvPr>
              <p:cNvPicPr/>
              <p:nvPr/>
            </p:nvPicPr>
            <p:blipFill>
              <a:blip r:embed="rId4"/>
              <a:stretch>
                <a:fillRect/>
              </a:stretch>
            </p:blipFill>
            <p:spPr>
              <a:xfrm>
                <a:off x="1135824" y="1544623"/>
                <a:ext cx="13500" cy="13500"/>
              </a:xfrm>
              <a:prstGeom prst="rect">
                <a:avLst/>
              </a:prstGeom>
            </p:spPr>
          </p:pic>
        </mc:Fallback>
      </mc:AlternateContent>
      <p:sp>
        <p:nvSpPr>
          <p:cNvPr id="12" name="AutoShape 4">
            <a:extLst>
              <a:ext uri="{FF2B5EF4-FFF2-40B4-BE49-F238E27FC236}">
                <a16:creationId xmlns:a16="http://schemas.microsoft.com/office/drawing/2014/main" id="{E2CA02C3-E449-5C3E-4965-31666DC88D64}"/>
              </a:ext>
            </a:extLst>
          </p:cNvPr>
          <p:cNvSpPr>
            <a:spLocks noChangeAspect="1" noChangeArrowheads="1"/>
          </p:cNvSpPr>
          <p:nvPr/>
        </p:nvSpPr>
        <p:spPr bwMode="auto">
          <a:xfrm>
            <a:off x="3239691" y="1325166"/>
            <a:ext cx="2664619" cy="249316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050"/>
          </a:p>
        </p:txBody>
      </p:sp>
      <p:pic>
        <p:nvPicPr>
          <p:cNvPr id="5" name="Picture 4">
            <a:extLst>
              <a:ext uri="{FF2B5EF4-FFF2-40B4-BE49-F238E27FC236}">
                <a16:creationId xmlns:a16="http://schemas.microsoft.com/office/drawing/2014/main" id="{DD8101C4-61B5-B86D-2A93-BCAF5BD00D59}"/>
              </a:ext>
            </a:extLst>
          </p:cNvPr>
          <p:cNvPicPr>
            <a:picLocks noChangeAspect="1"/>
          </p:cNvPicPr>
          <p:nvPr/>
        </p:nvPicPr>
        <p:blipFill>
          <a:blip r:embed="rId6"/>
          <a:stretch>
            <a:fillRect/>
          </a:stretch>
        </p:blipFill>
        <p:spPr>
          <a:xfrm>
            <a:off x="5597871" y="13171"/>
            <a:ext cx="3454309" cy="1677994"/>
          </a:xfrm>
          <a:prstGeom prst="rect">
            <a:avLst/>
          </a:prstGeom>
        </p:spPr>
      </p:pic>
      <p:sp>
        <p:nvSpPr>
          <p:cNvPr id="7" name="Slide Number Placeholder 6">
            <a:extLst>
              <a:ext uri="{FF2B5EF4-FFF2-40B4-BE49-F238E27FC236}">
                <a16:creationId xmlns:a16="http://schemas.microsoft.com/office/drawing/2014/main" id="{68321D6F-7DBC-A0D3-6A41-32ADD56AE932}"/>
              </a:ext>
            </a:extLst>
          </p:cNvPr>
          <p:cNvSpPr>
            <a:spLocks noGrp="1"/>
          </p:cNvSpPr>
          <p:nvPr>
            <p:ph type="sldNum" sz="quarter" idx="4"/>
          </p:nvPr>
        </p:nvSpPr>
        <p:spPr/>
        <p:txBody>
          <a:bodyPr/>
          <a:lstStyle/>
          <a:p>
            <a:fld id="{C4204591-24BD-A542-B9D5-F8D8A88D2FEE}" type="slidenum">
              <a:rPr lang="en-US" smtClean="0"/>
              <a:pPr/>
              <a:t>13</a:t>
            </a:fld>
            <a:endParaRPr lang="en-US" dirty="0"/>
          </a:p>
        </p:txBody>
      </p:sp>
    </p:spTree>
    <p:extLst>
      <p:ext uri="{BB962C8B-B14F-4D97-AF65-F5344CB8AC3E}">
        <p14:creationId xmlns:p14="http://schemas.microsoft.com/office/powerpoint/2010/main" val="4059797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A3AA6A-0DAF-49FA-AEF3-2135181B85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F00D06-4459-E1AF-4433-EB7EB451761C}"/>
              </a:ext>
            </a:extLst>
          </p:cNvPr>
          <p:cNvSpPr>
            <a:spLocks noGrp="1"/>
          </p:cNvSpPr>
          <p:nvPr>
            <p:ph type="title"/>
          </p:nvPr>
        </p:nvSpPr>
        <p:spPr>
          <a:xfrm>
            <a:off x="505325" y="338866"/>
            <a:ext cx="4963821" cy="670967"/>
          </a:xfrm>
        </p:spPr>
        <p:txBody>
          <a:bodyPr>
            <a:normAutofit fontScale="90000"/>
          </a:bodyPr>
          <a:lstStyle/>
          <a:p>
            <a:r>
              <a:rPr lang="en-US" dirty="0"/>
              <a:t>Q5.1 Pipe Diagram ANS</a:t>
            </a:r>
          </a:p>
        </p:txBody>
      </p:sp>
      <p:sp>
        <p:nvSpPr>
          <p:cNvPr id="3" name="Content Placeholder 2">
            <a:extLst>
              <a:ext uri="{FF2B5EF4-FFF2-40B4-BE49-F238E27FC236}">
                <a16:creationId xmlns:a16="http://schemas.microsoft.com/office/drawing/2014/main" id="{BCD90292-74C8-9145-40C4-220F2EBBDB5A}"/>
              </a:ext>
            </a:extLst>
          </p:cNvPr>
          <p:cNvSpPr>
            <a:spLocks noGrp="1"/>
          </p:cNvSpPr>
          <p:nvPr>
            <p:ph sz="half" idx="1"/>
          </p:nvPr>
        </p:nvSpPr>
        <p:spPr>
          <a:xfrm>
            <a:off x="91820" y="1325166"/>
            <a:ext cx="8724376" cy="3712660"/>
          </a:xfrm>
        </p:spPr>
        <p:txBody>
          <a:bodyPr>
            <a:normAutofit fontScale="62500" lnSpcReduction="20000"/>
          </a:bodyPr>
          <a:lstStyle/>
          <a:p>
            <a:r>
              <a:rPr lang="en-US" sz="1600" dirty="0"/>
              <a:t>1) What is the size of this packet?</a:t>
            </a:r>
          </a:p>
          <a:p>
            <a:r>
              <a:rPr lang="en-US" sz="1600" dirty="0"/>
              <a:t>ANS: </a:t>
            </a:r>
            <a:r>
              <a:rPr lang="en-US" sz="1600" dirty="0" err="1"/>
              <a:t>xy</a:t>
            </a:r>
            <a:r>
              <a:rPr lang="en-US" sz="1600" dirty="0"/>
              <a:t>. 𝑥 is the transmission delay (time it takes to transmit the packet).𝑦 is the bandwidth of the link, i.e. how many bytes can be sent per second. Multiplying 𝑥 (seconds) and 𝑦 (bytes/second) gives the overall size of this packet.</a:t>
            </a:r>
          </a:p>
          <a:p>
            <a:r>
              <a:rPr lang="en-US" sz="1600" dirty="0"/>
              <a:t>2) How long does it take to send a packet of the same size as the packet shown?(Count from the time the first byte is sent, to the time the last byte is received.)</a:t>
            </a:r>
          </a:p>
          <a:p>
            <a:r>
              <a:rPr lang="en-US" sz="1600" dirty="0"/>
              <a:t>ANS: 𝑥 + 𝑧. 𝑥 is the transmission delay (time it takes to transmit the packet). 𝑧 is the propagation delay.</a:t>
            </a:r>
          </a:p>
          <a:p>
            <a:r>
              <a:rPr lang="en-US" sz="1600" dirty="0"/>
              <a:t>3) How long does it take to send 7 packets, all of the same size as the packet shown?(Count from the time the first byte of the first packet is sent, to the time the last byte of the last packet is received.)</a:t>
            </a:r>
          </a:p>
          <a:p>
            <a:r>
              <a:rPr lang="en-US" sz="1600" dirty="0"/>
              <a:t>ANS: 7𝑥 + 𝑧. 𝑥 is the transmission delay, so it takes 7𝑥 seconds to transmit all 7 packets. 𝑧 is the propagation delay.</a:t>
            </a:r>
          </a:p>
          <a:p>
            <a:r>
              <a:rPr lang="en-US" sz="1600" dirty="0"/>
              <a:t>4) What is the maximum number of packets that could be in the process of being sent along this link, at any given </a:t>
            </a:r>
            <a:r>
              <a:rPr lang="en-US" sz="1600" dirty="0" err="1"/>
              <a:t>moment?Don’t</a:t>
            </a:r>
            <a:r>
              <a:rPr lang="en-US" sz="1600" dirty="0"/>
              <a:t> worry about fractions and rounding (e.g. assume 𝑥, 𝑦, and 𝑧 are defined such that all answer choices are integers).</a:t>
            </a:r>
          </a:p>
          <a:p>
            <a:r>
              <a:rPr lang="en-US" sz="1600" dirty="0"/>
              <a:t>ANS: z/x. 𝑥 is the transmission delay, 𝑧 is the propagation delay. The maximum number of packets that can be in flight therefore is 𝑧/𝑥 .</a:t>
            </a:r>
          </a:p>
          <a:p>
            <a:r>
              <a:rPr lang="en-US" sz="1600" dirty="0"/>
              <a:t>5) In this subpart, suppose R1 has 1 other packet in its queue when A sends the packet. How long does it take to send a single packet from A to B?</a:t>
            </a:r>
          </a:p>
          <a:p>
            <a:r>
              <a:rPr lang="en-US" sz="1600" dirty="0"/>
              <a:t>6) In this subpart, suppose R1 has 20 other packets in its queue when A sends the </a:t>
            </a:r>
            <a:r>
              <a:rPr lang="en-US" sz="1600" dirty="0" err="1"/>
              <a:t>packet.How</a:t>
            </a:r>
            <a:r>
              <a:rPr lang="en-US" sz="1600" dirty="0"/>
              <a:t> long does it take to send a single packet from A to B? Assume that the queue at R1 is </a:t>
            </a:r>
            <a:r>
              <a:rPr lang="en-US" sz="1600" dirty="0" err="1"/>
              <a:t>notempty</a:t>
            </a:r>
            <a:r>
              <a:rPr lang="en-US" sz="1600" dirty="0"/>
              <a:t> when this packet arrives at R1.</a:t>
            </a:r>
          </a:p>
          <a:p>
            <a:r>
              <a:rPr lang="en-US" sz="1600" dirty="0"/>
              <a:t>7) What is the maximum number of packets that can be queued at R1, such that when </a:t>
            </a:r>
            <a:r>
              <a:rPr lang="en-US" sz="1600" dirty="0" err="1"/>
              <a:t>thelast</a:t>
            </a:r>
            <a:r>
              <a:rPr lang="en-US" sz="1600" dirty="0"/>
              <a:t> byte of the A-to-B packet reaches R1, there is no queue at R1?Don’t worry about fractions and rounding (e.g. assume 𝑥, 𝑦, and 𝑧 are defined such that all </a:t>
            </a:r>
            <a:r>
              <a:rPr lang="en-US" sz="1600" dirty="0" err="1"/>
              <a:t>answerchoices</a:t>
            </a:r>
            <a:r>
              <a:rPr lang="en-US" sz="1600" dirty="0"/>
              <a:t> are integers).</a:t>
            </a:r>
          </a:p>
          <a:p>
            <a:endParaRPr lang="en-US" sz="1600" dirty="0"/>
          </a:p>
        </p:txBody>
      </p:sp>
      <mc:AlternateContent xmlns:mc="http://schemas.openxmlformats.org/markup-compatibility/2006" xmlns:p14="http://schemas.microsoft.com/office/powerpoint/2010/main">
        <mc:Choice Requires="p14">
          <p:contentPart p14:bwMode="auto" r:id="rId2">
            <p14:nvContentPartPr>
              <p14:cNvPr id="8" name="Ink 7">
                <a:extLst>
                  <a:ext uri="{FF2B5EF4-FFF2-40B4-BE49-F238E27FC236}">
                    <a16:creationId xmlns:a16="http://schemas.microsoft.com/office/drawing/2014/main" id="{C29E84F0-1C66-0867-6234-61AE2CAA9C09}"/>
                  </a:ext>
                </a:extLst>
              </p14:cNvPr>
              <p14:cNvContentPartPr/>
              <p14:nvPr/>
            </p14:nvContentPartPr>
            <p14:xfrm>
              <a:off x="2394024" y="1900753"/>
              <a:ext cx="270" cy="270"/>
            </p14:xfrm>
          </p:contentPart>
        </mc:Choice>
        <mc:Fallback xmlns="">
          <p:pic>
            <p:nvPicPr>
              <p:cNvPr id="8" name="Ink 7">
                <a:extLst>
                  <a:ext uri="{FF2B5EF4-FFF2-40B4-BE49-F238E27FC236}">
                    <a16:creationId xmlns:a16="http://schemas.microsoft.com/office/drawing/2014/main" id="{BF9B16F1-26FB-0E56-FA0A-E1AE729E92E6}"/>
                  </a:ext>
                </a:extLst>
              </p:cNvPr>
              <p:cNvPicPr/>
              <p:nvPr/>
            </p:nvPicPr>
            <p:blipFill>
              <a:blip r:embed="rId4"/>
              <a:stretch>
                <a:fillRect/>
              </a:stretch>
            </p:blipFill>
            <p:spPr>
              <a:xfrm>
                <a:off x="2387274" y="1894003"/>
                <a:ext cx="13500" cy="135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D33B8011-865F-3015-47F9-3B15D7A82DB9}"/>
                  </a:ext>
                </a:extLst>
              </p14:cNvPr>
              <p14:cNvContentPartPr/>
              <p14:nvPr/>
            </p14:nvContentPartPr>
            <p14:xfrm>
              <a:off x="1142574" y="1551373"/>
              <a:ext cx="270" cy="270"/>
            </p14:xfrm>
          </p:contentPart>
        </mc:Choice>
        <mc:Fallback xmlns="">
          <p:pic>
            <p:nvPicPr>
              <p:cNvPr id="9" name="Ink 8">
                <a:extLst>
                  <a:ext uri="{FF2B5EF4-FFF2-40B4-BE49-F238E27FC236}">
                    <a16:creationId xmlns:a16="http://schemas.microsoft.com/office/drawing/2014/main" id="{BC90F249-0F8D-8A72-C826-5B5928532520}"/>
                  </a:ext>
                </a:extLst>
              </p:cNvPr>
              <p:cNvPicPr/>
              <p:nvPr/>
            </p:nvPicPr>
            <p:blipFill>
              <a:blip r:embed="rId4"/>
              <a:stretch>
                <a:fillRect/>
              </a:stretch>
            </p:blipFill>
            <p:spPr>
              <a:xfrm>
                <a:off x="1135824" y="1544623"/>
                <a:ext cx="13500" cy="13500"/>
              </a:xfrm>
              <a:prstGeom prst="rect">
                <a:avLst/>
              </a:prstGeom>
            </p:spPr>
          </p:pic>
        </mc:Fallback>
      </mc:AlternateContent>
      <p:sp>
        <p:nvSpPr>
          <p:cNvPr id="12" name="AutoShape 4">
            <a:extLst>
              <a:ext uri="{FF2B5EF4-FFF2-40B4-BE49-F238E27FC236}">
                <a16:creationId xmlns:a16="http://schemas.microsoft.com/office/drawing/2014/main" id="{65F84396-2BBE-BDAF-70BE-A0B6169F11C9}"/>
              </a:ext>
            </a:extLst>
          </p:cNvPr>
          <p:cNvSpPr>
            <a:spLocks noChangeAspect="1" noChangeArrowheads="1"/>
          </p:cNvSpPr>
          <p:nvPr/>
        </p:nvSpPr>
        <p:spPr bwMode="auto">
          <a:xfrm>
            <a:off x="3239691" y="1325166"/>
            <a:ext cx="2664619" cy="249316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050"/>
          </a:p>
        </p:txBody>
      </p:sp>
      <p:pic>
        <p:nvPicPr>
          <p:cNvPr id="5" name="Picture 4">
            <a:extLst>
              <a:ext uri="{FF2B5EF4-FFF2-40B4-BE49-F238E27FC236}">
                <a16:creationId xmlns:a16="http://schemas.microsoft.com/office/drawing/2014/main" id="{82263838-146D-C20D-CD01-6B1CDBC1F761}"/>
              </a:ext>
            </a:extLst>
          </p:cNvPr>
          <p:cNvPicPr>
            <a:picLocks noChangeAspect="1"/>
          </p:cNvPicPr>
          <p:nvPr/>
        </p:nvPicPr>
        <p:blipFill>
          <a:blip r:embed="rId6"/>
          <a:stretch>
            <a:fillRect/>
          </a:stretch>
        </p:blipFill>
        <p:spPr>
          <a:xfrm>
            <a:off x="5597871" y="0"/>
            <a:ext cx="3454309" cy="1677994"/>
          </a:xfrm>
          <a:prstGeom prst="rect">
            <a:avLst/>
          </a:prstGeom>
        </p:spPr>
      </p:pic>
      <p:sp>
        <p:nvSpPr>
          <p:cNvPr id="4" name="Slide Number Placeholder 3">
            <a:extLst>
              <a:ext uri="{FF2B5EF4-FFF2-40B4-BE49-F238E27FC236}">
                <a16:creationId xmlns:a16="http://schemas.microsoft.com/office/drawing/2014/main" id="{3E3B44F2-E25A-65A2-310D-8E088BB7FBA5}"/>
              </a:ext>
            </a:extLst>
          </p:cNvPr>
          <p:cNvSpPr>
            <a:spLocks noGrp="1"/>
          </p:cNvSpPr>
          <p:nvPr>
            <p:ph type="sldNum" sz="quarter" idx="4"/>
          </p:nvPr>
        </p:nvSpPr>
        <p:spPr/>
        <p:txBody>
          <a:bodyPr/>
          <a:lstStyle/>
          <a:p>
            <a:fld id="{C4204591-24BD-A542-B9D5-F8D8A88D2FEE}" type="slidenum">
              <a:rPr lang="en-US" smtClean="0"/>
              <a:pPr/>
              <a:t>14</a:t>
            </a:fld>
            <a:endParaRPr lang="en-US" dirty="0"/>
          </a:p>
        </p:txBody>
      </p:sp>
    </p:spTree>
    <p:extLst>
      <p:ext uri="{BB962C8B-B14F-4D97-AF65-F5344CB8AC3E}">
        <p14:creationId xmlns:p14="http://schemas.microsoft.com/office/powerpoint/2010/main" val="661331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FC1CA-B981-28A8-2E05-9BA2F35B3C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CF0434-D174-6BE2-1629-31C6E6E7EF45}"/>
              </a:ext>
            </a:extLst>
          </p:cNvPr>
          <p:cNvSpPr>
            <a:spLocks noGrp="1"/>
          </p:cNvSpPr>
          <p:nvPr>
            <p:ph type="title"/>
          </p:nvPr>
        </p:nvSpPr>
        <p:spPr>
          <a:xfrm>
            <a:off x="505326" y="338866"/>
            <a:ext cx="4247148" cy="670967"/>
          </a:xfrm>
        </p:spPr>
        <p:txBody>
          <a:bodyPr>
            <a:normAutofit fontScale="90000"/>
          </a:bodyPr>
          <a:lstStyle/>
          <a:p>
            <a:r>
              <a:rPr lang="en-US" dirty="0"/>
              <a:t>Q5.2 Pipe Diagram</a:t>
            </a:r>
          </a:p>
        </p:txBody>
      </p:sp>
      <p:sp>
        <p:nvSpPr>
          <p:cNvPr id="3" name="Content Placeholder 2">
            <a:extLst>
              <a:ext uri="{FF2B5EF4-FFF2-40B4-BE49-F238E27FC236}">
                <a16:creationId xmlns:a16="http://schemas.microsoft.com/office/drawing/2014/main" id="{074BA215-8363-02BC-EBDF-A16B8D17B68B}"/>
              </a:ext>
            </a:extLst>
          </p:cNvPr>
          <p:cNvSpPr>
            <a:spLocks noGrp="1"/>
          </p:cNvSpPr>
          <p:nvPr>
            <p:ph sz="half" idx="1"/>
          </p:nvPr>
        </p:nvSpPr>
        <p:spPr>
          <a:xfrm>
            <a:off x="91820" y="1325166"/>
            <a:ext cx="8724376" cy="3818334"/>
          </a:xfrm>
        </p:spPr>
        <p:txBody>
          <a:bodyPr>
            <a:normAutofit fontScale="85000" lnSpcReduction="20000"/>
          </a:bodyPr>
          <a:lstStyle/>
          <a:p>
            <a:r>
              <a:rPr lang="en-US" sz="1600" dirty="0"/>
              <a:t>Now, consider the network topology with a Router R1, which has an infinite-size queue, and R1 continually processes packets in its queue in FIFO order. R1 can only start transmitting a packet once it has received the entire packet. All packets are the same size as the packet shown in the diagram in Q5.1. A wants to send a packet to B. No other packets are being sent along the links (i.e. suppose the packet in the diagram is not there).In the next two subparts, select how long it takes to send the packet from A to B. Count from the time the first byte of the packet is sent at A, to the time the last byte of the packet is received at B.</a:t>
            </a:r>
          </a:p>
          <a:p>
            <a:r>
              <a:rPr lang="en-US" sz="1600" dirty="0"/>
              <a:t>5) In this subpart, suppose R1 has 1 other packet in its queue when A sends the packet. How long does it take to send a single packet from A to B?</a:t>
            </a:r>
          </a:p>
          <a:p>
            <a:r>
              <a:rPr lang="en-US" sz="1600" dirty="0"/>
              <a:t>6) In this subpart, suppose R1 has 20 other packets in its queue when A sends the packet. How long does it take to send a single packet from A to B? Assume that the queue at R1 is </a:t>
            </a:r>
            <a:r>
              <a:rPr lang="en-US" sz="1600" dirty="0" err="1"/>
              <a:t>notempty</a:t>
            </a:r>
            <a:r>
              <a:rPr lang="en-US" sz="1600" dirty="0"/>
              <a:t> when this packet arrives at R1.</a:t>
            </a:r>
          </a:p>
          <a:p>
            <a:r>
              <a:rPr lang="en-US" sz="1600" dirty="0"/>
              <a:t>7) What is the maximum number of packets that can be queued at R1, such that when </a:t>
            </a:r>
            <a:r>
              <a:rPr lang="en-US" sz="1600" dirty="0" err="1"/>
              <a:t>thelast</a:t>
            </a:r>
            <a:r>
              <a:rPr lang="en-US" sz="1600" dirty="0"/>
              <a:t> byte of the A-to-B packet reaches R1, there is no queue at R1? Don’t worry about fractions and rounding (e.g. assume 𝑥, 𝑦, and 𝑧 are defined such that all results of division are integers.)</a:t>
            </a:r>
          </a:p>
        </p:txBody>
      </p:sp>
      <mc:AlternateContent xmlns:mc="http://schemas.openxmlformats.org/markup-compatibility/2006" xmlns:p14="http://schemas.microsoft.com/office/powerpoint/2010/main">
        <mc:Choice Requires="p14">
          <p:contentPart p14:bwMode="auto" r:id="rId2">
            <p14:nvContentPartPr>
              <p14:cNvPr id="8" name="Ink 7">
                <a:extLst>
                  <a:ext uri="{FF2B5EF4-FFF2-40B4-BE49-F238E27FC236}">
                    <a16:creationId xmlns:a16="http://schemas.microsoft.com/office/drawing/2014/main" id="{ADF47A1A-67F9-FA82-2128-14A0A3324D20}"/>
                  </a:ext>
                </a:extLst>
              </p14:cNvPr>
              <p14:cNvContentPartPr/>
              <p14:nvPr/>
            </p14:nvContentPartPr>
            <p14:xfrm>
              <a:off x="2394024" y="1900753"/>
              <a:ext cx="270" cy="270"/>
            </p14:xfrm>
          </p:contentPart>
        </mc:Choice>
        <mc:Fallback xmlns="">
          <p:pic>
            <p:nvPicPr>
              <p:cNvPr id="8" name="Ink 7">
                <a:extLst>
                  <a:ext uri="{FF2B5EF4-FFF2-40B4-BE49-F238E27FC236}">
                    <a16:creationId xmlns:a16="http://schemas.microsoft.com/office/drawing/2014/main" id="{BF9B16F1-26FB-0E56-FA0A-E1AE729E92E6}"/>
                  </a:ext>
                </a:extLst>
              </p:cNvPr>
              <p:cNvPicPr/>
              <p:nvPr/>
            </p:nvPicPr>
            <p:blipFill>
              <a:blip r:embed="rId4"/>
              <a:stretch>
                <a:fillRect/>
              </a:stretch>
            </p:blipFill>
            <p:spPr>
              <a:xfrm>
                <a:off x="2387274" y="1894003"/>
                <a:ext cx="13500" cy="135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895B8589-CF8A-2B0E-B79C-03F5F041FC97}"/>
                  </a:ext>
                </a:extLst>
              </p14:cNvPr>
              <p14:cNvContentPartPr/>
              <p14:nvPr/>
            </p14:nvContentPartPr>
            <p14:xfrm>
              <a:off x="1142574" y="1551373"/>
              <a:ext cx="270" cy="270"/>
            </p14:xfrm>
          </p:contentPart>
        </mc:Choice>
        <mc:Fallback xmlns="">
          <p:pic>
            <p:nvPicPr>
              <p:cNvPr id="9" name="Ink 8">
                <a:extLst>
                  <a:ext uri="{FF2B5EF4-FFF2-40B4-BE49-F238E27FC236}">
                    <a16:creationId xmlns:a16="http://schemas.microsoft.com/office/drawing/2014/main" id="{BC90F249-0F8D-8A72-C826-5B5928532520}"/>
                  </a:ext>
                </a:extLst>
              </p:cNvPr>
              <p:cNvPicPr/>
              <p:nvPr/>
            </p:nvPicPr>
            <p:blipFill>
              <a:blip r:embed="rId4"/>
              <a:stretch>
                <a:fillRect/>
              </a:stretch>
            </p:blipFill>
            <p:spPr>
              <a:xfrm>
                <a:off x="1135824" y="1544623"/>
                <a:ext cx="13500" cy="13500"/>
              </a:xfrm>
              <a:prstGeom prst="rect">
                <a:avLst/>
              </a:prstGeom>
            </p:spPr>
          </p:pic>
        </mc:Fallback>
      </mc:AlternateContent>
      <p:sp>
        <p:nvSpPr>
          <p:cNvPr id="12" name="AutoShape 4">
            <a:extLst>
              <a:ext uri="{FF2B5EF4-FFF2-40B4-BE49-F238E27FC236}">
                <a16:creationId xmlns:a16="http://schemas.microsoft.com/office/drawing/2014/main" id="{C0CA2657-7282-DA26-EB5D-991BB9429ACD}"/>
              </a:ext>
            </a:extLst>
          </p:cNvPr>
          <p:cNvSpPr>
            <a:spLocks noChangeAspect="1" noChangeArrowheads="1"/>
          </p:cNvSpPr>
          <p:nvPr/>
        </p:nvSpPr>
        <p:spPr bwMode="auto">
          <a:xfrm>
            <a:off x="3239691" y="1325166"/>
            <a:ext cx="2664619" cy="249316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050"/>
          </a:p>
        </p:txBody>
      </p:sp>
      <p:pic>
        <p:nvPicPr>
          <p:cNvPr id="5" name="Picture 4">
            <a:extLst>
              <a:ext uri="{FF2B5EF4-FFF2-40B4-BE49-F238E27FC236}">
                <a16:creationId xmlns:a16="http://schemas.microsoft.com/office/drawing/2014/main" id="{7FA3061E-A000-9427-7DFB-24A54F3921DF}"/>
              </a:ext>
            </a:extLst>
          </p:cNvPr>
          <p:cNvPicPr>
            <a:picLocks noChangeAspect="1"/>
          </p:cNvPicPr>
          <p:nvPr/>
        </p:nvPicPr>
        <p:blipFill>
          <a:blip r:embed="rId6"/>
          <a:srcRect/>
          <a:stretch/>
        </p:blipFill>
        <p:spPr>
          <a:xfrm>
            <a:off x="4210647" y="-24189"/>
            <a:ext cx="4761465" cy="1397075"/>
          </a:xfrm>
          <a:prstGeom prst="rect">
            <a:avLst/>
          </a:prstGeom>
        </p:spPr>
      </p:pic>
      <p:sp>
        <p:nvSpPr>
          <p:cNvPr id="4" name="Slide Number Placeholder 3">
            <a:extLst>
              <a:ext uri="{FF2B5EF4-FFF2-40B4-BE49-F238E27FC236}">
                <a16:creationId xmlns:a16="http://schemas.microsoft.com/office/drawing/2014/main" id="{566C52A8-E458-0A8C-7E03-A9D3B3AD91E3}"/>
              </a:ext>
            </a:extLst>
          </p:cNvPr>
          <p:cNvSpPr>
            <a:spLocks noGrp="1"/>
          </p:cNvSpPr>
          <p:nvPr>
            <p:ph type="sldNum" sz="quarter" idx="4"/>
          </p:nvPr>
        </p:nvSpPr>
        <p:spPr/>
        <p:txBody>
          <a:bodyPr/>
          <a:lstStyle/>
          <a:p>
            <a:fld id="{C4204591-24BD-A542-B9D5-F8D8A88D2FEE}" type="slidenum">
              <a:rPr lang="en-US" smtClean="0"/>
              <a:pPr/>
              <a:t>15</a:t>
            </a:fld>
            <a:endParaRPr lang="en-US" dirty="0"/>
          </a:p>
        </p:txBody>
      </p:sp>
    </p:spTree>
    <p:extLst>
      <p:ext uri="{BB962C8B-B14F-4D97-AF65-F5344CB8AC3E}">
        <p14:creationId xmlns:p14="http://schemas.microsoft.com/office/powerpoint/2010/main" val="3499224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7960B-19E7-C157-BA3B-4282A20BEF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D43FDC-6B0A-1999-F9EC-ECC81C570141}"/>
              </a:ext>
            </a:extLst>
          </p:cNvPr>
          <p:cNvSpPr>
            <a:spLocks noGrp="1"/>
          </p:cNvSpPr>
          <p:nvPr>
            <p:ph type="title"/>
          </p:nvPr>
        </p:nvSpPr>
        <p:spPr>
          <a:xfrm>
            <a:off x="171888" y="366405"/>
            <a:ext cx="4383842" cy="670967"/>
          </a:xfrm>
        </p:spPr>
        <p:txBody>
          <a:bodyPr>
            <a:normAutofit/>
          </a:bodyPr>
          <a:lstStyle/>
          <a:p>
            <a:r>
              <a:rPr lang="en-US" sz="2800" dirty="0"/>
              <a:t>Q5.2 Pipe Diagram ANS</a:t>
            </a:r>
          </a:p>
        </p:txBody>
      </p:sp>
      <p:sp>
        <p:nvSpPr>
          <p:cNvPr id="3" name="Content Placeholder 2">
            <a:extLst>
              <a:ext uri="{FF2B5EF4-FFF2-40B4-BE49-F238E27FC236}">
                <a16:creationId xmlns:a16="http://schemas.microsoft.com/office/drawing/2014/main" id="{BB363AB7-8BDB-FC7D-22A1-C299003B130E}"/>
              </a:ext>
            </a:extLst>
          </p:cNvPr>
          <p:cNvSpPr>
            <a:spLocks noGrp="1"/>
          </p:cNvSpPr>
          <p:nvPr>
            <p:ph sz="half" idx="1"/>
          </p:nvPr>
        </p:nvSpPr>
        <p:spPr>
          <a:xfrm>
            <a:off x="65940" y="1325166"/>
            <a:ext cx="8724376" cy="3928321"/>
          </a:xfrm>
        </p:spPr>
        <p:txBody>
          <a:bodyPr>
            <a:normAutofit fontScale="70000" lnSpcReduction="20000"/>
          </a:bodyPr>
          <a:lstStyle/>
          <a:p>
            <a:r>
              <a:rPr lang="en-US" sz="1600" dirty="0"/>
              <a:t>5) In this subpart, suppose R1 has 1 other packet in its queue when A sends the packet. How long does it take to send a single packet from A to B?</a:t>
            </a:r>
          </a:p>
          <a:p>
            <a:r>
              <a:rPr lang="en-US" sz="1600" dirty="0"/>
              <a:t>ANS: 2x + 2z. Since all packets are the same size, by the time A transmits the packet onto the A-to-R1 link, R1has finished clearing out its queue. Therefore, there will be no queuing delay at R1.The packet takes 𝑥 + 𝑧 time to travel from A to R1 (transmission delay 𝑥 and propagation delay𝑧). At time 𝑥 + 𝑧, R1 has received the entire packet.R1 then must send the packet along the R1-to-B link, which takes 𝑥 + 𝑧 time again. The total time to transmit the packet from A to B is 2(𝑥 + 𝑧) = 2𝑥 + 2𝑧.</a:t>
            </a:r>
          </a:p>
          <a:p>
            <a:r>
              <a:rPr lang="en-US" sz="1600" dirty="0"/>
              <a:t>6) In this subpart, suppose R1 has 20 other packets in its queue when A sends the packet. How long does it take to send a single packet from A to B? Assume that the queue at R1 is not empty when this packet arrives at R1.</a:t>
            </a:r>
          </a:p>
          <a:p>
            <a:r>
              <a:rPr lang="en-US" sz="1600" dirty="0"/>
              <a:t>ANS: 21𝑥 + 𝑧. By the time the A-to-B packet arrives at R1, the queue is not empty (per the assumption).Therefore, we have to account for queuing delay. More specifically, we have to wait for R1 to finish sending all 20 packets, and then it can send the A-to-B packet. The time it takes for R1 to transmit 21 packets (the 20 in the queue, plus the A-to-B packet) is21𝑥.Then, the time it takes for the A-to-B packet to propagate along the R1-to-B link is 𝑧.Thus, the total packet delay is 21𝑥 + 𝑧.Note that we don’t need to consider the delay on the A-to-R1 link, because we already counted that time in the 21𝑥 term (i.e. the packet was sent from A to R1 while R1 was clearing out it’s the first packet in its queue).</a:t>
            </a:r>
          </a:p>
          <a:p>
            <a:r>
              <a:rPr lang="en-US" sz="1600" dirty="0"/>
              <a:t>7) What is the maximum number of packets that can be queued at R1, such that when the last byte of the A-to-B packet reaches R1, there is no queue at R1?Don’t worry about fractions and rounding (e.g. assume 𝑥, 𝑦, and 𝑧 are defined such that all results of division are integers).</a:t>
            </a:r>
          </a:p>
          <a:p>
            <a:r>
              <a:rPr lang="en-US" sz="1600" dirty="0"/>
              <a:t>ANS: (x + z)/x. The time it takes to send the packet from A to R1 is 𝑥 + 𝑧.R1 needs 𝑥 seconds to send out each </a:t>
            </a:r>
            <a:r>
              <a:rPr lang="en-US" sz="1600" dirty="0" err="1"/>
              <a:t>packet.Therefore</a:t>
            </a:r>
            <a:r>
              <a:rPr lang="en-US" sz="1600" dirty="0"/>
              <a:t>, in 𝑥 + 𝑧 seconds, R1 is able to send out 𝑥+𝑧𝑥 packets. Therefore, R1 can have at most 𝑥+𝑧𝑥 packets in its queue, and all of those packets will be sent outby the time the last byte of the A-to-B packet reaches R1.</a:t>
            </a:r>
          </a:p>
          <a:p>
            <a:pPr marL="114300" indent="0">
              <a:buNone/>
            </a:pPr>
            <a:endParaRPr lang="en-US" sz="1600" dirty="0"/>
          </a:p>
        </p:txBody>
      </p:sp>
      <mc:AlternateContent xmlns:mc="http://schemas.openxmlformats.org/markup-compatibility/2006" xmlns:p14="http://schemas.microsoft.com/office/powerpoint/2010/main">
        <mc:Choice Requires="p14">
          <p:contentPart p14:bwMode="auto" r:id="rId2">
            <p14:nvContentPartPr>
              <p14:cNvPr id="8" name="Ink 7">
                <a:extLst>
                  <a:ext uri="{FF2B5EF4-FFF2-40B4-BE49-F238E27FC236}">
                    <a16:creationId xmlns:a16="http://schemas.microsoft.com/office/drawing/2014/main" id="{DD5A0203-39AB-548B-13EB-76791FC4913A}"/>
                  </a:ext>
                </a:extLst>
              </p14:cNvPr>
              <p14:cNvContentPartPr/>
              <p14:nvPr/>
            </p14:nvContentPartPr>
            <p14:xfrm>
              <a:off x="2394024" y="1900753"/>
              <a:ext cx="270" cy="270"/>
            </p14:xfrm>
          </p:contentPart>
        </mc:Choice>
        <mc:Fallback xmlns="">
          <p:pic>
            <p:nvPicPr>
              <p:cNvPr id="8" name="Ink 7">
                <a:extLst>
                  <a:ext uri="{FF2B5EF4-FFF2-40B4-BE49-F238E27FC236}">
                    <a16:creationId xmlns:a16="http://schemas.microsoft.com/office/drawing/2014/main" id="{BF9B16F1-26FB-0E56-FA0A-E1AE729E92E6}"/>
                  </a:ext>
                </a:extLst>
              </p:cNvPr>
              <p:cNvPicPr/>
              <p:nvPr/>
            </p:nvPicPr>
            <p:blipFill>
              <a:blip r:embed="rId4"/>
              <a:stretch>
                <a:fillRect/>
              </a:stretch>
            </p:blipFill>
            <p:spPr>
              <a:xfrm>
                <a:off x="2387274" y="1894003"/>
                <a:ext cx="13500" cy="135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45C1376A-19A6-01D9-B8CC-B73AC60506EE}"/>
                  </a:ext>
                </a:extLst>
              </p14:cNvPr>
              <p14:cNvContentPartPr/>
              <p14:nvPr/>
            </p14:nvContentPartPr>
            <p14:xfrm>
              <a:off x="1142574" y="1551373"/>
              <a:ext cx="270" cy="270"/>
            </p14:xfrm>
          </p:contentPart>
        </mc:Choice>
        <mc:Fallback xmlns="">
          <p:pic>
            <p:nvPicPr>
              <p:cNvPr id="9" name="Ink 8">
                <a:extLst>
                  <a:ext uri="{FF2B5EF4-FFF2-40B4-BE49-F238E27FC236}">
                    <a16:creationId xmlns:a16="http://schemas.microsoft.com/office/drawing/2014/main" id="{BC90F249-0F8D-8A72-C826-5B5928532520}"/>
                  </a:ext>
                </a:extLst>
              </p:cNvPr>
              <p:cNvPicPr/>
              <p:nvPr/>
            </p:nvPicPr>
            <p:blipFill>
              <a:blip r:embed="rId4"/>
              <a:stretch>
                <a:fillRect/>
              </a:stretch>
            </p:blipFill>
            <p:spPr>
              <a:xfrm>
                <a:off x="1135824" y="1544623"/>
                <a:ext cx="13500" cy="13500"/>
              </a:xfrm>
              <a:prstGeom prst="rect">
                <a:avLst/>
              </a:prstGeom>
            </p:spPr>
          </p:pic>
        </mc:Fallback>
      </mc:AlternateContent>
      <p:sp>
        <p:nvSpPr>
          <p:cNvPr id="12" name="AutoShape 4">
            <a:extLst>
              <a:ext uri="{FF2B5EF4-FFF2-40B4-BE49-F238E27FC236}">
                <a16:creationId xmlns:a16="http://schemas.microsoft.com/office/drawing/2014/main" id="{FE0AB9DE-032B-FEB1-7919-5866291B0A49}"/>
              </a:ext>
            </a:extLst>
          </p:cNvPr>
          <p:cNvSpPr>
            <a:spLocks noChangeAspect="1" noChangeArrowheads="1"/>
          </p:cNvSpPr>
          <p:nvPr/>
        </p:nvSpPr>
        <p:spPr bwMode="auto">
          <a:xfrm>
            <a:off x="3239691" y="1325166"/>
            <a:ext cx="2664619" cy="249316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050"/>
          </a:p>
        </p:txBody>
      </p:sp>
      <p:pic>
        <p:nvPicPr>
          <p:cNvPr id="5" name="Picture 4">
            <a:extLst>
              <a:ext uri="{FF2B5EF4-FFF2-40B4-BE49-F238E27FC236}">
                <a16:creationId xmlns:a16="http://schemas.microsoft.com/office/drawing/2014/main" id="{FD6888DE-161F-35F1-5EF9-C9875C200BAA}"/>
              </a:ext>
            </a:extLst>
          </p:cNvPr>
          <p:cNvPicPr>
            <a:picLocks noChangeAspect="1"/>
          </p:cNvPicPr>
          <p:nvPr/>
        </p:nvPicPr>
        <p:blipFill>
          <a:blip r:embed="rId6"/>
          <a:srcRect/>
          <a:stretch/>
        </p:blipFill>
        <p:spPr>
          <a:xfrm>
            <a:off x="4210647" y="-24189"/>
            <a:ext cx="4761465" cy="1397075"/>
          </a:xfrm>
          <a:prstGeom prst="rect">
            <a:avLst/>
          </a:prstGeom>
        </p:spPr>
      </p:pic>
      <p:sp>
        <p:nvSpPr>
          <p:cNvPr id="4" name="Slide Number Placeholder 3">
            <a:extLst>
              <a:ext uri="{FF2B5EF4-FFF2-40B4-BE49-F238E27FC236}">
                <a16:creationId xmlns:a16="http://schemas.microsoft.com/office/drawing/2014/main" id="{C3F30F5D-428A-5923-785A-05CCD424315E}"/>
              </a:ext>
            </a:extLst>
          </p:cNvPr>
          <p:cNvSpPr>
            <a:spLocks noGrp="1"/>
          </p:cNvSpPr>
          <p:nvPr>
            <p:ph type="sldNum" sz="quarter" idx="4"/>
          </p:nvPr>
        </p:nvSpPr>
        <p:spPr/>
        <p:txBody>
          <a:bodyPr/>
          <a:lstStyle/>
          <a:p>
            <a:fld id="{C4204591-24BD-A542-B9D5-F8D8A88D2FEE}" type="slidenum">
              <a:rPr lang="en-US" smtClean="0"/>
              <a:pPr/>
              <a:t>16</a:t>
            </a:fld>
            <a:endParaRPr lang="en-US" dirty="0"/>
          </a:p>
        </p:txBody>
      </p:sp>
    </p:spTree>
    <p:extLst>
      <p:ext uri="{BB962C8B-B14F-4D97-AF65-F5344CB8AC3E}">
        <p14:creationId xmlns:p14="http://schemas.microsoft.com/office/powerpoint/2010/main" val="623579125"/>
      </p:ext>
    </p:extLst>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151</TotalTime>
  <Words>2768</Words>
  <Application>Microsoft Office PowerPoint</Application>
  <PresentationFormat>On-screen Show (16:9)</PresentationFormat>
  <Paragraphs>162</Paragraphs>
  <Slides>16</Slides>
  <Notes>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vt:i4>
      </vt:variant>
    </vt:vector>
  </HeadingPairs>
  <TitlesOfParts>
    <vt:vector size="25" baseType="lpstr">
      <vt:lpstr>Wingdings</vt:lpstr>
      <vt:lpstr>Cambria Math</vt:lpstr>
      <vt:lpstr>ＭＳ Ｐゴシック</vt:lpstr>
      <vt:lpstr>Roboto Light</vt:lpstr>
      <vt:lpstr>Roboto</vt:lpstr>
      <vt:lpstr>Arial</vt:lpstr>
      <vt:lpstr>Roboto Medium</vt:lpstr>
      <vt:lpstr>Calibri</vt:lpstr>
      <vt:lpstr>Simple Lecture</vt:lpstr>
      <vt:lpstr>Bandwidth and Propagation Delay Exercises ANS</vt:lpstr>
      <vt:lpstr>Packet delay: four sources</vt:lpstr>
      <vt:lpstr>Q1 End-­to­‐end delay </vt:lpstr>
      <vt:lpstr>Q1 End-­to­‐end delay ANS </vt:lpstr>
      <vt:lpstr>Q2 End-­to­‐end delay </vt:lpstr>
      <vt:lpstr>Q1 End-­to­‐end delay ANS </vt:lpstr>
      <vt:lpstr>Q3 End-­to­‐end delay </vt:lpstr>
      <vt:lpstr>Q3 End-­to­‐end delay ANS </vt:lpstr>
      <vt:lpstr>Q4 End-­to­‐end delay </vt:lpstr>
      <vt:lpstr>Q4 End-­to­‐end delay ANS</vt:lpstr>
      <vt:lpstr>Q5 Transmission delay</vt:lpstr>
      <vt:lpstr>Q5 Transmission delay ANS</vt:lpstr>
      <vt:lpstr>Q5.1 Pipe Diagram</vt:lpstr>
      <vt:lpstr>Q5.1 Pipe Diagram ANS</vt:lpstr>
      <vt:lpstr>Q5.2 Pipe Diagram</vt:lpstr>
      <vt:lpstr>Q5.2 Pipe Diagram 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Zonghua Gu</dc:creator>
  <cp:lastModifiedBy>Zonghua Gu</cp:lastModifiedBy>
  <cp:revision>3</cp:revision>
  <dcterms:modified xsi:type="dcterms:W3CDTF">2026-02-01T03:14:39Z</dcterms:modified>
</cp:coreProperties>
</file>