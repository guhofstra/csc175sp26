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4.xml" ContentType="application/vnd.openxmlformats-officedocument.presentationml.notesSlide+xml"/>
  <Override PartName="/ppt/ink/ink9.xml" ContentType="application/inkml+xml"/>
  <Override PartName="/ppt/ink/ink10.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9"/>
  </p:notesMasterIdLst>
  <p:sldIdLst>
    <p:sldId id="257" r:id="rId2"/>
    <p:sldId id="1004" r:id="rId3"/>
    <p:sldId id="1263" r:id="rId4"/>
    <p:sldId id="1259" r:id="rId5"/>
    <p:sldId id="1267" r:id="rId6"/>
    <p:sldId id="1269" r:id="rId7"/>
    <p:sldId id="1272" r:id="rId8"/>
  </p:sldIdLst>
  <p:sldSz cx="9144000" cy="5143500" type="screen16x9"/>
  <p:notesSz cx="6858000" cy="9144000"/>
  <p:embeddedFontLst>
    <p:embeddedFont>
      <p:font typeface="ＭＳ Ｐゴシック" panose="020B0600070205080204" pitchFamily="34" charset="-128"/>
      <p:regular r:id="rId10"/>
    </p:embeddedFont>
    <p:embeddedFont>
      <p:font typeface="Cambria Math" panose="02040503050406030204" pitchFamily="18" charset="0"/>
      <p:regular r:id="rId11"/>
    </p:embeddedFont>
    <p:embeddedFont>
      <p:font typeface="Roboto" panose="02000000000000000000" pitchFamily="2" charset="0"/>
      <p:regular r:id="rId12"/>
      <p:bold r:id="rId13"/>
      <p:italic r:id="rId14"/>
      <p:boldItalic r:id="rId15"/>
    </p:embeddedFont>
    <p:embeddedFont>
      <p:font typeface="Roboto Light" panose="02000000000000000000" pitchFamily="2" charset="0"/>
      <p:regular r:id="rId16"/>
      <p:bold r:id="rId17"/>
      <p:italic r:id="rId18"/>
      <p:boldItalic r:id="rId19"/>
    </p:embeddedFont>
    <p:embeddedFont>
      <p:font typeface="Roboto Medium" panose="020000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2092" autoAdjust="0"/>
  </p:normalViewPr>
  <p:slideViewPr>
    <p:cSldViewPr snapToGrid="0">
      <p:cViewPr varScale="1">
        <p:scale>
          <a:sx n="89" d="100"/>
          <a:sy n="89" d="100"/>
        </p:scale>
        <p:origin x="1282" y="77"/>
      </p:cViewPr>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28" Type="http://schemas.microsoft.com/office/2016/11/relationships/changesInfo" Target="changesInfos/changesInfo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delSld">
      <pc:chgData name="Zonghua Gu" userId="9a7e1853e1951ef5" providerId="LiveId" clId="{CF1FAA12-072C-4ED5-BA76-0FFFAEFDB88A}" dt="2026-01-30T04:44:54.808" v="4" actId="47"/>
      <pc:docMkLst>
        <pc:docMk/>
      </pc:docMkLst>
      <pc:sldChg chg="del">
        <pc:chgData name="Zonghua Gu" userId="9a7e1853e1951ef5" providerId="LiveId" clId="{CF1FAA12-072C-4ED5-BA76-0FFFAEFDB88A}" dt="2026-01-30T04:44:51.083" v="1" actId="47"/>
        <pc:sldMkLst>
          <pc:docMk/>
          <pc:sldMk cId="547263288" sldId="1265"/>
        </pc:sldMkLst>
      </pc:sldChg>
      <pc:sldChg chg="del">
        <pc:chgData name="Zonghua Gu" userId="9a7e1853e1951ef5" providerId="LiveId" clId="{CF1FAA12-072C-4ED5-BA76-0FFFAEFDB88A}" dt="2026-01-30T04:44:48.443" v="0" actId="47"/>
        <pc:sldMkLst>
          <pc:docMk/>
          <pc:sldMk cId="1519989677" sldId="1266"/>
        </pc:sldMkLst>
      </pc:sldChg>
      <pc:sldChg chg="del">
        <pc:chgData name="Zonghua Gu" userId="9a7e1853e1951ef5" providerId="LiveId" clId="{CF1FAA12-072C-4ED5-BA76-0FFFAEFDB88A}" dt="2026-01-30T04:44:52.123" v="2" actId="47"/>
        <pc:sldMkLst>
          <pc:docMk/>
          <pc:sldMk cId="1696198607" sldId="1268"/>
        </pc:sldMkLst>
      </pc:sldChg>
      <pc:sldChg chg="del">
        <pc:chgData name="Zonghua Gu" userId="9a7e1853e1951ef5" providerId="LiveId" clId="{CF1FAA12-072C-4ED5-BA76-0FFFAEFDB88A}" dt="2026-01-30T04:44:53.069" v="3" actId="47"/>
        <pc:sldMkLst>
          <pc:docMk/>
          <pc:sldMk cId="2472874222" sldId="1270"/>
        </pc:sldMkLst>
      </pc:sldChg>
      <pc:sldChg chg="del">
        <pc:chgData name="Zonghua Gu" userId="9a7e1853e1951ef5" providerId="LiveId" clId="{CF1FAA12-072C-4ED5-BA76-0FFFAEFDB88A}" dt="2026-01-30T04:44:54.808" v="4" actId="47"/>
        <pc:sldMkLst>
          <pc:docMk/>
          <pc:sldMk cId="2647804915" sldId="1273"/>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5.33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6.29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7.146"/>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21T23:16:08.010"/>
    </inkml:context>
    <inkml:brush xml:id="br0">
      <inkml:brushProperty name="width" value="0.05" units="cm"/>
      <inkml:brushProperty name="height" value="0.05" units="cm"/>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efe69fe1a6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efe69fe1a6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here's the outline we're going</a:t>
            </a:r>
            <a:endParaRPr/>
          </a:p>
          <a:p>
            <a:pPr marL="0" lvl="0" indent="0" algn="l" rtl="0">
              <a:spcBef>
                <a:spcPts val="0"/>
              </a:spcBef>
              <a:spcAft>
                <a:spcPts val="0"/>
              </a:spcAft>
              <a:buNone/>
            </a:pPr>
            <a:r>
              <a:rPr lang="en"/>
              <a:t>38:16</a:t>
            </a:r>
            <a:endParaRPr/>
          </a:p>
          <a:p>
            <a:pPr marL="0" lvl="0" indent="0" algn="l" rtl="0">
              <a:spcBef>
                <a:spcPts val="0"/>
              </a:spcBef>
              <a:spcAft>
                <a:spcPts val="0"/>
              </a:spcAft>
              <a:buNone/>
            </a:pPr>
            <a:r>
              <a:rPr lang="en"/>
              <a:t>to start by talking about links in a lot of detail think about how you measure the performance of links what makes a</a:t>
            </a:r>
            <a:endParaRPr/>
          </a:p>
          <a:p>
            <a:pPr marL="0" lvl="0" indent="0" algn="l" rtl="0">
              <a:spcBef>
                <a:spcPts val="0"/>
              </a:spcBef>
              <a:spcAft>
                <a:spcPts val="0"/>
              </a:spcAft>
              <a:buNone/>
            </a:pPr>
            <a:r>
              <a:rPr lang="en"/>
              <a:t>38:21</a:t>
            </a:r>
            <a:endParaRPr/>
          </a:p>
          <a:p>
            <a:pPr marL="0" lvl="0" indent="0" algn="l" rtl="0">
              <a:spcBef>
                <a:spcPts val="0"/>
              </a:spcBef>
              <a:spcAft>
                <a:spcPts val="0"/>
              </a:spcAft>
              <a:buNone/>
            </a:pPr>
            <a:r>
              <a:rPr lang="en"/>
              <a:t>link good what makes a link bad what are the trade-offs we'll talk about what happens if links get overloaded and then</a:t>
            </a:r>
            <a:endParaRPr/>
          </a:p>
          <a:p>
            <a:pPr marL="0" lvl="0" indent="0" algn="l" rtl="0">
              <a:spcBef>
                <a:spcPts val="0"/>
              </a:spcBef>
              <a:spcAft>
                <a:spcPts val="0"/>
              </a:spcAft>
              <a:buNone/>
            </a:pPr>
            <a:r>
              <a:rPr lang="en"/>
              <a:t>38:27</a:t>
            </a:r>
            <a:endParaRPr/>
          </a:p>
          <a:p>
            <a:pPr marL="0" lvl="0" indent="0" algn="l" rtl="0">
              <a:spcBef>
                <a:spcPts val="0"/>
              </a:spcBef>
              <a:spcAft>
                <a:spcPts val="0"/>
              </a:spcAft>
              <a:buNone/>
            </a:pPr>
            <a:r>
              <a:rPr lang="en"/>
              <a:t>the very end now that we finished all of the introduction I can actually give you a preview of all the topics you're going</a:t>
            </a:r>
            <a:endParaRPr/>
          </a:p>
          <a:p>
            <a:pPr marL="0" lvl="0" indent="0" algn="l" rtl="0">
              <a:spcBef>
                <a:spcPts val="0"/>
              </a:spcBef>
              <a:spcAft>
                <a:spcPts val="0"/>
              </a:spcAft>
              <a:buNone/>
            </a:pPr>
            <a:r>
              <a:rPr lang="en"/>
              <a:t>38:33</a:t>
            </a:r>
            <a:endParaRPr/>
          </a:p>
          <a:p>
            <a:pPr marL="0" lvl="0" indent="0" algn="l" rtl="0">
              <a:spcBef>
                <a:spcPts val="0"/>
              </a:spcBef>
              <a:spcAft>
                <a:spcPts val="0"/>
              </a:spcAft>
              <a:buNone/>
            </a:pPr>
            <a:r>
              <a:rPr lang="en"/>
              <a:t>to see in a lot more detail so these three sets of lectures have really been about giving you a highlevel 10,000 foot</a:t>
            </a:r>
            <a:endParaRPr/>
          </a:p>
          <a:p>
            <a:pPr marL="0" lvl="0" indent="0" algn="l" rtl="0">
              <a:spcBef>
                <a:spcPts val="0"/>
              </a:spcBef>
              <a:spcAft>
                <a:spcPts val="0"/>
              </a:spcAft>
              <a:buNone/>
            </a:pPr>
            <a:r>
              <a:rPr lang="en"/>
              <a:t>38:39</a:t>
            </a:r>
            <a:endParaRPr/>
          </a:p>
          <a:p>
            <a:pPr marL="0" lvl="0" indent="0" algn="l" rtl="0">
              <a:spcBef>
                <a:spcPts val="0"/>
              </a:spcBef>
              <a:spcAft>
                <a:spcPts val="0"/>
              </a:spcAft>
              <a:buNone/>
            </a:pPr>
            <a:r>
              <a:rPr lang="en"/>
              <a:t>picture of what you're going to see this semester and then at the very end I'll show you the exact places where we'll be</a:t>
            </a:r>
            <a:endParaRPr/>
          </a:p>
          <a:p>
            <a:pPr marL="0" lvl="0" indent="0" algn="l" rtl="0">
              <a:spcBef>
                <a:spcPts val="0"/>
              </a:spcBef>
              <a:spcAft>
                <a:spcPts val="0"/>
              </a:spcAft>
              <a:buNone/>
            </a:pPr>
            <a:r>
              <a:rPr lang="en"/>
              <a:t>38:45</a:t>
            </a:r>
            <a:endParaRPr/>
          </a:p>
          <a:p>
            <a:pPr marL="0" lvl="0" indent="0" algn="l" rtl="0">
              <a:spcBef>
                <a:spcPts val="0"/>
              </a:spcBef>
              <a:spcAft>
                <a:spcPts val="0"/>
              </a:spcAft>
              <a:buNone/>
            </a:pPr>
            <a:r>
              <a:rPr lang="en"/>
              <a:t>really diving in and talking about things in lots more detail but before we get there let's not get ahead of</a:t>
            </a:r>
            <a:endParaRPr/>
          </a:p>
          <a:p>
            <a:pPr marL="0" lvl="0" indent="0" algn="l" rtl="0">
              <a:spcBef>
                <a:spcPts val="0"/>
              </a:spcBef>
              <a:spcAft>
                <a:spcPts val="0"/>
              </a:spcAft>
              <a:buNone/>
            </a:pPr>
            <a:r>
              <a:rPr lang="en"/>
              <a:t>38:50</a:t>
            </a:r>
            <a:endParaRPr/>
          </a:p>
          <a:p>
            <a:pPr marL="0" lvl="0" indent="0" algn="l" rtl="0">
              <a:spcBef>
                <a:spcPts val="0"/>
              </a:spcBef>
              <a:spcAft>
                <a:spcPts val="0"/>
              </a:spcAft>
              <a:buNone/>
            </a:pPr>
            <a:r>
              <a:rPr lang="en"/>
              <a:t>ourselves let's start with talking about links and how to measure their performanc</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64319" indent="-221456" defTabSz="685800">
              <a:spcBef>
                <a:spcPts val="450"/>
              </a:spcBef>
              <a:buNone/>
              <a:defRPr/>
            </a:pPr>
            <a:r>
              <a:rPr lang="en-US" sz="1400" i="1" dirty="0" err="1">
                <a:solidFill>
                  <a:srgbClr val="CC0000"/>
                </a:solidFill>
                <a:latin typeface="Calibri" panose="020F0502020204030204"/>
              </a:rPr>
              <a:t>d</a:t>
            </a:r>
            <a:r>
              <a:rPr lang="en-US" sz="1400" baseline="-25000" dirty="0" err="1">
                <a:solidFill>
                  <a:srgbClr val="CC0000"/>
                </a:solidFill>
                <a:latin typeface="Calibri" panose="020F0502020204030204"/>
              </a:rPr>
              <a:t>proc</a:t>
            </a:r>
            <a:r>
              <a:rPr lang="en-US" sz="1400" dirty="0">
                <a:solidFill>
                  <a:srgbClr val="CC0000"/>
                </a:solidFill>
                <a:latin typeface="Calibri" panose="020F0502020204030204"/>
              </a:rPr>
              <a:t>: nodal processing</a:t>
            </a:r>
            <a:r>
              <a:rPr lang="en-US" sz="1400" dirty="0">
                <a:solidFill>
                  <a:prstClr val="black"/>
                </a:solidFill>
                <a:latin typeface="Calibri" panose="020F0502020204030204"/>
              </a:rPr>
              <a:t> </a:t>
            </a:r>
          </a:p>
          <a:p>
            <a:pPr marL="261938" indent="-175022" defTabSz="685800">
              <a:spcBef>
                <a:spcPts val="450"/>
              </a:spcBef>
              <a:buFont typeface="Wingdings" charset="0"/>
              <a:buChar char="§"/>
              <a:defRPr/>
            </a:pPr>
            <a:r>
              <a:rPr lang="en-US" sz="1100" dirty="0">
                <a:solidFill>
                  <a:prstClr val="black"/>
                </a:solidFill>
                <a:latin typeface="Calibri" panose="020F0502020204030204"/>
              </a:rPr>
              <a:t>check bit errors</a:t>
            </a:r>
          </a:p>
          <a:p>
            <a:pPr marL="261938" indent="-175022" defTabSz="685800">
              <a:spcBef>
                <a:spcPts val="450"/>
              </a:spcBef>
              <a:buFont typeface="Wingdings" charset="0"/>
              <a:buChar char="§"/>
              <a:defRPr/>
            </a:pPr>
            <a:r>
              <a:rPr lang="en-US" sz="1100" dirty="0">
                <a:solidFill>
                  <a:prstClr val="black"/>
                </a:solidFill>
                <a:latin typeface="Calibri" panose="020F0502020204030204"/>
              </a:rPr>
              <a:t>determine output link</a:t>
            </a:r>
            <a:r>
              <a:rPr kumimoji="0" lang="en-US" sz="1100" b="0" i="0" u="none" strike="noStrike" kern="1200" cap="none" spc="0" normalizeH="0" baseline="0" noProof="0" dirty="0">
                <a:ln>
                  <a:noFill/>
                </a:ln>
                <a:solidFill>
                  <a:srgbClr val="CC0000"/>
                </a:solidFill>
                <a:effectLst/>
                <a:uLnTx/>
                <a:uFillTx/>
                <a:latin typeface="Calibri" panose="020F0502020204030204"/>
                <a:ea typeface="Arial"/>
                <a:cs typeface="Arial"/>
                <a:sym typeface="Arial"/>
              </a:rPr>
              <a:t>nodal processing</a:t>
            </a:r>
            <a:r>
              <a:rPr kumimoji="0" lang="en-US" sz="1100" b="0" i="0" u="none" strike="noStrike" kern="1200" cap="none" spc="0" normalizeH="0" baseline="0" noProof="0" dirty="0">
                <a:ln>
                  <a:noFill/>
                </a:ln>
                <a:solidFill>
                  <a:prstClr val="black"/>
                </a:solidFill>
                <a:effectLst/>
                <a:uLnTx/>
                <a:uFillTx/>
                <a:latin typeface="Calibri" panose="020F0502020204030204"/>
                <a:ea typeface="Arial"/>
                <a:cs typeface="Arial"/>
                <a:sym typeface="Arial"/>
              </a:rPr>
              <a:t> </a:t>
            </a:r>
            <a:endParaRPr lang="en-US" sz="1100" dirty="0">
              <a:solidFill>
                <a:prstClr val="black"/>
              </a:solidFill>
              <a:latin typeface="Calibri" panose="020F0502020204030204"/>
            </a:endParaRPr>
          </a:p>
          <a:p>
            <a:pPr marL="261938" indent="-175022" defTabSz="685800">
              <a:spcBef>
                <a:spcPts val="450"/>
              </a:spcBef>
              <a:buFont typeface="Wingdings" charset="0"/>
              <a:buChar char="§"/>
              <a:defRPr/>
            </a:pPr>
            <a:r>
              <a:rPr lang="en-US" sz="1100" dirty="0">
                <a:solidFill>
                  <a:prstClr val="black"/>
                </a:solidFill>
                <a:latin typeface="Calibri" panose="020F0502020204030204"/>
              </a:rPr>
              <a:t>typically &lt; microsecs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1750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Each link has transmission delay 1000 bits/1 Mbps = 1ms. So each link has total delay of transmission + propagation = 1+1=2 </a:t>
            </a:r>
            <a:r>
              <a:rPr lang="en-US" dirty="0" err="1"/>
              <a:t>ms.</a:t>
            </a:r>
            <a:endParaRPr lang="en-US" dirty="0"/>
          </a:p>
          <a:p>
            <a:r>
              <a:rPr lang="en-US" dirty="0"/>
              <a:t>For the three links, the total delay = 2 + 2 + 2 = 6 </a:t>
            </a:r>
            <a:r>
              <a:rPr lang="en-US" dirty="0" err="1"/>
              <a:t>ms.</a:t>
            </a:r>
            <a:r>
              <a:rPr lang="en-US" dirty="0"/>
              <a:t> `</a:t>
            </a:r>
          </a:p>
          <a:p>
            <a:endParaRPr lang="en-US" dirty="0"/>
          </a:p>
        </p:txBody>
      </p:sp>
    </p:spTree>
    <p:extLst>
      <p:ext uri="{BB962C8B-B14F-4D97-AF65-F5344CB8AC3E}">
        <p14:creationId xmlns:p14="http://schemas.microsoft.com/office/powerpoint/2010/main" val="1031469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1" i="0" u="none" strike="noStrike" cap="none" dirty="0">
                <a:solidFill>
                  <a:srgbClr val="000000"/>
                </a:solidFill>
                <a:effectLst/>
                <a:latin typeface="Arial"/>
                <a:ea typeface="Arial"/>
                <a:cs typeface="Arial"/>
                <a:sym typeface="Arial"/>
              </a:rPr>
              <a:t>Computer Networks 14 | Delay in Computer Network | CS &amp; IT | GATE Crash Course</a:t>
            </a:r>
          </a:p>
          <a:p>
            <a:r>
              <a:rPr lang="en-US" dirty="0"/>
              <a:t>https://www.youtube.com/watch?v=vXyNFzq7Ixc&amp;list=PL3eEXnCBViH-hlNCNwdfV7VrEcTquANGa&amp;index=15</a:t>
            </a:r>
          </a:p>
        </p:txBody>
      </p:sp>
    </p:spTree>
    <p:extLst>
      <p:ext uri="{BB962C8B-B14F-4D97-AF65-F5344CB8AC3E}">
        <p14:creationId xmlns:p14="http://schemas.microsoft.com/office/powerpoint/2010/main" val="2467986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3"/>
          <p:cNvSpPr txBox="1">
            <a:spLocks noGrp="1"/>
          </p:cNvSpPr>
          <p:nvPr>
            <p:ph type="subTitle" idx="1"/>
          </p:nvPr>
        </p:nvSpPr>
        <p:spPr>
          <a:xfrm>
            <a:off x="311700" y="2834125"/>
            <a:ext cx="8520600" cy="15363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Roadmap">
  <p:cSld name="SECTION_TITLE_AND_DESCRIPTION_1">
    <p:spTree>
      <p:nvGrpSpPr>
        <p:cNvPr id="1"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5" name="Google Shape;25;p5"/>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marL="914400" lvl="1"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marL="1371600" lvl="2"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marL="1828800" lvl="3"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marL="2286000" lvl="4"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marL="2743200" lvl="5"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marL="3200400" lvl="6"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marL="3657600" lvl="7"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marL="4114800" lvl="8" indent="-3429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a:endParaRPr/>
          </a:p>
        </p:txBody>
      </p:sp>
      <p:sp>
        <p:nvSpPr>
          <p:cNvPr id="26" name="Google Shape;26;p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cxnSp>
        <p:nvCxnSpPr>
          <p:cNvPr id="27" name="Google Shape;27;p5"/>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28" name="Google Shape;28;p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6"/>
          <p:cNvSpPr txBox="1">
            <a:spLocks noGrp="1"/>
          </p:cNvSpPr>
          <p:nvPr>
            <p:ph type="subTitle" idx="1"/>
          </p:nvPr>
        </p:nvSpPr>
        <p:spPr>
          <a:xfrm>
            <a:off x="4835400" y="4198275"/>
            <a:ext cx="4045200" cy="465000"/>
          </a:xfrm>
          <a:prstGeom prst="rect">
            <a:avLst/>
          </a:prstGeom>
        </p:spPr>
        <p:txBody>
          <a:bodyPr spcFirstLastPara="1" wrap="square" lIns="91425" tIns="91425" rIns="91425" bIns="91425" anchor="t" anchorCtr="0">
            <a:noAutofit/>
          </a:bodyPr>
          <a:lstStyle>
            <a:lvl1pPr lvl="0" algn="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34" name="Google Shape;34;p6"/>
          <p:cNvSpPr txBox="1">
            <a:spLocks noGrp="1"/>
          </p:cNvSpPr>
          <p:nvPr>
            <p:ph type="body" idx="2"/>
          </p:nvPr>
        </p:nvSpPr>
        <p:spPr>
          <a:xfrm>
            <a:off x="95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35" name="Google Shape;35;p6"/>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36" name="Google Shape;36;p6"/>
          <p:cNvCxnSpPr/>
          <p:nvPr/>
        </p:nvCxnSpPr>
        <p:spPr>
          <a:xfrm>
            <a:off x="95431" y="402210"/>
            <a:ext cx="43521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subTitle" idx="1"/>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0" name="Google Shape;40;p7"/>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 Slides</a:t>
            </a:r>
            <a:endParaRPr sz="2500" b="1">
              <a:solidFill>
                <a:schemeClr val="accent3"/>
              </a:solidFill>
              <a:latin typeface="Roboto"/>
              <a:ea typeface="Roboto"/>
              <a:cs typeface="Roboto"/>
              <a:sym typeface="Roboto"/>
            </a:endParaRPr>
          </a:p>
        </p:txBody>
      </p:sp>
      <p:sp>
        <p:nvSpPr>
          <p:cNvPr id="41" name="Google Shape;41;p7"/>
          <p:cNvSpPr txBox="1">
            <a:spLocks noGrp="1"/>
          </p:cNvSpPr>
          <p:nvPr>
            <p:ph type="body" idx="2"/>
          </p:nvPr>
        </p:nvSpPr>
        <p:spPr>
          <a:xfrm>
            <a:off x="4667425" y="402200"/>
            <a:ext cx="43023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42" name="Google Shape;42;p7"/>
          <p:cNvSpPr txBox="1">
            <a:spLocks noGrp="1"/>
          </p:cNvSpPr>
          <p:nvPr>
            <p:ph type="title"/>
          </p:nvPr>
        </p:nvSpPr>
        <p:spPr>
          <a:xfrm>
            <a:off x="4572000" y="0"/>
            <a:ext cx="4572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43" name="Google Shape;43;p7"/>
          <p:cNvCxnSpPr/>
          <p:nvPr/>
        </p:nvCxnSpPr>
        <p:spPr>
          <a:xfrm>
            <a:off x="4667431" y="402210"/>
            <a:ext cx="4352100" cy="0"/>
          </a:xfrm>
          <a:prstGeom prst="straightConnector1">
            <a:avLst/>
          </a:prstGeom>
          <a:noFill/>
          <a:ln w="19050" cap="flat" cmpd="sng">
            <a:solidFill>
              <a:srgbClr val="BF9000"/>
            </a:solidFill>
            <a:prstDash val="solid"/>
            <a:round/>
            <a:headEnd type="none" w="med" len="med"/>
            <a:tailEnd type="none" w="med" len="med"/>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8"/>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49" name="Google Shape;49;p8"/>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0" name="Google Shape;50;p8"/>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51" name="Google Shape;51;p8"/>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Demo</a:t>
            </a:r>
            <a:endParaRPr sz="2500" b="1">
              <a:solidFill>
                <a:schemeClr val="accent3"/>
              </a:solidFill>
              <a:latin typeface="Roboto"/>
              <a:ea typeface="Roboto"/>
              <a:cs typeface="Roboto"/>
              <a:sym typeface="Robot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9"/>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58" name="Google Shape;58;p9"/>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Compare</a:t>
            </a:r>
            <a:endParaRPr sz="2500" b="1">
              <a:solidFill>
                <a:schemeClr val="accent3"/>
              </a:solidFill>
              <a:latin typeface="Roboto"/>
              <a:ea typeface="Roboto"/>
              <a:cs typeface="Roboto"/>
              <a:sym typeface="Roboto"/>
            </a:endParaRPr>
          </a:p>
        </p:txBody>
      </p:sp>
      <p:sp>
        <p:nvSpPr>
          <p:cNvPr id="59" name="Google Shape;59;p9"/>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0" name="Google Shape;60;p9"/>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61" name="Google Shape;61;p9"/>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10"/>
          <p:cNvSpPr txBox="1">
            <a:spLocks noGrp="1"/>
          </p:cNvSpPr>
          <p:nvPr>
            <p:ph type="subTitle" idx="1"/>
          </p:nvPr>
        </p:nvSpPr>
        <p:spPr>
          <a:xfrm>
            <a:off x="225450" y="3943400"/>
            <a:ext cx="2450400" cy="7197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67" name="Google Shape;67;p10"/>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solidFill>
                  <a:schemeClr val="accent3"/>
                </a:solidFill>
                <a:latin typeface="Roboto"/>
                <a:ea typeface="Roboto"/>
                <a:cs typeface="Roboto"/>
                <a:sym typeface="Roboto"/>
              </a:rPr>
              <a:t>Solution</a:t>
            </a:r>
            <a:endParaRPr sz="2500" b="1">
              <a:solidFill>
                <a:schemeClr val="accent3"/>
              </a:solidFill>
              <a:latin typeface="Roboto"/>
              <a:ea typeface="Roboto"/>
              <a:cs typeface="Roboto"/>
              <a:sym typeface="Roboto"/>
            </a:endParaRPr>
          </a:p>
        </p:txBody>
      </p:sp>
      <p:sp>
        <p:nvSpPr>
          <p:cNvPr id="68" name="Google Shape;68;p10"/>
          <p:cNvSpPr txBox="1">
            <a:spLocks noGrp="1"/>
          </p:cNvSpPr>
          <p:nvPr>
            <p:ph type="body" idx="2"/>
          </p:nvPr>
        </p:nvSpPr>
        <p:spPr>
          <a:xfrm>
            <a:off x="2937350" y="402200"/>
            <a:ext cx="6032400" cy="42612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9" name="Google Shape;69;p10"/>
          <p:cNvSpPr txBox="1">
            <a:spLocks noGrp="1"/>
          </p:cNvSpPr>
          <p:nvPr>
            <p:ph type="title"/>
          </p:nvPr>
        </p:nvSpPr>
        <p:spPr>
          <a:xfrm>
            <a:off x="2776500" y="0"/>
            <a:ext cx="63675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cxnSp>
        <p:nvCxnSpPr>
          <p:cNvPr id="70" name="Google Shape;70;p10"/>
          <p:cNvCxnSpPr/>
          <p:nvPr/>
        </p:nvCxnSpPr>
        <p:spPr>
          <a:xfrm>
            <a:off x="2937350" y="402200"/>
            <a:ext cx="6082200" cy="0"/>
          </a:xfrm>
          <a:prstGeom prst="straightConnector1">
            <a:avLst/>
          </a:prstGeom>
          <a:noFill/>
          <a:ln w="19050" cap="flat" cmpd="sng">
            <a:solidFill>
              <a:srgbClr val="BF9000"/>
            </a:solidFill>
            <a:prstDash val="solid"/>
            <a:round/>
            <a:headEnd type="none" w="med" len="med"/>
            <a:tailEnd type="none" w="med" len="med"/>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a:off x="0" y="0"/>
            <a:ext cx="9144000" cy="3936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11"/>
          <p:cNvSpPr txBox="1">
            <a:spLocks noGrp="1"/>
          </p:cNvSpPr>
          <p:nvPr>
            <p:ph type="body" idx="1"/>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6" name="Google Shape;7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w="19050" cap="flat" cmpd="sng">
            <a:solidFill>
              <a:srgbClr val="BF9000"/>
            </a:solidFill>
            <a:prstDash val="solid"/>
            <a:round/>
            <a:headEnd type="none" w="med" len="med"/>
            <a:tailEnd type="none" w="med" len="med"/>
          </a:ln>
        </p:spPr>
      </p:cxnSp>
      <p:sp>
        <p:nvSpPr>
          <p:cNvPr id="78" name="Google Shape;78;p11"/>
          <p:cNvSpPr txBox="1">
            <a:spLocks noGrp="1"/>
          </p:cNvSpPr>
          <p:nvPr>
            <p:ph type="body" idx="2"/>
          </p:nvPr>
        </p:nvSpPr>
        <p:spPr>
          <a:xfrm>
            <a:off x="9543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13"/>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85" name="Google Shape;85;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4"/>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89" name="Google Shape;89;p14"/>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90" name="Google Shape;90;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1" name="Google Shape;91;p14"/>
          <p:cNvSpPr txBox="1">
            <a:spLocks noGrp="1"/>
          </p:cNvSpPr>
          <p:nvPr>
            <p:ph type="body" idx="2"/>
          </p:nvPr>
        </p:nvSpPr>
        <p:spPr>
          <a:xfrm>
            <a:off x="4812381" y="402206"/>
            <a:ext cx="3999900" cy="34164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5"/>
          <p:cNvSpPr txBox="1">
            <a:spLocks noGrp="1"/>
          </p:cNvSpPr>
          <p:nvPr>
            <p:ph type="title"/>
          </p:nvPr>
        </p:nvSpPr>
        <p:spPr>
          <a:xfrm>
            <a:off x="95425" y="4288400"/>
            <a:ext cx="8658900" cy="7683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95" name="Google Shape;95;p15"/>
          <p:cNvCxnSpPr/>
          <p:nvPr/>
        </p:nvCxnSpPr>
        <p:spPr>
          <a:xfrm>
            <a:off x="168250" y="4288400"/>
            <a:ext cx="8757000" cy="0"/>
          </a:xfrm>
          <a:prstGeom prst="straightConnector1">
            <a:avLst/>
          </a:prstGeom>
          <a:noFill/>
          <a:ln w="19050" cap="flat" cmpd="sng">
            <a:solidFill>
              <a:srgbClr val="BF9000"/>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98"/>
        <p:cNvGrpSpPr/>
        <p:nvPr/>
      </p:nvGrpSpPr>
      <p:grpSpPr>
        <a:xfrm>
          <a:off x="0" y="0"/>
          <a:ext cx="0" cy="0"/>
          <a:chOff x="0" y="0"/>
          <a:chExt cx="0" cy="0"/>
        </a:xfrm>
      </p:grpSpPr>
      <p:sp>
        <p:nvSpPr>
          <p:cNvPr id="99" name="Google Shape;9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03" name="Google Shape;103;p18"/>
          <p:cNvSpPr txBox="1">
            <a:spLocks noGrp="1"/>
          </p:cNvSpPr>
          <p:nvPr>
            <p:ph type="body" idx="1"/>
          </p:nvPr>
        </p:nvSpPr>
        <p:spPr>
          <a:xfrm>
            <a:off x="4812375" y="402198"/>
            <a:ext cx="3999900" cy="42609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rtl="0">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rtl="0">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rtl="0">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rtl="0">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rtl="0">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rtl="0">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rtl="0">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rtl="0">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cxnSp>
        <p:nvCxnSpPr>
          <p:cNvPr id="106" name="Google Shape;106;p18"/>
          <p:cNvCxnSpPr/>
          <p:nvPr/>
        </p:nvCxnSpPr>
        <p:spPr>
          <a:xfrm>
            <a:off x="266975" y="4049175"/>
            <a:ext cx="4038000" cy="0"/>
          </a:xfrm>
          <a:prstGeom prst="straightConnector1">
            <a:avLst/>
          </a:prstGeom>
          <a:noFill/>
          <a:ln w="19050" cap="flat" cmpd="sng">
            <a:solidFill>
              <a:srgbClr val="BF9000"/>
            </a:solidFill>
            <a:prstDash val="solid"/>
            <a:round/>
            <a:headEnd type="none" w="med" len="med"/>
            <a:tailEnd type="none" w="med" len="med"/>
          </a:ln>
        </p:spPr>
      </p:cxnSp>
      <p:sp>
        <p:nvSpPr>
          <p:cNvPr id="107" name="Google Shape;107;p18"/>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111" name="Google Shape;111;p1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12" name="Google Shape;112;p1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3" name="Google Shape;113;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17" name="Google Shape;117;p20"/>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8" name="Google Shape;118;p20"/>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19" name="Google Shape;119;p20"/>
          <p:cNvSpPr txBox="1">
            <a:spLocks noGrp="1"/>
          </p:cNvSpPr>
          <p:nvPr>
            <p:ph type="title"/>
          </p:nvPr>
        </p:nvSpPr>
        <p:spPr>
          <a:xfrm>
            <a:off x="48829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21"/>
          <p:cNvSpPr txBox="1">
            <a:spLocks noGrp="1"/>
          </p:cNvSpPr>
          <p:nvPr>
            <p:ph type="body" idx="1"/>
          </p:nvPr>
        </p:nvSpPr>
        <p:spPr>
          <a:xfrm>
            <a:off x="48829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5" name="Google Shape;125;p21"/>
          <p:cNvSpPr txBox="1">
            <a:spLocks noGrp="1"/>
          </p:cNvSpPr>
          <p:nvPr>
            <p:ph type="body" idx="2"/>
          </p:nvPr>
        </p:nvSpPr>
        <p:spPr>
          <a:xfrm>
            <a:off x="310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26" name="Google Shape;126;p21"/>
          <p:cNvSpPr txBox="1">
            <a:spLocks noGrp="1"/>
          </p:cNvSpPr>
          <p:nvPr>
            <p:ph type="subTitle" idx="3"/>
          </p:nvPr>
        </p:nvSpPr>
        <p:spPr>
          <a:xfrm>
            <a:off x="225450" y="3943400"/>
            <a:ext cx="4045200" cy="465000"/>
          </a:xfrm>
          <a:prstGeom prst="rect">
            <a:avLst/>
          </a:prstGeom>
        </p:spPr>
        <p:txBody>
          <a:bodyPr spcFirstLastPara="1" wrap="square" lIns="91425" tIns="91425" rIns="91425" bIns="91425" anchor="t" anchorCtr="0">
            <a:noAutofit/>
          </a:bodyPr>
          <a:lstStyle>
            <a:lvl1pPr lvl="0" rtl="0">
              <a:lnSpc>
                <a:spcPct val="100000"/>
              </a:lnSpc>
              <a:spcBef>
                <a:spcPts val="600"/>
              </a:spcBef>
              <a:spcAft>
                <a:spcPts val="0"/>
              </a:spcAft>
              <a:buSzPts val="1800"/>
              <a:buNone/>
              <a:defRPr/>
            </a:lvl1pPr>
            <a:lvl2pPr lvl="1" algn="ctr" rtl="0">
              <a:lnSpc>
                <a:spcPct val="100000"/>
              </a:lnSpc>
              <a:spcBef>
                <a:spcPts val="600"/>
              </a:spcBef>
              <a:spcAft>
                <a:spcPts val="0"/>
              </a:spcAft>
              <a:buSzPts val="2100"/>
              <a:buNone/>
              <a:defRPr sz="2100"/>
            </a:lvl2pPr>
            <a:lvl3pPr lvl="2" algn="ctr" rtl="0">
              <a:lnSpc>
                <a:spcPct val="100000"/>
              </a:lnSpc>
              <a:spcBef>
                <a:spcPts val="600"/>
              </a:spcBef>
              <a:spcAft>
                <a:spcPts val="0"/>
              </a:spcAft>
              <a:buSzPts val="2100"/>
              <a:buNone/>
              <a:defRPr sz="2100"/>
            </a:lvl3pPr>
            <a:lvl4pPr lvl="3" algn="ctr" rtl="0">
              <a:lnSpc>
                <a:spcPct val="100000"/>
              </a:lnSpc>
              <a:spcBef>
                <a:spcPts val="600"/>
              </a:spcBef>
              <a:spcAft>
                <a:spcPts val="0"/>
              </a:spcAft>
              <a:buSzPts val="2100"/>
              <a:buNone/>
              <a:defRPr sz="2100"/>
            </a:lvl4pPr>
            <a:lvl5pPr lvl="4" algn="ctr" rtl="0">
              <a:lnSpc>
                <a:spcPct val="100000"/>
              </a:lnSpc>
              <a:spcBef>
                <a:spcPts val="600"/>
              </a:spcBef>
              <a:spcAft>
                <a:spcPts val="0"/>
              </a:spcAft>
              <a:buSzPts val="2100"/>
              <a:buNone/>
              <a:defRPr sz="2100"/>
            </a:lvl5pPr>
            <a:lvl6pPr lvl="5" algn="ctr" rtl="0">
              <a:lnSpc>
                <a:spcPct val="100000"/>
              </a:lnSpc>
              <a:spcBef>
                <a:spcPts val="600"/>
              </a:spcBef>
              <a:spcAft>
                <a:spcPts val="0"/>
              </a:spcAft>
              <a:buSzPts val="2100"/>
              <a:buNone/>
              <a:defRPr sz="2100"/>
            </a:lvl6pPr>
            <a:lvl7pPr lvl="6" algn="ctr" rtl="0">
              <a:lnSpc>
                <a:spcPct val="100000"/>
              </a:lnSpc>
              <a:spcBef>
                <a:spcPts val="600"/>
              </a:spcBef>
              <a:spcAft>
                <a:spcPts val="0"/>
              </a:spcAft>
              <a:buSzPts val="2100"/>
              <a:buNone/>
              <a:defRPr sz="2100"/>
            </a:lvl7pPr>
            <a:lvl8pPr lvl="7" algn="ctr" rtl="0">
              <a:lnSpc>
                <a:spcPct val="100000"/>
              </a:lnSpc>
              <a:spcBef>
                <a:spcPts val="600"/>
              </a:spcBef>
              <a:spcAft>
                <a:spcPts val="0"/>
              </a:spcAft>
              <a:buSzPts val="2100"/>
              <a:buNone/>
              <a:defRPr sz="2100"/>
            </a:lvl8pPr>
            <a:lvl9pPr lvl="8" algn="ctr" rtl="0">
              <a:lnSpc>
                <a:spcPct val="100000"/>
              </a:lnSpc>
              <a:spcBef>
                <a:spcPts val="600"/>
              </a:spcBef>
              <a:spcAft>
                <a:spcPts val="0"/>
              </a:spcAft>
              <a:buSzPts val="2100"/>
              <a:buNone/>
              <a:defRPr sz="2100"/>
            </a:lvl9pPr>
          </a:lstStyle>
          <a:p>
            <a:endParaRPr/>
          </a:p>
        </p:txBody>
      </p:sp>
      <p:sp>
        <p:nvSpPr>
          <p:cNvPr id="127" name="Google Shape;127;p21"/>
          <p:cNvSpPr txBox="1">
            <a:spLocks noGrp="1"/>
          </p:cNvSpPr>
          <p:nvPr>
            <p:ph type="title"/>
          </p:nvPr>
        </p:nvSpPr>
        <p:spPr>
          <a:xfrm>
            <a:off x="208450" y="3418425"/>
            <a:ext cx="39501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a:endParaRPr/>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31" name="Google Shape;131;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23"/>
          <p:cNvSpPr txBox="1">
            <a:spLocks noGrp="1"/>
          </p:cNvSpPr>
          <p:nvPr>
            <p:ph type="body" idx="1"/>
          </p:nvPr>
        </p:nvSpPr>
        <p:spPr>
          <a:xfrm>
            <a:off x="311700" y="1152150"/>
            <a:ext cx="3950100" cy="34200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6" name="Google Shape;136;p23"/>
          <p:cNvSpPr txBox="1">
            <a:spLocks noGrp="1"/>
          </p:cNvSpPr>
          <p:nvPr>
            <p:ph type="body" idx="2"/>
          </p:nvPr>
        </p:nvSpPr>
        <p:spPr>
          <a:xfrm>
            <a:off x="4882900" y="448050"/>
            <a:ext cx="3950100" cy="4124100"/>
          </a:xfrm>
          <a:prstGeom prst="rect">
            <a:avLst/>
          </a:prstGeom>
        </p:spPr>
        <p:txBody>
          <a:bodyPr spcFirstLastPara="1" wrap="square" lIns="91425" tIns="91425" rIns="91425" bIns="91425" anchor="t" anchorCtr="0">
            <a:noAutofit/>
          </a:bodyPr>
          <a:lstStyle>
            <a:lvl1pPr marL="457200" lvl="0" indent="-342900" rtl="0">
              <a:spcBef>
                <a:spcPts val="600"/>
              </a:spcBef>
              <a:spcAft>
                <a:spcPts val="0"/>
              </a:spcAft>
              <a:buSzPts val="1800"/>
              <a:buChar char="•"/>
              <a:defRPr/>
            </a:lvl1pPr>
            <a:lvl2pPr marL="914400" lvl="1" indent="-342900" rtl="0">
              <a:spcBef>
                <a:spcPts val="600"/>
              </a:spcBef>
              <a:spcAft>
                <a:spcPts val="0"/>
              </a:spcAft>
              <a:buSzPts val="1800"/>
              <a:buChar char="•"/>
              <a:defRPr/>
            </a:lvl2pPr>
            <a:lvl3pPr marL="1371600" lvl="2" indent="-342900" rtl="0">
              <a:spcBef>
                <a:spcPts val="600"/>
              </a:spcBef>
              <a:spcAft>
                <a:spcPts val="0"/>
              </a:spcAft>
              <a:buSzPts val="1800"/>
              <a:buChar char="•"/>
              <a:defRPr/>
            </a:lvl3pPr>
            <a:lvl4pPr marL="1828800" lvl="3" indent="-342900" rtl="0">
              <a:spcBef>
                <a:spcPts val="600"/>
              </a:spcBef>
              <a:spcAft>
                <a:spcPts val="0"/>
              </a:spcAft>
              <a:buSzPts val="1800"/>
              <a:buChar char="•"/>
              <a:defRPr/>
            </a:lvl4pPr>
            <a:lvl5pPr marL="2286000" lvl="4" indent="-342900" rtl="0">
              <a:spcBef>
                <a:spcPts val="600"/>
              </a:spcBef>
              <a:spcAft>
                <a:spcPts val="0"/>
              </a:spcAft>
              <a:buSzPts val="1800"/>
              <a:buChar char="•"/>
              <a:defRPr/>
            </a:lvl5pPr>
            <a:lvl6pPr marL="2743200" lvl="5" indent="-342900" rtl="0">
              <a:spcBef>
                <a:spcPts val="600"/>
              </a:spcBef>
              <a:spcAft>
                <a:spcPts val="0"/>
              </a:spcAft>
              <a:buSzPts val="1800"/>
              <a:buChar char="•"/>
              <a:defRPr/>
            </a:lvl6pPr>
            <a:lvl7pPr marL="3200400" lvl="6" indent="-342900" rtl="0">
              <a:spcBef>
                <a:spcPts val="600"/>
              </a:spcBef>
              <a:spcAft>
                <a:spcPts val="0"/>
              </a:spcAft>
              <a:buSzPts val="1800"/>
              <a:buChar char="•"/>
              <a:defRPr/>
            </a:lvl7pPr>
            <a:lvl8pPr marL="3657600" lvl="7" indent="-342900" rtl="0">
              <a:spcBef>
                <a:spcPts val="600"/>
              </a:spcBef>
              <a:spcAft>
                <a:spcPts val="0"/>
              </a:spcAft>
              <a:buSzPts val="1800"/>
              <a:buChar char="•"/>
              <a:defRPr/>
            </a:lvl8pPr>
            <a:lvl9pPr marL="4114800" lvl="8" indent="-342900" rtl="0">
              <a:spcBef>
                <a:spcPts val="600"/>
              </a:spcBef>
              <a:spcAft>
                <a:spcPts val="0"/>
              </a:spcAft>
              <a:buSzPts val="1800"/>
              <a:buChar char="•"/>
              <a:defRPr/>
            </a:lvl9pPr>
          </a:lstStyle>
          <a:p>
            <a:endParaRPr/>
          </a:p>
        </p:txBody>
      </p:sp>
      <p:sp>
        <p:nvSpPr>
          <p:cNvPr id="137" name="Google Shape;137;p23"/>
          <p:cNvSpPr txBox="1">
            <a:spLocks noGrp="1"/>
          </p:cNvSpPr>
          <p:nvPr>
            <p:ph type="title"/>
          </p:nvPr>
        </p:nvSpPr>
        <p:spPr>
          <a:xfrm>
            <a:off x="311700" y="445025"/>
            <a:ext cx="39501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48D4C-6954-CC4D-A491-4B78BF548F31}"/>
              </a:ext>
            </a:extLst>
          </p:cNvPr>
          <p:cNvSpPr>
            <a:spLocks noGrp="1"/>
          </p:cNvSpPr>
          <p:nvPr>
            <p:ph type="title"/>
          </p:nvPr>
        </p:nvSpPr>
        <p:spPr/>
        <p:txBody>
          <a:bodyPr>
            <a:normAutofit/>
          </a:bodyPr>
          <a:lstStyle>
            <a:lvl1pPr>
              <a:defRPr sz="3300">
                <a:latin typeface="+mj-lt"/>
              </a:defRPr>
            </a:lvl1pPr>
          </a:lstStyle>
          <a:p>
            <a:r>
              <a:rPr lang="en-US" dirty="0"/>
              <a:t>Click to edit Master title style</a:t>
            </a:r>
          </a:p>
        </p:txBody>
      </p:sp>
      <p:sp>
        <p:nvSpPr>
          <p:cNvPr id="3" name="Content Placeholder 2">
            <a:extLst>
              <a:ext uri="{FF2B5EF4-FFF2-40B4-BE49-F238E27FC236}">
                <a16:creationId xmlns:a16="http://schemas.microsoft.com/office/drawing/2014/main" id="{3ABE2032-3F11-1945-8A1D-25EC80CF916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DCF1CB-5DBA-8B49-A839-F079E4BF4377}"/>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2E873D4E-4EDA-1349-AB14-5DC995BFCD39}"/>
              </a:ext>
            </a:extLst>
          </p:cNvPr>
          <p:cNvSpPr>
            <a:spLocks noGrp="1"/>
          </p:cNvSpPr>
          <p:nvPr>
            <p:ph type="sldNum" sz="quarter" idx="4"/>
          </p:nvPr>
        </p:nvSpPr>
        <p:spPr>
          <a:xfrm>
            <a:off x="6914712" y="4832317"/>
            <a:ext cx="2057400" cy="273844"/>
          </a:xfrm>
          <a:prstGeom prst="rect">
            <a:avLst/>
          </a:prstGeom>
        </p:spPr>
        <p:txBody>
          <a:bodyPr vert="horz" lIns="91440" tIns="45720" rIns="91440" bIns="45720" rtlCol="0" anchor="ctr"/>
          <a:lstStyle>
            <a:lvl1pPr algn="r">
              <a:defRPr sz="825">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180794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a:endParaRPr/>
          </a:p>
        </p:txBody>
      </p:sp>
      <p:sp>
        <p:nvSpPr>
          <p:cNvPr id="7" name="Google Shape;7;p1"/>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lvl="0"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marL="914400" lvl="1"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marL="1371600" lvl="2"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marL="1828800" lvl="3"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marL="2286000" lvl="4"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marL="2743200" lvl="5"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marL="3200400" lvl="6"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marL="3657600" lvl="7"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marL="4114800" lvl="8" indent="-3429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rtl="0">
              <a:buNone/>
              <a:defRPr sz="1000">
                <a:solidFill>
                  <a:schemeClr val="dk1"/>
                </a:solidFill>
                <a:latin typeface="Roboto"/>
                <a:ea typeface="Roboto"/>
                <a:cs typeface="Roboto"/>
                <a:sym typeface="Roboto"/>
              </a:defRPr>
            </a:lvl1pPr>
            <a:lvl2pPr lvl="1" algn="r" rtl="0">
              <a:buNone/>
              <a:defRPr sz="1000">
                <a:solidFill>
                  <a:schemeClr val="dk1"/>
                </a:solidFill>
                <a:latin typeface="Roboto"/>
                <a:ea typeface="Roboto"/>
                <a:cs typeface="Roboto"/>
                <a:sym typeface="Roboto"/>
              </a:defRPr>
            </a:lvl2pPr>
            <a:lvl3pPr lvl="2" algn="r" rtl="0">
              <a:buNone/>
              <a:defRPr sz="1000">
                <a:solidFill>
                  <a:schemeClr val="dk1"/>
                </a:solidFill>
                <a:latin typeface="Roboto"/>
                <a:ea typeface="Roboto"/>
                <a:cs typeface="Roboto"/>
                <a:sym typeface="Roboto"/>
              </a:defRPr>
            </a:lvl3pPr>
            <a:lvl4pPr lvl="3" algn="r" rtl="0">
              <a:buNone/>
              <a:defRPr sz="1000">
                <a:solidFill>
                  <a:schemeClr val="dk1"/>
                </a:solidFill>
                <a:latin typeface="Roboto"/>
                <a:ea typeface="Roboto"/>
                <a:cs typeface="Roboto"/>
                <a:sym typeface="Roboto"/>
              </a:defRPr>
            </a:lvl4pPr>
            <a:lvl5pPr lvl="4" algn="r" rtl="0">
              <a:buNone/>
              <a:defRPr sz="1000">
                <a:solidFill>
                  <a:schemeClr val="dk1"/>
                </a:solidFill>
                <a:latin typeface="Roboto"/>
                <a:ea typeface="Roboto"/>
                <a:cs typeface="Roboto"/>
                <a:sym typeface="Roboto"/>
              </a:defRPr>
            </a:lvl5pPr>
            <a:lvl6pPr lvl="5" algn="r" rtl="0">
              <a:buNone/>
              <a:defRPr sz="1000">
                <a:solidFill>
                  <a:schemeClr val="dk1"/>
                </a:solidFill>
                <a:latin typeface="Roboto"/>
                <a:ea typeface="Roboto"/>
                <a:cs typeface="Roboto"/>
                <a:sym typeface="Roboto"/>
              </a:defRPr>
            </a:lvl6pPr>
            <a:lvl7pPr lvl="6" algn="r" rtl="0">
              <a:buNone/>
              <a:defRPr sz="1000">
                <a:solidFill>
                  <a:schemeClr val="dk1"/>
                </a:solidFill>
                <a:latin typeface="Roboto"/>
                <a:ea typeface="Roboto"/>
                <a:cs typeface="Roboto"/>
                <a:sym typeface="Roboto"/>
              </a:defRPr>
            </a:lvl7pPr>
            <a:lvl8pPr lvl="7" algn="r" rtl="0">
              <a:buNone/>
              <a:defRPr sz="1000">
                <a:solidFill>
                  <a:schemeClr val="dk1"/>
                </a:solidFill>
                <a:latin typeface="Roboto"/>
                <a:ea typeface="Roboto"/>
                <a:cs typeface="Roboto"/>
                <a:sym typeface="Roboto"/>
              </a:defRPr>
            </a:lvl8pPr>
            <a:lvl9pPr lvl="8" algn="r" rtl="0">
              <a:buNone/>
              <a:defRPr sz="1000">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1"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customXml" Target="../ink/ink1.xml"/><Relationship Id="rId1" Type="http://schemas.openxmlformats.org/officeDocument/2006/relationships/slideLayout" Target="../slideLayouts/slideLayout20.xml"/><Relationship Id="rId6" Type="http://schemas.openxmlformats.org/officeDocument/2006/relationships/customXml" Target="../ink/ink4.xml"/><Relationship Id="rId5" Type="http://schemas.openxmlformats.org/officeDocument/2006/relationships/customXml" Target="../ink/ink3.xml"/><Relationship Id="rId4" Type="http://schemas.openxmlformats.org/officeDocument/2006/relationships/customXml" Target="../ink/ink2.xml"/></Relationships>
</file>

<file path=ppt/slides/_rels/slide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9.png"/><Relationship Id="rId1" Type="http://schemas.openxmlformats.org/officeDocument/2006/relationships/slideLayout" Target="../slideLayouts/slideLayout20.xml"/><Relationship Id="rId5" Type="http://schemas.openxmlformats.org/officeDocument/2006/relationships/customXml" Target="../ink/ink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11.png"/><Relationship Id="rId1" Type="http://schemas.openxmlformats.org/officeDocument/2006/relationships/slideLayout" Target="../slideLayouts/slideLayout20.xml"/><Relationship Id="rId5" Type="http://schemas.openxmlformats.org/officeDocument/2006/relationships/customXml" Target="../ink/ink8.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0.xml"/><Relationship Id="rId6" Type="http://schemas.openxmlformats.org/officeDocument/2006/relationships/customXml" Target="../ink/ink10.xml"/><Relationship Id="rId5" Type="http://schemas.openxmlformats.org/officeDocument/2006/relationships/image" Target="../media/image6.png"/><Relationship Id="rId4" Type="http://schemas.openxmlformats.org/officeDocument/2006/relationships/customXml" Target="../ink/ink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body" idx="1"/>
          </p:nvPr>
        </p:nvSpPr>
        <p:spPr>
          <a:xfrm>
            <a:off x="4812375" y="402200"/>
            <a:ext cx="4038000" cy="42609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b="1" dirty="0">
                <a:solidFill>
                  <a:schemeClr val="accent3"/>
                </a:solidFill>
                <a:latin typeface="Roboto"/>
                <a:ea typeface="Roboto"/>
                <a:cs typeface="Roboto"/>
                <a:sym typeface="Roboto"/>
              </a:rPr>
              <a:t>Links</a:t>
            </a:r>
            <a:endParaRPr b="1" dirty="0">
              <a:solidFill>
                <a:schemeClr val="accent3"/>
              </a:solidFill>
              <a:latin typeface="Roboto"/>
              <a:ea typeface="Roboto"/>
              <a:cs typeface="Roboto"/>
              <a:sym typeface="Roboto"/>
            </a:endParaRPr>
          </a:p>
          <a:p>
            <a:pPr marL="457200" lvl="0" indent="-342900" algn="l" rtl="0">
              <a:spcBef>
                <a:spcPts val="600"/>
              </a:spcBef>
              <a:spcAft>
                <a:spcPts val="0"/>
              </a:spcAft>
              <a:buClr>
                <a:schemeClr val="accent3"/>
              </a:buClr>
              <a:buSzPts val="1800"/>
              <a:buFont typeface="Roboto"/>
              <a:buChar char="•"/>
            </a:pPr>
            <a:r>
              <a:rPr lang="en" b="1" dirty="0">
                <a:solidFill>
                  <a:schemeClr val="accent3"/>
                </a:solidFill>
                <a:latin typeface="Roboto"/>
                <a:ea typeface="Roboto"/>
                <a:cs typeface="Roboto"/>
                <a:sym typeface="Roboto"/>
              </a:rPr>
              <a:t>Bandwidth and</a:t>
            </a:r>
            <a:br>
              <a:rPr lang="en" b="1" dirty="0">
                <a:solidFill>
                  <a:schemeClr val="accent3"/>
                </a:solidFill>
                <a:latin typeface="Roboto"/>
                <a:ea typeface="Roboto"/>
                <a:cs typeface="Roboto"/>
                <a:sym typeface="Roboto"/>
              </a:rPr>
            </a:br>
            <a:r>
              <a:rPr lang="en" b="1" dirty="0">
                <a:solidFill>
                  <a:schemeClr val="accent3"/>
                </a:solidFill>
                <a:latin typeface="Roboto"/>
                <a:ea typeface="Roboto"/>
                <a:cs typeface="Roboto"/>
                <a:sym typeface="Roboto"/>
              </a:rPr>
              <a:t>Propagation Delay</a:t>
            </a:r>
            <a:endParaRPr b="1" dirty="0">
              <a:solidFill>
                <a:schemeClr val="accent3"/>
              </a:solidFill>
              <a:latin typeface="Roboto"/>
              <a:ea typeface="Roboto"/>
              <a:cs typeface="Roboto"/>
              <a:sym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Pipe Diagrams</a:t>
            </a:r>
            <a:endParaRPr b="1" dirty="0">
              <a:solidFill>
                <a:schemeClr val="accent3"/>
              </a:solidFill>
              <a:latin typeface="Roboto"/>
              <a:ea typeface="Roboto"/>
              <a:cs typeface="Roboto"/>
            </a:endParaRPr>
          </a:p>
          <a:p>
            <a:pPr marL="457200" lvl="0" indent="-342900" algn="l" rtl="0">
              <a:spcBef>
                <a:spcPts val="0"/>
              </a:spcBef>
              <a:spcAft>
                <a:spcPts val="0"/>
              </a:spcAft>
              <a:buClr>
                <a:srgbClr val="B7B7B7"/>
              </a:buClr>
              <a:buSzPts val="1800"/>
              <a:buChar char="•"/>
            </a:pPr>
            <a:r>
              <a:rPr lang="en" b="1" dirty="0">
                <a:solidFill>
                  <a:schemeClr val="accent3"/>
                </a:solidFill>
                <a:latin typeface="Roboto"/>
                <a:ea typeface="Roboto"/>
                <a:cs typeface="Roboto"/>
              </a:rPr>
              <a:t>Overloaded Links</a:t>
            </a:r>
            <a:endParaRPr b="1" dirty="0">
              <a:solidFill>
                <a:schemeClr val="accent3"/>
              </a:solidFill>
              <a:latin typeface="Roboto"/>
              <a:ea typeface="Roboto"/>
              <a:cs typeface="Roboto"/>
            </a:endParaRPr>
          </a:p>
          <a:p>
            <a:pPr marL="0" lvl="0" indent="0" algn="l" rtl="0">
              <a:spcBef>
                <a:spcPts val="600"/>
              </a:spcBef>
              <a:spcAft>
                <a:spcPts val="0"/>
              </a:spcAft>
              <a:buNone/>
            </a:pPr>
            <a:r>
              <a:rPr lang="en" b="1" dirty="0">
                <a:solidFill>
                  <a:schemeClr val="accent3"/>
                </a:solidFill>
                <a:latin typeface="Roboto"/>
                <a:ea typeface="Roboto"/>
                <a:cs typeface="Roboto"/>
              </a:rPr>
              <a:t>Brief Preview of the Semester</a:t>
            </a:r>
            <a:endParaRPr b="1" dirty="0">
              <a:solidFill>
                <a:schemeClr val="accent3"/>
              </a:solidFill>
              <a:latin typeface="Roboto"/>
              <a:ea typeface="Roboto"/>
              <a:cs typeface="Roboto"/>
            </a:endParaRPr>
          </a:p>
        </p:txBody>
      </p:sp>
      <p:sp>
        <p:nvSpPr>
          <p:cNvPr id="168" name="Google Shape;168;p25"/>
          <p:cNvSpPr txBox="1">
            <a:spLocks noGrp="1"/>
          </p:cNvSpPr>
          <p:nvPr>
            <p:ph type="title"/>
          </p:nvPr>
        </p:nvSpPr>
        <p:spPr>
          <a:xfrm>
            <a:off x="177925" y="2003300"/>
            <a:ext cx="4038000" cy="203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Bandwidth and Propagation Delay</a:t>
            </a:r>
            <a:br>
              <a:rPr lang="en" dirty="0"/>
            </a:br>
            <a:r>
              <a:rPr lang="en" dirty="0"/>
              <a:t>Exercises ANS</a:t>
            </a:r>
            <a:endParaRPr dirty="0"/>
          </a:p>
        </p:txBody>
      </p:sp>
      <p:sp>
        <p:nvSpPr>
          <p:cNvPr id="169" name="Google Shape;169;p25"/>
          <p:cNvSpPr txBox="1">
            <a:spLocks noGrp="1"/>
          </p:cNvSpPr>
          <p:nvPr>
            <p:ph type="subTitle" idx="2"/>
          </p:nvPr>
        </p:nvSpPr>
        <p:spPr>
          <a:xfrm>
            <a:off x="177925" y="4068000"/>
            <a:ext cx="4158000" cy="393600"/>
          </a:xfrm>
          <a:prstGeom prst="rect">
            <a:avLst/>
          </a:prstGeom>
        </p:spPr>
        <p:txBody>
          <a:bodyPr spcFirstLastPara="1" wrap="square" lIns="91425" tIns="91425" rIns="91425" bIns="91425" anchor="ctr" anchorCtr="0">
            <a:noAutofit/>
          </a:bodyPr>
          <a:lstStyle/>
          <a:p>
            <a:pPr marL="0" lvl="0" indent="0" algn="l" rtl="0">
              <a:spcBef>
                <a:spcPts val="600"/>
              </a:spcBef>
              <a:spcAft>
                <a:spcPts val="0"/>
              </a:spcAft>
              <a:buNone/>
            </a:pPr>
            <a:r>
              <a:rPr lang="en" dirty="0"/>
              <a:t>Lecture 3</a:t>
            </a:r>
            <a:r>
              <a:rPr lang="en"/>
              <a:t>, Spring </a:t>
            </a:r>
            <a:r>
              <a:rPr lang="en" dirty="0"/>
              <a:t>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5" name="Group 134">
            <a:extLst>
              <a:ext uri="{FF2B5EF4-FFF2-40B4-BE49-F238E27FC236}">
                <a16:creationId xmlns:a16="http://schemas.microsoft.com/office/drawing/2014/main" id="{3AD72523-4228-9C47-B195-4AAF96A160BD}"/>
              </a:ext>
            </a:extLst>
          </p:cNvPr>
          <p:cNvGrpSpPr/>
          <p:nvPr/>
        </p:nvGrpSpPr>
        <p:grpSpPr>
          <a:xfrm>
            <a:off x="3471949" y="1126138"/>
            <a:ext cx="1133514" cy="647753"/>
            <a:chOff x="7493876" y="2774731"/>
            <a:chExt cx="1481958" cy="894622"/>
          </a:xfrm>
        </p:grpSpPr>
        <p:sp>
          <p:nvSpPr>
            <p:cNvPr id="136" name="Freeform 135">
              <a:extLst>
                <a:ext uri="{FF2B5EF4-FFF2-40B4-BE49-F238E27FC236}">
                  <a16:creationId xmlns:a16="http://schemas.microsoft.com/office/drawing/2014/main" id="{9FB9E0EF-9063-B545-BC2B-062A0488CC72}"/>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37" name="Oval 136">
              <a:extLst>
                <a:ext uri="{FF2B5EF4-FFF2-40B4-BE49-F238E27FC236}">
                  <a16:creationId xmlns:a16="http://schemas.microsoft.com/office/drawing/2014/main" id="{B0BF60BF-9AF2-D948-8319-1FF102BC7D3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8" name="Group 137">
              <a:extLst>
                <a:ext uri="{FF2B5EF4-FFF2-40B4-BE49-F238E27FC236}">
                  <a16:creationId xmlns:a16="http://schemas.microsoft.com/office/drawing/2014/main" id="{B32B55C6-F759-234F-8CF0-5FB387F35BC4}"/>
                </a:ext>
              </a:extLst>
            </p:cNvPr>
            <p:cNvGrpSpPr/>
            <p:nvPr/>
          </p:nvGrpSpPr>
          <p:grpSpPr>
            <a:xfrm>
              <a:off x="7713663" y="2848339"/>
              <a:ext cx="1042107" cy="425543"/>
              <a:chOff x="7786941" y="2884917"/>
              <a:chExt cx="897649" cy="353919"/>
            </a:xfrm>
          </p:grpSpPr>
          <p:sp>
            <p:nvSpPr>
              <p:cNvPr id="139" name="Freeform 138">
                <a:extLst>
                  <a:ext uri="{FF2B5EF4-FFF2-40B4-BE49-F238E27FC236}">
                    <a16:creationId xmlns:a16="http://schemas.microsoft.com/office/drawing/2014/main" id="{B1153D6F-A3DF-7246-9629-9228753ADE5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0" name="Freeform 139">
                <a:extLst>
                  <a:ext uri="{FF2B5EF4-FFF2-40B4-BE49-F238E27FC236}">
                    <a16:creationId xmlns:a16="http://schemas.microsoft.com/office/drawing/2014/main" id="{1C55D52C-AF37-4949-9428-203518D525C3}"/>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1" name="Freeform 140">
                <a:extLst>
                  <a:ext uri="{FF2B5EF4-FFF2-40B4-BE49-F238E27FC236}">
                    <a16:creationId xmlns:a16="http://schemas.microsoft.com/office/drawing/2014/main" id="{58904F43-F0C7-374E-ADE8-8A024A66279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42" name="Freeform 141">
                <a:extLst>
                  <a:ext uri="{FF2B5EF4-FFF2-40B4-BE49-F238E27FC236}">
                    <a16:creationId xmlns:a16="http://schemas.microsoft.com/office/drawing/2014/main" id="{874597C3-FAA4-A147-A86C-C5108827045C}"/>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618950" y="218960"/>
            <a:ext cx="7886700" cy="670967"/>
          </a:xfrm>
        </p:spPr>
        <p:txBody>
          <a:bodyPr>
            <a:normAutofit fontScale="90000"/>
          </a:bodyPr>
          <a:lstStyle/>
          <a:p>
            <a:r>
              <a:rPr lang="en-US" dirty="0">
                <a:ea typeface="ＭＳ Ｐゴシック" panose="020B0600070205080204" pitchFamily="34" charset="-128"/>
              </a:rPr>
              <a:t>Packet delay: four sources</a:t>
            </a:r>
            <a:endParaRPr lang="en-US" dirty="0"/>
          </a:p>
        </p:txBody>
      </p:sp>
      <p:sp>
        <p:nvSpPr>
          <p:cNvPr id="58" name="Rectangle 4">
            <a:extLst>
              <a:ext uri="{FF2B5EF4-FFF2-40B4-BE49-F238E27FC236}">
                <a16:creationId xmlns:a16="http://schemas.microsoft.com/office/drawing/2014/main" id="{AC2D03E9-7C61-0A43-A247-276B596B9942}"/>
              </a:ext>
            </a:extLst>
          </p:cNvPr>
          <p:cNvSpPr txBox="1">
            <a:spLocks noChangeArrowheads="1"/>
          </p:cNvSpPr>
          <p:nvPr/>
        </p:nvSpPr>
        <p:spPr>
          <a:xfrm>
            <a:off x="663961" y="3321886"/>
            <a:ext cx="2857500" cy="1379696"/>
          </a:xfrm>
          <a:prstGeom prst="rect">
            <a:avLst/>
          </a:prstGeom>
        </p:spPr>
        <p:txBody>
          <a:bodyPr vert="horz" lIns="68580" tIns="34290" rIns="68580" bIns="3429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4319" indent="-221456" defTabSz="685800">
              <a:spcBef>
                <a:spcPts val="450"/>
              </a:spcBef>
              <a:buNone/>
              <a:defRPr/>
            </a:pPr>
            <a:endParaRPr lang="en-US" sz="1800" dirty="0">
              <a:solidFill>
                <a:prstClr val="black"/>
              </a:solidFill>
              <a:latin typeface="Calibri" panose="020F0502020204030204"/>
            </a:endParaRPr>
          </a:p>
        </p:txBody>
      </p:sp>
      <p:sp>
        <p:nvSpPr>
          <p:cNvPr id="75" name="Rectangle 58">
            <a:extLst>
              <a:ext uri="{FF2B5EF4-FFF2-40B4-BE49-F238E27FC236}">
                <a16:creationId xmlns:a16="http://schemas.microsoft.com/office/drawing/2014/main" id="{9033E5DB-6EA3-CE4C-B1A8-C9C804BDCB3F}"/>
              </a:ext>
            </a:extLst>
          </p:cNvPr>
          <p:cNvSpPr>
            <a:spLocks noChangeArrowheads="1"/>
          </p:cNvSpPr>
          <p:nvPr/>
        </p:nvSpPr>
        <p:spPr bwMode="auto">
          <a:xfrm>
            <a:off x="0" y="3112300"/>
            <a:ext cx="2605177" cy="10455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58366" indent="-258366" defTabSz="685800">
              <a:lnSpc>
                <a:spcPct val="90000"/>
              </a:lnSpc>
              <a:spcBef>
                <a:spcPts val="450"/>
              </a:spcBef>
              <a:buClr>
                <a:srgbClr val="3333CC"/>
              </a:buClr>
              <a:buSzPct val="85000"/>
              <a:defRPr/>
            </a:pPr>
            <a:r>
              <a:rPr lang="en-US" sz="1500" kern="1200" dirty="0">
                <a:solidFill>
                  <a:srgbClr val="FF0000"/>
                </a:solidFill>
                <a:latin typeface="Calibri" panose="020F0502020204030204"/>
                <a:ea typeface="ＭＳ Ｐゴシック" charset="0"/>
                <a:cs typeface="ＭＳ Ｐゴシック" charset="0"/>
              </a:rPr>
              <a:t> </a:t>
            </a: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q</a:t>
            </a:r>
            <a:r>
              <a:rPr lang="en-US" sz="2100" kern="1200" dirty="0">
                <a:solidFill>
                  <a:srgbClr val="CC0000"/>
                </a:solidFill>
                <a:latin typeface="Calibri" panose="020F0502020204030204"/>
                <a:ea typeface="ＭＳ Ｐゴシック" charset="0"/>
                <a:cs typeface="ＭＳ Ｐゴシック" charset="0"/>
              </a:rPr>
              <a:t>: queueing delay</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time waiting at output link for transmission </a:t>
            </a:r>
          </a:p>
          <a:p>
            <a:pPr marL="173831" indent="-173831" defTabSz="685800">
              <a:lnSpc>
                <a:spcPct val="90000"/>
              </a:lnSpc>
              <a:spcBef>
                <a:spcPts val="450"/>
              </a:spcBef>
              <a:buClr>
                <a:srgbClr val="000099"/>
              </a:buClr>
              <a:buFont typeface="Wingdings" charset="0"/>
              <a:buChar char="§"/>
              <a:defRPr/>
            </a:pPr>
            <a:r>
              <a:rPr lang="en-US" sz="1800" kern="1200" dirty="0">
                <a:latin typeface="Calibri" panose="020F0502020204030204"/>
                <a:ea typeface="ＭＳ Ｐゴシック" charset="0"/>
                <a:cs typeface="ＭＳ Ｐゴシック" charset="0"/>
              </a:rPr>
              <a:t>depends on congestion level of router</a:t>
            </a:r>
          </a:p>
        </p:txBody>
      </p:sp>
      <p:sp>
        <p:nvSpPr>
          <p:cNvPr id="77" name="Line 24">
            <a:extLst>
              <a:ext uri="{FF2B5EF4-FFF2-40B4-BE49-F238E27FC236}">
                <a16:creationId xmlns:a16="http://schemas.microsoft.com/office/drawing/2014/main" id="{79DB8C95-768E-854F-9CEA-5533DCECBE17}"/>
              </a:ext>
            </a:extLst>
          </p:cNvPr>
          <p:cNvSpPr>
            <a:spLocks noChangeShapeType="1"/>
          </p:cNvSpPr>
          <p:nvPr/>
        </p:nvSpPr>
        <p:spPr bwMode="auto">
          <a:xfrm>
            <a:off x="2914385" y="1138147"/>
            <a:ext cx="556052" cy="2667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0" name="Rectangle 29">
            <a:extLst>
              <a:ext uri="{FF2B5EF4-FFF2-40B4-BE49-F238E27FC236}">
                <a16:creationId xmlns:a16="http://schemas.microsoft.com/office/drawing/2014/main" id="{9803C6B5-AE4A-F54B-86CB-D404B2A716C1}"/>
              </a:ext>
            </a:extLst>
          </p:cNvPr>
          <p:cNvSpPr>
            <a:spLocks noChangeArrowheads="1"/>
          </p:cNvSpPr>
          <p:nvPr/>
        </p:nvSpPr>
        <p:spPr bwMode="auto">
          <a:xfrm>
            <a:off x="5046909" y="1302454"/>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1" name="Rectangle 30">
            <a:extLst>
              <a:ext uri="{FF2B5EF4-FFF2-40B4-BE49-F238E27FC236}">
                <a16:creationId xmlns:a16="http://schemas.microsoft.com/office/drawing/2014/main" id="{2BFFBBBA-8F3E-7640-8D9F-E3A7047BB5BB}"/>
              </a:ext>
            </a:extLst>
          </p:cNvPr>
          <p:cNvSpPr>
            <a:spLocks noChangeArrowheads="1"/>
          </p:cNvSpPr>
          <p:nvPr/>
        </p:nvSpPr>
        <p:spPr bwMode="auto">
          <a:xfrm>
            <a:off x="4107456" y="1356032"/>
            <a:ext cx="110734"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2" name="Rectangle 31">
            <a:extLst>
              <a:ext uri="{FF2B5EF4-FFF2-40B4-BE49-F238E27FC236}">
                <a16:creationId xmlns:a16="http://schemas.microsoft.com/office/drawing/2014/main" id="{212ACD5F-D6C3-824B-9E9F-FCD292654FC1}"/>
              </a:ext>
            </a:extLst>
          </p:cNvPr>
          <p:cNvSpPr>
            <a:spLocks noChangeArrowheads="1"/>
          </p:cNvSpPr>
          <p:nvPr/>
        </p:nvSpPr>
        <p:spPr bwMode="auto">
          <a:xfrm>
            <a:off x="4228907" y="1356032"/>
            <a:ext cx="110734" cy="150019"/>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3" name="Line 35">
            <a:extLst>
              <a:ext uri="{FF2B5EF4-FFF2-40B4-BE49-F238E27FC236}">
                <a16:creationId xmlns:a16="http://schemas.microsoft.com/office/drawing/2014/main" id="{988CA620-4CC5-3D4B-81DA-0F82F93E3D34}"/>
              </a:ext>
            </a:extLst>
          </p:cNvPr>
          <p:cNvSpPr>
            <a:spLocks noChangeShapeType="1"/>
          </p:cNvSpPr>
          <p:nvPr/>
        </p:nvSpPr>
        <p:spPr bwMode="auto">
          <a:xfrm flipV="1">
            <a:off x="6230172" y="1175734"/>
            <a:ext cx="27505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4" name="Rectangle 38">
            <a:extLst>
              <a:ext uri="{FF2B5EF4-FFF2-40B4-BE49-F238E27FC236}">
                <a16:creationId xmlns:a16="http://schemas.microsoft.com/office/drawing/2014/main" id="{5F99C41D-D784-474B-94F5-AC46161751AD}"/>
              </a:ext>
            </a:extLst>
          </p:cNvPr>
          <p:cNvSpPr>
            <a:spLocks noChangeArrowheads="1"/>
          </p:cNvSpPr>
          <p:nvPr/>
        </p:nvSpPr>
        <p:spPr bwMode="auto">
          <a:xfrm>
            <a:off x="4325352" y="1309598"/>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85" name="Text Box 39">
            <a:extLst>
              <a:ext uri="{FF2B5EF4-FFF2-40B4-BE49-F238E27FC236}">
                <a16:creationId xmlns:a16="http://schemas.microsoft.com/office/drawing/2014/main" id="{4FBD0AA4-42C3-2B49-BDB1-0979DED2C5D6}"/>
              </a:ext>
            </a:extLst>
          </p:cNvPr>
          <p:cNvSpPr txBox="1">
            <a:spLocks noChangeArrowheads="1"/>
          </p:cNvSpPr>
          <p:nvPr/>
        </p:nvSpPr>
        <p:spPr bwMode="auto">
          <a:xfrm>
            <a:off x="4976666" y="991330"/>
            <a:ext cx="132388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propagation</a:t>
            </a:r>
            <a:endParaRPr lang="en-US" altLang="en-US" sz="1500" kern="1200" dirty="0">
              <a:solidFill>
                <a:srgbClr val="CC0000"/>
              </a:solidFill>
              <a:latin typeface="Calibri" panose="020F0502020204030204"/>
              <a:cs typeface="+mn-cs"/>
            </a:endParaRPr>
          </a:p>
        </p:txBody>
      </p:sp>
      <p:sp>
        <p:nvSpPr>
          <p:cNvPr id="86" name="Line 40">
            <a:extLst>
              <a:ext uri="{FF2B5EF4-FFF2-40B4-BE49-F238E27FC236}">
                <a16:creationId xmlns:a16="http://schemas.microsoft.com/office/drawing/2014/main" id="{7B62D1A5-A310-5848-8995-E8F4780C47C7}"/>
              </a:ext>
            </a:extLst>
          </p:cNvPr>
          <p:cNvSpPr>
            <a:spLocks noChangeShapeType="1"/>
          </p:cNvSpPr>
          <p:nvPr/>
        </p:nvSpPr>
        <p:spPr bwMode="auto">
          <a:xfrm rot="10800000">
            <a:off x="4753979" y="1173753"/>
            <a:ext cx="23932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89" name="Line 45">
            <a:extLst>
              <a:ext uri="{FF2B5EF4-FFF2-40B4-BE49-F238E27FC236}">
                <a16:creationId xmlns:a16="http://schemas.microsoft.com/office/drawing/2014/main" id="{EDEDB796-E60B-E245-AAE8-8E7D4AD0954B}"/>
              </a:ext>
            </a:extLst>
          </p:cNvPr>
          <p:cNvSpPr>
            <a:spLocks noChangeShapeType="1"/>
          </p:cNvSpPr>
          <p:nvPr/>
        </p:nvSpPr>
        <p:spPr bwMode="auto">
          <a:xfrm rot="10800000" flipV="1">
            <a:off x="4089595" y="1702504"/>
            <a:ext cx="28933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0" name="Text Box 46">
            <a:extLst>
              <a:ext uri="{FF2B5EF4-FFF2-40B4-BE49-F238E27FC236}">
                <a16:creationId xmlns:a16="http://schemas.microsoft.com/office/drawing/2014/main" id="{EED5545D-BA61-2046-A423-41F4F0BCD65B}"/>
              </a:ext>
            </a:extLst>
          </p:cNvPr>
          <p:cNvSpPr txBox="1">
            <a:spLocks noChangeArrowheads="1"/>
          </p:cNvSpPr>
          <p:nvPr/>
        </p:nvSpPr>
        <p:spPr bwMode="auto">
          <a:xfrm>
            <a:off x="4395603" y="2018519"/>
            <a:ext cx="106471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queueing</a:t>
            </a:r>
            <a:endParaRPr lang="en-US" altLang="en-US" sz="1500" kern="1200" dirty="0">
              <a:solidFill>
                <a:srgbClr val="CC0000"/>
              </a:solidFill>
              <a:latin typeface="Calibri" panose="020F0502020204030204"/>
              <a:cs typeface="+mn-cs"/>
            </a:endParaRPr>
          </a:p>
        </p:txBody>
      </p:sp>
      <p:sp>
        <p:nvSpPr>
          <p:cNvPr id="91" name="Line 47">
            <a:extLst>
              <a:ext uri="{FF2B5EF4-FFF2-40B4-BE49-F238E27FC236}">
                <a16:creationId xmlns:a16="http://schemas.microsoft.com/office/drawing/2014/main" id="{ACC9FCD3-B95B-4D4B-87FC-A93C4585FCF2}"/>
              </a:ext>
            </a:extLst>
          </p:cNvPr>
          <p:cNvSpPr>
            <a:spLocks noChangeShapeType="1"/>
          </p:cNvSpPr>
          <p:nvPr/>
        </p:nvSpPr>
        <p:spPr bwMode="auto">
          <a:xfrm rot="10800000">
            <a:off x="4211045" y="1702503"/>
            <a:ext cx="446510" cy="414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2" name="Rectangle 3">
            <a:extLst>
              <a:ext uri="{FF2B5EF4-FFF2-40B4-BE49-F238E27FC236}">
                <a16:creationId xmlns:a16="http://schemas.microsoft.com/office/drawing/2014/main" id="{2521317A-C1CF-B84E-8D60-CC1E8C06357E}"/>
              </a:ext>
            </a:extLst>
          </p:cNvPr>
          <p:cNvSpPr>
            <a:spLocks noChangeArrowheads="1"/>
          </p:cNvSpPr>
          <p:nvPr/>
        </p:nvSpPr>
        <p:spPr bwMode="auto">
          <a:xfrm>
            <a:off x="2255932" y="2489717"/>
            <a:ext cx="4631496" cy="415528"/>
          </a:xfrm>
          <a:prstGeom prst="rect">
            <a:avLst/>
          </a:prstGeom>
          <a:noFill/>
          <a:ln w="19050">
            <a:noFill/>
            <a:miter lim="800000"/>
            <a:headEnd/>
            <a:tailEnd/>
          </a:ln>
          <a:extLst>
            <a:ext uri="{909E8E84-426E-40DD-AFC4-6F175D3DCCD1}">
              <a14:hiddenFill xmlns:a14="http://schemas.microsoft.com/office/drawing/2010/main">
                <a:solidFill>
                  <a:srgbClr val="FFFFFF"/>
                </a:solidFill>
              </a14:hiddenFill>
            </a:ext>
          </a:extLst>
        </p:spPr>
        <p:txBody>
          <a:bodyPr/>
          <a:lstStyle>
            <a:lvl1pPr marL="285750" indent="-28575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214313" indent="-214313" defTabSz="685800">
              <a:lnSpc>
                <a:spcPct val="85000"/>
              </a:lnSpc>
              <a:spcBef>
                <a:spcPct val="20000"/>
              </a:spcBef>
              <a:buClr>
                <a:srgbClr val="000099"/>
              </a:buClr>
              <a:buSzPct val="75000"/>
              <a:defRPr/>
            </a:pPr>
            <a:r>
              <a:rPr lang="en-US" altLang="en-US" i="1" kern="1200" dirty="0" err="1">
                <a:solidFill>
                  <a:srgbClr val="000000"/>
                </a:solidFill>
                <a:latin typeface="Calibri" panose="020F0502020204030204"/>
                <a:cs typeface="+mn-cs"/>
              </a:rPr>
              <a:t>d</a:t>
            </a:r>
            <a:r>
              <a:rPr lang="en-US" altLang="en-US" kern="1200" baseline="-25000" dirty="0" err="1">
                <a:solidFill>
                  <a:srgbClr val="000000"/>
                </a:solidFill>
                <a:latin typeface="Calibri" panose="020F0502020204030204"/>
                <a:cs typeface="+mn-cs"/>
              </a:rPr>
              <a:t>nodal</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queue</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trans</a:t>
            </a:r>
            <a:r>
              <a:rPr lang="en-US" altLang="en-US" kern="1200" dirty="0">
                <a:solidFill>
                  <a:srgbClr val="000000"/>
                </a:solidFill>
                <a:latin typeface="Calibri" panose="020F0502020204030204"/>
                <a:cs typeface="+mn-cs"/>
              </a:rPr>
              <a:t> +  </a:t>
            </a:r>
            <a:r>
              <a:rPr lang="en-US" altLang="en-US" i="1" kern="1200" dirty="0">
                <a:solidFill>
                  <a:srgbClr val="000000"/>
                </a:solidFill>
                <a:latin typeface="Calibri" panose="020F0502020204030204"/>
                <a:cs typeface="+mn-cs"/>
              </a:rPr>
              <a:t>d</a:t>
            </a:r>
            <a:r>
              <a:rPr lang="en-US" altLang="en-US" kern="1200" baseline="-25000" dirty="0">
                <a:solidFill>
                  <a:srgbClr val="000000"/>
                </a:solidFill>
                <a:latin typeface="Calibri" panose="020F0502020204030204"/>
                <a:cs typeface="+mn-cs"/>
              </a:rPr>
              <a:t>prop</a:t>
            </a:r>
            <a:endParaRPr lang="en-US" altLang="en-US" kern="1200" dirty="0">
              <a:solidFill>
                <a:srgbClr val="000000"/>
              </a:solidFill>
              <a:latin typeface="Calibri" panose="020F0502020204030204"/>
              <a:cs typeface="+mn-cs"/>
            </a:endParaRPr>
          </a:p>
        </p:txBody>
      </p:sp>
      <p:sp>
        <p:nvSpPr>
          <p:cNvPr id="93" name="Line 25">
            <a:extLst>
              <a:ext uri="{FF2B5EF4-FFF2-40B4-BE49-F238E27FC236}">
                <a16:creationId xmlns:a16="http://schemas.microsoft.com/office/drawing/2014/main" id="{F5D3A1C5-3798-AA4A-9717-BC9CD2814C06}"/>
              </a:ext>
            </a:extLst>
          </p:cNvPr>
          <p:cNvSpPr>
            <a:spLocks noChangeShapeType="1"/>
          </p:cNvSpPr>
          <p:nvPr/>
        </p:nvSpPr>
        <p:spPr bwMode="auto">
          <a:xfrm flipV="1">
            <a:off x="2912974" y="1542960"/>
            <a:ext cx="551510" cy="4124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4" name="Rectangle 32">
            <a:extLst>
              <a:ext uri="{FF2B5EF4-FFF2-40B4-BE49-F238E27FC236}">
                <a16:creationId xmlns:a16="http://schemas.microsoft.com/office/drawing/2014/main" id="{499B4666-F248-7346-9FEA-7936F1E56AE7}"/>
              </a:ext>
            </a:extLst>
          </p:cNvPr>
          <p:cNvSpPr>
            <a:spLocks noChangeArrowheads="1"/>
          </p:cNvSpPr>
          <p:nvPr/>
        </p:nvSpPr>
        <p:spPr bwMode="auto">
          <a:xfrm>
            <a:off x="3318027" y="1281023"/>
            <a:ext cx="110735" cy="150019"/>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95" name="Line 33">
            <a:extLst>
              <a:ext uri="{FF2B5EF4-FFF2-40B4-BE49-F238E27FC236}">
                <a16:creationId xmlns:a16="http://schemas.microsoft.com/office/drawing/2014/main" id="{468D7A2B-9164-6E4A-96CE-D29F3704091E}"/>
              </a:ext>
            </a:extLst>
          </p:cNvPr>
          <p:cNvSpPr>
            <a:spLocks noChangeShapeType="1"/>
          </p:cNvSpPr>
          <p:nvPr/>
        </p:nvSpPr>
        <p:spPr bwMode="auto">
          <a:xfrm>
            <a:off x="3281117" y="1233397"/>
            <a:ext cx="1583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96" name="Text Box 36">
            <a:extLst>
              <a:ext uri="{FF2B5EF4-FFF2-40B4-BE49-F238E27FC236}">
                <a16:creationId xmlns:a16="http://schemas.microsoft.com/office/drawing/2014/main" id="{3AB8F241-2337-4244-89DF-4C80D59B3367}"/>
              </a:ext>
            </a:extLst>
          </p:cNvPr>
          <p:cNvSpPr txBox="1">
            <a:spLocks noChangeArrowheads="1"/>
          </p:cNvSpPr>
          <p:nvPr/>
        </p:nvSpPr>
        <p:spPr bwMode="auto">
          <a:xfrm>
            <a:off x="2311237" y="901213"/>
            <a:ext cx="340158"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srgbClr val="000000"/>
                </a:solidFill>
                <a:latin typeface="Calibri" panose="020F0502020204030204"/>
                <a:cs typeface="+mn-cs"/>
              </a:rPr>
              <a:t>A</a:t>
            </a:r>
          </a:p>
        </p:txBody>
      </p:sp>
      <p:sp>
        <p:nvSpPr>
          <p:cNvPr id="97" name="Text Box 37">
            <a:extLst>
              <a:ext uri="{FF2B5EF4-FFF2-40B4-BE49-F238E27FC236}">
                <a16:creationId xmlns:a16="http://schemas.microsoft.com/office/drawing/2014/main" id="{68CF5C6F-336B-3C4A-90BF-D34A028745C5}"/>
              </a:ext>
            </a:extLst>
          </p:cNvPr>
          <p:cNvSpPr txBox="1">
            <a:spLocks noChangeArrowheads="1"/>
          </p:cNvSpPr>
          <p:nvPr/>
        </p:nvSpPr>
        <p:spPr bwMode="auto">
          <a:xfrm>
            <a:off x="2332795" y="1615588"/>
            <a:ext cx="33054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2100" kern="1200" dirty="0">
                <a:solidFill>
                  <a:prstClr val="black"/>
                </a:solidFill>
                <a:latin typeface="Calibri" panose="020F0502020204030204"/>
                <a:cs typeface="+mn-cs"/>
              </a:rPr>
              <a:t>B</a:t>
            </a:r>
          </a:p>
        </p:txBody>
      </p:sp>
      <p:grpSp>
        <p:nvGrpSpPr>
          <p:cNvPr id="98" name="Group 66">
            <a:extLst>
              <a:ext uri="{FF2B5EF4-FFF2-40B4-BE49-F238E27FC236}">
                <a16:creationId xmlns:a16="http://schemas.microsoft.com/office/drawing/2014/main" id="{7A33E76B-0B7D-BD4C-95A3-F5F9B6632736}"/>
              </a:ext>
            </a:extLst>
          </p:cNvPr>
          <p:cNvGrpSpPr>
            <a:grpSpLocks/>
          </p:cNvGrpSpPr>
          <p:nvPr/>
        </p:nvGrpSpPr>
        <p:grpSpPr bwMode="auto">
          <a:xfrm>
            <a:off x="2391170" y="901213"/>
            <a:ext cx="584629" cy="509588"/>
            <a:chOff x="-44" y="1473"/>
            <a:chExt cx="981" cy="1105"/>
          </a:xfrm>
        </p:grpSpPr>
        <p:pic>
          <p:nvPicPr>
            <p:cNvPr id="116" name="Picture 67" descr="desktop_computer_stylized_medium">
              <a:extLst>
                <a:ext uri="{FF2B5EF4-FFF2-40B4-BE49-F238E27FC236}">
                  <a16:creationId xmlns:a16="http://schemas.microsoft.com/office/drawing/2014/main" id="{388E3E99-7752-0140-B682-2CFDCCFDA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 name="Freeform 68">
              <a:extLst>
                <a:ext uri="{FF2B5EF4-FFF2-40B4-BE49-F238E27FC236}">
                  <a16:creationId xmlns:a16="http://schemas.microsoft.com/office/drawing/2014/main" id="{C233087D-1E28-874B-99E3-90A56E5DA77B}"/>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grpSp>
        <p:nvGrpSpPr>
          <p:cNvPr id="99" name="Group 69">
            <a:extLst>
              <a:ext uri="{FF2B5EF4-FFF2-40B4-BE49-F238E27FC236}">
                <a16:creationId xmlns:a16="http://schemas.microsoft.com/office/drawing/2014/main" id="{53B22ADC-2C36-5141-AAAC-31B53FC8C1F4}"/>
              </a:ext>
            </a:extLst>
          </p:cNvPr>
          <p:cNvGrpSpPr>
            <a:grpSpLocks/>
          </p:cNvGrpSpPr>
          <p:nvPr/>
        </p:nvGrpSpPr>
        <p:grpSpPr bwMode="auto">
          <a:xfrm>
            <a:off x="2384276" y="1656439"/>
            <a:ext cx="584630" cy="509588"/>
            <a:chOff x="-44" y="1473"/>
            <a:chExt cx="981" cy="1105"/>
          </a:xfrm>
        </p:grpSpPr>
        <p:pic>
          <p:nvPicPr>
            <p:cNvPr id="114" name="Picture 70" descr="desktop_computer_stylized_medium">
              <a:extLst>
                <a:ext uri="{FF2B5EF4-FFF2-40B4-BE49-F238E27FC236}">
                  <a16:creationId xmlns:a16="http://schemas.microsoft.com/office/drawing/2014/main" id="{DA4C023E-F595-544A-9929-08480475A5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Freeform 71">
              <a:extLst>
                <a:ext uri="{FF2B5EF4-FFF2-40B4-BE49-F238E27FC236}">
                  <a16:creationId xmlns:a16="http://schemas.microsoft.com/office/drawing/2014/main" id="{BD3780DD-1306-2540-89B8-0A42DEECFC6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defTabSz="685800">
                <a:buClrTx/>
                <a:defRPr/>
              </a:pPr>
              <a:endParaRPr lang="en-US" sz="1500" kern="1200" dirty="0">
                <a:solidFill>
                  <a:prstClr val="black"/>
                </a:solidFill>
                <a:latin typeface="Calibri" panose="020F0502020204030204"/>
                <a:ea typeface="+mn-ea"/>
                <a:cs typeface="+mn-cs"/>
              </a:endParaRPr>
            </a:p>
          </p:txBody>
        </p:sp>
      </p:grpSp>
      <p:sp>
        <p:nvSpPr>
          <p:cNvPr id="100" name="Text Box 41">
            <a:extLst>
              <a:ext uri="{FF2B5EF4-FFF2-40B4-BE49-F238E27FC236}">
                <a16:creationId xmlns:a16="http://schemas.microsoft.com/office/drawing/2014/main" id="{488CD73E-ECC7-E842-9578-1478C5F11784}"/>
              </a:ext>
            </a:extLst>
          </p:cNvPr>
          <p:cNvSpPr txBox="1">
            <a:spLocks noChangeArrowheads="1"/>
          </p:cNvSpPr>
          <p:nvPr/>
        </p:nvSpPr>
        <p:spPr bwMode="auto">
          <a:xfrm>
            <a:off x="3073591" y="659892"/>
            <a:ext cx="137255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r>
              <a:rPr lang="en-US" altLang="en-US" sz="1800" kern="1200" dirty="0">
                <a:solidFill>
                  <a:srgbClr val="CC0000"/>
                </a:solidFill>
                <a:latin typeface="Calibri" panose="020F0502020204030204"/>
                <a:cs typeface="+mn-cs"/>
              </a:rPr>
              <a:t>transmission</a:t>
            </a:r>
          </a:p>
        </p:txBody>
      </p:sp>
      <p:sp>
        <p:nvSpPr>
          <p:cNvPr id="101" name="Line 42">
            <a:extLst>
              <a:ext uri="{FF2B5EF4-FFF2-40B4-BE49-F238E27FC236}">
                <a16:creationId xmlns:a16="http://schemas.microsoft.com/office/drawing/2014/main" id="{B22F26F3-A41E-8848-BDA7-FE528ACF22F9}"/>
              </a:ext>
            </a:extLst>
          </p:cNvPr>
          <p:cNvSpPr>
            <a:spLocks noChangeShapeType="1"/>
          </p:cNvSpPr>
          <p:nvPr/>
        </p:nvSpPr>
        <p:spPr bwMode="auto">
          <a:xfrm rot="10800000" flipH="1" flipV="1">
            <a:off x="3977670" y="883354"/>
            <a:ext cx="396500" cy="4000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sp>
        <p:nvSpPr>
          <p:cNvPr id="103" name="Rectangle 31">
            <a:extLst>
              <a:ext uri="{FF2B5EF4-FFF2-40B4-BE49-F238E27FC236}">
                <a16:creationId xmlns:a16="http://schemas.microsoft.com/office/drawing/2014/main" id="{9C43DB7F-CC6C-3D47-AEBE-0F3B6F7415AB}"/>
              </a:ext>
            </a:extLst>
          </p:cNvPr>
          <p:cNvSpPr>
            <a:spLocks noChangeArrowheads="1"/>
          </p:cNvSpPr>
          <p:nvPr/>
        </p:nvSpPr>
        <p:spPr bwMode="auto">
          <a:xfrm>
            <a:off x="2990457" y="1773122"/>
            <a:ext cx="104830" cy="13889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685800">
              <a:buClrTx/>
              <a:defRPr/>
            </a:pPr>
            <a:endParaRPr lang="en-US" altLang="en-US" sz="2100" kern="1200" dirty="0">
              <a:solidFill>
                <a:srgbClr val="000000"/>
              </a:solidFill>
              <a:latin typeface="Calibri" panose="020F0502020204030204"/>
              <a:cs typeface="+mn-cs"/>
            </a:endParaRPr>
          </a:p>
        </p:txBody>
      </p:sp>
      <p:sp>
        <p:nvSpPr>
          <p:cNvPr id="104" name="Line 33">
            <a:extLst>
              <a:ext uri="{FF2B5EF4-FFF2-40B4-BE49-F238E27FC236}">
                <a16:creationId xmlns:a16="http://schemas.microsoft.com/office/drawing/2014/main" id="{1420A34E-BA5D-D248-8FAC-DCC28151FB9C}"/>
              </a:ext>
            </a:extLst>
          </p:cNvPr>
          <p:cNvSpPr>
            <a:spLocks noChangeShapeType="1"/>
          </p:cNvSpPr>
          <p:nvPr/>
        </p:nvSpPr>
        <p:spPr bwMode="auto">
          <a:xfrm flipV="1">
            <a:off x="3121954" y="1750335"/>
            <a:ext cx="164760" cy="12145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defTabSz="685800">
              <a:buClrTx/>
              <a:defRPr/>
            </a:pPr>
            <a:endParaRPr lang="en-US" sz="1500" kern="1200" dirty="0">
              <a:solidFill>
                <a:prstClr val="black"/>
              </a:solidFill>
              <a:latin typeface="Calibri" panose="020F0502020204030204"/>
              <a:ea typeface="+mn-ea"/>
              <a:cs typeface="+mn-cs"/>
            </a:endParaRPr>
          </a:p>
        </p:txBody>
      </p:sp>
      <p:cxnSp>
        <p:nvCxnSpPr>
          <p:cNvPr id="5" name="Straight Connector 4">
            <a:extLst>
              <a:ext uri="{FF2B5EF4-FFF2-40B4-BE49-F238E27FC236}">
                <a16:creationId xmlns:a16="http://schemas.microsoft.com/office/drawing/2014/main" id="{E0E58503-FA9B-1542-A0D6-E85B92D1E5BA}"/>
              </a:ext>
            </a:extLst>
          </p:cNvPr>
          <p:cNvCxnSpPr/>
          <p:nvPr/>
        </p:nvCxnSpPr>
        <p:spPr>
          <a:xfrm>
            <a:off x="4609063" y="1479340"/>
            <a:ext cx="2541744"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7" name="Group 126">
            <a:extLst>
              <a:ext uri="{FF2B5EF4-FFF2-40B4-BE49-F238E27FC236}">
                <a16:creationId xmlns:a16="http://schemas.microsoft.com/office/drawing/2014/main" id="{E49D3C3B-F6BB-8747-AE74-C4B438FB99F4}"/>
              </a:ext>
            </a:extLst>
          </p:cNvPr>
          <p:cNvGrpSpPr/>
          <p:nvPr/>
        </p:nvGrpSpPr>
        <p:grpSpPr>
          <a:xfrm>
            <a:off x="6941889" y="1134114"/>
            <a:ext cx="1133514" cy="647753"/>
            <a:chOff x="7493876" y="2774731"/>
            <a:chExt cx="1481958" cy="894622"/>
          </a:xfrm>
        </p:grpSpPr>
        <p:sp>
          <p:nvSpPr>
            <p:cNvPr id="128" name="Freeform 127">
              <a:extLst>
                <a:ext uri="{FF2B5EF4-FFF2-40B4-BE49-F238E27FC236}">
                  <a16:creationId xmlns:a16="http://schemas.microsoft.com/office/drawing/2014/main" id="{5D7E8999-C7DA-4C41-AF40-118E0151474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sp>
          <p:nvSpPr>
            <p:cNvPr id="129" name="Oval 128">
              <a:extLst>
                <a:ext uri="{FF2B5EF4-FFF2-40B4-BE49-F238E27FC236}">
                  <a16:creationId xmlns:a16="http://schemas.microsoft.com/office/drawing/2014/main" id="{21FE0DA3-6E20-DC4B-8111-DD2816780A5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r>
                <a:rPr lang="en-US" sz="1350" kern="1200" dirty="0">
                  <a:solidFill>
                    <a:prstClr val="white"/>
                  </a:solidFill>
                  <a:latin typeface="Calibri" panose="020F0502020204030204"/>
                </a:rPr>
                <a:t>              </a:t>
              </a:r>
            </a:p>
          </p:txBody>
        </p:sp>
        <p:grpSp>
          <p:nvGrpSpPr>
            <p:cNvPr id="130" name="Group 129">
              <a:extLst>
                <a:ext uri="{FF2B5EF4-FFF2-40B4-BE49-F238E27FC236}">
                  <a16:creationId xmlns:a16="http://schemas.microsoft.com/office/drawing/2014/main" id="{227FD192-76B7-BB4E-8D74-8B6F33DBA7D5}"/>
                </a:ext>
              </a:extLst>
            </p:cNvPr>
            <p:cNvGrpSpPr/>
            <p:nvPr/>
          </p:nvGrpSpPr>
          <p:grpSpPr>
            <a:xfrm>
              <a:off x="7713663" y="2848339"/>
              <a:ext cx="1042107" cy="425543"/>
              <a:chOff x="7786941" y="2884917"/>
              <a:chExt cx="897649" cy="353919"/>
            </a:xfrm>
          </p:grpSpPr>
          <p:sp>
            <p:nvSpPr>
              <p:cNvPr id="131" name="Freeform 130">
                <a:extLst>
                  <a:ext uri="{FF2B5EF4-FFF2-40B4-BE49-F238E27FC236}">
                    <a16:creationId xmlns:a16="http://schemas.microsoft.com/office/drawing/2014/main" id="{130CC598-6AE0-744A-9CEF-611CD26990D7}"/>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2" name="Freeform 131">
                <a:extLst>
                  <a:ext uri="{FF2B5EF4-FFF2-40B4-BE49-F238E27FC236}">
                    <a16:creationId xmlns:a16="http://schemas.microsoft.com/office/drawing/2014/main" id="{F0B09B4D-82A4-6D4A-B104-F100560C449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3" name="Freeform 132">
                <a:extLst>
                  <a:ext uri="{FF2B5EF4-FFF2-40B4-BE49-F238E27FC236}">
                    <a16:creationId xmlns:a16="http://schemas.microsoft.com/office/drawing/2014/main" id="{7CB1C4B0-5780-D24E-8D85-35BA5CE4255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sp>
            <p:nvSpPr>
              <p:cNvPr id="134" name="Freeform 133">
                <a:extLst>
                  <a:ext uri="{FF2B5EF4-FFF2-40B4-BE49-F238E27FC236}">
                    <a16:creationId xmlns:a16="http://schemas.microsoft.com/office/drawing/2014/main" id="{A78B6DE2-15CA-DC49-A0BD-10E78562E1D3}"/>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buClrTx/>
                  <a:defRPr/>
                </a:pPr>
                <a:endParaRPr lang="en-US" sz="1350" kern="1200" dirty="0">
                  <a:solidFill>
                    <a:prstClr val="white"/>
                  </a:solidFill>
                  <a:latin typeface="Calibri" panose="020F0502020204030204"/>
                </a:endParaRPr>
              </a:p>
            </p:txBody>
          </p:sp>
        </p:grpSp>
      </p:grpSp>
      <p:sp>
        <p:nvSpPr>
          <p:cNvPr id="52" name="Rectangle 3">
            <a:extLst>
              <a:ext uri="{FF2B5EF4-FFF2-40B4-BE49-F238E27FC236}">
                <a16:creationId xmlns:a16="http://schemas.microsoft.com/office/drawing/2014/main" id="{A295C9C7-DA39-ED42-847F-83EE93D04F56}"/>
              </a:ext>
            </a:extLst>
          </p:cNvPr>
          <p:cNvSpPr>
            <a:spLocks noChangeArrowheads="1"/>
          </p:cNvSpPr>
          <p:nvPr/>
        </p:nvSpPr>
        <p:spPr bwMode="auto">
          <a:xfrm>
            <a:off x="2532391" y="3112300"/>
            <a:ext cx="3179005" cy="155852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57175" indent="-257175" defTabSz="685800">
              <a:lnSpc>
                <a:spcPct val="90000"/>
              </a:lnSpc>
              <a:spcBef>
                <a:spcPts val="450"/>
              </a:spcBef>
              <a:buClr>
                <a:srgbClr val="000099"/>
              </a:buClr>
              <a:buSzPct val="65000"/>
              <a:defRPr/>
            </a:pPr>
            <a:r>
              <a:rPr lang="en-US" sz="2100" i="1" kern="1200" dirty="0" err="1">
                <a:solidFill>
                  <a:srgbClr val="CC0000"/>
                </a:solidFill>
                <a:latin typeface="Calibri" panose="020F0502020204030204"/>
                <a:ea typeface="ＭＳ Ｐゴシック" charset="0"/>
                <a:cs typeface="ＭＳ Ｐゴシック" charset="0"/>
              </a:rPr>
              <a:t>d</a:t>
            </a:r>
            <a:r>
              <a:rPr lang="en-US" sz="2100" kern="1200" baseline="-25000" dirty="0" err="1">
                <a:solidFill>
                  <a:srgbClr val="CC0000"/>
                </a:solidFill>
                <a:latin typeface="Calibri" panose="020F0502020204030204"/>
                <a:ea typeface="ＭＳ Ｐゴシック" charset="0"/>
                <a:cs typeface="ＭＳ Ｐゴシック" charset="0"/>
              </a:rPr>
              <a:t>tx</a:t>
            </a:r>
            <a:r>
              <a:rPr lang="en-US" sz="2100" kern="1200" dirty="0">
                <a:solidFill>
                  <a:srgbClr val="CC0000"/>
                </a:solidFill>
                <a:latin typeface="Calibri" panose="020F0502020204030204"/>
                <a:ea typeface="ＭＳ Ｐゴシック" charset="0"/>
                <a:cs typeface="ＭＳ Ｐゴシック" charset="0"/>
              </a:rPr>
              <a:t>: transmission delay:</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L</a:t>
            </a:r>
            <a:r>
              <a:rPr lang="en-US" sz="1800" kern="1200" dirty="0">
                <a:latin typeface="Calibri" panose="020F0502020204030204"/>
                <a:ea typeface="ＭＳ Ｐゴシック" charset="0"/>
                <a:cs typeface="ＭＳ Ｐゴシック" charset="0"/>
              </a:rPr>
              <a:t>: packet length (bits) </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R</a:t>
            </a:r>
            <a:r>
              <a:rPr lang="en-US" sz="1800" kern="1200" dirty="0">
                <a:latin typeface="Calibri" panose="020F0502020204030204"/>
                <a:ea typeface="ＭＳ Ｐゴシック" charset="0"/>
                <a:cs typeface="ＭＳ Ｐゴシック" charset="0"/>
              </a:rPr>
              <a:t>: link </a:t>
            </a:r>
            <a:r>
              <a:rPr lang="en-US" sz="1800" i="1" kern="1200" dirty="0">
                <a:latin typeface="Calibri" panose="020F0502020204030204"/>
                <a:ea typeface="ＭＳ Ｐゴシック" charset="0"/>
                <a:cs typeface="ＭＳ Ｐゴシック" charset="0"/>
              </a:rPr>
              <a:t>transmission rate (bps)</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i="1" kern="1200" baseline="-25000" dirty="0">
                <a:solidFill>
                  <a:srgbClr val="CC0000"/>
                </a:solidFill>
                <a:latin typeface="Calibri" panose="020F0502020204030204"/>
                <a:ea typeface="ＭＳ Ｐゴシック" charset="0"/>
                <a:cs typeface="ＭＳ Ｐゴシック" charset="0"/>
              </a:rPr>
              <a:t>trans</a:t>
            </a:r>
            <a:r>
              <a:rPr lang="en-US" sz="1800" i="1" kern="1200" dirty="0">
                <a:solidFill>
                  <a:srgbClr val="CC0000"/>
                </a:solidFill>
                <a:latin typeface="Calibri" panose="020F0502020204030204"/>
                <a:ea typeface="ＭＳ Ｐゴシック" charset="0"/>
                <a:cs typeface="ＭＳ Ｐゴシック" charset="0"/>
              </a:rPr>
              <a:t> </a:t>
            </a:r>
            <a:r>
              <a:rPr lang="en-US" sz="1800" i="1" kern="1200" dirty="0">
                <a:latin typeface="Calibri" panose="020F0502020204030204"/>
                <a:ea typeface="ＭＳ Ｐゴシック" charset="0"/>
                <a:cs typeface="ＭＳ Ｐゴシック" charset="0"/>
              </a:rPr>
              <a:t>= L/R</a:t>
            </a:r>
          </a:p>
        </p:txBody>
      </p:sp>
      <p:sp>
        <p:nvSpPr>
          <p:cNvPr id="53" name="Rectangle 4">
            <a:extLst>
              <a:ext uri="{FF2B5EF4-FFF2-40B4-BE49-F238E27FC236}">
                <a16:creationId xmlns:a16="http://schemas.microsoft.com/office/drawing/2014/main" id="{4367B5FB-6961-314F-9C99-C943E30E405F}"/>
              </a:ext>
            </a:extLst>
          </p:cNvPr>
          <p:cNvSpPr>
            <a:spLocks noChangeArrowheads="1"/>
          </p:cNvSpPr>
          <p:nvPr/>
        </p:nvSpPr>
        <p:spPr bwMode="auto">
          <a:xfrm>
            <a:off x="5638611" y="3112300"/>
            <a:ext cx="3433318" cy="16430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marL="257175" indent="-257175" defTabSz="685800">
              <a:lnSpc>
                <a:spcPct val="85000"/>
              </a:lnSpc>
              <a:spcBef>
                <a:spcPct val="20000"/>
              </a:spcBef>
              <a:buClr>
                <a:srgbClr val="000099"/>
              </a:buClr>
              <a:buSzPct val="65000"/>
              <a:defRPr/>
            </a:pPr>
            <a:r>
              <a:rPr lang="en-US" sz="2100" i="1" kern="1200" dirty="0">
                <a:solidFill>
                  <a:srgbClr val="CC0000"/>
                </a:solidFill>
                <a:latin typeface="Calibri" panose="020F0502020204030204"/>
                <a:ea typeface="ＭＳ Ｐゴシック" charset="0"/>
                <a:cs typeface="ＭＳ Ｐゴシック" charset="0"/>
              </a:rPr>
              <a:t>d</a:t>
            </a:r>
            <a:r>
              <a:rPr lang="en-US" sz="2100" kern="1200" baseline="-25000" dirty="0">
                <a:solidFill>
                  <a:srgbClr val="CC0000"/>
                </a:solidFill>
                <a:latin typeface="Calibri" panose="020F0502020204030204"/>
                <a:ea typeface="ＭＳ Ｐゴシック" charset="0"/>
                <a:cs typeface="ＭＳ Ｐゴシック" charset="0"/>
              </a:rPr>
              <a:t>prop</a:t>
            </a:r>
            <a:r>
              <a:rPr lang="en-US" sz="2100" kern="1200" dirty="0">
                <a:solidFill>
                  <a:srgbClr val="CC0000"/>
                </a:solidFill>
                <a:latin typeface="Calibri" panose="020F0502020204030204"/>
                <a:ea typeface="ＭＳ Ｐゴシック" charset="0"/>
                <a:cs typeface="ＭＳ Ｐゴシック" charset="0"/>
              </a:rPr>
              <a:t>: propagation delay:</a:t>
            </a:r>
            <a:endParaRPr lang="en-US" sz="1350" kern="1200" dirty="0">
              <a:solidFill>
                <a:srgbClr val="CC0000"/>
              </a:solidFill>
              <a:latin typeface="Calibri" panose="020F0502020204030204"/>
              <a:ea typeface="ＭＳ Ｐゴシック" charset="0"/>
              <a:cs typeface="ＭＳ Ｐゴシック" charset="0"/>
            </a:endParaRP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 length of physical link</a:t>
            </a:r>
          </a:p>
          <a:p>
            <a:pPr marL="173831" indent="-173831" defTabSz="685800">
              <a:lnSpc>
                <a:spcPct val="90000"/>
              </a:lnSpc>
              <a:spcBef>
                <a:spcPts val="450"/>
              </a:spcBef>
              <a:buClr>
                <a:srgbClr val="000099"/>
              </a:buClr>
              <a:buFont typeface="Wingdings" charset="0"/>
              <a:buChar char="§"/>
              <a:defRPr/>
            </a:pPr>
            <a:r>
              <a:rPr lang="en-US" sz="1800" i="1" kern="1200" dirty="0">
                <a:latin typeface="Calibri" panose="020F0502020204030204"/>
                <a:ea typeface="ＭＳ Ｐゴシック" charset="0"/>
                <a:cs typeface="ＭＳ Ｐゴシック" charset="0"/>
              </a:rPr>
              <a:t>s</a:t>
            </a:r>
            <a:r>
              <a:rPr lang="en-US" sz="1800" kern="1200" dirty="0">
                <a:latin typeface="Calibri" panose="020F0502020204030204"/>
                <a:ea typeface="ＭＳ Ｐゴシック" charset="0"/>
                <a:cs typeface="ＭＳ Ｐゴシック" charset="0"/>
              </a:rPr>
              <a:t>: propagation speed (~2x10</a:t>
            </a:r>
            <a:r>
              <a:rPr lang="en-US" sz="1800" kern="1200" baseline="30000" dirty="0">
                <a:latin typeface="Calibri" panose="020F0502020204030204"/>
                <a:ea typeface="ＭＳ Ｐゴシック" charset="0"/>
                <a:cs typeface="ＭＳ Ｐゴシック" charset="0"/>
              </a:rPr>
              <a:t>8</a:t>
            </a:r>
            <a:r>
              <a:rPr lang="en-US" sz="1800" kern="1200" dirty="0">
                <a:latin typeface="Calibri" panose="020F0502020204030204"/>
                <a:ea typeface="ＭＳ Ｐゴシック" charset="0"/>
                <a:cs typeface="ＭＳ Ｐゴシック" charset="0"/>
              </a:rPr>
              <a:t> m/sec)</a:t>
            </a:r>
          </a:p>
          <a:p>
            <a:pPr marL="173831" indent="-173831" defTabSz="685800">
              <a:lnSpc>
                <a:spcPct val="90000"/>
              </a:lnSpc>
              <a:spcBef>
                <a:spcPts val="450"/>
              </a:spcBef>
              <a:buClr>
                <a:srgbClr val="000099"/>
              </a:buClr>
              <a:buFont typeface="Wingdings" charset="0"/>
              <a:buChar char="§"/>
              <a:defRPr/>
            </a:pPr>
            <a:r>
              <a:rPr lang="en-US" sz="1800" i="1" kern="1200" dirty="0">
                <a:solidFill>
                  <a:srgbClr val="CC0000"/>
                </a:solidFill>
                <a:latin typeface="Calibri" panose="020F0502020204030204"/>
                <a:ea typeface="ＭＳ Ｐゴシック" charset="0"/>
                <a:cs typeface="ＭＳ Ｐゴシック" charset="0"/>
              </a:rPr>
              <a:t>d</a:t>
            </a:r>
            <a:r>
              <a:rPr lang="en-US" sz="1800" kern="1200" baseline="-25000" dirty="0">
                <a:solidFill>
                  <a:srgbClr val="CC0000"/>
                </a:solidFill>
                <a:latin typeface="Calibri" panose="020F0502020204030204"/>
                <a:ea typeface="ＭＳ Ｐゴシック" charset="0"/>
                <a:cs typeface="ＭＳ Ｐゴシック" charset="0"/>
              </a:rPr>
              <a:t>prop</a:t>
            </a:r>
            <a:r>
              <a:rPr lang="en-US" sz="1800" kern="1200" dirty="0">
                <a:latin typeface="Calibri" panose="020F0502020204030204"/>
                <a:ea typeface="ＭＳ Ｐゴシック" charset="0"/>
                <a:cs typeface="ＭＳ Ｐゴシック" charset="0"/>
              </a:rPr>
              <a:t> = </a:t>
            </a:r>
            <a:r>
              <a:rPr lang="en-US" sz="1800" i="1" kern="1200" dirty="0">
                <a:latin typeface="Calibri" panose="020F0502020204030204"/>
                <a:ea typeface="ＭＳ Ｐゴシック" charset="0"/>
                <a:cs typeface="ＭＳ Ｐゴシック" charset="0"/>
              </a:rPr>
              <a:t>d</a:t>
            </a:r>
            <a:r>
              <a:rPr lang="en-US" sz="1800" kern="1200" dirty="0">
                <a:latin typeface="Calibri" panose="020F0502020204030204"/>
                <a:ea typeface="ＭＳ Ｐゴシック" charset="0"/>
                <a:cs typeface="ＭＳ Ｐゴシック" charset="0"/>
              </a:rPr>
              <a:t>/</a:t>
            </a:r>
            <a:r>
              <a:rPr lang="en-US" sz="1800" i="1" kern="1200" dirty="0">
                <a:latin typeface="Calibri" panose="020F0502020204030204"/>
                <a:ea typeface="ＭＳ Ｐゴシック" charset="0"/>
                <a:cs typeface="ＭＳ Ｐゴシック" charset="0"/>
              </a:rPr>
              <a:t>s</a:t>
            </a:r>
          </a:p>
        </p:txBody>
      </p:sp>
      <p:sp>
        <p:nvSpPr>
          <p:cNvPr id="4" name="TextBox 3">
            <a:extLst>
              <a:ext uri="{FF2B5EF4-FFF2-40B4-BE49-F238E27FC236}">
                <a16:creationId xmlns:a16="http://schemas.microsoft.com/office/drawing/2014/main" id="{1F114893-DF20-B64F-71DF-D751A1CC3FA0}"/>
              </a:ext>
            </a:extLst>
          </p:cNvPr>
          <p:cNvSpPr txBox="1"/>
          <p:nvPr/>
        </p:nvSpPr>
        <p:spPr>
          <a:xfrm>
            <a:off x="7355270" y="56799"/>
            <a:ext cx="1704506" cy="461665"/>
          </a:xfrm>
          <a:prstGeom prst="rect">
            <a:avLst/>
          </a:prstGeom>
          <a:solidFill>
            <a:srgbClr val="ED7D31"/>
          </a:solidFill>
          <a:ln w="38100" cap="flat" cmpd="sng" algn="ctr">
            <a:solidFill>
              <a:srgbClr val="ED7D31">
                <a:shade val="15000"/>
              </a:srgbClr>
            </a:solidFill>
            <a:prstDash val="solid"/>
            <a:miter lim="800000"/>
          </a:ln>
          <a:effectLst/>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Calibri" panose="020F0502020204030204"/>
                <a:ea typeface="+mn-ea"/>
                <a:cs typeface="+mn-cs"/>
              </a:rPr>
              <a:t>IMPORTANT</a:t>
            </a:r>
            <a:endParaRPr kumimoji="0" lang="en-SE"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E28A315-E06F-7067-763F-5162A92F118B}"/>
              </a:ext>
            </a:extLst>
          </p:cNvPr>
          <p:cNvSpPr txBox="1"/>
          <p:nvPr/>
        </p:nvSpPr>
        <p:spPr>
          <a:xfrm>
            <a:off x="34756" y="1439199"/>
            <a:ext cx="2372098" cy="954107"/>
          </a:xfrm>
          <a:prstGeom prst="rect">
            <a:avLst/>
          </a:prstGeom>
          <a:solidFill>
            <a:schemeClr val="bg1">
              <a:lumMod val="85000"/>
            </a:schemeClr>
          </a:solidFill>
        </p:spPr>
        <p:style>
          <a:lnRef idx="1">
            <a:schemeClr val="dk1"/>
          </a:lnRef>
          <a:fillRef idx="2">
            <a:schemeClr val="dk1"/>
          </a:fillRef>
          <a:effectRef idx="1">
            <a:schemeClr val="dk1"/>
          </a:effectRef>
          <a:fontRef idx="minor">
            <a:schemeClr val="dk1"/>
          </a:fontRef>
        </p:style>
        <p:txBody>
          <a:bodyPr wrap="square">
            <a:spAutoFit/>
          </a:bodyPr>
          <a:lstStyle/>
          <a:p>
            <a:r>
              <a:rPr lang="en-US" kern="1200" dirty="0">
                <a:solidFill>
                  <a:schemeClr val="tx1"/>
                </a:solidFill>
                <a:latin typeface="Calibri" panose="020F0502020204030204"/>
                <a:ea typeface="+mn-ea"/>
                <a:cs typeface="+mn-cs"/>
              </a:rPr>
              <a:t>The </a:t>
            </a: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nodal processing delay (check bit errors, determine output link) is typically very small and can be ignored</a:t>
            </a:r>
            <a:endParaRPr lang="en-US" dirty="0">
              <a:solidFill>
                <a:schemeClr val="tx1"/>
              </a:solidFill>
            </a:endParaRPr>
          </a:p>
        </p:txBody>
      </p:sp>
    </p:spTree>
    <p:extLst>
      <p:ext uri="{BB962C8B-B14F-4D97-AF65-F5344CB8AC3E}">
        <p14:creationId xmlns:p14="http://schemas.microsoft.com/office/powerpoint/2010/main" val="45345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nodePh="1">
                                  <p:stCondLst>
                                    <p:cond delay="0"/>
                                  </p:stCondLst>
                                  <p:endCondLst>
                                    <p:cond evt="begin" delay="0">
                                      <p:tn val="5"/>
                                    </p:cond>
                                  </p:endCondLst>
                                  <p:childTnLst>
                                    <p:set>
                                      <p:cBhvr>
                                        <p:cTn id="6" dur="1" fill="hold">
                                          <p:stCondLst>
                                            <p:cond delay="0"/>
                                          </p:stCondLst>
                                        </p:cTn>
                                        <p:tgtEl>
                                          <p:spTgt spid="58"/>
                                        </p:tgtEl>
                                        <p:attrNameLst>
                                          <p:attrName>style.visibility</p:attrName>
                                        </p:attrNameLst>
                                      </p:cBhvr>
                                      <p:to>
                                        <p:strVal val="visible"/>
                                      </p:to>
                                    </p:set>
                                    <p:animEffect transition="in" filter="dissolv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5"/>
                                        </p:tgtEl>
                                        <p:attrNameLst>
                                          <p:attrName>style.visibility</p:attrName>
                                        </p:attrNameLst>
                                      </p:cBhvr>
                                      <p:to>
                                        <p:strVal val="visible"/>
                                      </p:to>
                                    </p:set>
                                    <p:animEffect transition="in" filter="dissolve">
                                      <p:cBhvr>
                                        <p:cTn id="12" dur="500"/>
                                        <p:tgtEl>
                                          <p:spTgt spid="7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dissolve">
                                      <p:cBhvr>
                                        <p:cTn id="17" dur="500"/>
                                        <p:tgtEl>
                                          <p:spTgt spid="5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
                                        </p:tgtEl>
                                        <p:attrNameLst>
                                          <p:attrName>style.visibility</p:attrName>
                                        </p:attrNameLst>
                                      </p:cBhvr>
                                      <p:to>
                                        <p:strVal val="visible"/>
                                      </p:to>
                                    </p:set>
                                    <p:animEffect transition="in" filter="dissolve">
                                      <p:cBhvr>
                                        <p:cTn id="22"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p:bldP spid="75" grpId="0"/>
      <p:bldP spid="52" grpId="0"/>
      <p:bldP spid="5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914B2-C161-4BFE-80A6-71DC7F5DA392}"/>
              </a:ext>
            </a:extLst>
          </p:cNvPr>
          <p:cNvSpPr>
            <a:spLocks noGrp="1"/>
          </p:cNvSpPr>
          <p:nvPr>
            <p:ph type="title"/>
          </p:nvPr>
        </p:nvSpPr>
        <p:spPr>
          <a:xfrm>
            <a:off x="637277" y="226180"/>
            <a:ext cx="4486275" cy="670967"/>
          </a:xfrm>
        </p:spPr>
        <p:txBody>
          <a:bodyPr>
            <a:normAutofit fontScale="90000"/>
          </a:bodyPr>
          <a:lstStyle/>
          <a:p>
            <a:r>
              <a:rPr lang="en-US" dirty="0"/>
              <a:t>Q1 End-­to­‐end delay </a:t>
            </a:r>
          </a:p>
        </p:txBody>
      </p:sp>
      <p:sp>
        <p:nvSpPr>
          <p:cNvPr id="3" name="Content Placeholder 2">
            <a:extLst>
              <a:ext uri="{FF2B5EF4-FFF2-40B4-BE49-F238E27FC236}">
                <a16:creationId xmlns:a16="http://schemas.microsoft.com/office/drawing/2014/main" id="{14A8C199-202B-428F-BCFF-DE6A5AABCDCD}"/>
              </a:ext>
            </a:extLst>
          </p:cNvPr>
          <p:cNvSpPr>
            <a:spLocks noGrp="1"/>
          </p:cNvSpPr>
          <p:nvPr>
            <p:ph sz="half" idx="1"/>
          </p:nvPr>
        </p:nvSpPr>
        <p:spPr>
          <a:xfrm>
            <a:off x="267419" y="897147"/>
            <a:ext cx="4247431" cy="3735576"/>
          </a:xfrm>
        </p:spPr>
        <p:txBody>
          <a:bodyPr>
            <a:normAutofit fontScale="92500" lnSpcReduction="10000"/>
          </a:bodyPr>
          <a:lstStyle/>
          <a:p>
            <a:r>
              <a:rPr lang="en-US" dirty="0"/>
              <a:t>Consider the network shown in the figure, with three links, each with a transmission rate of 1 Mbps, and a propagation delay of 1 msec per link. Assume the length of a packet is 1000 bits.</a:t>
            </a:r>
          </a:p>
          <a:p>
            <a:r>
              <a:rPr lang="en-US" dirty="0"/>
              <a:t>What is the end-end delay of a packet from when it first begins transmission on link 1, until is it received in full by the server at the end of link 3.  Assume that queueing delays are zero.</a:t>
            </a:r>
          </a:p>
        </p:txBody>
      </p:sp>
      <p:sp>
        <p:nvSpPr>
          <p:cNvPr id="5" name="Slide Number Placeholder 4">
            <a:extLst>
              <a:ext uri="{FF2B5EF4-FFF2-40B4-BE49-F238E27FC236}">
                <a16:creationId xmlns:a16="http://schemas.microsoft.com/office/drawing/2014/main" id="{1D0B0DF4-D0B4-4369-972D-BE8AFA559C49}"/>
              </a:ext>
            </a:extLst>
          </p:cNvPr>
          <p:cNvSpPr>
            <a:spLocks noGrp="1"/>
          </p:cNvSpPr>
          <p:nvPr>
            <p:ph type="sldNum" sz="quarter" idx="4"/>
          </p:nvPr>
        </p:nvSpPr>
        <p:spPr/>
        <p:txBody>
          <a:bodyPr/>
          <a:lstStyle/>
          <a:p>
            <a:r>
              <a:rPr lang="en-US"/>
              <a:t>Introduction: 1-</a:t>
            </a:r>
            <a:fld id="{C4204591-24BD-A542-B9D5-F8D8A88D2FEE}" type="slidenum">
              <a:rPr lang="en-US" smtClean="0"/>
              <a:pPr/>
              <a:t>3</a:t>
            </a:fld>
            <a:endParaRPr lang="en-US" dirty="0"/>
          </a:p>
        </p:txBody>
      </p:sp>
      <p:pic>
        <p:nvPicPr>
          <p:cNvPr id="6" name="Picture 5">
            <a:extLst>
              <a:ext uri="{FF2B5EF4-FFF2-40B4-BE49-F238E27FC236}">
                <a16:creationId xmlns:a16="http://schemas.microsoft.com/office/drawing/2014/main" id="{DF20A3C5-C68E-4D7F-9BC3-42DE800C88DC}"/>
              </a:ext>
            </a:extLst>
          </p:cNvPr>
          <p:cNvPicPr>
            <a:picLocks noChangeAspect="1"/>
          </p:cNvPicPr>
          <p:nvPr/>
        </p:nvPicPr>
        <p:blipFill>
          <a:blip r:embed="rId3"/>
          <a:stretch>
            <a:fillRect/>
          </a:stretch>
        </p:blipFill>
        <p:spPr>
          <a:xfrm>
            <a:off x="4514850" y="1990084"/>
            <a:ext cx="4529138" cy="1008966"/>
          </a:xfrm>
          <a:prstGeom prst="rect">
            <a:avLst/>
          </a:prstGeom>
        </p:spPr>
      </p:pic>
    </p:spTree>
    <p:extLst>
      <p:ext uri="{BB962C8B-B14F-4D97-AF65-F5344CB8AC3E}">
        <p14:creationId xmlns:p14="http://schemas.microsoft.com/office/powerpoint/2010/main" val="1660582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F22ED-37E6-4035-812B-1E8BC9C40AD6}"/>
              </a:ext>
            </a:extLst>
          </p:cNvPr>
          <p:cNvSpPr>
            <a:spLocks noGrp="1"/>
          </p:cNvSpPr>
          <p:nvPr>
            <p:ph type="title"/>
          </p:nvPr>
        </p:nvSpPr>
        <p:spPr>
          <a:xfrm>
            <a:off x="505326" y="338866"/>
            <a:ext cx="4247148" cy="670967"/>
          </a:xfrm>
        </p:spPr>
        <p:txBody>
          <a:bodyPr>
            <a:normAutofit fontScale="90000"/>
          </a:bodyPr>
          <a:lstStyle/>
          <a:p>
            <a:r>
              <a:rPr lang="en-US" dirty="0"/>
              <a:t>Q2 End-­to­‐end delay </a:t>
            </a:r>
          </a:p>
        </p:txBody>
      </p:sp>
      <p:sp>
        <p:nvSpPr>
          <p:cNvPr id="3" name="Content Placeholder 2">
            <a:extLst>
              <a:ext uri="{FF2B5EF4-FFF2-40B4-BE49-F238E27FC236}">
                <a16:creationId xmlns:a16="http://schemas.microsoft.com/office/drawing/2014/main" id="{F2B8676C-9679-44F2-BCB3-BE98A23F06B6}"/>
              </a:ext>
            </a:extLst>
          </p:cNvPr>
          <p:cNvSpPr>
            <a:spLocks noGrp="1"/>
          </p:cNvSpPr>
          <p:nvPr>
            <p:ph sz="half" idx="1"/>
          </p:nvPr>
        </p:nvSpPr>
        <p:spPr>
          <a:xfrm>
            <a:off x="0" y="1009833"/>
            <a:ext cx="4514850" cy="4133667"/>
          </a:xfrm>
        </p:spPr>
        <p:txBody>
          <a:bodyPr>
            <a:normAutofit fontScale="92500"/>
          </a:bodyPr>
          <a:lstStyle/>
          <a:p>
            <a:r>
              <a:rPr lang="en-US" sz="1600" dirty="0"/>
              <a:t>Consider the scenario shown in Figure 1: a server is connected to a router by a 100Mbps link with a 50ms propagation delay. This router is connected to two other routers, each over a 50Mbps link with a 200ms propagation delay. A 1Gbps link connects each host to each of these routers with 0 propagation delay. All packets in the network have size of 20,000 bits.</a:t>
            </a:r>
          </a:p>
          <a:p>
            <a:r>
              <a:rPr lang="en-US" sz="1600" dirty="0"/>
              <a:t>What is the end-­to­‐end delay (in </a:t>
            </a:r>
            <a:r>
              <a:rPr lang="en-US" sz="1600" dirty="0" err="1"/>
              <a:t>ms</a:t>
            </a:r>
            <a:r>
              <a:rPr lang="en-US" sz="1600" dirty="0"/>
              <a:t>) from when a packet is transmitted by the server to when it is received by the client? Assume there’s no queuing delay at the routers. </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96D8F998-432C-4A41-BBEF-67AB4A478786}"/>
                  </a:ext>
                </a:extLst>
              </p14:cNvPr>
              <p14:cNvContentPartPr/>
              <p14:nvPr/>
            </p14:nvContentPartPr>
            <p14:xfrm>
              <a:off x="4162524" y="468673"/>
              <a:ext cx="270" cy="270"/>
            </p14:xfrm>
          </p:contentPart>
        </mc:Choice>
        <mc:Fallback xmlns="">
          <p:pic>
            <p:nvPicPr>
              <p:cNvPr id="6" name="Ink 5">
                <a:extLst>
                  <a:ext uri="{FF2B5EF4-FFF2-40B4-BE49-F238E27FC236}">
                    <a16:creationId xmlns:a16="http://schemas.microsoft.com/office/drawing/2014/main" id="{96D8F998-432C-4A41-BBEF-67AB4A478786}"/>
                  </a:ext>
                </a:extLst>
              </p:cNvPr>
              <p:cNvPicPr/>
              <p:nvPr/>
            </p:nvPicPr>
            <p:blipFill>
              <a:blip r:embed="rId3"/>
              <a:stretch>
                <a:fillRect/>
              </a:stretch>
            </p:blipFill>
            <p:spPr>
              <a:xfrm>
                <a:off x="4155774" y="461923"/>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640A62D0-82F8-4CD4-9F6F-1195B827C41B}"/>
                  </a:ext>
                </a:extLst>
              </p14:cNvPr>
              <p14:cNvContentPartPr/>
              <p14:nvPr/>
            </p14:nvContentPartPr>
            <p14:xfrm>
              <a:off x="4355304" y="576943"/>
              <a:ext cx="270" cy="270"/>
            </p14:xfrm>
          </p:contentPart>
        </mc:Choice>
        <mc:Fallback xmlns="">
          <p:pic>
            <p:nvPicPr>
              <p:cNvPr id="7" name="Ink 6">
                <a:extLst>
                  <a:ext uri="{FF2B5EF4-FFF2-40B4-BE49-F238E27FC236}">
                    <a16:creationId xmlns:a16="http://schemas.microsoft.com/office/drawing/2014/main" id="{640A62D0-82F8-4CD4-9F6F-1195B827C41B}"/>
                  </a:ext>
                </a:extLst>
              </p:cNvPr>
              <p:cNvPicPr/>
              <p:nvPr/>
            </p:nvPicPr>
            <p:blipFill>
              <a:blip r:embed="rId3"/>
              <a:stretch>
                <a:fillRect/>
              </a:stretch>
            </p:blipFill>
            <p:spPr>
              <a:xfrm>
                <a:off x="4348554" y="570193"/>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DE675B20-89E1-4D27-933B-98606F59FBD5}"/>
                  </a:ext>
                </a:extLst>
              </p14:cNvPr>
              <p14:cNvContentPartPr/>
              <p14:nvPr/>
            </p14:nvContentPartPr>
            <p14:xfrm>
              <a:off x="2394024" y="1900753"/>
              <a:ext cx="270" cy="270"/>
            </p14:xfrm>
          </p:contentPart>
        </mc:Choice>
        <mc:Fallback xmlns="">
          <p:pic>
            <p:nvPicPr>
              <p:cNvPr id="8" name="Ink 7">
                <a:extLst>
                  <a:ext uri="{FF2B5EF4-FFF2-40B4-BE49-F238E27FC236}">
                    <a16:creationId xmlns:a16="http://schemas.microsoft.com/office/drawing/2014/main" id="{DE675B20-89E1-4D27-933B-98606F59FBD5}"/>
                  </a:ext>
                </a:extLst>
              </p:cNvPr>
              <p:cNvPicPr/>
              <p:nvPr/>
            </p:nvPicPr>
            <p:blipFill>
              <a:blip r:embed="rId3"/>
              <a:stretch>
                <a:fillRect/>
              </a:stretch>
            </p:blipFill>
            <p:spPr>
              <a:xfrm>
                <a:off x="2387274" y="1894003"/>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C0089B61-CEF3-4A8A-B3DC-36179B12D810}"/>
                  </a:ext>
                </a:extLst>
              </p14:cNvPr>
              <p14:cNvContentPartPr/>
              <p14:nvPr/>
            </p14:nvContentPartPr>
            <p14:xfrm>
              <a:off x="1142574" y="1551373"/>
              <a:ext cx="270" cy="270"/>
            </p14:xfrm>
          </p:contentPart>
        </mc:Choice>
        <mc:Fallback xmlns="">
          <p:pic>
            <p:nvPicPr>
              <p:cNvPr id="9" name="Ink 8">
                <a:extLst>
                  <a:ext uri="{FF2B5EF4-FFF2-40B4-BE49-F238E27FC236}">
                    <a16:creationId xmlns:a16="http://schemas.microsoft.com/office/drawing/2014/main" id="{C0089B61-CEF3-4A8A-B3DC-36179B12D810}"/>
                  </a:ext>
                </a:extLst>
              </p:cNvPr>
              <p:cNvPicPr/>
              <p:nvPr/>
            </p:nvPicPr>
            <p:blipFill>
              <a:blip r:embed="rId3"/>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6B92C2C3-DB8F-435E-88E5-BDB35A55DC5D}"/>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pic>
        <p:nvPicPr>
          <p:cNvPr id="16" name="Picture 15">
            <a:extLst>
              <a:ext uri="{FF2B5EF4-FFF2-40B4-BE49-F238E27FC236}">
                <a16:creationId xmlns:a16="http://schemas.microsoft.com/office/drawing/2014/main" id="{AC1F5761-15A8-42FC-ACC1-15EF84C22131}"/>
              </a:ext>
            </a:extLst>
          </p:cNvPr>
          <p:cNvPicPr>
            <a:picLocks noChangeAspect="1"/>
          </p:cNvPicPr>
          <p:nvPr/>
        </p:nvPicPr>
        <p:blipFill>
          <a:blip r:embed="rId7"/>
          <a:stretch>
            <a:fillRect/>
          </a:stretch>
        </p:blipFill>
        <p:spPr>
          <a:xfrm>
            <a:off x="4737524" y="674349"/>
            <a:ext cx="4223594" cy="3954819"/>
          </a:xfrm>
          <a:prstGeom prst="rect">
            <a:avLst/>
          </a:prstGeom>
        </p:spPr>
      </p:pic>
    </p:spTree>
    <p:extLst>
      <p:ext uri="{BB962C8B-B14F-4D97-AF65-F5344CB8AC3E}">
        <p14:creationId xmlns:p14="http://schemas.microsoft.com/office/powerpoint/2010/main" val="1533311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54B36-D754-FCDC-5B2C-D21289D334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C796FF-6B04-3C50-3911-52B6AB202DBA}"/>
              </a:ext>
            </a:extLst>
          </p:cNvPr>
          <p:cNvSpPr>
            <a:spLocks noGrp="1"/>
          </p:cNvSpPr>
          <p:nvPr>
            <p:ph type="title"/>
          </p:nvPr>
        </p:nvSpPr>
        <p:spPr>
          <a:xfrm>
            <a:off x="505326" y="338866"/>
            <a:ext cx="4247148" cy="670967"/>
          </a:xfrm>
        </p:spPr>
        <p:txBody>
          <a:bodyPr>
            <a:normAutofit fontScale="90000"/>
          </a:bodyPr>
          <a:lstStyle/>
          <a:p>
            <a:r>
              <a:rPr lang="en-US" dirty="0"/>
              <a:t>Q3 End-­to­‐end delay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A0EDEB-DF4F-02F2-0219-D7E5E5242A29}"/>
                  </a:ext>
                </a:extLst>
              </p:cNvPr>
              <p:cNvSpPr>
                <a:spLocks noGrp="1"/>
              </p:cNvSpPr>
              <p:nvPr>
                <p:ph sz="half" idx="1"/>
              </p:nvPr>
            </p:nvSpPr>
            <p:spPr>
              <a:xfrm>
                <a:off x="0" y="1009833"/>
                <a:ext cx="8816196" cy="4133667"/>
              </a:xfrm>
            </p:spPr>
            <p:txBody>
              <a:bodyPr>
                <a:normAutofit/>
              </a:bodyPr>
              <a:lstStyle/>
              <a:p>
                <a:r>
                  <a:rPr lang="en-US" sz="1600" dirty="0"/>
                  <a:t>Consider a 100 Mbps link between an earth station (sender) and a satellite (receiver) at an altitude of 2100 km. The signal propagates at a speed of </a:t>
                </a:r>
                <a14:m>
                  <m:oMath xmlns:m="http://schemas.openxmlformats.org/officeDocument/2006/math">
                    <m:r>
                      <a:rPr lang="en-US">
                        <a:latin typeface="Cambria Math" panose="02040503050406030204" pitchFamily="18" charset="0"/>
                      </a:rPr>
                      <m:t>3</m:t>
                    </m:r>
                    <m:r>
                      <a:rPr lang="en-US">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8</m:t>
                        </m:r>
                      </m:sup>
                    </m:sSup>
                  </m:oMath>
                </a14:m>
                <a:r>
                  <a:rPr lang="en-US" sz="1600" dirty="0"/>
                  <a:t>m/s. Calculate the time taken (in </a:t>
                </a:r>
                <a:r>
                  <a:rPr lang="en-US" sz="1600" dirty="0" err="1"/>
                  <a:t>ms</a:t>
                </a:r>
                <a:r>
                  <a:rPr lang="en-US" sz="1600" dirty="0"/>
                  <a:t>) for the receiver to receive a packet of 1000 bytes transmitted by the sender. (There is no router so there is no queuing delay.)</a:t>
                </a:r>
              </a:p>
            </p:txBody>
          </p:sp>
        </mc:Choice>
        <mc:Fallback xmlns="">
          <p:sp>
            <p:nvSpPr>
              <p:cNvPr id="3" name="Content Placeholder 2">
                <a:extLst>
                  <a:ext uri="{FF2B5EF4-FFF2-40B4-BE49-F238E27FC236}">
                    <a16:creationId xmlns:a16="http://schemas.microsoft.com/office/drawing/2014/main" id="{E5A0EDEB-DF4F-02F2-0219-D7E5E5242A29}"/>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2"/>
                <a:stretch>
                  <a:fillRect r="-207"/>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7E73B5BA-0C66-2920-2BD4-6E9FD018625B}"/>
                  </a:ext>
                </a:extLst>
              </p14:cNvPr>
              <p14:cNvContentPartPr/>
              <p14:nvPr/>
            </p14:nvContentPartPr>
            <p14:xfrm>
              <a:off x="2394024" y="1900753"/>
              <a:ext cx="270" cy="270"/>
            </p14:xfrm>
          </p:contentPart>
        </mc:Choice>
        <mc:Fallback xmlns="">
          <p:pic>
            <p:nvPicPr>
              <p:cNvPr id="8" name="Ink 7">
                <a:extLst>
                  <a:ext uri="{FF2B5EF4-FFF2-40B4-BE49-F238E27FC236}">
                    <a16:creationId xmlns:a16="http://schemas.microsoft.com/office/drawing/2014/main" id="{7E73B5BA-0C66-2920-2BD4-6E9FD018625B}"/>
                  </a:ext>
                </a:extLst>
              </p:cNvPr>
              <p:cNvPicPr/>
              <p:nvPr/>
            </p:nvPicPr>
            <p:blipFill>
              <a:blip r:embed="rId4"/>
              <a:stretch>
                <a:fillRect/>
              </a:stretch>
            </p:blipFill>
            <p:spPr>
              <a:xfrm>
                <a:off x="2387274" y="1894003"/>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A9932EF1-F11C-8B53-E268-7D3EFE8F8E0A}"/>
                  </a:ext>
                </a:extLst>
              </p14:cNvPr>
              <p14:cNvContentPartPr/>
              <p14:nvPr/>
            </p14:nvContentPartPr>
            <p14:xfrm>
              <a:off x="1142574" y="1551373"/>
              <a:ext cx="270" cy="270"/>
            </p14:xfrm>
          </p:contentPart>
        </mc:Choice>
        <mc:Fallback xmlns="">
          <p:pic>
            <p:nvPicPr>
              <p:cNvPr id="9" name="Ink 8">
                <a:extLst>
                  <a:ext uri="{FF2B5EF4-FFF2-40B4-BE49-F238E27FC236}">
                    <a16:creationId xmlns:a16="http://schemas.microsoft.com/office/drawing/2014/main" id="{A9932EF1-F11C-8B53-E268-7D3EFE8F8E0A}"/>
                  </a:ext>
                </a:extLst>
              </p:cNvPr>
              <p:cNvPicPr/>
              <p:nvPr/>
            </p:nvPicPr>
            <p:blipFill>
              <a:blip r:embed="rId4"/>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C9576285-9447-3003-FA0A-B9A3503DBB9E}"/>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3787782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27920-11B3-D76E-AE61-F2AD5E11BF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AE1F6-D8E5-0339-7CA0-4F67013794D3}"/>
              </a:ext>
            </a:extLst>
          </p:cNvPr>
          <p:cNvSpPr>
            <a:spLocks noGrp="1"/>
          </p:cNvSpPr>
          <p:nvPr>
            <p:ph type="title"/>
          </p:nvPr>
        </p:nvSpPr>
        <p:spPr>
          <a:xfrm>
            <a:off x="505326" y="338866"/>
            <a:ext cx="4247148" cy="670967"/>
          </a:xfrm>
        </p:spPr>
        <p:txBody>
          <a:bodyPr>
            <a:normAutofit fontScale="90000"/>
          </a:bodyPr>
          <a:lstStyle/>
          <a:p>
            <a:r>
              <a:rPr lang="en-US" dirty="0"/>
              <a:t>Q4 End-­to­‐end delay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542915-B4F9-DBBE-C4D4-2041C46C8D1C}"/>
                  </a:ext>
                </a:extLst>
              </p:cNvPr>
              <p:cNvSpPr>
                <a:spLocks noGrp="1"/>
              </p:cNvSpPr>
              <p:nvPr>
                <p:ph sz="half" idx="1"/>
              </p:nvPr>
            </p:nvSpPr>
            <p:spPr>
              <a:xfrm>
                <a:off x="0" y="1009833"/>
                <a:ext cx="8816196" cy="4133667"/>
              </a:xfrm>
            </p:spPr>
            <p:txBody>
              <a:bodyPr>
                <a:normAutofit/>
              </a:bodyPr>
              <a:lstStyle/>
              <a:p>
                <a:r>
                  <a:rPr lang="en-US" sz="1600" dirty="0"/>
                  <a:t>Consider two computers X and Y connected via a single link of bandwidth 512 Gbps. Suppose that both hosts are separated by distance M meters, and the propagation delay along the link is </a:t>
                </a:r>
                <a14:m>
                  <m:oMath xmlns:m="http://schemas.openxmlformats.org/officeDocument/2006/math">
                    <m:r>
                      <a:rPr lang="en-US">
                        <a:latin typeface="Cambria Math" panose="02040503050406030204" pitchFamily="18" charset="0"/>
                      </a:rPr>
                      <m:t>2</m:t>
                    </m:r>
                    <m:r>
                      <a:rPr lang="en-US">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10</m:t>
                        </m:r>
                      </m:e>
                      <m:sup>
                        <m:r>
                          <a:rPr lang="ar-AE">
                            <a:latin typeface="Cambria Math" panose="02040503050406030204" pitchFamily="18" charset="0"/>
                          </a:rPr>
                          <m:t>9</m:t>
                        </m:r>
                      </m:sup>
                    </m:sSup>
                  </m:oMath>
                </a14:m>
                <a:r>
                  <a:rPr lang="en-US" sz="1600" dirty="0"/>
                  <a:t>meters/sec. Computer X has to send a packet of size 1 Kbyte to computer Y. What will be the distance M such that the propagation delay is equal to the transmission delay?</a:t>
                </a:r>
              </a:p>
            </p:txBody>
          </p:sp>
        </mc:Choice>
        <mc:Fallback xmlns="">
          <p:sp>
            <p:nvSpPr>
              <p:cNvPr id="3" name="Content Placeholder 2">
                <a:extLst>
                  <a:ext uri="{FF2B5EF4-FFF2-40B4-BE49-F238E27FC236}">
                    <a16:creationId xmlns:a16="http://schemas.microsoft.com/office/drawing/2014/main" id="{AF542915-B4F9-DBBE-C4D4-2041C46C8D1C}"/>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2"/>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BF9B16F1-26FB-0E56-FA0A-E1AE729E92E6}"/>
                  </a:ext>
                </a:extLst>
              </p14:cNvPr>
              <p14:cNvContentPartPr/>
              <p14:nvPr/>
            </p14:nvContentPartPr>
            <p14:xfrm>
              <a:off x="2394024" y="1900753"/>
              <a:ext cx="270" cy="270"/>
            </p14:xfrm>
          </p:contentPart>
        </mc:Choice>
        <mc:Fallback xmlns="">
          <p:pic>
            <p:nvPicPr>
              <p:cNvPr id="8" name="Ink 7">
                <a:extLst>
                  <a:ext uri="{FF2B5EF4-FFF2-40B4-BE49-F238E27FC236}">
                    <a16:creationId xmlns:a16="http://schemas.microsoft.com/office/drawing/2014/main" id="{BF9B16F1-26FB-0E56-FA0A-E1AE729E92E6}"/>
                  </a:ext>
                </a:extLst>
              </p:cNvPr>
              <p:cNvPicPr/>
              <p:nvPr/>
            </p:nvPicPr>
            <p:blipFill>
              <a:blip r:embed="rId4"/>
              <a:stretch>
                <a:fillRect/>
              </a:stretch>
            </p:blipFill>
            <p:spPr>
              <a:xfrm>
                <a:off x="2387274" y="1894003"/>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BC90F249-0F8D-8A72-C826-5B5928532520}"/>
                  </a:ext>
                </a:extLst>
              </p14:cNvPr>
              <p14:cNvContentPartPr/>
              <p14:nvPr/>
            </p14:nvContentPartPr>
            <p14:xfrm>
              <a:off x="1142574" y="1551373"/>
              <a:ext cx="270" cy="270"/>
            </p14:xfrm>
          </p:contentPart>
        </mc:Choice>
        <mc:Fallback xmlns="">
          <p:pic>
            <p:nvPicPr>
              <p:cNvPr id="9" name="Ink 8">
                <a:extLst>
                  <a:ext uri="{FF2B5EF4-FFF2-40B4-BE49-F238E27FC236}">
                    <a16:creationId xmlns:a16="http://schemas.microsoft.com/office/drawing/2014/main" id="{BC90F249-0F8D-8A72-C826-5B5928532520}"/>
                  </a:ext>
                </a:extLst>
              </p:cNvPr>
              <p:cNvPicPr/>
              <p:nvPr/>
            </p:nvPicPr>
            <p:blipFill>
              <a:blip r:embed="rId4"/>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4F627A13-160A-CA35-4A74-6E36D1D5F755}"/>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3940767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CF77A-82FB-D76C-D8D3-C8D912DE0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D83E8-8F76-9C17-5ABB-915FFC20352B}"/>
              </a:ext>
            </a:extLst>
          </p:cNvPr>
          <p:cNvSpPr>
            <a:spLocks noGrp="1"/>
          </p:cNvSpPr>
          <p:nvPr>
            <p:ph type="title"/>
          </p:nvPr>
        </p:nvSpPr>
        <p:spPr>
          <a:xfrm>
            <a:off x="505325" y="338866"/>
            <a:ext cx="5075965" cy="670967"/>
          </a:xfrm>
        </p:spPr>
        <p:txBody>
          <a:bodyPr>
            <a:normAutofit fontScale="90000"/>
          </a:bodyPr>
          <a:lstStyle/>
          <a:p>
            <a:r>
              <a:rPr lang="en-US" dirty="0"/>
              <a:t>Q5 Transmission delay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28AC50-2E5A-BA00-9067-9CDF801D2F2F}"/>
                  </a:ext>
                </a:extLst>
              </p:cNvPr>
              <p:cNvSpPr>
                <a:spLocks noGrp="1"/>
              </p:cNvSpPr>
              <p:nvPr>
                <p:ph sz="half" idx="1"/>
              </p:nvPr>
            </p:nvSpPr>
            <p:spPr>
              <a:xfrm>
                <a:off x="0" y="1009833"/>
                <a:ext cx="8816196" cy="4133667"/>
              </a:xfrm>
            </p:spPr>
            <p:txBody>
              <a:bodyPr>
                <a:normAutofit/>
              </a:bodyPr>
              <a:lstStyle/>
              <a:p>
                <a:r>
                  <a:rPr lang="en-US" sz="1600" dirty="0"/>
                  <a:t>1. Calculate transmission delay for message size </a:t>
                </a:r>
                <a14:m>
                  <m:oMath xmlns:m="http://schemas.openxmlformats.org/officeDocument/2006/math">
                    <m:r>
                      <a:rPr lang="en-US" b="0" i="1">
                        <a:latin typeface="Cambria Math" panose="02040503050406030204" pitchFamily="18" charset="0"/>
                      </a:rPr>
                      <m:t>𝐿</m:t>
                    </m:r>
                    <m:r>
                      <a:rPr lang="en-US" b="0">
                        <a:latin typeface="Cambria Math" panose="02040503050406030204" pitchFamily="18" charset="0"/>
                      </a:rPr>
                      <m:t>=</m:t>
                    </m:r>
                    <m:r>
                      <a:rPr lang="en-US" b="0">
                        <a:latin typeface="Cambria Math" panose="02040503050406030204" pitchFamily="18" charset="0"/>
                      </a:rPr>
                      <m:t>8000</m:t>
                    </m:r>
                  </m:oMath>
                </a14:m>
                <a:r>
                  <a:rPr lang="en-US" sz="1600" dirty="0"/>
                  <a:t>bits, network bandwidth </a:t>
                </a:r>
                <a14:m>
                  <m:oMath xmlns:m="http://schemas.openxmlformats.org/officeDocument/2006/math">
                    <m:r>
                      <a:rPr lang="en-US" b="0" i="1">
                        <a:latin typeface="Cambria Math" panose="02040503050406030204" pitchFamily="18" charset="0"/>
                      </a:rPr>
                      <m:t>𝐵</m:t>
                    </m:r>
                    <m:r>
                      <a:rPr lang="en-US" b="0">
                        <a:latin typeface="Cambria Math" panose="02040503050406030204" pitchFamily="18" charset="0"/>
                      </a:rPr>
                      <m:t>=</m:t>
                    </m:r>
                    <m:r>
                      <a:rPr lang="en-US" b="0">
                        <a:latin typeface="Cambria Math" panose="02040503050406030204" pitchFamily="18" charset="0"/>
                      </a:rPr>
                      <m:t>8000</m:t>
                    </m:r>
                  </m:oMath>
                </a14:m>
                <a:r>
                  <a:rPr lang="en-US" sz="1600" dirty="0"/>
                  <a:t>bits/sec</a:t>
                </a:r>
              </a:p>
              <a:p>
                <a:r>
                  <a:rPr lang="en-US" dirty="0"/>
                  <a:t>ANS:</a:t>
                </a:r>
                <a:endParaRPr lang="en-US" b="0" dirty="0"/>
              </a:p>
              <a:p>
                <a:r>
                  <a:rPr lang="en-US" sz="1600" dirty="0"/>
                  <a:t>2. Calculate transmission delay for message size </a:t>
                </a:r>
                <a14:m>
                  <m:oMath xmlns:m="http://schemas.openxmlformats.org/officeDocument/2006/math">
                    <m:r>
                      <a:rPr lang="en-US" sz="1600" b="0" i="1">
                        <a:latin typeface="Cambria Math" panose="02040503050406030204" pitchFamily="18" charset="0"/>
                      </a:rPr>
                      <m:t>𝐿</m:t>
                    </m:r>
                    <m:r>
                      <a:rPr lang="en-US" sz="1600" b="0">
                        <a:latin typeface="Cambria Math" panose="02040503050406030204" pitchFamily="18" charset="0"/>
                      </a:rPr>
                      <m:t>=</m:t>
                    </m:r>
                    <m:r>
                      <m:rPr>
                        <m:nor/>
                      </m:rPr>
                      <a:rPr lang="en-US" sz="1600" b="0" smtClean="0">
                        <a:latin typeface="Cambria Math" panose="02040503050406030204" pitchFamily="18" charset="0"/>
                      </a:rPr>
                      <m:t>1</m:t>
                    </m:r>
                    <m:r>
                      <m:rPr>
                        <m:nor/>
                      </m:rPr>
                      <a:rPr lang="en-US" sz="1600"/>
                      <m:t> </m:t>
                    </m:r>
                    <m:r>
                      <m:rPr>
                        <m:nor/>
                      </m:rPr>
                      <a:rPr lang="en-US" sz="1600"/>
                      <m:t>Kbyte</m:t>
                    </m:r>
                    <m:r>
                      <m:rPr>
                        <m:nor/>
                      </m:rPr>
                      <a:rPr lang="en-US" sz="1600" b="0" smtClean="0"/>
                      <m:t>s</m:t>
                    </m:r>
                  </m:oMath>
                </a14:m>
                <a:r>
                  <a:rPr lang="en-US" sz="1600" dirty="0">
                    <a:latin typeface="Cambria Math" panose="02040503050406030204" pitchFamily="18" charset="0"/>
                  </a:rPr>
                  <a:t>, </a:t>
                </a:r>
                <a:r>
                  <a:rPr lang="en-US" sz="1600" dirty="0"/>
                  <a:t>network bandwidth </a:t>
                </a:r>
                <a14:m>
                  <m:oMath xmlns:m="http://schemas.openxmlformats.org/officeDocument/2006/math">
                    <m:r>
                      <a:rPr lang="en-US" sz="1600" b="0" i="1">
                        <a:latin typeface="Cambria Math" panose="02040503050406030204" pitchFamily="18" charset="0"/>
                      </a:rPr>
                      <m:t>𝐵</m:t>
                    </m:r>
                    <m:r>
                      <a:rPr lang="en-US" sz="1600" b="0">
                        <a:latin typeface="Cambria Math" panose="02040503050406030204" pitchFamily="18" charset="0"/>
                      </a:rPr>
                      <m:t>=</m:t>
                    </m:r>
                    <m:r>
                      <a:rPr lang="en-US" sz="1600" b="0">
                        <a:latin typeface="Cambria Math" panose="02040503050406030204" pitchFamily="18" charset="0"/>
                      </a:rPr>
                      <m:t>8</m:t>
                    </m:r>
                    <m:r>
                      <m:rPr>
                        <m:nor/>
                      </m:rPr>
                      <a:rPr lang="en-US" sz="1600" i="1"/>
                      <m:t> </m:t>
                    </m:r>
                    <m:r>
                      <m:rPr>
                        <m:nor/>
                      </m:rPr>
                      <a:rPr lang="en-US" sz="1600" i="1"/>
                      <m:t>Kbps</m:t>
                    </m:r>
                  </m:oMath>
                </a14:m>
                <a:endParaRPr lang="en-US" sz="1600" i="1" dirty="0">
                  <a:latin typeface="Cambria Math" panose="02040503050406030204" pitchFamily="18" charset="0"/>
                </a:endParaRPr>
              </a:p>
              <a:p>
                <a:r>
                  <a:rPr lang="en-US" sz="1600" dirty="0"/>
                  <a:t>ANS:</a:t>
                </a:r>
              </a:p>
            </p:txBody>
          </p:sp>
        </mc:Choice>
        <mc:Fallback xmlns="">
          <p:sp>
            <p:nvSpPr>
              <p:cNvPr id="3" name="Content Placeholder 2">
                <a:extLst>
                  <a:ext uri="{FF2B5EF4-FFF2-40B4-BE49-F238E27FC236}">
                    <a16:creationId xmlns:a16="http://schemas.microsoft.com/office/drawing/2014/main" id="{5128AC50-2E5A-BA00-9067-9CDF801D2F2F}"/>
                  </a:ext>
                </a:extLst>
              </p:cNvPr>
              <p:cNvSpPr>
                <a:spLocks noGrp="1" noRot="1" noChangeAspect="1" noMove="1" noResize="1" noEditPoints="1" noAdjustHandles="1" noChangeArrowheads="1" noChangeShapeType="1" noTextEdit="1"/>
              </p:cNvSpPr>
              <p:nvPr>
                <p:ph sz="half" idx="1"/>
              </p:nvPr>
            </p:nvSpPr>
            <p:spPr>
              <a:xfrm>
                <a:off x="0" y="1009833"/>
                <a:ext cx="8816196" cy="4133667"/>
              </a:xfrm>
              <a:blipFill>
                <a:blip r:embed="rId3"/>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E6315AA9-A48D-4A1A-9D7E-A80F389D1BD5}"/>
                  </a:ext>
                </a:extLst>
              </p14:cNvPr>
              <p14:cNvContentPartPr/>
              <p14:nvPr/>
            </p14:nvContentPartPr>
            <p14:xfrm>
              <a:off x="2394024" y="1900753"/>
              <a:ext cx="270" cy="270"/>
            </p14:xfrm>
          </p:contentPart>
        </mc:Choice>
        <mc:Fallback xmlns="">
          <p:pic>
            <p:nvPicPr>
              <p:cNvPr id="8" name="Ink 7">
                <a:extLst>
                  <a:ext uri="{FF2B5EF4-FFF2-40B4-BE49-F238E27FC236}">
                    <a16:creationId xmlns:a16="http://schemas.microsoft.com/office/drawing/2014/main" id="{E6315AA9-A48D-4A1A-9D7E-A80F389D1BD5}"/>
                  </a:ext>
                </a:extLst>
              </p:cNvPr>
              <p:cNvPicPr/>
              <p:nvPr/>
            </p:nvPicPr>
            <p:blipFill>
              <a:blip r:embed="rId5"/>
              <a:stretch>
                <a:fillRect/>
              </a:stretch>
            </p:blipFill>
            <p:spPr>
              <a:xfrm>
                <a:off x="2387274" y="1894003"/>
                <a:ext cx="13500" cy="135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32FA9C8-4FC5-A9FD-D8B2-753F00777A44}"/>
                  </a:ext>
                </a:extLst>
              </p14:cNvPr>
              <p14:cNvContentPartPr/>
              <p14:nvPr/>
            </p14:nvContentPartPr>
            <p14:xfrm>
              <a:off x="1142574" y="1551373"/>
              <a:ext cx="270" cy="270"/>
            </p14:xfrm>
          </p:contentPart>
        </mc:Choice>
        <mc:Fallback xmlns="">
          <p:pic>
            <p:nvPicPr>
              <p:cNvPr id="9" name="Ink 8">
                <a:extLst>
                  <a:ext uri="{FF2B5EF4-FFF2-40B4-BE49-F238E27FC236}">
                    <a16:creationId xmlns:a16="http://schemas.microsoft.com/office/drawing/2014/main" id="{E32FA9C8-4FC5-A9FD-D8B2-753F00777A44}"/>
                  </a:ext>
                </a:extLst>
              </p:cNvPr>
              <p:cNvPicPr/>
              <p:nvPr/>
            </p:nvPicPr>
            <p:blipFill>
              <a:blip r:embed="rId5"/>
              <a:stretch>
                <a:fillRect/>
              </a:stretch>
            </p:blipFill>
            <p:spPr>
              <a:xfrm>
                <a:off x="1135824" y="1544623"/>
                <a:ext cx="13500" cy="13500"/>
              </a:xfrm>
              <a:prstGeom prst="rect">
                <a:avLst/>
              </a:prstGeom>
            </p:spPr>
          </p:pic>
        </mc:Fallback>
      </mc:AlternateContent>
      <p:sp>
        <p:nvSpPr>
          <p:cNvPr id="12" name="AutoShape 4">
            <a:extLst>
              <a:ext uri="{FF2B5EF4-FFF2-40B4-BE49-F238E27FC236}">
                <a16:creationId xmlns:a16="http://schemas.microsoft.com/office/drawing/2014/main" id="{7F27429E-1937-2238-1180-57AC2F4B42A4}"/>
              </a:ext>
            </a:extLst>
          </p:cNvPr>
          <p:cNvSpPr>
            <a:spLocks noChangeAspect="1" noChangeArrowheads="1"/>
          </p:cNvSpPr>
          <p:nvPr/>
        </p:nvSpPr>
        <p:spPr bwMode="auto">
          <a:xfrm>
            <a:off x="3239691" y="1325166"/>
            <a:ext cx="2664619" cy="249316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en-US" sz="1050"/>
          </a:p>
        </p:txBody>
      </p:sp>
    </p:spTree>
    <p:extLst>
      <p:ext uri="{BB962C8B-B14F-4D97-AF65-F5344CB8AC3E}">
        <p14:creationId xmlns:p14="http://schemas.microsoft.com/office/powerpoint/2010/main" val="2247612272"/>
      </p:ext>
    </p:extLst>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TotalTime>
  <Words>819</Words>
  <Application>Microsoft Office PowerPoint</Application>
  <PresentationFormat>On-screen Show (16:9)</PresentationFormat>
  <Paragraphs>71</Paragraphs>
  <Slides>7</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Calibri</vt:lpstr>
      <vt:lpstr>Wingdings</vt:lpstr>
      <vt:lpstr>Roboto Medium</vt:lpstr>
      <vt:lpstr>Roboto</vt:lpstr>
      <vt:lpstr>Cambria Math</vt:lpstr>
      <vt:lpstr>ＭＳ Ｐゴシック</vt:lpstr>
      <vt:lpstr>Roboto Light</vt:lpstr>
      <vt:lpstr>Simple Lecture</vt:lpstr>
      <vt:lpstr>Bandwidth and Propagation Delay Exercises ANS</vt:lpstr>
      <vt:lpstr>Packet delay: four sources</vt:lpstr>
      <vt:lpstr>Q1 End-­to­‐end delay </vt:lpstr>
      <vt:lpstr>Q2 End-­to­‐end delay </vt:lpstr>
      <vt:lpstr>Q3 End-­to­‐end delay </vt:lpstr>
      <vt:lpstr>Q4 End-­to­‐end delay </vt:lpstr>
      <vt:lpstr>Q5 Transmission delay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4</cp:revision>
  <dcterms:modified xsi:type="dcterms:W3CDTF">2026-01-30T04:44:57Z</dcterms:modified>
</cp:coreProperties>
</file>