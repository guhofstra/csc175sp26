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55"/>
  </p:notes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1370" r:id="rId40"/>
    <p:sldId id="1389" r:id="rId41"/>
    <p:sldId id="1390" r:id="rId42"/>
    <p:sldId id="1140" r:id="rId43"/>
    <p:sldId id="1391" r:id="rId44"/>
    <p:sldId id="1381" r:id="rId45"/>
    <p:sldId id="1151" r:id="rId46"/>
    <p:sldId id="1385" r:id="rId47"/>
    <p:sldId id="1142" r:id="rId48"/>
    <p:sldId id="1384" r:id="rId49"/>
    <p:sldId id="1382" r:id="rId50"/>
    <p:sldId id="1388" r:id="rId51"/>
    <p:sldId id="1386" r:id="rId52"/>
    <p:sldId id="1387" r:id="rId53"/>
    <p:sldId id="316" r:id="rId5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6"/>
    </p:embeddedFont>
    <p:embeddedFont>
      <p:font typeface="Consolas" panose="020B0609020204030204" pitchFamily="49" charset="0"/>
      <p:regular r:id="rId57"/>
      <p:bold r:id="rId58"/>
      <p:italic r:id="rId59"/>
      <p:boldItalic r:id="rId60"/>
    </p:embeddedFont>
    <p:embeddedFont>
      <p:font typeface="Gill Sans MT" panose="020B0502020104020203" pitchFamily="34" charset="0"/>
      <p:regular r:id="rId61"/>
      <p:bold r:id="rId62"/>
      <p:italic r:id="rId63"/>
      <p:boldItalic r:id="rId64"/>
    </p:embeddedFont>
    <p:embeddedFont>
      <p:font typeface="Roboto" panose="02000000000000000000" pitchFamily="2" charset="0"/>
      <p:regular r:id="rId65"/>
      <p:bold r:id="rId66"/>
      <p:italic r:id="rId67"/>
      <p:boldItalic r:id="rId68"/>
    </p:embeddedFont>
    <p:embeddedFont>
      <p:font typeface="Roboto Light" panose="02000000000000000000" pitchFamily="2" charset="0"/>
      <p:regular r:id="rId69"/>
      <p:bold r:id="rId70"/>
      <p:italic r:id="rId71"/>
      <p:boldItalic r:id="rId72"/>
    </p:embeddedFont>
    <p:embeddedFont>
      <p:font typeface="Roboto Medium" panose="02000000000000000000" pitchFamily="2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A2DFA3-B972-4910-8F95-F8E57D69AF1C}">
  <a:tblStyle styleId="{89A2DFA3-B972-4910-8F95-F8E57D69AF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85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font" Target="fonts/font19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font" Target="fonts/font14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7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0" Type="http://schemas.openxmlformats.org/officeDocument/2006/relationships/font" Target="fonts/font15.fntdata"/><Relationship Id="rId75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font" Target="fonts/font18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6" Type="http://schemas.openxmlformats.org/officeDocument/2006/relationships/font" Target="fonts/font21.fntdata"/><Relationship Id="rId7" Type="http://schemas.openxmlformats.org/officeDocument/2006/relationships/slide" Target="slides/slide6.xml"/><Relationship Id="rId71" Type="http://schemas.openxmlformats.org/officeDocument/2006/relationships/font" Target="fonts/font1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2T23:38:21.72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2T23:38:22.36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2T23:38:22.9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600V_CV_5.5sqmm.jpg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Inverse_square_law.svg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1c865383c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1c865383c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Others: Andrea Goldsmith, Neal Patwari, Kyle Jamieson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1c865383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1c865383c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1c865383c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1c865383c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dirty="0"/>
              <a:t>Wireless signals are </a:t>
            </a:r>
            <a:r>
              <a:rPr lang="en-US" altLang="zh-CN" i="1" dirty="0"/>
              <a:t>not</a:t>
            </a:r>
            <a:r>
              <a:rPr lang="en-US" altLang="zh-CN" dirty="0"/>
              <a:t> packets of data floating in space.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1c865383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1c865383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https://commons.wikimedia.org/wiki/File:600V_CV_5.5sqmm.jpg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1c865383c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1c865383c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f1c865383c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f1c865383c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20b1082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20b1082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20b1082a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f20b1082a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20b1082a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20b1082a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Bandwidth here is a range of frequencies which is different from how we’ve been using it. It’s the EE bandwidth.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20b1082a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20b1082a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20b1082a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f20b1082a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20b1082a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f20b1082a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https://commons.wikimedia.org/wiki/File:Inverse_square_law.svg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20b1082ae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f20b1082ae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here is distance not diameter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Longer wavelengths = larger effective aperture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20df30da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20df30da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f20df30da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f20df30da4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f20df30da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f20df30da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 dBm = 1 mW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 dBm = 10 mW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 dBm = 100 mW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 dBm = 1 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-10 dBm = 0.1 mW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 dBm = 0.01 mW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-65.5 = 0.0000002818 mW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Adding dB is like multiplying by a ratio, so this might seem odd but is ok :)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f20df30da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f20df30da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f20df30d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f20df30d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f20df30da4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f20df30da4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Credit: Neal Patwari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20df30da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f20df30da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f20df30da4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f20df30da4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20df30da4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f20df30da4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20df30da4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f20df30da4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f20df30da4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f20df30da4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20df30da4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f20df30da4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f20df30da4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f20df30da4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f20df30da4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f20df30da4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f20df30da4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f20df30da4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f20df30da4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f20df30da4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f20df30da4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f20df30da4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20df30da4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f20df30da4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f20df30da4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f20df30da4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f20df30da4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f20df30da4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f20df30da4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f20df30da4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f20df30da4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f20df30da4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f20df30da4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f20df30da4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f20df30da4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f20df30da4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f217f3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f217f3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8321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4674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The square root of this value gives the Euclidean norm (or length) of the vector:</a:t>
            </a:r>
            <a:r>
              <a:rPr lang="en-GB" dirty="0">
                <a:effectLst/>
                <a:latin typeface="KaTeX_Main"/>
              </a:rPr>
              <a:t>∥v∥=</a:t>
            </a:r>
            <a:r>
              <a:rPr lang="en-GB" dirty="0" err="1">
                <a:effectLst/>
                <a:latin typeface="KaTeX_Main"/>
              </a:rPr>
              <a:t>v⋅v∥</a:t>
            </a:r>
            <a:r>
              <a:rPr lang="en-GB" b="1" dirty="0" err="1">
                <a:effectLst/>
                <a:latin typeface="KaTeX_Main"/>
              </a:rPr>
              <a:t>v</a:t>
            </a:r>
            <a:r>
              <a:rPr lang="en-GB" dirty="0">
                <a:effectLst/>
                <a:latin typeface="KaTeX_Main"/>
              </a:rPr>
              <a:t>∥=</a:t>
            </a:r>
            <a:r>
              <a:rPr lang="en-GB" b="1" i="0" dirty="0" err="1">
                <a:effectLst/>
                <a:latin typeface="KaTeX_Main"/>
              </a:rPr>
              <a:t>v</a:t>
            </a:r>
            <a:r>
              <a:rPr lang="en-GB" b="0" i="0" dirty="0" err="1">
                <a:effectLst/>
                <a:latin typeface="KaTeX_Main"/>
              </a:rPr>
              <a:t>⋅</a:t>
            </a:r>
            <a:r>
              <a:rPr lang="en-GB" b="1" i="0" dirty="0" err="1">
                <a:effectLst/>
                <a:latin typeface="KaTeX_Main"/>
              </a:rPr>
              <a:t>v</a:t>
            </a:r>
            <a:r>
              <a:rPr lang="en-GB" b="0" i="0" dirty="0">
                <a:effectLst/>
                <a:latin typeface="KaTeX_Main"/>
              </a:rPr>
              <a:t>​</a:t>
            </a:r>
            <a:br>
              <a:rPr lang="en-GB" b="0" i="0" dirty="0">
                <a:effectLst/>
                <a:latin typeface="KaTeX_Main"/>
              </a:rPr>
            </a:b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69099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254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Signal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bandwidth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&gt; 10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×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data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bandwidth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Code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sequence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synchronization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Arial" charset="0"/>
                <a:cs typeface="Arial" charset="0"/>
              </a:rPr>
              <a:t>Z</a:t>
            </a:r>
            <a:r>
              <a:rPr lang="en-US" sz="1200" baseline="-25000" dirty="0" err="1">
                <a:solidFill>
                  <a:srgbClr val="000000"/>
                </a:solidFill>
                <a:latin typeface="Arial" charset="0"/>
                <a:cs typeface="Arial" charset="0"/>
              </a:rPr>
              <a:t>i,m</a:t>
            </a:r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= d</a:t>
            </a:r>
            <a:r>
              <a:rPr lang="en-US" sz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</a:t>
            </a:r>
            <a:r>
              <a:rPr lang="en-US" sz="1600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c</a:t>
            </a:r>
            <a:r>
              <a:rPr lang="en-US" sz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m </a:t>
            </a:r>
            <a:endParaRPr lang="en-US" sz="12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-1*(1,1,1,-1,1,-1,-1,-1) = (-1,-1,-1,1,-1,1,1,1)</a:t>
            </a:r>
          </a:p>
          <a:p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1*(1,1,1,-1,1,-1,-1,-1) = (1,1,1,-1,1,-1,-1,-1) </a:t>
            </a:r>
            <a:endParaRPr lang="en-US" sz="1200" baseline="-250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Correlation</a:t>
            </a:r>
            <a:r>
              <a:rPr lang="en-GB" sz="1200" spc="-6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between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codes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Interference</a:t>
            </a:r>
            <a:r>
              <a:rPr lang="en-GB" sz="1200" spc="-5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Orthogonal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4640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9422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1595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72df5c659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72df5c659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itradioacademy.com/topic/how-does-modulation-work-1-1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>
            <a:off x="4970600" y="529875"/>
            <a:ext cx="1876500" cy="1876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5181536" y="744049"/>
            <a:ext cx="1454400" cy="14544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5414438" y="976941"/>
            <a:ext cx="988500" cy="988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5681370" y="1243871"/>
            <a:ext cx="454800" cy="4548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-US" sz="1600" dirty="0">
                <a:latin typeface="Roboto Light"/>
                <a:ea typeface="Roboto Light"/>
                <a:cs typeface="Roboto Light"/>
                <a:sym typeface="Roboto Light"/>
              </a:rPr>
              <a:t>CS168@UC Berkeley</a:t>
            </a:r>
          </a:p>
        </p:txBody>
      </p:sp>
      <p:sp>
        <p:nvSpPr>
          <p:cNvPr id="148" name="Google Shape;148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Wireless Links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24 (Wireless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392593" y="529875"/>
            <a:ext cx="1876500" cy="1876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603529" y="744049"/>
            <a:ext cx="1454400" cy="1454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6836432" y="976941"/>
            <a:ext cx="988500" cy="988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103363" y="1243871"/>
            <a:ext cx="454800" cy="4548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5869098" y="1437001"/>
            <a:ext cx="79200" cy="7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7291245" y="1431751"/>
            <a:ext cx="79200" cy="7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Shared Medium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Attenuation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Changing Environments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Collision Detection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Wireless Different?</a:t>
            </a:r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24,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95ACB-E297-8442-2A56-D0ACD790BD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/>
          <p:nvPr/>
        </p:nvSpPr>
        <p:spPr>
          <a:xfrm>
            <a:off x="6523250" y="1314900"/>
            <a:ext cx="2513700" cy="25137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4618250" y="1314900"/>
            <a:ext cx="2513700" cy="25137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6805835" y="1601825"/>
            <a:ext cx="1948500" cy="1948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7117847" y="1913825"/>
            <a:ext cx="1324500" cy="1324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7475447" y="2271425"/>
            <a:ext cx="609300" cy="609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Signals</a:t>
            </a: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511169" cy="42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Wireless signals are waves that propagate in all directions.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Analogy: Ripples in a pond.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Waves interact with each other, and with the environment.</a:t>
            </a:r>
          </a:p>
          <a:p>
            <a:pPr marL="0" lvl="0" indent="0">
              <a:buNone/>
            </a:pPr>
            <a:r>
              <a:rPr lang="en-US" altLang="zh-CN" dirty="0"/>
              <a:t>Differences mostly affect Layer 1 (Physical) and Layer 2 (Link).</a:t>
            </a:r>
            <a:endParaRPr lang="en" dirty="0"/>
          </a:p>
          <a:p>
            <a:pPr lvl="0">
              <a:buAutoNum type="arabicPeriod"/>
            </a:pPr>
            <a:r>
              <a:rPr lang="en-US" altLang="zh-CN" dirty="0"/>
              <a:t>Wireless is fundamentally a shared medium. </a:t>
            </a:r>
            <a:r>
              <a:rPr lang="en-US" altLang="zh-CN" sz="1400" dirty="0">
                <a:solidFill>
                  <a:schemeClr val="accent3"/>
                </a:solidFill>
              </a:rPr>
              <a:t>(</a:t>
            </a:r>
            <a:r>
              <a:rPr lang="en-US" altLang="zh-CN" sz="1400" i="1" dirty="0">
                <a:solidFill>
                  <a:schemeClr val="accent3"/>
                </a:solidFill>
              </a:rPr>
              <a:t>Wired is not.</a:t>
            </a:r>
            <a:r>
              <a:rPr lang="en-US" altLang="zh-CN" sz="1400" dirty="0">
                <a:solidFill>
                  <a:schemeClr val="accent3"/>
                </a:solidFill>
              </a:rPr>
              <a:t>)</a:t>
            </a:r>
          </a:p>
          <a:p>
            <a:pPr lvl="0">
              <a:spcBef>
                <a:spcPts val="0"/>
              </a:spcBef>
              <a:buAutoNum type="arabicPeriod"/>
            </a:pPr>
            <a:r>
              <a:rPr lang="en-US" altLang="zh-CN" dirty="0"/>
              <a:t>Wireless signals attenuate significantly with distance. </a:t>
            </a:r>
            <a:r>
              <a:rPr lang="en-US" altLang="zh-CN" sz="1400" dirty="0">
                <a:solidFill>
                  <a:schemeClr val="accent3"/>
                </a:solidFill>
              </a:rPr>
              <a:t>(</a:t>
            </a:r>
            <a:r>
              <a:rPr lang="en-US" altLang="zh-CN" sz="1400" i="1" dirty="0">
                <a:solidFill>
                  <a:schemeClr val="accent3"/>
                </a:solidFill>
              </a:rPr>
              <a:t>Wired signals do not.</a:t>
            </a:r>
            <a:r>
              <a:rPr lang="en-US" altLang="zh-CN" sz="1400" dirty="0">
                <a:solidFill>
                  <a:schemeClr val="accent3"/>
                </a:solidFill>
              </a:rPr>
              <a:t>)</a:t>
            </a:r>
          </a:p>
          <a:p>
            <a:pPr lvl="0">
              <a:spcBef>
                <a:spcPts val="0"/>
              </a:spcBef>
              <a:buAutoNum type="arabicPeriod"/>
            </a:pPr>
            <a:r>
              <a:rPr lang="en-US" altLang="zh-CN" dirty="0"/>
              <a:t>Wireless environments can change rapidly. </a:t>
            </a:r>
            <a:r>
              <a:rPr lang="en-US" altLang="zh-CN" sz="1400" dirty="0">
                <a:solidFill>
                  <a:schemeClr val="accent3"/>
                </a:solidFill>
              </a:rPr>
              <a:t>(</a:t>
            </a:r>
            <a:r>
              <a:rPr lang="en-US" altLang="zh-CN" sz="1400" i="1" dirty="0">
                <a:solidFill>
                  <a:schemeClr val="accent3"/>
                </a:solidFill>
              </a:rPr>
              <a:t>Wired environments do not.</a:t>
            </a:r>
            <a:r>
              <a:rPr lang="en-US" altLang="zh-CN" sz="1400" dirty="0">
                <a:solidFill>
                  <a:schemeClr val="accent3"/>
                </a:solidFill>
              </a:rPr>
              <a:t>)</a:t>
            </a:r>
          </a:p>
          <a:p>
            <a:pPr lvl="0">
              <a:spcBef>
                <a:spcPts val="0"/>
              </a:spcBef>
              <a:buAutoNum type="arabicPeriod"/>
            </a:pPr>
            <a:r>
              <a:rPr lang="en-US" altLang="zh-CN" dirty="0"/>
              <a:t>Wireless packet collisions are hard to detect. </a:t>
            </a:r>
            <a:r>
              <a:rPr lang="en-US" altLang="zh-CN" sz="1400" dirty="0">
                <a:solidFill>
                  <a:schemeClr val="accent3"/>
                </a:solidFill>
              </a:rPr>
              <a:t>(</a:t>
            </a:r>
            <a:r>
              <a:rPr lang="en-US" altLang="zh-CN" sz="1400" i="1" dirty="0">
                <a:solidFill>
                  <a:schemeClr val="accent3"/>
                </a:solidFill>
              </a:rPr>
              <a:t>Wired packet collisions are not.</a:t>
            </a:r>
            <a:r>
              <a:rPr lang="en-US" altLang="zh-CN" sz="1400" dirty="0">
                <a:solidFill>
                  <a:schemeClr val="accent3"/>
                </a:solidFill>
              </a:rPr>
              <a:t>)</a:t>
            </a:r>
          </a:p>
          <a:p>
            <a:pPr marL="0" lvl="0" indent="0">
              <a:buNone/>
            </a:pPr>
            <a:endParaRPr lang="en-US" altLang="zh-C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/>
          </a:p>
        </p:txBody>
      </p:sp>
      <p:sp>
        <p:nvSpPr>
          <p:cNvPr id="180" name="Google Shape;180;p27"/>
          <p:cNvSpPr/>
          <p:nvPr/>
        </p:nvSpPr>
        <p:spPr>
          <a:xfrm>
            <a:off x="5745947" y="2523125"/>
            <a:ext cx="105900" cy="105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861967" y="2468375"/>
            <a:ext cx="15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7727147" y="2523125"/>
            <a:ext cx="105900" cy="105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7843167" y="2468375"/>
            <a:ext cx="15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900835" y="1601825"/>
            <a:ext cx="1948500" cy="1948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5212847" y="1913825"/>
            <a:ext cx="1324500" cy="1324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5570447" y="2271425"/>
            <a:ext cx="609300" cy="6093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FC31C4-E6B2-1D37-E153-D15E80B52C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Wired vs. Wireless Links</a:t>
            </a: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464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links: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Point-to-point (private) by default.</a:t>
            </a:r>
            <a:br>
              <a:rPr lang="en"/>
            </a:br>
            <a:br>
              <a:rPr lang="en"/>
            </a:br>
            <a:endParaRPr sz="12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multi-point buses requires work.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Fairly easy to shield from external interference.</a:t>
            </a:r>
            <a:br>
              <a:rPr lang="en"/>
            </a:b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electrical signals to transmit data.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1"/>
          </p:nvPr>
        </p:nvSpPr>
        <p:spPr>
          <a:xfrm>
            <a:off x="4571950" y="402200"/>
            <a:ext cx="4464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links: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(shared) by default.</a:t>
            </a:r>
            <a:br>
              <a:rPr lang="en"/>
            </a:br>
            <a:br>
              <a:rPr lang="en"/>
            </a:br>
            <a:endParaRPr sz="12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point-to-point private links requires work.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Fairly hard to shield from external interference.</a:t>
            </a:r>
            <a:br>
              <a:rPr lang="en"/>
            </a:b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Modulate electromagnetic fields to transmit data.</a:t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18155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27299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30"/>
          <p:cNvCxnSpPr>
            <a:stCxn id="207" idx="6"/>
            <a:endCxn id="208" idx="2"/>
          </p:cNvCxnSpPr>
          <p:nvPr/>
        </p:nvCxnSpPr>
        <p:spPr>
          <a:xfrm>
            <a:off x="1949050" y="1532900"/>
            <a:ext cx="780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30"/>
          <p:cNvSpPr/>
          <p:nvPr/>
        </p:nvSpPr>
        <p:spPr>
          <a:xfrm>
            <a:off x="6661000" y="1389500"/>
            <a:ext cx="286800" cy="2868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67376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6592450" y="1320950"/>
            <a:ext cx="423900" cy="4239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6518050" y="1246550"/>
            <a:ext cx="572700" cy="5727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1815550" y="2228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2729950" y="2228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" name="Google Shape;216;p30"/>
          <p:cNvCxnSpPr>
            <a:stCxn id="214" idx="6"/>
            <a:endCxn id="215" idx="2"/>
          </p:cNvCxnSpPr>
          <p:nvPr/>
        </p:nvCxnSpPr>
        <p:spPr>
          <a:xfrm>
            <a:off x="1949050" y="2294900"/>
            <a:ext cx="780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30"/>
          <p:cNvCxnSpPr>
            <a:stCxn id="218" idx="0"/>
          </p:cNvCxnSpPr>
          <p:nvPr/>
        </p:nvCxnSpPr>
        <p:spPr>
          <a:xfrm rot="10800000">
            <a:off x="2339500" y="2294000"/>
            <a:ext cx="0" cy="214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30"/>
          <p:cNvSpPr/>
          <p:nvPr/>
        </p:nvSpPr>
        <p:spPr>
          <a:xfrm>
            <a:off x="2272750" y="250820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30"/>
          <p:cNvPicPr preferRelativeResize="0"/>
          <p:nvPr/>
        </p:nvPicPr>
        <p:blipFill rotWithShape="1">
          <a:blip r:embed="rId3">
            <a:alphaModFix/>
          </a:blip>
          <a:srcRect t="35225" b="34383"/>
          <a:stretch/>
        </p:blipFill>
        <p:spPr>
          <a:xfrm>
            <a:off x="1313963" y="3417850"/>
            <a:ext cx="2051075" cy="46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A72013-F423-CC57-A58F-278813E759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Data Over Wireless Links</a:t>
            </a:r>
            <a:endParaRPr/>
          </a:p>
        </p:txBody>
      </p:sp>
      <p:sp>
        <p:nvSpPr>
          <p:cNvPr id="225" name="Google Shape;225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8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link: Encode bits as electrical signals.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voltage = 1.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voltage = 0.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link: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 the bits as a wave?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Resulting wave is low-frequency, and hard to transmit.</a:t>
            </a:r>
            <a:endParaRPr/>
          </a:p>
        </p:txBody>
      </p:sp>
      <p:sp>
        <p:nvSpPr>
          <p:cNvPr id="226" name="Google Shape;226;p31"/>
          <p:cNvSpPr/>
          <p:nvPr/>
        </p:nvSpPr>
        <p:spPr>
          <a:xfrm>
            <a:off x="2632625" y="3514325"/>
            <a:ext cx="4102250" cy="755843"/>
          </a:xfrm>
          <a:custGeom>
            <a:avLst/>
            <a:gdLst/>
            <a:ahLst/>
            <a:cxnLst/>
            <a:rect l="l" t="t" r="r" b="b"/>
            <a:pathLst>
              <a:path w="164090" h="33792" extrusionOk="0">
                <a:moveTo>
                  <a:pt x="0" y="33658"/>
                </a:moveTo>
                <a:lnTo>
                  <a:pt x="12991" y="33658"/>
                </a:lnTo>
                <a:lnTo>
                  <a:pt x="12991" y="0"/>
                </a:lnTo>
                <a:lnTo>
                  <a:pt x="30022" y="0"/>
                </a:lnTo>
                <a:lnTo>
                  <a:pt x="30022" y="33590"/>
                </a:lnTo>
                <a:lnTo>
                  <a:pt x="71380" y="33590"/>
                </a:lnTo>
                <a:lnTo>
                  <a:pt x="71380" y="68"/>
                </a:lnTo>
                <a:lnTo>
                  <a:pt x="76698" y="68"/>
                </a:lnTo>
                <a:lnTo>
                  <a:pt x="76698" y="33725"/>
                </a:lnTo>
                <a:lnTo>
                  <a:pt x="85381" y="33725"/>
                </a:lnTo>
                <a:lnTo>
                  <a:pt x="85381" y="135"/>
                </a:lnTo>
                <a:lnTo>
                  <a:pt x="92449" y="135"/>
                </a:lnTo>
                <a:lnTo>
                  <a:pt x="92449" y="33590"/>
                </a:lnTo>
                <a:lnTo>
                  <a:pt x="102210" y="33590"/>
                </a:lnTo>
                <a:lnTo>
                  <a:pt x="102210" y="68"/>
                </a:lnTo>
                <a:lnTo>
                  <a:pt x="132483" y="68"/>
                </a:lnTo>
                <a:lnTo>
                  <a:pt x="132483" y="33792"/>
                </a:lnTo>
                <a:lnTo>
                  <a:pt x="164090" y="33792"/>
                </a:ln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7" name="Google Shape;227;p31"/>
          <p:cNvSpPr txBox="1"/>
          <p:nvPr/>
        </p:nvSpPr>
        <p:spPr>
          <a:xfrm>
            <a:off x="2607525" y="4442625"/>
            <a:ext cx="4102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0 0 1 1 0 0 0 0 0 1 0 1 0 1 1 1 1 0 0 0 0</a:t>
            </a:r>
            <a:endParaRPr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9BFAD9-CECB-87C8-32A5-378223E579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Data Over Wireless Links – Modulation</a:t>
            </a:r>
            <a:endParaRPr/>
          </a:p>
        </p:txBody>
      </p:sp>
      <p:sp>
        <p:nvSpPr>
          <p:cNvPr id="233" name="Google Shape;233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Modulation</a:t>
            </a:r>
            <a:r>
              <a:rPr lang="en"/>
              <a:t>: Impose our data signal on top of a carrier signal.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Carrier signal: A high-frequency, constant wave that contains no information.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combined wave is easy to transmit, and contains our data!</a:t>
            </a:r>
            <a:endParaRPr/>
          </a:p>
        </p:txBody>
      </p:sp>
      <p:pic>
        <p:nvPicPr>
          <p:cNvPr id="234" name="Google Shape;234;p32"/>
          <p:cNvPicPr preferRelativeResize="0"/>
          <p:nvPr/>
        </p:nvPicPr>
        <p:blipFill rotWithShape="1">
          <a:blip r:embed="rId3">
            <a:alphaModFix/>
          </a:blip>
          <a:srcRect l="30358" t="78473" r="30184"/>
          <a:stretch/>
        </p:blipFill>
        <p:spPr>
          <a:xfrm>
            <a:off x="2550150" y="3516198"/>
            <a:ext cx="2701301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2"/>
          <p:cNvPicPr preferRelativeResize="0"/>
          <p:nvPr/>
        </p:nvPicPr>
        <p:blipFill rotWithShape="1">
          <a:blip r:embed="rId4">
            <a:alphaModFix/>
          </a:blip>
          <a:srcRect l="33372" t="78166" r="28399"/>
          <a:stretch/>
        </p:blipFill>
        <p:spPr>
          <a:xfrm>
            <a:off x="5565291" y="3516198"/>
            <a:ext cx="2580298" cy="780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2717150" y="4323100"/>
            <a:ext cx="2367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Amplitude Modulation (AM):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 = Taller wave.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 = Shorter wave.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32"/>
          <p:cNvPicPr preferRelativeResize="0"/>
          <p:nvPr/>
        </p:nvPicPr>
        <p:blipFill rotWithShape="1">
          <a:blip r:embed="rId3">
            <a:alphaModFix/>
          </a:blip>
          <a:srcRect l="30358" t="13263" r="30184" b="61375"/>
          <a:stretch/>
        </p:blipFill>
        <p:spPr>
          <a:xfrm>
            <a:off x="2737481" y="1730200"/>
            <a:ext cx="2326622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l="30358" t="45558" r="30184" b="30803"/>
          <a:stretch/>
        </p:blipFill>
        <p:spPr>
          <a:xfrm>
            <a:off x="2737476" y="2689387"/>
            <a:ext cx="2326622" cy="72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 txBox="1"/>
          <p:nvPr/>
        </p:nvSpPr>
        <p:spPr>
          <a:xfrm>
            <a:off x="5671800" y="4323100"/>
            <a:ext cx="2367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Frequency Modulation (FM):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 = Oscillate fast.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 = Oscillate slow.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p32"/>
          <p:cNvPicPr preferRelativeResize="0"/>
          <p:nvPr/>
        </p:nvPicPr>
        <p:blipFill rotWithShape="1">
          <a:blip r:embed="rId3">
            <a:alphaModFix/>
          </a:blip>
          <a:srcRect l="30358" t="13263" r="30184" b="61375"/>
          <a:stretch/>
        </p:blipFill>
        <p:spPr>
          <a:xfrm>
            <a:off x="5709281" y="1730200"/>
            <a:ext cx="2326622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 rotWithShape="1">
          <a:blip r:embed="rId3">
            <a:alphaModFix/>
          </a:blip>
          <a:srcRect l="30358" t="45558" r="30184" b="30803"/>
          <a:stretch/>
        </p:blipFill>
        <p:spPr>
          <a:xfrm>
            <a:off x="5709276" y="2689387"/>
            <a:ext cx="2326622" cy="72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 txBox="1"/>
          <p:nvPr/>
        </p:nvSpPr>
        <p:spPr>
          <a:xfrm>
            <a:off x="1120000" y="1984888"/>
            <a:ext cx="139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Original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120000" y="2917563"/>
            <a:ext cx="139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+ Carrier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848750" y="3770875"/>
            <a:ext cx="1667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Modulated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168100" y="4538800"/>
            <a:ext cx="14907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Other modulation strategies exist.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B542A-789C-42CE-23A1-83E941BF5D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Noise and Interference – SINR</a:t>
            </a:r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Shared medium → other signals can corrupt our data!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Noise</a:t>
            </a:r>
            <a:r>
              <a:rPr lang="en"/>
              <a:t>: Background, ambient signals.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Interference</a:t>
            </a:r>
            <a:r>
              <a:rPr lang="en"/>
              <a:t>: Another transmitter sending signals.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SINR (Signal to Interference and Noise Ratio)</a:t>
            </a:r>
            <a:r>
              <a:rPr lang="en"/>
              <a:t> lets us measure connection quality: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of power to noise+interference at the the receiver.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SINR is better.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there's more noise+interference, the signal must be stronger.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signal is weak, can employ coding gain (error-correcting codes).</a:t>
            </a:r>
            <a:endParaRPr/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525" y="2062025"/>
            <a:ext cx="3706749" cy="10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E95D59-9DDA-7707-3D87-6AA3F23867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Noise and Interference – SINR</a:t>
            </a:r>
            <a:endParaRPr/>
          </a:p>
        </p:txBody>
      </p:sp>
      <p:sp>
        <p:nvSpPr>
          <p:cNvPr id="258" name="Google Shape;258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SINR is dimensionless (it's a ratio).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Decibels let us measure ratios on a logarithmic scale.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is 10 times greater = increase of 10 dB.</a:t>
            </a:r>
            <a:endParaRPr/>
          </a:p>
        </p:txBody>
      </p:sp>
      <p:pic>
        <p:nvPicPr>
          <p:cNvPr id="259" name="Google Shape;2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213" y="4009300"/>
            <a:ext cx="5305574" cy="92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34"/>
          <p:cNvGraphicFramePr/>
          <p:nvPr/>
        </p:nvGraphicFramePr>
        <p:xfrm>
          <a:off x="3387225" y="1862900"/>
          <a:ext cx="2369550" cy="1609260"/>
        </p:xfrm>
        <a:graphic>
          <a:graphicData uri="http://schemas.openxmlformats.org/drawingml/2006/table">
            <a:tbl>
              <a:tblPr>
                <a:noFill/>
                <a:tableStyleId>{89A2DFA3-B972-4910-8F95-F8E57D69AF1C}</a:tableStyleId>
              </a:tblPr>
              <a:tblGrid>
                <a:gridCol w="11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 in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61" name="Google Shape;261;p34"/>
          <p:cNvCxnSpPr/>
          <p:nvPr/>
        </p:nvCxnSpPr>
        <p:spPr>
          <a:xfrm flipH="1">
            <a:off x="6082000" y="3436475"/>
            <a:ext cx="630600" cy="630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2" name="Google Shape;262;p34"/>
          <p:cNvSpPr txBox="1"/>
          <p:nvPr/>
        </p:nvSpPr>
        <p:spPr>
          <a:xfrm>
            <a:off x="6283350" y="3152925"/>
            <a:ext cx="1166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SINR formula.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34"/>
          <p:cNvCxnSpPr>
            <a:stCxn id="264" idx="2"/>
          </p:cNvCxnSpPr>
          <p:nvPr/>
        </p:nvCxnSpPr>
        <p:spPr>
          <a:xfrm>
            <a:off x="2129550" y="3620125"/>
            <a:ext cx="167400" cy="62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4" name="Google Shape;264;p34"/>
          <p:cNvSpPr txBox="1"/>
          <p:nvPr/>
        </p:nvSpPr>
        <p:spPr>
          <a:xfrm>
            <a:off x="1177950" y="3349225"/>
            <a:ext cx="1903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SINR (measured in dB).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BE5593-A8B0-EB4D-D4A7-C4728F8CB7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Noise and Interference – Noisy Channel Shannon Capacity</a:t>
            </a:r>
            <a:endParaRPr/>
          </a:p>
        </p:txBody>
      </p:sp>
      <p:sp>
        <p:nvSpPr>
          <p:cNvPr id="270" name="Google Shape;270;p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Shannon capacity</a:t>
            </a:r>
            <a:r>
              <a:rPr lang="en"/>
              <a:t>: Theoretical limit of how much data can be sent on a noisy channel.</a:t>
            </a:r>
            <a:endParaRPr/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413" y="963200"/>
            <a:ext cx="4036974" cy="71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5"/>
          <p:cNvCxnSpPr/>
          <p:nvPr/>
        </p:nvCxnSpPr>
        <p:spPr>
          <a:xfrm rot="10800000" flipH="1">
            <a:off x="2560900" y="1537000"/>
            <a:ext cx="147300" cy="549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3" name="Google Shape;273;p35"/>
          <p:cNvSpPr txBox="1"/>
          <p:nvPr/>
        </p:nvSpPr>
        <p:spPr>
          <a:xfrm>
            <a:off x="1263850" y="2086600"/>
            <a:ext cx="16797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much data can be sent? (bits/sec)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3092650" y="2086600"/>
            <a:ext cx="1860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 of channel (range of frequencies we can use).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35"/>
          <p:cNvCxnSpPr/>
          <p:nvPr/>
        </p:nvCxnSpPr>
        <p:spPr>
          <a:xfrm rot="10800000">
            <a:off x="3622600" y="1536850"/>
            <a:ext cx="0" cy="560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6" name="Google Shape;276;p35"/>
          <p:cNvSpPr txBox="1"/>
          <p:nvPr/>
        </p:nvSpPr>
        <p:spPr>
          <a:xfrm>
            <a:off x="5454850" y="2086600"/>
            <a:ext cx="18603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Ratio of signal power to noise+interference.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" name="Google Shape;277;p35"/>
          <p:cNvCxnSpPr/>
          <p:nvPr/>
        </p:nvCxnSpPr>
        <p:spPr>
          <a:xfrm rot="10800000">
            <a:off x="5984800" y="1536850"/>
            <a:ext cx="0" cy="560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8" name="Google Shape;278;p35"/>
          <p:cNvSpPr txBox="1">
            <a:spLocks noGrp="1"/>
          </p:cNvSpPr>
          <p:nvPr>
            <p:ph type="body" idx="1"/>
          </p:nvPr>
        </p:nvSpPr>
        <p:spPr>
          <a:xfrm>
            <a:off x="234300" y="2571750"/>
            <a:ext cx="8909700" cy="18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Higher bandwidth = can send more data.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SINR increases = can send more data.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Stronger signal, or less noise+interference.</a:t>
            </a:r>
          </a:p>
          <a:p>
            <a:pPr marL="0" lvl="0" indent="0">
              <a:buNone/>
            </a:pPr>
            <a:r>
              <a:rPr lang="en-US" altLang="zh-CN" dirty="0"/>
              <a:t>Example: The plain old telephone system:</a:t>
            </a:r>
          </a:p>
          <a:p>
            <a:pPr lvl="0"/>
            <a:r>
              <a:rPr lang="en-US" altLang="zh-CN" i="1" dirty="0"/>
              <a:t>B</a:t>
            </a:r>
            <a:r>
              <a:rPr lang="en-US" altLang="zh-CN" dirty="0"/>
              <a:t> = 3000 Hz. </a:t>
            </a:r>
            <a:r>
              <a:rPr lang="en-US" altLang="zh-CN" sz="1400" dirty="0">
                <a:solidFill>
                  <a:schemeClr val="accent3"/>
                </a:solidFill>
              </a:rPr>
              <a:t>(</a:t>
            </a:r>
            <a:r>
              <a:rPr lang="en-US" altLang="zh-CN" sz="1400" i="1" dirty="0">
                <a:solidFill>
                  <a:schemeClr val="accent3"/>
                </a:solidFill>
              </a:rPr>
              <a:t>Telephones understand frequencies between 300 Hz and 3300 Hz.</a:t>
            </a:r>
            <a:r>
              <a:rPr lang="en-US" altLang="zh-CN" sz="1400" dirty="0">
                <a:solidFill>
                  <a:schemeClr val="accent3"/>
                </a:solidFill>
              </a:rPr>
              <a:t>)</a:t>
            </a:r>
          </a:p>
          <a:p>
            <a:pPr lvl="0">
              <a:spcBef>
                <a:spcPts val="0"/>
              </a:spcBef>
            </a:pPr>
            <a:r>
              <a:rPr lang="en-US" altLang="zh-CN" dirty="0"/>
              <a:t>SINR = 100. </a:t>
            </a:r>
            <a:r>
              <a:rPr lang="en-US" altLang="zh-CN" sz="1400" dirty="0">
                <a:solidFill>
                  <a:schemeClr val="accent3"/>
                </a:solidFill>
              </a:rPr>
              <a:t>(</a:t>
            </a:r>
            <a:r>
              <a:rPr lang="en-US" altLang="zh-CN" sz="1400" i="1" dirty="0">
                <a:solidFill>
                  <a:schemeClr val="accent3"/>
                </a:solidFill>
              </a:rPr>
              <a:t>20 dB signal-to-noise ratio.</a:t>
            </a:r>
            <a:r>
              <a:rPr lang="en-US" altLang="zh-CN" sz="1400" dirty="0">
                <a:solidFill>
                  <a:schemeClr val="accent3"/>
                </a:solidFill>
              </a:rPr>
              <a:t>)</a:t>
            </a:r>
          </a:p>
          <a:p>
            <a:pPr lvl="0">
              <a:spcBef>
                <a:spcPts val="0"/>
              </a:spcBef>
            </a:pPr>
            <a:r>
              <a:rPr lang="en-US" altLang="zh-CN" i="1" dirty="0"/>
              <a:t>C</a:t>
            </a:r>
            <a:r>
              <a:rPr lang="en-US" altLang="zh-CN" dirty="0"/>
              <a:t> = 3000 · log</a:t>
            </a:r>
            <a:r>
              <a:rPr lang="en-US" altLang="zh-CN" sz="1200" dirty="0"/>
              <a:t>2</a:t>
            </a:r>
            <a:r>
              <a:rPr lang="en-US" altLang="zh-CN" dirty="0"/>
              <a:t>(1 + 100) ≈ 20000 = 20 kbps.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02F589-8D1A-0F24-CF28-DFD4E5321F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Shared Medium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Attenuation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Changing Environments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Collision Detection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Wireless Signals Attenuate</a:t>
            </a:r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24,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4CDDB-4FAC-281E-8BEA-DE01185CE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Attenuation</a:t>
            </a:r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85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signals </a:t>
            </a:r>
            <a:r>
              <a:rPr lang="en" b="1"/>
              <a:t>attenuate</a:t>
            </a:r>
            <a:r>
              <a:rPr lang="en"/>
              <a:t> – they get much weaker over longer distances.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design must account for attenuation.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Wired signals also attenuate, but effect is far smaller.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Trade-off: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Maximize performance: Accuracy, speed, range.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Minimize resource use: Power, use less of the frequency spectrum (costs money).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Trade-off: Better signal requires more resources.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844897-A808-7E13-8431-FB784B7666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Attenuation – Free-Space Model</a:t>
            </a:r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3271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Free-space model</a:t>
            </a:r>
            <a:r>
              <a:rPr lang="en"/>
              <a:t> (aka </a:t>
            </a:r>
            <a:r>
              <a:rPr lang="en" b="1"/>
              <a:t>line-of-sight model</a:t>
            </a:r>
            <a:r>
              <a:rPr lang="en"/>
              <a:t>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Transmitter and receiver exist in empty space.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obstacles, not even Earth's surface.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this model, the </a:t>
            </a:r>
            <a:r>
              <a:rPr lang="en" b="1"/>
              <a:t>inverse square law</a:t>
            </a:r>
            <a:r>
              <a:rPr lang="en"/>
              <a:t> applies.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 times as far = signal is 100 times weaker.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times as far = signal is </a:t>
            </a:r>
            <a:r>
              <a:rPr lang="en" i="1"/>
              <a:t>k</a:t>
            </a:r>
            <a:r>
              <a:rPr lang="en" baseline="30000"/>
              <a:t>2</a:t>
            </a:r>
            <a:r>
              <a:rPr lang="en"/>
              <a:t> times weaker.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075" y="2455312"/>
            <a:ext cx="2786950" cy="18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00" y="3230962"/>
            <a:ext cx="2017650" cy="124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9"/>
          <p:cNvCxnSpPr/>
          <p:nvPr/>
        </p:nvCxnSpPr>
        <p:spPr>
          <a:xfrm rot="10800000">
            <a:off x="1049869" y="4180575"/>
            <a:ext cx="0" cy="4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5" name="Google Shape;315;p39"/>
          <p:cNvSpPr txBox="1"/>
          <p:nvPr/>
        </p:nvSpPr>
        <p:spPr>
          <a:xfrm>
            <a:off x="401419" y="4646650"/>
            <a:ext cx="1296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" name="Google Shape;316;p39"/>
          <p:cNvCxnSpPr/>
          <p:nvPr/>
        </p:nvCxnSpPr>
        <p:spPr>
          <a:xfrm rot="10800000">
            <a:off x="2620075" y="4187150"/>
            <a:ext cx="553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7" name="Google Shape;317;p39"/>
          <p:cNvSpPr txBox="1"/>
          <p:nvPr/>
        </p:nvSpPr>
        <p:spPr>
          <a:xfrm>
            <a:off x="3173275" y="3836150"/>
            <a:ext cx="1672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distance between transmitter and receiver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9"/>
          <p:cNvSpPr txBox="1"/>
          <p:nvPr/>
        </p:nvSpPr>
        <p:spPr>
          <a:xfrm>
            <a:off x="3173275" y="3442100"/>
            <a:ext cx="1550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39"/>
          <p:cNvCxnSpPr>
            <a:stCxn id="320" idx="2"/>
          </p:cNvCxnSpPr>
          <p:nvPr/>
        </p:nvCxnSpPr>
        <p:spPr>
          <a:xfrm>
            <a:off x="1683968" y="3073679"/>
            <a:ext cx="0" cy="62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1" name="Google Shape;321;p39"/>
          <p:cNvSpPr txBox="1"/>
          <p:nvPr/>
        </p:nvSpPr>
        <p:spPr>
          <a:xfrm>
            <a:off x="5099238" y="4286825"/>
            <a:ext cx="38646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Intuition: Signal propagates out like a sphere.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Signal power is spread over surface of sphere.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Surface area of sphere = 4πr</a:t>
            </a:r>
            <a:r>
              <a:rPr lang="en" baseline="30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877718" y="2802779"/>
            <a:ext cx="1612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"is proportional to"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39"/>
          <p:cNvCxnSpPr/>
          <p:nvPr/>
        </p:nvCxnSpPr>
        <p:spPr>
          <a:xfrm rot="10800000">
            <a:off x="2620075" y="3577550"/>
            <a:ext cx="553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39"/>
          <p:cNvCxnSpPr/>
          <p:nvPr/>
        </p:nvCxnSpPr>
        <p:spPr>
          <a:xfrm>
            <a:off x="7097425" y="673300"/>
            <a:ext cx="0" cy="11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24" name="Google Shape;324;p39"/>
          <p:cNvCxnSpPr/>
          <p:nvPr/>
        </p:nvCxnSpPr>
        <p:spPr>
          <a:xfrm rot="10800000">
            <a:off x="6979600" y="1775050"/>
            <a:ext cx="1923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25" name="Google Shape;325;p39"/>
          <p:cNvSpPr/>
          <p:nvPr/>
        </p:nvSpPr>
        <p:spPr>
          <a:xfrm>
            <a:off x="7167025" y="724800"/>
            <a:ext cx="1612528" cy="978850"/>
          </a:xfrm>
          <a:custGeom>
            <a:avLst/>
            <a:gdLst/>
            <a:ahLst/>
            <a:cxnLst/>
            <a:rect l="l" t="t" r="r" b="b"/>
            <a:pathLst>
              <a:path w="51502" h="39154" extrusionOk="0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Google Shape;326;p39"/>
          <p:cNvSpPr txBox="1"/>
          <p:nvPr/>
        </p:nvSpPr>
        <p:spPr>
          <a:xfrm>
            <a:off x="8125300" y="18063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6250225" y="724800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035962-75C3-A956-8768-091E9E0571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Friis Equation</a:t>
            </a:r>
            <a:endParaRPr/>
          </a:p>
        </p:txBody>
      </p:sp>
      <p:sp>
        <p:nvSpPr>
          <p:cNvPr id="333" name="Google Shape;333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b="1"/>
              <a:t>Friis equation</a:t>
            </a:r>
            <a:r>
              <a:rPr lang="en"/>
              <a:t> accounts for: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Gain of the transmitter and receiver antennas.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Aperture (area) of the receiver antenna. Proof omitted.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Intuition: Larger antenna can capture more signal.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 between antennas (inverse-square law).</a:t>
            </a:r>
            <a:endParaRPr/>
          </a:p>
        </p:txBody>
      </p:sp>
      <p:pic>
        <p:nvPicPr>
          <p:cNvPr id="334" name="Google Shape;3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150" y="3544025"/>
            <a:ext cx="6507699" cy="12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40"/>
          <p:cNvCxnSpPr/>
          <p:nvPr/>
        </p:nvCxnSpPr>
        <p:spPr>
          <a:xfrm>
            <a:off x="1609150" y="3478124"/>
            <a:ext cx="0" cy="433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40"/>
          <p:cNvSpPr txBox="1"/>
          <p:nvPr/>
        </p:nvSpPr>
        <p:spPr>
          <a:xfrm>
            <a:off x="1228900" y="2991829"/>
            <a:ext cx="760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40"/>
          <p:cNvCxnSpPr/>
          <p:nvPr/>
        </p:nvCxnSpPr>
        <p:spPr>
          <a:xfrm>
            <a:off x="2675450" y="3478124"/>
            <a:ext cx="0" cy="433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40"/>
          <p:cNvSpPr txBox="1"/>
          <p:nvPr/>
        </p:nvSpPr>
        <p:spPr>
          <a:xfrm>
            <a:off x="2170700" y="2991829"/>
            <a:ext cx="100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40"/>
          <p:cNvCxnSpPr>
            <a:stCxn id="340" idx="2"/>
          </p:cNvCxnSpPr>
          <p:nvPr/>
        </p:nvCxnSpPr>
        <p:spPr>
          <a:xfrm>
            <a:off x="3864884" y="3478129"/>
            <a:ext cx="0" cy="371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40"/>
          <p:cNvSpPr txBox="1"/>
          <p:nvPr/>
        </p:nvSpPr>
        <p:spPr>
          <a:xfrm>
            <a:off x="3360134" y="2991829"/>
            <a:ext cx="100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Gains of antennas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3190150" y="3880004"/>
            <a:ext cx="1373525" cy="79200"/>
          </a:xfrm>
          <a:custGeom>
            <a:avLst/>
            <a:gdLst/>
            <a:ahLst/>
            <a:cxnLst/>
            <a:rect l="l" t="t" r="r" b="b"/>
            <a:pathLst>
              <a:path w="54941" h="3168" extrusionOk="0">
                <a:moveTo>
                  <a:pt x="0" y="3084"/>
                </a:moveTo>
                <a:lnTo>
                  <a:pt x="0" y="0"/>
                </a:lnTo>
                <a:lnTo>
                  <a:pt x="54941" y="0"/>
                </a:lnTo>
                <a:lnTo>
                  <a:pt x="54941" y="3168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342" name="Google Shape;342;p40"/>
          <p:cNvCxnSpPr>
            <a:stCxn id="343" idx="2"/>
          </p:cNvCxnSpPr>
          <p:nvPr/>
        </p:nvCxnSpPr>
        <p:spPr>
          <a:xfrm>
            <a:off x="5479231" y="3202213"/>
            <a:ext cx="0" cy="371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3" name="Google Shape;343;p40"/>
          <p:cNvSpPr txBox="1"/>
          <p:nvPr/>
        </p:nvSpPr>
        <p:spPr>
          <a:xfrm>
            <a:off x="4711831" y="2715913"/>
            <a:ext cx="1534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Aperture of receiver antenna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" name="Google Shape;344;p40"/>
          <p:cNvCxnSpPr>
            <a:stCxn id="345" idx="2"/>
          </p:cNvCxnSpPr>
          <p:nvPr/>
        </p:nvCxnSpPr>
        <p:spPr>
          <a:xfrm>
            <a:off x="7003231" y="3202213"/>
            <a:ext cx="0" cy="371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5" name="Google Shape;345;p40"/>
          <p:cNvSpPr txBox="1"/>
          <p:nvPr/>
        </p:nvSpPr>
        <p:spPr>
          <a:xfrm>
            <a:off x="6235831" y="2715913"/>
            <a:ext cx="1534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Distance (inverse square law)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A0DC99-C611-0D19-2A56-DC4A19B0B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Friis Equation, Rewritten</a:t>
            </a:r>
            <a:endParaRPr/>
          </a:p>
        </p:txBody>
      </p:sp>
      <p:sp>
        <p:nvSpPr>
          <p:cNvPr id="351" name="Google Shape;351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equation is sometimes written like this:</a:t>
            </a:r>
            <a:endParaRPr/>
          </a:p>
        </p:txBody>
      </p:sp>
      <p:pic>
        <p:nvPicPr>
          <p:cNvPr id="352" name="Google Shape;3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975" y="935720"/>
            <a:ext cx="5327849" cy="210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775" y="3891000"/>
            <a:ext cx="7368450" cy="10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1"/>
          <p:cNvSpPr txBox="1">
            <a:spLocks noGrp="1"/>
          </p:cNvSpPr>
          <p:nvPr>
            <p:ph type="body" idx="1"/>
          </p:nvPr>
        </p:nvSpPr>
        <p:spPr>
          <a:xfrm>
            <a:off x="107050" y="3145400"/>
            <a:ext cx="89097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 in terms of decibels (logarithmic scale):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CC5B8F-20D1-4768-5B76-6823E6179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Link Budget</a:t>
            </a:r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know if the link will actually work?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a </a:t>
            </a:r>
            <a:r>
              <a:rPr lang="en" b="1"/>
              <a:t>link budget</a:t>
            </a:r>
            <a:r>
              <a:rPr lang="en"/>
              <a:t>: Add all gains, subtract all losses.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Signal power at receiver.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Receiver </a:t>
            </a:r>
            <a:r>
              <a:rPr lang="en" b="1"/>
              <a:t>sensitivity</a:t>
            </a:r>
            <a:r>
              <a:rPr lang="en"/>
              <a:t> (minimum signal the receiver can hear).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link budget is positive: </a:t>
            </a:r>
            <a:r>
              <a:rPr lang="en" i="1"/>
              <a:t>P</a:t>
            </a:r>
            <a:r>
              <a:rPr lang="en" sz="1200"/>
              <a:t>r</a:t>
            </a:r>
            <a:r>
              <a:rPr lang="en"/>
              <a:t> &gt; Sensitivity. Link works!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link budget is negative: </a:t>
            </a:r>
            <a:r>
              <a:rPr lang="en" i="1"/>
              <a:t>P</a:t>
            </a:r>
            <a:r>
              <a:rPr lang="en" sz="1200"/>
              <a:t>r</a:t>
            </a:r>
            <a:r>
              <a:rPr lang="en"/>
              <a:t> &lt; Sensitivity. Link doesn't work!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Link margin</a:t>
            </a:r>
            <a:r>
              <a:rPr lang="en"/>
              <a:t> is difference between receiver signal and sensitivity.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Bigger link margin = more robust signal.</a:t>
            </a:r>
            <a:endParaRPr/>
          </a:p>
        </p:txBody>
      </p:sp>
      <p:pic>
        <p:nvPicPr>
          <p:cNvPr id="361" name="Google Shape;3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438" y="1369700"/>
            <a:ext cx="4781124" cy="6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E4678-828F-A1EF-B5F8-1D633DFB57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43"/>
          <p:cNvCxnSpPr>
            <a:stCxn id="367" idx="2"/>
            <a:endCxn id="368" idx="2"/>
          </p:cNvCxnSpPr>
          <p:nvPr/>
        </p:nvCxnSpPr>
        <p:spPr>
          <a:xfrm rot="10800000">
            <a:off x="3502150" y="1742275"/>
            <a:ext cx="2391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9" name="Google Shape;369;p43"/>
          <p:cNvSpPr/>
          <p:nvPr/>
        </p:nvSpPr>
        <p:spPr>
          <a:xfrm flipH="1">
            <a:off x="5888875" y="1742275"/>
            <a:ext cx="861075" cy="713739"/>
          </a:xfrm>
          <a:custGeom>
            <a:avLst/>
            <a:gdLst/>
            <a:ahLst/>
            <a:cxnLst/>
            <a:rect l="l" t="t" r="r" b="b"/>
            <a:pathLst>
              <a:path w="34443" h="42327" extrusionOk="0">
                <a:moveTo>
                  <a:pt x="0" y="42327"/>
                </a:moveTo>
                <a:lnTo>
                  <a:pt x="0" y="0"/>
                </a:lnTo>
                <a:lnTo>
                  <a:pt x="34443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Google Shape;370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Link Budget</a:t>
            </a:r>
            <a:endParaRPr/>
          </a:p>
        </p:txBody>
      </p:sp>
      <p:sp>
        <p:nvSpPr>
          <p:cNvPr id="371" name="Google Shape;371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5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of computing link budget:</a:t>
            </a:r>
            <a:endParaRPr/>
          </a:p>
        </p:txBody>
      </p:sp>
      <p:sp>
        <p:nvSpPr>
          <p:cNvPr id="372" name="Google Shape;372;p43"/>
          <p:cNvSpPr/>
          <p:nvPr/>
        </p:nvSpPr>
        <p:spPr>
          <a:xfrm>
            <a:off x="2043700" y="3539125"/>
            <a:ext cx="1203000" cy="39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Transmitter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43"/>
          <p:cNvSpPr/>
          <p:nvPr/>
        </p:nvSpPr>
        <p:spPr>
          <a:xfrm>
            <a:off x="6148450" y="3539125"/>
            <a:ext cx="1203000" cy="39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5870650" y="4008925"/>
            <a:ext cx="1758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Sensitivity: –80 dBm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3"/>
          <p:cNvSpPr/>
          <p:nvPr/>
        </p:nvSpPr>
        <p:spPr>
          <a:xfrm>
            <a:off x="6607150" y="2440313"/>
            <a:ext cx="285600" cy="27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6" name="Google Shape;376;p43"/>
          <p:cNvCxnSpPr>
            <a:stCxn id="377" idx="2"/>
            <a:endCxn id="372" idx="0"/>
          </p:cNvCxnSpPr>
          <p:nvPr/>
        </p:nvCxnSpPr>
        <p:spPr>
          <a:xfrm>
            <a:off x="2645200" y="2728375"/>
            <a:ext cx="0" cy="810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43"/>
          <p:cNvCxnSpPr>
            <a:stCxn id="375" idx="2"/>
            <a:endCxn id="373" idx="0"/>
          </p:cNvCxnSpPr>
          <p:nvPr/>
        </p:nvCxnSpPr>
        <p:spPr>
          <a:xfrm>
            <a:off x="6749950" y="2711213"/>
            <a:ext cx="0" cy="82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9" name="Google Shape;379;p43"/>
          <p:cNvSpPr txBox="1"/>
          <p:nvPr/>
        </p:nvSpPr>
        <p:spPr>
          <a:xfrm>
            <a:off x="362775" y="3492775"/>
            <a:ext cx="1631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Transmitted Signal: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+10 dBm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43"/>
          <p:cNvSpPr/>
          <p:nvPr/>
        </p:nvSpPr>
        <p:spPr>
          <a:xfrm rot="10800000">
            <a:off x="5320750" y="1255675"/>
            <a:ext cx="572400" cy="973200"/>
          </a:xfrm>
          <a:prstGeom prst="pie">
            <a:avLst>
              <a:gd name="adj1" fmla="val 5400137"/>
              <a:gd name="adj2" fmla="val 1620000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43"/>
          <p:cNvSpPr/>
          <p:nvPr/>
        </p:nvSpPr>
        <p:spPr>
          <a:xfrm>
            <a:off x="2644575" y="1742276"/>
            <a:ext cx="861075" cy="713739"/>
          </a:xfrm>
          <a:custGeom>
            <a:avLst/>
            <a:gdLst/>
            <a:ahLst/>
            <a:cxnLst/>
            <a:rect l="l" t="t" r="r" b="b"/>
            <a:pathLst>
              <a:path w="34443" h="42327" extrusionOk="0">
                <a:moveTo>
                  <a:pt x="0" y="42327"/>
                </a:moveTo>
                <a:lnTo>
                  <a:pt x="0" y="0"/>
                </a:lnTo>
                <a:lnTo>
                  <a:pt x="34443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7" name="Google Shape;377;p43"/>
          <p:cNvSpPr/>
          <p:nvPr/>
        </p:nvSpPr>
        <p:spPr>
          <a:xfrm>
            <a:off x="2502400" y="2457475"/>
            <a:ext cx="285600" cy="27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3502000" y="1255675"/>
            <a:ext cx="572400" cy="973200"/>
          </a:xfrm>
          <a:prstGeom prst="pie">
            <a:avLst>
              <a:gd name="adj1" fmla="val 5400137"/>
              <a:gd name="adj2" fmla="val 1620000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3"/>
          <p:cNvSpPr txBox="1"/>
          <p:nvPr/>
        </p:nvSpPr>
        <p:spPr>
          <a:xfrm>
            <a:off x="1217800" y="29366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–0.44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1217175" y="19782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–2.21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43"/>
          <p:cNvSpPr txBox="1"/>
          <p:nvPr/>
        </p:nvSpPr>
        <p:spPr>
          <a:xfrm>
            <a:off x="6836663" y="29366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–0.44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3"/>
          <p:cNvSpPr txBox="1"/>
          <p:nvPr/>
        </p:nvSpPr>
        <p:spPr>
          <a:xfrm>
            <a:off x="6836038" y="19782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–2.21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2043700" y="1348775"/>
            <a:ext cx="1411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Antenna: +25 dB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5934250" y="1348788"/>
            <a:ext cx="1411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Antenna: +25 dB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3815575" y="1123075"/>
            <a:ext cx="1758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Signal travels 10km: –120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43"/>
          <p:cNvSpPr txBox="1"/>
          <p:nvPr/>
        </p:nvSpPr>
        <p:spPr>
          <a:xfrm>
            <a:off x="7409800" y="3492775"/>
            <a:ext cx="1351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Received Signal: –65.5 dBm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5425000" y="4421225"/>
            <a:ext cx="2649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margin = 14.5 dBm &gt; 0.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connection works!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107050" y="4743475"/>
            <a:ext cx="2913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dBm = Power relative to 1 milliwatt.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B28BBB-9218-9382-550A-223160E813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Shared Medium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Attenuation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Changing Environments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Collision Detection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396" name="Google Shape;396;p4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Changing Environments</a:t>
            </a:r>
            <a:endParaRPr/>
          </a:p>
        </p:txBody>
      </p:sp>
      <p:sp>
        <p:nvSpPr>
          <p:cNvPr id="397" name="Google Shape;397;p4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24,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618D5-59F6-B440-EEAC-A52DB164A1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Environments Change</a:t>
            </a:r>
            <a:endParaRPr/>
          </a:p>
        </p:txBody>
      </p:sp>
      <p:sp>
        <p:nvSpPr>
          <p:cNvPr id="403" name="Google Shape;403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environments change rapidly.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Devices move around.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reflect and refract off physical obstacles (e.g. buildings, Earth's surface).</a:t>
            </a:r>
            <a:endParaRPr/>
          </a:p>
        </p:txBody>
      </p:sp>
      <p:cxnSp>
        <p:nvCxnSpPr>
          <p:cNvPr id="404" name="Google Shape;404;p45"/>
          <p:cNvCxnSpPr/>
          <p:nvPr/>
        </p:nvCxnSpPr>
        <p:spPr>
          <a:xfrm>
            <a:off x="1617650" y="2031575"/>
            <a:ext cx="0" cy="153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05" name="Google Shape;405;p45"/>
          <p:cNvCxnSpPr/>
          <p:nvPr/>
        </p:nvCxnSpPr>
        <p:spPr>
          <a:xfrm rot="10800000">
            <a:off x="1499900" y="3492425"/>
            <a:ext cx="250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06" name="Google Shape;406;p45"/>
          <p:cNvSpPr/>
          <p:nvPr/>
        </p:nvSpPr>
        <p:spPr>
          <a:xfrm>
            <a:off x="1687250" y="2246475"/>
            <a:ext cx="2156260" cy="1174522"/>
          </a:xfrm>
          <a:custGeom>
            <a:avLst/>
            <a:gdLst/>
            <a:ahLst/>
            <a:cxnLst/>
            <a:rect l="l" t="t" r="r" b="b"/>
            <a:pathLst>
              <a:path w="51502" h="39154" extrusionOk="0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7" name="Google Shape;407;p45"/>
          <p:cNvSpPr txBox="1"/>
          <p:nvPr/>
        </p:nvSpPr>
        <p:spPr>
          <a:xfrm>
            <a:off x="3065900" y="35012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770450" y="21748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5"/>
          <p:cNvSpPr txBox="1"/>
          <p:nvPr/>
        </p:nvSpPr>
        <p:spPr>
          <a:xfrm>
            <a:off x="1263500" y="4095750"/>
            <a:ext cx="29823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Free-space model: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weakens over distance.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45"/>
          <p:cNvCxnSpPr/>
          <p:nvPr/>
        </p:nvCxnSpPr>
        <p:spPr>
          <a:xfrm>
            <a:off x="5732450" y="2031575"/>
            <a:ext cx="0" cy="153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11" name="Google Shape;411;p45"/>
          <p:cNvCxnSpPr/>
          <p:nvPr/>
        </p:nvCxnSpPr>
        <p:spPr>
          <a:xfrm rot="10800000">
            <a:off x="5614700" y="3492425"/>
            <a:ext cx="250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12" name="Google Shape;412;p45"/>
          <p:cNvSpPr txBox="1"/>
          <p:nvPr/>
        </p:nvSpPr>
        <p:spPr>
          <a:xfrm>
            <a:off x="7180700" y="35012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5"/>
          <p:cNvSpPr txBox="1"/>
          <p:nvPr/>
        </p:nvSpPr>
        <p:spPr>
          <a:xfrm>
            <a:off x="4885250" y="21748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45"/>
          <p:cNvSpPr txBox="1"/>
          <p:nvPr/>
        </p:nvSpPr>
        <p:spPr>
          <a:xfrm>
            <a:off x="5389025" y="4095750"/>
            <a:ext cx="29823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accounting for obstacles: Signal strength fluctuates!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45"/>
          <p:cNvSpPr/>
          <p:nvPr/>
        </p:nvSpPr>
        <p:spPr>
          <a:xfrm>
            <a:off x="5815800" y="2267750"/>
            <a:ext cx="2115350" cy="1182825"/>
          </a:xfrm>
          <a:custGeom>
            <a:avLst/>
            <a:gdLst/>
            <a:ahLst/>
            <a:cxnLst/>
            <a:rect l="l" t="t" r="r" b="b"/>
            <a:pathLst>
              <a:path w="84614" h="47313" extrusionOk="0">
                <a:moveTo>
                  <a:pt x="0" y="0"/>
                </a:moveTo>
                <a:cubicBezTo>
                  <a:pt x="291" y="2990"/>
                  <a:pt x="1033" y="16483"/>
                  <a:pt x="1747" y="17938"/>
                </a:cubicBezTo>
                <a:cubicBezTo>
                  <a:pt x="2462" y="19393"/>
                  <a:pt x="3467" y="7038"/>
                  <a:pt x="4287" y="8731"/>
                </a:cubicBezTo>
                <a:cubicBezTo>
                  <a:pt x="5107" y="10424"/>
                  <a:pt x="6060" y="26352"/>
                  <a:pt x="6668" y="28098"/>
                </a:cubicBezTo>
                <a:cubicBezTo>
                  <a:pt x="7277" y="29844"/>
                  <a:pt x="7303" y="18203"/>
                  <a:pt x="7938" y="19208"/>
                </a:cubicBezTo>
                <a:cubicBezTo>
                  <a:pt x="8573" y="20214"/>
                  <a:pt x="9922" y="32570"/>
                  <a:pt x="10478" y="34131"/>
                </a:cubicBezTo>
                <a:cubicBezTo>
                  <a:pt x="11034" y="35692"/>
                  <a:pt x="10769" y="28152"/>
                  <a:pt x="11272" y="28575"/>
                </a:cubicBezTo>
                <a:cubicBezTo>
                  <a:pt x="11775" y="28998"/>
                  <a:pt x="12806" y="36539"/>
                  <a:pt x="13494" y="36671"/>
                </a:cubicBezTo>
                <a:cubicBezTo>
                  <a:pt x="14182" y="36803"/>
                  <a:pt x="14738" y="29447"/>
                  <a:pt x="15399" y="29368"/>
                </a:cubicBezTo>
                <a:cubicBezTo>
                  <a:pt x="16061" y="29289"/>
                  <a:pt x="16616" y="36698"/>
                  <a:pt x="17463" y="36195"/>
                </a:cubicBezTo>
                <a:cubicBezTo>
                  <a:pt x="18310" y="35692"/>
                  <a:pt x="19553" y="26802"/>
                  <a:pt x="20479" y="26352"/>
                </a:cubicBezTo>
                <a:cubicBezTo>
                  <a:pt x="21405" y="25902"/>
                  <a:pt x="22252" y="34078"/>
                  <a:pt x="23019" y="33496"/>
                </a:cubicBezTo>
                <a:cubicBezTo>
                  <a:pt x="23786" y="32914"/>
                  <a:pt x="24422" y="23151"/>
                  <a:pt x="25083" y="22860"/>
                </a:cubicBezTo>
                <a:cubicBezTo>
                  <a:pt x="25745" y="22569"/>
                  <a:pt x="26432" y="32491"/>
                  <a:pt x="26988" y="31750"/>
                </a:cubicBezTo>
                <a:cubicBezTo>
                  <a:pt x="27544" y="31009"/>
                  <a:pt x="27888" y="19262"/>
                  <a:pt x="28417" y="18415"/>
                </a:cubicBezTo>
                <a:cubicBezTo>
                  <a:pt x="28946" y="17568"/>
                  <a:pt x="29713" y="27702"/>
                  <a:pt x="30163" y="26670"/>
                </a:cubicBezTo>
                <a:cubicBezTo>
                  <a:pt x="30613" y="25638"/>
                  <a:pt x="30692" y="11006"/>
                  <a:pt x="31115" y="12223"/>
                </a:cubicBezTo>
                <a:cubicBezTo>
                  <a:pt x="31538" y="13440"/>
                  <a:pt x="32227" y="32649"/>
                  <a:pt x="32703" y="33972"/>
                </a:cubicBezTo>
                <a:cubicBezTo>
                  <a:pt x="33179" y="35295"/>
                  <a:pt x="33444" y="21299"/>
                  <a:pt x="33973" y="20161"/>
                </a:cubicBezTo>
                <a:cubicBezTo>
                  <a:pt x="34502" y="19023"/>
                  <a:pt x="35349" y="27649"/>
                  <a:pt x="35878" y="27146"/>
                </a:cubicBezTo>
                <a:cubicBezTo>
                  <a:pt x="36407" y="26643"/>
                  <a:pt x="36434" y="16960"/>
                  <a:pt x="37148" y="17145"/>
                </a:cubicBezTo>
                <a:cubicBezTo>
                  <a:pt x="37862" y="17330"/>
                  <a:pt x="39212" y="28575"/>
                  <a:pt x="40164" y="28257"/>
                </a:cubicBezTo>
                <a:cubicBezTo>
                  <a:pt x="41117" y="27940"/>
                  <a:pt x="42122" y="15822"/>
                  <a:pt x="42863" y="15240"/>
                </a:cubicBezTo>
                <a:cubicBezTo>
                  <a:pt x="43604" y="14658"/>
                  <a:pt x="43868" y="24659"/>
                  <a:pt x="44609" y="24765"/>
                </a:cubicBezTo>
                <a:cubicBezTo>
                  <a:pt x="45350" y="24871"/>
                  <a:pt x="46779" y="14817"/>
                  <a:pt x="47308" y="15875"/>
                </a:cubicBezTo>
                <a:cubicBezTo>
                  <a:pt x="47837" y="16933"/>
                  <a:pt x="47043" y="30083"/>
                  <a:pt x="47784" y="31115"/>
                </a:cubicBezTo>
                <a:cubicBezTo>
                  <a:pt x="48525" y="32147"/>
                  <a:pt x="50721" y="21114"/>
                  <a:pt x="51753" y="22066"/>
                </a:cubicBezTo>
                <a:cubicBezTo>
                  <a:pt x="52785" y="23019"/>
                  <a:pt x="53234" y="35666"/>
                  <a:pt x="53975" y="36830"/>
                </a:cubicBezTo>
                <a:cubicBezTo>
                  <a:pt x="54716" y="37994"/>
                  <a:pt x="55351" y="27993"/>
                  <a:pt x="56198" y="29051"/>
                </a:cubicBezTo>
                <a:cubicBezTo>
                  <a:pt x="57045" y="30109"/>
                  <a:pt x="58367" y="41778"/>
                  <a:pt x="59055" y="43180"/>
                </a:cubicBezTo>
                <a:cubicBezTo>
                  <a:pt x="59743" y="44582"/>
                  <a:pt x="59849" y="37359"/>
                  <a:pt x="60325" y="37465"/>
                </a:cubicBezTo>
                <a:cubicBezTo>
                  <a:pt x="60801" y="37571"/>
                  <a:pt x="61119" y="43815"/>
                  <a:pt x="61913" y="43815"/>
                </a:cubicBezTo>
                <a:cubicBezTo>
                  <a:pt x="62707" y="43815"/>
                  <a:pt x="64136" y="37095"/>
                  <a:pt x="65088" y="37465"/>
                </a:cubicBezTo>
                <a:cubicBezTo>
                  <a:pt x="66041" y="37835"/>
                  <a:pt x="66411" y="45984"/>
                  <a:pt x="67628" y="46037"/>
                </a:cubicBezTo>
                <a:cubicBezTo>
                  <a:pt x="68845" y="46090"/>
                  <a:pt x="70697" y="37570"/>
                  <a:pt x="72390" y="37782"/>
                </a:cubicBezTo>
                <a:cubicBezTo>
                  <a:pt x="74083" y="37994"/>
                  <a:pt x="76359" y="47360"/>
                  <a:pt x="77788" y="47307"/>
                </a:cubicBezTo>
                <a:cubicBezTo>
                  <a:pt x="79217" y="47254"/>
                  <a:pt x="79825" y="37465"/>
                  <a:pt x="80963" y="37465"/>
                </a:cubicBezTo>
                <a:cubicBezTo>
                  <a:pt x="82101" y="37465"/>
                  <a:pt x="84006" y="45667"/>
                  <a:pt x="84614" y="47307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AD1CC4-78CC-B3A7-0B76-D71B624C4B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Loss is Messy</a:t>
            </a:r>
            <a:endParaRPr/>
          </a:p>
        </p:txBody>
      </p:sp>
      <p:sp>
        <p:nvSpPr>
          <p:cNvPr id="421" name="Google Shape;421;p4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propagation is messy.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theory: Signal propagates in all directions.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real life: Signal strength depends on environment.</a:t>
            </a:r>
            <a:endParaRPr/>
          </a:p>
        </p:txBody>
      </p:sp>
      <p:pic>
        <p:nvPicPr>
          <p:cNvPr id="422" name="Google Shape;42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863" y="1962125"/>
            <a:ext cx="4542276" cy="20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6"/>
          <p:cNvSpPr txBox="1"/>
          <p:nvPr/>
        </p:nvSpPr>
        <p:spPr>
          <a:xfrm>
            <a:off x="3328213" y="4097000"/>
            <a:ext cx="2487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= strength of signal.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09B16-ECD0-5CD8-54D6-133550C02A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Path Loss</a:t>
            </a:r>
            <a:endParaRPr/>
          </a:p>
        </p:txBody>
      </p:sp>
      <p:sp>
        <p:nvSpPr>
          <p:cNvPr id="429" name="Google Shape;429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 characteristics affect signal strength:</a:t>
            </a:r>
            <a:endParaRPr/>
          </a:p>
        </p:txBody>
      </p:sp>
      <p:grpSp>
        <p:nvGrpSpPr>
          <p:cNvPr id="430" name="Google Shape;430;p47"/>
          <p:cNvGrpSpPr/>
          <p:nvPr/>
        </p:nvGrpSpPr>
        <p:grpSpPr>
          <a:xfrm>
            <a:off x="2610630" y="917325"/>
            <a:ext cx="2156983" cy="1288550"/>
            <a:chOff x="2610630" y="917325"/>
            <a:chExt cx="2156983" cy="1288550"/>
          </a:xfrm>
        </p:grpSpPr>
        <p:cxnSp>
          <p:nvCxnSpPr>
            <p:cNvPr id="431" name="Google Shape;431;p47"/>
            <p:cNvCxnSpPr/>
            <p:nvPr/>
          </p:nvCxnSpPr>
          <p:spPr>
            <a:xfrm>
              <a:off x="3457825" y="917325"/>
              <a:ext cx="0" cy="112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432" name="Google Shape;432;p47"/>
            <p:cNvCxnSpPr/>
            <p:nvPr/>
          </p:nvCxnSpPr>
          <p:spPr>
            <a:xfrm rot="10800000">
              <a:off x="3381613" y="1965875"/>
              <a:ext cx="1386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433" name="Google Shape;433;p47"/>
            <p:cNvSpPr/>
            <p:nvPr/>
          </p:nvSpPr>
          <p:spPr>
            <a:xfrm>
              <a:off x="3527425" y="1048875"/>
              <a:ext cx="1114890" cy="845433"/>
            </a:xfrm>
            <a:custGeom>
              <a:avLst/>
              <a:gdLst/>
              <a:ahLst/>
              <a:cxnLst/>
              <a:rect l="l" t="t" r="r" b="b"/>
              <a:pathLst>
                <a:path w="51502" h="39154" extrusionOk="0">
                  <a:moveTo>
                    <a:pt x="0" y="0"/>
                  </a:moveTo>
                  <a:cubicBezTo>
                    <a:pt x="1230" y="4970"/>
                    <a:pt x="-1205" y="23292"/>
                    <a:pt x="7379" y="29818"/>
                  </a:cubicBezTo>
                  <a:cubicBezTo>
                    <a:pt x="15963" y="36344"/>
                    <a:pt x="44148" y="37598"/>
                    <a:pt x="51502" y="39154"/>
                  </a:cubicBezTo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Google Shape;434;p47"/>
            <p:cNvSpPr txBox="1"/>
            <p:nvPr/>
          </p:nvSpPr>
          <p:spPr>
            <a:xfrm>
              <a:off x="3864725" y="19658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5" name="Google Shape;435;p47"/>
            <p:cNvSpPr txBox="1"/>
            <p:nvPr/>
          </p:nvSpPr>
          <p:spPr>
            <a:xfrm>
              <a:off x="2610630" y="10186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6" name="Google Shape;436;p47"/>
          <p:cNvSpPr txBox="1"/>
          <p:nvPr/>
        </p:nvSpPr>
        <p:spPr>
          <a:xfrm>
            <a:off x="333506" y="1010350"/>
            <a:ext cx="23955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Free-space loss:</a:t>
            </a:r>
            <a:endParaRPr sz="16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– Due to inverse</a:t>
            </a:r>
            <a:b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square law.</a:t>
            </a:r>
            <a:b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– Fluctuates very slowly.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7"/>
          <p:cNvSpPr txBox="1"/>
          <p:nvPr/>
        </p:nvSpPr>
        <p:spPr>
          <a:xfrm>
            <a:off x="333506" y="2381950"/>
            <a:ext cx="23955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Shadowing:</a:t>
            </a:r>
            <a:endParaRPr sz="1600"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– Due to obstructions.</a:t>
            </a:r>
            <a:b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– Fluctuates quickly.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47"/>
          <p:cNvSpPr txBox="1"/>
          <p:nvPr/>
        </p:nvSpPr>
        <p:spPr>
          <a:xfrm>
            <a:off x="315625" y="3706575"/>
            <a:ext cx="23955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Multipath fading:</a:t>
            </a:r>
            <a:endParaRPr sz="1600" b="1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– Due to signal colliding</a:t>
            </a:r>
            <a:b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    with itself.</a:t>
            </a:r>
            <a:b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– Fluctuates very quickly.</a:t>
            </a:r>
            <a:endParaRPr sz="16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9" name="Google Shape;439;p47"/>
          <p:cNvGrpSpPr/>
          <p:nvPr/>
        </p:nvGrpSpPr>
        <p:grpSpPr>
          <a:xfrm>
            <a:off x="2610630" y="2288925"/>
            <a:ext cx="2156983" cy="1288550"/>
            <a:chOff x="2610630" y="2288925"/>
            <a:chExt cx="2156983" cy="1288550"/>
          </a:xfrm>
        </p:grpSpPr>
        <p:cxnSp>
          <p:nvCxnSpPr>
            <p:cNvPr id="440" name="Google Shape;440;p47"/>
            <p:cNvCxnSpPr/>
            <p:nvPr/>
          </p:nvCxnSpPr>
          <p:spPr>
            <a:xfrm>
              <a:off x="3457825" y="2288925"/>
              <a:ext cx="0" cy="112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441" name="Google Shape;441;p47"/>
            <p:cNvCxnSpPr/>
            <p:nvPr/>
          </p:nvCxnSpPr>
          <p:spPr>
            <a:xfrm rot="10800000">
              <a:off x="3381613" y="3337475"/>
              <a:ext cx="1386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442" name="Google Shape;442;p47"/>
            <p:cNvSpPr txBox="1"/>
            <p:nvPr/>
          </p:nvSpPr>
          <p:spPr>
            <a:xfrm>
              <a:off x="3864725" y="33374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3" name="Google Shape;443;p47"/>
            <p:cNvSpPr txBox="1"/>
            <p:nvPr/>
          </p:nvSpPr>
          <p:spPr>
            <a:xfrm>
              <a:off x="2610630" y="23902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>
              <a:off x="3531400" y="2670323"/>
              <a:ext cx="1071550" cy="424764"/>
            </a:xfrm>
            <a:custGeom>
              <a:avLst/>
              <a:gdLst/>
              <a:ahLst/>
              <a:cxnLst/>
              <a:rect l="l" t="t" r="r" b="b"/>
              <a:pathLst>
                <a:path w="42862" h="33866" extrusionOk="0">
                  <a:moveTo>
                    <a:pt x="0" y="0"/>
                  </a:moveTo>
                  <a:cubicBezTo>
                    <a:pt x="1896" y="4763"/>
                    <a:pt x="7629" y="27649"/>
                    <a:pt x="11377" y="28575"/>
                  </a:cubicBezTo>
                  <a:cubicBezTo>
                    <a:pt x="15125" y="29501"/>
                    <a:pt x="19182" y="5512"/>
                    <a:pt x="22489" y="5556"/>
                  </a:cubicBezTo>
                  <a:cubicBezTo>
                    <a:pt x="25796" y="5600"/>
                    <a:pt x="27826" y="24121"/>
                    <a:pt x="31221" y="28839"/>
                  </a:cubicBezTo>
                  <a:cubicBezTo>
                    <a:pt x="34617" y="33557"/>
                    <a:pt x="40922" y="33028"/>
                    <a:pt x="42862" y="33866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5" name="Google Shape;445;p47"/>
          <p:cNvGrpSpPr/>
          <p:nvPr/>
        </p:nvGrpSpPr>
        <p:grpSpPr>
          <a:xfrm>
            <a:off x="2610630" y="3736725"/>
            <a:ext cx="2080783" cy="1288550"/>
            <a:chOff x="2610630" y="3736725"/>
            <a:chExt cx="2080783" cy="1288550"/>
          </a:xfrm>
        </p:grpSpPr>
        <p:cxnSp>
          <p:nvCxnSpPr>
            <p:cNvPr id="446" name="Google Shape;446;p47"/>
            <p:cNvCxnSpPr/>
            <p:nvPr/>
          </p:nvCxnSpPr>
          <p:spPr>
            <a:xfrm>
              <a:off x="3457825" y="3736725"/>
              <a:ext cx="0" cy="112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447" name="Google Shape;447;p47"/>
            <p:cNvCxnSpPr/>
            <p:nvPr/>
          </p:nvCxnSpPr>
          <p:spPr>
            <a:xfrm rot="10800000">
              <a:off x="3305413" y="4785275"/>
              <a:ext cx="1386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448" name="Google Shape;448;p47"/>
            <p:cNvSpPr txBox="1"/>
            <p:nvPr/>
          </p:nvSpPr>
          <p:spPr>
            <a:xfrm>
              <a:off x="3788525" y="47852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47"/>
            <p:cNvSpPr txBox="1"/>
            <p:nvPr/>
          </p:nvSpPr>
          <p:spPr>
            <a:xfrm>
              <a:off x="2610630" y="38380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3495113" y="4091426"/>
              <a:ext cx="1159025" cy="303924"/>
            </a:xfrm>
            <a:custGeom>
              <a:avLst/>
              <a:gdLst/>
              <a:ahLst/>
              <a:cxnLst/>
              <a:rect l="l" t="t" r="r" b="b"/>
              <a:pathLst>
                <a:path w="46361" h="22830" extrusionOk="0">
                  <a:moveTo>
                    <a:pt x="0" y="6830"/>
                  </a:moveTo>
                  <a:cubicBezTo>
                    <a:pt x="493" y="8823"/>
                    <a:pt x="1644" y="19304"/>
                    <a:pt x="2959" y="18790"/>
                  </a:cubicBezTo>
                  <a:cubicBezTo>
                    <a:pt x="4274" y="18276"/>
                    <a:pt x="6432" y="3912"/>
                    <a:pt x="7891" y="3748"/>
                  </a:cubicBezTo>
                  <a:cubicBezTo>
                    <a:pt x="9350" y="3584"/>
                    <a:pt x="10584" y="18421"/>
                    <a:pt x="11714" y="17804"/>
                  </a:cubicBezTo>
                  <a:cubicBezTo>
                    <a:pt x="12844" y="17188"/>
                    <a:pt x="13625" y="-732"/>
                    <a:pt x="14673" y="49"/>
                  </a:cubicBezTo>
                  <a:cubicBezTo>
                    <a:pt x="15721" y="830"/>
                    <a:pt x="17077" y="20167"/>
                    <a:pt x="18002" y="22489"/>
                  </a:cubicBezTo>
                  <a:cubicBezTo>
                    <a:pt x="18927" y="24811"/>
                    <a:pt x="19399" y="14126"/>
                    <a:pt x="20221" y="13982"/>
                  </a:cubicBezTo>
                  <a:cubicBezTo>
                    <a:pt x="21043" y="13838"/>
                    <a:pt x="21948" y="23476"/>
                    <a:pt x="22934" y="21626"/>
                  </a:cubicBezTo>
                  <a:cubicBezTo>
                    <a:pt x="23921" y="19777"/>
                    <a:pt x="25133" y="3933"/>
                    <a:pt x="26140" y="2885"/>
                  </a:cubicBezTo>
                  <a:cubicBezTo>
                    <a:pt x="27147" y="1837"/>
                    <a:pt x="28216" y="14598"/>
                    <a:pt x="28976" y="15338"/>
                  </a:cubicBezTo>
                  <a:cubicBezTo>
                    <a:pt x="29736" y="16078"/>
                    <a:pt x="30045" y="6665"/>
                    <a:pt x="30702" y="7323"/>
                  </a:cubicBezTo>
                  <a:cubicBezTo>
                    <a:pt x="31360" y="7981"/>
                    <a:pt x="32099" y="19983"/>
                    <a:pt x="32921" y="19284"/>
                  </a:cubicBezTo>
                  <a:cubicBezTo>
                    <a:pt x="33743" y="18585"/>
                    <a:pt x="34689" y="2864"/>
                    <a:pt x="35634" y="3131"/>
                  </a:cubicBezTo>
                  <a:cubicBezTo>
                    <a:pt x="36579" y="3398"/>
                    <a:pt x="37463" y="20209"/>
                    <a:pt x="38593" y="20887"/>
                  </a:cubicBezTo>
                  <a:cubicBezTo>
                    <a:pt x="39723" y="21565"/>
                    <a:pt x="41121" y="7200"/>
                    <a:pt x="42416" y="7200"/>
                  </a:cubicBezTo>
                  <a:cubicBezTo>
                    <a:pt x="43711" y="7200"/>
                    <a:pt x="45704" y="18606"/>
                    <a:pt x="46361" y="20887"/>
                  </a:cubicBezTo>
                </a:path>
              </a:pathLst>
            </a:cu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1" name="Google Shape;451;p47"/>
          <p:cNvGrpSpPr/>
          <p:nvPr/>
        </p:nvGrpSpPr>
        <p:grpSpPr>
          <a:xfrm>
            <a:off x="5738156" y="1755025"/>
            <a:ext cx="3198469" cy="2243525"/>
            <a:chOff x="5738156" y="1755025"/>
            <a:chExt cx="3198469" cy="2243525"/>
          </a:xfrm>
        </p:grpSpPr>
        <p:cxnSp>
          <p:nvCxnSpPr>
            <p:cNvPr id="452" name="Google Shape;452;p47"/>
            <p:cNvCxnSpPr/>
            <p:nvPr/>
          </p:nvCxnSpPr>
          <p:spPr>
            <a:xfrm>
              <a:off x="6544875" y="1755025"/>
              <a:ext cx="0" cy="2072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453" name="Google Shape;453;p47"/>
            <p:cNvCxnSpPr/>
            <p:nvPr/>
          </p:nvCxnSpPr>
          <p:spPr>
            <a:xfrm rot="10800000">
              <a:off x="6427125" y="3749775"/>
              <a:ext cx="25095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454" name="Google Shape;454;p47"/>
            <p:cNvSpPr txBox="1"/>
            <p:nvPr/>
          </p:nvSpPr>
          <p:spPr>
            <a:xfrm>
              <a:off x="7993125" y="3758550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5" name="Google Shape;455;p47"/>
            <p:cNvSpPr txBox="1"/>
            <p:nvPr/>
          </p:nvSpPr>
          <p:spPr>
            <a:xfrm>
              <a:off x="5738156" y="1898825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" name="Google Shape;456;p47"/>
            <p:cNvSpPr/>
            <p:nvPr/>
          </p:nvSpPr>
          <p:spPr>
            <a:xfrm>
              <a:off x="6628225" y="2043825"/>
              <a:ext cx="2115350" cy="1664116"/>
            </a:xfrm>
            <a:custGeom>
              <a:avLst/>
              <a:gdLst/>
              <a:ahLst/>
              <a:cxnLst/>
              <a:rect l="l" t="t" r="r" b="b"/>
              <a:pathLst>
                <a:path w="84614" h="47313" extrusionOk="0">
                  <a:moveTo>
                    <a:pt x="0" y="0"/>
                  </a:moveTo>
                  <a:cubicBezTo>
                    <a:pt x="291" y="2990"/>
                    <a:pt x="1033" y="16483"/>
                    <a:pt x="1747" y="17938"/>
                  </a:cubicBezTo>
                  <a:cubicBezTo>
                    <a:pt x="2462" y="19393"/>
                    <a:pt x="3467" y="7038"/>
                    <a:pt x="4287" y="8731"/>
                  </a:cubicBezTo>
                  <a:cubicBezTo>
                    <a:pt x="5107" y="10424"/>
                    <a:pt x="6060" y="26352"/>
                    <a:pt x="6668" y="28098"/>
                  </a:cubicBezTo>
                  <a:cubicBezTo>
                    <a:pt x="7277" y="29844"/>
                    <a:pt x="7303" y="18203"/>
                    <a:pt x="7938" y="19208"/>
                  </a:cubicBezTo>
                  <a:cubicBezTo>
                    <a:pt x="8573" y="20214"/>
                    <a:pt x="9922" y="32570"/>
                    <a:pt x="10478" y="34131"/>
                  </a:cubicBezTo>
                  <a:cubicBezTo>
                    <a:pt x="11034" y="35692"/>
                    <a:pt x="10769" y="28152"/>
                    <a:pt x="11272" y="28575"/>
                  </a:cubicBezTo>
                  <a:cubicBezTo>
                    <a:pt x="11775" y="28998"/>
                    <a:pt x="12806" y="36539"/>
                    <a:pt x="13494" y="36671"/>
                  </a:cubicBezTo>
                  <a:cubicBezTo>
                    <a:pt x="14182" y="36803"/>
                    <a:pt x="14738" y="29447"/>
                    <a:pt x="15399" y="29368"/>
                  </a:cubicBezTo>
                  <a:cubicBezTo>
                    <a:pt x="16061" y="29289"/>
                    <a:pt x="16616" y="36698"/>
                    <a:pt x="17463" y="36195"/>
                  </a:cubicBezTo>
                  <a:cubicBezTo>
                    <a:pt x="18310" y="35692"/>
                    <a:pt x="19553" y="26802"/>
                    <a:pt x="20479" y="26352"/>
                  </a:cubicBezTo>
                  <a:cubicBezTo>
                    <a:pt x="21405" y="25902"/>
                    <a:pt x="22252" y="34078"/>
                    <a:pt x="23019" y="33496"/>
                  </a:cubicBezTo>
                  <a:cubicBezTo>
                    <a:pt x="23786" y="32914"/>
                    <a:pt x="24422" y="23151"/>
                    <a:pt x="25083" y="22860"/>
                  </a:cubicBezTo>
                  <a:cubicBezTo>
                    <a:pt x="25745" y="22569"/>
                    <a:pt x="26432" y="32491"/>
                    <a:pt x="26988" y="31750"/>
                  </a:cubicBezTo>
                  <a:cubicBezTo>
                    <a:pt x="27544" y="31009"/>
                    <a:pt x="27888" y="19262"/>
                    <a:pt x="28417" y="18415"/>
                  </a:cubicBezTo>
                  <a:cubicBezTo>
                    <a:pt x="28946" y="17568"/>
                    <a:pt x="29713" y="27702"/>
                    <a:pt x="30163" y="26670"/>
                  </a:cubicBezTo>
                  <a:cubicBezTo>
                    <a:pt x="30613" y="25638"/>
                    <a:pt x="30692" y="11006"/>
                    <a:pt x="31115" y="12223"/>
                  </a:cubicBezTo>
                  <a:cubicBezTo>
                    <a:pt x="31538" y="13440"/>
                    <a:pt x="32227" y="32649"/>
                    <a:pt x="32703" y="33972"/>
                  </a:cubicBezTo>
                  <a:cubicBezTo>
                    <a:pt x="33179" y="35295"/>
                    <a:pt x="33444" y="21299"/>
                    <a:pt x="33973" y="20161"/>
                  </a:cubicBezTo>
                  <a:cubicBezTo>
                    <a:pt x="34502" y="19023"/>
                    <a:pt x="35349" y="27649"/>
                    <a:pt x="35878" y="27146"/>
                  </a:cubicBezTo>
                  <a:cubicBezTo>
                    <a:pt x="36407" y="26643"/>
                    <a:pt x="36434" y="16960"/>
                    <a:pt x="37148" y="17145"/>
                  </a:cubicBezTo>
                  <a:cubicBezTo>
                    <a:pt x="37862" y="17330"/>
                    <a:pt x="39212" y="28575"/>
                    <a:pt x="40164" y="28257"/>
                  </a:cubicBezTo>
                  <a:cubicBezTo>
                    <a:pt x="41117" y="27940"/>
                    <a:pt x="42122" y="15822"/>
                    <a:pt x="42863" y="15240"/>
                  </a:cubicBezTo>
                  <a:cubicBezTo>
                    <a:pt x="43604" y="14658"/>
                    <a:pt x="43868" y="24659"/>
                    <a:pt x="44609" y="24765"/>
                  </a:cubicBezTo>
                  <a:cubicBezTo>
                    <a:pt x="45350" y="24871"/>
                    <a:pt x="46779" y="14817"/>
                    <a:pt x="47308" y="15875"/>
                  </a:cubicBezTo>
                  <a:cubicBezTo>
                    <a:pt x="47837" y="16933"/>
                    <a:pt x="47043" y="30083"/>
                    <a:pt x="47784" y="31115"/>
                  </a:cubicBezTo>
                  <a:cubicBezTo>
                    <a:pt x="48525" y="32147"/>
                    <a:pt x="50721" y="21114"/>
                    <a:pt x="51753" y="22066"/>
                  </a:cubicBezTo>
                  <a:cubicBezTo>
                    <a:pt x="52785" y="23019"/>
                    <a:pt x="53234" y="35666"/>
                    <a:pt x="53975" y="36830"/>
                  </a:cubicBezTo>
                  <a:cubicBezTo>
                    <a:pt x="54716" y="37994"/>
                    <a:pt x="55351" y="27993"/>
                    <a:pt x="56198" y="29051"/>
                  </a:cubicBezTo>
                  <a:cubicBezTo>
                    <a:pt x="57045" y="30109"/>
                    <a:pt x="58367" y="41778"/>
                    <a:pt x="59055" y="43180"/>
                  </a:cubicBezTo>
                  <a:cubicBezTo>
                    <a:pt x="59743" y="44582"/>
                    <a:pt x="59849" y="37359"/>
                    <a:pt x="60325" y="37465"/>
                  </a:cubicBezTo>
                  <a:cubicBezTo>
                    <a:pt x="60801" y="37571"/>
                    <a:pt x="61119" y="43815"/>
                    <a:pt x="61913" y="43815"/>
                  </a:cubicBezTo>
                  <a:cubicBezTo>
                    <a:pt x="62707" y="43815"/>
                    <a:pt x="64136" y="37095"/>
                    <a:pt x="65088" y="37465"/>
                  </a:cubicBezTo>
                  <a:cubicBezTo>
                    <a:pt x="66041" y="37835"/>
                    <a:pt x="66411" y="45984"/>
                    <a:pt x="67628" y="46037"/>
                  </a:cubicBezTo>
                  <a:cubicBezTo>
                    <a:pt x="68845" y="46090"/>
                    <a:pt x="70697" y="37570"/>
                    <a:pt x="72390" y="37782"/>
                  </a:cubicBezTo>
                  <a:cubicBezTo>
                    <a:pt x="74083" y="37994"/>
                    <a:pt x="76359" y="47360"/>
                    <a:pt x="77788" y="47307"/>
                  </a:cubicBezTo>
                  <a:cubicBezTo>
                    <a:pt x="79217" y="47254"/>
                    <a:pt x="79825" y="37465"/>
                    <a:pt x="80963" y="37465"/>
                  </a:cubicBezTo>
                  <a:cubicBezTo>
                    <a:pt x="82101" y="37465"/>
                    <a:pt x="84006" y="45667"/>
                    <a:pt x="84614" y="47307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7" name="Google Shape;457;p47"/>
          <p:cNvGrpSpPr/>
          <p:nvPr/>
        </p:nvGrpSpPr>
        <p:grpSpPr>
          <a:xfrm>
            <a:off x="4828249" y="1396050"/>
            <a:ext cx="796951" cy="2900750"/>
            <a:chOff x="4828249" y="1396050"/>
            <a:chExt cx="796951" cy="2900750"/>
          </a:xfrm>
        </p:grpSpPr>
        <p:sp>
          <p:nvSpPr>
            <p:cNvPr id="458" name="Google Shape;458;p47"/>
            <p:cNvSpPr/>
            <p:nvPr/>
          </p:nvSpPr>
          <p:spPr>
            <a:xfrm>
              <a:off x="4828252" y="1396050"/>
              <a:ext cx="669996" cy="1197453"/>
            </a:xfrm>
            <a:custGeom>
              <a:avLst/>
              <a:gdLst/>
              <a:ahLst/>
              <a:cxnLst/>
              <a:rect l="l" t="t" r="r" b="b"/>
              <a:pathLst>
                <a:path w="21881" h="52001" extrusionOk="0">
                  <a:moveTo>
                    <a:pt x="0" y="0"/>
                  </a:moveTo>
                  <a:lnTo>
                    <a:pt x="21881" y="0"/>
                  </a:lnTo>
                  <a:lnTo>
                    <a:pt x="21881" y="52001"/>
                  </a:lnTo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9" name="Google Shape;459;p47"/>
            <p:cNvSpPr/>
            <p:nvPr/>
          </p:nvSpPr>
          <p:spPr>
            <a:xfrm rot="10800000" flipH="1">
              <a:off x="4828252" y="3099347"/>
              <a:ext cx="669996" cy="1197453"/>
            </a:xfrm>
            <a:custGeom>
              <a:avLst/>
              <a:gdLst/>
              <a:ahLst/>
              <a:cxnLst/>
              <a:rect l="l" t="t" r="r" b="b"/>
              <a:pathLst>
                <a:path w="21881" h="52001" extrusionOk="0">
                  <a:moveTo>
                    <a:pt x="0" y="0"/>
                  </a:moveTo>
                  <a:lnTo>
                    <a:pt x="21881" y="0"/>
                  </a:lnTo>
                  <a:lnTo>
                    <a:pt x="21881" y="52001"/>
                  </a:lnTo>
                </a:path>
              </a:pathLst>
            </a:cu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" name="Google Shape;460;p47"/>
            <p:cNvSpPr txBox="1"/>
            <p:nvPr/>
          </p:nvSpPr>
          <p:spPr>
            <a:xfrm>
              <a:off x="5376800" y="2713900"/>
              <a:ext cx="2484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1" name="Google Shape;461;p47"/>
            <p:cNvCxnSpPr/>
            <p:nvPr/>
          </p:nvCxnSpPr>
          <p:spPr>
            <a:xfrm>
              <a:off x="4828249" y="2851105"/>
              <a:ext cx="523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462" name="Google Shape;462;p47"/>
          <p:cNvCxnSpPr/>
          <p:nvPr/>
        </p:nvCxnSpPr>
        <p:spPr>
          <a:xfrm>
            <a:off x="5674594" y="2851105"/>
            <a:ext cx="792300" cy="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2C5AEC-0005-464A-4CD4-C41BBB811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7" name="Google Shape;487;p49"/>
          <p:cNvCxnSpPr>
            <a:stCxn id="488" idx="6"/>
            <a:endCxn id="489" idx="2"/>
          </p:cNvCxnSpPr>
          <p:nvPr/>
        </p:nvCxnSpPr>
        <p:spPr>
          <a:xfrm>
            <a:off x="1214175" y="2677475"/>
            <a:ext cx="3820500" cy="5079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90" name="Google Shape;490;p49"/>
          <p:cNvSpPr/>
          <p:nvPr/>
        </p:nvSpPr>
        <p:spPr>
          <a:xfrm>
            <a:off x="1181925" y="2715300"/>
            <a:ext cx="3891475" cy="1913184"/>
          </a:xfrm>
          <a:custGeom>
            <a:avLst/>
            <a:gdLst/>
            <a:ahLst/>
            <a:cxnLst/>
            <a:rect l="l" t="t" r="r" b="b"/>
            <a:pathLst>
              <a:path w="155659" h="76827" extrusionOk="0">
                <a:moveTo>
                  <a:pt x="0" y="0"/>
                </a:moveTo>
                <a:lnTo>
                  <a:pt x="76827" y="76827"/>
                </a:lnTo>
                <a:lnTo>
                  <a:pt x="155659" y="19813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" name="Google Shape;491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492" name="Google Shape;492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366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altLang="zh-CN" b="1" dirty="0"/>
              <a:t>Two-ray model</a:t>
            </a:r>
            <a:r>
              <a:rPr lang="en-US" altLang="zh-CN" dirty="0"/>
              <a:t> assumes the signal waves travel along two paths:</a:t>
            </a:r>
          </a:p>
          <a:p>
            <a:pPr lvl="0"/>
            <a:r>
              <a:rPr lang="en-US" altLang="zh-CN" dirty="0"/>
              <a:t>Line-of-sight path: Wave arrives with no obstacles.</a:t>
            </a:r>
          </a:p>
          <a:p>
            <a:pPr lvl="0">
              <a:spcBef>
                <a:spcPts val="0"/>
              </a:spcBef>
            </a:pPr>
            <a:r>
              <a:rPr lang="en-US" altLang="zh-CN" dirty="0"/>
              <a:t>Ground-bounce path: Wave reflects off the Earth's surface.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Assuming sender and receiver are far enough: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Two waves arrive phase-shifted at the receiver, causing destructive interference.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Signal strength ∝ 1/d</a:t>
            </a:r>
            <a:r>
              <a:rPr lang="en" baseline="30000" dirty="0"/>
              <a:t>4</a:t>
            </a:r>
            <a:r>
              <a:rPr lang="en" dirty="0"/>
              <a:t>. Drops off much faster than inverse-square law!</a:t>
            </a:r>
            <a:endParaRPr dirty="0"/>
          </a:p>
        </p:txBody>
      </p:sp>
      <p:grpSp>
        <p:nvGrpSpPr>
          <p:cNvPr id="493" name="Google Shape;493;p49"/>
          <p:cNvGrpSpPr/>
          <p:nvPr/>
        </p:nvGrpSpPr>
        <p:grpSpPr>
          <a:xfrm>
            <a:off x="1072275" y="2606525"/>
            <a:ext cx="141900" cy="2028925"/>
            <a:chOff x="2776450" y="2679300"/>
            <a:chExt cx="141900" cy="2028925"/>
          </a:xfrm>
        </p:grpSpPr>
        <p:cxnSp>
          <p:nvCxnSpPr>
            <p:cNvPr id="494" name="Google Shape;494;p49"/>
            <p:cNvCxnSpPr/>
            <p:nvPr/>
          </p:nvCxnSpPr>
          <p:spPr>
            <a:xfrm>
              <a:off x="2847400" y="2786725"/>
              <a:ext cx="0" cy="19215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8" name="Google Shape;488;p49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" name="Google Shape;495;p49"/>
          <p:cNvGrpSpPr/>
          <p:nvPr/>
        </p:nvGrpSpPr>
        <p:grpSpPr>
          <a:xfrm>
            <a:off x="5034675" y="3114550"/>
            <a:ext cx="141900" cy="1521125"/>
            <a:chOff x="6205450" y="3187325"/>
            <a:chExt cx="141900" cy="1521125"/>
          </a:xfrm>
        </p:grpSpPr>
        <p:cxnSp>
          <p:nvCxnSpPr>
            <p:cNvPr id="496" name="Google Shape;496;p49"/>
            <p:cNvCxnSpPr/>
            <p:nvPr/>
          </p:nvCxnSpPr>
          <p:spPr>
            <a:xfrm>
              <a:off x="6276400" y="3293050"/>
              <a:ext cx="0" cy="1415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9" name="Google Shape;489;p49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97" name="Google Shape;497;p49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8" name="Google Shape;498;p49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9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9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49"/>
          <p:cNvSpPr txBox="1"/>
          <p:nvPr/>
        </p:nvSpPr>
        <p:spPr>
          <a:xfrm rot="447710">
            <a:off x="2409220" y="2663916"/>
            <a:ext cx="1436868" cy="27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Line-of-sight path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9"/>
          <p:cNvSpPr txBox="1"/>
          <p:nvPr/>
        </p:nvSpPr>
        <p:spPr>
          <a:xfrm rot="2527">
            <a:off x="2716282" y="3688477"/>
            <a:ext cx="816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Ground bounce path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49"/>
          <p:cNvCxnSpPr/>
          <p:nvPr/>
        </p:nvCxnSpPr>
        <p:spPr>
          <a:xfrm>
            <a:off x="5749100" y="3260125"/>
            <a:ext cx="0" cy="8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04" name="Google Shape;504;p49"/>
          <p:cNvCxnSpPr/>
          <p:nvPr/>
        </p:nvCxnSpPr>
        <p:spPr>
          <a:xfrm rot="10800000">
            <a:off x="5672775" y="4073000"/>
            <a:ext cx="113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05" name="Google Shape;505;p49"/>
          <p:cNvSpPr txBox="1"/>
          <p:nvPr/>
        </p:nvSpPr>
        <p:spPr>
          <a:xfrm>
            <a:off x="6195275" y="4073000"/>
            <a:ext cx="509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9"/>
          <p:cNvSpPr txBox="1"/>
          <p:nvPr/>
        </p:nvSpPr>
        <p:spPr>
          <a:xfrm>
            <a:off x="5270725" y="3359150"/>
            <a:ext cx="475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49"/>
          <p:cNvCxnSpPr/>
          <p:nvPr/>
        </p:nvCxnSpPr>
        <p:spPr>
          <a:xfrm>
            <a:off x="7806500" y="3260125"/>
            <a:ext cx="0" cy="8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08" name="Google Shape;508;p49"/>
          <p:cNvCxnSpPr/>
          <p:nvPr/>
        </p:nvCxnSpPr>
        <p:spPr>
          <a:xfrm rot="10800000">
            <a:off x="7730175" y="4073000"/>
            <a:ext cx="113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09" name="Google Shape;509;p49"/>
          <p:cNvSpPr txBox="1"/>
          <p:nvPr/>
        </p:nvSpPr>
        <p:spPr>
          <a:xfrm>
            <a:off x="8252675" y="4073000"/>
            <a:ext cx="509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9"/>
          <p:cNvSpPr txBox="1"/>
          <p:nvPr/>
        </p:nvSpPr>
        <p:spPr>
          <a:xfrm>
            <a:off x="7328125" y="3359150"/>
            <a:ext cx="475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9"/>
          <p:cNvSpPr txBox="1"/>
          <p:nvPr/>
        </p:nvSpPr>
        <p:spPr>
          <a:xfrm>
            <a:off x="6956436" y="3536242"/>
            <a:ext cx="248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5796203" y="3440050"/>
            <a:ext cx="724250" cy="539275"/>
          </a:xfrm>
          <a:custGeom>
            <a:avLst/>
            <a:gdLst/>
            <a:ahLst/>
            <a:cxnLst/>
            <a:rect l="l" t="t" r="r" b="b"/>
            <a:pathLst>
              <a:path w="28970" h="21571" extrusionOk="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3" name="Google Shape;513;p49"/>
          <p:cNvSpPr/>
          <p:nvPr/>
        </p:nvSpPr>
        <p:spPr>
          <a:xfrm>
            <a:off x="6051558" y="3440050"/>
            <a:ext cx="724250" cy="539275"/>
          </a:xfrm>
          <a:custGeom>
            <a:avLst/>
            <a:gdLst/>
            <a:ahLst/>
            <a:cxnLst/>
            <a:rect l="l" t="t" r="r" b="b"/>
            <a:pathLst>
              <a:path w="28970" h="21571" extrusionOk="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4" name="Google Shape;514;p49"/>
          <p:cNvSpPr/>
          <p:nvPr/>
        </p:nvSpPr>
        <p:spPr>
          <a:xfrm>
            <a:off x="7937300" y="3399857"/>
            <a:ext cx="724250" cy="159194"/>
          </a:xfrm>
          <a:custGeom>
            <a:avLst/>
            <a:gdLst/>
            <a:ahLst/>
            <a:cxnLst/>
            <a:rect l="l" t="t" r="r" b="b"/>
            <a:pathLst>
              <a:path w="28970" h="21571" extrusionOk="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5" name="Google Shape;515;p49"/>
          <p:cNvSpPr txBox="1"/>
          <p:nvPr/>
        </p:nvSpPr>
        <p:spPr>
          <a:xfrm>
            <a:off x="5475075" y="2733975"/>
            <a:ext cx="1533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arrives with phase offset...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49"/>
          <p:cNvSpPr txBox="1"/>
          <p:nvPr/>
        </p:nvSpPr>
        <p:spPr>
          <a:xfrm>
            <a:off x="7569525" y="2733975"/>
            <a:ext cx="1459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...canceling each other out!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8B281A-546F-D18D-BCA7-EE8DFC3AA2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sender and receiver are far enough: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Waves arrive phase-shifted at the receiver, causing destructive interference.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strength ∝ 1/d</a:t>
            </a:r>
            <a:r>
              <a:rPr lang="en" baseline="30000"/>
              <a:t>4</a:t>
            </a:r>
            <a:r>
              <a:rPr lang="en"/>
              <a:t>. Drops off much faster than inverse-square law!</a:t>
            </a:r>
            <a:endParaRPr/>
          </a:p>
        </p:txBody>
      </p:sp>
      <p:cxnSp>
        <p:nvCxnSpPr>
          <p:cNvPr id="523" name="Google Shape;523;p50"/>
          <p:cNvCxnSpPr/>
          <p:nvPr/>
        </p:nvCxnSpPr>
        <p:spPr>
          <a:xfrm>
            <a:off x="1617650" y="1802975"/>
            <a:ext cx="0" cy="153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24" name="Google Shape;524;p50"/>
          <p:cNvCxnSpPr/>
          <p:nvPr/>
        </p:nvCxnSpPr>
        <p:spPr>
          <a:xfrm rot="10800000">
            <a:off x="1499900" y="3263825"/>
            <a:ext cx="250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25" name="Google Shape;525;p50"/>
          <p:cNvSpPr/>
          <p:nvPr/>
        </p:nvSpPr>
        <p:spPr>
          <a:xfrm>
            <a:off x="1687250" y="2017875"/>
            <a:ext cx="2156260" cy="1174522"/>
          </a:xfrm>
          <a:custGeom>
            <a:avLst/>
            <a:gdLst/>
            <a:ahLst/>
            <a:cxnLst/>
            <a:rect l="l" t="t" r="r" b="b"/>
            <a:pathLst>
              <a:path w="51502" h="39154" extrusionOk="0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6" name="Google Shape;526;p50"/>
          <p:cNvSpPr txBox="1"/>
          <p:nvPr/>
        </p:nvSpPr>
        <p:spPr>
          <a:xfrm>
            <a:off x="3065900" y="32726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0"/>
          <p:cNvSpPr txBox="1"/>
          <p:nvPr/>
        </p:nvSpPr>
        <p:spPr>
          <a:xfrm>
            <a:off x="770450" y="19462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50"/>
          <p:cNvSpPr txBox="1"/>
          <p:nvPr/>
        </p:nvSpPr>
        <p:spPr>
          <a:xfrm>
            <a:off x="1263500" y="3744000"/>
            <a:ext cx="29823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Free-space model: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strength ∝ 1/d</a:t>
            </a:r>
            <a:r>
              <a:rPr lang="en" sz="1600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Idealized, no obstacles.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9" name="Google Shape;529;p50"/>
          <p:cNvCxnSpPr/>
          <p:nvPr/>
        </p:nvCxnSpPr>
        <p:spPr>
          <a:xfrm>
            <a:off x="5732450" y="1802975"/>
            <a:ext cx="0" cy="153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30" name="Google Shape;530;p50"/>
          <p:cNvCxnSpPr/>
          <p:nvPr/>
        </p:nvCxnSpPr>
        <p:spPr>
          <a:xfrm rot="10800000">
            <a:off x="5614700" y="3263825"/>
            <a:ext cx="250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31" name="Google Shape;531;p50"/>
          <p:cNvSpPr txBox="1"/>
          <p:nvPr/>
        </p:nvSpPr>
        <p:spPr>
          <a:xfrm>
            <a:off x="7180700" y="32726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50"/>
          <p:cNvSpPr txBox="1"/>
          <p:nvPr/>
        </p:nvSpPr>
        <p:spPr>
          <a:xfrm>
            <a:off x="4885250" y="19462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0"/>
          <p:cNvSpPr txBox="1"/>
          <p:nvPr/>
        </p:nvSpPr>
        <p:spPr>
          <a:xfrm>
            <a:off x="5229175" y="3744000"/>
            <a:ext cx="32886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Two-ray model: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strength ∝ 1/d</a:t>
            </a:r>
            <a:r>
              <a:rPr lang="en" sz="1600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bounces off ground.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Causes destructive interference.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5801600" y="2032575"/>
            <a:ext cx="2124350" cy="1184472"/>
          </a:xfrm>
          <a:custGeom>
            <a:avLst/>
            <a:gdLst/>
            <a:ahLst/>
            <a:cxnLst/>
            <a:rect l="l" t="t" r="r" b="b"/>
            <a:pathLst>
              <a:path w="84974" h="49679" extrusionOk="0">
                <a:moveTo>
                  <a:pt x="0" y="0"/>
                </a:moveTo>
                <a:cubicBezTo>
                  <a:pt x="962" y="6908"/>
                  <a:pt x="1981" y="33328"/>
                  <a:pt x="5772" y="41448"/>
                </a:cubicBezTo>
                <a:cubicBezTo>
                  <a:pt x="9563" y="49568"/>
                  <a:pt x="9544" y="47356"/>
                  <a:pt x="22744" y="48722"/>
                </a:cubicBezTo>
                <a:cubicBezTo>
                  <a:pt x="35944" y="50088"/>
                  <a:pt x="74602" y="49492"/>
                  <a:pt x="84974" y="49646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86702A-A863-8DC6-524B-0B042D9003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1"/>
          <p:cNvSpPr/>
          <p:nvPr/>
        </p:nvSpPr>
        <p:spPr>
          <a:xfrm>
            <a:off x="1171250" y="2289650"/>
            <a:ext cx="3900175" cy="2347875"/>
          </a:xfrm>
          <a:custGeom>
            <a:avLst/>
            <a:gdLst/>
            <a:ahLst/>
            <a:cxnLst/>
            <a:rect l="l" t="t" r="r" b="b"/>
            <a:pathLst>
              <a:path w="156007" h="93915" extrusionOk="0">
                <a:moveTo>
                  <a:pt x="0" y="51954"/>
                </a:moveTo>
                <a:lnTo>
                  <a:pt x="32267" y="0"/>
                </a:lnTo>
                <a:lnTo>
                  <a:pt x="61270" y="93915"/>
                </a:lnTo>
                <a:lnTo>
                  <a:pt x="95187" y="56875"/>
                </a:lnTo>
                <a:lnTo>
                  <a:pt x="115436" y="93334"/>
                </a:lnTo>
                <a:lnTo>
                  <a:pt x="156007" y="71272"/>
                </a:lnTo>
              </a:path>
            </a:pathLst>
          </a:cu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0" name="Google Shape;540;p51"/>
          <p:cNvSpPr/>
          <p:nvPr/>
        </p:nvSpPr>
        <p:spPr>
          <a:xfrm>
            <a:off x="1168175" y="2282750"/>
            <a:ext cx="3940075" cy="1738725"/>
          </a:xfrm>
          <a:custGeom>
            <a:avLst/>
            <a:gdLst/>
            <a:ahLst/>
            <a:cxnLst/>
            <a:rect l="l" t="t" r="r" b="b"/>
            <a:pathLst>
              <a:path w="157603" h="69549" extrusionOk="0">
                <a:moveTo>
                  <a:pt x="0" y="52765"/>
                </a:moveTo>
                <a:lnTo>
                  <a:pt x="47123" y="0"/>
                </a:lnTo>
                <a:lnTo>
                  <a:pt x="83921" y="45380"/>
                </a:lnTo>
                <a:lnTo>
                  <a:pt x="112957" y="8791"/>
                </a:lnTo>
                <a:lnTo>
                  <a:pt x="157603" y="69549"/>
                </a:lnTo>
              </a:path>
            </a:pathLst>
          </a:cu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1" name="Google Shape;541;p51"/>
          <p:cNvSpPr/>
          <p:nvPr/>
        </p:nvSpPr>
        <p:spPr>
          <a:xfrm>
            <a:off x="1155875" y="2285525"/>
            <a:ext cx="3938850" cy="1757300"/>
          </a:xfrm>
          <a:custGeom>
            <a:avLst/>
            <a:gdLst/>
            <a:ahLst/>
            <a:cxnLst/>
            <a:rect l="l" t="t" r="r" b="b"/>
            <a:pathLst>
              <a:path w="157554" h="70292" extrusionOk="0">
                <a:moveTo>
                  <a:pt x="157554" y="70292"/>
                </a:moveTo>
                <a:lnTo>
                  <a:pt x="61940" y="0"/>
                </a:lnTo>
                <a:lnTo>
                  <a:pt x="0" y="52439"/>
                </a:lnTo>
              </a:path>
            </a:pathLst>
          </a:custGeom>
          <a:noFill/>
          <a:ln w="19050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" name="Google Shape;542;p51"/>
          <p:cNvSpPr/>
          <p:nvPr/>
        </p:nvSpPr>
        <p:spPr>
          <a:xfrm>
            <a:off x="1181925" y="3652350"/>
            <a:ext cx="3925450" cy="976100"/>
          </a:xfrm>
          <a:custGeom>
            <a:avLst/>
            <a:gdLst/>
            <a:ahLst/>
            <a:cxnLst/>
            <a:rect l="l" t="t" r="r" b="b"/>
            <a:pathLst>
              <a:path w="157018" h="39044" extrusionOk="0">
                <a:moveTo>
                  <a:pt x="0" y="0"/>
                </a:moveTo>
                <a:lnTo>
                  <a:pt x="76827" y="39044"/>
                </a:lnTo>
                <a:lnTo>
                  <a:pt x="157018" y="1554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" name="Google Shape;543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General Ray Tracing Models</a:t>
            </a:r>
            <a:endParaRPr/>
          </a:p>
        </p:txBody>
      </p:sp>
      <p:sp>
        <p:nvSpPr>
          <p:cNvPr id="544" name="Google Shape;544;p5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General </a:t>
            </a:r>
            <a:r>
              <a:rPr lang="en" b="1"/>
              <a:t>ray tracing</a:t>
            </a:r>
            <a:r>
              <a:rPr lang="en"/>
              <a:t> models account for other obstacles.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reflect, scatter, and diffract.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signals arriving at receiver are reflections.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simulations in software. Requires information about environment.</a:t>
            </a:r>
            <a:endParaRPr/>
          </a:p>
        </p:txBody>
      </p:sp>
      <p:grpSp>
        <p:nvGrpSpPr>
          <p:cNvPr id="545" name="Google Shape;545;p51"/>
          <p:cNvGrpSpPr/>
          <p:nvPr/>
        </p:nvGrpSpPr>
        <p:grpSpPr>
          <a:xfrm>
            <a:off x="1072275" y="3546125"/>
            <a:ext cx="141900" cy="1089325"/>
            <a:chOff x="2776450" y="2679300"/>
            <a:chExt cx="141900" cy="1089325"/>
          </a:xfrm>
        </p:grpSpPr>
        <p:cxnSp>
          <p:nvCxnSpPr>
            <p:cNvPr id="546" name="Google Shape;546;p51"/>
            <p:cNvCxnSpPr/>
            <p:nvPr/>
          </p:nvCxnSpPr>
          <p:spPr>
            <a:xfrm>
              <a:off x="2847400" y="2786725"/>
              <a:ext cx="0" cy="981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7" name="Google Shape;547;p51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8" name="Google Shape;548;p51"/>
          <p:cNvGrpSpPr/>
          <p:nvPr/>
        </p:nvGrpSpPr>
        <p:grpSpPr>
          <a:xfrm>
            <a:off x="5034675" y="3969550"/>
            <a:ext cx="141900" cy="666125"/>
            <a:chOff x="6205450" y="3187325"/>
            <a:chExt cx="141900" cy="666125"/>
          </a:xfrm>
        </p:grpSpPr>
        <p:cxnSp>
          <p:nvCxnSpPr>
            <p:cNvPr id="549" name="Google Shape;549;p51"/>
            <p:cNvCxnSpPr/>
            <p:nvPr/>
          </p:nvCxnSpPr>
          <p:spPr>
            <a:xfrm>
              <a:off x="6276400" y="3293050"/>
              <a:ext cx="0" cy="560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0" name="Google Shape;550;p51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51" name="Google Shape;551;p51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2" name="Google Shape;552;p51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51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51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51"/>
          <p:cNvSpPr/>
          <p:nvPr/>
        </p:nvSpPr>
        <p:spPr>
          <a:xfrm>
            <a:off x="3404500" y="2107025"/>
            <a:ext cx="932400" cy="3936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51"/>
          <p:cNvSpPr/>
          <p:nvPr/>
        </p:nvSpPr>
        <p:spPr>
          <a:xfrm>
            <a:off x="3099700" y="3413350"/>
            <a:ext cx="932400" cy="299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51"/>
          <p:cNvSpPr/>
          <p:nvPr/>
        </p:nvSpPr>
        <p:spPr>
          <a:xfrm>
            <a:off x="1786425" y="1986975"/>
            <a:ext cx="1093800" cy="299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51"/>
          <p:cNvCxnSpPr>
            <a:endCxn id="550" idx="2"/>
          </p:cNvCxnSpPr>
          <p:nvPr/>
        </p:nvCxnSpPr>
        <p:spPr>
          <a:xfrm>
            <a:off x="1214175" y="3617200"/>
            <a:ext cx="3820500" cy="4233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BFA8BD-168D-9B03-8CC1-CD7879186B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Modeling Path Loss – General Ray Tracing Models</a:t>
            </a:r>
            <a:endParaRPr/>
          </a:p>
        </p:txBody>
      </p:sp>
      <p:sp>
        <p:nvSpPr>
          <p:cNvPr id="564" name="Google Shape;564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Free-space model: Signal strength ∝ 1/</a:t>
            </a:r>
            <a:r>
              <a:rPr lang="en" i="1"/>
              <a:t>d</a:t>
            </a:r>
            <a:r>
              <a:rPr lang="en" baseline="30000"/>
              <a:t>2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Two-ray model: Signal strength ∝ 1/</a:t>
            </a:r>
            <a:r>
              <a:rPr lang="en" i="1"/>
              <a:t>d</a:t>
            </a:r>
            <a:r>
              <a:rPr lang="en" baseline="30000"/>
              <a:t>4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General ray tracing model: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5" name="Google Shape;5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7" y="2393950"/>
            <a:ext cx="3476625" cy="86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52"/>
          <p:cNvCxnSpPr/>
          <p:nvPr/>
        </p:nvCxnSpPr>
        <p:spPr>
          <a:xfrm>
            <a:off x="3203825" y="2182729"/>
            <a:ext cx="0" cy="338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7" name="Google Shape;567;p52"/>
          <p:cNvSpPr txBox="1"/>
          <p:nvPr/>
        </p:nvSpPr>
        <p:spPr>
          <a:xfrm>
            <a:off x="2823575" y="1696429"/>
            <a:ext cx="760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8" name="Google Shape;568;p52"/>
          <p:cNvCxnSpPr/>
          <p:nvPr/>
        </p:nvCxnSpPr>
        <p:spPr>
          <a:xfrm>
            <a:off x="4743075" y="2182725"/>
            <a:ext cx="0" cy="348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9" name="Google Shape;569;p52"/>
          <p:cNvSpPr txBox="1"/>
          <p:nvPr/>
        </p:nvSpPr>
        <p:spPr>
          <a:xfrm>
            <a:off x="4251525" y="1696425"/>
            <a:ext cx="983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0" name="Google Shape;570;p52"/>
          <p:cNvCxnSpPr/>
          <p:nvPr/>
        </p:nvCxnSpPr>
        <p:spPr>
          <a:xfrm>
            <a:off x="5809875" y="2182725"/>
            <a:ext cx="0" cy="348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1" name="Google Shape;571;p52"/>
          <p:cNvSpPr txBox="1"/>
          <p:nvPr/>
        </p:nvSpPr>
        <p:spPr>
          <a:xfrm>
            <a:off x="5318325" y="1908825"/>
            <a:ext cx="983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" name="Google Shape;572;p52"/>
          <p:cNvCxnSpPr/>
          <p:nvPr/>
        </p:nvCxnSpPr>
        <p:spPr>
          <a:xfrm rot="10800000">
            <a:off x="5293900" y="3091375"/>
            <a:ext cx="0" cy="459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3" name="Google Shape;573;p52"/>
          <p:cNvSpPr txBox="1"/>
          <p:nvPr/>
        </p:nvSpPr>
        <p:spPr>
          <a:xfrm>
            <a:off x="4588711" y="3522250"/>
            <a:ext cx="2172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and γ are empirically determined by the model.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4" name="Google Shape;574;p52"/>
          <p:cNvCxnSpPr/>
          <p:nvPr/>
        </p:nvCxnSpPr>
        <p:spPr>
          <a:xfrm rot="10800000">
            <a:off x="6055900" y="3091375"/>
            <a:ext cx="0" cy="459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5" name="Google Shape;575;p52"/>
          <p:cNvSpPr txBox="1">
            <a:spLocks noGrp="1"/>
          </p:cNvSpPr>
          <p:nvPr>
            <p:ph type="body" idx="1"/>
          </p:nvPr>
        </p:nvSpPr>
        <p:spPr>
          <a:xfrm>
            <a:off x="107050" y="4059800"/>
            <a:ext cx="89097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dominated by reflections.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Exponent γ is determined empirically. Usually between –2 and –8.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EA5E01-6B78-F25B-0A2A-E9AF042795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Shared Medium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Attenuation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Changing Environments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Collision Detection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Collision Detection</a:t>
            </a:r>
            <a:endParaRPr/>
          </a:p>
        </p:txBody>
      </p:sp>
      <p:sp>
        <p:nvSpPr>
          <p:cNvPr id="582" name="Google Shape;582;p5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24,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02D44-EEA2-2825-92E6-4D1FA0EDD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Collision Detection</a:t>
            </a:r>
            <a:endParaRPr/>
          </a:p>
        </p:txBody>
      </p:sp>
      <p:sp>
        <p:nvSpPr>
          <p:cNvPr id="588" name="Google Shape;588;p5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8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collisions are easy to detect.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a point-to-point link, collisions might not happen at all.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just one signal on the wire to sense.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collisions are much harder to detect.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a spatial aspect to collisions.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can collide in one place, but not another place.</a:t>
            </a:r>
            <a:endParaRPr/>
          </a:p>
        </p:txBody>
      </p:sp>
      <p:sp>
        <p:nvSpPr>
          <p:cNvPr id="589" name="Google Shape;589;p54"/>
          <p:cNvSpPr/>
          <p:nvPr/>
        </p:nvSpPr>
        <p:spPr>
          <a:xfrm>
            <a:off x="3314488" y="3331000"/>
            <a:ext cx="285000" cy="2850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5524288" y="33310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2011450" y="3742750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4221250" y="3742750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3" name="Google Shape;593;p54"/>
          <p:cNvCxnSpPr/>
          <p:nvPr/>
        </p:nvCxnSpPr>
        <p:spPr>
          <a:xfrm rot="10800000">
            <a:off x="4534300" y="3952346"/>
            <a:ext cx="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4" name="Google Shape;594;p54"/>
          <p:cNvSpPr txBox="1"/>
          <p:nvPr/>
        </p:nvSpPr>
        <p:spPr>
          <a:xfrm>
            <a:off x="39634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Signals collide here.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5" name="Google Shape;595;p54"/>
          <p:cNvCxnSpPr/>
          <p:nvPr/>
        </p:nvCxnSpPr>
        <p:spPr>
          <a:xfrm rot="10800000">
            <a:off x="6363100" y="3952346"/>
            <a:ext cx="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6" name="Google Shape;596;p54"/>
          <p:cNvSpPr txBox="1"/>
          <p:nvPr/>
        </p:nvSpPr>
        <p:spPr>
          <a:xfrm>
            <a:off x="57922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collision here!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" name="Google Shape;597;p54"/>
          <p:cNvCxnSpPr/>
          <p:nvPr/>
        </p:nvCxnSpPr>
        <p:spPr>
          <a:xfrm rot="10800000">
            <a:off x="2705500" y="3952346"/>
            <a:ext cx="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8" name="Google Shape;598;p54"/>
          <p:cNvSpPr txBox="1"/>
          <p:nvPr/>
        </p:nvSpPr>
        <p:spPr>
          <a:xfrm>
            <a:off x="21346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collision here!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320EC9-ECBD-476E-C4D0-BEDAF86D8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Multiple Access Protocols</a:t>
            </a:r>
            <a:endParaRPr/>
          </a:p>
        </p:txBody>
      </p:sp>
      <p:sp>
        <p:nvSpPr>
          <p:cNvPr id="604" name="Google Shape;604;p5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Many ways for devices to share a link.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start with CSMA: Listen, and transmit when it's quiet.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we'll design some protocols for wireless networks.</a:t>
            </a:r>
            <a:endParaRPr/>
          </a:p>
        </p:txBody>
      </p:sp>
      <p:sp>
        <p:nvSpPr>
          <p:cNvPr id="605" name="Google Shape;605;p55"/>
          <p:cNvSpPr/>
          <p:nvPr/>
        </p:nvSpPr>
        <p:spPr>
          <a:xfrm>
            <a:off x="6393375" y="4499475"/>
            <a:ext cx="9135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55"/>
          <p:cNvSpPr/>
          <p:nvPr/>
        </p:nvSpPr>
        <p:spPr>
          <a:xfrm>
            <a:off x="5712975" y="4499475"/>
            <a:ext cx="588600" cy="263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5"/>
          <p:cNvSpPr/>
          <p:nvPr/>
        </p:nvSpPr>
        <p:spPr>
          <a:xfrm>
            <a:off x="4917400" y="4499475"/>
            <a:ext cx="6855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4153500" y="4499475"/>
            <a:ext cx="6597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55"/>
          <p:cNvSpPr/>
          <p:nvPr/>
        </p:nvSpPr>
        <p:spPr>
          <a:xfrm>
            <a:off x="3391500" y="4499475"/>
            <a:ext cx="6597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" name="Google Shape;610;p55"/>
          <p:cNvCxnSpPr>
            <a:stCxn id="611" idx="2"/>
          </p:cNvCxnSpPr>
          <p:nvPr/>
        </p:nvCxnSpPr>
        <p:spPr>
          <a:xfrm>
            <a:off x="4102425" y="3676575"/>
            <a:ext cx="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55"/>
          <p:cNvCxnSpPr>
            <a:stCxn id="611" idx="2"/>
          </p:cNvCxnSpPr>
          <p:nvPr/>
        </p:nvCxnSpPr>
        <p:spPr>
          <a:xfrm flipH="1">
            <a:off x="2654625" y="3676575"/>
            <a:ext cx="144780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3" name="Google Shape;613;p55"/>
          <p:cNvCxnSpPr>
            <a:stCxn id="611" idx="2"/>
          </p:cNvCxnSpPr>
          <p:nvPr/>
        </p:nvCxnSpPr>
        <p:spPr>
          <a:xfrm>
            <a:off x="4102425" y="3676575"/>
            <a:ext cx="190500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4" name="Google Shape;614;p55"/>
          <p:cNvCxnSpPr>
            <a:stCxn id="615" idx="2"/>
          </p:cNvCxnSpPr>
          <p:nvPr/>
        </p:nvCxnSpPr>
        <p:spPr>
          <a:xfrm flipH="1">
            <a:off x="5260125" y="4221675"/>
            <a:ext cx="74730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55"/>
          <p:cNvCxnSpPr>
            <a:stCxn id="615" idx="2"/>
          </p:cNvCxnSpPr>
          <p:nvPr/>
        </p:nvCxnSpPr>
        <p:spPr>
          <a:xfrm>
            <a:off x="6007425" y="4221675"/>
            <a:ext cx="83820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7" name="Google Shape;617;p55"/>
          <p:cNvSpPr/>
          <p:nvPr/>
        </p:nvSpPr>
        <p:spPr>
          <a:xfrm>
            <a:off x="2129025" y="3957975"/>
            <a:ext cx="10512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3549225" y="3957975"/>
            <a:ext cx="11064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5316675" y="3957975"/>
            <a:ext cx="13815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9" name="Google Shape;619;p55"/>
          <p:cNvCxnSpPr>
            <a:stCxn id="615" idx="2"/>
          </p:cNvCxnSpPr>
          <p:nvPr/>
        </p:nvCxnSpPr>
        <p:spPr>
          <a:xfrm>
            <a:off x="6007425" y="4221675"/>
            <a:ext cx="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1" name="Google Shape;611;p55"/>
          <p:cNvSpPr/>
          <p:nvPr/>
        </p:nvSpPr>
        <p:spPr>
          <a:xfrm>
            <a:off x="3035025" y="3412875"/>
            <a:ext cx="21348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55"/>
          <p:cNvCxnSpPr>
            <a:stCxn id="618" idx="2"/>
          </p:cNvCxnSpPr>
          <p:nvPr/>
        </p:nvCxnSpPr>
        <p:spPr>
          <a:xfrm>
            <a:off x="4102425" y="4221675"/>
            <a:ext cx="38100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55"/>
          <p:cNvCxnSpPr>
            <a:stCxn id="618" idx="2"/>
          </p:cNvCxnSpPr>
          <p:nvPr/>
        </p:nvCxnSpPr>
        <p:spPr>
          <a:xfrm flipH="1">
            <a:off x="3721425" y="4221675"/>
            <a:ext cx="38100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55"/>
          <p:cNvSpPr/>
          <p:nvPr/>
        </p:nvSpPr>
        <p:spPr>
          <a:xfrm>
            <a:off x="1816924" y="4499475"/>
            <a:ext cx="9132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55"/>
          <p:cNvCxnSpPr>
            <a:stCxn id="617" idx="2"/>
          </p:cNvCxnSpPr>
          <p:nvPr/>
        </p:nvCxnSpPr>
        <p:spPr>
          <a:xfrm>
            <a:off x="2654625" y="4221675"/>
            <a:ext cx="381000" cy="2742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4" name="Google Shape;624;p55"/>
          <p:cNvCxnSpPr>
            <a:stCxn id="617" idx="2"/>
          </p:cNvCxnSpPr>
          <p:nvPr/>
        </p:nvCxnSpPr>
        <p:spPr>
          <a:xfrm flipH="1">
            <a:off x="2273625" y="4221675"/>
            <a:ext cx="381000" cy="277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5" name="Google Shape;625;p55"/>
          <p:cNvSpPr/>
          <p:nvPr/>
        </p:nvSpPr>
        <p:spPr>
          <a:xfrm>
            <a:off x="2786938" y="4495875"/>
            <a:ext cx="4974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44B5C1-2BF7-0D4F-CDCF-E125698EA2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</a:t>
            </a:r>
            <a:endParaRPr/>
          </a:p>
        </p:txBody>
      </p:sp>
      <p:sp>
        <p:nvSpPr>
          <p:cNvPr id="631" name="Google Shape;631;p5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0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pairs are well-separated, no problem!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transmits to 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transmits to D at the same 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collisions!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Signals propagate in all directions (not just toward the destination).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Arrows are just drawn for convenience.</a:t>
            </a:r>
            <a:endParaRPr/>
          </a:p>
        </p:txBody>
      </p:sp>
      <p:sp>
        <p:nvSpPr>
          <p:cNvPr id="632" name="Google Shape;632;p56"/>
          <p:cNvSpPr/>
          <p:nvPr/>
        </p:nvSpPr>
        <p:spPr>
          <a:xfrm>
            <a:off x="2361988" y="3903325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6476788" y="3903325"/>
            <a:ext cx="285000" cy="2850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3657388" y="3903325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56"/>
          <p:cNvSpPr/>
          <p:nvPr/>
        </p:nvSpPr>
        <p:spPr>
          <a:xfrm>
            <a:off x="7772188" y="3903325"/>
            <a:ext cx="285000" cy="2850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56"/>
          <p:cNvSpPr/>
          <p:nvPr/>
        </p:nvSpPr>
        <p:spPr>
          <a:xfrm>
            <a:off x="879400" y="432765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56"/>
          <p:cNvSpPr/>
          <p:nvPr/>
        </p:nvSpPr>
        <p:spPr>
          <a:xfrm>
            <a:off x="4994200" y="4327650"/>
            <a:ext cx="32502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8" name="Google Shape;638;p56"/>
          <p:cNvCxnSpPr/>
          <p:nvPr/>
        </p:nvCxnSpPr>
        <p:spPr>
          <a:xfrm>
            <a:off x="2504488" y="4401300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9" name="Google Shape;639;p56"/>
          <p:cNvCxnSpPr/>
          <p:nvPr/>
        </p:nvCxnSpPr>
        <p:spPr>
          <a:xfrm rot="10800000">
            <a:off x="6619288" y="4401300"/>
            <a:ext cx="12954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B96105-5536-3B85-D7A7-F11ABBD0A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7"/>
          <p:cNvSpPr/>
          <p:nvPr/>
        </p:nvSpPr>
        <p:spPr>
          <a:xfrm>
            <a:off x="5141013" y="3229050"/>
            <a:ext cx="1980900" cy="554400"/>
          </a:xfrm>
          <a:prstGeom prst="wedgeRoundRectCallout">
            <a:avLst>
              <a:gd name="adj1" fmla="val -62665"/>
              <a:gd name="adj2" fmla="val 56295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 is quiet now.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My turn!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pairs are in range of each other, no problem!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transmits to 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detects transmission. Must wait to transmit to 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collisions! A–B and C–D take turns.</a:t>
            </a:r>
            <a:endParaRPr/>
          </a:p>
        </p:txBody>
      </p:sp>
      <p:sp>
        <p:nvSpPr>
          <p:cNvPr id="646" name="Google Shape;646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</a:t>
            </a:r>
            <a:endParaRPr/>
          </a:p>
        </p:txBody>
      </p:sp>
      <p:sp>
        <p:nvSpPr>
          <p:cNvPr id="647" name="Google Shape;647;p57"/>
          <p:cNvSpPr/>
          <p:nvPr/>
        </p:nvSpPr>
        <p:spPr>
          <a:xfrm>
            <a:off x="3504675" y="3903325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4723875" y="3903325"/>
            <a:ext cx="285000" cy="2850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4114275" y="3903325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5333475" y="3903325"/>
            <a:ext cx="285000" cy="2850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2022088" y="432765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57"/>
          <p:cNvSpPr/>
          <p:nvPr/>
        </p:nvSpPr>
        <p:spPr>
          <a:xfrm>
            <a:off x="3241288" y="4551150"/>
            <a:ext cx="32502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5141013" y="3229050"/>
            <a:ext cx="1980900" cy="554400"/>
          </a:xfrm>
          <a:prstGeom prst="wedgeRoundRectCallout">
            <a:avLst>
              <a:gd name="adj1" fmla="val -62665"/>
              <a:gd name="adj2" fmla="val 56295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A transmitting!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wait for A to finish.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57"/>
          <p:cNvCxnSpPr/>
          <p:nvPr/>
        </p:nvCxnSpPr>
        <p:spPr>
          <a:xfrm>
            <a:off x="3647175" y="4401300"/>
            <a:ext cx="6096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5" name="Google Shape;655;p57"/>
          <p:cNvCxnSpPr/>
          <p:nvPr/>
        </p:nvCxnSpPr>
        <p:spPr>
          <a:xfrm>
            <a:off x="4866375" y="4624800"/>
            <a:ext cx="6096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C60C2-5FEF-329D-514A-5EEED9027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 – Hidden Terminal Problem</a:t>
            </a:r>
            <a:endParaRPr/>
          </a:p>
        </p:txBody>
      </p:sp>
      <p:sp>
        <p:nvSpPr>
          <p:cNvPr id="661" name="Google Shape;661;p5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Hidden terminal problem</a:t>
            </a:r>
            <a:r>
              <a:rPr lang="en"/>
              <a:t>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senses quiet, and starts transmitting.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senses quiet, and starts transmitting.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Collision at B!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A and C are out-of-range. They can't detect each other sending.</a:t>
            </a:r>
            <a:endParaRPr/>
          </a:p>
        </p:txBody>
      </p:sp>
      <p:sp>
        <p:nvSpPr>
          <p:cNvPr id="662" name="Google Shape;662;p58"/>
          <p:cNvSpPr/>
          <p:nvPr/>
        </p:nvSpPr>
        <p:spPr>
          <a:xfrm>
            <a:off x="3099813" y="3928075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58"/>
          <p:cNvSpPr/>
          <p:nvPr/>
        </p:nvSpPr>
        <p:spPr>
          <a:xfrm>
            <a:off x="5538213" y="3928075"/>
            <a:ext cx="285000" cy="2850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58"/>
          <p:cNvSpPr/>
          <p:nvPr/>
        </p:nvSpPr>
        <p:spPr>
          <a:xfrm>
            <a:off x="1796775" y="4339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58"/>
          <p:cNvSpPr/>
          <p:nvPr/>
        </p:nvSpPr>
        <p:spPr>
          <a:xfrm>
            <a:off x="4235175" y="43398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58"/>
          <p:cNvSpPr/>
          <p:nvPr/>
        </p:nvSpPr>
        <p:spPr>
          <a:xfrm>
            <a:off x="4319013" y="3928075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58"/>
          <p:cNvSpPr/>
          <p:nvPr/>
        </p:nvSpPr>
        <p:spPr>
          <a:xfrm>
            <a:off x="5885700" y="3255025"/>
            <a:ext cx="1327200" cy="554400"/>
          </a:xfrm>
          <a:prstGeom prst="wedgeRoundRectCallout">
            <a:avLst>
              <a:gd name="adj1" fmla="val -62665"/>
              <a:gd name="adj2" fmla="val 56295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58"/>
          <p:cNvSpPr/>
          <p:nvPr/>
        </p:nvSpPr>
        <p:spPr>
          <a:xfrm>
            <a:off x="1770900" y="3255025"/>
            <a:ext cx="1327200" cy="554400"/>
          </a:xfrm>
          <a:prstGeom prst="wedgeRoundRectCallout">
            <a:avLst>
              <a:gd name="adj1" fmla="val 63058"/>
              <a:gd name="adj2" fmla="val 57603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58"/>
          <p:cNvSpPr/>
          <p:nvPr/>
        </p:nvSpPr>
        <p:spPr>
          <a:xfrm>
            <a:off x="3830550" y="3558539"/>
            <a:ext cx="477600" cy="285000"/>
          </a:xfrm>
          <a:prstGeom prst="wedgeRoundRectCallout">
            <a:avLst>
              <a:gd name="adj1" fmla="val 78230"/>
              <a:gd name="adj2" fmla="val 61544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58"/>
          <p:cNvCxnSpPr/>
          <p:nvPr/>
        </p:nvCxnSpPr>
        <p:spPr>
          <a:xfrm>
            <a:off x="3242313" y="4413475"/>
            <a:ext cx="12192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1" name="Google Shape;671;p58"/>
          <p:cNvCxnSpPr/>
          <p:nvPr/>
        </p:nvCxnSpPr>
        <p:spPr>
          <a:xfrm rot="10800000">
            <a:off x="4461513" y="4413475"/>
            <a:ext cx="12192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AFEE6-3C42-06E4-E083-EB01BB60CD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 – Exposed Terminal Problem</a:t>
            </a:r>
            <a:endParaRPr/>
          </a:p>
        </p:txBody>
      </p:sp>
      <p:sp>
        <p:nvSpPr>
          <p:cNvPr id="677" name="Google Shape;677;p5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Exposed terminal problem</a:t>
            </a:r>
            <a:r>
              <a:rPr lang="en"/>
              <a:t>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 and C→D.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senses quiet, and starts transmitting.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senses a collision and doesn't send.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We could have actually sent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areas have collision, but we don't care. No collisions at the receivers.</a:t>
            </a:r>
            <a:endParaRPr/>
          </a:p>
        </p:txBody>
      </p:sp>
      <p:sp>
        <p:nvSpPr>
          <p:cNvPr id="678" name="Google Shape;678;p59"/>
          <p:cNvSpPr/>
          <p:nvPr/>
        </p:nvSpPr>
        <p:spPr>
          <a:xfrm>
            <a:off x="2486388" y="3928075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59"/>
          <p:cNvSpPr/>
          <p:nvPr/>
        </p:nvSpPr>
        <p:spPr>
          <a:xfrm>
            <a:off x="5077188" y="3928075"/>
            <a:ext cx="285000" cy="2850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59"/>
          <p:cNvSpPr/>
          <p:nvPr/>
        </p:nvSpPr>
        <p:spPr>
          <a:xfrm>
            <a:off x="3781788" y="3928075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59"/>
          <p:cNvSpPr/>
          <p:nvPr/>
        </p:nvSpPr>
        <p:spPr>
          <a:xfrm>
            <a:off x="6372588" y="3928075"/>
            <a:ext cx="285000" cy="2850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59"/>
          <p:cNvSpPr/>
          <p:nvPr/>
        </p:nvSpPr>
        <p:spPr>
          <a:xfrm>
            <a:off x="2478750" y="4339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59"/>
          <p:cNvSpPr/>
          <p:nvPr/>
        </p:nvSpPr>
        <p:spPr>
          <a:xfrm>
            <a:off x="2456700" y="3255025"/>
            <a:ext cx="1327200" cy="554400"/>
          </a:xfrm>
          <a:prstGeom prst="wedgeRoundRectCallout">
            <a:avLst>
              <a:gd name="adj1" fmla="val 63058"/>
              <a:gd name="adj2" fmla="val 57603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59"/>
          <p:cNvSpPr/>
          <p:nvPr/>
        </p:nvSpPr>
        <p:spPr>
          <a:xfrm>
            <a:off x="3774150" y="43398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59"/>
          <p:cNvSpPr/>
          <p:nvPr/>
        </p:nvSpPr>
        <p:spPr>
          <a:xfrm>
            <a:off x="5428500" y="3255025"/>
            <a:ext cx="1163700" cy="554400"/>
          </a:xfrm>
          <a:prstGeom prst="wedgeRoundRectCallout">
            <a:avLst>
              <a:gd name="adj1" fmla="val -65550"/>
              <a:gd name="adj2" fmla="val 618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B.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59"/>
          <p:cNvSpPr txBox="1"/>
          <p:nvPr/>
        </p:nvSpPr>
        <p:spPr>
          <a:xfrm>
            <a:off x="6722050" y="4278025"/>
            <a:ext cx="22947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This would have been okay!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But C didn't send.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59"/>
          <p:cNvCxnSpPr/>
          <p:nvPr/>
        </p:nvCxnSpPr>
        <p:spPr>
          <a:xfrm rot="10800000">
            <a:off x="2628888" y="4413475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" name="Google Shape;688;p59"/>
          <p:cNvCxnSpPr/>
          <p:nvPr/>
        </p:nvCxnSpPr>
        <p:spPr>
          <a:xfrm>
            <a:off x="5219688" y="4413475"/>
            <a:ext cx="12954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C76935-C81D-7A73-514A-878C27FE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 (Multiple Access with Collision Avoidance)</a:t>
            </a:r>
            <a:endParaRPr/>
          </a:p>
        </p:txBody>
      </p:sp>
      <p:sp>
        <p:nvSpPr>
          <p:cNvPr id="694" name="Google Shape;694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8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Key problem: CSMA detects collisions at the </a:t>
            </a:r>
            <a:r>
              <a:rPr lang="en" i="1" dirty="0"/>
              <a:t>sender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But we only care about collisions at the </a:t>
            </a:r>
            <a:r>
              <a:rPr lang="en" i="1" dirty="0"/>
              <a:t>receiver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Let's have the receiver announce if it detects collisions.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New protocol for shared medium:</a:t>
            </a:r>
            <a:br>
              <a:rPr lang="en" dirty="0"/>
            </a:br>
            <a:r>
              <a:rPr lang="en" b="1" dirty="0"/>
              <a:t>MACA</a:t>
            </a:r>
            <a:r>
              <a:rPr lang="en" dirty="0"/>
              <a:t> (Multiple Access with Collision Avoidance).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Note: No carrier sense.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F0E2D4-A35F-D5B4-DAEB-B9DA370EED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 (Multiple Access with Collision Avoidance)</a:t>
            </a:r>
            <a:endParaRPr/>
          </a:p>
        </p:txBody>
      </p:sp>
      <p:sp>
        <p:nvSpPr>
          <p:cNvPr id="700" name="Google Shape;700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communicate over MACA: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Sender transmits </a:t>
            </a:r>
            <a:r>
              <a:rPr lang="en" b="1"/>
              <a:t>Request to Send (RTS)</a:t>
            </a:r>
            <a:r>
              <a:rPr lang="en"/>
              <a:t> with length of 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Receiver transmits a </a:t>
            </a:r>
            <a:r>
              <a:rPr lang="en" b="1"/>
              <a:t>Clear to Send (CTS) </a:t>
            </a:r>
            <a:r>
              <a:rPr lang="en"/>
              <a:t>with length of data.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sender that it's safe to send. No collisions at receiver.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everyone in receiver's range to be quiet.</a:t>
            </a:r>
            <a:endParaRPr/>
          </a:p>
        </p:txBody>
      </p:sp>
      <p:sp>
        <p:nvSpPr>
          <p:cNvPr id="701" name="Google Shape;701;p61"/>
          <p:cNvSpPr/>
          <p:nvPr/>
        </p:nvSpPr>
        <p:spPr>
          <a:xfrm>
            <a:off x="2981688" y="2868700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1"/>
          <p:cNvSpPr/>
          <p:nvPr/>
        </p:nvSpPr>
        <p:spPr>
          <a:xfrm>
            <a:off x="4277088" y="28687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61"/>
          <p:cNvSpPr/>
          <p:nvPr/>
        </p:nvSpPr>
        <p:spPr>
          <a:xfrm>
            <a:off x="1499100" y="3293025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61"/>
          <p:cNvSpPr txBox="1"/>
          <p:nvPr/>
        </p:nvSpPr>
        <p:spPr>
          <a:xfrm>
            <a:off x="4749300" y="3231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1"/>
          <p:cNvSpPr/>
          <p:nvPr/>
        </p:nvSpPr>
        <p:spPr>
          <a:xfrm>
            <a:off x="2794500" y="3597825"/>
            <a:ext cx="32502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61"/>
          <p:cNvSpPr txBox="1"/>
          <p:nvPr/>
        </p:nvSpPr>
        <p:spPr>
          <a:xfrm>
            <a:off x="6044700" y="3536025"/>
            <a:ext cx="2523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</a:t>
            </a:r>
            <a:b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need to receive 1 MB."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61"/>
          <p:cNvSpPr/>
          <p:nvPr/>
        </p:nvSpPr>
        <p:spPr>
          <a:xfrm>
            <a:off x="1499100" y="3902625"/>
            <a:ext cx="3250200" cy="6618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61"/>
          <p:cNvSpPr txBox="1"/>
          <p:nvPr/>
        </p:nvSpPr>
        <p:spPr>
          <a:xfrm>
            <a:off x="4749300" y="4098075"/>
            <a:ext cx="2438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sends 1 MB.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9" name="Google Shape;709;p61"/>
          <p:cNvCxnSpPr/>
          <p:nvPr/>
        </p:nvCxnSpPr>
        <p:spPr>
          <a:xfrm>
            <a:off x="3124188" y="3366675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" name="Google Shape;710;p61"/>
          <p:cNvCxnSpPr/>
          <p:nvPr/>
        </p:nvCxnSpPr>
        <p:spPr>
          <a:xfrm>
            <a:off x="3124188" y="3671475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11" name="Google Shape;711;p61"/>
          <p:cNvCxnSpPr/>
          <p:nvPr/>
        </p:nvCxnSpPr>
        <p:spPr>
          <a:xfrm>
            <a:off x="3124188" y="4233525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313708-4DCD-8226-C3E8-7F43C30A13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2"/>
          <p:cNvSpPr/>
          <p:nvPr/>
        </p:nvSpPr>
        <p:spPr>
          <a:xfrm>
            <a:off x="3293625" y="3915200"/>
            <a:ext cx="3250200" cy="6618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Hidden Terminal Problem</a:t>
            </a:r>
            <a:endParaRPr/>
          </a:p>
        </p:txBody>
      </p:sp>
      <p:sp>
        <p:nvSpPr>
          <p:cNvPr id="718" name="Google Shape;718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hidden terminal problem.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A→B, C→B.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now tells everyone in its range to be quiet, using the CTS.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won't send anymore. Collision avoided!</a:t>
            </a:r>
            <a:endParaRPr/>
          </a:p>
        </p:txBody>
      </p:sp>
      <p:sp>
        <p:nvSpPr>
          <p:cNvPr id="719" name="Google Shape;719;p62"/>
          <p:cNvSpPr/>
          <p:nvPr/>
        </p:nvSpPr>
        <p:spPr>
          <a:xfrm>
            <a:off x="2337813" y="2556475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62"/>
          <p:cNvSpPr/>
          <p:nvPr/>
        </p:nvSpPr>
        <p:spPr>
          <a:xfrm>
            <a:off x="4776213" y="2556475"/>
            <a:ext cx="285000" cy="2850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62"/>
          <p:cNvSpPr/>
          <p:nvPr/>
        </p:nvSpPr>
        <p:spPr>
          <a:xfrm>
            <a:off x="3557013" y="2556475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62"/>
          <p:cNvSpPr/>
          <p:nvPr/>
        </p:nvSpPr>
        <p:spPr>
          <a:xfrm>
            <a:off x="855225" y="307700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62"/>
          <p:cNvSpPr txBox="1"/>
          <p:nvPr/>
        </p:nvSpPr>
        <p:spPr>
          <a:xfrm>
            <a:off x="4105425" y="3015200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62"/>
          <p:cNvSpPr/>
          <p:nvPr/>
        </p:nvSpPr>
        <p:spPr>
          <a:xfrm>
            <a:off x="2074425" y="3381800"/>
            <a:ext cx="32502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62"/>
          <p:cNvSpPr txBox="1"/>
          <p:nvPr/>
        </p:nvSpPr>
        <p:spPr>
          <a:xfrm>
            <a:off x="5324625" y="3321321"/>
            <a:ext cx="2523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</a:t>
            </a:r>
            <a:b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need to receive 1 MB."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62"/>
          <p:cNvSpPr/>
          <p:nvPr/>
        </p:nvSpPr>
        <p:spPr>
          <a:xfrm>
            <a:off x="5324625" y="1901875"/>
            <a:ext cx="2043300" cy="554400"/>
          </a:xfrm>
          <a:prstGeom prst="wedgeRoundRectCallout">
            <a:avLst>
              <a:gd name="adj1" fmla="val -65550"/>
              <a:gd name="adj2" fmla="val 618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 told me to be quiet.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won't send.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62"/>
          <p:cNvSpPr/>
          <p:nvPr/>
        </p:nvSpPr>
        <p:spPr>
          <a:xfrm>
            <a:off x="855225" y="3915200"/>
            <a:ext cx="3250200" cy="6618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62"/>
          <p:cNvSpPr txBox="1"/>
          <p:nvPr/>
        </p:nvSpPr>
        <p:spPr>
          <a:xfrm>
            <a:off x="1841025" y="4577000"/>
            <a:ext cx="1278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sends 1 MB.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62"/>
          <p:cNvSpPr txBox="1"/>
          <p:nvPr/>
        </p:nvSpPr>
        <p:spPr>
          <a:xfrm>
            <a:off x="3997575" y="4577000"/>
            <a:ext cx="18423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would have sent, but MACA saved the day!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62"/>
          <p:cNvCxnSpPr/>
          <p:nvPr/>
        </p:nvCxnSpPr>
        <p:spPr>
          <a:xfrm>
            <a:off x="2442213" y="3150775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1" name="Google Shape;731;p62"/>
          <p:cNvCxnSpPr/>
          <p:nvPr/>
        </p:nvCxnSpPr>
        <p:spPr>
          <a:xfrm>
            <a:off x="2442213" y="3455825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32" name="Google Shape;732;p62"/>
          <p:cNvCxnSpPr/>
          <p:nvPr/>
        </p:nvCxnSpPr>
        <p:spPr>
          <a:xfrm>
            <a:off x="2442213" y="4246100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3" name="Google Shape;733;p62"/>
          <p:cNvCxnSpPr/>
          <p:nvPr/>
        </p:nvCxnSpPr>
        <p:spPr>
          <a:xfrm rot="10800000">
            <a:off x="3737613" y="4246100"/>
            <a:ext cx="12954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2981E6-A1BC-ABFA-2ABF-CD16E8658C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Rules</a:t>
            </a:r>
            <a:endParaRPr/>
          </a:p>
        </p:txBody>
      </p:sp>
      <p:sp>
        <p:nvSpPr>
          <p:cNvPr id="739" name="Google Shape;739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hear a CTS, be quiet until the data is sent.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CTS contains length of 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use data length to estimate how long you need to wait.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hear an RTS, be quiet for one time slot.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the receiver time to send the CTS.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don't be quiet, you might clobber out the CTS.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waiting: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hear the CTS: You're in receiver range. Be quiet.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don't hear the CTS: You're not in receiver range. You can send again.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5933E-49DE-BCA8-EB26-CCB8DA7078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4"/>
          <p:cNvSpPr/>
          <p:nvPr/>
        </p:nvSpPr>
        <p:spPr>
          <a:xfrm>
            <a:off x="2935950" y="4263625"/>
            <a:ext cx="2891100" cy="4701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Exposed Terminal Problem</a:t>
            </a:r>
            <a:endParaRPr/>
          </a:p>
        </p:txBody>
      </p:sp>
      <p:sp>
        <p:nvSpPr>
          <p:cNvPr id="746" name="Google Shape;746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exposed terminal problem, under certain assumptions.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 and C→D.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hears the RTS and defers for one time slot.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doesn't hear the CTS, so it's out-of-range of the other receiver, and can send.</a:t>
            </a:r>
            <a:endParaRPr/>
          </a:p>
        </p:txBody>
      </p:sp>
      <p:sp>
        <p:nvSpPr>
          <p:cNvPr id="747" name="Google Shape;747;p64"/>
          <p:cNvSpPr/>
          <p:nvPr/>
        </p:nvSpPr>
        <p:spPr>
          <a:xfrm>
            <a:off x="1648188" y="3242275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64"/>
          <p:cNvSpPr/>
          <p:nvPr/>
        </p:nvSpPr>
        <p:spPr>
          <a:xfrm>
            <a:off x="4238988" y="3242275"/>
            <a:ext cx="285000" cy="2850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64"/>
          <p:cNvSpPr/>
          <p:nvPr/>
        </p:nvSpPr>
        <p:spPr>
          <a:xfrm>
            <a:off x="2943588" y="3242275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64"/>
          <p:cNvSpPr/>
          <p:nvPr/>
        </p:nvSpPr>
        <p:spPr>
          <a:xfrm>
            <a:off x="5534388" y="3242275"/>
            <a:ext cx="285000" cy="2850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64"/>
          <p:cNvSpPr/>
          <p:nvPr/>
        </p:nvSpPr>
        <p:spPr>
          <a:xfrm>
            <a:off x="1640550" y="36540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4"/>
          <p:cNvSpPr/>
          <p:nvPr/>
        </p:nvSpPr>
        <p:spPr>
          <a:xfrm>
            <a:off x="4808225" y="2219775"/>
            <a:ext cx="2523600" cy="839100"/>
          </a:xfrm>
          <a:prstGeom prst="wedgeRoundRectCallout">
            <a:avLst>
              <a:gd name="adj1" fmla="val -65550"/>
              <a:gd name="adj2" fmla="val 618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an RTS.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be quiet for 1 time slot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to avoid clobbering the CTS.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4"/>
          <p:cNvSpPr txBox="1"/>
          <p:nvPr/>
        </p:nvSpPr>
        <p:spPr>
          <a:xfrm>
            <a:off x="4531650" y="3592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4"/>
          <p:cNvSpPr/>
          <p:nvPr/>
        </p:nvSpPr>
        <p:spPr>
          <a:xfrm>
            <a:off x="345150" y="3958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4"/>
          <p:cNvSpPr txBox="1"/>
          <p:nvPr/>
        </p:nvSpPr>
        <p:spPr>
          <a:xfrm>
            <a:off x="3236250" y="38970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4"/>
          <p:cNvSpPr/>
          <p:nvPr/>
        </p:nvSpPr>
        <p:spPr>
          <a:xfrm>
            <a:off x="1640550" y="4263625"/>
            <a:ext cx="2891100" cy="4701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4"/>
          <p:cNvSpPr txBox="1"/>
          <p:nvPr/>
        </p:nvSpPr>
        <p:spPr>
          <a:xfrm>
            <a:off x="2473800" y="47418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4"/>
          <p:cNvSpPr txBox="1"/>
          <p:nvPr/>
        </p:nvSpPr>
        <p:spPr>
          <a:xfrm>
            <a:off x="7376350" y="38970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 dirty="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4"/>
          <p:cNvSpPr/>
          <p:nvPr/>
        </p:nvSpPr>
        <p:spPr>
          <a:xfrm>
            <a:off x="4808225" y="2219775"/>
            <a:ext cx="2523600" cy="839100"/>
          </a:xfrm>
          <a:prstGeom prst="wedgeRoundRectCallout">
            <a:avLst>
              <a:gd name="adj1" fmla="val -65550"/>
              <a:gd name="adj2" fmla="val 618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didn't hear the CTS.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I'm not in receiver range.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can send data!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4"/>
          <p:cNvSpPr txBox="1"/>
          <p:nvPr/>
        </p:nvSpPr>
        <p:spPr>
          <a:xfrm>
            <a:off x="5819400" y="4255525"/>
            <a:ext cx="2050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can send here too!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(After its own RTS/CTS.)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1" name="Google Shape;761;p64"/>
          <p:cNvCxnSpPr/>
          <p:nvPr/>
        </p:nvCxnSpPr>
        <p:spPr>
          <a:xfrm>
            <a:off x="1790688" y="3730162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62" name="Google Shape;762;p64"/>
          <p:cNvCxnSpPr/>
          <p:nvPr/>
        </p:nvCxnSpPr>
        <p:spPr>
          <a:xfrm>
            <a:off x="1790688" y="4034962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3" name="Google Shape;763;p64"/>
          <p:cNvCxnSpPr/>
          <p:nvPr/>
        </p:nvCxnSpPr>
        <p:spPr>
          <a:xfrm>
            <a:off x="1790688" y="4498687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64" name="Google Shape;764;p64"/>
          <p:cNvCxnSpPr/>
          <p:nvPr/>
        </p:nvCxnSpPr>
        <p:spPr>
          <a:xfrm>
            <a:off x="4381488" y="4498675"/>
            <a:ext cx="12954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6AD97F-4739-B1C2-7CBE-5BBC13873E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Exposed Terminal Problem</a:t>
            </a:r>
            <a:endParaRPr/>
          </a:p>
        </p:txBody>
      </p:sp>
      <p:sp>
        <p:nvSpPr>
          <p:cNvPr id="770" name="Google Shape;770;p6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MACA solves the exposed terminal problem, </a:t>
            </a:r>
            <a:r>
              <a:rPr lang="en" b="1" dirty="0"/>
              <a:t>under one assumption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Assumes that C can hear the CTS from D over B's data.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Key problem: MACA requires the sender to listen (for the CTS).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Contrast with CSMA: Sender just sends.</a:t>
            </a:r>
            <a:endParaRPr dirty="0"/>
          </a:p>
        </p:txBody>
      </p:sp>
      <p:sp>
        <p:nvSpPr>
          <p:cNvPr id="771" name="Google Shape;771;p65"/>
          <p:cNvSpPr/>
          <p:nvPr/>
        </p:nvSpPr>
        <p:spPr>
          <a:xfrm>
            <a:off x="2935950" y="38064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65"/>
          <p:cNvSpPr/>
          <p:nvPr/>
        </p:nvSpPr>
        <p:spPr>
          <a:xfrm>
            <a:off x="1648188" y="2785075"/>
            <a:ext cx="285000" cy="285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65"/>
          <p:cNvSpPr/>
          <p:nvPr/>
        </p:nvSpPr>
        <p:spPr>
          <a:xfrm>
            <a:off x="4238988" y="2785075"/>
            <a:ext cx="285000" cy="2850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5"/>
          <p:cNvSpPr/>
          <p:nvPr/>
        </p:nvSpPr>
        <p:spPr>
          <a:xfrm>
            <a:off x="2943588" y="2785075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5"/>
          <p:cNvSpPr/>
          <p:nvPr/>
        </p:nvSpPr>
        <p:spPr>
          <a:xfrm>
            <a:off x="5534388" y="2785075"/>
            <a:ext cx="285000" cy="2850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5"/>
          <p:cNvSpPr/>
          <p:nvPr/>
        </p:nvSpPr>
        <p:spPr>
          <a:xfrm>
            <a:off x="1640550" y="3196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5"/>
          <p:cNvSpPr txBox="1"/>
          <p:nvPr/>
        </p:nvSpPr>
        <p:spPr>
          <a:xfrm>
            <a:off x="4531650" y="31350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65"/>
          <p:cNvSpPr/>
          <p:nvPr/>
        </p:nvSpPr>
        <p:spPr>
          <a:xfrm>
            <a:off x="345150" y="35016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5"/>
          <p:cNvSpPr txBox="1"/>
          <p:nvPr/>
        </p:nvSpPr>
        <p:spPr>
          <a:xfrm>
            <a:off x="3236250" y="34398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5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65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65"/>
          <p:cNvSpPr txBox="1"/>
          <p:nvPr/>
        </p:nvSpPr>
        <p:spPr>
          <a:xfrm>
            <a:off x="7376350" y="34398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65"/>
          <p:cNvSpPr txBox="1"/>
          <p:nvPr/>
        </p:nvSpPr>
        <p:spPr>
          <a:xfrm>
            <a:off x="5819400" y="3744625"/>
            <a:ext cx="2187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65"/>
          <p:cNvSpPr/>
          <p:nvPr/>
        </p:nvSpPr>
        <p:spPr>
          <a:xfrm>
            <a:off x="4231350" y="4111225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5"/>
          <p:cNvSpPr txBox="1"/>
          <p:nvPr/>
        </p:nvSpPr>
        <p:spPr>
          <a:xfrm>
            <a:off x="7114800" y="4049425"/>
            <a:ext cx="1087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from D.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5"/>
          <p:cNvSpPr/>
          <p:nvPr/>
        </p:nvSpPr>
        <p:spPr>
          <a:xfrm>
            <a:off x="4763300" y="2042563"/>
            <a:ext cx="1965300" cy="572100"/>
          </a:xfrm>
          <a:prstGeom prst="wedgeRoundRectCallout">
            <a:avLst>
              <a:gd name="adj1" fmla="val -65550"/>
              <a:gd name="adj2" fmla="val 61801"/>
              <a:gd name="adj3" fmla="val 0"/>
            </a:avLst>
          </a:prstGeom>
          <a:solidFill>
            <a:srgbClr val="FFFFF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Did I hear CTS from D,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or data from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7" name="Google Shape;787;p65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88" name="Google Shape;788;p65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9" name="Google Shape;789;p65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90" name="Google Shape;790;p65"/>
          <p:cNvCxnSpPr/>
          <p:nvPr/>
        </p:nvCxnSpPr>
        <p:spPr>
          <a:xfrm>
            <a:off x="4381488" y="3880075"/>
            <a:ext cx="12954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1" name="Google Shape;791;p65"/>
          <p:cNvCxnSpPr/>
          <p:nvPr/>
        </p:nvCxnSpPr>
        <p:spPr>
          <a:xfrm>
            <a:off x="4381488" y="4184875"/>
            <a:ext cx="1295400" cy="0"/>
          </a:xfrm>
          <a:prstGeom prst="straightConnector1">
            <a:avLst/>
          </a:prstGeom>
          <a:noFill/>
          <a:ln w="28575" cap="flat" cmpd="sng">
            <a:solidFill>
              <a:srgbClr val="B45F06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EAE5A8-3CD0-2F12-6612-52BDDDF8CB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Collisions</a:t>
            </a:r>
            <a:endParaRPr/>
          </a:p>
        </p:txBody>
      </p:sp>
      <p:sp>
        <p:nvSpPr>
          <p:cNvPr id="797" name="Google Shape;797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send RTS, but don't hear CTS, that means there was a collision!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Apply </a:t>
            </a:r>
            <a:r>
              <a:rPr lang="en" i="1"/>
              <a:t>exponential backoff</a:t>
            </a:r>
            <a:r>
              <a:rPr lang="en"/>
              <a:t> and wait up to twice as long before sending another RTS.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device maintains a </a:t>
            </a:r>
            <a:r>
              <a:rPr lang="en" i="1"/>
              <a:t>CW</a:t>
            </a:r>
            <a:r>
              <a:rPr lang="en"/>
              <a:t> (Contention Window) value.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 random number in [0, </a:t>
            </a:r>
            <a:r>
              <a:rPr lang="en" i="1"/>
              <a:t>CW</a:t>
            </a:r>
            <a:r>
              <a:rPr lang="en"/>
              <a:t>]. Wait that long before re-sending RTS.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Rules for adjusting </a:t>
            </a:r>
            <a:r>
              <a:rPr lang="en" i="1"/>
              <a:t>CW</a:t>
            </a:r>
            <a:r>
              <a:rPr lang="en"/>
              <a:t>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Minimum value: </a:t>
            </a:r>
            <a:r>
              <a:rPr lang="en" i="1"/>
              <a:t>CW</a:t>
            </a:r>
            <a:r>
              <a:rPr lang="en"/>
              <a:t> = 2.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value: </a:t>
            </a:r>
            <a:r>
              <a:rPr lang="en" i="1"/>
              <a:t>CW</a:t>
            </a:r>
            <a:r>
              <a:rPr lang="en"/>
              <a:t> = 64.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On successful RTS/CTS: Set </a:t>
            </a:r>
            <a:r>
              <a:rPr lang="en" i="1">
                <a:solidFill>
                  <a:srgbClr val="38761D"/>
                </a:solidFill>
              </a:rPr>
              <a:t>CW</a:t>
            </a:r>
            <a:r>
              <a:rPr lang="en">
                <a:solidFill>
                  <a:srgbClr val="38761D"/>
                </a:solidFill>
              </a:rPr>
              <a:t> ← 2.</a:t>
            </a:r>
            <a:endParaRPr>
              <a:solidFill>
                <a:srgbClr val="38761D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On failed RTS/CTS: Set </a:t>
            </a:r>
            <a:r>
              <a:rPr lang="en" i="1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 ← 2 × </a:t>
            </a:r>
            <a:r>
              <a:rPr lang="en" i="1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, clamped at 64.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F6694-FD36-14AC-8357-6DF24C6804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Chapter 7 outline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1ECB240-09EF-4900-2EDD-6ABB32741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2A7DF8-8BCB-2DFD-C001-1DD9D1E05F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Class 22: </a:t>
            </a:r>
            <a:fld id="{C4204591-24BD-A542-B9D5-F8D8A88D2FEE}" type="slidenum">
              <a:rPr lang="en-US"/>
              <a:pPr/>
              <a:t>39</a:t>
            </a:fld>
            <a:endParaRPr lang="en-US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626" y="494936"/>
            <a:ext cx="2326737" cy="174505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87574" y="1688790"/>
            <a:ext cx="4178900" cy="69246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286941" defTabSz="685800">
              <a:spcBef>
                <a:spcPts val="450"/>
              </a:spcBef>
              <a:buClr>
                <a:prstClr val="white">
                  <a:lumMod val="75000"/>
                </a:prstClr>
              </a:buClr>
            </a:pPr>
            <a:r>
              <a:rPr lang="en-US" altLang="en-US" sz="2100" dirty="0">
                <a:solidFill>
                  <a:prstClr val="white">
                    <a:lumMod val="85000"/>
                  </a:prstClr>
                </a:solidFill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9F3BAE1-7C74-F944-AEC6-02670EE1832C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2301478"/>
            <a:ext cx="3619500" cy="25943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ct val="50000"/>
              </a:spcBef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Calibri" panose="020F0502020204030204"/>
              </a:rPr>
              <a:t>Wireless</a:t>
            </a:r>
          </a:p>
          <a:p>
            <a:pPr marL="264319" indent="-166688" defTabSz="685800">
              <a:spcBef>
                <a:spcPts val="750"/>
              </a:spcBef>
              <a:buClr>
                <a:prstClr val="white">
                  <a:lumMod val="85000"/>
                </a:prstClr>
              </a:buClr>
              <a:defRPr/>
            </a:pPr>
            <a:r>
              <a:rPr lang="en-US" sz="2100" dirty="0">
                <a:solidFill>
                  <a:srgbClr val="E7E6E6">
                    <a:lumMod val="90000"/>
                  </a:srgbClr>
                </a:solidFill>
                <a:latin typeface="Calibri" panose="020F0502020204030204"/>
              </a:rPr>
              <a:t>Wireless links and network characteristics </a:t>
            </a:r>
          </a:p>
          <a:p>
            <a:pPr marL="264319" indent="-166688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CDMA: code division multiple access</a:t>
            </a:r>
          </a:p>
          <a:p>
            <a:pPr marL="264319" indent="-166688" defTabSz="685800">
              <a:spcBef>
                <a:spcPts val="750"/>
              </a:spcBef>
              <a:buClr>
                <a:prstClr val="white">
                  <a:lumMod val="85000"/>
                </a:prstClr>
              </a:buClr>
              <a:defRPr/>
            </a:pPr>
            <a:r>
              <a:rPr lang="en-US" sz="2100" dirty="0">
                <a:solidFill>
                  <a:prstClr val="white">
                    <a:lumMod val="85000"/>
                  </a:prstClr>
                </a:solidFill>
                <a:latin typeface="Calibri" panose="020F0502020204030204"/>
              </a:rPr>
              <a:t>WiFi: 802.11 wireless LANs</a:t>
            </a:r>
          </a:p>
          <a:p>
            <a:pPr marL="264319" indent="-166688" defTabSz="685800">
              <a:spcBef>
                <a:spcPts val="750"/>
              </a:spcBef>
              <a:buClr>
                <a:prstClr val="white">
                  <a:lumMod val="85000"/>
                </a:prstClr>
              </a:buClr>
              <a:defRPr/>
            </a:pPr>
            <a:r>
              <a:rPr lang="en-US" sz="2100" dirty="0">
                <a:solidFill>
                  <a:prstClr val="white">
                    <a:lumMod val="85000"/>
                  </a:prstClr>
                </a:solidFill>
                <a:latin typeface="Calibri" panose="020F0502020204030204"/>
              </a:rPr>
              <a:t>Bluetooth</a:t>
            </a:r>
          </a:p>
        </p:txBody>
      </p:sp>
    </p:spTree>
    <p:extLst>
      <p:ext uri="{BB962C8B-B14F-4D97-AF65-F5344CB8AC3E}">
        <p14:creationId xmlns:p14="http://schemas.microsoft.com/office/powerpoint/2010/main" val="3653472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EA14-52B2-6D7C-0C3C-BCA023D8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  <a:r>
              <a:rPr lang="en-GB" dirty="0"/>
              <a:t>: </a:t>
            </a:r>
            <a:r>
              <a:rPr lang="en-US" dirty="0"/>
              <a:t>FDMA and TDMA</a:t>
            </a:r>
            <a:endParaRPr lang="en-S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2FAAB5-7843-C309-2C41-8D9DC4BFC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9DF61-5F78-B4E8-EDEF-2306F5F04B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40</a:t>
            </a:fld>
            <a:endParaRPr lang="en-US" dirty="0"/>
          </a:p>
        </p:txBody>
      </p:sp>
      <p:sp>
        <p:nvSpPr>
          <p:cNvPr id="15" name="Line 1027">
            <a:extLst>
              <a:ext uri="{FF2B5EF4-FFF2-40B4-BE49-F238E27FC236}">
                <a16:creationId xmlns:a16="http://schemas.microsoft.com/office/drawing/2014/main" id="{1238BFB4-33CF-A110-2E68-80A9D1375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2899" y="3514796"/>
            <a:ext cx="2228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6" name="Line 1028">
            <a:extLst>
              <a:ext uri="{FF2B5EF4-FFF2-40B4-BE49-F238E27FC236}">
                <a16:creationId xmlns:a16="http://schemas.microsoft.com/office/drawing/2014/main" id="{57E4ACFF-F839-A6D4-ABB2-0C49E48AE1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2899" y="1571696"/>
            <a:ext cx="0" cy="1943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7" name="Text Box 1029">
            <a:extLst>
              <a:ext uri="{FF2B5EF4-FFF2-40B4-BE49-F238E27FC236}">
                <a16:creationId xmlns:a16="http://schemas.microsoft.com/office/drawing/2014/main" id="{051ADC7F-161D-8525-ADEC-3EA1ECE53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899" y="3164752"/>
            <a:ext cx="1543050" cy="369332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000000"/>
                </a:solidFill>
                <a:latin typeface="Times New Roman" panose="02020603050405020304" pitchFamily="18" charset="0"/>
              </a:rPr>
              <a:t>User 1</a:t>
            </a:r>
          </a:p>
        </p:txBody>
      </p:sp>
      <p:sp>
        <p:nvSpPr>
          <p:cNvPr id="18" name="Text Box 1030">
            <a:extLst>
              <a:ext uri="{FF2B5EF4-FFF2-40B4-BE49-F238E27FC236}">
                <a16:creationId xmlns:a16="http://schemas.microsoft.com/office/drawing/2014/main" id="{7DE8ECD7-7B88-7E10-8C6F-A89D76772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899" y="2657546"/>
            <a:ext cx="1543050" cy="369332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000000"/>
                </a:solidFill>
                <a:latin typeface="Times New Roman" panose="02020603050405020304" pitchFamily="18" charset="0"/>
              </a:rPr>
              <a:t>User 2</a:t>
            </a:r>
          </a:p>
        </p:txBody>
      </p:sp>
      <p:sp>
        <p:nvSpPr>
          <p:cNvPr id="19" name="Text Box 1031">
            <a:extLst>
              <a:ext uri="{FF2B5EF4-FFF2-40B4-BE49-F238E27FC236}">
                <a16:creationId xmlns:a16="http://schemas.microsoft.com/office/drawing/2014/main" id="{A69E43E2-C813-4817-C26C-83C52138F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899" y="1857446"/>
            <a:ext cx="1543050" cy="369332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000000"/>
                </a:solidFill>
                <a:latin typeface="Times New Roman" panose="02020603050405020304" pitchFamily="18" charset="0"/>
              </a:rPr>
              <a:t>User n</a:t>
            </a:r>
          </a:p>
        </p:txBody>
      </p:sp>
      <p:sp>
        <p:nvSpPr>
          <p:cNvPr id="20" name="Text Box 1032">
            <a:extLst>
              <a:ext uri="{FF2B5EF4-FFF2-40B4-BE49-F238E27FC236}">
                <a16:creationId xmlns:a16="http://schemas.microsoft.com/office/drawing/2014/main" id="{E499B85C-18E6-8175-DE8F-4A641D5B5C3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2272974" y="2215705"/>
            <a:ext cx="4000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1" name="Text Box 1033">
            <a:extLst>
              <a:ext uri="{FF2B5EF4-FFF2-40B4-BE49-F238E27FC236}">
                <a16:creationId xmlns:a16="http://schemas.microsoft.com/office/drawing/2014/main" id="{60D959F5-AE1A-E62C-5199-FE10D65B2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899" y="3343346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3333CC"/>
                </a:solidFill>
                <a:latin typeface="Times New Roman" panose="02020603050405020304" pitchFamily="18" charset="0"/>
              </a:rPr>
              <a:t>Time</a:t>
            </a:r>
          </a:p>
        </p:txBody>
      </p:sp>
      <p:sp>
        <p:nvSpPr>
          <p:cNvPr id="22" name="Text Box 1034">
            <a:extLst>
              <a:ext uri="{FF2B5EF4-FFF2-40B4-BE49-F238E27FC236}">
                <a16:creationId xmlns:a16="http://schemas.microsoft.com/office/drawing/2014/main" id="{1E6D0C88-05E1-8BF8-4B98-64E09F05B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430" y="1198848"/>
            <a:ext cx="1143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3333CC"/>
                </a:solidFill>
                <a:latin typeface="Times New Roman" panose="02020603050405020304" pitchFamily="18" charset="0"/>
              </a:rPr>
              <a:t>Frequency</a:t>
            </a:r>
          </a:p>
        </p:txBody>
      </p:sp>
      <p:sp>
        <p:nvSpPr>
          <p:cNvPr id="23" name="Text Box 1035">
            <a:extLst>
              <a:ext uri="{FF2B5EF4-FFF2-40B4-BE49-F238E27FC236}">
                <a16:creationId xmlns:a16="http://schemas.microsoft.com/office/drawing/2014/main" id="{CD97F269-7A80-2C12-A784-7354F2C9A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099" y="3897142"/>
            <a:ext cx="427070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buFontTx/>
              <a:buChar char="•"/>
              <a:defRPr/>
            </a:pPr>
            <a:r>
              <a:rPr lang="en-US" altLang="en-SE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 First generation (1G) systems use </a:t>
            </a:r>
            <a:r>
              <a:rPr lang="en-GB" altLang="en-SE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Frequency Division Multiple Access (FDMA)</a:t>
            </a:r>
            <a:endParaRPr lang="en-US" altLang="en-SE" sz="1800" dirty="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1027">
            <a:extLst>
              <a:ext uri="{FF2B5EF4-FFF2-40B4-BE49-F238E27FC236}">
                <a16:creationId xmlns:a16="http://schemas.microsoft.com/office/drawing/2014/main" id="{DC2DA391-2BE7-3A3D-F3DE-F81587907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532585"/>
            <a:ext cx="2228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5" name="Line 1028">
            <a:extLst>
              <a:ext uri="{FF2B5EF4-FFF2-40B4-BE49-F238E27FC236}">
                <a16:creationId xmlns:a16="http://schemas.microsoft.com/office/drawing/2014/main" id="{CE75F0A4-47CA-B194-6257-66D44C25B6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1589485"/>
            <a:ext cx="0" cy="1943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6" name="Text Box 1029">
            <a:extLst>
              <a:ext uri="{FF2B5EF4-FFF2-40B4-BE49-F238E27FC236}">
                <a16:creationId xmlns:a16="http://schemas.microsoft.com/office/drawing/2014/main" id="{6BBC5F43-3E60-E538-D45A-3721A5BBBE2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347097" y="2576394"/>
            <a:ext cx="1543050" cy="369332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000000"/>
                </a:solidFill>
                <a:latin typeface="Times New Roman" panose="02020603050405020304" pitchFamily="18" charset="0"/>
              </a:rPr>
              <a:t>User 1</a:t>
            </a:r>
          </a:p>
        </p:txBody>
      </p:sp>
      <p:sp>
        <p:nvSpPr>
          <p:cNvPr id="27" name="Text Box 1030">
            <a:extLst>
              <a:ext uri="{FF2B5EF4-FFF2-40B4-BE49-F238E27FC236}">
                <a16:creationId xmlns:a16="http://schemas.microsoft.com/office/drawing/2014/main" id="{6B44455A-7804-92D1-2902-8DF44E5FAAC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854304" y="2576394"/>
            <a:ext cx="1543050" cy="369332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000000"/>
                </a:solidFill>
                <a:latin typeface="Times New Roman" panose="02020603050405020304" pitchFamily="18" charset="0"/>
              </a:rPr>
              <a:t>User 2</a:t>
            </a:r>
          </a:p>
        </p:txBody>
      </p:sp>
      <p:sp>
        <p:nvSpPr>
          <p:cNvPr id="28" name="Text Box 1031">
            <a:extLst>
              <a:ext uri="{FF2B5EF4-FFF2-40B4-BE49-F238E27FC236}">
                <a16:creationId xmlns:a16="http://schemas.microsoft.com/office/drawing/2014/main" id="{68237D97-39D8-818B-3DAC-02CF8E43898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654404" y="2576394"/>
            <a:ext cx="1543050" cy="369332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000000"/>
                </a:solidFill>
                <a:latin typeface="Times New Roman" panose="02020603050405020304" pitchFamily="18" charset="0"/>
              </a:rPr>
              <a:t>User n</a:t>
            </a:r>
          </a:p>
        </p:txBody>
      </p:sp>
      <p:sp>
        <p:nvSpPr>
          <p:cNvPr id="29" name="Text Box 1032">
            <a:extLst>
              <a:ext uri="{FF2B5EF4-FFF2-40B4-BE49-F238E27FC236}">
                <a16:creationId xmlns:a16="http://schemas.microsoft.com/office/drawing/2014/main" id="{6F254EA7-C688-74B9-B2EB-0A48CB68C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571751"/>
            <a:ext cx="4000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30" name="Text Box 1033">
            <a:extLst>
              <a:ext uri="{FF2B5EF4-FFF2-40B4-BE49-F238E27FC236}">
                <a16:creationId xmlns:a16="http://schemas.microsoft.com/office/drawing/2014/main" id="{30054904-3B22-72FD-D114-462F3C7E1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361135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3333CC"/>
                </a:solidFill>
                <a:latin typeface="Times New Roman" panose="02020603050405020304" pitchFamily="18" charset="0"/>
              </a:rPr>
              <a:t>Time</a:t>
            </a:r>
          </a:p>
        </p:txBody>
      </p:sp>
      <p:sp>
        <p:nvSpPr>
          <p:cNvPr id="31" name="Text Box 1034">
            <a:extLst>
              <a:ext uri="{FF2B5EF4-FFF2-40B4-BE49-F238E27FC236}">
                <a16:creationId xmlns:a16="http://schemas.microsoft.com/office/drawing/2014/main" id="{EA8ED0C0-34A9-F1B0-EA15-EA50A6866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1246585"/>
            <a:ext cx="1143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3333CC"/>
                </a:solidFill>
                <a:latin typeface="Times New Roman" panose="02020603050405020304" pitchFamily="18" charset="0"/>
              </a:rPr>
              <a:t>Frequency</a:t>
            </a:r>
          </a:p>
        </p:txBody>
      </p:sp>
      <p:sp>
        <p:nvSpPr>
          <p:cNvPr id="32" name="Text Box 1035">
            <a:extLst>
              <a:ext uri="{FF2B5EF4-FFF2-40B4-BE49-F238E27FC236}">
                <a16:creationId xmlns:a16="http://schemas.microsoft.com/office/drawing/2014/main" id="{5CDE7671-BB28-908E-C156-F132FE9DB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25" y="3897142"/>
            <a:ext cx="4114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buFontTx/>
              <a:buChar char="•"/>
              <a:defRPr/>
            </a:pPr>
            <a:r>
              <a:rPr lang="en-US" altLang="en-SE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 Most of second generation (2G) systems use </a:t>
            </a:r>
            <a:r>
              <a:rPr lang="en-GB" altLang="en-SE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Time Division Multiple Access (TDMA)</a:t>
            </a:r>
            <a:endParaRPr lang="en-US" altLang="en-SE" sz="1800" dirty="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087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A711-FAA1-285F-91BA-6CB730CD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Division Multiple Access (CDMA)</a:t>
            </a:r>
            <a:endParaRPr lang="en-SE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BCD1E555-E816-CAA2-5569-1D0155F65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44D12-E0D3-2FC6-5C65-D79E654748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6" name="Line 1027">
            <a:extLst>
              <a:ext uri="{FF2B5EF4-FFF2-40B4-BE49-F238E27FC236}">
                <a16:creationId xmlns:a16="http://schemas.microsoft.com/office/drawing/2014/main" id="{C32707EF-140B-1807-BBE4-5CCC67C4F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0500" y="2717021"/>
            <a:ext cx="22288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7" name="Line 1028">
            <a:extLst>
              <a:ext uri="{FF2B5EF4-FFF2-40B4-BE49-F238E27FC236}">
                <a16:creationId xmlns:a16="http://schemas.microsoft.com/office/drawing/2014/main" id="{8AB00CEB-AC34-F4EB-7EFD-4A90DDE4D4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0500" y="1173971"/>
            <a:ext cx="0" cy="15430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8" name="Text Box 1029">
            <a:extLst>
              <a:ext uri="{FF2B5EF4-FFF2-40B4-BE49-F238E27FC236}">
                <a16:creationId xmlns:a16="http://schemas.microsoft.com/office/drawing/2014/main" id="{2EAEDD97-AEDD-1C9C-2287-44F53C1BDCC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57750" y="1960855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User 1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466A8CD1-CB36-A894-133D-B4D223CAE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2545571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3333CC"/>
                </a:solidFill>
                <a:latin typeface="Times New Roman" panose="02020603050405020304" pitchFamily="18" charset="0"/>
              </a:rPr>
              <a:t>Time</a:t>
            </a:r>
          </a:p>
        </p:txBody>
      </p:sp>
      <p:sp>
        <p:nvSpPr>
          <p:cNvPr id="10" name="Text Box 1031">
            <a:extLst>
              <a:ext uri="{FF2B5EF4-FFF2-40B4-BE49-F238E27FC236}">
                <a16:creationId xmlns:a16="http://schemas.microsoft.com/office/drawing/2014/main" id="{A842A02A-3C6B-4C1A-AD32-C01FCE3E9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831071"/>
            <a:ext cx="1143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3333CC"/>
                </a:solidFill>
                <a:latin typeface="Times New Roman" panose="02020603050405020304" pitchFamily="18" charset="0"/>
              </a:rPr>
              <a:t>Frequency</a:t>
            </a:r>
          </a:p>
        </p:txBody>
      </p:sp>
      <p:sp>
        <p:nvSpPr>
          <p:cNvPr id="11" name="Text Box 1032">
            <a:extLst>
              <a:ext uri="{FF2B5EF4-FFF2-40B4-BE49-F238E27FC236}">
                <a16:creationId xmlns:a16="http://schemas.microsoft.com/office/drawing/2014/main" id="{ECBD5DC2-427D-D8B8-492B-96BAF5DE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282" y="3688571"/>
            <a:ext cx="6277088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buFontTx/>
              <a:buChar char="•"/>
              <a:defRPr/>
            </a:pPr>
            <a:r>
              <a:rPr lang="en-US" altLang="en-SE" dirty="0">
                <a:solidFill>
                  <a:srgbClr val="3333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SE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Users share bandwidth by using code sequences that are orthogonal to each other</a:t>
            </a:r>
          </a:p>
          <a:p>
            <a:pPr defTabSz="685800">
              <a:spcBef>
                <a:spcPct val="50000"/>
              </a:spcBef>
              <a:buClrTx/>
              <a:buFontTx/>
              <a:buChar char="•"/>
              <a:defRPr/>
            </a:pPr>
            <a:r>
              <a:rPr lang="en-US" altLang="en-SE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  Some 2G and most 3G systems use CDMA</a:t>
            </a:r>
          </a:p>
        </p:txBody>
      </p:sp>
      <p:sp>
        <p:nvSpPr>
          <p:cNvPr id="12" name="Line 1033">
            <a:extLst>
              <a:ext uri="{FF2B5EF4-FFF2-40B4-BE49-F238E27FC236}">
                <a16:creationId xmlns:a16="http://schemas.microsoft.com/office/drawing/2014/main" id="{B427CBB0-5B87-66F9-F3C7-8008240469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28850" y="2717021"/>
            <a:ext cx="1771650" cy="8572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3" name="Line 1034">
            <a:extLst>
              <a:ext uri="{FF2B5EF4-FFF2-40B4-BE49-F238E27FC236}">
                <a16:creationId xmlns:a16="http://schemas.microsoft.com/office/drawing/2014/main" id="{EAFE95AE-2B92-0165-4B97-B88900130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0500" y="140257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4" name="Line 1035">
            <a:extLst>
              <a:ext uri="{FF2B5EF4-FFF2-40B4-BE49-F238E27FC236}">
                <a16:creationId xmlns:a16="http://schemas.microsoft.com/office/drawing/2014/main" id="{7ABB16B3-749D-6B1E-2573-4C298D350C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140257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5" name="Line 1036">
            <a:extLst>
              <a:ext uri="{FF2B5EF4-FFF2-40B4-BE49-F238E27FC236}">
                <a16:creationId xmlns:a16="http://schemas.microsoft.com/office/drawing/2014/main" id="{409CC8E6-1F85-F489-3384-3DFD2E976D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140257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6" name="Line 1037">
            <a:extLst>
              <a:ext uri="{FF2B5EF4-FFF2-40B4-BE49-F238E27FC236}">
                <a16:creationId xmlns:a16="http://schemas.microsoft.com/office/drawing/2014/main" id="{CE0DDCAF-8BBE-9A54-04F1-9BE56B544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57402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7" name="Line 1038">
            <a:extLst>
              <a:ext uri="{FF2B5EF4-FFF2-40B4-BE49-F238E27FC236}">
                <a16:creationId xmlns:a16="http://schemas.microsoft.com/office/drawing/2014/main" id="{F4A8A8CB-1CB9-EA1A-2D31-518E174BD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700" y="140257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8" name="Line 1039">
            <a:extLst>
              <a:ext uri="{FF2B5EF4-FFF2-40B4-BE49-F238E27FC236}">
                <a16:creationId xmlns:a16="http://schemas.microsoft.com/office/drawing/2014/main" id="{FFF532B9-DE42-7075-9701-C707F7F45B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271702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19" name="Line 1040">
            <a:extLst>
              <a:ext uri="{FF2B5EF4-FFF2-40B4-BE49-F238E27FC236}">
                <a16:creationId xmlns:a16="http://schemas.microsoft.com/office/drawing/2014/main" id="{8C93CBB0-B42C-E3EE-3292-213116F22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57402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0" name="Text Box 1041">
            <a:extLst>
              <a:ext uri="{FF2B5EF4-FFF2-40B4-BE49-F238E27FC236}">
                <a16:creationId xmlns:a16="http://schemas.microsoft.com/office/drawing/2014/main" id="{7E3AE1B8-C0DB-FB31-8DDA-B3ADA666E6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14850" y="2132305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User 2</a:t>
            </a:r>
          </a:p>
        </p:txBody>
      </p:sp>
      <p:sp>
        <p:nvSpPr>
          <p:cNvPr id="21" name="Line 1042">
            <a:extLst>
              <a:ext uri="{FF2B5EF4-FFF2-40B4-BE49-F238E27FC236}">
                <a16:creationId xmlns:a16="http://schemas.microsoft.com/office/drawing/2014/main" id="{B5C65C50-C992-88B3-6680-36FE35D5F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57402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2" name="Line 1043">
            <a:extLst>
              <a:ext uri="{FF2B5EF4-FFF2-40B4-BE49-F238E27FC236}">
                <a16:creationId xmlns:a16="http://schemas.microsoft.com/office/drawing/2014/main" id="{2A05E0C9-A630-67BA-BD12-F1BED6755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14700" y="157402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3" name="Line 1044">
            <a:extLst>
              <a:ext uri="{FF2B5EF4-FFF2-40B4-BE49-F238E27FC236}">
                <a16:creationId xmlns:a16="http://schemas.microsoft.com/office/drawing/2014/main" id="{A94D737B-48C1-07B8-340E-65AE107E17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4900" y="157402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4" name="Line 1045">
            <a:extLst>
              <a:ext uri="{FF2B5EF4-FFF2-40B4-BE49-F238E27FC236}">
                <a16:creationId xmlns:a16="http://schemas.microsoft.com/office/drawing/2014/main" id="{0FDF9DFF-50DE-3870-049D-21606531D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174547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5" name="Line 1046">
            <a:extLst>
              <a:ext uri="{FF2B5EF4-FFF2-40B4-BE49-F238E27FC236}">
                <a16:creationId xmlns:a16="http://schemas.microsoft.com/office/drawing/2014/main" id="{0DB82876-7BE1-F8CA-4872-C333EF77E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57402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6" name="Line 1047">
            <a:extLst>
              <a:ext uri="{FF2B5EF4-FFF2-40B4-BE49-F238E27FC236}">
                <a16:creationId xmlns:a16="http://schemas.microsoft.com/office/drawing/2014/main" id="{44529E21-587D-5B68-81A5-A4B2B12232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4900" y="288847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7" name="Line 1048">
            <a:extLst>
              <a:ext uri="{FF2B5EF4-FFF2-40B4-BE49-F238E27FC236}">
                <a16:creationId xmlns:a16="http://schemas.microsoft.com/office/drawing/2014/main" id="{DB4B0D35-7600-A809-B51F-738901D26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700" y="174547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8" name="Line 1049">
            <a:extLst>
              <a:ext uri="{FF2B5EF4-FFF2-40B4-BE49-F238E27FC236}">
                <a16:creationId xmlns:a16="http://schemas.microsoft.com/office/drawing/2014/main" id="{3A233C9D-F5AD-C0D0-8BCA-4D5B9FD52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850" y="3059921"/>
            <a:ext cx="400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29" name="Line 1050">
            <a:extLst>
              <a:ext uri="{FF2B5EF4-FFF2-40B4-BE49-F238E27FC236}">
                <a16:creationId xmlns:a16="http://schemas.microsoft.com/office/drawing/2014/main" id="{6468B1A1-B649-FCF8-00DB-E88BF0DA7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700" y="1745471"/>
            <a:ext cx="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0" name="Text Box 1051">
            <a:extLst>
              <a:ext uri="{FF2B5EF4-FFF2-40B4-BE49-F238E27FC236}">
                <a16:creationId xmlns:a16="http://schemas.microsoft.com/office/drawing/2014/main" id="{C3AB64A7-E4D5-B3C7-DDE3-6BB75FAC5A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771900" y="2475205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User n</a:t>
            </a:r>
          </a:p>
        </p:txBody>
      </p:sp>
      <p:sp>
        <p:nvSpPr>
          <p:cNvPr id="31" name="Line 1052">
            <a:extLst>
              <a:ext uri="{FF2B5EF4-FFF2-40B4-BE49-F238E27FC236}">
                <a16:creationId xmlns:a16="http://schemas.microsoft.com/office/drawing/2014/main" id="{282BA1DF-3D5F-9374-17A6-08FAA3174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0" y="191692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2" name="Line 1053">
            <a:extLst>
              <a:ext uri="{FF2B5EF4-FFF2-40B4-BE49-F238E27FC236}">
                <a16:creationId xmlns:a16="http://schemas.microsoft.com/office/drawing/2014/main" id="{01E5F3B3-6267-8DF8-CFC5-B168C310E0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1750" y="191692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3" name="Line 1054">
            <a:extLst>
              <a:ext uri="{FF2B5EF4-FFF2-40B4-BE49-F238E27FC236}">
                <a16:creationId xmlns:a16="http://schemas.microsoft.com/office/drawing/2014/main" id="{5E7FAD45-9230-EF6E-3AEB-AE8D235196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1950" y="191692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4" name="Line 1055">
            <a:extLst>
              <a:ext uri="{FF2B5EF4-FFF2-40B4-BE49-F238E27FC236}">
                <a16:creationId xmlns:a16="http://schemas.microsoft.com/office/drawing/2014/main" id="{E417ED15-2F61-14C8-5160-4E8AEB58F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1950" y="208837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5" name="Line 1056">
            <a:extLst>
              <a:ext uri="{FF2B5EF4-FFF2-40B4-BE49-F238E27FC236}">
                <a16:creationId xmlns:a16="http://schemas.microsoft.com/office/drawing/2014/main" id="{4B9EB507-BB8E-3B24-5111-5F852554C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850" y="191692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6" name="Line 1057">
            <a:extLst>
              <a:ext uri="{FF2B5EF4-FFF2-40B4-BE49-F238E27FC236}">
                <a16:creationId xmlns:a16="http://schemas.microsoft.com/office/drawing/2014/main" id="{BCB36F7A-9984-BDB5-2872-46FA99F1E1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1950" y="323137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7" name="Line 1058">
            <a:extLst>
              <a:ext uri="{FF2B5EF4-FFF2-40B4-BE49-F238E27FC236}">
                <a16:creationId xmlns:a16="http://schemas.microsoft.com/office/drawing/2014/main" id="{72D63F9F-2061-B36C-51AD-BE754411C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0" y="208837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8" name="Line 1059">
            <a:extLst>
              <a:ext uri="{FF2B5EF4-FFF2-40B4-BE49-F238E27FC236}">
                <a16:creationId xmlns:a16="http://schemas.microsoft.com/office/drawing/2014/main" id="{A51A93AB-9983-91AE-FB87-FBBAA4EFA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0" y="340282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39" name="Line 1060">
            <a:extLst>
              <a:ext uri="{FF2B5EF4-FFF2-40B4-BE49-F238E27FC236}">
                <a16:creationId xmlns:a16="http://schemas.microsoft.com/office/drawing/2014/main" id="{E994A515-1F1A-BF8F-95B3-78AB97FC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0" y="208837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0" name="Text Box 1061">
            <a:extLst>
              <a:ext uri="{FF2B5EF4-FFF2-40B4-BE49-F238E27FC236}">
                <a16:creationId xmlns:a16="http://schemas.microsoft.com/office/drawing/2014/main" id="{3CAD9691-D8E5-E197-6D9C-C9375340A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345671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  <a:defRPr/>
            </a:pPr>
            <a:r>
              <a:rPr lang="en-US" altLang="en-SE" sz="1800">
                <a:solidFill>
                  <a:srgbClr val="3333CC"/>
                </a:solidFill>
                <a:latin typeface="Times New Roman" panose="02020603050405020304" pitchFamily="18" charset="0"/>
              </a:rPr>
              <a:t>Code</a:t>
            </a:r>
          </a:p>
        </p:txBody>
      </p:sp>
      <p:sp>
        <p:nvSpPr>
          <p:cNvPr id="41" name="Line 1062">
            <a:extLst>
              <a:ext uri="{FF2B5EF4-FFF2-40B4-BE49-F238E27FC236}">
                <a16:creationId xmlns:a16="http://schemas.microsoft.com/office/drawing/2014/main" id="{9EDA3219-2554-DDD7-84AD-139605C63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700" y="174547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2" name="Line 1063">
            <a:extLst>
              <a:ext uri="{FF2B5EF4-FFF2-40B4-BE49-F238E27FC236}">
                <a16:creationId xmlns:a16="http://schemas.microsoft.com/office/drawing/2014/main" id="{0FF7B1E9-19D1-D0E1-3EC8-A0CBDF8FA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0" y="191692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3" name="Line 1064">
            <a:extLst>
              <a:ext uri="{FF2B5EF4-FFF2-40B4-BE49-F238E27FC236}">
                <a16:creationId xmlns:a16="http://schemas.microsoft.com/office/drawing/2014/main" id="{0E441A95-4EC7-32C5-F986-28917F153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574021"/>
            <a:ext cx="0" cy="13144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4" name="Line 1065">
            <a:extLst>
              <a:ext uri="{FF2B5EF4-FFF2-40B4-BE49-F238E27FC236}">
                <a16:creationId xmlns:a16="http://schemas.microsoft.com/office/drawing/2014/main" id="{828E6E41-8F1B-C48B-9BD2-F21FB8179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0" y="323137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5" name="Line 1066">
            <a:extLst>
              <a:ext uri="{FF2B5EF4-FFF2-40B4-BE49-F238E27FC236}">
                <a16:creationId xmlns:a16="http://schemas.microsoft.com/office/drawing/2014/main" id="{8C39769D-DE21-57A8-BF05-AABFAC7FC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700" y="305992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6" name="Line 1067">
            <a:extLst>
              <a:ext uri="{FF2B5EF4-FFF2-40B4-BE49-F238E27FC236}">
                <a16:creationId xmlns:a16="http://schemas.microsoft.com/office/drawing/2014/main" id="{C70A0D43-1AA5-205D-9C78-5884B1AE8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888471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7" name="Line 1068">
            <a:extLst>
              <a:ext uri="{FF2B5EF4-FFF2-40B4-BE49-F238E27FC236}">
                <a16:creationId xmlns:a16="http://schemas.microsoft.com/office/drawing/2014/main" id="{3D41989D-DF8D-0C42-370D-7C54BE1F9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700" y="2717021"/>
            <a:ext cx="628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8" name="Line 1069">
            <a:extLst>
              <a:ext uri="{FF2B5EF4-FFF2-40B4-BE49-F238E27FC236}">
                <a16:creationId xmlns:a16="http://schemas.microsoft.com/office/drawing/2014/main" id="{B7FAD3DF-806F-1A72-826B-6C48416AD6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0500" y="1173971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49" name="Line 1070">
            <a:extLst>
              <a:ext uri="{FF2B5EF4-FFF2-40B4-BE49-F238E27FC236}">
                <a16:creationId xmlns:a16="http://schemas.microsoft.com/office/drawing/2014/main" id="{83A1BECB-07D4-9873-3C78-7E9274F267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28850" y="3402821"/>
            <a:ext cx="3429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buClrTx/>
              <a:defRPr/>
            </a:pPr>
            <a:endParaRPr lang="en-SE" sz="1800">
              <a:solidFill>
                <a:srgbClr val="000000"/>
              </a:solidFill>
            </a:endParaRPr>
          </a:p>
        </p:txBody>
      </p:sp>
      <p:sp>
        <p:nvSpPr>
          <p:cNvPr id="50" name="Text Box 1071">
            <a:extLst>
              <a:ext uri="{FF2B5EF4-FFF2-40B4-BE49-F238E27FC236}">
                <a16:creationId xmlns:a16="http://schemas.microsoft.com/office/drawing/2014/main" id="{8D427AF8-9F64-031D-8C04-FE2A386E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2088371"/>
            <a:ext cx="1714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1" name="Text Box 1072">
            <a:extLst>
              <a:ext uri="{FF2B5EF4-FFF2-40B4-BE49-F238E27FC236}">
                <a16:creationId xmlns:a16="http://schemas.microsoft.com/office/drawing/2014/main" id="{8FF1039D-863D-0CC8-CCA3-07F733090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150" y="2145521"/>
            <a:ext cx="228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2" name="Text Box 1073">
            <a:extLst>
              <a:ext uri="{FF2B5EF4-FFF2-40B4-BE49-F238E27FC236}">
                <a16:creationId xmlns:a16="http://schemas.microsoft.com/office/drawing/2014/main" id="{6EFCE4BB-F4DA-15A0-EBA6-B0E3132EC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2202671"/>
            <a:ext cx="1714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defTabSz="685800">
              <a:spcBef>
                <a:spcPct val="50000"/>
              </a:spcBef>
              <a:buClrTx/>
            </a:pPr>
            <a:r>
              <a:rPr lang="en-US" altLang="en-SE" sz="180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9F736A-EA55-43AF-86B1-9C9A73C0C041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98759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Division Multiple Access (CDMA)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6F5987-AA14-F311-9A70-2734386C1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/>
              <a:pPr/>
              <a:t>42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8" name="Rectangle 3">
                <a:extLst>
                  <a:ext uri="{FF2B5EF4-FFF2-40B4-BE49-F238E27FC236}">
                    <a16:creationId xmlns:a16="http://schemas.microsoft.com/office/drawing/2014/main" id="{953F996D-330A-8747-94AD-947138A1EE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71717" y="980101"/>
                <a:ext cx="7969611" cy="398645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 fontScale="92500" lnSpcReduction="20000"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4319" indent="-220266" defTabSz="685800">
                  <a:lnSpc>
                    <a:spcPct val="100000"/>
                  </a:lnSpc>
                  <a:spcBef>
                    <a:spcPts val="750"/>
                  </a:spcBef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unique </a:t>
                </a:r>
                <a:r>
                  <a:rPr lang="en-US" altLang="ja-JP" sz="24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“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code</a:t>
                </a:r>
                <a:r>
                  <a:rPr lang="en-US" altLang="ja-JP" sz="24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”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 assigned to each user; i.e., code set partitioning</a:t>
                </a:r>
              </a:p>
              <a:p>
                <a:pPr marL="521494" lvl="1" indent="-173831" defTabSz="685800">
                  <a:lnSpc>
                    <a:spcPct val="100000"/>
                  </a:lnSpc>
                  <a:spcBef>
                    <a:spcPts val="375"/>
                  </a:spcBef>
                  <a:defRPr/>
                </a:pP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all users share same frequency, but each user has own chipping sequence (i.e., code) to encode data</a:t>
                </a:r>
              </a:p>
              <a:p>
                <a:pPr marL="521494" lvl="1" indent="-173831" defTabSz="685800">
                  <a:lnSpc>
                    <a:spcPct val="100000"/>
                  </a:lnSpc>
                  <a:spcBef>
                    <a:spcPts val="375"/>
                  </a:spcBef>
                  <a:defRPr/>
                </a:pP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allows multiple users to </a:t>
                </a:r>
                <a:r>
                  <a:rPr lang="en-US" altLang="ja-JP" sz="21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“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coexist</a:t>
                </a:r>
                <a:r>
                  <a:rPr lang="en-US" altLang="ja-JP" sz="21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”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 and transmit simultaneously with minimal interference (if codes are “orthogonal”)</a:t>
                </a:r>
              </a:p>
              <a:p>
                <a:pPr marL="521494" lvl="1" indent="-173831" defTabSz="685800">
                  <a:lnSpc>
                    <a:spcPct val="100000"/>
                  </a:lnSpc>
                  <a:spcBef>
                    <a:spcPts val="375"/>
                  </a:spcBef>
                  <a:defRPr/>
                </a:pP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analogy: people speaking different languages in the same </a:t>
                </a:r>
                <a:r>
                  <a:rPr lang="en-US" sz="2100" dirty="0" err="1">
                    <a:solidFill>
                      <a:prstClr val="black"/>
                    </a:solidFill>
                    <a:latin typeface="Calibri" panose="020F0502020204030204"/>
                  </a:rPr>
                  <a:t>roo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 do not interfere with each other</a:t>
                </a:r>
              </a:p>
              <a:p>
                <a:pPr marL="264319" indent="-255985" defTabSz="685800">
                  <a:lnSpc>
                    <a:spcPct val="100000"/>
                  </a:lnSpc>
                  <a:spcBef>
                    <a:spcPts val="750"/>
                  </a:spcBef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/>
                  </a:rPr>
                  <a:t>encoding: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scalar-vector product: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(original data)</a:t>
                </a:r>
                <a:r>
                  <a:rPr lang="en-GB" sz="2100" dirty="0">
                    <a:solidFill>
                      <a:srgbClr val="000000"/>
                    </a:solidFill>
                    <a:latin typeface="Calibri" panose="020F0502020204030204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∗</m:t>
                    </m:r>
                  </m:oMath>
                </a14:m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(chipping sequence)</a:t>
                </a:r>
              </a:p>
              <a:p>
                <a:pPr marL="521494" lvl="1" indent="-255985" defTabSz="685800">
                  <a:lnSpc>
                    <a:spcPct val="100000"/>
                  </a:lnSpc>
                  <a:spcBef>
                    <a:spcPts val="375"/>
                  </a:spcBef>
                  <a:defRPr/>
                </a:pPr>
                <a:r>
                  <a:rPr lang="en-GB" sz="2100" dirty="0">
                    <a:solidFill>
                      <a:srgbClr val="000000"/>
                    </a:solidFill>
                    <a:latin typeface="Calibri" panose="020F0502020204030204"/>
                    <a:cs typeface="Arial" charset="0"/>
                  </a:rPr>
                  <a:t>d </a:t>
                </a:r>
                <a14:m>
                  <m:oMath xmlns:m="http://schemas.openxmlformats.org/officeDocument/2006/math">
                    <m:r>
                      <a:rPr lang="en-GB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∗</m:t>
                    </m:r>
                  </m:oMath>
                </a14:m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1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1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= (d*x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d*x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…, d*</a:t>
                </a:r>
                <a:r>
                  <a:rPr lang="en-US" sz="21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1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), where d = +1 or -1.</a:t>
                </a:r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65510" indent="-265510" defTabSz="685800">
                  <a:lnSpc>
                    <a:spcPct val="100000"/>
                  </a:lnSpc>
                  <a:spcBef>
                    <a:spcPts val="750"/>
                  </a:spcBef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/>
                  </a:rPr>
                  <a:t>decoding: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vector-vector inner-product: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(encoded data)</a:t>
                </a:r>
                <a:r>
                  <a:rPr lang="en-GB" sz="2100" dirty="0">
                    <a:solidFill>
                      <a:srgbClr val="000000"/>
                    </a:solidFill>
                    <a:latin typeface="Calibri" panose="020F0502020204030204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(chipping sequence)</a:t>
                </a:r>
              </a:p>
              <a:p>
                <a:pPr marL="521494" lvl="1" indent="-173831" defTabSz="685800">
                  <a:spcBef>
                    <a:spcPts val="375"/>
                  </a:spcBef>
                </a:pPr>
                <a:r>
                  <a:rPr lang="en-GB" sz="2100" dirty="0">
                    <a:solidFill>
                      <a:prstClr val="black"/>
                    </a:solidFill>
                    <a:latin typeface="Calibri" panose="020F0502020204030204"/>
                  </a:rPr>
                  <a:t>Defined as sum of elementwise product:</a:t>
                </a:r>
              </a:p>
              <a:p>
                <a:pPr marL="521494" lvl="1" indent="-173831" defTabSz="685800">
                  <a:spcBef>
                    <a:spcPts val="375"/>
                  </a:spcBef>
                </a:pP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1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1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GB" sz="2100" dirty="0">
                    <a:solidFill>
                      <a:srgbClr val="000000"/>
                    </a:solidFill>
                    <a:latin typeface="Calibri" panose="020F0502020204030204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(y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y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1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</a:t>
                </a:r>
                <a:r>
                  <a:rPr lang="en-US" sz="21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= (x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*y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+x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*y</a:t>
                </a:r>
                <a:r>
                  <a:rPr lang="en-US" sz="21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+…+</a:t>
                </a:r>
                <a:r>
                  <a:rPr lang="en-US" sz="21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1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</a:t>
                </a:r>
                <a:r>
                  <a:rPr lang="en-US" sz="21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</a:t>
                </a:r>
                <a:r>
                  <a:rPr lang="en-US" sz="21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1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64319" indent="-166688" defTabSz="685800">
                  <a:lnSpc>
                    <a:spcPct val="80000"/>
                  </a:lnSpc>
                  <a:spcBef>
                    <a:spcPts val="750"/>
                  </a:spcBef>
                  <a:defRPr/>
                </a:pPr>
                <a:endParaRPr lang="en-US" sz="2400" dirty="0">
                  <a:solidFill>
                    <a:prstClr val="black"/>
                  </a:solidFill>
                  <a:latin typeface="Gill Sans MT" charset="0"/>
                </a:endParaRPr>
              </a:p>
            </p:txBody>
          </p:sp>
        </mc:Choice>
        <mc:Fallback>
          <p:sp>
            <p:nvSpPr>
              <p:cNvPr id="718" name="Rectangle 3">
                <a:extLst>
                  <a:ext uri="{FF2B5EF4-FFF2-40B4-BE49-F238E27FC236}">
                    <a16:creationId xmlns:a16="http://schemas.microsoft.com/office/drawing/2014/main" id="{953F996D-330A-8747-94AD-947138A1E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17" y="980101"/>
                <a:ext cx="7969611" cy="3986459"/>
              </a:xfrm>
              <a:prstGeom prst="rect">
                <a:avLst/>
              </a:prstGeom>
              <a:blipFill>
                <a:blip r:embed="rId3"/>
                <a:stretch>
                  <a:fillRect l="-1148" t="-2905" r="-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11FE4D1-9B56-07F7-CA56-10D8D288F8F6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6128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C7E470-7993-464D-C585-A68FD474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Vector-Vector Inner-Product, </a:t>
            </a:r>
            <a:r>
              <a:rPr lang="en-GB" dirty="0"/>
              <a:t>Orthogonal Vector 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1243CB-A690-804D-4E2D-45DEC32234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For a vector</a:t>
                </a:r>
                <a:r>
                  <a:rPr lang="en-US" dirty="0"/>
                  <a:t> x = (x1, x2, … , </a:t>
                </a:r>
                <a:r>
                  <a:rPr lang="en-US" dirty="0" err="1"/>
                  <a:t>xn</a:t>
                </a:r>
                <a:r>
                  <a:rPr lang="en-US" dirty="0"/>
                  <a:t>)</a:t>
                </a:r>
                <a:r>
                  <a:rPr lang="en-GB" dirty="0"/>
                  <a:t>, the inner product (or dot product) with itself is given by: x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 </m:t>
                    </m:r>
                  </m:oMath>
                </a14:m>
                <a:r>
                  <a:rPr lang="en-GB" dirty="0"/>
                  <a:t>x = </a:t>
                </a:r>
                <a:r>
                  <a:rPr lang="en-US" dirty="0"/>
                  <a:t>(x1)2+(x2)2+…+(</a:t>
                </a:r>
                <a:r>
                  <a:rPr lang="en-US" dirty="0" err="1"/>
                  <a:t>xn</a:t>
                </a:r>
                <a:r>
                  <a:rPr lang="en-US" dirty="0"/>
                  <a:t>)2.</a:t>
                </a:r>
                <a:endParaRPr lang="en-GB" dirty="0"/>
              </a:p>
              <a:p>
                <a:pPr lvl="1"/>
                <a:r>
                  <a:rPr lang="en-GB" dirty="0"/>
                  <a:t>This scalar value is also known as the squared norm of the vector. It is always non-negative and equals zero if and only if the vector itself is the zero vector. </a:t>
                </a:r>
              </a:p>
              <a:p>
                <a:pPr lvl="1"/>
                <a:r>
                  <a:rPr lang="en-GB" dirty="0"/>
                  <a:t>If each element </a:t>
                </a:r>
                <a:r>
                  <a:rPr lang="en-US" dirty="0"/>
                  <a:t>xi= +1 or -1, then </a:t>
                </a:r>
                <a:r>
                  <a:rPr lang="en-GB" dirty="0"/>
                  <a:t>x </a:t>
                </a:r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⋅ </m:t>
                    </m:r>
                  </m:oMath>
                </a14:m>
                <a:r>
                  <a:rPr lang="en-GB" dirty="0"/>
                  <a:t>x = 1+1+…+1 = n, the vector dimension.</a:t>
                </a:r>
              </a:p>
              <a:p>
                <a:r>
                  <a:rPr lang="en-GB" dirty="0"/>
                  <a:t>A vector </a:t>
                </a:r>
                <a:r>
                  <a:rPr lang="en-US" dirty="0"/>
                  <a:t>y = (y1, y2, … , </a:t>
                </a:r>
                <a:r>
                  <a:rPr lang="en-US" dirty="0" err="1"/>
                  <a:t>yn</a:t>
                </a:r>
                <a:r>
                  <a:rPr lang="en-US" dirty="0"/>
                  <a:t>) is the </a:t>
                </a:r>
                <a:r>
                  <a:rPr lang="en-GB" dirty="0"/>
                  <a:t>orthogonal vector of vector</a:t>
                </a:r>
                <a:r>
                  <a:rPr lang="en-US" dirty="0"/>
                  <a:t> x=(x1, x2, … , </a:t>
                </a:r>
                <a:r>
                  <a:rPr lang="en-US" dirty="0" err="1"/>
                  <a:t>xn</a:t>
                </a:r>
                <a:r>
                  <a:rPr lang="en-US" dirty="0"/>
                  <a:t>) if their </a:t>
                </a:r>
                <a:r>
                  <a:rPr lang="en-GB" dirty="0"/>
                  <a:t>inner product is zero: x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= </a:t>
                </a:r>
                <a:r>
                  <a:rPr lang="en-US" dirty="0"/>
                  <a:t>(x1, x2, … , </a:t>
                </a:r>
                <a:r>
                  <a:rPr lang="en-US" dirty="0" err="1"/>
                  <a:t>xn</a:t>
                </a:r>
                <a:r>
                  <a:rPr lang="en-US" dirty="0"/>
                  <a:t>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(y1, y2, … , </a:t>
                </a:r>
                <a:r>
                  <a:rPr lang="en-US" dirty="0" err="1"/>
                  <a:t>yn</a:t>
                </a:r>
                <a:r>
                  <a:rPr lang="en-US" dirty="0"/>
                  <a:t>) = (x1*y1+x2*y2+…+</a:t>
                </a:r>
                <a:r>
                  <a:rPr lang="en-US" dirty="0" err="1"/>
                  <a:t>xn</a:t>
                </a:r>
                <a:r>
                  <a:rPr lang="en-US" dirty="0"/>
                  <a:t>*</a:t>
                </a:r>
                <a:r>
                  <a:rPr lang="en-US" dirty="0" err="1"/>
                  <a:t>yn</a:t>
                </a:r>
                <a:r>
                  <a:rPr lang="en-US" dirty="0"/>
                  <a:t>)=0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1243CB-A690-804D-4E2D-45DEC3223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r="-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36279-7EA3-8944-4772-D026FEEAB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257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194E81-212F-63D9-991E-44EC8837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Direct-Sequence Spread Spectrum CDMA</a:t>
            </a:r>
            <a:endParaRPr lang="en-S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23B47-FE7F-5EF8-03E2-E55EB55C5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80E6B-3A18-B1BA-FD90-EE349ECB94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44</a:t>
            </a:fld>
            <a:endParaRPr lang="en-US" dirty="0"/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0AF9D38B-5D89-3941-D753-6CFB7CD3278C}"/>
              </a:ext>
            </a:extLst>
          </p:cNvPr>
          <p:cNvSpPr txBox="1"/>
          <p:nvPr/>
        </p:nvSpPr>
        <p:spPr>
          <a:xfrm>
            <a:off x="621525" y="2663256"/>
            <a:ext cx="8108578" cy="2534348"/>
          </a:xfrm>
          <a:prstGeom prst="rect">
            <a:avLst/>
          </a:prstGeom>
        </p:spPr>
        <p:txBody>
          <a:bodyPr vert="horz" wrap="square" lIns="0" tIns="33338" rIns="0" bIns="0" rtlCol="0">
            <a:spAutoFit/>
          </a:bodyPr>
          <a:lstStyle/>
          <a:p>
            <a:pPr marL="266700" marR="3810" indent="-257175" defTabSz="685800">
              <a:lnSpc>
                <a:spcPts val="1943"/>
              </a:lnSpc>
              <a:spcBef>
                <a:spcPts val="409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266700" algn="l"/>
              </a:tabLst>
            </a:pPr>
            <a:r>
              <a:rPr lang="en-US" sz="18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Chipping sequence (Code): </a:t>
            </a:r>
            <a:r>
              <a:rPr lang="en-GB"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(+1,+1,+1,-1,+1,-1,-1,-1)</a:t>
            </a:r>
          </a:p>
          <a:p>
            <a:pPr marL="266700" marR="3810" indent="-257175" defTabSz="685800">
              <a:lnSpc>
                <a:spcPts val="1943"/>
              </a:lnSpc>
              <a:spcBef>
                <a:spcPts val="409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266700" algn="l"/>
              </a:tabLst>
            </a:pPr>
            <a:r>
              <a:rPr lang="en-GB"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8-bit sequence 1*(+1,+1,+1,-1,+1,-1,-1,-1) encodes data bit 1  (corresponding to application bit 1).</a:t>
            </a:r>
          </a:p>
          <a:p>
            <a:pPr marL="266700" marR="3810" indent="-257175" defTabSz="685800">
              <a:lnSpc>
                <a:spcPts val="1943"/>
              </a:lnSpc>
              <a:spcBef>
                <a:spcPts val="409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266700" algn="l"/>
              </a:tabLst>
            </a:pPr>
            <a:r>
              <a:rPr lang="en-GB"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8-bit sequence (-1)*(+1,+1,+1,-1,+1,-1,-1,-1) = (-1,-1,-1,1,-1,1,1,1) encodes data bit -1 (corresponding to application bit 0).</a:t>
            </a:r>
          </a:p>
          <a:p>
            <a:pPr marL="266700" marR="3810" indent="-257175" defTabSz="685800">
              <a:lnSpc>
                <a:spcPts val="1943"/>
              </a:lnSpc>
              <a:spcBef>
                <a:spcPts val="409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266700" algn="l"/>
              </a:tabLst>
            </a:pP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Spreading</a:t>
            </a:r>
            <a:r>
              <a:rPr sz="1800" kern="1200" spc="-3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factor</a:t>
            </a:r>
            <a:r>
              <a:rPr sz="1800" kern="1200" spc="-1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=</a:t>
            </a:r>
            <a:r>
              <a:rPr sz="1800" kern="1200" spc="-11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sz="1800" kern="1200" spc="-1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GB"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length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/data</a:t>
            </a:r>
            <a:r>
              <a:rPr sz="1800" kern="1200" spc="-45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bit</a:t>
            </a:r>
            <a:r>
              <a:rPr lang="en-GB"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= 8</a:t>
            </a:r>
          </a:p>
          <a:p>
            <a:pPr marL="609600" marR="3810" lvl="1" indent="-257175" defTabSz="685800">
              <a:lnSpc>
                <a:spcPts val="1943"/>
              </a:lnSpc>
              <a:spcBef>
                <a:spcPts val="409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266700" algn="l"/>
              </a:tabLst>
            </a:pPr>
            <a:r>
              <a:rPr sz="1800" kern="1200" spc="-8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10-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100</a:t>
            </a:r>
            <a:r>
              <a:rPr sz="1800" kern="1200" spc="-11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commercial</a:t>
            </a:r>
            <a:r>
              <a:rPr sz="1800" kern="1200" spc="-26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spc="-15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(Min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10</a:t>
            </a:r>
            <a:r>
              <a:rPr sz="1800" kern="1200" spc="-11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sz="1800" kern="1200" spc="-11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FCC),</a:t>
            </a:r>
            <a:r>
              <a:rPr sz="1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10,000</a:t>
            </a:r>
            <a:r>
              <a:rPr sz="1800" kern="1200" spc="-11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for</a:t>
            </a:r>
            <a:r>
              <a:rPr sz="1800" kern="1200" spc="-11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800" kern="1200" spc="-8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military</a:t>
            </a:r>
            <a:endParaRPr lang="en-US" sz="1800" kern="1200" spc="-8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266700" marR="3810" indent="-257175" defTabSz="685800">
              <a:lnSpc>
                <a:spcPts val="1943"/>
              </a:lnSpc>
              <a:spcBef>
                <a:spcPts val="409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266700" algn="l"/>
              </a:tabLst>
            </a:pPr>
            <a:r>
              <a:rPr lang="en-US" sz="1800" kern="1200" spc="-8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Two codes are orthogonal to each other, if their inner product equals 0.</a:t>
            </a:r>
          </a:p>
          <a:p>
            <a:pPr marL="266700" marR="3810" indent="-257175" defTabSz="685800">
              <a:lnSpc>
                <a:spcPts val="1943"/>
              </a:lnSpc>
              <a:spcBef>
                <a:spcPts val="409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266700" algn="l"/>
              </a:tabLst>
            </a:pPr>
            <a:endParaRPr sz="18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71" name="Group 44">
            <a:extLst>
              <a:ext uri="{FF2B5EF4-FFF2-40B4-BE49-F238E27FC236}">
                <a16:creationId xmlns:a16="http://schemas.microsoft.com/office/drawing/2014/main" id="{1A17342D-9888-1FD4-9075-34EFDE43EA37}"/>
              </a:ext>
            </a:extLst>
          </p:cNvPr>
          <p:cNvGrpSpPr>
            <a:grpSpLocks/>
          </p:cNvGrpSpPr>
          <p:nvPr/>
        </p:nvGrpSpPr>
        <p:grpSpPr bwMode="auto">
          <a:xfrm>
            <a:off x="2721337" y="1544979"/>
            <a:ext cx="3631044" cy="1030638"/>
            <a:chOff x="1353" y="1536"/>
            <a:chExt cx="797" cy="294"/>
          </a:xfrm>
        </p:grpSpPr>
        <p:sp>
          <p:nvSpPr>
            <p:cNvPr id="72" name="Text Box 17">
              <a:extLst>
                <a:ext uri="{FF2B5EF4-FFF2-40B4-BE49-F238E27FC236}">
                  <a16:creationId xmlns:a16="http://schemas.microsoft.com/office/drawing/2014/main" id="{F76E3F11-AB1D-038B-14CD-D5E652BD0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1564"/>
              <a:ext cx="19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+1</a:t>
              </a:r>
            </a:p>
          </p:txBody>
        </p:sp>
        <p:grpSp>
          <p:nvGrpSpPr>
            <p:cNvPr id="73" name="Group 22">
              <a:extLst>
                <a:ext uri="{FF2B5EF4-FFF2-40B4-BE49-F238E27FC236}">
                  <a16:creationId xmlns:a16="http://schemas.microsoft.com/office/drawing/2014/main" id="{C2960209-0C63-0056-83F5-D1B2D70B1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95" name="Rectangle 18">
                <a:extLst>
                  <a:ext uri="{FF2B5EF4-FFF2-40B4-BE49-F238E27FC236}">
                    <a16:creationId xmlns:a16="http://schemas.microsoft.com/office/drawing/2014/main" id="{0D971DF9-F6F5-B297-546A-254251830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360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" name="Line 20">
                <a:extLst>
                  <a:ext uri="{FF2B5EF4-FFF2-40B4-BE49-F238E27FC236}">
                    <a16:creationId xmlns:a16="http://schemas.microsoft.com/office/drawing/2014/main" id="{45FE6E61-0263-639F-E517-604A52DC7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360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7" name="Line 21">
                <a:extLst>
                  <a:ext uri="{FF2B5EF4-FFF2-40B4-BE49-F238E27FC236}">
                    <a16:creationId xmlns:a16="http://schemas.microsoft.com/office/drawing/2014/main" id="{07C74889-3EB6-D17D-31BB-D5C12C79E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360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74" name="Group 23">
              <a:extLst>
                <a:ext uri="{FF2B5EF4-FFF2-40B4-BE49-F238E27FC236}">
                  <a16:creationId xmlns:a16="http://schemas.microsoft.com/office/drawing/2014/main" id="{306232B6-90A0-A60A-F54A-19C43E7480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92" name="Rectangle 24">
                <a:extLst>
                  <a:ext uri="{FF2B5EF4-FFF2-40B4-BE49-F238E27FC236}">
                    <a16:creationId xmlns:a16="http://schemas.microsoft.com/office/drawing/2014/main" id="{3C651572-AB2D-D0C0-0733-680A72118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360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" name="Line 25">
                <a:extLst>
                  <a:ext uri="{FF2B5EF4-FFF2-40B4-BE49-F238E27FC236}">
                    <a16:creationId xmlns:a16="http://schemas.microsoft.com/office/drawing/2014/main" id="{20A491D5-3AFA-2DA5-67DB-7CE4033B4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360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4" name="Line 26">
                <a:extLst>
                  <a:ext uri="{FF2B5EF4-FFF2-40B4-BE49-F238E27FC236}">
                    <a16:creationId xmlns:a16="http://schemas.microsoft.com/office/drawing/2014/main" id="{CCA26312-A814-FB69-1D0D-FC9D02073C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360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75" name="Rectangle 27">
              <a:extLst>
                <a:ext uri="{FF2B5EF4-FFF2-40B4-BE49-F238E27FC236}">
                  <a16:creationId xmlns:a16="http://schemas.microsoft.com/office/drawing/2014/main" id="{121EBBE8-40DF-1F2A-2ED0-132027C77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686"/>
              <a:ext cx="81" cy="1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360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76" name="Rectangle 28">
              <a:extLst>
                <a:ext uri="{FF2B5EF4-FFF2-40B4-BE49-F238E27FC236}">
                  <a16:creationId xmlns:a16="http://schemas.microsoft.com/office/drawing/2014/main" id="{E1EBC96E-E0B1-8A2D-49AD-34C74E43A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1536"/>
              <a:ext cx="81" cy="1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360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77" name="Text Box 29">
              <a:extLst>
                <a:ext uri="{FF2B5EF4-FFF2-40B4-BE49-F238E27FC236}">
                  <a16:creationId xmlns:a16="http://schemas.microsoft.com/office/drawing/2014/main" id="{4D0667AD-8CFE-18D0-AAFA-F3CEA58B2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" y="1564"/>
              <a:ext cx="19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+1</a:t>
              </a:r>
            </a:p>
          </p:txBody>
        </p:sp>
        <p:sp>
          <p:nvSpPr>
            <p:cNvPr id="78" name="Text Box 30">
              <a:extLst>
                <a:ext uri="{FF2B5EF4-FFF2-40B4-BE49-F238E27FC236}">
                  <a16:creationId xmlns:a16="http://schemas.microsoft.com/office/drawing/2014/main" id="{F1A8B266-18B0-FA47-FA02-9FCCC1445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" y="1566"/>
              <a:ext cx="19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+1</a:t>
              </a:r>
            </a:p>
          </p:txBody>
        </p:sp>
        <p:sp>
          <p:nvSpPr>
            <p:cNvPr id="79" name="Text Box 31">
              <a:extLst>
                <a:ext uri="{FF2B5EF4-FFF2-40B4-BE49-F238E27FC236}">
                  <a16:creationId xmlns:a16="http://schemas.microsoft.com/office/drawing/2014/main" id="{6DF5FE61-ECF1-B283-C03B-7FD1B8373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1564"/>
              <a:ext cx="19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+1</a:t>
              </a:r>
            </a:p>
          </p:txBody>
        </p:sp>
        <p:sp>
          <p:nvSpPr>
            <p:cNvPr id="98" name="Text Box 17">
              <a:extLst>
                <a:ext uri="{FF2B5EF4-FFF2-40B4-BE49-F238E27FC236}">
                  <a16:creationId xmlns:a16="http://schemas.microsoft.com/office/drawing/2014/main" id="{83EB0E58-EA2A-3FAF-1686-AC41D4690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5" y="1714"/>
              <a:ext cx="19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99" name="Text Box 29">
              <a:extLst>
                <a:ext uri="{FF2B5EF4-FFF2-40B4-BE49-F238E27FC236}">
                  <a16:creationId xmlns:a16="http://schemas.microsoft.com/office/drawing/2014/main" id="{F33CA010-8045-E235-132B-1805333CB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1714"/>
              <a:ext cx="19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100" name="Text Box 31">
              <a:extLst>
                <a:ext uri="{FF2B5EF4-FFF2-40B4-BE49-F238E27FC236}">
                  <a16:creationId xmlns:a16="http://schemas.microsoft.com/office/drawing/2014/main" id="{C50005F9-77EA-82CB-5EE2-14EF0A8E8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1720"/>
              <a:ext cx="19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CB9293-D129-BA4F-E15A-5F69C6771951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79398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encode/decode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8C74746-FD70-71EA-F6AF-88F26819C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/>
              <a:pPr/>
              <a:t>45</a:t>
            </a:fld>
            <a:endParaRPr lang="en-US" dirty="0"/>
          </a:p>
        </p:txBody>
      </p:sp>
      <p:sp>
        <p:nvSpPr>
          <p:cNvPr id="433" name="Line 6">
            <a:extLst>
              <a:ext uri="{FF2B5EF4-FFF2-40B4-BE49-F238E27FC236}">
                <a16:creationId xmlns:a16="http://schemas.microsoft.com/office/drawing/2014/main" id="{7762FDF6-2446-3E43-8720-E7B7AA18D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8513" y="1058097"/>
            <a:ext cx="0" cy="1218010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4" name="Line 9">
            <a:extLst>
              <a:ext uri="{FF2B5EF4-FFF2-40B4-BE49-F238E27FC236}">
                <a16:creationId xmlns:a16="http://schemas.microsoft.com/office/drawing/2014/main" id="{7FF576EE-0D7F-AC4E-AD6B-1AACED8038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1469" y="1040237"/>
            <a:ext cx="0" cy="1218009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Text Box 10">
            <a:extLst>
              <a:ext uri="{FF2B5EF4-FFF2-40B4-BE49-F238E27FC236}">
                <a16:creationId xmlns:a16="http://schemas.microsoft.com/office/drawing/2014/main" id="{F21423CE-6E23-864D-AE72-4B27CF519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816" y="2114182"/>
            <a:ext cx="551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436" name="Text Box 11">
            <a:extLst>
              <a:ext uri="{FF2B5EF4-FFF2-40B4-BE49-F238E27FC236}">
                <a16:creationId xmlns:a16="http://schemas.microsoft.com/office/drawing/2014/main" id="{A41B6EA9-EE6C-C949-81EA-16B63EA5A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197" y="2117753"/>
            <a:ext cx="551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</p:txBody>
      </p:sp>
      <p:grpSp>
        <p:nvGrpSpPr>
          <p:cNvPr id="437" name="Group 150">
            <a:extLst>
              <a:ext uri="{FF2B5EF4-FFF2-40B4-BE49-F238E27FC236}">
                <a16:creationId xmlns:a16="http://schemas.microsoft.com/office/drawing/2014/main" id="{6846776D-29A4-C047-BD8B-B36F67C3A5FE}"/>
              </a:ext>
            </a:extLst>
          </p:cNvPr>
          <p:cNvGrpSpPr>
            <a:grpSpLocks/>
          </p:cNvGrpSpPr>
          <p:nvPr/>
        </p:nvGrpSpPr>
        <p:grpSpPr bwMode="auto">
          <a:xfrm>
            <a:off x="2487216" y="990231"/>
            <a:ext cx="940594" cy="1218009"/>
            <a:chOff x="1313" y="921"/>
            <a:chExt cx="790" cy="1023"/>
          </a:xfrm>
        </p:grpSpPr>
        <p:sp>
          <p:nvSpPr>
            <p:cNvPr id="438" name="Line 5">
              <a:extLst>
                <a:ext uri="{FF2B5EF4-FFF2-40B4-BE49-F238E27FC236}">
                  <a16:creationId xmlns:a16="http://schemas.microsoft.com/office/drawing/2014/main" id="{298CDB05-EA65-C643-BE8E-B0FC9ED10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0" y="921"/>
              <a:ext cx="0" cy="1023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Rectangle 12">
              <a:extLst>
                <a:ext uri="{FF2B5EF4-FFF2-40B4-BE49-F238E27FC236}">
                  <a16:creationId xmlns:a16="http://schemas.microsoft.com/office/drawing/2014/main" id="{73F94AD3-1AF6-7648-ACBC-E99C83041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1218"/>
              <a:ext cx="678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Text Box 15">
              <a:extLst>
                <a:ext uri="{FF2B5EF4-FFF2-40B4-BE49-F238E27FC236}">
                  <a16:creationId xmlns:a16="http://schemas.microsoft.com/office/drawing/2014/main" id="{FDFC6C2A-B275-2E40-AB84-586BF299A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" y="1194"/>
              <a:ext cx="4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  <a:r>
                <a:rPr lang="en-US" sz="90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= -1</a:t>
              </a:r>
            </a:p>
          </p:txBody>
        </p:sp>
        <p:grpSp>
          <p:nvGrpSpPr>
            <p:cNvPr id="441" name="Group 44">
              <a:extLst>
                <a:ext uri="{FF2B5EF4-FFF2-40B4-BE49-F238E27FC236}">
                  <a16:creationId xmlns:a16="http://schemas.microsoft.com/office/drawing/2014/main" id="{620B35C5-24A4-114D-85B0-D738F3EFE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3" y="1534"/>
              <a:ext cx="790" cy="327"/>
              <a:chOff x="1313" y="1534"/>
              <a:chExt cx="790" cy="327"/>
            </a:xfrm>
          </p:grpSpPr>
          <p:sp>
            <p:nvSpPr>
              <p:cNvPr id="442" name="Text Box 17">
                <a:extLst>
                  <a:ext uri="{FF2B5EF4-FFF2-40B4-BE49-F238E27FC236}">
                    <a16:creationId xmlns:a16="http://schemas.microsoft.com/office/drawing/2014/main" id="{D9299C94-75F7-9140-809B-1C978D457B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43" name="Group 22">
                <a:extLst>
                  <a:ext uri="{FF2B5EF4-FFF2-40B4-BE49-F238E27FC236}">
                    <a16:creationId xmlns:a16="http://schemas.microsoft.com/office/drawing/2014/main" id="{214F67F6-3FDE-8047-BC27-C89C3A746B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65" name="Rectangle 18">
                  <a:extLst>
                    <a:ext uri="{FF2B5EF4-FFF2-40B4-BE49-F238E27FC236}">
                      <a16:creationId xmlns:a16="http://schemas.microsoft.com/office/drawing/2014/main" id="{F33FF9ED-6258-7C4C-8407-7E5188843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6" name="Line 20">
                  <a:extLst>
                    <a:ext uri="{FF2B5EF4-FFF2-40B4-BE49-F238E27FC236}">
                      <a16:creationId xmlns:a16="http://schemas.microsoft.com/office/drawing/2014/main" id="{8DAF169B-00F5-C44B-BE4B-053B39BF6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7" name="Line 21">
                  <a:extLst>
                    <a:ext uri="{FF2B5EF4-FFF2-40B4-BE49-F238E27FC236}">
                      <a16:creationId xmlns:a16="http://schemas.microsoft.com/office/drawing/2014/main" id="{4E33F495-B46C-9241-A64D-B0EF942E31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444" name="Group 23">
                <a:extLst>
                  <a:ext uri="{FF2B5EF4-FFF2-40B4-BE49-F238E27FC236}">
                    <a16:creationId xmlns:a16="http://schemas.microsoft.com/office/drawing/2014/main" id="{FAA1AE6D-1DD4-9945-A0CB-C68D4A3488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62" name="Rectangle 24">
                  <a:extLst>
                    <a:ext uri="{FF2B5EF4-FFF2-40B4-BE49-F238E27FC236}">
                      <a16:creationId xmlns:a16="http://schemas.microsoft.com/office/drawing/2014/main" id="{1FCDE583-D600-254E-99DE-D2181719DD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3" name="Line 25">
                  <a:extLst>
                    <a:ext uri="{FF2B5EF4-FFF2-40B4-BE49-F238E27FC236}">
                      <a16:creationId xmlns:a16="http://schemas.microsoft.com/office/drawing/2014/main" id="{C2051F1D-3C16-E547-A5D4-D8A4430C42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4" name="Line 26">
                  <a:extLst>
                    <a:ext uri="{FF2B5EF4-FFF2-40B4-BE49-F238E27FC236}">
                      <a16:creationId xmlns:a16="http://schemas.microsoft.com/office/drawing/2014/main" id="{17BF4814-60F3-AF49-9AB3-8BF777875C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445" name="Rectangle 27">
                <a:extLst>
                  <a:ext uri="{FF2B5EF4-FFF2-40B4-BE49-F238E27FC236}">
                    <a16:creationId xmlns:a16="http://schemas.microsoft.com/office/drawing/2014/main" id="{2F9F07B4-F807-DC43-81F3-2B98B5DD3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6" name="Rectangle 28">
                <a:extLst>
                  <a:ext uri="{FF2B5EF4-FFF2-40B4-BE49-F238E27FC236}">
                    <a16:creationId xmlns:a16="http://schemas.microsoft.com/office/drawing/2014/main" id="{5D5AE67B-DA7D-4148-A6F1-6F2DAC8E5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Text Box 29">
                <a:extLst>
                  <a:ext uri="{FF2B5EF4-FFF2-40B4-BE49-F238E27FC236}">
                    <a16:creationId xmlns:a16="http://schemas.microsoft.com/office/drawing/2014/main" id="{7D4ABC69-0943-C04C-8F80-0C2C27F974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48" name="Text Box 30">
                <a:extLst>
                  <a:ext uri="{FF2B5EF4-FFF2-40B4-BE49-F238E27FC236}">
                    <a16:creationId xmlns:a16="http://schemas.microsoft.com/office/drawing/2014/main" id="{FCAC0F1B-7D40-4D48-988E-62CA122B3B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49" name="Text Box 31">
                <a:extLst>
                  <a:ext uri="{FF2B5EF4-FFF2-40B4-BE49-F238E27FC236}">
                    <a16:creationId xmlns:a16="http://schemas.microsoft.com/office/drawing/2014/main" id="{58D710FC-A6D0-DE48-8114-5D123595ED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50" name="Group 34">
                <a:extLst>
                  <a:ext uri="{FF2B5EF4-FFF2-40B4-BE49-F238E27FC236}">
                    <a16:creationId xmlns:a16="http://schemas.microsoft.com/office/drawing/2014/main" id="{501B0E84-8694-EB45-A55B-2EC8DA94C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77"/>
                <a:chOff x="857" y="1909"/>
                <a:chExt cx="211" cy="177"/>
              </a:xfrm>
            </p:grpSpPr>
            <p:sp>
              <p:nvSpPr>
                <p:cNvPr id="460" name="Text Box 32">
                  <a:extLst>
                    <a:ext uri="{FF2B5EF4-FFF2-40B4-BE49-F238E27FC236}">
                      <a16:creationId xmlns:a16="http://schemas.microsoft.com/office/drawing/2014/main" id="{8089FA46-9789-8647-BC35-547EC42796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61" name="Text Box 33">
                  <a:extLst>
                    <a:ext uri="{FF2B5EF4-FFF2-40B4-BE49-F238E27FC236}">
                      <a16:creationId xmlns:a16="http://schemas.microsoft.com/office/drawing/2014/main" id="{D95592B2-E1FA-C74C-A9D9-834ECBACDA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51" name="Group 35">
                <a:extLst>
                  <a:ext uri="{FF2B5EF4-FFF2-40B4-BE49-F238E27FC236}">
                    <a16:creationId xmlns:a16="http://schemas.microsoft.com/office/drawing/2014/main" id="{63E295A7-CAC4-F042-A8A0-CCC2561BAD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77"/>
                <a:chOff x="857" y="1909"/>
                <a:chExt cx="211" cy="177"/>
              </a:xfrm>
            </p:grpSpPr>
            <p:sp>
              <p:nvSpPr>
                <p:cNvPr id="458" name="Text Box 36">
                  <a:extLst>
                    <a:ext uri="{FF2B5EF4-FFF2-40B4-BE49-F238E27FC236}">
                      <a16:creationId xmlns:a16="http://schemas.microsoft.com/office/drawing/2014/main" id="{76BB4A8D-686F-7549-90E4-A7A4920687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59" name="Text Box 37">
                  <a:extLst>
                    <a:ext uri="{FF2B5EF4-FFF2-40B4-BE49-F238E27FC236}">
                      <a16:creationId xmlns:a16="http://schemas.microsoft.com/office/drawing/2014/main" id="{8B0DB3A2-A517-2745-8A5A-F945D68DA2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52" name="Group 38">
                <a:extLst>
                  <a:ext uri="{FF2B5EF4-FFF2-40B4-BE49-F238E27FC236}">
                    <a16:creationId xmlns:a16="http://schemas.microsoft.com/office/drawing/2014/main" id="{F32C298A-F2D4-554C-BB2B-99BB428985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77"/>
                <a:chOff x="857" y="1909"/>
                <a:chExt cx="211" cy="177"/>
              </a:xfrm>
            </p:grpSpPr>
            <p:sp>
              <p:nvSpPr>
                <p:cNvPr id="456" name="Text Box 39">
                  <a:extLst>
                    <a:ext uri="{FF2B5EF4-FFF2-40B4-BE49-F238E27FC236}">
                      <a16:creationId xmlns:a16="http://schemas.microsoft.com/office/drawing/2014/main" id="{8FF829E5-BFCB-0044-9F06-4F7E546B13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57" name="Text Box 40">
                  <a:extLst>
                    <a:ext uri="{FF2B5EF4-FFF2-40B4-BE49-F238E27FC236}">
                      <a16:creationId xmlns:a16="http://schemas.microsoft.com/office/drawing/2014/main" id="{7C871CD8-B8EC-7543-B152-F90DC3DD4A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53" name="Group 41">
                <a:extLst>
                  <a:ext uri="{FF2B5EF4-FFF2-40B4-BE49-F238E27FC236}">
                    <a16:creationId xmlns:a16="http://schemas.microsoft.com/office/drawing/2014/main" id="{F7ECB9A7-BD9E-5E4C-8270-1B0BCAEC87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77"/>
                <a:chOff x="857" y="1909"/>
                <a:chExt cx="211" cy="177"/>
              </a:xfrm>
            </p:grpSpPr>
            <p:sp>
              <p:nvSpPr>
                <p:cNvPr id="454" name="Text Box 42">
                  <a:extLst>
                    <a:ext uri="{FF2B5EF4-FFF2-40B4-BE49-F238E27FC236}">
                      <a16:creationId xmlns:a16="http://schemas.microsoft.com/office/drawing/2014/main" id="{C7316287-4A39-D14E-8F12-0DA18DE154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55" name="Text Box 43">
                  <a:extLst>
                    <a:ext uri="{FF2B5EF4-FFF2-40B4-BE49-F238E27FC236}">
                      <a16:creationId xmlns:a16="http://schemas.microsoft.com/office/drawing/2014/main" id="{90338192-1AC0-F541-8076-9A2DA09835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468" name="Oval 74">
            <a:extLst>
              <a:ext uri="{FF2B5EF4-FFF2-40B4-BE49-F238E27FC236}">
                <a16:creationId xmlns:a16="http://schemas.microsoft.com/office/drawing/2014/main" id="{2E9A3032-BE8B-1C49-B0F1-EC8B694AF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35" y="1285506"/>
            <a:ext cx="314325" cy="317897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69" name="Text Box 75">
            <a:extLst>
              <a:ext uri="{FF2B5EF4-FFF2-40B4-BE49-F238E27FC236}">
                <a16:creationId xmlns:a16="http://schemas.microsoft.com/office/drawing/2014/main" id="{0BB37E38-B9DF-9E49-B766-E2CC92FA5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138" y="977134"/>
            <a:ext cx="94128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Z</a:t>
            </a:r>
            <a:r>
              <a:rPr lang="en-US" sz="1350" kern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i,m</a:t>
            </a: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= d</a:t>
            </a:r>
            <a:r>
              <a:rPr lang="en-US" sz="1350" kern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</a:t>
            </a:r>
            <a:r>
              <a:rPr lang="en-US" sz="1800" kern="1200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.</a:t>
            </a: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</a:t>
            </a:r>
            <a:r>
              <a:rPr lang="en-US" sz="1350" kern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470" name="Line 72">
            <a:extLst>
              <a:ext uri="{FF2B5EF4-FFF2-40B4-BE49-F238E27FC236}">
                <a16:creationId xmlns:a16="http://schemas.microsoft.com/office/drawing/2014/main" id="{BC43B2B9-12AD-EC46-820A-AFE3E55AC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3617" y="1383137"/>
            <a:ext cx="239315" cy="357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71" name="Line 73">
            <a:extLst>
              <a:ext uri="{FF2B5EF4-FFF2-40B4-BE49-F238E27FC236}">
                <a16:creationId xmlns:a16="http://schemas.microsoft.com/office/drawing/2014/main" id="{85727131-C2E9-C349-8881-7ABC635F15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4332" y="1581972"/>
            <a:ext cx="302419" cy="32266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472" name="Group 149">
            <a:extLst>
              <a:ext uri="{FF2B5EF4-FFF2-40B4-BE49-F238E27FC236}">
                <a16:creationId xmlns:a16="http://schemas.microsoft.com/office/drawing/2014/main" id="{C585C5CA-68B1-BB4E-9864-EB34280502EA}"/>
              </a:ext>
            </a:extLst>
          </p:cNvPr>
          <p:cNvGrpSpPr>
            <a:grpSpLocks/>
          </p:cNvGrpSpPr>
          <p:nvPr/>
        </p:nvGrpSpPr>
        <p:grpSpPr bwMode="auto">
          <a:xfrm>
            <a:off x="3280173" y="1165251"/>
            <a:ext cx="940594" cy="951309"/>
            <a:chOff x="1979" y="1068"/>
            <a:chExt cx="790" cy="799"/>
          </a:xfrm>
        </p:grpSpPr>
        <p:sp>
          <p:nvSpPr>
            <p:cNvPr id="473" name="Rectangle 13">
              <a:extLst>
                <a:ext uri="{FF2B5EF4-FFF2-40B4-BE49-F238E27FC236}">
                  <a16:creationId xmlns:a16="http://schemas.microsoft.com/office/drawing/2014/main" id="{02E9E941-0BA7-764F-8B43-DFBC642E1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1092"/>
              <a:ext cx="669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74" name="Text Box 16">
              <a:extLst>
                <a:ext uri="{FF2B5EF4-FFF2-40B4-BE49-F238E27FC236}">
                  <a16:creationId xmlns:a16="http://schemas.microsoft.com/office/drawing/2014/main" id="{0EF61151-3B6A-CE47-8350-806B6069C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6" y="1068"/>
              <a:ext cx="41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  <a:r>
                <a:rPr lang="en-US" sz="90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0</a:t>
              </a: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= 1</a:t>
              </a:r>
            </a:p>
          </p:txBody>
        </p:sp>
        <p:grpSp>
          <p:nvGrpSpPr>
            <p:cNvPr id="475" name="Group 45">
              <a:extLst>
                <a:ext uri="{FF2B5EF4-FFF2-40B4-BE49-F238E27FC236}">
                  <a16:creationId xmlns:a16="http://schemas.microsoft.com/office/drawing/2014/main" id="{79869314-64B7-E34C-A1B8-757A5CF98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40"/>
              <a:ext cx="790" cy="327"/>
              <a:chOff x="1313" y="1534"/>
              <a:chExt cx="790" cy="327"/>
            </a:xfrm>
          </p:grpSpPr>
          <p:sp>
            <p:nvSpPr>
              <p:cNvPr id="476" name="Text Box 46">
                <a:extLst>
                  <a:ext uri="{FF2B5EF4-FFF2-40B4-BE49-F238E27FC236}">
                    <a16:creationId xmlns:a16="http://schemas.microsoft.com/office/drawing/2014/main" id="{03961088-2A11-7F4E-8842-C9CA2AD64C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77" name="Group 47">
                <a:extLst>
                  <a:ext uri="{FF2B5EF4-FFF2-40B4-BE49-F238E27FC236}">
                    <a16:creationId xmlns:a16="http://schemas.microsoft.com/office/drawing/2014/main" id="{397276D5-DAB7-034A-A41F-22ED1B48A1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99" name="Rectangle 48">
                  <a:extLst>
                    <a:ext uri="{FF2B5EF4-FFF2-40B4-BE49-F238E27FC236}">
                      <a16:creationId xmlns:a16="http://schemas.microsoft.com/office/drawing/2014/main" id="{28221CCC-7B2A-F645-AA0B-F0AE733DA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00" name="Line 49">
                  <a:extLst>
                    <a:ext uri="{FF2B5EF4-FFF2-40B4-BE49-F238E27FC236}">
                      <a16:creationId xmlns:a16="http://schemas.microsoft.com/office/drawing/2014/main" id="{26F151E4-8C8C-4744-965D-20575E1C46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01" name="Line 50">
                  <a:extLst>
                    <a:ext uri="{FF2B5EF4-FFF2-40B4-BE49-F238E27FC236}">
                      <a16:creationId xmlns:a16="http://schemas.microsoft.com/office/drawing/2014/main" id="{F25B3B25-4EDD-3145-8F9E-1EFDC0400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478" name="Group 51">
                <a:extLst>
                  <a:ext uri="{FF2B5EF4-FFF2-40B4-BE49-F238E27FC236}">
                    <a16:creationId xmlns:a16="http://schemas.microsoft.com/office/drawing/2014/main" id="{9036F2B7-EE94-474F-81F2-0DD9B42B08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96" name="Rectangle 52">
                  <a:extLst>
                    <a:ext uri="{FF2B5EF4-FFF2-40B4-BE49-F238E27FC236}">
                      <a16:creationId xmlns:a16="http://schemas.microsoft.com/office/drawing/2014/main" id="{A92E2B96-CF33-6641-9757-40AEB75C7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97" name="Line 53">
                  <a:extLst>
                    <a:ext uri="{FF2B5EF4-FFF2-40B4-BE49-F238E27FC236}">
                      <a16:creationId xmlns:a16="http://schemas.microsoft.com/office/drawing/2014/main" id="{EAA582F0-6D7C-6349-9FAE-A71623BFB5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98" name="Line 54">
                  <a:extLst>
                    <a:ext uri="{FF2B5EF4-FFF2-40B4-BE49-F238E27FC236}">
                      <a16:creationId xmlns:a16="http://schemas.microsoft.com/office/drawing/2014/main" id="{01BE827C-6C93-254E-8F86-C7B1DBE920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479" name="Rectangle 55">
                <a:extLst>
                  <a:ext uri="{FF2B5EF4-FFF2-40B4-BE49-F238E27FC236}">
                    <a16:creationId xmlns:a16="http://schemas.microsoft.com/office/drawing/2014/main" id="{AF7AC18E-87F1-8240-A21F-130D275FA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0" name="Rectangle 56">
                <a:extLst>
                  <a:ext uri="{FF2B5EF4-FFF2-40B4-BE49-F238E27FC236}">
                    <a16:creationId xmlns:a16="http://schemas.microsoft.com/office/drawing/2014/main" id="{4E20B8E2-3A55-3C43-A84F-5CC765ABF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1" name="Text Box 57">
                <a:extLst>
                  <a:ext uri="{FF2B5EF4-FFF2-40B4-BE49-F238E27FC236}">
                    <a16:creationId xmlns:a16="http://schemas.microsoft.com/office/drawing/2014/main" id="{A550B1AC-6F61-F543-AE39-E99A37266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82" name="Text Box 58">
                <a:extLst>
                  <a:ext uri="{FF2B5EF4-FFF2-40B4-BE49-F238E27FC236}">
                    <a16:creationId xmlns:a16="http://schemas.microsoft.com/office/drawing/2014/main" id="{EB75473D-62D9-F443-9E7B-430EAEF0F4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83" name="Text Box 59">
                <a:extLst>
                  <a:ext uri="{FF2B5EF4-FFF2-40B4-BE49-F238E27FC236}">
                    <a16:creationId xmlns:a16="http://schemas.microsoft.com/office/drawing/2014/main" id="{AB60BDE7-949C-D445-BB9D-E9BE2FCE13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4" name="Group 60">
                <a:extLst>
                  <a:ext uri="{FF2B5EF4-FFF2-40B4-BE49-F238E27FC236}">
                    <a16:creationId xmlns:a16="http://schemas.microsoft.com/office/drawing/2014/main" id="{179F852E-E8A4-4641-9283-1EE99E62EA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77"/>
                <a:chOff x="857" y="1909"/>
                <a:chExt cx="211" cy="177"/>
              </a:xfrm>
            </p:grpSpPr>
            <p:sp>
              <p:nvSpPr>
                <p:cNvPr id="494" name="Text Box 61">
                  <a:extLst>
                    <a:ext uri="{FF2B5EF4-FFF2-40B4-BE49-F238E27FC236}">
                      <a16:creationId xmlns:a16="http://schemas.microsoft.com/office/drawing/2014/main" id="{54C4130B-3870-314F-BD3A-D753218D03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95" name="Text Box 62">
                  <a:extLst>
                    <a:ext uri="{FF2B5EF4-FFF2-40B4-BE49-F238E27FC236}">
                      <a16:creationId xmlns:a16="http://schemas.microsoft.com/office/drawing/2014/main" id="{D695BAC2-BA7C-5943-A91C-17B3199593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5" name="Group 63">
                <a:extLst>
                  <a:ext uri="{FF2B5EF4-FFF2-40B4-BE49-F238E27FC236}">
                    <a16:creationId xmlns:a16="http://schemas.microsoft.com/office/drawing/2014/main" id="{C23C5F09-57DF-9341-952D-6ECA49FEEA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77"/>
                <a:chOff x="857" y="1909"/>
                <a:chExt cx="211" cy="177"/>
              </a:xfrm>
            </p:grpSpPr>
            <p:sp>
              <p:nvSpPr>
                <p:cNvPr id="492" name="Text Box 64">
                  <a:extLst>
                    <a:ext uri="{FF2B5EF4-FFF2-40B4-BE49-F238E27FC236}">
                      <a16:creationId xmlns:a16="http://schemas.microsoft.com/office/drawing/2014/main" id="{7DC2EED0-74D1-DC40-B394-CBB37DA6C8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93" name="Text Box 65">
                  <a:extLst>
                    <a:ext uri="{FF2B5EF4-FFF2-40B4-BE49-F238E27FC236}">
                      <a16:creationId xmlns:a16="http://schemas.microsoft.com/office/drawing/2014/main" id="{292F6DEC-C557-9145-8A8A-19E2E9B275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6" name="Group 66">
                <a:extLst>
                  <a:ext uri="{FF2B5EF4-FFF2-40B4-BE49-F238E27FC236}">
                    <a16:creationId xmlns:a16="http://schemas.microsoft.com/office/drawing/2014/main" id="{8C21A7E2-D5AD-9F48-A061-6DB80E8504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77"/>
                <a:chOff x="857" y="1909"/>
                <a:chExt cx="211" cy="177"/>
              </a:xfrm>
            </p:grpSpPr>
            <p:sp>
              <p:nvSpPr>
                <p:cNvPr id="490" name="Text Box 67">
                  <a:extLst>
                    <a:ext uri="{FF2B5EF4-FFF2-40B4-BE49-F238E27FC236}">
                      <a16:creationId xmlns:a16="http://schemas.microsoft.com/office/drawing/2014/main" id="{AAA02C61-C7E2-5342-B256-30B490BB7E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91" name="Text Box 68">
                  <a:extLst>
                    <a:ext uri="{FF2B5EF4-FFF2-40B4-BE49-F238E27FC236}">
                      <a16:creationId xmlns:a16="http://schemas.microsoft.com/office/drawing/2014/main" id="{715A50D5-39D5-D64C-BF57-F3524495D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7" name="Group 69">
                <a:extLst>
                  <a:ext uri="{FF2B5EF4-FFF2-40B4-BE49-F238E27FC236}">
                    <a16:creationId xmlns:a16="http://schemas.microsoft.com/office/drawing/2014/main" id="{E7996A31-06BD-0449-9DF3-FB1EABAC1E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77"/>
                <a:chOff x="857" y="1909"/>
                <a:chExt cx="211" cy="177"/>
              </a:xfrm>
            </p:grpSpPr>
            <p:sp>
              <p:nvSpPr>
                <p:cNvPr id="488" name="Text Box 70">
                  <a:extLst>
                    <a:ext uri="{FF2B5EF4-FFF2-40B4-BE49-F238E27FC236}">
                      <a16:creationId xmlns:a16="http://schemas.microsoft.com/office/drawing/2014/main" id="{7D8F55AA-BD89-4B4F-8657-D53FEE6835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89" name="Text Box 71">
                  <a:extLst>
                    <a:ext uri="{FF2B5EF4-FFF2-40B4-BE49-F238E27FC236}">
                      <a16:creationId xmlns:a16="http://schemas.microsoft.com/office/drawing/2014/main" id="{6164D5ED-940F-494E-B970-3FDD51FDC9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502" name="Group 76">
            <a:extLst>
              <a:ext uri="{FF2B5EF4-FFF2-40B4-BE49-F238E27FC236}">
                <a16:creationId xmlns:a16="http://schemas.microsoft.com/office/drawing/2014/main" id="{20334438-8464-EB47-86A8-A2BC8FF64C06}"/>
              </a:ext>
            </a:extLst>
          </p:cNvPr>
          <p:cNvGrpSpPr>
            <a:grpSpLocks/>
          </p:cNvGrpSpPr>
          <p:nvPr/>
        </p:nvGrpSpPr>
        <p:grpSpPr bwMode="auto">
          <a:xfrm>
            <a:off x="5769769" y="1266456"/>
            <a:ext cx="940594" cy="389334"/>
            <a:chOff x="1313" y="1534"/>
            <a:chExt cx="790" cy="327"/>
          </a:xfrm>
        </p:grpSpPr>
        <p:sp>
          <p:nvSpPr>
            <p:cNvPr id="503" name="Text Box 77">
              <a:extLst>
                <a:ext uri="{FF2B5EF4-FFF2-40B4-BE49-F238E27FC236}">
                  <a16:creationId xmlns:a16="http://schemas.microsoft.com/office/drawing/2014/main" id="{81128549-1A49-FB42-A2FB-218DBDC0A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1534"/>
              <a:ext cx="19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7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grpSp>
          <p:nvGrpSpPr>
            <p:cNvPr id="504" name="Group 78">
              <a:extLst>
                <a:ext uri="{FF2B5EF4-FFF2-40B4-BE49-F238E27FC236}">
                  <a16:creationId xmlns:a16="http://schemas.microsoft.com/office/drawing/2014/main" id="{2964FBCD-8FB9-E945-8C3B-8E6F872D1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526" name="Rectangle 79">
                <a:extLst>
                  <a:ext uri="{FF2B5EF4-FFF2-40B4-BE49-F238E27FC236}">
                    <a16:creationId xmlns:a16="http://schemas.microsoft.com/office/drawing/2014/main" id="{7462FA7C-D3CE-054D-A069-C279CDBA8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27" name="Line 80">
                <a:extLst>
                  <a:ext uri="{FF2B5EF4-FFF2-40B4-BE49-F238E27FC236}">
                    <a16:creationId xmlns:a16="http://schemas.microsoft.com/office/drawing/2014/main" id="{81522AC7-2848-4D4C-8E38-AEA52C27A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28" name="Line 81">
                <a:extLst>
                  <a:ext uri="{FF2B5EF4-FFF2-40B4-BE49-F238E27FC236}">
                    <a16:creationId xmlns:a16="http://schemas.microsoft.com/office/drawing/2014/main" id="{27ADB89D-E952-3A44-8E4A-9EC0AE0AA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505" name="Group 82">
              <a:extLst>
                <a:ext uri="{FF2B5EF4-FFF2-40B4-BE49-F238E27FC236}">
                  <a16:creationId xmlns:a16="http://schemas.microsoft.com/office/drawing/2014/main" id="{BE7695F2-15F5-5C41-9BB6-23E6B68390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523" name="Rectangle 83">
                <a:extLst>
                  <a:ext uri="{FF2B5EF4-FFF2-40B4-BE49-F238E27FC236}">
                    <a16:creationId xmlns:a16="http://schemas.microsoft.com/office/drawing/2014/main" id="{95B7CA97-1A34-BF42-8D2E-A12DBFD0A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24" name="Line 84">
                <a:extLst>
                  <a:ext uri="{FF2B5EF4-FFF2-40B4-BE49-F238E27FC236}">
                    <a16:creationId xmlns:a16="http://schemas.microsoft.com/office/drawing/2014/main" id="{02868D5B-3B0F-2B4E-A4CA-E6D61E747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25" name="Line 85">
                <a:extLst>
                  <a:ext uri="{FF2B5EF4-FFF2-40B4-BE49-F238E27FC236}">
                    <a16:creationId xmlns:a16="http://schemas.microsoft.com/office/drawing/2014/main" id="{E9F7A247-BC82-CF4E-A9AE-71550C103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6" name="Rectangle 86">
              <a:extLst>
                <a:ext uri="{FF2B5EF4-FFF2-40B4-BE49-F238E27FC236}">
                  <a16:creationId xmlns:a16="http://schemas.microsoft.com/office/drawing/2014/main" id="{165BCFD4-54CD-9A4C-B35D-F307B944F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686"/>
              <a:ext cx="81" cy="1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07" name="Rectangle 87">
              <a:extLst>
                <a:ext uri="{FF2B5EF4-FFF2-40B4-BE49-F238E27FC236}">
                  <a16:creationId xmlns:a16="http://schemas.microsoft.com/office/drawing/2014/main" id="{103C25CA-8C85-EF45-9DE3-9AC9FAAB1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1536"/>
              <a:ext cx="81" cy="1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08" name="Text Box 88">
              <a:extLst>
                <a:ext uri="{FF2B5EF4-FFF2-40B4-BE49-F238E27FC236}">
                  <a16:creationId xmlns:a16="http://schemas.microsoft.com/office/drawing/2014/main" id="{CBC34993-830F-2342-A03E-C8D4DC40A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" y="1534"/>
              <a:ext cx="19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7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509" name="Text Box 89">
              <a:extLst>
                <a:ext uri="{FF2B5EF4-FFF2-40B4-BE49-F238E27FC236}">
                  <a16:creationId xmlns:a16="http://schemas.microsoft.com/office/drawing/2014/main" id="{580E6E69-B86A-E843-AAEB-15A177CA9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8" y="1534"/>
              <a:ext cx="19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7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510" name="Text Box 90">
              <a:extLst>
                <a:ext uri="{FF2B5EF4-FFF2-40B4-BE49-F238E27FC236}">
                  <a16:creationId xmlns:a16="http://schemas.microsoft.com/office/drawing/2014/main" id="{646B9041-5953-8445-B1C1-10B646ECB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2" y="1540"/>
              <a:ext cx="19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7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grpSp>
          <p:nvGrpSpPr>
            <p:cNvPr id="511" name="Group 91">
              <a:extLst>
                <a:ext uri="{FF2B5EF4-FFF2-40B4-BE49-F238E27FC236}">
                  <a16:creationId xmlns:a16="http://schemas.microsoft.com/office/drawing/2014/main" id="{DBD42B90-F279-4E42-A664-F0D2882FD5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" y="1684"/>
              <a:ext cx="211" cy="177"/>
              <a:chOff x="857" y="1909"/>
              <a:chExt cx="211" cy="177"/>
            </a:xfrm>
          </p:grpSpPr>
          <p:sp>
            <p:nvSpPr>
              <p:cNvPr id="521" name="Text Box 92">
                <a:extLst>
                  <a:ext uri="{FF2B5EF4-FFF2-40B4-BE49-F238E27FC236}">
                    <a16:creationId xmlns:a16="http://schemas.microsoft.com/office/drawing/2014/main" id="{4873413D-A202-AD4D-AC40-069B24901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22" name="Text Box 93">
                <a:extLst>
                  <a:ext uri="{FF2B5EF4-FFF2-40B4-BE49-F238E27FC236}">
                    <a16:creationId xmlns:a16="http://schemas.microsoft.com/office/drawing/2014/main" id="{FF361EE3-8FAD-9741-818B-BB44D303E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512" name="Group 94">
              <a:extLst>
                <a:ext uri="{FF2B5EF4-FFF2-40B4-BE49-F238E27FC236}">
                  <a16:creationId xmlns:a16="http://schemas.microsoft.com/office/drawing/2014/main" id="{3988F06B-533E-C24B-ABD6-D3816676F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0" y="1684"/>
              <a:ext cx="211" cy="177"/>
              <a:chOff x="857" y="1909"/>
              <a:chExt cx="211" cy="177"/>
            </a:xfrm>
          </p:grpSpPr>
          <p:sp>
            <p:nvSpPr>
              <p:cNvPr id="519" name="Text Box 95">
                <a:extLst>
                  <a:ext uri="{FF2B5EF4-FFF2-40B4-BE49-F238E27FC236}">
                    <a16:creationId xmlns:a16="http://schemas.microsoft.com/office/drawing/2014/main" id="{A9E9C5EE-DA49-0D4B-9C69-9BB0109B9C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20" name="Text Box 96">
                <a:extLst>
                  <a:ext uri="{FF2B5EF4-FFF2-40B4-BE49-F238E27FC236}">
                    <a16:creationId xmlns:a16="http://schemas.microsoft.com/office/drawing/2014/main" id="{1AB2FC4D-C0AF-D145-9017-465A0E6BC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513" name="Group 97">
              <a:extLst>
                <a:ext uri="{FF2B5EF4-FFF2-40B4-BE49-F238E27FC236}">
                  <a16:creationId xmlns:a16="http://schemas.microsoft.com/office/drawing/2014/main" id="{857827E8-E8CA-7F44-9A6E-6FECEA9A4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8" y="1684"/>
              <a:ext cx="211" cy="177"/>
              <a:chOff x="857" y="1909"/>
              <a:chExt cx="211" cy="177"/>
            </a:xfrm>
          </p:grpSpPr>
          <p:sp>
            <p:nvSpPr>
              <p:cNvPr id="517" name="Text Box 98">
                <a:extLst>
                  <a:ext uri="{FF2B5EF4-FFF2-40B4-BE49-F238E27FC236}">
                    <a16:creationId xmlns:a16="http://schemas.microsoft.com/office/drawing/2014/main" id="{E9AF4070-3C34-144F-9D97-14D02A9FB3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18" name="Text Box 99">
                <a:extLst>
                  <a:ext uri="{FF2B5EF4-FFF2-40B4-BE49-F238E27FC236}">
                    <a16:creationId xmlns:a16="http://schemas.microsoft.com/office/drawing/2014/main" id="{B1F5DEFC-BF2D-FA47-B0D4-EFC262D995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514" name="Group 100">
              <a:extLst>
                <a:ext uri="{FF2B5EF4-FFF2-40B4-BE49-F238E27FC236}">
                  <a16:creationId xmlns:a16="http://schemas.microsoft.com/office/drawing/2014/main" id="{101C42A5-8BBE-0245-AFF1-1A49EA34E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2" y="1681"/>
              <a:ext cx="211" cy="177"/>
              <a:chOff x="857" y="1909"/>
              <a:chExt cx="211" cy="177"/>
            </a:xfrm>
          </p:grpSpPr>
          <p:sp>
            <p:nvSpPr>
              <p:cNvPr id="515" name="Text Box 101">
                <a:extLst>
                  <a:ext uri="{FF2B5EF4-FFF2-40B4-BE49-F238E27FC236}">
                    <a16:creationId xmlns:a16="http://schemas.microsoft.com/office/drawing/2014/main" id="{43732278-0AA5-BC43-BEE0-855D65A24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16" name="Text Box 102">
                <a:extLst>
                  <a:ext uri="{FF2B5EF4-FFF2-40B4-BE49-F238E27FC236}">
                    <a16:creationId xmlns:a16="http://schemas.microsoft.com/office/drawing/2014/main" id="{2E2F7175-E8E8-1146-B7EC-BAFBB11FC4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529" name="Group 136">
            <a:extLst>
              <a:ext uri="{FF2B5EF4-FFF2-40B4-BE49-F238E27FC236}">
                <a16:creationId xmlns:a16="http://schemas.microsoft.com/office/drawing/2014/main" id="{E786556A-EED0-5E48-B839-F5A27E677A23}"/>
              </a:ext>
            </a:extLst>
          </p:cNvPr>
          <p:cNvGrpSpPr>
            <a:grpSpLocks/>
          </p:cNvGrpSpPr>
          <p:nvPr/>
        </p:nvGrpSpPr>
        <p:grpSpPr bwMode="auto">
          <a:xfrm>
            <a:off x="4944666" y="1266456"/>
            <a:ext cx="937022" cy="389334"/>
            <a:chOff x="4928" y="1534"/>
            <a:chExt cx="787" cy="327"/>
          </a:xfrm>
        </p:grpSpPr>
        <p:grpSp>
          <p:nvGrpSpPr>
            <p:cNvPr id="530" name="Group 134">
              <a:extLst>
                <a:ext uri="{FF2B5EF4-FFF2-40B4-BE49-F238E27FC236}">
                  <a16:creationId xmlns:a16="http://schemas.microsoft.com/office/drawing/2014/main" id="{FA82BDD8-A025-A84F-8E06-391A9412E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4" y="1534"/>
              <a:ext cx="361" cy="174"/>
              <a:chOff x="5009" y="1132"/>
              <a:chExt cx="361" cy="174"/>
            </a:xfrm>
          </p:grpSpPr>
          <p:sp>
            <p:nvSpPr>
              <p:cNvPr id="554" name="Text Box 104">
                <a:extLst>
                  <a:ext uri="{FF2B5EF4-FFF2-40B4-BE49-F238E27FC236}">
                    <a16:creationId xmlns:a16="http://schemas.microsoft.com/office/drawing/2014/main" id="{BBB2F421-CBF5-5D41-A3EF-DECCF5FE96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9" y="1132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555" name="Group 105">
                <a:extLst>
                  <a:ext uri="{FF2B5EF4-FFF2-40B4-BE49-F238E27FC236}">
                    <a16:creationId xmlns:a16="http://schemas.microsoft.com/office/drawing/2014/main" id="{815F5BC5-BC28-FE47-818A-8500111A31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49" y="1137"/>
                <a:ext cx="258" cy="147"/>
                <a:chOff x="1353" y="1539"/>
                <a:chExt cx="258" cy="144"/>
              </a:xfrm>
            </p:grpSpPr>
            <p:sp>
              <p:nvSpPr>
                <p:cNvPr id="558" name="Rectangle 106">
                  <a:extLst>
                    <a:ext uri="{FF2B5EF4-FFF2-40B4-BE49-F238E27FC236}">
                      <a16:creationId xmlns:a16="http://schemas.microsoft.com/office/drawing/2014/main" id="{0EF76842-BB61-1042-83C7-A553FB5171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59" name="Line 107">
                  <a:extLst>
                    <a:ext uri="{FF2B5EF4-FFF2-40B4-BE49-F238E27FC236}">
                      <a16:creationId xmlns:a16="http://schemas.microsoft.com/office/drawing/2014/main" id="{9DD04AD7-763B-5949-97D2-3A1EE5AF42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0" name="Line 108">
                  <a:extLst>
                    <a:ext uri="{FF2B5EF4-FFF2-40B4-BE49-F238E27FC236}">
                      <a16:creationId xmlns:a16="http://schemas.microsoft.com/office/drawing/2014/main" id="{533BA7DD-1709-AB4F-B454-CC797B8494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556" name="Text Box 115">
                <a:extLst>
                  <a:ext uri="{FF2B5EF4-FFF2-40B4-BE49-F238E27FC236}">
                    <a16:creationId xmlns:a16="http://schemas.microsoft.com/office/drawing/2014/main" id="{4B107C4F-F407-0340-AFB4-7931923DA3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7" y="1132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57" name="Text Box 116">
                <a:extLst>
                  <a:ext uri="{FF2B5EF4-FFF2-40B4-BE49-F238E27FC236}">
                    <a16:creationId xmlns:a16="http://schemas.microsoft.com/office/drawing/2014/main" id="{C85C4C92-3D0A-9947-8AB1-F1215B786E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4" y="1132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</p:grpSp>
        <p:grpSp>
          <p:nvGrpSpPr>
            <p:cNvPr id="531" name="Group 135">
              <a:extLst>
                <a:ext uri="{FF2B5EF4-FFF2-40B4-BE49-F238E27FC236}">
                  <a16:creationId xmlns:a16="http://schemas.microsoft.com/office/drawing/2014/main" id="{4BA4797B-938A-7C4B-850B-191D7A39F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8" y="1536"/>
              <a:ext cx="550" cy="325"/>
              <a:chOff x="5114" y="1518"/>
              <a:chExt cx="550" cy="325"/>
            </a:xfrm>
          </p:grpSpPr>
          <p:grpSp>
            <p:nvGrpSpPr>
              <p:cNvPr id="532" name="Group 133">
                <a:extLst>
                  <a:ext uri="{FF2B5EF4-FFF2-40B4-BE49-F238E27FC236}">
                    <a16:creationId xmlns:a16="http://schemas.microsoft.com/office/drawing/2014/main" id="{345CEB76-F75D-2142-8293-819C82E8D3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5" y="1518"/>
                <a:ext cx="196" cy="178"/>
                <a:chOff x="5378" y="1518"/>
                <a:chExt cx="196" cy="178"/>
              </a:xfrm>
            </p:grpSpPr>
            <p:sp>
              <p:nvSpPr>
                <p:cNvPr id="552" name="Rectangle 114">
                  <a:extLst>
                    <a:ext uri="{FF2B5EF4-FFF2-40B4-BE49-F238E27FC236}">
                      <a16:creationId xmlns:a16="http://schemas.microsoft.com/office/drawing/2014/main" id="{2F941C58-3CB3-9047-A5F0-1499627827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8" y="1518"/>
                  <a:ext cx="81" cy="15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53" name="Text Box 117">
                  <a:extLst>
                    <a:ext uri="{FF2B5EF4-FFF2-40B4-BE49-F238E27FC236}">
                      <a16:creationId xmlns:a16="http://schemas.microsoft.com/office/drawing/2014/main" id="{860F801A-D77B-C14B-A39A-0736C1A883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78" y="152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533" name="Group 132">
                <a:extLst>
                  <a:ext uri="{FF2B5EF4-FFF2-40B4-BE49-F238E27FC236}">
                    <a16:creationId xmlns:a16="http://schemas.microsoft.com/office/drawing/2014/main" id="{27398D20-7D9A-3B42-8EC2-857F5AC890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53" y="1666"/>
                <a:ext cx="211" cy="177"/>
                <a:chOff x="5261" y="1282"/>
                <a:chExt cx="211" cy="177"/>
              </a:xfrm>
            </p:grpSpPr>
            <p:sp>
              <p:nvSpPr>
                <p:cNvPr id="548" name="Rectangle 113">
                  <a:extLst>
                    <a:ext uri="{FF2B5EF4-FFF2-40B4-BE49-F238E27FC236}">
                      <a16:creationId xmlns:a16="http://schemas.microsoft.com/office/drawing/2014/main" id="{59A6F49B-16F9-7643-9420-32D099D27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07" y="1284"/>
                  <a:ext cx="81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549" name="Group 118">
                  <a:extLst>
                    <a:ext uri="{FF2B5EF4-FFF2-40B4-BE49-F238E27FC236}">
                      <a16:creationId xmlns:a16="http://schemas.microsoft.com/office/drawing/2014/main" id="{0F9DF7FD-68BD-7C4F-9795-E77C083A7B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61" y="1282"/>
                  <a:ext cx="211" cy="177"/>
                  <a:chOff x="857" y="1909"/>
                  <a:chExt cx="211" cy="177"/>
                </a:xfrm>
              </p:grpSpPr>
              <p:sp>
                <p:nvSpPr>
                  <p:cNvPr id="550" name="Text Box 119">
                    <a:extLst>
                      <a:ext uri="{FF2B5EF4-FFF2-40B4-BE49-F238E27FC236}">
                        <a16:creationId xmlns:a16="http://schemas.microsoft.com/office/drawing/2014/main" id="{0F798B47-0AAE-0A4A-B69C-2E1EFD2F0F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51" name="Text Box 120">
                    <a:extLst>
                      <a:ext uri="{FF2B5EF4-FFF2-40B4-BE49-F238E27FC236}">
                        <a16:creationId xmlns:a16="http://schemas.microsoft.com/office/drawing/2014/main" id="{04A6FD11-6247-9447-93C6-498F0987DA7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  <p:grpSp>
            <p:nvGrpSpPr>
              <p:cNvPr id="534" name="Group 131">
                <a:extLst>
                  <a:ext uri="{FF2B5EF4-FFF2-40B4-BE49-F238E27FC236}">
                    <a16:creationId xmlns:a16="http://schemas.microsoft.com/office/drawing/2014/main" id="{F0E11C15-14BF-804E-B7A6-DD15A9082E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14" y="1663"/>
                <a:ext cx="373" cy="180"/>
                <a:chOff x="5426" y="1279"/>
                <a:chExt cx="373" cy="180"/>
              </a:xfrm>
            </p:grpSpPr>
            <p:grpSp>
              <p:nvGrpSpPr>
                <p:cNvPr id="535" name="Group 109">
                  <a:extLst>
                    <a:ext uri="{FF2B5EF4-FFF2-40B4-BE49-F238E27FC236}">
                      <a16:creationId xmlns:a16="http://schemas.microsoft.com/office/drawing/2014/main" id="{0596732D-3330-1F45-9C8F-11B96D28A2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69" y="1284"/>
                  <a:ext cx="258" cy="144"/>
                  <a:chOff x="1353" y="1539"/>
                  <a:chExt cx="258" cy="144"/>
                </a:xfrm>
              </p:grpSpPr>
              <p:sp>
                <p:nvSpPr>
                  <p:cNvPr id="545" name="Rectangle 110">
                    <a:extLst>
                      <a:ext uri="{FF2B5EF4-FFF2-40B4-BE49-F238E27FC236}">
                        <a16:creationId xmlns:a16="http://schemas.microsoft.com/office/drawing/2014/main" id="{2B890018-F3CD-ED43-85A9-CA03439C9D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546" name="Line 111">
                    <a:extLst>
                      <a:ext uri="{FF2B5EF4-FFF2-40B4-BE49-F238E27FC236}">
                        <a16:creationId xmlns:a16="http://schemas.microsoft.com/office/drawing/2014/main" id="{18B6F1CE-A78D-AC45-99C7-EA4C397F9C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547" name="Line 112">
                    <a:extLst>
                      <a:ext uri="{FF2B5EF4-FFF2-40B4-BE49-F238E27FC236}">
                        <a16:creationId xmlns:a16="http://schemas.microsoft.com/office/drawing/2014/main" id="{88ED4488-FFB5-7C44-A803-B17B5C5EFF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536" name="Group 121">
                  <a:extLst>
                    <a:ext uri="{FF2B5EF4-FFF2-40B4-BE49-F238E27FC236}">
                      <a16:creationId xmlns:a16="http://schemas.microsoft.com/office/drawing/2014/main" id="{80189D77-6A61-FB4B-8316-E594A637FA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26" y="1282"/>
                  <a:ext cx="211" cy="177"/>
                  <a:chOff x="857" y="1909"/>
                  <a:chExt cx="211" cy="177"/>
                </a:xfrm>
              </p:grpSpPr>
              <p:sp>
                <p:nvSpPr>
                  <p:cNvPr id="543" name="Text Box 122">
                    <a:extLst>
                      <a:ext uri="{FF2B5EF4-FFF2-40B4-BE49-F238E27FC236}">
                        <a16:creationId xmlns:a16="http://schemas.microsoft.com/office/drawing/2014/main" id="{A10EFA21-0940-F74F-AB9D-BC9A454136B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44" name="Text Box 123">
                    <a:extLst>
                      <a:ext uri="{FF2B5EF4-FFF2-40B4-BE49-F238E27FC236}">
                        <a16:creationId xmlns:a16="http://schemas.microsoft.com/office/drawing/2014/main" id="{3810D6A6-FD00-DA4A-9F6C-B46A221C7D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537" name="Group 124">
                  <a:extLst>
                    <a:ext uri="{FF2B5EF4-FFF2-40B4-BE49-F238E27FC236}">
                      <a16:creationId xmlns:a16="http://schemas.microsoft.com/office/drawing/2014/main" id="{2EF77EE7-7AC5-224F-B76E-0D98E4A3FF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4" y="1282"/>
                  <a:ext cx="211" cy="177"/>
                  <a:chOff x="857" y="1909"/>
                  <a:chExt cx="211" cy="177"/>
                </a:xfrm>
              </p:grpSpPr>
              <p:sp>
                <p:nvSpPr>
                  <p:cNvPr id="541" name="Text Box 125">
                    <a:extLst>
                      <a:ext uri="{FF2B5EF4-FFF2-40B4-BE49-F238E27FC236}">
                        <a16:creationId xmlns:a16="http://schemas.microsoft.com/office/drawing/2014/main" id="{742CDD59-5C0D-424D-8FE6-E90550870F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42" name="Text Box 126">
                    <a:extLst>
                      <a:ext uri="{FF2B5EF4-FFF2-40B4-BE49-F238E27FC236}">
                        <a16:creationId xmlns:a16="http://schemas.microsoft.com/office/drawing/2014/main" id="{18E37091-21DF-6E4C-ACC9-8F1C0961142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538" name="Group 127">
                  <a:extLst>
                    <a:ext uri="{FF2B5EF4-FFF2-40B4-BE49-F238E27FC236}">
                      <a16:creationId xmlns:a16="http://schemas.microsoft.com/office/drawing/2014/main" id="{CF2DA19C-B3A0-D54E-96F8-0FAB19FB5E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88" y="1279"/>
                  <a:ext cx="211" cy="177"/>
                  <a:chOff x="857" y="1909"/>
                  <a:chExt cx="211" cy="177"/>
                </a:xfrm>
              </p:grpSpPr>
              <p:sp>
                <p:nvSpPr>
                  <p:cNvPr id="539" name="Text Box 128">
                    <a:extLst>
                      <a:ext uri="{FF2B5EF4-FFF2-40B4-BE49-F238E27FC236}">
                        <a16:creationId xmlns:a16="http://schemas.microsoft.com/office/drawing/2014/main" id="{38FE3530-87CE-0C44-B56F-D75D2F8AF03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40" name="Text Box 129">
                    <a:extLst>
                      <a:ext uri="{FF2B5EF4-FFF2-40B4-BE49-F238E27FC236}">
                        <a16:creationId xmlns:a16="http://schemas.microsoft.com/office/drawing/2014/main" id="{FA2B9EA9-2800-B644-A429-DCBE6FE4E60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</p:grpSp>
      </p:grpSp>
      <p:sp>
        <p:nvSpPr>
          <p:cNvPr id="561" name="Text Box 137">
            <a:extLst>
              <a:ext uri="{FF2B5EF4-FFF2-40B4-BE49-F238E27FC236}">
                <a16:creationId xmlns:a16="http://schemas.microsoft.com/office/drawing/2014/main" id="{061BFEB8-D5B0-1F4C-AADA-2F8D8761C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333" y="1624834"/>
            <a:ext cx="7200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562" name="Text Box 138">
            <a:extLst>
              <a:ext uri="{FF2B5EF4-FFF2-40B4-BE49-F238E27FC236}">
                <a16:creationId xmlns:a16="http://schemas.microsoft.com/office/drawing/2014/main" id="{4D2BA57A-52EB-AF4B-AC46-680208A6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4092" y="1639122"/>
            <a:ext cx="7200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563" name="Line 139">
            <a:extLst>
              <a:ext uri="{FF2B5EF4-FFF2-40B4-BE49-F238E27FC236}">
                <a16:creationId xmlns:a16="http://schemas.microsoft.com/office/drawing/2014/main" id="{7BFE1317-2BD7-CB4D-A047-982A4F3E3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3007" y="1143821"/>
            <a:ext cx="7144" cy="710804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4" name="Line 140">
            <a:extLst>
              <a:ext uri="{FF2B5EF4-FFF2-40B4-BE49-F238E27FC236}">
                <a16:creationId xmlns:a16="http://schemas.microsoft.com/office/drawing/2014/main" id="{4F6E32C6-C926-1945-A6DA-B99D5AAD30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06679" y="1129534"/>
            <a:ext cx="7144" cy="710804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5" name="Line 141">
            <a:extLst>
              <a:ext uri="{FF2B5EF4-FFF2-40B4-BE49-F238E27FC236}">
                <a16:creationId xmlns:a16="http://schemas.microsoft.com/office/drawing/2014/main" id="{D4F0AA53-7445-6C4A-9F6B-A204064688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2498" y="1136677"/>
            <a:ext cx="7144" cy="710804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6" name="Text Box 142">
            <a:extLst>
              <a:ext uri="{FF2B5EF4-FFF2-40B4-BE49-F238E27FC236}">
                <a16:creationId xmlns:a16="http://schemas.microsoft.com/office/drawing/2014/main" id="{837276E5-054D-2C49-A826-A2CD5E114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529" y="781872"/>
            <a:ext cx="182046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5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channel output Z</a:t>
            </a:r>
            <a:r>
              <a:rPr lang="en-US" sz="1500" kern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i,m</a:t>
            </a:r>
          </a:p>
        </p:txBody>
      </p:sp>
      <p:sp>
        <p:nvSpPr>
          <p:cNvPr id="567" name="Text Box 143">
            <a:extLst>
              <a:ext uri="{FF2B5EF4-FFF2-40B4-BE49-F238E27FC236}">
                <a16:creationId xmlns:a16="http://schemas.microsoft.com/office/drawing/2014/main" id="{5A44EFEA-F719-324C-AE3F-692B599FF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85" y="1480768"/>
            <a:ext cx="93647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2100" kern="1200" dirty="0">
                <a:solidFill>
                  <a:srgbClr val="C00000"/>
                </a:solidFill>
                <a:latin typeface="Calibri" panose="020F0502020204030204"/>
                <a:cs typeface="Arial" charset="0"/>
              </a:rPr>
              <a:t>sender</a:t>
            </a:r>
            <a:endParaRPr lang="en-US" sz="1500" kern="1200" dirty="0">
              <a:solidFill>
                <a:srgbClr val="C00000"/>
              </a:solidFill>
              <a:latin typeface="Calibri" panose="020F0502020204030204"/>
              <a:cs typeface="Arial" charset="0"/>
            </a:endParaRPr>
          </a:p>
        </p:txBody>
      </p:sp>
      <p:sp>
        <p:nvSpPr>
          <p:cNvPr id="568" name="Text Box 144">
            <a:extLst>
              <a:ext uri="{FF2B5EF4-FFF2-40B4-BE49-F238E27FC236}">
                <a16:creationId xmlns:a16="http://schemas.microsoft.com/office/drawing/2014/main" id="{13DFCCFC-1D9B-0A4A-8195-644659282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1734371"/>
            <a:ext cx="559769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569" name="Text Box 145">
            <a:extLst>
              <a:ext uri="{FF2B5EF4-FFF2-40B4-BE49-F238E27FC236}">
                <a16:creationId xmlns:a16="http://schemas.microsoft.com/office/drawing/2014/main" id="{F9FF9202-6DE1-964F-BE49-3037B0F38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116" y="1153347"/>
            <a:ext cx="521297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data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bits</a:t>
            </a:r>
          </a:p>
        </p:txBody>
      </p:sp>
      <p:sp>
        <p:nvSpPr>
          <p:cNvPr id="570" name="Line 146">
            <a:extLst>
              <a:ext uri="{FF2B5EF4-FFF2-40B4-BE49-F238E27FC236}">
                <a16:creationId xmlns:a16="http://schemas.microsoft.com/office/drawing/2014/main" id="{65975003-E9B6-2A46-945F-95C925EED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3217" y="1434334"/>
            <a:ext cx="239315" cy="357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71" name="Line 151">
            <a:extLst>
              <a:ext uri="{FF2B5EF4-FFF2-40B4-BE49-F238E27FC236}">
                <a16:creationId xmlns:a16="http://schemas.microsoft.com/office/drawing/2014/main" id="{687EB2E0-2878-A24E-B5B0-86765159D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9304" y="3019056"/>
            <a:ext cx="0" cy="1218009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72" name="Line 152">
            <a:extLst>
              <a:ext uri="{FF2B5EF4-FFF2-40B4-BE49-F238E27FC236}">
                <a16:creationId xmlns:a16="http://schemas.microsoft.com/office/drawing/2014/main" id="{44F04041-41B0-9647-ABEA-B04273E4E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6547" y="3001197"/>
            <a:ext cx="0" cy="1218010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73" name="Text Box 153">
            <a:extLst>
              <a:ext uri="{FF2B5EF4-FFF2-40B4-BE49-F238E27FC236}">
                <a16:creationId xmlns:a16="http://schemas.microsoft.com/office/drawing/2014/main" id="{D75AE5C7-832E-9043-BD35-9C3850168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894" y="4075141"/>
            <a:ext cx="551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574" name="Text Box 154">
            <a:extLst>
              <a:ext uri="{FF2B5EF4-FFF2-40B4-BE49-F238E27FC236}">
                <a16:creationId xmlns:a16="http://schemas.microsoft.com/office/drawing/2014/main" id="{D101CD69-4F7D-6742-9A3D-D5CBA7A4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275" y="4078713"/>
            <a:ext cx="551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</p:txBody>
      </p:sp>
      <p:sp>
        <p:nvSpPr>
          <p:cNvPr id="575" name="Line 156">
            <a:extLst>
              <a:ext uri="{FF2B5EF4-FFF2-40B4-BE49-F238E27FC236}">
                <a16:creationId xmlns:a16="http://schemas.microsoft.com/office/drawing/2014/main" id="{860E044A-6790-6249-A416-96D891D32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2060" y="3048822"/>
            <a:ext cx="0" cy="1218010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576" name="Group 298">
            <a:extLst>
              <a:ext uri="{FF2B5EF4-FFF2-40B4-BE49-F238E27FC236}">
                <a16:creationId xmlns:a16="http://schemas.microsoft.com/office/drawing/2014/main" id="{F1124BEE-BEF8-3443-910A-CCF6CFA87EA3}"/>
              </a:ext>
            </a:extLst>
          </p:cNvPr>
          <p:cNvGrpSpPr>
            <a:grpSpLocks/>
          </p:cNvGrpSpPr>
          <p:nvPr/>
        </p:nvGrpSpPr>
        <p:grpSpPr bwMode="auto">
          <a:xfrm>
            <a:off x="5641182" y="3372672"/>
            <a:ext cx="807244" cy="230982"/>
            <a:chOff x="3962" y="2922"/>
            <a:chExt cx="678" cy="194"/>
          </a:xfrm>
        </p:grpSpPr>
        <p:sp>
          <p:nvSpPr>
            <p:cNvPr id="577" name="Rectangle 157">
              <a:extLst>
                <a:ext uri="{FF2B5EF4-FFF2-40B4-BE49-F238E27FC236}">
                  <a16:creationId xmlns:a16="http://schemas.microsoft.com/office/drawing/2014/main" id="{16F78BE2-C4BE-7340-BA32-B6A9B6CD9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" y="2946"/>
              <a:ext cx="678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78" name="Text Box 158">
              <a:extLst>
                <a:ext uri="{FF2B5EF4-FFF2-40B4-BE49-F238E27FC236}">
                  <a16:creationId xmlns:a16="http://schemas.microsoft.com/office/drawing/2014/main" id="{B4871B2C-9B75-7441-AD74-FE96225BF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" y="2922"/>
              <a:ext cx="4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  <a:r>
                <a:rPr lang="en-US" sz="90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= -1</a:t>
              </a:r>
            </a:p>
          </p:txBody>
        </p:sp>
      </p:grpSp>
      <p:sp>
        <p:nvSpPr>
          <p:cNvPr id="579" name="Oval 186">
            <a:extLst>
              <a:ext uri="{FF2B5EF4-FFF2-40B4-BE49-F238E27FC236}">
                <a16:creationId xmlns:a16="http://schemas.microsoft.com/office/drawing/2014/main" id="{1EF01FB0-9BDB-194E-B1AF-18DBF6318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013" y="3246466"/>
            <a:ext cx="314325" cy="317897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0" name="Line 188">
            <a:extLst>
              <a:ext uri="{FF2B5EF4-FFF2-40B4-BE49-F238E27FC236}">
                <a16:creationId xmlns:a16="http://schemas.microsoft.com/office/drawing/2014/main" id="{803358E4-2F31-8344-AE8E-60FD9B786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694" y="3344097"/>
            <a:ext cx="239316" cy="357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1" name="Line 189">
            <a:extLst>
              <a:ext uri="{FF2B5EF4-FFF2-40B4-BE49-F238E27FC236}">
                <a16:creationId xmlns:a16="http://schemas.microsoft.com/office/drawing/2014/main" id="{752E133E-CDD7-6841-99EB-4FB0162E1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410" y="3542931"/>
            <a:ext cx="302419" cy="322659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582" name="Group 296">
            <a:extLst>
              <a:ext uri="{FF2B5EF4-FFF2-40B4-BE49-F238E27FC236}">
                <a16:creationId xmlns:a16="http://schemas.microsoft.com/office/drawing/2014/main" id="{D5764CEA-4B45-654B-9F73-3689C10D2D7D}"/>
              </a:ext>
            </a:extLst>
          </p:cNvPr>
          <p:cNvGrpSpPr>
            <a:grpSpLocks/>
          </p:cNvGrpSpPr>
          <p:nvPr/>
        </p:nvGrpSpPr>
        <p:grpSpPr bwMode="auto">
          <a:xfrm>
            <a:off x="6448425" y="3222654"/>
            <a:ext cx="796529" cy="230982"/>
            <a:chOff x="4640" y="2796"/>
            <a:chExt cx="669" cy="194"/>
          </a:xfrm>
        </p:grpSpPr>
        <p:sp>
          <p:nvSpPr>
            <p:cNvPr id="583" name="Rectangle 191">
              <a:extLst>
                <a:ext uri="{FF2B5EF4-FFF2-40B4-BE49-F238E27FC236}">
                  <a16:creationId xmlns:a16="http://schemas.microsoft.com/office/drawing/2014/main" id="{07FF64CB-B8E0-5943-B080-70CC695B8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0" y="2820"/>
              <a:ext cx="669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4" name="Text Box 192">
              <a:extLst>
                <a:ext uri="{FF2B5EF4-FFF2-40B4-BE49-F238E27FC236}">
                  <a16:creationId xmlns:a16="http://schemas.microsoft.com/office/drawing/2014/main" id="{D203F2F6-2B48-784A-97D8-4D8635AAD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8" y="2796"/>
              <a:ext cx="41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  <a:r>
                <a:rPr lang="en-US" sz="90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0</a:t>
              </a: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= 1</a:t>
              </a:r>
            </a:p>
          </p:txBody>
        </p:sp>
      </p:grpSp>
      <p:grpSp>
        <p:nvGrpSpPr>
          <p:cNvPr id="585" name="Group 295">
            <a:extLst>
              <a:ext uri="{FF2B5EF4-FFF2-40B4-BE49-F238E27FC236}">
                <a16:creationId xmlns:a16="http://schemas.microsoft.com/office/drawing/2014/main" id="{96D0FB10-C5CF-4749-93DC-1D522CB7DFFD}"/>
              </a:ext>
            </a:extLst>
          </p:cNvPr>
          <p:cNvGrpSpPr>
            <a:grpSpLocks/>
          </p:cNvGrpSpPr>
          <p:nvPr/>
        </p:nvGrpSpPr>
        <p:grpSpPr bwMode="auto">
          <a:xfrm>
            <a:off x="3898106" y="3165503"/>
            <a:ext cx="947738" cy="912019"/>
            <a:chOff x="2498" y="2748"/>
            <a:chExt cx="796" cy="766"/>
          </a:xfrm>
        </p:grpSpPr>
        <p:grpSp>
          <p:nvGrpSpPr>
            <p:cNvPr id="586" name="Group 193">
              <a:extLst>
                <a:ext uri="{FF2B5EF4-FFF2-40B4-BE49-F238E27FC236}">
                  <a16:creationId xmlns:a16="http://schemas.microsoft.com/office/drawing/2014/main" id="{97D62F56-6D20-0F47-8EDF-DD272D179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4" y="3187"/>
              <a:ext cx="790" cy="327"/>
              <a:chOff x="1313" y="1534"/>
              <a:chExt cx="790" cy="327"/>
            </a:xfrm>
          </p:grpSpPr>
          <p:sp>
            <p:nvSpPr>
              <p:cNvPr id="614" name="Text Box 194">
                <a:extLst>
                  <a:ext uri="{FF2B5EF4-FFF2-40B4-BE49-F238E27FC236}">
                    <a16:creationId xmlns:a16="http://schemas.microsoft.com/office/drawing/2014/main" id="{7B04BAB2-D5CA-3C47-A23B-1681A4FB72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15" name="Group 195">
                <a:extLst>
                  <a:ext uri="{FF2B5EF4-FFF2-40B4-BE49-F238E27FC236}">
                    <a16:creationId xmlns:a16="http://schemas.microsoft.com/office/drawing/2014/main" id="{8ED7550A-0557-CF43-9C1C-7D3004A22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637" name="Rectangle 196">
                  <a:extLst>
                    <a:ext uri="{FF2B5EF4-FFF2-40B4-BE49-F238E27FC236}">
                      <a16:creationId xmlns:a16="http://schemas.microsoft.com/office/drawing/2014/main" id="{02C2AE0A-AE20-7642-AA73-E04CA5A75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38" name="Line 197">
                  <a:extLst>
                    <a:ext uri="{FF2B5EF4-FFF2-40B4-BE49-F238E27FC236}">
                      <a16:creationId xmlns:a16="http://schemas.microsoft.com/office/drawing/2014/main" id="{4F004783-A8C6-CC45-8B2B-0D951AB32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39" name="Line 198">
                  <a:extLst>
                    <a:ext uri="{FF2B5EF4-FFF2-40B4-BE49-F238E27FC236}">
                      <a16:creationId xmlns:a16="http://schemas.microsoft.com/office/drawing/2014/main" id="{20BA7722-B3E2-6B42-8DE6-D5DBC8D8A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616" name="Group 199">
                <a:extLst>
                  <a:ext uri="{FF2B5EF4-FFF2-40B4-BE49-F238E27FC236}">
                    <a16:creationId xmlns:a16="http://schemas.microsoft.com/office/drawing/2014/main" id="{C569B790-8EE2-4743-9C4E-AFC3A45176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634" name="Rectangle 200">
                  <a:extLst>
                    <a:ext uri="{FF2B5EF4-FFF2-40B4-BE49-F238E27FC236}">
                      <a16:creationId xmlns:a16="http://schemas.microsoft.com/office/drawing/2014/main" id="{C451C7E7-C9EE-A841-BA99-A6207ED30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35" name="Line 201">
                  <a:extLst>
                    <a:ext uri="{FF2B5EF4-FFF2-40B4-BE49-F238E27FC236}">
                      <a16:creationId xmlns:a16="http://schemas.microsoft.com/office/drawing/2014/main" id="{413C740C-F832-0843-AD6A-172F1B242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36" name="Line 202">
                  <a:extLst>
                    <a:ext uri="{FF2B5EF4-FFF2-40B4-BE49-F238E27FC236}">
                      <a16:creationId xmlns:a16="http://schemas.microsoft.com/office/drawing/2014/main" id="{BEB5B501-1C3E-D442-AA97-5DEFF6EE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617" name="Rectangle 203">
                <a:extLst>
                  <a:ext uri="{FF2B5EF4-FFF2-40B4-BE49-F238E27FC236}">
                    <a16:creationId xmlns:a16="http://schemas.microsoft.com/office/drawing/2014/main" id="{C48382EF-522B-5B45-BC8D-3A8234172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18" name="Rectangle 204">
                <a:extLst>
                  <a:ext uri="{FF2B5EF4-FFF2-40B4-BE49-F238E27FC236}">
                    <a16:creationId xmlns:a16="http://schemas.microsoft.com/office/drawing/2014/main" id="{362C0A22-B587-2B4E-B070-3A316A955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19" name="Text Box 205">
                <a:extLst>
                  <a:ext uri="{FF2B5EF4-FFF2-40B4-BE49-F238E27FC236}">
                    <a16:creationId xmlns:a16="http://schemas.microsoft.com/office/drawing/2014/main" id="{B824BEFE-65AB-0144-A5F8-65972C2D8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0" name="Text Box 206">
                <a:extLst>
                  <a:ext uri="{FF2B5EF4-FFF2-40B4-BE49-F238E27FC236}">
                    <a16:creationId xmlns:a16="http://schemas.microsoft.com/office/drawing/2014/main" id="{3A8873CC-1701-7348-900A-41553E898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1" name="Text Box 207">
                <a:extLst>
                  <a:ext uri="{FF2B5EF4-FFF2-40B4-BE49-F238E27FC236}">
                    <a16:creationId xmlns:a16="http://schemas.microsoft.com/office/drawing/2014/main" id="{652F9E8B-7806-004B-A4C2-35DA996AE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22" name="Group 208">
                <a:extLst>
                  <a:ext uri="{FF2B5EF4-FFF2-40B4-BE49-F238E27FC236}">
                    <a16:creationId xmlns:a16="http://schemas.microsoft.com/office/drawing/2014/main" id="{B9E723E2-808F-904C-AA22-8BC245F17D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77"/>
                <a:chOff x="857" y="1909"/>
                <a:chExt cx="211" cy="177"/>
              </a:xfrm>
            </p:grpSpPr>
            <p:sp>
              <p:nvSpPr>
                <p:cNvPr id="632" name="Text Box 209">
                  <a:extLst>
                    <a:ext uri="{FF2B5EF4-FFF2-40B4-BE49-F238E27FC236}">
                      <a16:creationId xmlns:a16="http://schemas.microsoft.com/office/drawing/2014/main" id="{A4E63E50-D6D5-A544-AB9D-0D1BFD00FE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33" name="Text Box 210">
                  <a:extLst>
                    <a:ext uri="{FF2B5EF4-FFF2-40B4-BE49-F238E27FC236}">
                      <a16:creationId xmlns:a16="http://schemas.microsoft.com/office/drawing/2014/main" id="{542EF4AD-C6C3-9C4C-92FB-3D5D00CB79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23" name="Group 211">
                <a:extLst>
                  <a:ext uri="{FF2B5EF4-FFF2-40B4-BE49-F238E27FC236}">
                    <a16:creationId xmlns:a16="http://schemas.microsoft.com/office/drawing/2014/main" id="{11542ED5-26A6-8C49-B296-BD3AB1ED67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77"/>
                <a:chOff x="857" y="1909"/>
                <a:chExt cx="211" cy="177"/>
              </a:xfrm>
            </p:grpSpPr>
            <p:sp>
              <p:nvSpPr>
                <p:cNvPr id="630" name="Text Box 212">
                  <a:extLst>
                    <a:ext uri="{FF2B5EF4-FFF2-40B4-BE49-F238E27FC236}">
                      <a16:creationId xmlns:a16="http://schemas.microsoft.com/office/drawing/2014/main" id="{E57DC8C6-3C72-CC44-A603-ECD9003496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31" name="Text Box 213">
                  <a:extLst>
                    <a:ext uri="{FF2B5EF4-FFF2-40B4-BE49-F238E27FC236}">
                      <a16:creationId xmlns:a16="http://schemas.microsoft.com/office/drawing/2014/main" id="{B3808FCF-A274-FE42-A498-DA95D7B44F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24" name="Group 214">
                <a:extLst>
                  <a:ext uri="{FF2B5EF4-FFF2-40B4-BE49-F238E27FC236}">
                    <a16:creationId xmlns:a16="http://schemas.microsoft.com/office/drawing/2014/main" id="{128465C0-E95E-A343-8DCF-2AC643340F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77"/>
                <a:chOff x="857" y="1909"/>
                <a:chExt cx="211" cy="177"/>
              </a:xfrm>
            </p:grpSpPr>
            <p:sp>
              <p:nvSpPr>
                <p:cNvPr id="628" name="Text Box 215">
                  <a:extLst>
                    <a:ext uri="{FF2B5EF4-FFF2-40B4-BE49-F238E27FC236}">
                      <a16:creationId xmlns:a16="http://schemas.microsoft.com/office/drawing/2014/main" id="{75EA62B0-C320-B94D-B0FF-8D4FF2F0D5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29" name="Text Box 216">
                  <a:extLst>
                    <a:ext uri="{FF2B5EF4-FFF2-40B4-BE49-F238E27FC236}">
                      <a16:creationId xmlns:a16="http://schemas.microsoft.com/office/drawing/2014/main" id="{367AE304-4E74-034E-A58F-BD99CC97D7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25" name="Group 217">
                <a:extLst>
                  <a:ext uri="{FF2B5EF4-FFF2-40B4-BE49-F238E27FC236}">
                    <a16:creationId xmlns:a16="http://schemas.microsoft.com/office/drawing/2014/main" id="{E43C5D79-33F2-944F-A5A8-AEA20F377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77"/>
                <a:chOff x="857" y="1909"/>
                <a:chExt cx="211" cy="177"/>
              </a:xfrm>
            </p:grpSpPr>
            <p:sp>
              <p:nvSpPr>
                <p:cNvPr id="626" name="Text Box 218">
                  <a:extLst>
                    <a:ext uri="{FF2B5EF4-FFF2-40B4-BE49-F238E27FC236}">
                      <a16:creationId xmlns:a16="http://schemas.microsoft.com/office/drawing/2014/main" id="{14E538A8-CB0E-DA4F-B83F-1131EC9DE5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27" name="Text Box 219">
                  <a:extLst>
                    <a:ext uri="{FF2B5EF4-FFF2-40B4-BE49-F238E27FC236}">
                      <a16:creationId xmlns:a16="http://schemas.microsoft.com/office/drawing/2014/main" id="{DB235DBF-1502-9846-8971-5017A8AC10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587" name="Group 220">
              <a:extLst>
                <a:ext uri="{FF2B5EF4-FFF2-40B4-BE49-F238E27FC236}">
                  <a16:creationId xmlns:a16="http://schemas.microsoft.com/office/drawing/2014/main" id="{1D3EFF94-D1D7-DB4B-B1BA-54BDE4E51E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8" y="2748"/>
              <a:ext cx="790" cy="327"/>
              <a:chOff x="1313" y="1534"/>
              <a:chExt cx="790" cy="327"/>
            </a:xfrm>
          </p:grpSpPr>
          <p:sp>
            <p:nvSpPr>
              <p:cNvPr id="588" name="Text Box 221">
                <a:extLst>
                  <a:ext uri="{FF2B5EF4-FFF2-40B4-BE49-F238E27FC236}">
                    <a16:creationId xmlns:a16="http://schemas.microsoft.com/office/drawing/2014/main" id="{418DA683-0DDF-0D40-9EC9-E34F3F02B2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589" name="Group 222">
                <a:extLst>
                  <a:ext uri="{FF2B5EF4-FFF2-40B4-BE49-F238E27FC236}">
                    <a16:creationId xmlns:a16="http://schemas.microsoft.com/office/drawing/2014/main" id="{756C056E-2AB5-9A43-8637-821F75478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611" name="Rectangle 223">
                  <a:extLst>
                    <a:ext uri="{FF2B5EF4-FFF2-40B4-BE49-F238E27FC236}">
                      <a16:creationId xmlns:a16="http://schemas.microsoft.com/office/drawing/2014/main" id="{4239B053-7CD5-1A4D-9C88-8079446DF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12" name="Line 224">
                  <a:extLst>
                    <a:ext uri="{FF2B5EF4-FFF2-40B4-BE49-F238E27FC236}">
                      <a16:creationId xmlns:a16="http://schemas.microsoft.com/office/drawing/2014/main" id="{E600EE1E-0BD0-F549-9A91-145DC2EED3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13" name="Line 225">
                  <a:extLst>
                    <a:ext uri="{FF2B5EF4-FFF2-40B4-BE49-F238E27FC236}">
                      <a16:creationId xmlns:a16="http://schemas.microsoft.com/office/drawing/2014/main" id="{767368C3-FAA7-E843-8DD6-A1140202E7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590" name="Group 226">
                <a:extLst>
                  <a:ext uri="{FF2B5EF4-FFF2-40B4-BE49-F238E27FC236}">
                    <a16:creationId xmlns:a16="http://schemas.microsoft.com/office/drawing/2014/main" id="{ECC39DED-E285-E54E-BD2B-6E82ABEA37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608" name="Rectangle 227">
                  <a:extLst>
                    <a:ext uri="{FF2B5EF4-FFF2-40B4-BE49-F238E27FC236}">
                      <a16:creationId xmlns:a16="http://schemas.microsoft.com/office/drawing/2014/main" id="{F5146973-9FBA-7342-87D8-11522ACDC0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09" name="Line 228">
                  <a:extLst>
                    <a:ext uri="{FF2B5EF4-FFF2-40B4-BE49-F238E27FC236}">
                      <a16:creationId xmlns:a16="http://schemas.microsoft.com/office/drawing/2014/main" id="{A9C0710A-E39A-8F45-A77E-CD458CF17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10" name="Line 229">
                  <a:extLst>
                    <a:ext uri="{FF2B5EF4-FFF2-40B4-BE49-F238E27FC236}">
                      <a16:creationId xmlns:a16="http://schemas.microsoft.com/office/drawing/2014/main" id="{05AB44F9-6DBC-F548-99E1-9F43C8F703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591" name="Rectangle 230">
                <a:extLst>
                  <a:ext uri="{FF2B5EF4-FFF2-40B4-BE49-F238E27FC236}">
                    <a16:creationId xmlns:a16="http://schemas.microsoft.com/office/drawing/2014/main" id="{DCDBD701-60FD-5647-9CAB-CA664E96E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92" name="Rectangle 231">
                <a:extLst>
                  <a:ext uri="{FF2B5EF4-FFF2-40B4-BE49-F238E27FC236}">
                    <a16:creationId xmlns:a16="http://schemas.microsoft.com/office/drawing/2014/main" id="{6FBE7D8F-D770-CF42-8926-B3290EEDA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93" name="Text Box 232">
                <a:extLst>
                  <a:ext uri="{FF2B5EF4-FFF2-40B4-BE49-F238E27FC236}">
                    <a16:creationId xmlns:a16="http://schemas.microsoft.com/office/drawing/2014/main" id="{0BE4D880-E5FF-194F-96F6-31D8F0E850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94" name="Text Box 233">
                <a:extLst>
                  <a:ext uri="{FF2B5EF4-FFF2-40B4-BE49-F238E27FC236}">
                    <a16:creationId xmlns:a16="http://schemas.microsoft.com/office/drawing/2014/main" id="{E1249C8F-8FED-F24A-BC2E-9169132D65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95" name="Text Box 234">
                <a:extLst>
                  <a:ext uri="{FF2B5EF4-FFF2-40B4-BE49-F238E27FC236}">
                    <a16:creationId xmlns:a16="http://schemas.microsoft.com/office/drawing/2014/main" id="{E350C3A1-45EC-1A45-831A-8FDA6191A2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596" name="Group 235">
                <a:extLst>
                  <a:ext uri="{FF2B5EF4-FFF2-40B4-BE49-F238E27FC236}">
                    <a16:creationId xmlns:a16="http://schemas.microsoft.com/office/drawing/2014/main" id="{166632CA-781C-464F-975C-887578DFEE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77"/>
                <a:chOff x="857" y="1909"/>
                <a:chExt cx="211" cy="177"/>
              </a:xfrm>
            </p:grpSpPr>
            <p:sp>
              <p:nvSpPr>
                <p:cNvPr id="606" name="Text Box 236">
                  <a:extLst>
                    <a:ext uri="{FF2B5EF4-FFF2-40B4-BE49-F238E27FC236}">
                      <a16:creationId xmlns:a16="http://schemas.microsoft.com/office/drawing/2014/main" id="{290DD47F-DE0B-4143-8642-8E484381B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7" name="Text Box 237">
                  <a:extLst>
                    <a:ext uri="{FF2B5EF4-FFF2-40B4-BE49-F238E27FC236}">
                      <a16:creationId xmlns:a16="http://schemas.microsoft.com/office/drawing/2014/main" id="{2C01662B-9FBB-A645-B9A7-4D936FF507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597" name="Group 238">
                <a:extLst>
                  <a:ext uri="{FF2B5EF4-FFF2-40B4-BE49-F238E27FC236}">
                    <a16:creationId xmlns:a16="http://schemas.microsoft.com/office/drawing/2014/main" id="{FB4DBB46-904E-2048-952E-05148A7CE3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77"/>
                <a:chOff x="857" y="1909"/>
                <a:chExt cx="211" cy="177"/>
              </a:xfrm>
            </p:grpSpPr>
            <p:sp>
              <p:nvSpPr>
                <p:cNvPr id="604" name="Text Box 239">
                  <a:extLst>
                    <a:ext uri="{FF2B5EF4-FFF2-40B4-BE49-F238E27FC236}">
                      <a16:creationId xmlns:a16="http://schemas.microsoft.com/office/drawing/2014/main" id="{73D40A2E-1395-6C48-A539-9B2FF25E0F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5" name="Text Box 240">
                  <a:extLst>
                    <a:ext uri="{FF2B5EF4-FFF2-40B4-BE49-F238E27FC236}">
                      <a16:creationId xmlns:a16="http://schemas.microsoft.com/office/drawing/2014/main" id="{89AA3C0B-2C37-1E47-ACD7-7D90CADECB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598" name="Group 241">
                <a:extLst>
                  <a:ext uri="{FF2B5EF4-FFF2-40B4-BE49-F238E27FC236}">
                    <a16:creationId xmlns:a16="http://schemas.microsoft.com/office/drawing/2014/main" id="{C0684616-543C-AF4D-8E90-A5245FCA3A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77"/>
                <a:chOff x="857" y="1909"/>
                <a:chExt cx="211" cy="177"/>
              </a:xfrm>
            </p:grpSpPr>
            <p:sp>
              <p:nvSpPr>
                <p:cNvPr id="602" name="Text Box 242">
                  <a:extLst>
                    <a:ext uri="{FF2B5EF4-FFF2-40B4-BE49-F238E27FC236}">
                      <a16:creationId xmlns:a16="http://schemas.microsoft.com/office/drawing/2014/main" id="{827BFF19-1594-2B40-BF8C-7ECD58E04C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3" name="Text Box 243">
                  <a:extLst>
                    <a:ext uri="{FF2B5EF4-FFF2-40B4-BE49-F238E27FC236}">
                      <a16:creationId xmlns:a16="http://schemas.microsoft.com/office/drawing/2014/main" id="{A2499FEC-1527-C542-91E0-02A8B03B4C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599" name="Group 244">
                <a:extLst>
                  <a:ext uri="{FF2B5EF4-FFF2-40B4-BE49-F238E27FC236}">
                    <a16:creationId xmlns:a16="http://schemas.microsoft.com/office/drawing/2014/main" id="{79B4FD38-A220-CF4B-B6B4-40FB1E45D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77"/>
                <a:chOff x="857" y="1909"/>
                <a:chExt cx="211" cy="177"/>
              </a:xfrm>
            </p:grpSpPr>
            <p:sp>
              <p:nvSpPr>
                <p:cNvPr id="600" name="Text Box 245">
                  <a:extLst>
                    <a:ext uri="{FF2B5EF4-FFF2-40B4-BE49-F238E27FC236}">
                      <a16:creationId xmlns:a16="http://schemas.microsoft.com/office/drawing/2014/main" id="{5F7BF1B8-B80A-4149-BC9C-9A4B7E5158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1" name="Text Box 246">
                  <a:extLst>
                    <a:ext uri="{FF2B5EF4-FFF2-40B4-BE49-F238E27FC236}">
                      <a16:creationId xmlns:a16="http://schemas.microsoft.com/office/drawing/2014/main" id="{A49C4C92-65A5-4C48-9B08-0461762BA6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640" name="Group 297">
            <a:extLst>
              <a:ext uri="{FF2B5EF4-FFF2-40B4-BE49-F238E27FC236}">
                <a16:creationId xmlns:a16="http://schemas.microsoft.com/office/drawing/2014/main" id="{82CBAF59-3619-4841-A21A-B1F20F9713F3}"/>
              </a:ext>
            </a:extLst>
          </p:cNvPr>
          <p:cNvGrpSpPr>
            <a:grpSpLocks/>
          </p:cNvGrpSpPr>
          <p:nvPr/>
        </p:nvGrpSpPr>
        <p:grpSpPr bwMode="auto">
          <a:xfrm>
            <a:off x="3080148" y="3165503"/>
            <a:ext cx="958453" cy="904875"/>
            <a:chOff x="1811" y="2748"/>
            <a:chExt cx="805" cy="760"/>
          </a:xfrm>
        </p:grpSpPr>
        <p:grpSp>
          <p:nvGrpSpPr>
            <p:cNvPr id="641" name="Group 159">
              <a:extLst>
                <a:ext uri="{FF2B5EF4-FFF2-40B4-BE49-F238E27FC236}">
                  <a16:creationId xmlns:a16="http://schemas.microsoft.com/office/drawing/2014/main" id="{8EF57733-5543-4E4B-8D62-E949AD5AA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6" y="3181"/>
              <a:ext cx="790" cy="327"/>
              <a:chOff x="1313" y="1534"/>
              <a:chExt cx="790" cy="327"/>
            </a:xfrm>
          </p:grpSpPr>
          <p:sp>
            <p:nvSpPr>
              <p:cNvPr id="674" name="Text Box 160">
                <a:extLst>
                  <a:ext uri="{FF2B5EF4-FFF2-40B4-BE49-F238E27FC236}">
                    <a16:creationId xmlns:a16="http://schemas.microsoft.com/office/drawing/2014/main" id="{320DF8EC-2C1D-1447-8093-705AA7757D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75" name="Group 161">
                <a:extLst>
                  <a:ext uri="{FF2B5EF4-FFF2-40B4-BE49-F238E27FC236}">
                    <a16:creationId xmlns:a16="http://schemas.microsoft.com/office/drawing/2014/main" id="{88562839-6C05-0344-A288-7F9A715E1A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697" name="Rectangle 162">
                  <a:extLst>
                    <a:ext uri="{FF2B5EF4-FFF2-40B4-BE49-F238E27FC236}">
                      <a16:creationId xmlns:a16="http://schemas.microsoft.com/office/drawing/2014/main" id="{9F5F7DD1-4A84-CF45-9C2A-53D9BF3427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98" name="Line 163">
                  <a:extLst>
                    <a:ext uri="{FF2B5EF4-FFF2-40B4-BE49-F238E27FC236}">
                      <a16:creationId xmlns:a16="http://schemas.microsoft.com/office/drawing/2014/main" id="{17A98152-A6A3-474D-AB48-44B96AC713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99" name="Line 164">
                  <a:extLst>
                    <a:ext uri="{FF2B5EF4-FFF2-40B4-BE49-F238E27FC236}">
                      <a16:creationId xmlns:a16="http://schemas.microsoft.com/office/drawing/2014/main" id="{244D72D8-03A9-4B4E-8E85-71AAEC03E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676" name="Group 165">
                <a:extLst>
                  <a:ext uri="{FF2B5EF4-FFF2-40B4-BE49-F238E27FC236}">
                    <a16:creationId xmlns:a16="http://schemas.microsoft.com/office/drawing/2014/main" id="{DF6E29B7-CE53-1948-9208-5B3F88E716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694" name="Rectangle 166">
                  <a:extLst>
                    <a:ext uri="{FF2B5EF4-FFF2-40B4-BE49-F238E27FC236}">
                      <a16:creationId xmlns:a16="http://schemas.microsoft.com/office/drawing/2014/main" id="{8A7849D1-C351-FD40-98B3-BD87B1740D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95" name="Line 167">
                  <a:extLst>
                    <a:ext uri="{FF2B5EF4-FFF2-40B4-BE49-F238E27FC236}">
                      <a16:creationId xmlns:a16="http://schemas.microsoft.com/office/drawing/2014/main" id="{2285CD7F-F48B-B74A-8966-EF3AF60872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96" name="Line 168">
                  <a:extLst>
                    <a:ext uri="{FF2B5EF4-FFF2-40B4-BE49-F238E27FC236}">
                      <a16:creationId xmlns:a16="http://schemas.microsoft.com/office/drawing/2014/main" id="{36D187F7-01BC-EE4B-831D-E4FF78943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350" dirty="0"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677" name="Rectangle 169">
                <a:extLst>
                  <a:ext uri="{FF2B5EF4-FFF2-40B4-BE49-F238E27FC236}">
                    <a16:creationId xmlns:a16="http://schemas.microsoft.com/office/drawing/2014/main" id="{0A53DD91-B0D1-344A-B372-B0C0B50C5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78" name="Rectangle 170">
                <a:extLst>
                  <a:ext uri="{FF2B5EF4-FFF2-40B4-BE49-F238E27FC236}">
                    <a16:creationId xmlns:a16="http://schemas.microsoft.com/office/drawing/2014/main" id="{64AF0494-B917-5340-B8DB-2EB7B56F16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350" dirty="0"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79" name="Text Box 171">
                <a:extLst>
                  <a:ext uri="{FF2B5EF4-FFF2-40B4-BE49-F238E27FC236}">
                    <a16:creationId xmlns:a16="http://schemas.microsoft.com/office/drawing/2014/main" id="{F06B3BFB-C0EC-064D-93C6-CEAED040F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80" name="Text Box 172">
                <a:extLst>
                  <a:ext uri="{FF2B5EF4-FFF2-40B4-BE49-F238E27FC236}">
                    <a16:creationId xmlns:a16="http://schemas.microsoft.com/office/drawing/2014/main" id="{D3600095-733C-B044-AADC-832710831F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81" name="Text Box 173">
                <a:extLst>
                  <a:ext uri="{FF2B5EF4-FFF2-40B4-BE49-F238E27FC236}">
                    <a16:creationId xmlns:a16="http://schemas.microsoft.com/office/drawing/2014/main" id="{F4D3DA9E-B028-DF43-B15F-EBC718654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r>
                  <a:rPr lang="en-US" sz="75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82" name="Group 174">
                <a:extLst>
                  <a:ext uri="{FF2B5EF4-FFF2-40B4-BE49-F238E27FC236}">
                    <a16:creationId xmlns:a16="http://schemas.microsoft.com/office/drawing/2014/main" id="{3BA6346A-C37A-1145-93C1-459F9F5B03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77"/>
                <a:chOff x="857" y="1909"/>
                <a:chExt cx="211" cy="177"/>
              </a:xfrm>
            </p:grpSpPr>
            <p:sp>
              <p:nvSpPr>
                <p:cNvPr id="692" name="Text Box 175">
                  <a:extLst>
                    <a:ext uri="{FF2B5EF4-FFF2-40B4-BE49-F238E27FC236}">
                      <a16:creationId xmlns:a16="http://schemas.microsoft.com/office/drawing/2014/main" id="{842D5DED-2CC1-4A4E-A49E-22200EF814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93" name="Text Box 176">
                  <a:extLst>
                    <a:ext uri="{FF2B5EF4-FFF2-40B4-BE49-F238E27FC236}">
                      <a16:creationId xmlns:a16="http://schemas.microsoft.com/office/drawing/2014/main" id="{AD8159EE-6AED-B145-9555-43984B0B32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83" name="Group 177">
                <a:extLst>
                  <a:ext uri="{FF2B5EF4-FFF2-40B4-BE49-F238E27FC236}">
                    <a16:creationId xmlns:a16="http://schemas.microsoft.com/office/drawing/2014/main" id="{97FF6188-4890-0C49-8BD8-4AD0896FEB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77"/>
                <a:chOff x="857" y="1909"/>
                <a:chExt cx="211" cy="177"/>
              </a:xfrm>
            </p:grpSpPr>
            <p:sp>
              <p:nvSpPr>
                <p:cNvPr id="690" name="Text Box 178">
                  <a:extLst>
                    <a:ext uri="{FF2B5EF4-FFF2-40B4-BE49-F238E27FC236}">
                      <a16:creationId xmlns:a16="http://schemas.microsoft.com/office/drawing/2014/main" id="{27BEBFD9-031E-9841-B5F7-7D386A4A63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91" name="Text Box 179">
                  <a:extLst>
                    <a:ext uri="{FF2B5EF4-FFF2-40B4-BE49-F238E27FC236}">
                      <a16:creationId xmlns:a16="http://schemas.microsoft.com/office/drawing/2014/main" id="{E2807452-4E45-A343-A9DB-BCE3AD6EFC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84" name="Group 180">
                <a:extLst>
                  <a:ext uri="{FF2B5EF4-FFF2-40B4-BE49-F238E27FC236}">
                    <a16:creationId xmlns:a16="http://schemas.microsoft.com/office/drawing/2014/main" id="{E2862A55-1193-6B42-A461-5A80B3181D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77"/>
                <a:chOff x="857" y="1909"/>
                <a:chExt cx="211" cy="177"/>
              </a:xfrm>
            </p:grpSpPr>
            <p:sp>
              <p:nvSpPr>
                <p:cNvPr id="688" name="Text Box 181">
                  <a:extLst>
                    <a:ext uri="{FF2B5EF4-FFF2-40B4-BE49-F238E27FC236}">
                      <a16:creationId xmlns:a16="http://schemas.microsoft.com/office/drawing/2014/main" id="{01435FAB-F15B-0E45-861B-8EBA32BBBC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89" name="Text Box 182">
                  <a:extLst>
                    <a:ext uri="{FF2B5EF4-FFF2-40B4-BE49-F238E27FC236}">
                      <a16:creationId xmlns:a16="http://schemas.microsoft.com/office/drawing/2014/main" id="{2906B13A-27B9-0148-93DD-FE778E65A7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85" name="Group 183">
                <a:extLst>
                  <a:ext uri="{FF2B5EF4-FFF2-40B4-BE49-F238E27FC236}">
                    <a16:creationId xmlns:a16="http://schemas.microsoft.com/office/drawing/2014/main" id="{282D1DA6-C84E-1449-A073-296D39FDF4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77"/>
                <a:chOff x="857" y="1909"/>
                <a:chExt cx="211" cy="177"/>
              </a:xfrm>
            </p:grpSpPr>
            <p:sp>
              <p:nvSpPr>
                <p:cNvPr id="686" name="Text Box 184">
                  <a:extLst>
                    <a:ext uri="{FF2B5EF4-FFF2-40B4-BE49-F238E27FC236}">
                      <a16:creationId xmlns:a16="http://schemas.microsoft.com/office/drawing/2014/main" id="{73D24F3E-547E-3C40-BF10-82D6BD1ACA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87" name="Text Box 185">
                  <a:extLst>
                    <a:ext uri="{FF2B5EF4-FFF2-40B4-BE49-F238E27FC236}">
                      <a16:creationId xmlns:a16="http://schemas.microsoft.com/office/drawing/2014/main" id="{F52A5A57-AC26-F149-A7A1-421A88E602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642" name="Group 247">
              <a:extLst>
                <a:ext uri="{FF2B5EF4-FFF2-40B4-BE49-F238E27FC236}">
                  <a16:creationId xmlns:a16="http://schemas.microsoft.com/office/drawing/2014/main" id="{35F0A701-410D-2F49-B340-79615F469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1" y="2748"/>
              <a:ext cx="787" cy="327"/>
              <a:chOff x="4928" y="1534"/>
              <a:chExt cx="787" cy="327"/>
            </a:xfrm>
          </p:grpSpPr>
          <p:grpSp>
            <p:nvGrpSpPr>
              <p:cNvPr id="643" name="Group 248">
                <a:extLst>
                  <a:ext uri="{FF2B5EF4-FFF2-40B4-BE49-F238E27FC236}">
                    <a16:creationId xmlns:a16="http://schemas.microsoft.com/office/drawing/2014/main" id="{1DF40E68-42FF-A94A-9BAA-73BCDDCAE5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54" y="1534"/>
                <a:ext cx="361" cy="174"/>
                <a:chOff x="5009" y="1132"/>
                <a:chExt cx="361" cy="174"/>
              </a:xfrm>
            </p:grpSpPr>
            <p:sp>
              <p:nvSpPr>
                <p:cNvPr id="667" name="Text Box 249">
                  <a:extLst>
                    <a:ext uri="{FF2B5EF4-FFF2-40B4-BE49-F238E27FC236}">
                      <a16:creationId xmlns:a16="http://schemas.microsoft.com/office/drawing/2014/main" id="{50315623-CCC4-D04E-94B4-E09CCFE65E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09" y="113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grpSp>
              <p:nvGrpSpPr>
                <p:cNvPr id="668" name="Group 250">
                  <a:extLst>
                    <a:ext uri="{FF2B5EF4-FFF2-40B4-BE49-F238E27FC236}">
                      <a16:creationId xmlns:a16="http://schemas.microsoft.com/office/drawing/2014/main" id="{0423722D-EED6-2C40-96CF-D2B161E50D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49" y="1137"/>
                  <a:ext cx="258" cy="147"/>
                  <a:chOff x="1353" y="1539"/>
                  <a:chExt cx="258" cy="144"/>
                </a:xfrm>
              </p:grpSpPr>
              <p:sp>
                <p:nvSpPr>
                  <p:cNvPr id="671" name="Rectangle 251">
                    <a:extLst>
                      <a:ext uri="{FF2B5EF4-FFF2-40B4-BE49-F238E27FC236}">
                        <a16:creationId xmlns:a16="http://schemas.microsoft.com/office/drawing/2014/main" id="{A86E3B01-C421-EE45-8D3F-1612B8DC39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672" name="Line 252">
                    <a:extLst>
                      <a:ext uri="{FF2B5EF4-FFF2-40B4-BE49-F238E27FC236}">
                        <a16:creationId xmlns:a16="http://schemas.microsoft.com/office/drawing/2014/main" id="{CEF79668-303A-2A42-A173-462E4CD7AE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673" name="Line 253">
                    <a:extLst>
                      <a:ext uri="{FF2B5EF4-FFF2-40B4-BE49-F238E27FC236}">
                        <a16:creationId xmlns:a16="http://schemas.microsoft.com/office/drawing/2014/main" id="{45F3942A-DF40-F34A-A548-41C0B8ED7B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669" name="Text Box 254">
                  <a:extLst>
                    <a:ext uri="{FF2B5EF4-FFF2-40B4-BE49-F238E27FC236}">
                      <a16:creationId xmlns:a16="http://schemas.microsoft.com/office/drawing/2014/main" id="{5325936F-8133-6E46-A67B-A6E04108BE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87" y="113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70" name="Text Box 255">
                  <a:extLst>
                    <a:ext uri="{FF2B5EF4-FFF2-40B4-BE49-F238E27FC236}">
                      <a16:creationId xmlns:a16="http://schemas.microsoft.com/office/drawing/2014/main" id="{1D11D61F-0F30-674D-AF2C-E9B484BE88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74" y="1132"/>
                  <a:ext cx="196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r>
                    <a:rPr lang="en-US" sz="75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644" name="Group 256">
                <a:extLst>
                  <a:ext uri="{FF2B5EF4-FFF2-40B4-BE49-F238E27FC236}">
                    <a16:creationId xmlns:a16="http://schemas.microsoft.com/office/drawing/2014/main" id="{49255246-CFE1-694B-A5FE-6873DD8506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8" y="1536"/>
                <a:ext cx="550" cy="325"/>
                <a:chOff x="5114" y="1518"/>
                <a:chExt cx="550" cy="325"/>
              </a:xfrm>
            </p:grpSpPr>
            <p:grpSp>
              <p:nvGrpSpPr>
                <p:cNvPr id="645" name="Group 257">
                  <a:extLst>
                    <a:ext uri="{FF2B5EF4-FFF2-40B4-BE49-F238E27FC236}">
                      <a16:creationId xmlns:a16="http://schemas.microsoft.com/office/drawing/2014/main" id="{725A4A1C-0CB7-FC49-85B4-2A8245B69D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75" y="1518"/>
                  <a:ext cx="196" cy="178"/>
                  <a:chOff x="5378" y="1518"/>
                  <a:chExt cx="196" cy="178"/>
                </a:xfrm>
              </p:grpSpPr>
              <p:sp>
                <p:nvSpPr>
                  <p:cNvPr id="665" name="Rectangle 258">
                    <a:extLst>
                      <a:ext uri="{FF2B5EF4-FFF2-40B4-BE49-F238E27FC236}">
                        <a16:creationId xmlns:a16="http://schemas.microsoft.com/office/drawing/2014/main" id="{33BF05F9-8282-9745-9268-4319E1CC13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418" y="1518"/>
                    <a:ext cx="81" cy="150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666" name="Text Box 259">
                    <a:extLst>
                      <a:ext uri="{FF2B5EF4-FFF2-40B4-BE49-F238E27FC236}">
                        <a16:creationId xmlns:a16="http://schemas.microsoft.com/office/drawing/2014/main" id="{0152F4B7-7302-7241-9F71-09CCA2E7570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78" y="1522"/>
                    <a:ext cx="19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lang="en-US" sz="75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646" name="Group 260">
                  <a:extLst>
                    <a:ext uri="{FF2B5EF4-FFF2-40B4-BE49-F238E27FC236}">
                      <a16:creationId xmlns:a16="http://schemas.microsoft.com/office/drawing/2014/main" id="{3E16CEAF-B7C1-0344-A719-EBE25C77AD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53" y="1666"/>
                  <a:ext cx="211" cy="177"/>
                  <a:chOff x="5261" y="1282"/>
                  <a:chExt cx="211" cy="177"/>
                </a:xfrm>
              </p:grpSpPr>
              <p:sp>
                <p:nvSpPr>
                  <p:cNvPr id="661" name="Rectangle 261">
                    <a:extLst>
                      <a:ext uri="{FF2B5EF4-FFF2-40B4-BE49-F238E27FC236}">
                        <a16:creationId xmlns:a16="http://schemas.microsoft.com/office/drawing/2014/main" id="{347D633B-4770-0B48-91C3-3ED698A1D0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07" y="1284"/>
                    <a:ext cx="81" cy="14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endParaRPr lang="en-US" sz="1350" dirty="0"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662" name="Group 262">
                    <a:extLst>
                      <a:ext uri="{FF2B5EF4-FFF2-40B4-BE49-F238E27FC236}">
                        <a16:creationId xmlns:a16="http://schemas.microsoft.com/office/drawing/2014/main" id="{2679B830-A1BE-F34E-8C84-6BD6A5CE0A5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61" y="1282"/>
                    <a:ext cx="211" cy="177"/>
                    <a:chOff x="857" y="1909"/>
                    <a:chExt cx="211" cy="177"/>
                  </a:xfrm>
                </p:grpSpPr>
                <p:sp>
                  <p:nvSpPr>
                    <p:cNvPr id="663" name="Text Box 263">
                      <a:extLst>
                        <a:ext uri="{FF2B5EF4-FFF2-40B4-BE49-F238E27FC236}">
                          <a16:creationId xmlns:a16="http://schemas.microsoft.com/office/drawing/2014/main" id="{12D2E9D4-6DA4-1F40-8F99-834EF4E2719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64" name="Text Box 264">
                      <a:extLst>
                        <a:ext uri="{FF2B5EF4-FFF2-40B4-BE49-F238E27FC236}">
                          <a16:creationId xmlns:a16="http://schemas.microsoft.com/office/drawing/2014/main" id="{D2428074-93A6-7041-9E52-8F24F858003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  <p:grpSp>
              <p:nvGrpSpPr>
                <p:cNvPr id="647" name="Group 265">
                  <a:extLst>
                    <a:ext uri="{FF2B5EF4-FFF2-40B4-BE49-F238E27FC236}">
                      <a16:creationId xmlns:a16="http://schemas.microsoft.com/office/drawing/2014/main" id="{B2923C2C-B32D-B646-81F4-48743D59A8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14" y="1663"/>
                  <a:ext cx="373" cy="180"/>
                  <a:chOff x="5426" y="1279"/>
                  <a:chExt cx="373" cy="180"/>
                </a:xfrm>
              </p:grpSpPr>
              <p:grpSp>
                <p:nvGrpSpPr>
                  <p:cNvPr id="648" name="Group 266">
                    <a:extLst>
                      <a:ext uri="{FF2B5EF4-FFF2-40B4-BE49-F238E27FC236}">
                        <a16:creationId xmlns:a16="http://schemas.microsoft.com/office/drawing/2014/main" id="{24B1581D-DCB1-DE40-B918-122F06DEBA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469" y="1284"/>
                    <a:ext cx="258" cy="144"/>
                    <a:chOff x="1353" y="1539"/>
                    <a:chExt cx="258" cy="144"/>
                  </a:xfrm>
                </p:grpSpPr>
                <p:sp>
                  <p:nvSpPr>
                    <p:cNvPr id="658" name="Rectangle 267">
                      <a:extLst>
                        <a:ext uri="{FF2B5EF4-FFF2-40B4-BE49-F238E27FC236}">
                          <a16:creationId xmlns:a16="http://schemas.microsoft.com/office/drawing/2014/main" id="{DE9B340E-B072-9C48-A98E-4AD255214E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53" y="1539"/>
                      <a:ext cx="258" cy="14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endParaRPr lang="en-US" sz="1350" dirty="0"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659" name="Line 268">
                      <a:extLst>
                        <a:ext uri="{FF2B5EF4-FFF2-40B4-BE49-F238E27FC236}">
                          <a16:creationId xmlns:a16="http://schemas.microsoft.com/office/drawing/2014/main" id="{E6391330-F505-0B46-BBBF-D0DA3DF6FE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21" y="1542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endParaRPr lang="en-US" sz="1350" dirty="0"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660" name="Line 269">
                      <a:extLst>
                        <a:ext uri="{FF2B5EF4-FFF2-40B4-BE49-F238E27FC236}">
                          <a16:creationId xmlns:a16="http://schemas.microsoft.com/office/drawing/2014/main" id="{19776BDD-4693-7C41-A5E5-4DCC74C2771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37" y="1545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endParaRPr lang="en-US" sz="1350" dirty="0"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649" name="Group 270">
                    <a:extLst>
                      <a:ext uri="{FF2B5EF4-FFF2-40B4-BE49-F238E27FC236}">
                        <a16:creationId xmlns:a16="http://schemas.microsoft.com/office/drawing/2014/main" id="{28D03778-4B65-F44A-A385-77A9FBD674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426" y="1282"/>
                    <a:ext cx="211" cy="177"/>
                    <a:chOff x="857" y="1909"/>
                    <a:chExt cx="211" cy="177"/>
                  </a:xfrm>
                </p:grpSpPr>
                <p:sp>
                  <p:nvSpPr>
                    <p:cNvPr id="656" name="Text Box 271">
                      <a:extLst>
                        <a:ext uri="{FF2B5EF4-FFF2-40B4-BE49-F238E27FC236}">
                          <a16:creationId xmlns:a16="http://schemas.microsoft.com/office/drawing/2014/main" id="{81D6076F-5BC3-A148-AB2C-C5D5C389F15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57" name="Text Box 272">
                      <a:extLst>
                        <a:ext uri="{FF2B5EF4-FFF2-40B4-BE49-F238E27FC236}">
                          <a16:creationId xmlns:a16="http://schemas.microsoft.com/office/drawing/2014/main" id="{6E686EE1-0336-C444-919F-155540BD222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650" name="Group 273">
                    <a:extLst>
                      <a:ext uri="{FF2B5EF4-FFF2-40B4-BE49-F238E27FC236}">
                        <a16:creationId xmlns:a16="http://schemas.microsoft.com/office/drawing/2014/main" id="{9AEE3B2A-A33A-FD48-AB98-1762623B3E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504" y="1282"/>
                    <a:ext cx="211" cy="177"/>
                    <a:chOff x="857" y="1909"/>
                    <a:chExt cx="211" cy="177"/>
                  </a:xfrm>
                </p:grpSpPr>
                <p:sp>
                  <p:nvSpPr>
                    <p:cNvPr id="654" name="Text Box 274">
                      <a:extLst>
                        <a:ext uri="{FF2B5EF4-FFF2-40B4-BE49-F238E27FC236}">
                          <a16:creationId xmlns:a16="http://schemas.microsoft.com/office/drawing/2014/main" id="{FF78F8BB-1136-384B-87D0-0FABBA77608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55" name="Text Box 275">
                      <a:extLst>
                        <a:ext uri="{FF2B5EF4-FFF2-40B4-BE49-F238E27FC236}">
                          <a16:creationId xmlns:a16="http://schemas.microsoft.com/office/drawing/2014/main" id="{540F050E-7AB6-DE43-9FE2-A8CBB750DA2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651" name="Group 276">
                    <a:extLst>
                      <a:ext uri="{FF2B5EF4-FFF2-40B4-BE49-F238E27FC236}">
                        <a16:creationId xmlns:a16="http://schemas.microsoft.com/office/drawing/2014/main" id="{E953BF9D-1B49-F14E-8125-4E69DC22D47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588" y="1279"/>
                    <a:ext cx="211" cy="177"/>
                    <a:chOff x="857" y="1909"/>
                    <a:chExt cx="211" cy="177"/>
                  </a:xfrm>
                </p:grpSpPr>
                <p:sp>
                  <p:nvSpPr>
                    <p:cNvPr id="652" name="Text Box 277">
                      <a:extLst>
                        <a:ext uri="{FF2B5EF4-FFF2-40B4-BE49-F238E27FC236}">
                          <a16:creationId xmlns:a16="http://schemas.microsoft.com/office/drawing/2014/main" id="{03AC9888-B6B3-2347-BFC8-24FE2B69140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53" name="Text Box 278">
                      <a:extLst>
                        <a:ext uri="{FF2B5EF4-FFF2-40B4-BE49-F238E27FC236}">
                          <a16:creationId xmlns:a16="http://schemas.microsoft.com/office/drawing/2014/main" id="{7B5941A7-A095-C24C-ACAB-2611A8386CC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defTabSz="685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defRPr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</p:grpSp>
        </p:grpSp>
      </p:grpSp>
      <p:sp>
        <p:nvSpPr>
          <p:cNvPr id="700" name="Text Box 279">
            <a:extLst>
              <a:ext uri="{FF2B5EF4-FFF2-40B4-BE49-F238E27FC236}">
                <a16:creationId xmlns:a16="http://schemas.microsoft.com/office/drawing/2014/main" id="{C3ADE7CF-6B1B-3A40-9C93-682DC2336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411" y="3585794"/>
            <a:ext cx="7200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701" name="Text Box 280">
            <a:extLst>
              <a:ext uri="{FF2B5EF4-FFF2-40B4-BE49-F238E27FC236}">
                <a16:creationId xmlns:a16="http://schemas.microsoft.com/office/drawing/2014/main" id="{2DB0E8B8-6D0F-1F45-B1C9-934903F41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170" y="3600082"/>
            <a:ext cx="7200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702" name="Line 281">
            <a:extLst>
              <a:ext uri="{FF2B5EF4-FFF2-40B4-BE49-F238E27FC236}">
                <a16:creationId xmlns:a16="http://schemas.microsoft.com/office/drawing/2014/main" id="{F43EEBF4-B5EC-504C-A57E-D613795D7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8085" y="3104781"/>
            <a:ext cx="7144" cy="710803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03" name="Line 282">
            <a:extLst>
              <a:ext uri="{FF2B5EF4-FFF2-40B4-BE49-F238E27FC236}">
                <a16:creationId xmlns:a16="http://schemas.microsoft.com/office/drawing/2014/main" id="{FEAE5ECD-62F9-FA44-9B46-8A7D1041AB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1757" y="3090494"/>
            <a:ext cx="7144" cy="710803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04" name="Line 283">
            <a:extLst>
              <a:ext uri="{FF2B5EF4-FFF2-40B4-BE49-F238E27FC236}">
                <a16:creationId xmlns:a16="http://schemas.microsoft.com/office/drawing/2014/main" id="{7B384DE4-6DB7-454D-B810-D17D965BC0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67575" y="3097638"/>
            <a:ext cx="7144" cy="710803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05" name="Text Box 285">
            <a:extLst>
              <a:ext uri="{FF2B5EF4-FFF2-40B4-BE49-F238E27FC236}">
                <a16:creationId xmlns:a16="http://schemas.microsoft.com/office/drawing/2014/main" id="{766AAAA2-BFCF-D943-8E92-00703B536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41" y="3097882"/>
            <a:ext cx="106978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2100" kern="1200" dirty="0">
                <a:solidFill>
                  <a:srgbClr val="C00000"/>
                </a:solidFill>
                <a:latin typeface="Calibri" panose="020F0502020204030204"/>
                <a:cs typeface="Arial" charset="0"/>
              </a:rPr>
              <a:t>receiver</a:t>
            </a:r>
            <a:endParaRPr lang="en-US" sz="1500" kern="1200" dirty="0">
              <a:solidFill>
                <a:srgbClr val="C00000"/>
              </a:solidFill>
              <a:latin typeface="Calibri" panose="020F0502020204030204"/>
              <a:cs typeface="Arial" charset="0"/>
            </a:endParaRPr>
          </a:p>
        </p:txBody>
      </p:sp>
      <p:sp>
        <p:nvSpPr>
          <p:cNvPr id="706" name="Text Box 286">
            <a:extLst>
              <a:ext uri="{FF2B5EF4-FFF2-40B4-BE49-F238E27FC236}">
                <a16:creationId xmlns:a16="http://schemas.microsoft.com/office/drawing/2014/main" id="{4E201B4B-D1A3-B34B-853E-C805C3492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429" y="3695331"/>
            <a:ext cx="559769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707" name="Text Box 287">
            <a:extLst>
              <a:ext uri="{FF2B5EF4-FFF2-40B4-BE49-F238E27FC236}">
                <a16:creationId xmlns:a16="http://schemas.microsoft.com/office/drawing/2014/main" id="{5FF38D44-BF76-924E-BEA5-D88A3CF1B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004" y="3121450"/>
            <a:ext cx="83869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received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50" kern="1200" dirty="0">
                <a:solidFill>
                  <a:srgbClr val="000000"/>
                </a:solidFill>
                <a:latin typeface="Arial" charset="0"/>
                <a:cs typeface="Arial" charset="0"/>
              </a:rPr>
              <a:t>input</a:t>
            </a:r>
          </a:p>
        </p:txBody>
      </p:sp>
      <p:sp>
        <p:nvSpPr>
          <p:cNvPr id="708" name="Line 288">
            <a:extLst>
              <a:ext uri="{FF2B5EF4-FFF2-40B4-BE49-F238E27FC236}">
                <a16:creationId xmlns:a16="http://schemas.microsoft.com/office/drawing/2014/main" id="{C7275329-6E61-6E46-B56D-07D7F6CE1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8294" y="3395293"/>
            <a:ext cx="239316" cy="357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709" name="Group 294">
            <a:extLst>
              <a:ext uri="{FF2B5EF4-FFF2-40B4-BE49-F238E27FC236}">
                <a16:creationId xmlns:a16="http://schemas.microsoft.com/office/drawing/2014/main" id="{B1EAA023-990A-9240-9585-BB2098908379}"/>
              </a:ext>
            </a:extLst>
          </p:cNvPr>
          <p:cNvGrpSpPr>
            <a:grpSpLocks/>
          </p:cNvGrpSpPr>
          <p:nvPr/>
        </p:nvGrpSpPr>
        <p:grpSpPr bwMode="auto">
          <a:xfrm>
            <a:off x="4676774" y="2541614"/>
            <a:ext cx="1164431" cy="758428"/>
            <a:chOff x="4239" y="2007"/>
            <a:chExt cx="978" cy="637"/>
          </a:xfrm>
        </p:grpSpPr>
        <p:sp>
          <p:nvSpPr>
            <p:cNvPr id="710" name="Text Box 187">
              <a:extLst>
                <a:ext uri="{FF2B5EF4-FFF2-40B4-BE49-F238E27FC236}">
                  <a16:creationId xmlns:a16="http://schemas.microsoft.com/office/drawing/2014/main" id="{8AC104B8-3AFC-404A-8890-2A936D10C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9" y="2047"/>
              <a:ext cx="978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3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  <a:r>
                <a:rPr lang="en-US" sz="135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 </a:t>
              </a:r>
              <a:r>
                <a:rPr lang="en-US" sz="13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= </a:t>
              </a:r>
              <a:r>
                <a:rPr lang="en-US" sz="2100" dirty="0">
                  <a:solidFill>
                    <a:srgbClr val="000000"/>
                  </a:solidFill>
                  <a:latin typeface="Symbol" charset="0"/>
                  <a:cs typeface="Arial" charset="0"/>
                </a:rPr>
                <a:t>S</a:t>
              </a:r>
              <a:r>
                <a:rPr lang="en-US" sz="135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</a:t>
              </a:r>
              <a:r>
                <a:rPr lang="en-US" sz="13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Z</a:t>
              </a:r>
              <a:r>
                <a:rPr lang="en-US" sz="135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i,m</a:t>
              </a:r>
              <a:r>
                <a:rPr lang="en-US" sz="1800" baseline="30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.</a:t>
              </a:r>
              <a:r>
                <a:rPr lang="en-US" sz="135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en-US" sz="135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</a:t>
              </a:r>
            </a:p>
          </p:txBody>
        </p:sp>
        <p:sp>
          <p:nvSpPr>
            <p:cNvPr id="711" name="Text Box 289">
              <a:extLst>
                <a:ext uri="{FF2B5EF4-FFF2-40B4-BE49-F238E27FC236}">
                  <a16:creationId xmlns:a16="http://schemas.microsoft.com/office/drawing/2014/main" id="{FCB34A07-4861-174C-8358-8A395B515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" y="2258"/>
              <a:ext cx="34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+mn-cs"/>
                </a:rPr>
                <a:t>m=1</a:t>
              </a:r>
            </a:p>
          </p:txBody>
        </p:sp>
        <p:sp>
          <p:nvSpPr>
            <p:cNvPr id="712" name="Text Box 290">
              <a:extLst>
                <a:ext uri="{FF2B5EF4-FFF2-40B4-BE49-F238E27FC236}">
                  <a16:creationId xmlns:a16="http://schemas.microsoft.com/office/drawing/2014/main" id="{BF575CBE-6E6F-6E48-BF85-CEA2918EC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1" y="2007"/>
              <a:ext cx="23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900" dirty="0">
                  <a:solidFill>
                    <a:srgbClr val="000000"/>
                  </a:solidFill>
                  <a:latin typeface="Arial" charset="0"/>
                  <a:cs typeface="+mn-cs"/>
                </a:rPr>
                <a:t>M</a:t>
              </a:r>
            </a:p>
          </p:txBody>
        </p:sp>
        <p:sp>
          <p:nvSpPr>
            <p:cNvPr id="713" name="Text Box 291">
              <a:extLst>
                <a:ext uri="{FF2B5EF4-FFF2-40B4-BE49-F238E27FC236}">
                  <a16:creationId xmlns:a16="http://schemas.microsoft.com/office/drawing/2014/main" id="{14D8E7C4-D8A4-D045-B820-AC56F1EA7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" y="2392"/>
              <a:ext cx="27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sz="1350" dirty="0">
                  <a:solidFill>
                    <a:srgbClr val="000000"/>
                  </a:solidFill>
                  <a:latin typeface="Arial" charset="0"/>
                  <a:cs typeface="+mn-cs"/>
                </a:rPr>
                <a:t>M</a:t>
              </a:r>
            </a:p>
          </p:txBody>
        </p:sp>
        <p:sp>
          <p:nvSpPr>
            <p:cNvPr id="714" name="Line 293">
              <a:extLst>
                <a:ext uri="{FF2B5EF4-FFF2-40B4-BE49-F238E27FC236}">
                  <a16:creationId xmlns:a16="http://schemas.microsoft.com/office/drawing/2014/main" id="{566C617A-A3D7-A846-9070-9BD1F795D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1" y="2410"/>
              <a:ext cx="55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350" dirty="0"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15" name="Freeform 300">
            <a:extLst>
              <a:ext uri="{FF2B5EF4-FFF2-40B4-BE49-F238E27FC236}">
                <a16:creationId xmlns:a16="http://schemas.microsoft.com/office/drawing/2014/main" id="{58127CAF-8C3E-7847-BB19-ADED23DCC983}"/>
              </a:ext>
            </a:extLst>
          </p:cNvPr>
          <p:cNvSpPr>
            <a:spLocks/>
          </p:cNvSpPr>
          <p:nvPr/>
        </p:nvSpPr>
        <p:spPr bwMode="auto">
          <a:xfrm>
            <a:off x="6732985" y="1439097"/>
            <a:ext cx="255984" cy="1032272"/>
          </a:xfrm>
          <a:custGeom>
            <a:avLst/>
            <a:gdLst>
              <a:gd name="T0" fmla="*/ 0 w 215"/>
              <a:gd name="T1" fmla="*/ 0 h 819"/>
              <a:gd name="T2" fmla="*/ 2147483647 w 215"/>
              <a:gd name="T3" fmla="*/ 0 h 819"/>
              <a:gd name="T4" fmla="*/ 2147483647 w 215"/>
              <a:gd name="T5" fmla="*/ 2147483647 h 81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" h="819">
                <a:moveTo>
                  <a:pt x="0" y="0"/>
                </a:moveTo>
                <a:lnTo>
                  <a:pt x="215" y="0"/>
                </a:lnTo>
                <a:lnTo>
                  <a:pt x="215" y="819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350" kern="120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16" name="Line 302">
            <a:extLst>
              <a:ext uri="{FF2B5EF4-FFF2-40B4-BE49-F238E27FC236}">
                <a16:creationId xmlns:a16="http://schemas.microsoft.com/office/drawing/2014/main" id="{719F039E-D32E-3D4D-85DB-096D3DA089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5829" y="2471369"/>
            <a:ext cx="416480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kern="120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17" name="Freeform 303">
            <a:extLst>
              <a:ext uri="{FF2B5EF4-FFF2-40B4-BE49-F238E27FC236}">
                <a16:creationId xmlns:a16="http://schemas.microsoft.com/office/drawing/2014/main" id="{2BEFB13F-083C-094A-802D-56E8B9394E6D}"/>
              </a:ext>
            </a:extLst>
          </p:cNvPr>
          <p:cNvSpPr>
            <a:spLocks/>
          </p:cNvSpPr>
          <p:nvPr/>
        </p:nvSpPr>
        <p:spPr bwMode="auto">
          <a:xfrm>
            <a:off x="2815829" y="2471369"/>
            <a:ext cx="297656" cy="867965"/>
          </a:xfrm>
          <a:custGeom>
            <a:avLst/>
            <a:gdLst>
              <a:gd name="T0" fmla="*/ 0 w 250"/>
              <a:gd name="T1" fmla="*/ 0 h 729"/>
              <a:gd name="T2" fmla="*/ 0 w 250"/>
              <a:gd name="T3" fmla="*/ 2147483647 h 729"/>
              <a:gd name="T4" fmla="*/ 2147483647 w 250"/>
              <a:gd name="T5" fmla="*/ 2147483647 h 7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0" h="729">
                <a:moveTo>
                  <a:pt x="0" y="0"/>
                </a:moveTo>
                <a:lnTo>
                  <a:pt x="0" y="729"/>
                </a:lnTo>
                <a:lnTo>
                  <a:pt x="250" y="729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350" kern="1200" dirty="0"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0BA5B-2BF5-67F8-C309-495249F6C6F2}"/>
              </a:ext>
            </a:extLst>
          </p:cNvPr>
          <p:cNvSpPr txBox="1"/>
          <p:nvPr/>
        </p:nvSpPr>
        <p:spPr>
          <a:xfrm>
            <a:off x="6624638" y="609484"/>
            <a:ext cx="260039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Encoded data in slot 1:</a:t>
            </a:r>
          </a:p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  -1*(+1,+1,+1,-1,+1,-1,-1,-1)</a:t>
            </a:r>
          </a:p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=    (-1,-1,-1,+1,-1,+1,+1,+1)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284-2F29-74F7-0DC3-36A6AC253ADB}"/>
              </a:ext>
            </a:extLst>
          </p:cNvPr>
          <p:cNvSpPr txBox="1"/>
          <p:nvPr/>
        </p:nvSpPr>
        <p:spPr>
          <a:xfrm>
            <a:off x="245384" y="4235695"/>
            <a:ext cx="499527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Decoded data in slot 1:</a:t>
            </a:r>
          </a:p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= (1/8)*(-1,-1,-1,1,-1,+1,+1,+1) ⋅ (+1,+1,+1,-1,+1,-1,-1,-1)</a:t>
            </a:r>
          </a:p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= -1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91790-BD28-8FB8-6C49-8C5DAE12005E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9142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" grpId="0" animBg="1"/>
      <p:bldP spid="7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BBCBFF-FD88-FD53-E515-707B10AC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encode/decode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692CBB-47A8-04A2-0277-ACC15F5FCC3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Sender 1 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(+1,+1,+1,-1,+1,-1,-1,-1)</a:t>
                </a:r>
              </a:p>
              <a:p>
                <a:r>
                  <a:rPr lang="en-US" dirty="0"/>
                  <a:t>Encoded data in slot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   -1*(+1,+1,+1,-1,+1,-1,-1,-1)</a:t>
                </a:r>
              </a:p>
              <a:p>
                <a:pPr lvl="1"/>
                <a:r>
                  <a:rPr lang="en-US" dirty="0"/>
                  <a:t>=      (-1,-1,-1,1,-1,+1,+1,+1)</a:t>
                </a:r>
              </a:p>
              <a:p>
                <a:r>
                  <a:rPr lang="en-US" dirty="0"/>
                  <a:t>Decoded data in slot 1 is normalized (divided by code length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) inner product of the encoded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Sender 1 Code: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US" dirty="0"/>
                  <a:t>= (1/8)*(-1,-1,-1,+1,-1,+1,+1,+1)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(+1,+1,+1,-1,+1,-1,-1,-1)</a:t>
                </a:r>
              </a:p>
              <a:p>
                <a:pPr lvl="1"/>
                <a:r>
                  <a:rPr lang="en-US" dirty="0"/>
                  <a:t>= (1/8)*((-1)*1+(-1)*1+(-1)*1+1*(-1) +(-1)*1+1*(-1)+1*(-1)+1*(-1))</a:t>
                </a:r>
              </a:p>
              <a:p>
                <a:pPr lvl="1"/>
                <a:r>
                  <a:rPr lang="en-US" dirty="0"/>
                  <a:t>= (1/8)*(-8)</a:t>
                </a:r>
              </a:p>
              <a:p>
                <a:pPr lvl="1"/>
                <a:r>
                  <a:rPr lang="en-US" dirty="0"/>
                  <a:t>= -1</a:t>
                </a:r>
              </a:p>
              <a:p>
                <a:endParaRPr lang="en-SE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692CBB-47A8-04A2-0277-ACC15F5FC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9F6F0-F0BE-6B4C-A3C0-B99A2C9B51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9D4D9-EF81-FF6B-E779-4931268F615B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360340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CDMA: two-sender interference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B2CBF9-4489-C076-4D62-ECFE834B2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/>
              <a:pPr/>
              <a:t>47</a:t>
            </a:fld>
            <a:endParaRPr lang="en-US" dirty="0"/>
          </a:p>
        </p:txBody>
      </p:sp>
      <p:pic>
        <p:nvPicPr>
          <p:cNvPr id="295" name="Picture 3" descr="5">
            <a:extLst>
              <a:ext uri="{FF2B5EF4-FFF2-40B4-BE49-F238E27FC236}">
                <a16:creationId xmlns:a16="http://schemas.microsoft.com/office/drawing/2014/main" id="{36C38E2C-4E51-7349-B2FC-F7572D473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24" y="639320"/>
            <a:ext cx="4217721" cy="446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" name="TextBox 1">
            <a:extLst>
              <a:ext uri="{FF2B5EF4-FFF2-40B4-BE49-F238E27FC236}">
                <a16:creationId xmlns:a16="http://schemas.microsoft.com/office/drawing/2014/main" id="{F140E95D-3F84-634C-9A02-B246B2C38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9280" y="3129196"/>
            <a:ext cx="2782490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kern="1200" dirty="0">
                <a:solidFill>
                  <a:srgbClr val="000099"/>
                </a:solidFill>
                <a:latin typeface="Calibri" panose="020F0502020204030204"/>
                <a:cs typeface="Gill Sans MT" charset="0"/>
              </a:rPr>
              <a:t>using same code as sender 1, receiver recovers sender 1’s original data from summed channel data!</a:t>
            </a:r>
          </a:p>
        </p:txBody>
      </p:sp>
      <p:sp>
        <p:nvSpPr>
          <p:cNvPr id="297" name="TextBox 7">
            <a:extLst>
              <a:ext uri="{FF2B5EF4-FFF2-40B4-BE49-F238E27FC236}">
                <a16:creationId xmlns:a16="http://schemas.microsoft.com/office/drawing/2014/main" id="{09EF984F-02A4-AE44-AB15-EDCB93C8F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972" y="1348979"/>
            <a:ext cx="1047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kern="1200" dirty="0">
                <a:solidFill>
                  <a:srgbClr val="000099"/>
                </a:solidFill>
                <a:latin typeface="Calibri Light" panose="020F0302020204030204"/>
                <a:cs typeface="Gill Sans MT" charset="0"/>
              </a:rPr>
              <a:t>Sender 1</a:t>
            </a:r>
          </a:p>
        </p:txBody>
      </p:sp>
      <p:sp>
        <p:nvSpPr>
          <p:cNvPr id="298" name="TextBox 8">
            <a:extLst>
              <a:ext uri="{FF2B5EF4-FFF2-40B4-BE49-F238E27FC236}">
                <a16:creationId xmlns:a16="http://schemas.microsoft.com/office/drawing/2014/main" id="{5FF6A3D7-E543-604B-8421-97434E701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0734" y="2149079"/>
            <a:ext cx="98381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kern="1200" dirty="0">
                <a:solidFill>
                  <a:srgbClr val="000099"/>
                </a:solidFill>
                <a:latin typeface="Calibri Light" panose="020F0302020204030204"/>
                <a:cs typeface="Gill Sans MT" charset="0"/>
              </a:rPr>
              <a:t>Sender 2</a:t>
            </a:r>
          </a:p>
        </p:txBody>
      </p:sp>
      <p:sp>
        <p:nvSpPr>
          <p:cNvPr id="299" name="TextBox 9">
            <a:extLst>
              <a:ext uri="{FF2B5EF4-FFF2-40B4-BE49-F238E27FC236}">
                <a16:creationId xmlns:a16="http://schemas.microsoft.com/office/drawing/2014/main" id="{F8ED1740-EE66-7A44-B101-8A652D0EE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61" y="670915"/>
            <a:ext cx="2468165" cy="84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kern="1200" dirty="0">
                <a:solidFill>
                  <a:srgbClr val="000099"/>
                </a:solidFill>
                <a:latin typeface="Calibri" panose="020F0502020204030204"/>
                <a:cs typeface="Gill Sans MT" charset="0"/>
              </a:rPr>
              <a:t>channel sums together transmissions by sender 1 and 2</a:t>
            </a:r>
          </a:p>
        </p:txBody>
      </p:sp>
      <p:cxnSp>
        <p:nvCxnSpPr>
          <p:cNvPr id="300" name="Straight Connector 3">
            <a:extLst>
              <a:ext uri="{FF2B5EF4-FFF2-40B4-BE49-F238E27FC236}">
                <a16:creationId xmlns:a16="http://schemas.microsoft.com/office/drawing/2014/main" id="{23A37B6F-F66B-7B4B-8770-CCC19B92994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37829" y="812600"/>
            <a:ext cx="328613" cy="484584"/>
          </a:xfrm>
          <a:prstGeom prst="line">
            <a:avLst/>
          </a:prstGeom>
          <a:noFill/>
          <a:ln w="2540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E8A350A-A5B1-5E40-B020-BBAE8B171445}"/>
              </a:ext>
            </a:extLst>
          </p:cNvPr>
          <p:cNvSpPr/>
          <p:nvPr/>
        </p:nvSpPr>
        <p:spPr>
          <a:xfrm>
            <a:off x="2400300" y="876300"/>
            <a:ext cx="904875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B0485-674A-1545-B66D-393FD9C2F9B6}"/>
              </a:ext>
            </a:extLst>
          </p:cNvPr>
          <p:cNvSpPr txBox="1"/>
          <p:nvPr/>
        </p:nvSpPr>
        <p:spPr>
          <a:xfrm>
            <a:off x="6084389" y="4118799"/>
            <a:ext cx="31940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8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(</a:t>
            </a:r>
            <a:r>
              <a:rPr lang="en-US" sz="18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provided the codes for different</a:t>
            </a:r>
          </a:p>
          <a:p>
            <a:pPr defTabSz="685800">
              <a:buClrTx/>
            </a:pPr>
            <a:r>
              <a:rPr lang="en-US" sz="18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senders are orthogonal)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03135-E897-2572-86D8-8AAF8124F11D}"/>
              </a:ext>
            </a:extLst>
          </p:cNvPr>
          <p:cNvSpPr txBox="1"/>
          <p:nvPr/>
        </p:nvSpPr>
        <p:spPr>
          <a:xfrm>
            <a:off x="4853354" y="3323492"/>
            <a:ext cx="103265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M=8 (# bits)</a:t>
            </a:r>
            <a:endParaRPr lang="en-SE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33848-42D4-F5DA-6DA8-1DA9CA555D45}"/>
              </a:ext>
            </a:extLst>
          </p:cNvPr>
          <p:cNvSpPr txBox="1"/>
          <p:nvPr/>
        </p:nvSpPr>
        <p:spPr>
          <a:xfrm>
            <a:off x="6459478" y="1488062"/>
            <a:ext cx="26917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Encoded data in slot 1:</a:t>
            </a:r>
          </a:p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  -1*(+1,+1,+1,-1,+1,-1,-1,-1)</a:t>
            </a:r>
          </a:p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+ 1*(+1,-1,+1,+1,+1,-1,+1,+1)</a:t>
            </a:r>
          </a:p>
          <a:p>
            <a:pPr defTabSz="685800">
              <a:buClrTx/>
            </a:pPr>
            <a:r>
              <a:rPr lang="en-US" sz="1500" kern="1200" dirty="0">
                <a:latin typeface="Arial" charset="0"/>
                <a:ea typeface="+mn-ea"/>
                <a:cs typeface="Arial" charset="0"/>
              </a:rPr>
              <a:t>=     (0,-2,0,2,0,0,2,2) </a:t>
            </a:r>
            <a:endParaRPr lang="en-US" sz="1500" kern="1200" baseline="-25000" dirty="0">
              <a:latin typeface="Arial" charset="0"/>
              <a:ea typeface="+mn-ea"/>
              <a:cs typeface="Arial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748527-0A42-E5C6-A6F6-196807673859}"/>
                  </a:ext>
                </a:extLst>
              </p:cNvPr>
              <p:cNvSpPr txBox="1"/>
              <p:nvPr/>
            </p:nvSpPr>
            <p:spPr>
              <a:xfrm>
                <a:off x="31119" y="3778446"/>
                <a:ext cx="2590800" cy="1340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:r>
                  <a:rPr lang="en-US" sz="1350" kern="1200" dirty="0">
                    <a:latin typeface="Arial" charset="0"/>
                    <a:ea typeface="+mn-ea"/>
                    <a:cs typeface="Arial" charset="0"/>
                  </a:rPr>
                  <a:t>Decoded data in slot 1 for Sender 1:</a:t>
                </a:r>
              </a:p>
              <a:p>
                <a:pPr defTabSz="685800">
                  <a:buClrTx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1350" i="1" kern="1200">
                            <a:latin typeface="Cambria Math" panose="02040503050406030204" pitchFamily="18" charset="0"/>
                            <a:ea typeface="+mn-ea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sz="1350" i="1" kern="1200">
                            <a:latin typeface="Cambria Math" panose="02040503050406030204" pitchFamily="18" charset="0"/>
                            <a:ea typeface="+mn-ea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1350" i="1" kern="1200">
                            <a:latin typeface="Cambria Math" panose="02040503050406030204" pitchFamily="18" charset="0"/>
                            <a:ea typeface="+mn-ea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sz="1350" i="1" kern="1200">
                            <a:latin typeface="Cambria Math" panose="02040503050406030204" pitchFamily="18" charset="0"/>
                            <a:ea typeface="+mn-ea"/>
                            <a:cs typeface="Arial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1350" kern="1200" dirty="0">
                    <a:latin typeface="Arial" charset="0"/>
                    <a:ea typeface="+mn-ea"/>
                    <a:cs typeface="Arial" charset="0"/>
                  </a:rPr>
                  <a:t>=(1/8)*(0*1+(-2)*1+0*1+2*(-1)</a:t>
                </a:r>
              </a:p>
              <a:p>
                <a:pPr defTabSz="685800">
                  <a:buClrTx/>
                </a:pPr>
                <a:r>
                  <a:rPr lang="en-US" sz="1350" kern="1200" dirty="0">
                    <a:latin typeface="Arial" charset="0"/>
                    <a:ea typeface="+mn-ea"/>
                    <a:cs typeface="Arial" charset="0"/>
                  </a:rPr>
                  <a:t>+0*1+0*(-1)+2*(-1)+2*(-1))</a:t>
                </a:r>
              </a:p>
              <a:p>
                <a:pPr defTabSz="685800">
                  <a:buClrTx/>
                </a:pPr>
                <a:r>
                  <a:rPr lang="en-US" sz="1350" kern="1200" dirty="0">
                    <a:latin typeface="Arial" charset="0"/>
                    <a:ea typeface="+mn-ea"/>
                    <a:cs typeface="Arial" charset="0"/>
                  </a:rPr>
                  <a:t>=(1/8)*(-8)=-1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748527-0A42-E5C6-A6F6-196807673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9" y="3778446"/>
                <a:ext cx="2590800" cy="1340945"/>
              </a:xfrm>
              <a:prstGeom prst="rect">
                <a:avLst/>
              </a:prstGeom>
              <a:blipFill>
                <a:blip r:embed="rId4"/>
                <a:stretch>
                  <a:fillRect l="-471" t="-909"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3922A1-0C18-E593-1415-AC6AEBA5EBF6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04328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5E792C-88E7-48F0-8D3C-E013D3C9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CDMA: two-sender interference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52D94D7-984A-1CCB-85EF-A8F2A274DD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Orthogonal codes:</a:t>
                </a:r>
              </a:p>
              <a:p>
                <a:pPr lvl="1"/>
                <a:r>
                  <a:rPr lang="en-US" dirty="0"/>
                  <a:t>Sender 1 Code: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GB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=1…8</m:t>
                    </m:r>
                  </m:oMath>
                </a14:m>
                <a:r>
                  <a:rPr lang="en-US" dirty="0"/>
                  <a:t>: (+1,+1,+1,-1,+1,-1,-1,-1)</a:t>
                </a:r>
              </a:p>
              <a:p>
                <a:pPr lvl="1"/>
                <a:r>
                  <a:rPr lang="en-US" dirty="0"/>
                  <a:t>Sender 2 Code: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=1…8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r>
                  <a:rPr lang="en-US" dirty="0"/>
                  <a:t> (+1,-1,+1,+1,+1,-1,+1,+1)</a:t>
                </a:r>
              </a:p>
              <a:p>
                <a:pPr lvl="1"/>
                <a:r>
                  <a:rPr lang="en-US" dirty="0"/>
                  <a:t>The two codes are orthogonal since their inner product is 0: </a:t>
                </a:r>
              </a:p>
              <a:p>
                <a:pPr lvl="1"/>
                <a:r>
                  <a:rPr lang="en-US" dirty="0"/>
                  <a:t>(+1,+1,+1,-1,+1,-1,-1,-1)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(+1,-1,+1,+1,+1,-1,+1,+1)</a:t>
                </a:r>
              </a:p>
              <a:p>
                <a:pPr lvl="1"/>
                <a:r>
                  <a:rPr lang="en-US" dirty="0"/>
                  <a:t>=1*1+1*(-1)+1*1+(-1)*1 +1*1+(-1)*(-1)+(-1)*1+(-1)*1</a:t>
                </a:r>
              </a:p>
              <a:p>
                <a:pPr lvl="1"/>
                <a:r>
                  <a:rPr lang="en-US" dirty="0"/>
                  <a:t>=0</a:t>
                </a:r>
              </a:p>
              <a:p>
                <a:r>
                  <a:rPr lang="en-US" dirty="0"/>
                  <a:t>Encoded data in slot 1 is sum of encoded -1 for Sender 1 and encoded 1 for Sender 2: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GB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GB" smtClean="0">
                        <a:latin typeface="Cambria Math" panose="02040503050406030204" pitchFamily="18" charset="0"/>
                      </a:rPr>
                      <m:t>∗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GB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GB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>
                        <a:latin typeface="Cambria Math" panose="02040503050406030204" pitchFamily="18" charset="0"/>
                      </a:rPr>
                      <m:t>∗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-1*(+1,+1,+1,-1,+1,-1,-1,-1) + 1*(+1,-1,+1,+1,+1,-1,+1,+1)</a:t>
                </a:r>
              </a:p>
              <a:p>
                <a:pPr lvl="1"/>
                <a:r>
                  <a:rPr lang="en-US" dirty="0"/>
                  <a:t>= (0,-2,0,2,0,0,2,2)</a:t>
                </a:r>
              </a:p>
              <a:p>
                <a:r>
                  <a:rPr lang="en-US" dirty="0"/>
                  <a:t>Decoded data for Sender 1 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(1/8)*(0,-2,0,2,0,0,2,2)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(+1,+1,+1,-1,+1,-1,-1,-1)</a:t>
                </a:r>
                <a:r>
                  <a:rPr lang="en-GB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=(1/8)*(0*1+(-2)*1+0*1+2*(-1) +0*1+0*(-1)+2*(-1)+2*(-1))</a:t>
                </a:r>
              </a:p>
              <a:p>
                <a:pPr lvl="1"/>
                <a:r>
                  <a:rPr lang="en-US" dirty="0"/>
                  <a:t>=(1/8)*(-8)</a:t>
                </a:r>
              </a:p>
              <a:p>
                <a:pPr lvl="1"/>
                <a:r>
                  <a:rPr lang="en-US" dirty="0"/>
                  <a:t>=-1</a:t>
                </a:r>
              </a:p>
              <a:p>
                <a:r>
                  <a:rPr lang="en-US" dirty="0"/>
                  <a:t>Decoded data for Sender 2 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= (1/8)*(0,-2,0,2,0,0,2,2)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(+1,-1,+1,+1,+1,-1,+1,+1)</a:t>
                </a:r>
                <a:r>
                  <a:rPr lang="en-GB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=(1/8)*(0*1+(-2)*(-1)+0*1+2*1+0*1+0*(-1)+2*1+2*1)</a:t>
                </a:r>
              </a:p>
              <a:p>
                <a:pPr lvl="1"/>
                <a:r>
                  <a:rPr lang="en-US" dirty="0"/>
                  <a:t>=(1/8)*8</a:t>
                </a:r>
              </a:p>
              <a:p>
                <a:pPr lvl="1"/>
                <a:r>
                  <a:rPr lang="en-US" dirty="0"/>
                  <a:t>=1</a:t>
                </a:r>
                <a:endParaRPr lang="en-SE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52D94D7-984A-1CCB-85EF-A8F2A274D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18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20F84-7808-D8A3-F711-8B7A5616CF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48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48906-BC08-6760-5ED0-61345243843C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622880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97560D-5726-82B1-B4CB-84FB0571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CDMA: two-sender interference: </a:t>
            </a:r>
            <a:r>
              <a:rPr lang="en-US" altLang="zh-CN" dirty="0"/>
              <a:t>Sender 1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Decoded data for Sender 1 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=(1/8)*((-1)*(+1,+1,+1,-1,+1,-1,-1,-1) +(+1)*(+1,-1,+1,+1,+1,-1,+1,+1))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(+1,+1,+1,-1,+1,-1,-1,-1)) </a:t>
                </a:r>
              </a:p>
              <a:p>
                <a:r>
                  <a:rPr lang="en-GB" dirty="0"/>
                  <a:t>=</a:t>
                </a:r>
                <a:r>
                  <a:rPr lang="en-US" dirty="0"/>
                  <a:t>(1/8)*((-1)*(+1,+1,+1,-1,+1,-1,-1,-1)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(+1,+1,+1,-1,1,-1,-1,-1) + (1/8)*(+1)*(+1,-1,+1,+1,+1,-1,+1,+1)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(+1,+1,+1,-1,+1,-1,-1,-1))</a:t>
                </a:r>
              </a:p>
              <a:p>
                <a:r>
                  <a:rPr lang="en-US" dirty="0"/>
                  <a:t>(</a:t>
                </a:r>
                <a:r>
                  <a:rPr lang="en-GB" dirty="0"/>
                  <a:t>First term: </a:t>
                </a:r>
                <a:r>
                  <a:rPr lang="en-US" dirty="0"/>
                  <a:t>Sender 1 Code’s </a:t>
                </a:r>
                <a:r>
                  <a:rPr lang="en-GB" dirty="0"/>
                  <a:t>inner product with itself is sum of M 1’s, M=8 is its dimension. Second term: </a:t>
                </a:r>
                <a:r>
                  <a:rPr lang="en-US" dirty="0"/>
                  <a:t>Sender 1 Code’s </a:t>
                </a:r>
                <a:r>
                  <a:rPr lang="en-GB" dirty="0"/>
                  <a:t>inner product with </a:t>
                </a:r>
                <a:r>
                  <a:rPr lang="en-US" dirty="0"/>
                  <a:t>Sender 2 Code</a:t>
                </a:r>
                <a:r>
                  <a:rPr lang="en-GB" dirty="0"/>
                  <a:t> equals 0, since the codes for different senders are orthogonal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= (1/8)*(-1*(1+1+1+1+1+1+1+1) + 1*(1*1+1*(-1)+1*1+(-1)*1 +1*1+(-1)*(-1)+(-1)*1+(-1)*1))</a:t>
                </a:r>
              </a:p>
              <a:p>
                <a:r>
                  <a:rPr lang="en-US" dirty="0"/>
                  <a:t>= (1/8)*(-1*8+(+1)*0)</a:t>
                </a:r>
              </a:p>
              <a:p>
                <a:r>
                  <a:rPr lang="en-US" dirty="0"/>
                  <a:t>= -1</a:t>
                </a:r>
              </a:p>
              <a:p>
                <a:endParaRPr lang="en-SE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4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FA93-76D3-ABFA-24D2-B752466043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49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471F5-A80C-8713-ABEC-267226AD2685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432677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97560D-5726-82B1-B4CB-84FB0571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CDMA: two-sender interference: </a:t>
            </a:r>
            <a:r>
              <a:rPr lang="en-US" altLang="zh-CN" dirty="0"/>
              <a:t>Sender 2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Decoded data for Sender 2 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=(1/8)*((-1)*(+1,+1,+1,-1,+1,-1,-1,-1) + 1*(+1,-1,+1,+1,+1,-1,+1,+1))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(+1,-1,+1,+1,+1,-1,+1,+1) </a:t>
                </a:r>
              </a:p>
              <a:p>
                <a:r>
                  <a:rPr lang="en-GB" dirty="0"/>
                  <a:t>=</a:t>
                </a:r>
                <a:r>
                  <a:rPr lang="en-US" dirty="0"/>
                  <a:t>(1/8)*((-1)*(+1,+1,+1,-1,+1,-1,-1,-1)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(+1,-1,+1,+1,+1,-1,+1,+1) + (1/8)*1*(+1,-1,+1,+1,+1,-1,+1,+1)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(+1,-1,+1,+1,+1,-1,+1,+1))</a:t>
                </a:r>
              </a:p>
              <a:p>
                <a:r>
                  <a:rPr lang="en-US" dirty="0"/>
                  <a:t>(</a:t>
                </a:r>
                <a:r>
                  <a:rPr lang="en-GB" dirty="0"/>
                  <a:t>First term: </a:t>
                </a:r>
                <a:r>
                  <a:rPr lang="en-US" dirty="0"/>
                  <a:t>Sender 1 Code’s </a:t>
                </a:r>
                <a:r>
                  <a:rPr lang="en-GB" dirty="0"/>
                  <a:t>inner product with </a:t>
                </a:r>
                <a:r>
                  <a:rPr lang="en-US" dirty="0"/>
                  <a:t>Sender 2 Code</a:t>
                </a:r>
                <a:r>
                  <a:rPr lang="en-GB" dirty="0"/>
                  <a:t> equals 0, since the codes for different senders are orthogonal. Second term: </a:t>
                </a:r>
                <a:r>
                  <a:rPr lang="en-US" dirty="0"/>
                  <a:t>Sender 2 Code’s </a:t>
                </a:r>
                <a:r>
                  <a:rPr lang="en-GB" dirty="0"/>
                  <a:t>inner product with itself is sum of M 1’s, M=8 is its dimension.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= (1/8)*(-1*0 + 1*(1*1+(-1)*(-1)+1*1+1*1+1*1+(-1)*(-1) +1*1+1*1))</a:t>
                </a:r>
              </a:p>
              <a:p>
                <a:r>
                  <a:rPr lang="en-US" dirty="0"/>
                  <a:t>= (1/8)*(-1*0 + 1*8)</a:t>
                </a:r>
              </a:p>
              <a:p>
                <a:r>
                  <a:rPr lang="en-US" dirty="0"/>
                  <a:t>= +1</a:t>
                </a:r>
              </a:p>
              <a:p>
                <a:endParaRPr lang="en-SE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53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FA93-76D3-ABFA-24D2-B752466043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50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9B62-6B48-0E88-ABA6-190D20B8FB8D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131003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8E8566-209D-29BA-53DB-FB88E454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1  CDMA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B9773-F2B9-2CB3-3A6E-F850DF66FA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de-DE" dirty="0"/>
                  <a:t>Q1: Consider the codes for two senders: Sender 1 Code: (+1,-1,-1,-1,+1,-1,-1,-1), Sender 2 Code: (+1,-1,+1,-1,+1,-1,+1,-1). Are they orthogonal?</a:t>
                </a:r>
              </a:p>
              <a:p>
                <a:r>
                  <a:rPr lang="de-DE" dirty="0"/>
                  <a:t>A: Inner product (+1,-1,-1,-1,+1,-1,-1,-1)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(+1,-1,+1,-1,+1,-1,+1,-1) = 4, so not orthogonal</a:t>
                </a:r>
              </a:p>
              <a:p>
                <a:r>
                  <a:rPr lang="de-DE" dirty="0"/>
                  <a:t>Q2: Consider the codes for two senders: </a:t>
                </a:r>
                <a:r>
                  <a:rPr lang="en-US" dirty="0"/>
                  <a:t>Sender 1 Code: (+1,-1,+1,-1,+1,-1,-1,-1), Sender 2 Code: (+1,+1,+1,+1,+1,+1,+1,-1). Are they orthogonal?</a:t>
                </a:r>
              </a:p>
              <a:p>
                <a:r>
                  <a:rPr lang="de-DE" dirty="0"/>
                  <a:t>A: inner product </a:t>
                </a:r>
                <a:r>
                  <a:rPr lang="en-US" dirty="0"/>
                  <a:t>(+1,-1,+1,-1,+1,-1,-1,-1)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(+1,+1,+1,+1,+1,+1,+1,-1)</a:t>
                </a:r>
                <a:r>
                  <a:rPr lang="de-DE" dirty="0"/>
                  <a:t> = 0, so they are orthogonal</a:t>
                </a:r>
              </a:p>
              <a:p>
                <a:r>
                  <a:rPr lang="de-DE" dirty="0"/>
                  <a:t>Q3: With the codes in Q2, suppose Sender 1 sends data bit 1 and Sender 2 sends data bit -1 simultaneously, compute the encoded data.</a:t>
                </a:r>
              </a:p>
              <a:p>
                <a:r>
                  <a:rPr lang="de-DE" dirty="0"/>
                  <a:t>A: (+1)*</a:t>
                </a:r>
                <a:r>
                  <a:rPr lang="en-US" dirty="0"/>
                  <a:t>(+1,-1,+1,-1,+1,-1,-1,-1) + (-1)*(+1,+1,+1,+1,+1,+1,+1,-1)=(0,-2,0,-2,0,-2,-2,0)</a:t>
                </a:r>
                <a:endParaRPr lang="de-DE" dirty="0"/>
              </a:p>
              <a:p>
                <a:r>
                  <a:rPr lang="de-DE" dirty="0"/>
                  <a:t>Q4: Compute the decoded data bit for Sender 1 and decoded data bit Sender 2.</a:t>
                </a:r>
              </a:p>
              <a:p>
                <a:r>
                  <a:rPr lang="de-DE" dirty="0"/>
                  <a:t>A: Decoded bit for Sender 1: (1/8)*</a:t>
                </a:r>
                <a:r>
                  <a:rPr lang="en-US" dirty="0"/>
                  <a:t>(0,-2,0,-2,0,-2,-2,0)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(+1,-1,+1,-1,+1,-1,-1,-1) = +1</a:t>
                </a:r>
              </a:p>
              <a:p>
                <a:r>
                  <a:rPr lang="de-DE" dirty="0"/>
                  <a:t>Decoded bit for Sender 2: (1/8)*</a:t>
                </a:r>
                <a:r>
                  <a:rPr lang="en-US" dirty="0"/>
                  <a:t>(0,-2,0,-2,0,-2,-2,0)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(+1,+1,+1,+1,+1,+1,+1,-1) = -1</a:t>
                </a:r>
                <a:endParaRPr lang="en-SE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B9773-F2B9-2CB3-3A6E-F850DF66FA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4419F-ADD9-75BB-A58B-6E9F9F8D26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51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882E8D-0883-4C0D-9D63-9E048ACCB3FA}"/>
                  </a:ext>
                </a:extLst>
              </p14:cNvPr>
              <p14:cNvContentPartPr/>
              <p14:nvPr/>
            </p14:nvContentPartPr>
            <p14:xfrm>
              <a:off x="2777810" y="2022405"/>
              <a:ext cx="270" cy="27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882E8D-0883-4C0D-9D63-9E048ACCB3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1060" y="20156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323A91-0750-4E53-BD63-DB45D5CE8721}"/>
                  </a:ext>
                </a:extLst>
              </p14:cNvPr>
              <p14:cNvContentPartPr/>
              <p14:nvPr/>
            </p14:nvContentPartPr>
            <p14:xfrm>
              <a:off x="2777810" y="1906035"/>
              <a:ext cx="270" cy="27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323A91-0750-4E53-BD63-DB45D5CE87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1060" y="189928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3F6420-A45E-4AAE-915E-30254180F16C}"/>
                  </a:ext>
                </a:extLst>
              </p14:cNvPr>
              <p14:cNvContentPartPr/>
              <p14:nvPr/>
            </p14:nvContentPartPr>
            <p14:xfrm>
              <a:off x="2301260" y="1975695"/>
              <a:ext cx="270" cy="27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3F6420-A45E-4AAE-915E-30254180F1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4510" y="196894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46BBC98-BBAF-4425-A884-A36140536F40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126640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57F3D0-9372-A31D-96F6-557E17D4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 </a:t>
            </a:r>
            <a:r>
              <a:rPr lang="en-GB"/>
              <a:t>CDMA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E6B04AE-9954-E68A-70FD-07645FD50F1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GB" dirty="0"/>
                  <a:t>Q: A CDMA receiver receives the following encoded data: </a:t>
                </a:r>
              </a:p>
              <a:p>
                <a:r>
                  <a:rPr lang="en-GB" dirty="0"/>
                  <a:t>(-1 +1 -3 +1 -1 -3 +1 +1). </a:t>
                </a:r>
              </a:p>
              <a:p>
                <a:r>
                  <a:rPr lang="en-GB"/>
                  <a:t>Assuming the </a:t>
                </a:r>
                <a:r>
                  <a:rPr lang="en-GB" dirty="0"/>
                  <a:t>following codes used by four sending stations (they are pairwise orthogonal to each other), </a:t>
                </a:r>
              </a:p>
              <a:p>
                <a:pPr lvl="1"/>
                <a:r>
                  <a:rPr lang="pt-BR" dirty="0"/>
                  <a:t>A=(-1,-1,-1,+1,+1,-1,+1,+1)</a:t>
                </a:r>
              </a:p>
              <a:p>
                <a:pPr lvl="1"/>
                <a:r>
                  <a:rPr lang="pt-BR" dirty="0"/>
                  <a:t>B=(-1,-1,+1,-1,+1,+1,+1,-1)</a:t>
                </a:r>
              </a:p>
              <a:p>
                <a:pPr lvl="1"/>
                <a:r>
                  <a:rPr lang="pt-BR" dirty="0"/>
                  <a:t>C=(-1,+1,-1,+1,+1,+1,-1,-1)</a:t>
                </a:r>
              </a:p>
              <a:p>
                <a:pPr lvl="1"/>
                <a:r>
                  <a:rPr lang="pt-BR" dirty="0"/>
                  <a:t>D=(-1,+1,-1,-1,-1,-1,+1,-1)</a:t>
                </a:r>
                <a:endParaRPr lang="en-GB" dirty="0"/>
              </a:p>
              <a:p>
                <a:r>
                  <a:rPr lang="en-GB" dirty="0"/>
                  <a:t>which stations  transmitted, and which bits did each one send?</a:t>
                </a:r>
              </a:p>
              <a:p>
                <a:r>
                  <a:rPr lang="en-GB" dirty="0"/>
                  <a:t>A: Compute the normalized inner products with each code:</a:t>
                </a:r>
              </a:p>
              <a:p>
                <a:pPr lvl="1"/>
                <a:r>
                  <a:rPr lang="en-GB" dirty="0"/>
                  <a:t>A’s data:(1/8)*(-1 +1 -3 +1 -1 -3 +1 +1)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pt-BR" dirty="0"/>
                  <a:t> (-1,-1,-1,+1,+1,-1,+1,+1)</a:t>
                </a:r>
                <a:r>
                  <a:rPr lang="en-SE" dirty="0"/>
                  <a:t> = 1</a:t>
                </a:r>
              </a:p>
              <a:p>
                <a:pPr lvl="1"/>
                <a:r>
                  <a:rPr lang="en-GB" dirty="0"/>
                  <a:t>B’s data:(1/8)*(-1 +1 -3 +1 -1 -3 +1 +1)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pt-BR" dirty="0"/>
                  <a:t> </a:t>
                </a:r>
                <a:r>
                  <a:rPr lang="en-SE" dirty="0"/>
                  <a:t>(-1-1+1-1+1+1+1-1) =-1</a:t>
                </a:r>
              </a:p>
              <a:p>
                <a:pPr lvl="1"/>
                <a:r>
                  <a:rPr lang="en-GB" dirty="0"/>
                  <a:t>C’s data:(1/8)*(-1 +1 -3 +1 -1 -3 +1 +1)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pt-BR" dirty="0"/>
                  <a:t> </a:t>
                </a:r>
                <a:r>
                  <a:rPr lang="en-SE" dirty="0"/>
                  <a:t>(-1+1-1+1+1+1-1-1) =0</a:t>
                </a:r>
              </a:p>
              <a:p>
                <a:pPr lvl="1"/>
                <a:r>
                  <a:rPr lang="en-GB" dirty="0"/>
                  <a:t>D’s data:(1/8)* (-1 +1 -3 +1 -1 -3 +1 +1)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pt-BR" dirty="0"/>
                  <a:t> </a:t>
                </a:r>
                <a:r>
                  <a:rPr lang="en-SE" dirty="0"/>
                  <a:t>(-1-1-1-1-1-1-1-1) = 1</a:t>
                </a:r>
                <a:endParaRPr lang="en-GB" dirty="0"/>
              </a:p>
              <a:p>
                <a:r>
                  <a:rPr lang="en-GB" dirty="0"/>
                  <a:t>Stations A, B, and D transmitted bits 1, -1, 1 respectively while station C did not transmit.</a:t>
                </a:r>
              </a:p>
              <a:p>
                <a:pPr lvl="1"/>
                <a:r>
                  <a:rPr lang="en-GB" dirty="0"/>
                  <a:t>Transmitted bits 1, -1, 1 correspond to application bits 1, 0, 1</a:t>
                </a:r>
              </a:p>
              <a:p>
                <a:endParaRPr lang="en-SE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E6B04AE-9954-E68A-70FD-07645FD50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EB15B-A88E-19BE-679E-8A21A748C4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/>
              <a:pPr/>
              <a:t>52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17031-B5BE-ECFB-9814-A340086BA81E}"/>
              </a:ext>
            </a:extLst>
          </p:cNvPr>
          <p:cNvSpPr txBox="1"/>
          <p:nvPr/>
        </p:nvSpPr>
        <p:spPr>
          <a:xfrm>
            <a:off x="7619523" y="42113"/>
            <a:ext cx="1513941" cy="415498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2100" kern="1200" dirty="0">
                <a:solidFill>
                  <a:prstClr val="white"/>
                </a:solidFill>
                <a:latin typeface="Calibri" panose="020F0502020204030204"/>
              </a:rPr>
              <a:t>IMPORTANT</a:t>
            </a:r>
            <a:endParaRPr lang="en-SE" sz="210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0812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136" name="Google Shape;1136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878114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Wireless is different!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Shared medium by default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Attenuation due to distance and obstacles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Rapidly shifting environments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Collision detection is different </a:t>
            </a:r>
            <a:endParaRPr dirty="0"/>
          </a:p>
          <a:p>
            <a:pPr marL="0" lvl="0" indent="0">
              <a:buNone/>
            </a:pPr>
            <a:r>
              <a:rPr lang="en-US" altLang="zh-CN" dirty="0"/>
              <a:t>Use MACA instead of CSMA for collision detection at receivers.</a:t>
            </a:r>
          </a:p>
          <a:p>
            <a:pPr marL="0" lvl="0" indent="0">
              <a:buNone/>
            </a:pPr>
            <a:r>
              <a:rPr lang="en-US" altLang="zh-CN" dirty="0"/>
              <a:t>Modulation reference:</a:t>
            </a:r>
            <a:endParaRPr lang="en" dirty="0"/>
          </a:p>
          <a:p>
            <a:pPr>
              <a:spcBef>
                <a:spcPts val="0"/>
              </a:spcBef>
            </a:pPr>
            <a:r>
              <a:rPr lang="en-US" altLang="zh-CN" u="sng" dirty="0">
                <a:solidFill>
                  <a:schemeClr val="hlink"/>
                </a:solidFill>
                <a:hlinkClick r:id="rId3"/>
              </a:rPr>
              <a:t>https://www.taitradioacademy.com/topic/how-does-modulation-work-1-1/</a:t>
            </a:r>
            <a:endParaRPr lang="en-US" altLang="zh-C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37" name="Google Shape;1137;p84"/>
          <p:cNvPicPr preferRelativeResize="0"/>
          <p:nvPr/>
        </p:nvPicPr>
        <p:blipFill rotWithShape="1">
          <a:blip r:embed="rId4">
            <a:alphaModFix/>
          </a:blip>
          <a:srcRect l="30358" t="78473" r="30184"/>
          <a:stretch/>
        </p:blipFill>
        <p:spPr>
          <a:xfrm>
            <a:off x="5811150" y="1380798"/>
            <a:ext cx="2701301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4"/>
          <p:cNvPicPr preferRelativeResize="0"/>
          <p:nvPr/>
        </p:nvPicPr>
        <p:blipFill rotWithShape="1">
          <a:blip r:embed="rId5">
            <a:alphaModFix/>
          </a:blip>
          <a:srcRect l="33372" t="78166" r="28399"/>
          <a:stretch/>
        </p:blipFill>
        <p:spPr>
          <a:xfrm>
            <a:off x="5871641" y="600523"/>
            <a:ext cx="2580298" cy="78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4"/>
          <p:cNvSpPr/>
          <p:nvPr/>
        </p:nvSpPr>
        <p:spPr>
          <a:xfrm>
            <a:off x="6500640" y="2508188"/>
            <a:ext cx="1876500" cy="1876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84"/>
          <p:cNvSpPr/>
          <p:nvPr/>
        </p:nvSpPr>
        <p:spPr>
          <a:xfrm>
            <a:off x="6711576" y="2722362"/>
            <a:ext cx="1454400" cy="14544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84"/>
          <p:cNvSpPr/>
          <p:nvPr/>
        </p:nvSpPr>
        <p:spPr>
          <a:xfrm>
            <a:off x="6944478" y="2955254"/>
            <a:ext cx="988500" cy="988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84"/>
          <p:cNvSpPr/>
          <p:nvPr/>
        </p:nvSpPr>
        <p:spPr>
          <a:xfrm>
            <a:off x="7211410" y="3222184"/>
            <a:ext cx="454800" cy="4548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84"/>
          <p:cNvSpPr/>
          <p:nvPr/>
        </p:nvSpPr>
        <p:spPr>
          <a:xfrm>
            <a:off x="7399138" y="3415314"/>
            <a:ext cx="79200" cy="7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E9CEEA-9004-35B4-272D-5B0C034B08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53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6095</Words>
  <Application>Microsoft Office PowerPoint</Application>
  <PresentationFormat>On-screen Show (16:9)</PresentationFormat>
  <Paragraphs>832</Paragraphs>
  <Slides>53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7" baseType="lpstr">
      <vt:lpstr>Wingdings</vt:lpstr>
      <vt:lpstr>Cambria Math</vt:lpstr>
      <vt:lpstr>KaTeX_Main</vt:lpstr>
      <vt:lpstr>Consolas</vt:lpstr>
      <vt:lpstr>Roboto Medium</vt:lpstr>
      <vt:lpstr>Calibri</vt:lpstr>
      <vt:lpstr>Gill Sans MT</vt:lpstr>
      <vt:lpstr>Roboto Light</vt:lpstr>
      <vt:lpstr>Calibri Light</vt:lpstr>
      <vt:lpstr>Symbol</vt:lpstr>
      <vt:lpstr>Roboto</vt:lpstr>
      <vt:lpstr>Times New Roman</vt:lpstr>
      <vt:lpstr>Arial</vt:lpstr>
      <vt:lpstr>Simple Lecture</vt:lpstr>
      <vt:lpstr>PowerPoint Presentation</vt:lpstr>
      <vt:lpstr>Why is Wireless Different?</vt:lpstr>
      <vt:lpstr>Wireless Signals</vt:lpstr>
      <vt:lpstr>Difference: Wired vs. Wireless Links</vt:lpstr>
      <vt:lpstr>Encoding Data Over Wireless Links</vt:lpstr>
      <vt:lpstr>Encoding Data Over Wireless Links – Modulation</vt:lpstr>
      <vt:lpstr>Measuring Noise and Interference – SINR</vt:lpstr>
      <vt:lpstr>Measuring Noise and Interference – SINR</vt:lpstr>
      <vt:lpstr>Measuring Noise and Interference – Noisy Channel Shannon Capacity</vt:lpstr>
      <vt:lpstr>Difference: Wireless Signals Attenuate</vt:lpstr>
      <vt:lpstr>Difference: Attenuation</vt:lpstr>
      <vt:lpstr>Measuring Attenuation – Free-Space Model</vt:lpstr>
      <vt:lpstr>Measuring Attenuation – Friis Equation</vt:lpstr>
      <vt:lpstr>Measuring Attenuation – Friis Equation, Rewritten</vt:lpstr>
      <vt:lpstr>Measuring Attenuation – Link Budget</vt:lpstr>
      <vt:lpstr>Measuring Attenuation – Link Budget</vt:lpstr>
      <vt:lpstr>Difference: Changing Environments</vt:lpstr>
      <vt:lpstr>Difference: Environments Change</vt:lpstr>
      <vt:lpstr>Path Loss is Messy</vt:lpstr>
      <vt:lpstr>Characteristics of Path Loss</vt:lpstr>
      <vt:lpstr>Modeling Path Loss – Two-Ray Model</vt:lpstr>
      <vt:lpstr>Modeling Path Loss – Two-Ray Model</vt:lpstr>
      <vt:lpstr>Modeling Path Loss – General Ray Tracing Models</vt:lpstr>
      <vt:lpstr>Modeling Path Loss – General Ray Tracing Models</vt:lpstr>
      <vt:lpstr>Difference: Collision Detection</vt:lpstr>
      <vt:lpstr>Difference: Collision Detection</vt:lpstr>
      <vt:lpstr>Recall: Multiple Access Protocols</vt:lpstr>
      <vt:lpstr>CSMA in Wireless Networks</vt:lpstr>
      <vt:lpstr>CSMA in Wireless Networks</vt:lpstr>
      <vt:lpstr>CSMA in Wireless Networks – Hidden Terminal Problem</vt:lpstr>
      <vt:lpstr>CSMA in Wireless Networks – Exposed Terminal Problem</vt:lpstr>
      <vt:lpstr>MACA (Multiple Access with Collision Avoidance)</vt:lpstr>
      <vt:lpstr>MACA (Multiple Access with Collision Avoidance)</vt:lpstr>
      <vt:lpstr>MACA (Multiple Access with Collision Avoidance) – Solving Hidden Terminal Problem</vt:lpstr>
      <vt:lpstr>MACA (Multiple Access with Collision Avoidance) – Rules</vt:lpstr>
      <vt:lpstr>MACA (Multiple Access with Collision Avoidance) – Solving Exposed Terminal Problem</vt:lpstr>
      <vt:lpstr>MACA (Multiple Access with Collision Avoidance) – Solving Exposed Terminal Problem</vt:lpstr>
      <vt:lpstr>MACA (Multiple Access with Collision Avoidance) – Collisions</vt:lpstr>
      <vt:lpstr>Chapter 7 outline</vt:lpstr>
      <vt:lpstr>Review: FDMA and TDMA</vt:lpstr>
      <vt:lpstr>Code Division Multiple Access (CDMA)</vt:lpstr>
      <vt:lpstr>Code Division Multiple Access (CDMA)</vt:lpstr>
      <vt:lpstr>Vector-Vector Inner-Product, Orthogonal Vector </vt:lpstr>
      <vt:lpstr>Direct-Sequence Spread Spectrum CDMA</vt:lpstr>
      <vt:lpstr>CDMA encode/decode</vt:lpstr>
      <vt:lpstr>CDMA encode/decode</vt:lpstr>
      <vt:lpstr>CDMA: two-sender interference</vt:lpstr>
      <vt:lpstr>CDMA: two-sender interference</vt:lpstr>
      <vt:lpstr>CDMA: two-sender interference: Sender 1</vt:lpstr>
      <vt:lpstr>CDMA: two-sender interference: Sender 2</vt:lpstr>
      <vt:lpstr>Quiz 1  CDMA</vt:lpstr>
      <vt:lpstr>Quiz 2 CDMA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4</cp:revision>
  <dcterms:modified xsi:type="dcterms:W3CDTF">2026-04-16T18:33:47Z</dcterms:modified>
</cp:coreProperties>
</file>