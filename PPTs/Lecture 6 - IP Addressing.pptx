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8"/>
  </p:notesMasterIdLst>
  <p:sldIdLst>
    <p:sldId id="276" r:id="rId2"/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8" r:id="rId32"/>
    <p:sldId id="309" r:id="rId33"/>
    <p:sldId id="310" r:id="rId34"/>
    <p:sldId id="311" r:id="rId35"/>
    <p:sldId id="313" r:id="rId36"/>
    <p:sldId id="314" r:id="rId3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9"/>
      <p:bold r:id="rId40"/>
      <p:italic r:id="rId41"/>
      <p:boldItalic r:id="rId42"/>
    </p:embeddedFont>
    <p:embeddedFont>
      <p:font typeface="Roboto" panose="02000000000000000000" pitchFamily="2" charset="0"/>
      <p:regular r:id="rId43"/>
      <p:bold r:id="rId44"/>
      <p:italic r:id="rId45"/>
      <p:boldItalic r:id="rId46"/>
    </p:embeddedFont>
    <p:embeddedFont>
      <p:font typeface="Roboto Light" panose="02000000000000000000" pitchFamily="2" charset="0"/>
      <p:regular r:id="rId47"/>
      <p:bold r:id="rId48"/>
      <p:italic r:id="rId49"/>
      <p:boldItalic r:id="rId50"/>
    </p:embeddedFont>
    <p:embeddedFont>
      <p:font typeface="Roboto Medium" panose="02000000000000000000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F474EB-692B-48F6-8441-5B42F84C3E86}" v="8" dt="2026-01-31T05:22:58.139"/>
  </p1510:revLst>
</p1510:revInfo>
</file>

<file path=ppt/tableStyles.xml><?xml version="1.0" encoding="utf-8"?>
<a:tblStyleLst xmlns:a="http://schemas.openxmlformats.org/drawingml/2006/main" def="{27E6BCBA-AEE7-4C30-AAAD-D4F55D72C083}">
  <a:tblStyle styleId="{27E6BCBA-AEE7-4C30-AAAD-D4F55D72C0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delSld modSld">
      <pc:chgData name="Zonghua Gu" userId="9a7e1853e1951ef5" providerId="LiveId" clId="{CF1FAA12-072C-4ED5-BA76-0FFFAEFDB88A}" dt="2026-01-31T05:25:39.084" v="180" actId="20577"/>
      <pc:docMkLst>
        <pc:docMk/>
      </pc:docMkLst>
      <pc:sldChg chg="modSp mod">
        <pc:chgData name="Zonghua Gu" userId="9a7e1853e1951ef5" providerId="LiveId" clId="{CF1FAA12-072C-4ED5-BA76-0FFFAEFDB88A}" dt="2026-01-30T04:52:05.442" v="24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0T04:51:44.684" v="23" actId="108"/>
          <ac:spMkLst>
            <pc:docMk/>
            <pc:sldMk cId="0" sldId="257"/>
            <ac:spMk id="178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0:05.913" v="17" actId="20577"/>
          <ac:spMkLst>
            <pc:docMk/>
            <pc:sldMk cId="0" sldId="257"/>
            <ac:spMk id="179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57"/>
            <ac:spMk id="18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59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0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1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2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3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4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5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6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7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8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9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0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1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2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3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4"/>
        </pc:sldMkLst>
      </pc:sldChg>
      <pc:sldChg chg="modSp del mod">
        <pc:chgData name="Zonghua Gu" userId="9a7e1853e1951ef5" providerId="LiveId" clId="{CF1FAA12-072C-4ED5-BA76-0FFFAEFDB88A}" dt="2026-01-30T04:51:27.874" v="20" actId="47"/>
        <pc:sldMkLst>
          <pc:docMk/>
          <pc:sldMk cId="0" sldId="275"/>
        </pc:sldMkLst>
        <pc:spChg chg="mod">
          <ac:chgData name="Zonghua Gu" userId="9a7e1853e1951ef5" providerId="LiveId" clId="{CF1FAA12-072C-4ED5-BA76-0FFFAEFDB88A}" dt="2026-01-30T04:51:22.821" v="19" actId="21"/>
          <ac:spMkLst>
            <pc:docMk/>
            <pc:sldMk cId="0" sldId="275"/>
            <ac:spMk id="58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0T04:52:05.442" v="24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0T04:51:36.104" v="21" actId="20577"/>
          <ac:spMkLst>
            <pc:docMk/>
            <pc:sldMk cId="0" sldId="276"/>
            <ac:spMk id="588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76"/>
            <ac:spMk id="59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03:09.990" v="28" actId="6549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1T05:03:09.990" v="28" actId="6549"/>
          <ac:spMkLst>
            <pc:docMk/>
            <pc:sldMk cId="0" sldId="282"/>
            <ac:spMk id="102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85"/>
            <ac:spMk id="1154" creationId="{00000000-0000-0000-0000-000000000000}"/>
          </ac:spMkLst>
        </pc:spChg>
      </pc:sldChg>
      <pc:sldChg chg="delSp modSp mod">
        <pc:chgData name="Zonghua Gu" userId="9a7e1853e1951ef5" providerId="LiveId" clId="{CF1FAA12-072C-4ED5-BA76-0FFFAEFDB88A}" dt="2026-01-31T05:09:30.005" v="31" actId="478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1-31T05:09:27.163" v="30" actId="1076"/>
          <ac:spMkLst>
            <pc:docMk/>
            <pc:sldMk cId="0" sldId="291"/>
            <ac:spMk id="1222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2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3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5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6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7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8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39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40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41" creationId="{00000000-0000-0000-0000-000000000000}"/>
          </ac:spMkLst>
        </pc:spChg>
        <pc:spChg chg="del">
          <ac:chgData name="Zonghua Gu" userId="9a7e1853e1951ef5" providerId="LiveId" clId="{CF1FAA12-072C-4ED5-BA76-0FFFAEFDB88A}" dt="2026-01-31T05:09:30.005" v="31" actId="478"/>
          <ac:spMkLst>
            <pc:docMk/>
            <pc:sldMk cId="0" sldId="291"/>
            <ac:spMk id="124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10:17.811" v="49" actId="20577"/>
        <pc:sldMkLst>
          <pc:docMk/>
          <pc:sldMk cId="0" sldId="294"/>
        </pc:sldMkLst>
        <pc:spChg chg="mod">
          <ac:chgData name="Zonghua Gu" userId="9a7e1853e1951ef5" providerId="LiveId" clId="{CF1FAA12-072C-4ED5-BA76-0FFFAEFDB88A}" dt="2026-01-31T05:10:17.811" v="49" actId="20577"/>
          <ac:spMkLst>
            <pc:docMk/>
            <pc:sldMk cId="0" sldId="294"/>
            <ac:spMk id="1267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11:07.768" v="74" actId="20577"/>
        <pc:sldMkLst>
          <pc:docMk/>
          <pc:sldMk cId="0" sldId="295"/>
        </pc:sldMkLst>
        <pc:spChg chg="mod">
          <ac:chgData name="Zonghua Gu" userId="9a7e1853e1951ef5" providerId="LiveId" clId="{CF1FAA12-072C-4ED5-BA76-0FFFAEFDB88A}" dt="2026-01-31T05:11:07.768" v="74" actId="20577"/>
          <ac:spMkLst>
            <pc:docMk/>
            <pc:sldMk cId="0" sldId="295"/>
            <ac:spMk id="127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296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96"/>
            <ac:spMk id="128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17:06.566" v="134" actId="403"/>
        <pc:sldMkLst>
          <pc:docMk/>
          <pc:sldMk cId="0" sldId="298"/>
        </pc:sldMkLst>
        <pc:spChg chg="mod">
          <ac:chgData name="Zonghua Gu" userId="9a7e1853e1951ef5" providerId="LiveId" clId="{CF1FAA12-072C-4ED5-BA76-0FFFAEFDB88A}" dt="2026-01-31T05:17:06.566" v="134" actId="403"/>
          <ac:spMkLst>
            <pc:docMk/>
            <pc:sldMk cId="0" sldId="298"/>
            <ac:spMk id="130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300"/>
            <ac:spMk id="135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305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305"/>
            <ac:spMk id="1729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5:23:25.194" v="154" actId="47"/>
        <pc:sldMkLst>
          <pc:docMk/>
          <pc:sldMk cId="0" sldId="306"/>
        </pc:sldMkLst>
      </pc:sldChg>
      <pc:sldChg chg="del">
        <pc:chgData name="Zonghua Gu" userId="9a7e1853e1951ef5" providerId="LiveId" clId="{CF1FAA12-072C-4ED5-BA76-0FFFAEFDB88A}" dt="2026-01-31T05:22:28.284" v="135" actId="47"/>
        <pc:sldMkLst>
          <pc:docMk/>
          <pc:sldMk cId="0" sldId="307"/>
        </pc:sldMkLst>
      </pc:sldChg>
      <pc:sldChg chg="delSp modSp mod modNotesTx">
        <pc:chgData name="Zonghua Gu" userId="9a7e1853e1951ef5" providerId="LiveId" clId="{CF1FAA12-072C-4ED5-BA76-0FFFAEFDB88A}" dt="2026-01-31T05:24:12.439" v="176" actId="20577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05:24:12.439" v="176" actId="20577"/>
          <ac:spMkLst>
            <pc:docMk/>
            <pc:sldMk cId="0" sldId="308"/>
            <ac:spMk id="1759" creationId="{00000000-0000-0000-0000-000000000000}"/>
          </ac:spMkLst>
        </pc:spChg>
        <pc:spChg chg="del">
          <ac:chgData name="Zonghua Gu" userId="9a7e1853e1951ef5" providerId="LiveId" clId="{CF1FAA12-072C-4ED5-BA76-0FFFAEFDB88A}" dt="2026-01-31T05:22:37.516" v="136" actId="478"/>
          <ac:spMkLst>
            <pc:docMk/>
            <pc:sldMk cId="0" sldId="308"/>
            <ac:spMk id="176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5:24:36.076" v="177" actId="6549"/>
        <pc:sldMkLst>
          <pc:docMk/>
          <pc:sldMk cId="0" sldId="310"/>
        </pc:sldMkLst>
        <pc:spChg chg="mod">
          <ac:chgData name="Zonghua Gu" userId="9a7e1853e1951ef5" providerId="LiveId" clId="{CF1FAA12-072C-4ED5-BA76-0FFFAEFDB88A}" dt="2026-01-31T05:24:36.076" v="177" actId="6549"/>
          <ac:spMkLst>
            <pc:docMk/>
            <pc:sldMk cId="0" sldId="310"/>
            <ac:spMk id="1772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5:25:05.808" v="178" actId="47"/>
        <pc:sldMkLst>
          <pc:docMk/>
          <pc:sldMk cId="0" sldId="312"/>
        </pc:sldMkLst>
      </pc:sldChg>
      <pc:sldChg chg="modSp mod">
        <pc:chgData name="Zonghua Gu" userId="9a7e1853e1951ef5" providerId="LiveId" clId="{CF1FAA12-072C-4ED5-BA76-0FFFAEFDB88A}" dt="2026-01-31T05:25:39.084" v="180" actId="20577"/>
        <pc:sldMkLst>
          <pc:docMk/>
          <pc:sldMk cId="0" sldId="314"/>
        </pc:sldMkLst>
        <pc:spChg chg="mod">
          <ac:chgData name="Zonghua Gu" userId="9a7e1853e1951ef5" providerId="LiveId" clId="{CF1FAA12-072C-4ED5-BA76-0FFFAEFDB88A}" dt="2026-01-31T05:25:39.084" v="180" actId="20577"/>
          <ac:spMkLst>
            <pc:docMk/>
            <pc:sldMk cId="0" sldId="314"/>
            <ac:spMk id="18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intl/en/ipv6/statistics.html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787eb72cc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787eb72cc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end of link if I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questions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we’ll take a short break before moving on to the second part of lecture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uh let's go into the second half of today's topics and this is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 addressing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2787eb72cc9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2787eb72cc9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motivate why we are doing this talking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let's think about the two protocols we've seen so far distance vector and linking and a question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probably had as you've been watching this is how do you actually scale this stuff up to the entire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internet imagine trying to use Link State on the entire internet that's not going to be very fun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how many calculations do you have to do you're receiving advertisements from your neighbors for every single destination on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probably not going to be feasible and likewise link State scaling is 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worse you have to throw the entire network graph and that means that your computer has to store a list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routers and all the hosts on the internet and all the links that's not happening either and imagine trying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reconverge routes when we try to scale these protocols up if there's a link failure somewhere that has to propagate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and outwards across the entire world who knows how long that's going to take so hopefully we can already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both of these protocols scale pretty poorly and if we actually try to implement these protocols at a global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level it would just not happen you can also see why this is annoying because if you look 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it has one entry per destination and if you have one destination or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destination in the entire world this table is going to be billions of entries long there's no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storing that and constantly keeping it updated so we need to fix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and it turns out that the trick to actually make routing a scalable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the way that we assign these addresses so right now and so far we've been showing these destinations as a b 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 but it turns out if instead of ABCD you pick more informative names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destination and where they are you actually might be able to scale routing up more efficiently so by uncovering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secrets behind why these are labeled ABCD and what they're really labeled in real life we just might be able to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routing protocols scale better and this is going to be useful because even though distance vector and Link State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in local networks when we talk about bgp which works across many networks we are going to have to rely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 on this trick to help us scale routing up o we're seeing it now it can be applied to any protocol you want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extremely useful when we talk about bgp because that's the one that connects the entire world together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787eb72c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787eb72cc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key here is to remember that the internet is a network of networks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each network has its own internal routing protocol its own settings whatever and then each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connects to each other to form this big network of networks so if that's the case this this actually already gives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very intuitive way to assign names to each of these end hosts so far we've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been saying a CDE e FG but that didn't really tell us anything about host and where they are so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more intelligent to do is what if I gave each of these networks a number your network one your two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three and your four and now what I can do is inside of network one instead of calling these A and B or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arbitrary number what if I called them 1.1 and 1.2 and the first one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fact that they are in network one and network two gets numbers 2.1 2.2 2.3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the way to 2.7 and maybe you see where this is going Network Three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that start with three and network four gets addresses that start with four that seems like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natural way to assign numbers to these hosts so this is kind of what we're going to do but at a more at a bigger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 so let's do it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78850210b8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78850210b8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why is this useful by the way this is useful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allows us to summarize table entries so instead of having one table entry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single router or and every single end host sorry that you see on this graph we can actually summarize some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 so for example let's say you are R9 if we are doing this naively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you'd have to have an entry for 1.1 and 1.2 and 4.1 and 4.2 and 4.3 and 4. 4 4.5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4.6 you would need eight table entries to represent 1 2 3 4 5 six seven eight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hosts but if you look at those table entries a lot of them say the same thing how do you get to 4.1 R8 how do you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4.2 R8 how do you get to 4.3 also R8 it turns out the only way to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4 is via R8 or rather that is the shortest way to get to R4 so what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do is instead of writing one entry for 4.1 4.2 4 .3 and they all say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toop is R8 you can just summarize this and say any destination that's 4 something and it doesn't matter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that something is whatever it is the next top is R8 so you have summarized six entries into one and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play this trick enough times we can start to summarize and make our tables more scalable and we can play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trick over here instead of writing an entry for 1.1 and 1.2 both of which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would have a next toop of r we can just say if you want to reach one point anybody just send it to R six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done and likewise instead of writing 3.1 3.2 3.3 we can see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inspection that the next top is R six so you just say if you want to reach 3 point something go to R six I haven't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told you how to fill in this table yet you can imagine that this is the end goal is to have a table that's more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scalable like this and the higher archical addressing the fact that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had two numbers in them is kind of what enabled this because we could say if the first number is three send it to R six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the hierarchical addressing enabled this if the host had just said ABCD EFG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would not have been possible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278850210b8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278850210b8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else that's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nice about Hier archol addressing is the fact that the tables change less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sometimes people call this table churn so for example if host 4.6 leaves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 Network and we were doing this naively and we had an entry for every single end host R9 would have to update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table to indicate that 4.6 is gone and no longer reachable and if anyone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joins and leaves R9 has to update it table entry by contrast look 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if we use aggregated table entries like this this table entry says if you need to reach 4 point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to R8 if 4.6 leaves the network do you have to change this entry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it's still correct to reach 4. anything you still go via R8 so the fact that 4.6 left the network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 R9 to change its table entry at all the fact that everyone four point something is a link to R8 stays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nice it means that changes in other networks for example if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more people joining and leaving it doesn't affect R9 at all R9 just always keeps the same information of 4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something go to R8 that's always true regardless of who joins and leaves Network for so this is nice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tables change less often and changes in one network don't necessarily have to be propagated into the other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278850210b8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278850210b8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reiterate the point we just made about routers and the scaling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their tables we can see that the size of the forwarding table now scales based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two things so if you're R4 you are responsible for two sets of entries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table so some of your entries are about ways to get to hosts inside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network so R4 is in network 2 and because you're inside Network 2 you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keep track of different ways to reach 2.1 2.2 2.3 all the way to 2.7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that these are internal destinations and R4 has to keep separate entries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internal destination it has to remember if I want to go to 2.4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R3 but if I want to go to 2.7 send it to R5 so R4 needs to keep track of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internal destination to other hosts inside the same network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second type of Entry that R2 or R4 needs to keep track of is external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destinations and these are the aggregated ones that we saw earlier so for example everyone in network one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path the next top of R9 so if I want to send anything to someone who is 1 something I just send it to R9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will take care of it likewise anyone in 4 point something or 3 point something not shown here all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next cops of R9 so I have one entry per external destination so o overall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somewhat conceptual model we can see that you need one entry for every internal destination those cannot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combined as of right now and then you need one for every external network and that's how these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scale but this is much better than listing every single host if you listed every single host you have to write 1.1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1.2 1.3 that's too much and 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278850210b8_0_9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278850210b8_0_9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also shows us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inter domain and intradomain routing and we'll actually put these two together at the very 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 unit so once you learn about inter domain routing we're able to put both of them together so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of a preview but for later what you'll see eventually is that inter domain routing is responsible for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routes in green and in sorry intra domain is responsible for these routes in green and Inter domain is responsible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these routes in blue so for example you could run something like distance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Vector inside the network that would give you all of these green entries and then you can run something like bgp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to other networks and that would give you these entries in blue again we'll probably make more sense once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what BG p is but what's great about this again is that it separates out churn in other networks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thinking about a route to one point something it doesn't matter if people are joining and leaving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this entry stays the same and likewise if someone joins and leaves Network 4 it's not your problem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entry stays the same it's less table churn you just have to think about Network one network 3 Network 4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doesn't matter what's inside of those networks which is kind of nice and likewise the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doesn't have to worry about other networks it just focus on the host inside of its own network so by dividing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the work in this way we get tables that scale more efficiently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coming soon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278850210b8_0_8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9" name="Google Shape;1029;g278850210b8_0_8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actually we can get even more aggressive when it comes to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maybe you noticed that in this picture right here the only way to leave this network seems to be R9 if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go to network one it's via R9 if you want to go to network 3 anyone with IP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 3 something go to R9 if you want to go to anyone with address 4 point something go to R9 you have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entries and they all say R9 so actually you can get even more aggressive and summarize all of these and say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will have a single entry that says R9 and that's something you can do and later we'll see how address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you can get more aggressive with aggregating a doesn't have to be one entry per Network you can also get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like this and by the way this star point star it's basically saying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anything Point anything and so what it's saying is if the destination is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in the table send it to these Next Tops but if you don't see it in the table just send it to R9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but you can already see that aggregation can actually work more aggressively than just one3 Network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even have one entry for lots of networks at once and if you apply this trick over and over again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eventually able to scale to everyone in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278850210b8_0_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7" name="Google Shape;1087;g278850210b8_0_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in fact aggregation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 work like this so for example let's say you are R2 well if you're R2 the decision is even simpler for you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have to build this table to understand routes to everyone but once you build this table you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kind of interesting if it's the 2.4 that's Direct directly connected if it's to 2.5 that's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look at everyone else everyone else inside Network to and also everyone else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other networks it all goes to R3 check it out if I want to go to 2.1 next stop is R3 if I want to go to 4.7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toop is also R3 so you can actually get more aggressive like this and just say 2.4 and 2.5 are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else just send it to R3 so this wild card is kind of useful it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everything else that's not in my table just send it to R3 sometimes people call it a default route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the default if it's not overridden by other table entries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you see this star wild card it's basically saying for every other host not listed here send it to R3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you're wondering what hosts do for routing they usually just have one route like this so for example 2.1 if it had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routing table what would it say it would just say send everything to R1 it would have one entry that says everyone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R1 that's why hosts don't have to participate in routing so to close that loop from yesterday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hosts don't have to participate in routing because they just have to forward everything to their directly connected router and they can use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default route to achieve that now you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78850210b8_0_9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78850210b8_0_9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that's the high level idea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behind hierarchical addressing again it kind of works like you would expect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questions about the approach?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we've seen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version of how addressing can be done with a hierarchy let's talk about where those numbers actually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so far I've made them up but they actually come from somewhere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278850210b8_0_9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7" name="Google Shape;1157;g278850210b8_0_9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already seen is that if Two Hosts are somewhat close to each other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definition of that phrase they should somehow share part of their address that's why everyone in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 4 something and the analogy I use here if you're thinking about our favorite post office analogy is that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rooms on the third floor are three something something that first digit tells you what floor you're 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pretty useful for navigating buildings so we're going to use that same kind of trick to help us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if Two Hosts are somehow close to each other they should share some part of their address whatever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and something else to note since we're here is that when hosts join the network their address is based on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are because we just saw that the addresses have to reflect your location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who are nearby should have similar address addresses people who are further away have addresses that are very different so what this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your address is based on your location and what that also means is when you join the network you receive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IP address based on where you are so it's not the case that your computer has the same IP address everywhere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packed up right now and I got on a plane and I went somewhere in Asia I would get a totally different IP address when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rejoin the internet and the analogy here is if you move to a new house your address changes you don't move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house and keep the address that would be very weird so the question we have to ask ourselves now is where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addresses come from who comes up with these numbers and what does it mean for hosts to be close that's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someone has to Define so let's do that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278850210b8_0_9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278850210b8_0_9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with one attempt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this is actually what people in the earliest internet did and then we will evolve this to what the modern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so there's three attempts we're going to make let's start with the very first one that people did in the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old days so in the old very old days what people did is they wrote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a 32-bit number 32 ones and zeros and they said the top eight bits identify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network the bottom 24 bits identify the host this is basically what we just did when we had addresses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4.5 these numbers in red would be the four and then these numbers in blue would be the five so they basically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same trick that we just did intuitively and that means that each Network needs a unique ID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are some actual numbers that we pulled out AT&amp;T that was an early internet company any computer in AT&amp;T's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got id12 so if you signed up to AT&amp;T and connected to the internet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 would be something like 12 100 or something Apple got ID 17 Ford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19 whatever something interesting is that the US Department of Defense got quite a few at IDs so it seems like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a lot of networks um not that important but something that we found kind of interesting and what's useful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this is we can play the same tricks as before so if we have two people Bob and Joe we notice that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the same network ID so they must be part of the same network just like we saw earlier 4.1 and 4.10 must be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network similarly here these red bits are the same so they must be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78850210b8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78850210b8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already a problem here maybe you spotted it8 bits gives you 2 to the 8 Network IDs that is 256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networks that's not a lot and we already burned 13 of them on the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so we are running out very quickly so if you imagine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network that starts up you're running a tire shop for some reason and it's got 10 hosts you're going to claim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of those 256 iids that's not a lot to give out to the entire world and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give them an ID even worse is this tire shop now has access to um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they get network number 20 they get everything from 20.0 to 20.11 111111 241s so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IDs live in network number 20 two to the 24 so even this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shop now has 16 million addresses even though they only have 10 computers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needs to give addresses to so this is very wasteful you just wasted 16 million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a network that only has 10 people inside and this is going to run out really quickly so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worked on the very early internet people very quickly realized that this is probably doomed we're going to move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attempt number two to try and fix this this was the simplest thing they did it's exactly like the intuitive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 we saw only problem is it didn't scale very well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278850210b8_0_10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1" name="Google Shape;1181;g278850210b8_0_10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Technically, 254 hosts, not 256, because the all-zeroes address and all-ones address are reserved for special purposes.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try number two what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realize is that some organizations are larger and some organizations are smaller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very big millions of computers joon's tire shop 10 computers very small so now what they've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done is they've said actually there are three types of addresses some addresses have a seven bit network ID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have a 14bit network ID and some addresses have a 21 bit network 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what's nice about this is you can see for example the class c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addresses they have only eight bits of host and so what that means is each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networks only can support 256 hosts so if you're a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shop guess which one you're going to want you're probably going to want Class C and if you're the US Department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Defense you probably want Class A because here each Network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allocate has 16 million hosts so basically the idea here is that we're uh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more networks some are larger some are smaller and by allocating the bits in this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turns out we get a lot of class C networks millions of them compared to 256 from before now we have millions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networks we can support and 16,000 of these somewhat larger networks that can support 65,000 hosts and only 128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very big networks that can support 16 million hosts per Network and how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tell which type of address you're looking at you look at the top bits and we use this little bit encoding trick where if this is zero it's Class A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10 it's Class B if it's 110 it's Class C so that's what the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attempt was sometimes called class full addressing because there are three classes and everyone who wants a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picks one of the three classes depending on their size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g278850210b8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9" name="Google Shape;1199;g278850210b8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an example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classes in action the first thing we do is we look at the top bits we see a one we see a zero this must be Class B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one of those mediumsized networks because we're in class B we read the next 14 bits as the network ID and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16 bits as the host ID so we're still doing network. host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4.7 but the top the network bits vary depending on what type of address it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as a consequence each type of network can hold more hosts fewer hosts depending on how many host bits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available this was the second attempt at trying to make Network addressing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scalable than before for we now have millions of networks to hand out of different sizes as opposed to 256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gigantic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78850210b8_0_10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78850210b8_0_10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it turns out the internet kept growing and it kept growing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started to run out again so let's do the math to see why it ran out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reason it ran out is because it turns out the way that these bits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actually did not work so well because most people don't need Class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don't need a network with 16 million people in and actually most people don't want Class C either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C only allows you to support 256 hosts and maybe if you're a company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more than that so actually it turns out most people just ended up using Class B and A and C were not really used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we ended up back in the situation where we're mostly using one class namely Class B and Class B we saw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support 16,000 networks and turns out 16,000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enough so as time went on this number crept closer and closer and we saw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this curve continues going upwards we're going to run out of class B networks as well so once again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another scaling problem although this was a better attempt it's still not great and the reason why we ran out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way is because most people don't need 65,000 posts so we gave you a Class 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if you only have 500 posts you're wasting 64,500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unused addresses that someone else could have used that's our second attempt still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278850210b8_0_1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278850210b8_0_1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move to the third and final attempt this is the one that we use today and the idea is why do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create these arbitrary splits why do we have to split Network and host here and here and here what if I split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or here or anywhere in the middle so that's what we're going to do next instead of defining a b c and defining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three specific split points between Network and host what if I could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network ID that's 8 Bits 12 13 15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use any number I want instead of just 7 14 21 that can give 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over the size of my network and that allows me to allocate just enough for what I need so if I only need nine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of host I can create a 20 bit network ID for example and this leads to what the modern internet uses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classless in domain routing here is classless earlier it was class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that idea here is that we are removing the notion of specific classes we making things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flexible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g278850210b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7" name="Google Shape;1257;g278850210b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how would you do this you'd have to do a little bit of math so for example let's say you have a tire shop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450 hosts in the classful addressing approach you have to choose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BC there's multiple choice if you choose C you get 256 hosts that's not enough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450 if you Class B you get 65,000 that's way too many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wasting lots of unused addresses but you're forced to use B not so great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classless addressing you don't have to choose ABC you can say eight bits are not enough but nine bits are enough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yeah you do waste some addresses you waste 72 62 addresses but that's okay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still much better than class full addressing so now this boundary doesn't have to be at a fixed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choosing 7 14 21 here we chose 23 because that was the best fit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this particular use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78850210b8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78850210b8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else that's very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the classless version of addressing is you can actually create multi-layered hierarchal assignment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just writing 4.2 that is Network 4 Post Number Two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get more specific you can say 4.2.1 or you can say 4.2.1 point2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create multiple layers and play the same trick of hierarchy across multiple layers and in fact that's what we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actually a very natural hierarchy so let's see it in action so the very top level of the hierarchy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internet Corporation for names and numbers it's some organization that manages IP address IP addresses and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all the IP addresses so at the very start every IP address from all zeros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ones is owned by I can and if you want one you have to go ask them but in fact they're not going to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to everyone so instead what they did is they took the address space and they cut it up and they said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goes to Europe this part goes to North America this part goes to Asia this part goes to South America so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took the whole pie and they cut it up into slices and each continent got a specific slice and those are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Regional internet registries you don't have to remember that but you can imagine those are organizations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represent pres ing each specific continent and again we don't want one organization handling all the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Europe that's pretty bad so instead uh it's not scalable so instead Europe will take its slice of the pie and cut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up into even smaller slices and give those out to local internet registries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are organizations like uh UC Berkeley or isps like AT&amp;T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continent level registry then cuts it up and then gives it out to organization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organizations can give out smaller portions to even smaller organizations so for example maybe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UC system cuts out a slice and gives it to UC Berkeley UC Berkeley cuts out a slice gives it to the eeks department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don't have to memorize this exact hierarchy but what this is showing is that in real life hierarchies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 you splits into a bunch of universities each University splits into a bunch of departments each department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splits into a bunch of classes and so on so just like how real life hierarchies are multi-layered addresses can also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multi-layered to model those real life hierarchies which is kind of useful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78850210b8_0_1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78850210b8_0_1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here's an example of addresses being allocated I can owns the whole Pi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you can imagine a DOT is not fixed so 32 dots means they own every address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of these can be a one or a zero and it's originally owned by Ian and then what Ian does is it says I'm going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fix the top bits to 1 one0 one the bottom bits can be anything from all zeros to all ones this range this SCE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 belongs to North America it's yours now do whatever you want with it so the North American registry now owns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addresses starting with 1 one01 that is 268 million addresses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have 28 unfixed bits and then North America says I don't want to handle 268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million addresses so I am going to give some of them to AT&amp;T in particular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will fix five more bits and anything that starts with these nine bits belongs to AT&amp;T so go ask them if you want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address in this range now AT&amp;T controls 8 million addresses and this goes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AT&amp;T fix some more bits and sends anything starting with this sequence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bits to UC Berkeley so now they own this and maybe UC Berkeley fix some more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now anything starting with these 24 bits that's only 256 addresses is owned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soda hall and then maybe a specific Prof profess owns a specific address of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32 bits fixed so this is a hierarchy it's not real soal doesn't really own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any IP addresses but you can see that hierarchies in addressing kind of work like hierarchies in real life that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see all the time so that's how you assign addresses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278850210b8_0_1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278850210b8_0_1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started with the first attempt and the second attempt they didn't work so well they didn't scale so we moved on to the classless approach that's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uses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78850210b8_0_1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78850210b8_0_1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his is really just formatting more so than 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thing but we should talk about it because you'll have to write these addresses all the time so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want to to you can write 32 bits 32 ones and zeros that's an address I don't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read that you don't want to read that it's really gross so instead what people often do is they use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dotted quad notation you've probably already seen this before and what they do is they take the first eight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convert it into a decimal number then the next eight then the next eight then the next eight so you get four numbers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separated by dots each number ranges from 0 to 255 that's all zeros to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ones and it's basically what you'd expect but this is how people write IP addresses but when they write this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because they really want these four numbers it's just a short hand for those 32 bits that are quite hard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read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278850210b8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278850210b8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something else is writing ranges of IP addresses so you could actually just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1:00:31</a:t>
            </a:r>
            <a:endParaRPr lang="en-US" sz="11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100" dirty="0"/>
              <a:t>0.0.0.0/0 means no bits are fixed. All addresses.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 out and write the ranges explicitly you might go out and say I own all the IP addresses from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192.168.1.0 all the way to 192.168.1.254 you can go out and say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but it's kind of a mouthful to write two IP addresses and say you have a range so in real life what people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1:00:52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 they use something called slash notation and all you have to do here is take the bits that are not set set them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all to zero so look this is the prefix that I care about these are the bits that are unset so I force them to all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zeros convert that into an IP address which is 2202 32.1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144.000 then I'll write a slash and then after the slash I'll write how many bits were fixed so when you read this read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like this the top 20 bits are fixed translate this IP address into bits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write out the top 20 bits those are are fixed everything else is variable from all zeros all ones so it's kind of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notational note but this is how people write IP ranges here are some examples that I won't say out loud something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notice is that the boundaries don't have to be exactly on the dots so for example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have a slash 29 it means that the top 29 bits are fixed and only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bottom two bits can change from 00 0 to 111 represents this range if you write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 out if you put sl32 it means all the bits are fixed if you say 0.0.0.0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sl0 that represents all of the addresses so again it's kind of a notational footnote but since you'll see it a 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1:02:07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it's good to know what they mean and how people write ranges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g278850210b8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4" name="Google Shape;1324;g278850210b8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a little bit more notational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notes sometimes people don't like writing slash notation so they instead write something called a net mask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all you're doing is replacing the slash with a net mask so the original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 you still have to write the prefix so let me try that again you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representing a range to write the range you still have to start with the prefix and the way you write the prefix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before you take the prefix you set all the remaining bits to zero and you write it as a dotted quad so notice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both notations you write 220 232 1 1440 that has not changed a net mask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changes the slash so we no longer write slash2 what we instead do is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set all the fixed bits to one all the unfixed bits to zero we write this as a quad and that's the net mask so this 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mask of 255 255 240 it represents the exact same thing as 20 someone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wrote it differently they just wrote 21s followed by 12 zeros put a bunch of dots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between them this rep uh this net mask replaces the 20 it does not replace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else here why is this useful by the way I think 20 is easy to read for humans but this is useful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we'll see this a little bit later in the class as well this allows you to do bitwise operations let's say you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care about the network ID and you want to throw away the bottom bits you can just perform a bitwise and and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 your bitwise operations that will keep all of the top bits intact and zero out all the bottom bits so computers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like to use net masks oras humans like to slashes but all of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fancy notation for writing ranges of IP addresses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278850210b8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278850210b8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okay so moving on now that we know how to write the addresses and we know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1:04:53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addresses are derived from the multi-layer hierarchical classless addressing system now we can talk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all of this circles back to routing because remember we went on this whole Adventure talking about IP addresses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purpose of enabling scalable routing so let's go back and take what we've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learned about IP addresses and apply it to routing to make it scalable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78850210b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78850210b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to move a little bit toward in domain routing so consider this a bit of a preview for the in domain routing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see coming up next time and we'll see how aggregating routes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able to help us make these tables more scalable so let's say you're R six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building a table in the naive version you would have to build one entry for every single destination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France in the US UC Berkeley and Stanford that is way too much it's not happening so instead what happens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play the same tricks as before each network instead of having a number like before where we said four .2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would have been true in the very early internet but we now know that there's actually multi-layer hierarchies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so each organization whether it's UC Berkeley or AT&amp;T they own a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so we've generalized the idea of having numbers like 5.3 and 10.2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generalized that using class list addressing to say that everyone has a range and remember we can use slash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notation to write the range so AT&amp;T owns all of the addresses with the top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bits fixed and if you're wondering what those bits are turn this into ones and zeros you'll find out and you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owns all of the addresses with the top eight bits fixed where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eight bits are the top eight bits of this address whatever they are write it out and find out so as before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has a range of addresses using classist addressing and when you write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in your table all you have to do is write range anybody in the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sl8 please send it to R2 and anyone in UC Beres range send it to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well and anyone in Stanford's range also send to R2 so it's the exact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as we saw earlier but instead of using the simpler version of hierarchy where there's just two layers we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multiple layers of hierarchy to reflect the fact that real life also has multi-layer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relationships we can actually do even better than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78850210b8_0_1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78850210b8_0_1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do that one thing we'll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actually what happened here is these numbers didn't really come out of nowhere like here where I just made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 z.0 sl8 that's all totally made up in real life we already saw that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happens is that addresses get allocated to different people so you cut a slice of your pie and you give it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so maybe what happened is not that AT&amp;T and UC Berkeley have randomly generated prefixes what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happened is that AT&amp;T took its range cut a little slice gave it to UC Berkeley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cut another Little Slice gave it to stard and that's what we see here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maybe a more realistic depiction of the relationships is that AT&amp;T owns this whole range gives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to UC Berkeley gives a different small piece to Stanford and now what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do is we'll notice that all three of these ranges they fall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because all of this is just AT&amp;T's range these are just two small slices of it so instead of writing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 entries for AT&amp;T and UC Berkeley and Stanford we can just write one entry for anybody in AT&amp;T's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UC Berkeley is a slice and Stanford is a slice please send all of that stuff to R2 so now this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AT&amp;T and every organization that AT&amp;T handed a slice of its address range 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this is all of AT&amp;T's range smaller slices went to other people we can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already that this is three networks represented by one entry and if AT&amp;T had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millions of slices that it gave out this could be millions of networks represented by a single entry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78850210b8_0_1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78850210b8_0_1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somewhat annoying point though and it's something we'll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to later as well is the idea of multihoming and what multihoming means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maybe Stanford doesn't just want to have a slice of or doesn't want to just be serviced by AT&amp;T so yeah it has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addresses from AT&amp;T but maybe it also wants to be connected to this network in France well in that case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longer enough to say everyone AT&amp;T's network and all of its subordinates should go to R2 in this case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have a shortcut directly to Stanford because R six has a direct link to R7 so in a topology like this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Stanford is served by both AT&amp;T and this company in France maybe R six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to reach Stanford so now when you read these entries you have to be a little bit more careful because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at this entry what does it really say it says well actually all of AT&amp;T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its subordinates go to R2 except for one subordinate Stanford it's special that when you have a shortcut go to 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seven so when you have multihoming it limits aggregation and this is something we'll see more we me talk more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 domain routing but basically what this is showing is that aggregation works but sometimes you don't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aggregate all the way here's the case where if you aggregated all the way you would have lost this neat little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and by not aggregating Stanford and saying actually Stanford is a separate range you get to keep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around that might be useful there's a bit of a tension between multihoming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278850210b8_0_1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278850210b8_0_1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one thing you'll notice in multihoming cases and in general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these prefixes sometimes overlap and that can be a problem so if you actually write out the ones and zeros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I will not do here but try it at home if you're interested you will see that actually this range is a super set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this range put it another way this range 4.29 16 that's a little slice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point0 so if you want to send a packet to someone in Stanford technically both of these are valid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 falls in this range and it also falls in this range because this lower range is a small slice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so both of these are valid entries which one do you use to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your friend in Stanford you could use either of them and it turns out what you have to do is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longest prefix matching so pick the most specific one in this case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sl16 is more specific it's a smaller range so use that one and don't use the more General one that's something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 again later as well so in the case that an address matches multiple ranges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pick the most specific one and that allows you to forward packets to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 that matches multiple entries that's in multiple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27886deaa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27886deaa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we have one final topic we're all done so the final thing I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briefly mention is something called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g27886deaaf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6" name="Google Shape;1756;g27886deaaf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to fix that we need a new version of Ip and that's what people started to build they actually started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building this in the 1990s because they started to realize that this is going to happen and so the real the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difference between ipv4 which is what we've been seeing so far and IPv6 is just that addresses are no longer 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bits they are now 128 bits so IPv6 is mostly the same they didn't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change that much the main thing that they changed is just the fact that addresses are now 128 bits instead of 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later we'll see some other very minor changes but for now that's the one you have to know um but overall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addressing structure is still the same it's still higher archical you can still do multi-layer hierarchy it's all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same things you just do it with 128 bits instead of 32 so one question you might ask is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1:14:51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going to run out are we headed for ipv 8 or n sometime in the future I don't think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1:14:57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do the math 2 to the 128 is an astronomically large number this is like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number of atoms in the universe type number this is enormous and even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gave an address to like every second of History you barely use them so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numbers are mindboggling and it basically means that for the foreseeable future we are never running out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addresses again IPv6 has solved the problem of running out of addresses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care about what happened to five it was a draft and it never got implemented so it went from four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six </a:t>
            </a:r>
            <a:endParaRPr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1762;g27886deaaff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3" name="Google Shape;1763;g27886deaaff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 little bit of notation on IPv6 they change the way you write addresses just a little bit and again this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most important thing is just how you write these addresses so instead of using decimal they switch to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heximal and what that means is you have to write four heximal digits for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 or for every 16 bits I can't do math four hex digits represent 16 bits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write eight of them that gives you 128 bits so this is just a long HEX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convert every hex digit into bits you'll get 128 bits so these are longer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because they're long sometimes you can get lazy you don't want to write the whole thing you can already see this is quite long so sometimes what people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if you have z0000 Z within two colons you can just write one zero and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knows what you're talking about so this zero is really 32 zeros but no one wants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write that so we just wrote a single zero and sometimes what people do is they can also emit a bunch of zeros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writing zero colon zero colon zero colon zero they just write a double colon and everyone knows you know I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all know that in between these double colons you just fill in zeros to get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total you can only do this once if you do it twice it's not clear how many zeros to put in each omitted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if you do it once we all know that there these bits on the right these on the left put zeros in between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your address so again not the most important thing but if you go out into the wild and you see addresses now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this is the way that they are written and just like an ipv4 you can use slash notation so you write a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we use the double colons to be lazy and not write all the zeros and the SL 32 means the top 32 bits are fixed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7886deaaff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7886deaaff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the hierarchy is generally the same but something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IPv6 is that the range is so enormous like astronomically big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we don't have to play some of those tricks that we did before remember earlier we had to be really careful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we addressed because Class A Class B Class C didn't give us enough 128 is so big that you're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never running out no matter what you do within reason so actually there are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tricks you can play in IPv6 that you cannot do in ipv4 because of the gigantic number of prefixes so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actually do in IPv6 is you can pick your own prefix instead of other people handing you one like they did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ipv4 where space is limited and someone has to give you one IPv6 the space is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that you can just pick your own and there's actually a pretty good probability that no one else is using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pick it and with like 99% probability no one else is using it so it's yours and if someone else is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just pick another one so we'll actually see this again later in the class but it's a trick that you can play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IPv6 but not four it's giving yourself a prefix not the most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but kind of cool and in practice because the space is just so big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the case that you just use 64 bits for the network ID 64 bits for the host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 and that's totally fun you're G to have way more than you need for the number of hosts and the number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networks on the internet so if only the early internet designers had written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32 we probably wouldn't have had to do any of this but because they chose 32 bits we have to go through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redesign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Google Shape;1774;g27886deaaf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5" name="Google Shape;1775;g27886deaaf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https://www.google.com/intl/en/ipv6/statistics.html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adoption really quick note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actually not used by everyone so it turns out introducing a new protocol is pretty hard if a computer refuses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update it software it might be stuck using ipv4 and it doesn't understand IPv6 so actually even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verticle was developed in the 1990s as of 2010 basically nobody used it but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started to run out people started to realize we probably need to be upgrading our software to understand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so newer computer started to understand IPv6 we started to install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into older servers and adoptions slowly increased but even as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2024 it's actually still less than half so over half of all computers still only speak iv4 so you can see that adopting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protocol is quite slow especially if you need everybody on Earth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 it 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1" name="Google Shape;1791;g27886deaaff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2" name="Google Shape;1792;g27886deaaff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why is it hard by the way why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hasn't everyone just immediately switched to IPv6 well one reason is you have to upgrade your computer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servers are very old and it's just very hard to upgrade them or people are lazy they don't want to update them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to update your software to understand IPv6 the two Protocols are not compatible so you actually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support both it's not one or the other so if you want to speak both ipv4 and IPv6 you have to support both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way for six to work with four or anything they're two basically separate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protocols and you would need for example two forwarding tables and if you support both which one should you use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immediately clear maybe you want to use one maybe you want to use the other something you have to think about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installing both but again it's still important that we do this because if the world doesn't move to IPv6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run out of addresses it's important that we do this even though it's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painful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Google Shape;1797;g27886deaaff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8" name="Google Shape;1798;g27886deaaff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let me just quickly summarize for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on the internet have addresses ipv4 or IPv6 both of them use higher archical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we saw three different approaches to doing so and we landed on the classless approach because it scales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and it matches hierarchies that we see in real life and because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addressing schemes it allows us to write ranges in our forwarding tables as opposed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addresses and we also saw that the wild card can help us aggregate even further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more aggressively to get much more scalable tables so that's your a little preview of in domain routing if you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next we'll talk about inter domain so that’s that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4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Hierarchical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Assigning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Writing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Aggregating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IPv6 Changes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89" name="Google Shape;589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</a:t>
            </a:r>
            <a:endParaRPr/>
          </a:p>
        </p:txBody>
      </p:sp>
      <p:sp>
        <p:nvSpPr>
          <p:cNvPr id="590" name="Google Shape;590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6D28A7-DD42-D7EA-054F-2C6D6F1274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Routing</a:t>
            </a:r>
            <a:endParaRPr/>
          </a:p>
        </p:txBody>
      </p:sp>
      <p:sp>
        <p:nvSpPr>
          <p:cNvPr id="596" name="Google Shape;59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1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we really scale routing and forwarding to every host on the Internet?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Distance-vector: How many routing calculations does each router do?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Link-state: Can we really store the entire network graph in every router?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does it take to re-converge?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secret to scaling routing is how we do addressing.</a:t>
            </a:r>
            <a:endParaRPr/>
          </a:p>
        </p:txBody>
      </p:sp>
      <p:graphicFrame>
        <p:nvGraphicFramePr>
          <p:cNvPr id="597" name="Google Shape;597;p45"/>
          <p:cNvGraphicFramePr/>
          <p:nvPr/>
        </p:nvGraphicFramePr>
        <p:xfrm>
          <a:off x="3502657" y="2499175"/>
          <a:ext cx="1888700" cy="168841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598" name="Google Shape;598;p45"/>
          <p:cNvCxnSpPr/>
          <p:nvPr/>
        </p:nvCxnSpPr>
        <p:spPr>
          <a:xfrm flipH="1">
            <a:off x="5450300" y="3875225"/>
            <a:ext cx="617700" cy="1656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9" name="Google Shape;599;p45"/>
          <p:cNvSpPr txBox="1"/>
          <p:nvPr/>
        </p:nvSpPr>
        <p:spPr>
          <a:xfrm>
            <a:off x="6144200" y="3775325"/>
            <a:ext cx="170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 entry for every possible destination.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0" name="Google Shape;600;p45"/>
          <p:cNvCxnSpPr/>
          <p:nvPr/>
        </p:nvCxnSpPr>
        <p:spPr>
          <a:xfrm>
            <a:off x="2865900" y="2890696"/>
            <a:ext cx="608400" cy="162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01" name="Google Shape;601;p45"/>
          <p:cNvSpPr txBox="1"/>
          <p:nvPr/>
        </p:nvSpPr>
        <p:spPr>
          <a:xfrm>
            <a:off x="1271400" y="2507775"/>
            <a:ext cx="1594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trick: Use more informative names than A, B, C, D for destinations.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45"/>
          <p:cNvSpPr txBox="1"/>
          <p:nvPr/>
        </p:nvSpPr>
        <p:spPr>
          <a:xfrm>
            <a:off x="156700" y="4535600"/>
            <a:ext cx="3988200" cy="4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Disclaimer: Today is about IP (Layer 3) addresses. Other layers use different addressing systems.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5FD1-D167-F3C2-8BF6-BCA2F6D0B6C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6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8" name="Google Shape;608;p46"/>
          <p:cNvCxnSpPr>
            <a:stCxn id="609" idx="0"/>
            <a:endCxn id="610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1" name="Google Shape;611;p46"/>
          <p:cNvCxnSpPr>
            <a:stCxn id="612" idx="0"/>
            <a:endCxn id="610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3" name="Google Shape;613;p46"/>
          <p:cNvCxnSpPr>
            <a:stCxn id="614" idx="0"/>
            <a:endCxn id="615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6" name="Google Shape;616;p46"/>
          <p:cNvCxnSpPr>
            <a:stCxn id="617" idx="0"/>
            <a:endCxn id="615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8" name="Google Shape;618;p46"/>
          <p:cNvCxnSpPr>
            <a:stCxn id="619" idx="0"/>
            <a:endCxn id="620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46"/>
          <p:cNvCxnSpPr>
            <a:stCxn id="622" idx="0"/>
            <a:endCxn id="620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p46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46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46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627" name="Google Shape;627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The Internet is a network of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naturally to a hierarchy of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network gets a number. Then, each host gets a number inside the network.</a:t>
            </a:r>
            <a:endParaRPr/>
          </a:p>
        </p:txBody>
      </p:sp>
      <p:cxnSp>
        <p:nvCxnSpPr>
          <p:cNvPr id="628" name="Google Shape;628;p46"/>
          <p:cNvCxnSpPr>
            <a:stCxn id="629" idx="6"/>
            <a:endCxn id="630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0" name="Google Shape;630;p46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1" name="Google Shape;631;p46"/>
          <p:cNvCxnSpPr>
            <a:stCxn id="632" idx="6"/>
            <a:endCxn id="630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3" name="Google Shape;633;p46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46"/>
          <p:cNvCxnSpPr>
            <a:stCxn id="630" idx="3"/>
            <a:endCxn id="633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5" name="Google Shape;635;p46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46"/>
          <p:cNvCxnSpPr>
            <a:stCxn id="633" idx="3"/>
            <a:endCxn id="635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p46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8" name="Google Shape;638;p46"/>
          <p:cNvCxnSpPr>
            <a:stCxn id="637" idx="0"/>
            <a:endCxn id="633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9" name="Google Shape;639;p46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46"/>
          <p:cNvCxnSpPr>
            <a:stCxn id="633" idx="0"/>
            <a:endCxn id="639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1" name="Google Shape;641;p46"/>
          <p:cNvCxnSpPr>
            <a:stCxn id="642" idx="4"/>
            <a:endCxn id="639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46"/>
          <p:cNvCxnSpPr>
            <a:stCxn id="644" idx="4"/>
            <a:endCxn id="639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6"/>
          <p:cNvCxnSpPr>
            <a:stCxn id="646" idx="4"/>
            <a:endCxn id="639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7" name="Google Shape;647;p46"/>
          <p:cNvSpPr/>
          <p:nvPr/>
        </p:nvSpPr>
        <p:spPr>
          <a:xfrm>
            <a:off x="25305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6"/>
          <p:cNvCxnSpPr>
            <a:stCxn id="635" idx="3"/>
            <a:endCxn id="647" idx="1"/>
          </p:cNvCxnSpPr>
          <p:nvPr/>
        </p:nvCxnSpPr>
        <p:spPr>
          <a:xfrm>
            <a:off x="2232038" y="35567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9" name="Google Shape;649;p46"/>
          <p:cNvCxnSpPr>
            <a:stCxn id="639" idx="3"/>
            <a:endCxn id="647" idx="1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46"/>
          <p:cNvCxnSpPr>
            <a:stCxn id="637" idx="3"/>
            <a:endCxn id="635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46"/>
          <p:cNvCxnSpPr>
            <a:stCxn id="652" idx="0"/>
            <a:endCxn id="637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3" name="Google Shape;653;p46"/>
          <p:cNvCxnSpPr>
            <a:stCxn id="654" idx="0"/>
            <a:endCxn id="637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46"/>
          <p:cNvSpPr/>
          <p:nvPr/>
        </p:nvSpPr>
        <p:spPr>
          <a:xfrm>
            <a:off x="3622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46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46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46"/>
          <p:cNvCxnSpPr>
            <a:stCxn id="655" idx="3"/>
            <a:endCxn id="656" idx="1"/>
          </p:cNvCxnSpPr>
          <p:nvPr/>
        </p:nvCxnSpPr>
        <p:spPr>
          <a:xfrm>
            <a:off x="3781688" y="2797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46"/>
          <p:cNvCxnSpPr>
            <a:stCxn id="656" idx="0"/>
            <a:endCxn id="657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0" name="Google Shape;660;p46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1" name="Google Shape;661;p46"/>
          <p:cNvCxnSpPr>
            <a:stCxn id="662" idx="0"/>
            <a:endCxn id="656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3" name="Google Shape;663;p46"/>
          <p:cNvCxnSpPr>
            <a:stCxn id="656" idx="3"/>
            <a:endCxn id="660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4" name="Google Shape;664;p46"/>
          <p:cNvCxnSpPr>
            <a:stCxn id="657" idx="3"/>
            <a:endCxn id="665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5" name="Google Shape;665;p46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6" name="Google Shape;666;p46"/>
          <p:cNvCxnSpPr>
            <a:stCxn id="660" idx="0"/>
            <a:endCxn id="665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7" name="Google Shape;667;p46"/>
          <p:cNvCxnSpPr>
            <a:stCxn id="660" idx="3"/>
            <a:endCxn id="668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46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46"/>
          <p:cNvCxnSpPr>
            <a:stCxn id="665" idx="3"/>
            <a:endCxn id="669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46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46"/>
          <p:cNvCxnSpPr>
            <a:stCxn id="671" idx="0"/>
            <a:endCxn id="660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46"/>
          <p:cNvCxnSpPr>
            <a:stCxn id="647" idx="3"/>
            <a:endCxn id="655" idx="1"/>
          </p:cNvCxnSpPr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46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46"/>
          <p:cNvSpPr/>
          <p:nvPr/>
        </p:nvSpPr>
        <p:spPr>
          <a:xfrm>
            <a:off x="38515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46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46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46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46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6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46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46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6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46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46"/>
          <p:cNvCxnSpPr>
            <a:stCxn id="620" idx="0"/>
            <a:endCxn id="675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46"/>
          <p:cNvCxnSpPr>
            <a:stCxn id="610" idx="0"/>
            <a:endCxn id="675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8" name="Google Shape;678;p46"/>
          <p:cNvCxnSpPr>
            <a:stCxn id="615" idx="0"/>
            <a:endCxn id="674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46"/>
          <p:cNvCxnSpPr>
            <a:stCxn id="610" idx="0"/>
            <a:endCxn id="674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46"/>
          <p:cNvCxnSpPr>
            <a:stCxn id="674" idx="0"/>
            <a:endCxn id="671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1" name="Google Shape;681;p46"/>
          <p:cNvCxnSpPr>
            <a:stCxn id="647" idx="3"/>
            <a:endCxn id="675" idx="0"/>
          </p:cNvCxnSpPr>
          <p:nvPr/>
        </p:nvCxnSpPr>
        <p:spPr>
          <a:xfrm>
            <a:off x="2689238" y="3556750"/>
            <a:ext cx="12417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2" name="Google Shape;682;p46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4" name="Google Shape;684;p46"/>
          <p:cNvCxnSpPr>
            <a:stCxn id="682" idx="3"/>
            <a:endCxn id="683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p46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6" name="Google Shape;686;p46"/>
          <p:cNvCxnSpPr>
            <a:stCxn id="682" idx="2"/>
            <a:endCxn id="685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46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8" name="Google Shape;688;p46"/>
          <p:cNvCxnSpPr>
            <a:stCxn id="687" idx="1"/>
            <a:endCxn id="685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9" name="Google Shape;689;p46"/>
          <p:cNvCxnSpPr>
            <a:stCxn id="690" idx="2"/>
            <a:endCxn id="687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1" name="Google Shape;691;p46"/>
          <p:cNvCxnSpPr>
            <a:stCxn id="692" idx="2"/>
            <a:endCxn id="687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3" name="Google Shape;693;p46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46"/>
          <p:cNvCxnSpPr>
            <a:stCxn id="683" idx="3"/>
            <a:endCxn id="693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46"/>
          <p:cNvCxnSpPr>
            <a:stCxn id="693" idx="2"/>
            <a:endCxn id="696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46"/>
          <p:cNvCxnSpPr>
            <a:stCxn id="669" idx="3"/>
            <a:endCxn id="682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8" name="Google Shape;698;p46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46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6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46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46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5" name="Google Shape;705;p46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46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6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46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46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46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46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46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0" name="Google Shape;710;p46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6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1" name="Google Shape;711;p46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2" name="Google Shape;712;p46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46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p46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46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46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p46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34755D-B802-FBC0-B5BA-2044DB7382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7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5" name="Google Shape;725;p47"/>
          <p:cNvCxnSpPr>
            <a:stCxn id="726" idx="0"/>
            <a:endCxn id="727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8" name="Google Shape;728;p47"/>
          <p:cNvCxnSpPr>
            <a:stCxn id="729" idx="0"/>
            <a:endCxn id="727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0" name="Google Shape;730;p47"/>
          <p:cNvCxnSpPr>
            <a:stCxn id="731" idx="0"/>
            <a:endCxn id="732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3" name="Google Shape;733;p47"/>
          <p:cNvCxnSpPr>
            <a:stCxn id="734" idx="0"/>
            <a:endCxn id="732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5" name="Google Shape;735;p47"/>
          <p:cNvCxnSpPr>
            <a:stCxn id="736" idx="0"/>
            <a:endCxn id="737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8" name="Google Shape;738;p47"/>
          <p:cNvCxnSpPr>
            <a:stCxn id="739" idx="0"/>
            <a:endCxn id="737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0" name="Google Shape;740;p47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47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7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744" name="Google Shape;74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311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R9 can summarize all hosts in another network with a single table entry.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Huge scaling improvement! Tables are smaller now.</a:t>
            </a:r>
            <a:endParaRPr/>
          </a:p>
        </p:txBody>
      </p:sp>
      <p:cxnSp>
        <p:nvCxnSpPr>
          <p:cNvPr id="745" name="Google Shape;745;p47"/>
          <p:cNvCxnSpPr>
            <a:stCxn id="746" idx="6"/>
            <a:endCxn id="747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7" name="Google Shape;747;p47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47"/>
          <p:cNvCxnSpPr>
            <a:stCxn id="749" idx="6"/>
            <a:endCxn id="747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47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1" name="Google Shape;751;p47"/>
          <p:cNvCxnSpPr>
            <a:stCxn id="747" idx="3"/>
            <a:endCxn id="750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2" name="Google Shape;752;p47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3" name="Google Shape;753;p47"/>
          <p:cNvCxnSpPr>
            <a:stCxn id="750" idx="3"/>
            <a:endCxn id="752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4" name="Google Shape;754;p47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5" name="Google Shape;755;p47"/>
          <p:cNvCxnSpPr>
            <a:stCxn id="754" idx="0"/>
            <a:endCxn id="750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6" name="Google Shape;756;p47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47"/>
          <p:cNvCxnSpPr>
            <a:stCxn id="750" idx="0"/>
            <a:endCxn id="756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8" name="Google Shape;758;p47"/>
          <p:cNvCxnSpPr>
            <a:stCxn id="759" idx="4"/>
            <a:endCxn id="756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0" name="Google Shape;760;p47"/>
          <p:cNvCxnSpPr>
            <a:stCxn id="761" idx="4"/>
            <a:endCxn id="756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2" name="Google Shape;762;p47"/>
          <p:cNvCxnSpPr>
            <a:stCxn id="763" idx="4"/>
            <a:endCxn id="756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4" name="Google Shape;764;p47"/>
          <p:cNvCxnSpPr>
            <a:stCxn id="752" idx="3"/>
            <a:endCxn id="765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6" name="Google Shape;766;p47"/>
          <p:cNvCxnSpPr>
            <a:stCxn id="754" idx="3"/>
            <a:endCxn id="752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7" name="Google Shape;767;p47"/>
          <p:cNvCxnSpPr>
            <a:stCxn id="768" idx="0"/>
            <a:endCxn id="754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9" name="Google Shape;769;p47"/>
          <p:cNvCxnSpPr>
            <a:stCxn id="770" idx="0"/>
            <a:endCxn id="754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7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47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3" name="Google Shape;773;p47"/>
          <p:cNvCxnSpPr>
            <a:stCxn id="774" idx="3"/>
            <a:endCxn id="771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5" name="Google Shape;775;p47"/>
          <p:cNvCxnSpPr>
            <a:stCxn id="771" idx="0"/>
            <a:endCxn id="772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6" name="Google Shape;776;p47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7" name="Google Shape;777;p47"/>
          <p:cNvCxnSpPr>
            <a:stCxn id="778" idx="0"/>
            <a:endCxn id="771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9" name="Google Shape;779;p47"/>
          <p:cNvCxnSpPr>
            <a:stCxn id="771" idx="3"/>
            <a:endCxn id="776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0" name="Google Shape;780;p47"/>
          <p:cNvCxnSpPr>
            <a:stCxn id="772" idx="3"/>
            <a:endCxn id="781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1" name="Google Shape;781;p47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7"/>
          <p:cNvCxnSpPr>
            <a:stCxn id="776" idx="0"/>
            <a:endCxn id="781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3" name="Google Shape;783;p47"/>
          <p:cNvCxnSpPr>
            <a:stCxn id="776" idx="3"/>
            <a:endCxn id="784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7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7"/>
          <p:cNvCxnSpPr>
            <a:stCxn id="781" idx="3"/>
            <a:endCxn id="785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7" name="Google Shape;787;p47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8" name="Google Shape;788;p47"/>
          <p:cNvCxnSpPr>
            <a:stCxn id="787" idx="0"/>
            <a:endCxn id="776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9" name="Google Shape;789;p47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47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47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47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47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47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47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47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47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47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0" name="Google Shape;790;p47"/>
          <p:cNvCxnSpPr>
            <a:stCxn id="737" idx="0"/>
            <a:endCxn id="791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2" name="Google Shape;792;p47"/>
          <p:cNvCxnSpPr>
            <a:stCxn id="727" idx="0"/>
            <a:endCxn id="791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7"/>
          <p:cNvCxnSpPr>
            <a:stCxn id="732" idx="0"/>
            <a:endCxn id="789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7"/>
          <p:cNvCxnSpPr>
            <a:stCxn id="727" idx="0"/>
            <a:endCxn id="789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5" name="Google Shape;795;p47"/>
          <p:cNvCxnSpPr>
            <a:stCxn id="789" idx="0"/>
            <a:endCxn id="787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6" name="Google Shape;796;p47"/>
          <p:cNvCxnSpPr>
            <a:stCxn id="765" idx="3"/>
            <a:endCxn id="791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7" name="Google Shape;797;p47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9" name="Google Shape;799;p47"/>
          <p:cNvCxnSpPr>
            <a:stCxn id="797" idx="3"/>
            <a:endCxn id="798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0" name="Google Shape;800;p47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1" name="Google Shape;801;p47"/>
          <p:cNvCxnSpPr>
            <a:stCxn id="797" idx="2"/>
            <a:endCxn id="800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2" name="Google Shape;802;p47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3" name="Google Shape;803;p47"/>
          <p:cNvCxnSpPr>
            <a:stCxn id="802" idx="1"/>
            <a:endCxn id="800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4" name="Google Shape;804;p47"/>
          <p:cNvCxnSpPr>
            <a:stCxn id="805" idx="2"/>
            <a:endCxn id="802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6" name="Google Shape;806;p47"/>
          <p:cNvCxnSpPr>
            <a:stCxn id="807" idx="2"/>
            <a:endCxn id="802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8" name="Google Shape;808;p47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9" name="Google Shape;809;p47"/>
          <p:cNvCxnSpPr>
            <a:stCxn id="798" idx="3"/>
            <a:endCxn id="808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0" name="Google Shape;810;p47"/>
          <p:cNvCxnSpPr>
            <a:stCxn id="808" idx="2"/>
            <a:endCxn id="811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2" name="Google Shape;812;p47"/>
          <p:cNvCxnSpPr>
            <a:stCxn id="785" idx="3"/>
            <a:endCxn id="797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3" name="Google Shape;813;p47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47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47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47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47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7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47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47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47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47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47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47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47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47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47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47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47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47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47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47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47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47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47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47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47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47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47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47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47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47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47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47"/>
          <p:cNvCxnSpPr>
            <a:stCxn id="756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7" name="Google Shape;837;p47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5" name="Google Shape;765;p47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47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38" name="Google Shape;838;p47"/>
          <p:cNvGraphicFramePr/>
          <p:nvPr/>
        </p:nvGraphicFramePr>
        <p:xfrm>
          <a:off x="6746532" y="604700"/>
          <a:ext cx="18887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F8342A-3276-E5C3-5048-145E289BCF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8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48"/>
          <p:cNvCxnSpPr>
            <a:stCxn id="845" idx="0"/>
            <a:endCxn id="846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7" name="Google Shape;847;p48"/>
          <p:cNvCxnSpPr>
            <a:stCxn id="848" idx="0"/>
            <a:endCxn id="846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9" name="Google Shape;849;p48"/>
          <p:cNvCxnSpPr>
            <a:stCxn id="850" idx="0"/>
            <a:endCxn id="851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2" name="Google Shape;852;p48"/>
          <p:cNvCxnSpPr>
            <a:stCxn id="853" idx="0"/>
            <a:endCxn id="851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4" name="Google Shape;854;p48"/>
          <p:cNvCxnSpPr>
            <a:stCxn id="855" idx="0"/>
            <a:endCxn id="856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7" name="Google Shape;857;p48"/>
          <p:cNvCxnSpPr>
            <a:stCxn id="858" idx="0"/>
            <a:endCxn id="856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9" name="Google Shape;859;p48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48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48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1954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limits </a:t>
            </a:r>
            <a:r>
              <a:rPr lang="en" i="1"/>
              <a:t>table churn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inside a network don't affect tables in other networks.</a:t>
            </a:r>
            <a:endParaRPr/>
          </a:p>
        </p:txBody>
      </p:sp>
      <p:cxnSp>
        <p:nvCxnSpPr>
          <p:cNvPr id="864" name="Google Shape;864;p48"/>
          <p:cNvCxnSpPr>
            <a:stCxn id="865" idx="6"/>
            <a:endCxn id="866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6" name="Google Shape;866;p48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7" name="Google Shape;867;p48"/>
          <p:cNvCxnSpPr>
            <a:stCxn id="868" idx="6"/>
            <a:endCxn id="866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9" name="Google Shape;869;p48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48"/>
          <p:cNvCxnSpPr>
            <a:stCxn id="866" idx="3"/>
            <a:endCxn id="869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48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48"/>
          <p:cNvCxnSpPr>
            <a:stCxn id="869" idx="3"/>
            <a:endCxn id="871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48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48"/>
          <p:cNvCxnSpPr>
            <a:stCxn id="873" idx="0"/>
            <a:endCxn id="869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p48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48"/>
          <p:cNvCxnSpPr>
            <a:stCxn id="869" idx="0"/>
            <a:endCxn id="875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7" name="Google Shape;877;p48"/>
          <p:cNvCxnSpPr>
            <a:stCxn id="878" idx="4"/>
            <a:endCxn id="875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9" name="Google Shape;879;p48"/>
          <p:cNvCxnSpPr>
            <a:stCxn id="880" idx="4"/>
            <a:endCxn id="875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1" name="Google Shape;881;p48"/>
          <p:cNvCxnSpPr>
            <a:stCxn id="882" idx="4"/>
            <a:endCxn id="875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3" name="Google Shape;883;p48"/>
          <p:cNvCxnSpPr>
            <a:stCxn id="871" idx="3"/>
            <a:endCxn id="884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5" name="Google Shape;885;p48"/>
          <p:cNvCxnSpPr>
            <a:stCxn id="873" idx="3"/>
            <a:endCxn id="871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6" name="Google Shape;886;p48"/>
          <p:cNvCxnSpPr>
            <a:stCxn id="887" idx="0"/>
            <a:endCxn id="873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8" name="Google Shape;888;p48"/>
          <p:cNvCxnSpPr>
            <a:stCxn id="889" idx="0"/>
            <a:endCxn id="873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0" name="Google Shape;890;p48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48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48"/>
          <p:cNvCxnSpPr>
            <a:stCxn id="893" idx="3"/>
            <a:endCxn id="890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4" name="Google Shape;894;p48"/>
          <p:cNvCxnSpPr>
            <a:stCxn id="890" idx="0"/>
            <a:endCxn id="891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5" name="Google Shape;895;p48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6" name="Google Shape;896;p48"/>
          <p:cNvCxnSpPr>
            <a:stCxn id="897" idx="0"/>
            <a:endCxn id="890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8" name="Google Shape;898;p48"/>
          <p:cNvCxnSpPr>
            <a:stCxn id="890" idx="3"/>
            <a:endCxn id="895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9" name="Google Shape;899;p48"/>
          <p:cNvCxnSpPr>
            <a:stCxn id="891" idx="3"/>
            <a:endCxn id="900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0" name="Google Shape;900;p48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48"/>
          <p:cNvCxnSpPr>
            <a:stCxn id="895" idx="0"/>
            <a:endCxn id="900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2" name="Google Shape;902;p48"/>
          <p:cNvCxnSpPr>
            <a:stCxn id="895" idx="3"/>
            <a:endCxn id="903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4" name="Google Shape;904;p48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5" name="Google Shape;905;p48"/>
          <p:cNvCxnSpPr>
            <a:stCxn id="900" idx="3"/>
            <a:endCxn id="904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6" name="Google Shape;906;p48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7" name="Google Shape;907;p48"/>
          <p:cNvCxnSpPr>
            <a:stCxn id="906" idx="0"/>
            <a:endCxn id="895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8" name="Google Shape;908;p48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48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48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48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48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48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48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48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48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48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9" name="Google Shape;909;p48"/>
          <p:cNvCxnSpPr>
            <a:stCxn id="856" idx="0"/>
            <a:endCxn id="910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1" name="Google Shape;911;p48"/>
          <p:cNvCxnSpPr>
            <a:stCxn id="846" idx="0"/>
            <a:endCxn id="910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2" name="Google Shape;912;p48"/>
          <p:cNvCxnSpPr>
            <a:stCxn id="851" idx="0"/>
            <a:endCxn id="908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3" name="Google Shape;913;p48"/>
          <p:cNvCxnSpPr>
            <a:stCxn id="846" idx="0"/>
            <a:endCxn id="908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4" name="Google Shape;914;p48"/>
          <p:cNvCxnSpPr>
            <a:stCxn id="908" idx="0"/>
            <a:endCxn id="906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5" name="Google Shape;915;p48"/>
          <p:cNvCxnSpPr>
            <a:stCxn id="884" idx="3"/>
            <a:endCxn id="910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6" name="Google Shape;916;p48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48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48"/>
          <p:cNvCxnSpPr>
            <a:stCxn id="916" idx="3"/>
            <a:endCxn id="917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9" name="Google Shape;919;p48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0" name="Google Shape;920;p48"/>
          <p:cNvCxnSpPr>
            <a:stCxn id="916" idx="2"/>
            <a:endCxn id="919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1" name="Google Shape;921;p48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2" name="Google Shape;922;p48"/>
          <p:cNvCxnSpPr>
            <a:stCxn id="921" idx="1"/>
            <a:endCxn id="919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3" name="Google Shape;923;p48"/>
          <p:cNvCxnSpPr>
            <a:stCxn id="924" idx="2"/>
            <a:endCxn id="921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5" name="Google Shape;925;p48"/>
          <p:cNvCxnSpPr>
            <a:stCxn id="926" idx="2"/>
            <a:endCxn id="921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7" name="Google Shape;927;p48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48"/>
          <p:cNvCxnSpPr>
            <a:stCxn id="917" idx="3"/>
            <a:endCxn id="927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9" name="Google Shape;929;p48"/>
          <p:cNvCxnSpPr>
            <a:stCxn id="927" idx="2"/>
            <a:endCxn id="930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1" name="Google Shape;931;p48"/>
          <p:cNvCxnSpPr>
            <a:stCxn id="904" idx="3"/>
            <a:endCxn id="916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2" name="Google Shape;932;p48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48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48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48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48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48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48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48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48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48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48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48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48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48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48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48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48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48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48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48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48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48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48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48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48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48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48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48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48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48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48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48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48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48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4" name="Google Shape;954;p48"/>
          <p:cNvCxnSpPr>
            <a:stCxn id="875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5" name="Google Shape;955;p48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4" name="Google Shape;884;p48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48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56" name="Google Shape;956;p48"/>
          <p:cNvGraphicFramePr/>
          <p:nvPr/>
        </p:nvGraphicFramePr>
        <p:xfrm>
          <a:off x="6746532" y="604700"/>
          <a:ext cx="18887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957" name="Google Shape;957;p48"/>
          <p:cNvCxnSpPr>
            <a:stCxn id="958" idx="1"/>
            <a:endCxn id="853" idx="6"/>
          </p:cNvCxnSpPr>
          <p:nvPr/>
        </p:nvCxnSpPr>
        <p:spPr>
          <a:xfrm rot="10800000">
            <a:off x="5689550" y="4623550"/>
            <a:ext cx="768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48"/>
          <p:cNvSpPr txBox="1"/>
          <p:nvPr/>
        </p:nvSpPr>
        <p:spPr>
          <a:xfrm>
            <a:off x="6458450" y="4488100"/>
            <a:ext cx="1689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4.6 left the network!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48"/>
          <p:cNvCxnSpPr>
            <a:stCxn id="960" idx="3"/>
          </p:cNvCxnSpPr>
          <p:nvPr/>
        </p:nvCxnSpPr>
        <p:spPr>
          <a:xfrm>
            <a:off x="6461650" y="1645350"/>
            <a:ext cx="2928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1" name="Google Shape;961;p48"/>
          <p:cNvSpPr txBox="1"/>
          <p:nvPr/>
        </p:nvSpPr>
        <p:spPr>
          <a:xfrm>
            <a:off x="5507531" y="1296602"/>
            <a:ext cx="1159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change in table entry!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E5B9B1-9F5C-E337-D9AA-179F81EDAC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49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49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49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49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0" name="Google Shape;970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3" name="Google Shape;973;p49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975" name="Google Shape;975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Size of the forwarding table scales with </a:t>
            </a:r>
            <a:r>
              <a:rPr lang="en">
                <a:solidFill>
                  <a:srgbClr val="38761D"/>
                </a:solidFill>
              </a:rPr>
              <a:t>number of hosts in the current network</a:t>
            </a:r>
            <a:r>
              <a:rPr lang="en"/>
              <a:t>, plus </a:t>
            </a:r>
            <a:r>
              <a:rPr lang="en">
                <a:solidFill>
                  <a:schemeClr val="accent3"/>
                </a:solidFill>
              </a:rPr>
              <a:t>number of other networks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Big scaling improvement! Much better than listing every single host.</a:t>
            </a:r>
            <a:endParaRPr/>
          </a:p>
        </p:txBody>
      </p:sp>
      <p:cxnSp>
        <p:nvCxnSpPr>
          <p:cNvPr id="976" name="Google Shape;976;p49"/>
          <p:cNvCxnSpPr>
            <a:stCxn id="977" idx="3"/>
            <a:endCxn id="978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9" name="Google Shape;979;p49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49"/>
          <p:cNvCxnSpPr>
            <a:stCxn id="977" idx="3"/>
            <a:endCxn id="981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82" name="Google Shape;982;p49"/>
          <p:cNvGraphicFramePr/>
          <p:nvPr/>
        </p:nvGraphicFramePr>
        <p:xfrm>
          <a:off x="53425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983" name="Google Shape;983;p49"/>
          <p:cNvCxnSpPr>
            <a:stCxn id="984" idx="3"/>
            <a:endCxn id="971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5" name="Google Shape;985;p49"/>
          <p:cNvCxnSpPr>
            <a:stCxn id="971" idx="2"/>
            <a:endCxn id="986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7" name="Google Shape;987;p49"/>
          <p:cNvCxnSpPr>
            <a:stCxn id="988" idx="2"/>
            <a:endCxn id="971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9" name="Google Shape;989;p49"/>
          <p:cNvCxnSpPr>
            <a:stCxn id="990" idx="4"/>
            <a:endCxn id="988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1" name="Google Shape;991;p49"/>
          <p:cNvCxnSpPr>
            <a:stCxn id="992" idx="4"/>
            <a:endCxn id="988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49"/>
          <p:cNvCxnSpPr>
            <a:stCxn id="994" idx="4"/>
            <a:endCxn id="988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0" name="Google Shape;990;p49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49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49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49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49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49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49"/>
          <p:cNvCxnSpPr>
            <a:stCxn id="999" idx="6"/>
            <a:endCxn id="984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0" name="Google Shape;1000;p49"/>
          <p:cNvCxnSpPr>
            <a:stCxn id="1001" idx="6"/>
            <a:endCxn id="984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9" name="Google Shape;999;p49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49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49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49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49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4" name="Google Shape;1004;p49"/>
          <p:cNvCxnSpPr>
            <a:stCxn id="1005" idx="0"/>
            <a:endCxn id="986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6" name="Google Shape;1006;p49"/>
          <p:cNvCxnSpPr>
            <a:stCxn id="1007" idx="0"/>
            <a:endCxn id="986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5" name="Google Shape;1005;p49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49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49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49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49"/>
          <p:cNvCxnSpPr>
            <a:stCxn id="972" idx="3"/>
            <a:endCxn id="977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49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49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49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49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49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49"/>
          <p:cNvCxnSpPr>
            <a:stCxn id="988" idx="3"/>
            <a:endCxn id="977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49"/>
          <p:cNvCxnSpPr>
            <a:stCxn id="972" idx="2"/>
            <a:endCxn id="986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8" name="Google Shape;988;p49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49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49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49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49"/>
          <p:cNvSpPr txBox="1"/>
          <p:nvPr/>
        </p:nvSpPr>
        <p:spPr>
          <a:xfrm>
            <a:off x="7188250" y="29913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49"/>
          <p:cNvSpPr txBox="1"/>
          <p:nvPr/>
        </p:nvSpPr>
        <p:spPr>
          <a:xfrm>
            <a:off x="7188250" y="43302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3D8D33-E96C-8503-7752-9BC6F830DB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Implications of Hierarchical Addressing</a:t>
            </a:r>
            <a:endParaRPr/>
          </a:p>
        </p:txBody>
      </p:sp>
      <p:sp>
        <p:nvSpPr>
          <p:cNvPr id="1023" name="Google Shape;102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81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Inter-domain</a:t>
            </a:r>
            <a:r>
              <a:rPr lang="en" dirty="0"/>
              <a:t> routing computes routes between networks.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to think about churn inside networks.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Just think about network 1, network 2,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Intra-domain</a:t>
            </a:r>
            <a:r>
              <a:rPr lang="en" dirty="0"/>
              <a:t> routing computes routes inside a network.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to think about other networks.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Just think about 2.1, 2.2, etc.</a:t>
            </a:r>
            <a:endParaRPr dirty="0"/>
          </a:p>
        </p:txBody>
      </p:sp>
      <p:graphicFrame>
        <p:nvGraphicFramePr>
          <p:cNvPr id="1024" name="Google Shape;1024;p50"/>
          <p:cNvGraphicFramePr/>
          <p:nvPr/>
        </p:nvGraphicFramePr>
        <p:xfrm>
          <a:off x="6012682" y="165577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25" name="Google Shape;1025;p50"/>
          <p:cNvSpPr txBox="1"/>
          <p:nvPr/>
        </p:nvSpPr>
        <p:spPr>
          <a:xfrm>
            <a:off x="7858350" y="27185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50"/>
          <p:cNvSpPr txBox="1"/>
          <p:nvPr/>
        </p:nvSpPr>
        <p:spPr>
          <a:xfrm>
            <a:off x="7858350" y="40574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EA8007-A5C8-7E68-876D-4A62FD13AA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1" name="Google Shape;1031;p51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51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3" name="Google Shape;1033;p51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4" name="Google Shape;1034;p51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51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51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51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8" name="Google Shape;103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1" name="Google Shape;1041;p51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043" name="Google Shape;1043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Sometimes, we can </a:t>
            </a:r>
            <a:r>
              <a:rPr lang="en" i="1"/>
              <a:t>aggregate</a:t>
            </a:r>
            <a:r>
              <a:rPr lang="en"/>
              <a:t> several rows into a single row.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R4, any packet to an external network has a next-hop of R9.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*.* wildcard says: For any destination not in the table, forward to R9.</a:t>
            </a:r>
            <a:endParaRPr/>
          </a:p>
        </p:txBody>
      </p:sp>
      <p:cxnSp>
        <p:nvCxnSpPr>
          <p:cNvPr id="1044" name="Google Shape;1044;p51"/>
          <p:cNvCxnSpPr>
            <a:stCxn id="1045" idx="3"/>
            <a:endCxn id="104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51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51"/>
          <p:cNvCxnSpPr>
            <a:stCxn id="1045" idx="3"/>
            <a:endCxn id="104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0" name="Google Shape;1050;p51"/>
          <p:cNvCxnSpPr>
            <a:stCxn id="1051" idx="3"/>
            <a:endCxn id="103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2" name="Google Shape;1052;p51"/>
          <p:cNvCxnSpPr>
            <a:stCxn id="1039" idx="2"/>
            <a:endCxn id="105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51"/>
          <p:cNvCxnSpPr>
            <a:stCxn id="1055" idx="2"/>
            <a:endCxn id="103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6" name="Google Shape;1056;p51"/>
          <p:cNvCxnSpPr>
            <a:stCxn id="1057" idx="4"/>
            <a:endCxn id="105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8" name="Google Shape;1058;p51"/>
          <p:cNvCxnSpPr>
            <a:stCxn id="1059" idx="4"/>
            <a:endCxn id="105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0" name="Google Shape;1060;p51"/>
          <p:cNvCxnSpPr>
            <a:stCxn id="1061" idx="4"/>
            <a:endCxn id="105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7" name="Google Shape;1057;p51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51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51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51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51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51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5" name="Google Shape;1065;p51"/>
          <p:cNvCxnSpPr>
            <a:stCxn id="1066" idx="6"/>
            <a:endCxn id="105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7" name="Google Shape;1067;p51"/>
          <p:cNvCxnSpPr>
            <a:stCxn id="1068" idx="6"/>
            <a:endCxn id="105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6" name="Google Shape;1066;p51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51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51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51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51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1" name="Google Shape;1071;p51"/>
          <p:cNvCxnSpPr>
            <a:stCxn id="1072" idx="0"/>
            <a:endCxn id="105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3" name="Google Shape;1073;p51"/>
          <p:cNvCxnSpPr>
            <a:stCxn id="1074" idx="0"/>
            <a:endCxn id="105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2" name="Google Shape;1072;p51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51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51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51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7" name="Google Shape;1077;p51"/>
          <p:cNvCxnSpPr>
            <a:stCxn id="1040" idx="3"/>
            <a:endCxn id="104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8" name="Google Shape;107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9" name="Google Shape;1039;p51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51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51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51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51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1" name="Google Shape;1081;p51"/>
          <p:cNvCxnSpPr>
            <a:stCxn id="1055" idx="3"/>
            <a:endCxn id="104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82" name="Google Shape;1082;p51"/>
          <p:cNvCxnSpPr>
            <a:stCxn id="1040" idx="2"/>
            <a:endCxn id="105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5" name="Google Shape;1055;p51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51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51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51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3" name="Google Shape;1083;p51"/>
          <p:cNvGraphicFramePr/>
          <p:nvPr/>
        </p:nvGraphicFramePr>
        <p:xfrm>
          <a:off x="7095182" y="1928525"/>
          <a:ext cx="1689700" cy="293793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9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4" name="Google Shape;1084;p51"/>
          <p:cNvGraphicFramePr/>
          <p:nvPr/>
        </p:nvGraphicFramePr>
        <p:xfrm>
          <a:off x="48853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57D6AE-F45D-CD0F-98D6-0C743712CA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9" name="Google Shape;1089;p52"/>
          <p:cNvCxnSpPr/>
          <p:nvPr/>
        </p:nvCxnSpPr>
        <p:spPr>
          <a:xfrm>
            <a:off x="6580225" y="2995153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0" name="Google Shape;1090;p52"/>
          <p:cNvCxnSpPr/>
          <p:nvPr/>
        </p:nvCxnSpPr>
        <p:spPr>
          <a:xfrm>
            <a:off x="6580225" y="3253211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1" name="Google Shape;1091;p52"/>
          <p:cNvCxnSpPr/>
          <p:nvPr/>
        </p:nvCxnSpPr>
        <p:spPr>
          <a:xfrm>
            <a:off x="6580225" y="3476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2" name="Google Shape;1092;p52"/>
          <p:cNvCxnSpPr/>
          <p:nvPr/>
        </p:nvCxnSpPr>
        <p:spPr>
          <a:xfrm>
            <a:off x="6580225" y="3734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3" name="Google Shape;1093;p52"/>
          <p:cNvCxnSpPr/>
          <p:nvPr/>
        </p:nvCxnSpPr>
        <p:spPr>
          <a:xfrm>
            <a:off x="6580225" y="3983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4" name="Google Shape;1094;p52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52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52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52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8" name="Google Shape;109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1" name="Google Shape;1101;p52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2" name="Google Shape;1102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103" name="Google Shape;1103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R2, everything is reached through R3, so we can aggregate entries.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*.* wildcard (everything not in the table) is the </a:t>
            </a:r>
            <a:r>
              <a:rPr lang="en" b="1"/>
              <a:t>default route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hosts only have the default route!</a:t>
            </a:r>
            <a:endParaRPr/>
          </a:p>
        </p:txBody>
      </p:sp>
      <p:cxnSp>
        <p:nvCxnSpPr>
          <p:cNvPr id="1104" name="Google Shape;1104;p52"/>
          <p:cNvCxnSpPr>
            <a:stCxn id="1105" idx="3"/>
            <a:endCxn id="110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7" name="Google Shape;1107;p52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8" name="Google Shape;1108;p52"/>
          <p:cNvCxnSpPr>
            <a:stCxn id="1105" idx="3"/>
            <a:endCxn id="110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0" name="Google Shape;1110;p52"/>
          <p:cNvCxnSpPr>
            <a:stCxn id="1111" idx="3"/>
            <a:endCxn id="109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2" name="Google Shape;1112;p52"/>
          <p:cNvCxnSpPr>
            <a:stCxn id="1099" idx="2"/>
            <a:endCxn id="111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4" name="Google Shape;1114;p52"/>
          <p:cNvCxnSpPr>
            <a:stCxn id="1115" idx="2"/>
            <a:endCxn id="109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6" name="Google Shape;1116;p52"/>
          <p:cNvCxnSpPr>
            <a:stCxn id="1117" idx="4"/>
            <a:endCxn id="111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8" name="Google Shape;1118;p52"/>
          <p:cNvCxnSpPr>
            <a:stCxn id="1119" idx="4"/>
            <a:endCxn id="111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0" name="Google Shape;1120;p52"/>
          <p:cNvCxnSpPr>
            <a:stCxn id="1121" idx="4"/>
            <a:endCxn id="111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52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52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52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52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52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52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5" name="Google Shape;1125;p52"/>
          <p:cNvCxnSpPr>
            <a:stCxn id="1126" idx="6"/>
            <a:endCxn id="111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7" name="Google Shape;1127;p52"/>
          <p:cNvCxnSpPr>
            <a:stCxn id="1128" idx="6"/>
            <a:endCxn id="111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6" name="Google Shape;1126;p52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52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52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52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52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1" name="Google Shape;1131;p52"/>
          <p:cNvCxnSpPr>
            <a:stCxn id="1132" idx="0"/>
            <a:endCxn id="111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3" name="Google Shape;1133;p52"/>
          <p:cNvCxnSpPr>
            <a:stCxn id="1134" idx="0"/>
            <a:endCxn id="111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2" name="Google Shape;1132;p52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52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52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52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7" name="Google Shape;1137;p52"/>
          <p:cNvCxnSpPr>
            <a:stCxn id="1100" idx="3"/>
            <a:endCxn id="110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8" name="Google Shape;113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9" name="Google Shape;1099;p52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52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52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9" name="Google Shape;1109;p52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52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52"/>
          <p:cNvCxnSpPr>
            <a:stCxn id="1115" idx="3"/>
            <a:endCxn id="110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2" name="Google Shape;1142;p52"/>
          <p:cNvCxnSpPr>
            <a:stCxn id="1100" idx="2"/>
            <a:endCxn id="111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5" name="Google Shape;1115;p52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52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5" name="Google Shape;1105;p52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52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143" name="Google Shape;1143;p52"/>
          <p:cNvGraphicFramePr/>
          <p:nvPr/>
        </p:nvGraphicFramePr>
        <p:xfrm>
          <a:off x="7095182" y="1928525"/>
          <a:ext cx="1689700" cy="2937805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52"/>
          <p:cNvGraphicFramePr/>
          <p:nvPr/>
        </p:nvGraphicFramePr>
        <p:xfrm>
          <a:off x="48853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1145" name="Google Shape;1145;p52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52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52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B0BF81-A2FF-07EC-2584-9AC456C47D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53" name="Google Shape;1153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Assigning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4" name="Google Shape;1154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D7FF6A-E7DF-2360-CDC1-5326CEEBCD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60" name="Google Shape;1160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makes routing scalable.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that are "close to each other" (in some sense) share part of their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All third-floor room numbers start with the digit 3.	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host joins the network, it's assigned an IP address based on its location in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When you move to a new house, your address changes.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assign addresses to hosts?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07E68F-61F6-22A9-4BF0-9962B676D7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5" name="Google Shape;1165;p55"/>
          <p:cNvCxnSpPr/>
          <p:nvPr/>
        </p:nvCxnSpPr>
        <p:spPr>
          <a:xfrm>
            <a:off x="3415125" y="4608650"/>
            <a:ext cx="3222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66" name="Google Shape;11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67" name="Google Shape;11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1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organization gets a unique network ID.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= ID 12.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Apple = ID 17.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Ford = ID 19.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 Department of Defense = IDs 6, 7, 11, 21, 22, 26, 28, 29, 30, 33, 55, 214, 215.</a:t>
            </a:r>
            <a:endParaRPr/>
          </a:p>
        </p:txBody>
      </p:sp>
      <p:sp>
        <p:nvSpPr>
          <p:cNvPr id="1168" name="Google Shape;1168;p55"/>
          <p:cNvSpPr txBox="1"/>
          <p:nvPr/>
        </p:nvSpPr>
        <p:spPr>
          <a:xfrm>
            <a:off x="564250" y="35293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10000100 00111010 01101110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9" name="Google Shape;1169;p55"/>
          <p:cNvSpPr txBox="1"/>
          <p:nvPr/>
        </p:nvSpPr>
        <p:spPr>
          <a:xfrm>
            <a:off x="564175" y="39910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10010001 00000000 01001101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0" name="Google Shape;1170;p55"/>
          <p:cNvSpPr txBox="1"/>
          <p:nvPr/>
        </p:nvSpPr>
        <p:spPr>
          <a:xfrm>
            <a:off x="2254192" y="4500950"/>
            <a:ext cx="960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55"/>
          <p:cNvSpPr txBox="1"/>
          <p:nvPr/>
        </p:nvSpPr>
        <p:spPr>
          <a:xfrm>
            <a:off x="4697925" y="4500950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55"/>
          <p:cNvSpPr txBox="1"/>
          <p:nvPr/>
        </p:nvSpPr>
        <p:spPr>
          <a:xfrm>
            <a:off x="6999775" y="3666125"/>
            <a:ext cx="1644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Same network ID, so they must be in the same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A430F9-1182-9A0C-95B1-4BD3A8A0A8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78" name="Google Shape;1178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2</a:t>
            </a:r>
            <a:r>
              <a:rPr lang="en" baseline="30000"/>
              <a:t>8</a:t>
            </a:r>
            <a:r>
              <a:rPr lang="en"/>
              <a:t> = 256 different network IDs.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And we already gave the US Department of Defense 13 of them.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Imagine a tiny network (Joe's Tire Shop) with 10 hosts.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we give them an ID, we're giving them 2</a:t>
            </a:r>
            <a:r>
              <a:rPr lang="en" baseline="30000"/>
              <a:t>24</a:t>
            </a:r>
            <a:r>
              <a:rPr lang="en"/>
              <a:t> = 16,777,216 addresses!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going to run out!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9CB0B9-3F80-1D77-23C3-B77A6195C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184" name="Google Shape;118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Allocate different network sizes based on need.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top bits (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,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/>
              <a:t>, or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</a:t>
            </a:r>
            <a:r>
              <a:rPr lang="en"/>
              <a:t>) tell us how to split up the rest of the bits.</a:t>
            </a:r>
            <a:endParaRPr/>
          </a:p>
        </p:txBody>
      </p:sp>
      <p:graphicFrame>
        <p:nvGraphicFramePr>
          <p:cNvPr id="1185" name="Google Shape;1185;p57"/>
          <p:cNvGraphicFramePr/>
          <p:nvPr/>
        </p:nvGraphicFramePr>
        <p:xfrm>
          <a:off x="1200800" y="1675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6" name="Google Shape;1186;p57"/>
          <p:cNvGraphicFramePr/>
          <p:nvPr/>
        </p:nvGraphicFramePr>
        <p:xfrm>
          <a:off x="1200800" y="2818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57"/>
          <p:cNvGraphicFramePr/>
          <p:nvPr/>
        </p:nvGraphicFramePr>
        <p:xfrm>
          <a:off x="1200800" y="3961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8" name="Google Shape;1188;p57"/>
          <p:cNvSpPr txBox="1"/>
          <p:nvPr/>
        </p:nvSpPr>
        <p:spPr>
          <a:xfrm>
            <a:off x="235950" y="1742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57"/>
          <p:cNvSpPr txBox="1"/>
          <p:nvPr/>
        </p:nvSpPr>
        <p:spPr>
          <a:xfrm>
            <a:off x="235950" y="2885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57"/>
          <p:cNvSpPr txBox="1"/>
          <p:nvPr/>
        </p:nvSpPr>
        <p:spPr>
          <a:xfrm>
            <a:off x="235950" y="4028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57"/>
          <p:cNvSpPr txBox="1"/>
          <p:nvPr/>
        </p:nvSpPr>
        <p:spPr>
          <a:xfrm>
            <a:off x="1573118" y="2132425"/>
            <a:ext cx="1412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~128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57"/>
          <p:cNvSpPr txBox="1"/>
          <p:nvPr/>
        </p:nvSpPr>
        <p:spPr>
          <a:xfrm>
            <a:off x="4890050" y="2132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~16m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57"/>
          <p:cNvSpPr txBox="1"/>
          <p:nvPr/>
        </p:nvSpPr>
        <p:spPr>
          <a:xfrm>
            <a:off x="2639918" y="3275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~16k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57"/>
          <p:cNvSpPr txBox="1"/>
          <p:nvPr/>
        </p:nvSpPr>
        <p:spPr>
          <a:xfrm>
            <a:off x="5839300" y="3275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~65k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57"/>
          <p:cNvSpPr txBox="1"/>
          <p:nvPr/>
        </p:nvSpPr>
        <p:spPr>
          <a:xfrm>
            <a:off x="3706718" y="4418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~2m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57"/>
          <p:cNvSpPr txBox="1"/>
          <p:nvPr/>
        </p:nvSpPr>
        <p:spPr>
          <a:xfrm>
            <a:off x="7282250" y="4418425"/>
            <a:ext cx="127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~256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8824E4-2B48-77D1-5B0D-F6E7C5A75D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graphicFrame>
        <p:nvGraphicFramePr>
          <p:cNvPr id="1202" name="Google Shape;1202;p58"/>
          <p:cNvGraphicFramePr/>
          <p:nvPr/>
        </p:nvGraphicFramePr>
        <p:xfrm>
          <a:off x="1200800" y="3504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58"/>
          <p:cNvGraphicFramePr/>
          <p:nvPr/>
        </p:nvGraphicFramePr>
        <p:xfrm>
          <a:off x="1200800" y="3885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58"/>
          <p:cNvGraphicFramePr/>
          <p:nvPr/>
        </p:nvGraphicFramePr>
        <p:xfrm>
          <a:off x="1200800" y="4266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05" name="Google Shape;1205;p58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58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58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8" name="Google Shape;1208;p58"/>
          <p:cNvCxnSpPr/>
          <p:nvPr/>
        </p:nvCxnSpPr>
        <p:spPr>
          <a:xfrm>
            <a:off x="5460550" y="2739438"/>
            <a:ext cx="2100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09" name="Google Shape;1209;p58"/>
          <p:cNvSpPr txBox="1"/>
          <p:nvPr/>
        </p:nvSpPr>
        <p:spPr>
          <a:xfrm>
            <a:off x="1487425" y="16600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0" name="Google Shape;1210;p58"/>
          <p:cNvSpPr txBox="1"/>
          <p:nvPr/>
        </p:nvSpPr>
        <p:spPr>
          <a:xfrm>
            <a:off x="1487350" y="21217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1" name="Google Shape;1211;p58"/>
          <p:cNvSpPr txBox="1"/>
          <p:nvPr/>
        </p:nvSpPr>
        <p:spPr>
          <a:xfrm>
            <a:off x="6182200" y="2631738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58"/>
          <p:cNvSpPr txBox="1"/>
          <p:nvPr/>
        </p:nvSpPr>
        <p:spPr>
          <a:xfrm>
            <a:off x="2479850" y="703600"/>
            <a:ext cx="1034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top bits indicate this is Class B...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3" name="Google Shape;1213;p58"/>
          <p:cNvCxnSpPr/>
          <p:nvPr/>
        </p:nvCxnSpPr>
        <p:spPr>
          <a:xfrm>
            <a:off x="3403150" y="2739438"/>
            <a:ext cx="1918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14" name="Google Shape;1214;p58"/>
          <p:cNvSpPr txBox="1"/>
          <p:nvPr/>
        </p:nvSpPr>
        <p:spPr>
          <a:xfrm>
            <a:off x="3882392" y="2631738"/>
            <a:ext cx="9600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5" name="Google Shape;1215;p58"/>
          <p:cNvSpPr txBox="1"/>
          <p:nvPr/>
        </p:nvSpPr>
        <p:spPr>
          <a:xfrm>
            <a:off x="3775250" y="703600"/>
            <a:ext cx="132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...so read the next 14 bits as the network ID...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6" name="Google Shape;1216;p58"/>
          <p:cNvSpPr txBox="1"/>
          <p:nvPr/>
        </p:nvSpPr>
        <p:spPr>
          <a:xfrm>
            <a:off x="5875625" y="703600"/>
            <a:ext cx="1189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...and read the last 16 bits as the host ID.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A3311E-91C1-1C13-F5E9-B2A30A0954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222" name="Google Shape;1222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23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A:	~128 networks.	~16m hosts per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B:	~16k networks.	~65k hosts per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C: ~2m networks.	~256 hosts per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 is way too big for most organizations.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 is way too small for most organizations.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 is the best option for many.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~65k hosts is still too big for most organizations.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~16k is still not enough networks. We're running out again!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FA59EF-9CC6-44C0-E6E6-18FA467660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48" name="Google Shape;1248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5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classful addressing, we tried to use convenient 8-bit boundaries.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A:	8 bits for class/network.	24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B:	16 bits for class/network.	16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C:	24 bits for class/network.	8 bits for host.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we could assign network IDs of any length?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</a:t>
            </a:r>
            <a:r>
              <a:rPr lang="en" b="1"/>
              <a:t>CIDR (Classless Inter-Domain Routing)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what the Internet uses today.</a:t>
            </a:r>
            <a:endParaRPr/>
          </a:p>
        </p:txBody>
      </p:sp>
      <p:graphicFrame>
        <p:nvGraphicFramePr>
          <p:cNvPr id="1249" name="Google Shape;1249;p60"/>
          <p:cNvGraphicFramePr/>
          <p:nvPr/>
        </p:nvGraphicFramePr>
        <p:xfrm>
          <a:off x="1200800" y="3504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60"/>
          <p:cNvGraphicFramePr/>
          <p:nvPr/>
        </p:nvGraphicFramePr>
        <p:xfrm>
          <a:off x="1200800" y="3885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1" name="Google Shape;1251;p60"/>
          <p:cNvGraphicFramePr/>
          <p:nvPr/>
        </p:nvGraphicFramePr>
        <p:xfrm>
          <a:off x="1200800" y="4266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52" name="Google Shape;1252;p60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3" name="Google Shape;1253;p60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4" name="Google Shape;1254;p60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762923-D3B0-5FA9-5287-0DD387AE29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60" name="Google Shape;1260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Joe's Tire Shop has 450 hosts.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Classful addressing: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 gives us ~256 hosts. Not enough!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 gives us ~65k hosts. Too many!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to use Class B (and waste tons of addresses).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Classless (CIDR) addressing: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8 host bits = 256 bits. Not enough!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9 host bits = 512 bits.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not exactly 450, so still some wasted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much less wasteful!</a:t>
            </a:r>
            <a:endParaRPr/>
          </a:p>
        </p:txBody>
      </p:sp>
      <p:graphicFrame>
        <p:nvGraphicFramePr>
          <p:cNvPr id="1261" name="Google Shape;1261;p61"/>
          <p:cNvGraphicFramePr/>
          <p:nvPr/>
        </p:nvGraphicFramePr>
        <p:xfrm>
          <a:off x="733500" y="43974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ID (23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ID (9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C45813-9F4B-23AF-8AD4-7FBF74E86F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Granular Hierarchical Assignment with CIDR</a:t>
            </a:r>
            <a:endParaRPr/>
          </a:p>
        </p:txBody>
      </p:sp>
      <p:sp>
        <p:nvSpPr>
          <p:cNvPr id="1267" name="Google Shape;1267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CIDR enables multi-layered hierarchical assignment of addresses.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ICANN.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Internet Corporation for Names and Numbers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Top-level organization that owns all the IP addresses.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allocate blocks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RIRs.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Regional Internet Registries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Representing Europe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RIPE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North America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ARIN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Asia/Pacific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APNIC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South America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LACNIC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and Africa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AFRINIC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give out portions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Large organizations or ISPs.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Sometimes called Local Internet Registries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especially in Europe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give out portions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Small organizations and individuals.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Examples: Hofstra University, Joe's Tire Shop.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8CD3B1-D92D-6D65-221E-E6C66AA64B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Granular Hierarchical Assignment with CIDR</a:t>
            </a:r>
            <a:endParaRPr/>
          </a:p>
        </p:txBody>
      </p:sp>
      <p:sp>
        <p:nvSpPr>
          <p:cNvPr id="1273" name="Google Shape;1273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ICANN owns all addresses:	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................................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ARIN (North America) owns: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4 bits fixed, 2</a:t>
            </a:r>
            <a:r>
              <a:rPr lang="en" sz="1400" baseline="30000" dirty="0"/>
              <a:t>28</a:t>
            </a:r>
            <a:r>
              <a:rPr lang="en" sz="1400" dirty="0"/>
              <a:t> ≈ 268m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AT&amp;T (large ISP) owns: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9 bits fixed, 2</a:t>
            </a:r>
            <a:r>
              <a:rPr lang="en" sz="1400" baseline="30000" dirty="0"/>
              <a:t>23</a:t>
            </a:r>
            <a:r>
              <a:rPr lang="en" sz="1400" dirty="0"/>
              <a:t> ≈ 8m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Hofstra owns: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18 bits fixed, 2</a:t>
            </a:r>
            <a:r>
              <a:rPr lang="en" sz="1400" baseline="30000" dirty="0"/>
              <a:t>14</a:t>
            </a:r>
            <a:r>
              <a:rPr lang="en" sz="1400" dirty="0"/>
              <a:t> ≈ 16k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SIC owns:	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</a:t>
            </a:r>
            <a:endParaRPr dirty="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							</a:t>
            </a:r>
            <a:r>
              <a:rPr lang="en" sz="1400" dirty="0"/>
              <a:t>24 bits fixed, 2</a:t>
            </a:r>
            <a:r>
              <a:rPr lang="en" sz="1400" baseline="30000" dirty="0"/>
              <a:t>8</a:t>
            </a:r>
            <a:r>
              <a:rPr lang="en" sz="1400" dirty="0"/>
              <a:t> ≈ 256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Prof. Gu owns:	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 dirty="0">
                <a:solidFill>
                  <a:srgbClr val="FF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dirty="0">
              <a:solidFill>
                <a:srgbClr val="FF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							</a:t>
            </a:r>
            <a:r>
              <a:rPr lang="en" sz="1400" dirty="0">
                <a:solidFill>
                  <a:srgbClr val="000000"/>
                </a:solidFill>
              </a:rPr>
              <a:t>All bits fixed, 1 address.</a:t>
            </a: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55D977-A16C-F330-C266-6814AF855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6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Addresses</a:t>
            </a:r>
            <a:endParaRPr/>
          </a:p>
        </p:txBody>
      </p:sp>
      <p:sp>
        <p:nvSpPr>
          <p:cNvPr id="1279" name="Google Shape;1279;p6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Writing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80" name="Google Shape;1280;p6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F9448A-4DA7-FAEA-CEF2-A97826F113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Addresses</a:t>
            </a:r>
            <a:endParaRPr/>
          </a:p>
        </p:txBody>
      </p:sp>
      <p:sp>
        <p:nvSpPr>
          <p:cNvPr id="1286" name="Google Shape;1286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could write an IP address as a 32-bit number: </a:t>
            </a: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11011100111010001001101001011101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Nobody wants to read that.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Dotted quad notation</a:t>
            </a:r>
            <a:r>
              <a:rPr lang="en"/>
              <a:t>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Split into groups of 8 bits.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each 8-bit number in decimal, separated by dots.</a:t>
            </a:r>
            <a:endParaRPr/>
          </a:p>
        </p:txBody>
      </p:sp>
      <p:sp>
        <p:nvSpPr>
          <p:cNvPr id="1287" name="Google Shape;1287;p65"/>
          <p:cNvSpPr txBox="1"/>
          <p:nvPr/>
        </p:nvSpPr>
        <p:spPr>
          <a:xfrm>
            <a:off x="2035500" y="3421700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10011010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sz="18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88" name="Google Shape;1288;p65"/>
          <p:cNvCxnSpPr/>
          <p:nvPr/>
        </p:nvCxnSpPr>
        <p:spPr>
          <a:xfrm>
            <a:off x="26878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9" name="Google Shape;1289;p65"/>
          <p:cNvCxnSpPr/>
          <p:nvPr/>
        </p:nvCxnSpPr>
        <p:spPr>
          <a:xfrm>
            <a:off x="393952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0" name="Google Shape;1290;p65"/>
          <p:cNvCxnSpPr/>
          <p:nvPr/>
        </p:nvCxnSpPr>
        <p:spPr>
          <a:xfrm>
            <a:off x="520243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1" name="Google Shape;1291;p65"/>
          <p:cNvCxnSpPr/>
          <p:nvPr/>
        </p:nvCxnSpPr>
        <p:spPr>
          <a:xfrm>
            <a:off x="64653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2" name="Google Shape;1292;p65"/>
          <p:cNvSpPr txBox="1"/>
          <p:nvPr/>
        </p:nvSpPr>
        <p:spPr>
          <a:xfrm>
            <a:off x="23311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p65"/>
          <p:cNvSpPr txBox="1"/>
          <p:nvPr/>
        </p:nvSpPr>
        <p:spPr>
          <a:xfrm>
            <a:off x="35884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p65"/>
          <p:cNvSpPr txBox="1"/>
          <p:nvPr/>
        </p:nvSpPr>
        <p:spPr>
          <a:xfrm>
            <a:off x="6169225" y="4336100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93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5" name="Google Shape;1295;p65"/>
          <p:cNvSpPr txBox="1"/>
          <p:nvPr/>
        </p:nvSpPr>
        <p:spPr>
          <a:xfrm>
            <a:off x="4877675" y="4336100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154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6" name="Google Shape;1296;p65"/>
          <p:cNvSpPr txBox="1"/>
          <p:nvPr/>
        </p:nvSpPr>
        <p:spPr>
          <a:xfrm>
            <a:off x="29816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7" name="Google Shape;1297;p65"/>
          <p:cNvSpPr txBox="1"/>
          <p:nvPr/>
        </p:nvSpPr>
        <p:spPr>
          <a:xfrm>
            <a:off x="42008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p65"/>
          <p:cNvSpPr txBox="1"/>
          <p:nvPr/>
        </p:nvSpPr>
        <p:spPr>
          <a:xfrm>
            <a:off x="54962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42951A-F686-770C-10E6-0D0BDC7015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04" name="Google Shape;1304;p66"/>
          <p:cNvSpPr txBox="1">
            <a:spLocks noGrp="1"/>
          </p:cNvSpPr>
          <p:nvPr>
            <p:ph type="body" idx="1"/>
          </p:nvPr>
        </p:nvSpPr>
        <p:spPr>
          <a:xfrm>
            <a:off x="100128" y="291033"/>
            <a:ext cx="8909700" cy="30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Slash notation</a:t>
            </a:r>
            <a:r>
              <a:rPr lang="en" dirty="0"/>
              <a:t> for writing ranges of addresses: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all unfixed bits to 0. Write as a dotted quad. After the slash, write how many bits are fixed.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Examples:</a:t>
            </a:r>
            <a:endParaRPr dirty="0"/>
          </a:p>
          <a:p>
            <a:pPr lvl="0"/>
            <a:r>
              <a:rPr lang="en" dirty="0"/>
              <a:t>192.168.1.0/24 means 24 bits are fixed. Range is 192.168.1.0 – 192.168.1.255. (8 bits address range)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192.168.1.0/29 means 29 bits are fixed. Range is 192.168.1.0 – 192.168.1.7. (3 bits address range)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192.168.1.1/32 means 32 bits are fixed. A single address.</a:t>
            </a:r>
            <a:endParaRPr sz="2000" dirty="0"/>
          </a:p>
        </p:txBody>
      </p:sp>
      <p:sp>
        <p:nvSpPr>
          <p:cNvPr id="1305" name="Google Shape;1305;p66"/>
          <p:cNvSpPr txBox="1"/>
          <p:nvPr/>
        </p:nvSpPr>
        <p:spPr>
          <a:xfrm>
            <a:off x="1187900" y="39663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6" name="Google Shape;1306;p66"/>
          <p:cNvCxnSpPr/>
          <p:nvPr/>
        </p:nvCxnSpPr>
        <p:spPr>
          <a:xfrm>
            <a:off x="18402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7" name="Google Shape;1307;p66"/>
          <p:cNvCxnSpPr/>
          <p:nvPr/>
        </p:nvCxnSpPr>
        <p:spPr>
          <a:xfrm>
            <a:off x="309192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8" name="Google Shape;1308;p66"/>
          <p:cNvCxnSpPr/>
          <p:nvPr/>
        </p:nvCxnSpPr>
        <p:spPr>
          <a:xfrm>
            <a:off x="435483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9" name="Google Shape;1309;p66"/>
          <p:cNvCxnSpPr/>
          <p:nvPr/>
        </p:nvCxnSpPr>
        <p:spPr>
          <a:xfrm>
            <a:off x="56177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0" name="Google Shape;1310;p66"/>
          <p:cNvSpPr txBox="1"/>
          <p:nvPr/>
        </p:nvSpPr>
        <p:spPr>
          <a:xfrm>
            <a:off x="14835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1" name="Google Shape;1311;p66"/>
          <p:cNvSpPr txBox="1"/>
          <p:nvPr/>
        </p:nvSpPr>
        <p:spPr>
          <a:xfrm>
            <a:off x="27408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2" name="Google Shape;1312;p66"/>
          <p:cNvSpPr txBox="1"/>
          <p:nvPr/>
        </p:nvSpPr>
        <p:spPr>
          <a:xfrm>
            <a:off x="53216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p66"/>
          <p:cNvSpPr txBox="1"/>
          <p:nvPr/>
        </p:nvSpPr>
        <p:spPr>
          <a:xfrm>
            <a:off x="4030075" y="45759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144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4" name="Google Shape;1314;p66"/>
          <p:cNvSpPr txBox="1"/>
          <p:nvPr/>
        </p:nvSpPr>
        <p:spPr>
          <a:xfrm>
            <a:off x="21340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5" name="Google Shape;1315;p66"/>
          <p:cNvSpPr txBox="1"/>
          <p:nvPr/>
        </p:nvSpPr>
        <p:spPr>
          <a:xfrm>
            <a:off x="33532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6" name="Google Shape;1316;p66"/>
          <p:cNvSpPr txBox="1"/>
          <p:nvPr/>
        </p:nvSpPr>
        <p:spPr>
          <a:xfrm>
            <a:off x="46486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7" name="Google Shape;1317;p66"/>
          <p:cNvSpPr txBox="1"/>
          <p:nvPr/>
        </p:nvSpPr>
        <p:spPr>
          <a:xfrm>
            <a:off x="1187900" y="35091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8" name="Google Shape;1318;p66"/>
          <p:cNvSpPr txBox="1"/>
          <p:nvPr/>
        </p:nvSpPr>
        <p:spPr>
          <a:xfrm>
            <a:off x="6847000" y="35602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unfixed bits to 0.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66"/>
          <p:cNvSpPr txBox="1"/>
          <p:nvPr/>
        </p:nvSpPr>
        <p:spPr>
          <a:xfrm>
            <a:off x="62360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/20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p66"/>
          <p:cNvSpPr txBox="1"/>
          <p:nvPr/>
        </p:nvSpPr>
        <p:spPr>
          <a:xfrm>
            <a:off x="6939150" y="4654375"/>
            <a:ext cx="1678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Number of fixed bits.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1" name="Google Shape;1321;p66"/>
          <p:cNvCxnSpPr/>
          <p:nvPr/>
        </p:nvCxnSpPr>
        <p:spPr>
          <a:xfrm>
            <a:off x="6413300" y="36477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3D2CB8-4632-BF9D-0048-7366091824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27" name="Google Shape;1327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6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Netmask</a:t>
            </a:r>
            <a:r>
              <a:rPr lang="en"/>
              <a:t> is an alternative to the number after the slash..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all </a:t>
            </a:r>
            <a:r>
              <a:rPr lang="en" i="1"/>
              <a:t>fixed</a:t>
            </a:r>
            <a:r>
              <a:rPr lang="en"/>
              <a:t> bits to 1, and all </a:t>
            </a:r>
            <a:r>
              <a:rPr lang="en" i="1"/>
              <a:t>unfixed</a:t>
            </a:r>
            <a:r>
              <a:rPr lang="en"/>
              <a:t> bits to 0. Write as a dotted quad.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in code: To extract network ID, bitwise AND the address and netmask.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Slash notation is more convenient for humans.</a:t>
            </a:r>
            <a:endParaRPr/>
          </a:p>
        </p:txBody>
      </p:sp>
      <p:sp>
        <p:nvSpPr>
          <p:cNvPr id="1328" name="Google Shape;1328;p67"/>
          <p:cNvSpPr txBox="1"/>
          <p:nvPr/>
        </p:nvSpPr>
        <p:spPr>
          <a:xfrm>
            <a:off x="1187900" y="26709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11111111 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11111111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1111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29" name="Google Shape;1329;p67"/>
          <p:cNvCxnSpPr/>
          <p:nvPr/>
        </p:nvCxnSpPr>
        <p:spPr>
          <a:xfrm>
            <a:off x="18402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0" name="Google Shape;1330;p67"/>
          <p:cNvCxnSpPr/>
          <p:nvPr/>
        </p:nvCxnSpPr>
        <p:spPr>
          <a:xfrm>
            <a:off x="309192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1" name="Google Shape;1331;p67"/>
          <p:cNvCxnSpPr/>
          <p:nvPr/>
        </p:nvCxnSpPr>
        <p:spPr>
          <a:xfrm>
            <a:off x="435483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2" name="Google Shape;1332;p67"/>
          <p:cNvCxnSpPr/>
          <p:nvPr/>
        </p:nvCxnSpPr>
        <p:spPr>
          <a:xfrm>
            <a:off x="56177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3" name="Google Shape;1333;p67"/>
          <p:cNvSpPr txBox="1"/>
          <p:nvPr/>
        </p:nvSpPr>
        <p:spPr>
          <a:xfrm>
            <a:off x="14835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4" name="Google Shape;1334;p67"/>
          <p:cNvSpPr txBox="1"/>
          <p:nvPr/>
        </p:nvSpPr>
        <p:spPr>
          <a:xfrm>
            <a:off x="27408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5" name="Google Shape;1335;p67"/>
          <p:cNvSpPr txBox="1"/>
          <p:nvPr/>
        </p:nvSpPr>
        <p:spPr>
          <a:xfrm>
            <a:off x="5321625" y="32805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6" name="Google Shape;1336;p67"/>
          <p:cNvSpPr txBox="1"/>
          <p:nvPr/>
        </p:nvSpPr>
        <p:spPr>
          <a:xfrm>
            <a:off x="4030075" y="32805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240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7" name="Google Shape;1337;p67"/>
          <p:cNvSpPr txBox="1"/>
          <p:nvPr/>
        </p:nvSpPr>
        <p:spPr>
          <a:xfrm>
            <a:off x="21340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8" name="Google Shape;1338;p67"/>
          <p:cNvSpPr txBox="1"/>
          <p:nvPr/>
        </p:nvSpPr>
        <p:spPr>
          <a:xfrm>
            <a:off x="33532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9" name="Google Shape;1339;p67"/>
          <p:cNvSpPr txBox="1"/>
          <p:nvPr/>
        </p:nvSpPr>
        <p:spPr>
          <a:xfrm>
            <a:off x="46486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p67"/>
          <p:cNvSpPr txBox="1"/>
          <p:nvPr/>
        </p:nvSpPr>
        <p:spPr>
          <a:xfrm>
            <a:off x="1187900" y="22137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1" name="Google Shape;1341;p67"/>
          <p:cNvSpPr txBox="1"/>
          <p:nvPr/>
        </p:nvSpPr>
        <p:spPr>
          <a:xfrm>
            <a:off x="6847000" y="23410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bits to 0 or 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2" name="Google Shape;1342;p67"/>
          <p:cNvCxnSpPr/>
          <p:nvPr/>
        </p:nvCxnSpPr>
        <p:spPr>
          <a:xfrm>
            <a:off x="6413300" y="23523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3" name="Google Shape;1343;p67"/>
          <p:cNvSpPr txBox="1">
            <a:spLocks noGrp="1"/>
          </p:cNvSpPr>
          <p:nvPr>
            <p:ph type="body" idx="1"/>
          </p:nvPr>
        </p:nvSpPr>
        <p:spPr>
          <a:xfrm>
            <a:off x="107050" y="3882425"/>
            <a:ext cx="8909700" cy="10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Slash notation:	 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220.232.144.0/20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Netmask notation: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220.232.144.0</a:t>
            </a:r>
            <a:r>
              <a:rPr lang="en"/>
              <a:t> (netmask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255.255.240.0</a:t>
            </a:r>
            <a:r>
              <a:rPr lang="en"/>
              <a:t>)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15136C-FBEE-EE9C-F2AC-F6DA062642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Aggregating Routes</a:t>
            </a:r>
            <a:endParaRPr/>
          </a:p>
        </p:txBody>
      </p:sp>
      <p:sp>
        <p:nvSpPr>
          <p:cNvPr id="1349" name="Google Shape;1349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Aggregating Routes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50" name="Google Shape;1350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D6D7B4-10CF-091B-9D34-753AD3E65E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Google Shape;1355;p69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6" name="Google Shape;1356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357" name="Google Shape;1357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inter-domain routing, we're looking for routes to other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destination is a network, represented by an IP prefix.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Already better than one entry per host...but we can do even better!</a:t>
            </a:r>
            <a:endParaRPr/>
          </a:p>
        </p:txBody>
      </p:sp>
      <p:sp>
        <p:nvSpPr>
          <p:cNvPr id="1358" name="Google Shape;1358;p69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9" name="Google Shape;1359;p69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0" name="Google Shape;1360;p69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69"/>
          <p:cNvCxnSpPr>
            <a:stCxn id="1358" idx="6"/>
            <a:endCxn id="1360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69"/>
          <p:cNvCxnSpPr>
            <a:stCxn id="1360" idx="3"/>
            <a:endCxn id="1359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3" name="Google Shape;1363;p69"/>
          <p:cNvCxnSpPr>
            <a:stCxn id="1360" idx="2"/>
            <a:endCxn id="1364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69"/>
          <p:cNvCxnSpPr>
            <a:stCxn id="1359" idx="2"/>
            <a:endCxn id="1366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7" name="Google Shape;1367;p69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8" name="Google Shape;1368;p69"/>
          <p:cNvCxnSpPr>
            <a:stCxn id="1367" idx="2"/>
            <a:endCxn id="1366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9" name="Google Shape;1369;p69"/>
          <p:cNvCxnSpPr>
            <a:stCxn id="1359" idx="3"/>
            <a:endCxn id="1367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0" name="Google Shape;1370;p69"/>
          <p:cNvCxnSpPr>
            <a:stCxn id="1371" idx="1"/>
            <a:endCxn id="1367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2" name="Google Shape;1372;p69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3" name="Google Shape;1373;p69"/>
          <p:cNvCxnSpPr>
            <a:stCxn id="1372" idx="5"/>
            <a:endCxn id="1371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4" name="Google Shape;1374;p69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130.0.0.0/8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69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146.0.0.0/8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6" name="Google Shape;1376;p69"/>
          <p:cNvCxnSpPr>
            <a:stCxn id="1364" idx="2"/>
            <a:endCxn id="1377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8" name="Google Shape;1378;p69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9" name="Google Shape;1379;p69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69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69"/>
          <p:cNvCxnSpPr>
            <a:stCxn id="1377" idx="1"/>
            <a:endCxn id="1378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2" name="Google Shape;1382;p69"/>
          <p:cNvCxnSpPr>
            <a:stCxn id="1380" idx="3"/>
            <a:endCxn id="1378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3" name="Google Shape;1383;p69"/>
          <p:cNvCxnSpPr>
            <a:stCxn id="1379" idx="3"/>
            <a:endCxn id="1380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4" name="Google Shape;1384;p69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5" name="Google Shape;1385;p69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69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7" name="Google Shape;1387;p69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8" name="Google Shape;1388;p69"/>
          <p:cNvCxnSpPr>
            <a:stCxn id="1379" idx="2"/>
            <a:endCxn id="1384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9" name="Google Shape;1389;p69"/>
          <p:cNvCxnSpPr>
            <a:stCxn id="1380" idx="2"/>
            <a:endCxn id="1385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0" name="Google Shape;1390;p69"/>
          <p:cNvCxnSpPr>
            <a:stCxn id="1378" idx="2"/>
            <a:endCxn id="1386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1" name="Google Shape;1391;p69"/>
          <p:cNvCxnSpPr>
            <a:stCxn id="1377" idx="2"/>
            <a:endCxn id="1387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2" name="Google Shape;1392;p69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3" name="Google Shape;1393;p69"/>
          <p:cNvCxnSpPr>
            <a:stCxn id="1379" idx="2"/>
            <a:endCxn id="1392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4" name="Google Shape;1394;p69"/>
          <p:cNvCxnSpPr>
            <a:stCxn id="1366" idx="2"/>
            <a:endCxn id="1395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6" name="Google Shape;1396;p69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7" name="Google Shape;1397;p69"/>
          <p:cNvCxnSpPr>
            <a:stCxn id="1395" idx="2"/>
            <a:endCxn id="1396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8" name="Google Shape;1398;p69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9" name="Google Shape;1399;p69"/>
          <p:cNvCxnSpPr>
            <a:stCxn id="1395" idx="3"/>
            <a:endCxn id="1398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69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1" name="Google Shape;1401;p69"/>
          <p:cNvCxnSpPr>
            <a:stCxn id="1395" idx="3"/>
            <a:endCxn id="1400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2" name="Google Shape;1402;p69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3" name="Google Shape;1403;p69"/>
          <p:cNvCxnSpPr>
            <a:stCxn id="1400" idx="3"/>
            <a:endCxn id="1402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69"/>
          <p:cNvCxnSpPr>
            <a:stCxn id="1398" idx="3"/>
            <a:endCxn id="1400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5" name="Google Shape;1405;p69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6" name="Google Shape;1406;p69"/>
          <p:cNvCxnSpPr>
            <a:stCxn id="1400" idx="2"/>
            <a:endCxn id="1405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7" name="Google Shape;1407;p69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8" name="Google Shape;1408;p69"/>
          <p:cNvCxnSpPr>
            <a:stCxn id="1400" idx="2"/>
            <a:endCxn id="1407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69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0" name="Google Shape;1410;p69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1" name="Google Shape;1411;p69"/>
          <p:cNvCxnSpPr>
            <a:stCxn id="1402" idx="2"/>
            <a:endCxn id="1409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2" name="Google Shape;1412;p69"/>
          <p:cNvCxnSpPr>
            <a:endCxn id="1410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3" name="Google Shape;1413;p69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4" name="Google Shape;1414;p69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5" name="Google Shape;1415;p69"/>
          <p:cNvCxnSpPr>
            <a:stCxn id="1402" idx="2"/>
            <a:endCxn id="1414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6" name="Google Shape;1416;p69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7" name="Google Shape;1417;p69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8" name="Google Shape;1418;p69"/>
          <p:cNvCxnSpPr>
            <a:stCxn id="1416" idx="3"/>
            <a:endCxn id="1417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69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69"/>
          <p:cNvCxnSpPr>
            <a:stCxn id="1419" idx="3"/>
            <a:endCxn id="1417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69"/>
          <p:cNvCxnSpPr>
            <a:stCxn id="1419" idx="2"/>
            <a:endCxn id="1416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69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69"/>
          <p:cNvCxnSpPr>
            <a:stCxn id="1422" idx="4"/>
            <a:endCxn id="1419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4" name="Google Shape;1424;p69"/>
          <p:cNvCxnSpPr>
            <a:stCxn id="1425" idx="3"/>
            <a:endCxn id="1419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69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69"/>
          <p:cNvCxnSpPr>
            <a:stCxn id="1417" idx="3"/>
            <a:endCxn id="1426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8" name="Google Shape;1428;p69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69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0" name="Google Shape;1430;p69"/>
          <p:cNvCxnSpPr>
            <a:stCxn id="1428" idx="4"/>
            <a:endCxn id="1426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1" name="Google Shape;1431;p69"/>
          <p:cNvCxnSpPr>
            <a:stCxn id="1426" idx="2"/>
            <a:endCxn id="1429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2" name="Google Shape;1432;p69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3" name="Google Shape;1433;p69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4" name="Google Shape;1434;p69"/>
          <p:cNvCxnSpPr>
            <a:stCxn id="1426" idx="3"/>
            <a:endCxn id="1432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5" name="Google Shape;1435;p69"/>
          <p:cNvCxnSpPr>
            <a:stCxn id="1426" idx="3"/>
            <a:endCxn id="1433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6" name="Google Shape;1436;p69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7" name="Google Shape;1437;p69"/>
          <p:cNvCxnSpPr>
            <a:stCxn id="1432" idx="3"/>
            <a:endCxn id="1436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8" name="Google Shape;1438;p69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69"/>
          <p:cNvCxnSpPr>
            <a:stCxn id="1433" idx="3"/>
            <a:endCxn id="1438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0" name="Google Shape;1440;p69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130.0.0.0/8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146.0.0.0/8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41" name="Google Shape;1441;p69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69"/>
          <p:cNvCxnSpPr>
            <a:stCxn id="1371" idx="3"/>
            <a:endCxn id="1425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5" name="Google Shape;1425;p69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69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6" name="Google Shape;1366;p69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4" name="Google Shape;1364;p69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69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5" name="Google Shape;1395;p69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5EA348-D474-E4CD-7546-4D0D585A62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70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8" name="Google Shape;144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449" name="Google Shape;144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CIDR, AT&amp;T allocates parts of its ranges to UC Berkeley and Stanford.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aggregate many networks into a single entry!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4.0.0.0/8 represents AT&amp;T, and all its subordinates.</a:t>
            </a:r>
            <a:endParaRPr/>
          </a:p>
        </p:txBody>
      </p:sp>
      <p:sp>
        <p:nvSpPr>
          <p:cNvPr id="1450" name="Google Shape;1450;p70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1" name="Google Shape;1451;p70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2" name="Google Shape;1452;p70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3" name="Google Shape;1453;p70"/>
          <p:cNvCxnSpPr>
            <a:stCxn id="1450" idx="6"/>
            <a:endCxn id="1452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70"/>
          <p:cNvCxnSpPr>
            <a:stCxn id="1452" idx="3"/>
            <a:endCxn id="1451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5" name="Google Shape;1455;p70"/>
          <p:cNvCxnSpPr>
            <a:stCxn id="1452" idx="2"/>
            <a:endCxn id="1456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7" name="Google Shape;1457;p70"/>
          <p:cNvCxnSpPr>
            <a:stCxn id="1451" idx="2"/>
            <a:endCxn id="1458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9" name="Google Shape;1459;p70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70"/>
          <p:cNvCxnSpPr>
            <a:stCxn id="1459" idx="2"/>
            <a:endCxn id="1458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1" name="Google Shape;1461;p70"/>
          <p:cNvCxnSpPr>
            <a:stCxn id="1451" idx="3"/>
            <a:endCxn id="1459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2" name="Google Shape;1462;p70"/>
          <p:cNvCxnSpPr>
            <a:stCxn id="1463" idx="1"/>
            <a:endCxn id="1459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4" name="Google Shape;1464;p70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5" name="Google Shape;1465;p70"/>
          <p:cNvCxnSpPr>
            <a:stCxn id="1464" idx="5"/>
            <a:endCxn id="1463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6" name="Google Shape;1466;p70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7" name="Google Shape;1467;p70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8" name="Google Shape;1468;p70"/>
          <p:cNvCxnSpPr>
            <a:stCxn id="1456" idx="2"/>
            <a:endCxn id="1469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0" name="Google Shape;1470;p70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1" name="Google Shape;1471;p70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2" name="Google Shape;1472;p70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3" name="Google Shape;1473;p70"/>
          <p:cNvCxnSpPr>
            <a:stCxn id="1469" idx="1"/>
            <a:endCxn id="1470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4" name="Google Shape;1474;p70"/>
          <p:cNvCxnSpPr>
            <a:stCxn id="1472" idx="3"/>
            <a:endCxn id="1470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5" name="Google Shape;1475;p70"/>
          <p:cNvCxnSpPr>
            <a:stCxn id="1471" idx="3"/>
            <a:endCxn id="1472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6" name="Google Shape;1476;p70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70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8" name="Google Shape;1478;p70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9" name="Google Shape;1479;p70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70"/>
          <p:cNvCxnSpPr>
            <a:stCxn id="1471" idx="2"/>
            <a:endCxn id="1476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1" name="Google Shape;1481;p70"/>
          <p:cNvCxnSpPr>
            <a:stCxn id="1472" idx="2"/>
            <a:endCxn id="1477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2" name="Google Shape;1482;p70"/>
          <p:cNvCxnSpPr>
            <a:stCxn id="1470" idx="2"/>
            <a:endCxn id="1478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3" name="Google Shape;1483;p70"/>
          <p:cNvCxnSpPr>
            <a:stCxn id="1469" idx="2"/>
            <a:endCxn id="1479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4" name="Google Shape;1484;p70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5" name="Google Shape;1485;p70"/>
          <p:cNvCxnSpPr>
            <a:stCxn id="1471" idx="2"/>
            <a:endCxn id="1484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6" name="Google Shape;1486;p70"/>
          <p:cNvCxnSpPr>
            <a:stCxn id="1458" idx="2"/>
            <a:endCxn id="1487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8" name="Google Shape;1488;p70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9" name="Google Shape;1489;p70"/>
          <p:cNvCxnSpPr>
            <a:stCxn id="1487" idx="2"/>
            <a:endCxn id="1488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0" name="Google Shape;1490;p70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1" name="Google Shape;1491;p70"/>
          <p:cNvCxnSpPr>
            <a:stCxn id="1487" idx="3"/>
            <a:endCxn id="1490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70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3" name="Google Shape;1493;p70"/>
          <p:cNvCxnSpPr>
            <a:stCxn id="1487" idx="3"/>
            <a:endCxn id="1492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4" name="Google Shape;1494;p70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5" name="Google Shape;1495;p70"/>
          <p:cNvCxnSpPr>
            <a:stCxn id="1492" idx="3"/>
            <a:endCxn id="1494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6" name="Google Shape;1496;p70"/>
          <p:cNvCxnSpPr>
            <a:stCxn id="1490" idx="3"/>
            <a:endCxn id="1492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7" name="Google Shape;1497;p70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70"/>
          <p:cNvCxnSpPr>
            <a:stCxn id="1492" idx="2"/>
            <a:endCxn id="1497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9" name="Google Shape;1499;p70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0" name="Google Shape;1500;p70"/>
          <p:cNvCxnSpPr>
            <a:stCxn id="1492" idx="2"/>
            <a:endCxn id="1499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1" name="Google Shape;1501;p70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2" name="Google Shape;1502;p70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70"/>
          <p:cNvCxnSpPr>
            <a:stCxn id="1494" idx="2"/>
            <a:endCxn id="1501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4" name="Google Shape;1504;p70"/>
          <p:cNvCxnSpPr>
            <a:endCxn id="1502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5" name="Google Shape;1505;p70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6" name="Google Shape;1506;p70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7" name="Google Shape;1507;p70"/>
          <p:cNvCxnSpPr>
            <a:stCxn id="1494" idx="2"/>
            <a:endCxn id="1506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8" name="Google Shape;1508;p70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9" name="Google Shape;1509;p70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0" name="Google Shape;1510;p70"/>
          <p:cNvCxnSpPr>
            <a:stCxn id="1508" idx="3"/>
            <a:endCxn id="1509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1" name="Google Shape;1511;p70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2" name="Google Shape;1512;p70"/>
          <p:cNvCxnSpPr>
            <a:stCxn id="1511" idx="3"/>
            <a:endCxn id="1509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3" name="Google Shape;1513;p70"/>
          <p:cNvCxnSpPr>
            <a:stCxn id="1511" idx="2"/>
            <a:endCxn id="1508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4" name="Google Shape;1514;p70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70"/>
          <p:cNvCxnSpPr>
            <a:stCxn id="1514" idx="4"/>
            <a:endCxn id="1511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6" name="Google Shape;1516;p70"/>
          <p:cNvCxnSpPr>
            <a:stCxn id="1517" idx="3"/>
            <a:endCxn id="1511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8" name="Google Shape;1518;p70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9" name="Google Shape;1519;p70"/>
          <p:cNvCxnSpPr>
            <a:stCxn id="1509" idx="3"/>
            <a:endCxn id="1518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0" name="Google Shape;1520;p70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1" name="Google Shape;1521;p70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2" name="Google Shape;1522;p70"/>
          <p:cNvCxnSpPr>
            <a:stCxn id="1520" idx="4"/>
            <a:endCxn id="1518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3" name="Google Shape;1523;p70"/>
          <p:cNvCxnSpPr>
            <a:stCxn id="1518" idx="2"/>
            <a:endCxn id="1521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4" name="Google Shape;1524;p70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5" name="Google Shape;1525;p70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6" name="Google Shape;1526;p70"/>
          <p:cNvCxnSpPr>
            <a:stCxn id="1518" idx="3"/>
            <a:endCxn id="1524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7" name="Google Shape;1527;p70"/>
          <p:cNvCxnSpPr>
            <a:stCxn id="1518" idx="3"/>
            <a:endCxn id="1525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8" name="Google Shape;1528;p70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9" name="Google Shape;1529;p70"/>
          <p:cNvCxnSpPr>
            <a:stCxn id="1524" idx="3"/>
            <a:endCxn id="1528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30" name="Google Shape;1530;p70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1" name="Google Shape;1531;p70"/>
          <p:cNvCxnSpPr>
            <a:stCxn id="1525" idx="3"/>
            <a:endCxn id="1530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32" name="Google Shape;1532;p70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33" name="Google Shape;1533;p70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4" name="Google Shape;1534;p70"/>
          <p:cNvCxnSpPr>
            <a:stCxn id="1463" idx="3"/>
            <a:endCxn id="1517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7" name="Google Shape;1517;p70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3" name="Google Shape;1463;p70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8" name="Google Shape;1458;p70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6" name="Google Shape;1456;p70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9" name="Google Shape;1469;p70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70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1D5AD-845A-F004-F60C-73557B2463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71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541" name="Google Shape;1541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Stanford wants to connect to multiple networks. This is called </a:t>
            </a:r>
            <a:r>
              <a:rPr lang="en" b="1"/>
              <a:t>multi-homing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need an entry for both AT&amp;T and Stanford (one of its subordinates).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aggregation!</a:t>
            </a:r>
            <a:endParaRPr/>
          </a:p>
        </p:txBody>
      </p:sp>
      <p:sp>
        <p:nvSpPr>
          <p:cNvPr id="1542" name="Google Shape;1542;p71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71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4" name="Google Shape;1544;p71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5" name="Google Shape;1545;p71"/>
          <p:cNvCxnSpPr>
            <a:stCxn id="1542" idx="6"/>
            <a:endCxn id="1544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6" name="Google Shape;1546;p71"/>
          <p:cNvCxnSpPr>
            <a:stCxn id="1544" idx="3"/>
            <a:endCxn id="1543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7" name="Google Shape;1547;p71"/>
          <p:cNvCxnSpPr>
            <a:stCxn id="1544" idx="2"/>
            <a:endCxn id="1548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9" name="Google Shape;1549;p71"/>
          <p:cNvCxnSpPr>
            <a:stCxn id="1543" idx="2"/>
            <a:endCxn id="1550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1" name="Google Shape;1551;p71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2" name="Google Shape;1552;p71"/>
          <p:cNvCxnSpPr>
            <a:stCxn id="1551" idx="2"/>
            <a:endCxn id="1550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3" name="Google Shape;1553;p71"/>
          <p:cNvCxnSpPr>
            <a:stCxn id="1543" idx="3"/>
            <a:endCxn id="1551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4" name="Google Shape;1554;p71"/>
          <p:cNvCxnSpPr>
            <a:stCxn id="1555" idx="1"/>
            <a:endCxn id="1551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6" name="Google Shape;1556;p71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71"/>
          <p:cNvCxnSpPr>
            <a:stCxn id="1556" idx="5"/>
            <a:endCxn id="1555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8" name="Google Shape;1558;p71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9" name="Google Shape;1559;p71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0" name="Google Shape;1560;p71"/>
          <p:cNvCxnSpPr>
            <a:stCxn id="1548" idx="2"/>
            <a:endCxn id="1561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2" name="Google Shape;1562;p71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3" name="Google Shape;1563;p71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4" name="Google Shape;1564;p71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5" name="Google Shape;1565;p71"/>
          <p:cNvCxnSpPr>
            <a:stCxn id="1561" idx="1"/>
            <a:endCxn id="1562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6" name="Google Shape;1566;p71"/>
          <p:cNvCxnSpPr>
            <a:stCxn id="1564" idx="3"/>
            <a:endCxn id="1562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" name="Google Shape;1567;p71"/>
          <p:cNvCxnSpPr>
            <a:stCxn id="1563" idx="3"/>
            <a:endCxn id="1564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8" name="Google Shape;1568;p71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p71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0" name="Google Shape;1570;p71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71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71"/>
          <p:cNvCxnSpPr>
            <a:stCxn id="1563" idx="2"/>
            <a:endCxn id="1568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71"/>
          <p:cNvCxnSpPr>
            <a:stCxn id="1564" idx="2"/>
            <a:endCxn id="1569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71"/>
          <p:cNvCxnSpPr>
            <a:stCxn id="1562" idx="2"/>
            <a:endCxn id="1570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71"/>
          <p:cNvCxnSpPr>
            <a:stCxn id="1561" idx="2"/>
            <a:endCxn id="1571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71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71"/>
          <p:cNvCxnSpPr>
            <a:stCxn id="1563" idx="2"/>
            <a:endCxn id="1576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8" name="Google Shape;1578;p71"/>
          <p:cNvCxnSpPr>
            <a:stCxn id="1550" idx="2"/>
            <a:endCxn id="1579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0" name="Google Shape;1580;p71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1" name="Google Shape;1581;p71"/>
          <p:cNvCxnSpPr>
            <a:stCxn id="1579" idx="2"/>
            <a:endCxn id="1580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2" name="Google Shape;1582;p71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3" name="Google Shape;1583;p71"/>
          <p:cNvCxnSpPr>
            <a:stCxn id="1579" idx="3"/>
            <a:endCxn id="1582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4" name="Google Shape;1584;p71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71"/>
          <p:cNvCxnSpPr>
            <a:stCxn id="1579" idx="3"/>
            <a:endCxn id="1584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71"/>
          <p:cNvCxnSpPr>
            <a:stCxn id="1584" idx="3"/>
            <a:endCxn id="1587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71"/>
          <p:cNvCxnSpPr>
            <a:stCxn id="1582" idx="3"/>
            <a:endCxn id="1584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9" name="Google Shape;1589;p71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0" name="Google Shape;1590;p71"/>
          <p:cNvCxnSpPr>
            <a:stCxn id="1584" idx="2"/>
            <a:endCxn id="1589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71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2" name="Google Shape;1592;p71"/>
          <p:cNvCxnSpPr>
            <a:stCxn id="1584" idx="2"/>
            <a:endCxn id="1591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3" name="Google Shape;1593;p71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71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5" name="Google Shape;1595;p71"/>
          <p:cNvCxnSpPr>
            <a:stCxn id="1587" idx="2"/>
            <a:endCxn id="1593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71"/>
          <p:cNvCxnSpPr>
            <a:endCxn id="1594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7" name="Google Shape;1597;p71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8" name="Google Shape;1598;p71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71"/>
          <p:cNvCxnSpPr>
            <a:stCxn id="1587" idx="2"/>
            <a:endCxn id="1598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0" name="Google Shape;1600;p71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1" name="Google Shape;1601;p71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2" name="Google Shape;1602;p71"/>
          <p:cNvCxnSpPr>
            <a:stCxn id="1600" idx="3"/>
            <a:endCxn id="1601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3" name="Google Shape;1603;p71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71"/>
          <p:cNvCxnSpPr>
            <a:stCxn id="1603" idx="3"/>
            <a:endCxn id="1601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5" name="Google Shape;1605;p71"/>
          <p:cNvCxnSpPr>
            <a:stCxn id="1603" idx="2"/>
            <a:endCxn id="1600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6" name="Google Shape;1606;p71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7" name="Google Shape;1607;p71"/>
          <p:cNvCxnSpPr>
            <a:stCxn id="1606" idx="4"/>
            <a:endCxn id="1603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8" name="Google Shape;1608;p71"/>
          <p:cNvCxnSpPr>
            <a:stCxn id="1609" idx="3"/>
            <a:endCxn id="1603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0" name="Google Shape;1610;p71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1" name="Google Shape;1611;p71"/>
          <p:cNvCxnSpPr>
            <a:stCxn id="1601" idx="3"/>
            <a:endCxn id="1610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2" name="Google Shape;1612;p71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3" name="Google Shape;1613;p71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71"/>
          <p:cNvCxnSpPr>
            <a:stCxn id="1612" idx="4"/>
            <a:endCxn id="1610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5" name="Google Shape;1615;p71"/>
          <p:cNvCxnSpPr>
            <a:stCxn id="1610" idx="2"/>
            <a:endCxn id="1613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6" name="Google Shape;1616;p71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71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8" name="Google Shape;1618;p71"/>
          <p:cNvCxnSpPr>
            <a:stCxn id="1610" idx="3"/>
            <a:endCxn id="1616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1"/>
          <p:cNvCxnSpPr>
            <a:stCxn id="1610" idx="3"/>
            <a:endCxn id="1617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0" name="Google Shape;1620;p71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1" name="Google Shape;1621;p71"/>
          <p:cNvCxnSpPr>
            <a:stCxn id="1616" idx="3"/>
            <a:endCxn id="1620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2" name="Google Shape;1622;p71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3" name="Google Shape;1623;p71"/>
          <p:cNvCxnSpPr>
            <a:stCxn id="1617" idx="3"/>
            <a:endCxn id="1622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24" name="Google Shape;1624;p71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25" name="Google Shape;1625;p71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6" name="Google Shape;1626;p71"/>
          <p:cNvCxnSpPr>
            <a:stCxn id="1555" idx="3"/>
            <a:endCxn id="1609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9" name="Google Shape;1609;p71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5" name="Google Shape;1555;p71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0" name="Google Shape;1550;p71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71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1" name="Google Shape;1561;p71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9" name="Google Shape;1579;p71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1"/>
          <p:cNvCxnSpPr>
            <a:stCxn id="1609" idx="2"/>
            <a:endCxn id="1587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71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06A39D-6844-09BC-F2BB-FD7F8EFF1C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72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4" name="Google Shape;1634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635" name="Google Shape;163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Ranges in the table might overlap.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Longest prefix matching</a:t>
            </a:r>
            <a:r>
              <a:rPr lang="en"/>
              <a:t>: If a destination matches many ranges, pick the most specific range.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4.29.1.2 matches both 4.0.0.0/8 and 4.29.0.0/16 (more specific).</a:t>
            </a:r>
            <a:endParaRPr/>
          </a:p>
        </p:txBody>
      </p:sp>
      <p:sp>
        <p:nvSpPr>
          <p:cNvPr id="1636" name="Google Shape;1636;p72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7" name="Google Shape;1637;p72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8" name="Google Shape;1638;p72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9" name="Google Shape;1639;p72"/>
          <p:cNvCxnSpPr>
            <a:stCxn id="1636" idx="6"/>
            <a:endCxn id="1638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0" name="Google Shape;1640;p72"/>
          <p:cNvCxnSpPr>
            <a:stCxn id="1638" idx="3"/>
            <a:endCxn id="1637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1" name="Google Shape;1641;p72"/>
          <p:cNvCxnSpPr>
            <a:stCxn id="1638" idx="2"/>
            <a:endCxn id="1642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3" name="Google Shape;1643;p72"/>
          <p:cNvCxnSpPr>
            <a:stCxn id="1637" idx="2"/>
            <a:endCxn id="1644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5" name="Google Shape;1645;p72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6" name="Google Shape;1646;p72"/>
          <p:cNvCxnSpPr>
            <a:stCxn id="1645" idx="2"/>
            <a:endCxn id="1644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7" name="Google Shape;1647;p72"/>
          <p:cNvCxnSpPr>
            <a:stCxn id="1637" idx="3"/>
            <a:endCxn id="1645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8" name="Google Shape;1648;p72"/>
          <p:cNvCxnSpPr>
            <a:stCxn id="1649" idx="1"/>
            <a:endCxn id="1645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0" name="Google Shape;1650;p72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1" name="Google Shape;1651;p72"/>
          <p:cNvCxnSpPr>
            <a:stCxn id="1650" idx="5"/>
            <a:endCxn id="1649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2" name="Google Shape;1652;p72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3" name="Google Shape;1653;p72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4" name="Google Shape;1654;p72"/>
          <p:cNvCxnSpPr>
            <a:stCxn id="1642" idx="2"/>
            <a:endCxn id="1655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6" name="Google Shape;1656;p72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7" name="Google Shape;1657;p72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8" name="Google Shape;1658;p72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9" name="Google Shape;1659;p72"/>
          <p:cNvCxnSpPr>
            <a:stCxn id="1655" idx="1"/>
            <a:endCxn id="1656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0" name="Google Shape;1660;p72"/>
          <p:cNvCxnSpPr>
            <a:stCxn id="1658" idx="3"/>
            <a:endCxn id="1656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2"/>
          <p:cNvCxnSpPr>
            <a:stCxn id="1657" idx="3"/>
            <a:endCxn id="1658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2" name="Google Shape;1662;p72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3" name="Google Shape;1663;p72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4" name="Google Shape;1664;p72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5" name="Google Shape;1665;p72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6" name="Google Shape;1666;p72"/>
          <p:cNvCxnSpPr>
            <a:stCxn id="1657" idx="2"/>
            <a:endCxn id="1662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7" name="Google Shape;1667;p72"/>
          <p:cNvCxnSpPr>
            <a:stCxn id="1658" idx="2"/>
            <a:endCxn id="1663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8" name="Google Shape;1668;p72"/>
          <p:cNvCxnSpPr>
            <a:stCxn id="1656" idx="2"/>
            <a:endCxn id="1664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9" name="Google Shape;1669;p72"/>
          <p:cNvCxnSpPr>
            <a:stCxn id="1655" idx="2"/>
            <a:endCxn id="1665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0" name="Google Shape;1670;p72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1" name="Google Shape;1671;p72"/>
          <p:cNvCxnSpPr>
            <a:stCxn id="1657" idx="2"/>
            <a:endCxn id="1670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2" name="Google Shape;1672;p72"/>
          <p:cNvCxnSpPr>
            <a:stCxn id="1644" idx="2"/>
            <a:endCxn id="1673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4" name="Google Shape;1674;p72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5" name="Google Shape;1675;p72"/>
          <p:cNvCxnSpPr>
            <a:stCxn id="1673" idx="2"/>
            <a:endCxn id="1674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6" name="Google Shape;1676;p72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7" name="Google Shape;1677;p72"/>
          <p:cNvCxnSpPr>
            <a:stCxn id="1673" idx="3"/>
            <a:endCxn id="1676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8" name="Google Shape;1678;p72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9" name="Google Shape;1679;p72"/>
          <p:cNvCxnSpPr>
            <a:stCxn id="1673" idx="3"/>
            <a:endCxn id="1678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0" name="Google Shape;1680;p72"/>
          <p:cNvCxnSpPr>
            <a:stCxn id="1678" idx="3"/>
            <a:endCxn id="1681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2" name="Google Shape;1682;p72"/>
          <p:cNvCxnSpPr>
            <a:stCxn id="1676" idx="3"/>
            <a:endCxn id="1678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3" name="Google Shape;1683;p72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4" name="Google Shape;1684;p72"/>
          <p:cNvCxnSpPr>
            <a:stCxn id="1678" idx="2"/>
            <a:endCxn id="1683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5" name="Google Shape;1685;p72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6" name="Google Shape;1686;p72"/>
          <p:cNvCxnSpPr>
            <a:stCxn id="1678" idx="2"/>
            <a:endCxn id="1685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7" name="Google Shape;1687;p72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8" name="Google Shape;1688;p72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9" name="Google Shape;1689;p72"/>
          <p:cNvCxnSpPr>
            <a:stCxn id="1681" idx="2"/>
            <a:endCxn id="1687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0" name="Google Shape;1690;p72"/>
          <p:cNvCxnSpPr>
            <a:endCxn id="1688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1" name="Google Shape;1691;p72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2" name="Google Shape;1692;p72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3" name="Google Shape;1693;p72"/>
          <p:cNvCxnSpPr>
            <a:stCxn id="1681" idx="2"/>
            <a:endCxn id="1692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4" name="Google Shape;1694;p72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5" name="Google Shape;1695;p72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6" name="Google Shape;1696;p72"/>
          <p:cNvCxnSpPr>
            <a:stCxn id="1694" idx="3"/>
            <a:endCxn id="1695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7" name="Google Shape;1697;p72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8" name="Google Shape;1698;p72"/>
          <p:cNvCxnSpPr>
            <a:stCxn id="1697" idx="3"/>
            <a:endCxn id="1695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9" name="Google Shape;1699;p72"/>
          <p:cNvCxnSpPr>
            <a:stCxn id="1697" idx="2"/>
            <a:endCxn id="1694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0" name="Google Shape;1700;p72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1" name="Google Shape;1701;p72"/>
          <p:cNvCxnSpPr>
            <a:stCxn id="1700" idx="4"/>
            <a:endCxn id="1697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2" name="Google Shape;1702;p72"/>
          <p:cNvCxnSpPr>
            <a:stCxn id="1703" idx="3"/>
            <a:endCxn id="1697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4" name="Google Shape;1704;p72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5" name="Google Shape;1705;p72"/>
          <p:cNvCxnSpPr>
            <a:stCxn id="1695" idx="3"/>
            <a:endCxn id="1704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6" name="Google Shape;1706;p72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2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8" name="Google Shape;1708;p72"/>
          <p:cNvCxnSpPr>
            <a:stCxn id="1706" idx="4"/>
            <a:endCxn id="1704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9" name="Google Shape;1709;p72"/>
          <p:cNvCxnSpPr>
            <a:stCxn id="1704" idx="2"/>
            <a:endCxn id="1707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0" name="Google Shape;1710;p72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2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2" name="Google Shape;1712;p72"/>
          <p:cNvCxnSpPr>
            <a:stCxn id="1704" idx="3"/>
            <a:endCxn id="1710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3" name="Google Shape;1713;p72"/>
          <p:cNvCxnSpPr>
            <a:stCxn id="1704" idx="3"/>
            <a:endCxn id="1711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4" name="Google Shape;1714;p72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5" name="Google Shape;1715;p72"/>
          <p:cNvCxnSpPr>
            <a:stCxn id="1710" idx="3"/>
            <a:endCxn id="1714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6" name="Google Shape;1716;p72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7" name="Google Shape;1717;p72"/>
          <p:cNvCxnSpPr>
            <a:stCxn id="1711" idx="3"/>
            <a:endCxn id="1716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8" name="Google Shape;1718;p72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19" name="Google Shape;1719;p72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0" name="Google Shape;1720;p72"/>
          <p:cNvCxnSpPr>
            <a:stCxn id="1649" idx="3"/>
            <a:endCxn id="1703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3" name="Google Shape;1703;p72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9" name="Google Shape;1649;p72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4" name="Google Shape;1644;p72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2" name="Google Shape;1642;p72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72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3" name="Google Shape;1673;p72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72"/>
          <p:cNvCxnSpPr>
            <a:stCxn id="1703" idx="2"/>
            <a:endCxn id="1681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2" name="Google Shape;1722;p72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A9FFE6-1959-8E46-EE59-5F123BD8E75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7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Changes</a:t>
            </a:r>
            <a:endParaRPr/>
          </a:p>
        </p:txBody>
      </p:sp>
      <p:sp>
        <p:nvSpPr>
          <p:cNvPr id="1728" name="Google Shape;1728;p7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IPv6 Changes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45CE60-F911-B3C6-D242-E67EB92D04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8" name="Google Shape;1758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IPv6</a:t>
            </a:r>
            <a:endParaRPr/>
          </a:p>
        </p:txBody>
      </p:sp>
      <p:sp>
        <p:nvSpPr>
          <p:cNvPr id="1759" name="Google Shape;1759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3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IPv4 addresses are 32 bits long. 2</a:t>
            </a:r>
            <a:r>
              <a:rPr lang="en-US" baseline="30000" dirty="0"/>
              <a:t>32</a:t>
            </a:r>
            <a:r>
              <a:rPr lang="en-US" dirty="0"/>
              <a:t> ≈ 4 billion addresses. That is not enough.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IPv6 was introduced in 1998 to deal with IPv4 address exhaustion.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Main difference: Addresses are now 128 bits, instead of 32.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Fundamentally, same addressing structure as IPv4.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WIth 128-bit address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2</a:t>
            </a:r>
            <a:r>
              <a:rPr lang="en" baseline="30000" dirty="0"/>
              <a:t>128</a:t>
            </a:r>
            <a:r>
              <a:rPr lang="en" dirty="0"/>
              <a:t> ≈ 3.4 × 10</a:t>
            </a:r>
            <a:r>
              <a:rPr lang="en" baseline="30000" dirty="0"/>
              <a:t>38</a:t>
            </a:r>
            <a:r>
              <a:rPr lang="en" dirty="0"/>
              <a:t> possible addresses.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won't run out again.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DA075B-4CAA-A80F-6A2A-35E5A36AD1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66" name="Google Shape;1766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uses hexadecimal instead of decimal.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2001:0DB8:CAFE:BEEF:DEAD:1234:5678:9012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Colon between every 4 hex digits (16 bits).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Shorthand: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leading zeros per block: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2001:DB8:0:0:0:0:0:1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a long string of zeros, once per address: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0:0:0:0:0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:1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still use slash notation for ranges.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2001:0DB8::/32</a:t>
            </a:r>
            <a:r>
              <a:rPr lang="en"/>
              <a:t> has 32 bits fixed, and 2</a:t>
            </a:r>
            <a:r>
              <a:rPr lang="en" baseline="30000"/>
              <a:t>96</a:t>
            </a:r>
            <a:r>
              <a:rPr lang="en"/>
              <a:t> addresses.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2E57BC-F7F9-BB14-34DA-7D5FE2BFE7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72" name="Google Shape;177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IPv6 uses the same hierarchical addressing approach as IPv4.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Some changes: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Instead of someone (e.g. ICANN) giving you a prefix, you can pick your own prefix.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Uses a protocol called SLAAC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Stateless Address Autoconfiguration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Pick a random prefix. If someone else is using it, pick another one.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Works in IPv6 (not IPv4) because there are so many prefixes.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practice, prefixes usually fix at most 64 bits.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Even the smallest network has 2</a:t>
            </a:r>
            <a:r>
              <a:rPr lang="en" baseline="30000" dirty="0"/>
              <a:t>64</a:t>
            </a:r>
            <a:r>
              <a:rPr lang="en" dirty="0"/>
              <a:t> hosts.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F85B96-C0EA-8CE4-736F-65B294C764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7" name="Google Shape;177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</a:t>
            </a:r>
            <a:endParaRPr/>
          </a:p>
        </p:txBody>
      </p:sp>
      <p:sp>
        <p:nvSpPr>
          <p:cNvPr id="1778" name="Google Shape;1778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introduced in the 1990s, but wide adoption started in the 2010s.</a:t>
            </a:r>
            <a:endParaRPr/>
          </a:p>
        </p:txBody>
      </p:sp>
      <p:pic>
        <p:nvPicPr>
          <p:cNvPr id="1779" name="Google Shape;1779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838" y="1169900"/>
            <a:ext cx="6816171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0" name="Google Shape;1780;p79"/>
          <p:cNvSpPr/>
          <p:nvPr/>
        </p:nvSpPr>
        <p:spPr>
          <a:xfrm>
            <a:off x="6762213" y="1783125"/>
            <a:ext cx="360900" cy="360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79"/>
          <p:cNvCxnSpPr>
            <a:stCxn id="1780" idx="6"/>
          </p:cNvCxnSpPr>
          <p:nvPr/>
        </p:nvCxnSpPr>
        <p:spPr>
          <a:xfrm>
            <a:off x="7123113" y="1963575"/>
            <a:ext cx="560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2" name="Google Shape;1782;p79"/>
          <p:cNvSpPr txBox="1"/>
          <p:nvPr/>
        </p:nvSpPr>
        <p:spPr>
          <a:xfrm>
            <a:off x="7711799" y="1823657"/>
            <a:ext cx="117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Today, ~40% of hosts have adopted IPv6.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97E79E-65B3-DD8C-8970-B8D278DD67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Google Shape;1794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 – Challenges</a:t>
            </a:r>
            <a:endParaRPr/>
          </a:p>
        </p:txBody>
      </p:sp>
      <p:sp>
        <p:nvSpPr>
          <p:cNvPr id="1795" name="Google Shape;1795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is IPv6 adoption hard?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software and hardware upgrades, from both hosts and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IPv4 and IPv6 are not compatible with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 support both, you need 2 forwarding tables.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way to convert between IPv4 and IPv6.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support both IPv4 and IPv6, which should I use?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IPv6 usually faster, but other factors could affect your choice.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Main driver for IPv6 adoption: We're running out of IPv4 addresses!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6F950-0C3B-36AE-0ABD-F6F0D78FA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Google Shape;18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IP Addressing</a:t>
            </a:r>
            <a:endParaRPr/>
          </a:p>
        </p:txBody>
      </p:sp>
      <p:sp>
        <p:nvSpPr>
          <p:cNvPr id="1801" name="Google Shape;18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Hosts on the Internet have addresses (IPv4, IPv6, or both).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These addresses are hierarchical.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are assigned in groups to specific organizations.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Wildcard matching can help forwarding and routing scale better.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CBD84-5D5D-C4F8-9596-91722AFE53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12392</Words>
  <Application>Microsoft Office PowerPoint</Application>
  <PresentationFormat>On-screen Show (16:9)</PresentationFormat>
  <Paragraphs>1804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Roboto</vt:lpstr>
      <vt:lpstr>Roboto Light</vt:lpstr>
      <vt:lpstr>Arial</vt:lpstr>
      <vt:lpstr>Roboto Medium</vt:lpstr>
      <vt:lpstr>Consolas</vt:lpstr>
      <vt:lpstr>Simple Lecture</vt:lpstr>
      <vt:lpstr>Hierarchical Addressing</vt:lpstr>
      <vt:lpstr>Scaling Routing</vt:lpstr>
      <vt:lpstr>Hierarchical Addressing – Conceptual</vt:lpstr>
      <vt:lpstr>Hierarchical Addressing – Conceptual</vt:lpstr>
      <vt:lpstr>Hierarchical Addressing – Conceptual</vt:lpstr>
      <vt:lpstr>Hierarchical Addressing – Conceptual</vt:lpstr>
      <vt:lpstr>Implications of Hierarchical Addressing</vt:lpstr>
      <vt:lpstr>Aggregation – Conceptual</vt:lpstr>
      <vt:lpstr>Aggregation – Conceptual</vt:lpstr>
      <vt:lpstr>Assigning Addresses</vt:lpstr>
      <vt:lpstr>Assigning Addresses</vt:lpstr>
      <vt:lpstr>Assigning Addresses, Attempt 1/3 – Early Internet</vt:lpstr>
      <vt:lpstr>Assigning Addresses, Attempt 1/3 – Early Internet</vt:lpstr>
      <vt:lpstr>Assigning Addresses, Attempt 2/3 – Classful Addressing</vt:lpstr>
      <vt:lpstr>Assigning Addresses, Attempt 2/3 – Classful Addressing</vt:lpstr>
      <vt:lpstr>Assigning Addresses, Attempt 2/3 – Classful Addressing</vt:lpstr>
      <vt:lpstr>Assigning Addresses, Attempt 3/3 – CIDR</vt:lpstr>
      <vt:lpstr>Assigning Addresses, Attempt 3/3 – CIDR</vt:lpstr>
      <vt:lpstr>Granular Hierarchical Assignment with CIDR</vt:lpstr>
      <vt:lpstr>Granular Hierarchical Assignment with CIDR</vt:lpstr>
      <vt:lpstr>Writing Addresses</vt:lpstr>
      <vt:lpstr>Writing IPv4 Addresses</vt:lpstr>
      <vt:lpstr>Writing IPv4 Address Ranges</vt:lpstr>
      <vt:lpstr>Writing IPv4 Address Ranges</vt:lpstr>
      <vt:lpstr>Aggregating Routes</vt:lpstr>
      <vt:lpstr>Inter-Domain Routing</vt:lpstr>
      <vt:lpstr>Inter-Domain Routing</vt:lpstr>
      <vt:lpstr>Inter-Domain Routing</vt:lpstr>
      <vt:lpstr>Inter-Domain Routing</vt:lpstr>
      <vt:lpstr>IPv6 Changes</vt:lpstr>
      <vt:lpstr>Introducing IPv6</vt:lpstr>
      <vt:lpstr>IPv6 Addresses</vt:lpstr>
      <vt:lpstr>IPv6 Addresses</vt:lpstr>
      <vt:lpstr>IPv6 Adoption</vt:lpstr>
      <vt:lpstr>IPv6 Adoption – Challenges</vt:lpstr>
      <vt:lpstr>Summary: IP Addressing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2</cp:revision>
  <dcterms:modified xsi:type="dcterms:W3CDTF">2026-02-21T19:06:28Z</dcterms:modified>
</cp:coreProperties>
</file>