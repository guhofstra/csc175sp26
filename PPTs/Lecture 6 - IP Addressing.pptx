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38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8" r:id="rId32"/>
    <p:sldId id="309" r:id="rId33"/>
    <p:sldId id="310" r:id="rId34"/>
    <p:sldId id="311" r:id="rId35"/>
    <p:sldId id="313" r:id="rId36"/>
    <p:sldId id="314" r:id="rId3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Roboto" panose="02000000000000000000" pitchFamily="2" charset="0"/>
      <p:regular r:id="rId43"/>
      <p:bold r:id="rId44"/>
      <p:italic r:id="rId45"/>
      <p:boldItalic r:id="rId46"/>
    </p:embeddedFont>
    <p:embeddedFont>
      <p:font typeface="Roboto Light" panose="02000000000000000000" pitchFamily="2" charset="0"/>
      <p:regular r:id="rId47"/>
      <p:bold r:id="rId48"/>
      <p:italic r:id="rId49"/>
      <p:boldItalic r:id="rId50"/>
    </p:embeddedFont>
    <p:embeddedFont>
      <p:font typeface="Roboto Medium" panose="02000000000000000000" pitchFamily="2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E6BCBA-AEE7-4C30-AAAD-D4F55D72C083}">
  <a:tblStyle styleId="{27E6BCBA-AEE7-4C30-AAAD-D4F55D72C0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38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delSld modSld">
      <pc:chgData name="Zonghua Gu" userId="9a7e1853e1951ef5" providerId="LiveId" clId="{CF1FAA12-072C-4ED5-BA76-0FFFAEFDB88A}" dt="2026-03-10T19:05:02.694" v="182" actId="20577"/>
      <pc:docMkLst>
        <pc:docMk/>
      </pc:docMkLst>
      <pc:sldChg chg="modSp mod">
        <pc:chgData name="Zonghua Gu" userId="9a7e1853e1951ef5" providerId="LiveId" clId="{CF1FAA12-072C-4ED5-BA76-0FFFAEFDB88A}" dt="2026-03-10T19:05:02.694" v="182" actId="20577"/>
        <pc:sldMkLst>
          <pc:docMk/>
          <pc:sldMk cId="0" sldId="298"/>
        </pc:sldMkLst>
        <pc:spChg chg="mod">
          <ac:chgData name="Zonghua Gu" userId="9a7e1853e1951ef5" providerId="LiveId" clId="{CF1FAA12-072C-4ED5-BA76-0FFFAEFDB88A}" dt="2026-03-10T19:05:02.694" v="182" actId="20577"/>
          <ac:spMkLst>
            <pc:docMk/>
            <pc:sldMk cId="0" sldId="298"/>
            <ac:spMk id="130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intl/en/ipv6/statistics.html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787eb72cc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2787eb72cc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the end of link if I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questions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we’ll take a short break before moving on to the second part of lecture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uh let's go into the second half of today's topics and this is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IP addressing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2787eb72cc9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2787eb72cc9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motivate why we are doing this talking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let's think about the two protocols we've seen so far distance vector and linking and a question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probably had as you've been watching this is how do you actually scale this stuff up to the entire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internet imagine trying to use Link State on the entire internet that's not going to be very fun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how many calculations do you have to do you're receiving advertisements from your neighbors for every single destination on the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probably not going to be feasible and likewise link State scaling is even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worse you have to throw the entire network graph and that means that your computer has to store a list of all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and all the hosts on the internet and all the links that's not happening either and imagine trying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reconverge routes when we try to scale these protocols up if there's a link failure somewhere that has to propagate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outwards and outwards across the entire world who knows how long that's going to take so hopefully we can already see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both of these protocols scale pretty poorly and if we actually try to implement these protocols at a global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level it would just not happen you can also see why this is annoying because if you look at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 it has one entry per destination and if you have one destination or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entry for every destination in the entire world this table is going to be billions of entries long there's no way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you're storing that and constantly keeping it updated so we need to fix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and it turns out that the trick to actually make routing a scalable process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the way that we assign these addresses so right now and so far we've been showing these destinations as a b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 but it turns out if instead of ABCD you pick more informative names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destination and where they are you actually might be able to scale routing up more efficiently so by uncovering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secrets behind why these are labeled ABCD and what they're really labeled in real life we just might be able to make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routing protocols scale better and this is going to be useful because even though distance vector and Link State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 in local networks when we talk about bgp which works across many networks we are going to have to rely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lot on this trick to help us scale routing up o we're seeing it now it can be applied to any protocol you want but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extremely useful when we talk about bgp because that's the one that connects the entire world together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787eb72cc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787eb72cc9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the key here is to remember that the internet is a network of networks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each network has its own internal routing protocol its own settings whatever and then each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connects to each other to form this big network of networks so if that's the case this this actually already gives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very intuitive way to assign names to each of these end hosts so far we've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been saying a CDE e FG but that didn't really tell us anything about host and where they are so maybe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more intelligent to do is what if I gave each of these networks a number your network one your two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three and your four and now what I can do is inside of network one instead of calling these A and B or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arbitrary number what if I called them 1.1 and 1.2 and the first one represents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fact that they are in network one and network two gets numbers 2.1 2.2 2.3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the way to 2.7 and maybe you see where this is going Network Three gets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that start with three and network four gets addresses that start with four that seems like a pretty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natural way to assign numbers to these hosts so this is kind of what we're going to do but at a more at a bigger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so let's do it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278850210b8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278850210b8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why is this useful by the way this is useful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32:33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it allows us to summarize table entries so instead of having one table entry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32:39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 single router or and every single end host sorry that you see on this graph we can actually summarize some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32:46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information so for example let's say you are R9 if we are doing this naively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32:51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you'd have to have an entry for 1.1 and 1.2 and 4.1 and 4.2 and 4.3 and 4. 4 4.5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32:58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4.6 you would need eight table entries to represent 1 2 3 4 5 six seven eight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end hosts but if you look at those table entries a lot of them say the same thing how do you get to 4.1 R8 how do you get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4.2 R8 how do you get to 4.3 also R8 it turns out the only way to get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33:18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network 4 is via R8 or rather that is the shortest way to get to R4 so what we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33:23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do is instead of writing one entry for 4.1 4.2 4 .3 and they all say that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33:29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next toop is R8 you can just summarize this and say any destination that's 4 something and it doesn't matter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33:37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that something is whatever it is the next top is R8 so you have summarized six entries into one and if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33:44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play this trick enough times we can start to summarize and make our tables more scalable and we can play the same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33:50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trick over here instead of writing an entry for 1.1 and 1.2 both of which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33:56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would have a next toop of r we can just say if you want to reach one point anybody just send it to R six and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34:02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you're done and likewise instead of writing 3.1 3.2 3.3 we can see by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inspection that the next top is R six so you just say if you want to reach 3 point something go to R six I haven't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34:15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told you how to fill in this table yet you can imagine that this is the end goal is to have a table that's more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34:21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scalable like this and the higher archical addressing the fact that these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34:27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had two numbers in them is kind of what enabled this because we could say if the first number is three send it to R six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34:34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 the hierarchical addressing enabled this if the host had just said ABCD EFG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34:40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would not have been possible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278850210b8_0_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1" name="Google Shape;841;g278850210b8_0_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else that's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nice about Hier archol addressing is the fact that the tables change less often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sometimes people call this table churn so for example if host 4.6 leaves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 Network and we were doing this naively and we had an entry for every single end host R9 would have to update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its table to indicate that 4.6 is gone and no longer reachable and if anyone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joins and leaves R9 has to update it table entry by contrast look at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happens if we use aggregated table entries like this this table entry says if you need to reach 4 point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 to R8 if 4.6 leaves the network do you have to change this entry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it's still correct to reach 4. anything you still go via R8 so the fact that 4.6 left the network doesn't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 R9 to change its table entry at all the fact that everyone four point something is a link to R8 stays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is nice it means that changes in other networks for example if Network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more people joining and leaving it doesn't affect R9 at all R9 just always keeps the same information of 4 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something go to R8 that's always true regardless of who joins and leaves Network for so this is nice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that tables change less often and changes in one network don't necessarily have to be propagated into the other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278850210b8_0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278850210b8_0_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to reiterate the point we just made about routers and the scaling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their tables we can see that the size of the forwarding table now scales based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two things so if you're R4 you are responsible for two sets of entries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table so some of your entries are about ways to get to hosts inside your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network so R4 is in network 2 and because you're inside Network 2 you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keep track of different ways to reach 2.1 2.2 2.3 all the way to 2.7 you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that these are internal destinations and R4 has to keep separate entries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internal destination it has to remember if I want to go to 2.4 send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R3 but if I want to go to 2.7 send it to R5 so R4 needs to keep track of 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entry for every internal destination to other hosts inside the same network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second type of Entry that R2 or R4 needs to keep track of is external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destinations and these are the aggregated ones that we saw earlier so for example everyone in network one is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 path the next top of R9 so if I want to send anything to someone who is 1 something I just send it to R9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will take care of it likewise anyone in 4 point something or 3 point something not shown here all of them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next cops of R9 so I have one entry per external destination so o overall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somewhat conceptual model we can see that you need one entry for every internal destination those cannot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combined as of right now and then you need one for every external network and that's how these tables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scale but this is much better than listing every single host if you listed every single host you have to write 1.1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1.3 that's too much and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78850210b8_0_9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78850210b8_0_9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also shows us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between inter domain and intradomain routing and we'll actually put these two together at the very end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38:49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 unit so once you learn about inter domain routing we're able to put both of them together so this is just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kind of a preview but for later what you'll see eventually is that inter domain routing is responsible for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routes in green and in sorry intra domain is responsible for these routes in green and Inter domain is responsible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these routes in blue so for example you could run something like distance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inside the network that would give you all of these green entries and then you can run something like bgp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to other networks and that would give you these entries in blue again we'll probably make more sense once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what BG p is but what's great about this again is that it separates out churn in other networks so for 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are thinking about a route to one point something it doesn't matter if people are joining and leaving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this entry stays the same and likewise if someone joins and leaves Network 4 it's not your problem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 stays the same it's less table churn you just have to think about Network one network 3 Network 4 and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doesn't matter what's inside of those networks which is kind of nice and likewise the distance Vector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39:59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doesn't have to worry about other networks it just focus on the host inside of its own network so by dividing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the work in this way we get tables that scale more efficiently more on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coming soon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78850210b8_0_8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78850210b8_0_8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actually we can get even more aggressive when it comes to aggregation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maybe you noticed that in this picture right here the only way to leave this network seems to be R9 if you want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go to network one it's via R9 if you want to go to network 3 anyone with IP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 3 something go to R9 if you want to go to anyone with address 4 point something go to R9 you have three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entries and they all say R9 so actually you can get even more aggressive and summarize all of these and say actually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have a single entry that says R9 and that's something you can do and later we'll see how address aggregation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you can get more aggressive with aggregating a doesn't have to be one entry per Network you can also get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creative like this and by the way this star point star it's basically saying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anything Point anything and so what it's saying is if the destination is one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in the table send it to these Next Tops but if you don't see it in the table just send it to R9 more on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later but you can already see that aggregation can actually work more aggressively than just one3 Network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even have one entry for lots of networks at once and if you apply this trick over and over again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41:34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eventually able to scale to everyone in the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78850210b8_0_8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78850210b8_0_8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in fact aggregation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even work like this so for example let's say you are R2 well if you're R2 the decision is even simpler for you so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still have to build this table to understand routes to everyone but once you build this table you notice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something kind of interesting if it's the 2.4 that's Direct directly connected if it's to 2.5 that's directly connected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look at everyone else everyone else inside Network to and also everyone else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other networks it all goes to R3 check it out if I want to go to 2.1 next stop is R3 if I want to go to 4.7 next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toop is also R3 so you can actually get more aggressive like this and just say 2.4 and 2.5 are directly connected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else just send it to R3 so this wild card is kind of useful it basically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everything else that's not in my table just send it to R3 sometimes people call it a default route because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the default if it's not overridden by other table entries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when you see this star wild card it's basically saying for every other host not listed here send it to R3 and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you're wondering what hosts do for routing they usually just have one route like this so for example 2.1 if it had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routing table what would it say it would just say send everything to R1 it would have one entry that says everyone goes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R1 that's why hosts don't have to participate in routing so to close that loop from yesterday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hosts don't have to participate in routing because they just have to forward everything to their directly connected router and they can use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default route to achieve that now you know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78850210b8_0_9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78850210b8_0_9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that's the high level idea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behind hierarchical addressing again it kind of works like you would expect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 about the approach?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so now that we've seen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conceptual version of how addressing can be done with a hierarchy let's talk about where those numbers actually come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43:59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so far I've made them up but they actually come from somewhere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78850210b8_0_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78850210b8_0_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already seen is that if Two Hosts are somewhat close to each other for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 definition of that phrase they should somehow share part of their address that's why everyone in network 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 4 something and the analogy I use here if you're thinking about our favorite post office analogy is that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rooms on the third floor are three something something that first digit tells you what floor you're on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pretty useful for navigating buildings so we're going to use that same kind of trick to help us assign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if Two Hosts are somehow close to each other they should share some part of their address whatever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and something else to note since we're here is that when hosts join the network their address is based on where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are because we just saw that the addresses have to reflect your location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44:55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people who are nearby should have similar address addresses people who are further away have addresses that are very different so what this means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your address is based on your location and what that also means is when you join the network you receive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IP address based on where you are so it's not the case that your computer has the same IP address everywhere if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packed up right now and I got on a plane and I went somewhere in Asia I would get a totally different IP address when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rejoin the internet and the analogy here is if you move to a new house your address changes you don't move to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house and keep the address that would be very weird so the question we have to ask ourselves now is where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addresses come from who comes up with these numbers and what does it mean for hosts to be close that's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 someone has to Define so let's do that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78850210b8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78850210b8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 with one attempt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this is actually what people in the earliest internet did and then we will evolve this to what the modern internet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so there's three attempts we're going to make let's start with the very first one that people did in the 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45:58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old days so in the old very old days what people did is they wrote addresses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a 32-bit number 32 ones and zeros and they said the top eight bits identify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network the bottom 24 bits identify the host this is basically what we just did when we had addresses like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4.5 these numbers in red would be the four and then these numbers in blue would be the five so they basically did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same trick that we just did intuitively and that means that each Network needs a unique ID so for 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are some actual numbers that we pulled out AT&amp;T that was an early internet company any computer in AT&amp;T's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got id12 so if you signed up to AT&amp;T and connected to the internet your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 would be something like 12 100 or something Apple got ID 17 Ford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19 whatever something interesting is that the US Department of Defense got quite a few at IDs so it seems like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46:54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had a lot of networks um not that important but something that we found kind of interesting and what's useful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this is we can play the same tricks as before so if we have two people Bob and Joe we notice that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the same network ID so they must be part of the same network just like we saw earlier 4.1 and 4.10 must be in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network similarly here these red bits are the same so they must be in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78850210b8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78850210b8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there's already a problem here maybe you spotted it8 bits gives you 2 to the 8 Network IDs that is 256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networks that's not a lot and we already burned 13 of them on the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of Defense so we are running out very quickly so if you imagine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network that starts up you're running a tire shop for some reason and it's got 10 hosts you're going to claim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of those 256 iids that's not a lot to give out to the entire world and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give them an ID even worse is this tire shop now has access to um let's say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they get network number 20 they get everything from 20.0 to 20.11 111111 241s so how many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 IDs live in network number 20 two to the 24 so even this tiny little 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shop now has 16 million addresses even though they only have 10 computers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needs to give addresses to so this is very wasteful you just wasted 16 million addresses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a network that only has 10 people inside and this is going to run out really quickly so even though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worked on the very early internet people very quickly realized that this is probably doomed we're going to move 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attempt number two to try and fix this this was the simplest thing they did it's exactly like the intuitive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 we saw only problem is it didn't scale very well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78850210b8_0_1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78850210b8_0_1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Technically, 254 hosts, not 256, because the all-zeroes address and all-ones address are reserved for special purposes.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this is try number two what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started to realize is that some organizations are larger and some organizations are smaller US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of Defense very big millions of computers joon's tire shop 10 computers very small so now what they've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done is they've said actually there are three types of addresses some addresses have a seven bit network ID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have a 14bit network ID and some addresses have a 21 bit network 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what's nice about this is you can see for example the class c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addresses they have only eight bits of host and so what that means is each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networks only can support 256 hosts so if you're a tiny little tire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shop guess which one you're going to want you're probably going to want Class C and if you're the US Department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Defense you probably want Class A because here each Network that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allocate has 16 million hosts so basically the idea here is that we're uh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defining more networks some are larger some are smaller and by allocating the bits in this way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49:59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turns out we get a lot of class C networks millions of them compared to 256 from before now we have millions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networks we can support and 16,000 of these somewhat larger networks that can support 65,000 hosts and only 128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very big networks that can support 16 million hosts per Network and how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tell which type of address you're looking at you look at the top bits and we use this little bit encoding trick where if this is zero it's Class A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it's 10 it's Class B if it's 110 it's Class C so that's what the second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attempt was sometimes called class full addressing because there are three classes and everyone who wants a network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picks one of the three classes depending on their size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78850210b8_0_10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78850210b8_0_10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here's an example of all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classes in action the first thing we do is we look at the top bits we see a one we see a zero this must be Class B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one of those mediumsized networks because we're in class B we read the next 14 bits as the network ID and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16 bits as the host ID so we're still doing network. host like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4.7 but the top the network bits vary depending on what type of address it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as a consequence each type of network can hold more hosts fewer hosts depending on how many host bits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available this was the second attempt at trying to make Network addressing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scalable than before for we now have millions of networks to hand out of different sizes as opposed to 256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gigantic 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78850210b8_0_1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78850210b8_0_1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it turns out the internet kept growing and it kept growing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things started to run out again so let's do the math to see why it ran out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reason it ran out is because it turns out the way that these bits were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actually did not work so well because most people don't need Class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51:55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don't need a network with 16 million people in and actually most people don't want Class C either because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C only allows you to support 256 hosts and maybe if you're a company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want more than that so actually it turns out most people just ended up using Class B and A and C were not really used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 we ended up back in the situation where we're mostly using one class namely Class B and Class B we saw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earlier support 16,000 networks and turns out 16,000 is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enough so as time went on this number crept closer and closer and we saw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this curve continues going upwards we're going to run out of class B networks as well so once again we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scaling problem although this was a better attempt it's still not great and the reason why we ran out by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way is because most people don't need 65,000 posts so we gave you a Class B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if you only have 500 posts you're wasting 64,500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52:56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unused addresses that someone else could have used that's our second attempt still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78850210b8_0_10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78850210b8_0_10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 move to the third and final attempt this is the one that we use today and the idea is why do we have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create these arbitrary splits why do we have to split Network and host here and here and here what if I split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here or here or anywhere in the middle so that's what we're going to do next instead of defining a b c and defining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three specific split points between Network and host what if I could assign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network ID that's 8 Bits 12 13 15 if I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53:35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use any number I want instead of just 7 14 21 that can give me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over the size of my network and that allows me to allocate just enough for what I need so if I only need nine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of host I can create a 20 bit network ID for example and this leads to what the modern internet uses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called classless in domain routing here is classless earlier it was class full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53:59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that idea here is that we are removing the notion of specific classes we making things more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54:07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flexible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78850210b8_0_1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78850210b8_0_1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how would you do this you'd have to do a little bit of math so for example let's say you have a tire shop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with 450 hosts in the classful addressing approach you have to choose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BC there's multiple choice if you choose C you get 256 hosts that's not enough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450 if you Class B you get 65,000 that's way too many you're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wasting lots of unused addresses but you're forced to use B not so great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classless addressing you don't have to choose ABC you can say eight bits are not enough but nine bits are enough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yeah you do waste some addresses you waste 72 62 addresses but that's okay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still much better than class full addressing so now this boundary doesn't have to be at a fixed Point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54:55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choosing 7 14 21 here we chose 23 because that was the best fit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this particular use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78850210b8_0_1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78850210b8_0_1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something else that's very nice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the classless version of addressing is you can actually create multi-layered hierarchal assignment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just writing 4.2 that is Network 4 Post Number Two you can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get more specific you can say 4.2.1 or you can say 4.2.1 point2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create multiple layers and play the same trick of hierarchy across multiple layers and in fact that's what we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55:33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there's actually a very natural hierarchy so let's see it in action so the very top level of the hierarchy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internet Corporation for names and numbers it's some organization that manages IP address IP addresses and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all the IP addresses so at the very start every IP address from all zeros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55:53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ones is owned by I can and if you want one you have to go ask them but in fact they're not going to service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56:00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to everyone so instead what they did is they took the address space and they cut it up and they said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 goes to Europe this part goes to North America this part goes to Asia this part goes to South America so they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took the whole pie and they cut it up into slices and each continent got a specific slice and those are called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Regional internet registries you don't have to remember that but you can imagine those are organizations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56:25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 pres ing each specific continent and again we don't want one organization handling all the addresses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Europe that's pretty bad so instead uh it's not scalable so instead Europe will take its slice of the pie and cut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up into even smaller slices and give those out to local internet registries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those are organizations like uh UC Berkeley or isps like AT&amp;T so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continent level registry then cuts it up and then gives it out to organization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56:56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those organizations can give out smaller portions to even smaller organizations so for example maybe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UC system cuts out a slice and gives it to UC Berkeley UC Berkeley cuts out a slice gives it to the eeks department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don't have to memorize this exact hierarchy but what this is showing is that in real life hierarchies are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 you splits into a bunch of universities each University splits into a bunch of departments each department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splits into a bunch of classes and so on so just like how real life hierarchies are multi-layered addresses can also be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57:30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multi-layered to model those real life hierarchies which is kind of useful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78850210b8_0_1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78850210b8_0_1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57:36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here's an example of addresses being allocated I can owns the whole Pi so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57:41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you can imagine a DOT is not fixed so 32 dots means they own every address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57:47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each of these can be a one or a zero and it's originally owned by Ian and then what Ian does is it says I'm going to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57:54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fix the top bits to 1 one0 one the bottom bits can be anything from all zeros to all ones this range this SCE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58:01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pi belongs to North America it's yours now do whatever you want with it so the North American registry now owns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58:08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all the addresses starting with 1 one01 that is 268 million addresses because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58:13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28 unfixed bits and then North America says I don't want to handle 268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58:19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million addresses so I am going to give some of them to AT&amp;T in particular I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58:25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will fix five more bits and anything that starts with these nine bits belongs to AT&amp;T so go ask them if you want an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58:32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address in this range now AT&amp;T controls 8 million addresses and this goes 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58:38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AT&amp;T fix some more bits and sends anything starting with this sequence of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58:43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bits to UC Berkeley so now they own this and maybe UC Berkeley fix some more bits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58:48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 anything starting with these 24 bits that's only 256 addresses is owned by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soda hall and then maybe a specific Prof profess owns a specific address of all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58:58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32 bits fixed so this is a hierarchy it's not real soal doesn't really own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59:04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any IP addresses but you can see that hierarchies in addressing kind of work like hierarchies in real life that we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59:11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see all the time so that's how you assign addresses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78850210b8_0_1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78850210b8_0_1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started with the first attempt and the second attempt they didn't work so well they didn't scale so we moved on to the classless approach that's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59:23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everyone uses today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78850210b8_0_1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78850210b8_0_1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his is really just formatting more so than any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59:36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conceptual thing but we should talk about it because you'll have to write these addresses all the time so if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59:41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want to to you can write 32 bits 32 ones and zeros that's an address I don't want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59:47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to read that you don't want to read that it's really gross so instead what people often do is they use something called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59:53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dotted quad notation you've probably already seen this before and what they do is they take the first eight bits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59:59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convert it into a decimal number then the next eight then the next eight then the next eight so you get four numbers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1:00:05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separated by dots each number ranges from 0 to 255 that's all zeros to eight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1:00:11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ones and it's basically what you'd expect but this is how people write IP addresses but when they write this it's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1:00:18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not because they really want these four numbers it's just a short hand for those 32 bits that are quite hard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1:00:24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read 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278850210b8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278850210b8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something else is writing ranges of IP addresses so you could actually just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1:00:31</a:t>
            </a:r>
            <a:endParaRPr lang="en-US" sz="11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100" dirty="0"/>
              <a:t>0.0.0.0/0 means no bits are fixed. All addresses.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go out and write the ranges explicitly you might go out and say I own all the IP addresses from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1:00:39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192.168.1.0 all the way to 192.168.1.254 you can go out and say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1:00:45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that but it's kind of a mouthful to write two IP addresses and say you have a range so in real life what people do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1:00:52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 they use something called slash notation and all you have to do here is take the bits that are not set set them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1:00:58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all to zero so look this is the prefix that I care about these are the bits that are unset so I force them to all be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1:01:05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zeros convert that into an IP address which is 2202 32.1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1:01:11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144.000 then I'll write a slash and then after the slash I'll write how many bits were fixed so when you read this read it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1:01:18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like this the top 20 bits are fixed translate this IP address into bits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1:01:24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write out the top 20 bits those are are fixed everything else is variable from all zeros all ones so it's kind of 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1:01:31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notational note but this is how people write IP ranges here are some examples that I won't say out loud something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notice is that the boundaries don't have to be exactly on the dots so for example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1:01:42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you have a slash 29 it means that the top 29 bits are fixed and only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bottom two bits can change from 00 0 to 111 represents this range if you write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1:01:54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 out if you put sl32 it means all the bits are fixed if you say 0.0.0.0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1:02:00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sl0 that represents all of the addresses so again it's kind of a notational footnote but since you'll see it a lot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1:02:07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it's good to know what they mean and how people write ranges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78850210b8_0_1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78850210b8_0_1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okay a little bit more notational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notes sometimes people don't like writing slash notation so they instead write something called a net mask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1:02:21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here all you're doing is replacing the slash with a net mask so the original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1:02:26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range you still have to write the prefix so let me try that again you are still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representing a range to write the range you still have to start with the prefix and the way you write the prefix is just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1:02:37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like before you take the prefix you set all the remaining bits to zero and you write it as a dotted quad so notice that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 both notations you write 220 232 1 1440 that has not changed a net mask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1:02:50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only changes the slash so we no longer write slash2 what we instead do is we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1:02:56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set all the fixed bits to one all the unfixed bits to zero we write this as a quad and that's the net mask so this net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1:03:03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mask of 255 255 240 it represents the exact same thing as 20 someone just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1:03:10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wrote it differently they just wrote 21s followed by 12 zeros put a bunch of dots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1:03:16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 between them this rep uh this net mask replaces the 20 it does not replace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1:03:22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everything else here why is this useful by the way I think 20 is easy to read for humans but this is useful because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1:03:28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and we'll see this a little bit later in the class as well this allows you to do bitwise operations let's say you only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1:03:34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care about the network ID and you want to throw away the bottom bits you can just perform a bitwise and and if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1:03:41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know your bitwise operations that will keep all of the top bits intact and zero out all the bottom bits so computers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1:03:48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often like to use net masks oras humans like to slashes but all of this is just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1:03:53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fancy notation for writing ranges of IP addresses 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78850210b8_0_1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6" name="Google Shape;1346;g278850210b8_0_1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okay so moving on now that we know how to write the addresses and we know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1:04:53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addresses are derived from the multi-layer hierarchical classless addressing system now we can talk about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1:05:00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all of this circles back to routing because remember we went on this whole Adventure talking about IP addresses for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1:05:06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purpose of enabling scalable routing so let's go back and take what we've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1:05:12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learned about IP addresses and apply it to routing to make it scalable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78850210b8_0_1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78850210b8_0_1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to move a little bit toward in domain routing so consider this a bit of a preview for the in domain routing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we're going to see coming up next time and we'll see how aggregating routes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able to help us make these tables more scalable so let's say you're R six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you're building a table in the naive version you would have to build one entry for every single destination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France in the US UC Berkeley and Stanford that is way too much it's not happening so instead what happens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we'll play the same tricks as before each network instead of having a number like before where we said four .2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1:05:56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would have been true in the very early internet but we now know that there's actually multi-layer hierarchies going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so each organization whether it's UC Berkeley or AT&amp;T they own a range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1:06:09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so we've generalized the idea of having numbers like 5.3 and 10.2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we've generalized that using class list addressing to say that everyone has a range and remember we can use slash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1:06:22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notation to write the range so AT&amp;T owns all of the addresses with the top eight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bits fixed and if you're wondering what those bits are turn this into ones and zeros you'll find out and you see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Berkeley owns all of the addresses with the top eight bits fixed where the top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eight bits are the top eight bits of this address whatever they are write it out and find out so as before every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has a range of addresses using classist addressing and when you write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entries in your table all you have to do is write range anybody in the range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4.0.0 sl8 please send it to R2 and anyone in UC Beres range send it to R2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well and anyone in Stanford's range also send to R2 so it's the exact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 as we saw earlier but instead of using the simpler version of hierarchy where there's just two layers we 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multiple layers of hierarchy to reflect the fact that real life also has multi-layer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hierarchical relationships we can actually do even better than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78850210b8_0_1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78850210b8_0_1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 do that one thing we'll notice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1:07:30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actually what happened here is these numbers didn't really come out of nowhere like here where I just made up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4.0. z.0 sl8 that's all totally made up in real life we already saw that what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happens is that addresses get allocated to different people so you cut a slice of your pie and you give it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someone else so maybe what happened is not that AT&amp;T and UC Berkeley have randomly generated prefixes what really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1:07:56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happened is that AT&amp;T took its range cut a little slice gave it to UC Berkeley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cut another Little Slice gave it to stard and that's what we see here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maybe a more realistic depiction of the relationships is that AT&amp;T owns this whole range gives a small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1:08:13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piece to UC Berkeley gives a different small piece to Stanford and now what we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do is we'll notice that all three of these ranges they fall in the same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larger range because all of this is just AT&amp;T's range these are just two small slices of it so instead of writing three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separate entries for AT&amp;T and UC Berkeley and Stanford we can just write one entry for anybody in AT&amp;T's range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UC Berkeley is a slice and Stanford is a slice please send all of that stuff to R2 so now this represents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AT&amp;T and every organization that AT&amp;T handed a slice of its address range 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this is all of AT&amp;T's range smaller slices went to other people we can see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1:08:56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already that this is three networks represented by one entry and if AT&amp;T had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millions of slices that it gave out this could be millions of networks represented by a single entry which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78850210b8_0_16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78850210b8_0_16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somewhat annoying point though and it's something we'll come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 to later as well is the idea of multihoming and what multihoming means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maybe Stanford doesn't just want to have a slice of or doesn't want to just be serviced by AT&amp;T so yeah it has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addresses from AT&amp;T but maybe it also wants to be connected to this network in France well in that case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1:09:34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longer enough to say everyone AT&amp;T's network and all of its subordinates should go to R2 in this case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have a shortcut directly to Stanford because R six has a direct link to R7 so in a topology like this where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Stanford is served by both AT&amp;T and this company in France maybe R six has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1:09:54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shortcut to reach Stanford so now when you read these entries you have to be a little bit more careful because if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 at this entry what does it really say it says well actually all of AT&amp;T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its subordinates go to R2 except for one subordinate Stanford it's special that when you have a shortcut go to 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seven so when you have multihoming it limits aggregation and this is something we'll see more we me talk more about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1:10:20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 domain routing but basically what this is showing is that aggregation works but sometimes you don't want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aggregate all the way here's the case where if you aggregated all the way you would have lost this neat little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shortcut and by not aggregating Stanford and saying actually Stanford is a separate range you get to keep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1:10:37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shortcut around that might be useful there's a bit of a tension between multihoming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278850210b8_0_17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278850210b8_0_17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one thing you'll notice in multihoming cases and in general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these prefixes sometimes overlap and that can be a problem so if you actually write out the ones and zeros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I will not do here but try it at home if you're interested you will see that actually this range is a super set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this range put it another way this range 4.29 16 that's a little slice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4.0.0 point0 so if you want to send a packet to someone in Stanford technically both of these are valid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1:11:16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entries it falls in this range and it also falls in this range because this lower range is a small slice of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larger range so both of these are valid entries which one do you use to forward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your friend in Stanford you could use either of them and it turns out what you have to do is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called longest prefix matching so pick the most specific one in this case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sl16 is more specific it's a smaller range so use that one and don't use the more General one that's something we'll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again later as well so in the case that an address matches multiple ranges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pick the most specific one and that allows you to forward packets to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1:11:58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host that matches multiple entries that's in multiple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1:12:05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ranges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g27886deaa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5" name="Google Shape;1725;g27886deaa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we have one final topic we're all done so the final thing I want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1:12:10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briefly mention is something called IPv6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27886deaaf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27886deaaf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so to fix that we need a new version of Ip and that's what people started to build they actually started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1:14:06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building this in the 1990s because they started to realize that this is going to happen and so the real the main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1:14:13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difference between ipv4 which is what we've been seeing so far and IPv6 is just that addresses are no longer 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1:14:19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bits they are now 128 bits so IPv6 is mostly the same they didn't really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change that much the main thing that they changed is just the fact that addresses are now 128 bits instead of 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later we'll see some other very minor changes but for now that's the one you have to know um but overall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1:14:38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addressing structure is still the same it's still higher archical you can still do multi-layer hierarchy it's all the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1:14:44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same things you just do it with 128 bits instead of 32 so one question you might ask is is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1:14:51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going to run out are we headed for ipv 8 or n sometime in the future I don't think so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1:14:57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you do the math 2 to the 128 is an astronomically large number this is like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1:15:03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number of atoms in the universe type number this is enormous and even if you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1:15:08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gave an address to like every second of History you barely use them so these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1:15:14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numbers are mindboggling and it basically means that for the foreseeable future we are never running out of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1:15:19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addresses again IPv6 has solved the problem of running out of addresses and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1:15:25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if you care about what happened to five it was a draft and it never got implemented so it went from four to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1:15:32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six 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27886deaaf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27886deaaff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a little bit of notation on IPv6 they change the way you write addresses just a little bit and again this is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most important thing is just how you write these addresses so instead of using decimal they switch to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heximal and what that means is you have to write four heximal digits for every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 or for every 16 bits I can't do math four hex digits represent 16 bits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1:15:55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write eight of them that gives you 128 bits so this is just a long HEX number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1:16:01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convert every hex digit into bits you'll get 128 bits so these are longer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1:16:07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because they're long sometimes you can get lazy you don't want to write the whole thing you can already see this is quite long so sometimes what people do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1:16:15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if you have z0000 Z within two colons you can just write one zero and everyone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knows what you're talking about so this zero is really 32 zeros but no one wants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1:16:26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write that so we just wrote a single zero and sometimes what people do is they can also emit a bunch of zeros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writing zero colon zero colon zero colon zero they just write a double colon and everyone knows you know I know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1:16:39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all know that in between these double colons you just fill in zeros to get 128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1:16:44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bits in total you can only do this once if you do it twice it's not clear how many zeros to put in each omitted range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1:16:50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if you do it once we all know that there these bits on the right these on the left put zeros in between and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1:16:57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your address so again not the most important thing but if you go out into the wild and you see addresses now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1:17:03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 this is the way that they are written and just like an ipv4 you can use slash notation so you write a range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1:17:10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we use the double colons to be lazy and not write all the zeros and the SL 32 means the top 32 bits are fixed 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g27886deaaff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9" name="Google Shape;1769;g27886deaaff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again the hierarchy is generally the same but something nice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IPv6 is that the range is so enormous like astronomically big that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actually we don't have to play some of those tricks that we did before remember earlier we had to be really careful with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1:17:40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we addressed because Class A Class B Class C didn't give us enough 128 is so big that you're basically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1:17:47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never running out no matter what you do within reason so actually there are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tricks you can play in IPv6 that you cannot do in ipv4 because of the gigantic number of prefixes so something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1:17:59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actually do in IPv6 is you can pick your own prefix instead of other people handing you one like they did in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1:18:06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ipv4 where space is limited and someone has to give you one IPv6 the space is so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1:18:12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that you can just pick your own and there's actually a pretty good probability that no one else is using it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1:18:17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pick it and with like 99% probability no one else is using it so it's yours and if someone else is using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1:18:24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just pick another one so we'll actually see this again later in the class but it's a trick that you can play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1:18:29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IPv6 but not four it's giving yourself a prefix not the most important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1:18:35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thing but kind of cool and in practice because the space is just so big it's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1:18:41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often the case that you just use 64 bits for the network ID 64 bits for the host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1:18:46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ID and that's totally fun you're G to have way more than you need for the number of hosts and the number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1:18:52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networks on the internet so if only the early internet designers had written 128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1:18:58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instead of 32 we probably wouldn't have had to do any of this but because they chose 32 bits we have to go through 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1:19:04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redesign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g27886deaaf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5" name="Google Shape;1775;g27886deaaf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https://www.google.com/intl/en/ipv6/statistics.html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adoption really quick note IPv6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1:19:11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actually not used by everyone so it turns out introducing a new protocol is pretty hard if a computer refuses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1:19:18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update it software it might be stuck using ipv4 and it doesn't understand IPv6 so actually even even though this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verticle was developed in the 1990s as of 2010 basically nobody used it but 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addresses started to run out people started to realize we probably need to be upgrading our software to understand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so newer computer started to understand IPv6 we started to install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1:19:43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IPv6 into older servers and adoptions slowly increased but even as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1:19:49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2024 it's actually still less than half so over half of all computers still only speak iv4 so you can see that adopting 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1:19:57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 protocol is quite slow especially if you need everybody on Earth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1:20:03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it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7886deaaf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7886deaaf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is it hard by the way why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1:20:21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hasn't everyone just immediately switched to IPv6 well one reason is you have to upgrade your computer some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1:20:27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servers are very old and it's just very hard to upgrade them or people are lazy they don't want to update them so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got to update your software to understand IPv6 the two Protocols are not compatible so you actually have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1:20:39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support both it's not one or the other so if you want to speak both ipv4 and IPv6 you have to support both there 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1:20:45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way for six to work with four or anything they're two basically separate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1:20:51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protocols and you would need for example two forwarding tables and if you support both which one should you use it's not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1:20:57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immediately clear maybe you want to use one maybe you want to use the other something you have to think about if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1:21:02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you're installing both but again it's still important that we do this because if the world doesn't move to IPv6 we're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1:21:08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going to run out of addresses it's important that we do this even though it's kind of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1:21:14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painful 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27886deaaff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27886deaaff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let me just quickly summarize for you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1:21:19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 on the internet have addresses ipv4 or IPv6 both of them use higher archical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1:21:25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addressing we saw three different approaches to doing so and we landed on the classless approach because it scales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1:21:31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best and it matches hierarchies that we see in real life and because of these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1:21:36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hierarchical addressing schemes it allows us to write ranges in our forwarding tables as opposed to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1:21:42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individual addresses and we also saw that the wild card can help us aggregate even further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1:21:48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more aggressively to get much more scalable tables so that's your a little preview of in domain routing if you come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1:21:54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 next we'll talk about inter domain so that’s that for today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4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Hierarchical Addressing</a:t>
            </a:r>
            <a:endParaRPr b="1" dirty="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Assigning Addresses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Writing Addresses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Aggregating Routes</a:t>
            </a:r>
            <a:endParaRPr dirty="0"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 dirty="0">
                <a:solidFill>
                  <a:srgbClr val="B7B7B7"/>
                </a:solidFill>
              </a:rPr>
              <a:t>IPv6 Changes</a:t>
            </a:r>
            <a:endParaRPr dirty="0">
              <a:solidFill>
                <a:srgbClr val="B7B7B7"/>
              </a:solidFill>
            </a:endParaRPr>
          </a:p>
        </p:txBody>
      </p:sp>
      <p:sp>
        <p:nvSpPr>
          <p:cNvPr id="589" name="Google Shape;589;p4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</a:t>
            </a:r>
            <a:endParaRPr/>
          </a:p>
        </p:txBody>
      </p:sp>
      <p:sp>
        <p:nvSpPr>
          <p:cNvPr id="590" name="Google Shape;590;p4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6,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6D28A7-DD42-D7EA-054F-2C6D6F1274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Routing</a:t>
            </a:r>
            <a:endParaRPr/>
          </a:p>
        </p:txBody>
      </p:sp>
      <p:sp>
        <p:nvSpPr>
          <p:cNvPr id="596" name="Google Shape;596;p4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01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we really scale routing and forwarding to every host on the Internet?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Distance-vector: How many routing calculations does each router do?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Link-state: Can we really store the entire network graph in every router?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long does it take to re-converge?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secret to scaling routing is how we do addressing.</a:t>
            </a:r>
            <a:endParaRPr/>
          </a:p>
        </p:txBody>
      </p:sp>
      <p:graphicFrame>
        <p:nvGraphicFramePr>
          <p:cNvPr id="597" name="Google Shape;597;p45"/>
          <p:cNvGraphicFramePr/>
          <p:nvPr/>
        </p:nvGraphicFramePr>
        <p:xfrm>
          <a:off x="3502657" y="2499175"/>
          <a:ext cx="1888700" cy="168841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598" name="Google Shape;598;p45"/>
          <p:cNvCxnSpPr/>
          <p:nvPr/>
        </p:nvCxnSpPr>
        <p:spPr>
          <a:xfrm flipH="1">
            <a:off x="5450300" y="3875225"/>
            <a:ext cx="617700" cy="165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9" name="Google Shape;599;p45"/>
          <p:cNvSpPr txBox="1"/>
          <p:nvPr/>
        </p:nvSpPr>
        <p:spPr>
          <a:xfrm>
            <a:off x="6144200" y="3775325"/>
            <a:ext cx="170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One entry for every possible destination.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" name="Google Shape;600;p45"/>
          <p:cNvCxnSpPr/>
          <p:nvPr/>
        </p:nvCxnSpPr>
        <p:spPr>
          <a:xfrm>
            <a:off x="2865900" y="2890696"/>
            <a:ext cx="608400" cy="1629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1" name="Google Shape;601;p45"/>
          <p:cNvSpPr txBox="1"/>
          <p:nvPr/>
        </p:nvSpPr>
        <p:spPr>
          <a:xfrm>
            <a:off x="1271400" y="2507775"/>
            <a:ext cx="1594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trick: Use more informative names than A, B, C, D for destinations.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2" name="Google Shape;602;p45"/>
          <p:cNvSpPr txBox="1"/>
          <p:nvPr/>
        </p:nvSpPr>
        <p:spPr>
          <a:xfrm>
            <a:off x="156700" y="4535600"/>
            <a:ext cx="39882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Disclaimer: Today is about IP (Layer 3) addresses. Other layers use different addressing systems.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F85FD1-D167-F3C2-8BF6-BCA2F6D0B6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6"/>
          <p:cNvSpPr/>
          <p:nvPr/>
        </p:nvSpPr>
        <p:spPr>
          <a:xfrm>
            <a:off x="2728625" y="3788050"/>
            <a:ext cx="3365100" cy="12177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8" name="Google Shape;608;p46"/>
          <p:cNvCxnSpPr>
            <a:stCxn id="609" idx="0"/>
            <a:endCxn id="610" idx="2"/>
          </p:cNvCxnSpPr>
          <p:nvPr/>
        </p:nvCxnSpPr>
        <p:spPr>
          <a:xfrm rot="10800000" flipH="1">
            <a:off x="41595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1" name="Google Shape;611;p46"/>
          <p:cNvCxnSpPr>
            <a:stCxn id="612" idx="0"/>
            <a:endCxn id="610" idx="2"/>
          </p:cNvCxnSpPr>
          <p:nvPr/>
        </p:nvCxnSpPr>
        <p:spPr>
          <a:xfrm rot="10800000">
            <a:off x="43881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3" name="Google Shape;613;p46"/>
          <p:cNvCxnSpPr>
            <a:stCxn id="614" idx="0"/>
            <a:endCxn id="615" idx="2"/>
          </p:cNvCxnSpPr>
          <p:nvPr/>
        </p:nvCxnSpPr>
        <p:spPr>
          <a:xfrm rot="10800000" flipH="1">
            <a:off x="50739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6" name="Google Shape;616;p46"/>
          <p:cNvCxnSpPr>
            <a:stCxn id="617" idx="0"/>
            <a:endCxn id="615" idx="2"/>
          </p:cNvCxnSpPr>
          <p:nvPr/>
        </p:nvCxnSpPr>
        <p:spPr>
          <a:xfrm rot="10800000">
            <a:off x="53025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8" name="Google Shape;618;p46"/>
          <p:cNvCxnSpPr>
            <a:stCxn id="619" idx="0"/>
            <a:endCxn id="620" idx="2"/>
          </p:cNvCxnSpPr>
          <p:nvPr/>
        </p:nvCxnSpPr>
        <p:spPr>
          <a:xfrm rot="10800000" flipH="1">
            <a:off x="32451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1" name="Google Shape;621;p46"/>
          <p:cNvCxnSpPr>
            <a:stCxn id="622" idx="0"/>
            <a:endCxn id="620" idx="2"/>
          </p:cNvCxnSpPr>
          <p:nvPr/>
        </p:nvCxnSpPr>
        <p:spPr>
          <a:xfrm rot="10800000">
            <a:off x="34737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3" name="Google Shape;623;p46"/>
          <p:cNvSpPr/>
          <p:nvPr/>
        </p:nvSpPr>
        <p:spPr>
          <a:xfrm>
            <a:off x="6236588" y="2800750"/>
            <a:ext cx="2236200" cy="14475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46"/>
          <p:cNvSpPr/>
          <p:nvPr/>
        </p:nvSpPr>
        <p:spPr>
          <a:xfrm>
            <a:off x="3553088" y="2131606"/>
            <a:ext cx="2184600" cy="13293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46"/>
          <p:cNvSpPr/>
          <p:nvPr/>
        </p:nvSpPr>
        <p:spPr>
          <a:xfrm>
            <a:off x="671213" y="2284525"/>
            <a:ext cx="2057400" cy="24063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627" name="Google Shape;627;p4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The Internet is a network of networks.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naturally to a hierarchy of addresses.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network gets a number. Then, each host gets a number inside the network.</a:t>
            </a:r>
            <a:endParaRPr/>
          </a:p>
        </p:txBody>
      </p:sp>
      <p:cxnSp>
        <p:nvCxnSpPr>
          <p:cNvPr id="628" name="Google Shape;628;p46"/>
          <p:cNvCxnSpPr>
            <a:stCxn id="629" idx="6"/>
            <a:endCxn id="630" idx="1"/>
          </p:cNvCxnSpPr>
          <p:nvPr/>
        </p:nvCxnSpPr>
        <p:spPr>
          <a:xfrm>
            <a:off x="1091888" y="3328150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0" name="Google Shape;630;p46"/>
          <p:cNvSpPr/>
          <p:nvPr/>
        </p:nvSpPr>
        <p:spPr>
          <a:xfrm>
            <a:off x="1311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1" name="Google Shape;631;p46"/>
          <p:cNvCxnSpPr>
            <a:stCxn id="632" idx="6"/>
            <a:endCxn id="630" idx="1"/>
          </p:cNvCxnSpPr>
          <p:nvPr/>
        </p:nvCxnSpPr>
        <p:spPr>
          <a:xfrm rot="10800000" flipH="1">
            <a:off x="1091888" y="3556750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3" name="Google Shape;633;p46"/>
          <p:cNvSpPr/>
          <p:nvPr/>
        </p:nvSpPr>
        <p:spPr>
          <a:xfrm>
            <a:off x="1692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4" name="Google Shape;634;p46"/>
          <p:cNvCxnSpPr>
            <a:stCxn id="630" idx="3"/>
            <a:endCxn id="633" idx="1"/>
          </p:cNvCxnSpPr>
          <p:nvPr/>
        </p:nvCxnSpPr>
        <p:spPr>
          <a:xfrm>
            <a:off x="1470038" y="355675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5" name="Google Shape;635;p46"/>
          <p:cNvSpPr/>
          <p:nvPr/>
        </p:nvSpPr>
        <p:spPr>
          <a:xfrm>
            <a:off x="2073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6" name="Google Shape;636;p46"/>
          <p:cNvCxnSpPr>
            <a:stCxn id="633" idx="3"/>
            <a:endCxn id="635" idx="1"/>
          </p:cNvCxnSpPr>
          <p:nvPr/>
        </p:nvCxnSpPr>
        <p:spPr>
          <a:xfrm>
            <a:off x="1851038" y="355675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7" name="Google Shape;637;p46"/>
          <p:cNvSpPr/>
          <p:nvPr/>
        </p:nvSpPr>
        <p:spPr>
          <a:xfrm>
            <a:off x="1692338" y="3858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8" name="Google Shape;638;p46"/>
          <p:cNvCxnSpPr>
            <a:stCxn id="637" idx="0"/>
            <a:endCxn id="633" idx="2"/>
          </p:cNvCxnSpPr>
          <p:nvPr/>
        </p:nvCxnSpPr>
        <p:spPr>
          <a:xfrm rot="10800000">
            <a:off x="1771688" y="3636100"/>
            <a:ext cx="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9" name="Google Shape;639;p46"/>
          <p:cNvSpPr/>
          <p:nvPr/>
        </p:nvSpPr>
        <p:spPr>
          <a:xfrm>
            <a:off x="1692338" y="3096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0" name="Google Shape;640;p46"/>
          <p:cNvCxnSpPr>
            <a:stCxn id="633" idx="0"/>
            <a:endCxn id="639" idx="2"/>
          </p:cNvCxnSpPr>
          <p:nvPr/>
        </p:nvCxnSpPr>
        <p:spPr>
          <a:xfrm rot="10800000">
            <a:off x="1771688" y="3255100"/>
            <a:ext cx="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1" name="Google Shape;641;p46"/>
          <p:cNvCxnSpPr>
            <a:stCxn id="642" idx="4"/>
            <a:endCxn id="639" idx="0"/>
          </p:cNvCxnSpPr>
          <p:nvPr/>
        </p:nvCxnSpPr>
        <p:spPr>
          <a:xfrm>
            <a:off x="1390688" y="280075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3" name="Google Shape;643;p46"/>
          <p:cNvCxnSpPr>
            <a:stCxn id="644" idx="4"/>
            <a:endCxn id="639" idx="0"/>
          </p:cNvCxnSpPr>
          <p:nvPr/>
        </p:nvCxnSpPr>
        <p:spPr>
          <a:xfrm>
            <a:off x="1771688" y="2800750"/>
            <a:ext cx="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46"/>
          <p:cNvCxnSpPr>
            <a:stCxn id="646" idx="4"/>
            <a:endCxn id="639" idx="0"/>
          </p:cNvCxnSpPr>
          <p:nvPr/>
        </p:nvCxnSpPr>
        <p:spPr>
          <a:xfrm flipH="1">
            <a:off x="1771688" y="280075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7" name="Google Shape;647;p46"/>
          <p:cNvSpPr/>
          <p:nvPr/>
        </p:nvSpPr>
        <p:spPr>
          <a:xfrm>
            <a:off x="25305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8" name="Google Shape;648;p46"/>
          <p:cNvCxnSpPr>
            <a:stCxn id="635" idx="3"/>
            <a:endCxn id="647" idx="1"/>
          </p:cNvCxnSpPr>
          <p:nvPr/>
        </p:nvCxnSpPr>
        <p:spPr>
          <a:xfrm>
            <a:off x="2232038" y="35567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49;p46"/>
          <p:cNvCxnSpPr>
            <a:stCxn id="639" idx="3"/>
            <a:endCxn id="647" idx="1"/>
          </p:cNvCxnSpPr>
          <p:nvPr/>
        </p:nvCxnSpPr>
        <p:spPr>
          <a:xfrm>
            <a:off x="1851038" y="3175750"/>
            <a:ext cx="679500" cy="3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46"/>
          <p:cNvCxnSpPr>
            <a:stCxn id="637" idx="3"/>
            <a:endCxn id="635" idx="2"/>
          </p:cNvCxnSpPr>
          <p:nvPr/>
        </p:nvCxnSpPr>
        <p:spPr>
          <a:xfrm rot="10800000" flipH="1">
            <a:off x="1851038" y="3636250"/>
            <a:ext cx="301800" cy="30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46"/>
          <p:cNvCxnSpPr>
            <a:stCxn id="652" idx="0"/>
            <a:endCxn id="637" idx="2"/>
          </p:cNvCxnSpPr>
          <p:nvPr/>
        </p:nvCxnSpPr>
        <p:spPr>
          <a:xfrm rot="10800000" flipH="1">
            <a:off x="1543088" y="4017250"/>
            <a:ext cx="2286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3" name="Google Shape;653;p46"/>
          <p:cNvCxnSpPr>
            <a:stCxn id="654" idx="0"/>
            <a:endCxn id="637" idx="2"/>
          </p:cNvCxnSpPr>
          <p:nvPr/>
        </p:nvCxnSpPr>
        <p:spPr>
          <a:xfrm rot="10800000">
            <a:off x="1771688" y="4017250"/>
            <a:ext cx="2286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5" name="Google Shape;655;p46"/>
          <p:cNvSpPr/>
          <p:nvPr/>
        </p:nvSpPr>
        <p:spPr>
          <a:xfrm>
            <a:off x="36229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46"/>
          <p:cNvSpPr/>
          <p:nvPr/>
        </p:nvSpPr>
        <p:spPr>
          <a:xfrm>
            <a:off x="40801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46"/>
          <p:cNvSpPr/>
          <p:nvPr/>
        </p:nvSpPr>
        <p:spPr>
          <a:xfrm>
            <a:off x="4080188" y="2260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8" name="Google Shape;658;p46"/>
          <p:cNvCxnSpPr>
            <a:stCxn id="655" idx="3"/>
            <a:endCxn id="656" idx="1"/>
          </p:cNvCxnSpPr>
          <p:nvPr/>
        </p:nvCxnSpPr>
        <p:spPr>
          <a:xfrm>
            <a:off x="3781688" y="27974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46"/>
          <p:cNvCxnSpPr>
            <a:stCxn id="656" idx="0"/>
            <a:endCxn id="657" idx="2"/>
          </p:cNvCxnSpPr>
          <p:nvPr/>
        </p:nvCxnSpPr>
        <p:spPr>
          <a:xfrm rot="10800000">
            <a:off x="4159538" y="2419600"/>
            <a:ext cx="0" cy="29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0" name="Google Shape;660;p46"/>
          <p:cNvSpPr/>
          <p:nvPr/>
        </p:nvSpPr>
        <p:spPr>
          <a:xfrm>
            <a:off x="4537388" y="28705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1" name="Google Shape;661;p46"/>
          <p:cNvCxnSpPr>
            <a:stCxn id="662" idx="0"/>
            <a:endCxn id="656" idx="2"/>
          </p:cNvCxnSpPr>
          <p:nvPr/>
        </p:nvCxnSpPr>
        <p:spPr>
          <a:xfrm rot="10800000">
            <a:off x="4159538" y="2876950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3" name="Google Shape;663;p46"/>
          <p:cNvCxnSpPr>
            <a:stCxn id="656" idx="3"/>
            <a:endCxn id="660" idx="1"/>
          </p:cNvCxnSpPr>
          <p:nvPr/>
        </p:nvCxnSpPr>
        <p:spPr>
          <a:xfrm>
            <a:off x="4238888" y="2797450"/>
            <a:ext cx="298500" cy="1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4" name="Google Shape;664;p46"/>
          <p:cNvCxnSpPr>
            <a:stCxn id="657" idx="3"/>
            <a:endCxn id="665" idx="1"/>
          </p:cNvCxnSpPr>
          <p:nvPr/>
        </p:nvCxnSpPr>
        <p:spPr>
          <a:xfrm>
            <a:off x="4238888" y="2340250"/>
            <a:ext cx="527100" cy="1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5" name="Google Shape;665;p46"/>
          <p:cNvSpPr/>
          <p:nvPr/>
        </p:nvSpPr>
        <p:spPr>
          <a:xfrm>
            <a:off x="4765988" y="24133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6" name="Google Shape;666;p46"/>
          <p:cNvCxnSpPr>
            <a:stCxn id="660" idx="0"/>
            <a:endCxn id="665" idx="2"/>
          </p:cNvCxnSpPr>
          <p:nvPr/>
        </p:nvCxnSpPr>
        <p:spPr>
          <a:xfrm rot="10800000" flipH="1">
            <a:off x="4616738" y="2572000"/>
            <a:ext cx="228600" cy="29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67" name="Google Shape;667;p46"/>
          <p:cNvCxnSpPr>
            <a:stCxn id="660" idx="3"/>
            <a:endCxn id="668" idx="2"/>
          </p:cNvCxnSpPr>
          <p:nvPr/>
        </p:nvCxnSpPr>
        <p:spPr>
          <a:xfrm>
            <a:off x="4696088" y="2949850"/>
            <a:ext cx="21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p46"/>
          <p:cNvSpPr/>
          <p:nvPr/>
        </p:nvSpPr>
        <p:spPr>
          <a:xfrm>
            <a:off x="55279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0" name="Google Shape;670;p46"/>
          <p:cNvCxnSpPr>
            <a:stCxn id="665" idx="3"/>
            <a:endCxn id="669" idx="1"/>
          </p:cNvCxnSpPr>
          <p:nvPr/>
        </p:nvCxnSpPr>
        <p:spPr>
          <a:xfrm>
            <a:off x="4924688" y="2492650"/>
            <a:ext cx="6033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1" name="Google Shape;671;p46"/>
          <p:cNvSpPr/>
          <p:nvPr/>
        </p:nvSpPr>
        <p:spPr>
          <a:xfrm>
            <a:off x="4689788" y="32515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2" name="Google Shape;672;p46"/>
          <p:cNvCxnSpPr>
            <a:stCxn id="671" idx="0"/>
            <a:endCxn id="660" idx="2"/>
          </p:cNvCxnSpPr>
          <p:nvPr/>
        </p:nvCxnSpPr>
        <p:spPr>
          <a:xfrm rot="10800000">
            <a:off x="4616738" y="3029200"/>
            <a:ext cx="15240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46"/>
          <p:cNvCxnSpPr>
            <a:stCxn id="647" idx="3"/>
            <a:endCxn id="655" idx="1"/>
          </p:cNvCxnSpPr>
          <p:nvPr/>
        </p:nvCxnSpPr>
        <p:spPr>
          <a:xfrm rot="10800000" flipH="1">
            <a:off x="2689238" y="2797450"/>
            <a:ext cx="933900" cy="75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46"/>
          <p:cNvSpPr/>
          <p:nvPr/>
        </p:nvSpPr>
        <p:spPr>
          <a:xfrm>
            <a:off x="4765988" y="386755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46"/>
          <p:cNvSpPr/>
          <p:nvPr/>
        </p:nvSpPr>
        <p:spPr>
          <a:xfrm>
            <a:off x="3851588" y="386755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46"/>
          <p:cNvSpPr/>
          <p:nvPr/>
        </p:nvSpPr>
        <p:spPr>
          <a:xfrm>
            <a:off x="33943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46"/>
          <p:cNvSpPr/>
          <p:nvPr/>
        </p:nvSpPr>
        <p:spPr>
          <a:xfrm>
            <a:off x="43087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46"/>
          <p:cNvSpPr/>
          <p:nvPr/>
        </p:nvSpPr>
        <p:spPr>
          <a:xfrm>
            <a:off x="52231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46"/>
          <p:cNvSpPr/>
          <p:nvPr/>
        </p:nvSpPr>
        <p:spPr>
          <a:xfrm>
            <a:off x="3543938" y="44651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3086738" y="44651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46"/>
          <p:cNvSpPr/>
          <p:nvPr/>
        </p:nvSpPr>
        <p:spPr>
          <a:xfrm>
            <a:off x="4458338" y="44651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4001138" y="44651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46"/>
          <p:cNvSpPr/>
          <p:nvPr/>
        </p:nvSpPr>
        <p:spPr>
          <a:xfrm>
            <a:off x="5372738" y="44651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46"/>
          <p:cNvSpPr/>
          <p:nvPr/>
        </p:nvSpPr>
        <p:spPr>
          <a:xfrm>
            <a:off x="4915538" y="44651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46"/>
          <p:cNvCxnSpPr>
            <a:stCxn id="620" idx="0"/>
            <a:endCxn id="675" idx="2"/>
          </p:cNvCxnSpPr>
          <p:nvPr/>
        </p:nvCxnSpPr>
        <p:spPr>
          <a:xfrm rot="10800000" flipH="1">
            <a:off x="34737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46"/>
          <p:cNvCxnSpPr>
            <a:stCxn id="610" idx="0"/>
            <a:endCxn id="675" idx="2"/>
          </p:cNvCxnSpPr>
          <p:nvPr/>
        </p:nvCxnSpPr>
        <p:spPr>
          <a:xfrm rot="10800000">
            <a:off x="39309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8" name="Google Shape;678;p46"/>
          <p:cNvCxnSpPr>
            <a:stCxn id="615" idx="0"/>
            <a:endCxn id="674" idx="2"/>
          </p:cNvCxnSpPr>
          <p:nvPr/>
        </p:nvCxnSpPr>
        <p:spPr>
          <a:xfrm rot="10800000">
            <a:off x="48453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9" name="Google Shape;679;p46"/>
          <p:cNvCxnSpPr>
            <a:stCxn id="610" idx="0"/>
            <a:endCxn id="674" idx="2"/>
          </p:cNvCxnSpPr>
          <p:nvPr/>
        </p:nvCxnSpPr>
        <p:spPr>
          <a:xfrm rot="10800000" flipH="1">
            <a:off x="43881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0" name="Google Shape;680;p46"/>
          <p:cNvCxnSpPr>
            <a:stCxn id="674" idx="0"/>
            <a:endCxn id="671" idx="2"/>
          </p:cNvCxnSpPr>
          <p:nvPr/>
        </p:nvCxnSpPr>
        <p:spPr>
          <a:xfrm rot="10800000">
            <a:off x="4769138" y="3410350"/>
            <a:ext cx="76200" cy="45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1" name="Google Shape;681;p46"/>
          <p:cNvCxnSpPr>
            <a:stCxn id="647" idx="3"/>
            <a:endCxn id="675" idx="0"/>
          </p:cNvCxnSpPr>
          <p:nvPr/>
        </p:nvCxnSpPr>
        <p:spPr>
          <a:xfrm>
            <a:off x="2689238" y="3556750"/>
            <a:ext cx="1241700" cy="31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2" name="Google Shape;682;p46"/>
          <p:cNvSpPr/>
          <p:nvPr/>
        </p:nvSpPr>
        <p:spPr>
          <a:xfrm>
            <a:off x="65185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46"/>
          <p:cNvSpPr/>
          <p:nvPr/>
        </p:nvSpPr>
        <p:spPr>
          <a:xfrm>
            <a:off x="69757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4" name="Google Shape;684;p46"/>
          <p:cNvCxnSpPr>
            <a:stCxn id="682" idx="3"/>
            <a:endCxn id="683" idx="1"/>
          </p:cNvCxnSpPr>
          <p:nvPr/>
        </p:nvCxnSpPr>
        <p:spPr>
          <a:xfrm>
            <a:off x="6677288" y="31784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p46"/>
          <p:cNvSpPr/>
          <p:nvPr/>
        </p:nvSpPr>
        <p:spPr>
          <a:xfrm>
            <a:off x="6518588" y="37087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6" name="Google Shape;686;p46"/>
          <p:cNvCxnSpPr>
            <a:stCxn id="682" idx="2"/>
            <a:endCxn id="685" idx="0"/>
          </p:cNvCxnSpPr>
          <p:nvPr/>
        </p:nvCxnSpPr>
        <p:spPr>
          <a:xfrm>
            <a:off x="6597938" y="3257800"/>
            <a:ext cx="0" cy="4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7" name="Google Shape;687;p46"/>
          <p:cNvSpPr/>
          <p:nvPr/>
        </p:nvSpPr>
        <p:spPr>
          <a:xfrm>
            <a:off x="6975788" y="37087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8" name="Google Shape;688;p46"/>
          <p:cNvCxnSpPr>
            <a:stCxn id="687" idx="1"/>
            <a:endCxn id="685" idx="3"/>
          </p:cNvCxnSpPr>
          <p:nvPr/>
        </p:nvCxnSpPr>
        <p:spPr>
          <a:xfrm rot="10800000">
            <a:off x="6677288" y="37880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46"/>
          <p:cNvCxnSpPr>
            <a:stCxn id="690" idx="2"/>
            <a:endCxn id="687" idx="3"/>
          </p:cNvCxnSpPr>
          <p:nvPr/>
        </p:nvCxnSpPr>
        <p:spPr>
          <a:xfrm flipH="1">
            <a:off x="7134638" y="3559450"/>
            <a:ext cx="2955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1" name="Google Shape;691;p46"/>
          <p:cNvCxnSpPr>
            <a:stCxn id="692" idx="2"/>
            <a:endCxn id="687" idx="3"/>
          </p:cNvCxnSpPr>
          <p:nvPr/>
        </p:nvCxnSpPr>
        <p:spPr>
          <a:xfrm rot="10800000">
            <a:off x="7134638" y="3788050"/>
            <a:ext cx="2955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3" name="Google Shape;693;p46"/>
          <p:cNvSpPr/>
          <p:nvPr/>
        </p:nvSpPr>
        <p:spPr>
          <a:xfrm>
            <a:off x="80425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46"/>
          <p:cNvCxnSpPr>
            <a:stCxn id="683" idx="3"/>
            <a:endCxn id="693" idx="1"/>
          </p:cNvCxnSpPr>
          <p:nvPr/>
        </p:nvCxnSpPr>
        <p:spPr>
          <a:xfrm>
            <a:off x="7134488" y="3178450"/>
            <a:ext cx="90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46"/>
          <p:cNvCxnSpPr>
            <a:stCxn id="693" idx="2"/>
            <a:endCxn id="696" idx="0"/>
          </p:cNvCxnSpPr>
          <p:nvPr/>
        </p:nvCxnSpPr>
        <p:spPr>
          <a:xfrm>
            <a:off x="8121938" y="3257800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46"/>
          <p:cNvCxnSpPr>
            <a:stCxn id="669" idx="3"/>
            <a:endCxn id="682" idx="1"/>
          </p:cNvCxnSpPr>
          <p:nvPr/>
        </p:nvCxnSpPr>
        <p:spPr>
          <a:xfrm>
            <a:off x="5686688" y="2797450"/>
            <a:ext cx="831900" cy="3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46"/>
          <p:cNvSpPr txBox="1"/>
          <p:nvPr/>
        </p:nvSpPr>
        <p:spPr>
          <a:xfrm>
            <a:off x="3086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46"/>
          <p:cNvSpPr txBox="1"/>
          <p:nvPr/>
        </p:nvSpPr>
        <p:spPr>
          <a:xfrm>
            <a:off x="35439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0" name="Google Shape;700;p46"/>
          <p:cNvSpPr txBox="1"/>
          <p:nvPr/>
        </p:nvSpPr>
        <p:spPr>
          <a:xfrm>
            <a:off x="40011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46"/>
          <p:cNvSpPr txBox="1"/>
          <p:nvPr/>
        </p:nvSpPr>
        <p:spPr>
          <a:xfrm>
            <a:off x="44583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2" name="Google Shape;702;p46"/>
          <p:cNvSpPr txBox="1"/>
          <p:nvPr/>
        </p:nvSpPr>
        <p:spPr>
          <a:xfrm>
            <a:off x="49155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46"/>
          <p:cNvSpPr txBox="1"/>
          <p:nvPr/>
        </p:nvSpPr>
        <p:spPr>
          <a:xfrm>
            <a:off x="5372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46"/>
          <p:cNvSpPr/>
          <p:nvPr/>
        </p:nvSpPr>
        <p:spPr>
          <a:xfrm>
            <a:off x="775088" y="31697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46"/>
          <p:cNvSpPr/>
          <p:nvPr/>
        </p:nvSpPr>
        <p:spPr>
          <a:xfrm>
            <a:off x="775088" y="36269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46"/>
          <p:cNvSpPr txBox="1"/>
          <p:nvPr/>
        </p:nvSpPr>
        <p:spPr>
          <a:xfrm>
            <a:off x="775250" y="3627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46"/>
          <p:cNvSpPr txBox="1"/>
          <p:nvPr/>
        </p:nvSpPr>
        <p:spPr>
          <a:xfrm>
            <a:off x="775250" y="31698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46"/>
          <p:cNvSpPr/>
          <p:nvPr/>
        </p:nvSpPr>
        <p:spPr>
          <a:xfrm>
            <a:off x="1384688" y="42365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46"/>
          <p:cNvSpPr/>
          <p:nvPr/>
        </p:nvSpPr>
        <p:spPr>
          <a:xfrm>
            <a:off x="1841888" y="42365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46"/>
          <p:cNvSpPr txBox="1"/>
          <p:nvPr/>
        </p:nvSpPr>
        <p:spPr>
          <a:xfrm>
            <a:off x="13848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46"/>
          <p:cNvSpPr txBox="1"/>
          <p:nvPr/>
        </p:nvSpPr>
        <p:spPr>
          <a:xfrm>
            <a:off x="18420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1232288" y="24839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46"/>
          <p:cNvSpPr/>
          <p:nvPr/>
        </p:nvSpPr>
        <p:spPr>
          <a:xfrm>
            <a:off x="1613288" y="24839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46"/>
          <p:cNvSpPr/>
          <p:nvPr/>
        </p:nvSpPr>
        <p:spPr>
          <a:xfrm>
            <a:off x="1994288" y="24839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46"/>
          <p:cNvSpPr txBox="1"/>
          <p:nvPr/>
        </p:nvSpPr>
        <p:spPr>
          <a:xfrm>
            <a:off x="1232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46"/>
          <p:cNvSpPr txBox="1"/>
          <p:nvPr/>
        </p:nvSpPr>
        <p:spPr>
          <a:xfrm>
            <a:off x="1613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46"/>
          <p:cNvSpPr txBox="1"/>
          <p:nvPr/>
        </p:nvSpPr>
        <p:spPr>
          <a:xfrm>
            <a:off x="1994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46"/>
          <p:cNvSpPr/>
          <p:nvPr/>
        </p:nvSpPr>
        <p:spPr>
          <a:xfrm>
            <a:off x="4001138" y="30200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1" name="Google Shape;711;p46"/>
          <p:cNvSpPr txBox="1"/>
          <p:nvPr/>
        </p:nvSpPr>
        <p:spPr>
          <a:xfrm>
            <a:off x="4001150" y="30187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46"/>
          <p:cNvSpPr/>
          <p:nvPr/>
        </p:nvSpPr>
        <p:spPr>
          <a:xfrm>
            <a:off x="4915538" y="27914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46"/>
          <p:cNvSpPr txBox="1"/>
          <p:nvPr/>
        </p:nvSpPr>
        <p:spPr>
          <a:xfrm>
            <a:off x="4915550" y="27901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46"/>
          <p:cNvSpPr/>
          <p:nvPr/>
        </p:nvSpPr>
        <p:spPr>
          <a:xfrm>
            <a:off x="7430138" y="34010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46"/>
          <p:cNvSpPr/>
          <p:nvPr/>
        </p:nvSpPr>
        <p:spPr>
          <a:xfrm>
            <a:off x="7430138" y="38582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7963538" y="340105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3" name="Google Shape;713;p46"/>
          <p:cNvSpPr txBox="1"/>
          <p:nvPr/>
        </p:nvSpPr>
        <p:spPr>
          <a:xfrm>
            <a:off x="74301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46"/>
          <p:cNvSpPr txBox="1"/>
          <p:nvPr/>
        </p:nvSpPr>
        <p:spPr>
          <a:xfrm>
            <a:off x="79635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46"/>
          <p:cNvSpPr txBox="1"/>
          <p:nvPr/>
        </p:nvSpPr>
        <p:spPr>
          <a:xfrm>
            <a:off x="7430150" y="38555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46"/>
          <p:cNvSpPr txBox="1"/>
          <p:nvPr/>
        </p:nvSpPr>
        <p:spPr>
          <a:xfrm>
            <a:off x="1283975" y="2043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46"/>
          <p:cNvSpPr txBox="1"/>
          <p:nvPr/>
        </p:nvSpPr>
        <p:spPr>
          <a:xfrm>
            <a:off x="4229450" y="18885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8" name="Google Shape;718;p46"/>
          <p:cNvSpPr txBox="1"/>
          <p:nvPr/>
        </p:nvSpPr>
        <p:spPr>
          <a:xfrm>
            <a:off x="6938750" y="253777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3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46"/>
          <p:cNvSpPr txBox="1"/>
          <p:nvPr/>
        </p:nvSpPr>
        <p:spPr>
          <a:xfrm>
            <a:off x="3922850" y="355652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34755D-B802-FBC0-B5BA-2044DB7382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7"/>
          <p:cNvSpPr/>
          <p:nvPr/>
        </p:nvSpPr>
        <p:spPr>
          <a:xfrm>
            <a:off x="2728625" y="3788050"/>
            <a:ext cx="3365100" cy="12177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5" name="Google Shape;725;p47"/>
          <p:cNvCxnSpPr>
            <a:stCxn id="726" idx="0"/>
            <a:endCxn id="727" idx="2"/>
          </p:cNvCxnSpPr>
          <p:nvPr/>
        </p:nvCxnSpPr>
        <p:spPr>
          <a:xfrm rot="10800000" flipH="1">
            <a:off x="41595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47"/>
          <p:cNvCxnSpPr>
            <a:stCxn id="729" idx="0"/>
            <a:endCxn id="727" idx="2"/>
          </p:cNvCxnSpPr>
          <p:nvPr/>
        </p:nvCxnSpPr>
        <p:spPr>
          <a:xfrm rot="10800000">
            <a:off x="43881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0" name="Google Shape;730;p47"/>
          <p:cNvCxnSpPr>
            <a:stCxn id="731" idx="0"/>
            <a:endCxn id="732" idx="2"/>
          </p:cNvCxnSpPr>
          <p:nvPr/>
        </p:nvCxnSpPr>
        <p:spPr>
          <a:xfrm rot="10800000" flipH="1">
            <a:off x="50739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3" name="Google Shape;733;p47"/>
          <p:cNvCxnSpPr>
            <a:stCxn id="734" idx="0"/>
            <a:endCxn id="732" idx="2"/>
          </p:cNvCxnSpPr>
          <p:nvPr/>
        </p:nvCxnSpPr>
        <p:spPr>
          <a:xfrm rot="10800000">
            <a:off x="53025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47"/>
          <p:cNvCxnSpPr>
            <a:stCxn id="736" idx="0"/>
            <a:endCxn id="737" idx="2"/>
          </p:cNvCxnSpPr>
          <p:nvPr/>
        </p:nvCxnSpPr>
        <p:spPr>
          <a:xfrm rot="10800000" flipH="1">
            <a:off x="32451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8" name="Google Shape;738;p47"/>
          <p:cNvCxnSpPr>
            <a:stCxn id="739" idx="0"/>
            <a:endCxn id="737" idx="2"/>
          </p:cNvCxnSpPr>
          <p:nvPr/>
        </p:nvCxnSpPr>
        <p:spPr>
          <a:xfrm rot="10800000">
            <a:off x="34737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0" name="Google Shape;740;p47"/>
          <p:cNvSpPr/>
          <p:nvPr/>
        </p:nvSpPr>
        <p:spPr>
          <a:xfrm>
            <a:off x="6236588" y="2800750"/>
            <a:ext cx="2236200" cy="14475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47"/>
          <p:cNvSpPr/>
          <p:nvPr/>
        </p:nvSpPr>
        <p:spPr>
          <a:xfrm>
            <a:off x="3553088" y="2131606"/>
            <a:ext cx="2184600" cy="13293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671213" y="2284525"/>
            <a:ext cx="2057400" cy="24063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744" name="Google Shape;744;p4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531100" cy="13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R9 can summarize all hosts in another network with a single table entry.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Huge scaling improvement! Tables are smaller now.</a:t>
            </a:r>
            <a:endParaRPr/>
          </a:p>
        </p:txBody>
      </p:sp>
      <p:cxnSp>
        <p:nvCxnSpPr>
          <p:cNvPr id="745" name="Google Shape;745;p47"/>
          <p:cNvCxnSpPr>
            <a:stCxn id="746" idx="6"/>
            <a:endCxn id="747" idx="1"/>
          </p:cNvCxnSpPr>
          <p:nvPr/>
        </p:nvCxnSpPr>
        <p:spPr>
          <a:xfrm>
            <a:off x="1091888" y="3328150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7" name="Google Shape;747;p47"/>
          <p:cNvSpPr/>
          <p:nvPr/>
        </p:nvSpPr>
        <p:spPr>
          <a:xfrm>
            <a:off x="1311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47"/>
          <p:cNvCxnSpPr>
            <a:stCxn id="749" idx="6"/>
            <a:endCxn id="747" idx="1"/>
          </p:cNvCxnSpPr>
          <p:nvPr/>
        </p:nvCxnSpPr>
        <p:spPr>
          <a:xfrm rot="10800000" flipH="1">
            <a:off x="1091888" y="3556750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0" name="Google Shape;750;p47"/>
          <p:cNvSpPr/>
          <p:nvPr/>
        </p:nvSpPr>
        <p:spPr>
          <a:xfrm>
            <a:off x="1692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1" name="Google Shape;751;p47"/>
          <p:cNvCxnSpPr>
            <a:stCxn id="747" idx="3"/>
            <a:endCxn id="750" idx="1"/>
          </p:cNvCxnSpPr>
          <p:nvPr/>
        </p:nvCxnSpPr>
        <p:spPr>
          <a:xfrm>
            <a:off x="1470038" y="355675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2" name="Google Shape;752;p47"/>
          <p:cNvSpPr/>
          <p:nvPr/>
        </p:nvSpPr>
        <p:spPr>
          <a:xfrm>
            <a:off x="2073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3" name="Google Shape;753;p47"/>
          <p:cNvCxnSpPr>
            <a:stCxn id="750" idx="3"/>
            <a:endCxn id="752" idx="1"/>
          </p:cNvCxnSpPr>
          <p:nvPr/>
        </p:nvCxnSpPr>
        <p:spPr>
          <a:xfrm>
            <a:off x="1851038" y="355675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4" name="Google Shape;754;p47"/>
          <p:cNvSpPr/>
          <p:nvPr/>
        </p:nvSpPr>
        <p:spPr>
          <a:xfrm>
            <a:off x="1692338" y="3858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5" name="Google Shape;755;p47"/>
          <p:cNvCxnSpPr>
            <a:stCxn id="754" idx="0"/>
            <a:endCxn id="750" idx="2"/>
          </p:cNvCxnSpPr>
          <p:nvPr/>
        </p:nvCxnSpPr>
        <p:spPr>
          <a:xfrm rot="10800000">
            <a:off x="1771688" y="3636100"/>
            <a:ext cx="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6" name="Google Shape;756;p47"/>
          <p:cNvSpPr/>
          <p:nvPr/>
        </p:nvSpPr>
        <p:spPr>
          <a:xfrm>
            <a:off x="1692338" y="3096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p47"/>
          <p:cNvCxnSpPr>
            <a:stCxn id="750" idx="0"/>
            <a:endCxn id="756" idx="2"/>
          </p:cNvCxnSpPr>
          <p:nvPr/>
        </p:nvCxnSpPr>
        <p:spPr>
          <a:xfrm rot="10800000">
            <a:off x="1771688" y="3255100"/>
            <a:ext cx="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8" name="Google Shape;758;p47"/>
          <p:cNvCxnSpPr>
            <a:stCxn id="759" idx="4"/>
            <a:endCxn id="756" idx="0"/>
          </p:cNvCxnSpPr>
          <p:nvPr/>
        </p:nvCxnSpPr>
        <p:spPr>
          <a:xfrm>
            <a:off x="1390688" y="280075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0" name="Google Shape;760;p47"/>
          <p:cNvCxnSpPr>
            <a:stCxn id="761" idx="4"/>
            <a:endCxn id="756" idx="0"/>
          </p:cNvCxnSpPr>
          <p:nvPr/>
        </p:nvCxnSpPr>
        <p:spPr>
          <a:xfrm>
            <a:off x="1771688" y="2800750"/>
            <a:ext cx="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2" name="Google Shape;762;p47"/>
          <p:cNvCxnSpPr>
            <a:stCxn id="763" idx="4"/>
            <a:endCxn id="756" idx="0"/>
          </p:cNvCxnSpPr>
          <p:nvPr/>
        </p:nvCxnSpPr>
        <p:spPr>
          <a:xfrm flipH="1">
            <a:off x="1771688" y="280075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4" name="Google Shape;764;p47"/>
          <p:cNvCxnSpPr>
            <a:stCxn id="752" idx="3"/>
            <a:endCxn id="765" idx="1"/>
          </p:cNvCxnSpPr>
          <p:nvPr/>
        </p:nvCxnSpPr>
        <p:spPr>
          <a:xfrm>
            <a:off x="2232038" y="3556750"/>
            <a:ext cx="17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6" name="Google Shape;766;p47"/>
          <p:cNvCxnSpPr>
            <a:stCxn id="754" idx="3"/>
            <a:endCxn id="752" idx="2"/>
          </p:cNvCxnSpPr>
          <p:nvPr/>
        </p:nvCxnSpPr>
        <p:spPr>
          <a:xfrm rot="10800000" flipH="1">
            <a:off x="1851038" y="3636250"/>
            <a:ext cx="301800" cy="30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7"/>
          <p:cNvCxnSpPr>
            <a:stCxn id="768" idx="0"/>
            <a:endCxn id="754" idx="2"/>
          </p:cNvCxnSpPr>
          <p:nvPr/>
        </p:nvCxnSpPr>
        <p:spPr>
          <a:xfrm rot="10800000" flipH="1">
            <a:off x="1543088" y="4017250"/>
            <a:ext cx="2286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9" name="Google Shape;769;p47"/>
          <p:cNvCxnSpPr>
            <a:stCxn id="770" idx="0"/>
            <a:endCxn id="754" idx="2"/>
          </p:cNvCxnSpPr>
          <p:nvPr/>
        </p:nvCxnSpPr>
        <p:spPr>
          <a:xfrm rot="10800000">
            <a:off x="1771688" y="4017250"/>
            <a:ext cx="2286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1" name="Google Shape;771;p47"/>
          <p:cNvSpPr/>
          <p:nvPr/>
        </p:nvSpPr>
        <p:spPr>
          <a:xfrm>
            <a:off x="40801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p47"/>
          <p:cNvSpPr/>
          <p:nvPr/>
        </p:nvSpPr>
        <p:spPr>
          <a:xfrm>
            <a:off x="4080188" y="2260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3" name="Google Shape;773;p47"/>
          <p:cNvCxnSpPr>
            <a:stCxn id="774" idx="3"/>
            <a:endCxn id="771" idx="1"/>
          </p:cNvCxnSpPr>
          <p:nvPr/>
        </p:nvCxnSpPr>
        <p:spPr>
          <a:xfrm>
            <a:off x="3886401" y="2797450"/>
            <a:ext cx="19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47"/>
          <p:cNvCxnSpPr>
            <a:stCxn id="771" idx="0"/>
            <a:endCxn id="772" idx="2"/>
          </p:cNvCxnSpPr>
          <p:nvPr/>
        </p:nvCxnSpPr>
        <p:spPr>
          <a:xfrm rot="10800000">
            <a:off x="4159538" y="2419600"/>
            <a:ext cx="0" cy="29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6" name="Google Shape;776;p47"/>
          <p:cNvSpPr/>
          <p:nvPr/>
        </p:nvSpPr>
        <p:spPr>
          <a:xfrm>
            <a:off x="4537388" y="28705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7" name="Google Shape;777;p47"/>
          <p:cNvCxnSpPr>
            <a:stCxn id="778" idx="0"/>
            <a:endCxn id="771" idx="2"/>
          </p:cNvCxnSpPr>
          <p:nvPr/>
        </p:nvCxnSpPr>
        <p:spPr>
          <a:xfrm rot="10800000">
            <a:off x="4159538" y="2876950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9" name="Google Shape;779;p47"/>
          <p:cNvCxnSpPr>
            <a:stCxn id="771" idx="3"/>
            <a:endCxn id="776" idx="1"/>
          </p:cNvCxnSpPr>
          <p:nvPr/>
        </p:nvCxnSpPr>
        <p:spPr>
          <a:xfrm>
            <a:off x="4238888" y="2797450"/>
            <a:ext cx="298500" cy="1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0" name="Google Shape;780;p47"/>
          <p:cNvCxnSpPr>
            <a:stCxn id="772" idx="3"/>
            <a:endCxn id="781" idx="1"/>
          </p:cNvCxnSpPr>
          <p:nvPr/>
        </p:nvCxnSpPr>
        <p:spPr>
          <a:xfrm>
            <a:off x="4238888" y="2340250"/>
            <a:ext cx="527100" cy="1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1" name="Google Shape;781;p47"/>
          <p:cNvSpPr/>
          <p:nvPr/>
        </p:nvSpPr>
        <p:spPr>
          <a:xfrm>
            <a:off x="4765988" y="24133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7"/>
          <p:cNvCxnSpPr>
            <a:stCxn id="776" idx="0"/>
            <a:endCxn id="781" idx="2"/>
          </p:cNvCxnSpPr>
          <p:nvPr/>
        </p:nvCxnSpPr>
        <p:spPr>
          <a:xfrm rot="10800000" flipH="1">
            <a:off x="4616738" y="2572000"/>
            <a:ext cx="228600" cy="29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3" name="Google Shape;783;p47"/>
          <p:cNvCxnSpPr>
            <a:stCxn id="776" idx="3"/>
            <a:endCxn id="784" idx="2"/>
          </p:cNvCxnSpPr>
          <p:nvPr/>
        </p:nvCxnSpPr>
        <p:spPr>
          <a:xfrm>
            <a:off x="4696088" y="2949850"/>
            <a:ext cx="21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5" name="Google Shape;785;p47"/>
          <p:cNvSpPr/>
          <p:nvPr/>
        </p:nvSpPr>
        <p:spPr>
          <a:xfrm>
            <a:off x="55279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6" name="Google Shape;786;p47"/>
          <p:cNvCxnSpPr>
            <a:stCxn id="781" idx="3"/>
            <a:endCxn id="785" idx="1"/>
          </p:cNvCxnSpPr>
          <p:nvPr/>
        </p:nvCxnSpPr>
        <p:spPr>
          <a:xfrm>
            <a:off x="4924688" y="2492650"/>
            <a:ext cx="6033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7" name="Google Shape;787;p47"/>
          <p:cNvSpPr/>
          <p:nvPr/>
        </p:nvSpPr>
        <p:spPr>
          <a:xfrm>
            <a:off x="4689788" y="32515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8" name="Google Shape;788;p47"/>
          <p:cNvCxnSpPr>
            <a:stCxn id="787" idx="0"/>
            <a:endCxn id="776" idx="2"/>
          </p:cNvCxnSpPr>
          <p:nvPr/>
        </p:nvCxnSpPr>
        <p:spPr>
          <a:xfrm rot="10800000">
            <a:off x="4616738" y="3029200"/>
            <a:ext cx="15240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9" name="Google Shape;789;p47"/>
          <p:cNvSpPr/>
          <p:nvPr/>
        </p:nvSpPr>
        <p:spPr>
          <a:xfrm>
            <a:off x="4765988" y="386755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7" name="Google Shape;737;p47"/>
          <p:cNvSpPr/>
          <p:nvPr/>
        </p:nvSpPr>
        <p:spPr>
          <a:xfrm>
            <a:off x="33943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47"/>
          <p:cNvSpPr/>
          <p:nvPr/>
        </p:nvSpPr>
        <p:spPr>
          <a:xfrm>
            <a:off x="43087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47"/>
          <p:cNvSpPr/>
          <p:nvPr/>
        </p:nvSpPr>
        <p:spPr>
          <a:xfrm>
            <a:off x="52231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9" name="Google Shape;739;p47"/>
          <p:cNvSpPr/>
          <p:nvPr/>
        </p:nvSpPr>
        <p:spPr>
          <a:xfrm>
            <a:off x="35439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6" name="Google Shape;736;p47"/>
          <p:cNvSpPr/>
          <p:nvPr/>
        </p:nvSpPr>
        <p:spPr>
          <a:xfrm>
            <a:off x="30867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47"/>
          <p:cNvSpPr/>
          <p:nvPr/>
        </p:nvSpPr>
        <p:spPr>
          <a:xfrm>
            <a:off x="44583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47"/>
          <p:cNvSpPr/>
          <p:nvPr/>
        </p:nvSpPr>
        <p:spPr>
          <a:xfrm>
            <a:off x="40011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47"/>
          <p:cNvSpPr/>
          <p:nvPr/>
        </p:nvSpPr>
        <p:spPr>
          <a:xfrm>
            <a:off x="53727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47"/>
          <p:cNvSpPr/>
          <p:nvPr/>
        </p:nvSpPr>
        <p:spPr>
          <a:xfrm>
            <a:off x="49155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0" name="Google Shape;790;p47"/>
          <p:cNvCxnSpPr>
            <a:stCxn id="737" idx="0"/>
            <a:endCxn id="791" idx="2"/>
          </p:cNvCxnSpPr>
          <p:nvPr/>
        </p:nvCxnSpPr>
        <p:spPr>
          <a:xfrm rot="10800000" flipH="1">
            <a:off x="34737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2" name="Google Shape;792;p47"/>
          <p:cNvCxnSpPr>
            <a:stCxn id="727" idx="0"/>
            <a:endCxn id="791" idx="2"/>
          </p:cNvCxnSpPr>
          <p:nvPr/>
        </p:nvCxnSpPr>
        <p:spPr>
          <a:xfrm rot="10800000">
            <a:off x="39309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7"/>
          <p:cNvCxnSpPr>
            <a:stCxn id="732" idx="0"/>
            <a:endCxn id="789" idx="2"/>
          </p:cNvCxnSpPr>
          <p:nvPr/>
        </p:nvCxnSpPr>
        <p:spPr>
          <a:xfrm rot="10800000">
            <a:off x="48453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7"/>
          <p:cNvCxnSpPr>
            <a:stCxn id="727" idx="0"/>
            <a:endCxn id="789" idx="2"/>
          </p:cNvCxnSpPr>
          <p:nvPr/>
        </p:nvCxnSpPr>
        <p:spPr>
          <a:xfrm rot="10800000" flipH="1">
            <a:off x="43881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47"/>
          <p:cNvCxnSpPr>
            <a:stCxn id="789" idx="0"/>
            <a:endCxn id="787" idx="2"/>
          </p:cNvCxnSpPr>
          <p:nvPr/>
        </p:nvCxnSpPr>
        <p:spPr>
          <a:xfrm rot="10800000">
            <a:off x="4769138" y="3410350"/>
            <a:ext cx="76200" cy="45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47"/>
          <p:cNvCxnSpPr>
            <a:stCxn id="765" idx="3"/>
            <a:endCxn id="791" idx="0"/>
          </p:cNvCxnSpPr>
          <p:nvPr/>
        </p:nvCxnSpPr>
        <p:spPr>
          <a:xfrm>
            <a:off x="2692838" y="3556750"/>
            <a:ext cx="1238100" cy="31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7" name="Google Shape;797;p47"/>
          <p:cNvSpPr/>
          <p:nvPr/>
        </p:nvSpPr>
        <p:spPr>
          <a:xfrm>
            <a:off x="65185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47"/>
          <p:cNvSpPr/>
          <p:nvPr/>
        </p:nvSpPr>
        <p:spPr>
          <a:xfrm>
            <a:off x="69757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9" name="Google Shape;799;p47"/>
          <p:cNvCxnSpPr>
            <a:stCxn id="797" idx="3"/>
            <a:endCxn id="798" idx="1"/>
          </p:cNvCxnSpPr>
          <p:nvPr/>
        </p:nvCxnSpPr>
        <p:spPr>
          <a:xfrm>
            <a:off x="6677288" y="31784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0" name="Google Shape;800;p47"/>
          <p:cNvSpPr/>
          <p:nvPr/>
        </p:nvSpPr>
        <p:spPr>
          <a:xfrm>
            <a:off x="6518588" y="37087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1" name="Google Shape;801;p47"/>
          <p:cNvCxnSpPr>
            <a:stCxn id="797" idx="2"/>
            <a:endCxn id="800" idx="0"/>
          </p:cNvCxnSpPr>
          <p:nvPr/>
        </p:nvCxnSpPr>
        <p:spPr>
          <a:xfrm>
            <a:off x="6597938" y="3257800"/>
            <a:ext cx="0" cy="4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2" name="Google Shape;802;p47"/>
          <p:cNvSpPr/>
          <p:nvPr/>
        </p:nvSpPr>
        <p:spPr>
          <a:xfrm>
            <a:off x="6975788" y="37087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3" name="Google Shape;803;p47"/>
          <p:cNvCxnSpPr>
            <a:stCxn id="802" idx="1"/>
            <a:endCxn id="800" idx="3"/>
          </p:cNvCxnSpPr>
          <p:nvPr/>
        </p:nvCxnSpPr>
        <p:spPr>
          <a:xfrm rot="10800000">
            <a:off x="6677288" y="37880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4" name="Google Shape;804;p47"/>
          <p:cNvCxnSpPr>
            <a:stCxn id="805" idx="2"/>
            <a:endCxn id="802" idx="3"/>
          </p:cNvCxnSpPr>
          <p:nvPr/>
        </p:nvCxnSpPr>
        <p:spPr>
          <a:xfrm flipH="1">
            <a:off x="7134638" y="3559450"/>
            <a:ext cx="2955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6" name="Google Shape;806;p47"/>
          <p:cNvCxnSpPr>
            <a:stCxn id="807" idx="2"/>
            <a:endCxn id="802" idx="3"/>
          </p:cNvCxnSpPr>
          <p:nvPr/>
        </p:nvCxnSpPr>
        <p:spPr>
          <a:xfrm rot="10800000">
            <a:off x="7134638" y="3788050"/>
            <a:ext cx="2955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8" name="Google Shape;808;p47"/>
          <p:cNvSpPr/>
          <p:nvPr/>
        </p:nvSpPr>
        <p:spPr>
          <a:xfrm>
            <a:off x="80425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9" name="Google Shape;809;p47"/>
          <p:cNvCxnSpPr>
            <a:stCxn id="798" idx="3"/>
            <a:endCxn id="808" idx="1"/>
          </p:cNvCxnSpPr>
          <p:nvPr/>
        </p:nvCxnSpPr>
        <p:spPr>
          <a:xfrm>
            <a:off x="7134488" y="3178450"/>
            <a:ext cx="90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0" name="Google Shape;810;p47"/>
          <p:cNvCxnSpPr>
            <a:stCxn id="808" idx="2"/>
            <a:endCxn id="811" idx="0"/>
          </p:cNvCxnSpPr>
          <p:nvPr/>
        </p:nvCxnSpPr>
        <p:spPr>
          <a:xfrm>
            <a:off x="8121938" y="3257800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2" name="Google Shape;812;p47"/>
          <p:cNvCxnSpPr>
            <a:stCxn id="785" idx="3"/>
            <a:endCxn id="797" idx="1"/>
          </p:cNvCxnSpPr>
          <p:nvPr/>
        </p:nvCxnSpPr>
        <p:spPr>
          <a:xfrm>
            <a:off x="5686688" y="2797450"/>
            <a:ext cx="831900" cy="3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3" name="Google Shape;813;p47"/>
          <p:cNvSpPr txBox="1"/>
          <p:nvPr/>
        </p:nvSpPr>
        <p:spPr>
          <a:xfrm>
            <a:off x="3086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35439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47"/>
          <p:cNvSpPr txBox="1"/>
          <p:nvPr/>
        </p:nvSpPr>
        <p:spPr>
          <a:xfrm>
            <a:off x="40011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47"/>
          <p:cNvSpPr txBox="1"/>
          <p:nvPr/>
        </p:nvSpPr>
        <p:spPr>
          <a:xfrm>
            <a:off x="44583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47"/>
          <p:cNvSpPr txBox="1"/>
          <p:nvPr/>
        </p:nvSpPr>
        <p:spPr>
          <a:xfrm>
            <a:off x="49155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47"/>
          <p:cNvSpPr txBox="1"/>
          <p:nvPr/>
        </p:nvSpPr>
        <p:spPr>
          <a:xfrm>
            <a:off x="5372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4.6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47"/>
          <p:cNvSpPr/>
          <p:nvPr/>
        </p:nvSpPr>
        <p:spPr>
          <a:xfrm>
            <a:off x="775088" y="31697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47"/>
          <p:cNvSpPr/>
          <p:nvPr/>
        </p:nvSpPr>
        <p:spPr>
          <a:xfrm>
            <a:off x="775088" y="3626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47"/>
          <p:cNvSpPr txBox="1"/>
          <p:nvPr/>
        </p:nvSpPr>
        <p:spPr>
          <a:xfrm>
            <a:off x="775250" y="3627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775250" y="31698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47"/>
          <p:cNvSpPr/>
          <p:nvPr/>
        </p:nvSpPr>
        <p:spPr>
          <a:xfrm>
            <a:off x="1384688" y="42365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47"/>
          <p:cNvSpPr/>
          <p:nvPr/>
        </p:nvSpPr>
        <p:spPr>
          <a:xfrm>
            <a:off x="1841888" y="42365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47"/>
          <p:cNvSpPr txBox="1"/>
          <p:nvPr/>
        </p:nvSpPr>
        <p:spPr>
          <a:xfrm>
            <a:off x="13848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47"/>
          <p:cNvSpPr txBox="1"/>
          <p:nvPr/>
        </p:nvSpPr>
        <p:spPr>
          <a:xfrm>
            <a:off x="18420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47"/>
          <p:cNvSpPr/>
          <p:nvPr/>
        </p:nvSpPr>
        <p:spPr>
          <a:xfrm>
            <a:off x="1232288" y="2483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47"/>
          <p:cNvSpPr/>
          <p:nvPr/>
        </p:nvSpPr>
        <p:spPr>
          <a:xfrm>
            <a:off x="1613288" y="2483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47"/>
          <p:cNvSpPr/>
          <p:nvPr/>
        </p:nvSpPr>
        <p:spPr>
          <a:xfrm>
            <a:off x="1994288" y="2483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7"/>
          <p:cNvSpPr txBox="1"/>
          <p:nvPr/>
        </p:nvSpPr>
        <p:spPr>
          <a:xfrm>
            <a:off x="1232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47"/>
          <p:cNvSpPr txBox="1"/>
          <p:nvPr/>
        </p:nvSpPr>
        <p:spPr>
          <a:xfrm>
            <a:off x="1613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47"/>
          <p:cNvSpPr txBox="1"/>
          <p:nvPr/>
        </p:nvSpPr>
        <p:spPr>
          <a:xfrm>
            <a:off x="1994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8" name="Google Shape;778;p47"/>
          <p:cNvSpPr/>
          <p:nvPr/>
        </p:nvSpPr>
        <p:spPr>
          <a:xfrm>
            <a:off x="4001138" y="30200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47"/>
          <p:cNvSpPr txBox="1"/>
          <p:nvPr/>
        </p:nvSpPr>
        <p:spPr>
          <a:xfrm>
            <a:off x="4001150" y="30187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47"/>
          <p:cNvSpPr/>
          <p:nvPr/>
        </p:nvSpPr>
        <p:spPr>
          <a:xfrm>
            <a:off x="4915538" y="27914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47"/>
          <p:cNvSpPr txBox="1"/>
          <p:nvPr/>
        </p:nvSpPr>
        <p:spPr>
          <a:xfrm>
            <a:off x="4915550" y="27901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5" name="Google Shape;805;p47"/>
          <p:cNvSpPr/>
          <p:nvPr/>
        </p:nvSpPr>
        <p:spPr>
          <a:xfrm>
            <a:off x="7430138" y="34010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7" name="Google Shape;807;p47"/>
          <p:cNvSpPr/>
          <p:nvPr/>
        </p:nvSpPr>
        <p:spPr>
          <a:xfrm>
            <a:off x="7430138" y="38582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47"/>
          <p:cNvSpPr/>
          <p:nvPr/>
        </p:nvSpPr>
        <p:spPr>
          <a:xfrm>
            <a:off x="7963538" y="34010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47"/>
          <p:cNvSpPr txBox="1"/>
          <p:nvPr/>
        </p:nvSpPr>
        <p:spPr>
          <a:xfrm>
            <a:off x="74301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47"/>
          <p:cNvSpPr txBox="1"/>
          <p:nvPr/>
        </p:nvSpPr>
        <p:spPr>
          <a:xfrm>
            <a:off x="79635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47"/>
          <p:cNvSpPr txBox="1"/>
          <p:nvPr/>
        </p:nvSpPr>
        <p:spPr>
          <a:xfrm>
            <a:off x="7430150" y="38555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1" name="Google Shape;831;p47"/>
          <p:cNvSpPr txBox="1"/>
          <p:nvPr/>
        </p:nvSpPr>
        <p:spPr>
          <a:xfrm>
            <a:off x="1283975" y="2043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2" name="Google Shape;832;p47"/>
          <p:cNvSpPr txBox="1"/>
          <p:nvPr/>
        </p:nvSpPr>
        <p:spPr>
          <a:xfrm>
            <a:off x="4229450" y="18885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47"/>
          <p:cNvSpPr txBox="1"/>
          <p:nvPr/>
        </p:nvSpPr>
        <p:spPr>
          <a:xfrm>
            <a:off x="6938750" y="253777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47"/>
          <p:cNvSpPr txBox="1"/>
          <p:nvPr/>
        </p:nvSpPr>
        <p:spPr>
          <a:xfrm>
            <a:off x="3922850" y="355652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3788438" y="3837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47"/>
          <p:cNvCxnSpPr>
            <a:stCxn id="756" idx="3"/>
          </p:cNvCxnSpPr>
          <p:nvPr/>
        </p:nvCxnSpPr>
        <p:spPr>
          <a:xfrm>
            <a:off x="1851038" y="3175750"/>
            <a:ext cx="679500" cy="3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7" name="Google Shape;837;p47"/>
          <p:cNvCxnSpPr/>
          <p:nvPr/>
        </p:nvCxnSpPr>
        <p:spPr>
          <a:xfrm rot="10800000" flipH="1">
            <a:off x="2689238" y="2797450"/>
            <a:ext cx="933900" cy="75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5" name="Google Shape;765;p47"/>
          <p:cNvSpPr/>
          <p:nvPr/>
        </p:nvSpPr>
        <p:spPr>
          <a:xfrm>
            <a:off x="2407838" y="341425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3601401" y="2654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38" name="Google Shape;838;p47"/>
          <p:cNvGraphicFramePr/>
          <p:nvPr/>
        </p:nvGraphicFramePr>
        <p:xfrm>
          <a:off x="6746532" y="60470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F8342A-3276-E5C3-5048-145E289BCF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8"/>
          <p:cNvSpPr/>
          <p:nvPr/>
        </p:nvSpPr>
        <p:spPr>
          <a:xfrm>
            <a:off x="2728625" y="3788050"/>
            <a:ext cx="3365100" cy="12177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8"/>
          <p:cNvCxnSpPr>
            <a:stCxn id="845" idx="0"/>
            <a:endCxn id="846" idx="2"/>
          </p:cNvCxnSpPr>
          <p:nvPr/>
        </p:nvCxnSpPr>
        <p:spPr>
          <a:xfrm rot="10800000" flipH="1">
            <a:off x="41595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7" name="Google Shape;847;p48"/>
          <p:cNvCxnSpPr>
            <a:stCxn id="848" idx="0"/>
            <a:endCxn id="846" idx="2"/>
          </p:cNvCxnSpPr>
          <p:nvPr/>
        </p:nvCxnSpPr>
        <p:spPr>
          <a:xfrm rot="10800000">
            <a:off x="43881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9" name="Google Shape;849;p48"/>
          <p:cNvCxnSpPr>
            <a:stCxn id="850" idx="0"/>
            <a:endCxn id="851" idx="2"/>
          </p:cNvCxnSpPr>
          <p:nvPr/>
        </p:nvCxnSpPr>
        <p:spPr>
          <a:xfrm rot="10800000" flipH="1">
            <a:off x="50739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2" name="Google Shape;852;p48"/>
          <p:cNvCxnSpPr>
            <a:stCxn id="853" idx="0"/>
            <a:endCxn id="851" idx="2"/>
          </p:cNvCxnSpPr>
          <p:nvPr/>
        </p:nvCxnSpPr>
        <p:spPr>
          <a:xfrm rot="10800000">
            <a:off x="53025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4" name="Google Shape;854;p48"/>
          <p:cNvCxnSpPr>
            <a:stCxn id="855" idx="0"/>
            <a:endCxn id="856" idx="2"/>
          </p:cNvCxnSpPr>
          <p:nvPr/>
        </p:nvCxnSpPr>
        <p:spPr>
          <a:xfrm rot="10800000" flipH="1">
            <a:off x="32451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7" name="Google Shape;857;p48"/>
          <p:cNvCxnSpPr>
            <a:stCxn id="858" idx="0"/>
            <a:endCxn id="856" idx="2"/>
          </p:cNvCxnSpPr>
          <p:nvPr/>
        </p:nvCxnSpPr>
        <p:spPr>
          <a:xfrm rot="10800000">
            <a:off x="3473738" y="4324750"/>
            <a:ext cx="228600" cy="14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9" name="Google Shape;859;p48"/>
          <p:cNvSpPr/>
          <p:nvPr/>
        </p:nvSpPr>
        <p:spPr>
          <a:xfrm>
            <a:off x="6236588" y="2800750"/>
            <a:ext cx="2236200" cy="14475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48"/>
          <p:cNvSpPr/>
          <p:nvPr/>
        </p:nvSpPr>
        <p:spPr>
          <a:xfrm>
            <a:off x="3553088" y="2131606"/>
            <a:ext cx="2184600" cy="13293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671213" y="2284525"/>
            <a:ext cx="2057400" cy="24063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863" name="Google Shape;863;p4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195400" cy="13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Hierarchical addressing limits </a:t>
            </a:r>
            <a:r>
              <a:rPr lang="en" i="1"/>
              <a:t>table churn</a:t>
            </a:r>
            <a:r>
              <a:rPr lang="en"/>
              <a:t>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Changes inside a network don't affect tables in other networks.</a:t>
            </a:r>
            <a:endParaRPr/>
          </a:p>
        </p:txBody>
      </p:sp>
      <p:cxnSp>
        <p:nvCxnSpPr>
          <p:cNvPr id="864" name="Google Shape;864;p48"/>
          <p:cNvCxnSpPr>
            <a:stCxn id="865" idx="6"/>
            <a:endCxn id="866" idx="1"/>
          </p:cNvCxnSpPr>
          <p:nvPr/>
        </p:nvCxnSpPr>
        <p:spPr>
          <a:xfrm>
            <a:off x="1091888" y="3328150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6" name="Google Shape;866;p48"/>
          <p:cNvSpPr/>
          <p:nvPr/>
        </p:nvSpPr>
        <p:spPr>
          <a:xfrm>
            <a:off x="1311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7" name="Google Shape;867;p48"/>
          <p:cNvCxnSpPr>
            <a:stCxn id="868" idx="6"/>
            <a:endCxn id="866" idx="1"/>
          </p:cNvCxnSpPr>
          <p:nvPr/>
        </p:nvCxnSpPr>
        <p:spPr>
          <a:xfrm rot="10800000" flipH="1">
            <a:off x="1091888" y="3556750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9" name="Google Shape;869;p48"/>
          <p:cNvSpPr/>
          <p:nvPr/>
        </p:nvSpPr>
        <p:spPr>
          <a:xfrm>
            <a:off x="1692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48"/>
          <p:cNvCxnSpPr>
            <a:stCxn id="866" idx="3"/>
            <a:endCxn id="869" idx="1"/>
          </p:cNvCxnSpPr>
          <p:nvPr/>
        </p:nvCxnSpPr>
        <p:spPr>
          <a:xfrm>
            <a:off x="1470038" y="355675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1" name="Google Shape;871;p48"/>
          <p:cNvSpPr/>
          <p:nvPr/>
        </p:nvSpPr>
        <p:spPr>
          <a:xfrm>
            <a:off x="2073338" y="3477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2" name="Google Shape;872;p48"/>
          <p:cNvCxnSpPr>
            <a:stCxn id="869" idx="3"/>
            <a:endCxn id="871" idx="1"/>
          </p:cNvCxnSpPr>
          <p:nvPr/>
        </p:nvCxnSpPr>
        <p:spPr>
          <a:xfrm>
            <a:off x="1851038" y="3556750"/>
            <a:ext cx="222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3" name="Google Shape;873;p48"/>
          <p:cNvSpPr/>
          <p:nvPr/>
        </p:nvSpPr>
        <p:spPr>
          <a:xfrm>
            <a:off x="1692338" y="3858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48"/>
          <p:cNvCxnSpPr>
            <a:stCxn id="873" idx="0"/>
            <a:endCxn id="869" idx="2"/>
          </p:cNvCxnSpPr>
          <p:nvPr/>
        </p:nvCxnSpPr>
        <p:spPr>
          <a:xfrm rot="10800000">
            <a:off x="1771688" y="3636100"/>
            <a:ext cx="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5" name="Google Shape;875;p48"/>
          <p:cNvSpPr/>
          <p:nvPr/>
        </p:nvSpPr>
        <p:spPr>
          <a:xfrm>
            <a:off x="1692338" y="30964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6" name="Google Shape;876;p48"/>
          <p:cNvCxnSpPr>
            <a:stCxn id="869" idx="0"/>
            <a:endCxn id="875" idx="2"/>
          </p:cNvCxnSpPr>
          <p:nvPr/>
        </p:nvCxnSpPr>
        <p:spPr>
          <a:xfrm rot="10800000">
            <a:off x="1771688" y="3255100"/>
            <a:ext cx="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48"/>
          <p:cNvCxnSpPr>
            <a:stCxn id="878" idx="4"/>
            <a:endCxn id="875" idx="0"/>
          </p:cNvCxnSpPr>
          <p:nvPr/>
        </p:nvCxnSpPr>
        <p:spPr>
          <a:xfrm>
            <a:off x="1390688" y="280075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48"/>
          <p:cNvCxnSpPr>
            <a:stCxn id="880" idx="4"/>
            <a:endCxn id="875" idx="0"/>
          </p:cNvCxnSpPr>
          <p:nvPr/>
        </p:nvCxnSpPr>
        <p:spPr>
          <a:xfrm>
            <a:off x="1771688" y="2800750"/>
            <a:ext cx="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48"/>
          <p:cNvCxnSpPr>
            <a:stCxn id="882" idx="4"/>
            <a:endCxn id="875" idx="0"/>
          </p:cNvCxnSpPr>
          <p:nvPr/>
        </p:nvCxnSpPr>
        <p:spPr>
          <a:xfrm flipH="1">
            <a:off x="1771688" y="280075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48"/>
          <p:cNvCxnSpPr>
            <a:stCxn id="871" idx="3"/>
            <a:endCxn id="884" idx="1"/>
          </p:cNvCxnSpPr>
          <p:nvPr/>
        </p:nvCxnSpPr>
        <p:spPr>
          <a:xfrm>
            <a:off x="2232038" y="3556750"/>
            <a:ext cx="175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5" name="Google Shape;885;p48"/>
          <p:cNvCxnSpPr>
            <a:stCxn id="873" idx="3"/>
            <a:endCxn id="871" idx="2"/>
          </p:cNvCxnSpPr>
          <p:nvPr/>
        </p:nvCxnSpPr>
        <p:spPr>
          <a:xfrm rot="10800000" flipH="1">
            <a:off x="1851038" y="3636250"/>
            <a:ext cx="301800" cy="30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6" name="Google Shape;886;p48"/>
          <p:cNvCxnSpPr>
            <a:stCxn id="887" idx="0"/>
            <a:endCxn id="873" idx="2"/>
          </p:cNvCxnSpPr>
          <p:nvPr/>
        </p:nvCxnSpPr>
        <p:spPr>
          <a:xfrm rot="10800000" flipH="1">
            <a:off x="1543088" y="4017250"/>
            <a:ext cx="2286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8" name="Google Shape;888;p48"/>
          <p:cNvCxnSpPr>
            <a:stCxn id="889" idx="0"/>
            <a:endCxn id="873" idx="2"/>
          </p:cNvCxnSpPr>
          <p:nvPr/>
        </p:nvCxnSpPr>
        <p:spPr>
          <a:xfrm rot="10800000">
            <a:off x="1771688" y="4017250"/>
            <a:ext cx="2286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0" name="Google Shape;890;p48"/>
          <p:cNvSpPr/>
          <p:nvPr/>
        </p:nvSpPr>
        <p:spPr>
          <a:xfrm>
            <a:off x="40801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48"/>
          <p:cNvSpPr/>
          <p:nvPr/>
        </p:nvSpPr>
        <p:spPr>
          <a:xfrm>
            <a:off x="4080188" y="2260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48"/>
          <p:cNvCxnSpPr>
            <a:stCxn id="893" idx="3"/>
            <a:endCxn id="890" idx="1"/>
          </p:cNvCxnSpPr>
          <p:nvPr/>
        </p:nvCxnSpPr>
        <p:spPr>
          <a:xfrm>
            <a:off x="3886401" y="2797450"/>
            <a:ext cx="193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4" name="Google Shape;894;p48"/>
          <p:cNvCxnSpPr>
            <a:stCxn id="890" idx="0"/>
            <a:endCxn id="891" idx="2"/>
          </p:cNvCxnSpPr>
          <p:nvPr/>
        </p:nvCxnSpPr>
        <p:spPr>
          <a:xfrm rot="10800000">
            <a:off x="4159538" y="2419600"/>
            <a:ext cx="0" cy="29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5" name="Google Shape;895;p48"/>
          <p:cNvSpPr/>
          <p:nvPr/>
        </p:nvSpPr>
        <p:spPr>
          <a:xfrm>
            <a:off x="4537388" y="28705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6" name="Google Shape;896;p48"/>
          <p:cNvCxnSpPr>
            <a:stCxn id="897" idx="0"/>
            <a:endCxn id="890" idx="2"/>
          </p:cNvCxnSpPr>
          <p:nvPr/>
        </p:nvCxnSpPr>
        <p:spPr>
          <a:xfrm rot="10800000">
            <a:off x="4159538" y="2876950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8" name="Google Shape;898;p48"/>
          <p:cNvCxnSpPr>
            <a:stCxn id="890" idx="3"/>
            <a:endCxn id="895" idx="1"/>
          </p:cNvCxnSpPr>
          <p:nvPr/>
        </p:nvCxnSpPr>
        <p:spPr>
          <a:xfrm>
            <a:off x="4238888" y="2797450"/>
            <a:ext cx="298500" cy="1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9" name="Google Shape;899;p48"/>
          <p:cNvCxnSpPr>
            <a:stCxn id="891" idx="3"/>
            <a:endCxn id="900" idx="1"/>
          </p:cNvCxnSpPr>
          <p:nvPr/>
        </p:nvCxnSpPr>
        <p:spPr>
          <a:xfrm>
            <a:off x="4238888" y="2340250"/>
            <a:ext cx="527100" cy="152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0" name="Google Shape;900;p48"/>
          <p:cNvSpPr/>
          <p:nvPr/>
        </p:nvSpPr>
        <p:spPr>
          <a:xfrm>
            <a:off x="4765988" y="24133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1" name="Google Shape;901;p48"/>
          <p:cNvCxnSpPr>
            <a:stCxn id="895" idx="0"/>
            <a:endCxn id="900" idx="2"/>
          </p:cNvCxnSpPr>
          <p:nvPr/>
        </p:nvCxnSpPr>
        <p:spPr>
          <a:xfrm rot="10800000" flipH="1">
            <a:off x="4616738" y="2572000"/>
            <a:ext cx="228600" cy="29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2" name="Google Shape;902;p48"/>
          <p:cNvCxnSpPr>
            <a:stCxn id="895" idx="3"/>
            <a:endCxn id="903" idx="2"/>
          </p:cNvCxnSpPr>
          <p:nvPr/>
        </p:nvCxnSpPr>
        <p:spPr>
          <a:xfrm>
            <a:off x="4696088" y="2949850"/>
            <a:ext cx="21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4" name="Google Shape;904;p48"/>
          <p:cNvSpPr/>
          <p:nvPr/>
        </p:nvSpPr>
        <p:spPr>
          <a:xfrm>
            <a:off x="5527988" y="2718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5" name="Google Shape;905;p48"/>
          <p:cNvCxnSpPr>
            <a:stCxn id="900" idx="3"/>
            <a:endCxn id="904" idx="1"/>
          </p:cNvCxnSpPr>
          <p:nvPr/>
        </p:nvCxnSpPr>
        <p:spPr>
          <a:xfrm>
            <a:off x="4924688" y="2492650"/>
            <a:ext cx="603300" cy="30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6" name="Google Shape;906;p48"/>
          <p:cNvSpPr/>
          <p:nvPr/>
        </p:nvSpPr>
        <p:spPr>
          <a:xfrm>
            <a:off x="4689788" y="32515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7" name="Google Shape;907;p48"/>
          <p:cNvCxnSpPr>
            <a:stCxn id="906" idx="0"/>
            <a:endCxn id="895" idx="2"/>
          </p:cNvCxnSpPr>
          <p:nvPr/>
        </p:nvCxnSpPr>
        <p:spPr>
          <a:xfrm rot="10800000">
            <a:off x="4616738" y="3029200"/>
            <a:ext cx="152400" cy="222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8" name="Google Shape;908;p48"/>
          <p:cNvSpPr/>
          <p:nvPr/>
        </p:nvSpPr>
        <p:spPr>
          <a:xfrm>
            <a:off x="4765988" y="386755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6" name="Google Shape;856;p48"/>
          <p:cNvSpPr/>
          <p:nvPr/>
        </p:nvSpPr>
        <p:spPr>
          <a:xfrm>
            <a:off x="33943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48"/>
          <p:cNvSpPr/>
          <p:nvPr/>
        </p:nvSpPr>
        <p:spPr>
          <a:xfrm>
            <a:off x="43087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48"/>
          <p:cNvSpPr/>
          <p:nvPr/>
        </p:nvSpPr>
        <p:spPr>
          <a:xfrm>
            <a:off x="5223188" y="41659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48"/>
          <p:cNvSpPr/>
          <p:nvPr/>
        </p:nvSpPr>
        <p:spPr>
          <a:xfrm>
            <a:off x="35439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48"/>
          <p:cNvSpPr/>
          <p:nvPr/>
        </p:nvSpPr>
        <p:spPr>
          <a:xfrm>
            <a:off x="30867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8" name="Google Shape;848;p48"/>
          <p:cNvSpPr/>
          <p:nvPr/>
        </p:nvSpPr>
        <p:spPr>
          <a:xfrm>
            <a:off x="44583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5" name="Google Shape;845;p48"/>
          <p:cNvSpPr/>
          <p:nvPr/>
        </p:nvSpPr>
        <p:spPr>
          <a:xfrm>
            <a:off x="40011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3" name="Google Shape;853;p48"/>
          <p:cNvSpPr/>
          <p:nvPr/>
        </p:nvSpPr>
        <p:spPr>
          <a:xfrm>
            <a:off x="5372738" y="4465150"/>
            <a:ext cx="316800" cy="316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48"/>
          <p:cNvSpPr/>
          <p:nvPr/>
        </p:nvSpPr>
        <p:spPr>
          <a:xfrm>
            <a:off x="4915538" y="44651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9" name="Google Shape;909;p48"/>
          <p:cNvCxnSpPr>
            <a:stCxn id="856" idx="0"/>
            <a:endCxn id="910" idx="2"/>
          </p:cNvCxnSpPr>
          <p:nvPr/>
        </p:nvCxnSpPr>
        <p:spPr>
          <a:xfrm rot="10800000" flipH="1">
            <a:off x="34737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48"/>
          <p:cNvCxnSpPr>
            <a:stCxn id="846" idx="0"/>
            <a:endCxn id="910" idx="2"/>
          </p:cNvCxnSpPr>
          <p:nvPr/>
        </p:nvCxnSpPr>
        <p:spPr>
          <a:xfrm rot="10800000">
            <a:off x="39309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2" name="Google Shape;912;p48"/>
          <p:cNvCxnSpPr>
            <a:stCxn id="851" idx="0"/>
            <a:endCxn id="908" idx="2"/>
          </p:cNvCxnSpPr>
          <p:nvPr/>
        </p:nvCxnSpPr>
        <p:spPr>
          <a:xfrm rot="10800000">
            <a:off x="48453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3" name="Google Shape;913;p48"/>
          <p:cNvCxnSpPr>
            <a:stCxn id="846" idx="0"/>
            <a:endCxn id="908" idx="2"/>
          </p:cNvCxnSpPr>
          <p:nvPr/>
        </p:nvCxnSpPr>
        <p:spPr>
          <a:xfrm rot="10800000" flipH="1">
            <a:off x="4388138" y="4026400"/>
            <a:ext cx="457200" cy="13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4" name="Google Shape;914;p48"/>
          <p:cNvCxnSpPr>
            <a:stCxn id="908" idx="0"/>
            <a:endCxn id="906" idx="2"/>
          </p:cNvCxnSpPr>
          <p:nvPr/>
        </p:nvCxnSpPr>
        <p:spPr>
          <a:xfrm rot="10800000">
            <a:off x="4769138" y="3410350"/>
            <a:ext cx="76200" cy="45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5" name="Google Shape;915;p48"/>
          <p:cNvCxnSpPr>
            <a:stCxn id="884" idx="3"/>
            <a:endCxn id="910" idx="0"/>
          </p:cNvCxnSpPr>
          <p:nvPr/>
        </p:nvCxnSpPr>
        <p:spPr>
          <a:xfrm>
            <a:off x="2692838" y="3556750"/>
            <a:ext cx="1238100" cy="31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6" name="Google Shape;916;p48"/>
          <p:cNvSpPr/>
          <p:nvPr/>
        </p:nvSpPr>
        <p:spPr>
          <a:xfrm>
            <a:off x="65185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48"/>
          <p:cNvSpPr/>
          <p:nvPr/>
        </p:nvSpPr>
        <p:spPr>
          <a:xfrm>
            <a:off x="69757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8" name="Google Shape;918;p48"/>
          <p:cNvCxnSpPr>
            <a:stCxn id="916" idx="3"/>
            <a:endCxn id="917" idx="1"/>
          </p:cNvCxnSpPr>
          <p:nvPr/>
        </p:nvCxnSpPr>
        <p:spPr>
          <a:xfrm>
            <a:off x="6677288" y="31784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9" name="Google Shape;919;p48"/>
          <p:cNvSpPr/>
          <p:nvPr/>
        </p:nvSpPr>
        <p:spPr>
          <a:xfrm>
            <a:off x="6518588" y="37087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0" name="Google Shape;920;p48"/>
          <p:cNvCxnSpPr>
            <a:stCxn id="916" idx="2"/>
            <a:endCxn id="919" idx="0"/>
          </p:cNvCxnSpPr>
          <p:nvPr/>
        </p:nvCxnSpPr>
        <p:spPr>
          <a:xfrm>
            <a:off x="6597938" y="3257800"/>
            <a:ext cx="0" cy="45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1" name="Google Shape;921;p48"/>
          <p:cNvSpPr/>
          <p:nvPr/>
        </p:nvSpPr>
        <p:spPr>
          <a:xfrm>
            <a:off x="6975788" y="37087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2" name="Google Shape;922;p48"/>
          <p:cNvCxnSpPr>
            <a:stCxn id="921" idx="1"/>
            <a:endCxn id="919" idx="3"/>
          </p:cNvCxnSpPr>
          <p:nvPr/>
        </p:nvCxnSpPr>
        <p:spPr>
          <a:xfrm rot="10800000">
            <a:off x="6677288" y="3788050"/>
            <a:ext cx="29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3" name="Google Shape;923;p48"/>
          <p:cNvCxnSpPr>
            <a:stCxn id="924" idx="2"/>
            <a:endCxn id="921" idx="3"/>
          </p:cNvCxnSpPr>
          <p:nvPr/>
        </p:nvCxnSpPr>
        <p:spPr>
          <a:xfrm flipH="1">
            <a:off x="7134638" y="3559450"/>
            <a:ext cx="2955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5" name="Google Shape;925;p48"/>
          <p:cNvCxnSpPr>
            <a:stCxn id="926" idx="2"/>
            <a:endCxn id="921" idx="3"/>
          </p:cNvCxnSpPr>
          <p:nvPr/>
        </p:nvCxnSpPr>
        <p:spPr>
          <a:xfrm rot="10800000">
            <a:off x="7134638" y="3788050"/>
            <a:ext cx="2955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7" name="Google Shape;927;p48"/>
          <p:cNvSpPr/>
          <p:nvPr/>
        </p:nvSpPr>
        <p:spPr>
          <a:xfrm>
            <a:off x="8042588" y="3099100"/>
            <a:ext cx="158700" cy="15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48"/>
          <p:cNvCxnSpPr>
            <a:stCxn id="917" idx="3"/>
            <a:endCxn id="927" idx="1"/>
          </p:cNvCxnSpPr>
          <p:nvPr/>
        </p:nvCxnSpPr>
        <p:spPr>
          <a:xfrm>
            <a:off x="7134488" y="3178450"/>
            <a:ext cx="908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9" name="Google Shape;929;p48"/>
          <p:cNvCxnSpPr>
            <a:stCxn id="927" idx="2"/>
            <a:endCxn id="930" idx="0"/>
          </p:cNvCxnSpPr>
          <p:nvPr/>
        </p:nvCxnSpPr>
        <p:spPr>
          <a:xfrm>
            <a:off x="8121938" y="3257800"/>
            <a:ext cx="0" cy="143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1" name="Google Shape;931;p48"/>
          <p:cNvCxnSpPr>
            <a:stCxn id="904" idx="3"/>
            <a:endCxn id="916" idx="1"/>
          </p:cNvCxnSpPr>
          <p:nvPr/>
        </p:nvCxnSpPr>
        <p:spPr>
          <a:xfrm>
            <a:off x="5686688" y="2797450"/>
            <a:ext cx="831900" cy="3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2" name="Google Shape;932;p48"/>
          <p:cNvSpPr txBox="1"/>
          <p:nvPr/>
        </p:nvSpPr>
        <p:spPr>
          <a:xfrm>
            <a:off x="30867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48"/>
          <p:cNvSpPr txBox="1"/>
          <p:nvPr/>
        </p:nvSpPr>
        <p:spPr>
          <a:xfrm>
            <a:off x="35439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4" name="Google Shape;934;p48"/>
          <p:cNvSpPr txBox="1"/>
          <p:nvPr/>
        </p:nvSpPr>
        <p:spPr>
          <a:xfrm>
            <a:off x="40011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48"/>
          <p:cNvSpPr txBox="1"/>
          <p:nvPr/>
        </p:nvSpPr>
        <p:spPr>
          <a:xfrm>
            <a:off x="44583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48"/>
          <p:cNvSpPr txBox="1"/>
          <p:nvPr/>
        </p:nvSpPr>
        <p:spPr>
          <a:xfrm>
            <a:off x="4915550" y="44653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4.5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48"/>
          <p:cNvSpPr/>
          <p:nvPr/>
        </p:nvSpPr>
        <p:spPr>
          <a:xfrm>
            <a:off x="775088" y="31697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8" name="Google Shape;868;p48"/>
          <p:cNvSpPr/>
          <p:nvPr/>
        </p:nvSpPr>
        <p:spPr>
          <a:xfrm>
            <a:off x="775088" y="3626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8"/>
          <p:cNvSpPr txBox="1"/>
          <p:nvPr/>
        </p:nvSpPr>
        <p:spPr>
          <a:xfrm>
            <a:off x="775250" y="3627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48"/>
          <p:cNvSpPr txBox="1"/>
          <p:nvPr/>
        </p:nvSpPr>
        <p:spPr>
          <a:xfrm>
            <a:off x="775250" y="31698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7" name="Google Shape;887;p48"/>
          <p:cNvSpPr/>
          <p:nvPr/>
        </p:nvSpPr>
        <p:spPr>
          <a:xfrm>
            <a:off x="1384688" y="42365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48"/>
          <p:cNvSpPr/>
          <p:nvPr/>
        </p:nvSpPr>
        <p:spPr>
          <a:xfrm>
            <a:off x="1841888" y="42365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48"/>
          <p:cNvSpPr txBox="1"/>
          <p:nvPr/>
        </p:nvSpPr>
        <p:spPr>
          <a:xfrm>
            <a:off x="13848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8"/>
          <p:cNvSpPr txBox="1"/>
          <p:nvPr/>
        </p:nvSpPr>
        <p:spPr>
          <a:xfrm>
            <a:off x="1842050" y="42366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48"/>
          <p:cNvSpPr/>
          <p:nvPr/>
        </p:nvSpPr>
        <p:spPr>
          <a:xfrm>
            <a:off x="1232288" y="2483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0" name="Google Shape;880;p48"/>
          <p:cNvSpPr/>
          <p:nvPr/>
        </p:nvSpPr>
        <p:spPr>
          <a:xfrm>
            <a:off x="1613288" y="2483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48"/>
          <p:cNvSpPr/>
          <p:nvPr/>
        </p:nvSpPr>
        <p:spPr>
          <a:xfrm>
            <a:off x="1994288" y="24839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8"/>
          <p:cNvSpPr txBox="1"/>
          <p:nvPr/>
        </p:nvSpPr>
        <p:spPr>
          <a:xfrm>
            <a:off x="1232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8"/>
          <p:cNvSpPr txBox="1"/>
          <p:nvPr/>
        </p:nvSpPr>
        <p:spPr>
          <a:xfrm>
            <a:off x="1613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48"/>
          <p:cNvSpPr txBox="1"/>
          <p:nvPr/>
        </p:nvSpPr>
        <p:spPr>
          <a:xfrm>
            <a:off x="1994450" y="248402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7" name="Google Shape;897;p48"/>
          <p:cNvSpPr/>
          <p:nvPr/>
        </p:nvSpPr>
        <p:spPr>
          <a:xfrm>
            <a:off x="4001138" y="30200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4" name="Google Shape;944;p48"/>
          <p:cNvSpPr txBox="1"/>
          <p:nvPr/>
        </p:nvSpPr>
        <p:spPr>
          <a:xfrm>
            <a:off x="4001150" y="30187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48"/>
          <p:cNvSpPr/>
          <p:nvPr/>
        </p:nvSpPr>
        <p:spPr>
          <a:xfrm>
            <a:off x="4915538" y="27914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48"/>
          <p:cNvSpPr txBox="1"/>
          <p:nvPr/>
        </p:nvSpPr>
        <p:spPr>
          <a:xfrm>
            <a:off x="4915550" y="279010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1.2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4" name="Google Shape;924;p48"/>
          <p:cNvSpPr/>
          <p:nvPr/>
        </p:nvSpPr>
        <p:spPr>
          <a:xfrm>
            <a:off x="7430138" y="34010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7430138" y="38582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7963538" y="3401050"/>
            <a:ext cx="316800" cy="3168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6" name="Google Shape;946;p48"/>
          <p:cNvSpPr txBox="1"/>
          <p:nvPr/>
        </p:nvSpPr>
        <p:spPr>
          <a:xfrm>
            <a:off x="74301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3.1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48"/>
          <p:cNvSpPr txBox="1"/>
          <p:nvPr/>
        </p:nvSpPr>
        <p:spPr>
          <a:xfrm>
            <a:off x="7963550" y="33983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3.2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48"/>
          <p:cNvSpPr txBox="1"/>
          <p:nvPr/>
        </p:nvSpPr>
        <p:spPr>
          <a:xfrm>
            <a:off x="7430150" y="3855550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3.3</a:t>
            </a:r>
            <a:endParaRPr sz="12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48"/>
          <p:cNvSpPr txBox="1"/>
          <p:nvPr/>
        </p:nvSpPr>
        <p:spPr>
          <a:xfrm>
            <a:off x="1283975" y="2043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4229450" y="18885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48"/>
          <p:cNvSpPr txBox="1"/>
          <p:nvPr/>
        </p:nvSpPr>
        <p:spPr>
          <a:xfrm>
            <a:off x="6938750" y="253777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2" name="Google Shape;952;p48"/>
          <p:cNvSpPr txBox="1"/>
          <p:nvPr/>
        </p:nvSpPr>
        <p:spPr>
          <a:xfrm>
            <a:off x="3922850" y="3556525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48"/>
          <p:cNvSpPr/>
          <p:nvPr/>
        </p:nvSpPr>
        <p:spPr>
          <a:xfrm>
            <a:off x="3788438" y="38372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4" name="Google Shape;954;p48"/>
          <p:cNvCxnSpPr>
            <a:stCxn id="875" idx="3"/>
          </p:cNvCxnSpPr>
          <p:nvPr/>
        </p:nvCxnSpPr>
        <p:spPr>
          <a:xfrm>
            <a:off x="1851038" y="3175750"/>
            <a:ext cx="679500" cy="381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5" name="Google Shape;955;p48"/>
          <p:cNvCxnSpPr/>
          <p:nvPr/>
        </p:nvCxnSpPr>
        <p:spPr>
          <a:xfrm rot="10800000" flipH="1">
            <a:off x="2689238" y="2797450"/>
            <a:ext cx="933900" cy="75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4" name="Google Shape;884;p48"/>
          <p:cNvSpPr/>
          <p:nvPr/>
        </p:nvSpPr>
        <p:spPr>
          <a:xfrm>
            <a:off x="2407838" y="341425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48"/>
          <p:cNvSpPr/>
          <p:nvPr/>
        </p:nvSpPr>
        <p:spPr>
          <a:xfrm>
            <a:off x="3601401" y="265495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56" name="Google Shape;956;p48"/>
          <p:cNvGraphicFramePr/>
          <p:nvPr/>
        </p:nvGraphicFramePr>
        <p:xfrm>
          <a:off x="6746532" y="604700"/>
          <a:ext cx="1888700" cy="14385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9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957" name="Google Shape;957;p48"/>
          <p:cNvCxnSpPr>
            <a:stCxn id="958" idx="1"/>
            <a:endCxn id="853" idx="6"/>
          </p:cNvCxnSpPr>
          <p:nvPr/>
        </p:nvCxnSpPr>
        <p:spPr>
          <a:xfrm rot="10800000">
            <a:off x="5689550" y="4623550"/>
            <a:ext cx="7689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8" name="Google Shape;958;p48"/>
          <p:cNvSpPr txBox="1"/>
          <p:nvPr/>
        </p:nvSpPr>
        <p:spPr>
          <a:xfrm>
            <a:off x="6458450" y="4488100"/>
            <a:ext cx="16890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4.6 left the network!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48"/>
          <p:cNvCxnSpPr>
            <a:stCxn id="960" idx="3"/>
          </p:cNvCxnSpPr>
          <p:nvPr/>
        </p:nvCxnSpPr>
        <p:spPr>
          <a:xfrm>
            <a:off x="6461650" y="1645350"/>
            <a:ext cx="292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1" name="Google Shape;961;p48"/>
          <p:cNvSpPr txBox="1"/>
          <p:nvPr/>
        </p:nvSpPr>
        <p:spPr>
          <a:xfrm>
            <a:off x="5507531" y="1296602"/>
            <a:ext cx="1159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 change in table entry!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E5B9B1-9F5C-E337-D9AA-179F81EDAC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9"/>
          <p:cNvSpPr/>
          <p:nvPr/>
        </p:nvSpPr>
        <p:spPr>
          <a:xfrm>
            <a:off x="3529024" y="4021825"/>
            <a:ext cx="1043100" cy="5232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49"/>
          <p:cNvSpPr txBox="1"/>
          <p:nvPr/>
        </p:nvSpPr>
        <p:spPr>
          <a:xfrm>
            <a:off x="3612000" y="37734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49"/>
          <p:cNvSpPr txBox="1"/>
          <p:nvPr/>
        </p:nvSpPr>
        <p:spPr>
          <a:xfrm>
            <a:off x="4089900" y="41757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3529024" y="2574025"/>
            <a:ext cx="1043100" cy="5232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9"/>
          <p:cNvCxnSpPr>
            <a:stCxn id="971" idx="3"/>
            <a:endCxn id="972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3" name="Google Shape;973;p49"/>
          <p:cNvSpPr/>
          <p:nvPr/>
        </p:nvSpPr>
        <p:spPr>
          <a:xfrm>
            <a:off x="259300" y="2116225"/>
            <a:ext cx="2850600" cy="28506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4" name="Google Shape;974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Addressing – Conceptual</a:t>
            </a:r>
            <a:endParaRPr/>
          </a:p>
        </p:txBody>
      </p:sp>
      <p:sp>
        <p:nvSpPr>
          <p:cNvPr id="975" name="Google Shape;975;p4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Size of the forwarding table scales with </a:t>
            </a:r>
            <a:r>
              <a:rPr lang="en">
                <a:solidFill>
                  <a:srgbClr val="38761D"/>
                </a:solidFill>
              </a:rPr>
              <a:t>number of hosts in the current network</a:t>
            </a:r>
            <a:r>
              <a:rPr lang="en"/>
              <a:t>, plus </a:t>
            </a:r>
            <a:r>
              <a:rPr lang="en">
                <a:solidFill>
                  <a:schemeClr val="accent3"/>
                </a:solidFill>
              </a:rPr>
              <a:t>number of other networks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scaling improvement! Much better than listing every single host.</a:t>
            </a:r>
            <a:endParaRPr/>
          </a:p>
        </p:txBody>
      </p:sp>
      <p:cxnSp>
        <p:nvCxnSpPr>
          <p:cNvPr id="976" name="Google Shape;976;p49"/>
          <p:cNvCxnSpPr>
            <a:stCxn id="977" idx="3"/>
            <a:endCxn id="978" idx="1"/>
          </p:cNvCxnSpPr>
          <p:nvPr/>
        </p:nvCxnSpPr>
        <p:spPr>
          <a:xfrm>
            <a:off x="3044863" y="3578100"/>
            <a:ext cx="641100" cy="70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9" name="Google Shape;979;p49"/>
          <p:cNvSpPr txBox="1"/>
          <p:nvPr/>
        </p:nvSpPr>
        <p:spPr>
          <a:xfrm>
            <a:off x="1268650" y="1878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0" name="Google Shape;980;p49"/>
          <p:cNvCxnSpPr>
            <a:stCxn id="977" idx="3"/>
            <a:endCxn id="981" idx="1"/>
          </p:cNvCxnSpPr>
          <p:nvPr/>
        </p:nvCxnSpPr>
        <p:spPr>
          <a:xfrm rot="10800000" flipH="1">
            <a:off x="3044863" y="2835600"/>
            <a:ext cx="641100" cy="74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982" name="Google Shape;982;p49"/>
          <p:cNvGraphicFramePr/>
          <p:nvPr/>
        </p:nvGraphicFramePr>
        <p:xfrm>
          <a:off x="5342582" y="1928525"/>
          <a:ext cx="1689700" cy="293796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8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983" name="Google Shape;983;p49"/>
          <p:cNvCxnSpPr>
            <a:stCxn id="984" idx="3"/>
            <a:endCxn id="971" idx="1"/>
          </p:cNvCxnSpPr>
          <p:nvPr/>
        </p:nvCxnSpPr>
        <p:spPr>
          <a:xfrm>
            <a:off x="12160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5" name="Google Shape;985;p49"/>
          <p:cNvCxnSpPr>
            <a:stCxn id="971" idx="2"/>
            <a:endCxn id="986" idx="0"/>
          </p:cNvCxnSpPr>
          <p:nvPr/>
        </p:nvCxnSpPr>
        <p:spPr>
          <a:xfrm>
            <a:off x="1683175" y="37206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7" name="Google Shape;987;p49"/>
          <p:cNvCxnSpPr>
            <a:stCxn id="988" idx="2"/>
            <a:endCxn id="971" idx="0"/>
          </p:cNvCxnSpPr>
          <p:nvPr/>
        </p:nvCxnSpPr>
        <p:spPr>
          <a:xfrm>
            <a:off x="1683175" y="31110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9" name="Google Shape;989;p49"/>
          <p:cNvCxnSpPr>
            <a:stCxn id="990" idx="4"/>
            <a:endCxn id="988" idx="0"/>
          </p:cNvCxnSpPr>
          <p:nvPr/>
        </p:nvCxnSpPr>
        <p:spPr>
          <a:xfrm>
            <a:off x="1302100" y="253020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1" name="Google Shape;991;p49"/>
          <p:cNvCxnSpPr>
            <a:stCxn id="992" idx="4"/>
            <a:endCxn id="988" idx="0"/>
          </p:cNvCxnSpPr>
          <p:nvPr/>
        </p:nvCxnSpPr>
        <p:spPr>
          <a:xfrm>
            <a:off x="1683100" y="2530200"/>
            <a:ext cx="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49"/>
          <p:cNvCxnSpPr>
            <a:stCxn id="994" idx="4"/>
            <a:endCxn id="988" idx="0"/>
          </p:cNvCxnSpPr>
          <p:nvPr/>
        </p:nvCxnSpPr>
        <p:spPr>
          <a:xfrm flipH="1">
            <a:off x="1683100" y="253020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0" name="Google Shape;990;p49"/>
          <p:cNvSpPr/>
          <p:nvPr/>
        </p:nvSpPr>
        <p:spPr>
          <a:xfrm>
            <a:off x="1143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1524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1905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5" name="Google Shape;995;p49"/>
          <p:cNvSpPr txBox="1"/>
          <p:nvPr/>
        </p:nvSpPr>
        <p:spPr>
          <a:xfrm>
            <a:off x="1143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6" name="Google Shape;996;p49"/>
          <p:cNvSpPr txBox="1"/>
          <p:nvPr/>
        </p:nvSpPr>
        <p:spPr>
          <a:xfrm>
            <a:off x="1524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7" name="Google Shape;997;p49"/>
          <p:cNvSpPr txBox="1"/>
          <p:nvPr/>
        </p:nvSpPr>
        <p:spPr>
          <a:xfrm>
            <a:off x="1905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49"/>
          <p:cNvCxnSpPr>
            <a:stCxn id="999" idx="6"/>
            <a:endCxn id="984" idx="1"/>
          </p:cNvCxnSpPr>
          <p:nvPr/>
        </p:nvCxnSpPr>
        <p:spPr>
          <a:xfrm>
            <a:off x="711475" y="3349462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0" name="Google Shape;1000;p49"/>
          <p:cNvCxnSpPr>
            <a:stCxn id="1001" idx="6"/>
            <a:endCxn id="984" idx="1"/>
          </p:cNvCxnSpPr>
          <p:nvPr/>
        </p:nvCxnSpPr>
        <p:spPr>
          <a:xfrm rot="10800000" flipH="1">
            <a:off x="711475" y="3578062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9" name="Google Shape;999;p49"/>
          <p:cNvSpPr/>
          <p:nvPr/>
        </p:nvSpPr>
        <p:spPr>
          <a:xfrm>
            <a:off x="394675" y="3191062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1" name="Google Shape;1001;p49"/>
          <p:cNvSpPr/>
          <p:nvPr/>
        </p:nvSpPr>
        <p:spPr>
          <a:xfrm>
            <a:off x="394675" y="3648262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2" name="Google Shape;1002;p49"/>
          <p:cNvSpPr txBox="1"/>
          <p:nvPr/>
        </p:nvSpPr>
        <p:spPr>
          <a:xfrm>
            <a:off x="394838" y="36483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3" name="Google Shape;1003;p49"/>
          <p:cNvSpPr txBox="1"/>
          <p:nvPr/>
        </p:nvSpPr>
        <p:spPr>
          <a:xfrm>
            <a:off x="394838" y="31911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931075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4" name="Google Shape;1004;p49"/>
          <p:cNvCxnSpPr>
            <a:stCxn id="1005" idx="0"/>
            <a:endCxn id="986" idx="2"/>
          </p:cNvCxnSpPr>
          <p:nvPr/>
        </p:nvCxnSpPr>
        <p:spPr>
          <a:xfrm rot="10800000" flipH="1">
            <a:off x="1454413" y="4330200"/>
            <a:ext cx="2289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6" name="Google Shape;1006;p49"/>
          <p:cNvCxnSpPr>
            <a:stCxn id="1007" idx="0"/>
            <a:endCxn id="986" idx="2"/>
          </p:cNvCxnSpPr>
          <p:nvPr/>
        </p:nvCxnSpPr>
        <p:spPr>
          <a:xfrm rot="10800000">
            <a:off x="1683313" y="4330200"/>
            <a:ext cx="2283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5" name="Google Shape;1005;p49"/>
          <p:cNvSpPr/>
          <p:nvPr/>
        </p:nvSpPr>
        <p:spPr>
          <a:xfrm>
            <a:off x="1296013" y="45495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7" name="Google Shape;1007;p49"/>
          <p:cNvSpPr/>
          <p:nvPr/>
        </p:nvSpPr>
        <p:spPr>
          <a:xfrm>
            <a:off x="1753213" y="45495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49"/>
          <p:cNvSpPr txBox="1"/>
          <p:nvPr/>
        </p:nvSpPr>
        <p:spPr>
          <a:xfrm>
            <a:off x="12961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9" name="Google Shape;1009;p49"/>
          <p:cNvSpPr txBox="1"/>
          <p:nvPr/>
        </p:nvSpPr>
        <p:spPr>
          <a:xfrm>
            <a:off x="17533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0" name="Google Shape;1010;p49"/>
          <p:cNvCxnSpPr>
            <a:stCxn id="972" idx="3"/>
            <a:endCxn id="977" idx="1"/>
          </p:cNvCxnSpPr>
          <p:nvPr/>
        </p:nvCxnSpPr>
        <p:spPr>
          <a:xfrm>
            <a:off x="24352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1" name="Google Shape;1011;p49"/>
          <p:cNvCxnSpPr>
            <a:stCxn id="971" idx="3"/>
            <a:endCxn id="972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1" name="Google Shape;971;p49"/>
          <p:cNvSpPr/>
          <p:nvPr/>
        </p:nvSpPr>
        <p:spPr>
          <a:xfrm>
            <a:off x="1540675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49"/>
          <p:cNvSpPr txBox="1"/>
          <p:nvPr/>
        </p:nvSpPr>
        <p:spPr>
          <a:xfrm>
            <a:off x="3612000" y="23256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3685988" y="4140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49"/>
          <p:cNvSpPr/>
          <p:nvPr/>
        </p:nvSpPr>
        <p:spPr>
          <a:xfrm>
            <a:off x="3686001" y="26931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49"/>
          <p:cNvSpPr txBox="1"/>
          <p:nvPr/>
        </p:nvSpPr>
        <p:spPr>
          <a:xfrm>
            <a:off x="4089900" y="27279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49"/>
          <p:cNvCxnSpPr>
            <a:stCxn id="988" idx="3"/>
            <a:endCxn id="977" idx="1"/>
          </p:cNvCxnSpPr>
          <p:nvPr/>
        </p:nvCxnSpPr>
        <p:spPr>
          <a:xfrm>
            <a:off x="1825675" y="2968500"/>
            <a:ext cx="934200" cy="60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5" name="Google Shape;1015;p49"/>
          <p:cNvCxnSpPr>
            <a:stCxn id="972" idx="2"/>
            <a:endCxn id="986" idx="3"/>
          </p:cNvCxnSpPr>
          <p:nvPr/>
        </p:nvCxnSpPr>
        <p:spPr>
          <a:xfrm flipH="1">
            <a:off x="1825675" y="3720600"/>
            <a:ext cx="467100" cy="46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8" name="Google Shape;988;p49"/>
          <p:cNvSpPr/>
          <p:nvPr/>
        </p:nvSpPr>
        <p:spPr>
          <a:xfrm>
            <a:off x="1540675" y="28260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49"/>
          <p:cNvSpPr/>
          <p:nvPr/>
        </p:nvSpPr>
        <p:spPr>
          <a:xfrm>
            <a:off x="1540675" y="40452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2759863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2150275" y="34356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49"/>
          <p:cNvSpPr txBox="1"/>
          <p:nvPr/>
        </p:nvSpPr>
        <p:spPr>
          <a:xfrm>
            <a:off x="7188250" y="299130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Internal destinations.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7" name="Google Shape;1017;p49"/>
          <p:cNvSpPr txBox="1"/>
          <p:nvPr/>
        </p:nvSpPr>
        <p:spPr>
          <a:xfrm>
            <a:off x="7188250" y="433020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destinations.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3D8D33-E96C-8503-7752-9BC6F830DB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 of Hierarchical Addressing</a:t>
            </a:r>
            <a:endParaRPr/>
          </a:p>
        </p:txBody>
      </p:sp>
      <p:sp>
        <p:nvSpPr>
          <p:cNvPr id="1023" name="Google Shape;1023;p5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5981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/>
              <a:t>Inter-domain</a:t>
            </a:r>
            <a:r>
              <a:rPr lang="en" dirty="0"/>
              <a:t> routing computes routes between networks.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 need to think about churn inside networks.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Just think about network 1, network 2, etc.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i="1" dirty="0"/>
              <a:t>Intra-domain</a:t>
            </a:r>
            <a:r>
              <a:rPr lang="en" dirty="0"/>
              <a:t> routing computes routes inside a network.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 need to think about other networks.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Just think about 2.1, 2.2, etc.</a:t>
            </a:r>
            <a:endParaRPr dirty="0"/>
          </a:p>
        </p:txBody>
      </p:sp>
      <p:graphicFrame>
        <p:nvGraphicFramePr>
          <p:cNvPr id="1024" name="Google Shape;1024;p50"/>
          <p:cNvGraphicFramePr/>
          <p:nvPr/>
        </p:nvGraphicFramePr>
        <p:xfrm>
          <a:off x="6012682" y="1655775"/>
          <a:ext cx="1689700" cy="293796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8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25" name="Google Shape;1025;p50"/>
          <p:cNvSpPr txBox="1"/>
          <p:nvPr/>
        </p:nvSpPr>
        <p:spPr>
          <a:xfrm>
            <a:off x="7858350" y="271855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Internal destinations.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50"/>
          <p:cNvSpPr txBox="1"/>
          <p:nvPr/>
        </p:nvSpPr>
        <p:spPr>
          <a:xfrm>
            <a:off x="7858350" y="4057450"/>
            <a:ext cx="112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destinations.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EA8007-A5C8-7E68-876D-4A62FD13AA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1" name="Google Shape;1031;p51"/>
          <p:cNvCxnSpPr/>
          <p:nvPr/>
        </p:nvCxnSpPr>
        <p:spPr>
          <a:xfrm>
            <a:off x="6580225" y="4238902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2" name="Google Shape;1032;p51"/>
          <p:cNvCxnSpPr/>
          <p:nvPr/>
        </p:nvCxnSpPr>
        <p:spPr>
          <a:xfrm>
            <a:off x="6580225" y="4496960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3" name="Google Shape;1033;p51"/>
          <p:cNvCxnSpPr/>
          <p:nvPr/>
        </p:nvCxnSpPr>
        <p:spPr>
          <a:xfrm>
            <a:off x="6580225" y="4745200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4" name="Google Shape;1034;p51"/>
          <p:cNvSpPr/>
          <p:nvPr/>
        </p:nvSpPr>
        <p:spPr>
          <a:xfrm>
            <a:off x="3529024" y="4021825"/>
            <a:ext cx="1043100" cy="5232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51"/>
          <p:cNvSpPr txBox="1"/>
          <p:nvPr/>
        </p:nvSpPr>
        <p:spPr>
          <a:xfrm>
            <a:off x="3612000" y="37734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6" name="Google Shape;1036;p51"/>
          <p:cNvSpPr txBox="1"/>
          <p:nvPr/>
        </p:nvSpPr>
        <p:spPr>
          <a:xfrm>
            <a:off x="4089900" y="41757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51"/>
          <p:cNvSpPr/>
          <p:nvPr/>
        </p:nvSpPr>
        <p:spPr>
          <a:xfrm>
            <a:off x="3529024" y="2574025"/>
            <a:ext cx="1043100" cy="5232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8" name="Google Shape;1038;p51"/>
          <p:cNvCxnSpPr>
            <a:stCxn id="1039" idx="3"/>
            <a:endCxn id="104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1" name="Google Shape;1041;p51"/>
          <p:cNvSpPr/>
          <p:nvPr/>
        </p:nvSpPr>
        <p:spPr>
          <a:xfrm>
            <a:off x="259300" y="2116225"/>
            <a:ext cx="2850600" cy="28506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– Conceptual</a:t>
            </a:r>
            <a:endParaRPr/>
          </a:p>
        </p:txBody>
      </p:sp>
      <p:sp>
        <p:nvSpPr>
          <p:cNvPr id="1043" name="Google Shape;1043;p5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Sometimes, we can </a:t>
            </a:r>
            <a:r>
              <a:rPr lang="en" i="1"/>
              <a:t>aggregate</a:t>
            </a:r>
            <a:r>
              <a:rPr lang="en"/>
              <a:t> several rows into a single row.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R4, any packet to an external network has a next-hop of R9.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*.* wildcard says: For any destination not in the table, forward to R9.</a:t>
            </a:r>
            <a:endParaRPr/>
          </a:p>
        </p:txBody>
      </p:sp>
      <p:cxnSp>
        <p:nvCxnSpPr>
          <p:cNvPr id="1044" name="Google Shape;1044;p51"/>
          <p:cNvCxnSpPr>
            <a:stCxn id="1045" idx="3"/>
            <a:endCxn id="1046" idx="1"/>
          </p:cNvCxnSpPr>
          <p:nvPr/>
        </p:nvCxnSpPr>
        <p:spPr>
          <a:xfrm>
            <a:off x="3044863" y="3578100"/>
            <a:ext cx="641100" cy="70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7" name="Google Shape;1047;p51"/>
          <p:cNvSpPr txBox="1"/>
          <p:nvPr/>
        </p:nvSpPr>
        <p:spPr>
          <a:xfrm>
            <a:off x="1268650" y="1878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51"/>
          <p:cNvCxnSpPr>
            <a:stCxn id="1045" idx="3"/>
            <a:endCxn id="1049" idx="1"/>
          </p:cNvCxnSpPr>
          <p:nvPr/>
        </p:nvCxnSpPr>
        <p:spPr>
          <a:xfrm rot="10800000" flipH="1">
            <a:off x="3044863" y="2835600"/>
            <a:ext cx="641100" cy="74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0" name="Google Shape;1050;p51"/>
          <p:cNvCxnSpPr>
            <a:stCxn id="1051" idx="3"/>
            <a:endCxn id="1039" idx="1"/>
          </p:cNvCxnSpPr>
          <p:nvPr/>
        </p:nvCxnSpPr>
        <p:spPr>
          <a:xfrm>
            <a:off x="12160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2" name="Google Shape;1052;p51"/>
          <p:cNvCxnSpPr>
            <a:stCxn id="1039" idx="2"/>
            <a:endCxn id="1053" idx="0"/>
          </p:cNvCxnSpPr>
          <p:nvPr/>
        </p:nvCxnSpPr>
        <p:spPr>
          <a:xfrm>
            <a:off x="1683175" y="37206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4" name="Google Shape;1054;p51"/>
          <p:cNvCxnSpPr>
            <a:stCxn id="1055" idx="2"/>
            <a:endCxn id="1039" idx="0"/>
          </p:cNvCxnSpPr>
          <p:nvPr/>
        </p:nvCxnSpPr>
        <p:spPr>
          <a:xfrm>
            <a:off x="1683175" y="31110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6" name="Google Shape;1056;p51"/>
          <p:cNvCxnSpPr>
            <a:stCxn id="1057" idx="4"/>
            <a:endCxn id="1055" idx="0"/>
          </p:cNvCxnSpPr>
          <p:nvPr/>
        </p:nvCxnSpPr>
        <p:spPr>
          <a:xfrm>
            <a:off x="1302100" y="253020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8" name="Google Shape;1058;p51"/>
          <p:cNvCxnSpPr>
            <a:stCxn id="1059" idx="4"/>
            <a:endCxn id="1055" idx="0"/>
          </p:cNvCxnSpPr>
          <p:nvPr/>
        </p:nvCxnSpPr>
        <p:spPr>
          <a:xfrm>
            <a:off x="1683100" y="2530200"/>
            <a:ext cx="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0" name="Google Shape;1060;p51"/>
          <p:cNvCxnSpPr>
            <a:stCxn id="1061" idx="4"/>
            <a:endCxn id="1055" idx="0"/>
          </p:cNvCxnSpPr>
          <p:nvPr/>
        </p:nvCxnSpPr>
        <p:spPr>
          <a:xfrm flipH="1">
            <a:off x="1683100" y="253020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7" name="Google Shape;1057;p51"/>
          <p:cNvSpPr/>
          <p:nvPr/>
        </p:nvSpPr>
        <p:spPr>
          <a:xfrm>
            <a:off x="1143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51"/>
          <p:cNvSpPr/>
          <p:nvPr/>
        </p:nvSpPr>
        <p:spPr>
          <a:xfrm>
            <a:off x="1524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51"/>
          <p:cNvSpPr/>
          <p:nvPr/>
        </p:nvSpPr>
        <p:spPr>
          <a:xfrm>
            <a:off x="1905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51"/>
          <p:cNvSpPr txBox="1"/>
          <p:nvPr/>
        </p:nvSpPr>
        <p:spPr>
          <a:xfrm>
            <a:off x="1143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3" name="Google Shape;1063;p51"/>
          <p:cNvSpPr txBox="1"/>
          <p:nvPr/>
        </p:nvSpPr>
        <p:spPr>
          <a:xfrm>
            <a:off x="1524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4" name="Google Shape;1064;p51"/>
          <p:cNvSpPr txBox="1"/>
          <p:nvPr/>
        </p:nvSpPr>
        <p:spPr>
          <a:xfrm>
            <a:off x="1905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5" name="Google Shape;1065;p51"/>
          <p:cNvCxnSpPr>
            <a:stCxn id="1066" idx="6"/>
            <a:endCxn id="1051" idx="1"/>
          </p:cNvCxnSpPr>
          <p:nvPr/>
        </p:nvCxnSpPr>
        <p:spPr>
          <a:xfrm>
            <a:off x="711475" y="3349462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7" name="Google Shape;1067;p51"/>
          <p:cNvCxnSpPr>
            <a:stCxn id="1068" idx="6"/>
            <a:endCxn id="1051" idx="1"/>
          </p:cNvCxnSpPr>
          <p:nvPr/>
        </p:nvCxnSpPr>
        <p:spPr>
          <a:xfrm rot="10800000" flipH="1">
            <a:off x="711475" y="3578062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6" name="Google Shape;1066;p51"/>
          <p:cNvSpPr/>
          <p:nvPr/>
        </p:nvSpPr>
        <p:spPr>
          <a:xfrm>
            <a:off x="394675" y="3191062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8" name="Google Shape;1068;p51"/>
          <p:cNvSpPr/>
          <p:nvPr/>
        </p:nvSpPr>
        <p:spPr>
          <a:xfrm>
            <a:off x="394675" y="3648262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51"/>
          <p:cNvSpPr txBox="1"/>
          <p:nvPr/>
        </p:nvSpPr>
        <p:spPr>
          <a:xfrm>
            <a:off x="394838" y="36483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51"/>
          <p:cNvSpPr txBox="1"/>
          <p:nvPr/>
        </p:nvSpPr>
        <p:spPr>
          <a:xfrm>
            <a:off x="394838" y="31911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51"/>
          <p:cNvSpPr/>
          <p:nvPr/>
        </p:nvSpPr>
        <p:spPr>
          <a:xfrm>
            <a:off x="931075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1" name="Google Shape;1071;p51"/>
          <p:cNvCxnSpPr>
            <a:stCxn id="1072" idx="0"/>
            <a:endCxn id="1053" idx="2"/>
          </p:cNvCxnSpPr>
          <p:nvPr/>
        </p:nvCxnSpPr>
        <p:spPr>
          <a:xfrm rot="10800000" flipH="1">
            <a:off x="1454413" y="4330200"/>
            <a:ext cx="2289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3" name="Google Shape;1073;p51"/>
          <p:cNvCxnSpPr>
            <a:stCxn id="1074" idx="0"/>
            <a:endCxn id="1053" idx="2"/>
          </p:cNvCxnSpPr>
          <p:nvPr/>
        </p:nvCxnSpPr>
        <p:spPr>
          <a:xfrm rot="10800000">
            <a:off x="1683313" y="4330200"/>
            <a:ext cx="2283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2" name="Google Shape;1072;p51"/>
          <p:cNvSpPr/>
          <p:nvPr/>
        </p:nvSpPr>
        <p:spPr>
          <a:xfrm>
            <a:off x="1296013" y="45495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51"/>
          <p:cNvSpPr/>
          <p:nvPr/>
        </p:nvSpPr>
        <p:spPr>
          <a:xfrm>
            <a:off x="1753213" y="45495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51"/>
          <p:cNvSpPr txBox="1"/>
          <p:nvPr/>
        </p:nvSpPr>
        <p:spPr>
          <a:xfrm>
            <a:off x="12961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51"/>
          <p:cNvSpPr txBox="1"/>
          <p:nvPr/>
        </p:nvSpPr>
        <p:spPr>
          <a:xfrm>
            <a:off x="17533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7" name="Google Shape;1077;p51"/>
          <p:cNvCxnSpPr>
            <a:stCxn id="1040" idx="3"/>
            <a:endCxn id="1045" idx="1"/>
          </p:cNvCxnSpPr>
          <p:nvPr/>
        </p:nvCxnSpPr>
        <p:spPr>
          <a:xfrm>
            <a:off x="24352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8" name="Google Shape;1078;p51"/>
          <p:cNvCxnSpPr>
            <a:stCxn id="1039" idx="3"/>
            <a:endCxn id="104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9" name="Google Shape;1039;p51"/>
          <p:cNvSpPr/>
          <p:nvPr/>
        </p:nvSpPr>
        <p:spPr>
          <a:xfrm>
            <a:off x="1540675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9" name="Google Shape;1079;p51"/>
          <p:cNvSpPr txBox="1"/>
          <p:nvPr/>
        </p:nvSpPr>
        <p:spPr>
          <a:xfrm>
            <a:off x="3612000" y="23256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51"/>
          <p:cNvSpPr/>
          <p:nvPr/>
        </p:nvSpPr>
        <p:spPr>
          <a:xfrm>
            <a:off x="3685988" y="4140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51"/>
          <p:cNvSpPr/>
          <p:nvPr/>
        </p:nvSpPr>
        <p:spPr>
          <a:xfrm>
            <a:off x="3686001" y="26931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51"/>
          <p:cNvSpPr txBox="1"/>
          <p:nvPr/>
        </p:nvSpPr>
        <p:spPr>
          <a:xfrm>
            <a:off x="4089900" y="27279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51"/>
          <p:cNvCxnSpPr>
            <a:stCxn id="1055" idx="3"/>
            <a:endCxn id="1045" idx="1"/>
          </p:cNvCxnSpPr>
          <p:nvPr/>
        </p:nvCxnSpPr>
        <p:spPr>
          <a:xfrm>
            <a:off x="1825675" y="2968500"/>
            <a:ext cx="934200" cy="60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2" name="Google Shape;1082;p51"/>
          <p:cNvCxnSpPr>
            <a:stCxn id="1040" idx="2"/>
            <a:endCxn id="1053" idx="3"/>
          </p:cNvCxnSpPr>
          <p:nvPr/>
        </p:nvCxnSpPr>
        <p:spPr>
          <a:xfrm flipH="1">
            <a:off x="1825675" y="3720600"/>
            <a:ext cx="467100" cy="46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5" name="Google Shape;1055;p51"/>
          <p:cNvSpPr/>
          <p:nvPr/>
        </p:nvSpPr>
        <p:spPr>
          <a:xfrm>
            <a:off x="1540675" y="28260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51"/>
          <p:cNvSpPr/>
          <p:nvPr/>
        </p:nvSpPr>
        <p:spPr>
          <a:xfrm>
            <a:off x="1540675" y="40452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51"/>
          <p:cNvSpPr/>
          <p:nvPr/>
        </p:nvSpPr>
        <p:spPr>
          <a:xfrm>
            <a:off x="2759863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51"/>
          <p:cNvSpPr/>
          <p:nvPr/>
        </p:nvSpPr>
        <p:spPr>
          <a:xfrm>
            <a:off x="2150275" y="34356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3" name="Google Shape;1083;p51"/>
          <p:cNvGraphicFramePr/>
          <p:nvPr/>
        </p:nvGraphicFramePr>
        <p:xfrm>
          <a:off x="7095182" y="1928525"/>
          <a:ext cx="1689700" cy="293793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8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49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*.*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084" name="Google Shape;1084;p51"/>
          <p:cNvGraphicFramePr/>
          <p:nvPr/>
        </p:nvGraphicFramePr>
        <p:xfrm>
          <a:off x="4885382" y="1928525"/>
          <a:ext cx="1689700" cy="293796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8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57D6AE-F45D-CD0F-98D6-0C743712CA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9" name="Google Shape;1089;p52"/>
          <p:cNvCxnSpPr/>
          <p:nvPr/>
        </p:nvCxnSpPr>
        <p:spPr>
          <a:xfrm>
            <a:off x="6580225" y="2995153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0" name="Google Shape;1090;p52"/>
          <p:cNvCxnSpPr/>
          <p:nvPr/>
        </p:nvCxnSpPr>
        <p:spPr>
          <a:xfrm>
            <a:off x="6580225" y="3253211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1" name="Google Shape;1091;p52"/>
          <p:cNvCxnSpPr/>
          <p:nvPr/>
        </p:nvCxnSpPr>
        <p:spPr>
          <a:xfrm>
            <a:off x="6580225" y="3476902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2" name="Google Shape;1092;p52"/>
          <p:cNvCxnSpPr/>
          <p:nvPr/>
        </p:nvCxnSpPr>
        <p:spPr>
          <a:xfrm>
            <a:off x="6580225" y="3734960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3" name="Google Shape;1093;p52"/>
          <p:cNvCxnSpPr/>
          <p:nvPr/>
        </p:nvCxnSpPr>
        <p:spPr>
          <a:xfrm>
            <a:off x="6580225" y="3983200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4" name="Google Shape;1094;p52"/>
          <p:cNvSpPr/>
          <p:nvPr/>
        </p:nvSpPr>
        <p:spPr>
          <a:xfrm>
            <a:off x="3529024" y="4021825"/>
            <a:ext cx="1043100" cy="5232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52"/>
          <p:cNvSpPr txBox="1"/>
          <p:nvPr/>
        </p:nvSpPr>
        <p:spPr>
          <a:xfrm>
            <a:off x="3612000" y="37734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52"/>
          <p:cNvSpPr txBox="1"/>
          <p:nvPr/>
        </p:nvSpPr>
        <p:spPr>
          <a:xfrm>
            <a:off x="4089900" y="41757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52"/>
          <p:cNvSpPr/>
          <p:nvPr/>
        </p:nvSpPr>
        <p:spPr>
          <a:xfrm>
            <a:off x="3529024" y="2574025"/>
            <a:ext cx="1043100" cy="5232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8" name="Google Shape;1098;p52"/>
          <p:cNvCxnSpPr>
            <a:stCxn id="1099" idx="3"/>
            <a:endCxn id="110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1" name="Google Shape;1101;p52"/>
          <p:cNvSpPr/>
          <p:nvPr/>
        </p:nvSpPr>
        <p:spPr>
          <a:xfrm>
            <a:off x="259300" y="2116225"/>
            <a:ext cx="2850600" cy="28506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2" name="Google Shape;1102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Aggregation – Conceptual</a:t>
            </a:r>
            <a:endParaRPr/>
          </a:p>
        </p:txBody>
      </p:sp>
      <p:sp>
        <p:nvSpPr>
          <p:cNvPr id="1103" name="Google Shape;1103;p5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3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From R2, everything is reached through R3, so we can aggregate entries.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*.* wildcard (everything not in the table) is the </a:t>
            </a:r>
            <a:r>
              <a:rPr lang="en" b="1"/>
              <a:t>default route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hosts only have the default route!</a:t>
            </a:r>
            <a:endParaRPr/>
          </a:p>
        </p:txBody>
      </p:sp>
      <p:cxnSp>
        <p:nvCxnSpPr>
          <p:cNvPr id="1104" name="Google Shape;1104;p52"/>
          <p:cNvCxnSpPr>
            <a:stCxn id="1105" idx="3"/>
            <a:endCxn id="1106" idx="1"/>
          </p:cNvCxnSpPr>
          <p:nvPr/>
        </p:nvCxnSpPr>
        <p:spPr>
          <a:xfrm>
            <a:off x="3044863" y="3578100"/>
            <a:ext cx="641100" cy="70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7" name="Google Shape;1107;p52"/>
          <p:cNvSpPr txBox="1"/>
          <p:nvPr/>
        </p:nvSpPr>
        <p:spPr>
          <a:xfrm>
            <a:off x="1268650" y="1878152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8" name="Google Shape;1108;p52"/>
          <p:cNvCxnSpPr>
            <a:stCxn id="1105" idx="3"/>
            <a:endCxn id="1109" idx="1"/>
          </p:cNvCxnSpPr>
          <p:nvPr/>
        </p:nvCxnSpPr>
        <p:spPr>
          <a:xfrm rot="10800000" flipH="1">
            <a:off x="3044863" y="2835600"/>
            <a:ext cx="641100" cy="742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0" name="Google Shape;1110;p52"/>
          <p:cNvCxnSpPr>
            <a:stCxn id="1111" idx="3"/>
            <a:endCxn id="1099" idx="1"/>
          </p:cNvCxnSpPr>
          <p:nvPr/>
        </p:nvCxnSpPr>
        <p:spPr>
          <a:xfrm>
            <a:off x="12160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2" name="Google Shape;1112;p52"/>
          <p:cNvCxnSpPr>
            <a:stCxn id="1099" idx="2"/>
            <a:endCxn id="1113" idx="0"/>
          </p:cNvCxnSpPr>
          <p:nvPr/>
        </p:nvCxnSpPr>
        <p:spPr>
          <a:xfrm>
            <a:off x="1683175" y="37206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4" name="Google Shape;1114;p52"/>
          <p:cNvCxnSpPr>
            <a:stCxn id="1115" idx="2"/>
            <a:endCxn id="1099" idx="0"/>
          </p:cNvCxnSpPr>
          <p:nvPr/>
        </p:nvCxnSpPr>
        <p:spPr>
          <a:xfrm>
            <a:off x="1683175" y="31110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6" name="Google Shape;1116;p52"/>
          <p:cNvCxnSpPr>
            <a:stCxn id="1117" idx="4"/>
            <a:endCxn id="1115" idx="0"/>
          </p:cNvCxnSpPr>
          <p:nvPr/>
        </p:nvCxnSpPr>
        <p:spPr>
          <a:xfrm>
            <a:off x="1302100" y="253020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8" name="Google Shape;1118;p52"/>
          <p:cNvCxnSpPr>
            <a:stCxn id="1119" idx="4"/>
            <a:endCxn id="1115" idx="0"/>
          </p:cNvCxnSpPr>
          <p:nvPr/>
        </p:nvCxnSpPr>
        <p:spPr>
          <a:xfrm>
            <a:off x="1683100" y="2530200"/>
            <a:ext cx="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0" name="Google Shape;1120;p52"/>
          <p:cNvCxnSpPr>
            <a:stCxn id="1121" idx="4"/>
            <a:endCxn id="1115" idx="0"/>
          </p:cNvCxnSpPr>
          <p:nvPr/>
        </p:nvCxnSpPr>
        <p:spPr>
          <a:xfrm flipH="1">
            <a:off x="1683100" y="2530200"/>
            <a:ext cx="381000" cy="295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7" name="Google Shape;1117;p52"/>
          <p:cNvSpPr/>
          <p:nvPr/>
        </p:nvSpPr>
        <p:spPr>
          <a:xfrm>
            <a:off x="1143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52"/>
          <p:cNvSpPr/>
          <p:nvPr/>
        </p:nvSpPr>
        <p:spPr>
          <a:xfrm>
            <a:off x="1524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52"/>
          <p:cNvSpPr/>
          <p:nvPr/>
        </p:nvSpPr>
        <p:spPr>
          <a:xfrm>
            <a:off x="1905700" y="22134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52"/>
          <p:cNvSpPr txBox="1"/>
          <p:nvPr/>
        </p:nvSpPr>
        <p:spPr>
          <a:xfrm>
            <a:off x="1143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52"/>
          <p:cNvSpPr txBox="1"/>
          <p:nvPr/>
        </p:nvSpPr>
        <p:spPr>
          <a:xfrm>
            <a:off x="1524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4" name="Google Shape;1124;p52"/>
          <p:cNvSpPr txBox="1"/>
          <p:nvPr/>
        </p:nvSpPr>
        <p:spPr>
          <a:xfrm>
            <a:off x="1905863" y="22134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2.3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5" name="Google Shape;1125;p52"/>
          <p:cNvCxnSpPr>
            <a:stCxn id="1126" idx="6"/>
            <a:endCxn id="1111" idx="1"/>
          </p:cNvCxnSpPr>
          <p:nvPr/>
        </p:nvCxnSpPr>
        <p:spPr>
          <a:xfrm>
            <a:off x="711475" y="3349462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7" name="Google Shape;1127;p52"/>
          <p:cNvCxnSpPr>
            <a:stCxn id="1128" idx="6"/>
            <a:endCxn id="1111" idx="1"/>
          </p:cNvCxnSpPr>
          <p:nvPr/>
        </p:nvCxnSpPr>
        <p:spPr>
          <a:xfrm rot="10800000" flipH="1">
            <a:off x="711475" y="3578062"/>
            <a:ext cx="219600" cy="22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6" name="Google Shape;1126;p52"/>
          <p:cNvSpPr/>
          <p:nvPr/>
        </p:nvSpPr>
        <p:spPr>
          <a:xfrm>
            <a:off x="394675" y="3191062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52"/>
          <p:cNvSpPr/>
          <p:nvPr/>
        </p:nvSpPr>
        <p:spPr>
          <a:xfrm>
            <a:off x="394675" y="3648262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52"/>
          <p:cNvSpPr txBox="1"/>
          <p:nvPr/>
        </p:nvSpPr>
        <p:spPr>
          <a:xfrm>
            <a:off x="394838" y="36483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2.5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52"/>
          <p:cNvSpPr txBox="1"/>
          <p:nvPr/>
        </p:nvSpPr>
        <p:spPr>
          <a:xfrm>
            <a:off x="394838" y="3191138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2.4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1" name="Google Shape;1111;p52"/>
          <p:cNvSpPr/>
          <p:nvPr/>
        </p:nvSpPr>
        <p:spPr>
          <a:xfrm>
            <a:off x="931075" y="34356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1" name="Google Shape;1131;p52"/>
          <p:cNvCxnSpPr>
            <a:stCxn id="1132" idx="0"/>
            <a:endCxn id="1113" idx="2"/>
          </p:cNvCxnSpPr>
          <p:nvPr/>
        </p:nvCxnSpPr>
        <p:spPr>
          <a:xfrm rot="10800000" flipH="1">
            <a:off x="1454413" y="4330200"/>
            <a:ext cx="2289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3" name="Google Shape;1133;p52"/>
          <p:cNvCxnSpPr>
            <a:stCxn id="1134" idx="0"/>
            <a:endCxn id="1113" idx="2"/>
          </p:cNvCxnSpPr>
          <p:nvPr/>
        </p:nvCxnSpPr>
        <p:spPr>
          <a:xfrm rot="10800000">
            <a:off x="1683313" y="4330200"/>
            <a:ext cx="228300" cy="21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2" name="Google Shape;1132;p52"/>
          <p:cNvSpPr/>
          <p:nvPr/>
        </p:nvSpPr>
        <p:spPr>
          <a:xfrm>
            <a:off x="1296013" y="45495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4" name="Google Shape;1134;p52"/>
          <p:cNvSpPr/>
          <p:nvPr/>
        </p:nvSpPr>
        <p:spPr>
          <a:xfrm>
            <a:off x="1753213" y="4549500"/>
            <a:ext cx="316800" cy="3168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12961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2.6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1753375" y="4549575"/>
            <a:ext cx="316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2.7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7" name="Google Shape;1137;p52"/>
          <p:cNvCxnSpPr>
            <a:stCxn id="1100" idx="3"/>
            <a:endCxn id="1105" idx="1"/>
          </p:cNvCxnSpPr>
          <p:nvPr/>
        </p:nvCxnSpPr>
        <p:spPr>
          <a:xfrm>
            <a:off x="24352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8" name="Google Shape;1138;p52"/>
          <p:cNvCxnSpPr>
            <a:stCxn id="1099" idx="3"/>
            <a:endCxn id="1100" idx="1"/>
          </p:cNvCxnSpPr>
          <p:nvPr/>
        </p:nvCxnSpPr>
        <p:spPr>
          <a:xfrm>
            <a:off x="1825675" y="3578100"/>
            <a:ext cx="324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9" name="Google Shape;1099;p52"/>
          <p:cNvSpPr/>
          <p:nvPr/>
        </p:nvSpPr>
        <p:spPr>
          <a:xfrm>
            <a:off x="1540675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52"/>
          <p:cNvSpPr txBox="1"/>
          <p:nvPr/>
        </p:nvSpPr>
        <p:spPr>
          <a:xfrm>
            <a:off x="3612000" y="2325600"/>
            <a:ext cx="831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52"/>
          <p:cNvSpPr/>
          <p:nvPr/>
        </p:nvSpPr>
        <p:spPr>
          <a:xfrm>
            <a:off x="3685988" y="41409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9" name="Google Shape;1109;p52"/>
          <p:cNvSpPr/>
          <p:nvPr/>
        </p:nvSpPr>
        <p:spPr>
          <a:xfrm>
            <a:off x="3686001" y="2693125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52"/>
          <p:cNvSpPr txBox="1"/>
          <p:nvPr/>
        </p:nvSpPr>
        <p:spPr>
          <a:xfrm>
            <a:off x="4089900" y="2727925"/>
            <a:ext cx="249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52"/>
          <p:cNvCxnSpPr>
            <a:stCxn id="1115" idx="3"/>
            <a:endCxn id="1105" idx="1"/>
          </p:cNvCxnSpPr>
          <p:nvPr/>
        </p:nvCxnSpPr>
        <p:spPr>
          <a:xfrm>
            <a:off x="1825675" y="2968500"/>
            <a:ext cx="934200" cy="60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2" name="Google Shape;1142;p52"/>
          <p:cNvCxnSpPr>
            <a:stCxn id="1100" idx="2"/>
            <a:endCxn id="1113" idx="3"/>
          </p:cNvCxnSpPr>
          <p:nvPr/>
        </p:nvCxnSpPr>
        <p:spPr>
          <a:xfrm flipH="1">
            <a:off x="1825675" y="3720600"/>
            <a:ext cx="467100" cy="46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5" name="Google Shape;1115;p52"/>
          <p:cNvSpPr/>
          <p:nvPr/>
        </p:nvSpPr>
        <p:spPr>
          <a:xfrm>
            <a:off x="1540675" y="28260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52"/>
          <p:cNvSpPr/>
          <p:nvPr/>
        </p:nvSpPr>
        <p:spPr>
          <a:xfrm>
            <a:off x="1540675" y="40452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52"/>
          <p:cNvSpPr/>
          <p:nvPr/>
        </p:nvSpPr>
        <p:spPr>
          <a:xfrm>
            <a:off x="2759863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2"/>
          <p:cNvSpPr/>
          <p:nvPr/>
        </p:nvSpPr>
        <p:spPr>
          <a:xfrm>
            <a:off x="2150275" y="34356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143" name="Google Shape;1143;p52"/>
          <p:cNvGraphicFramePr/>
          <p:nvPr/>
        </p:nvGraphicFramePr>
        <p:xfrm>
          <a:off x="7095182" y="1928525"/>
          <a:ext cx="1689700" cy="2937805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8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*.*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44" name="Google Shape;1144;p52"/>
          <p:cNvGraphicFramePr/>
          <p:nvPr/>
        </p:nvGraphicFramePr>
        <p:xfrm>
          <a:off x="4885382" y="1928525"/>
          <a:ext cx="1689700" cy="293796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88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R2's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2.7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4.*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1145" name="Google Shape;1145;p52"/>
          <p:cNvCxnSpPr/>
          <p:nvPr/>
        </p:nvCxnSpPr>
        <p:spPr>
          <a:xfrm>
            <a:off x="6580225" y="4238902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6" name="Google Shape;1146;p52"/>
          <p:cNvCxnSpPr/>
          <p:nvPr/>
        </p:nvCxnSpPr>
        <p:spPr>
          <a:xfrm>
            <a:off x="6580225" y="4496960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7" name="Google Shape;1147;p52"/>
          <p:cNvCxnSpPr/>
          <p:nvPr/>
        </p:nvCxnSpPr>
        <p:spPr>
          <a:xfrm>
            <a:off x="6580225" y="4745200"/>
            <a:ext cx="51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B0BF81-A2FF-07EC-2584-9AC456C47D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5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</a:t>
            </a:r>
            <a:endParaRPr/>
          </a:p>
        </p:txBody>
      </p:sp>
      <p:sp>
        <p:nvSpPr>
          <p:cNvPr id="1153" name="Google Shape;1153;p5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Assigning Addresses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54" name="Google Shape;1154;p5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6,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D7FF6A-E7DF-2360-CDC1-5326CEEBCD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</a:t>
            </a:r>
            <a:endParaRPr/>
          </a:p>
        </p:txBody>
      </p:sp>
      <p:sp>
        <p:nvSpPr>
          <p:cNvPr id="1160" name="Google Shape;1160;p54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Hierarchical addressing makes routing scalable.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that are "close to each other" (in some sense) share part of their address.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All third-floor room numbers start with the digit 3.	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 host joins the network, it's assigned an IP address based on its location in the network.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Analogy: When you move to a new house, your address changes.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assign addresses to hosts?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7E68F-61F6-22A9-4BF0-9962B676D7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5" name="Google Shape;1165;p55"/>
          <p:cNvCxnSpPr/>
          <p:nvPr/>
        </p:nvCxnSpPr>
        <p:spPr>
          <a:xfrm>
            <a:off x="3415125" y="4608650"/>
            <a:ext cx="32223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66" name="Google Shape;1166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Addresses, Attempt 1/3 – Early Internet</a:t>
            </a:r>
            <a:endParaRPr/>
          </a:p>
        </p:txBody>
      </p:sp>
      <p:sp>
        <p:nvSpPr>
          <p:cNvPr id="1167" name="Google Shape;1167;p5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1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Addresses are 32 bits long.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Top 8 bits = network ID.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lang="en">
                <a:solidFill>
                  <a:schemeClr val="accent3"/>
                </a:solidFill>
              </a:rPr>
              <a:t>Bottom 24 bits = host ID.</a:t>
            </a:r>
            <a:endParaRPr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organization gets a unique network ID.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AT&amp;T = ID 12.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Apple = ID 17.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Ford = ID 19.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 Department of Defense = IDs 6, 7, 11, 21, 22, 26, 28, 29, 30, 33, 55, 214, 215.</a:t>
            </a:r>
            <a:endParaRPr/>
          </a:p>
        </p:txBody>
      </p:sp>
      <p:sp>
        <p:nvSpPr>
          <p:cNvPr id="1168" name="Google Shape;1168;p55"/>
          <p:cNvSpPr txBox="1"/>
          <p:nvPr/>
        </p:nvSpPr>
        <p:spPr>
          <a:xfrm>
            <a:off x="564250" y="3529300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Bob's address: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11010110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10000100 00111010 01101110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9" name="Google Shape;1169;p55"/>
          <p:cNvSpPr txBox="1"/>
          <p:nvPr/>
        </p:nvSpPr>
        <p:spPr>
          <a:xfrm>
            <a:off x="564175" y="3991000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Joe's address: 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11010110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10010001 00000000 01001101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0" name="Google Shape;1170;p55"/>
          <p:cNvSpPr txBox="1"/>
          <p:nvPr/>
        </p:nvSpPr>
        <p:spPr>
          <a:xfrm>
            <a:off x="2254192" y="4500950"/>
            <a:ext cx="960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ID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55"/>
          <p:cNvSpPr txBox="1"/>
          <p:nvPr/>
        </p:nvSpPr>
        <p:spPr>
          <a:xfrm>
            <a:off x="4697925" y="4500950"/>
            <a:ext cx="656700" cy="21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Host ID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2" name="Google Shape;1172;p55"/>
          <p:cNvSpPr txBox="1"/>
          <p:nvPr/>
        </p:nvSpPr>
        <p:spPr>
          <a:xfrm>
            <a:off x="6999775" y="3666125"/>
            <a:ext cx="1644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Same network ID, so they must be in the same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A430F9-1182-9A0C-95B1-4BD3A8A0A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Assigning Addresses, Attempt 1/3 – Early Internet</a:t>
            </a:r>
            <a:endParaRPr/>
          </a:p>
        </p:txBody>
      </p:sp>
      <p:sp>
        <p:nvSpPr>
          <p:cNvPr id="1178" name="Google Shape;1178;p5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Addresses are 32 bits long.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</a:pPr>
            <a:r>
              <a:rPr lang="en">
                <a:solidFill>
                  <a:schemeClr val="accent2"/>
                </a:solidFill>
              </a:rPr>
              <a:t>Top 8 bits = network ID.</a:t>
            </a:r>
            <a:endParaRPr>
              <a:solidFill>
                <a:schemeClr val="accent2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Char char="●"/>
            </a:pPr>
            <a:r>
              <a:rPr lang="en">
                <a:solidFill>
                  <a:schemeClr val="accent3"/>
                </a:solidFill>
              </a:rPr>
              <a:t>Bottom 24 bits = host ID.</a:t>
            </a:r>
            <a:endParaRPr>
              <a:solidFill>
                <a:schemeClr val="accent3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2</a:t>
            </a:r>
            <a:r>
              <a:rPr lang="en" baseline="30000"/>
              <a:t>8</a:t>
            </a:r>
            <a:r>
              <a:rPr lang="en"/>
              <a:t> = 256 different network IDs.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And we already gave the US Department of Defense 13 of them.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Imagine a tiny network (Joe's Tire Shop) with 10 hosts.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we give them an ID, we're giving them 2</a:t>
            </a:r>
            <a:r>
              <a:rPr lang="en" baseline="30000"/>
              <a:t>24</a:t>
            </a:r>
            <a:r>
              <a:rPr lang="en"/>
              <a:t> = 16,777,216 addresses!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We're going to run out!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9CB0B9-3F80-1D77-23C3-B77A6195C9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Assigning Addresses, Attempt 2/3 – Classful Addressing</a:t>
            </a:r>
            <a:endParaRPr/>
          </a:p>
        </p:txBody>
      </p:sp>
      <p:sp>
        <p:nvSpPr>
          <p:cNvPr id="1184" name="Google Shape;1184;p5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0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Idea: Allocate different network sizes based on need.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top bits (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/>
              <a:t>, 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/>
              <a:t>, or </a:t>
            </a:r>
            <a:r>
              <a:rPr lang="en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</a:t>
            </a:r>
            <a:r>
              <a:rPr lang="en"/>
              <a:t>) tell us how to split up the rest of the bits.</a:t>
            </a:r>
            <a:endParaRPr/>
          </a:p>
        </p:txBody>
      </p:sp>
      <p:graphicFrame>
        <p:nvGraphicFramePr>
          <p:cNvPr id="1185" name="Google Shape;1185;p57"/>
          <p:cNvGraphicFramePr/>
          <p:nvPr/>
        </p:nvGraphicFramePr>
        <p:xfrm>
          <a:off x="1200800" y="16752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(7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(24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6" name="Google Shape;1186;p57"/>
          <p:cNvGraphicFramePr/>
          <p:nvPr/>
        </p:nvGraphicFramePr>
        <p:xfrm>
          <a:off x="1200800" y="28182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(14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(16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87" name="Google Shape;1187;p57"/>
          <p:cNvGraphicFramePr/>
          <p:nvPr/>
        </p:nvGraphicFramePr>
        <p:xfrm>
          <a:off x="1200800" y="39612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(21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(8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88" name="Google Shape;1188;p57"/>
          <p:cNvSpPr txBox="1"/>
          <p:nvPr/>
        </p:nvSpPr>
        <p:spPr>
          <a:xfrm>
            <a:off x="235950" y="17425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A: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p57"/>
          <p:cNvSpPr txBox="1"/>
          <p:nvPr/>
        </p:nvSpPr>
        <p:spPr>
          <a:xfrm>
            <a:off x="235950" y="28855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B: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57"/>
          <p:cNvSpPr txBox="1"/>
          <p:nvPr/>
        </p:nvSpPr>
        <p:spPr>
          <a:xfrm>
            <a:off x="235950" y="40285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C: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57"/>
          <p:cNvSpPr txBox="1"/>
          <p:nvPr/>
        </p:nvSpPr>
        <p:spPr>
          <a:xfrm>
            <a:off x="1573118" y="2132425"/>
            <a:ext cx="1412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~128 networks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2" name="Google Shape;1192;p57"/>
          <p:cNvSpPr txBox="1"/>
          <p:nvPr/>
        </p:nvSpPr>
        <p:spPr>
          <a:xfrm>
            <a:off x="4890050" y="2132425"/>
            <a:ext cx="235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~16m hosts per network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3" name="Google Shape;1193;p57"/>
          <p:cNvSpPr txBox="1"/>
          <p:nvPr/>
        </p:nvSpPr>
        <p:spPr>
          <a:xfrm>
            <a:off x="2639918" y="3275425"/>
            <a:ext cx="1352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~16k networks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57"/>
          <p:cNvSpPr txBox="1"/>
          <p:nvPr/>
        </p:nvSpPr>
        <p:spPr>
          <a:xfrm>
            <a:off x="5839300" y="3275425"/>
            <a:ext cx="2354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~65k hosts per network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5" name="Google Shape;1195;p57"/>
          <p:cNvSpPr txBox="1"/>
          <p:nvPr/>
        </p:nvSpPr>
        <p:spPr>
          <a:xfrm>
            <a:off x="3706718" y="4418425"/>
            <a:ext cx="1352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~2m networks</a:t>
            </a:r>
            <a:endParaRPr sz="16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57"/>
          <p:cNvSpPr txBox="1"/>
          <p:nvPr/>
        </p:nvSpPr>
        <p:spPr>
          <a:xfrm>
            <a:off x="7282250" y="4418425"/>
            <a:ext cx="127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~256 hosts per network</a:t>
            </a:r>
            <a:endParaRPr sz="16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824E4-2B48-77D1-5B0D-F6E7C5A75D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Assigning Addresses, Attempt 2/3 – Classful Addressing</a:t>
            </a:r>
            <a:endParaRPr/>
          </a:p>
        </p:txBody>
      </p:sp>
      <p:graphicFrame>
        <p:nvGraphicFramePr>
          <p:cNvPr id="1202" name="Google Shape;1202;p58"/>
          <p:cNvGraphicFramePr/>
          <p:nvPr/>
        </p:nvGraphicFramePr>
        <p:xfrm>
          <a:off x="1200800" y="35040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(7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(24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3" name="Google Shape;1203;p58"/>
          <p:cNvGraphicFramePr/>
          <p:nvPr/>
        </p:nvGraphicFramePr>
        <p:xfrm>
          <a:off x="1200800" y="38850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(14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(16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4" name="Google Shape;1204;p58"/>
          <p:cNvGraphicFramePr/>
          <p:nvPr/>
        </p:nvGraphicFramePr>
        <p:xfrm>
          <a:off x="1200800" y="42660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(21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(8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05" name="Google Shape;1205;p58"/>
          <p:cNvSpPr txBox="1"/>
          <p:nvPr/>
        </p:nvSpPr>
        <p:spPr>
          <a:xfrm>
            <a:off x="235950" y="3571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A: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8"/>
          <p:cNvSpPr txBox="1"/>
          <p:nvPr/>
        </p:nvSpPr>
        <p:spPr>
          <a:xfrm>
            <a:off x="235950" y="3952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B: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8"/>
          <p:cNvSpPr txBox="1"/>
          <p:nvPr/>
        </p:nvSpPr>
        <p:spPr>
          <a:xfrm>
            <a:off x="235950" y="4333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C: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8" name="Google Shape;1208;p58"/>
          <p:cNvCxnSpPr/>
          <p:nvPr/>
        </p:nvCxnSpPr>
        <p:spPr>
          <a:xfrm>
            <a:off x="5460550" y="2739438"/>
            <a:ext cx="2100000" cy="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09" name="Google Shape;1209;p58"/>
          <p:cNvSpPr txBox="1"/>
          <p:nvPr/>
        </p:nvSpPr>
        <p:spPr>
          <a:xfrm>
            <a:off x="1487425" y="1660088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Bob's address: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010110 10000100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00111010 01101110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0" name="Google Shape;1210;p58"/>
          <p:cNvSpPr txBox="1"/>
          <p:nvPr/>
        </p:nvSpPr>
        <p:spPr>
          <a:xfrm>
            <a:off x="1487350" y="2121788"/>
            <a:ext cx="6169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Joe's address: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010110 10000100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 00000000 01001101</a:t>
            </a:r>
            <a:endParaRPr sz="1800">
              <a:solidFill>
                <a:schemeClr val="accent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1" name="Google Shape;1211;p58"/>
          <p:cNvSpPr txBox="1"/>
          <p:nvPr/>
        </p:nvSpPr>
        <p:spPr>
          <a:xfrm>
            <a:off x="6182200" y="2631738"/>
            <a:ext cx="656700" cy="21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Host ID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2" name="Google Shape;1212;p58"/>
          <p:cNvSpPr txBox="1"/>
          <p:nvPr/>
        </p:nvSpPr>
        <p:spPr>
          <a:xfrm>
            <a:off x="2479850" y="703600"/>
            <a:ext cx="1034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top bits indicate this is Class B...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3" name="Google Shape;1213;p58"/>
          <p:cNvCxnSpPr/>
          <p:nvPr/>
        </p:nvCxnSpPr>
        <p:spPr>
          <a:xfrm>
            <a:off x="3403150" y="2739438"/>
            <a:ext cx="1918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214" name="Google Shape;1214;p58"/>
          <p:cNvSpPr txBox="1"/>
          <p:nvPr/>
        </p:nvSpPr>
        <p:spPr>
          <a:xfrm>
            <a:off x="3882392" y="2631738"/>
            <a:ext cx="960000" cy="21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Network ID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5" name="Google Shape;1215;p58"/>
          <p:cNvSpPr txBox="1"/>
          <p:nvPr/>
        </p:nvSpPr>
        <p:spPr>
          <a:xfrm>
            <a:off x="3775250" y="703600"/>
            <a:ext cx="132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...so read the next 14 bits as the network ID...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58"/>
          <p:cNvSpPr txBox="1"/>
          <p:nvPr/>
        </p:nvSpPr>
        <p:spPr>
          <a:xfrm>
            <a:off x="5875625" y="703600"/>
            <a:ext cx="1189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...and read the last 16 bits as the host ID.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A3311E-91C1-1C13-F5E9-B2A30A0954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Assigning Addresses, Attempt 2/3 – Classful Addressing</a:t>
            </a:r>
            <a:endParaRPr/>
          </a:p>
        </p:txBody>
      </p:sp>
      <p:sp>
        <p:nvSpPr>
          <p:cNvPr id="1222" name="Google Shape;1222;p5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2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A:	~128 networks.	~16m hosts per network.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B:	~16k networks.	~65k hosts per network.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C: ~2m networks.	~256 hosts per network.</a:t>
            </a:r>
          </a:p>
          <a:p>
            <a:pPr lvl="1">
              <a:spcBef>
                <a:spcPts val="0"/>
              </a:spcBef>
            </a:pPr>
            <a:r>
              <a:rPr lang="en-US" altLang="zh-CN" sz="1600" dirty="0"/>
              <a:t>Two special addresses are reserved (the network address itself with host ID of all 0s, and the broadcast address with host ID of all 1s), so there are 65,534 (65,536 - 2) usable hosts for Class B, and 254 hosts (256 - 2) for Class C.</a:t>
            </a:r>
            <a:endParaRPr sz="16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Problems: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A is way too big for most organizations.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C is way too small for most organizations.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B is the best option for many.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~65k hosts is still too big for most organizations.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~16k is still not enough networks. We're running out again!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FA59EF-9CC6-44C0-E6E6-18FA467660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Assigning Addresses, Attempt 3/3 – CIDR</a:t>
            </a:r>
            <a:endParaRPr/>
          </a:p>
        </p:txBody>
      </p:sp>
      <p:sp>
        <p:nvSpPr>
          <p:cNvPr id="1248" name="Google Shape;1248;p6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6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classful addressing, we tried to use convenient 8-bit boundaries.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A:	8 bits for class/network.	24 bits for host.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B:	16 bits for class/network.	16 bits for host.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C:	24 bits for class/network.	8 bits for host.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we could assign network IDs of any length?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Leads to </a:t>
            </a:r>
            <a:r>
              <a:rPr lang="en" b="1"/>
              <a:t>CIDR (Classless Inter-Domain Routing)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what the Internet uses today.</a:t>
            </a:r>
            <a:endParaRPr/>
          </a:p>
        </p:txBody>
      </p:sp>
      <p:graphicFrame>
        <p:nvGraphicFramePr>
          <p:cNvPr id="1249" name="Google Shape;1249;p60"/>
          <p:cNvGraphicFramePr/>
          <p:nvPr/>
        </p:nvGraphicFramePr>
        <p:xfrm>
          <a:off x="1200800" y="35040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(7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(24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0" name="Google Shape;1250;p60"/>
          <p:cNvGraphicFramePr/>
          <p:nvPr/>
        </p:nvGraphicFramePr>
        <p:xfrm>
          <a:off x="1200800" y="38850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(14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16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(16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51" name="Google Shape;1251;p60"/>
          <p:cNvGraphicFramePr/>
          <p:nvPr/>
        </p:nvGraphicFramePr>
        <p:xfrm>
          <a:off x="1200800" y="42660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6AA84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110</a:t>
                      </a:r>
                      <a:endParaRPr sz="1600">
                        <a:solidFill>
                          <a:srgbClr val="6AA84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(21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(8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52" name="Google Shape;1252;p60"/>
          <p:cNvSpPr txBox="1"/>
          <p:nvPr/>
        </p:nvSpPr>
        <p:spPr>
          <a:xfrm>
            <a:off x="235950" y="3571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A: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3" name="Google Shape;1253;p60"/>
          <p:cNvSpPr txBox="1"/>
          <p:nvPr/>
        </p:nvSpPr>
        <p:spPr>
          <a:xfrm>
            <a:off x="235950" y="3952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B: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60"/>
          <p:cNvSpPr txBox="1"/>
          <p:nvPr/>
        </p:nvSpPr>
        <p:spPr>
          <a:xfrm>
            <a:off x="235950" y="433337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Class C: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762923-D3B0-5FA9-5287-0DD387AE29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Assigning Addresses, Attempt 3/3 – CIDR</a:t>
            </a:r>
            <a:endParaRPr/>
          </a:p>
        </p:txBody>
      </p:sp>
      <p:sp>
        <p:nvSpPr>
          <p:cNvPr id="1260" name="Google Shape;1260;p6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7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Suppose Joe's Tire Shop has 450 hosts.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Classful addressing: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C gives us ~256 hosts. Not enough!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Class B gives us ~65k hosts. Too many!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have to use Class B (and waste tons of addresses).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Classless (CIDR) addressing: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8 host bits = 256 hosts. Not enough!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9 host bits = 512 </a:t>
            </a:r>
            <a:r>
              <a:rPr lang="en" altLang="zh-CN" dirty="0"/>
              <a:t>hosts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Not exactly 450, but it is good to leave some IP addresses for future growth</a:t>
            </a:r>
            <a:endParaRPr dirty="0"/>
          </a:p>
        </p:txBody>
      </p:sp>
      <p:graphicFrame>
        <p:nvGraphicFramePr>
          <p:cNvPr id="1261" name="Google Shape;1261;p61"/>
          <p:cNvGraphicFramePr/>
          <p:nvPr/>
        </p:nvGraphicFramePr>
        <p:xfrm>
          <a:off x="733500" y="4397425"/>
          <a:ext cx="7656800" cy="3810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239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927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381000">
                <a:tc gridSpan="2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Network ID (23 bits)</a:t>
                      </a:r>
                      <a:endParaRPr sz="1600"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 ID (9 bits)</a:t>
                      </a:r>
                      <a:endParaRPr sz="1600">
                        <a:solidFill>
                          <a:schemeClr val="accent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0" marB="0" anchor="ctr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C45813-9F4B-23AF-8AD4-7FBF74E86F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Granular Hierarchical Assignment with CIDR</a:t>
            </a:r>
            <a:endParaRPr/>
          </a:p>
        </p:txBody>
      </p:sp>
      <p:sp>
        <p:nvSpPr>
          <p:cNvPr id="1267" name="Google Shape;1267;p6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CIDR enables multi-layered hierarchical assignment of addresses.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ICANN.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Internet Corporation for Names and Numbers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Top-level organization that owns all the IP addresses.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They allocate blocks to...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RIRs.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Regional Internet Registries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Representing Europe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RIPE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, North America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ARIN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, Asia/Pacific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APNIC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, South America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LACNIC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, and Africa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AFRINIC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They give out portions to...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Large organizations or ISPs.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Sometimes called Local Internet Registries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especially in Europe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They give out portions to...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Small organizations and individuals.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Examples: Hofstra University, Joe's Tire Shop.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CD3B1-D92D-6D65-221E-E6C66AA64B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Granular Hierarchical Assignment with CIDR</a:t>
            </a:r>
            <a:endParaRPr/>
          </a:p>
        </p:txBody>
      </p:sp>
      <p:sp>
        <p:nvSpPr>
          <p:cNvPr id="1273" name="Google Shape;1273;p63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ICANN owns all addresses:	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................................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ARIN (North America) owns:	</a:t>
            </a: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............................</a:t>
            </a:r>
            <a:endParaRPr dirty="0"/>
          </a:p>
          <a:p>
            <a:pPr marL="2743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4 bits fixed, 2</a:t>
            </a:r>
            <a:r>
              <a:rPr lang="en" sz="1400" baseline="30000" dirty="0"/>
              <a:t>28</a:t>
            </a:r>
            <a:r>
              <a:rPr lang="en" sz="1400" dirty="0"/>
              <a:t> ≈ 268m addresses.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AT&amp;T (large ISP) owns:		</a:t>
            </a: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.......................</a:t>
            </a:r>
            <a:endParaRPr dirty="0"/>
          </a:p>
          <a:p>
            <a:pPr marL="2743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9 bits fixed, 2</a:t>
            </a:r>
            <a:r>
              <a:rPr lang="en" sz="1400" baseline="30000" dirty="0"/>
              <a:t>23</a:t>
            </a:r>
            <a:r>
              <a:rPr lang="en" sz="1400" dirty="0"/>
              <a:t> ≈ 8m addresses.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Hofstra owns:			</a:t>
            </a: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110100010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..............</a:t>
            </a:r>
            <a:endParaRPr dirty="0"/>
          </a:p>
          <a:p>
            <a:pPr marL="27432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18 bits fixed, 2</a:t>
            </a:r>
            <a:r>
              <a:rPr lang="en" sz="1400" baseline="30000" dirty="0"/>
              <a:t>14</a:t>
            </a:r>
            <a:r>
              <a:rPr lang="en" sz="1400" dirty="0"/>
              <a:t> ≈ 16k addresses.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SIC owns:			</a:t>
            </a: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110100010</a:t>
            </a:r>
            <a:r>
              <a:rPr lang="en" dirty="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011010</a:t>
            </a: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........</a:t>
            </a:r>
            <a:endParaRPr dirty="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	        </a:t>
            </a:r>
            <a:r>
              <a:rPr lang="en" sz="1400" dirty="0"/>
              <a:t>24 bits fixed, 2</a:t>
            </a:r>
            <a:r>
              <a:rPr lang="en" sz="1400" baseline="30000" dirty="0"/>
              <a:t>8</a:t>
            </a:r>
            <a:r>
              <a:rPr lang="en" sz="1400" dirty="0"/>
              <a:t> ≈ 256 addresses.</a:t>
            </a:r>
            <a:endParaRPr sz="14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Prof. Gu owns:			</a:t>
            </a:r>
            <a:r>
              <a:rPr lang="en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</a:t>
            </a:r>
            <a:r>
              <a:rPr lang="en" dirty="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11001</a:t>
            </a:r>
            <a:r>
              <a:rPr lang="en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110100010</a:t>
            </a:r>
            <a:r>
              <a:rPr lang="en" dirty="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011010</a:t>
            </a:r>
            <a:r>
              <a:rPr lang="en" dirty="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01011101</a:t>
            </a:r>
            <a:endParaRPr dirty="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			        </a:t>
            </a:r>
            <a:r>
              <a:rPr lang="en" sz="1400" dirty="0">
                <a:solidFill>
                  <a:srgbClr val="000000"/>
                </a:solidFill>
              </a:rPr>
              <a:t>All bits fixed, 1 address.</a:t>
            </a:r>
            <a:endParaRPr sz="1400" dirty="0">
              <a:solidFill>
                <a:srgbClr val="0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5D977-A16C-F330-C266-6814AF855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6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Addresses</a:t>
            </a:r>
            <a:endParaRPr/>
          </a:p>
        </p:txBody>
      </p:sp>
      <p:sp>
        <p:nvSpPr>
          <p:cNvPr id="1279" name="Google Shape;1279;p64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Writing Addresses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80" name="Google Shape;1280;p6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6,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F9448A-4DA7-FAEA-CEF2-A97826F11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Writing IPv4 Addresses</a:t>
            </a:r>
            <a:endParaRPr dirty="0"/>
          </a:p>
        </p:txBody>
      </p:sp>
      <p:sp>
        <p:nvSpPr>
          <p:cNvPr id="1286" name="Google Shape;1286;p65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22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We could write an IP address as a 32-bit number: </a:t>
            </a:r>
            <a:r>
              <a:rPr lang="en" sz="1600" dirty="0">
                <a:latin typeface="Consolas"/>
                <a:ea typeface="Consolas"/>
                <a:cs typeface="Consolas"/>
                <a:sym typeface="Consolas"/>
              </a:rPr>
              <a:t>11011100111010001001101001011101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Nobody wants to read that.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Dotted quad notation</a:t>
            </a:r>
            <a:r>
              <a:rPr lang="en" dirty="0"/>
              <a:t>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Split into groups of 8 bits.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Write each 8-bit number in decimal, separated by dots.</a:t>
            </a:r>
            <a:endParaRPr dirty="0"/>
          </a:p>
        </p:txBody>
      </p:sp>
      <p:sp>
        <p:nvSpPr>
          <p:cNvPr id="1287" name="Google Shape;1287;p65"/>
          <p:cNvSpPr txBox="1"/>
          <p:nvPr/>
        </p:nvSpPr>
        <p:spPr>
          <a:xfrm>
            <a:off x="2035500" y="3421700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10011010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01011101</a:t>
            </a:r>
            <a:endParaRPr sz="18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88" name="Google Shape;1288;p65"/>
          <p:cNvCxnSpPr/>
          <p:nvPr/>
        </p:nvCxnSpPr>
        <p:spPr>
          <a:xfrm>
            <a:off x="2687825" y="3727646"/>
            <a:ext cx="0" cy="59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9" name="Google Shape;1289;p65"/>
          <p:cNvCxnSpPr/>
          <p:nvPr/>
        </p:nvCxnSpPr>
        <p:spPr>
          <a:xfrm>
            <a:off x="3939520" y="3727646"/>
            <a:ext cx="0" cy="59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0" name="Google Shape;1290;p65"/>
          <p:cNvCxnSpPr/>
          <p:nvPr/>
        </p:nvCxnSpPr>
        <p:spPr>
          <a:xfrm>
            <a:off x="5202430" y="3727646"/>
            <a:ext cx="0" cy="59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91" name="Google Shape;1291;p65"/>
          <p:cNvCxnSpPr/>
          <p:nvPr/>
        </p:nvCxnSpPr>
        <p:spPr>
          <a:xfrm>
            <a:off x="6465325" y="3727646"/>
            <a:ext cx="0" cy="59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2" name="Google Shape;1292;p65"/>
          <p:cNvSpPr txBox="1"/>
          <p:nvPr/>
        </p:nvSpPr>
        <p:spPr>
          <a:xfrm>
            <a:off x="23311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p65"/>
          <p:cNvSpPr txBox="1"/>
          <p:nvPr/>
        </p:nvSpPr>
        <p:spPr>
          <a:xfrm>
            <a:off x="35884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232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4" name="Google Shape;1294;p65"/>
          <p:cNvSpPr txBox="1"/>
          <p:nvPr/>
        </p:nvSpPr>
        <p:spPr>
          <a:xfrm>
            <a:off x="6169225" y="4336100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93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5" name="Google Shape;1295;p65"/>
          <p:cNvSpPr txBox="1"/>
          <p:nvPr/>
        </p:nvSpPr>
        <p:spPr>
          <a:xfrm>
            <a:off x="4877675" y="4336100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154</a:t>
            </a:r>
            <a:endParaRPr sz="2400" dirty="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6" name="Google Shape;1296;p65"/>
          <p:cNvSpPr txBox="1"/>
          <p:nvPr/>
        </p:nvSpPr>
        <p:spPr>
          <a:xfrm>
            <a:off x="29816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7" name="Google Shape;1297;p65"/>
          <p:cNvSpPr txBox="1"/>
          <p:nvPr/>
        </p:nvSpPr>
        <p:spPr>
          <a:xfrm>
            <a:off x="42008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p65"/>
          <p:cNvSpPr txBox="1"/>
          <p:nvPr/>
        </p:nvSpPr>
        <p:spPr>
          <a:xfrm>
            <a:off x="5496225" y="4336100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42951A-F686-770C-10E6-0D0BDC7015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IPv4 Address Ranges</a:t>
            </a:r>
            <a:endParaRPr/>
          </a:p>
        </p:txBody>
      </p:sp>
      <p:sp>
        <p:nvSpPr>
          <p:cNvPr id="1304" name="Google Shape;1304;p66"/>
          <p:cNvSpPr txBox="1">
            <a:spLocks noGrp="1"/>
          </p:cNvSpPr>
          <p:nvPr>
            <p:ph type="body" idx="1"/>
          </p:nvPr>
        </p:nvSpPr>
        <p:spPr>
          <a:xfrm>
            <a:off x="100128" y="291033"/>
            <a:ext cx="8909700" cy="307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Slash notation</a:t>
            </a:r>
            <a:r>
              <a:rPr lang="en" dirty="0"/>
              <a:t> for writing ranges of addresses: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Set all unfixed bits to 0. Write as a dotted quad. After the slash, write how many bits are fixed.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Examples:</a:t>
            </a:r>
            <a:endParaRPr dirty="0"/>
          </a:p>
          <a:p>
            <a:pPr lvl="0"/>
            <a:r>
              <a:rPr lang="en" dirty="0"/>
              <a:t>192.168.1.0/24 means 24 bits are fixed. Range is 192.168.1.0 – 192.168.1.255 (8 bits address range)</a:t>
            </a:r>
            <a:endParaRPr dirty="0"/>
          </a:p>
          <a:p>
            <a:pPr lvl="0">
              <a:spcBef>
                <a:spcPts val="0"/>
              </a:spcBef>
            </a:pPr>
            <a:r>
              <a:rPr lang="en" dirty="0"/>
              <a:t>192.168.1.0/29 means 29 bits are fixed. Range is 192.168.1.0 </a:t>
            </a:r>
            <a:r>
              <a:rPr lang="en"/>
              <a:t>– 192.168.1.7 </a:t>
            </a:r>
            <a:r>
              <a:rPr lang="en" dirty="0"/>
              <a:t>(3 bits address range)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192.168.1.1/32 means 32 bits are fixed. A single address.</a:t>
            </a:r>
            <a:endParaRPr sz="2000" dirty="0"/>
          </a:p>
        </p:txBody>
      </p:sp>
      <p:sp>
        <p:nvSpPr>
          <p:cNvPr id="1305" name="Google Shape;1305;p66"/>
          <p:cNvSpPr txBox="1"/>
          <p:nvPr/>
        </p:nvSpPr>
        <p:spPr>
          <a:xfrm>
            <a:off x="1187900" y="39663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0000  00000000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6" name="Google Shape;1306;p66"/>
          <p:cNvCxnSpPr/>
          <p:nvPr/>
        </p:nvCxnSpPr>
        <p:spPr>
          <a:xfrm>
            <a:off x="1840225" y="42467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7" name="Google Shape;1307;p66"/>
          <p:cNvCxnSpPr/>
          <p:nvPr/>
        </p:nvCxnSpPr>
        <p:spPr>
          <a:xfrm>
            <a:off x="3091920" y="42467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8" name="Google Shape;1308;p66"/>
          <p:cNvCxnSpPr/>
          <p:nvPr/>
        </p:nvCxnSpPr>
        <p:spPr>
          <a:xfrm>
            <a:off x="4354830" y="42467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9" name="Google Shape;1309;p66"/>
          <p:cNvCxnSpPr/>
          <p:nvPr/>
        </p:nvCxnSpPr>
        <p:spPr>
          <a:xfrm>
            <a:off x="5617725" y="42467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10" name="Google Shape;1310;p66"/>
          <p:cNvSpPr txBox="1"/>
          <p:nvPr/>
        </p:nvSpPr>
        <p:spPr>
          <a:xfrm>
            <a:off x="14835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220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1" name="Google Shape;1311;p66"/>
          <p:cNvSpPr txBox="1"/>
          <p:nvPr/>
        </p:nvSpPr>
        <p:spPr>
          <a:xfrm>
            <a:off x="27408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232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66"/>
          <p:cNvSpPr txBox="1"/>
          <p:nvPr/>
        </p:nvSpPr>
        <p:spPr>
          <a:xfrm>
            <a:off x="5321625" y="4575925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p66"/>
          <p:cNvSpPr txBox="1"/>
          <p:nvPr/>
        </p:nvSpPr>
        <p:spPr>
          <a:xfrm>
            <a:off x="4030075" y="4575925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144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4" name="Google Shape;1314;p66"/>
          <p:cNvSpPr txBox="1"/>
          <p:nvPr/>
        </p:nvSpPr>
        <p:spPr>
          <a:xfrm>
            <a:off x="21340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5" name="Google Shape;1315;p66"/>
          <p:cNvSpPr txBox="1"/>
          <p:nvPr/>
        </p:nvSpPr>
        <p:spPr>
          <a:xfrm>
            <a:off x="33532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6" name="Google Shape;1316;p66"/>
          <p:cNvSpPr txBox="1"/>
          <p:nvPr/>
        </p:nvSpPr>
        <p:spPr>
          <a:xfrm>
            <a:off x="4648625" y="45759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7" name="Google Shape;1317;p66"/>
          <p:cNvSpPr txBox="1"/>
          <p:nvPr/>
        </p:nvSpPr>
        <p:spPr>
          <a:xfrm>
            <a:off x="1187900" y="35091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....  ........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8" name="Google Shape;1318;p66"/>
          <p:cNvSpPr txBox="1"/>
          <p:nvPr/>
        </p:nvSpPr>
        <p:spPr>
          <a:xfrm>
            <a:off x="6847000" y="3560275"/>
            <a:ext cx="1109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Set all unfixed bits to 0.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66"/>
          <p:cNvSpPr txBox="1"/>
          <p:nvPr/>
        </p:nvSpPr>
        <p:spPr>
          <a:xfrm>
            <a:off x="6236025" y="4575925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/20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0" name="Google Shape;1320;p66"/>
          <p:cNvSpPr txBox="1"/>
          <p:nvPr/>
        </p:nvSpPr>
        <p:spPr>
          <a:xfrm>
            <a:off x="6939150" y="4654375"/>
            <a:ext cx="1678200" cy="2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Number of fixed bits.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1" name="Google Shape;1321;p66"/>
          <p:cNvCxnSpPr/>
          <p:nvPr/>
        </p:nvCxnSpPr>
        <p:spPr>
          <a:xfrm>
            <a:off x="6413300" y="3647725"/>
            <a:ext cx="600" cy="457200"/>
          </a:xfrm>
          <a:prstGeom prst="curvedConnector3">
            <a:avLst>
              <a:gd name="adj1" fmla="val 60191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3D2CB8-4632-BF9D-0048-7366091824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IPv4 Address Ranges</a:t>
            </a:r>
            <a:endParaRPr/>
          </a:p>
        </p:txBody>
      </p:sp>
      <p:sp>
        <p:nvSpPr>
          <p:cNvPr id="1327" name="Google Shape;1327;p6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6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Netmask</a:t>
            </a:r>
            <a:r>
              <a:rPr lang="en" dirty="0"/>
              <a:t> is an alternative to the number after the slash..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Set all </a:t>
            </a:r>
            <a:r>
              <a:rPr lang="en" i="1" dirty="0"/>
              <a:t>fixed</a:t>
            </a:r>
            <a:r>
              <a:rPr lang="en" dirty="0"/>
              <a:t> bits to 1, and all </a:t>
            </a:r>
            <a:r>
              <a:rPr lang="en" i="1" dirty="0"/>
              <a:t>unfixed</a:t>
            </a:r>
            <a:r>
              <a:rPr lang="en" dirty="0"/>
              <a:t> bits to 0. Write as a dotted quad.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Useful in code: To extract network ID, bitwise AND the address and netmask.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Slash notation is more convenient for humans.</a:t>
            </a:r>
            <a:endParaRPr dirty="0"/>
          </a:p>
        </p:txBody>
      </p:sp>
      <p:sp>
        <p:nvSpPr>
          <p:cNvPr id="1328" name="Google Shape;1328;p67"/>
          <p:cNvSpPr txBox="1"/>
          <p:nvPr/>
        </p:nvSpPr>
        <p:spPr>
          <a:xfrm>
            <a:off x="1187900" y="26709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11111111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11111111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1111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0000  00000000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29" name="Google Shape;1329;p67"/>
          <p:cNvCxnSpPr/>
          <p:nvPr/>
        </p:nvCxnSpPr>
        <p:spPr>
          <a:xfrm>
            <a:off x="1840225" y="29513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0" name="Google Shape;1330;p67"/>
          <p:cNvCxnSpPr/>
          <p:nvPr/>
        </p:nvCxnSpPr>
        <p:spPr>
          <a:xfrm>
            <a:off x="3091920" y="29513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1" name="Google Shape;1331;p67"/>
          <p:cNvCxnSpPr/>
          <p:nvPr/>
        </p:nvCxnSpPr>
        <p:spPr>
          <a:xfrm>
            <a:off x="4354830" y="29513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2" name="Google Shape;1332;p67"/>
          <p:cNvCxnSpPr/>
          <p:nvPr/>
        </p:nvCxnSpPr>
        <p:spPr>
          <a:xfrm>
            <a:off x="5617725" y="2951375"/>
            <a:ext cx="0" cy="369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33" name="Google Shape;1333;p67"/>
          <p:cNvSpPr txBox="1"/>
          <p:nvPr/>
        </p:nvSpPr>
        <p:spPr>
          <a:xfrm>
            <a:off x="14835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4" name="Google Shape;1334;p67"/>
          <p:cNvSpPr txBox="1"/>
          <p:nvPr/>
        </p:nvSpPr>
        <p:spPr>
          <a:xfrm>
            <a:off x="27408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255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5" name="Google Shape;1335;p67"/>
          <p:cNvSpPr txBox="1"/>
          <p:nvPr/>
        </p:nvSpPr>
        <p:spPr>
          <a:xfrm>
            <a:off x="5321625" y="3280525"/>
            <a:ext cx="59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6" name="Google Shape;1336;p67"/>
          <p:cNvSpPr txBox="1"/>
          <p:nvPr/>
        </p:nvSpPr>
        <p:spPr>
          <a:xfrm>
            <a:off x="4030075" y="3280525"/>
            <a:ext cx="649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240</a:t>
            </a:r>
            <a:endParaRPr sz="2400">
              <a:solidFill>
                <a:srgbClr val="99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7" name="Google Shape;1337;p67"/>
          <p:cNvSpPr txBox="1"/>
          <p:nvPr/>
        </p:nvSpPr>
        <p:spPr>
          <a:xfrm>
            <a:off x="21340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8" name="Google Shape;1338;p67"/>
          <p:cNvSpPr txBox="1"/>
          <p:nvPr/>
        </p:nvSpPr>
        <p:spPr>
          <a:xfrm>
            <a:off x="33532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9" name="Google Shape;1339;p67"/>
          <p:cNvSpPr txBox="1"/>
          <p:nvPr/>
        </p:nvSpPr>
        <p:spPr>
          <a:xfrm>
            <a:off x="4648625" y="3280525"/>
            <a:ext cx="71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p67"/>
          <p:cNvSpPr txBox="1"/>
          <p:nvPr/>
        </p:nvSpPr>
        <p:spPr>
          <a:xfrm>
            <a:off x="1187900" y="2213725"/>
            <a:ext cx="5073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11011100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11101000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800">
                <a:solidFill>
                  <a:schemeClr val="accent3"/>
                </a:solidFill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....  ........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1" name="Google Shape;1341;p67"/>
          <p:cNvSpPr txBox="1"/>
          <p:nvPr/>
        </p:nvSpPr>
        <p:spPr>
          <a:xfrm>
            <a:off x="6847000" y="2341075"/>
            <a:ext cx="1109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Set all bits to 0 or 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2" name="Google Shape;1342;p67"/>
          <p:cNvCxnSpPr/>
          <p:nvPr/>
        </p:nvCxnSpPr>
        <p:spPr>
          <a:xfrm>
            <a:off x="6413300" y="2352325"/>
            <a:ext cx="600" cy="457200"/>
          </a:xfrm>
          <a:prstGeom prst="curvedConnector3">
            <a:avLst>
              <a:gd name="adj1" fmla="val 60191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3" name="Google Shape;1343;p67"/>
          <p:cNvSpPr txBox="1">
            <a:spLocks noGrp="1"/>
          </p:cNvSpPr>
          <p:nvPr>
            <p:ph type="body" idx="1"/>
          </p:nvPr>
        </p:nvSpPr>
        <p:spPr>
          <a:xfrm>
            <a:off x="107050" y="3882425"/>
            <a:ext cx="8909700" cy="105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Slash notation:	 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220.232.144.0/20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Netmask notation:	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220.232.144.0</a:t>
            </a:r>
            <a:r>
              <a:rPr lang="en"/>
              <a:t> (netmask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255.255.240.0</a:t>
            </a:r>
            <a:r>
              <a:rPr lang="en"/>
              <a:t>)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15136C-FBEE-EE9C-F2AC-F6DA062642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6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Aggregating Routes</a:t>
            </a:r>
            <a:endParaRPr/>
          </a:p>
        </p:txBody>
      </p:sp>
      <p:sp>
        <p:nvSpPr>
          <p:cNvPr id="1349" name="Google Shape;1349;p68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Aggregating Routes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IPv6 Changes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350" name="Google Shape;1350;p6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6,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6D7B4-10CF-091B-9D34-753AD3E65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69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6" name="Google Shape;1356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357" name="Google Shape;1357;p6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inter-domain routing, we're looking for routes to other networks.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destination is a network, represented by an IP prefix.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Already better than one entry per host...but we can do even better!</a:t>
            </a:r>
            <a:endParaRPr/>
          </a:p>
        </p:txBody>
      </p:sp>
      <p:sp>
        <p:nvSpPr>
          <p:cNvPr id="1358" name="Google Shape;1358;p69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69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0" name="Google Shape;1360;p69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1" name="Google Shape;1361;p69"/>
          <p:cNvCxnSpPr>
            <a:stCxn id="1358" idx="6"/>
            <a:endCxn id="1360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69"/>
          <p:cNvCxnSpPr>
            <a:stCxn id="1360" idx="3"/>
            <a:endCxn id="1359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3" name="Google Shape;1363;p69"/>
          <p:cNvCxnSpPr>
            <a:stCxn id="1360" idx="2"/>
            <a:endCxn id="1364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5" name="Google Shape;1365;p69"/>
          <p:cNvCxnSpPr>
            <a:stCxn id="1359" idx="2"/>
            <a:endCxn id="1366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7" name="Google Shape;1367;p69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69"/>
          <p:cNvCxnSpPr>
            <a:stCxn id="1367" idx="2"/>
            <a:endCxn id="1366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9" name="Google Shape;1369;p69"/>
          <p:cNvCxnSpPr>
            <a:stCxn id="1359" idx="3"/>
            <a:endCxn id="1367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0" name="Google Shape;1370;p69"/>
          <p:cNvCxnSpPr>
            <a:stCxn id="1371" idx="1"/>
            <a:endCxn id="1367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2" name="Google Shape;1372;p69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3" name="Google Shape;1373;p69"/>
          <p:cNvCxnSpPr>
            <a:stCxn id="1372" idx="5"/>
            <a:endCxn id="1371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4" name="Google Shape;1374;p69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130.0.0.0/8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5" name="Google Shape;1375;p69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146.0.0.0/8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6" name="Google Shape;1376;p69"/>
          <p:cNvCxnSpPr>
            <a:stCxn id="1364" idx="2"/>
            <a:endCxn id="1377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8" name="Google Shape;1378;p69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69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0" name="Google Shape;1380;p69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69"/>
          <p:cNvCxnSpPr>
            <a:stCxn id="1377" idx="1"/>
            <a:endCxn id="1378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2" name="Google Shape;1382;p69"/>
          <p:cNvCxnSpPr>
            <a:stCxn id="1380" idx="3"/>
            <a:endCxn id="1378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3" name="Google Shape;1383;p69"/>
          <p:cNvCxnSpPr>
            <a:stCxn id="1379" idx="3"/>
            <a:endCxn id="1380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4" name="Google Shape;1384;p69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5" name="Google Shape;1385;p69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6" name="Google Shape;1386;p69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7" name="Google Shape;1387;p69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8" name="Google Shape;1388;p69"/>
          <p:cNvCxnSpPr>
            <a:stCxn id="1379" idx="2"/>
            <a:endCxn id="1384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9" name="Google Shape;1389;p69"/>
          <p:cNvCxnSpPr>
            <a:stCxn id="1380" idx="2"/>
            <a:endCxn id="1385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0" name="Google Shape;1390;p69"/>
          <p:cNvCxnSpPr>
            <a:stCxn id="1378" idx="2"/>
            <a:endCxn id="1386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1" name="Google Shape;1391;p69"/>
          <p:cNvCxnSpPr>
            <a:stCxn id="1377" idx="2"/>
            <a:endCxn id="1387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2" name="Google Shape;1392;p69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3" name="Google Shape;1393;p69"/>
          <p:cNvCxnSpPr>
            <a:stCxn id="1379" idx="2"/>
            <a:endCxn id="1392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4" name="Google Shape;1394;p69"/>
          <p:cNvCxnSpPr>
            <a:stCxn id="1366" idx="2"/>
            <a:endCxn id="1395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6" name="Google Shape;1396;p69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7" name="Google Shape;1397;p69"/>
          <p:cNvCxnSpPr>
            <a:stCxn id="1395" idx="2"/>
            <a:endCxn id="1396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8" name="Google Shape;1398;p69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9" name="Google Shape;1399;p69"/>
          <p:cNvCxnSpPr>
            <a:stCxn id="1395" idx="3"/>
            <a:endCxn id="1398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0" name="Google Shape;1400;p69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1" name="Google Shape;1401;p69"/>
          <p:cNvCxnSpPr>
            <a:stCxn id="1395" idx="3"/>
            <a:endCxn id="1400" idx="1"/>
          </p:cNvCxnSpPr>
          <p:nvPr/>
        </p:nvCxnSpPr>
        <p:spPr>
          <a:xfrm rot="10800000" flipH="1">
            <a:off x="3326802" y="3819350"/>
            <a:ext cx="5427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2" name="Google Shape;1402;p69"/>
          <p:cNvSpPr/>
          <p:nvPr/>
        </p:nvSpPr>
        <p:spPr>
          <a:xfrm>
            <a:off x="4610335" y="38300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3" name="Google Shape;1403;p69"/>
          <p:cNvCxnSpPr>
            <a:stCxn id="1400" idx="3"/>
            <a:endCxn id="1402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4" name="Google Shape;1404;p69"/>
          <p:cNvCxnSpPr>
            <a:stCxn id="1398" idx="3"/>
            <a:endCxn id="1400" idx="2"/>
          </p:cNvCxnSpPr>
          <p:nvPr/>
        </p:nvCxnSpPr>
        <p:spPr>
          <a:xfrm rot="10800000" flipH="1">
            <a:off x="3707802" y="3891050"/>
            <a:ext cx="233400" cy="309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5" name="Google Shape;1405;p69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6" name="Google Shape;1406;p69"/>
          <p:cNvCxnSpPr>
            <a:stCxn id="1400" idx="2"/>
            <a:endCxn id="1405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7" name="Google Shape;1407;p69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8" name="Google Shape;1408;p69"/>
          <p:cNvCxnSpPr>
            <a:stCxn id="1400" idx="2"/>
            <a:endCxn id="1407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69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0" name="Google Shape;1410;p69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1" name="Google Shape;1411;p69"/>
          <p:cNvCxnSpPr>
            <a:stCxn id="1402" idx="2"/>
            <a:endCxn id="1409" idx="7"/>
          </p:cNvCxnSpPr>
          <p:nvPr/>
        </p:nvCxnSpPr>
        <p:spPr>
          <a:xfrm flipH="1">
            <a:off x="4503985" y="3973148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2" name="Google Shape;1412;p69"/>
          <p:cNvCxnSpPr>
            <a:endCxn id="1410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3" name="Google Shape;1413;p69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4" name="Google Shape;1414;p69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5" name="Google Shape;1415;p69"/>
          <p:cNvCxnSpPr>
            <a:stCxn id="1402" idx="2"/>
            <a:endCxn id="1414" idx="1"/>
          </p:cNvCxnSpPr>
          <p:nvPr/>
        </p:nvCxnSpPr>
        <p:spPr>
          <a:xfrm>
            <a:off x="4681885" y="3973148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6" name="Google Shape;1416;p69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7" name="Google Shape;1417;p69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8" name="Google Shape;1418;p69"/>
          <p:cNvCxnSpPr>
            <a:stCxn id="1416" idx="3"/>
            <a:endCxn id="1417" idx="1"/>
          </p:cNvCxnSpPr>
          <p:nvPr/>
        </p:nvCxnSpPr>
        <p:spPr>
          <a:xfrm rot="10800000" flipH="1">
            <a:off x="4829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9" name="Google Shape;1419;p69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0" name="Google Shape;1420;p69"/>
          <p:cNvCxnSpPr>
            <a:stCxn id="1419" idx="3"/>
            <a:endCxn id="1417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1" name="Google Shape;1421;p69"/>
          <p:cNvCxnSpPr>
            <a:stCxn id="1419" idx="2"/>
            <a:endCxn id="1416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2" name="Google Shape;1422;p69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3" name="Google Shape;1423;p69"/>
          <p:cNvCxnSpPr>
            <a:stCxn id="1422" idx="4"/>
            <a:endCxn id="1419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4" name="Google Shape;1424;p69"/>
          <p:cNvCxnSpPr>
            <a:stCxn id="1425" idx="3"/>
            <a:endCxn id="1419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69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7" name="Google Shape;1427;p69"/>
          <p:cNvCxnSpPr>
            <a:stCxn id="1417" idx="3"/>
            <a:endCxn id="1426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8" name="Google Shape;1428;p69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69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69"/>
          <p:cNvCxnSpPr>
            <a:stCxn id="1428" idx="4"/>
            <a:endCxn id="1426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1" name="Google Shape;1431;p69"/>
          <p:cNvCxnSpPr>
            <a:stCxn id="1426" idx="2"/>
            <a:endCxn id="1429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2" name="Google Shape;1432;p69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69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69"/>
          <p:cNvCxnSpPr>
            <a:stCxn id="1426" idx="3"/>
            <a:endCxn id="1432" idx="1"/>
          </p:cNvCxnSpPr>
          <p:nvPr/>
        </p:nvCxnSpPr>
        <p:spPr>
          <a:xfrm rot="10800000" flipH="1">
            <a:off x="5591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9"/>
          <p:cNvCxnSpPr>
            <a:stCxn id="1426" idx="3"/>
            <a:endCxn id="1433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6" name="Google Shape;1436;p69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7" name="Google Shape;1437;p69"/>
          <p:cNvCxnSpPr>
            <a:stCxn id="1432" idx="3"/>
            <a:endCxn id="1436" idx="2"/>
          </p:cNvCxnSpPr>
          <p:nvPr/>
        </p:nvCxnSpPr>
        <p:spPr>
          <a:xfrm rot="10800000" flipH="1">
            <a:off x="5972635" y="29820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8" name="Google Shape;1438;p69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9" name="Google Shape;1439;p69"/>
          <p:cNvCxnSpPr>
            <a:stCxn id="1433" idx="3"/>
            <a:endCxn id="1438" idx="2"/>
          </p:cNvCxnSpPr>
          <p:nvPr/>
        </p:nvCxnSpPr>
        <p:spPr>
          <a:xfrm rot="10800000" flipH="1">
            <a:off x="5972635" y="32868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440" name="Google Shape;1440;p69"/>
          <p:cNvGraphicFramePr/>
          <p:nvPr/>
        </p:nvGraphicFramePr>
        <p:xfrm>
          <a:off x="6734632" y="2992200"/>
          <a:ext cx="2129200" cy="14385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11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130.0.0.0/8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146.0.0.0/8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41" name="Google Shape;1441;p69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69"/>
          <p:cNvCxnSpPr>
            <a:stCxn id="1371" idx="3"/>
            <a:endCxn id="1425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5" name="Google Shape;1425;p69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1" name="Google Shape;1371;p69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69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4" name="Google Shape;1364;p69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69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69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5EA348-D474-E4CD-7546-4D0D585A62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70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8" name="Google Shape;1448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449" name="Google Shape;1449;p7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CIDR, AT&amp;T allocates parts of its ranges to UC Berkeley and Stanford.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aggregate many networks into a single entry!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4.0.0.0/8 represents AT&amp;T, and all its subordinates.</a:t>
            </a:r>
            <a:endParaRPr/>
          </a:p>
        </p:txBody>
      </p:sp>
      <p:sp>
        <p:nvSpPr>
          <p:cNvPr id="1450" name="Google Shape;1450;p70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1" name="Google Shape;1451;p70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70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3" name="Google Shape;1453;p70"/>
          <p:cNvCxnSpPr>
            <a:stCxn id="1450" idx="6"/>
            <a:endCxn id="1452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" name="Google Shape;1454;p70"/>
          <p:cNvCxnSpPr>
            <a:stCxn id="1452" idx="3"/>
            <a:endCxn id="1451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5" name="Google Shape;1455;p70"/>
          <p:cNvCxnSpPr>
            <a:stCxn id="1452" idx="2"/>
            <a:endCxn id="1456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7" name="Google Shape;1457;p70"/>
          <p:cNvCxnSpPr>
            <a:stCxn id="1451" idx="2"/>
            <a:endCxn id="1458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9" name="Google Shape;1459;p70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0" name="Google Shape;1460;p70"/>
          <p:cNvCxnSpPr>
            <a:stCxn id="1459" idx="2"/>
            <a:endCxn id="1458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1" name="Google Shape;1461;p70"/>
          <p:cNvCxnSpPr>
            <a:stCxn id="1451" idx="3"/>
            <a:endCxn id="1459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2" name="Google Shape;1462;p70"/>
          <p:cNvCxnSpPr>
            <a:stCxn id="1463" idx="1"/>
            <a:endCxn id="1459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4" name="Google Shape;1464;p70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70"/>
          <p:cNvCxnSpPr>
            <a:stCxn id="1464" idx="5"/>
            <a:endCxn id="1463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6" name="Google Shape;1466;p70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7" name="Google Shape;1467;p70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4.29.0.0/16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8" name="Google Shape;1468;p70"/>
          <p:cNvCxnSpPr>
            <a:stCxn id="1456" idx="2"/>
            <a:endCxn id="1469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0" name="Google Shape;1470;p70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1" name="Google Shape;1471;p70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70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3" name="Google Shape;1473;p70"/>
          <p:cNvCxnSpPr>
            <a:stCxn id="1469" idx="1"/>
            <a:endCxn id="1470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4" name="Google Shape;1474;p70"/>
          <p:cNvCxnSpPr>
            <a:stCxn id="1472" idx="3"/>
            <a:endCxn id="1470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5" name="Google Shape;1475;p70"/>
          <p:cNvCxnSpPr>
            <a:stCxn id="1471" idx="3"/>
            <a:endCxn id="1472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6" name="Google Shape;1476;p70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7" name="Google Shape;1477;p70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8" name="Google Shape;1478;p70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9" name="Google Shape;1479;p70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70"/>
          <p:cNvCxnSpPr>
            <a:stCxn id="1471" idx="2"/>
            <a:endCxn id="1476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1" name="Google Shape;1481;p70"/>
          <p:cNvCxnSpPr>
            <a:stCxn id="1472" idx="2"/>
            <a:endCxn id="1477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2" name="Google Shape;1482;p70"/>
          <p:cNvCxnSpPr>
            <a:stCxn id="1470" idx="2"/>
            <a:endCxn id="1478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3" name="Google Shape;1483;p70"/>
          <p:cNvCxnSpPr>
            <a:stCxn id="1469" idx="2"/>
            <a:endCxn id="1479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4" name="Google Shape;1484;p70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5" name="Google Shape;1485;p70"/>
          <p:cNvCxnSpPr>
            <a:stCxn id="1471" idx="2"/>
            <a:endCxn id="1484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6" name="Google Shape;1486;p70"/>
          <p:cNvCxnSpPr>
            <a:stCxn id="1458" idx="2"/>
            <a:endCxn id="1487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8" name="Google Shape;1488;p70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9" name="Google Shape;1489;p70"/>
          <p:cNvCxnSpPr>
            <a:stCxn id="1487" idx="2"/>
            <a:endCxn id="1488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0" name="Google Shape;1490;p70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1" name="Google Shape;1491;p70"/>
          <p:cNvCxnSpPr>
            <a:stCxn id="1487" idx="3"/>
            <a:endCxn id="1490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2" name="Google Shape;1492;p70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3" name="Google Shape;1493;p70"/>
          <p:cNvCxnSpPr>
            <a:stCxn id="1487" idx="3"/>
            <a:endCxn id="1492" idx="1"/>
          </p:cNvCxnSpPr>
          <p:nvPr/>
        </p:nvCxnSpPr>
        <p:spPr>
          <a:xfrm rot="10800000" flipH="1">
            <a:off x="3326802" y="3819350"/>
            <a:ext cx="5427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4" name="Google Shape;1494;p70"/>
          <p:cNvSpPr/>
          <p:nvPr/>
        </p:nvSpPr>
        <p:spPr>
          <a:xfrm>
            <a:off x="4610335" y="38300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5" name="Google Shape;1495;p70"/>
          <p:cNvCxnSpPr>
            <a:stCxn id="1492" idx="3"/>
            <a:endCxn id="1494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6" name="Google Shape;1496;p70"/>
          <p:cNvCxnSpPr>
            <a:stCxn id="1490" idx="3"/>
            <a:endCxn id="1492" idx="2"/>
          </p:cNvCxnSpPr>
          <p:nvPr/>
        </p:nvCxnSpPr>
        <p:spPr>
          <a:xfrm rot="10800000" flipH="1">
            <a:off x="3707802" y="3891050"/>
            <a:ext cx="233400" cy="309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7" name="Google Shape;1497;p70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8" name="Google Shape;1498;p70"/>
          <p:cNvCxnSpPr>
            <a:stCxn id="1492" idx="2"/>
            <a:endCxn id="1497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9" name="Google Shape;1499;p70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0" name="Google Shape;1500;p70"/>
          <p:cNvCxnSpPr>
            <a:stCxn id="1492" idx="2"/>
            <a:endCxn id="1499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1" name="Google Shape;1501;p70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2" name="Google Shape;1502;p70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3" name="Google Shape;1503;p70"/>
          <p:cNvCxnSpPr>
            <a:stCxn id="1494" idx="2"/>
            <a:endCxn id="1501" idx="7"/>
          </p:cNvCxnSpPr>
          <p:nvPr/>
        </p:nvCxnSpPr>
        <p:spPr>
          <a:xfrm flipH="1">
            <a:off x="4503985" y="3973148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4" name="Google Shape;1504;p70"/>
          <p:cNvCxnSpPr>
            <a:endCxn id="1502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5" name="Google Shape;1505;p70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70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7" name="Google Shape;1507;p70"/>
          <p:cNvCxnSpPr>
            <a:stCxn id="1494" idx="2"/>
            <a:endCxn id="1506" idx="1"/>
          </p:cNvCxnSpPr>
          <p:nvPr/>
        </p:nvCxnSpPr>
        <p:spPr>
          <a:xfrm>
            <a:off x="4681885" y="3973148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8" name="Google Shape;1508;p70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9" name="Google Shape;1509;p70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0" name="Google Shape;1510;p70"/>
          <p:cNvCxnSpPr>
            <a:stCxn id="1508" idx="3"/>
            <a:endCxn id="1509" idx="1"/>
          </p:cNvCxnSpPr>
          <p:nvPr/>
        </p:nvCxnSpPr>
        <p:spPr>
          <a:xfrm rot="10800000" flipH="1">
            <a:off x="4829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1" name="Google Shape;1511;p70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2" name="Google Shape;1512;p70"/>
          <p:cNvCxnSpPr>
            <a:stCxn id="1511" idx="3"/>
            <a:endCxn id="1509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3" name="Google Shape;1513;p70"/>
          <p:cNvCxnSpPr>
            <a:stCxn id="1511" idx="2"/>
            <a:endCxn id="1508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4" name="Google Shape;1514;p70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70"/>
          <p:cNvCxnSpPr>
            <a:stCxn id="1514" idx="4"/>
            <a:endCxn id="1511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6" name="Google Shape;1516;p70"/>
          <p:cNvCxnSpPr>
            <a:stCxn id="1517" idx="3"/>
            <a:endCxn id="1511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8" name="Google Shape;1518;p70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9" name="Google Shape;1519;p70"/>
          <p:cNvCxnSpPr>
            <a:stCxn id="1509" idx="3"/>
            <a:endCxn id="1518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0" name="Google Shape;1520;p70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1" name="Google Shape;1521;p70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2" name="Google Shape;1522;p70"/>
          <p:cNvCxnSpPr>
            <a:stCxn id="1520" idx="4"/>
            <a:endCxn id="1518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3" name="Google Shape;1523;p70"/>
          <p:cNvCxnSpPr>
            <a:stCxn id="1518" idx="2"/>
            <a:endCxn id="1521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4" name="Google Shape;1524;p70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5" name="Google Shape;1525;p70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6" name="Google Shape;1526;p70"/>
          <p:cNvCxnSpPr>
            <a:stCxn id="1518" idx="3"/>
            <a:endCxn id="1524" idx="1"/>
          </p:cNvCxnSpPr>
          <p:nvPr/>
        </p:nvCxnSpPr>
        <p:spPr>
          <a:xfrm rot="10800000" flipH="1">
            <a:off x="5591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7" name="Google Shape;1527;p70"/>
          <p:cNvCxnSpPr>
            <a:stCxn id="1518" idx="3"/>
            <a:endCxn id="1525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8" name="Google Shape;1528;p70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29" name="Google Shape;1529;p70"/>
          <p:cNvCxnSpPr>
            <a:stCxn id="1524" idx="3"/>
            <a:endCxn id="1528" idx="2"/>
          </p:cNvCxnSpPr>
          <p:nvPr/>
        </p:nvCxnSpPr>
        <p:spPr>
          <a:xfrm rot="10800000" flipH="1">
            <a:off x="5972635" y="29820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0" name="Google Shape;1530;p70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1" name="Google Shape;1531;p70"/>
          <p:cNvCxnSpPr>
            <a:stCxn id="1525" idx="3"/>
            <a:endCxn id="1530" idx="2"/>
          </p:cNvCxnSpPr>
          <p:nvPr/>
        </p:nvCxnSpPr>
        <p:spPr>
          <a:xfrm rot="10800000" flipH="1">
            <a:off x="5972635" y="32868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532" name="Google Shape;1532;p70"/>
          <p:cNvGraphicFramePr/>
          <p:nvPr/>
        </p:nvGraphicFramePr>
        <p:xfrm>
          <a:off x="6734632" y="2992200"/>
          <a:ext cx="2129200" cy="14385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11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4.12.0.0/16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4.29.0.0/16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3" name="Google Shape;1533;p70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4" name="Google Shape;1534;p70"/>
          <p:cNvCxnSpPr>
            <a:stCxn id="1463" idx="3"/>
            <a:endCxn id="1517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7" name="Google Shape;1517;p70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3" name="Google Shape;1463;p70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8" name="Google Shape;1458;p70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6" name="Google Shape;1456;p70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9" name="Google Shape;1469;p70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70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31D5AD-845A-F004-F60C-73557B2463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71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541" name="Google Shape;1541;p7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4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Now, Stanford wants to connect to multiple networks. This is called </a:t>
            </a:r>
            <a:r>
              <a:rPr lang="en" b="1"/>
              <a:t>multi-homing</a:t>
            </a:r>
            <a:r>
              <a:rPr lang="en"/>
              <a:t>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an entry for both AT&amp;T and Stanford (one of its subordinates).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Multi-homing limits aggregation!</a:t>
            </a:r>
            <a:endParaRPr/>
          </a:p>
        </p:txBody>
      </p:sp>
      <p:sp>
        <p:nvSpPr>
          <p:cNvPr id="1542" name="Google Shape;1542;p71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71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4" name="Google Shape;1544;p71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5" name="Google Shape;1545;p71"/>
          <p:cNvCxnSpPr>
            <a:stCxn id="1542" idx="6"/>
            <a:endCxn id="1544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6" name="Google Shape;1546;p71"/>
          <p:cNvCxnSpPr>
            <a:stCxn id="1544" idx="3"/>
            <a:endCxn id="1543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7" name="Google Shape;1547;p71"/>
          <p:cNvCxnSpPr>
            <a:stCxn id="1544" idx="2"/>
            <a:endCxn id="1548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9" name="Google Shape;1549;p71"/>
          <p:cNvCxnSpPr>
            <a:stCxn id="1543" idx="2"/>
            <a:endCxn id="1550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1" name="Google Shape;1551;p71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71"/>
          <p:cNvCxnSpPr>
            <a:stCxn id="1551" idx="2"/>
            <a:endCxn id="1550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3" name="Google Shape;1553;p71"/>
          <p:cNvCxnSpPr>
            <a:stCxn id="1543" idx="3"/>
            <a:endCxn id="1551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4" name="Google Shape;1554;p71"/>
          <p:cNvCxnSpPr>
            <a:stCxn id="1555" idx="1"/>
            <a:endCxn id="1551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6" name="Google Shape;1556;p71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71"/>
          <p:cNvCxnSpPr>
            <a:stCxn id="1556" idx="5"/>
            <a:endCxn id="1555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8" name="Google Shape;1558;p71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71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4.29.0.0/16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0" name="Google Shape;1560;p71"/>
          <p:cNvCxnSpPr>
            <a:stCxn id="1548" idx="2"/>
            <a:endCxn id="1561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2" name="Google Shape;1562;p71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71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71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5" name="Google Shape;1565;p71"/>
          <p:cNvCxnSpPr>
            <a:stCxn id="1561" idx="1"/>
            <a:endCxn id="1562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6" name="Google Shape;1566;p71"/>
          <p:cNvCxnSpPr>
            <a:stCxn id="1564" idx="3"/>
            <a:endCxn id="1562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67" name="Google Shape;1567;p71"/>
          <p:cNvCxnSpPr>
            <a:stCxn id="1563" idx="3"/>
            <a:endCxn id="1564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8" name="Google Shape;1568;p71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p71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71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71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2" name="Google Shape;1572;p71"/>
          <p:cNvCxnSpPr>
            <a:stCxn id="1563" idx="2"/>
            <a:endCxn id="1568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3" name="Google Shape;1573;p71"/>
          <p:cNvCxnSpPr>
            <a:stCxn id="1564" idx="2"/>
            <a:endCxn id="1569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4" name="Google Shape;1574;p71"/>
          <p:cNvCxnSpPr>
            <a:stCxn id="1562" idx="2"/>
            <a:endCxn id="1570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5" name="Google Shape;1575;p71"/>
          <p:cNvCxnSpPr>
            <a:stCxn id="1561" idx="2"/>
            <a:endCxn id="1571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6" name="Google Shape;1576;p71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7" name="Google Shape;1577;p71"/>
          <p:cNvCxnSpPr>
            <a:stCxn id="1563" idx="2"/>
            <a:endCxn id="1576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8" name="Google Shape;1578;p71"/>
          <p:cNvCxnSpPr>
            <a:stCxn id="1550" idx="2"/>
            <a:endCxn id="1579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0" name="Google Shape;1580;p71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1" name="Google Shape;1581;p71"/>
          <p:cNvCxnSpPr>
            <a:stCxn id="1579" idx="2"/>
            <a:endCxn id="1580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2" name="Google Shape;1582;p71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3" name="Google Shape;1583;p71"/>
          <p:cNvCxnSpPr>
            <a:stCxn id="1579" idx="3"/>
            <a:endCxn id="1582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4" name="Google Shape;1584;p71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5" name="Google Shape;1585;p71"/>
          <p:cNvCxnSpPr>
            <a:stCxn id="1579" idx="3"/>
            <a:endCxn id="1584" idx="1"/>
          </p:cNvCxnSpPr>
          <p:nvPr/>
        </p:nvCxnSpPr>
        <p:spPr>
          <a:xfrm rot="10800000" flipH="1">
            <a:off x="3326802" y="3819350"/>
            <a:ext cx="5427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6" name="Google Shape;1586;p71"/>
          <p:cNvCxnSpPr>
            <a:stCxn id="1584" idx="3"/>
            <a:endCxn id="1587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8" name="Google Shape;1588;p71"/>
          <p:cNvCxnSpPr>
            <a:stCxn id="1582" idx="3"/>
            <a:endCxn id="1584" idx="2"/>
          </p:cNvCxnSpPr>
          <p:nvPr/>
        </p:nvCxnSpPr>
        <p:spPr>
          <a:xfrm rot="10800000" flipH="1">
            <a:off x="3707802" y="3891050"/>
            <a:ext cx="233400" cy="309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9" name="Google Shape;1589;p71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0" name="Google Shape;1590;p71"/>
          <p:cNvCxnSpPr>
            <a:stCxn id="1584" idx="2"/>
            <a:endCxn id="1589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1" name="Google Shape;1591;p71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2" name="Google Shape;1592;p71"/>
          <p:cNvCxnSpPr>
            <a:stCxn id="1584" idx="2"/>
            <a:endCxn id="1591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3" name="Google Shape;1593;p71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4" name="Google Shape;1594;p71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5" name="Google Shape;1595;p71"/>
          <p:cNvCxnSpPr>
            <a:stCxn id="1587" idx="2"/>
            <a:endCxn id="1593" idx="7"/>
          </p:cNvCxnSpPr>
          <p:nvPr/>
        </p:nvCxnSpPr>
        <p:spPr>
          <a:xfrm flipH="1">
            <a:off x="4503868" y="3973057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6" name="Google Shape;1596;p71"/>
          <p:cNvCxnSpPr>
            <a:endCxn id="1594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7" name="Google Shape;1597;p71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8" name="Google Shape;1598;p71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9" name="Google Shape;1599;p71"/>
          <p:cNvCxnSpPr>
            <a:stCxn id="1587" idx="2"/>
            <a:endCxn id="1598" idx="1"/>
          </p:cNvCxnSpPr>
          <p:nvPr/>
        </p:nvCxnSpPr>
        <p:spPr>
          <a:xfrm>
            <a:off x="4681982" y="3973057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0" name="Google Shape;1600;p71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71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2" name="Google Shape;1602;p71"/>
          <p:cNvCxnSpPr>
            <a:stCxn id="1600" idx="3"/>
            <a:endCxn id="1601" idx="1"/>
          </p:cNvCxnSpPr>
          <p:nvPr/>
        </p:nvCxnSpPr>
        <p:spPr>
          <a:xfrm rot="10800000" flipH="1">
            <a:off x="4829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3" name="Google Shape;1603;p71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4" name="Google Shape;1604;p71"/>
          <p:cNvCxnSpPr>
            <a:stCxn id="1603" idx="3"/>
            <a:endCxn id="1601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5" name="Google Shape;1605;p71"/>
          <p:cNvCxnSpPr>
            <a:stCxn id="1603" idx="2"/>
            <a:endCxn id="1600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6" name="Google Shape;1606;p71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7" name="Google Shape;1607;p71"/>
          <p:cNvCxnSpPr>
            <a:stCxn id="1606" idx="4"/>
            <a:endCxn id="1603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8" name="Google Shape;1608;p71"/>
          <p:cNvCxnSpPr>
            <a:stCxn id="1609" idx="3"/>
            <a:endCxn id="1603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0" name="Google Shape;1610;p71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1" name="Google Shape;1611;p71"/>
          <p:cNvCxnSpPr>
            <a:stCxn id="1601" idx="3"/>
            <a:endCxn id="1610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2" name="Google Shape;1612;p71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3" name="Google Shape;1613;p71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71"/>
          <p:cNvCxnSpPr>
            <a:stCxn id="1612" idx="4"/>
            <a:endCxn id="1610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5" name="Google Shape;1615;p71"/>
          <p:cNvCxnSpPr>
            <a:stCxn id="1610" idx="2"/>
            <a:endCxn id="1613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6" name="Google Shape;1616;p71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p71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8" name="Google Shape;1618;p71"/>
          <p:cNvCxnSpPr>
            <a:stCxn id="1610" idx="3"/>
            <a:endCxn id="1616" idx="1"/>
          </p:cNvCxnSpPr>
          <p:nvPr/>
        </p:nvCxnSpPr>
        <p:spPr>
          <a:xfrm rot="10800000" flipH="1">
            <a:off x="5591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9" name="Google Shape;1619;p71"/>
          <p:cNvCxnSpPr>
            <a:stCxn id="1610" idx="3"/>
            <a:endCxn id="1617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0" name="Google Shape;1620;p71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1" name="Google Shape;1621;p71"/>
          <p:cNvCxnSpPr>
            <a:stCxn id="1616" idx="3"/>
            <a:endCxn id="1620" idx="2"/>
          </p:cNvCxnSpPr>
          <p:nvPr/>
        </p:nvCxnSpPr>
        <p:spPr>
          <a:xfrm rot="10800000" flipH="1">
            <a:off x="5972635" y="29820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2" name="Google Shape;1622;p71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3" name="Google Shape;1623;p71"/>
          <p:cNvCxnSpPr>
            <a:stCxn id="1617" idx="3"/>
            <a:endCxn id="1622" idx="2"/>
          </p:cNvCxnSpPr>
          <p:nvPr/>
        </p:nvCxnSpPr>
        <p:spPr>
          <a:xfrm rot="10800000" flipH="1">
            <a:off x="5972635" y="32868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624" name="Google Shape;1624;p71"/>
          <p:cNvGraphicFramePr/>
          <p:nvPr/>
        </p:nvGraphicFramePr>
        <p:xfrm>
          <a:off x="6734632" y="2992200"/>
          <a:ext cx="2129200" cy="14385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11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4.12.0.0/16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4.29.0.0/16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25" name="Google Shape;1625;p71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6" name="Google Shape;1626;p71"/>
          <p:cNvCxnSpPr>
            <a:stCxn id="1555" idx="3"/>
            <a:endCxn id="1609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9" name="Google Shape;1609;p71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5" name="Google Shape;1555;p71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p71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8" name="Google Shape;1548;p71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1" name="Google Shape;1561;p71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9" name="Google Shape;1579;p71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7" name="Google Shape;1627;p71"/>
          <p:cNvCxnSpPr>
            <a:stCxn id="1609" idx="2"/>
            <a:endCxn id="1587" idx="0"/>
          </p:cNvCxnSpPr>
          <p:nvPr/>
        </p:nvCxnSpPr>
        <p:spPr>
          <a:xfrm>
            <a:off x="4385476" y="3115300"/>
            <a:ext cx="296400" cy="71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8" name="Google Shape;1628;p71"/>
          <p:cNvSpPr/>
          <p:nvPr/>
        </p:nvSpPr>
        <p:spPr>
          <a:xfrm>
            <a:off x="4539376" y="37591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06A39D-6844-09BC-F2BB-FD7F8EFF1C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72"/>
          <p:cNvSpPr/>
          <p:nvPr/>
        </p:nvSpPr>
        <p:spPr>
          <a:xfrm>
            <a:off x="1577850" y="2310400"/>
            <a:ext cx="22395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4" name="Google Shape;1634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Inter-Domain Routing</a:t>
            </a:r>
            <a:endParaRPr/>
          </a:p>
        </p:txBody>
      </p:sp>
      <p:sp>
        <p:nvSpPr>
          <p:cNvPr id="1635" name="Google Shape;1635;p7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17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Ranges in the table might overlap.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Longest prefix matching</a:t>
            </a:r>
            <a:r>
              <a:rPr lang="en"/>
              <a:t>: If a destination matches many ranges, pick the most specific range.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4.29.1.2 matches both 4.0.0.0/8 and 4.29.0.0/16 (more specific).</a:t>
            </a:r>
            <a:endParaRPr/>
          </a:p>
        </p:txBody>
      </p:sp>
      <p:sp>
        <p:nvSpPr>
          <p:cNvPr id="1636" name="Google Shape;1636;p72"/>
          <p:cNvSpPr/>
          <p:nvPr/>
        </p:nvSpPr>
        <p:spPr>
          <a:xfrm>
            <a:off x="1800250" y="2977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72"/>
          <p:cNvSpPr/>
          <p:nvPr/>
        </p:nvSpPr>
        <p:spPr>
          <a:xfrm>
            <a:off x="26384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8" name="Google Shape;1638;p72"/>
          <p:cNvSpPr/>
          <p:nvPr/>
        </p:nvSpPr>
        <p:spPr>
          <a:xfrm>
            <a:off x="21812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9" name="Google Shape;1639;p72"/>
          <p:cNvCxnSpPr>
            <a:stCxn id="1636" idx="6"/>
            <a:endCxn id="1638" idx="1"/>
          </p:cNvCxnSpPr>
          <p:nvPr/>
        </p:nvCxnSpPr>
        <p:spPr>
          <a:xfrm>
            <a:off x="1943350" y="304900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0" name="Google Shape;1640;p72"/>
          <p:cNvCxnSpPr>
            <a:stCxn id="1638" idx="3"/>
            <a:endCxn id="1637" idx="1"/>
          </p:cNvCxnSpPr>
          <p:nvPr/>
        </p:nvCxnSpPr>
        <p:spPr>
          <a:xfrm>
            <a:off x="2324344" y="3049000"/>
            <a:ext cx="3141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1" name="Google Shape;1641;p72"/>
          <p:cNvCxnSpPr>
            <a:stCxn id="1638" idx="2"/>
            <a:endCxn id="1642" idx="0"/>
          </p:cNvCxnSpPr>
          <p:nvPr/>
        </p:nvCxnSpPr>
        <p:spPr>
          <a:xfrm>
            <a:off x="2252794" y="3120550"/>
            <a:ext cx="232800" cy="263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3" name="Google Shape;1643;p72"/>
          <p:cNvCxnSpPr>
            <a:stCxn id="1637" idx="2"/>
            <a:endCxn id="1644" idx="0"/>
          </p:cNvCxnSpPr>
          <p:nvPr/>
        </p:nvCxnSpPr>
        <p:spPr>
          <a:xfrm>
            <a:off x="2709994" y="3120550"/>
            <a:ext cx="2328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5" name="Google Shape;1645;p72"/>
          <p:cNvSpPr/>
          <p:nvPr/>
        </p:nvSpPr>
        <p:spPr>
          <a:xfrm>
            <a:off x="3171844" y="297745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6" name="Google Shape;1646;p72"/>
          <p:cNvCxnSpPr>
            <a:stCxn id="1645" idx="2"/>
            <a:endCxn id="1644" idx="0"/>
          </p:cNvCxnSpPr>
          <p:nvPr/>
        </p:nvCxnSpPr>
        <p:spPr>
          <a:xfrm flipH="1">
            <a:off x="2942794" y="3120550"/>
            <a:ext cx="300600" cy="259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7" name="Google Shape;1647;p72"/>
          <p:cNvCxnSpPr>
            <a:stCxn id="1637" idx="3"/>
            <a:endCxn id="1645" idx="1"/>
          </p:cNvCxnSpPr>
          <p:nvPr/>
        </p:nvCxnSpPr>
        <p:spPr>
          <a:xfrm>
            <a:off x="2781544" y="3049000"/>
            <a:ext cx="390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8" name="Google Shape;1648;p72"/>
          <p:cNvCxnSpPr>
            <a:stCxn id="1649" idx="1"/>
            <a:endCxn id="1645" idx="3"/>
          </p:cNvCxnSpPr>
          <p:nvPr/>
        </p:nvCxnSpPr>
        <p:spPr>
          <a:xfrm flipH="1">
            <a:off x="3314951" y="2972800"/>
            <a:ext cx="255000" cy="76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0" name="Google Shape;1650;p72"/>
          <p:cNvSpPr/>
          <p:nvPr/>
        </p:nvSpPr>
        <p:spPr>
          <a:xfrm>
            <a:off x="3447000" y="25964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1" name="Google Shape;1651;p72"/>
          <p:cNvCxnSpPr>
            <a:stCxn id="1650" idx="5"/>
            <a:endCxn id="1649" idx="0"/>
          </p:cNvCxnSpPr>
          <p:nvPr/>
        </p:nvCxnSpPr>
        <p:spPr>
          <a:xfrm>
            <a:off x="3569143" y="2718594"/>
            <a:ext cx="143400" cy="111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2" name="Google Shape;1652;p72"/>
          <p:cNvSpPr/>
          <p:nvPr/>
        </p:nvSpPr>
        <p:spPr>
          <a:xfrm>
            <a:off x="246150" y="3733900"/>
            <a:ext cx="25122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 Berkeley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4.12.0.0/16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72"/>
          <p:cNvSpPr/>
          <p:nvPr/>
        </p:nvSpPr>
        <p:spPr>
          <a:xfrm>
            <a:off x="2866600" y="3700950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Stanford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4.29.0.0/16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4" name="Google Shape;1654;p72"/>
          <p:cNvCxnSpPr>
            <a:stCxn id="1642" idx="2"/>
            <a:endCxn id="1655" idx="0"/>
          </p:cNvCxnSpPr>
          <p:nvPr/>
        </p:nvCxnSpPr>
        <p:spPr>
          <a:xfrm flipH="1">
            <a:off x="2167327" y="3526950"/>
            <a:ext cx="318300" cy="33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6" name="Google Shape;1656;p72"/>
          <p:cNvSpPr/>
          <p:nvPr/>
        </p:nvSpPr>
        <p:spPr>
          <a:xfrm>
            <a:off x="1714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72"/>
          <p:cNvSpPr/>
          <p:nvPr/>
        </p:nvSpPr>
        <p:spPr>
          <a:xfrm>
            <a:off x="952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8" name="Google Shape;1658;p72"/>
          <p:cNvSpPr/>
          <p:nvPr/>
        </p:nvSpPr>
        <p:spPr>
          <a:xfrm>
            <a:off x="1333752" y="38627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9" name="Google Shape;1659;p72"/>
          <p:cNvCxnSpPr>
            <a:stCxn id="1655" idx="1"/>
            <a:endCxn id="1656" idx="3"/>
          </p:cNvCxnSpPr>
          <p:nvPr/>
        </p:nvCxnSpPr>
        <p:spPr>
          <a:xfrm rot="10800000">
            <a:off x="1857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0" name="Google Shape;1660;p72"/>
          <p:cNvCxnSpPr>
            <a:stCxn id="1658" idx="3"/>
            <a:endCxn id="1656" idx="1"/>
          </p:cNvCxnSpPr>
          <p:nvPr/>
        </p:nvCxnSpPr>
        <p:spPr>
          <a:xfrm>
            <a:off x="1476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1" name="Google Shape;1661;p72"/>
          <p:cNvCxnSpPr>
            <a:stCxn id="1657" idx="3"/>
            <a:endCxn id="1658" idx="1"/>
          </p:cNvCxnSpPr>
          <p:nvPr/>
        </p:nvCxnSpPr>
        <p:spPr>
          <a:xfrm>
            <a:off x="1095852" y="3934250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2" name="Google Shape;1662;p72"/>
          <p:cNvSpPr/>
          <p:nvPr/>
        </p:nvSpPr>
        <p:spPr>
          <a:xfrm>
            <a:off x="952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3" name="Google Shape;1663;p72"/>
          <p:cNvSpPr/>
          <p:nvPr/>
        </p:nvSpPr>
        <p:spPr>
          <a:xfrm>
            <a:off x="1333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4" name="Google Shape;1664;p72"/>
          <p:cNvSpPr/>
          <p:nvPr/>
        </p:nvSpPr>
        <p:spPr>
          <a:xfrm>
            <a:off x="1714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5" name="Google Shape;1665;p72"/>
          <p:cNvSpPr/>
          <p:nvPr/>
        </p:nvSpPr>
        <p:spPr>
          <a:xfrm>
            <a:off x="2095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6" name="Google Shape;1666;p72"/>
          <p:cNvCxnSpPr>
            <a:stCxn id="1657" idx="2"/>
            <a:endCxn id="1662" idx="0"/>
          </p:cNvCxnSpPr>
          <p:nvPr/>
        </p:nvCxnSpPr>
        <p:spPr>
          <a:xfrm>
            <a:off x="1024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7" name="Google Shape;1667;p72"/>
          <p:cNvCxnSpPr>
            <a:stCxn id="1658" idx="2"/>
            <a:endCxn id="1663" idx="0"/>
          </p:cNvCxnSpPr>
          <p:nvPr/>
        </p:nvCxnSpPr>
        <p:spPr>
          <a:xfrm>
            <a:off x="1405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8" name="Google Shape;1668;p72"/>
          <p:cNvCxnSpPr>
            <a:stCxn id="1656" idx="2"/>
            <a:endCxn id="1664" idx="0"/>
          </p:cNvCxnSpPr>
          <p:nvPr/>
        </p:nvCxnSpPr>
        <p:spPr>
          <a:xfrm>
            <a:off x="1786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9" name="Google Shape;1669;p72"/>
          <p:cNvCxnSpPr>
            <a:stCxn id="1655" idx="2"/>
            <a:endCxn id="1665" idx="0"/>
          </p:cNvCxnSpPr>
          <p:nvPr/>
        </p:nvCxnSpPr>
        <p:spPr>
          <a:xfrm>
            <a:off x="2167302" y="400580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0" name="Google Shape;1670;p72"/>
          <p:cNvSpPr/>
          <p:nvPr/>
        </p:nvSpPr>
        <p:spPr>
          <a:xfrm>
            <a:off x="571750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1" name="Google Shape;1671;p72"/>
          <p:cNvCxnSpPr>
            <a:stCxn id="1657" idx="2"/>
            <a:endCxn id="1670" idx="7"/>
          </p:cNvCxnSpPr>
          <p:nvPr/>
        </p:nvCxnSpPr>
        <p:spPr>
          <a:xfrm flipH="1">
            <a:off x="694002" y="4005800"/>
            <a:ext cx="330300" cy="182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2" name="Google Shape;1672;p72"/>
          <p:cNvCxnSpPr>
            <a:stCxn id="1644" idx="2"/>
            <a:endCxn id="1673" idx="0"/>
          </p:cNvCxnSpPr>
          <p:nvPr/>
        </p:nvCxnSpPr>
        <p:spPr>
          <a:xfrm>
            <a:off x="2942827" y="3522717"/>
            <a:ext cx="312300" cy="377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4" name="Google Shape;1674;p72"/>
          <p:cNvSpPr/>
          <p:nvPr/>
        </p:nvSpPr>
        <p:spPr>
          <a:xfrm>
            <a:off x="2989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5" name="Google Shape;1675;p72"/>
          <p:cNvCxnSpPr>
            <a:stCxn id="1673" idx="2"/>
            <a:endCxn id="1674" idx="7"/>
          </p:cNvCxnSpPr>
          <p:nvPr/>
        </p:nvCxnSpPr>
        <p:spPr>
          <a:xfrm flipH="1">
            <a:off x="3111552" y="4043300"/>
            <a:ext cx="143700" cy="145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6" name="Google Shape;1676;p72"/>
          <p:cNvSpPr/>
          <p:nvPr/>
        </p:nvSpPr>
        <p:spPr>
          <a:xfrm>
            <a:off x="3564702" y="4128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7" name="Google Shape;1677;p72"/>
          <p:cNvCxnSpPr>
            <a:stCxn id="1673" idx="3"/>
            <a:endCxn id="1676" idx="1"/>
          </p:cNvCxnSpPr>
          <p:nvPr/>
        </p:nvCxnSpPr>
        <p:spPr>
          <a:xfrm>
            <a:off x="3326802" y="3971750"/>
            <a:ext cx="237900" cy="228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8" name="Google Shape;1678;p72"/>
          <p:cNvSpPr/>
          <p:nvPr/>
        </p:nvSpPr>
        <p:spPr>
          <a:xfrm>
            <a:off x="3869502" y="3747800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9" name="Google Shape;1679;p72"/>
          <p:cNvCxnSpPr>
            <a:stCxn id="1673" idx="3"/>
            <a:endCxn id="1678" idx="1"/>
          </p:cNvCxnSpPr>
          <p:nvPr/>
        </p:nvCxnSpPr>
        <p:spPr>
          <a:xfrm rot="10800000" flipH="1">
            <a:off x="3326802" y="3819350"/>
            <a:ext cx="5427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0" name="Google Shape;1680;p72"/>
          <p:cNvCxnSpPr>
            <a:stCxn id="1678" idx="3"/>
            <a:endCxn id="1681" idx="1"/>
          </p:cNvCxnSpPr>
          <p:nvPr/>
        </p:nvCxnSpPr>
        <p:spPr>
          <a:xfrm>
            <a:off x="4012602" y="3819350"/>
            <a:ext cx="597600" cy="822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2" name="Google Shape;1682;p72"/>
          <p:cNvCxnSpPr>
            <a:stCxn id="1676" idx="3"/>
            <a:endCxn id="1678" idx="2"/>
          </p:cNvCxnSpPr>
          <p:nvPr/>
        </p:nvCxnSpPr>
        <p:spPr>
          <a:xfrm rot="10800000" flipH="1">
            <a:off x="3707802" y="3891050"/>
            <a:ext cx="233400" cy="309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3" name="Google Shape;1683;p72"/>
          <p:cNvSpPr/>
          <p:nvPr/>
        </p:nvSpPr>
        <p:spPr>
          <a:xfrm>
            <a:off x="3869500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4" name="Google Shape;1684;p72"/>
          <p:cNvCxnSpPr>
            <a:stCxn id="1678" idx="2"/>
            <a:endCxn id="1683" idx="0"/>
          </p:cNvCxnSpPr>
          <p:nvPr/>
        </p:nvCxnSpPr>
        <p:spPr>
          <a:xfrm>
            <a:off x="3941052" y="3890900"/>
            <a:ext cx="0" cy="20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5" name="Google Shape;1685;p72"/>
          <p:cNvSpPr/>
          <p:nvPr/>
        </p:nvSpPr>
        <p:spPr>
          <a:xfrm>
            <a:off x="4132325" y="40913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6" name="Google Shape;1686;p72"/>
          <p:cNvCxnSpPr>
            <a:stCxn id="1678" idx="2"/>
            <a:endCxn id="1685" idx="1"/>
          </p:cNvCxnSpPr>
          <p:nvPr/>
        </p:nvCxnSpPr>
        <p:spPr>
          <a:xfrm>
            <a:off x="3941052" y="3890900"/>
            <a:ext cx="212100" cy="221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7" name="Google Shape;1687;p72"/>
          <p:cNvSpPr/>
          <p:nvPr/>
        </p:nvSpPr>
        <p:spPr>
          <a:xfrm>
            <a:off x="43817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8" name="Google Shape;1688;p72"/>
          <p:cNvSpPr/>
          <p:nvPr/>
        </p:nvSpPr>
        <p:spPr>
          <a:xfrm>
            <a:off x="46103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9" name="Google Shape;1689;p72"/>
          <p:cNvCxnSpPr>
            <a:stCxn id="1681" idx="2"/>
            <a:endCxn id="1687" idx="7"/>
          </p:cNvCxnSpPr>
          <p:nvPr/>
        </p:nvCxnSpPr>
        <p:spPr>
          <a:xfrm flipH="1">
            <a:off x="4503868" y="3973057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0" name="Google Shape;1690;p72"/>
          <p:cNvCxnSpPr>
            <a:endCxn id="1688" idx="0"/>
          </p:cNvCxnSpPr>
          <p:nvPr/>
        </p:nvCxnSpPr>
        <p:spPr>
          <a:xfrm>
            <a:off x="4681875" y="3973100"/>
            <a:ext cx="0" cy="194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1" name="Google Shape;1691;p72"/>
          <p:cNvSpPr/>
          <p:nvPr/>
        </p:nvSpPr>
        <p:spPr>
          <a:xfrm>
            <a:off x="4262650" y="2358475"/>
            <a:ext cx="2358600" cy="1247100"/>
          </a:xfrm>
          <a:prstGeom prst="ellipse">
            <a:avLst/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Orange (France)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2" name="Google Shape;1692;p72"/>
          <p:cNvSpPr/>
          <p:nvPr/>
        </p:nvSpPr>
        <p:spPr>
          <a:xfrm>
            <a:off x="4838925" y="416750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3" name="Google Shape;1693;p72"/>
          <p:cNvCxnSpPr>
            <a:stCxn id="1681" idx="2"/>
            <a:endCxn id="1692" idx="1"/>
          </p:cNvCxnSpPr>
          <p:nvPr/>
        </p:nvCxnSpPr>
        <p:spPr>
          <a:xfrm>
            <a:off x="4681982" y="3973057"/>
            <a:ext cx="177900" cy="215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4" name="Google Shape;1694;p72"/>
          <p:cNvSpPr/>
          <p:nvPr/>
        </p:nvSpPr>
        <p:spPr>
          <a:xfrm>
            <a:off x="4686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5" name="Google Shape;1695;p72"/>
          <p:cNvSpPr/>
          <p:nvPr/>
        </p:nvSpPr>
        <p:spPr>
          <a:xfrm>
            <a:off x="5067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6" name="Google Shape;1696;p72"/>
          <p:cNvCxnSpPr>
            <a:stCxn id="1694" idx="3"/>
            <a:endCxn id="1695" idx="1"/>
          </p:cNvCxnSpPr>
          <p:nvPr/>
        </p:nvCxnSpPr>
        <p:spPr>
          <a:xfrm rot="10800000" flipH="1">
            <a:off x="4829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7" name="Google Shape;1697;p72"/>
          <p:cNvSpPr/>
          <p:nvPr/>
        </p:nvSpPr>
        <p:spPr>
          <a:xfrm>
            <a:off x="4686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8" name="Google Shape;1698;p72"/>
          <p:cNvCxnSpPr>
            <a:stCxn id="1697" idx="3"/>
            <a:endCxn id="1695" idx="1"/>
          </p:cNvCxnSpPr>
          <p:nvPr/>
        </p:nvCxnSpPr>
        <p:spPr>
          <a:xfrm>
            <a:off x="4829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9" name="Google Shape;1699;p72"/>
          <p:cNvCxnSpPr>
            <a:stCxn id="1697" idx="2"/>
            <a:endCxn id="1694" idx="0"/>
          </p:cNvCxnSpPr>
          <p:nvPr/>
        </p:nvCxnSpPr>
        <p:spPr>
          <a:xfrm>
            <a:off x="4758085" y="3134948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0" name="Google Shape;1700;p72"/>
          <p:cNvSpPr/>
          <p:nvPr/>
        </p:nvSpPr>
        <p:spPr>
          <a:xfrm>
            <a:off x="4686525" y="2687050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1" name="Google Shape;1701;p72"/>
          <p:cNvCxnSpPr>
            <a:stCxn id="1700" idx="4"/>
            <a:endCxn id="1697" idx="0"/>
          </p:cNvCxnSpPr>
          <p:nvPr/>
        </p:nvCxnSpPr>
        <p:spPr>
          <a:xfrm>
            <a:off x="4758075" y="2830150"/>
            <a:ext cx="0" cy="1617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2" name="Google Shape;1702;p72"/>
          <p:cNvCxnSpPr>
            <a:stCxn id="1703" idx="3"/>
            <a:endCxn id="1697" idx="1"/>
          </p:cNvCxnSpPr>
          <p:nvPr/>
        </p:nvCxnSpPr>
        <p:spPr>
          <a:xfrm>
            <a:off x="4527976" y="2972800"/>
            <a:ext cx="15870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4" name="Google Shape;1704;p72"/>
          <p:cNvSpPr/>
          <p:nvPr/>
        </p:nvSpPr>
        <p:spPr>
          <a:xfrm>
            <a:off x="5448535" y="31442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5" name="Google Shape;1705;p72"/>
          <p:cNvCxnSpPr>
            <a:stCxn id="1695" idx="3"/>
            <a:endCxn id="1704" idx="1"/>
          </p:cNvCxnSpPr>
          <p:nvPr/>
        </p:nvCxnSpPr>
        <p:spPr>
          <a:xfrm>
            <a:off x="5210635" y="3215798"/>
            <a:ext cx="237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6" name="Google Shape;1706;p72"/>
          <p:cNvSpPr/>
          <p:nvPr/>
        </p:nvSpPr>
        <p:spPr>
          <a:xfrm>
            <a:off x="54485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7" name="Google Shape;1707;p72"/>
          <p:cNvSpPr/>
          <p:nvPr/>
        </p:nvSpPr>
        <p:spPr>
          <a:xfrm>
            <a:off x="5448525" y="33676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08" name="Google Shape;1708;p72"/>
          <p:cNvCxnSpPr>
            <a:stCxn id="1706" idx="4"/>
            <a:endCxn id="1704" idx="0"/>
          </p:cNvCxnSpPr>
          <p:nvPr/>
        </p:nvCxnSpPr>
        <p:spPr>
          <a:xfrm>
            <a:off x="5520075" y="3053575"/>
            <a:ext cx="0" cy="906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9" name="Google Shape;1709;p72"/>
          <p:cNvCxnSpPr>
            <a:stCxn id="1704" idx="2"/>
            <a:endCxn id="1707" idx="0"/>
          </p:cNvCxnSpPr>
          <p:nvPr/>
        </p:nvCxnSpPr>
        <p:spPr>
          <a:xfrm>
            <a:off x="5520085" y="3287348"/>
            <a:ext cx="0" cy="80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0" name="Google Shape;1710;p72"/>
          <p:cNvSpPr/>
          <p:nvPr/>
        </p:nvSpPr>
        <p:spPr>
          <a:xfrm>
            <a:off x="5829535" y="29918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p72"/>
          <p:cNvSpPr/>
          <p:nvPr/>
        </p:nvSpPr>
        <p:spPr>
          <a:xfrm>
            <a:off x="5829535" y="3296648"/>
            <a:ext cx="143100" cy="143100"/>
          </a:xfrm>
          <a:prstGeom prst="rect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2" name="Google Shape;1712;p72"/>
          <p:cNvCxnSpPr>
            <a:stCxn id="1704" idx="3"/>
            <a:endCxn id="1710" idx="1"/>
          </p:cNvCxnSpPr>
          <p:nvPr/>
        </p:nvCxnSpPr>
        <p:spPr>
          <a:xfrm rot="10800000" flipH="1">
            <a:off x="5591635" y="30633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3" name="Google Shape;1713;p72"/>
          <p:cNvCxnSpPr>
            <a:stCxn id="1704" idx="3"/>
            <a:endCxn id="1711" idx="1"/>
          </p:cNvCxnSpPr>
          <p:nvPr/>
        </p:nvCxnSpPr>
        <p:spPr>
          <a:xfrm>
            <a:off x="5591635" y="3215798"/>
            <a:ext cx="237900" cy="1524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4" name="Google Shape;1714;p72"/>
          <p:cNvSpPr/>
          <p:nvPr/>
        </p:nvSpPr>
        <p:spPr>
          <a:xfrm>
            <a:off x="6134325" y="29104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5" name="Google Shape;1715;p72"/>
          <p:cNvCxnSpPr>
            <a:stCxn id="1710" idx="3"/>
            <a:endCxn id="1714" idx="2"/>
          </p:cNvCxnSpPr>
          <p:nvPr/>
        </p:nvCxnSpPr>
        <p:spPr>
          <a:xfrm rot="10800000" flipH="1">
            <a:off x="5972635" y="29820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6" name="Google Shape;1716;p72"/>
          <p:cNvSpPr/>
          <p:nvPr/>
        </p:nvSpPr>
        <p:spPr>
          <a:xfrm>
            <a:off x="6134325" y="3215275"/>
            <a:ext cx="143100" cy="143100"/>
          </a:xfrm>
          <a:prstGeom prst="ellipse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7" name="Google Shape;1717;p72"/>
          <p:cNvCxnSpPr>
            <a:stCxn id="1711" idx="3"/>
            <a:endCxn id="1716" idx="2"/>
          </p:cNvCxnSpPr>
          <p:nvPr/>
        </p:nvCxnSpPr>
        <p:spPr>
          <a:xfrm rot="10800000" flipH="1">
            <a:off x="5972635" y="3286898"/>
            <a:ext cx="161700" cy="813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1718" name="Google Shape;1718;p72"/>
          <p:cNvGraphicFramePr/>
          <p:nvPr/>
        </p:nvGraphicFramePr>
        <p:xfrm>
          <a:off x="6734632" y="2992200"/>
          <a:ext cx="2129200" cy="1438500"/>
        </p:xfrm>
        <a:graphic>
          <a:graphicData uri="http://schemas.openxmlformats.org/drawingml/2006/table">
            <a:tbl>
              <a:tblPr>
                <a:noFill/>
                <a:tableStyleId>{27E6BCBA-AEE7-4C30-AAAD-D4F55D72C083}</a:tableStyleId>
              </a:tblPr>
              <a:tblGrid>
                <a:gridCol w="111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5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4.0.0.0/8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4.12.0.0/16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trike="sngStrike">
                          <a:solidFill>
                            <a:srgbClr val="B7B7B7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 strike="sngStrike">
                        <a:solidFill>
                          <a:srgbClr val="B7B7B7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4.29.0.0/16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0" marR="0" marT="18275" marB="182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19" name="Google Shape;1719;p72"/>
          <p:cNvSpPr/>
          <p:nvPr/>
        </p:nvSpPr>
        <p:spPr>
          <a:xfrm>
            <a:off x="4305535" y="2915648"/>
            <a:ext cx="143100" cy="143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0" name="Google Shape;1720;p72"/>
          <p:cNvCxnSpPr>
            <a:stCxn id="1649" idx="3"/>
            <a:endCxn id="1703" idx="1"/>
          </p:cNvCxnSpPr>
          <p:nvPr/>
        </p:nvCxnSpPr>
        <p:spPr>
          <a:xfrm>
            <a:off x="3854951" y="2972800"/>
            <a:ext cx="387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3" name="Google Shape;1703;p72"/>
          <p:cNvSpPr/>
          <p:nvPr/>
        </p:nvSpPr>
        <p:spPr>
          <a:xfrm>
            <a:off x="4242976" y="2830300"/>
            <a:ext cx="285000" cy="285000"/>
          </a:xfrm>
          <a:prstGeom prst="rect">
            <a:avLst/>
          </a:prstGeom>
          <a:solidFill>
            <a:srgbClr val="F4CCCC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72"/>
          <p:cNvSpPr/>
          <p:nvPr/>
        </p:nvSpPr>
        <p:spPr>
          <a:xfrm>
            <a:off x="3569951" y="28303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4" name="Google Shape;1644;p72"/>
          <p:cNvSpPr/>
          <p:nvPr/>
        </p:nvSpPr>
        <p:spPr>
          <a:xfrm>
            <a:off x="2871277" y="3379617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72"/>
          <p:cNvSpPr/>
          <p:nvPr/>
        </p:nvSpPr>
        <p:spPr>
          <a:xfrm>
            <a:off x="2414077" y="338385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72"/>
          <p:cNvSpPr/>
          <p:nvPr/>
        </p:nvSpPr>
        <p:spPr>
          <a:xfrm>
            <a:off x="2095752" y="38627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72"/>
          <p:cNvSpPr/>
          <p:nvPr/>
        </p:nvSpPr>
        <p:spPr>
          <a:xfrm>
            <a:off x="3183702" y="3900200"/>
            <a:ext cx="143100" cy="1431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1" name="Google Shape;1721;p72"/>
          <p:cNvCxnSpPr>
            <a:stCxn id="1703" idx="2"/>
            <a:endCxn id="1681" idx="0"/>
          </p:cNvCxnSpPr>
          <p:nvPr/>
        </p:nvCxnSpPr>
        <p:spPr>
          <a:xfrm>
            <a:off x="4385476" y="3115300"/>
            <a:ext cx="296400" cy="714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2" name="Google Shape;1722;p72"/>
          <p:cNvSpPr/>
          <p:nvPr/>
        </p:nvSpPr>
        <p:spPr>
          <a:xfrm>
            <a:off x="4539376" y="3759100"/>
            <a:ext cx="285000" cy="285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A9FFE6-1959-8E46-EE59-5F123BD8E7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p7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Changes</a:t>
            </a:r>
            <a:endParaRPr/>
          </a:p>
        </p:txBody>
      </p:sp>
      <p:sp>
        <p:nvSpPr>
          <p:cNvPr id="1728" name="Google Shape;1728;p73"/>
          <p:cNvSpPr txBox="1">
            <a:spLocks noGrp="1"/>
          </p:cNvSpPr>
          <p:nvPr>
            <p:ph type="body" idx="1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Link-State Protocols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Overview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Computing Paths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Learning Graph Topology</a:t>
            </a:r>
            <a:endParaRPr>
              <a:solidFill>
                <a:srgbClr val="B7B7B7"/>
              </a:solidFill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Hierarchical Addressing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Assigning Addresses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Writing Addresses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Aggregating Routes</a:t>
            </a:r>
            <a:endParaRPr>
              <a:solidFill>
                <a:srgbClr val="B7B7B7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IPv6 Changes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Lecture 6, Spring 2026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45CE60-F911-B3C6-D242-E67EB92D04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IPv6</a:t>
            </a:r>
            <a:endParaRPr/>
          </a:p>
        </p:txBody>
      </p:sp>
      <p:sp>
        <p:nvSpPr>
          <p:cNvPr id="1759" name="Google Shape;1759;p76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33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IPv4 addresses are 32 bits long. 2</a:t>
            </a:r>
            <a:r>
              <a:rPr lang="en-US" baseline="30000" dirty="0"/>
              <a:t>32</a:t>
            </a:r>
            <a:r>
              <a:rPr lang="en-US" dirty="0"/>
              <a:t> ≈ 4 billion addresses. That is not enough.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IPv6 was introduced in 1998 to deal with IPv4 address exhaustion.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Main difference: Addresses are now 128 bits, instead of 32.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Fundamentally, same addressing structure as IPv4.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WIth 128-bit address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2</a:t>
            </a:r>
            <a:r>
              <a:rPr lang="en" baseline="30000" dirty="0"/>
              <a:t>128</a:t>
            </a:r>
            <a:r>
              <a:rPr lang="en" dirty="0"/>
              <a:t> ≈ 3.4 × 10</a:t>
            </a:r>
            <a:r>
              <a:rPr lang="en" baseline="30000" dirty="0"/>
              <a:t>38</a:t>
            </a:r>
            <a:r>
              <a:rPr lang="en" dirty="0"/>
              <a:t> possible addresses.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won't run out again.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DA075B-4CAA-A80F-6A2A-35E5A36AD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Addresses</a:t>
            </a:r>
            <a:endParaRPr/>
          </a:p>
        </p:txBody>
      </p:sp>
      <p:sp>
        <p:nvSpPr>
          <p:cNvPr id="1766" name="Google Shape;1766;p77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uses hexadecimal instead of decimal.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2001:0DB8:CAFE:BEEF:DEAD:1234:5678:9012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Colon between every 4 hex digits (16 bits).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Shorthand: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Omit leading zeros per block:</a:t>
            </a:r>
            <a:br>
              <a:rPr lang="en"/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DB8: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0: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000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/>
              <a:t> →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2001:DB8:0:0:0:0:0:1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Omit a long string of zeros, once per address:</a:t>
            </a:r>
            <a:br>
              <a:rPr lang="en"/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2001:DB8:</a:t>
            </a:r>
            <a:r>
              <a:rPr lang="en">
                <a:solidFill>
                  <a:srgbClr val="D9D9D9"/>
                </a:solidFill>
                <a:latin typeface="Consolas"/>
                <a:ea typeface="Consolas"/>
                <a:cs typeface="Consolas"/>
                <a:sym typeface="Consolas"/>
              </a:rPr>
              <a:t>0:0:0:0:0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:1</a:t>
            </a:r>
            <a:r>
              <a:rPr lang="en"/>
              <a:t> → 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2001:DB8::1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still use slash notation for ranges.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2001:0DB8::/32</a:t>
            </a:r>
            <a:r>
              <a:rPr lang="en"/>
              <a:t> has 32 bits fixed, and 2</a:t>
            </a:r>
            <a:r>
              <a:rPr lang="en" baseline="30000"/>
              <a:t>96</a:t>
            </a:r>
            <a:r>
              <a:rPr lang="en"/>
              <a:t> addresses.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2E57BC-F7F9-BB14-34DA-7D5FE2BFE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Addresses</a:t>
            </a:r>
            <a:endParaRPr/>
          </a:p>
        </p:txBody>
      </p:sp>
      <p:sp>
        <p:nvSpPr>
          <p:cNvPr id="1772" name="Google Shape;1772;p78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IPv6 uses the same hierarchical addressing approach as IPv4.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Some changes: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Instead of someone (e.g. ICANN) giving you a prefix, you can pick your own prefix.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Uses a protocol called SLAAC </a:t>
            </a:r>
            <a:r>
              <a:rPr lang="en" sz="1400" dirty="0">
                <a:solidFill>
                  <a:schemeClr val="accent3"/>
                </a:solidFill>
              </a:rPr>
              <a:t>(</a:t>
            </a:r>
            <a:r>
              <a:rPr lang="en" sz="1400" i="1" dirty="0">
                <a:solidFill>
                  <a:schemeClr val="accent3"/>
                </a:solidFill>
              </a:rPr>
              <a:t>Stateless Address Autoconfiguration</a:t>
            </a:r>
            <a:r>
              <a:rPr lang="en" sz="1400" dirty="0">
                <a:solidFill>
                  <a:schemeClr val="accent3"/>
                </a:solidFill>
              </a:rPr>
              <a:t>)</a:t>
            </a:r>
            <a:r>
              <a:rPr lang="en" dirty="0"/>
              <a:t>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Pick a random prefix. If someone else is using it, pick another one.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Works in IPv6 (not IPv4) because there are so many prefixes.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 practice, prefixes usually fix at most 64 bits.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Even the smallest network has 2</a:t>
            </a:r>
            <a:r>
              <a:rPr lang="en" baseline="30000" dirty="0"/>
              <a:t>64</a:t>
            </a:r>
            <a:r>
              <a:rPr lang="en" dirty="0"/>
              <a:t> hosts.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F85B96-C0EA-8CE4-736F-65B294C764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Adoption</a:t>
            </a:r>
            <a:endParaRPr/>
          </a:p>
        </p:txBody>
      </p:sp>
      <p:sp>
        <p:nvSpPr>
          <p:cNvPr id="1778" name="Google Shape;1778;p79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IPv6 introduced in the 1990s, but wide adoption started in the 2010s.</a:t>
            </a:r>
            <a:endParaRPr/>
          </a:p>
        </p:txBody>
      </p:sp>
      <p:pic>
        <p:nvPicPr>
          <p:cNvPr id="1779" name="Google Shape;177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838" y="1169900"/>
            <a:ext cx="6816171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0" name="Google Shape;1780;p79"/>
          <p:cNvSpPr/>
          <p:nvPr/>
        </p:nvSpPr>
        <p:spPr>
          <a:xfrm>
            <a:off x="6762213" y="1783125"/>
            <a:ext cx="360900" cy="3609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1" name="Google Shape;1781;p79"/>
          <p:cNvCxnSpPr>
            <a:stCxn id="1780" idx="6"/>
          </p:cNvCxnSpPr>
          <p:nvPr/>
        </p:nvCxnSpPr>
        <p:spPr>
          <a:xfrm>
            <a:off x="7123113" y="1963575"/>
            <a:ext cx="5607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2" name="Google Shape;1782;p79"/>
          <p:cNvSpPr txBox="1"/>
          <p:nvPr/>
        </p:nvSpPr>
        <p:spPr>
          <a:xfrm>
            <a:off x="7711799" y="1823657"/>
            <a:ext cx="11778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27425" bIns="27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Today, ~40% of hosts have adopted IPv6.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97E79E-65B3-DD8C-8970-B8D278DD67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IPv6 Adoption – Challenges</a:t>
            </a:r>
            <a:endParaRPr/>
          </a:p>
        </p:txBody>
      </p:sp>
      <p:sp>
        <p:nvSpPr>
          <p:cNvPr id="1795" name="Google Shape;1795;p81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Why is IPv6 adoption hard?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Requires software and hardware upgrades, from both hosts and routers.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IPv4 and IPv6 are not compatible with each other.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To support both, you need 2 forwarding tables.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way to convert between IPv4 and IPv6.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support both IPv4 and IPv6, which should I use?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IPv6 usually faster, but other factors could affect your choice.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driver for IPv6 adoption: We're running out of IPv4 addresses!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76F950-0C3B-36AE-0ABD-F6F0D78FA6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IP Addressing</a:t>
            </a:r>
            <a:endParaRPr/>
          </a:p>
        </p:txBody>
      </p:sp>
      <p:sp>
        <p:nvSpPr>
          <p:cNvPr id="1801" name="Google Shape;1801;p82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Hosts on the Internet have addresses (IPv4, IPv6, or both).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These addresses are hierarchical.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dirty="0"/>
              <a:t>They are assigned in groups to specific organizations.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Wildcard matching can help forwarding and routing scale better.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ACBD84-5D5D-C4F8-9596-91722AFE53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12437</Words>
  <Application>Microsoft Office PowerPoint</Application>
  <PresentationFormat>On-screen Show (16:9)</PresentationFormat>
  <Paragraphs>1804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Consolas</vt:lpstr>
      <vt:lpstr>Roboto Medium</vt:lpstr>
      <vt:lpstr>Roboto</vt:lpstr>
      <vt:lpstr>Roboto Light</vt:lpstr>
      <vt:lpstr>Arial</vt:lpstr>
      <vt:lpstr>Simple Lecture</vt:lpstr>
      <vt:lpstr>Hierarchical Addressing</vt:lpstr>
      <vt:lpstr>Scaling Routing</vt:lpstr>
      <vt:lpstr>Hierarchical Addressing – Conceptual</vt:lpstr>
      <vt:lpstr>Hierarchical Addressing – Conceptual</vt:lpstr>
      <vt:lpstr>Hierarchical Addressing – Conceptual</vt:lpstr>
      <vt:lpstr>Hierarchical Addressing – Conceptual</vt:lpstr>
      <vt:lpstr>Implications of Hierarchical Addressing</vt:lpstr>
      <vt:lpstr>Aggregation – Conceptual</vt:lpstr>
      <vt:lpstr>Aggregation – Conceptual</vt:lpstr>
      <vt:lpstr>Assigning Addresses</vt:lpstr>
      <vt:lpstr>Assigning Addresses</vt:lpstr>
      <vt:lpstr>Assigning Addresses, Attempt 1/3 – Early Internet</vt:lpstr>
      <vt:lpstr>Assigning Addresses, Attempt 1/3 – Early Internet</vt:lpstr>
      <vt:lpstr>Assigning Addresses, Attempt 2/3 – Classful Addressing</vt:lpstr>
      <vt:lpstr>Assigning Addresses, Attempt 2/3 – Classful Addressing</vt:lpstr>
      <vt:lpstr>Assigning Addresses, Attempt 2/3 – Classful Addressing</vt:lpstr>
      <vt:lpstr>Assigning Addresses, Attempt 3/3 – CIDR</vt:lpstr>
      <vt:lpstr>Assigning Addresses, Attempt 3/3 – CIDR</vt:lpstr>
      <vt:lpstr>Granular Hierarchical Assignment with CIDR</vt:lpstr>
      <vt:lpstr>Granular Hierarchical Assignment with CIDR</vt:lpstr>
      <vt:lpstr>Writing Addresses</vt:lpstr>
      <vt:lpstr>Writing IPv4 Addresses</vt:lpstr>
      <vt:lpstr>Writing IPv4 Address Ranges</vt:lpstr>
      <vt:lpstr>Writing IPv4 Address Ranges</vt:lpstr>
      <vt:lpstr>Aggregating Routes</vt:lpstr>
      <vt:lpstr>Inter-Domain Routing</vt:lpstr>
      <vt:lpstr>Inter-Domain Routing</vt:lpstr>
      <vt:lpstr>Inter-Domain Routing</vt:lpstr>
      <vt:lpstr>Inter-Domain Routing</vt:lpstr>
      <vt:lpstr>IPv6 Changes</vt:lpstr>
      <vt:lpstr>Introducing IPv6</vt:lpstr>
      <vt:lpstr>IPv6 Addresses</vt:lpstr>
      <vt:lpstr>IPv6 Addresses</vt:lpstr>
      <vt:lpstr>IPv6 Adoption</vt:lpstr>
      <vt:lpstr>IPv6 Adoption – Challenges</vt:lpstr>
      <vt:lpstr>Summary: IP Addressing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Zonghua Gu</cp:lastModifiedBy>
  <cp:revision>5</cp:revision>
  <dcterms:modified xsi:type="dcterms:W3CDTF">2026-03-10T20:19:42Z</dcterms:modified>
</cp:coreProperties>
</file>