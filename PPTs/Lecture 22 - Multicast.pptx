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y="5143500" cx="9144000"/>
  <p:notesSz cx="6858000" cy="9144000"/>
  <p:embeddedFontLst>
    <p:embeddedFont>
      <p:font typeface="Roboto Medium"/>
      <p:regular r:id="rId132"/>
      <p:bold r:id="rId133"/>
      <p:italic r:id="rId134"/>
      <p:boldItalic r:id="rId135"/>
    </p:embeddedFont>
    <p:embeddedFont>
      <p:font typeface="Roboto"/>
      <p:regular r:id="rId136"/>
      <p:bold r:id="rId137"/>
      <p:italic r:id="rId138"/>
      <p:boldItalic r:id="rId139"/>
    </p:embeddedFont>
    <p:embeddedFont>
      <p:font typeface="Roboto Light"/>
      <p:regular r:id="rId140"/>
      <p:bold r:id="rId141"/>
      <p:italic r:id="rId142"/>
      <p:boldItalic r:id="rId1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066AABE-FF3B-43A9-B820-11284CE5CD93}">
  <a:tblStyle styleId="{C066AABE-FF3B-43A9-B820-11284CE5CD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slide" Target="slides/slide123.xml"/><Relationship Id="rId128" Type="http://schemas.openxmlformats.org/officeDocument/2006/relationships/slide" Target="slides/slide122.xml"/><Relationship Id="rId127" Type="http://schemas.openxmlformats.org/officeDocument/2006/relationships/slide" Target="slides/slide121.xml"/><Relationship Id="rId126" Type="http://schemas.openxmlformats.org/officeDocument/2006/relationships/slide" Target="slides/slide120.xml"/><Relationship Id="rId26" Type="http://schemas.openxmlformats.org/officeDocument/2006/relationships/slide" Target="slides/slide20.xml"/><Relationship Id="rId121" Type="http://schemas.openxmlformats.org/officeDocument/2006/relationships/slide" Target="slides/slide115.xml"/><Relationship Id="rId25" Type="http://schemas.openxmlformats.org/officeDocument/2006/relationships/slide" Target="slides/slide19.xml"/><Relationship Id="rId120" Type="http://schemas.openxmlformats.org/officeDocument/2006/relationships/slide" Target="slides/slide114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slide" Target="slides/slide119.xml"/><Relationship Id="rId29" Type="http://schemas.openxmlformats.org/officeDocument/2006/relationships/slide" Target="slides/slide23.xml"/><Relationship Id="rId124" Type="http://schemas.openxmlformats.org/officeDocument/2006/relationships/slide" Target="slides/slide118.xml"/><Relationship Id="rId123" Type="http://schemas.openxmlformats.org/officeDocument/2006/relationships/slide" Target="slides/slide117.xml"/><Relationship Id="rId122" Type="http://schemas.openxmlformats.org/officeDocument/2006/relationships/slide" Target="slides/slide116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3" Type="http://schemas.openxmlformats.org/officeDocument/2006/relationships/font" Target="fonts/RobotoLight-boldItalic.fntdata"/><Relationship Id="rId142" Type="http://schemas.openxmlformats.org/officeDocument/2006/relationships/font" Target="fonts/RobotoLight-italic.fntdata"/><Relationship Id="rId141" Type="http://schemas.openxmlformats.org/officeDocument/2006/relationships/font" Target="fonts/RobotoLight-bold.fntdata"/><Relationship Id="rId140" Type="http://schemas.openxmlformats.org/officeDocument/2006/relationships/font" Target="fonts/Robo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9" Type="http://schemas.openxmlformats.org/officeDocument/2006/relationships/font" Target="fonts/Roboto-boldItalic.fntdata"/><Relationship Id="rId138" Type="http://schemas.openxmlformats.org/officeDocument/2006/relationships/font" Target="fonts/Roboto-italic.fntdata"/><Relationship Id="rId137" Type="http://schemas.openxmlformats.org/officeDocument/2006/relationships/font" Target="fonts/Roboto-bold.fntdata"/><Relationship Id="rId132" Type="http://schemas.openxmlformats.org/officeDocument/2006/relationships/font" Target="fonts/RobotoMedium-regular.fntdata"/><Relationship Id="rId131" Type="http://schemas.openxmlformats.org/officeDocument/2006/relationships/slide" Target="slides/slide125.xml"/><Relationship Id="rId130" Type="http://schemas.openxmlformats.org/officeDocument/2006/relationships/slide" Target="slides/slide124.xml"/><Relationship Id="rId136" Type="http://schemas.openxmlformats.org/officeDocument/2006/relationships/font" Target="fonts/Roboto-regular.fntdata"/><Relationship Id="rId135" Type="http://schemas.openxmlformats.org/officeDocument/2006/relationships/font" Target="fonts/RobotoMedium-boldItalic.fntdata"/><Relationship Id="rId134" Type="http://schemas.openxmlformats.org/officeDocument/2006/relationships/font" Target="fonts/RobotoMedium-italic.fntdata"/><Relationship Id="rId133" Type="http://schemas.openxmlformats.org/officeDocument/2006/relationships/font" Target="fonts/RobotoMedium-bold.fnt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24a7c80c6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24a7c80c6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24a7c80c6a_0_1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24a7c80c6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26bacf645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26bacf645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meeting who’s the client and who’s the server?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26bacf645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26bacf645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R1-R2 link could be an expensive subsea cable that many flows want to use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6bacf6453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26bacf6453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26bacf6453_0_6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26bacf6453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6bacf6453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26bacf6453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used typically on the global internet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26bacf645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26bacf645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Anycast - many servers claiming to be the root server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6bacf6453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26bacf6453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26bacf6453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26bacf6453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26bacf6453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26bacf6453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Routers talk to other routers using some routing protocol that we will see later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26bacf6453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26bacf6453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26bacf645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26bacf645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26bacf6453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26bacf6453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26bacf645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26bacf645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26bacf6453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26bacf6453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26bacf6453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26bacf6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26bacf6453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26bacf6453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26bacf6453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326bacf6453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26bacf6453_0_91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26bacf6453_0_9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24a7c80c6a_0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24a7c80c6a_0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24a7c80c6a_0_9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24a7c80c6a_0_9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24a7c80c6a_0_100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24a7c80c6a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3276a22bcd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3276a22bcd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24a7c80c6a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24a7c80c6a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24a7c80c6a_0_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24a7c80c6a_0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rid of cycles meaning making a tree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24a7c80c6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24a7c80c6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24a7c80c6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324a7c80c6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24a7c80c6a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324a7c80c6a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24a7c80c6a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24a7c80c6a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24a7c80c6a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324a7c80c6a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24a7c80c6a_0_10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324a7c80c6a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24a7c80c6a_0_1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24a7c80c6a_0_1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24d9cd7e42_0_20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324d9cd7e42_0_20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324d9cd7e42_0_2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324d9cd7e42_0_2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324a7c80c6a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324a7c80c6a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324d9cd7e42_0_1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324d9cd7e42_0_1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ecap 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g32ab89f3af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4" name="Google Shape;1484;g32ab89f3af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3276a22bcd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3276a22bcd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24a7c80c6a_0_124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24a7c80c6a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3276a22bcd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3276a22bcd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g324a7c80c6a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2" name="Google Shape;1602;g324a7c80c6a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24d9cd7e42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324d9cd7e42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324d9cd7e4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324d9cd7e4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24d9cd7e4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324d9cd7e4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8" name="Shape 1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9" name="Google Shape;1999;g324d9cd7e42_0_9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0" name="Google Shape;2000;g324d9cd7e42_0_9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324d9cd7e42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324d9cd7e42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324d9cd7e42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324d9cd7e42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324d9cd7e42_0_1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324d9cd7e42_0_1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3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g324d9cd7e42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5" name="Google Shape;2415;g324d9cd7e42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g324d9cd7e42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8" name="Google Shape;2518;g324d9cd7e42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8" name="Shape 2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9" name="Google Shape;2619;g324d9cd7e42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0" name="Google Shape;2620;g324d9cd7e42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9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g324d9cd7e42_0_1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1" name="Google Shape;2721;g324d9cd7e42_0_1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6" name="Shape 2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7" name="Google Shape;2817;g324d9cd7e42_0_1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8" name="Google Shape;2818;g324d9cd7e42_0_1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4" name="Shape 2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Google Shape;2915;g324d9cd7e42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6" name="Google Shape;2916;g324d9cd7e42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4" name="Shape 3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5" name="Google Shape;3015;g324d9cd7e42_0_3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6" name="Google Shape;3016;g324d9cd7e42_0_3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0" name="Shape 3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1" name="Google Shape;3111;g3296458917f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2" name="Google Shape;3112;g3296458917f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6" name="Shape 3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7" name="Google Shape;3207;g324d9cd7e42_0_2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8" name="Google Shape;3208;g324d9cd7e42_0_2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6" name="Shape 3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7" name="Google Shape;3237;g324d9cd7e42_0_1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8" name="Google Shape;3238;g324d9cd7e42_0_1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7" name="Google Shape;3337;g324d9cd7e42_0_1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8" name="Google Shape;3338;g324d9cd7e42_0_1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7" name="Shape 3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8" name="Google Shape;3438;g327b5b033a6_0_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9" name="Google Shape;3439;g327b5b033a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g3276a22bcd2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6" name="Google Shape;3446;g3276a22bcd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g327b5b033a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2" name="Google Shape;3452;g327b5b033a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6" name="Shape 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7" name="Google Shape;3457;g32ad818c59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8" name="Google Shape;3458;g32ad818c5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3" name="Shape 3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4" name="Google Shape;3464;g3276a22bcd2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5" name="Google Shape;3465;g3276a22bcd2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g32ad818c59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8" name="Google Shape;3528;g32ad818c59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3" name="Shape 3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" name="Google Shape;3594;g32ad818c59e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5" name="Google Shape;3595;g32ad818c59e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g32ad818c59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9" name="Google Shape;3669;g32ad818c59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4" name="Shape 3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5" name="Google Shape;3735;g32ad818c59e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6" name="Google Shape;3736;g32ad818c59e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2" name="Shape 3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3" name="Google Shape;3803;g32ad818c59e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4" name="Google Shape;3804;g32ad818c59e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0" name="Shape 3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1" name="Google Shape;3871;g32ad818c59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2" name="Google Shape;3872;g32ad818c59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9" name="Shape 3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0" name="Google Shape;3940;g32ad818c59e_0_5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1" name="Google Shape;3941;g32ad818c59e_0_5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8" name="Shape 4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9" name="Google Shape;4009;g32ad818c59e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0" name="Google Shape;4010;g32ad818c59e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0" name="Shape 4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1" name="Google Shape;4081;g32ad818c59e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2" name="Google Shape;4082;g32ad818c59e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4" name="Shape 4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5" name="Google Shape;4155;g32ad818c59e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6" name="Google Shape;4156;g32ad818c59e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6" name="Shape 4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7" name="Google Shape;4227;g32ad818c59e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8" name="Google Shape;4228;g32ad818c59e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8" name="Shape 4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Google Shape;4299;g32ad818c59e_0_1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0" name="Google Shape;4300;g32ad818c59e_0_1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6" name="Shape 4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7" name="Google Shape;4327;g32ad818c59e_0_18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8" name="Google Shape;4328;g32ad818c59e_0_18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7" name="Shape 4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8" name="Google Shape;4408;g32ad818c59e_0_1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9" name="Google Shape;4409;g32ad818c59e_0_1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8" name="Shape 4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9" name="Google Shape;4489;g32ad818c59e_0_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0" name="Google Shape;4490;g32ad818c59e_0_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9" name="Shape 4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0" name="Google Shape;4570;g32ad818c59e_0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1" name="Google Shape;4571;g32ad818c59e_0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2" name="Shape 4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3" name="Google Shape;4643;g32ad818c59e_0_2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4" name="Google Shape;4644;g32ad818c59e_0_2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9" name="Shape 4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" name="Google Shape;4710;g32ad818c59e_0_2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1" name="Google Shape;4711;g32ad818c59e_0_2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6" name="Shape 4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7" name="Google Shape;4737;g32ad818c59e_0_2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8" name="Google Shape;4738;g32ad818c59e_0_2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2" name="Shape 4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3" name="Google Shape;4763;g32ad818c59e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4" name="Google Shape;4764;g32ad818c59e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8" name="Shape 4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9" name="Google Shape;4839;g32ad818c59e_0_1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0" name="Google Shape;4840;g32ad818c59e_0_1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5" name="Shape 4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" name="Google Shape;4916;g32ad818c59e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7" name="Google Shape;4917;g32ad818c59e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2" name="Shape 5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3" name="Google Shape;5003;g32ad818c59e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4" name="Google Shape;5004;g32ad818c59e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1" name="Shape 5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2" name="Google Shape;5092;g32ad818c59e_0_1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3" name="Google Shape;5093;g32ad818c59e_0_1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3" name="Shape 5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4" name="Google Shape;5114;g32ad818c59e_0_2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5" name="Google Shape;5115;g32ad818c59e_0_2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7" name="Shape 5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8" name="Google Shape;5188;g32ad818c59e_0_2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9" name="Google Shape;5189;g32ad818c59e_0_2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G2 tree</a:t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8" name="Shape 5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9" name="Google Shape;5259;g32ad818c59e_0_25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0" name="Google Shape;5260;g32ad818c59e_0_2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5" name="Shape 5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6" name="Google Shape;5266;g3276a22bcd2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7" name="Google Shape;5267;g3276a22bcd2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3" name="Shape 5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4" name="Google Shape;5274;g326780fe1f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5" name="Google Shape;5275;g326780fe1f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7" name="Shape 5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8" name="Google Shape;5288;g3276a22bcd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9" name="Google Shape;5289;g3276a22bcd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5" name="Shape 5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6" name="Google Shape;5296;g32ad818c59e_0_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7" name="Google Shape;5297;g32ad818c59e_0_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3" name="Shape 5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" name="Google Shape;5324;g32ad818c59e_0_2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5" name="Google Shape;5325;g32ad818c59e_0_2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1" name="Shape 5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2" name="Google Shape;5352;g32ad818c59e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3" name="Google Shape;5353;g32ad818c59e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9" name="Shape 5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0" name="Google Shape;5380;g3276a22bcd2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1" name="Google Shape;5381;g3276a22bcd2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5" name="Shape 5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6" name="Google Shape;5386;g3276a22bcd2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7" name="Google Shape;5387;g3276a22bcd2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1" name="Shape 5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2" name="Google Shape;5392;g3276a22bcd2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3" name="Google Shape;5393;g3276a22bcd2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g3276a22bcd2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0" name="Google Shape;5400;g3276a22bcd2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 and security matters here</a:t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4" name="Shape 5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5" name="Google Shape;5405;g327b5b033a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6" name="Google Shape;5406;g327b5b033a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6" name="Shape 5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" name="Google Shape;5427;g32e184d6db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8" name="Google Shape;5428;g32e184d6db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1" name="Shape 5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2" name="Google Shape;5452;g32e184d6db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3" name="Google Shape;5453;g32e184d6db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7" name="Shape 5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8" name="Google Shape;5458;g32e184d6dbb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9" name="Google Shape;5459;g32e184d6db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3" name="Shape 5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4" name="Google Shape;5464;g32e184d6db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5" name="Google Shape;5465;g32e184d6db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9" name="Shape 5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0" name="Google Shape;5470;g326780fe1f5_1_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1" name="Google Shape;5471;g326780fe1f5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6" name="Shape 5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7" name="Google Shape;5477;g32e184d6db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8" name="Google Shape;5478;g32e184d6db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2" name="Shape 5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3" name="Google Shape;5483;g326780fe1f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4" name="Google Shape;5484;g326780fe1f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6" name="Shape 5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7" name="Google Shape;5527;g326780fe1f5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8" name="Google Shape;5528;g326780fe1f5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7" name="Shape 5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8" name="Google Shape;5578;g32e184d6db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9" name="Google Shape;5579;g32e184d6db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8" name="Shape 5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9" name="Google Shape;5629;g32e184d6db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0" name="Google Shape;5630;g32e184d6db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6" name="Shape 5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7" name="Google Shape;5687;g326780fe1f5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8" name="Google Shape;5688;g326780fe1f5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Nothing in the routers have changed here!</a:t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2" name="Shape 5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3" name="Google Shape;5743;g326780fe1f5_1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4" name="Google Shape;5744;g326780fe1f5_1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3" name="Shape 5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4" name="Google Shape;5804;g326780fe1f5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5" name="Google Shape;5805;g326780fe1f5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4" name="Shape 5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5" name="Google Shape;5865;g326780fe1f5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6" name="Google Shape;5866;g326780fe1f5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5" name="Shape 5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6" name="Google Shape;5926;g326780fe1f5_1_4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7" name="Google Shape;5927;g326780fe1f5_1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2" name="Shape 5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3" name="Google Shape;5933;g32e184d6db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4" name="Google Shape;5934;g32e184d6db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8" name="Shape 5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" name="Google Shape;5939;g32e184d6dbb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0" name="Google Shape;5940;g32e184d6dbb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7" name="Shape 5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8" name="Google Shape;5948;g32e184d6dbb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9" name="Google Shape;5949;g32e184d6dbb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9" name="Shape 5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0" name="Google Shape;5970;g326780fe1f5_1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1" name="Google Shape;5971;g326780fe1f5_1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6" name="Shape 6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7" name="Google Shape;6027;g326780fe1f5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8" name="Google Shape;6028;g326780fe1f5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6" name="Shape 6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7" name="Google Shape;6087;g32e184d6dbb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8" name="Google Shape;6088;g32e184d6dbb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2" name="Shape 6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3" name="Google Shape;6093;g372328b18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4" name="Google Shape;6094;g372328b18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Multicast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22 (Beyond Client-Server 1)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cxnSp>
        <p:nvCxnSpPr>
          <p:cNvPr id="146" name="Google Shape;146;p24"/>
          <p:cNvCxnSpPr>
            <a:stCxn id="147" idx="2"/>
            <a:endCxn id="148" idx="0"/>
          </p:cNvCxnSpPr>
          <p:nvPr/>
        </p:nvCxnSpPr>
        <p:spPr>
          <a:xfrm>
            <a:off x="7514875" y="142875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4"/>
          <p:cNvCxnSpPr>
            <a:stCxn id="148" idx="2"/>
            <a:endCxn id="150" idx="0"/>
          </p:cNvCxnSpPr>
          <p:nvPr/>
        </p:nvCxnSpPr>
        <p:spPr>
          <a:xfrm flipH="1">
            <a:off x="76672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4"/>
          <p:cNvCxnSpPr>
            <a:stCxn id="148" idx="2"/>
            <a:endCxn id="152" idx="0"/>
          </p:cNvCxnSpPr>
          <p:nvPr/>
        </p:nvCxnSpPr>
        <p:spPr>
          <a:xfrm>
            <a:off x="7895875" y="20383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24"/>
          <p:cNvCxnSpPr>
            <a:stCxn id="148" idx="2"/>
            <a:endCxn id="154" idx="0"/>
          </p:cNvCxnSpPr>
          <p:nvPr/>
        </p:nvCxnSpPr>
        <p:spPr>
          <a:xfrm>
            <a:off x="78958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4"/>
          <p:cNvSpPr/>
          <p:nvPr/>
        </p:nvSpPr>
        <p:spPr>
          <a:xfrm>
            <a:off x="6600475" y="514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7362475" y="1123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24"/>
          <p:cNvSpPr/>
          <p:nvPr/>
        </p:nvSpPr>
        <p:spPr>
          <a:xfrm>
            <a:off x="5838475" y="11239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" name="Google Shape;157;p24"/>
          <p:cNvCxnSpPr>
            <a:stCxn id="155" idx="2"/>
            <a:endCxn id="156" idx="0"/>
          </p:cNvCxnSpPr>
          <p:nvPr/>
        </p:nvCxnSpPr>
        <p:spPr>
          <a:xfrm flipH="1">
            <a:off x="5990875" y="81915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>
            <a:stCxn id="155" idx="2"/>
            <a:endCxn id="147" idx="0"/>
          </p:cNvCxnSpPr>
          <p:nvPr/>
        </p:nvCxnSpPr>
        <p:spPr>
          <a:xfrm>
            <a:off x="6752875" y="81915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>
            <a:stCxn id="156" idx="2"/>
            <a:endCxn id="160" idx="0"/>
          </p:cNvCxnSpPr>
          <p:nvPr/>
        </p:nvCxnSpPr>
        <p:spPr>
          <a:xfrm flipH="1">
            <a:off x="5609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>
            <a:stCxn id="156" idx="2"/>
            <a:endCxn id="162" idx="0"/>
          </p:cNvCxnSpPr>
          <p:nvPr/>
        </p:nvCxnSpPr>
        <p:spPr>
          <a:xfrm>
            <a:off x="5990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4"/>
          <p:cNvCxnSpPr>
            <a:stCxn id="147" idx="2"/>
            <a:endCxn id="164" idx="0"/>
          </p:cNvCxnSpPr>
          <p:nvPr/>
        </p:nvCxnSpPr>
        <p:spPr>
          <a:xfrm flipH="1">
            <a:off x="7133875" y="142875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4"/>
          <p:cNvSpPr/>
          <p:nvPr/>
        </p:nvSpPr>
        <p:spPr>
          <a:xfrm>
            <a:off x="55336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53050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57622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4"/>
          <p:cNvCxnSpPr>
            <a:stCxn id="160" idx="2"/>
            <a:endCxn id="166" idx="0"/>
          </p:cNvCxnSpPr>
          <p:nvPr/>
        </p:nvCxnSpPr>
        <p:spPr>
          <a:xfrm flipH="1">
            <a:off x="53812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4"/>
          <p:cNvCxnSpPr>
            <a:stCxn id="160" idx="2"/>
            <a:endCxn id="165" idx="0"/>
          </p:cNvCxnSpPr>
          <p:nvPr/>
        </p:nvCxnSpPr>
        <p:spPr>
          <a:xfrm>
            <a:off x="5609875" y="203835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4"/>
          <p:cNvCxnSpPr>
            <a:stCxn id="160" idx="2"/>
            <a:endCxn id="167" idx="0"/>
          </p:cNvCxnSpPr>
          <p:nvPr/>
        </p:nvCxnSpPr>
        <p:spPr>
          <a:xfrm>
            <a:off x="56098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4"/>
          <p:cNvSpPr/>
          <p:nvPr/>
        </p:nvSpPr>
        <p:spPr>
          <a:xfrm>
            <a:off x="62956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0670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5242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" name="Google Shape;174;p24"/>
          <p:cNvCxnSpPr>
            <a:stCxn id="162" idx="2"/>
            <a:endCxn id="172" idx="0"/>
          </p:cNvCxnSpPr>
          <p:nvPr/>
        </p:nvCxnSpPr>
        <p:spPr>
          <a:xfrm flipH="1">
            <a:off x="61432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24"/>
          <p:cNvCxnSpPr>
            <a:stCxn id="162" idx="2"/>
            <a:endCxn id="171" idx="0"/>
          </p:cNvCxnSpPr>
          <p:nvPr/>
        </p:nvCxnSpPr>
        <p:spPr>
          <a:xfrm>
            <a:off x="6371875" y="203835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24"/>
          <p:cNvCxnSpPr>
            <a:stCxn id="162" idx="2"/>
            <a:endCxn id="173" idx="0"/>
          </p:cNvCxnSpPr>
          <p:nvPr/>
        </p:nvCxnSpPr>
        <p:spPr>
          <a:xfrm>
            <a:off x="63718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4"/>
          <p:cNvSpPr/>
          <p:nvPr/>
        </p:nvSpPr>
        <p:spPr>
          <a:xfrm>
            <a:off x="70576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4"/>
          <p:cNvSpPr/>
          <p:nvPr/>
        </p:nvSpPr>
        <p:spPr>
          <a:xfrm>
            <a:off x="68290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4"/>
          <p:cNvSpPr/>
          <p:nvPr/>
        </p:nvSpPr>
        <p:spPr>
          <a:xfrm>
            <a:off x="7286275" y="2419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" name="Google Shape;180;p24"/>
          <p:cNvCxnSpPr>
            <a:stCxn id="164" idx="2"/>
            <a:endCxn id="178" idx="0"/>
          </p:cNvCxnSpPr>
          <p:nvPr/>
        </p:nvCxnSpPr>
        <p:spPr>
          <a:xfrm flipH="1">
            <a:off x="6905275" y="203835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4"/>
          <p:cNvCxnSpPr>
            <a:stCxn id="164" idx="2"/>
            <a:endCxn id="177" idx="0"/>
          </p:cNvCxnSpPr>
          <p:nvPr/>
        </p:nvCxnSpPr>
        <p:spPr>
          <a:xfrm>
            <a:off x="7133875" y="203835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4"/>
          <p:cNvCxnSpPr>
            <a:stCxn id="164" idx="2"/>
            <a:endCxn id="179" idx="0"/>
          </p:cNvCxnSpPr>
          <p:nvPr/>
        </p:nvCxnSpPr>
        <p:spPr>
          <a:xfrm>
            <a:off x="7133875" y="203835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" name="Google Shape;152;p24"/>
          <p:cNvSpPr/>
          <p:nvPr/>
        </p:nvSpPr>
        <p:spPr>
          <a:xfrm>
            <a:off x="78196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75910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8048275" y="2419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" name="Google Shape;183;p24"/>
          <p:cNvCxnSpPr/>
          <p:nvPr/>
        </p:nvCxnSpPr>
        <p:spPr>
          <a:xfrm flipH="1" rot="10800000">
            <a:off x="6127175" y="81902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 rot="10800000">
            <a:off x="6981475" y="81902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5" name="Google Shape;185;p24"/>
          <p:cNvCxnSpPr/>
          <p:nvPr/>
        </p:nvCxnSpPr>
        <p:spPr>
          <a:xfrm flipH="1" rot="10800000">
            <a:off x="55629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6" name="Google Shape;186;p24"/>
          <p:cNvCxnSpPr/>
          <p:nvPr/>
        </p:nvCxnSpPr>
        <p:spPr>
          <a:xfrm rot="10800000">
            <a:off x="61434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7" name="Google Shape;187;p24"/>
          <p:cNvCxnSpPr/>
          <p:nvPr/>
        </p:nvCxnSpPr>
        <p:spPr>
          <a:xfrm flipH="1" rot="10800000">
            <a:off x="7086925" y="146766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0" name="Google Shape;160;p24"/>
          <p:cNvSpPr/>
          <p:nvPr/>
        </p:nvSpPr>
        <p:spPr>
          <a:xfrm>
            <a:off x="5457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4"/>
          <p:cNvSpPr/>
          <p:nvPr/>
        </p:nvSpPr>
        <p:spPr>
          <a:xfrm>
            <a:off x="6219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4"/>
          <p:cNvSpPr/>
          <p:nvPr/>
        </p:nvSpPr>
        <p:spPr>
          <a:xfrm>
            <a:off x="6981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7743475" y="17335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Introducing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Multicast</a:t>
            </a:r>
            <a:endParaRPr/>
          </a:p>
        </p:txBody>
      </p:sp>
      <p:sp>
        <p:nvSpPr>
          <p:cNvPr id="194" name="Google Shape;194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model so far: The Internet transfers data between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are unicast: One sender, one recipient.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applications (e.g. HTTP, DNS, TCP) use the client-server model:</a:t>
            </a:r>
            <a:br>
              <a:rPr lang="en"/>
            </a:br>
            <a:r>
              <a:rPr lang="en"/>
              <a:t>One client and one server exchange unicast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applications are </a:t>
            </a:r>
            <a:r>
              <a:rPr lang="en"/>
              <a:t>instead</a:t>
            </a:r>
            <a:r>
              <a:rPr lang="en"/>
              <a:t> about </a:t>
            </a:r>
            <a:r>
              <a:rPr b="1" lang="en"/>
              <a:t>groups of hosts</a:t>
            </a:r>
            <a:r>
              <a:rPr lang="en"/>
              <a:t> communicating: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Multi-player games.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Live content delivery (e.g. Zoom meeting, live-streaming sports).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Collaborative documents (e.g. Google Docs).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AI training (more on this next time).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unicast, client-server model is an awkward fit for these apps.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the client? Who is the server?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Today's topic: What network protocols exist to support group communication?</a:t>
            </a:r>
            <a:endParaRPr/>
          </a:p>
        </p:txBody>
      </p:sp>
      <p:sp>
        <p:nvSpPr>
          <p:cNvPr id="200" name="Google Shape;200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Multicast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/>
          <p:nvPr/>
        </p:nvSpPr>
        <p:spPr>
          <a:xfrm>
            <a:off x="2506200" y="1903225"/>
            <a:ext cx="1674900" cy="21708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7"/>
          <p:cNvSpPr/>
          <p:nvPr/>
        </p:nvSpPr>
        <p:spPr>
          <a:xfrm>
            <a:off x="372600" y="2617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7"/>
          <p:cNvSpPr/>
          <p:nvPr/>
        </p:nvSpPr>
        <p:spPr>
          <a:xfrm flipH="1" rot="10800000">
            <a:off x="745700" y="3001575"/>
            <a:ext cx="2850475" cy="577675"/>
          </a:xfrm>
          <a:custGeom>
            <a:rect b="b" l="l" r="r" t="t"/>
            <a:pathLst>
              <a:path extrusionOk="0" h="23107" w="114019">
                <a:moveTo>
                  <a:pt x="114019" y="0"/>
                </a:moveTo>
                <a:lnTo>
                  <a:pt x="84858" y="23107"/>
                </a:lnTo>
                <a:lnTo>
                  <a:pt x="0" y="23107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8" name="Google Shape;208;p27"/>
          <p:cNvSpPr/>
          <p:nvPr/>
        </p:nvSpPr>
        <p:spPr>
          <a:xfrm>
            <a:off x="745700" y="2239575"/>
            <a:ext cx="2850475" cy="577675"/>
          </a:xfrm>
          <a:custGeom>
            <a:rect b="b" l="l" r="r" t="t"/>
            <a:pathLst>
              <a:path extrusionOk="0" h="23107" w="114019">
                <a:moveTo>
                  <a:pt x="114019" y="0"/>
                </a:moveTo>
                <a:lnTo>
                  <a:pt x="84858" y="23107"/>
                </a:lnTo>
                <a:lnTo>
                  <a:pt x="0" y="2310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09" name="Google Shape;209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Support for Multicast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107050" y="402200"/>
            <a:ext cx="89097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Group communication can be done with unicast only, but it wastes bandwidth.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better approach would avoid sending duplicate copies of a packet along a link.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multicast model requires extra support from the network.</a:t>
            </a:r>
            <a:endParaRPr/>
          </a:p>
        </p:txBody>
      </p:sp>
      <p:cxnSp>
        <p:nvCxnSpPr>
          <p:cNvPr id="211" name="Google Shape;211;p27"/>
          <p:cNvCxnSpPr>
            <a:stCxn id="212" idx="3"/>
            <a:endCxn id="213" idx="1"/>
          </p:cNvCxnSpPr>
          <p:nvPr/>
        </p:nvCxnSpPr>
        <p:spPr>
          <a:xfrm>
            <a:off x="1647525" y="2908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7"/>
          <p:cNvCxnSpPr>
            <a:stCxn id="213" idx="3"/>
            <a:endCxn id="215" idx="3"/>
          </p:cNvCxnSpPr>
          <p:nvPr/>
        </p:nvCxnSpPr>
        <p:spPr>
          <a:xfrm flipH="1" rot="10800000">
            <a:off x="2866725" y="2330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7"/>
          <p:cNvCxnSpPr>
            <a:stCxn id="213" idx="3"/>
            <a:endCxn id="217" idx="2"/>
          </p:cNvCxnSpPr>
          <p:nvPr/>
        </p:nvCxnSpPr>
        <p:spPr>
          <a:xfrm flipH="1" rot="10800000">
            <a:off x="2866725" y="2679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27"/>
          <p:cNvCxnSpPr>
            <a:stCxn id="213" idx="3"/>
            <a:endCxn id="219" idx="2"/>
          </p:cNvCxnSpPr>
          <p:nvPr/>
        </p:nvCxnSpPr>
        <p:spPr>
          <a:xfrm>
            <a:off x="2866725" y="2908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7"/>
          <p:cNvCxnSpPr>
            <a:stCxn id="213" idx="3"/>
            <a:endCxn id="221" idx="1"/>
          </p:cNvCxnSpPr>
          <p:nvPr/>
        </p:nvCxnSpPr>
        <p:spPr>
          <a:xfrm>
            <a:off x="2866725" y="2908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7"/>
          <p:cNvCxnSpPr>
            <a:stCxn id="223" idx="6"/>
            <a:endCxn id="212" idx="1"/>
          </p:cNvCxnSpPr>
          <p:nvPr/>
        </p:nvCxnSpPr>
        <p:spPr>
          <a:xfrm>
            <a:off x="809325" y="2908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7"/>
          <p:cNvSpPr txBox="1"/>
          <p:nvPr/>
        </p:nvSpPr>
        <p:spPr>
          <a:xfrm>
            <a:off x="892650" y="3136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27"/>
          <p:cNvSpPr/>
          <p:nvPr/>
        </p:nvSpPr>
        <p:spPr>
          <a:xfrm>
            <a:off x="3552525" y="3441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3137850" y="37463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p27"/>
          <p:cNvSpPr/>
          <p:nvPr/>
        </p:nvSpPr>
        <p:spPr>
          <a:xfrm>
            <a:off x="3552525" y="2069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27"/>
          <p:cNvSpPr/>
          <p:nvPr/>
        </p:nvSpPr>
        <p:spPr>
          <a:xfrm>
            <a:off x="751275" y="2635283"/>
            <a:ext cx="2810800" cy="231450"/>
          </a:xfrm>
          <a:custGeom>
            <a:rect b="b" l="l" r="r" t="t"/>
            <a:pathLst>
              <a:path extrusionOk="0" h="9258" w="112432">
                <a:moveTo>
                  <a:pt x="112432" y="0"/>
                </a:moveTo>
                <a:lnTo>
                  <a:pt x="84659" y="9258"/>
                </a:lnTo>
                <a:lnTo>
                  <a:pt x="0" y="9258"/>
                </a:lnTo>
              </a:path>
            </a:pathLst>
          </a:cu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27"/>
          <p:cNvSpPr/>
          <p:nvPr/>
        </p:nvSpPr>
        <p:spPr>
          <a:xfrm flipH="1" rot="10800000">
            <a:off x="751275" y="2948299"/>
            <a:ext cx="2810800" cy="231450"/>
          </a:xfrm>
          <a:custGeom>
            <a:rect b="b" l="l" r="r" t="t"/>
            <a:pathLst>
              <a:path extrusionOk="0" h="9258" w="112432">
                <a:moveTo>
                  <a:pt x="112432" y="0"/>
                </a:moveTo>
                <a:lnTo>
                  <a:pt x="84659" y="9258"/>
                </a:lnTo>
                <a:lnTo>
                  <a:pt x="0" y="925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2" name="Google Shape;212;p27"/>
          <p:cNvSpPr/>
          <p:nvPr/>
        </p:nvSpPr>
        <p:spPr>
          <a:xfrm>
            <a:off x="13427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p27"/>
          <p:cNvSpPr/>
          <p:nvPr/>
        </p:nvSpPr>
        <p:spPr>
          <a:xfrm>
            <a:off x="25619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7"/>
          <p:cNvSpPr/>
          <p:nvPr/>
        </p:nvSpPr>
        <p:spPr>
          <a:xfrm>
            <a:off x="504525" y="2755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7"/>
          <p:cNvSpPr/>
          <p:nvPr/>
        </p:nvSpPr>
        <p:spPr>
          <a:xfrm>
            <a:off x="3552525" y="2527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3552525" y="298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27"/>
          <p:cNvSpPr/>
          <p:nvPr/>
        </p:nvSpPr>
        <p:spPr>
          <a:xfrm>
            <a:off x="6925800" y="1903225"/>
            <a:ext cx="1674900" cy="21708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27"/>
          <p:cNvSpPr/>
          <p:nvPr/>
        </p:nvSpPr>
        <p:spPr>
          <a:xfrm>
            <a:off x="4792200" y="2617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0" name="Google Shape;230;p27"/>
          <p:cNvCxnSpPr>
            <a:stCxn id="231" idx="3"/>
            <a:endCxn id="232" idx="1"/>
          </p:cNvCxnSpPr>
          <p:nvPr/>
        </p:nvCxnSpPr>
        <p:spPr>
          <a:xfrm>
            <a:off x="6067125" y="2908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>
            <a:stCxn id="232" idx="3"/>
            <a:endCxn id="234" idx="3"/>
          </p:cNvCxnSpPr>
          <p:nvPr/>
        </p:nvCxnSpPr>
        <p:spPr>
          <a:xfrm flipH="1" rot="10800000">
            <a:off x="7286325" y="2330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>
            <a:stCxn id="232" idx="3"/>
            <a:endCxn id="236" idx="2"/>
          </p:cNvCxnSpPr>
          <p:nvPr/>
        </p:nvCxnSpPr>
        <p:spPr>
          <a:xfrm flipH="1" rot="10800000">
            <a:off x="7286325" y="2679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7"/>
          <p:cNvCxnSpPr>
            <a:stCxn id="232" idx="3"/>
            <a:endCxn id="238" idx="2"/>
          </p:cNvCxnSpPr>
          <p:nvPr/>
        </p:nvCxnSpPr>
        <p:spPr>
          <a:xfrm>
            <a:off x="7286325" y="2908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>
            <a:stCxn id="232" idx="3"/>
            <a:endCxn id="240" idx="1"/>
          </p:cNvCxnSpPr>
          <p:nvPr/>
        </p:nvCxnSpPr>
        <p:spPr>
          <a:xfrm>
            <a:off x="7286325" y="2908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7"/>
          <p:cNvCxnSpPr>
            <a:stCxn id="242" idx="6"/>
            <a:endCxn id="231" idx="1"/>
          </p:cNvCxnSpPr>
          <p:nvPr/>
        </p:nvCxnSpPr>
        <p:spPr>
          <a:xfrm>
            <a:off x="5228925" y="2908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7"/>
          <p:cNvSpPr txBox="1"/>
          <p:nvPr/>
        </p:nvSpPr>
        <p:spPr>
          <a:xfrm>
            <a:off x="5312250" y="3136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27"/>
          <p:cNvSpPr txBox="1"/>
          <p:nvPr/>
        </p:nvSpPr>
        <p:spPr>
          <a:xfrm>
            <a:off x="7557450" y="37463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" name="Google Shape;245;p27"/>
          <p:cNvCxnSpPr/>
          <p:nvPr/>
        </p:nvCxnSpPr>
        <p:spPr>
          <a:xfrm flipH="1" rot="10800000">
            <a:off x="7286325" y="22538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/>
          <p:nvPr/>
        </p:nvCxnSpPr>
        <p:spPr>
          <a:xfrm flipH="1" rot="10800000">
            <a:off x="7286325" y="26176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7"/>
          <p:cNvCxnSpPr/>
          <p:nvPr/>
        </p:nvCxnSpPr>
        <p:spPr>
          <a:xfrm>
            <a:off x="7286325" y="29483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7"/>
          <p:cNvCxnSpPr/>
          <p:nvPr/>
        </p:nvCxnSpPr>
        <p:spPr>
          <a:xfrm>
            <a:off x="7286325" y="29843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7"/>
          <p:cNvSpPr/>
          <p:nvPr/>
        </p:nvSpPr>
        <p:spPr>
          <a:xfrm>
            <a:off x="7972125" y="3441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/>
          <p:nvPr/>
        </p:nvSpPr>
        <p:spPr>
          <a:xfrm>
            <a:off x="7972125" y="2069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7972125" y="2527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7972125" y="298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" name="Google Shape;249;p27"/>
          <p:cNvCxnSpPr/>
          <p:nvPr/>
        </p:nvCxnSpPr>
        <p:spPr>
          <a:xfrm>
            <a:off x="5169125" y="2861588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7"/>
          <p:cNvSpPr/>
          <p:nvPr/>
        </p:nvSpPr>
        <p:spPr>
          <a:xfrm>
            <a:off x="57623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4924125" y="2755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6981525" y="275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>
            <a:off x="779325" y="4160993"/>
            <a:ext cx="26508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Unicast-Only Model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Many duplicate copies of the packet sent along the R1-R2 link.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>
            <a:off x="4865700" y="4164750"/>
            <a:ext cx="3361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Multicast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Model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a single copy along the R1-R2 link. Then, R2 sends copies to individual hosts.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291675" y="18731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A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367875" y="19493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B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444075" y="20255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C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520275" y="2101775"/>
            <a:ext cx="730500" cy="393600"/>
          </a:xfrm>
          <a:prstGeom prst="roundRect">
            <a:avLst>
              <a:gd fmla="val 16667" name="adj"/>
            </a:avLst>
          </a:prstGeom>
          <a:solidFill>
            <a:srgbClr val="EAD1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4711275" y="2101775"/>
            <a:ext cx="7305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???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5512725" y="2085950"/>
            <a:ext cx="1069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New protocols needed!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7"/>
          <p:cNvSpPr txBox="1"/>
          <p:nvPr/>
        </p:nvSpPr>
        <p:spPr>
          <a:xfrm>
            <a:off x="4711275" y="1861775"/>
            <a:ext cx="2145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What goes in destination field?</a:t>
            </a:r>
            <a:endParaRPr sz="12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Multicast</a:t>
            </a:r>
            <a:endParaRPr/>
          </a:p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107050" y="402200"/>
            <a:ext cx="8909700" cy="20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are multicast protocols implemented? There are two options: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IP Multicast</a:t>
            </a:r>
            <a:r>
              <a:rPr lang="en"/>
              <a:t>: Implemented in routers, at Layer 3.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Overlay Multicast</a:t>
            </a:r>
            <a:r>
              <a:rPr lang="en"/>
              <a:t>: Implemented in hosts, at Layer 7.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study both options and their trade-offs.</a:t>
            </a:r>
            <a:endParaRPr/>
          </a:p>
        </p:txBody>
      </p:sp>
      <p:cxnSp>
        <p:nvCxnSpPr>
          <p:cNvPr id="265" name="Google Shape;265;p28"/>
          <p:cNvCxnSpPr>
            <a:stCxn id="266" idx="2"/>
            <a:endCxn id="267" idx="0"/>
          </p:cNvCxnSpPr>
          <p:nvPr/>
        </p:nvCxnSpPr>
        <p:spPr>
          <a:xfrm>
            <a:off x="4886500" y="341080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" name="Google Shape;266;p28"/>
          <p:cNvSpPr/>
          <p:nvPr/>
        </p:nvSpPr>
        <p:spPr>
          <a:xfrm>
            <a:off x="4447000" y="314710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5295100" y="375670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3172600" y="375670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8"/>
          <p:cNvCxnSpPr>
            <a:stCxn id="266" idx="2"/>
            <a:endCxn id="268" idx="0"/>
          </p:cNvCxnSpPr>
          <p:nvPr/>
        </p:nvCxnSpPr>
        <p:spPr>
          <a:xfrm flipH="1">
            <a:off x="3743500" y="341080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8"/>
          <p:cNvSpPr/>
          <p:nvPr/>
        </p:nvSpPr>
        <p:spPr>
          <a:xfrm>
            <a:off x="2359900" y="4366300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3803650" y="4366300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2" name="Google Shape;272;p28"/>
          <p:cNvCxnSpPr>
            <a:stCxn id="268" idx="2"/>
            <a:endCxn id="270" idx="0"/>
          </p:cNvCxnSpPr>
          <p:nvPr/>
        </p:nvCxnSpPr>
        <p:spPr>
          <a:xfrm flipH="1">
            <a:off x="2981500" y="402040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8"/>
          <p:cNvCxnSpPr>
            <a:stCxn id="268" idx="2"/>
            <a:endCxn id="271" idx="0"/>
          </p:cNvCxnSpPr>
          <p:nvPr/>
        </p:nvCxnSpPr>
        <p:spPr>
          <a:xfrm>
            <a:off x="3743500" y="402040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9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Service Model</a:t>
            </a:r>
            <a:endParaRPr/>
          </a:p>
        </p:txBody>
      </p:sp>
      <p:sp>
        <p:nvSpPr>
          <p:cNvPr id="279" name="Google Shape;279;p29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 Service Model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IP Multicast</a:t>
            </a:r>
            <a:endParaRPr/>
          </a:p>
        </p:txBody>
      </p:sp>
      <p:sp>
        <p:nvSpPr>
          <p:cNvPr id="286" name="Google Shape;286;p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was the focus of much work in the 1990s and early 2000s.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Anticipated killer app: Live-streamed TV/radio.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Mixed success in terms of adoption: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 routers support IP multicast, but operators sometimes disable multicast.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inside a single network (e.g. a datacenter).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used across multiple domains.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you can't send multicast packets on the Internet and expect them to "automatically"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Techniques developed can be applied to solve different networking problems.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time: We'll see these techniques applied to AI training.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/>
          <p:nvPr/>
        </p:nvSpPr>
        <p:spPr>
          <a:xfrm>
            <a:off x="6686650" y="992432"/>
            <a:ext cx="17715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1"/>
          <p:cNvSpPr/>
          <p:nvPr/>
        </p:nvSpPr>
        <p:spPr>
          <a:xfrm>
            <a:off x="2509604" y="1001950"/>
            <a:ext cx="19959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4705450" y="992432"/>
            <a:ext cx="17715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665650" y="1007075"/>
            <a:ext cx="1653300" cy="2534400"/>
          </a:xfrm>
          <a:prstGeom prst="roundRect">
            <a:avLst>
              <a:gd fmla="val 702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4816627" y="2322593"/>
            <a:ext cx="1600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Broadcast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all destinations.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Packet Delivery Models</a:t>
            </a:r>
            <a:endParaRPr/>
          </a:p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107050" y="402200"/>
            <a:ext cx="8909700" cy="64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We've seen four models for delivering a packet:</a:t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1421350" y="1179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1421350" y="1941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1878550" y="17125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1802350" y="1255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1878550" y="2017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" name="Google Shape;303;p31"/>
          <p:cNvCxnSpPr>
            <a:stCxn id="304" idx="6"/>
            <a:endCxn id="301" idx="2"/>
          </p:cNvCxnSpPr>
          <p:nvPr/>
        </p:nvCxnSpPr>
        <p:spPr>
          <a:xfrm flipH="1" rot="10800000">
            <a:off x="1192750" y="1331550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5" name="Google Shape;305;p31"/>
          <p:cNvSpPr/>
          <p:nvPr/>
        </p:nvSpPr>
        <p:spPr>
          <a:xfrm>
            <a:off x="2030950" y="14839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811750" y="156015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" name="Google Shape;307;p31"/>
          <p:cNvCxnSpPr>
            <a:stCxn id="306" idx="6"/>
          </p:cNvCxnSpPr>
          <p:nvPr/>
        </p:nvCxnSpPr>
        <p:spPr>
          <a:xfrm>
            <a:off x="964150" y="1636350"/>
            <a:ext cx="2325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1"/>
          <p:cNvSpPr/>
          <p:nvPr/>
        </p:nvSpPr>
        <p:spPr>
          <a:xfrm>
            <a:off x="3361304" y="11791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3361304" y="19411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31"/>
          <p:cNvSpPr/>
          <p:nvPr/>
        </p:nvSpPr>
        <p:spPr>
          <a:xfrm>
            <a:off x="3818504" y="17125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31"/>
          <p:cNvSpPr/>
          <p:nvPr/>
        </p:nvSpPr>
        <p:spPr>
          <a:xfrm>
            <a:off x="3742304" y="1255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3818504" y="2017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3" name="Google Shape;313;p31"/>
          <p:cNvCxnSpPr>
            <a:endCxn id="310" idx="2"/>
          </p:cNvCxnSpPr>
          <p:nvPr/>
        </p:nvCxnSpPr>
        <p:spPr>
          <a:xfrm>
            <a:off x="3132704" y="1636350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4" name="Google Shape;314;p31"/>
          <p:cNvSpPr/>
          <p:nvPr/>
        </p:nvSpPr>
        <p:spPr>
          <a:xfrm>
            <a:off x="3970904" y="14839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2751704" y="156015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" name="Google Shape;316;p31"/>
          <p:cNvCxnSpPr>
            <a:stCxn id="315" idx="6"/>
          </p:cNvCxnSpPr>
          <p:nvPr/>
        </p:nvCxnSpPr>
        <p:spPr>
          <a:xfrm>
            <a:off x="2904104" y="1636350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1"/>
          <p:cNvSpPr/>
          <p:nvPr/>
        </p:nvSpPr>
        <p:spPr>
          <a:xfrm>
            <a:off x="5540527" y="11795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5540527" y="19415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997727" y="17129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5921527" y="12557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5997727" y="20177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2" name="Google Shape;322;p31"/>
          <p:cNvCxnSpPr>
            <a:endCxn id="317" idx="3"/>
          </p:cNvCxnSpPr>
          <p:nvPr/>
        </p:nvCxnSpPr>
        <p:spPr>
          <a:xfrm flipH="1" rot="10800000">
            <a:off x="5312045" y="1309674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3" name="Google Shape;323;p31"/>
          <p:cNvCxnSpPr>
            <a:endCxn id="320" idx="2"/>
          </p:cNvCxnSpPr>
          <p:nvPr/>
        </p:nvCxnSpPr>
        <p:spPr>
          <a:xfrm flipH="1" rot="10800000">
            <a:off x="5311927" y="1331993"/>
            <a:ext cx="6096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4" name="Google Shape;324;p31"/>
          <p:cNvCxnSpPr>
            <a:endCxn id="319" idx="2"/>
          </p:cNvCxnSpPr>
          <p:nvPr/>
        </p:nvCxnSpPr>
        <p:spPr>
          <a:xfrm>
            <a:off x="5311927" y="1636793"/>
            <a:ext cx="6858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5" name="Google Shape;325;p31"/>
          <p:cNvCxnSpPr>
            <a:endCxn id="321" idx="1"/>
          </p:cNvCxnSpPr>
          <p:nvPr/>
        </p:nvCxnSpPr>
        <p:spPr>
          <a:xfrm>
            <a:off x="5312045" y="1636911"/>
            <a:ext cx="708000" cy="40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6" name="Google Shape;326;p31"/>
          <p:cNvCxnSpPr>
            <a:endCxn id="318" idx="1"/>
          </p:cNvCxnSpPr>
          <p:nvPr/>
        </p:nvCxnSpPr>
        <p:spPr>
          <a:xfrm>
            <a:off x="5312045" y="1636911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7" name="Google Shape;327;p31"/>
          <p:cNvSpPr/>
          <p:nvPr/>
        </p:nvSpPr>
        <p:spPr>
          <a:xfrm>
            <a:off x="6150127" y="148439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8" name="Google Shape;328;p31"/>
          <p:cNvCxnSpPr>
            <a:endCxn id="327" idx="2"/>
          </p:cNvCxnSpPr>
          <p:nvPr/>
        </p:nvCxnSpPr>
        <p:spPr>
          <a:xfrm flipH="1" rot="10800000">
            <a:off x="5311927" y="1560593"/>
            <a:ext cx="8382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9" name="Google Shape;329;p31"/>
          <p:cNvSpPr/>
          <p:nvPr/>
        </p:nvSpPr>
        <p:spPr>
          <a:xfrm>
            <a:off x="4930927" y="1560593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31"/>
          <p:cNvCxnSpPr>
            <a:stCxn id="329" idx="6"/>
          </p:cNvCxnSpPr>
          <p:nvPr/>
        </p:nvCxnSpPr>
        <p:spPr>
          <a:xfrm>
            <a:off x="5083327" y="1636793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1"/>
          <p:cNvSpPr/>
          <p:nvPr/>
        </p:nvSpPr>
        <p:spPr>
          <a:xfrm>
            <a:off x="7450112" y="11780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7450112" y="1940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7907312" y="17114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7831112" y="1254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7907312" y="20162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" name="Google Shape;336;p31"/>
          <p:cNvCxnSpPr>
            <a:endCxn id="331" idx="3"/>
          </p:cNvCxnSpPr>
          <p:nvPr/>
        </p:nvCxnSpPr>
        <p:spPr>
          <a:xfrm flipH="1" rot="10800000">
            <a:off x="7221630" y="1308082"/>
            <a:ext cx="250800" cy="32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31"/>
          <p:cNvCxnSpPr>
            <a:endCxn id="335" idx="1"/>
          </p:cNvCxnSpPr>
          <p:nvPr/>
        </p:nvCxnSpPr>
        <p:spPr>
          <a:xfrm>
            <a:off x="7221630" y="1635318"/>
            <a:ext cx="708000" cy="403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31"/>
          <p:cNvSpPr/>
          <p:nvPr/>
        </p:nvSpPr>
        <p:spPr>
          <a:xfrm>
            <a:off x="8059712" y="1482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" name="Google Shape;339;p31"/>
          <p:cNvCxnSpPr>
            <a:endCxn id="338" idx="2"/>
          </p:cNvCxnSpPr>
          <p:nvPr/>
        </p:nvCxnSpPr>
        <p:spPr>
          <a:xfrm flipH="1" rot="10800000">
            <a:off x="7221512" y="1559000"/>
            <a:ext cx="838200" cy="7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0" name="Google Shape;340;p31"/>
          <p:cNvSpPr/>
          <p:nvPr/>
        </p:nvSpPr>
        <p:spPr>
          <a:xfrm>
            <a:off x="6840512" y="1559000"/>
            <a:ext cx="152400" cy="1524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" name="Google Shape;341;p31"/>
          <p:cNvCxnSpPr>
            <a:stCxn id="340" idx="6"/>
          </p:cNvCxnSpPr>
          <p:nvPr/>
        </p:nvCxnSpPr>
        <p:spPr>
          <a:xfrm>
            <a:off x="6992912" y="1635200"/>
            <a:ext cx="2412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p31"/>
          <p:cNvSpPr txBox="1"/>
          <p:nvPr/>
        </p:nvSpPr>
        <p:spPr>
          <a:xfrm>
            <a:off x="811750" y="2326200"/>
            <a:ext cx="1444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Unicast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exactly one destination.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2613704" y="2326200"/>
            <a:ext cx="18339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Anycast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one of a set of possible destinations.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6811412" y="2325050"/>
            <a:ext cx="1543500" cy="10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the packet to all members of a group.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5" name="Google Shape;345;p31"/>
          <p:cNvSpPr txBox="1"/>
          <p:nvPr>
            <p:ph idx="1" type="body"/>
          </p:nvPr>
        </p:nvSpPr>
        <p:spPr>
          <a:xfrm>
            <a:off x="107050" y="3602600"/>
            <a:ext cx="8909700" cy="1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notes on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can choose to join/leave groups at any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send a packet to a group, even if you are not a member of that group.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Model</a:t>
            </a:r>
            <a:endParaRPr/>
          </a:p>
        </p:txBody>
      </p:sp>
      <p:sp>
        <p:nvSpPr>
          <p:cNvPr id="351" name="Google Shape;351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multicast group has an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in the range 224.0.0.0 to 239.255.255.255 are reserved for multicast groups.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can send 3 different types of packets: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Join</a:t>
            </a:r>
            <a:r>
              <a:rPr lang="en"/>
              <a:t>: Send a packet to announce that you are joining a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Leave</a:t>
            </a:r>
            <a:r>
              <a:rPr lang="en"/>
              <a:t>: Send a packet to announce that you are leaving a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Data</a:t>
            </a:r>
            <a:r>
              <a:rPr lang="en"/>
              <a:t>: Send a data packet to a multicast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must know how to process Join, Leave, and Data packets from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store state. (e.g. "where are the members of group 226.1.2.3?")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run protocols to learn how to forward packets.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Model: Addressing</a:t>
            </a:r>
            <a:endParaRPr/>
          </a:p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107050" y="402200"/>
            <a:ext cx="89097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multicast group has an IP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Addresses in </a:t>
            </a:r>
            <a:r>
              <a:rPr lang="en"/>
              <a:t>the </a:t>
            </a:r>
            <a:r>
              <a:rPr lang="en"/>
              <a:t>range 224.0.0.0 to 239.255.255.255 are reserved for multicast groups.</a:t>
            </a: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" name="Google Shape;359;p33"/>
          <p:cNvCxnSpPr>
            <a:stCxn id="360" idx="3"/>
            <a:endCxn id="358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3"/>
          <p:cNvCxnSpPr>
            <a:stCxn id="360" idx="3"/>
            <a:endCxn id="362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3"/>
          <p:cNvCxnSpPr>
            <a:stCxn id="358" idx="3"/>
            <a:endCxn id="364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33"/>
          <p:cNvCxnSpPr>
            <a:stCxn id="362" idx="3"/>
            <a:endCxn id="364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3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7" name="Google Shape;367;p33"/>
          <p:cNvCxnSpPr>
            <a:stCxn id="362" idx="2"/>
            <a:endCxn id="36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" name="Google Shape;368;p33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9" name="Google Shape;369;p33"/>
          <p:cNvCxnSpPr>
            <a:stCxn id="368" idx="3"/>
            <a:endCxn id="36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33"/>
          <p:cNvCxnSpPr>
            <a:stCxn id="366" idx="2"/>
            <a:endCxn id="371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" name="Google Shape;371;p33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33"/>
          <p:cNvCxnSpPr>
            <a:stCxn id="373" idx="1"/>
            <a:endCxn id="371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33"/>
          <p:cNvCxnSpPr>
            <a:stCxn id="364" idx="2"/>
            <a:endCxn id="373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" name="Google Shape;360;p33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5" name="Google Shape;375;p33"/>
          <p:cNvCxnSpPr>
            <a:stCxn id="360" idx="1"/>
            <a:endCxn id="376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" name="Google Shape;376;p33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" name="Google Shape;379;p33"/>
          <p:cNvCxnSpPr>
            <a:stCxn id="360" idx="1"/>
            <a:endCxn id="378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3"/>
          <p:cNvCxnSpPr>
            <a:stCxn id="360" idx="1"/>
            <a:endCxn id="377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3"/>
          <p:cNvCxnSpPr>
            <a:stCxn id="358" idx="0"/>
            <a:endCxn id="382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" name="Google Shape;383;p33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3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" name="Google Shape;384;p33"/>
          <p:cNvCxnSpPr>
            <a:stCxn id="358" idx="0"/>
            <a:endCxn id="38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>
            <a:stCxn id="364" idx="3"/>
            <a:endCxn id="38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33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3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3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9" name="Google Shape;389;p33"/>
          <p:cNvCxnSpPr>
            <a:stCxn id="364" idx="3"/>
            <a:endCxn id="38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33"/>
          <p:cNvCxnSpPr>
            <a:stCxn id="364" idx="3"/>
            <a:endCxn id="387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33"/>
          <p:cNvCxnSpPr>
            <a:stCxn id="373" idx="3"/>
            <a:endCxn id="392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33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33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4" name="Google Shape;394;p33"/>
          <p:cNvCxnSpPr>
            <a:stCxn id="373" idx="3"/>
            <a:endCxn id="393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33"/>
          <p:cNvCxnSpPr>
            <a:stCxn id="371" idx="2"/>
            <a:endCxn id="396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33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33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" name="Google Shape;398;p33"/>
          <p:cNvCxnSpPr>
            <a:stCxn id="371" idx="2"/>
            <a:endCxn id="39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33"/>
          <p:cNvCxnSpPr>
            <a:stCxn id="368" idx="1"/>
            <a:endCxn id="400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33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3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3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3" name="Google Shape;403;p33"/>
          <p:cNvCxnSpPr>
            <a:stCxn id="368" idx="1"/>
            <a:endCxn id="402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33"/>
          <p:cNvCxnSpPr>
            <a:stCxn id="368" idx="1"/>
            <a:endCxn id="40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" name="Google Shape;405;p33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33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33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33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Joining and Leaving</a:t>
            </a:r>
            <a:endParaRPr/>
          </a:p>
        </p:txBody>
      </p:sp>
      <p:sp>
        <p:nvSpPr>
          <p:cNvPr id="414" name="Google Shape;414;p34"/>
          <p:cNvSpPr txBox="1"/>
          <p:nvPr>
            <p:ph idx="1" type="body"/>
          </p:nvPr>
        </p:nvSpPr>
        <p:spPr>
          <a:xfrm>
            <a:off x="107050" y="402200"/>
            <a:ext cx="8909700" cy="13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send a </a:t>
            </a:r>
            <a:r>
              <a:rPr b="1" lang="en"/>
              <a:t>Join</a:t>
            </a:r>
            <a:r>
              <a:rPr lang="en"/>
              <a:t> packet to announce that they are joining a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router receives the Join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exchange messages to update their forwarding tables as needed.</a:t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" name="Google Shape;416;p34"/>
          <p:cNvCxnSpPr>
            <a:stCxn id="417" idx="3"/>
            <a:endCxn id="415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4"/>
          <p:cNvCxnSpPr>
            <a:stCxn id="417" idx="3"/>
            <a:endCxn id="419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4"/>
          <p:cNvCxnSpPr>
            <a:stCxn id="415" idx="3"/>
            <a:endCxn id="421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4"/>
          <p:cNvCxnSpPr>
            <a:stCxn id="419" idx="3"/>
            <a:endCxn id="421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" name="Google Shape;423;p34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4" name="Google Shape;424;p34"/>
          <p:cNvCxnSpPr>
            <a:stCxn id="419" idx="2"/>
            <a:endCxn id="423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4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" name="Google Shape;426;p34"/>
          <p:cNvCxnSpPr>
            <a:stCxn id="425" idx="3"/>
            <a:endCxn id="423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34"/>
          <p:cNvCxnSpPr>
            <a:stCxn id="423" idx="2"/>
            <a:endCxn id="428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34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" name="Google Shape;429;p34"/>
          <p:cNvCxnSpPr>
            <a:stCxn id="430" idx="1"/>
            <a:endCxn id="428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34"/>
          <p:cNvCxnSpPr>
            <a:stCxn id="421" idx="2"/>
            <a:endCxn id="430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" name="Google Shape;417;p34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34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34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" name="Google Shape;432;p34"/>
          <p:cNvCxnSpPr>
            <a:stCxn id="417" idx="1"/>
            <a:endCxn id="433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4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4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34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" name="Google Shape;436;p34"/>
          <p:cNvCxnSpPr>
            <a:stCxn id="417" idx="1"/>
            <a:endCxn id="435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34"/>
          <p:cNvCxnSpPr>
            <a:stCxn id="417" idx="1"/>
            <a:endCxn id="434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" name="Google Shape;438;p34"/>
          <p:cNvCxnSpPr>
            <a:stCxn id="415" idx="0"/>
            <a:endCxn id="439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34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34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1" name="Google Shape;441;p34"/>
          <p:cNvCxnSpPr>
            <a:stCxn id="415" idx="0"/>
            <a:endCxn id="440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34"/>
          <p:cNvCxnSpPr>
            <a:stCxn id="421" idx="3"/>
            <a:endCxn id="443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34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34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34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" name="Google Shape;446;p34"/>
          <p:cNvCxnSpPr>
            <a:stCxn id="421" idx="3"/>
            <a:endCxn id="445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4"/>
          <p:cNvCxnSpPr>
            <a:stCxn id="421" idx="3"/>
            <a:endCxn id="444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4"/>
          <p:cNvCxnSpPr>
            <a:stCxn id="430" idx="3"/>
            <a:endCxn id="449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" name="Google Shape;450;p34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4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1" name="Google Shape;451;p34"/>
          <p:cNvCxnSpPr>
            <a:stCxn id="430" idx="3"/>
            <a:endCxn id="450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4"/>
          <p:cNvCxnSpPr>
            <a:stCxn id="428" idx="2"/>
            <a:endCxn id="453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" name="Google Shape;454;p34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4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" name="Google Shape;455;p34"/>
          <p:cNvCxnSpPr>
            <a:stCxn id="428" idx="2"/>
            <a:endCxn id="454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34"/>
          <p:cNvCxnSpPr>
            <a:stCxn id="425" idx="1"/>
            <a:endCxn id="457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34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34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34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" name="Google Shape;460;p34"/>
          <p:cNvCxnSpPr>
            <a:stCxn id="425" idx="1"/>
            <a:endCxn id="459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34"/>
          <p:cNvCxnSpPr>
            <a:stCxn id="425" idx="1"/>
            <a:endCxn id="458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62" name="Google Shape;462;p34"/>
          <p:cNvGrpSpPr/>
          <p:nvPr/>
        </p:nvGrpSpPr>
        <p:grpSpPr>
          <a:xfrm>
            <a:off x="4928525" y="2548975"/>
            <a:ext cx="2685363" cy="1927123"/>
            <a:chOff x="4699925" y="2548975"/>
            <a:chExt cx="2685363" cy="1927123"/>
          </a:xfrm>
        </p:grpSpPr>
        <p:cxnSp>
          <p:nvCxnSpPr>
            <p:cNvPr id="463" name="Google Shape;463;p34"/>
            <p:cNvCxnSpPr/>
            <p:nvPr/>
          </p:nvCxnSpPr>
          <p:spPr>
            <a:xfrm flipH="1" rot="10800000">
              <a:off x="4699925" y="2601825"/>
              <a:ext cx="610800" cy="39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4" name="Google Shape;464;p34"/>
            <p:cNvCxnSpPr/>
            <p:nvPr/>
          </p:nvCxnSpPr>
          <p:spPr>
            <a:xfrm>
              <a:off x="5830484" y="2548975"/>
              <a:ext cx="8217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5" name="Google Shape;465;p34"/>
            <p:cNvCxnSpPr/>
            <p:nvPr/>
          </p:nvCxnSpPr>
          <p:spPr>
            <a:xfrm flipH="1" rot="10800000">
              <a:off x="5152750" y="4259025"/>
              <a:ext cx="390300" cy="189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6" name="Google Shape;466;p34"/>
            <p:cNvCxnSpPr/>
            <p:nvPr/>
          </p:nvCxnSpPr>
          <p:spPr>
            <a:xfrm>
              <a:off x="5623913" y="4251998"/>
              <a:ext cx="385800" cy="224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7" name="Google Shape;467;p34"/>
            <p:cNvCxnSpPr/>
            <p:nvPr/>
          </p:nvCxnSpPr>
          <p:spPr>
            <a:xfrm>
              <a:off x="7115288" y="3125475"/>
              <a:ext cx="270000" cy="586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8" name="Google Shape;468;p34"/>
            <p:cNvCxnSpPr/>
            <p:nvPr/>
          </p:nvCxnSpPr>
          <p:spPr>
            <a:xfrm flipH="1">
              <a:off x="6505763" y="4160925"/>
              <a:ext cx="578400" cy="287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69" name="Google Shape;469;p34"/>
            <p:cNvCxnSpPr/>
            <p:nvPr/>
          </p:nvCxnSpPr>
          <p:spPr>
            <a:xfrm>
              <a:off x="4752213" y="3240057"/>
              <a:ext cx="556500" cy="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0" name="Google Shape;470;p34"/>
            <p:cNvCxnSpPr/>
            <p:nvPr/>
          </p:nvCxnSpPr>
          <p:spPr>
            <a:xfrm flipH="1" rot="10800000">
              <a:off x="5839250" y="2984900"/>
              <a:ext cx="830700" cy="26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471" name="Google Shape;471;p34"/>
            <p:cNvCxnSpPr/>
            <p:nvPr/>
          </p:nvCxnSpPr>
          <p:spPr>
            <a:xfrm>
              <a:off x="5680038" y="3387063"/>
              <a:ext cx="32700" cy="375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472" name="Google Shape;472;p34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8078125" y="2047975"/>
            <a:ext cx="851100" cy="494100"/>
          </a:xfrm>
          <a:prstGeom prst="wedgeRoundRectCallout">
            <a:avLst>
              <a:gd fmla="val -77358" name="adj1"/>
              <a:gd fmla="val 62773" name="adj2"/>
              <a:gd fmla="val 0" name="adj3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Join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6319150" y="1958775"/>
            <a:ext cx="894900" cy="469800"/>
          </a:xfrm>
          <a:prstGeom prst="wedgeRoundRectCallout">
            <a:avLst>
              <a:gd fmla="val 42184" name="adj1"/>
              <a:gd fmla="val 94580" name="adj2"/>
              <a:gd fmla="val 0" name="adj3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join.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759850" y="3877875"/>
            <a:ext cx="2480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group membership has changed, so routers exchange messages to update their forwarding tables.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4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Joining and Leaving</a:t>
            </a:r>
            <a:endParaRPr/>
          </a:p>
        </p:txBody>
      </p:sp>
      <p:sp>
        <p:nvSpPr>
          <p:cNvPr id="485" name="Google Shape;485;p35"/>
          <p:cNvSpPr txBox="1"/>
          <p:nvPr>
            <p:ph idx="1" type="body"/>
          </p:nvPr>
        </p:nvSpPr>
        <p:spPr>
          <a:xfrm>
            <a:off x="107050" y="402200"/>
            <a:ext cx="8909700" cy="14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Hosts send a </a:t>
            </a:r>
            <a:r>
              <a:rPr b="1" lang="en"/>
              <a:t>Leave </a:t>
            </a:r>
            <a:r>
              <a:rPr lang="en"/>
              <a:t>packet to announce that they are leave a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router receives the Leave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exchange messages to update their forwarding tables as needed.</a:t>
            </a:r>
            <a:endParaRPr/>
          </a:p>
        </p:txBody>
      </p:sp>
      <p:sp>
        <p:nvSpPr>
          <p:cNvPr id="486" name="Google Shape;486;p35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" name="Google Shape;487;p35"/>
          <p:cNvCxnSpPr>
            <a:stCxn id="488" idx="3"/>
            <a:endCxn id="486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35"/>
          <p:cNvCxnSpPr>
            <a:stCxn id="488" idx="3"/>
            <a:endCxn id="490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35"/>
          <p:cNvCxnSpPr>
            <a:stCxn id="486" idx="3"/>
            <a:endCxn id="492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5"/>
          <p:cNvCxnSpPr>
            <a:stCxn id="490" idx="3"/>
            <a:endCxn id="492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35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" name="Google Shape;495;p35"/>
          <p:cNvCxnSpPr>
            <a:stCxn id="490" idx="2"/>
            <a:endCxn id="494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35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35"/>
          <p:cNvCxnSpPr>
            <a:stCxn id="496" idx="3"/>
            <a:endCxn id="494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5"/>
          <p:cNvCxnSpPr>
            <a:stCxn id="494" idx="2"/>
            <a:endCxn id="499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35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" name="Google Shape;500;p35"/>
          <p:cNvCxnSpPr>
            <a:stCxn id="501" idx="1"/>
            <a:endCxn id="499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5"/>
          <p:cNvCxnSpPr>
            <a:stCxn id="492" idx="2"/>
            <a:endCxn id="501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8" name="Google Shape;488;p35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35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35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5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3" name="Google Shape;503;p35"/>
          <p:cNvCxnSpPr>
            <a:stCxn id="488" idx="1"/>
            <a:endCxn id="504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35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5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5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" name="Google Shape;507;p35"/>
          <p:cNvCxnSpPr>
            <a:stCxn id="488" idx="1"/>
            <a:endCxn id="506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35"/>
          <p:cNvCxnSpPr>
            <a:stCxn id="488" idx="1"/>
            <a:endCxn id="505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35"/>
          <p:cNvCxnSpPr>
            <a:stCxn id="486" idx="0"/>
            <a:endCxn id="510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35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5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2" name="Google Shape;512;p35"/>
          <p:cNvCxnSpPr>
            <a:stCxn id="486" idx="0"/>
            <a:endCxn id="511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5"/>
          <p:cNvCxnSpPr>
            <a:stCxn id="492" idx="3"/>
            <a:endCxn id="514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35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" name="Google Shape;516;p35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5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" name="Google Shape;517;p35"/>
          <p:cNvCxnSpPr>
            <a:stCxn id="492" idx="3"/>
            <a:endCxn id="516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5"/>
          <p:cNvCxnSpPr>
            <a:stCxn id="492" idx="3"/>
            <a:endCxn id="515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5"/>
          <p:cNvCxnSpPr>
            <a:stCxn id="501" idx="3"/>
            <a:endCxn id="520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35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" name="Google Shape;520;p35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" name="Google Shape;522;p35"/>
          <p:cNvCxnSpPr>
            <a:stCxn id="501" idx="3"/>
            <a:endCxn id="521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5"/>
          <p:cNvCxnSpPr>
            <a:stCxn id="499" idx="2"/>
            <a:endCxn id="524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5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6" name="Google Shape;526;p35"/>
          <p:cNvCxnSpPr>
            <a:stCxn id="499" idx="2"/>
            <a:endCxn id="525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5"/>
          <p:cNvCxnSpPr>
            <a:stCxn id="496" idx="1"/>
            <a:endCxn id="528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35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5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5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" name="Google Shape;531;p35"/>
          <p:cNvCxnSpPr>
            <a:stCxn id="496" idx="1"/>
            <a:endCxn id="530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5"/>
          <p:cNvCxnSpPr>
            <a:stCxn id="496" idx="1"/>
            <a:endCxn id="529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33" name="Google Shape;533;p35"/>
          <p:cNvGrpSpPr/>
          <p:nvPr/>
        </p:nvGrpSpPr>
        <p:grpSpPr>
          <a:xfrm>
            <a:off x="4928525" y="2548975"/>
            <a:ext cx="2685363" cy="1927123"/>
            <a:chOff x="4699925" y="2548975"/>
            <a:chExt cx="2685363" cy="1927123"/>
          </a:xfrm>
        </p:grpSpPr>
        <p:cxnSp>
          <p:nvCxnSpPr>
            <p:cNvPr id="534" name="Google Shape;534;p35"/>
            <p:cNvCxnSpPr/>
            <p:nvPr/>
          </p:nvCxnSpPr>
          <p:spPr>
            <a:xfrm flipH="1" rot="10800000">
              <a:off x="4699925" y="2601825"/>
              <a:ext cx="610800" cy="390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5" name="Google Shape;535;p35"/>
            <p:cNvCxnSpPr/>
            <p:nvPr/>
          </p:nvCxnSpPr>
          <p:spPr>
            <a:xfrm>
              <a:off x="5830484" y="2548975"/>
              <a:ext cx="821700" cy="175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6" name="Google Shape;536;p35"/>
            <p:cNvCxnSpPr/>
            <p:nvPr/>
          </p:nvCxnSpPr>
          <p:spPr>
            <a:xfrm flipH="1" rot="10800000">
              <a:off x="5152750" y="4259025"/>
              <a:ext cx="390300" cy="189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7" name="Google Shape;537;p35"/>
            <p:cNvCxnSpPr/>
            <p:nvPr/>
          </p:nvCxnSpPr>
          <p:spPr>
            <a:xfrm>
              <a:off x="5623913" y="4251998"/>
              <a:ext cx="385800" cy="224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8" name="Google Shape;538;p35"/>
            <p:cNvCxnSpPr/>
            <p:nvPr/>
          </p:nvCxnSpPr>
          <p:spPr>
            <a:xfrm>
              <a:off x="7115288" y="3125475"/>
              <a:ext cx="270000" cy="5865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39" name="Google Shape;539;p35"/>
            <p:cNvCxnSpPr/>
            <p:nvPr/>
          </p:nvCxnSpPr>
          <p:spPr>
            <a:xfrm flipH="1">
              <a:off x="6505763" y="4160925"/>
              <a:ext cx="578400" cy="2871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0" name="Google Shape;540;p35"/>
            <p:cNvCxnSpPr/>
            <p:nvPr/>
          </p:nvCxnSpPr>
          <p:spPr>
            <a:xfrm>
              <a:off x="4752213" y="3240057"/>
              <a:ext cx="556500" cy="27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1" name="Google Shape;541;p35"/>
            <p:cNvCxnSpPr/>
            <p:nvPr/>
          </p:nvCxnSpPr>
          <p:spPr>
            <a:xfrm flipH="1" rot="10800000">
              <a:off x="5839250" y="2984900"/>
              <a:ext cx="830700" cy="2694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42" name="Google Shape;542;p35"/>
            <p:cNvCxnSpPr/>
            <p:nvPr/>
          </p:nvCxnSpPr>
          <p:spPr>
            <a:xfrm>
              <a:off x="5680038" y="3387063"/>
              <a:ext cx="32700" cy="375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543" name="Google Shape;543;p35"/>
          <p:cNvSpPr/>
          <p:nvPr/>
        </p:nvSpPr>
        <p:spPr>
          <a:xfrm>
            <a:off x="2893200" y="3018825"/>
            <a:ext cx="868200" cy="469800"/>
          </a:xfrm>
          <a:prstGeom prst="wedgeRoundRectCallout">
            <a:avLst>
              <a:gd fmla="val 77926" name="adj1"/>
              <a:gd fmla="val -6330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Leave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35"/>
          <p:cNvSpPr/>
          <p:nvPr/>
        </p:nvSpPr>
        <p:spPr>
          <a:xfrm>
            <a:off x="3929375" y="2280825"/>
            <a:ext cx="894900" cy="469800"/>
          </a:xfrm>
          <a:prstGeom prst="wedgeRoundRectCallout">
            <a:avLst>
              <a:gd fmla="val 42184" name="adj1"/>
              <a:gd fmla="val 9458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Received leave.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759850" y="3877875"/>
            <a:ext cx="24804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group membership has changed, so routers exchange messages to update their forwarding tables.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35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" name="Google Shape;550;p35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Model: Forwarding</a:t>
            </a:r>
            <a:endParaRPr/>
          </a:p>
        </p:txBody>
      </p:sp>
      <p:sp>
        <p:nvSpPr>
          <p:cNvPr id="556" name="Google Shape;556;p36"/>
          <p:cNvSpPr txBox="1"/>
          <p:nvPr>
            <p:ph idx="1" type="body"/>
          </p:nvPr>
        </p:nvSpPr>
        <p:spPr>
          <a:xfrm>
            <a:off x="107050" y="402200"/>
            <a:ext cx="8909700" cy="11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a router receives a multicast packet: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 packet along 0, 1, or 2+ links, so that the packet reaches all group members.</a:t>
            </a:r>
            <a:endParaRPr/>
          </a:p>
        </p:txBody>
      </p:sp>
      <p:sp>
        <p:nvSpPr>
          <p:cNvPr id="557" name="Google Shape;557;p36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8" name="Google Shape;558;p36"/>
          <p:cNvCxnSpPr>
            <a:stCxn id="559" idx="3"/>
            <a:endCxn id="557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36"/>
          <p:cNvCxnSpPr>
            <a:stCxn id="559" idx="3"/>
            <a:endCxn id="561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36"/>
          <p:cNvCxnSpPr>
            <a:stCxn id="557" idx="3"/>
            <a:endCxn id="563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36"/>
          <p:cNvCxnSpPr>
            <a:stCxn id="561" idx="3"/>
            <a:endCxn id="563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36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" name="Google Shape;566;p36"/>
          <p:cNvCxnSpPr>
            <a:stCxn id="561" idx="2"/>
            <a:endCxn id="565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36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8" name="Google Shape;568;p36"/>
          <p:cNvCxnSpPr>
            <a:stCxn id="567" idx="3"/>
            <a:endCxn id="565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>
            <a:stCxn id="565" idx="2"/>
            <a:endCxn id="570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36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" name="Google Shape;571;p36"/>
          <p:cNvCxnSpPr>
            <a:stCxn id="572" idx="1"/>
            <a:endCxn id="570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6"/>
          <p:cNvCxnSpPr>
            <a:stCxn id="563" idx="2"/>
            <a:endCxn id="572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" name="Google Shape;559;p36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" name="Google Shape;572;p36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" name="Google Shape;574;p36"/>
          <p:cNvCxnSpPr>
            <a:stCxn id="559" idx="1"/>
            <a:endCxn id="575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36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" name="Google Shape;577;p36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6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" name="Google Shape;578;p36"/>
          <p:cNvCxnSpPr>
            <a:stCxn id="559" idx="1"/>
            <a:endCxn id="577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36"/>
          <p:cNvCxnSpPr>
            <a:stCxn id="559" idx="1"/>
            <a:endCxn id="576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36"/>
          <p:cNvCxnSpPr>
            <a:stCxn id="557" idx="0"/>
            <a:endCxn id="581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36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" name="Google Shape;581;p36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" name="Google Shape;583;p36"/>
          <p:cNvCxnSpPr>
            <a:stCxn id="557" idx="0"/>
            <a:endCxn id="582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36"/>
          <p:cNvCxnSpPr>
            <a:stCxn id="563" idx="3"/>
            <a:endCxn id="585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" name="Google Shape;586;p36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6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6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" name="Google Shape;588;p36"/>
          <p:cNvCxnSpPr>
            <a:stCxn id="563" idx="3"/>
            <a:endCxn id="587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36"/>
          <p:cNvCxnSpPr>
            <a:stCxn id="563" idx="3"/>
            <a:endCxn id="586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36"/>
          <p:cNvCxnSpPr>
            <a:stCxn id="572" idx="3"/>
            <a:endCxn id="591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2" name="Google Shape;592;p36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6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3" name="Google Shape;593;p36"/>
          <p:cNvCxnSpPr>
            <a:stCxn id="572" idx="3"/>
            <a:endCxn id="592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36"/>
          <p:cNvCxnSpPr>
            <a:stCxn id="570" idx="2"/>
            <a:endCxn id="595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36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" name="Google Shape;597;p36"/>
          <p:cNvCxnSpPr>
            <a:stCxn id="570" idx="2"/>
            <a:endCxn id="596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36"/>
          <p:cNvCxnSpPr>
            <a:stCxn id="567" idx="1"/>
            <a:endCxn id="599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36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6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6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" name="Google Shape;602;p36"/>
          <p:cNvCxnSpPr>
            <a:stCxn id="567" idx="1"/>
            <a:endCxn id="601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3" name="Google Shape;603;p36"/>
          <p:cNvCxnSpPr>
            <a:stCxn id="567" idx="1"/>
            <a:endCxn id="600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36"/>
          <p:cNvSpPr/>
          <p:nvPr/>
        </p:nvSpPr>
        <p:spPr>
          <a:xfrm>
            <a:off x="5290650" y="1555675"/>
            <a:ext cx="7305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" name="Google Shape;605;p36"/>
          <p:cNvCxnSpPr/>
          <p:nvPr/>
        </p:nvCxnSpPr>
        <p:spPr>
          <a:xfrm rot="10800000">
            <a:off x="5589475" y="2211925"/>
            <a:ext cx="118800" cy="236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6" name="Google Shape;606;p36"/>
          <p:cNvCxnSpPr/>
          <p:nvPr/>
        </p:nvCxnSpPr>
        <p:spPr>
          <a:xfrm flipH="1" rot="10800000">
            <a:off x="4928525" y="2601825"/>
            <a:ext cx="610800" cy="390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7" name="Google Shape;607;p36"/>
          <p:cNvCxnSpPr/>
          <p:nvPr/>
        </p:nvCxnSpPr>
        <p:spPr>
          <a:xfrm>
            <a:off x="6059084" y="2548975"/>
            <a:ext cx="821700" cy="175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36"/>
          <p:cNvCxnSpPr/>
          <p:nvPr/>
        </p:nvCxnSpPr>
        <p:spPr>
          <a:xfrm flipH="1" rot="10800000">
            <a:off x="5381350" y="4259025"/>
            <a:ext cx="390300" cy="18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9" name="Google Shape;609;p36"/>
          <p:cNvCxnSpPr/>
          <p:nvPr/>
        </p:nvCxnSpPr>
        <p:spPr>
          <a:xfrm>
            <a:off x="5852513" y="4251998"/>
            <a:ext cx="385800" cy="224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36"/>
          <p:cNvCxnSpPr/>
          <p:nvPr/>
        </p:nvCxnSpPr>
        <p:spPr>
          <a:xfrm>
            <a:off x="4980813" y="3240057"/>
            <a:ext cx="556500" cy="27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36"/>
          <p:cNvCxnSpPr/>
          <p:nvPr/>
        </p:nvCxnSpPr>
        <p:spPr>
          <a:xfrm>
            <a:off x="5908638" y="3387063"/>
            <a:ext cx="32700" cy="375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2" name="Google Shape;612;p36"/>
          <p:cNvSpPr txBox="1"/>
          <p:nvPr/>
        </p:nvSpPr>
        <p:spPr>
          <a:xfrm>
            <a:off x="606975" y="3296625"/>
            <a:ext cx="26334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Routers forward data packet to all group members.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Notice: Packet is only forwarded once on each link. We want to avoid sending the same packet along a link multiple times.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 txBox="1"/>
          <p:nvPr/>
        </p:nvSpPr>
        <p:spPr>
          <a:xfrm>
            <a:off x="403450" y="22267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226.1.2.3.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 txBox="1"/>
          <p:nvPr/>
        </p:nvSpPr>
        <p:spPr>
          <a:xfrm>
            <a:off x="403450" y="2531550"/>
            <a:ext cx="2896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226.1.2.3.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Implementing IP Multicast</a:t>
            </a:r>
            <a:endParaRPr/>
          </a:p>
        </p:txBody>
      </p:sp>
      <p:sp>
        <p:nvSpPr>
          <p:cNvPr id="622" name="Google Shape;622;p37"/>
          <p:cNvSpPr txBox="1"/>
          <p:nvPr>
            <p:ph idx="1" type="body"/>
          </p:nvPr>
        </p:nvSpPr>
        <p:spPr>
          <a:xfrm>
            <a:off x="107050" y="402200"/>
            <a:ext cx="8909700" cy="28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goal of routers: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send Join, Leave, and Data packets.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coordinate to process these packets and build forwarding </a:t>
            </a:r>
            <a:r>
              <a:rPr lang="en"/>
              <a:t>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forwarding tables say: When I receive a packet with destination group G1, what link(s) do I forward this packet out of?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coordinate with two protocols: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Host-to-Router</a:t>
            </a:r>
            <a:r>
              <a:rPr lang="en"/>
              <a:t>: Learns the group(s) that your directly-connected hosts belong 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Routing</a:t>
            </a:r>
            <a:r>
              <a:rPr lang="en"/>
              <a:t>: Routers talk to each other to build forwarding tables.</a:t>
            </a:r>
            <a:endParaRPr/>
          </a:p>
        </p:txBody>
      </p:sp>
      <p:cxnSp>
        <p:nvCxnSpPr>
          <p:cNvPr id="623" name="Google Shape;623;p37"/>
          <p:cNvCxnSpPr>
            <a:stCxn id="624" idx="2"/>
            <a:endCxn id="625" idx="0"/>
          </p:cNvCxnSpPr>
          <p:nvPr/>
        </p:nvCxnSpPr>
        <p:spPr>
          <a:xfrm>
            <a:off x="4886500" y="36146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37"/>
          <p:cNvSpPr/>
          <p:nvPr/>
        </p:nvSpPr>
        <p:spPr>
          <a:xfrm>
            <a:off x="4447000" y="335096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7"/>
          <p:cNvSpPr/>
          <p:nvPr/>
        </p:nvSpPr>
        <p:spPr>
          <a:xfrm>
            <a:off x="5295100" y="396056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7"/>
          <p:cNvSpPr/>
          <p:nvPr/>
        </p:nvSpPr>
        <p:spPr>
          <a:xfrm>
            <a:off x="3172600" y="396056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7" name="Google Shape;627;p37"/>
          <p:cNvCxnSpPr>
            <a:stCxn id="624" idx="2"/>
            <a:endCxn id="626" idx="0"/>
          </p:cNvCxnSpPr>
          <p:nvPr/>
        </p:nvCxnSpPr>
        <p:spPr>
          <a:xfrm flipH="1">
            <a:off x="3743500" y="36146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8" name="Google Shape;628;p37"/>
          <p:cNvSpPr/>
          <p:nvPr/>
        </p:nvSpPr>
        <p:spPr>
          <a:xfrm>
            <a:off x="2359900" y="4570160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3803650" y="4570160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0" name="Google Shape;630;p37"/>
          <p:cNvCxnSpPr>
            <a:stCxn id="626" idx="2"/>
            <a:endCxn id="628" idx="0"/>
          </p:cNvCxnSpPr>
          <p:nvPr/>
        </p:nvCxnSpPr>
        <p:spPr>
          <a:xfrm flipH="1">
            <a:off x="2981500" y="42242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37"/>
          <p:cNvCxnSpPr>
            <a:stCxn id="626" idx="2"/>
            <a:endCxn id="629" idx="0"/>
          </p:cNvCxnSpPr>
          <p:nvPr/>
        </p:nvCxnSpPr>
        <p:spPr>
          <a:xfrm>
            <a:off x="3743500" y="42242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IP Multicast: Host-to-Router</a:t>
            </a:r>
            <a:endParaRPr/>
          </a:p>
        </p:txBody>
      </p:sp>
      <p:sp>
        <p:nvSpPr>
          <p:cNvPr id="637" name="Google Shape;637;p38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Host-to-Router protocol:</a:t>
            </a:r>
            <a:r>
              <a:rPr lang="en"/>
              <a:t> Router learns the group(s) that its directly-connected hosts are members of.</a:t>
            </a:r>
            <a:endParaRPr/>
          </a:p>
        </p:txBody>
      </p:sp>
      <p:sp>
        <p:nvSpPr>
          <p:cNvPr id="638" name="Google Shape;638;p38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9" name="Google Shape;639;p38"/>
          <p:cNvCxnSpPr>
            <a:stCxn id="640" idx="3"/>
            <a:endCxn id="638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38"/>
          <p:cNvCxnSpPr>
            <a:stCxn id="640" idx="3"/>
            <a:endCxn id="642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3" name="Google Shape;643;p38"/>
          <p:cNvCxnSpPr>
            <a:stCxn id="638" idx="3"/>
            <a:endCxn id="644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8"/>
          <p:cNvCxnSpPr>
            <a:stCxn id="642" idx="3"/>
            <a:endCxn id="644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6" name="Google Shape;646;p38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7" name="Google Shape;647;p38"/>
          <p:cNvCxnSpPr>
            <a:stCxn id="642" idx="2"/>
            <a:endCxn id="64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8" name="Google Shape;648;p38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9" name="Google Shape;649;p38"/>
          <p:cNvCxnSpPr>
            <a:stCxn id="648" idx="3"/>
            <a:endCxn id="64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38"/>
          <p:cNvCxnSpPr>
            <a:stCxn id="646" idx="2"/>
            <a:endCxn id="651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38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2" name="Google Shape;652;p38"/>
          <p:cNvCxnSpPr>
            <a:stCxn id="653" idx="1"/>
            <a:endCxn id="651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4" name="Google Shape;654;p38"/>
          <p:cNvCxnSpPr>
            <a:stCxn id="644" idx="2"/>
            <a:endCxn id="653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38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38"/>
          <p:cNvCxnSpPr>
            <a:stCxn id="640" idx="1"/>
            <a:endCxn id="656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38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8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8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9" name="Google Shape;659;p38"/>
          <p:cNvCxnSpPr>
            <a:stCxn id="640" idx="1"/>
            <a:endCxn id="658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0" name="Google Shape;660;p38"/>
          <p:cNvCxnSpPr>
            <a:stCxn id="640" idx="1"/>
            <a:endCxn id="657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1" name="Google Shape;661;p38"/>
          <p:cNvCxnSpPr>
            <a:stCxn id="638" idx="0"/>
            <a:endCxn id="662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3" name="Google Shape;663;p38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8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4" name="Google Shape;664;p38"/>
          <p:cNvCxnSpPr>
            <a:stCxn id="638" idx="0"/>
            <a:endCxn id="66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38"/>
          <p:cNvCxnSpPr>
            <a:stCxn id="644" idx="3"/>
            <a:endCxn id="66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7" name="Google Shape;667;p38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38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9" name="Google Shape;669;p38"/>
          <p:cNvCxnSpPr>
            <a:stCxn id="644" idx="3"/>
            <a:endCxn id="66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38"/>
          <p:cNvCxnSpPr>
            <a:stCxn id="644" idx="3"/>
            <a:endCxn id="667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38"/>
          <p:cNvCxnSpPr>
            <a:stCxn id="653" idx="3"/>
            <a:endCxn id="672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38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4" name="Google Shape;674;p38"/>
          <p:cNvCxnSpPr>
            <a:stCxn id="653" idx="3"/>
            <a:endCxn id="673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38"/>
          <p:cNvCxnSpPr>
            <a:stCxn id="651" idx="2"/>
            <a:endCxn id="676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38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8" name="Google Shape;678;p38"/>
          <p:cNvCxnSpPr>
            <a:stCxn id="651" idx="2"/>
            <a:endCxn id="67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38"/>
          <p:cNvCxnSpPr>
            <a:stCxn id="648" idx="1"/>
            <a:endCxn id="680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38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3" name="Google Shape;683;p38"/>
          <p:cNvCxnSpPr>
            <a:stCxn id="648" idx="1"/>
            <a:endCxn id="682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4" name="Google Shape;684;p38"/>
          <p:cNvCxnSpPr>
            <a:stCxn id="648" idx="1"/>
            <a:endCxn id="68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38"/>
          <p:cNvCxnSpPr>
            <a:stCxn id="686" idx="2"/>
            <a:endCxn id="687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38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38"/>
          <p:cNvCxnSpPr>
            <a:stCxn id="686" idx="2"/>
            <a:endCxn id="688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38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1" name="Google Shape;691;p38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2" name="Google Shape;692;p38"/>
          <p:cNvCxnSpPr>
            <a:stCxn id="688" idx="2"/>
            <a:endCxn id="690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38"/>
          <p:cNvCxnSpPr>
            <a:stCxn id="688" idx="2"/>
            <a:endCxn id="691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4" name="Google Shape;694;p38"/>
          <p:cNvSpPr txBox="1"/>
          <p:nvPr/>
        </p:nvSpPr>
        <p:spPr>
          <a:xfrm>
            <a:off x="454575" y="3296625"/>
            <a:ext cx="24909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Similar to static routing in unicast routing: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Learn about your directly-connected hosts.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Doesn't help you learn about other hosts in the network.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9" name="Google Shape;699;p39"/>
          <p:cNvCxnSpPr>
            <a:stCxn id="700" idx="1"/>
            <a:endCxn id="701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39"/>
          <p:cNvCxnSpPr>
            <a:stCxn id="700" idx="1"/>
            <a:endCxn id="703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4" name="Google Shape;704;p39"/>
          <p:cNvCxnSpPr>
            <a:stCxn id="700" idx="1"/>
            <a:endCxn id="705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6" name="Google Shape;706;p39"/>
          <p:cNvCxnSpPr>
            <a:stCxn id="707" idx="3"/>
            <a:endCxn id="708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9" name="Google Shape;709;p39"/>
          <p:cNvCxnSpPr>
            <a:stCxn id="707" idx="3"/>
            <a:endCxn id="710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39"/>
          <p:cNvCxnSpPr>
            <a:stCxn id="707" idx="3"/>
            <a:endCxn id="712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39"/>
          <p:cNvCxnSpPr>
            <a:stCxn id="714" idx="0"/>
            <a:endCxn id="715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39"/>
          <p:cNvCxnSpPr>
            <a:stCxn id="714" idx="0"/>
            <a:endCxn id="717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39"/>
          <p:cNvCxnSpPr>
            <a:stCxn id="719" idx="3"/>
            <a:endCxn id="720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39"/>
          <p:cNvCxnSpPr>
            <a:stCxn id="719" idx="3"/>
            <a:endCxn id="722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39"/>
          <p:cNvCxnSpPr>
            <a:stCxn id="724" idx="2"/>
            <a:endCxn id="725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6" name="Google Shape;726;p39"/>
          <p:cNvCxnSpPr>
            <a:stCxn id="724" idx="2"/>
            <a:endCxn id="727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8" name="Google Shape;728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Implementing IP Multicast: Routing Protocol</a:t>
            </a:r>
            <a:endParaRPr/>
          </a:p>
        </p:txBody>
      </p:sp>
      <p:sp>
        <p:nvSpPr>
          <p:cNvPr id="729" name="Google Shape;729;p39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Routing protocol</a:t>
            </a:r>
            <a:r>
              <a:rPr b="1" lang="en"/>
              <a:t>:</a:t>
            </a:r>
            <a:r>
              <a:rPr lang="en"/>
              <a:t> Routers talk to each other to build forwarding tables, so they learn how to forward packets toward the members of the destination group.</a:t>
            </a:r>
            <a:endParaRPr/>
          </a:p>
        </p:txBody>
      </p:sp>
      <p:sp>
        <p:nvSpPr>
          <p:cNvPr id="714" name="Google Shape;714;p39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39"/>
          <p:cNvCxnSpPr>
            <a:stCxn id="731" idx="3"/>
            <a:endCxn id="714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39"/>
          <p:cNvCxnSpPr>
            <a:stCxn id="731" idx="3"/>
            <a:endCxn id="733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4" name="Google Shape;734;p39"/>
          <p:cNvCxnSpPr>
            <a:stCxn id="714" idx="3"/>
            <a:endCxn id="707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39"/>
          <p:cNvCxnSpPr>
            <a:stCxn id="733" idx="3"/>
            <a:endCxn id="707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6" name="Google Shape;736;p39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7" name="Google Shape;737;p39"/>
          <p:cNvCxnSpPr>
            <a:stCxn id="733" idx="2"/>
            <a:endCxn id="736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0" name="Google Shape;700;p39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8" name="Google Shape;738;p39"/>
          <p:cNvCxnSpPr>
            <a:stCxn id="700" idx="3"/>
            <a:endCxn id="736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9" name="Google Shape;739;p39"/>
          <p:cNvCxnSpPr>
            <a:stCxn id="736" idx="2"/>
            <a:endCxn id="724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39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0" name="Google Shape;740;p39"/>
          <p:cNvCxnSpPr>
            <a:stCxn id="719" idx="1"/>
            <a:endCxn id="724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1" name="Google Shape;741;p39"/>
          <p:cNvCxnSpPr>
            <a:stCxn id="707" idx="2"/>
            <a:endCxn id="719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39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39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9" name="Google Shape;719;p39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2" name="Google Shape;742;p39"/>
          <p:cNvCxnSpPr>
            <a:stCxn id="731" idx="1"/>
            <a:endCxn id="743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4" name="Google Shape;744;p39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p39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39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6" name="Google Shape;746;p39"/>
          <p:cNvCxnSpPr>
            <a:stCxn id="731" idx="1"/>
            <a:endCxn id="745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39"/>
          <p:cNvCxnSpPr>
            <a:stCxn id="731" idx="1"/>
            <a:endCxn id="744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39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9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2" name="Google Shape;712;p39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39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39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39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0" name="Google Shape;720;p39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7" name="Google Shape;727;p39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5" name="Google Shape;725;p39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5" name="Google Shape;705;p39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3" name="Google Shape;703;p39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1" name="Google Shape;701;p39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1" name="Google Shape;731;p39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39"/>
          <p:cNvCxnSpPr>
            <a:stCxn id="749" idx="2"/>
            <a:endCxn id="750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9" name="Google Shape;749;p39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39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1" name="Google Shape;751;p39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2" name="Google Shape;752;p39"/>
          <p:cNvCxnSpPr>
            <a:stCxn id="749" idx="2"/>
            <a:endCxn id="751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39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39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5" name="Google Shape;755;p39"/>
          <p:cNvCxnSpPr>
            <a:stCxn id="751" idx="2"/>
            <a:endCxn id="753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39"/>
          <p:cNvCxnSpPr>
            <a:stCxn id="751" idx="2"/>
            <a:endCxn id="754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39"/>
          <p:cNvSpPr txBox="1"/>
          <p:nvPr/>
        </p:nvSpPr>
        <p:spPr>
          <a:xfrm>
            <a:off x="454575" y="3296625"/>
            <a:ext cx="2490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Think of this as the multicast equivalent of distance-vector or link-state.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IGMP: Directly-Connected Hosts</a:t>
            </a:r>
            <a:endParaRPr sz="3200"/>
          </a:p>
        </p:txBody>
      </p:sp>
      <p:sp>
        <p:nvSpPr>
          <p:cNvPr id="763" name="Google Shape;763;p4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764" name="Google Shape;764;p4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IGMP: Directly-Connected Hosts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"/>
          <p:cNvSpPr txBox="1"/>
          <p:nvPr>
            <p:ph idx="1" type="body"/>
          </p:nvPr>
        </p:nvSpPr>
        <p:spPr>
          <a:xfrm>
            <a:off x="107050" y="402200"/>
            <a:ext cx="8909700" cy="28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 and its directly-connected hosts periodically exchange messages, so that the router is informed about the hosts' group memberships.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Query</a:t>
            </a:r>
            <a:r>
              <a:rPr lang="en"/>
              <a:t>: Router periodically asks hosts: "What groups do you belong to?"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Reports</a:t>
            </a:r>
            <a:r>
              <a:rPr lang="en"/>
              <a:t>: Hosts periodically tell the router: "I belong to these groups."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router doesn't receive a Report for a long time, assume the membership has expired.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Similar to static routing in unicast: Learn about directly-connected hosts, but not other hosts in the network.</a:t>
            </a:r>
            <a:endParaRPr/>
          </a:p>
        </p:txBody>
      </p:sp>
      <p:sp>
        <p:nvSpPr>
          <p:cNvPr id="770" name="Google Shape;770;p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IGMP: Directly-Connected Hosts</a:t>
            </a:r>
            <a:endParaRPr/>
          </a:p>
        </p:txBody>
      </p:sp>
      <p:sp>
        <p:nvSpPr>
          <p:cNvPr id="771" name="Google Shape;771;p41"/>
          <p:cNvSpPr/>
          <p:nvPr/>
        </p:nvSpPr>
        <p:spPr>
          <a:xfrm>
            <a:off x="7389550" y="394990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2" name="Google Shape;772;p41"/>
          <p:cNvCxnSpPr>
            <a:stCxn id="771" idx="1"/>
            <a:endCxn id="773" idx="0"/>
          </p:cNvCxnSpPr>
          <p:nvPr/>
        </p:nvCxnSpPr>
        <p:spPr>
          <a:xfrm flipH="1">
            <a:off x="7008550" y="4092400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4" name="Google Shape;774;p41"/>
          <p:cNvSpPr/>
          <p:nvPr/>
        </p:nvSpPr>
        <p:spPr>
          <a:xfrm rot="5400000">
            <a:off x="6856275" y="4016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41"/>
          <p:cNvSpPr/>
          <p:nvPr/>
        </p:nvSpPr>
        <p:spPr>
          <a:xfrm rot="5400000">
            <a:off x="6856275" y="37876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3" name="Google Shape;773;p41"/>
          <p:cNvSpPr/>
          <p:nvPr/>
        </p:nvSpPr>
        <p:spPr>
          <a:xfrm rot="5400000">
            <a:off x="6856275" y="42448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6" name="Google Shape;776;p41"/>
          <p:cNvCxnSpPr>
            <a:stCxn id="771" idx="1"/>
            <a:endCxn id="775" idx="0"/>
          </p:cNvCxnSpPr>
          <p:nvPr/>
        </p:nvCxnSpPr>
        <p:spPr>
          <a:xfrm rot="10800000">
            <a:off x="7008550" y="3863800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41"/>
          <p:cNvCxnSpPr>
            <a:stCxn id="771" idx="1"/>
            <a:endCxn id="774" idx="0"/>
          </p:cNvCxnSpPr>
          <p:nvPr/>
        </p:nvCxnSpPr>
        <p:spPr>
          <a:xfrm rot="10800000">
            <a:off x="7008550" y="4092400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41"/>
          <p:cNvCxnSpPr>
            <a:stCxn id="779" idx="2"/>
            <a:endCxn id="780" idx="0"/>
          </p:cNvCxnSpPr>
          <p:nvPr/>
        </p:nvCxnSpPr>
        <p:spPr>
          <a:xfrm>
            <a:off x="3693175" y="34319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41"/>
          <p:cNvSpPr/>
          <p:nvPr/>
        </p:nvSpPr>
        <p:spPr>
          <a:xfrm>
            <a:off x="3253675" y="3168260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41"/>
          <p:cNvSpPr/>
          <p:nvPr/>
        </p:nvSpPr>
        <p:spPr>
          <a:xfrm>
            <a:off x="4101775" y="3777860"/>
            <a:ext cx="1468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1" name="Google Shape;781;p41"/>
          <p:cNvSpPr/>
          <p:nvPr/>
        </p:nvSpPr>
        <p:spPr>
          <a:xfrm>
            <a:off x="1979275" y="3777860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2" name="Google Shape;782;p41"/>
          <p:cNvCxnSpPr>
            <a:stCxn id="779" idx="2"/>
            <a:endCxn id="781" idx="0"/>
          </p:cNvCxnSpPr>
          <p:nvPr/>
        </p:nvCxnSpPr>
        <p:spPr>
          <a:xfrm flipH="1">
            <a:off x="2550175" y="3431960"/>
            <a:ext cx="1143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41"/>
          <p:cNvSpPr/>
          <p:nvPr/>
        </p:nvSpPr>
        <p:spPr>
          <a:xfrm>
            <a:off x="1166575" y="4387460"/>
            <a:ext cx="12432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4" name="Google Shape;784;p41"/>
          <p:cNvSpPr/>
          <p:nvPr/>
        </p:nvSpPr>
        <p:spPr>
          <a:xfrm>
            <a:off x="2610325" y="4387460"/>
            <a:ext cx="14037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5" name="Google Shape;785;p41"/>
          <p:cNvCxnSpPr>
            <a:stCxn id="781" idx="2"/>
            <a:endCxn id="783" idx="0"/>
          </p:cNvCxnSpPr>
          <p:nvPr/>
        </p:nvCxnSpPr>
        <p:spPr>
          <a:xfrm flipH="1">
            <a:off x="1788175" y="40415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41"/>
          <p:cNvCxnSpPr>
            <a:stCxn id="781" idx="2"/>
            <a:endCxn id="784" idx="0"/>
          </p:cNvCxnSpPr>
          <p:nvPr/>
        </p:nvCxnSpPr>
        <p:spPr>
          <a:xfrm>
            <a:off x="2550175" y="4041560"/>
            <a:ext cx="7620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41"/>
          <p:cNvCxnSpPr/>
          <p:nvPr/>
        </p:nvCxnSpPr>
        <p:spPr>
          <a:xfrm>
            <a:off x="6698875" y="4774825"/>
            <a:ext cx="108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8" name="Google Shape;788;p41"/>
          <p:cNvCxnSpPr/>
          <p:nvPr/>
        </p:nvCxnSpPr>
        <p:spPr>
          <a:xfrm>
            <a:off x="6698875" y="3555625"/>
            <a:ext cx="108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789" name="Google Shape;789;p41"/>
          <p:cNvSpPr txBox="1"/>
          <p:nvPr/>
        </p:nvSpPr>
        <p:spPr>
          <a:xfrm>
            <a:off x="6883675" y="3284725"/>
            <a:ext cx="71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Queries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0" name="Google Shape;790;p41"/>
          <p:cNvSpPr txBox="1"/>
          <p:nvPr/>
        </p:nvSpPr>
        <p:spPr>
          <a:xfrm>
            <a:off x="6883675" y="4503925"/>
            <a:ext cx="71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Reports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5" name="Google Shape;795;p42"/>
          <p:cNvCxnSpPr>
            <a:stCxn id="796" idx="1"/>
            <a:endCxn id="797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42"/>
          <p:cNvCxnSpPr>
            <a:stCxn id="796" idx="1"/>
            <a:endCxn id="799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42"/>
          <p:cNvCxnSpPr>
            <a:stCxn id="796" idx="1"/>
            <a:endCxn id="801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2" name="Google Shape;802;p42"/>
          <p:cNvCxnSpPr>
            <a:stCxn id="803" idx="3"/>
            <a:endCxn id="804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42"/>
          <p:cNvCxnSpPr>
            <a:stCxn id="803" idx="3"/>
            <a:endCxn id="806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42"/>
          <p:cNvCxnSpPr>
            <a:stCxn id="803" idx="3"/>
            <a:endCxn id="808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9" name="Google Shape;809;p42"/>
          <p:cNvCxnSpPr>
            <a:stCxn id="810" idx="0"/>
            <a:endCxn id="811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42"/>
          <p:cNvCxnSpPr>
            <a:stCxn id="810" idx="0"/>
            <a:endCxn id="813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42"/>
          <p:cNvCxnSpPr>
            <a:stCxn id="815" idx="3"/>
            <a:endCxn id="816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7" name="Google Shape;817;p42"/>
          <p:cNvCxnSpPr>
            <a:stCxn id="815" idx="3"/>
            <a:endCxn id="818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2"/>
          <p:cNvCxnSpPr>
            <a:stCxn id="820" idx="2"/>
            <a:endCxn id="821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2"/>
          <p:cNvCxnSpPr>
            <a:stCxn id="820" idx="2"/>
            <a:endCxn id="823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Next Up: DVMRP</a:t>
            </a:r>
            <a:endParaRPr/>
          </a:p>
        </p:txBody>
      </p:sp>
      <p:sp>
        <p:nvSpPr>
          <p:cNvPr id="825" name="Google Shape;825;p42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that all routers know about their directly-connected hosts, we'll implement a routing protocol between the routers to build forwarding tables.</a:t>
            </a:r>
            <a:endParaRPr/>
          </a:p>
        </p:txBody>
      </p:sp>
      <p:sp>
        <p:nvSpPr>
          <p:cNvPr id="810" name="Google Shape;810;p42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26" name="Google Shape;826;p42"/>
          <p:cNvCxnSpPr>
            <a:stCxn id="827" idx="3"/>
            <a:endCxn id="810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42"/>
          <p:cNvCxnSpPr>
            <a:stCxn id="827" idx="3"/>
            <a:endCxn id="829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0" name="Google Shape;830;p42"/>
          <p:cNvCxnSpPr>
            <a:stCxn id="810" idx="3"/>
            <a:endCxn id="803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42"/>
          <p:cNvCxnSpPr>
            <a:stCxn id="829" idx="3"/>
            <a:endCxn id="803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42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3" name="Google Shape;833;p42"/>
          <p:cNvCxnSpPr>
            <a:stCxn id="829" idx="2"/>
            <a:endCxn id="832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6" name="Google Shape;796;p42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4" name="Google Shape;834;p42"/>
          <p:cNvCxnSpPr>
            <a:stCxn id="796" idx="3"/>
            <a:endCxn id="832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5" name="Google Shape;835;p42"/>
          <p:cNvCxnSpPr>
            <a:stCxn id="832" idx="2"/>
            <a:endCxn id="820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42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42"/>
          <p:cNvCxnSpPr>
            <a:stCxn id="815" idx="1"/>
            <a:endCxn id="820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42"/>
          <p:cNvCxnSpPr>
            <a:stCxn id="803" idx="2"/>
            <a:endCxn id="815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42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3" name="Google Shape;803;p42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5" name="Google Shape;815;p42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8" name="Google Shape;838;p42"/>
          <p:cNvCxnSpPr>
            <a:stCxn id="827" idx="1"/>
            <a:endCxn id="839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42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42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9" name="Google Shape;839;p42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2" name="Google Shape;842;p42"/>
          <p:cNvCxnSpPr>
            <a:stCxn id="827" idx="1"/>
            <a:endCxn id="841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2"/>
          <p:cNvCxnSpPr>
            <a:stCxn id="827" idx="1"/>
            <a:endCxn id="840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42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42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8" name="Google Shape;808;p42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6" name="Google Shape;806;p42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42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42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42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42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42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42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42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42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42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42"/>
          <p:cNvCxnSpPr>
            <a:stCxn id="845" idx="2"/>
            <a:endCxn id="846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5" name="Google Shape;845;p42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42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7" name="Google Shape;847;p42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8" name="Google Shape;848;p42"/>
          <p:cNvCxnSpPr>
            <a:stCxn id="845" idx="2"/>
            <a:endCxn id="847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9" name="Google Shape;849;p42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42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DVMRP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1" name="Google Shape;851;p42"/>
          <p:cNvCxnSpPr>
            <a:stCxn id="847" idx="2"/>
            <a:endCxn id="849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2" name="Google Shape;852;p42"/>
          <p:cNvCxnSpPr>
            <a:stCxn id="847" idx="2"/>
            <a:endCxn id="850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42"/>
          <p:cNvSpPr txBox="1"/>
          <p:nvPr/>
        </p:nvSpPr>
        <p:spPr>
          <a:xfrm>
            <a:off x="454575" y="3296625"/>
            <a:ext cx="25896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Two options: DVMRP or CBT.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Pick one (just like picking distance-vector or link-state).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We'll show DVMRP first, then CBT – but remember they are two options for the same goal.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59" name="Google Shape;859;p4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860" name="Google Shape;860;p4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Naive Approach: Flooding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4"/>
          <p:cNvSpPr txBox="1"/>
          <p:nvPr>
            <p:ph idx="1" type="body"/>
          </p:nvPr>
        </p:nvSpPr>
        <p:spPr>
          <a:xfrm>
            <a:off x="107050" y="402200"/>
            <a:ext cx="8909700" cy="25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you receive a packet, send it out of all ports, except the incoming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this work?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Yes. The packet will reach everyone, including all group members.</a:t>
            </a:r>
            <a:endParaRPr sz="1200"/>
          </a:p>
        </p:txBody>
      </p:sp>
      <p:sp>
        <p:nvSpPr>
          <p:cNvPr id="866" name="Google Shape;866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67" name="Google Shape;867;p44"/>
          <p:cNvSpPr/>
          <p:nvPr/>
        </p:nvSpPr>
        <p:spPr>
          <a:xfrm>
            <a:off x="37748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8" name="Google Shape;868;p44"/>
          <p:cNvCxnSpPr>
            <a:endCxn id="867" idx="1"/>
          </p:cNvCxnSpPr>
          <p:nvPr/>
        </p:nvCxnSpPr>
        <p:spPr>
          <a:xfrm>
            <a:off x="16658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44"/>
          <p:cNvSpPr/>
          <p:nvPr/>
        </p:nvSpPr>
        <p:spPr>
          <a:xfrm>
            <a:off x="22782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0" name="Google Shape;870;p44"/>
          <p:cNvCxnSpPr/>
          <p:nvPr/>
        </p:nvCxnSpPr>
        <p:spPr>
          <a:xfrm rot="10800000">
            <a:off x="22323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1" name="Google Shape;871;p44"/>
          <p:cNvCxnSpPr/>
          <p:nvPr/>
        </p:nvCxnSpPr>
        <p:spPr>
          <a:xfrm flipH="1">
            <a:off x="41559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2" name="Google Shape;872;p44"/>
          <p:cNvCxnSpPr>
            <a:stCxn id="867" idx="3"/>
          </p:cNvCxnSpPr>
          <p:nvPr/>
        </p:nvCxnSpPr>
        <p:spPr>
          <a:xfrm flipH="1" rot="10800000">
            <a:off x="40796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3" name="Google Shape;873;p44"/>
          <p:cNvCxnSpPr>
            <a:stCxn id="867" idx="3"/>
          </p:cNvCxnSpPr>
          <p:nvPr/>
        </p:nvCxnSpPr>
        <p:spPr>
          <a:xfrm flipH="1" rot="10800000">
            <a:off x="40796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4" name="Google Shape;874;p44"/>
          <p:cNvCxnSpPr>
            <a:stCxn id="867" idx="3"/>
          </p:cNvCxnSpPr>
          <p:nvPr/>
        </p:nvCxnSpPr>
        <p:spPr>
          <a:xfrm>
            <a:off x="40796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5" name="Google Shape;875;p44"/>
          <p:cNvCxnSpPr>
            <a:stCxn id="867" idx="3"/>
          </p:cNvCxnSpPr>
          <p:nvPr/>
        </p:nvCxnSpPr>
        <p:spPr>
          <a:xfrm>
            <a:off x="40796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6" name="Google Shape;876;p44"/>
          <p:cNvCxnSpPr/>
          <p:nvPr/>
        </p:nvCxnSpPr>
        <p:spPr>
          <a:xfrm rot="10800000">
            <a:off x="41558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7" name="Google Shape;877;p44"/>
          <p:cNvCxnSpPr/>
          <p:nvPr/>
        </p:nvCxnSpPr>
        <p:spPr>
          <a:xfrm flipH="1">
            <a:off x="43083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78" name="Google Shape;878;p44"/>
          <p:cNvCxnSpPr/>
          <p:nvPr/>
        </p:nvCxnSpPr>
        <p:spPr>
          <a:xfrm rot="10800000">
            <a:off x="43083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79" name="Google Shape;879;p44"/>
          <p:cNvSpPr txBox="1"/>
          <p:nvPr/>
        </p:nvSpPr>
        <p:spPr>
          <a:xfrm>
            <a:off x="17091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44"/>
          <p:cNvCxnSpPr/>
          <p:nvPr/>
        </p:nvCxnSpPr>
        <p:spPr>
          <a:xfrm rot="10800000">
            <a:off x="22323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44"/>
          <p:cNvSpPr txBox="1"/>
          <p:nvPr/>
        </p:nvSpPr>
        <p:spPr>
          <a:xfrm>
            <a:off x="24960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5"/>
          <p:cNvSpPr txBox="1"/>
          <p:nvPr>
            <p:ph idx="1" type="body"/>
          </p:nvPr>
        </p:nvSpPr>
        <p:spPr>
          <a:xfrm>
            <a:off x="107050" y="402200"/>
            <a:ext cx="8909700" cy="29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along multiple paths to the same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RPB: Send packets along a spanning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to non-members.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RPM: Prune branches of the tree with no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887" name="Google Shape;887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Approach: Flooding</a:t>
            </a:r>
            <a:endParaRPr/>
          </a:p>
        </p:txBody>
      </p:sp>
      <p:sp>
        <p:nvSpPr>
          <p:cNvPr id="888" name="Google Shape;888;p45"/>
          <p:cNvSpPr txBox="1"/>
          <p:nvPr/>
        </p:nvSpPr>
        <p:spPr>
          <a:xfrm>
            <a:off x="6079125" y="3948475"/>
            <a:ext cx="2875200" cy="8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 print</a:t>
            </a: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Technically, flooding can cause broadcast storms (packet traveling in a loop forever), but this can be solved by having routers discard a packet if they've seen it before.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Our first fix (RPB) will also eliminate broadcast storms by eliminating loops altogether.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9" name="Google Shape;889;p45"/>
          <p:cNvSpPr/>
          <p:nvPr/>
        </p:nvSpPr>
        <p:spPr>
          <a:xfrm>
            <a:off x="3774875" y="3989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0" name="Google Shape;890;p45"/>
          <p:cNvCxnSpPr>
            <a:endCxn id="889" idx="1"/>
          </p:cNvCxnSpPr>
          <p:nvPr/>
        </p:nvCxnSpPr>
        <p:spPr>
          <a:xfrm>
            <a:off x="1665875" y="4142300"/>
            <a:ext cx="210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1" name="Google Shape;891;p45"/>
          <p:cNvSpPr/>
          <p:nvPr/>
        </p:nvSpPr>
        <p:spPr>
          <a:xfrm>
            <a:off x="2278225" y="3685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2" name="Google Shape;892;p45"/>
          <p:cNvCxnSpPr/>
          <p:nvPr/>
        </p:nvCxnSpPr>
        <p:spPr>
          <a:xfrm rot="10800000">
            <a:off x="2232320" y="4055361"/>
            <a:ext cx="8079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3" name="Google Shape;893;p45"/>
          <p:cNvCxnSpPr/>
          <p:nvPr/>
        </p:nvCxnSpPr>
        <p:spPr>
          <a:xfrm flipH="1">
            <a:off x="4155975" y="3581525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4" name="Google Shape;894;p45"/>
          <p:cNvCxnSpPr>
            <a:stCxn id="889" idx="3"/>
          </p:cNvCxnSpPr>
          <p:nvPr/>
        </p:nvCxnSpPr>
        <p:spPr>
          <a:xfrm flipH="1" rot="10800000">
            <a:off x="4079675" y="3333200"/>
            <a:ext cx="809100" cy="80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5" name="Google Shape;895;p45"/>
          <p:cNvCxnSpPr>
            <a:stCxn id="889" idx="3"/>
          </p:cNvCxnSpPr>
          <p:nvPr/>
        </p:nvCxnSpPr>
        <p:spPr>
          <a:xfrm flipH="1" rot="10800000">
            <a:off x="4079675" y="3887000"/>
            <a:ext cx="953400" cy="255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6" name="Google Shape;896;p45"/>
          <p:cNvCxnSpPr>
            <a:stCxn id="889" idx="3"/>
          </p:cNvCxnSpPr>
          <p:nvPr/>
        </p:nvCxnSpPr>
        <p:spPr>
          <a:xfrm>
            <a:off x="4079675" y="4142300"/>
            <a:ext cx="960000" cy="2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45"/>
          <p:cNvCxnSpPr>
            <a:stCxn id="889" idx="3"/>
          </p:cNvCxnSpPr>
          <p:nvPr/>
        </p:nvCxnSpPr>
        <p:spPr>
          <a:xfrm>
            <a:off x="4079675" y="4142300"/>
            <a:ext cx="790500" cy="79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45"/>
          <p:cNvCxnSpPr/>
          <p:nvPr/>
        </p:nvCxnSpPr>
        <p:spPr>
          <a:xfrm rot="10800000">
            <a:off x="4155875" y="4370900"/>
            <a:ext cx="332100" cy="332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9" name="Google Shape;899;p45"/>
          <p:cNvCxnSpPr/>
          <p:nvPr/>
        </p:nvCxnSpPr>
        <p:spPr>
          <a:xfrm flipH="1">
            <a:off x="4308375" y="38517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00" name="Google Shape;900;p45"/>
          <p:cNvCxnSpPr/>
          <p:nvPr/>
        </p:nvCxnSpPr>
        <p:spPr>
          <a:xfrm rot="10800000">
            <a:off x="4308375" y="4308925"/>
            <a:ext cx="515400" cy="138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01" name="Google Shape;901;p45"/>
          <p:cNvSpPr txBox="1"/>
          <p:nvPr/>
        </p:nvSpPr>
        <p:spPr>
          <a:xfrm>
            <a:off x="1709125" y="4381650"/>
            <a:ext cx="2016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send packet back out of the incoming link.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2" name="Google Shape;902;p45"/>
          <p:cNvCxnSpPr/>
          <p:nvPr/>
        </p:nvCxnSpPr>
        <p:spPr>
          <a:xfrm rot="10800000">
            <a:off x="2232320" y="4306563"/>
            <a:ext cx="8079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3" name="Google Shape;903;p45"/>
          <p:cNvSpPr txBox="1"/>
          <p:nvPr/>
        </p:nvSpPr>
        <p:spPr>
          <a:xfrm>
            <a:off x="2496025" y="4184552"/>
            <a:ext cx="28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6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Path Broadcasting (RPB): Trees</a:t>
            </a:r>
            <a:endParaRPr/>
          </a:p>
        </p:txBody>
      </p:sp>
      <p:sp>
        <p:nvSpPr>
          <p:cNvPr id="909" name="Google Shape;909;p46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910" name="Google Shape;910;p46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RPB (Broadcasting):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47"/>
          <p:cNvSpPr txBox="1"/>
          <p:nvPr>
            <p:ph idx="1" type="body"/>
          </p:nvPr>
        </p:nvSpPr>
        <p:spPr>
          <a:xfrm>
            <a:off x="107050" y="402200"/>
            <a:ext cx="89097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Packet is sent along multiple paths to the same router.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RPB: Send packets along a spanning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to non-members.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RPM: Prune branches of the tree with no members.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916" name="Google Shape;916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Redundant Paths</a:t>
            </a:r>
            <a:endParaRPr/>
          </a:p>
        </p:txBody>
      </p:sp>
      <p:sp>
        <p:nvSpPr>
          <p:cNvPr id="917" name="Google Shape;917;p47"/>
          <p:cNvSpPr/>
          <p:nvPr/>
        </p:nvSpPr>
        <p:spPr>
          <a:xfrm>
            <a:off x="176900" y="930725"/>
            <a:ext cx="8300400" cy="65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8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Flooding sends data along redundant paths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</a:t>
            </a:r>
            <a:r>
              <a:rPr lang="en"/>
              <a:t>(s)</a:t>
            </a:r>
            <a:r>
              <a:rPr lang="en"/>
              <a:t> receive </a:t>
            </a:r>
            <a:r>
              <a:rPr lang="en"/>
              <a:t>unnecessary </a:t>
            </a:r>
            <a:r>
              <a:rPr lang="en"/>
              <a:t>copies of the data</a:t>
            </a:r>
            <a:r>
              <a:rPr lang="en"/>
              <a:t>. </a:t>
            </a:r>
            <a:r>
              <a:rPr lang="en"/>
              <a:t>(The copies get discarded.)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Ideally, the data should only take a single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other words: Each router should only receive the data once.</a:t>
            </a:r>
            <a:endParaRPr/>
          </a:p>
        </p:txBody>
      </p:sp>
      <p:sp>
        <p:nvSpPr>
          <p:cNvPr id="923" name="Google Shape;923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Redundant Paths</a:t>
            </a:r>
            <a:endParaRPr/>
          </a:p>
        </p:txBody>
      </p:sp>
      <p:sp>
        <p:nvSpPr>
          <p:cNvPr id="924" name="Google Shape;924;p48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5" name="Google Shape;925;p48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48"/>
          <p:cNvCxnSpPr>
            <a:stCxn id="925" idx="0"/>
            <a:endCxn id="924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7" name="Google Shape;927;p48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48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9" name="Google Shape;929;p48"/>
          <p:cNvCxnSpPr>
            <a:stCxn id="927" idx="0"/>
            <a:endCxn id="925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0" name="Google Shape;930;p48"/>
          <p:cNvCxnSpPr>
            <a:stCxn id="928" idx="0"/>
            <a:endCxn id="925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1" name="Google Shape;931;p48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2" name="Google Shape;932;p48"/>
          <p:cNvCxnSpPr>
            <a:stCxn id="931" idx="0"/>
            <a:endCxn id="927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48"/>
          <p:cNvCxnSpPr>
            <a:stCxn id="931" idx="0"/>
            <a:endCxn id="928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4" name="Google Shape;934;p48"/>
          <p:cNvCxnSpPr>
            <a:stCxn id="935" idx="0"/>
            <a:endCxn id="931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5" name="Google Shape;935;p48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6377600" y="610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6377600" y="1524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83588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56156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6377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48"/>
          <p:cNvSpPr/>
          <p:nvPr/>
        </p:nvSpPr>
        <p:spPr>
          <a:xfrm>
            <a:off x="6301400" y="3734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2" name="Google Shape;942;p48"/>
          <p:cNvSpPr/>
          <p:nvPr/>
        </p:nvSpPr>
        <p:spPr>
          <a:xfrm>
            <a:off x="6377600" y="4572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3" name="Google Shape;943;p48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4" name="Google Shape;944;p48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5" name="Google Shape;945;p48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6" name="Google Shape;946;p48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7" name="Google Shape;947;p48"/>
          <p:cNvCxnSpPr/>
          <p:nvPr/>
        </p:nvCxnSpPr>
        <p:spPr>
          <a:xfrm flipH="1" rot="10800000">
            <a:off x="75470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48" name="Google Shape;948;p48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49" name="Google Shape;949;p48"/>
          <p:cNvSpPr txBox="1"/>
          <p:nvPr/>
        </p:nvSpPr>
        <p:spPr>
          <a:xfrm>
            <a:off x="2755375" y="3567350"/>
            <a:ext cx="33570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data was sent to R4 twice, along two different paths! This wastes bandwidth.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48"/>
          <p:cNvSpPr txBox="1"/>
          <p:nvPr/>
        </p:nvSpPr>
        <p:spPr>
          <a:xfrm>
            <a:off x="118350" y="4687900"/>
            <a:ext cx="33570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oboto"/>
                <a:ea typeface="Roboto"/>
                <a:cs typeface="Roboto"/>
                <a:sym typeface="Roboto"/>
              </a:rPr>
              <a:t>Fine print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" sz="800">
                <a:latin typeface="Roboto"/>
                <a:ea typeface="Roboto"/>
                <a:cs typeface="Roboto"/>
                <a:sym typeface="Roboto"/>
              </a:rPr>
              <a:t>R4 received two copies of the data, but it only forwards one copy to B. The duplicate copy is discarded.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48"/>
          <p:cNvCxnSpPr>
            <a:stCxn id="952" idx="0"/>
            <a:endCxn id="928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48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3" name="Google Shape;953;p48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54" name="Google Shape;954;p48"/>
          <p:cNvSpPr/>
          <p:nvPr/>
        </p:nvSpPr>
        <p:spPr>
          <a:xfrm>
            <a:off x="7901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48"/>
          <p:cNvSpPr txBox="1"/>
          <p:nvPr/>
        </p:nvSpPr>
        <p:spPr>
          <a:xfrm>
            <a:off x="118350" y="3906100"/>
            <a:ext cx="24480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 print: Technically</a:t>
            </a: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R4 will also forward a copy from R3 to R4 to R2, and another copy from R2 to R4 to R3. I didn't draw them for clarity, and it doesn't change anything, since R2 and R3 would receive the duplicates and ignore them.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60" name="Google Shape;960;p49"/>
          <p:cNvCxnSpPr>
            <a:stCxn id="961" idx="0"/>
            <a:endCxn id="962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49"/>
          <p:cNvSpPr txBox="1"/>
          <p:nvPr>
            <p:ph idx="1" type="body"/>
          </p:nvPr>
        </p:nvSpPr>
        <p:spPr>
          <a:xfrm>
            <a:off x="107050" y="402200"/>
            <a:ext cx="5813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Build a spanning tree, rooted at the sender.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tree ensures that the packet only travels along one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Only one path </a:t>
            </a:r>
            <a:r>
              <a:rPr i="1" lang="en" sz="1400">
                <a:solidFill>
                  <a:schemeClr val="accent3"/>
                </a:solidFill>
              </a:rPr>
              <a:t>between any pair of nodes.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other words: You only receive the packet once,</a:t>
            </a:r>
            <a:br>
              <a:rPr lang="en"/>
            </a:br>
            <a:r>
              <a:rPr lang="en"/>
              <a:t>from your parent.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Each node has only one parent.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</p:txBody>
      </p:sp>
      <p:sp>
        <p:nvSpPr>
          <p:cNvPr id="964" name="Google Shape;964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Trees Solve the Redundant Paths Problem</a:t>
            </a:r>
            <a:endParaRPr/>
          </a:p>
        </p:txBody>
      </p:sp>
      <p:sp>
        <p:nvSpPr>
          <p:cNvPr id="965" name="Google Shape;965;p49"/>
          <p:cNvSpPr txBox="1"/>
          <p:nvPr/>
        </p:nvSpPr>
        <p:spPr>
          <a:xfrm>
            <a:off x="3969825" y="3567350"/>
            <a:ext cx="3009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This is the spanning tree rooted at A, e.g. R4's parent is R2.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6" name="Google Shape;966;p49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49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8" name="Google Shape;968;p49"/>
          <p:cNvCxnSpPr>
            <a:stCxn id="967" idx="0"/>
            <a:endCxn id="966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49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49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0" name="Google Shape;970;p49"/>
          <p:cNvCxnSpPr>
            <a:stCxn id="969" idx="0"/>
            <a:endCxn id="967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1" name="Google Shape;971;p49"/>
          <p:cNvCxnSpPr>
            <a:stCxn id="962" idx="0"/>
            <a:endCxn id="967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49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2" name="Google Shape;972;p49"/>
          <p:cNvCxnSpPr>
            <a:stCxn id="961" idx="0"/>
            <a:endCxn id="969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49"/>
          <p:cNvCxnSpPr>
            <a:stCxn id="974" idx="0"/>
            <a:endCxn id="961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49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5" name="Google Shape;975;p49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6" name="Google Shape;976;p49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7" name="Google Shape;977;p49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8" name="Google Shape;978;p49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79" name="Google Shape;979;p49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0" name="Google Shape;980;p49"/>
          <p:cNvCxnSpPr>
            <a:stCxn id="981" idx="0"/>
            <a:endCxn id="962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1" name="Google Shape;981;p49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2" name="Google Shape;982;p49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7" name="Google Shape;987;p50"/>
          <p:cNvCxnSpPr>
            <a:stCxn id="988" idx="0"/>
            <a:endCxn id="989" idx="2"/>
          </p:cNvCxnSpPr>
          <p:nvPr/>
        </p:nvCxnSpPr>
        <p:spPr>
          <a:xfrm flipH="1" rot="10800000">
            <a:off x="7292000" y="2896100"/>
            <a:ext cx="762000" cy="762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50"/>
          <p:cNvSpPr txBox="1"/>
          <p:nvPr>
            <p:ph idx="1" type="body"/>
          </p:nvPr>
        </p:nvSpPr>
        <p:spPr>
          <a:xfrm>
            <a:off x="107050" y="402200"/>
            <a:ext cx="57408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Build a spanning tree, rooted at the sender.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tree ensures that the packet only travels along one path to any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Only one path between any pair of nodes.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other words: You only receive the packet once,</a:t>
            </a:r>
            <a:br>
              <a:rPr lang="en"/>
            </a:br>
            <a:r>
              <a:rPr lang="en"/>
              <a:t>from your parent.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Recall the definition of a tree: Each node has only one parent.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</p:txBody>
      </p:sp>
      <p:sp>
        <p:nvSpPr>
          <p:cNvPr id="991" name="Google Shape;991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Trees Solve the Redundant Paths Problem</a:t>
            </a:r>
            <a:endParaRPr/>
          </a:p>
        </p:txBody>
      </p:sp>
      <p:sp>
        <p:nvSpPr>
          <p:cNvPr id="992" name="Google Shape;992;p50"/>
          <p:cNvSpPr txBox="1"/>
          <p:nvPr/>
        </p:nvSpPr>
        <p:spPr>
          <a:xfrm>
            <a:off x="3635875" y="3567350"/>
            <a:ext cx="2519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R4 only receives the data once, from its parent (R2).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50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50"/>
          <p:cNvSpPr/>
          <p:nvPr/>
        </p:nvSpPr>
        <p:spPr>
          <a:xfrm>
            <a:off x="7139600" y="1524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5" name="Google Shape;995;p50"/>
          <p:cNvCxnSpPr>
            <a:stCxn id="994" idx="0"/>
            <a:endCxn id="993" idx="4"/>
          </p:cNvCxnSpPr>
          <p:nvPr/>
        </p:nvCxnSpPr>
        <p:spPr>
          <a:xfrm rot="10800000">
            <a:off x="7292000" y="914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6" name="Google Shape;996;p50"/>
          <p:cNvSpPr/>
          <p:nvPr/>
        </p:nvSpPr>
        <p:spPr>
          <a:xfrm>
            <a:off x="6377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50"/>
          <p:cNvSpPr/>
          <p:nvPr/>
        </p:nvSpPr>
        <p:spPr>
          <a:xfrm>
            <a:off x="7901600" y="259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7" name="Google Shape;997;p50"/>
          <p:cNvCxnSpPr>
            <a:stCxn id="996" idx="0"/>
            <a:endCxn id="994" idx="2"/>
          </p:cNvCxnSpPr>
          <p:nvPr/>
        </p:nvCxnSpPr>
        <p:spPr>
          <a:xfrm flipH="1" rot="10800000">
            <a:off x="6530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8" name="Google Shape;998;p50"/>
          <p:cNvCxnSpPr>
            <a:stCxn id="989" idx="0"/>
            <a:endCxn id="994" idx="2"/>
          </p:cNvCxnSpPr>
          <p:nvPr/>
        </p:nvCxnSpPr>
        <p:spPr>
          <a:xfrm rot="10800000">
            <a:off x="7292000" y="18293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50"/>
          <p:cNvSpPr/>
          <p:nvPr/>
        </p:nvSpPr>
        <p:spPr>
          <a:xfrm>
            <a:off x="71396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9" name="Google Shape;999;p50"/>
          <p:cNvCxnSpPr>
            <a:stCxn id="988" idx="0"/>
            <a:endCxn id="996" idx="2"/>
          </p:cNvCxnSpPr>
          <p:nvPr/>
        </p:nvCxnSpPr>
        <p:spPr>
          <a:xfrm rot="10800000">
            <a:off x="6530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50"/>
          <p:cNvCxnSpPr>
            <a:stCxn id="1001" idx="0"/>
            <a:endCxn id="988" idx="2"/>
          </p:cNvCxnSpPr>
          <p:nvPr/>
        </p:nvCxnSpPr>
        <p:spPr>
          <a:xfrm rot="10800000">
            <a:off x="7292000" y="3962900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1" name="Google Shape;1001;p50"/>
          <p:cNvSpPr/>
          <p:nvPr/>
        </p:nvSpPr>
        <p:spPr>
          <a:xfrm>
            <a:off x="7139600" y="45725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2" name="Google Shape;1002;p50"/>
          <p:cNvCxnSpPr/>
          <p:nvPr/>
        </p:nvCxnSpPr>
        <p:spPr>
          <a:xfrm rot="10800000">
            <a:off x="7383175" y="938850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3" name="Google Shape;1003;p50"/>
          <p:cNvCxnSpPr/>
          <p:nvPr/>
        </p:nvCxnSpPr>
        <p:spPr>
          <a:xfrm rot="10800000">
            <a:off x="7520700" y="19056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4" name="Google Shape;1004;p50"/>
          <p:cNvCxnSpPr/>
          <p:nvPr/>
        </p:nvCxnSpPr>
        <p:spPr>
          <a:xfrm flipH="1" rot="10800000">
            <a:off x="6785000" y="19055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5" name="Google Shape;1005;p50"/>
          <p:cNvCxnSpPr/>
          <p:nvPr/>
        </p:nvCxnSpPr>
        <p:spPr>
          <a:xfrm rot="10800000">
            <a:off x="6758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6" name="Google Shape;1006;p50"/>
          <p:cNvCxnSpPr/>
          <p:nvPr/>
        </p:nvCxnSpPr>
        <p:spPr>
          <a:xfrm rot="10800000">
            <a:off x="7383175" y="4005526"/>
            <a:ext cx="0" cy="303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07" name="Google Shape;1007;p50"/>
          <p:cNvCxnSpPr>
            <a:stCxn id="1008" idx="0"/>
            <a:endCxn id="989" idx="2"/>
          </p:cNvCxnSpPr>
          <p:nvPr/>
        </p:nvCxnSpPr>
        <p:spPr>
          <a:xfrm rot="10800000">
            <a:off x="8054000" y="2896100"/>
            <a:ext cx="762000" cy="762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8" name="Google Shape;1008;p50"/>
          <p:cNvSpPr/>
          <p:nvPr/>
        </p:nvSpPr>
        <p:spPr>
          <a:xfrm>
            <a:off x="8663600" y="3658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9" name="Google Shape;1009;p50"/>
          <p:cNvCxnSpPr/>
          <p:nvPr/>
        </p:nvCxnSpPr>
        <p:spPr>
          <a:xfrm rot="10800000">
            <a:off x="8282600" y="2972300"/>
            <a:ext cx="278400" cy="278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10" name="Google Shape;1010;p50"/>
          <p:cNvSpPr/>
          <p:nvPr/>
        </p:nvSpPr>
        <p:spPr>
          <a:xfrm>
            <a:off x="6377600" y="610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50"/>
          <p:cNvSpPr/>
          <p:nvPr/>
        </p:nvSpPr>
        <p:spPr>
          <a:xfrm>
            <a:off x="6377600" y="1524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50"/>
          <p:cNvSpPr/>
          <p:nvPr/>
        </p:nvSpPr>
        <p:spPr>
          <a:xfrm>
            <a:off x="83588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50"/>
          <p:cNvSpPr/>
          <p:nvPr/>
        </p:nvSpPr>
        <p:spPr>
          <a:xfrm>
            <a:off x="5615600" y="25913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50"/>
          <p:cNvSpPr/>
          <p:nvPr/>
        </p:nvSpPr>
        <p:spPr>
          <a:xfrm>
            <a:off x="6377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5" name="Google Shape;1015;p50"/>
          <p:cNvSpPr/>
          <p:nvPr/>
        </p:nvSpPr>
        <p:spPr>
          <a:xfrm>
            <a:off x="6377600" y="45725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50"/>
          <p:cNvSpPr/>
          <p:nvPr/>
        </p:nvSpPr>
        <p:spPr>
          <a:xfrm>
            <a:off x="7901600" y="3658100"/>
            <a:ext cx="609600" cy="304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1" name="Google Shape;1021;p51"/>
          <p:cNvCxnSpPr>
            <a:stCxn id="1022" idx="3"/>
            <a:endCxn id="1023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51"/>
          <p:cNvCxnSpPr>
            <a:stCxn id="1025" idx="3"/>
            <a:endCxn id="1026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7" name="Google Shape;1027;p51"/>
          <p:cNvSpPr txBox="1"/>
          <p:nvPr>
            <p:ph idx="1" type="body"/>
          </p:nvPr>
        </p:nvSpPr>
        <p:spPr>
          <a:xfrm>
            <a:off x="107050" y="402200"/>
            <a:ext cx="53562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</p:txBody>
      </p:sp>
      <p:sp>
        <p:nvSpPr>
          <p:cNvPr id="1028" name="Google Shape;1028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Spanning Trees</a:t>
            </a:r>
            <a:endParaRPr/>
          </a:p>
        </p:txBody>
      </p:sp>
      <p:sp>
        <p:nvSpPr>
          <p:cNvPr id="1029" name="Google Shape;1029;p51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0" name="Google Shape;1030;p51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1" name="Google Shape;1031;p51"/>
          <p:cNvCxnSpPr>
            <a:stCxn id="1030" idx="0"/>
            <a:endCxn id="1029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2" name="Google Shape;1022;p51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2" name="Google Shape;1032;p51"/>
          <p:cNvCxnSpPr>
            <a:stCxn id="1023" idx="0"/>
            <a:endCxn id="1030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51"/>
          <p:cNvCxnSpPr>
            <a:stCxn id="1022" idx="0"/>
            <a:endCxn id="1030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5" name="Google Shape;1025;p51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6" name="Google Shape;1026;p51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4" name="Google Shape;1034;p51"/>
          <p:cNvCxnSpPr>
            <a:stCxn id="1025" idx="0"/>
            <a:endCxn id="1022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51"/>
          <p:cNvCxnSpPr>
            <a:stCxn id="1026" idx="0"/>
            <a:endCxn id="1023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51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51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8" name="Google Shape;1038;p51"/>
          <p:cNvCxnSpPr>
            <a:stCxn id="1036" idx="0"/>
            <a:endCxn id="1025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9" name="Google Shape;1039;p51"/>
          <p:cNvCxnSpPr>
            <a:stCxn id="1037" idx="0"/>
            <a:endCxn id="1025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0" name="Google Shape;1040;p51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51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2" name="Google Shape;1042;p51"/>
          <p:cNvCxnSpPr>
            <a:stCxn id="1040" idx="0"/>
            <a:endCxn id="1026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3" name="Google Shape;1043;p51"/>
          <p:cNvCxnSpPr>
            <a:stCxn id="1041" idx="0"/>
            <a:endCxn id="1026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4" name="Google Shape;1044;p51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51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51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51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51"/>
          <p:cNvCxnSpPr>
            <a:stCxn id="1044" idx="0"/>
            <a:endCxn id="1036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51"/>
          <p:cNvCxnSpPr>
            <a:stCxn id="1045" idx="0"/>
            <a:endCxn id="1037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51"/>
          <p:cNvCxnSpPr>
            <a:stCxn id="1046" idx="0"/>
            <a:endCxn id="1040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51"/>
          <p:cNvCxnSpPr>
            <a:stCxn id="1047" idx="0"/>
            <a:endCxn id="1041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6" name="Google Shape;1056;p52"/>
          <p:cNvCxnSpPr>
            <a:stCxn id="1057" idx="3"/>
            <a:endCxn id="1058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52"/>
          <p:cNvCxnSpPr>
            <a:stCxn id="1060" idx="3"/>
            <a:endCxn id="1061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2" name="Google Shape;1062;p52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did unicast routing, we built a tree!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Reuse this same tree.</a:t>
            </a:r>
            <a:endParaRPr/>
          </a:p>
        </p:txBody>
      </p:sp>
      <p:sp>
        <p:nvSpPr>
          <p:cNvPr id="1063" name="Google Shape;1063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Spanning Trees</a:t>
            </a:r>
            <a:endParaRPr/>
          </a:p>
        </p:txBody>
      </p:sp>
      <p:sp>
        <p:nvSpPr>
          <p:cNvPr id="1064" name="Google Shape;1064;p52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5" name="Google Shape;1065;p52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6" name="Google Shape;1066;p52"/>
          <p:cNvCxnSpPr>
            <a:stCxn id="1065" idx="0"/>
            <a:endCxn id="1064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52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8" name="Google Shape;1058;p52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7" name="Google Shape;1067;p52"/>
          <p:cNvCxnSpPr>
            <a:stCxn id="1058" idx="0"/>
            <a:endCxn id="1065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8" name="Google Shape;1068;p52"/>
          <p:cNvCxnSpPr>
            <a:stCxn id="1057" idx="0"/>
            <a:endCxn id="1065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52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1" name="Google Shape;1061;p52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9" name="Google Shape;1069;p52"/>
          <p:cNvCxnSpPr>
            <a:stCxn id="1060" idx="0"/>
            <a:endCxn id="1057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0" name="Google Shape;1070;p52"/>
          <p:cNvCxnSpPr>
            <a:stCxn id="1061" idx="0"/>
            <a:endCxn id="1058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1" name="Google Shape;1071;p52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2" name="Google Shape;1072;p52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3" name="Google Shape;1073;p52"/>
          <p:cNvCxnSpPr>
            <a:stCxn id="1071" idx="0"/>
            <a:endCxn id="1060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4" name="Google Shape;1074;p52"/>
          <p:cNvCxnSpPr>
            <a:stCxn id="1072" idx="0"/>
            <a:endCxn id="1060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5" name="Google Shape;1075;p52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6" name="Google Shape;1076;p52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7" name="Google Shape;1077;p52"/>
          <p:cNvCxnSpPr>
            <a:stCxn id="1075" idx="0"/>
            <a:endCxn id="1061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8" name="Google Shape;1078;p52"/>
          <p:cNvCxnSpPr>
            <a:stCxn id="1076" idx="0"/>
            <a:endCxn id="1061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9" name="Google Shape;1079;p52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52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1" name="Google Shape;1081;p52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2" name="Google Shape;1082;p52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3" name="Google Shape;1083;p52"/>
          <p:cNvCxnSpPr>
            <a:stCxn id="1079" idx="0"/>
            <a:endCxn id="1071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52"/>
          <p:cNvCxnSpPr>
            <a:stCxn id="1080" idx="0"/>
            <a:endCxn id="1072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52"/>
          <p:cNvCxnSpPr>
            <a:stCxn id="1081" idx="0"/>
            <a:endCxn id="1075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52"/>
          <p:cNvCxnSpPr>
            <a:stCxn id="1082" idx="0"/>
            <a:endCxn id="1076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52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52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52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2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52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2" name="Google Shape;1092;p52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3" name="Google Shape;1093;p52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4" name="Google Shape;1094;p52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5" name="Google Shape;1095;p52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6" name="Google Shape;1096;p52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52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8" name="Google Shape;1098;p52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9" name="Google Shape;1099;p52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53"/>
          <p:cNvSpPr txBox="1"/>
          <p:nvPr>
            <p:ph idx="1" type="body"/>
          </p:nvPr>
        </p:nvSpPr>
        <p:spPr>
          <a:xfrm>
            <a:off x="107050" y="402200"/>
            <a:ext cx="5288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do we build a tree rooted at a given host?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we seen spanning trees anywhere else?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we did unicast routing, we built a tree!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idea: Reuse this same tree.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interpretations of the same tree: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flow </a:t>
            </a:r>
            <a:r>
              <a:rPr i="1" lang="en"/>
              <a:t>up</a:t>
            </a:r>
            <a:r>
              <a:rPr lang="en"/>
              <a:t> toward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is the destination.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flow </a:t>
            </a:r>
            <a:r>
              <a:rPr i="1" lang="en"/>
              <a:t>down</a:t>
            </a:r>
            <a:r>
              <a:rPr lang="en"/>
              <a:t>, from the root to everyone.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root is the sender.</a:t>
            </a:r>
            <a:endParaRPr/>
          </a:p>
        </p:txBody>
      </p:sp>
      <p:sp>
        <p:nvSpPr>
          <p:cNvPr id="1105" name="Google Shape;1105;p5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Spanning Trees</a:t>
            </a:r>
            <a:endParaRPr/>
          </a:p>
        </p:txBody>
      </p:sp>
      <p:sp>
        <p:nvSpPr>
          <p:cNvPr id="1106" name="Google Shape;1106;p53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53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8" name="Google Shape;1108;p53"/>
          <p:cNvCxnSpPr>
            <a:stCxn id="1107" idx="0"/>
            <a:endCxn id="1106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9" name="Google Shape;1109;p53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0" name="Google Shape;1110;p53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1" name="Google Shape;1111;p53"/>
          <p:cNvCxnSpPr>
            <a:stCxn id="1110" idx="0"/>
            <a:endCxn id="1107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53"/>
          <p:cNvCxnSpPr>
            <a:stCxn id="1109" idx="0"/>
            <a:endCxn id="1107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3" name="Google Shape;1113;p53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53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53"/>
          <p:cNvCxnSpPr>
            <a:stCxn id="1113" idx="0"/>
            <a:endCxn id="110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53"/>
          <p:cNvCxnSpPr>
            <a:stCxn id="1114" idx="0"/>
            <a:endCxn id="1110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53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8" name="Google Shape;1118;p53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9" name="Google Shape;1119;p53"/>
          <p:cNvCxnSpPr>
            <a:stCxn id="1117" idx="0"/>
            <a:endCxn id="1113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0" name="Google Shape;1120;p53"/>
          <p:cNvCxnSpPr>
            <a:stCxn id="1118" idx="0"/>
            <a:endCxn id="1113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1" name="Google Shape;1121;p53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53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3" name="Google Shape;1123;p53"/>
          <p:cNvCxnSpPr>
            <a:stCxn id="1121" idx="0"/>
            <a:endCxn id="1114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4" name="Google Shape;1124;p53"/>
          <p:cNvCxnSpPr>
            <a:stCxn id="1122" idx="0"/>
            <a:endCxn id="1114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5" name="Google Shape;1125;p53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53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7" name="Google Shape;1127;p53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8" name="Google Shape;1128;p53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9" name="Google Shape;1129;p53"/>
          <p:cNvCxnSpPr>
            <a:stCxn id="1125" idx="0"/>
            <a:endCxn id="1117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0" name="Google Shape;1130;p53"/>
          <p:cNvCxnSpPr>
            <a:stCxn id="1126" idx="0"/>
            <a:endCxn id="1118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1" name="Google Shape;1131;p53"/>
          <p:cNvCxnSpPr>
            <a:stCxn id="1127" idx="0"/>
            <a:endCxn id="1121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2" name="Google Shape;1132;p53"/>
          <p:cNvCxnSpPr>
            <a:stCxn id="1128" idx="0"/>
            <a:endCxn id="1122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53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4" name="Google Shape;1134;p53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5" name="Google Shape;1135;p53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6" name="Google Shape;1136;p53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7" name="Google Shape;1137;p53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8" name="Google Shape;1138;p53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39" name="Google Shape;1139;p53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0" name="Google Shape;1140;p53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1" name="Google Shape;1141;p53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2" name="Google Shape;1142;p53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3" name="Google Shape;1143;p53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4" name="Google Shape;1144;p53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5" name="Google Shape;1145;p53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46" name="Google Shape;1146;p53"/>
          <p:cNvCxnSpPr>
            <a:stCxn id="1109" idx="3"/>
            <a:endCxn id="1110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7" name="Google Shape;1147;p53"/>
          <p:cNvCxnSpPr>
            <a:stCxn id="1113" idx="3"/>
            <a:endCxn id="1114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54"/>
          <p:cNvSpPr txBox="1"/>
          <p:nvPr>
            <p:ph idx="1" type="body"/>
          </p:nvPr>
        </p:nvSpPr>
        <p:spPr>
          <a:xfrm>
            <a:off x="107050" y="402200"/>
            <a:ext cx="50514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Reverse Path Broadcasting (RPB)</a:t>
            </a:r>
            <a:r>
              <a:rPr lang="en"/>
              <a:t> rule: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 a tree rooted at the sender.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packet from your parent, send it to all your children.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Otherwise, drop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rule solves the redundant paths problem.</a:t>
            </a:r>
            <a:endParaRPr/>
          </a:p>
        </p:txBody>
      </p:sp>
      <p:sp>
        <p:nvSpPr>
          <p:cNvPr id="1153" name="Google Shape;1153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Reverse Path Broadcasting (RPB)</a:t>
            </a:r>
            <a:endParaRPr/>
          </a:p>
        </p:txBody>
      </p:sp>
      <p:sp>
        <p:nvSpPr>
          <p:cNvPr id="1154" name="Google Shape;1154;p54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5" name="Google Shape;1155;p54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6" name="Google Shape;1156;p54"/>
          <p:cNvCxnSpPr>
            <a:stCxn id="1155" idx="0"/>
            <a:endCxn id="1154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54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8" name="Google Shape;1158;p54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54"/>
          <p:cNvCxnSpPr>
            <a:stCxn id="1158" idx="0"/>
            <a:endCxn id="1155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54"/>
          <p:cNvCxnSpPr>
            <a:stCxn id="1157" idx="0"/>
            <a:endCxn id="1155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1" name="Google Shape;1161;p54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54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3" name="Google Shape;1163;p54"/>
          <p:cNvCxnSpPr>
            <a:stCxn id="1161" idx="0"/>
            <a:endCxn id="1157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4" name="Google Shape;1164;p54"/>
          <p:cNvCxnSpPr>
            <a:stCxn id="1162" idx="0"/>
            <a:endCxn id="1158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5" name="Google Shape;1165;p54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6" name="Google Shape;1166;p54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67" name="Google Shape;1167;p54"/>
          <p:cNvCxnSpPr>
            <a:stCxn id="1165" idx="0"/>
            <a:endCxn id="1161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54"/>
          <p:cNvCxnSpPr>
            <a:stCxn id="1166" idx="0"/>
            <a:endCxn id="1161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54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p54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1" name="Google Shape;1171;p54"/>
          <p:cNvCxnSpPr>
            <a:stCxn id="1169" idx="0"/>
            <a:endCxn id="1162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54"/>
          <p:cNvCxnSpPr>
            <a:stCxn id="1170" idx="0"/>
            <a:endCxn id="1162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3" name="Google Shape;1173;p54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54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54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6" name="Google Shape;1176;p54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77" name="Google Shape;1177;p54"/>
          <p:cNvCxnSpPr>
            <a:stCxn id="1173" idx="0"/>
            <a:endCxn id="1165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54"/>
          <p:cNvCxnSpPr>
            <a:stCxn id="1174" idx="0"/>
            <a:endCxn id="1166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9" name="Google Shape;1179;p54"/>
          <p:cNvCxnSpPr>
            <a:stCxn id="1175" idx="0"/>
            <a:endCxn id="1169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0" name="Google Shape;1180;p54"/>
          <p:cNvCxnSpPr>
            <a:stCxn id="1176" idx="0"/>
            <a:endCxn id="1170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1" name="Google Shape;1181;p54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2" name="Google Shape;1182;p54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3" name="Google Shape;1183;p54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4" name="Google Shape;1184;p54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5" name="Google Shape;1185;p54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6" name="Google Shape;1186;p54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7" name="Google Shape;1187;p54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8" name="Google Shape;1188;p54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89" name="Google Shape;1189;p54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0" name="Google Shape;1190;p54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1" name="Google Shape;1191;p54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2" name="Google Shape;1192;p54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3" name="Google Shape;1193;p54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194" name="Google Shape;1194;p54"/>
          <p:cNvCxnSpPr>
            <a:stCxn id="1157" idx="3"/>
            <a:endCxn id="1158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5" name="Google Shape;1195;p54"/>
          <p:cNvCxnSpPr>
            <a:stCxn id="1161" idx="3"/>
            <a:endCxn id="1162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55"/>
          <p:cNvSpPr/>
          <p:nvPr/>
        </p:nvSpPr>
        <p:spPr>
          <a:xfrm>
            <a:off x="214125" y="1858350"/>
            <a:ext cx="5518200" cy="1129200"/>
          </a:xfrm>
          <a:prstGeom prst="wedgeRoundRectCallout">
            <a:avLst>
              <a:gd fmla="val 57423" name="adj1"/>
              <a:gd fmla="val 54544" name="adj2"/>
              <a:gd fmla="val 0" name="adj3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202" name="Google Shape;1202;p55"/>
          <p:cNvSpPr txBox="1"/>
          <p:nvPr>
            <p:ph idx="1" type="body"/>
          </p:nvPr>
        </p:nvSpPr>
        <p:spPr>
          <a:xfrm>
            <a:off x="107050" y="402200"/>
            <a:ext cx="55869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is your parent?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 your unicast forwarding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parent is your next-hop to the root (sender).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03" name="Google Shape;1203;p55"/>
          <p:cNvGraphicFramePr/>
          <p:nvPr/>
        </p:nvGraphicFramePr>
        <p:xfrm>
          <a:off x="2211219" y="312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204" name="Google Shape;1204;p55"/>
          <p:cNvSpPr/>
          <p:nvPr/>
        </p:nvSpPr>
        <p:spPr>
          <a:xfrm>
            <a:off x="2938850" y="1925250"/>
            <a:ext cx="1524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5" name="Google Shape;1205;p55"/>
          <p:cNvSpPr txBox="1"/>
          <p:nvPr/>
        </p:nvSpPr>
        <p:spPr>
          <a:xfrm>
            <a:off x="387650" y="1999950"/>
            <a:ext cx="2551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 received this packet from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6" name="Google Shape;1206;p55"/>
          <p:cNvSpPr txBox="1"/>
          <p:nvPr/>
        </p:nvSpPr>
        <p:spPr>
          <a:xfrm>
            <a:off x="387650" y="2455988"/>
            <a:ext cx="486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My unicast table says the next-hop to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my parent to A is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I got this packet from my parent!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55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55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9" name="Google Shape;1209;p55"/>
          <p:cNvCxnSpPr>
            <a:stCxn id="1208" idx="0"/>
            <a:endCxn id="120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0" name="Google Shape;1210;p55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1" name="Google Shape;1211;p55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2" name="Google Shape;1212;p55"/>
          <p:cNvCxnSpPr>
            <a:stCxn id="1211" idx="0"/>
            <a:endCxn id="120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55"/>
          <p:cNvCxnSpPr>
            <a:stCxn id="1210" idx="0"/>
            <a:endCxn id="120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4" name="Google Shape;1214;p55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5" name="Google Shape;1215;p55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6" name="Google Shape;1216;p55"/>
          <p:cNvCxnSpPr>
            <a:stCxn id="1214" idx="0"/>
            <a:endCxn id="121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7" name="Google Shape;1217;p55"/>
          <p:cNvCxnSpPr>
            <a:stCxn id="1215" idx="0"/>
            <a:endCxn id="121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8" name="Google Shape;1218;p55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9" name="Google Shape;1219;p55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0" name="Google Shape;1220;p55"/>
          <p:cNvCxnSpPr>
            <a:stCxn id="1218" idx="0"/>
            <a:endCxn id="121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1" name="Google Shape;1221;p55"/>
          <p:cNvCxnSpPr>
            <a:stCxn id="1219" idx="0"/>
            <a:endCxn id="121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2" name="Google Shape;1222;p55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3" name="Google Shape;1223;p55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24" name="Google Shape;1224;p55"/>
          <p:cNvCxnSpPr>
            <a:stCxn id="1222" idx="0"/>
            <a:endCxn id="121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5" name="Google Shape;1225;p55"/>
          <p:cNvCxnSpPr>
            <a:stCxn id="1223" idx="0"/>
            <a:endCxn id="121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6" name="Google Shape;1226;p55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7" name="Google Shape;1227;p55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55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55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0" name="Google Shape;1230;p55"/>
          <p:cNvCxnSpPr>
            <a:stCxn id="1226" idx="0"/>
            <a:endCxn id="121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1" name="Google Shape;1231;p55"/>
          <p:cNvCxnSpPr>
            <a:stCxn id="1227" idx="0"/>
            <a:endCxn id="121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55"/>
          <p:cNvCxnSpPr>
            <a:stCxn id="1228" idx="0"/>
            <a:endCxn id="122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55"/>
          <p:cNvCxnSpPr>
            <a:stCxn id="1229" idx="0"/>
            <a:endCxn id="122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55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5" name="Google Shape;1235;p55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6" name="Google Shape;1236;p55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7" name="Google Shape;1237;p55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8" name="Google Shape;1238;p55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39" name="Google Shape;1239;p55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0" name="Google Shape;1240;p55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1" name="Google Shape;1241;p55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2" name="Google Shape;1242;p55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3" name="Google Shape;1243;p55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4" name="Google Shape;1244;p55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5" name="Google Shape;1245;p55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6" name="Google Shape;1246;p55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47" name="Google Shape;1247;p55"/>
          <p:cNvCxnSpPr>
            <a:stCxn id="1210" idx="3"/>
            <a:endCxn id="121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55"/>
          <p:cNvCxnSpPr>
            <a:stCxn id="1214" idx="3"/>
            <a:endCxn id="121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254" name="Google Shape;1254;p56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56"/>
          <p:cNvSpPr/>
          <p:nvPr/>
        </p:nvSpPr>
        <p:spPr>
          <a:xfrm>
            <a:off x="39584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R6, To: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56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7" name="Google Shape;1257;p56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58" name="Google Shape;1258;p56"/>
          <p:cNvCxnSpPr>
            <a:stCxn id="1257" idx="0"/>
            <a:endCxn id="1256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9" name="Google Shape;1259;p56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0" name="Google Shape;1260;p56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1" name="Google Shape;1261;p56"/>
          <p:cNvCxnSpPr>
            <a:stCxn id="1260" idx="0"/>
            <a:endCxn id="1257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56"/>
          <p:cNvCxnSpPr>
            <a:stCxn id="1259" idx="0"/>
            <a:endCxn id="1257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56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56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5" name="Google Shape;1265;p56"/>
          <p:cNvCxnSpPr>
            <a:stCxn id="1263" idx="0"/>
            <a:endCxn id="125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6" name="Google Shape;1266;p56"/>
          <p:cNvCxnSpPr>
            <a:stCxn id="1264" idx="0"/>
            <a:endCxn id="1260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7" name="Google Shape;1267;p56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56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9" name="Google Shape;1269;p56"/>
          <p:cNvCxnSpPr>
            <a:stCxn id="1267" idx="0"/>
            <a:endCxn id="1263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56"/>
          <p:cNvCxnSpPr>
            <a:stCxn id="1268" idx="0"/>
            <a:endCxn id="1263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1" name="Google Shape;1271;p56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2" name="Google Shape;1272;p56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3" name="Google Shape;1273;p56"/>
          <p:cNvCxnSpPr>
            <a:stCxn id="1271" idx="0"/>
            <a:endCxn id="1264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4" name="Google Shape;1274;p56"/>
          <p:cNvCxnSpPr>
            <a:stCxn id="1272" idx="0"/>
            <a:endCxn id="1264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5" name="Google Shape;1275;p56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6" name="Google Shape;1276;p56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56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8" name="Google Shape;1278;p56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9" name="Google Shape;1279;p56"/>
          <p:cNvCxnSpPr>
            <a:stCxn id="1275" idx="0"/>
            <a:endCxn id="1267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56"/>
          <p:cNvCxnSpPr>
            <a:stCxn id="1276" idx="0"/>
            <a:endCxn id="1268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56"/>
          <p:cNvCxnSpPr>
            <a:stCxn id="1277" idx="0"/>
            <a:endCxn id="1271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2" name="Google Shape;1282;p56"/>
          <p:cNvCxnSpPr>
            <a:stCxn id="1278" idx="0"/>
            <a:endCxn id="1272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3" name="Google Shape;1283;p56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4" name="Google Shape;1284;p56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5" name="Google Shape;1285;p56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6" name="Google Shape;1286;p56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7" name="Google Shape;1287;p56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8" name="Google Shape;1288;p56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89" name="Google Shape;1289;p56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0" name="Google Shape;1290;p56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1" name="Google Shape;1291;p56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2" name="Google Shape;1292;p56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3" name="Google Shape;1293;p56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4" name="Google Shape;1294;p56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5" name="Google Shape;1295;p56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296" name="Google Shape;1296;p56"/>
          <p:cNvCxnSpPr>
            <a:stCxn id="1259" idx="3"/>
            <a:endCxn id="1260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7" name="Google Shape;1297;p56"/>
          <p:cNvCxnSpPr>
            <a:stCxn id="1263" idx="3"/>
            <a:endCxn id="1264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8" name="Google Shape;1298;p56"/>
          <p:cNvSpPr/>
          <p:nvPr/>
        </p:nvSpPr>
        <p:spPr>
          <a:xfrm>
            <a:off x="546751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9" name="Google Shape;1299;p56"/>
          <p:cNvSpPr/>
          <p:nvPr/>
        </p:nvSpPr>
        <p:spPr>
          <a:xfrm flipH="1">
            <a:off x="660189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00" name="Google Shape;1300;p56"/>
          <p:cNvSpPr/>
          <p:nvPr/>
        </p:nvSpPr>
        <p:spPr>
          <a:xfrm>
            <a:off x="72212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R7, To: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306" name="Google Shape;1306;p57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57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8" name="Google Shape;1308;p57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9" name="Google Shape;1309;p57"/>
          <p:cNvCxnSpPr>
            <a:stCxn id="1308" idx="0"/>
            <a:endCxn id="130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0" name="Google Shape;1310;p57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1" name="Google Shape;1311;p57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2" name="Google Shape;1312;p57"/>
          <p:cNvCxnSpPr>
            <a:stCxn id="1311" idx="0"/>
            <a:endCxn id="130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3" name="Google Shape;1313;p57"/>
          <p:cNvCxnSpPr>
            <a:stCxn id="1310" idx="0"/>
            <a:endCxn id="130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4" name="Google Shape;1314;p57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57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16" name="Google Shape;1316;p57"/>
          <p:cNvCxnSpPr>
            <a:stCxn id="1314" idx="0"/>
            <a:endCxn id="131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7" name="Google Shape;1317;p57"/>
          <p:cNvCxnSpPr>
            <a:stCxn id="1315" idx="0"/>
            <a:endCxn id="131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18" name="Google Shape;1318;p57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57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0" name="Google Shape;1320;p57"/>
          <p:cNvCxnSpPr>
            <a:stCxn id="1318" idx="0"/>
            <a:endCxn id="131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1" name="Google Shape;1321;p57"/>
          <p:cNvCxnSpPr>
            <a:stCxn id="1319" idx="0"/>
            <a:endCxn id="131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2" name="Google Shape;1322;p57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57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4" name="Google Shape;1324;p57"/>
          <p:cNvCxnSpPr>
            <a:stCxn id="1322" idx="0"/>
            <a:endCxn id="131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5" name="Google Shape;1325;p57"/>
          <p:cNvCxnSpPr>
            <a:stCxn id="1323" idx="0"/>
            <a:endCxn id="131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6" name="Google Shape;1326;p57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57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57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57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0" name="Google Shape;1330;p57"/>
          <p:cNvCxnSpPr>
            <a:stCxn id="1326" idx="0"/>
            <a:endCxn id="131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1" name="Google Shape;1331;p57"/>
          <p:cNvCxnSpPr>
            <a:stCxn id="1327" idx="0"/>
            <a:endCxn id="131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2" name="Google Shape;1332;p57"/>
          <p:cNvCxnSpPr>
            <a:stCxn id="1328" idx="0"/>
            <a:endCxn id="132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3" name="Google Shape;1333;p57"/>
          <p:cNvCxnSpPr>
            <a:stCxn id="1329" idx="0"/>
            <a:endCxn id="132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57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5" name="Google Shape;1335;p57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6" name="Google Shape;1336;p57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7" name="Google Shape;1337;p57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8" name="Google Shape;1338;p57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39" name="Google Shape;1339;p57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0" name="Google Shape;1340;p57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1" name="Google Shape;1341;p57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2" name="Google Shape;1342;p57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3" name="Google Shape;1343;p57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4" name="Google Shape;1344;p57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5" name="Google Shape;1345;p57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6" name="Google Shape;1346;p57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47" name="Google Shape;1347;p57"/>
          <p:cNvCxnSpPr>
            <a:stCxn id="1310" idx="3"/>
            <a:endCxn id="131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8" name="Google Shape;1348;p57"/>
          <p:cNvCxnSpPr>
            <a:stCxn id="1314" idx="3"/>
            <a:endCxn id="131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9" name="Google Shape;1349;p57"/>
          <p:cNvSpPr/>
          <p:nvPr/>
        </p:nvSpPr>
        <p:spPr>
          <a:xfrm>
            <a:off x="729631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50" name="Google Shape;1350;p57"/>
          <p:cNvSpPr/>
          <p:nvPr/>
        </p:nvSpPr>
        <p:spPr>
          <a:xfrm flipH="1">
            <a:off x="8430699" y="3024550"/>
            <a:ext cx="697050" cy="800000"/>
          </a:xfrm>
          <a:custGeom>
            <a:rect b="b" l="l" r="r" t="t"/>
            <a:pathLst>
              <a:path extrusionOk="0" h="32000" w="27882">
                <a:moveTo>
                  <a:pt x="9379" y="32000"/>
                </a:moveTo>
                <a:cubicBezTo>
                  <a:pt x="7910" y="30477"/>
                  <a:pt x="-2517" y="28193"/>
                  <a:pt x="567" y="22860"/>
                </a:cubicBezTo>
                <a:cubicBezTo>
                  <a:pt x="3651" y="17527"/>
                  <a:pt x="23330" y="3810"/>
                  <a:pt x="27882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351" name="Google Shape;1351;p57"/>
          <p:cNvSpPr/>
          <p:nvPr/>
        </p:nvSpPr>
        <p:spPr>
          <a:xfrm>
            <a:off x="7444400" y="23627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R9, To: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2" name="Google Shape;1352;p57"/>
          <p:cNvSpPr/>
          <p:nvPr/>
        </p:nvSpPr>
        <p:spPr>
          <a:xfrm>
            <a:off x="5787200" y="29045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R8, To: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7" name="Google Shape;1357;p58"/>
          <p:cNvCxnSpPr>
            <a:stCxn id="1358" idx="3"/>
            <a:endCxn id="1359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58"/>
          <p:cNvCxnSpPr>
            <a:stCxn id="1361" idx="3"/>
            <a:endCxn id="1362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3" name="Google Shape;1363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364" name="Google Shape;1364;p58"/>
          <p:cNvSpPr txBox="1"/>
          <p:nvPr>
            <p:ph idx="1" type="body"/>
          </p:nvPr>
        </p:nvSpPr>
        <p:spPr>
          <a:xfrm>
            <a:off x="107050" y="402200"/>
            <a:ext cx="6118200" cy="1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58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6" name="Google Shape;1366;p58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7" name="Google Shape;1367;p58"/>
          <p:cNvCxnSpPr>
            <a:stCxn id="1366" idx="0"/>
            <a:endCxn id="1365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58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58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8" name="Google Shape;1368;p58"/>
          <p:cNvCxnSpPr>
            <a:stCxn id="1362" idx="0"/>
            <a:endCxn id="1366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9" name="Google Shape;1369;p58"/>
          <p:cNvCxnSpPr>
            <a:stCxn id="1361" idx="0"/>
            <a:endCxn id="1366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8" name="Google Shape;1358;p58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9" name="Google Shape;1359;p58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0" name="Google Shape;1370;p58"/>
          <p:cNvCxnSpPr>
            <a:stCxn id="1358" idx="0"/>
            <a:endCxn id="1361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1" name="Google Shape;1371;p58"/>
          <p:cNvCxnSpPr>
            <a:stCxn id="1359" idx="0"/>
            <a:endCxn id="1362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2" name="Google Shape;1372;p58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3" name="Google Shape;1373;p58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58"/>
          <p:cNvCxnSpPr>
            <a:stCxn id="1372" idx="0"/>
            <a:endCxn id="1358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5" name="Google Shape;1375;p58"/>
          <p:cNvCxnSpPr>
            <a:stCxn id="1373" idx="0"/>
            <a:endCxn id="1358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6" name="Google Shape;1376;p58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58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58"/>
          <p:cNvCxnSpPr>
            <a:stCxn id="1376" idx="0"/>
            <a:endCxn id="1359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58"/>
          <p:cNvCxnSpPr>
            <a:stCxn id="1377" idx="0"/>
            <a:endCxn id="1359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0" name="Google Shape;1380;p58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58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58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58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4" name="Google Shape;1384;p58"/>
          <p:cNvCxnSpPr>
            <a:stCxn id="1380" idx="0"/>
            <a:endCxn id="1372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5" name="Google Shape;1385;p58"/>
          <p:cNvCxnSpPr>
            <a:stCxn id="1381" idx="0"/>
            <a:endCxn id="1373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6" name="Google Shape;1386;p58"/>
          <p:cNvCxnSpPr>
            <a:stCxn id="1382" idx="0"/>
            <a:endCxn id="1376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58"/>
          <p:cNvCxnSpPr>
            <a:stCxn id="1383" idx="0"/>
            <a:endCxn id="1377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8" name="Google Shape;1388;p58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89" name="Google Shape;1389;p58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0" name="Google Shape;1390;p58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1" name="Google Shape;1391;p58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2" name="Google Shape;1392;p58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3" name="Google Shape;1393;p58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4" name="Google Shape;1394;p58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5" name="Google Shape;1395;p58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6" name="Google Shape;1396;p58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7" name="Google Shape;1397;p58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8" name="Google Shape;1398;p58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399" name="Google Shape;1399;p58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00" name="Google Shape;1400;p58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01" name="Google Shape;1401;p58"/>
          <p:cNvSpPr/>
          <p:nvPr/>
        </p:nvSpPr>
        <p:spPr>
          <a:xfrm>
            <a:off x="5720900" y="2267500"/>
            <a:ext cx="430125" cy="793000"/>
          </a:xfrm>
          <a:custGeom>
            <a:rect b="b" l="l" r="r" t="t"/>
            <a:pathLst>
              <a:path extrusionOk="0" h="31720" w="17205">
                <a:moveTo>
                  <a:pt x="17205" y="31720"/>
                </a:moveTo>
                <a:cubicBezTo>
                  <a:pt x="14338" y="29084"/>
                  <a:pt x="14" y="21188"/>
                  <a:pt x="0" y="15901"/>
                </a:cubicBezTo>
                <a:cubicBezTo>
                  <a:pt x="-13" y="10614"/>
                  <a:pt x="14270" y="2650"/>
                  <a:pt x="17124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2" name="Google Shape;1402;p58"/>
          <p:cNvSpPr/>
          <p:nvPr/>
        </p:nvSpPr>
        <p:spPr>
          <a:xfrm>
            <a:off x="4065725" y="24389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R4, To: R2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3" name="Google Shape;1403;p58"/>
          <p:cNvSpPr/>
          <p:nvPr/>
        </p:nvSpPr>
        <p:spPr>
          <a:xfrm>
            <a:off x="7549700" y="2267500"/>
            <a:ext cx="430125" cy="793000"/>
          </a:xfrm>
          <a:custGeom>
            <a:rect b="b" l="l" r="r" t="t"/>
            <a:pathLst>
              <a:path extrusionOk="0" h="31720" w="17205">
                <a:moveTo>
                  <a:pt x="17205" y="31720"/>
                </a:moveTo>
                <a:cubicBezTo>
                  <a:pt x="14338" y="29084"/>
                  <a:pt x="14" y="21188"/>
                  <a:pt x="0" y="15901"/>
                </a:cubicBezTo>
                <a:cubicBezTo>
                  <a:pt x="-13" y="10614"/>
                  <a:pt x="14270" y="2650"/>
                  <a:pt x="17124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4" name="Google Shape;1404;p58"/>
          <p:cNvSpPr/>
          <p:nvPr/>
        </p:nvSpPr>
        <p:spPr>
          <a:xfrm>
            <a:off x="5894525" y="243890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R5, To: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5" name="Google Shape;1405;p58"/>
          <p:cNvSpPr/>
          <p:nvPr/>
        </p:nvSpPr>
        <p:spPr>
          <a:xfrm>
            <a:off x="6031954" y="1467525"/>
            <a:ext cx="1025125" cy="754775"/>
          </a:xfrm>
          <a:custGeom>
            <a:rect b="b" l="l" r="r" t="t"/>
            <a:pathLst>
              <a:path extrusionOk="0" h="30191" w="41005">
                <a:moveTo>
                  <a:pt x="4763" y="30191"/>
                </a:moveTo>
                <a:cubicBezTo>
                  <a:pt x="4339" y="28306"/>
                  <a:pt x="-3821" y="23911"/>
                  <a:pt x="2219" y="18879"/>
                </a:cubicBezTo>
                <a:cubicBezTo>
                  <a:pt x="8259" y="13847"/>
                  <a:pt x="34541" y="3147"/>
                  <a:pt x="41005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6" name="Google Shape;1406;p58"/>
          <p:cNvSpPr/>
          <p:nvPr/>
        </p:nvSpPr>
        <p:spPr>
          <a:xfrm>
            <a:off x="4796600" y="125675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R2, To: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7" name="Google Shape;1407;p58"/>
          <p:cNvSpPr/>
          <p:nvPr/>
        </p:nvSpPr>
        <p:spPr>
          <a:xfrm flipH="1">
            <a:off x="7555954" y="1467525"/>
            <a:ext cx="1025125" cy="754775"/>
          </a:xfrm>
          <a:custGeom>
            <a:rect b="b" l="l" r="r" t="t"/>
            <a:pathLst>
              <a:path extrusionOk="0" h="30191" w="41005">
                <a:moveTo>
                  <a:pt x="4763" y="30191"/>
                </a:moveTo>
                <a:cubicBezTo>
                  <a:pt x="4339" y="28306"/>
                  <a:pt x="-3821" y="23911"/>
                  <a:pt x="2219" y="18879"/>
                </a:cubicBezTo>
                <a:cubicBezTo>
                  <a:pt x="8259" y="13847"/>
                  <a:pt x="34541" y="3147"/>
                  <a:pt x="41005" y="0"/>
                </a:cubicBezTo>
              </a:path>
            </a:pathLst>
          </a:cu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408" name="Google Shape;1408;p58"/>
          <p:cNvSpPr/>
          <p:nvPr/>
        </p:nvSpPr>
        <p:spPr>
          <a:xfrm>
            <a:off x="7513475" y="959050"/>
            <a:ext cx="1581000" cy="457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R3, To: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"Hi, I'm your child."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</a:t>
            </a:r>
            <a:endParaRPr/>
          </a:p>
        </p:txBody>
      </p:sp>
      <p:sp>
        <p:nvSpPr>
          <p:cNvPr id="1414" name="Google Shape;1414;p59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are your children?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Problem: The unicast table only identifies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Children report themselves to their parents.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need an extra table to keep track of their children.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table </a:t>
            </a:r>
            <a:r>
              <a:rPr lang="en"/>
              <a:t>identifies</a:t>
            </a:r>
            <a:r>
              <a:rPr lang="en"/>
              <a:t>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table (new) identifies your children.</a:t>
            </a:r>
            <a:endParaRPr/>
          </a:p>
        </p:txBody>
      </p:sp>
      <p:graphicFrame>
        <p:nvGraphicFramePr>
          <p:cNvPr id="1415" name="Google Shape;1415;p59"/>
          <p:cNvGraphicFramePr/>
          <p:nvPr/>
        </p:nvGraphicFramePr>
        <p:xfrm>
          <a:off x="823340" y="28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16" name="Google Shape;1416;p59"/>
          <p:cNvGraphicFramePr/>
          <p:nvPr/>
        </p:nvGraphicFramePr>
        <p:xfrm>
          <a:off x="2398444" y="286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17" name="Google Shape;1417;p59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8" name="Google Shape;1418;p59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9" name="Google Shape;1419;p59"/>
          <p:cNvCxnSpPr>
            <a:stCxn id="1418" idx="0"/>
            <a:endCxn id="141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0" name="Google Shape;1420;p59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1" name="Google Shape;1421;p59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2" name="Google Shape;1422;p59"/>
          <p:cNvCxnSpPr>
            <a:stCxn id="1421" idx="0"/>
            <a:endCxn id="1418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59"/>
          <p:cNvCxnSpPr>
            <a:stCxn id="1420" idx="0"/>
            <a:endCxn id="1418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4" name="Google Shape;1424;p59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5" name="Google Shape;1425;p59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6" name="Google Shape;1426;p59"/>
          <p:cNvCxnSpPr>
            <a:stCxn id="1424" idx="0"/>
            <a:endCxn id="1420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7" name="Google Shape;1427;p59"/>
          <p:cNvCxnSpPr>
            <a:stCxn id="1425" idx="0"/>
            <a:endCxn id="1421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8" name="Google Shape;1428;p59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9" name="Google Shape;1429;p59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0" name="Google Shape;1430;p59"/>
          <p:cNvCxnSpPr>
            <a:stCxn id="1428" idx="0"/>
            <a:endCxn id="1424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59"/>
          <p:cNvCxnSpPr>
            <a:stCxn id="1429" idx="0"/>
            <a:endCxn id="1424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2" name="Google Shape;1432;p59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3" name="Google Shape;1433;p59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4" name="Google Shape;1434;p59"/>
          <p:cNvCxnSpPr>
            <a:stCxn id="1432" idx="0"/>
            <a:endCxn id="1425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5" name="Google Shape;1435;p59"/>
          <p:cNvCxnSpPr>
            <a:stCxn id="1433" idx="0"/>
            <a:endCxn id="1425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6" name="Google Shape;1436;p59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7" name="Google Shape;1437;p59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8" name="Google Shape;1438;p59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9" name="Google Shape;1439;p59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0" name="Google Shape;1440;p59"/>
          <p:cNvCxnSpPr>
            <a:stCxn id="1436" idx="0"/>
            <a:endCxn id="1428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1" name="Google Shape;1441;p59"/>
          <p:cNvCxnSpPr>
            <a:stCxn id="1437" idx="0"/>
            <a:endCxn id="1429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2" name="Google Shape;1442;p59"/>
          <p:cNvCxnSpPr>
            <a:stCxn id="1438" idx="0"/>
            <a:endCxn id="1432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3" name="Google Shape;1443;p59"/>
          <p:cNvCxnSpPr>
            <a:stCxn id="1439" idx="0"/>
            <a:endCxn id="1433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4" name="Google Shape;1444;p59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5" name="Google Shape;1445;p59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6" name="Google Shape;1446;p59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7" name="Google Shape;1447;p59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8" name="Google Shape;1448;p59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49" name="Google Shape;1449;p59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0" name="Google Shape;1450;p59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1" name="Google Shape;1451;p59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2" name="Google Shape;1452;p59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3" name="Google Shape;1453;p59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4" name="Google Shape;1454;p59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5" name="Google Shape;1455;p59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6" name="Google Shape;1456;p59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57" name="Google Shape;1457;p59"/>
          <p:cNvCxnSpPr>
            <a:stCxn id="1420" idx="3"/>
            <a:endCxn id="1421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8" name="Google Shape;1458;p59"/>
          <p:cNvCxnSpPr>
            <a:stCxn id="1424" idx="3"/>
            <a:endCxn id="1425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459" name="Google Shape;1459;p59"/>
          <p:cNvGraphicFramePr/>
          <p:nvPr/>
        </p:nvGraphicFramePr>
        <p:xfrm>
          <a:off x="823340" y="385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60" name="Google Shape;1460;p59"/>
          <p:cNvGraphicFramePr/>
          <p:nvPr/>
        </p:nvGraphicFramePr>
        <p:xfrm>
          <a:off x="2398444" y="385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R5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61" name="Google Shape;1461;p59"/>
          <p:cNvSpPr txBox="1"/>
          <p:nvPr/>
        </p:nvSpPr>
        <p:spPr>
          <a:xfrm>
            <a:off x="1421809" y="459635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Parents and Children: Recap</a:t>
            </a:r>
            <a:endParaRPr/>
          </a:p>
        </p:txBody>
      </p:sp>
      <p:sp>
        <p:nvSpPr>
          <p:cNvPr id="1467" name="Google Shape;1467;p60"/>
          <p:cNvSpPr txBox="1"/>
          <p:nvPr>
            <p:ph idx="1" type="body"/>
          </p:nvPr>
        </p:nvSpPr>
        <p:spPr>
          <a:xfrm>
            <a:off x="107050" y="402200"/>
            <a:ext cx="7125000" cy="20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unicast table has two interpretations: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Unicast</a:t>
            </a:r>
            <a:r>
              <a:rPr lang="en"/>
              <a:t>: To reach </a:t>
            </a:r>
            <a:r>
              <a:rPr i="1" lang="en"/>
              <a:t>destination</a:t>
            </a:r>
            <a:r>
              <a:rPr lang="en"/>
              <a:t> A, the next-hop is R2.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Multicast</a:t>
            </a:r>
            <a:r>
              <a:rPr lang="en"/>
              <a:t>: Packets from </a:t>
            </a:r>
            <a:r>
              <a:rPr i="1" lang="en"/>
              <a:t>sender</a:t>
            </a:r>
            <a:r>
              <a:rPr lang="en"/>
              <a:t> A come from parent R2.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multicast table says: Packets from </a:t>
            </a:r>
            <a:r>
              <a:rPr i="1" lang="en"/>
              <a:t>sender</a:t>
            </a:r>
            <a:r>
              <a:rPr lang="en"/>
              <a:t> A should be forwarded to children R6, R7.</a:t>
            </a:r>
            <a:endParaRPr/>
          </a:p>
        </p:txBody>
      </p:sp>
      <p:sp>
        <p:nvSpPr>
          <p:cNvPr id="1468" name="Google Shape;1468;p60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60"/>
          <p:cNvCxnSpPr>
            <a:stCxn id="1468" idx="0"/>
            <a:endCxn id="1470" idx="0"/>
          </p:cNvCxnSpPr>
          <p:nvPr/>
        </p:nvCxnSpPr>
        <p:spPr>
          <a:xfrm rot="10800000">
            <a:off x="4561750" y="2513000"/>
            <a:ext cx="0" cy="98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1" name="Google Shape;1471;p60"/>
          <p:cNvCxnSpPr>
            <a:stCxn id="1468" idx="2"/>
          </p:cNvCxnSpPr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2" name="Google Shape;1472;p60"/>
          <p:cNvCxnSpPr>
            <a:endCxn id="1468" idx="3"/>
          </p:cNvCxnSpPr>
          <p:nvPr/>
        </p:nvCxnSpPr>
        <p:spPr>
          <a:xfrm rot="10800000">
            <a:off x="4714150" y="3648200"/>
            <a:ext cx="9828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60"/>
          <p:cNvCxnSpPr/>
          <p:nvPr/>
        </p:nvCxnSpPr>
        <p:spPr>
          <a:xfrm rot="10800000">
            <a:off x="4650658" y="31660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4" name="Google Shape;1474;p60"/>
          <p:cNvSpPr txBox="1"/>
          <p:nvPr/>
        </p:nvSpPr>
        <p:spPr>
          <a:xfrm>
            <a:off x="4650650" y="2469025"/>
            <a:ext cx="29916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Unicast table identifies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 your parent.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Receive packets from your parent.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5" name="Google Shape;1475;p6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6" name="Google Shape;1476;p60"/>
          <p:cNvSpPr txBox="1"/>
          <p:nvPr/>
        </p:nvSpPr>
        <p:spPr>
          <a:xfrm>
            <a:off x="1270775" y="3861650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Your children identify themselves by sending you an advertisement.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Send packets to your children.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7" name="Google Shape;1477;p60"/>
          <p:cNvCxnSpPr/>
          <p:nvPr/>
        </p:nvCxnSpPr>
        <p:spPr>
          <a:xfrm flipH="1" rot="10800000">
            <a:off x="4256375" y="3876875"/>
            <a:ext cx="153000" cy="264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478" name="Google Shape;1478;p60"/>
          <p:cNvCxnSpPr/>
          <p:nvPr/>
        </p:nvCxnSpPr>
        <p:spPr>
          <a:xfrm rot="10800000">
            <a:off x="4714175" y="3876875"/>
            <a:ext cx="153000" cy="2649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479" name="Google Shape;1479;p60"/>
          <p:cNvSpPr txBox="1"/>
          <p:nvPr/>
        </p:nvSpPr>
        <p:spPr>
          <a:xfrm>
            <a:off x="5696950" y="3467975"/>
            <a:ext cx="22422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Any other links are not part of the tree.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Don't receive or send packets along these links.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480" name="Google Shape;1480;p60"/>
          <p:cNvGraphicFramePr/>
          <p:nvPr/>
        </p:nvGraphicFramePr>
        <p:xfrm>
          <a:off x="7327369" y="628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1" name="Google Shape;1481;p60"/>
          <p:cNvGraphicFramePr/>
          <p:nvPr/>
        </p:nvGraphicFramePr>
        <p:xfrm>
          <a:off x="7327369" y="143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Tree Per Sender</a:t>
            </a:r>
            <a:endParaRPr/>
          </a:p>
        </p:txBody>
      </p:sp>
      <p:sp>
        <p:nvSpPr>
          <p:cNvPr id="1487" name="Google Shape;1487;p61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build one tree per host.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uses the tree to send packets </a:t>
            </a:r>
            <a:r>
              <a:rPr i="1" lang="en"/>
              <a:t>to</a:t>
            </a:r>
            <a:r>
              <a:rPr lang="en"/>
              <a:t> that host (destination).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uses the tree to send packets </a:t>
            </a:r>
            <a:r>
              <a:rPr i="1" lang="en"/>
              <a:t>from</a:t>
            </a:r>
            <a:r>
              <a:rPr lang="en"/>
              <a:t> that host (sender)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forwarding tables need one entry per tree.</a:t>
            </a:r>
            <a:endParaRPr/>
          </a:p>
        </p:txBody>
      </p:sp>
      <p:graphicFrame>
        <p:nvGraphicFramePr>
          <p:cNvPr id="1488" name="Google Shape;1488;p61"/>
          <p:cNvGraphicFramePr/>
          <p:nvPr/>
        </p:nvGraphicFramePr>
        <p:xfrm>
          <a:off x="805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489" name="Google Shape;1489;p61"/>
          <p:cNvGraphicFramePr/>
          <p:nvPr/>
        </p:nvGraphicFramePr>
        <p:xfrm>
          <a:off x="2711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41325"/>
                <a:gridCol w="8856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490" name="Google Shape;1490;p61"/>
          <p:cNvSpPr txBox="1"/>
          <p:nvPr/>
        </p:nvSpPr>
        <p:spPr>
          <a:xfrm>
            <a:off x="2847975" y="4360100"/>
            <a:ext cx="2542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tree rooted at A.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1" name="Google Shape;1491;p61"/>
          <p:cNvCxnSpPr/>
          <p:nvPr/>
        </p:nvCxnSpPr>
        <p:spPr>
          <a:xfrm flipH="1" rot="10800000">
            <a:off x="4720575" y="4124900"/>
            <a:ext cx="577500" cy="33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2" name="Google Shape;1492;p61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61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4" name="Google Shape;1494;p61"/>
          <p:cNvCxnSpPr>
            <a:stCxn id="1493" idx="0"/>
            <a:endCxn id="1492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5" name="Google Shape;1495;p61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6" name="Google Shape;1496;p61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97" name="Google Shape;1497;p61"/>
          <p:cNvCxnSpPr>
            <a:stCxn id="1496" idx="0"/>
            <a:endCxn id="1493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61"/>
          <p:cNvCxnSpPr>
            <a:stCxn id="1495" idx="0"/>
            <a:endCxn id="1493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9" name="Google Shape;1499;p61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0" name="Google Shape;1500;p61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1" name="Google Shape;1501;p61"/>
          <p:cNvCxnSpPr>
            <a:stCxn id="1499" idx="0"/>
            <a:endCxn id="1495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61"/>
          <p:cNvCxnSpPr>
            <a:stCxn id="1500" idx="0"/>
            <a:endCxn id="1496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61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61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5" name="Google Shape;1505;p61"/>
          <p:cNvCxnSpPr>
            <a:stCxn id="1503" idx="0"/>
            <a:endCxn id="1499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61"/>
          <p:cNvCxnSpPr>
            <a:stCxn id="1504" idx="0"/>
            <a:endCxn id="1499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7" name="Google Shape;1507;p61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61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61"/>
          <p:cNvCxnSpPr>
            <a:stCxn id="1507" idx="0"/>
            <a:endCxn id="1500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0" name="Google Shape;1510;p61"/>
          <p:cNvCxnSpPr>
            <a:stCxn id="1508" idx="0"/>
            <a:endCxn id="1500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1" name="Google Shape;1511;p61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2" name="Google Shape;1512;p61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3" name="Google Shape;1513;p61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4" name="Google Shape;1514;p61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5" name="Google Shape;1515;p61"/>
          <p:cNvCxnSpPr>
            <a:stCxn id="1511" idx="0"/>
            <a:endCxn id="1503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61"/>
          <p:cNvCxnSpPr>
            <a:stCxn id="1512" idx="0"/>
            <a:endCxn id="1504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7" name="Google Shape;1517;p61"/>
          <p:cNvCxnSpPr>
            <a:stCxn id="1513" idx="0"/>
            <a:endCxn id="1507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8" name="Google Shape;1518;p61"/>
          <p:cNvCxnSpPr>
            <a:stCxn id="1514" idx="0"/>
            <a:endCxn id="1508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9" name="Google Shape;1519;p61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0" name="Google Shape;1520;p61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1" name="Google Shape;1521;p61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2" name="Google Shape;1522;p61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3" name="Google Shape;1523;p61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4" name="Google Shape;1524;p61"/>
          <p:cNvCxnSpPr/>
          <p:nvPr/>
        </p:nvCxnSpPr>
        <p:spPr>
          <a:xfrm rot="10800000">
            <a:off x="83039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5" name="Google Shape;1525;p61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6" name="Google Shape;1526;p61"/>
          <p:cNvCxnSpPr/>
          <p:nvPr/>
        </p:nvCxnSpPr>
        <p:spPr>
          <a:xfrm rot="10800000">
            <a:off x="78254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7" name="Google Shape;1527;p61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8" name="Google Shape;1528;p61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9" name="Google Shape;1529;p61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0" name="Google Shape;1530;p61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1" name="Google Shape;1531;p61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2" name="Google Shape;1532;p61"/>
          <p:cNvCxnSpPr>
            <a:stCxn id="1495" idx="3"/>
            <a:endCxn id="1496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3" name="Google Shape;1533;p61"/>
          <p:cNvCxnSpPr>
            <a:stCxn id="1499" idx="3"/>
            <a:endCxn id="1500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8" name="Google Shape;1538;p62"/>
          <p:cNvCxnSpPr>
            <a:stCxn id="1539" idx="0"/>
            <a:endCxn id="1540" idx="2"/>
          </p:cNvCxnSpPr>
          <p:nvPr/>
        </p:nvCxnSpPr>
        <p:spPr>
          <a:xfrm rot="10800000">
            <a:off x="7292000" y="1676900"/>
            <a:ext cx="9144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1" name="Google Shape;1541;p62"/>
          <p:cNvCxnSpPr>
            <a:stCxn id="1542" idx="0"/>
            <a:endCxn id="1539" idx="2"/>
          </p:cNvCxnSpPr>
          <p:nvPr/>
        </p:nvCxnSpPr>
        <p:spPr>
          <a:xfrm rot="10800000">
            <a:off x="8206400" y="2438900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3" name="Google Shape;1543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Tree Per Sender</a:t>
            </a:r>
            <a:endParaRPr/>
          </a:p>
        </p:txBody>
      </p:sp>
      <p:sp>
        <p:nvSpPr>
          <p:cNvPr id="1544" name="Google Shape;1544;p62"/>
          <p:cNvSpPr txBox="1"/>
          <p:nvPr>
            <p:ph idx="1" type="body"/>
          </p:nvPr>
        </p:nvSpPr>
        <p:spPr>
          <a:xfrm>
            <a:off x="107050" y="402200"/>
            <a:ext cx="6118200" cy="24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build one tree per host.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uses the tree to send packets </a:t>
            </a:r>
            <a:r>
              <a:rPr i="1" lang="en"/>
              <a:t>to</a:t>
            </a:r>
            <a:r>
              <a:rPr lang="en"/>
              <a:t> that host (destination).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uses the tree to send packets </a:t>
            </a:r>
            <a:r>
              <a:rPr i="1" lang="en"/>
              <a:t>from</a:t>
            </a:r>
            <a:r>
              <a:rPr lang="en"/>
              <a:t> that host (sender) to everyone else.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forwarding tables need one entry per tree.</a:t>
            </a:r>
            <a:endParaRPr/>
          </a:p>
        </p:txBody>
      </p:sp>
      <p:graphicFrame>
        <p:nvGraphicFramePr>
          <p:cNvPr id="1545" name="Google Shape;1545;p62"/>
          <p:cNvGraphicFramePr/>
          <p:nvPr/>
        </p:nvGraphicFramePr>
        <p:xfrm>
          <a:off x="805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96900"/>
                <a:gridCol w="72710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Unicast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1546" name="Google Shape;1546;p62"/>
          <p:cNvGraphicFramePr/>
          <p:nvPr/>
        </p:nvGraphicFramePr>
        <p:xfrm>
          <a:off x="2711594" y="3200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741325"/>
                <a:gridCol w="885650"/>
              </a:tblGrid>
              <a:tr h="121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R6, R7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R2, R5, R6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1547" name="Google Shape;1547;p62"/>
          <p:cNvSpPr/>
          <p:nvPr/>
        </p:nvSpPr>
        <p:spPr>
          <a:xfrm>
            <a:off x="7139600" y="61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62"/>
          <p:cNvSpPr/>
          <p:nvPr/>
        </p:nvSpPr>
        <p:spPr>
          <a:xfrm>
            <a:off x="7139600" y="1372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8" name="Google Shape;1548;p62"/>
          <p:cNvCxnSpPr>
            <a:stCxn id="1540" idx="0"/>
            <a:endCxn id="1547" idx="4"/>
          </p:cNvCxnSpPr>
          <p:nvPr/>
        </p:nvCxnSpPr>
        <p:spPr>
          <a:xfrm rot="10800000">
            <a:off x="7292000" y="914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9" name="Google Shape;1549;p62"/>
          <p:cNvSpPr/>
          <p:nvPr/>
        </p:nvSpPr>
        <p:spPr>
          <a:xfrm>
            <a:off x="62252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62"/>
          <p:cNvSpPr/>
          <p:nvPr/>
        </p:nvSpPr>
        <p:spPr>
          <a:xfrm>
            <a:off x="8054000" y="2134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0" name="Google Shape;1550;p62"/>
          <p:cNvCxnSpPr>
            <a:stCxn id="1549" idx="0"/>
            <a:endCxn id="1540" idx="2"/>
          </p:cNvCxnSpPr>
          <p:nvPr/>
        </p:nvCxnSpPr>
        <p:spPr>
          <a:xfrm flipH="1" rot="10800000">
            <a:off x="6377600" y="1676900"/>
            <a:ext cx="9144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1" name="Google Shape;1551;p62"/>
          <p:cNvSpPr/>
          <p:nvPr/>
        </p:nvSpPr>
        <p:spPr>
          <a:xfrm>
            <a:off x="62252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62"/>
          <p:cNvSpPr/>
          <p:nvPr/>
        </p:nvSpPr>
        <p:spPr>
          <a:xfrm>
            <a:off x="8054000" y="2896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2" name="Google Shape;1552;p62"/>
          <p:cNvCxnSpPr>
            <a:stCxn id="1551" idx="0"/>
            <a:endCxn id="1549" idx="2"/>
          </p:cNvCxnSpPr>
          <p:nvPr/>
        </p:nvCxnSpPr>
        <p:spPr>
          <a:xfrm rot="10800000">
            <a:off x="6377600" y="2438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3" name="Google Shape;1553;p62"/>
          <p:cNvSpPr/>
          <p:nvPr/>
        </p:nvSpPr>
        <p:spPr>
          <a:xfrm>
            <a:off x="57680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4" name="Google Shape;1554;p62"/>
          <p:cNvSpPr/>
          <p:nvPr/>
        </p:nvSpPr>
        <p:spPr>
          <a:xfrm>
            <a:off x="66824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5" name="Google Shape;1555;p62"/>
          <p:cNvCxnSpPr>
            <a:stCxn id="1553" idx="0"/>
            <a:endCxn id="1551" idx="2"/>
          </p:cNvCxnSpPr>
          <p:nvPr/>
        </p:nvCxnSpPr>
        <p:spPr>
          <a:xfrm flipH="1" rot="10800000">
            <a:off x="5920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6" name="Google Shape;1556;p62"/>
          <p:cNvCxnSpPr>
            <a:stCxn id="1554" idx="0"/>
            <a:endCxn id="1551" idx="2"/>
          </p:cNvCxnSpPr>
          <p:nvPr/>
        </p:nvCxnSpPr>
        <p:spPr>
          <a:xfrm rot="10800000">
            <a:off x="63776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7" name="Google Shape;1557;p62"/>
          <p:cNvSpPr/>
          <p:nvPr/>
        </p:nvSpPr>
        <p:spPr>
          <a:xfrm>
            <a:off x="75968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8" name="Google Shape;1558;p62"/>
          <p:cNvSpPr/>
          <p:nvPr/>
        </p:nvSpPr>
        <p:spPr>
          <a:xfrm>
            <a:off x="8511200" y="36581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9" name="Google Shape;1559;p62"/>
          <p:cNvCxnSpPr>
            <a:stCxn id="1557" idx="0"/>
            <a:endCxn id="1542" idx="2"/>
          </p:cNvCxnSpPr>
          <p:nvPr/>
        </p:nvCxnSpPr>
        <p:spPr>
          <a:xfrm flipH="1" rot="10800000">
            <a:off x="77492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62"/>
          <p:cNvCxnSpPr>
            <a:stCxn id="1558" idx="0"/>
            <a:endCxn id="1542" idx="2"/>
          </p:cNvCxnSpPr>
          <p:nvPr/>
        </p:nvCxnSpPr>
        <p:spPr>
          <a:xfrm rot="10800000">
            <a:off x="8206400" y="3200900"/>
            <a:ext cx="4572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1" name="Google Shape;1561;p62"/>
          <p:cNvSpPr/>
          <p:nvPr/>
        </p:nvSpPr>
        <p:spPr>
          <a:xfrm>
            <a:off x="57680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2" name="Google Shape;1562;p62"/>
          <p:cNvSpPr/>
          <p:nvPr/>
        </p:nvSpPr>
        <p:spPr>
          <a:xfrm>
            <a:off x="66824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3" name="Google Shape;1563;p62"/>
          <p:cNvSpPr/>
          <p:nvPr/>
        </p:nvSpPr>
        <p:spPr>
          <a:xfrm>
            <a:off x="75968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4" name="Google Shape;1564;p62"/>
          <p:cNvSpPr/>
          <p:nvPr/>
        </p:nvSpPr>
        <p:spPr>
          <a:xfrm>
            <a:off x="8511200" y="44201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65" name="Google Shape;1565;p62"/>
          <p:cNvCxnSpPr>
            <a:stCxn id="1561" idx="0"/>
            <a:endCxn id="1553" idx="2"/>
          </p:cNvCxnSpPr>
          <p:nvPr/>
        </p:nvCxnSpPr>
        <p:spPr>
          <a:xfrm rot="10800000">
            <a:off x="59204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6" name="Google Shape;1566;p62"/>
          <p:cNvCxnSpPr>
            <a:stCxn id="1562" idx="0"/>
            <a:endCxn id="1554" idx="2"/>
          </p:cNvCxnSpPr>
          <p:nvPr/>
        </p:nvCxnSpPr>
        <p:spPr>
          <a:xfrm rot="10800000">
            <a:off x="68348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7" name="Google Shape;1567;p62"/>
          <p:cNvCxnSpPr>
            <a:stCxn id="1563" idx="0"/>
            <a:endCxn id="1557" idx="2"/>
          </p:cNvCxnSpPr>
          <p:nvPr/>
        </p:nvCxnSpPr>
        <p:spPr>
          <a:xfrm rot="10800000">
            <a:off x="77492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8" name="Google Shape;1568;p62"/>
          <p:cNvCxnSpPr>
            <a:stCxn id="1564" idx="0"/>
            <a:endCxn id="1558" idx="2"/>
          </p:cNvCxnSpPr>
          <p:nvPr/>
        </p:nvCxnSpPr>
        <p:spPr>
          <a:xfrm rot="10800000">
            <a:off x="8663600" y="3962900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9" name="Google Shape;1569;p62"/>
          <p:cNvCxnSpPr/>
          <p:nvPr/>
        </p:nvCxnSpPr>
        <p:spPr>
          <a:xfrm flipH="1" rot="10800000">
            <a:off x="58442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0" name="Google Shape;1570;p62"/>
          <p:cNvCxnSpPr/>
          <p:nvPr/>
        </p:nvCxnSpPr>
        <p:spPr>
          <a:xfrm rot="10800000">
            <a:off x="66908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62"/>
          <p:cNvCxnSpPr/>
          <p:nvPr/>
        </p:nvCxnSpPr>
        <p:spPr>
          <a:xfrm flipH="1" rot="10800000">
            <a:off x="76730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2" name="Google Shape;1572;p62"/>
          <p:cNvCxnSpPr/>
          <p:nvPr/>
        </p:nvCxnSpPr>
        <p:spPr>
          <a:xfrm rot="10800000">
            <a:off x="8519600" y="3361700"/>
            <a:ext cx="2202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3" name="Google Shape;1573;p62"/>
          <p:cNvCxnSpPr/>
          <p:nvPr/>
        </p:nvCxnSpPr>
        <p:spPr>
          <a:xfrm rot="10800000">
            <a:off x="6475175" y="2577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4" name="Google Shape;1574;p62"/>
          <p:cNvCxnSpPr/>
          <p:nvPr/>
        </p:nvCxnSpPr>
        <p:spPr>
          <a:xfrm flipH="1" rot="10800000">
            <a:off x="6377600" y="1858340"/>
            <a:ext cx="347400" cy="172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62"/>
          <p:cNvCxnSpPr/>
          <p:nvPr/>
        </p:nvCxnSpPr>
        <p:spPr>
          <a:xfrm rot="10800000">
            <a:off x="7389575" y="1053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6" name="Google Shape;1576;p62"/>
          <p:cNvCxnSpPr/>
          <p:nvPr/>
        </p:nvCxnSpPr>
        <p:spPr>
          <a:xfrm rot="10800000">
            <a:off x="60179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7" name="Google Shape;1577;p62"/>
          <p:cNvCxnSpPr/>
          <p:nvPr/>
        </p:nvCxnSpPr>
        <p:spPr>
          <a:xfrm rot="10800000">
            <a:off x="69323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62"/>
          <p:cNvCxnSpPr/>
          <p:nvPr/>
        </p:nvCxnSpPr>
        <p:spPr>
          <a:xfrm rot="10800000">
            <a:off x="78467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79" name="Google Shape;1579;p62"/>
          <p:cNvCxnSpPr/>
          <p:nvPr/>
        </p:nvCxnSpPr>
        <p:spPr>
          <a:xfrm rot="10800000">
            <a:off x="8761175" y="410195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80" name="Google Shape;1580;p62"/>
          <p:cNvCxnSpPr>
            <a:stCxn id="1549" idx="3"/>
            <a:endCxn id="1539" idx="1"/>
          </p:cNvCxnSpPr>
          <p:nvPr/>
        </p:nvCxnSpPr>
        <p:spPr>
          <a:xfrm>
            <a:off x="6530000" y="2286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1" name="Google Shape;1581;p62"/>
          <p:cNvCxnSpPr>
            <a:stCxn id="1551" idx="3"/>
            <a:endCxn id="1542" idx="1"/>
          </p:cNvCxnSpPr>
          <p:nvPr/>
        </p:nvCxnSpPr>
        <p:spPr>
          <a:xfrm>
            <a:off x="6530000" y="3048500"/>
            <a:ext cx="1524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62"/>
          <p:cNvCxnSpPr/>
          <p:nvPr/>
        </p:nvCxnSpPr>
        <p:spPr>
          <a:xfrm>
            <a:off x="6729518" y="28412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83" name="Google Shape;1583;p62"/>
          <p:cNvCxnSpPr/>
          <p:nvPr/>
        </p:nvCxnSpPr>
        <p:spPr>
          <a:xfrm>
            <a:off x="6729518" y="2079200"/>
            <a:ext cx="0" cy="279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584" name="Google Shape;1584;p62"/>
          <p:cNvSpPr txBox="1"/>
          <p:nvPr/>
        </p:nvSpPr>
        <p:spPr>
          <a:xfrm>
            <a:off x="2847975" y="4360100"/>
            <a:ext cx="25425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The tree rooted at 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(Looks less like a tree, but it's still a tree.)</a:t>
            </a:r>
            <a:endParaRPr sz="1000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5" name="Google Shape;1585;p62"/>
          <p:cNvCxnSpPr/>
          <p:nvPr/>
        </p:nvCxnSpPr>
        <p:spPr>
          <a:xfrm flipH="1" rot="10800000">
            <a:off x="4720575" y="4124900"/>
            <a:ext cx="577500" cy="33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Reverse Path Multicasting (RPM): Pruning</a:t>
            </a:r>
            <a:endParaRPr/>
          </a:p>
        </p:txBody>
      </p:sp>
      <p:sp>
        <p:nvSpPr>
          <p:cNvPr id="1591" name="Google Shape;1591;p6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1592" name="Google Shape;1592;p6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RPM (Multicasting): Pruning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64"/>
          <p:cNvSpPr txBox="1"/>
          <p:nvPr>
            <p:ph idx="1" type="body"/>
          </p:nvPr>
        </p:nvSpPr>
        <p:spPr>
          <a:xfrm>
            <a:off x="107050" y="402200"/>
            <a:ext cx="8909700" cy="25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flooding? Wastes bandwidth in two ways: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AutoNum type="arabicPeriod"/>
            </a:pPr>
            <a:r>
              <a:rPr lang="en">
                <a:solidFill>
                  <a:srgbClr val="B7B7B7"/>
                </a:solidFill>
              </a:rPr>
              <a:t>Packet is sent along multiple paths to the same router.</a:t>
            </a:r>
            <a:endParaRPr>
              <a:solidFill>
                <a:srgbClr val="B7B7B7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●"/>
            </a:pPr>
            <a:r>
              <a:rPr lang="en">
                <a:solidFill>
                  <a:srgbClr val="B7B7B7"/>
                </a:solidFill>
              </a:rPr>
              <a:t>Solution: RPB: Send packets along a spanning tree rooted at the sender.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eriod"/>
            </a:pPr>
            <a:r>
              <a:rPr lang="en">
                <a:solidFill>
                  <a:srgbClr val="000000"/>
                </a:solidFill>
              </a:rPr>
              <a:t>Packet is sent to non-members.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Solution: RPM: Prune branches of the tree with no members.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Fixing these 2 problems will result in DVMRP.</a:t>
            </a:r>
            <a:endParaRPr/>
          </a:p>
        </p:txBody>
      </p:sp>
      <p:sp>
        <p:nvSpPr>
          <p:cNvPr id="1598" name="Google Shape;1598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Problem: Non-Members Receiving Packet</a:t>
            </a:r>
            <a:endParaRPr/>
          </a:p>
        </p:txBody>
      </p:sp>
      <p:sp>
        <p:nvSpPr>
          <p:cNvPr id="1599" name="Google Shape;1599;p64"/>
          <p:cNvSpPr/>
          <p:nvPr/>
        </p:nvSpPr>
        <p:spPr>
          <a:xfrm>
            <a:off x="176900" y="1577525"/>
            <a:ext cx="7166400" cy="653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65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605" name="Google Shape;1605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606" name="Google Shape;1606;p65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7" name="Google Shape;1607;p65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08" name="Google Shape;1608;p65"/>
          <p:cNvCxnSpPr>
            <a:stCxn id="1607" idx="4"/>
            <a:endCxn id="16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9" name="Google Shape;1609;p65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0" name="Google Shape;1610;p65"/>
          <p:cNvCxnSpPr>
            <a:stCxn id="1607" idx="4"/>
            <a:endCxn id="160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1" name="Google Shape;1611;p65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2" name="Google Shape;1612;p65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3" name="Google Shape;1613;p65"/>
          <p:cNvCxnSpPr>
            <a:stCxn id="1606" idx="2"/>
            <a:endCxn id="161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4" name="Google Shape;1614;p65"/>
          <p:cNvCxnSpPr>
            <a:stCxn id="1606" idx="2"/>
            <a:endCxn id="161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5" name="Google Shape;1615;p65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6" name="Google Shape;1616;p65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7" name="Google Shape;1617;p65"/>
          <p:cNvCxnSpPr>
            <a:stCxn id="1609" idx="2"/>
            <a:endCxn id="161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65"/>
          <p:cNvCxnSpPr>
            <a:stCxn id="1609" idx="2"/>
            <a:endCxn id="161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9" name="Google Shape;1619;p65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0" name="Google Shape;1620;p65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1" name="Google Shape;1621;p65"/>
          <p:cNvCxnSpPr>
            <a:stCxn id="1612" idx="2"/>
            <a:endCxn id="16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65"/>
          <p:cNvCxnSpPr>
            <a:stCxn id="1612" idx="2"/>
            <a:endCxn id="16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65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4" name="Google Shape;1624;p65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5" name="Google Shape;1625;p65"/>
          <p:cNvCxnSpPr>
            <a:stCxn id="1611" idx="2"/>
            <a:endCxn id="162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65"/>
          <p:cNvCxnSpPr>
            <a:stCxn id="1611" idx="2"/>
            <a:endCxn id="162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65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65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9" name="Google Shape;1629;p65"/>
          <p:cNvCxnSpPr>
            <a:stCxn id="1616" idx="2"/>
            <a:endCxn id="162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65"/>
          <p:cNvCxnSpPr>
            <a:stCxn id="1616" idx="2"/>
            <a:endCxn id="162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65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65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3" name="Google Shape;1633;p65"/>
          <p:cNvCxnSpPr>
            <a:stCxn id="1615" idx="2"/>
            <a:endCxn id="163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4" name="Google Shape;1634;p65"/>
          <p:cNvCxnSpPr>
            <a:stCxn id="1615" idx="2"/>
            <a:endCxn id="1632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5" name="Google Shape;1635;p65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6" name="Google Shape;1636;p65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65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38" name="Google Shape;1638;p65"/>
          <p:cNvCxnSpPr>
            <a:stCxn id="1619" idx="2"/>
            <a:endCxn id="16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9" name="Google Shape;1639;p65"/>
          <p:cNvCxnSpPr>
            <a:stCxn id="1619" idx="2"/>
            <a:endCxn id="16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0" name="Google Shape;1640;p65"/>
          <p:cNvCxnSpPr>
            <a:stCxn id="1619" idx="2"/>
            <a:endCxn id="16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1" name="Google Shape;1641;p65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65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3" name="Google Shape;1643;p65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4" name="Google Shape;1644;p65"/>
          <p:cNvCxnSpPr>
            <a:stCxn id="1620" idx="2"/>
            <a:endCxn id="16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5" name="Google Shape;1645;p65"/>
          <p:cNvCxnSpPr>
            <a:stCxn id="1620" idx="2"/>
            <a:endCxn id="16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6" name="Google Shape;1646;p65"/>
          <p:cNvCxnSpPr>
            <a:stCxn id="1620" idx="2"/>
            <a:endCxn id="16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7" name="Google Shape;1647;p65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8" name="Google Shape;1648;p65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65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0" name="Google Shape;1650;p65"/>
          <p:cNvCxnSpPr>
            <a:stCxn id="1623" idx="2"/>
            <a:endCxn id="164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65"/>
          <p:cNvCxnSpPr>
            <a:stCxn id="1623" idx="2"/>
            <a:endCxn id="164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65"/>
          <p:cNvCxnSpPr>
            <a:stCxn id="1623" idx="2"/>
            <a:endCxn id="164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3" name="Google Shape;1653;p65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p65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65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6" name="Google Shape;1656;p65"/>
          <p:cNvCxnSpPr>
            <a:stCxn id="1624" idx="2"/>
            <a:endCxn id="165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7" name="Google Shape;1657;p65"/>
          <p:cNvCxnSpPr>
            <a:stCxn id="1624" idx="2"/>
            <a:endCxn id="165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65"/>
          <p:cNvCxnSpPr>
            <a:stCxn id="1624" idx="2"/>
            <a:endCxn id="165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9" name="Google Shape;1659;p65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0" name="Google Shape;1660;p65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1" name="Google Shape;1661;p65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2" name="Google Shape;1662;p65"/>
          <p:cNvCxnSpPr>
            <a:stCxn id="1627" idx="2"/>
            <a:endCxn id="166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3" name="Google Shape;1663;p65"/>
          <p:cNvCxnSpPr>
            <a:stCxn id="1627" idx="2"/>
            <a:endCxn id="165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4" name="Google Shape;1664;p65"/>
          <p:cNvCxnSpPr>
            <a:stCxn id="1627" idx="2"/>
            <a:endCxn id="166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65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65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65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8" name="Google Shape;1668;p65"/>
          <p:cNvCxnSpPr>
            <a:stCxn id="1628" idx="2"/>
            <a:endCxn id="166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9" name="Google Shape;1669;p65"/>
          <p:cNvCxnSpPr>
            <a:stCxn id="1628" idx="2"/>
            <a:endCxn id="166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0" name="Google Shape;1670;p65"/>
          <p:cNvCxnSpPr>
            <a:stCxn id="1628" idx="2"/>
            <a:endCxn id="166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1" name="Google Shape;1671;p65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2" name="Google Shape;1672;p65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65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74" name="Google Shape;1674;p65"/>
          <p:cNvCxnSpPr>
            <a:stCxn id="1631" idx="2"/>
            <a:endCxn id="167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5" name="Google Shape;1675;p65"/>
          <p:cNvCxnSpPr>
            <a:stCxn id="1631" idx="2"/>
            <a:endCxn id="167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6" name="Google Shape;1676;p65"/>
          <p:cNvCxnSpPr>
            <a:stCxn id="1631" idx="2"/>
            <a:endCxn id="167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7" name="Google Shape;1677;p65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65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65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0" name="Google Shape;1680;p65"/>
          <p:cNvCxnSpPr>
            <a:stCxn id="1632" idx="2"/>
            <a:endCxn id="167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65"/>
          <p:cNvCxnSpPr>
            <a:stCxn id="1632" idx="2"/>
            <a:endCxn id="167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65"/>
          <p:cNvCxnSpPr>
            <a:stCxn id="1632" idx="2"/>
            <a:endCxn id="167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6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4" name="Google Shape;1684;p65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5" name="Google Shape;1685;p6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6" name="Google Shape;1686;p65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7" name="Google Shape;1687;p65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88" name="Google Shape;1688;p65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89" name="Google Shape;1689;p65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0" name="Google Shape;1690;p65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1" name="Google Shape;1691;p65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2" name="Google Shape;1692;p65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3" name="Google Shape;1693;p65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4" name="Google Shape;1694;p65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5" name="Google Shape;1695;p65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6" name="Google Shape;1696;p65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7" name="Google Shape;1697;p65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8" name="Google Shape;1698;p65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99" name="Google Shape;1699;p65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00" name="Google Shape;1700;p65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66"/>
          <p:cNvSpPr txBox="1"/>
          <p:nvPr/>
        </p:nvSpPr>
        <p:spPr>
          <a:xfrm>
            <a:off x="237700" y="3298500"/>
            <a:ext cx="19797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don't need to send the packet to non-member hosts.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6" name="Google Shape;1706;p66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707" name="Google Shape;1707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708" name="Google Shape;1708;p66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66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0" name="Google Shape;1710;p66"/>
          <p:cNvCxnSpPr>
            <a:stCxn id="1709" idx="4"/>
            <a:endCxn id="1708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1" name="Google Shape;1711;p66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2" name="Google Shape;1712;p66"/>
          <p:cNvCxnSpPr>
            <a:stCxn id="1709" idx="4"/>
            <a:endCxn id="1711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3" name="Google Shape;1713;p66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66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5" name="Google Shape;1715;p66"/>
          <p:cNvCxnSpPr>
            <a:stCxn id="1708" idx="2"/>
            <a:endCxn id="1714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6" name="Google Shape;1716;p66"/>
          <p:cNvCxnSpPr>
            <a:stCxn id="1708" idx="2"/>
            <a:endCxn id="1713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7" name="Google Shape;1717;p66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66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9" name="Google Shape;1719;p66"/>
          <p:cNvCxnSpPr>
            <a:stCxn id="1711" idx="2"/>
            <a:endCxn id="171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0" name="Google Shape;1720;p66"/>
          <p:cNvCxnSpPr>
            <a:stCxn id="1711" idx="2"/>
            <a:endCxn id="1717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66"/>
          <p:cNvCxnSpPr>
            <a:stCxn id="1714" idx="2"/>
            <a:endCxn id="17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3" name="Google Shape;1723;p66"/>
          <p:cNvCxnSpPr>
            <a:stCxn id="1714" idx="2"/>
            <a:endCxn id="17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5" name="Google Shape;1725;p66"/>
          <p:cNvCxnSpPr>
            <a:stCxn id="1713" idx="2"/>
            <a:endCxn id="172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7" name="Google Shape;1727;p66"/>
          <p:cNvCxnSpPr>
            <a:stCxn id="1713" idx="2"/>
            <a:endCxn id="172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9" name="Google Shape;1729;p66"/>
          <p:cNvCxnSpPr>
            <a:stCxn id="1718" idx="2"/>
            <a:endCxn id="173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1" name="Google Shape;1731;p66"/>
          <p:cNvCxnSpPr>
            <a:stCxn id="1718" idx="2"/>
            <a:endCxn id="1732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66"/>
          <p:cNvCxnSpPr>
            <a:stCxn id="1717" idx="2"/>
            <a:endCxn id="173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66"/>
          <p:cNvCxnSpPr>
            <a:stCxn id="1717" idx="2"/>
            <a:endCxn id="1736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7" name="Google Shape;1737;p66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8" name="Google Shape;1738;p66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9" name="Google Shape;1739;p66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0" name="Google Shape;1740;p66"/>
          <p:cNvCxnSpPr>
            <a:stCxn id="1722" idx="2"/>
            <a:endCxn id="17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1" name="Google Shape;1741;p66"/>
          <p:cNvCxnSpPr>
            <a:stCxn id="1722" idx="2"/>
            <a:endCxn id="1737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2" name="Google Shape;1742;p66"/>
          <p:cNvCxnSpPr>
            <a:stCxn id="1722" idx="2"/>
            <a:endCxn id="1739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3" name="Google Shape;1743;p66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4" name="Google Shape;1744;p66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5" name="Google Shape;1745;p66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6" name="Google Shape;1746;p66"/>
          <p:cNvCxnSpPr>
            <a:stCxn id="1724" idx="2"/>
            <a:endCxn id="17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66"/>
          <p:cNvCxnSpPr>
            <a:stCxn id="1724" idx="2"/>
            <a:endCxn id="1743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66"/>
          <p:cNvCxnSpPr>
            <a:stCxn id="1724" idx="2"/>
            <a:endCxn id="1745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9" name="Google Shape;1749;p66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0" name="Google Shape;1750;p66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p66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2" name="Google Shape;1752;p66"/>
          <p:cNvCxnSpPr>
            <a:stCxn id="1726" idx="2"/>
            <a:endCxn id="175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3" name="Google Shape;1753;p66"/>
          <p:cNvCxnSpPr>
            <a:stCxn id="1726" idx="2"/>
            <a:endCxn id="174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4" name="Google Shape;1754;p66"/>
          <p:cNvCxnSpPr>
            <a:stCxn id="1726" idx="2"/>
            <a:endCxn id="175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5" name="Google Shape;1755;p66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66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7" name="Google Shape;1757;p66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8" name="Google Shape;1758;p66"/>
          <p:cNvCxnSpPr>
            <a:stCxn id="1728" idx="2"/>
            <a:endCxn id="175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66"/>
          <p:cNvCxnSpPr>
            <a:stCxn id="1728" idx="2"/>
            <a:endCxn id="175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0" name="Google Shape;1760;p66"/>
          <p:cNvCxnSpPr>
            <a:stCxn id="1728" idx="2"/>
            <a:endCxn id="175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1" name="Google Shape;1761;p66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2" name="Google Shape;1762;p66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3" name="Google Shape;1763;p66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4" name="Google Shape;1764;p66"/>
          <p:cNvCxnSpPr>
            <a:stCxn id="1730" idx="2"/>
            <a:endCxn id="176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5" name="Google Shape;1765;p66"/>
          <p:cNvCxnSpPr>
            <a:stCxn id="1730" idx="2"/>
            <a:endCxn id="176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66"/>
          <p:cNvCxnSpPr>
            <a:stCxn id="1730" idx="2"/>
            <a:endCxn id="176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7" name="Google Shape;1767;p66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8" name="Google Shape;1768;p66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9" name="Google Shape;1769;p66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0" name="Google Shape;1770;p66"/>
          <p:cNvCxnSpPr>
            <a:stCxn id="1732" idx="2"/>
            <a:endCxn id="176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66"/>
          <p:cNvCxnSpPr>
            <a:stCxn id="1732" idx="2"/>
            <a:endCxn id="176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2" name="Google Shape;1772;p66"/>
          <p:cNvCxnSpPr>
            <a:stCxn id="1732" idx="2"/>
            <a:endCxn id="176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3" name="Google Shape;1773;p66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66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66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66"/>
          <p:cNvCxnSpPr>
            <a:stCxn id="1734" idx="2"/>
            <a:endCxn id="177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66"/>
          <p:cNvCxnSpPr>
            <a:stCxn id="1734" idx="2"/>
            <a:endCxn id="177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8" name="Google Shape;1778;p66"/>
          <p:cNvCxnSpPr>
            <a:stCxn id="1734" idx="2"/>
            <a:endCxn id="177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9" name="Google Shape;1779;p66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0" name="Google Shape;1780;p66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1" name="Google Shape;1781;p66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2" name="Google Shape;1782;p66"/>
          <p:cNvCxnSpPr>
            <a:stCxn id="1736" idx="2"/>
            <a:endCxn id="1780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66"/>
          <p:cNvCxnSpPr>
            <a:stCxn id="1736" idx="2"/>
            <a:endCxn id="1779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4" name="Google Shape;1784;p66"/>
          <p:cNvCxnSpPr>
            <a:stCxn id="1736" idx="2"/>
            <a:endCxn id="1781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5" name="Google Shape;1785;p6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6" name="Google Shape;1786;p66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7" name="Google Shape;1787;p6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66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9" name="Google Shape;1789;p66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0" name="Google Shape;1790;p66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1" name="Google Shape;1791;p66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2" name="Google Shape;1792;p66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3" name="Google Shape;1793;p66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4" name="Google Shape;1794;p66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5" name="Google Shape;1795;p66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6" name="Google Shape;1796;p66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7" name="Google Shape;1797;p66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8" name="Google Shape;1798;p66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99" name="Google Shape;1799;p66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0" name="Google Shape;1800;p66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1" name="Google Shape;1801;p66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02" name="Google Shape;1802;p66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22" name="Google Shape;1722;p66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66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6" name="Google Shape;1726;p66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8" name="Google Shape;1728;p66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0" name="Google Shape;1730;p66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2" name="Google Shape;1732;p66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66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6" name="Google Shape;1736;p66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7" name="Google Shape;1807;p67"/>
          <p:cNvCxnSpPr>
            <a:stCxn id="1808" idx="2"/>
            <a:endCxn id="180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0" name="Google Shape;1810;p67"/>
          <p:cNvCxnSpPr>
            <a:stCxn id="1808" idx="2"/>
            <a:endCxn id="1811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2" name="Google Shape;1812;p67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813" name="Google Shape;1813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814" name="Google Shape;1814;p67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5" name="Google Shape;1815;p67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6" name="Google Shape;1816;p67"/>
          <p:cNvCxnSpPr>
            <a:stCxn id="1815" idx="4"/>
            <a:endCxn id="181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7" name="Google Shape;1817;p67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8" name="Google Shape;1818;p67"/>
          <p:cNvCxnSpPr>
            <a:stCxn id="1815" idx="4"/>
            <a:endCxn id="181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9" name="Google Shape;1819;p67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8" name="Google Shape;1808;p67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0" name="Google Shape;1820;p67"/>
          <p:cNvCxnSpPr>
            <a:stCxn id="1814" idx="2"/>
            <a:endCxn id="1808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1" name="Google Shape;1821;p67"/>
          <p:cNvCxnSpPr>
            <a:stCxn id="1814" idx="2"/>
            <a:endCxn id="181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2" name="Google Shape;1822;p67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67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67"/>
          <p:cNvCxnSpPr>
            <a:stCxn id="1817" idx="2"/>
            <a:endCxn id="1823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5" name="Google Shape;1825;p67"/>
          <p:cNvCxnSpPr>
            <a:stCxn id="1817" idx="2"/>
            <a:endCxn id="1822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9" name="Google Shape;1809;p67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1" name="Google Shape;1811;p67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67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67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8" name="Google Shape;1828;p67"/>
          <p:cNvCxnSpPr>
            <a:stCxn id="1819" idx="2"/>
            <a:endCxn id="182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9" name="Google Shape;1829;p67"/>
          <p:cNvCxnSpPr>
            <a:stCxn id="1819" idx="2"/>
            <a:endCxn id="1827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0" name="Google Shape;1830;p67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1" name="Google Shape;1831;p67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2" name="Google Shape;1832;p67"/>
          <p:cNvCxnSpPr>
            <a:stCxn id="1823" idx="2"/>
            <a:endCxn id="183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3" name="Google Shape;1833;p67"/>
          <p:cNvCxnSpPr>
            <a:stCxn id="1823" idx="2"/>
            <a:endCxn id="1831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4" name="Google Shape;1834;p67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5" name="Google Shape;1835;p67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6" name="Google Shape;1836;p67"/>
          <p:cNvCxnSpPr>
            <a:stCxn id="1822" idx="2"/>
            <a:endCxn id="183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67"/>
          <p:cNvCxnSpPr>
            <a:stCxn id="1822" idx="2"/>
            <a:endCxn id="1835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67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9" name="Google Shape;1839;p67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0" name="Google Shape;1840;p67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1" name="Google Shape;1841;p67"/>
          <p:cNvCxnSpPr>
            <a:stCxn id="1809" idx="2"/>
            <a:endCxn id="1839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2" name="Google Shape;1842;p67"/>
          <p:cNvCxnSpPr>
            <a:stCxn id="1809" idx="2"/>
            <a:endCxn id="1838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3" name="Google Shape;1843;p67"/>
          <p:cNvCxnSpPr>
            <a:stCxn id="1809" idx="2"/>
            <a:endCxn id="1840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4" name="Google Shape;1844;p67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5" name="Google Shape;1845;p67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6" name="Google Shape;1846;p67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7" name="Google Shape;1847;p67"/>
          <p:cNvCxnSpPr>
            <a:stCxn id="1811" idx="2"/>
            <a:endCxn id="1845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67"/>
          <p:cNvCxnSpPr>
            <a:stCxn id="1811" idx="2"/>
            <a:endCxn id="1844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9" name="Google Shape;1849;p67"/>
          <p:cNvCxnSpPr>
            <a:stCxn id="1811" idx="2"/>
            <a:endCxn id="1846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0" name="Google Shape;1850;p67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1" name="Google Shape;1851;p67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67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3" name="Google Shape;1853;p67"/>
          <p:cNvCxnSpPr>
            <a:stCxn id="1826" idx="2"/>
            <a:endCxn id="1851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4" name="Google Shape;1854;p67"/>
          <p:cNvCxnSpPr>
            <a:stCxn id="1826" idx="2"/>
            <a:endCxn id="1850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5" name="Google Shape;1855;p67"/>
          <p:cNvCxnSpPr>
            <a:stCxn id="1826" idx="2"/>
            <a:endCxn id="1852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6" name="Google Shape;1856;p67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7" name="Google Shape;1857;p67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8" name="Google Shape;1858;p67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9" name="Google Shape;1859;p67"/>
          <p:cNvCxnSpPr>
            <a:stCxn id="1827" idx="2"/>
            <a:endCxn id="1857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0" name="Google Shape;1860;p67"/>
          <p:cNvCxnSpPr>
            <a:stCxn id="1827" idx="2"/>
            <a:endCxn id="1856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1" name="Google Shape;1861;p67"/>
          <p:cNvCxnSpPr>
            <a:stCxn id="1827" idx="2"/>
            <a:endCxn id="1858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2" name="Google Shape;1862;p67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3" name="Google Shape;1863;p67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4" name="Google Shape;1864;p67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5" name="Google Shape;1865;p67"/>
          <p:cNvCxnSpPr>
            <a:stCxn id="1830" idx="2"/>
            <a:endCxn id="1863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67"/>
          <p:cNvCxnSpPr>
            <a:stCxn id="1830" idx="2"/>
            <a:endCxn id="1862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67"/>
          <p:cNvCxnSpPr>
            <a:stCxn id="1830" idx="2"/>
            <a:endCxn id="1864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8" name="Google Shape;1868;p67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9" name="Google Shape;1869;p67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0" name="Google Shape;1870;p67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1" name="Google Shape;1871;p67"/>
          <p:cNvCxnSpPr>
            <a:stCxn id="1831" idx="2"/>
            <a:endCxn id="1869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67"/>
          <p:cNvCxnSpPr>
            <a:stCxn id="1831" idx="2"/>
            <a:endCxn id="1868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3" name="Google Shape;1873;p67"/>
          <p:cNvCxnSpPr>
            <a:stCxn id="1831" idx="2"/>
            <a:endCxn id="1870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4" name="Google Shape;1874;p67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5" name="Google Shape;1875;p67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6" name="Google Shape;1876;p67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77" name="Google Shape;1877;p67"/>
          <p:cNvCxnSpPr>
            <a:stCxn id="1834" idx="2"/>
            <a:endCxn id="1875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67"/>
          <p:cNvCxnSpPr>
            <a:stCxn id="1834" idx="2"/>
            <a:endCxn id="1874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67"/>
          <p:cNvCxnSpPr>
            <a:stCxn id="1834" idx="2"/>
            <a:endCxn id="1876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0" name="Google Shape;1880;p67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1" name="Google Shape;1881;p67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2" name="Google Shape;1882;p67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3" name="Google Shape;1883;p67"/>
          <p:cNvCxnSpPr>
            <a:stCxn id="1835" idx="2"/>
            <a:endCxn id="1881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4" name="Google Shape;1884;p67"/>
          <p:cNvCxnSpPr>
            <a:stCxn id="1835" idx="2"/>
            <a:endCxn id="1880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5" name="Google Shape;1885;p67"/>
          <p:cNvCxnSpPr>
            <a:stCxn id="1835" idx="2"/>
            <a:endCxn id="1882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6" name="Google Shape;1886;p67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7" name="Google Shape;1887;p67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8" name="Google Shape;1888;p67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9" name="Google Shape;1889;p67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90" name="Google Shape;1890;p67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1" name="Google Shape;1891;p67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2" name="Google Shape;1892;p67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3" name="Google Shape;1893;p67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4" name="Google Shape;1894;p67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5" name="Google Shape;1895;p67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6" name="Google Shape;1896;p67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7" name="Google Shape;1897;p67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8" name="Google Shape;1898;p67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899" name="Google Shape;1899;p67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900" name="Google Shape;1900;p67"/>
          <p:cNvSpPr txBox="1"/>
          <p:nvPr/>
        </p:nvSpPr>
        <p:spPr>
          <a:xfrm>
            <a:off x="237700" y="3298500"/>
            <a:ext cx="19797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with no children as members can also be pruned from the tree.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5" name="Google Shape;1905;p68"/>
          <p:cNvCxnSpPr>
            <a:stCxn id="1906" idx="2"/>
            <a:endCxn id="1907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8" name="Google Shape;1908;p68"/>
          <p:cNvSpPr txBox="1"/>
          <p:nvPr>
            <p:ph idx="1" type="body"/>
          </p:nvPr>
        </p:nvSpPr>
        <p:spPr>
          <a:xfrm>
            <a:off x="107050" y="402200"/>
            <a:ext cx="8909700" cy="13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Path Broadcasting builds a tree from the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not all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Goal: </a:t>
            </a:r>
            <a:r>
              <a:rPr b="1" lang="en"/>
              <a:t>Prune</a:t>
            </a:r>
            <a:r>
              <a:rPr lang="en"/>
              <a:t> the tree to remove non-members.</a:t>
            </a:r>
            <a:endParaRPr/>
          </a:p>
        </p:txBody>
      </p:sp>
      <p:sp>
        <p:nvSpPr>
          <p:cNvPr id="1909" name="Google Shape;190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Non-Members Receiving Packet</a:t>
            </a:r>
            <a:endParaRPr/>
          </a:p>
        </p:txBody>
      </p:sp>
      <p:sp>
        <p:nvSpPr>
          <p:cNvPr id="1906" name="Google Shape;1906;p68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0" name="Google Shape;1910;p68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1" name="Google Shape;1911;p68"/>
          <p:cNvCxnSpPr>
            <a:stCxn id="1910" idx="4"/>
            <a:endCxn id="19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2" name="Google Shape;1912;p68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3" name="Google Shape;1913;p68"/>
          <p:cNvCxnSpPr>
            <a:stCxn id="1910" idx="4"/>
            <a:endCxn id="1912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4" name="Google Shape;1914;p68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7" name="Google Shape;1907;p68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5" name="Google Shape;1915;p68"/>
          <p:cNvCxnSpPr>
            <a:stCxn id="1906" idx="2"/>
            <a:endCxn id="1914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68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7" name="Google Shape;1917;p68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18" name="Google Shape;1918;p68"/>
          <p:cNvCxnSpPr>
            <a:stCxn id="1912" idx="2"/>
            <a:endCxn id="1917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9" name="Google Shape;1919;p68"/>
          <p:cNvCxnSpPr>
            <a:stCxn id="1912" idx="2"/>
            <a:endCxn id="191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0" name="Google Shape;1920;p68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1" name="Google Shape;1921;p68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2" name="Google Shape;1922;p68"/>
          <p:cNvCxnSpPr>
            <a:stCxn id="1907" idx="2"/>
            <a:endCxn id="19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68"/>
          <p:cNvCxnSpPr>
            <a:stCxn id="1907" idx="2"/>
            <a:endCxn id="1921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4" name="Google Shape;1924;p68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5" name="Google Shape;1925;p68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26" name="Google Shape;1926;p68"/>
          <p:cNvCxnSpPr>
            <a:stCxn id="1914" idx="2"/>
            <a:endCxn id="1924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7" name="Google Shape;1927;p68"/>
          <p:cNvCxnSpPr>
            <a:stCxn id="1914" idx="2"/>
            <a:endCxn id="1925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8" name="Google Shape;1928;p68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9" name="Google Shape;1929;p68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0" name="Google Shape;1930;p68"/>
          <p:cNvCxnSpPr>
            <a:stCxn id="1917" idx="2"/>
            <a:endCxn id="192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68"/>
          <p:cNvCxnSpPr>
            <a:stCxn id="1917" idx="2"/>
            <a:endCxn id="1929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2" name="Google Shape;1932;p68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3" name="Google Shape;1933;p68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4" name="Google Shape;1934;p68"/>
          <p:cNvCxnSpPr>
            <a:stCxn id="1916" idx="2"/>
            <a:endCxn id="1932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68"/>
          <p:cNvCxnSpPr>
            <a:stCxn id="1916" idx="2"/>
            <a:endCxn id="193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6" name="Google Shape;1936;p68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7" name="Google Shape;1937;p68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8" name="Google Shape;1938;p68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39" name="Google Shape;1939;p68"/>
          <p:cNvCxnSpPr>
            <a:stCxn id="1920" idx="2"/>
            <a:endCxn id="1937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0" name="Google Shape;1940;p68"/>
          <p:cNvCxnSpPr>
            <a:stCxn id="1920" idx="2"/>
            <a:endCxn id="1936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1" name="Google Shape;1941;p68"/>
          <p:cNvCxnSpPr>
            <a:stCxn id="1920" idx="2"/>
            <a:endCxn id="1938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2" name="Google Shape;1942;p68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3" name="Google Shape;1943;p68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4" name="Google Shape;1944;p68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5" name="Google Shape;1945;p68"/>
          <p:cNvCxnSpPr>
            <a:stCxn id="1921" idx="2"/>
            <a:endCxn id="1943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6" name="Google Shape;1946;p68"/>
          <p:cNvCxnSpPr>
            <a:stCxn id="1921" idx="2"/>
            <a:endCxn id="1942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7" name="Google Shape;1947;p68"/>
          <p:cNvCxnSpPr>
            <a:stCxn id="1921" idx="2"/>
            <a:endCxn id="1944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8" name="Google Shape;1948;p68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9" name="Google Shape;1949;p68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0" name="Google Shape;1950;p68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1" name="Google Shape;1951;p68"/>
          <p:cNvCxnSpPr>
            <a:stCxn id="1924" idx="2"/>
            <a:endCxn id="1949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2" name="Google Shape;1952;p68"/>
          <p:cNvCxnSpPr>
            <a:stCxn id="1924" idx="2"/>
            <a:endCxn id="1948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3" name="Google Shape;1953;p68"/>
          <p:cNvCxnSpPr>
            <a:stCxn id="1924" idx="2"/>
            <a:endCxn id="1950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4" name="Google Shape;1954;p68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5" name="Google Shape;1955;p68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6" name="Google Shape;1956;p68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57" name="Google Shape;1957;p68"/>
          <p:cNvCxnSpPr>
            <a:stCxn id="1925" idx="2"/>
            <a:endCxn id="1955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8" name="Google Shape;1958;p68"/>
          <p:cNvCxnSpPr>
            <a:stCxn id="1925" idx="2"/>
            <a:endCxn id="1954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68"/>
          <p:cNvCxnSpPr>
            <a:stCxn id="1925" idx="2"/>
            <a:endCxn id="1956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0" name="Google Shape;1960;p68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1" name="Google Shape;1961;p68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2" name="Google Shape;1962;p68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3" name="Google Shape;1963;p68"/>
          <p:cNvCxnSpPr>
            <a:stCxn id="1928" idx="2"/>
            <a:endCxn id="1961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4" name="Google Shape;1964;p68"/>
          <p:cNvCxnSpPr>
            <a:stCxn id="1928" idx="2"/>
            <a:endCxn id="1960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5" name="Google Shape;1965;p68"/>
          <p:cNvCxnSpPr>
            <a:stCxn id="1928" idx="2"/>
            <a:endCxn id="1962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6" name="Google Shape;1966;p68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7" name="Google Shape;1967;p68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8" name="Google Shape;1968;p68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69" name="Google Shape;1969;p68"/>
          <p:cNvCxnSpPr>
            <a:stCxn id="1929" idx="2"/>
            <a:endCxn id="1967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68"/>
          <p:cNvCxnSpPr>
            <a:stCxn id="1929" idx="2"/>
            <a:endCxn id="1966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68"/>
          <p:cNvCxnSpPr>
            <a:stCxn id="1929" idx="2"/>
            <a:endCxn id="1968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68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3" name="Google Shape;1973;p68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4" name="Google Shape;1974;p68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5" name="Google Shape;1975;p68"/>
          <p:cNvCxnSpPr>
            <a:stCxn id="1932" idx="2"/>
            <a:endCxn id="1973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6" name="Google Shape;1976;p68"/>
          <p:cNvCxnSpPr>
            <a:stCxn id="1932" idx="2"/>
            <a:endCxn id="1972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68"/>
          <p:cNvCxnSpPr>
            <a:stCxn id="1932" idx="2"/>
            <a:endCxn id="1974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8" name="Google Shape;1978;p68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9" name="Google Shape;1979;p68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0" name="Google Shape;1980;p68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1" name="Google Shape;1981;p68"/>
          <p:cNvCxnSpPr>
            <a:stCxn id="1933" idx="2"/>
            <a:endCxn id="1979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2" name="Google Shape;1982;p68"/>
          <p:cNvCxnSpPr>
            <a:stCxn id="1933" idx="2"/>
            <a:endCxn id="1978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3" name="Google Shape;1983;p68"/>
          <p:cNvCxnSpPr>
            <a:stCxn id="1933" idx="2"/>
            <a:endCxn id="1980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4" name="Google Shape;1984;p68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5" name="Google Shape;1985;p68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6" name="Google Shape;1986;p68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7" name="Google Shape;1987;p68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88" name="Google Shape;1988;p68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89" name="Google Shape;1989;p68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0" name="Google Shape;1990;p68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1" name="Google Shape;1991;p68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2" name="Google Shape;1992;p68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3" name="Google Shape;1993;p68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4" name="Google Shape;1994;p68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5" name="Google Shape;1995;p68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96" name="Google Shape;1996;p68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997" name="Google Shape;1997;p68"/>
          <p:cNvSpPr txBox="1"/>
          <p:nvPr/>
        </p:nvSpPr>
        <p:spPr>
          <a:xfrm>
            <a:off x="237700" y="3298500"/>
            <a:ext cx="19797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"Leaf" routers with no children as members can also be pruned from the tree.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Pruning can happen at higher "layers" as well.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69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</p:txBody>
      </p:sp>
      <p:sp>
        <p:nvSpPr>
          <p:cNvPr id="2003" name="Google Shape;2003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Pruning Directly-Connected Hosts with IGMP</a:t>
            </a:r>
            <a:endParaRPr/>
          </a:p>
        </p:txBody>
      </p:sp>
      <p:sp>
        <p:nvSpPr>
          <p:cNvPr id="2004" name="Google Shape;2004;p69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5" name="Google Shape;2005;p69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6" name="Google Shape;2006;p69"/>
          <p:cNvCxnSpPr>
            <a:stCxn id="2005" idx="4"/>
            <a:endCxn id="200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7" name="Google Shape;2007;p69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08" name="Google Shape;2008;p69"/>
          <p:cNvCxnSpPr>
            <a:stCxn id="2005" idx="4"/>
            <a:endCxn id="200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69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0" name="Google Shape;2010;p69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1" name="Google Shape;2011;p69"/>
          <p:cNvCxnSpPr>
            <a:stCxn id="2004" idx="2"/>
            <a:endCxn id="2010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2" name="Google Shape;2012;p69"/>
          <p:cNvCxnSpPr>
            <a:stCxn id="2004" idx="2"/>
            <a:endCxn id="200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3" name="Google Shape;2013;p69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4" name="Google Shape;2014;p69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5" name="Google Shape;2015;p69"/>
          <p:cNvCxnSpPr>
            <a:stCxn id="2007" idx="2"/>
            <a:endCxn id="2014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69"/>
          <p:cNvCxnSpPr>
            <a:stCxn id="2007" idx="2"/>
            <a:endCxn id="2013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7" name="Google Shape;2017;p69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8" name="Google Shape;2018;p69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9" name="Google Shape;2019;p69"/>
          <p:cNvCxnSpPr>
            <a:stCxn id="2010" idx="2"/>
            <a:endCxn id="2017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0" name="Google Shape;2020;p69"/>
          <p:cNvCxnSpPr>
            <a:stCxn id="2010" idx="2"/>
            <a:endCxn id="2018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1" name="Google Shape;2021;p69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2" name="Google Shape;2022;p69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3" name="Google Shape;2023;p69"/>
          <p:cNvCxnSpPr>
            <a:stCxn id="2009" idx="2"/>
            <a:endCxn id="2021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4" name="Google Shape;2024;p69"/>
          <p:cNvCxnSpPr>
            <a:stCxn id="2009" idx="2"/>
            <a:endCxn id="2022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5" name="Google Shape;2025;p69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6" name="Google Shape;2026;p69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7" name="Google Shape;2027;p69"/>
          <p:cNvCxnSpPr>
            <a:stCxn id="2014" idx="2"/>
            <a:endCxn id="202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8" name="Google Shape;2028;p69"/>
          <p:cNvCxnSpPr>
            <a:stCxn id="2014" idx="2"/>
            <a:endCxn id="202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9" name="Google Shape;2029;p69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0" name="Google Shape;2030;p69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1" name="Google Shape;2031;p69"/>
          <p:cNvCxnSpPr>
            <a:stCxn id="2013" idx="2"/>
            <a:endCxn id="202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2" name="Google Shape;2032;p69"/>
          <p:cNvCxnSpPr>
            <a:stCxn id="2013" idx="2"/>
            <a:endCxn id="203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3" name="Google Shape;2033;p69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4" name="Google Shape;2034;p69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5" name="Google Shape;2035;p69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36" name="Google Shape;2036;p69"/>
          <p:cNvCxnSpPr>
            <a:stCxn id="2017" idx="2"/>
            <a:endCxn id="2034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7" name="Google Shape;2037;p69"/>
          <p:cNvCxnSpPr>
            <a:stCxn id="2017" idx="2"/>
            <a:endCxn id="203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8" name="Google Shape;2038;p69"/>
          <p:cNvCxnSpPr>
            <a:stCxn id="2017" idx="2"/>
            <a:endCxn id="203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9" name="Google Shape;2039;p69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0" name="Google Shape;2040;p69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1" name="Google Shape;2041;p69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2" name="Google Shape;2042;p69"/>
          <p:cNvCxnSpPr>
            <a:stCxn id="2018" idx="2"/>
            <a:endCxn id="2040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3" name="Google Shape;2043;p69"/>
          <p:cNvCxnSpPr>
            <a:stCxn id="2018" idx="2"/>
            <a:endCxn id="2039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4" name="Google Shape;2044;p69"/>
          <p:cNvCxnSpPr>
            <a:stCxn id="2018" idx="2"/>
            <a:endCxn id="2041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5" name="Google Shape;2045;p69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6" name="Google Shape;2046;p69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7" name="Google Shape;2047;p69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8" name="Google Shape;2048;p69"/>
          <p:cNvCxnSpPr>
            <a:stCxn id="2021" idx="2"/>
            <a:endCxn id="2046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9" name="Google Shape;2049;p69"/>
          <p:cNvCxnSpPr>
            <a:stCxn id="2021" idx="2"/>
            <a:endCxn id="2045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69"/>
          <p:cNvCxnSpPr>
            <a:stCxn id="2021" idx="2"/>
            <a:endCxn id="2047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1" name="Google Shape;2051;p69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2" name="Google Shape;2052;p69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3" name="Google Shape;2053;p69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54" name="Google Shape;2054;p69"/>
          <p:cNvCxnSpPr>
            <a:stCxn id="2022" idx="2"/>
            <a:endCxn id="2052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5" name="Google Shape;2055;p69"/>
          <p:cNvCxnSpPr>
            <a:stCxn id="2022" idx="2"/>
            <a:endCxn id="2051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6" name="Google Shape;2056;p69"/>
          <p:cNvCxnSpPr>
            <a:stCxn id="2022" idx="2"/>
            <a:endCxn id="2053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7" name="Google Shape;2057;p69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8" name="Google Shape;2058;p69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69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0" name="Google Shape;2060;p69"/>
          <p:cNvCxnSpPr>
            <a:stCxn id="2025" idx="2"/>
            <a:endCxn id="2058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1" name="Google Shape;2061;p69"/>
          <p:cNvCxnSpPr>
            <a:stCxn id="2025" idx="2"/>
            <a:endCxn id="2057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69"/>
          <p:cNvCxnSpPr>
            <a:stCxn id="2025" idx="2"/>
            <a:endCxn id="2059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3" name="Google Shape;2063;p69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4" name="Google Shape;2064;p69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5" name="Google Shape;2065;p69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66" name="Google Shape;2066;p69"/>
          <p:cNvCxnSpPr>
            <a:stCxn id="2026" idx="2"/>
            <a:endCxn id="2064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7" name="Google Shape;2067;p69"/>
          <p:cNvCxnSpPr>
            <a:stCxn id="2026" idx="2"/>
            <a:endCxn id="2063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8" name="Google Shape;2068;p69"/>
          <p:cNvCxnSpPr>
            <a:stCxn id="2026" idx="2"/>
            <a:endCxn id="2065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9" name="Google Shape;2069;p69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0" name="Google Shape;2070;p69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1" name="Google Shape;2071;p69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72" name="Google Shape;2072;p69"/>
          <p:cNvCxnSpPr>
            <a:stCxn id="2029" idx="2"/>
            <a:endCxn id="2070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3" name="Google Shape;2073;p69"/>
          <p:cNvCxnSpPr>
            <a:stCxn id="2029" idx="2"/>
            <a:endCxn id="2069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4" name="Google Shape;2074;p69"/>
          <p:cNvCxnSpPr>
            <a:stCxn id="2029" idx="2"/>
            <a:endCxn id="2071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5" name="Google Shape;2075;p69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6" name="Google Shape;2076;p69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7" name="Google Shape;2077;p69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78" name="Google Shape;2078;p69"/>
          <p:cNvCxnSpPr>
            <a:stCxn id="2030" idx="2"/>
            <a:endCxn id="2076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9" name="Google Shape;2079;p69"/>
          <p:cNvCxnSpPr>
            <a:stCxn id="2030" idx="2"/>
            <a:endCxn id="2075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0" name="Google Shape;2080;p69"/>
          <p:cNvCxnSpPr>
            <a:stCxn id="2030" idx="2"/>
            <a:endCxn id="2077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1" name="Google Shape;2081;p69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2" name="Google Shape;2082;p69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3" name="Google Shape;2083;p69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4" name="Google Shape;2084;p69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85" name="Google Shape;2085;p69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6" name="Google Shape;2086;p69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7" name="Google Shape;2087;p69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8" name="Google Shape;2088;p69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89" name="Google Shape;2089;p69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0" name="Google Shape;2090;p69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1" name="Google Shape;2091;p69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2" name="Google Shape;2092;p69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3" name="Google Shape;2093;p69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4" name="Google Shape;2094;p69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5" name="Google Shape;2095;p69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6" name="Google Shape;2096;p69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7" name="Google Shape;2097;p69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098" name="Google Shape;2098;p69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099" name="Google Shape;2099;p69"/>
          <p:cNvSpPr/>
          <p:nvPr/>
        </p:nvSpPr>
        <p:spPr>
          <a:xfrm>
            <a:off x="101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70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</p:txBody>
      </p:sp>
      <p:sp>
        <p:nvSpPr>
          <p:cNvPr id="2105" name="Google Shape;2105;p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Directly-Connected Hosts with IGMP</a:t>
            </a:r>
            <a:endParaRPr/>
          </a:p>
        </p:txBody>
      </p:sp>
      <p:sp>
        <p:nvSpPr>
          <p:cNvPr id="2106" name="Google Shape;2106;p70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7" name="Google Shape;2107;p70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8" name="Google Shape;2108;p70"/>
          <p:cNvCxnSpPr>
            <a:stCxn id="2107" idx="4"/>
            <a:endCxn id="210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09" name="Google Shape;2109;p70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0" name="Google Shape;2110;p70"/>
          <p:cNvCxnSpPr>
            <a:stCxn id="2107" idx="4"/>
            <a:endCxn id="210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1" name="Google Shape;2111;p70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2" name="Google Shape;2112;p70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3" name="Google Shape;2113;p70"/>
          <p:cNvCxnSpPr>
            <a:stCxn id="2106" idx="2"/>
            <a:endCxn id="211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4" name="Google Shape;2114;p70"/>
          <p:cNvCxnSpPr>
            <a:stCxn id="2106" idx="2"/>
            <a:endCxn id="211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5" name="Google Shape;2115;p70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6" name="Google Shape;2116;p70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17" name="Google Shape;2117;p70"/>
          <p:cNvCxnSpPr>
            <a:stCxn id="2109" idx="2"/>
            <a:endCxn id="211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70"/>
          <p:cNvCxnSpPr>
            <a:stCxn id="2109" idx="2"/>
            <a:endCxn id="211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9" name="Google Shape;2119;p70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0" name="Google Shape;2120;p70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1" name="Google Shape;2121;p70"/>
          <p:cNvCxnSpPr>
            <a:stCxn id="2112" idx="2"/>
            <a:endCxn id="21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2" name="Google Shape;2122;p70"/>
          <p:cNvCxnSpPr>
            <a:stCxn id="2112" idx="2"/>
            <a:endCxn id="21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3" name="Google Shape;2123;p70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4" name="Google Shape;2124;p70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5" name="Google Shape;2125;p70"/>
          <p:cNvCxnSpPr>
            <a:stCxn id="2111" idx="2"/>
            <a:endCxn id="212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6" name="Google Shape;2126;p70"/>
          <p:cNvCxnSpPr>
            <a:stCxn id="2111" idx="2"/>
            <a:endCxn id="212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7" name="Google Shape;2127;p70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8" name="Google Shape;2128;p70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9" name="Google Shape;2129;p70"/>
          <p:cNvCxnSpPr>
            <a:stCxn id="2116" idx="2"/>
            <a:endCxn id="212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0" name="Google Shape;2130;p70"/>
          <p:cNvCxnSpPr>
            <a:stCxn id="2116" idx="2"/>
            <a:endCxn id="212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1" name="Google Shape;2131;p70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2" name="Google Shape;2132;p70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3" name="Google Shape;2133;p70"/>
          <p:cNvCxnSpPr>
            <a:stCxn id="2115" idx="2"/>
            <a:endCxn id="213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4" name="Google Shape;2134;p70"/>
          <p:cNvCxnSpPr>
            <a:stCxn id="2115" idx="2"/>
            <a:endCxn id="2132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5" name="Google Shape;2135;p70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6" name="Google Shape;2136;p70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7" name="Google Shape;2137;p70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8" name="Google Shape;2138;p70"/>
          <p:cNvCxnSpPr>
            <a:stCxn id="2119" idx="2"/>
            <a:endCxn id="21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9" name="Google Shape;2139;p70"/>
          <p:cNvCxnSpPr>
            <a:stCxn id="2119" idx="2"/>
            <a:endCxn id="21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0" name="Google Shape;2140;p70"/>
          <p:cNvCxnSpPr>
            <a:stCxn id="2119" idx="2"/>
            <a:endCxn id="21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1" name="Google Shape;2141;p70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2" name="Google Shape;2142;p70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3" name="Google Shape;2143;p70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44" name="Google Shape;2144;p70"/>
          <p:cNvCxnSpPr>
            <a:stCxn id="2120" idx="2"/>
            <a:endCxn id="21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5" name="Google Shape;2145;p70"/>
          <p:cNvCxnSpPr>
            <a:stCxn id="2120" idx="2"/>
            <a:endCxn id="21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6" name="Google Shape;2146;p70"/>
          <p:cNvCxnSpPr>
            <a:stCxn id="2120" idx="2"/>
            <a:endCxn id="21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7" name="Google Shape;2147;p70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8" name="Google Shape;2148;p70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9" name="Google Shape;2149;p70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0" name="Google Shape;2150;p70"/>
          <p:cNvCxnSpPr>
            <a:stCxn id="2123" idx="2"/>
            <a:endCxn id="214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1" name="Google Shape;2151;p70"/>
          <p:cNvCxnSpPr>
            <a:stCxn id="2123" idx="2"/>
            <a:endCxn id="214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2" name="Google Shape;2152;p70"/>
          <p:cNvCxnSpPr>
            <a:stCxn id="2123" idx="2"/>
            <a:endCxn id="214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3" name="Google Shape;2153;p70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4" name="Google Shape;2154;p70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5" name="Google Shape;2155;p70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56" name="Google Shape;2156;p70"/>
          <p:cNvCxnSpPr>
            <a:stCxn id="2124" idx="2"/>
            <a:endCxn id="215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7" name="Google Shape;2157;p70"/>
          <p:cNvCxnSpPr>
            <a:stCxn id="2124" idx="2"/>
            <a:endCxn id="215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8" name="Google Shape;2158;p70"/>
          <p:cNvCxnSpPr>
            <a:stCxn id="2124" idx="2"/>
            <a:endCxn id="215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9" name="Google Shape;2159;p70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0" name="Google Shape;2160;p70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1" name="Google Shape;2161;p70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2" name="Google Shape;2162;p70"/>
          <p:cNvCxnSpPr>
            <a:stCxn id="2127" idx="2"/>
            <a:endCxn id="216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3" name="Google Shape;2163;p70"/>
          <p:cNvCxnSpPr>
            <a:stCxn id="2127" idx="2"/>
            <a:endCxn id="215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4" name="Google Shape;2164;p70"/>
          <p:cNvCxnSpPr>
            <a:stCxn id="2127" idx="2"/>
            <a:endCxn id="216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5" name="Google Shape;2165;p70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6" name="Google Shape;2166;p70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7" name="Google Shape;2167;p70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68" name="Google Shape;2168;p70"/>
          <p:cNvCxnSpPr>
            <a:stCxn id="2128" idx="2"/>
            <a:endCxn id="216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9" name="Google Shape;2169;p70"/>
          <p:cNvCxnSpPr>
            <a:stCxn id="2128" idx="2"/>
            <a:endCxn id="216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0" name="Google Shape;2170;p70"/>
          <p:cNvCxnSpPr>
            <a:stCxn id="2128" idx="2"/>
            <a:endCxn id="216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1" name="Google Shape;2171;p70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2" name="Google Shape;2172;p70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3" name="Google Shape;2173;p70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74" name="Google Shape;2174;p70"/>
          <p:cNvCxnSpPr>
            <a:stCxn id="2131" idx="2"/>
            <a:endCxn id="217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5" name="Google Shape;2175;p70"/>
          <p:cNvCxnSpPr>
            <a:stCxn id="2131" idx="2"/>
            <a:endCxn id="217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6" name="Google Shape;2176;p70"/>
          <p:cNvCxnSpPr>
            <a:stCxn id="2131" idx="2"/>
            <a:endCxn id="217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77" name="Google Shape;2177;p70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8" name="Google Shape;2178;p70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9" name="Google Shape;2179;p70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0" name="Google Shape;2180;p70"/>
          <p:cNvCxnSpPr>
            <a:stCxn id="2132" idx="2"/>
            <a:endCxn id="217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1" name="Google Shape;2181;p70"/>
          <p:cNvCxnSpPr>
            <a:stCxn id="2132" idx="2"/>
            <a:endCxn id="217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70"/>
          <p:cNvCxnSpPr>
            <a:stCxn id="2132" idx="2"/>
            <a:endCxn id="217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3" name="Google Shape;2183;p70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4" name="Google Shape;2184;p70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5" name="Google Shape;2185;p70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6" name="Google Shape;2186;p70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7" name="Google Shape;2187;p70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88" name="Google Shape;2188;p70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89" name="Google Shape;2189;p70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0" name="Google Shape;2190;p70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1" name="Google Shape;2191;p70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2" name="Google Shape;2192;p70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3" name="Google Shape;2193;p70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4" name="Google Shape;2194;p70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5" name="Google Shape;2195;p70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6" name="Google Shape;2196;p70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7" name="Google Shape;2197;p70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8" name="Google Shape;2198;p70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99" name="Google Shape;2199;p70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00" name="Google Shape;2200;p70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01" name="Google Shape;2201;p70"/>
          <p:cNvSpPr/>
          <p:nvPr/>
        </p:nvSpPr>
        <p:spPr>
          <a:xfrm>
            <a:off x="863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2" name="Google Shape;2202;p70"/>
          <p:cNvSpPr/>
          <p:nvPr/>
        </p:nvSpPr>
        <p:spPr>
          <a:xfrm>
            <a:off x="1625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3" name="Google Shape;2203;p70"/>
          <p:cNvSpPr/>
          <p:nvPr/>
        </p:nvSpPr>
        <p:spPr>
          <a:xfrm>
            <a:off x="2387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4" name="Google Shape;2204;p70"/>
          <p:cNvSpPr/>
          <p:nvPr/>
        </p:nvSpPr>
        <p:spPr>
          <a:xfrm>
            <a:off x="3149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5" name="Google Shape;2205;p70"/>
          <p:cNvSpPr/>
          <p:nvPr/>
        </p:nvSpPr>
        <p:spPr>
          <a:xfrm>
            <a:off x="3911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6" name="Google Shape;2206;p70"/>
          <p:cNvSpPr/>
          <p:nvPr/>
        </p:nvSpPr>
        <p:spPr>
          <a:xfrm>
            <a:off x="4673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7" name="Google Shape;2207;p70"/>
          <p:cNvSpPr/>
          <p:nvPr/>
        </p:nvSpPr>
        <p:spPr>
          <a:xfrm>
            <a:off x="5435350" y="3553125"/>
            <a:ext cx="25146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None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12" name="Google Shape;2212;p71"/>
          <p:cNvCxnSpPr>
            <a:stCxn id="2213" idx="2"/>
            <a:endCxn id="221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71"/>
          <p:cNvCxnSpPr>
            <a:stCxn id="2213" idx="2"/>
            <a:endCxn id="2216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7" name="Google Shape;2217;p71"/>
          <p:cNvCxnSpPr>
            <a:stCxn id="2213" idx="2"/>
            <a:endCxn id="2218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71"/>
          <p:cNvCxnSpPr>
            <a:stCxn id="2220" idx="2"/>
            <a:endCxn id="2221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2" name="Google Shape;2222;p71"/>
          <p:cNvCxnSpPr>
            <a:stCxn id="2220" idx="2"/>
            <a:endCxn id="222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4" name="Google Shape;2224;p71"/>
          <p:cNvCxnSpPr>
            <a:stCxn id="2220" idx="2"/>
            <a:endCxn id="222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71"/>
          <p:cNvCxnSpPr>
            <a:stCxn id="2227" idx="2"/>
            <a:endCxn id="2228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9" name="Google Shape;2229;p71"/>
          <p:cNvCxnSpPr>
            <a:stCxn id="2227" idx="2"/>
            <a:endCxn id="2230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71"/>
          <p:cNvCxnSpPr>
            <a:stCxn id="2227" idx="2"/>
            <a:endCxn id="2232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3" name="Google Shape;2233;p71"/>
          <p:cNvSpPr txBox="1"/>
          <p:nvPr>
            <p:ph idx="1" type="body"/>
          </p:nvPr>
        </p:nvSpPr>
        <p:spPr>
          <a:xfrm>
            <a:off x="107050" y="402200"/>
            <a:ext cx="89097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use a </a:t>
            </a:r>
            <a:r>
              <a:rPr b="1" lang="en"/>
              <a:t>host-to-router protocol</a:t>
            </a:r>
            <a:r>
              <a:rPr lang="en"/>
              <a:t> (e.g. IGMP) to check if any directly-connected hosts are group 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don't need to send packets to directly-connected hosts who are not members.</a:t>
            </a:r>
            <a:endParaRPr/>
          </a:p>
        </p:txBody>
      </p:sp>
      <p:sp>
        <p:nvSpPr>
          <p:cNvPr id="2234" name="Google Shape;2234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Directly-Connected Hosts with IGMP</a:t>
            </a:r>
            <a:endParaRPr/>
          </a:p>
        </p:txBody>
      </p:sp>
      <p:sp>
        <p:nvSpPr>
          <p:cNvPr id="2235" name="Google Shape;2235;p71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6" name="Google Shape;2236;p71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7" name="Google Shape;2237;p71"/>
          <p:cNvCxnSpPr>
            <a:stCxn id="2236" idx="4"/>
            <a:endCxn id="2235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38" name="Google Shape;2238;p71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39" name="Google Shape;2239;p71"/>
          <p:cNvCxnSpPr>
            <a:stCxn id="2236" idx="4"/>
            <a:endCxn id="2238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0" name="Google Shape;2240;p71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1" name="Google Shape;2241;p71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42" name="Google Shape;2242;p71"/>
          <p:cNvCxnSpPr>
            <a:stCxn id="2235" idx="2"/>
            <a:endCxn id="224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3" name="Google Shape;2243;p71"/>
          <p:cNvCxnSpPr>
            <a:stCxn id="2235" idx="2"/>
            <a:endCxn id="2240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4" name="Google Shape;2244;p71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5" name="Google Shape;2245;p71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46" name="Google Shape;2246;p71"/>
          <p:cNvCxnSpPr>
            <a:stCxn id="2238" idx="2"/>
            <a:endCxn id="2245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7" name="Google Shape;2247;p71"/>
          <p:cNvCxnSpPr>
            <a:stCxn id="2238" idx="2"/>
            <a:endCxn id="224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8" name="Google Shape;2248;p71"/>
          <p:cNvCxnSpPr>
            <a:stCxn id="2241" idx="2"/>
            <a:endCxn id="22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9" name="Google Shape;2249;p71"/>
          <p:cNvCxnSpPr>
            <a:stCxn id="2241" idx="2"/>
            <a:endCxn id="2227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0" name="Google Shape;2250;p71"/>
          <p:cNvCxnSpPr>
            <a:stCxn id="2240" idx="2"/>
            <a:endCxn id="2251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2" name="Google Shape;2252;p71"/>
          <p:cNvCxnSpPr>
            <a:stCxn id="2240" idx="2"/>
            <a:endCxn id="2253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71"/>
          <p:cNvCxnSpPr>
            <a:stCxn id="2245" idx="2"/>
            <a:endCxn id="225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6" name="Google Shape;2256;p71"/>
          <p:cNvCxnSpPr>
            <a:stCxn id="2245" idx="2"/>
            <a:endCxn id="2257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71"/>
          <p:cNvCxnSpPr>
            <a:stCxn id="2244" idx="2"/>
            <a:endCxn id="225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71"/>
          <p:cNvCxnSpPr>
            <a:stCxn id="2244" idx="2"/>
            <a:endCxn id="221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3" name="Google Shape;2223;p71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1" name="Google Shape;2221;p71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5" name="Google Shape;2225;p71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0" name="Google Shape;2230;p71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8" name="Google Shape;2228;p71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2" name="Google Shape;2232;p71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1" name="Google Shape;2261;p71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2" name="Google Shape;2262;p71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3" name="Google Shape;2263;p71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64" name="Google Shape;2264;p71"/>
          <p:cNvCxnSpPr>
            <a:stCxn id="2251" idx="2"/>
            <a:endCxn id="2262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5" name="Google Shape;2265;p71"/>
          <p:cNvCxnSpPr>
            <a:stCxn id="2251" idx="2"/>
            <a:endCxn id="2261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6" name="Google Shape;2266;p71"/>
          <p:cNvCxnSpPr>
            <a:stCxn id="2251" idx="2"/>
            <a:endCxn id="2263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7" name="Google Shape;2267;p71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8" name="Google Shape;2268;p71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9" name="Google Shape;2269;p71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0" name="Google Shape;2270;p71"/>
          <p:cNvCxnSpPr>
            <a:stCxn id="2253" idx="2"/>
            <a:endCxn id="2268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1" name="Google Shape;2271;p71"/>
          <p:cNvCxnSpPr>
            <a:stCxn id="2253" idx="2"/>
            <a:endCxn id="2267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2" name="Google Shape;2272;p71"/>
          <p:cNvCxnSpPr>
            <a:stCxn id="2253" idx="2"/>
            <a:endCxn id="2269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3" name="Google Shape;2273;p71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4" name="Google Shape;2274;p71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5" name="Google Shape;2275;p71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76" name="Google Shape;2276;p71"/>
          <p:cNvCxnSpPr>
            <a:stCxn id="2255" idx="2"/>
            <a:endCxn id="2274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7" name="Google Shape;2277;p71"/>
          <p:cNvCxnSpPr>
            <a:stCxn id="2255" idx="2"/>
            <a:endCxn id="2273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8" name="Google Shape;2278;p71"/>
          <p:cNvCxnSpPr>
            <a:stCxn id="2255" idx="2"/>
            <a:endCxn id="2275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79" name="Google Shape;2279;p71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0" name="Google Shape;2280;p71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1" name="Google Shape;2281;p71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2" name="Google Shape;2282;p71"/>
          <p:cNvCxnSpPr>
            <a:stCxn id="2257" idx="2"/>
            <a:endCxn id="2280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71"/>
          <p:cNvCxnSpPr>
            <a:stCxn id="2257" idx="2"/>
            <a:endCxn id="2279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4" name="Google Shape;2284;p71"/>
          <p:cNvCxnSpPr>
            <a:stCxn id="2257" idx="2"/>
            <a:endCxn id="2281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5" name="Google Shape;2285;p71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6" name="Google Shape;2286;p71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7" name="Google Shape;2287;p71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88" name="Google Shape;2288;p71"/>
          <p:cNvCxnSpPr>
            <a:stCxn id="2259" idx="2"/>
            <a:endCxn id="2286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9" name="Google Shape;2289;p71"/>
          <p:cNvCxnSpPr>
            <a:stCxn id="2259" idx="2"/>
            <a:endCxn id="2285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0" name="Google Shape;2290;p71"/>
          <p:cNvCxnSpPr>
            <a:stCxn id="2259" idx="2"/>
            <a:endCxn id="2287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16" name="Google Shape;2216;p71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4" name="Google Shape;2214;p71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8" name="Google Shape;2218;p71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1" name="Google Shape;2291;p71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2" name="Google Shape;2292;p71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3" name="Google Shape;2293;p71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4" name="Google Shape;2294;p71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5" name="Google Shape;2295;p71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6" name="Google Shape;2296;p71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7" name="Google Shape;2297;p71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8" name="Google Shape;2298;p71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299" name="Google Shape;2299;p71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0" name="Google Shape;2300;p71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1" name="Google Shape;2301;p71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2" name="Google Shape;2302;p71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3" name="Google Shape;2303;p71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4" name="Google Shape;2304;p71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5" name="Google Shape;2305;p71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6" name="Google Shape;2306;p71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7" name="Google Shape;2307;p71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08" name="Google Shape;2308;p71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220" name="Google Shape;2220;p71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7" name="Google Shape;2227;p71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1" name="Google Shape;2251;p71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3" name="Google Shape;2253;p71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5" name="Google Shape;2255;p71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7" name="Google Shape;2257;p71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9" name="Google Shape;2259;p71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3" name="Google Shape;2213;p71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13" name="Google Shape;2313;p72"/>
          <p:cNvCxnSpPr>
            <a:stCxn id="2314" idx="2"/>
            <a:endCxn id="2315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6" name="Google Shape;2316;p72"/>
          <p:cNvCxnSpPr>
            <a:stCxn id="2314" idx="2"/>
            <a:endCxn id="2317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8" name="Google Shape;2318;p72"/>
          <p:cNvCxnSpPr>
            <a:stCxn id="2314" idx="2"/>
            <a:endCxn id="2319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0" name="Google Shape;2320;p72"/>
          <p:cNvCxnSpPr>
            <a:stCxn id="2321" idx="2"/>
            <a:endCxn id="232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3" name="Google Shape;2323;p72"/>
          <p:cNvCxnSpPr>
            <a:stCxn id="2321" idx="2"/>
            <a:endCxn id="232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5" name="Google Shape;2325;p72"/>
          <p:cNvCxnSpPr>
            <a:stCxn id="2321" idx="2"/>
            <a:endCxn id="232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7" name="Google Shape;2327;p72"/>
          <p:cNvCxnSpPr>
            <a:stCxn id="2328" idx="2"/>
            <a:endCxn id="2329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0" name="Google Shape;2330;p72"/>
          <p:cNvCxnSpPr>
            <a:stCxn id="2328" idx="2"/>
            <a:endCxn id="233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2" name="Google Shape;2332;p72"/>
          <p:cNvCxnSpPr>
            <a:stCxn id="2328" idx="2"/>
            <a:endCxn id="233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4" name="Google Shape;2334;p72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335" name="Google Shape;2335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Pruning Routers with Prune Messages</a:t>
            </a:r>
            <a:endParaRPr/>
          </a:p>
        </p:txBody>
      </p:sp>
      <p:sp>
        <p:nvSpPr>
          <p:cNvPr id="2336" name="Google Shape;2336;p72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7" name="Google Shape;2337;p72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38" name="Google Shape;2338;p72"/>
          <p:cNvCxnSpPr>
            <a:stCxn id="2337" idx="4"/>
            <a:endCxn id="233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9" name="Google Shape;2339;p72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0" name="Google Shape;2340;p72"/>
          <p:cNvCxnSpPr>
            <a:stCxn id="2337" idx="4"/>
            <a:endCxn id="233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1" name="Google Shape;2341;p72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2" name="Google Shape;2342;p72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3" name="Google Shape;2343;p72"/>
          <p:cNvCxnSpPr>
            <a:stCxn id="2336" idx="2"/>
            <a:endCxn id="234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4" name="Google Shape;2344;p72"/>
          <p:cNvCxnSpPr>
            <a:stCxn id="2336" idx="2"/>
            <a:endCxn id="234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5" name="Google Shape;2345;p72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6" name="Google Shape;2346;p72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47" name="Google Shape;2347;p72"/>
          <p:cNvCxnSpPr>
            <a:stCxn id="2339" idx="2"/>
            <a:endCxn id="234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8" name="Google Shape;2348;p72"/>
          <p:cNvCxnSpPr>
            <a:stCxn id="2339" idx="2"/>
            <a:endCxn id="2345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9" name="Google Shape;2349;p72"/>
          <p:cNvCxnSpPr>
            <a:stCxn id="2342" idx="2"/>
            <a:endCxn id="231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0" name="Google Shape;2350;p72"/>
          <p:cNvCxnSpPr>
            <a:stCxn id="2342" idx="2"/>
            <a:endCxn id="2328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1" name="Google Shape;2351;p72"/>
          <p:cNvCxnSpPr>
            <a:stCxn id="2341" idx="2"/>
            <a:endCxn id="235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3" name="Google Shape;2353;p72"/>
          <p:cNvCxnSpPr>
            <a:stCxn id="2341" idx="2"/>
            <a:endCxn id="2354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5" name="Google Shape;2355;p72"/>
          <p:cNvCxnSpPr>
            <a:stCxn id="2346" idx="2"/>
            <a:endCxn id="2356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7" name="Google Shape;2357;p72"/>
          <p:cNvCxnSpPr>
            <a:stCxn id="2346" idx="2"/>
            <a:endCxn id="235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9" name="Google Shape;2359;p72"/>
          <p:cNvCxnSpPr>
            <a:stCxn id="2345" idx="2"/>
            <a:endCxn id="2360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1" name="Google Shape;2361;p72"/>
          <p:cNvCxnSpPr>
            <a:stCxn id="2345" idx="2"/>
            <a:endCxn id="232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7" name="Google Shape;2317;p72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5" name="Google Shape;2315;p72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9" name="Google Shape;2319;p72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1" name="Google Shape;2331;p72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9" name="Google Shape;2329;p72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3" name="Google Shape;2333;p72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2" name="Google Shape;2362;p72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3" name="Google Shape;2363;p72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4" name="Google Shape;2364;p72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5" name="Google Shape;2365;p72"/>
          <p:cNvCxnSpPr>
            <a:stCxn id="2352" idx="2"/>
            <a:endCxn id="2363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6" name="Google Shape;2366;p72"/>
          <p:cNvCxnSpPr>
            <a:stCxn id="2352" idx="2"/>
            <a:endCxn id="2362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72"/>
          <p:cNvCxnSpPr>
            <a:stCxn id="2352" idx="2"/>
            <a:endCxn id="2364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8" name="Google Shape;2368;p72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9" name="Google Shape;2369;p72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0" name="Google Shape;2370;p72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1" name="Google Shape;2371;p72"/>
          <p:cNvCxnSpPr>
            <a:stCxn id="2354" idx="2"/>
            <a:endCxn id="2369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2" name="Google Shape;2372;p72"/>
          <p:cNvCxnSpPr>
            <a:stCxn id="2354" idx="2"/>
            <a:endCxn id="2368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3" name="Google Shape;2373;p72"/>
          <p:cNvCxnSpPr>
            <a:stCxn id="2354" idx="2"/>
            <a:endCxn id="2370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4" name="Google Shape;2374;p72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5" name="Google Shape;2375;p72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6" name="Google Shape;2376;p72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77" name="Google Shape;2377;p72"/>
          <p:cNvCxnSpPr>
            <a:stCxn id="2356" idx="2"/>
            <a:endCxn id="2375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8" name="Google Shape;2378;p72"/>
          <p:cNvCxnSpPr>
            <a:stCxn id="2356" idx="2"/>
            <a:endCxn id="2374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9" name="Google Shape;2379;p72"/>
          <p:cNvCxnSpPr>
            <a:stCxn id="2356" idx="2"/>
            <a:endCxn id="2376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0" name="Google Shape;2380;p72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1" name="Google Shape;2381;p72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2" name="Google Shape;2382;p72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3" name="Google Shape;2383;p72"/>
          <p:cNvCxnSpPr>
            <a:stCxn id="2358" idx="2"/>
            <a:endCxn id="2381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4" name="Google Shape;2384;p72"/>
          <p:cNvCxnSpPr>
            <a:stCxn id="2358" idx="2"/>
            <a:endCxn id="2380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5" name="Google Shape;2385;p72"/>
          <p:cNvCxnSpPr>
            <a:stCxn id="2358" idx="2"/>
            <a:endCxn id="2382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6" name="Google Shape;2386;p72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7" name="Google Shape;2387;p72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8" name="Google Shape;2388;p72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89" name="Google Shape;2389;p72"/>
          <p:cNvCxnSpPr>
            <a:stCxn id="2360" idx="2"/>
            <a:endCxn id="2387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72"/>
          <p:cNvCxnSpPr>
            <a:stCxn id="2360" idx="2"/>
            <a:endCxn id="2386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1" name="Google Shape;2391;p72"/>
          <p:cNvCxnSpPr>
            <a:stCxn id="2360" idx="2"/>
            <a:endCxn id="2388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4" name="Google Shape;2324;p72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2" name="Google Shape;2322;p72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6" name="Google Shape;2326;p72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2" name="Google Shape;2392;p72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3" name="Google Shape;2393;p72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4" name="Google Shape;2394;p72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5" name="Google Shape;2395;p72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96" name="Google Shape;2396;p72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7" name="Google Shape;2397;p72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8" name="Google Shape;2398;p72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399" name="Google Shape;2399;p72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0" name="Google Shape;2400;p72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1" name="Google Shape;2401;p72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2" name="Google Shape;2402;p72"/>
          <p:cNvCxnSpPr/>
          <p:nvPr/>
        </p:nvCxnSpPr>
        <p:spPr>
          <a:xfrm flipH="1" rot="10800000">
            <a:off x="3178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3" name="Google Shape;2403;p72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4" name="Google Shape;2404;p72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5" name="Google Shape;2405;p72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6" name="Google Shape;2406;p72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7" name="Google Shape;2407;p72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8" name="Google Shape;2408;p72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409" name="Google Shape;2409;p72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10" name="Google Shape;2410;p72"/>
          <p:cNvSpPr/>
          <p:nvPr/>
        </p:nvSpPr>
        <p:spPr>
          <a:xfrm>
            <a:off x="2693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314" name="Google Shape;2314;p72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8" name="Google Shape;2328;p72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2" name="Google Shape;2352;p72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4" name="Google Shape;2354;p72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6" name="Google Shape;2356;p72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8" name="Google Shape;2358;p72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0" name="Google Shape;2360;p72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1" name="Google Shape;2321;p72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1" name="Google Shape;2411;p72"/>
          <p:cNvSpPr/>
          <p:nvPr/>
        </p:nvSpPr>
        <p:spPr>
          <a:xfrm>
            <a:off x="10924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R7,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2" name="Google Shape;2412;p72"/>
          <p:cNvSpPr/>
          <p:nvPr/>
        </p:nvSpPr>
        <p:spPr>
          <a:xfrm>
            <a:off x="1229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R7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7" name="Google Shape;2417;p73"/>
          <p:cNvCxnSpPr>
            <a:stCxn id="2418" idx="2"/>
            <a:endCxn id="2419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0" name="Google Shape;2420;p73"/>
          <p:cNvCxnSpPr>
            <a:stCxn id="2421" idx="2"/>
            <a:endCxn id="242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3" name="Google Shape;2423;p73"/>
          <p:cNvCxnSpPr>
            <a:stCxn id="2421" idx="2"/>
            <a:endCxn id="242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5" name="Google Shape;2425;p73"/>
          <p:cNvCxnSpPr>
            <a:stCxn id="2421" idx="2"/>
            <a:endCxn id="242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7" name="Google Shape;2427;p73"/>
          <p:cNvCxnSpPr>
            <a:stCxn id="2419" idx="2"/>
            <a:endCxn id="242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9" name="Google Shape;2429;p73"/>
          <p:cNvCxnSpPr>
            <a:stCxn id="2419" idx="2"/>
            <a:endCxn id="243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1" name="Google Shape;2431;p73"/>
          <p:cNvCxnSpPr>
            <a:stCxn id="2419" idx="2"/>
            <a:endCxn id="243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3" name="Google Shape;2433;p73"/>
          <p:cNvCxnSpPr>
            <a:stCxn id="2434" idx="2"/>
            <a:endCxn id="2435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6" name="Google Shape;2436;p73"/>
          <p:cNvCxnSpPr>
            <a:stCxn id="2434" idx="2"/>
            <a:endCxn id="2437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8" name="Google Shape;2438;p73"/>
          <p:cNvCxnSpPr>
            <a:stCxn id="2434" idx="2"/>
            <a:endCxn id="2439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0" name="Google Shape;2440;p73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441" name="Google Shape;2441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442" name="Google Shape;2442;p73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3" name="Google Shape;2443;p73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4" name="Google Shape;2444;p73"/>
          <p:cNvCxnSpPr>
            <a:stCxn id="2443" idx="4"/>
            <a:endCxn id="2442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5" name="Google Shape;2445;p73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6" name="Google Shape;2446;p73"/>
          <p:cNvCxnSpPr>
            <a:stCxn id="2443" idx="4"/>
            <a:endCxn id="2445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7" name="Google Shape;2447;p73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8" name="Google Shape;2418;p73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48" name="Google Shape;2448;p73"/>
          <p:cNvCxnSpPr>
            <a:stCxn id="2442" idx="2"/>
            <a:endCxn id="2418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9" name="Google Shape;2449;p73"/>
          <p:cNvCxnSpPr>
            <a:stCxn id="2442" idx="2"/>
            <a:endCxn id="2447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0" name="Google Shape;2450;p73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1" name="Google Shape;2451;p73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52" name="Google Shape;2452;p73"/>
          <p:cNvCxnSpPr>
            <a:stCxn id="2445" idx="2"/>
            <a:endCxn id="2451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3" name="Google Shape;2453;p73"/>
          <p:cNvCxnSpPr>
            <a:stCxn id="2445" idx="2"/>
            <a:endCxn id="2450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4" name="Google Shape;2454;p73"/>
          <p:cNvCxnSpPr>
            <a:stCxn id="2418" idx="2"/>
            <a:endCxn id="243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5" name="Google Shape;2455;p73"/>
          <p:cNvCxnSpPr>
            <a:stCxn id="2447" idx="2"/>
            <a:endCxn id="245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7" name="Google Shape;2457;p73"/>
          <p:cNvCxnSpPr>
            <a:stCxn id="2447" idx="2"/>
            <a:endCxn id="245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9" name="Google Shape;2459;p73"/>
          <p:cNvCxnSpPr>
            <a:stCxn id="2451" idx="2"/>
            <a:endCxn id="2460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1" name="Google Shape;2461;p73"/>
          <p:cNvCxnSpPr>
            <a:stCxn id="2451" idx="2"/>
            <a:endCxn id="2462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3" name="Google Shape;2463;p73"/>
          <p:cNvCxnSpPr>
            <a:stCxn id="2450" idx="2"/>
            <a:endCxn id="2464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5" name="Google Shape;2465;p73"/>
          <p:cNvCxnSpPr>
            <a:stCxn id="2450" idx="2"/>
            <a:endCxn id="242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0" name="Google Shape;2430;p73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8" name="Google Shape;2428;p73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2" name="Google Shape;2432;p73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7" name="Google Shape;2437;p73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5" name="Google Shape;2435;p73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9" name="Google Shape;2439;p73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6" name="Google Shape;2466;p73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7" name="Google Shape;2467;p73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8" name="Google Shape;2468;p73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69" name="Google Shape;2469;p73"/>
          <p:cNvCxnSpPr>
            <a:stCxn id="2456" idx="2"/>
            <a:endCxn id="2467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0" name="Google Shape;2470;p73"/>
          <p:cNvCxnSpPr>
            <a:stCxn id="2456" idx="2"/>
            <a:endCxn id="2466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1" name="Google Shape;2471;p73"/>
          <p:cNvCxnSpPr>
            <a:stCxn id="2456" idx="2"/>
            <a:endCxn id="2468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2" name="Google Shape;2472;p73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3" name="Google Shape;2473;p73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4" name="Google Shape;2474;p73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75" name="Google Shape;2475;p73"/>
          <p:cNvCxnSpPr>
            <a:stCxn id="2458" idx="2"/>
            <a:endCxn id="2473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6" name="Google Shape;2476;p73"/>
          <p:cNvCxnSpPr>
            <a:stCxn id="2458" idx="2"/>
            <a:endCxn id="2472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7" name="Google Shape;2477;p73"/>
          <p:cNvCxnSpPr>
            <a:stCxn id="2458" idx="2"/>
            <a:endCxn id="2474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8" name="Google Shape;2478;p73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9" name="Google Shape;2479;p73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0" name="Google Shape;2480;p73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1" name="Google Shape;2481;p73"/>
          <p:cNvCxnSpPr>
            <a:stCxn id="2460" idx="2"/>
            <a:endCxn id="2479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2" name="Google Shape;2482;p73"/>
          <p:cNvCxnSpPr>
            <a:stCxn id="2460" idx="2"/>
            <a:endCxn id="2478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73"/>
          <p:cNvCxnSpPr>
            <a:stCxn id="2460" idx="2"/>
            <a:endCxn id="2480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4" name="Google Shape;2484;p73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5" name="Google Shape;2485;p73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6" name="Google Shape;2486;p73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87" name="Google Shape;2487;p73"/>
          <p:cNvCxnSpPr>
            <a:stCxn id="2462" idx="2"/>
            <a:endCxn id="2485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8" name="Google Shape;2488;p73"/>
          <p:cNvCxnSpPr>
            <a:stCxn id="2462" idx="2"/>
            <a:endCxn id="2484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9" name="Google Shape;2489;p73"/>
          <p:cNvCxnSpPr>
            <a:stCxn id="2462" idx="2"/>
            <a:endCxn id="2486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0" name="Google Shape;2490;p73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1" name="Google Shape;2491;p73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2" name="Google Shape;2492;p73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93" name="Google Shape;2493;p73"/>
          <p:cNvCxnSpPr>
            <a:stCxn id="2464" idx="2"/>
            <a:endCxn id="2491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4" name="Google Shape;2494;p73"/>
          <p:cNvCxnSpPr>
            <a:stCxn id="2464" idx="2"/>
            <a:endCxn id="2490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5" name="Google Shape;2495;p73"/>
          <p:cNvCxnSpPr>
            <a:stCxn id="2464" idx="2"/>
            <a:endCxn id="2492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4" name="Google Shape;2424;p73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2" name="Google Shape;2422;p73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6" name="Google Shape;2426;p73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6" name="Google Shape;2496;p73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7" name="Google Shape;2497;p73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8" name="Google Shape;2498;p73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9" name="Google Shape;2499;p73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00" name="Google Shape;2500;p73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1" name="Google Shape;2501;p73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2" name="Google Shape;2502;p73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3" name="Google Shape;2503;p73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4" name="Google Shape;2504;p73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5" name="Google Shape;2505;p73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6" name="Google Shape;2506;p73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7" name="Google Shape;2507;p73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8" name="Google Shape;2508;p73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09" name="Google Shape;2509;p73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0" name="Google Shape;2510;p73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1" name="Google Shape;2511;p73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512" name="Google Shape;2512;p73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419" name="Google Shape;2419;p73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4" name="Google Shape;2434;p73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6" name="Google Shape;2456;p73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8" name="Google Shape;2458;p73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0" name="Google Shape;2460;p73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2" name="Google Shape;2462;p73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4" name="Google Shape;2464;p73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1" name="Google Shape;2421;p73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3" name="Google Shape;2513;p73"/>
          <p:cNvSpPr/>
          <p:nvPr/>
        </p:nvSpPr>
        <p:spPr>
          <a:xfrm flipH="1">
            <a:off x="3836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514" name="Google Shape;2514;p73"/>
          <p:cNvSpPr/>
          <p:nvPr/>
        </p:nvSpPr>
        <p:spPr>
          <a:xfrm>
            <a:off x="45976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R8,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5" name="Google Shape;2515;p73"/>
          <p:cNvSpPr/>
          <p:nvPr/>
        </p:nvSpPr>
        <p:spPr>
          <a:xfrm>
            <a:off x="1229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R8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0" name="Google Shape;2520;p74"/>
          <p:cNvCxnSpPr>
            <a:stCxn id="2521" idx="2"/>
            <a:endCxn id="25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3" name="Google Shape;2523;p74"/>
          <p:cNvCxnSpPr>
            <a:stCxn id="2521" idx="2"/>
            <a:endCxn id="25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5" name="Google Shape;2525;p74"/>
          <p:cNvCxnSpPr>
            <a:stCxn id="2526" idx="2"/>
            <a:endCxn id="2527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8" name="Google Shape;2528;p74"/>
          <p:cNvCxnSpPr>
            <a:stCxn id="2526" idx="2"/>
            <a:endCxn id="2529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0" name="Google Shape;2530;p74"/>
          <p:cNvCxnSpPr>
            <a:stCxn id="2526" idx="2"/>
            <a:endCxn id="2531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2" name="Google Shape;2532;p74"/>
          <p:cNvCxnSpPr>
            <a:stCxn id="2522" idx="2"/>
            <a:endCxn id="2533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4" name="Google Shape;2534;p74"/>
          <p:cNvCxnSpPr>
            <a:stCxn id="2522" idx="2"/>
            <a:endCxn id="2535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6" name="Google Shape;2536;p74"/>
          <p:cNvCxnSpPr>
            <a:stCxn id="2522" idx="2"/>
            <a:endCxn id="2537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8" name="Google Shape;2538;p74"/>
          <p:cNvCxnSpPr>
            <a:stCxn id="2524" idx="2"/>
            <a:endCxn id="2539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74"/>
          <p:cNvCxnSpPr>
            <a:stCxn id="2524" idx="2"/>
            <a:endCxn id="2541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2" name="Google Shape;2542;p74"/>
          <p:cNvCxnSpPr>
            <a:stCxn id="2524" idx="2"/>
            <a:endCxn id="2543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4" name="Google Shape;2544;p74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545" name="Google Shape;2545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546" name="Google Shape;2546;p74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7" name="Google Shape;2547;p74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8" name="Google Shape;2548;p74"/>
          <p:cNvCxnSpPr>
            <a:stCxn id="2547" idx="4"/>
            <a:endCxn id="2546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9" name="Google Shape;2549;p74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0" name="Google Shape;2550;p74"/>
          <p:cNvCxnSpPr>
            <a:stCxn id="2547" idx="4"/>
            <a:endCxn id="254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1" name="Google Shape;2551;p74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1" name="Google Shape;2521;p74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2" name="Google Shape;2552;p74"/>
          <p:cNvCxnSpPr>
            <a:stCxn id="2546" idx="2"/>
            <a:endCxn id="252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3" name="Google Shape;2553;p74"/>
          <p:cNvCxnSpPr>
            <a:stCxn id="2546" idx="2"/>
            <a:endCxn id="255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4" name="Google Shape;2554;p74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5" name="Google Shape;2555;p74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56" name="Google Shape;2556;p74"/>
          <p:cNvCxnSpPr>
            <a:stCxn id="2549" idx="2"/>
            <a:endCxn id="2555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7" name="Google Shape;2557;p74"/>
          <p:cNvCxnSpPr>
            <a:stCxn id="2549" idx="2"/>
            <a:endCxn id="255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8" name="Google Shape;2558;p74"/>
          <p:cNvCxnSpPr>
            <a:stCxn id="2551" idx="2"/>
            <a:endCxn id="2559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0" name="Google Shape;2560;p74"/>
          <p:cNvCxnSpPr>
            <a:stCxn id="2551" idx="2"/>
            <a:endCxn id="2561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2" name="Google Shape;2562;p74"/>
          <p:cNvCxnSpPr>
            <a:stCxn id="2555" idx="2"/>
            <a:endCxn id="2563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4" name="Google Shape;2564;p74"/>
          <p:cNvCxnSpPr>
            <a:stCxn id="2555" idx="2"/>
            <a:endCxn id="2565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6" name="Google Shape;2566;p74"/>
          <p:cNvCxnSpPr>
            <a:stCxn id="2554" idx="2"/>
            <a:endCxn id="2567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8" name="Google Shape;2568;p74"/>
          <p:cNvCxnSpPr>
            <a:stCxn id="2554" idx="2"/>
            <a:endCxn id="2526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5" name="Google Shape;2535;p74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3" name="Google Shape;2533;p74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7" name="Google Shape;2537;p74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1" name="Google Shape;2541;p74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9" name="Google Shape;2539;p74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3" name="Google Shape;2543;p74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9" name="Google Shape;2569;p74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0" name="Google Shape;2570;p74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1" name="Google Shape;2571;p74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2" name="Google Shape;2572;p74"/>
          <p:cNvCxnSpPr>
            <a:stCxn id="2559" idx="2"/>
            <a:endCxn id="257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74"/>
          <p:cNvCxnSpPr>
            <a:stCxn id="2559" idx="2"/>
            <a:endCxn id="256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4" name="Google Shape;2574;p74"/>
          <p:cNvCxnSpPr>
            <a:stCxn id="2559" idx="2"/>
            <a:endCxn id="257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5" name="Google Shape;2575;p74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6" name="Google Shape;2576;p74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7" name="Google Shape;2577;p74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78" name="Google Shape;2578;p74"/>
          <p:cNvCxnSpPr>
            <a:stCxn id="2561" idx="2"/>
            <a:endCxn id="257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9" name="Google Shape;2579;p74"/>
          <p:cNvCxnSpPr>
            <a:stCxn id="2561" idx="2"/>
            <a:endCxn id="257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0" name="Google Shape;2580;p74"/>
          <p:cNvCxnSpPr>
            <a:stCxn id="2561" idx="2"/>
            <a:endCxn id="257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1" name="Google Shape;2581;p74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2" name="Google Shape;2582;p74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3" name="Google Shape;2583;p74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84" name="Google Shape;2584;p74"/>
          <p:cNvCxnSpPr>
            <a:stCxn id="2563" idx="2"/>
            <a:endCxn id="258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5" name="Google Shape;2585;p74"/>
          <p:cNvCxnSpPr>
            <a:stCxn id="2563" idx="2"/>
            <a:endCxn id="258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6" name="Google Shape;2586;p74"/>
          <p:cNvCxnSpPr>
            <a:stCxn id="2563" idx="2"/>
            <a:endCxn id="258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7" name="Google Shape;2587;p74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8" name="Google Shape;2588;p74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9" name="Google Shape;2589;p74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0" name="Google Shape;2590;p74"/>
          <p:cNvCxnSpPr>
            <a:stCxn id="2565" idx="2"/>
            <a:endCxn id="258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1" name="Google Shape;2591;p74"/>
          <p:cNvCxnSpPr>
            <a:stCxn id="2565" idx="2"/>
            <a:endCxn id="258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2" name="Google Shape;2592;p74"/>
          <p:cNvCxnSpPr>
            <a:stCxn id="2565" idx="2"/>
            <a:endCxn id="258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3" name="Google Shape;2593;p74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4" name="Google Shape;2594;p74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5" name="Google Shape;2595;p74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96" name="Google Shape;2596;p74"/>
          <p:cNvCxnSpPr>
            <a:stCxn id="2567" idx="2"/>
            <a:endCxn id="259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7" name="Google Shape;2597;p74"/>
          <p:cNvCxnSpPr>
            <a:stCxn id="2567" idx="2"/>
            <a:endCxn id="259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8" name="Google Shape;2598;p74"/>
          <p:cNvCxnSpPr>
            <a:stCxn id="2567" idx="2"/>
            <a:endCxn id="259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9" name="Google Shape;2529;p74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7" name="Google Shape;2527;p74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1" name="Google Shape;2531;p74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9" name="Google Shape;2599;p74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0" name="Google Shape;2600;p74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1" name="Google Shape;2601;p74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2" name="Google Shape;2602;p74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3" name="Google Shape;2603;p74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4" name="Google Shape;2604;p74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5" name="Google Shape;2605;p74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6" name="Google Shape;2606;p74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7" name="Google Shape;2607;p74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8" name="Google Shape;2608;p74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09" name="Google Shape;2609;p74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0" name="Google Shape;2610;p74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1" name="Google Shape;2611;p74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2" name="Google Shape;2612;p74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3" name="Google Shape;2613;p74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14" name="Google Shape;2614;p74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22" name="Google Shape;2522;p74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4" name="Google Shape;2524;p74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9" name="Google Shape;2559;p74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1" name="Google Shape;2561;p74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3" name="Google Shape;2563;p74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5" name="Google Shape;2565;p74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7" name="Google Shape;2567;p74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6" name="Google Shape;2526;p74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5" name="Google Shape;2615;p74"/>
          <p:cNvSpPr/>
          <p:nvPr/>
        </p:nvSpPr>
        <p:spPr>
          <a:xfrm flipH="1">
            <a:off x="5360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616" name="Google Shape;2616;p74"/>
          <p:cNvSpPr/>
          <p:nvPr/>
        </p:nvSpPr>
        <p:spPr>
          <a:xfrm>
            <a:off x="6121600" y="35858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R10, To R4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7" name="Google Shape;2617;p74"/>
          <p:cNvSpPr/>
          <p:nvPr/>
        </p:nvSpPr>
        <p:spPr>
          <a:xfrm>
            <a:off x="2753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R10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1" name="Shape 2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2" name="Google Shape;2622;p75"/>
          <p:cNvCxnSpPr>
            <a:stCxn id="2623" idx="2"/>
            <a:endCxn id="262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5" name="Google Shape;2625;p75"/>
          <p:cNvCxnSpPr>
            <a:stCxn id="2623" idx="2"/>
            <a:endCxn id="2626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7" name="Google Shape;2627;p75"/>
          <p:cNvCxnSpPr>
            <a:stCxn id="2628" idx="2"/>
            <a:endCxn id="2629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9" name="Google Shape;2629;p75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0" name="Google Shape;2630;p75"/>
          <p:cNvCxnSpPr>
            <a:stCxn id="2631" idx="2"/>
            <a:endCxn id="26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3" name="Google Shape;2633;p75"/>
          <p:cNvCxnSpPr>
            <a:stCxn id="2631" idx="2"/>
            <a:endCxn id="26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5" name="Google Shape;2635;p75"/>
          <p:cNvCxnSpPr>
            <a:stCxn id="2631" idx="2"/>
            <a:endCxn id="26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7" name="Google Shape;2637;p75"/>
          <p:cNvCxnSpPr>
            <a:stCxn id="2624" idx="2"/>
            <a:endCxn id="26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9" name="Google Shape;2639;p75"/>
          <p:cNvCxnSpPr>
            <a:stCxn id="2624" idx="2"/>
            <a:endCxn id="26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1" name="Google Shape;2641;p75"/>
          <p:cNvCxnSpPr>
            <a:stCxn id="2624" idx="2"/>
            <a:endCxn id="26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3" name="Google Shape;2643;p75"/>
          <p:cNvCxnSpPr>
            <a:stCxn id="2626" idx="2"/>
            <a:endCxn id="26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5" name="Google Shape;2645;p75"/>
          <p:cNvCxnSpPr>
            <a:stCxn id="2626" idx="2"/>
            <a:endCxn id="26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7" name="Google Shape;2647;p75"/>
          <p:cNvCxnSpPr>
            <a:stCxn id="2626" idx="2"/>
            <a:endCxn id="26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9" name="Google Shape;2649;p75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650" name="Google Shape;2650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651" name="Google Shape;2651;p75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2" name="Google Shape;2652;p75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3" name="Google Shape;2653;p75"/>
          <p:cNvCxnSpPr>
            <a:stCxn id="2652" idx="4"/>
            <a:endCxn id="265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4" name="Google Shape;2654;p75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5" name="Google Shape;2655;p75"/>
          <p:cNvCxnSpPr>
            <a:stCxn id="2652" idx="4"/>
            <a:endCxn id="2654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28" name="Google Shape;2628;p75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3" name="Google Shape;2623;p75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6" name="Google Shape;2656;p75"/>
          <p:cNvCxnSpPr>
            <a:stCxn id="2651" idx="2"/>
            <a:endCxn id="2623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7" name="Google Shape;2657;p75"/>
          <p:cNvCxnSpPr>
            <a:stCxn id="2651" idx="2"/>
            <a:endCxn id="2628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8" name="Google Shape;2658;p75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9" name="Google Shape;2659;p75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60" name="Google Shape;2660;p75"/>
          <p:cNvCxnSpPr>
            <a:stCxn id="2654" idx="2"/>
            <a:endCxn id="2659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1" name="Google Shape;2661;p75"/>
          <p:cNvCxnSpPr>
            <a:stCxn id="2654" idx="2"/>
            <a:endCxn id="2658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2" name="Google Shape;2662;p75"/>
          <p:cNvCxnSpPr>
            <a:stCxn id="2628" idx="2"/>
            <a:endCxn id="2663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4" name="Google Shape;2664;p75"/>
          <p:cNvCxnSpPr>
            <a:stCxn id="2659" idx="2"/>
            <a:endCxn id="2665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6" name="Google Shape;2666;p75"/>
          <p:cNvCxnSpPr>
            <a:stCxn id="2659" idx="2"/>
            <a:endCxn id="2667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8" name="Google Shape;2668;p75"/>
          <p:cNvCxnSpPr>
            <a:stCxn id="2658" idx="2"/>
            <a:endCxn id="2669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75"/>
          <p:cNvCxnSpPr>
            <a:stCxn id="2658" idx="2"/>
            <a:endCxn id="2631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0" name="Google Shape;2640;p75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8" name="Google Shape;2638;p75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2" name="Google Shape;2642;p75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6" name="Google Shape;2646;p75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4" name="Google Shape;2644;p75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8" name="Google Shape;2648;p75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1" name="Google Shape;2671;p75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2" name="Google Shape;2672;p75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3" name="Google Shape;2673;p75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74" name="Google Shape;2674;p75"/>
          <p:cNvCxnSpPr>
            <a:stCxn id="2663" idx="2"/>
            <a:endCxn id="2672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5" name="Google Shape;2675;p75"/>
          <p:cNvCxnSpPr>
            <a:stCxn id="2663" idx="2"/>
            <a:endCxn id="2671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6" name="Google Shape;2676;p75"/>
          <p:cNvCxnSpPr>
            <a:stCxn id="2663" idx="2"/>
            <a:endCxn id="2673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7" name="Google Shape;2677;p75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8" name="Google Shape;2678;p75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9" name="Google Shape;2679;p75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0" name="Google Shape;2680;p75"/>
          <p:cNvCxnSpPr>
            <a:stCxn id="2629" idx="2"/>
            <a:endCxn id="2678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1" name="Google Shape;2681;p75"/>
          <p:cNvCxnSpPr>
            <a:stCxn id="2629" idx="2"/>
            <a:endCxn id="2677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2" name="Google Shape;2682;p75"/>
          <p:cNvCxnSpPr>
            <a:stCxn id="2629" idx="2"/>
            <a:endCxn id="2679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3" name="Google Shape;2683;p75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4" name="Google Shape;2684;p75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5" name="Google Shape;2685;p75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86" name="Google Shape;2686;p75"/>
          <p:cNvCxnSpPr>
            <a:stCxn id="2665" idx="2"/>
            <a:endCxn id="2684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7" name="Google Shape;2687;p75"/>
          <p:cNvCxnSpPr>
            <a:stCxn id="2665" idx="2"/>
            <a:endCxn id="2683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8" name="Google Shape;2688;p75"/>
          <p:cNvCxnSpPr>
            <a:stCxn id="2665" idx="2"/>
            <a:endCxn id="2685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9" name="Google Shape;2689;p75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0" name="Google Shape;2690;p75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1" name="Google Shape;2691;p75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2" name="Google Shape;2692;p75"/>
          <p:cNvCxnSpPr>
            <a:stCxn id="2667" idx="2"/>
            <a:endCxn id="2690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3" name="Google Shape;2693;p75"/>
          <p:cNvCxnSpPr>
            <a:stCxn id="2667" idx="2"/>
            <a:endCxn id="2689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4" name="Google Shape;2694;p75"/>
          <p:cNvCxnSpPr>
            <a:stCxn id="2667" idx="2"/>
            <a:endCxn id="2691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5" name="Google Shape;2695;p75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6" name="Google Shape;2696;p75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7" name="Google Shape;2697;p75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8" name="Google Shape;2698;p75"/>
          <p:cNvCxnSpPr>
            <a:stCxn id="2669" idx="2"/>
            <a:endCxn id="2696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9" name="Google Shape;2699;p75"/>
          <p:cNvCxnSpPr>
            <a:stCxn id="2669" idx="2"/>
            <a:endCxn id="2695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0" name="Google Shape;2700;p75"/>
          <p:cNvCxnSpPr>
            <a:stCxn id="2669" idx="2"/>
            <a:endCxn id="2697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4" name="Google Shape;2634;p75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2" name="Google Shape;2632;p75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6" name="Google Shape;2636;p75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1" name="Google Shape;2701;p75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2" name="Google Shape;2702;p75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3" name="Google Shape;2703;p75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4" name="Google Shape;2704;p75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05" name="Google Shape;2705;p75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6" name="Google Shape;2706;p75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7" name="Google Shape;2707;p75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8" name="Google Shape;2708;p75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09" name="Google Shape;2709;p75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0" name="Google Shape;2710;p75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1" name="Google Shape;2711;p75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2" name="Google Shape;2712;p75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3" name="Google Shape;2713;p75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4" name="Google Shape;2714;p75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15" name="Google Shape;2715;p75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624" name="Google Shape;2624;p75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6" name="Google Shape;2626;p75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3" name="Google Shape;2663;p75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5" name="Google Shape;2665;p75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7" name="Google Shape;2667;p75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9" name="Google Shape;2669;p75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1" name="Google Shape;2631;p75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6" name="Google Shape;2716;p75"/>
          <p:cNvSpPr/>
          <p:nvPr/>
        </p:nvSpPr>
        <p:spPr>
          <a:xfrm flipH="1">
            <a:off x="8408936" y="3550700"/>
            <a:ext cx="682700" cy="617250"/>
          </a:xfrm>
          <a:custGeom>
            <a:rect b="b" l="l" r="r" t="t"/>
            <a:pathLst>
              <a:path extrusionOk="0" h="24690" w="27308">
                <a:moveTo>
                  <a:pt x="10869" y="24690"/>
                </a:moveTo>
                <a:cubicBezTo>
                  <a:pt x="9128" y="22949"/>
                  <a:pt x="-2318" y="18358"/>
                  <a:pt x="422" y="14243"/>
                </a:cubicBezTo>
                <a:cubicBezTo>
                  <a:pt x="3162" y="10128"/>
                  <a:pt x="22827" y="2374"/>
                  <a:pt x="2730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717" name="Google Shape;2717;p75"/>
          <p:cNvSpPr/>
          <p:nvPr/>
        </p:nvSpPr>
        <p:spPr>
          <a:xfrm>
            <a:off x="6731200" y="38906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R14, To R6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8" name="Google Shape;2718;p75"/>
          <p:cNvSpPr/>
          <p:nvPr/>
        </p:nvSpPr>
        <p:spPr>
          <a:xfrm>
            <a:off x="5801050" y="28141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R14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2" name="Shape 2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3" name="Google Shape;2723;p76"/>
          <p:cNvCxnSpPr>
            <a:stCxn id="2724" idx="2"/>
            <a:endCxn id="2725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6" name="Google Shape;2726;p76"/>
          <p:cNvCxnSpPr>
            <a:stCxn id="2724" idx="2"/>
            <a:endCxn id="2727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8" name="Google Shape;2728;p76"/>
          <p:cNvCxnSpPr>
            <a:stCxn id="2729" idx="2"/>
            <a:endCxn id="273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1" name="Google Shape;2731;p76"/>
          <p:cNvCxnSpPr>
            <a:stCxn id="2732" idx="2"/>
            <a:endCxn id="2733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3" name="Google Shape;2733;p76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4" name="Google Shape;2734;p76"/>
          <p:cNvCxnSpPr>
            <a:stCxn id="2730" idx="2"/>
            <a:endCxn id="2735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6" name="Google Shape;2736;p76"/>
          <p:cNvCxnSpPr>
            <a:stCxn id="2730" idx="2"/>
            <a:endCxn id="2737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8" name="Google Shape;2738;p76"/>
          <p:cNvCxnSpPr>
            <a:stCxn id="2730" idx="2"/>
            <a:endCxn id="2739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0" name="Google Shape;2740;p76"/>
          <p:cNvCxnSpPr>
            <a:stCxn id="2725" idx="2"/>
            <a:endCxn id="2741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2" name="Google Shape;2742;p76"/>
          <p:cNvCxnSpPr>
            <a:stCxn id="2725" idx="2"/>
            <a:endCxn id="2743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4" name="Google Shape;2744;p76"/>
          <p:cNvCxnSpPr>
            <a:stCxn id="2725" idx="2"/>
            <a:endCxn id="2745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6" name="Google Shape;2746;p76"/>
          <p:cNvCxnSpPr>
            <a:stCxn id="2727" idx="2"/>
            <a:endCxn id="2747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8" name="Google Shape;2748;p76"/>
          <p:cNvCxnSpPr>
            <a:stCxn id="2727" idx="2"/>
            <a:endCxn id="2749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0" name="Google Shape;2750;p76"/>
          <p:cNvCxnSpPr>
            <a:stCxn id="2727" idx="2"/>
            <a:endCxn id="2751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2" name="Google Shape;2752;p76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753" name="Google Shape;2753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754" name="Google Shape;2754;p76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5" name="Google Shape;2755;p76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6" name="Google Shape;2756;p76"/>
          <p:cNvCxnSpPr>
            <a:stCxn id="2755" idx="4"/>
            <a:endCxn id="275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7" name="Google Shape;2757;p76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8" name="Google Shape;2758;p76"/>
          <p:cNvCxnSpPr>
            <a:stCxn id="2755" idx="4"/>
            <a:endCxn id="275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2" name="Google Shape;2732;p76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4" name="Google Shape;2724;p76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59" name="Google Shape;2759;p76"/>
          <p:cNvCxnSpPr>
            <a:stCxn id="2754" idx="2"/>
            <a:endCxn id="2724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0" name="Google Shape;2760;p76"/>
          <p:cNvCxnSpPr>
            <a:stCxn id="2754" idx="2"/>
            <a:endCxn id="2732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9" name="Google Shape;2729;p76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1" name="Google Shape;2761;p76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2" name="Google Shape;2762;p76"/>
          <p:cNvCxnSpPr>
            <a:stCxn id="2757" idx="2"/>
            <a:endCxn id="2761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3" name="Google Shape;2763;p76"/>
          <p:cNvCxnSpPr>
            <a:stCxn id="2757" idx="2"/>
            <a:endCxn id="2729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4" name="Google Shape;2764;p76"/>
          <p:cNvCxnSpPr>
            <a:stCxn id="2732" idx="2"/>
            <a:endCxn id="2765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6" name="Google Shape;2766;p76"/>
          <p:cNvCxnSpPr>
            <a:stCxn id="2761" idx="2"/>
            <a:endCxn id="2767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8" name="Google Shape;2768;p76"/>
          <p:cNvCxnSpPr>
            <a:stCxn id="2761" idx="2"/>
            <a:endCxn id="2769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0" name="Google Shape;2770;p76"/>
          <p:cNvCxnSpPr>
            <a:stCxn id="2729" idx="2"/>
            <a:endCxn id="277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3" name="Google Shape;2743;p76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1" name="Google Shape;2741;p76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5" name="Google Shape;2745;p76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9" name="Google Shape;2749;p76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7" name="Google Shape;2747;p76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1" name="Google Shape;2751;p76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2" name="Google Shape;2772;p76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3" name="Google Shape;2773;p76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4" name="Google Shape;2774;p76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5" name="Google Shape;2775;p76"/>
          <p:cNvCxnSpPr>
            <a:stCxn id="2765" idx="2"/>
            <a:endCxn id="2773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6" name="Google Shape;2776;p76"/>
          <p:cNvCxnSpPr>
            <a:stCxn id="2765" idx="2"/>
            <a:endCxn id="2772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7" name="Google Shape;2777;p76"/>
          <p:cNvCxnSpPr>
            <a:stCxn id="2765" idx="2"/>
            <a:endCxn id="2774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8" name="Google Shape;2778;p76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9" name="Google Shape;2779;p76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0" name="Google Shape;2780;p76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1" name="Google Shape;2781;p76"/>
          <p:cNvCxnSpPr>
            <a:stCxn id="2733" idx="2"/>
            <a:endCxn id="2779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2" name="Google Shape;2782;p76"/>
          <p:cNvCxnSpPr>
            <a:stCxn id="2733" idx="2"/>
            <a:endCxn id="2778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3" name="Google Shape;2783;p76"/>
          <p:cNvCxnSpPr>
            <a:stCxn id="2733" idx="2"/>
            <a:endCxn id="2780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4" name="Google Shape;2784;p76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5" name="Google Shape;2785;p76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86" name="Google Shape;2786;p76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7" name="Google Shape;2787;p76"/>
          <p:cNvCxnSpPr>
            <a:stCxn id="2767" idx="2"/>
            <a:endCxn id="2785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8" name="Google Shape;2788;p76"/>
          <p:cNvCxnSpPr>
            <a:stCxn id="2767" idx="2"/>
            <a:endCxn id="2784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9" name="Google Shape;2789;p76"/>
          <p:cNvCxnSpPr>
            <a:stCxn id="2767" idx="2"/>
            <a:endCxn id="2786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0" name="Google Shape;2790;p76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1" name="Google Shape;2791;p76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2" name="Google Shape;2792;p76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3" name="Google Shape;2793;p76"/>
          <p:cNvCxnSpPr>
            <a:stCxn id="2769" idx="2"/>
            <a:endCxn id="2791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4" name="Google Shape;2794;p76"/>
          <p:cNvCxnSpPr>
            <a:stCxn id="2769" idx="2"/>
            <a:endCxn id="2790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5" name="Google Shape;2795;p76"/>
          <p:cNvCxnSpPr>
            <a:stCxn id="2769" idx="2"/>
            <a:endCxn id="2792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6" name="Google Shape;2796;p76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7" name="Google Shape;2797;p76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8" name="Google Shape;2798;p76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9" name="Google Shape;2799;p76"/>
          <p:cNvCxnSpPr>
            <a:stCxn id="2771" idx="2"/>
            <a:endCxn id="2797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0" name="Google Shape;2800;p76"/>
          <p:cNvCxnSpPr>
            <a:stCxn id="2771" idx="2"/>
            <a:endCxn id="2796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1" name="Google Shape;2801;p76"/>
          <p:cNvCxnSpPr>
            <a:stCxn id="2771" idx="2"/>
            <a:endCxn id="2798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37" name="Google Shape;2737;p76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5" name="Google Shape;2735;p76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9" name="Google Shape;2739;p76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2" name="Google Shape;2802;p76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3" name="Google Shape;2803;p76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4" name="Google Shape;2804;p76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5" name="Google Shape;2805;p76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06" name="Google Shape;2806;p76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7" name="Google Shape;2807;p76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8" name="Google Shape;2808;p76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09" name="Google Shape;2809;p76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0" name="Google Shape;2810;p76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1" name="Google Shape;2811;p76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2" name="Google Shape;2812;p76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3" name="Google Shape;2813;p76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4" name="Google Shape;2814;p76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815" name="Google Shape;2815;p76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725" name="Google Shape;2725;p76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7" name="Google Shape;2727;p76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5" name="Google Shape;2765;p76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7" name="Google Shape;2767;p76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9" name="Google Shape;2769;p76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1" name="Google Shape;2771;p76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0" name="Google Shape;2730;p76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9" name="Shape 2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0" name="Google Shape;2820;p77"/>
          <p:cNvCxnSpPr>
            <a:stCxn id="2821" idx="2"/>
            <a:endCxn id="28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3" name="Google Shape;2823;p77"/>
          <p:cNvCxnSpPr>
            <a:stCxn id="2821" idx="2"/>
            <a:endCxn id="28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5" name="Google Shape;2825;p77"/>
          <p:cNvCxnSpPr>
            <a:stCxn id="2826" idx="2"/>
            <a:endCxn id="2827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8" name="Google Shape;2828;p77"/>
          <p:cNvCxnSpPr>
            <a:stCxn id="2829" idx="2"/>
            <a:endCxn id="2830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0" name="Google Shape;2830;p77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31" name="Google Shape;2831;p77"/>
          <p:cNvCxnSpPr>
            <a:stCxn id="2827" idx="2"/>
            <a:endCxn id="28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3" name="Google Shape;2833;p77"/>
          <p:cNvCxnSpPr>
            <a:stCxn id="2827" idx="2"/>
            <a:endCxn id="28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5" name="Google Shape;2835;p77"/>
          <p:cNvCxnSpPr>
            <a:stCxn id="2827" idx="2"/>
            <a:endCxn id="28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7" name="Google Shape;2837;p77"/>
          <p:cNvCxnSpPr>
            <a:stCxn id="2822" idx="2"/>
            <a:endCxn id="28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9" name="Google Shape;2839;p77"/>
          <p:cNvCxnSpPr>
            <a:stCxn id="2822" idx="2"/>
            <a:endCxn id="28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1" name="Google Shape;2841;p77"/>
          <p:cNvCxnSpPr>
            <a:stCxn id="2822" idx="2"/>
            <a:endCxn id="28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3" name="Google Shape;2843;p77"/>
          <p:cNvCxnSpPr>
            <a:stCxn id="2824" idx="2"/>
            <a:endCxn id="28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5" name="Google Shape;2845;p77"/>
          <p:cNvCxnSpPr>
            <a:stCxn id="2824" idx="2"/>
            <a:endCxn id="28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7" name="Google Shape;2847;p77"/>
          <p:cNvCxnSpPr>
            <a:stCxn id="2824" idx="2"/>
            <a:endCxn id="28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9" name="Google Shape;2849;p77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850" name="Google Shape;2850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851" name="Google Shape;2851;p77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2" name="Google Shape;2852;p77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3" name="Google Shape;2853;p77"/>
          <p:cNvCxnSpPr>
            <a:stCxn id="2852" idx="4"/>
            <a:endCxn id="285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4" name="Google Shape;2854;p77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5" name="Google Shape;2855;p77"/>
          <p:cNvCxnSpPr>
            <a:stCxn id="2852" idx="4"/>
            <a:endCxn id="2854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9" name="Google Shape;2829;p77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1" name="Google Shape;2821;p77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6" name="Google Shape;2856;p77"/>
          <p:cNvCxnSpPr>
            <a:stCxn id="2851" idx="2"/>
            <a:endCxn id="282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7" name="Google Shape;2857;p77"/>
          <p:cNvCxnSpPr>
            <a:stCxn id="2851" idx="2"/>
            <a:endCxn id="282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6" name="Google Shape;2826;p77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8" name="Google Shape;2858;p77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59" name="Google Shape;2859;p77"/>
          <p:cNvCxnSpPr>
            <a:stCxn id="2854" idx="2"/>
            <a:endCxn id="285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0" name="Google Shape;2860;p77"/>
          <p:cNvCxnSpPr>
            <a:stCxn id="2854" idx="2"/>
            <a:endCxn id="282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1" name="Google Shape;2861;p77"/>
          <p:cNvCxnSpPr>
            <a:stCxn id="2829" idx="2"/>
            <a:endCxn id="286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3" name="Google Shape;2863;p77"/>
          <p:cNvCxnSpPr>
            <a:stCxn id="2858" idx="2"/>
            <a:endCxn id="2864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5" name="Google Shape;2865;p77"/>
          <p:cNvCxnSpPr>
            <a:stCxn id="2858" idx="2"/>
            <a:endCxn id="286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67" name="Google Shape;2867;p77"/>
          <p:cNvCxnSpPr>
            <a:stCxn id="2826" idx="2"/>
            <a:endCxn id="2868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0" name="Google Shape;2840;p77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8" name="Google Shape;2838;p77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2" name="Google Shape;2842;p77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6" name="Google Shape;2846;p77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4" name="Google Shape;2844;p77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8" name="Google Shape;2848;p77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9" name="Google Shape;2869;p77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0" name="Google Shape;2870;p77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1" name="Google Shape;2871;p77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2" name="Google Shape;2872;p77"/>
          <p:cNvCxnSpPr>
            <a:stCxn id="2862" idx="2"/>
            <a:endCxn id="287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3" name="Google Shape;2873;p77"/>
          <p:cNvCxnSpPr>
            <a:stCxn id="2862" idx="2"/>
            <a:endCxn id="286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4" name="Google Shape;2874;p77"/>
          <p:cNvCxnSpPr>
            <a:stCxn id="2862" idx="2"/>
            <a:endCxn id="287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5" name="Google Shape;2875;p77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6" name="Google Shape;2876;p77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7" name="Google Shape;2877;p77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78" name="Google Shape;2878;p77"/>
          <p:cNvCxnSpPr>
            <a:stCxn id="2830" idx="2"/>
            <a:endCxn id="287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9" name="Google Shape;2879;p77"/>
          <p:cNvCxnSpPr>
            <a:stCxn id="2830" idx="2"/>
            <a:endCxn id="287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0" name="Google Shape;2880;p77"/>
          <p:cNvCxnSpPr>
            <a:stCxn id="2830" idx="2"/>
            <a:endCxn id="287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1" name="Google Shape;2881;p77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2" name="Google Shape;2882;p77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3" name="Google Shape;2883;p77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4" name="Google Shape;2884;p77"/>
          <p:cNvCxnSpPr>
            <a:stCxn id="2864" idx="2"/>
            <a:endCxn id="288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5" name="Google Shape;2885;p77"/>
          <p:cNvCxnSpPr>
            <a:stCxn id="2864" idx="2"/>
            <a:endCxn id="288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6" name="Google Shape;2886;p77"/>
          <p:cNvCxnSpPr>
            <a:stCxn id="2864" idx="2"/>
            <a:endCxn id="288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7" name="Google Shape;2887;p77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8" name="Google Shape;2888;p77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9" name="Google Shape;2889;p77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0" name="Google Shape;2890;p77"/>
          <p:cNvCxnSpPr>
            <a:stCxn id="2866" idx="2"/>
            <a:endCxn id="288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1" name="Google Shape;2891;p77"/>
          <p:cNvCxnSpPr>
            <a:stCxn id="2866" idx="2"/>
            <a:endCxn id="288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77"/>
          <p:cNvCxnSpPr>
            <a:stCxn id="2866" idx="2"/>
            <a:endCxn id="288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3" name="Google Shape;2893;p77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4" name="Google Shape;2894;p77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5" name="Google Shape;2895;p77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96" name="Google Shape;2896;p77"/>
          <p:cNvCxnSpPr>
            <a:stCxn id="2868" idx="2"/>
            <a:endCxn id="289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7" name="Google Shape;2897;p77"/>
          <p:cNvCxnSpPr>
            <a:stCxn id="2868" idx="2"/>
            <a:endCxn id="289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8" name="Google Shape;2898;p77"/>
          <p:cNvCxnSpPr>
            <a:stCxn id="2868" idx="2"/>
            <a:endCxn id="289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34" name="Google Shape;2834;p77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2" name="Google Shape;2832;p77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6" name="Google Shape;2836;p77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9" name="Google Shape;2899;p77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0" name="Google Shape;2900;p77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1" name="Google Shape;2901;p77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2" name="Google Shape;2902;p77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03" name="Google Shape;2903;p77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4" name="Google Shape;2904;p77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5" name="Google Shape;2905;p77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6" name="Google Shape;2906;p77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7" name="Google Shape;2907;p77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8" name="Google Shape;2908;p77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09" name="Google Shape;2909;p77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0" name="Google Shape;2910;p77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1" name="Google Shape;2911;p77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912" name="Google Shape;2912;p77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822" name="Google Shape;2822;p77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4" name="Google Shape;2824;p77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2" name="Google Shape;2862;p77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4" name="Google Shape;2864;p77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6" name="Google Shape;2866;p77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8" name="Google Shape;2868;p77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7" name="Google Shape;2827;p77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3" name="Google Shape;2913;p77"/>
          <p:cNvSpPr/>
          <p:nvPr/>
        </p:nvSpPr>
        <p:spPr>
          <a:xfrm>
            <a:off x="1399025" y="2957475"/>
            <a:ext cx="16740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no children in group G1!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8" name="Google Shape;2918;p78"/>
          <p:cNvCxnSpPr>
            <a:stCxn id="2919" idx="2"/>
            <a:endCxn id="2920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1" name="Google Shape;2921;p78"/>
          <p:cNvCxnSpPr>
            <a:stCxn id="2919" idx="2"/>
            <a:endCxn id="2922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3" name="Google Shape;2923;p78"/>
          <p:cNvCxnSpPr>
            <a:stCxn id="2924" idx="2"/>
            <a:endCxn id="2925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6" name="Google Shape;2926;p78"/>
          <p:cNvCxnSpPr>
            <a:stCxn id="2927" idx="2"/>
            <a:endCxn id="2928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8" name="Google Shape;2928;p78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29" name="Google Shape;2929;p78"/>
          <p:cNvCxnSpPr>
            <a:stCxn id="2925" idx="2"/>
            <a:endCxn id="2930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1" name="Google Shape;2931;p78"/>
          <p:cNvCxnSpPr>
            <a:stCxn id="2925" idx="2"/>
            <a:endCxn id="2932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3" name="Google Shape;2933;p78"/>
          <p:cNvCxnSpPr>
            <a:stCxn id="2925" idx="2"/>
            <a:endCxn id="2934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5" name="Google Shape;2935;p78"/>
          <p:cNvCxnSpPr>
            <a:stCxn id="2920" idx="2"/>
            <a:endCxn id="2936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7" name="Google Shape;2937;p78"/>
          <p:cNvCxnSpPr>
            <a:stCxn id="2920" idx="2"/>
            <a:endCxn id="2938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9" name="Google Shape;2939;p78"/>
          <p:cNvCxnSpPr>
            <a:stCxn id="2920" idx="2"/>
            <a:endCxn id="2940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1" name="Google Shape;2941;p78"/>
          <p:cNvCxnSpPr>
            <a:stCxn id="2922" idx="2"/>
            <a:endCxn id="2942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3" name="Google Shape;2943;p78"/>
          <p:cNvCxnSpPr>
            <a:stCxn id="2922" idx="2"/>
            <a:endCxn id="2944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5" name="Google Shape;2945;p78"/>
          <p:cNvCxnSpPr>
            <a:stCxn id="2922" idx="2"/>
            <a:endCxn id="2946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7" name="Google Shape;2947;p78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2948" name="Google Shape;2948;p7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2949" name="Google Shape;2949;p78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0" name="Google Shape;2950;p78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1" name="Google Shape;2951;p78"/>
          <p:cNvCxnSpPr>
            <a:stCxn id="2950" idx="4"/>
            <a:endCxn id="2949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2" name="Google Shape;2952;p78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3" name="Google Shape;2953;p78"/>
          <p:cNvCxnSpPr>
            <a:stCxn id="2950" idx="4"/>
            <a:endCxn id="2952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7" name="Google Shape;2927;p78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9" name="Google Shape;2919;p78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4" name="Google Shape;2954;p78"/>
          <p:cNvCxnSpPr>
            <a:stCxn id="2949" idx="2"/>
            <a:endCxn id="2919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5" name="Google Shape;2955;p78"/>
          <p:cNvCxnSpPr>
            <a:stCxn id="2949" idx="2"/>
            <a:endCxn id="2927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4" name="Google Shape;2924;p78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6" name="Google Shape;2956;p78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57" name="Google Shape;2957;p78"/>
          <p:cNvCxnSpPr>
            <a:stCxn id="2952" idx="2"/>
            <a:endCxn id="295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8" name="Google Shape;2958;p78"/>
          <p:cNvCxnSpPr>
            <a:stCxn id="2952" idx="2"/>
            <a:endCxn id="2924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9" name="Google Shape;2959;p78"/>
          <p:cNvCxnSpPr>
            <a:stCxn id="2927" idx="2"/>
            <a:endCxn id="2960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1" name="Google Shape;2961;p78"/>
          <p:cNvCxnSpPr>
            <a:stCxn id="2956" idx="2"/>
            <a:endCxn id="2962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3" name="Google Shape;2963;p78"/>
          <p:cNvCxnSpPr>
            <a:stCxn id="2956" idx="2"/>
            <a:endCxn id="2964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5" name="Google Shape;2965;p78"/>
          <p:cNvCxnSpPr>
            <a:stCxn id="2924" idx="2"/>
            <a:endCxn id="2966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8" name="Google Shape;2938;p78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6" name="Google Shape;2936;p78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0" name="Google Shape;2940;p78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4" name="Google Shape;2944;p78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2" name="Google Shape;2942;p78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6" name="Google Shape;2946;p78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7" name="Google Shape;2967;p78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8" name="Google Shape;2968;p78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9" name="Google Shape;2969;p78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0" name="Google Shape;2970;p78"/>
          <p:cNvCxnSpPr>
            <a:stCxn id="2960" idx="2"/>
            <a:endCxn id="296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1" name="Google Shape;2971;p78"/>
          <p:cNvCxnSpPr>
            <a:stCxn id="2960" idx="2"/>
            <a:endCxn id="296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2" name="Google Shape;2972;p78"/>
          <p:cNvCxnSpPr>
            <a:stCxn id="2960" idx="2"/>
            <a:endCxn id="296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3" name="Google Shape;2973;p78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4" name="Google Shape;2974;p78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5" name="Google Shape;2975;p78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6" name="Google Shape;2976;p78"/>
          <p:cNvCxnSpPr>
            <a:stCxn id="2928" idx="2"/>
            <a:endCxn id="297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78"/>
          <p:cNvCxnSpPr>
            <a:stCxn id="2928" idx="2"/>
            <a:endCxn id="297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8" name="Google Shape;2978;p78"/>
          <p:cNvCxnSpPr>
            <a:stCxn id="2928" idx="2"/>
            <a:endCxn id="297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9" name="Google Shape;2979;p78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0" name="Google Shape;2980;p78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1" name="Google Shape;2981;p78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2" name="Google Shape;2982;p78"/>
          <p:cNvCxnSpPr>
            <a:stCxn id="2962" idx="2"/>
            <a:endCxn id="298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3" name="Google Shape;2983;p78"/>
          <p:cNvCxnSpPr>
            <a:stCxn id="2962" idx="2"/>
            <a:endCxn id="297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4" name="Google Shape;2984;p78"/>
          <p:cNvCxnSpPr>
            <a:stCxn id="2962" idx="2"/>
            <a:endCxn id="298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5" name="Google Shape;2985;p78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6" name="Google Shape;2986;p78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7" name="Google Shape;2987;p78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88" name="Google Shape;2988;p78"/>
          <p:cNvCxnSpPr>
            <a:stCxn id="2964" idx="2"/>
            <a:endCxn id="298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9" name="Google Shape;2989;p78"/>
          <p:cNvCxnSpPr>
            <a:stCxn id="2964" idx="2"/>
            <a:endCxn id="298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0" name="Google Shape;2990;p78"/>
          <p:cNvCxnSpPr>
            <a:stCxn id="2964" idx="2"/>
            <a:endCxn id="298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1" name="Google Shape;2991;p78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2" name="Google Shape;2992;p78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3" name="Google Shape;2993;p78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94" name="Google Shape;2994;p78"/>
          <p:cNvCxnSpPr>
            <a:stCxn id="2966" idx="2"/>
            <a:endCxn id="299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5" name="Google Shape;2995;p78"/>
          <p:cNvCxnSpPr>
            <a:stCxn id="2966" idx="2"/>
            <a:endCxn id="299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6" name="Google Shape;2996;p78"/>
          <p:cNvCxnSpPr>
            <a:stCxn id="2966" idx="2"/>
            <a:endCxn id="299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2" name="Google Shape;2932;p78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0" name="Google Shape;2930;p78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4" name="Google Shape;2934;p78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7" name="Google Shape;2997;p78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8" name="Google Shape;2998;p78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9" name="Google Shape;2999;p78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0" name="Google Shape;3000;p78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1" name="Google Shape;3001;p78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2" name="Google Shape;3002;p78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3" name="Google Shape;3003;p78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4" name="Google Shape;3004;p78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5" name="Google Shape;3005;p78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6" name="Google Shape;3006;p78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7" name="Google Shape;3007;p78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8" name="Google Shape;3008;p78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09" name="Google Shape;3009;p78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010" name="Google Shape;3010;p78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920" name="Google Shape;2920;p78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2" name="Google Shape;2922;p78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0" name="Google Shape;2960;p78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2" name="Google Shape;2962;p78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4" name="Google Shape;2964;p78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6" name="Google Shape;2966;p78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5" name="Google Shape;2925;p78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1" name="Google Shape;3011;p78"/>
          <p:cNvSpPr/>
          <p:nvPr/>
        </p:nvSpPr>
        <p:spPr>
          <a:xfrm>
            <a:off x="3080127" y="2918200"/>
            <a:ext cx="1051225" cy="640150"/>
          </a:xfrm>
          <a:custGeom>
            <a:rect b="b" l="l" r="r" t="t"/>
            <a:pathLst>
              <a:path extrusionOk="0" h="25606" w="42049">
                <a:moveTo>
                  <a:pt x="10661" y="25606"/>
                </a:moveTo>
                <a:cubicBezTo>
                  <a:pt x="9089" y="23711"/>
                  <a:pt x="-4004" y="18504"/>
                  <a:pt x="1227" y="14236"/>
                </a:cubicBezTo>
                <a:cubicBezTo>
                  <a:pt x="6458" y="9968"/>
                  <a:pt x="35245" y="2373"/>
                  <a:pt x="42049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012" name="Google Shape;3012;p78"/>
          <p:cNvSpPr/>
          <p:nvPr/>
        </p:nvSpPr>
        <p:spPr>
          <a:xfrm>
            <a:off x="1473400" y="2976275"/>
            <a:ext cx="15240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"Prune me."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3" name="Google Shape;3013;p78"/>
          <p:cNvSpPr/>
          <p:nvPr/>
        </p:nvSpPr>
        <p:spPr>
          <a:xfrm>
            <a:off x="1610050" y="2204500"/>
            <a:ext cx="1844100" cy="583200"/>
          </a:xfrm>
          <a:prstGeom prst="wedgeRoundRectCallout">
            <a:avLst>
              <a:gd fmla="val 65433" name="adj1"/>
              <a:gd fmla="val 5677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Removing R3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7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18" name="Google Shape;3018;p79"/>
          <p:cNvCxnSpPr>
            <a:stCxn id="3019" idx="2"/>
            <a:endCxn id="3020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1" name="Google Shape;3021;p79"/>
          <p:cNvCxnSpPr>
            <a:stCxn id="3020" idx="2"/>
            <a:endCxn id="302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3" name="Google Shape;3023;p79"/>
          <p:cNvCxnSpPr>
            <a:stCxn id="3020" idx="2"/>
            <a:endCxn id="302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5" name="Google Shape;3025;p79"/>
          <p:cNvCxnSpPr>
            <a:stCxn id="3026" idx="2"/>
            <a:endCxn id="3027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8" name="Google Shape;3028;p79"/>
          <p:cNvCxnSpPr>
            <a:stCxn id="3029" idx="2"/>
            <a:endCxn id="3030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0" name="Google Shape;3030;p79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1" name="Google Shape;3031;p79"/>
          <p:cNvCxnSpPr>
            <a:stCxn id="3027" idx="2"/>
            <a:endCxn id="3032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3" name="Google Shape;3033;p79"/>
          <p:cNvCxnSpPr>
            <a:stCxn id="3027" idx="2"/>
            <a:endCxn id="3034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5" name="Google Shape;3035;p79"/>
          <p:cNvCxnSpPr>
            <a:stCxn id="3027" idx="2"/>
            <a:endCxn id="3036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7" name="Google Shape;3037;p79"/>
          <p:cNvCxnSpPr>
            <a:stCxn id="3022" idx="2"/>
            <a:endCxn id="3038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9" name="Google Shape;3039;p79"/>
          <p:cNvCxnSpPr>
            <a:stCxn id="3022" idx="2"/>
            <a:endCxn id="3040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1" name="Google Shape;3041;p79"/>
          <p:cNvCxnSpPr>
            <a:stCxn id="3022" idx="2"/>
            <a:endCxn id="3042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3" name="Google Shape;3043;p79"/>
          <p:cNvCxnSpPr>
            <a:stCxn id="3024" idx="2"/>
            <a:endCxn id="3044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5" name="Google Shape;3045;p79"/>
          <p:cNvCxnSpPr>
            <a:stCxn id="3024" idx="2"/>
            <a:endCxn id="3046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7" name="Google Shape;3047;p79"/>
          <p:cNvCxnSpPr>
            <a:stCxn id="3024" idx="2"/>
            <a:endCxn id="3048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9" name="Google Shape;3049;p79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Before pruning: Tree from sender to all hosts.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pruning: Tree from sender to all group members only.</a:t>
            </a:r>
            <a:endParaRPr/>
          </a:p>
        </p:txBody>
      </p:sp>
      <p:sp>
        <p:nvSpPr>
          <p:cNvPr id="3050" name="Google Shape;3050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3019" name="Google Shape;3019;p79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1" name="Google Shape;3051;p79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2" name="Google Shape;3052;p79"/>
          <p:cNvCxnSpPr>
            <a:stCxn id="3051" idx="4"/>
            <a:endCxn id="3019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3" name="Google Shape;3053;p79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4" name="Google Shape;3054;p79"/>
          <p:cNvCxnSpPr>
            <a:stCxn id="3051" idx="4"/>
            <a:endCxn id="3053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9" name="Google Shape;3029;p79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0" name="Google Shape;3020;p79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5" name="Google Shape;3055;p79"/>
          <p:cNvCxnSpPr>
            <a:stCxn id="3019" idx="2"/>
            <a:endCxn id="3029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6" name="Google Shape;3026;p79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6" name="Google Shape;3056;p79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57" name="Google Shape;3057;p79"/>
          <p:cNvCxnSpPr>
            <a:stCxn id="3053" idx="2"/>
            <a:endCxn id="3056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8" name="Google Shape;3058;p79"/>
          <p:cNvCxnSpPr>
            <a:stCxn id="3053" idx="2"/>
            <a:endCxn id="3026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9" name="Google Shape;3059;p79"/>
          <p:cNvCxnSpPr>
            <a:stCxn id="3029" idx="2"/>
            <a:endCxn id="3060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1" name="Google Shape;3061;p79"/>
          <p:cNvCxnSpPr>
            <a:stCxn id="3056" idx="2"/>
            <a:endCxn id="3062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3" name="Google Shape;3063;p79"/>
          <p:cNvCxnSpPr>
            <a:stCxn id="3056" idx="2"/>
            <a:endCxn id="3064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5" name="Google Shape;3065;p79"/>
          <p:cNvCxnSpPr>
            <a:stCxn id="3026" idx="2"/>
            <a:endCxn id="3066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40" name="Google Shape;3040;p79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8" name="Google Shape;3038;p79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2" name="Google Shape;3042;p79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6" name="Google Shape;3046;p79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4" name="Google Shape;3044;p79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8" name="Google Shape;3048;p79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7" name="Google Shape;3067;p79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8" name="Google Shape;3068;p79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9" name="Google Shape;3069;p79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0" name="Google Shape;3070;p79"/>
          <p:cNvCxnSpPr>
            <a:stCxn id="3060" idx="2"/>
            <a:endCxn id="3068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1" name="Google Shape;3071;p79"/>
          <p:cNvCxnSpPr>
            <a:stCxn id="3060" idx="2"/>
            <a:endCxn id="3067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2" name="Google Shape;3072;p79"/>
          <p:cNvCxnSpPr>
            <a:stCxn id="3060" idx="2"/>
            <a:endCxn id="3069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3" name="Google Shape;3073;p79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4" name="Google Shape;3074;p79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5" name="Google Shape;3075;p79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76" name="Google Shape;3076;p79"/>
          <p:cNvCxnSpPr>
            <a:stCxn id="3030" idx="2"/>
            <a:endCxn id="3074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7" name="Google Shape;3077;p79"/>
          <p:cNvCxnSpPr>
            <a:stCxn id="3030" idx="2"/>
            <a:endCxn id="3073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8" name="Google Shape;3078;p79"/>
          <p:cNvCxnSpPr>
            <a:stCxn id="3030" idx="2"/>
            <a:endCxn id="3075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9" name="Google Shape;3079;p79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0" name="Google Shape;3080;p79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1" name="Google Shape;3081;p79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2" name="Google Shape;3082;p79"/>
          <p:cNvCxnSpPr>
            <a:stCxn id="3062" idx="2"/>
            <a:endCxn id="3080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3" name="Google Shape;3083;p79"/>
          <p:cNvCxnSpPr>
            <a:stCxn id="3062" idx="2"/>
            <a:endCxn id="3079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4" name="Google Shape;3084;p79"/>
          <p:cNvCxnSpPr>
            <a:stCxn id="3062" idx="2"/>
            <a:endCxn id="3081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5" name="Google Shape;3085;p79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6" name="Google Shape;3086;p79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7" name="Google Shape;3087;p79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88" name="Google Shape;3088;p79"/>
          <p:cNvCxnSpPr>
            <a:stCxn id="3064" idx="2"/>
            <a:endCxn id="3086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9" name="Google Shape;3089;p79"/>
          <p:cNvCxnSpPr>
            <a:stCxn id="3064" idx="2"/>
            <a:endCxn id="3085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0" name="Google Shape;3090;p79"/>
          <p:cNvCxnSpPr>
            <a:stCxn id="3064" idx="2"/>
            <a:endCxn id="3087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1" name="Google Shape;3091;p79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2" name="Google Shape;3092;p79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3" name="Google Shape;3093;p79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94" name="Google Shape;3094;p79"/>
          <p:cNvCxnSpPr>
            <a:stCxn id="3066" idx="2"/>
            <a:endCxn id="3092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5" name="Google Shape;3095;p79"/>
          <p:cNvCxnSpPr>
            <a:stCxn id="3066" idx="2"/>
            <a:endCxn id="3091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6" name="Google Shape;3096;p79"/>
          <p:cNvCxnSpPr>
            <a:stCxn id="3066" idx="2"/>
            <a:endCxn id="3093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4" name="Google Shape;3034;p79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2" name="Google Shape;3032;p79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6" name="Google Shape;3036;p79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7" name="Google Shape;3097;p79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8" name="Google Shape;3098;p79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9" name="Google Shape;3099;p79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0" name="Google Shape;3100;p79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1" name="Google Shape;3101;p79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2" name="Google Shape;3102;p79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3" name="Google Shape;3103;p79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4" name="Google Shape;3104;p79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5" name="Google Shape;3105;p79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6" name="Google Shape;3106;p79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7" name="Google Shape;3107;p79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8" name="Google Shape;3108;p79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9" name="Google Shape;3109;p79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022" name="Google Shape;3022;p79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4" name="Google Shape;3024;p79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0" name="Google Shape;3060;p79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2" name="Google Shape;3062;p79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4" name="Google Shape;3064;p79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6" name="Google Shape;3066;p79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7" name="Google Shape;3027;p79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4" name="Google Shape;3114;p80"/>
          <p:cNvCxnSpPr>
            <a:stCxn id="3115" idx="2"/>
            <a:endCxn id="3116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7" name="Google Shape;3117;p80"/>
          <p:cNvCxnSpPr>
            <a:stCxn id="3116" idx="2"/>
            <a:endCxn id="3118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9" name="Google Shape;3119;p80"/>
          <p:cNvCxnSpPr>
            <a:stCxn id="3116" idx="2"/>
            <a:endCxn id="3120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1" name="Google Shape;3121;p80"/>
          <p:cNvCxnSpPr>
            <a:stCxn id="3122" idx="2"/>
            <a:endCxn id="3123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4" name="Google Shape;3124;p80"/>
          <p:cNvCxnSpPr>
            <a:stCxn id="3125" idx="2"/>
            <a:endCxn id="3126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6" name="Google Shape;3126;p80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27" name="Google Shape;3127;p80"/>
          <p:cNvCxnSpPr>
            <a:stCxn id="3123" idx="2"/>
            <a:endCxn id="3128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9" name="Google Shape;3129;p80"/>
          <p:cNvCxnSpPr>
            <a:stCxn id="3123" idx="2"/>
            <a:endCxn id="3130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1" name="Google Shape;3131;p80"/>
          <p:cNvCxnSpPr>
            <a:stCxn id="3123" idx="2"/>
            <a:endCxn id="3132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3" name="Google Shape;3133;p80"/>
          <p:cNvCxnSpPr>
            <a:stCxn id="3118" idx="2"/>
            <a:endCxn id="3134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5" name="Google Shape;3135;p80"/>
          <p:cNvCxnSpPr>
            <a:stCxn id="3118" idx="2"/>
            <a:endCxn id="3136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7" name="Google Shape;3137;p80"/>
          <p:cNvCxnSpPr>
            <a:stCxn id="3118" idx="2"/>
            <a:endCxn id="3138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9" name="Google Shape;3139;p80"/>
          <p:cNvCxnSpPr>
            <a:stCxn id="3120" idx="2"/>
            <a:endCxn id="3140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1" name="Google Shape;3141;p80"/>
          <p:cNvCxnSpPr>
            <a:stCxn id="3120" idx="2"/>
            <a:endCxn id="3142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3" name="Google Shape;3143;p80"/>
          <p:cNvCxnSpPr>
            <a:stCxn id="3120" idx="2"/>
            <a:endCxn id="3144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5" name="Google Shape;3145;p80"/>
          <p:cNvSpPr txBox="1"/>
          <p:nvPr>
            <p:ph idx="1" type="body"/>
          </p:nvPr>
        </p:nvSpPr>
        <p:spPr>
          <a:xfrm>
            <a:off x="107050" y="402200"/>
            <a:ext cx="8909700" cy="16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Periodically clear all pruning information (revert to forwarding to all children).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children are still not group members, you'll get pruned again.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your children have joined the group, they'll start receiving messages.</a:t>
            </a:r>
            <a:endParaRPr/>
          </a:p>
        </p:txBody>
      </p:sp>
      <p:sp>
        <p:nvSpPr>
          <p:cNvPr id="3146" name="Google Shape;3146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Periodically Clear Prune States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115" name="Google Shape;3115;p80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7" name="Google Shape;3147;p80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48" name="Google Shape;3148;p80"/>
          <p:cNvCxnSpPr>
            <a:stCxn id="3147" idx="4"/>
            <a:endCxn id="3115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9" name="Google Shape;3149;p80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0" name="Google Shape;3150;p80"/>
          <p:cNvCxnSpPr>
            <a:stCxn id="3147" idx="4"/>
            <a:endCxn id="3149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5" name="Google Shape;3125;p80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6" name="Google Shape;3116;p80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1" name="Google Shape;3151;p80"/>
          <p:cNvCxnSpPr>
            <a:stCxn id="3115" idx="2"/>
            <a:endCxn id="3125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2" name="Google Shape;3122;p80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2" name="Google Shape;3152;p80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3" name="Google Shape;3153;p80"/>
          <p:cNvCxnSpPr>
            <a:stCxn id="3149" idx="2"/>
            <a:endCxn id="3152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4" name="Google Shape;3154;p80"/>
          <p:cNvCxnSpPr>
            <a:stCxn id="3149" idx="2"/>
            <a:endCxn id="3122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5" name="Google Shape;3155;p80"/>
          <p:cNvCxnSpPr>
            <a:stCxn id="3125" idx="2"/>
            <a:endCxn id="3156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7" name="Google Shape;3157;p80"/>
          <p:cNvCxnSpPr>
            <a:stCxn id="3152" idx="2"/>
            <a:endCxn id="315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9" name="Google Shape;3159;p80"/>
          <p:cNvCxnSpPr>
            <a:stCxn id="3152" idx="2"/>
            <a:endCxn id="3160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1" name="Google Shape;3161;p80"/>
          <p:cNvCxnSpPr>
            <a:stCxn id="3122" idx="2"/>
            <a:endCxn id="3162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6" name="Google Shape;3136;p80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4" name="Google Shape;3134;p80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8" name="Google Shape;3138;p80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2" name="Google Shape;3142;p80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0" name="Google Shape;3140;p80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4" name="Google Shape;3144;p80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3" name="Google Shape;3163;p80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4" name="Google Shape;3164;p80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5" name="Google Shape;3165;p80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66" name="Google Shape;3166;p80"/>
          <p:cNvCxnSpPr>
            <a:stCxn id="3156" idx="2"/>
            <a:endCxn id="3164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7" name="Google Shape;3167;p80"/>
          <p:cNvCxnSpPr>
            <a:stCxn id="3156" idx="2"/>
            <a:endCxn id="3163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8" name="Google Shape;3168;p80"/>
          <p:cNvCxnSpPr>
            <a:stCxn id="3156" idx="2"/>
            <a:endCxn id="3165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9" name="Google Shape;3169;p80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0" name="Google Shape;3170;p80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1" name="Google Shape;3171;p80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2" name="Google Shape;3172;p80"/>
          <p:cNvCxnSpPr>
            <a:stCxn id="3126" idx="2"/>
            <a:endCxn id="3170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3" name="Google Shape;3173;p80"/>
          <p:cNvCxnSpPr>
            <a:stCxn id="3126" idx="2"/>
            <a:endCxn id="3169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4" name="Google Shape;3174;p80"/>
          <p:cNvCxnSpPr>
            <a:stCxn id="3126" idx="2"/>
            <a:endCxn id="3171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5" name="Google Shape;3175;p80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6" name="Google Shape;3176;p80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7" name="Google Shape;3177;p80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8" name="Google Shape;3178;p80"/>
          <p:cNvCxnSpPr>
            <a:stCxn id="3158" idx="2"/>
            <a:endCxn id="3176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9" name="Google Shape;3179;p80"/>
          <p:cNvCxnSpPr>
            <a:stCxn id="3158" idx="2"/>
            <a:endCxn id="3175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0" name="Google Shape;3180;p80"/>
          <p:cNvCxnSpPr>
            <a:stCxn id="3158" idx="2"/>
            <a:endCxn id="3177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1" name="Google Shape;3181;p80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2" name="Google Shape;3182;p80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3" name="Google Shape;3183;p80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4" name="Google Shape;3184;p80"/>
          <p:cNvCxnSpPr>
            <a:stCxn id="3160" idx="2"/>
            <a:endCxn id="3182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5" name="Google Shape;3185;p80"/>
          <p:cNvCxnSpPr>
            <a:stCxn id="3160" idx="2"/>
            <a:endCxn id="3181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6" name="Google Shape;3186;p80"/>
          <p:cNvCxnSpPr>
            <a:stCxn id="3160" idx="2"/>
            <a:endCxn id="3183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7" name="Google Shape;3187;p80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8" name="Google Shape;3188;p80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9" name="Google Shape;3189;p80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0" name="Google Shape;3190;p80"/>
          <p:cNvCxnSpPr>
            <a:stCxn id="3162" idx="2"/>
            <a:endCxn id="3188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1" name="Google Shape;3191;p80"/>
          <p:cNvCxnSpPr>
            <a:stCxn id="3162" idx="2"/>
            <a:endCxn id="3187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80"/>
          <p:cNvCxnSpPr>
            <a:stCxn id="3162" idx="2"/>
            <a:endCxn id="3189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30" name="Google Shape;3130;p80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8" name="Google Shape;3128;p80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2" name="Google Shape;3132;p80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3" name="Google Shape;3193;p80"/>
          <p:cNvSpPr/>
          <p:nvPr/>
        </p:nvSpPr>
        <p:spPr>
          <a:xfrm>
            <a:off x="237700" y="22860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4" name="Google Shape;3194;p80"/>
          <p:cNvSpPr txBox="1"/>
          <p:nvPr/>
        </p:nvSpPr>
        <p:spPr>
          <a:xfrm>
            <a:off x="403450" y="2226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5" name="Google Shape;3195;p80"/>
          <p:cNvSpPr/>
          <p:nvPr/>
        </p:nvSpPr>
        <p:spPr>
          <a:xfrm>
            <a:off x="237700" y="25908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6" name="Google Shape;3196;p80"/>
          <p:cNvSpPr txBox="1"/>
          <p:nvPr/>
        </p:nvSpPr>
        <p:spPr>
          <a:xfrm>
            <a:off x="403450" y="25315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97" name="Google Shape;3197;p80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98" name="Google Shape;3198;p80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99" name="Google Shape;3199;p80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0" name="Google Shape;3200;p80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1" name="Google Shape;3201;p80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2" name="Google Shape;3202;p80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3" name="Google Shape;3203;p80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4" name="Google Shape;3204;p80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205" name="Google Shape;3205;p80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118" name="Google Shape;3118;p80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0" name="Google Shape;3120;p80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6" name="Google Shape;3156;p80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8" name="Google Shape;3158;p80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0" name="Google Shape;3160;p80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2" name="Google Shape;3162;p80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3" name="Google Shape;3123;p80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9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Pruning Routers with Prune Messages</a:t>
            </a:r>
            <a:endParaRPr/>
          </a:p>
        </p:txBody>
      </p:sp>
      <p:sp>
        <p:nvSpPr>
          <p:cNvPr id="3211" name="Google Shape;3211;p81"/>
          <p:cNvSpPr txBox="1"/>
          <p:nvPr>
            <p:ph idx="1" type="body"/>
          </p:nvPr>
        </p:nvSpPr>
        <p:spPr>
          <a:xfrm>
            <a:off x="107050" y="402200"/>
            <a:ext cx="8909700" cy="17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a router, and you notice that: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directly-connected group members.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IGMP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You have no children on the tree.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 your multicast table to check this.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you can be pruned. Send a prune message to your parent to inform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Parent can then remove you from their list of children.</a:t>
            </a:r>
            <a:endParaRPr/>
          </a:p>
        </p:txBody>
      </p:sp>
      <p:sp>
        <p:nvSpPr>
          <p:cNvPr id="3212" name="Google Shape;3212;p81"/>
          <p:cNvSpPr/>
          <p:nvPr/>
        </p:nvSpPr>
        <p:spPr>
          <a:xfrm>
            <a:off x="4489025" y="2827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3" name="Google Shape;3213;p81"/>
          <p:cNvSpPr/>
          <p:nvPr/>
        </p:nvSpPr>
        <p:spPr>
          <a:xfrm>
            <a:off x="40318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4" name="Google Shape;3214;p81"/>
          <p:cNvSpPr/>
          <p:nvPr/>
        </p:nvSpPr>
        <p:spPr>
          <a:xfrm>
            <a:off x="31174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5" name="Google Shape;3215;p81"/>
          <p:cNvSpPr/>
          <p:nvPr/>
        </p:nvSpPr>
        <p:spPr>
          <a:xfrm>
            <a:off x="49462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6" name="Google Shape;3216;p81"/>
          <p:cNvSpPr/>
          <p:nvPr/>
        </p:nvSpPr>
        <p:spPr>
          <a:xfrm>
            <a:off x="58606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7" name="Google Shape;3217;p81"/>
          <p:cNvSpPr/>
          <p:nvPr/>
        </p:nvSpPr>
        <p:spPr>
          <a:xfrm>
            <a:off x="22030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8" name="Google Shape;3218;p81"/>
          <p:cNvSpPr/>
          <p:nvPr/>
        </p:nvSpPr>
        <p:spPr>
          <a:xfrm>
            <a:off x="67750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19" name="Google Shape;3219;p81"/>
          <p:cNvCxnSpPr>
            <a:stCxn id="3212" idx="2"/>
            <a:endCxn id="3217" idx="0"/>
          </p:cNvCxnSpPr>
          <p:nvPr/>
        </p:nvCxnSpPr>
        <p:spPr>
          <a:xfrm flipH="1">
            <a:off x="2355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0" name="Google Shape;3220;p81"/>
          <p:cNvCxnSpPr>
            <a:stCxn id="3212" idx="2"/>
            <a:endCxn id="3214" idx="0"/>
          </p:cNvCxnSpPr>
          <p:nvPr/>
        </p:nvCxnSpPr>
        <p:spPr>
          <a:xfrm flipH="1">
            <a:off x="32698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1" name="Google Shape;3221;p81"/>
          <p:cNvCxnSpPr>
            <a:stCxn id="3212" idx="2"/>
            <a:endCxn id="3213" idx="0"/>
          </p:cNvCxnSpPr>
          <p:nvPr/>
        </p:nvCxnSpPr>
        <p:spPr>
          <a:xfrm flipH="1">
            <a:off x="41842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2" name="Google Shape;3222;p81"/>
          <p:cNvCxnSpPr>
            <a:stCxn id="3212" idx="2"/>
            <a:endCxn id="3215" idx="0"/>
          </p:cNvCxnSpPr>
          <p:nvPr/>
        </p:nvCxnSpPr>
        <p:spPr>
          <a:xfrm>
            <a:off x="46414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3" name="Google Shape;3223;p81"/>
          <p:cNvCxnSpPr>
            <a:stCxn id="3212" idx="2"/>
            <a:endCxn id="3216" idx="0"/>
          </p:cNvCxnSpPr>
          <p:nvPr/>
        </p:nvCxnSpPr>
        <p:spPr>
          <a:xfrm>
            <a:off x="46414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4" name="Google Shape;3224;p81"/>
          <p:cNvCxnSpPr>
            <a:stCxn id="3212" idx="2"/>
            <a:endCxn id="3218" idx="0"/>
          </p:cNvCxnSpPr>
          <p:nvPr/>
        </p:nvCxnSpPr>
        <p:spPr>
          <a:xfrm>
            <a:off x="4641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5" name="Google Shape;3225;p81"/>
          <p:cNvSpPr/>
          <p:nvPr/>
        </p:nvSpPr>
        <p:spPr>
          <a:xfrm>
            <a:off x="2043980" y="3700650"/>
            <a:ext cx="952000" cy="607725"/>
          </a:xfrm>
          <a:custGeom>
            <a:rect b="b" l="l" r="r" t="t"/>
            <a:pathLst>
              <a:path extrusionOk="0" h="24309" w="38080">
                <a:moveTo>
                  <a:pt x="4313" y="24309"/>
                </a:moveTo>
                <a:cubicBezTo>
                  <a:pt x="3943" y="22905"/>
                  <a:pt x="-3538" y="19937"/>
                  <a:pt x="2090" y="15885"/>
                </a:cubicBezTo>
                <a:cubicBezTo>
                  <a:pt x="7718" y="11834"/>
                  <a:pt x="32082" y="2648"/>
                  <a:pt x="3808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6" name="Google Shape;3226;p81"/>
          <p:cNvSpPr/>
          <p:nvPr/>
        </p:nvSpPr>
        <p:spPr>
          <a:xfrm>
            <a:off x="3006018" y="3649100"/>
            <a:ext cx="743450" cy="659275"/>
          </a:xfrm>
          <a:custGeom>
            <a:rect b="b" l="l" r="r" t="t"/>
            <a:pathLst>
              <a:path extrusionOk="0" h="26371" w="29738">
                <a:moveTo>
                  <a:pt x="2407" y="26371"/>
                </a:moveTo>
                <a:cubicBezTo>
                  <a:pt x="2326" y="25127"/>
                  <a:pt x="-2633" y="23299"/>
                  <a:pt x="1922" y="18904"/>
                </a:cubicBezTo>
                <a:cubicBezTo>
                  <a:pt x="6477" y="14509"/>
                  <a:pt x="25102" y="3151"/>
                  <a:pt x="2973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7" name="Google Shape;3227;p81"/>
          <p:cNvSpPr/>
          <p:nvPr/>
        </p:nvSpPr>
        <p:spPr>
          <a:xfrm>
            <a:off x="3945369" y="3575650"/>
            <a:ext cx="380000" cy="732725"/>
          </a:xfrm>
          <a:custGeom>
            <a:rect b="b" l="l" r="r" t="t"/>
            <a:pathLst>
              <a:path extrusionOk="0" h="29309" w="15200">
                <a:moveTo>
                  <a:pt x="1409" y="29309"/>
                </a:moveTo>
                <a:cubicBezTo>
                  <a:pt x="1328" y="28065"/>
                  <a:pt x="-1374" y="26727"/>
                  <a:pt x="924" y="21842"/>
                </a:cubicBezTo>
                <a:cubicBezTo>
                  <a:pt x="3223" y="16957"/>
                  <a:pt x="12821" y="3640"/>
                  <a:pt x="1520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3228" name="Google Shape;3228;p81"/>
          <p:cNvSpPr txBox="1"/>
          <p:nvPr/>
        </p:nvSpPr>
        <p:spPr>
          <a:xfrm>
            <a:off x="20725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9" name="Google Shape;3229;p81"/>
          <p:cNvSpPr txBox="1"/>
          <p:nvPr/>
        </p:nvSpPr>
        <p:spPr>
          <a:xfrm>
            <a:off x="29869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0" name="Google Shape;3230;p81"/>
          <p:cNvSpPr txBox="1"/>
          <p:nvPr/>
        </p:nvSpPr>
        <p:spPr>
          <a:xfrm>
            <a:off x="39013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prune.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1" name="Google Shape;3231;p81"/>
          <p:cNvSpPr txBox="1"/>
          <p:nvPr/>
        </p:nvSpPr>
        <p:spPr>
          <a:xfrm>
            <a:off x="5215325" y="4503750"/>
            <a:ext cx="1595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Non-members according to IGMP.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2" name="Google Shape;3232;p81"/>
          <p:cNvSpPr/>
          <p:nvPr/>
        </p:nvSpPr>
        <p:spPr>
          <a:xfrm>
            <a:off x="1718700" y="2724150"/>
            <a:ext cx="2203800" cy="574800"/>
          </a:xfrm>
          <a:prstGeom prst="wedgeRoundRectCallout">
            <a:avLst>
              <a:gd fmla="val 73155" name="adj1"/>
              <a:gd fmla="val -1507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Deleting R2, R3, R4 from my list of children.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3" name="Google Shape;3233;p81"/>
          <p:cNvSpPr/>
          <p:nvPr/>
        </p:nvSpPr>
        <p:spPr>
          <a:xfrm flipH="1">
            <a:off x="5353625" y="2172750"/>
            <a:ext cx="2670000" cy="798000"/>
          </a:xfrm>
          <a:prstGeom prst="wedgeRoundRectCallout">
            <a:avLst>
              <a:gd fmla="val 68511" name="adj1"/>
              <a:gd fmla="val 54825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no children, and no directly-connected group members, so I can be pruned.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34" name="Google Shape;3234;p81"/>
          <p:cNvCxnSpPr/>
          <p:nvPr/>
        </p:nvCxnSpPr>
        <p:spPr>
          <a:xfrm flipH="1" rot="10800000">
            <a:off x="4641425" y="2289150"/>
            <a:ext cx="266700" cy="462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5" name="Google Shape;3235;p81"/>
          <p:cNvSpPr txBox="1"/>
          <p:nvPr/>
        </p:nvSpPr>
        <p:spPr>
          <a:xfrm>
            <a:off x="3789475" y="2150625"/>
            <a:ext cx="95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 prune to parent.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9" name="Shape 3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40" name="Google Shape;3240;p82"/>
          <p:cNvCxnSpPr>
            <a:stCxn id="3241" idx="2"/>
            <a:endCxn id="3242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3" name="Google Shape;3243;p82"/>
          <p:cNvCxnSpPr>
            <a:stCxn id="3242" idx="2"/>
            <a:endCxn id="3244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5" name="Google Shape;3245;p82"/>
          <p:cNvCxnSpPr>
            <a:stCxn id="3242" idx="2"/>
            <a:endCxn id="3246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7" name="Google Shape;3247;p82"/>
          <p:cNvCxnSpPr>
            <a:stCxn id="3248" idx="2"/>
            <a:endCxn id="3249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0" name="Google Shape;3250;p82"/>
          <p:cNvCxnSpPr>
            <a:stCxn id="3251" idx="2"/>
            <a:endCxn id="3252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2" name="Google Shape;3252;p82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53" name="Google Shape;3253;p82"/>
          <p:cNvCxnSpPr>
            <a:stCxn id="3249" idx="2"/>
            <a:endCxn id="325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5" name="Google Shape;3255;p82"/>
          <p:cNvCxnSpPr>
            <a:stCxn id="3249" idx="2"/>
            <a:endCxn id="3256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7" name="Google Shape;3257;p82"/>
          <p:cNvCxnSpPr>
            <a:stCxn id="3249" idx="2"/>
            <a:endCxn id="3258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9" name="Google Shape;3259;p82"/>
          <p:cNvCxnSpPr>
            <a:stCxn id="3244" idx="2"/>
            <a:endCxn id="3260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1" name="Google Shape;3261;p82"/>
          <p:cNvCxnSpPr>
            <a:stCxn id="3244" idx="2"/>
            <a:endCxn id="3262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3" name="Google Shape;3263;p82"/>
          <p:cNvCxnSpPr>
            <a:stCxn id="3244" idx="2"/>
            <a:endCxn id="3264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5" name="Google Shape;3265;p82"/>
          <p:cNvCxnSpPr>
            <a:stCxn id="3246" idx="2"/>
            <a:endCxn id="3266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7" name="Google Shape;3267;p82"/>
          <p:cNvCxnSpPr>
            <a:stCxn id="3246" idx="2"/>
            <a:endCxn id="3268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9" name="Google Shape;3269;p82"/>
          <p:cNvCxnSpPr>
            <a:stCxn id="3246" idx="2"/>
            <a:endCxn id="3270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1" name="Google Shape;3271;p82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build a tree from </a:t>
            </a:r>
            <a:r>
              <a:rPr i="1" lang="en"/>
              <a:t>each sender</a:t>
            </a:r>
            <a:r>
              <a:rPr lang="en"/>
              <a:t> to </a:t>
            </a:r>
            <a:r>
              <a:rPr i="1" lang="en"/>
              <a:t>each destination group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one tree from source A to all members of G1...</a:t>
            </a:r>
            <a:endParaRPr/>
          </a:p>
        </p:txBody>
      </p:sp>
      <p:sp>
        <p:nvSpPr>
          <p:cNvPr id="3272" name="Google Shape;3272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Sender, Per Destination Group</a:t>
            </a:r>
            <a:endParaRPr/>
          </a:p>
        </p:txBody>
      </p:sp>
      <p:sp>
        <p:nvSpPr>
          <p:cNvPr id="3241" name="Google Shape;3241;p82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3" name="Google Shape;3273;p82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4" name="Google Shape;3274;p82"/>
          <p:cNvCxnSpPr>
            <a:stCxn id="3273" idx="4"/>
            <a:endCxn id="3241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5" name="Google Shape;3275;p82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6" name="Google Shape;3276;p82"/>
          <p:cNvCxnSpPr>
            <a:stCxn id="3273" idx="4"/>
            <a:endCxn id="3275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1" name="Google Shape;3251;p82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2" name="Google Shape;3242;p82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7" name="Google Shape;3277;p82"/>
          <p:cNvCxnSpPr>
            <a:stCxn id="3241" idx="2"/>
            <a:endCxn id="3251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8" name="Google Shape;3248;p82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8" name="Google Shape;3278;p82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9" name="Google Shape;3279;p82"/>
          <p:cNvCxnSpPr>
            <a:stCxn id="3275" idx="2"/>
            <a:endCxn id="3278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0" name="Google Shape;3280;p82"/>
          <p:cNvCxnSpPr>
            <a:stCxn id="3275" idx="2"/>
            <a:endCxn id="3248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1" name="Google Shape;3281;p82"/>
          <p:cNvCxnSpPr>
            <a:stCxn id="3251" idx="2"/>
            <a:endCxn id="3282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3" name="Google Shape;3283;p82"/>
          <p:cNvCxnSpPr>
            <a:stCxn id="3278" idx="2"/>
            <a:endCxn id="3284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5" name="Google Shape;3285;p82"/>
          <p:cNvCxnSpPr>
            <a:stCxn id="3278" idx="2"/>
            <a:endCxn id="3286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7" name="Google Shape;3287;p82"/>
          <p:cNvCxnSpPr>
            <a:stCxn id="3248" idx="2"/>
            <a:endCxn id="3288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2" name="Google Shape;3262;p82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0" name="Google Shape;3260;p82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4" name="Google Shape;3264;p82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8" name="Google Shape;3268;p82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6" name="Google Shape;3266;p82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0" name="Google Shape;3270;p82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9" name="Google Shape;3289;p82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0" name="Google Shape;3290;p82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1" name="Google Shape;3291;p82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2" name="Google Shape;3292;p82"/>
          <p:cNvCxnSpPr>
            <a:stCxn id="3282" idx="2"/>
            <a:endCxn id="3290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3" name="Google Shape;3293;p82"/>
          <p:cNvCxnSpPr>
            <a:stCxn id="3282" idx="2"/>
            <a:endCxn id="3289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4" name="Google Shape;3294;p82"/>
          <p:cNvCxnSpPr>
            <a:stCxn id="3282" idx="2"/>
            <a:endCxn id="3291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95" name="Google Shape;3295;p82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6" name="Google Shape;3296;p82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7" name="Google Shape;3297;p82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98" name="Google Shape;3298;p82"/>
          <p:cNvCxnSpPr>
            <a:stCxn id="3252" idx="2"/>
            <a:endCxn id="3296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9" name="Google Shape;3299;p82"/>
          <p:cNvCxnSpPr>
            <a:stCxn id="3252" idx="2"/>
            <a:endCxn id="3295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0" name="Google Shape;3300;p82"/>
          <p:cNvCxnSpPr>
            <a:stCxn id="3252" idx="2"/>
            <a:endCxn id="3297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1" name="Google Shape;3301;p82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2" name="Google Shape;3302;p82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3" name="Google Shape;3303;p82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4" name="Google Shape;3304;p82"/>
          <p:cNvCxnSpPr>
            <a:stCxn id="3284" idx="2"/>
            <a:endCxn id="3302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5" name="Google Shape;3305;p82"/>
          <p:cNvCxnSpPr>
            <a:stCxn id="3284" idx="2"/>
            <a:endCxn id="3301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6" name="Google Shape;3306;p82"/>
          <p:cNvCxnSpPr>
            <a:stCxn id="3284" idx="2"/>
            <a:endCxn id="3303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7" name="Google Shape;3307;p82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8" name="Google Shape;3308;p82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9" name="Google Shape;3309;p82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0" name="Google Shape;3310;p82"/>
          <p:cNvCxnSpPr>
            <a:stCxn id="3286" idx="2"/>
            <a:endCxn id="3308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1" name="Google Shape;3311;p82"/>
          <p:cNvCxnSpPr>
            <a:stCxn id="3286" idx="2"/>
            <a:endCxn id="3307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2" name="Google Shape;3312;p82"/>
          <p:cNvCxnSpPr>
            <a:stCxn id="3286" idx="2"/>
            <a:endCxn id="3309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3" name="Google Shape;3313;p82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4" name="Google Shape;3314;p82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5" name="Google Shape;3315;p82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16" name="Google Shape;3316;p82"/>
          <p:cNvCxnSpPr>
            <a:stCxn id="3288" idx="2"/>
            <a:endCxn id="3314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7" name="Google Shape;3317;p82"/>
          <p:cNvCxnSpPr>
            <a:stCxn id="3288" idx="2"/>
            <a:endCxn id="3313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82"/>
          <p:cNvCxnSpPr>
            <a:stCxn id="3288" idx="2"/>
            <a:endCxn id="3315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6" name="Google Shape;3256;p82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4" name="Google Shape;3254;p82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8" name="Google Shape;3258;p82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9" name="Google Shape;3319;p82"/>
          <p:cNvSpPr/>
          <p:nvPr/>
        </p:nvSpPr>
        <p:spPr>
          <a:xfrm>
            <a:off x="6417925" y="1772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0" name="Google Shape;3320;p82"/>
          <p:cNvSpPr txBox="1"/>
          <p:nvPr/>
        </p:nvSpPr>
        <p:spPr>
          <a:xfrm>
            <a:off x="6583675" y="17129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1" name="Google Shape;3321;p82"/>
          <p:cNvSpPr/>
          <p:nvPr/>
        </p:nvSpPr>
        <p:spPr>
          <a:xfrm>
            <a:off x="6417925" y="2077000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2" name="Google Shape;3322;p82"/>
          <p:cNvSpPr txBox="1"/>
          <p:nvPr/>
        </p:nvSpPr>
        <p:spPr>
          <a:xfrm>
            <a:off x="6583675" y="2017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= Is a member of group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23" name="Google Shape;3323;p82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4" name="Google Shape;3324;p82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5" name="Google Shape;3325;p82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6" name="Google Shape;3326;p82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7" name="Google Shape;3327;p82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8" name="Google Shape;3328;p82"/>
          <p:cNvCxnSpPr/>
          <p:nvPr/>
        </p:nvCxnSpPr>
        <p:spPr>
          <a:xfrm flipH="1" rot="10800000">
            <a:off x="4702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29" name="Google Shape;3329;p82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30" name="Google Shape;3330;p82"/>
          <p:cNvCxnSpPr/>
          <p:nvPr/>
        </p:nvCxnSpPr>
        <p:spPr>
          <a:xfrm rot="10800000">
            <a:off x="6807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331" name="Google Shape;3331;p82"/>
          <p:cNvCxnSpPr/>
          <p:nvPr/>
        </p:nvCxnSpPr>
        <p:spPr>
          <a:xfrm flipH="1" rot="10800000">
            <a:off x="7750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244" name="Google Shape;3244;p82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6" name="Google Shape;3246;p82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2" name="Google Shape;3282;p82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4" name="Google Shape;3284;p82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6" name="Google Shape;3286;p82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8" name="Google Shape;3288;p82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9" name="Google Shape;3249;p82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332" name="Google Shape;3332;p82"/>
          <p:cNvGraphicFramePr/>
          <p:nvPr/>
        </p:nvGraphicFramePr>
        <p:xfrm>
          <a:off x="529394" y="167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333" name="Google Shape;3333;p82"/>
          <p:cNvGraphicFramePr/>
          <p:nvPr/>
        </p:nvGraphicFramePr>
        <p:xfrm>
          <a:off x="529394" y="27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334" name="Google Shape;3334;p82"/>
          <p:cNvGraphicFramePr/>
          <p:nvPr/>
        </p:nvGraphicFramePr>
        <p:xfrm>
          <a:off x="529394" y="38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R11, R12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3335" name="Google Shape;3335;p82"/>
          <p:cNvSpPr txBox="1"/>
          <p:nvPr/>
        </p:nvSpPr>
        <p:spPr>
          <a:xfrm>
            <a:off x="529400" y="483870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9" name="Shape 3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40" name="Google Shape;3340;p83"/>
          <p:cNvCxnSpPr>
            <a:stCxn id="3341" idx="2"/>
            <a:endCxn id="3342" idx="0"/>
          </p:cNvCxnSpPr>
          <p:nvPr/>
        </p:nvCxnSpPr>
        <p:spPr>
          <a:xfrm flipH="1">
            <a:off x="3225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83"/>
          <p:cNvCxnSpPr>
            <a:stCxn id="3344" idx="2"/>
            <a:endCxn id="3345" idx="0"/>
          </p:cNvCxnSpPr>
          <p:nvPr/>
        </p:nvCxnSpPr>
        <p:spPr>
          <a:xfrm flipH="1">
            <a:off x="4749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6" name="Google Shape;3346;p83"/>
          <p:cNvCxnSpPr>
            <a:stCxn id="3347" idx="2"/>
            <a:endCxn id="3348" idx="0"/>
          </p:cNvCxnSpPr>
          <p:nvPr/>
        </p:nvCxnSpPr>
        <p:spPr>
          <a:xfrm>
            <a:off x="6654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9" name="Google Shape;3349;p83"/>
          <p:cNvCxnSpPr>
            <a:stCxn id="3350" idx="2"/>
            <a:endCxn id="3351" idx="0"/>
          </p:cNvCxnSpPr>
          <p:nvPr/>
        </p:nvCxnSpPr>
        <p:spPr>
          <a:xfrm flipH="1">
            <a:off x="7797550" y="36957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2" name="Google Shape;3342;p83"/>
          <p:cNvSpPr/>
          <p:nvPr/>
        </p:nvSpPr>
        <p:spPr>
          <a:xfrm>
            <a:off x="307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5" name="Google Shape;3345;p83"/>
          <p:cNvSpPr/>
          <p:nvPr/>
        </p:nvSpPr>
        <p:spPr>
          <a:xfrm>
            <a:off x="459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8" name="Google Shape;3348;p83"/>
          <p:cNvSpPr/>
          <p:nvPr/>
        </p:nvSpPr>
        <p:spPr>
          <a:xfrm>
            <a:off x="6883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1" name="Google Shape;3351;p83"/>
          <p:cNvSpPr/>
          <p:nvPr/>
        </p:nvSpPr>
        <p:spPr>
          <a:xfrm>
            <a:off x="764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2" name="Google Shape;3352;p83"/>
          <p:cNvSpPr txBox="1"/>
          <p:nvPr>
            <p:ph idx="1" type="body"/>
          </p:nvPr>
        </p:nvSpPr>
        <p:spPr>
          <a:xfrm>
            <a:off x="107050" y="402200"/>
            <a:ext cx="8909700" cy="11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need to build a tree from </a:t>
            </a:r>
            <a:r>
              <a:rPr i="1" lang="en"/>
              <a:t>each sender</a:t>
            </a:r>
            <a:r>
              <a:rPr lang="en"/>
              <a:t> to </a:t>
            </a:r>
            <a:r>
              <a:rPr i="1" lang="en"/>
              <a:t>each destination group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need one tree from source A to all members of G1...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...and another tree from source A to all members of G2, and so on...</a:t>
            </a:r>
            <a:endParaRPr/>
          </a:p>
        </p:txBody>
      </p:sp>
      <p:sp>
        <p:nvSpPr>
          <p:cNvPr id="3353" name="Google Shape;3353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Sender, Per Destination Group</a:t>
            </a:r>
            <a:endParaRPr/>
          </a:p>
        </p:txBody>
      </p:sp>
      <p:sp>
        <p:nvSpPr>
          <p:cNvPr id="3354" name="Google Shape;3354;p83"/>
          <p:cNvSpPr/>
          <p:nvPr/>
        </p:nvSpPr>
        <p:spPr>
          <a:xfrm>
            <a:off x="4216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5" name="Google Shape;3355;p83"/>
          <p:cNvSpPr/>
          <p:nvPr/>
        </p:nvSpPr>
        <p:spPr>
          <a:xfrm>
            <a:off x="5740150" y="21717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6" name="Google Shape;3356;p83"/>
          <p:cNvCxnSpPr>
            <a:stCxn id="3355" idx="4"/>
            <a:endCxn id="3354" idx="0"/>
          </p:cNvCxnSpPr>
          <p:nvPr/>
        </p:nvCxnSpPr>
        <p:spPr>
          <a:xfrm flipH="1">
            <a:off x="4368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7" name="Google Shape;3357;p83"/>
          <p:cNvSpPr/>
          <p:nvPr/>
        </p:nvSpPr>
        <p:spPr>
          <a:xfrm>
            <a:off x="7264150" y="27813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8" name="Google Shape;3358;p83"/>
          <p:cNvCxnSpPr>
            <a:stCxn id="3355" idx="4"/>
            <a:endCxn id="3357" idx="0"/>
          </p:cNvCxnSpPr>
          <p:nvPr/>
        </p:nvCxnSpPr>
        <p:spPr>
          <a:xfrm>
            <a:off x="5892550" y="2476500"/>
            <a:ext cx="1524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4" name="Google Shape;3344;p83"/>
          <p:cNvSpPr/>
          <p:nvPr/>
        </p:nvSpPr>
        <p:spPr>
          <a:xfrm>
            <a:off x="4978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1" name="Google Shape;3341;p83"/>
          <p:cNvSpPr/>
          <p:nvPr/>
        </p:nvSpPr>
        <p:spPr>
          <a:xfrm>
            <a:off x="3454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59" name="Google Shape;3359;p83"/>
          <p:cNvCxnSpPr>
            <a:stCxn id="3354" idx="2"/>
            <a:endCxn id="3341" idx="0"/>
          </p:cNvCxnSpPr>
          <p:nvPr/>
        </p:nvCxnSpPr>
        <p:spPr>
          <a:xfrm flipH="1">
            <a:off x="360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0" name="Google Shape;3360;p83"/>
          <p:cNvCxnSpPr>
            <a:stCxn id="3354" idx="2"/>
            <a:endCxn id="3344" idx="0"/>
          </p:cNvCxnSpPr>
          <p:nvPr/>
        </p:nvCxnSpPr>
        <p:spPr>
          <a:xfrm>
            <a:off x="4368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0" name="Google Shape;3350;p83"/>
          <p:cNvSpPr/>
          <p:nvPr/>
        </p:nvSpPr>
        <p:spPr>
          <a:xfrm>
            <a:off x="8026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7" name="Google Shape;3347;p83"/>
          <p:cNvSpPr/>
          <p:nvPr/>
        </p:nvSpPr>
        <p:spPr>
          <a:xfrm>
            <a:off x="6502150" y="33909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61" name="Google Shape;3361;p83"/>
          <p:cNvCxnSpPr>
            <a:stCxn id="3357" idx="2"/>
            <a:endCxn id="3347" idx="0"/>
          </p:cNvCxnSpPr>
          <p:nvPr/>
        </p:nvCxnSpPr>
        <p:spPr>
          <a:xfrm flipH="1">
            <a:off x="6654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2" name="Google Shape;3362;p83"/>
          <p:cNvCxnSpPr>
            <a:stCxn id="3357" idx="2"/>
            <a:endCxn id="3350" idx="0"/>
          </p:cNvCxnSpPr>
          <p:nvPr/>
        </p:nvCxnSpPr>
        <p:spPr>
          <a:xfrm>
            <a:off x="7416550" y="3086100"/>
            <a:ext cx="762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83"/>
          <p:cNvCxnSpPr>
            <a:stCxn id="3341" idx="2"/>
            <a:endCxn id="3364" idx="0"/>
          </p:cNvCxnSpPr>
          <p:nvPr/>
        </p:nvCxnSpPr>
        <p:spPr>
          <a:xfrm>
            <a:off x="3606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5" name="Google Shape;3365;p83"/>
          <p:cNvCxnSpPr>
            <a:stCxn id="3344" idx="2"/>
            <a:endCxn id="3366" idx="0"/>
          </p:cNvCxnSpPr>
          <p:nvPr/>
        </p:nvCxnSpPr>
        <p:spPr>
          <a:xfrm>
            <a:off x="5130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7" name="Google Shape;3367;p83"/>
          <p:cNvCxnSpPr>
            <a:stCxn id="3347" idx="2"/>
            <a:endCxn id="3368" idx="0"/>
          </p:cNvCxnSpPr>
          <p:nvPr/>
        </p:nvCxnSpPr>
        <p:spPr>
          <a:xfrm flipH="1">
            <a:off x="6273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9" name="Google Shape;3369;p83"/>
          <p:cNvCxnSpPr>
            <a:stCxn id="3350" idx="2"/>
            <a:endCxn id="3370" idx="0"/>
          </p:cNvCxnSpPr>
          <p:nvPr/>
        </p:nvCxnSpPr>
        <p:spPr>
          <a:xfrm>
            <a:off x="8178550" y="3695700"/>
            <a:ext cx="3810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1" name="Google Shape;3371;p83"/>
          <p:cNvSpPr/>
          <p:nvPr/>
        </p:nvSpPr>
        <p:spPr>
          <a:xfrm>
            <a:off x="314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2" name="Google Shape;3372;p83"/>
          <p:cNvSpPr/>
          <p:nvPr/>
        </p:nvSpPr>
        <p:spPr>
          <a:xfrm>
            <a:off x="292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3" name="Google Shape;3373;p83"/>
          <p:cNvSpPr/>
          <p:nvPr/>
        </p:nvSpPr>
        <p:spPr>
          <a:xfrm>
            <a:off x="337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4" name="Google Shape;3374;p83"/>
          <p:cNvCxnSpPr>
            <a:stCxn id="3342" idx="2"/>
            <a:endCxn id="3372" idx="0"/>
          </p:cNvCxnSpPr>
          <p:nvPr/>
        </p:nvCxnSpPr>
        <p:spPr>
          <a:xfrm flipH="1">
            <a:off x="299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5" name="Google Shape;3375;p83"/>
          <p:cNvCxnSpPr>
            <a:stCxn id="3342" idx="2"/>
            <a:endCxn id="3371" idx="0"/>
          </p:cNvCxnSpPr>
          <p:nvPr/>
        </p:nvCxnSpPr>
        <p:spPr>
          <a:xfrm>
            <a:off x="322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6" name="Google Shape;3376;p83"/>
          <p:cNvCxnSpPr>
            <a:stCxn id="3342" idx="2"/>
            <a:endCxn id="3373" idx="0"/>
          </p:cNvCxnSpPr>
          <p:nvPr/>
        </p:nvCxnSpPr>
        <p:spPr>
          <a:xfrm>
            <a:off x="322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7" name="Google Shape;3377;p83"/>
          <p:cNvSpPr/>
          <p:nvPr/>
        </p:nvSpPr>
        <p:spPr>
          <a:xfrm>
            <a:off x="3911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8" name="Google Shape;3378;p83"/>
          <p:cNvSpPr/>
          <p:nvPr/>
        </p:nvSpPr>
        <p:spPr>
          <a:xfrm>
            <a:off x="368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9" name="Google Shape;3379;p83"/>
          <p:cNvSpPr/>
          <p:nvPr/>
        </p:nvSpPr>
        <p:spPr>
          <a:xfrm>
            <a:off x="413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0" name="Google Shape;3380;p83"/>
          <p:cNvCxnSpPr>
            <a:stCxn id="3364" idx="2"/>
            <a:endCxn id="3378" idx="0"/>
          </p:cNvCxnSpPr>
          <p:nvPr/>
        </p:nvCxnSpPr>
        <p:spPr>
          <a:xfrm flipH="1">
            <a:off x="375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1" name="Google Shape;3381;p83"/>
          <p:cNvCxnSpPr>
            <a:stCxn id="3364" idx="2"/>
            <a:endCxn id="3377" idx="0"/>
          </p:cNvCxnSpPr>
          <p:nvPr/>
        </p:nvCxnSpPr>
        <p:spPr>
          <a:xfrm>
            <a:off x="3987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2" name="Google Shape;3382;p83"/>
          <p:cNvCxnSpPr>
            <a:stCxn id="3364" idx="2"/>
            <a:endCxn id="3379" idx="0"/>
          </p:cNvCxnSpPr>
          <p:nvPr/>
        </p:nvCxnSpPr>
        <p:spPr>
          <a:xfrm>
            <a:off x="398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3" name="Google Shape;3383;p83"/>
          <p:cNvSpPr/>
          <p:nvPr/>
        </p:nvSpPr>
        <p:spPr>
          <a:xfrm>
            <a:off x="4673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4" name="Google Shape;3384;p83"/>
          <p:cNvSpPr/>
          <p:nvPr/>
        </p:nvSpPr>
        <p:spPr>
          <a:xfrm>
            <a:off x="444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5" name="Google Shape;3385;p83"/>
          <p:cNvSpPr/>
          <p:nvPr/>
        </p:nvSpPr>
        <p:spPr>
          <a:xfrm>
            <a:off x="490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86" name="Google Shape;3386;p83"/>
          <p:cNvCxnSpPr>
            <a:stCxn id="3345" idx="2"/>
            <a:endCxn id="3384" idx="0"/>
          </p:cNvCxnSpPr>
          <p:nvPr/>
        </p:nvCxnSpPr>
        <p:spPr>
          <a:xfrm flipH="1">
            <a:off x="452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7" name="Google Shape;3387;p83"/>
          <p:cNvCxnSpPr>
            <a:stCxn id="3345" idx="2"/>
            <a:endCxn id="3383" idx="0"/>
          </p:cNvCxnSpPr>
          <p:nvPr/>
        </p:nvCxnSpPr>
        <p:spPr>
          <a:xfrm>
            <a:off x="4749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8" name="Google Shape;3388;p83"/>
          <p:cNvCxnSpPr>
            <a:stCxn id="3345" idx="2"/>
            <a:endCxn id="3385" idx="0"/>
          </p:cNvCxnSpPr>
          <p:nvPr/>
        </p:nvCxnSpPr>
        <p:spPr>
          <a:xfrm>
            <a:off x="474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9" name="Google Shape;3389;p83"/>
          <p:cNvSpPr/>
          <p:nvPr/>
        </p:nvSpPr>
        <p:spPr>
          <a:xfrm>
            <a:off x="5435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0" name="Google Shape;3390;p83"/>
          <p:cNvSpPr/>
          <p:nvPr/>
        </p:nvSpPr>
        <p:spPr>
          <a:xfrm>
            <a:off x="5206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1" name="Google Shape;3391;p83"/>
          <p:cNvSpPr/>
          <p:nvPr/>
        </p:nvSpPr>
        <p:spPr>
          <a:xfrm>
            <a:off x="5663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2" name="Google Shape;3392;p83"/>
          <p:cNvCxnSpPr>
            <a:stCxn id="3366" idx="2"/>
            <a:endCxn id="3390" idx="0"/>
          </p:cNvCxnSpPr>
          <p:nvPr/>
        </p:nvCxnSpPr>
        <p:spPr>
          <a:xfrm flipH="1">
            <a:off x="5282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3" name="Google Shape;3393;p83"/>
          <p:cNvCxnSpPr>
            <a:stCxn id="3366" idx="2"/>
            <a:endCxn id="3389" idx="0"/>
          </p:cNvCxnSpPr>
          <p:nvPr/>
        </p:nvCxnSpPr>
        <p:spPr>
          <a:xfrm>
            <a:off x="5511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4" name="Google Shape;3394;p83"/>
          <p:cNvCxnSpPr>
            <a:stCxn id="3366" idx="2"/>
            <a:endCxn id="3391" idx="0"/>
          </p:cNvCxnSpPr>
          <p:nvPr/>
        </p:nvCxnSpPr>
        <p:spPr>
          <a:xfrm>
            <a:off x="5511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5" name="Google Shape;3395;p83"/>
          <p:cNvSpPr/>
          <p:nvPr/>
        </p:nvSpPr>
        <p:spPr>
          <a:xfrm>
            <a:off x="6197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6" name="Google Shape;3396;p83"/>
          <p:cNvSpPr/>
          <p:nvPr/>
        </p:nvSpPr>
        <p:spPr>
          <a:xfrm>
            <a:off x="59687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7" name="Google Shape;3397;p83"/>
          <p:cNvSpPr/>
          <p:nvPr/>
        </p:nvSpPr>
        <p:spPr>
          <a:xfrm>
            <a:off x="6425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98" name="Google Shape;3398;p83"/>
          <p:cNvCxnSpPr>
            <a:stCxn id="3368" idx="2"/>
            <a:endCxn id="3396" idx="0"/>
          </p:cNvCxnSpPr>
          <p:nvPr/>
        </p:nvCxnSpPr>
        <p:spPr>
          <a:xfrm flipH="1">
            <a:off x="6044950" y="4305300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9" name="Google Shape;3399;p83"/>
          <p:cNvCxnSpPr>
            <a:stCxn id="3368" idx="2"/>
            <a:endCxn id="3395" idx="0"/>
          </p:cNvCxnSpPr>
          <p:nvPr/>
        </p:nvCxnSpPr>
        <p:spPr>
          <a:xfrm>
            <a:off x="6273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0" name="Google Shape;3400;p83"/>
          <p:cNvCxnSpPr>
            <a:stCxn id="3368" idx="2"/>
            <a:endCxn id="3397" idx="0"/>
          </p:cNvCxnSpPr>
          <p:nvPr/>
        </p:nvCxnSpPr>
        <p:spPr>
          <a:xfrm>
            <a:off x="6273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1" name="Google Shape;3401;p83"/>
          <p:cNvSpPr/>
          <p:nvPr/>
        </p:nvSpPr>
        <p:spPr>
          <a:xfrm>
            <a:off x="6959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2" name="Google Shape;3402;p83"/>
          <p:cNvSpPr/>
          <p:nvPr/>
        </p:nvSpPr>
        <p:spPr>
          <a:xfrm>
            <a:off x="6730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3" name="Google Shape;3403;p83"/>
          <p:cNvSpPr/>
          <p:nvPr/>
        </p:nvSpPr>
        <p:spPr>
          <a:xfrm>
            <a:off x="7187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04" name="Google Shape;3404;p83"/>
          <p:cNvCxnSpPr>
            <a:stCxn id="3348" idx="2"/>
            <a:endCxn id="3402" idx="0"/>
          </p:cNvCxnSpPr>
          <p:nvPr/>
        </p:nvCxnSpPr>
        <p:spPr>
          <a:xfrm flipH="1">
            <a:off x="6806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5" name="Google Shape;3405;p83"/>
          <p:cNvCxnSpPr>
            <a:stCxn id="3348" idx="2"/>
            <a:endCxn id="3401" idx="0"/>
          </p:cNvCxnSpPr>
          <p:nvPr/>
        </p:nvCxnSpPr>
        <p:spPr>
          <a:xfrm>
            <a:off x="7035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6" name="Google Shape;3406;p83"/>
          <p:cNvCxnSpPr>
            <a:stCxn id="3348" idx="2"/>
            <a:endCxn id="3403" idx="0"/>
          </p:cNvCxnSpPr>
          <p:nvPr/>
        </p:nvCxnSpPr>
        <p:spPr>
          <a:xfrm>
            <a:off x="7035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7" name="Google Shape;3407;p83"/>
          <p:cNvSpPr/>
          <p:nvPr/>
        </p:nvSpPr>
        <p:spPr>
          <a:xfrm>
            <a:off x="77213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8" name="Google Shape;3408;p83"/>
          <p:cNvSpPr/>
          <p:nvPr/>
        </p:nvSpPr>
        <p:spPr>
          <a:xfrm>
            <a:off x="7492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9" name="Google Shape;3409;p83"/>
          <p:cNvSpPr/>
          <p:nvPr/>
        </p:nvSpPr>
        <p:spPr>
          <a:xfrm>
            <a:off x="7949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0" name="Google Shape;3410;p83"/>
          <p:cNvCxnSpPr>
            <a:stCxn id="3351" idx="2"/>
            <a:endCxn id="3408" idx="0"/>
          </p:cNvCxnSpPr>
          <p:nvPr/>
        </p:nvCxnSpPr>
        <p:spPr>
          <a:xfrm flipH="1">
            <a:off x="7568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1" name="Google Shape;3411;p83"/>
          <p:cNvCxnSpPr>
            <a:stCxn id="3351" idx="2"/>
            <a:endCxn id="3407" idx="0"/>
          </p:cNvCxnSpPr>
          <p:nvPr/>
        </p:nvCxnSpPr>
        <p:spPr>
          <a:xfrm>
            <a:off x="7797550" y="4305300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83"/>
          <p:cNvCxnSpPr>
            <a:stCxn id="3351" idx="2"/>
            <a:endCxn id="3409" idx="0"/>
          </p:cNvCxnSpPr>
          <p:nvPr/>
        </p:nvCxnSpPr>
        <p:spPr>
          <a:xfrm>
            <a:off x="7797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3" name="Google Shape;3413;p83"/>
          <p:cNvSpPr/>
          <p:nvPr/>
        </p:nvSpPr>
        <p:spPr>
          <a:xfrm>
            <a:off x="8483350" y="46863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4" name="Google Shape;3414;p83"/>
          <p:cNvSpPr/>
          <p:nvPr/>
        </p:nvSpPr>
        <p:spPr>
          <a:xfrm>
            <a:off x="82547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5" name="Google Shape;3415;p83"/>
          <p:cNvSpPr/>
          <p:nvPr/>
        </p:nvSpPr>
        <p:spPr>
          <a:xfrm>
            <a:off x="8711950" y="46863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16" name="Google Shape;3416;p83"/>
          <p:cNvCxnSpPr>
            <a:stCxn id="3370" idx="2"/>
            <a:endCxn id="3414" idx="0"/>
          </p:cNvCxnSpPr>
          <p:nvPr/>
        </p:nvCxnSpPr>
        <p:spPr>
          <a:xfrm flipH="1">
            <a:off x="83309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7" name="Google Shape;3417;p83"/>
          <p:cNvCxnSpPr>
            <a:stCxn id="3370" idx="2"/>
            <a:endCxn id="3413" idx="0"/>
          </p:cNvCxnSpPr>
          <p:nvPr/>
        </p:nvCxnSpPr>
        <p:spPr>
          <a:xfrm>
            <a:off x="8559550" y="4305300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8" name="Google Shape;3418;p83"/>
          <p:cNvCxnSpPr>
            <a:stCxn id="3370" idx="2"/>
            <a:endCxn id="3415" idx="0"/>
          </p:cNvCxnSpPr>
          <p:nvPr/>
        </p:nvCxnSpPr>
        <p:spPr>
          <a:xfrm>
            <a:off x="8559550" y="4305300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9" name="Google Shape;3419;p83"/>
          <p:cNvCxnSpPr/>
          <p:nvPr/>
        </p:nvCxnSpPr>
        <p:spPr>
          <a:xfrm flipH="1" rot="10800000">
            <a:off x="5274493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0" name="Google Shape;3420;p83"/>
          <p:cNvCxnSpPr/>
          <p:nvPr/>
        </p:nvCxnSpPr>
        <p:spPr>
          <a:xfrm rot="10800000">
            <a:off x="6101657" y="2409847"/>
            <a:ext cx="409200" cy="82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1" name="Google Shape;3421;p83"/>
          <p:cNvCxnSpPr/>
          <p:nvPr/>
        </p:nvCxnSpPr>
        <p:spPr>
          <a:xfrm flipH="1" rot="10800000">
            <a:off x="3742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2" name="Google Shape;3422;p83"/>
          <p:cNvCxnSpPr/>
          <p:nvPr/>
        </p:nvCxnSpPr>
        <p:spPr>
          <a:xfrm rot="10800000">
            <a:off x="4597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3" name="Google Shape;3423;p83"/>
          <p:cNvCxnSpPr/>
          <p:nvPr/>
        </p:nvCxnSpPr>
        <p:spPr>
          <a:xfrm flipH="1" rot="10800000">
            <a:off x="67908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4" name="Google Shape;3424;p83"/>
          <p:cNvCxnSpPr/>
          <p:nvPr/>
        </p:nvCxnSpPr>
        <p:spPr>
          <a:xfrm rot="10800000">
            <a:off x="7645150" y="3085975"/>
            <a:ext cx="397200" cy="159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5" name="Google Shape;3425;p83"/>
          <p:cNvCxnSpPr/>
          <p:nvPr/>
        </p:nvCxnSpPr>
        <p:spPr>
          <a:xfrm rot="10800000">
            <a:off x="3759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6" name="Google Shape;3426;p83"/>
          <p:cNvCxnSpPr/>
          <p:nvPr/>
        </p:nvCxnSpPr>
        <p:spPr>
          <a:xfrm rot="10800000">
            <a:off x="5283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7" name="Google Shape;3427;p83"/>
          <p:cNvCxnSpPr/>
          <p:nvPr/>
        </p:nvCxnSpPr>
        <p:spPr>
          <a:xfrm flipH="1" rot="10800000">
            <a:off x="62266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8" name="Google Shape;3428;p83"/>
          <p:cNvCxnSpPr/>
          <p:nvPr/>
        </p:nvCxnSpPr>
        <p:spPr>
          <a:xfrm rot="10800000">
            <a:off x="8331100" y="3734616"/>
            <a:ext cx="275700" cy="2202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3364" name="Google Shape;3364;p83"/>
          <p:cNvSpPr/>
          <p:nvPr/>
        </p:nvSpPr>
        <p:spPr>
          <a:xfrm>
            <a:off x="3835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6" name="Google Shape;3366;p83"/>
          <p:cNvSpPr/>
          <p:nvPr/>
        </p:nvSpPr>
        <p:spPr>
          <a:xfrm>
            <a:off x="5359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8" name="Google Shape;3368;p83"/>
          <p:cNvSpPr/>
          <p:nvPr/>
        </p:nvSpPr>
        <p:spPr>
          <a:xfrm>
            <a:off x="6121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0" name="Google Shape;3370;p83"/>
          <p:cNvSpPr/>
          <p:nvPr/>
        </p:nvSpPr>
        <p:spPr>
          <a:xfrm>
            <a:off x="8407150" y="40005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9" name="Google Shape;3429;p83"/>
          <p:cNvSpPr/>
          <p:nvPr/>
        </p:nvSpPr>
        <p:spPr>
          <a:xfrm>
            <a:off x="6417925" y="1772200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0" name="Google Shape;3430;p83"/>
          <p:cNvSpPr txBox="1"/>
          <p:nvPr/>
        </p:nvSpPr>
        <p:spPr>
          <a:xfrm>
            <a:off x="6583675" y="17129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= Not a member of group G2.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1" name="Google Shape;3431;p83"/>
          <p:cNvSpPr/>
          <p:nvPr/>
        </p:nvSpPr>
        <p:spPr>
          <a:xfrm>
            <a:off x="6417925" y="2077000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2" name="Google Shape;3432;p83"/>
          <p:cNvSpPr txBox="1"/>
          <p:nvPr/>
        </p:nvSpPr>
        <p:spPr>
          <a:xfrm>
            <a:off x="6583675" y="2017750"/>
            <a:ext cx="236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= Is a member of group G2.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433" name="Google Shape;3433;p83"/>
          <p:cNvGraphicFramePr/>
          <p:nvPr/>
        </p:nvGraphicFramePr>
        <p:xfrm>
          <a:off x="529394" y="167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R3, R4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434" name="Google Shape;3434;p83"/>
          <p:cNvGraphicFramePr/>
          <p:nvPr/>
        </p:nvGraphicFramePr>
        <p:xfrm>
          <a:off x="529394" y="276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R4's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R9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R10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graphicFrame>
        <p:nvGraphicFramePr>
          <p:cNvPr id="3435" name="Google Shape;3435;p83"/>
          <p:cNvGraphicFramePr/>
          <p:nvPr/>
        </p:nvGraphicFramePr>
        <p:xfrm>
          <a:off x="529394" y="385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95425"/>
                <a:gridCol w="554150"/>
                <a:gridCol w="760825"/>
              </a:tblGrid>
              <a:tr h="121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R5's Multicast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 hMerge="1"/>
                <a:tc hMerge="1"/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From: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To: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Children: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R11, R12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  <a:tr h="12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R11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8275" marB="18275" marR="0" marL="0" anchor="ctr"/>
                </a:tc>
              </a:tr>
            </a:tbl>
          </a:graphicData>
        </a:graphic>
      </p:graphicFrame>
      <p:sp>
        <p:nvSpPr>
          <p:cNvPr id="3436" name="Google Shape;3436;p83"/>
          <p:cNvSpPr txBox="1"/>
          <p:nvPr/>
        </p:nvSpPr>
        <p:spPr>
          <a:xfrm>
            <a:off x="529400" y="4838700"/>
            <a:ext cx="1910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(Not all tables shown.)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8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Pros and Cons</a:t>
            </a:r>
            <a:endParaRPr/>
          </a:p>
        </p:txBody>
      </p:sp>
      <p:sp>
        <p:nvSpPr>
          <p:cNvPr id="3442" name="Google Shape;3442;p8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3443" name="Google Shape;3443;p84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DVMRP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Pros and Cons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7" name="Shape 3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8" name="Google Shape;3448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Recap: DVMRP</a:t>
            </a:r>
            <a:endParaRPr/>
          </a:p>
        </p:txBody>
      </p:sp>
      <p:sp>
        <p:nvSpPr>
          <p:cNvPr id="3449" name="Google Shape;3449;p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Routing: Build a spanning tree from the source to all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parent: Use unicast forwarding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children: Everyone sends advertisement to parent.</a:t>
            </a:r>
            <a:br>
              <a:rPr lang="en"/>
            </a:br>
            <a:r>
              <a:rPr lang="en"/>
              <a:t>Multicast table has a list of your children.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Pruning: Trim the tree to make a tree from the source to all members only.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receive a prune from a child, remove the child from your multicast 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none of your descendants (directly-connected hosts or children) belong to this group, send a pruning message to your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Periodically clear all pruning information (revert to forwarding to all children).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Forwarding: Packets are forwarded from your parent to your children.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unicast table to check if packet is from parent.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so, use multicast table to forward packet to children. Else, drop the packet.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3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Pros and Cons</a:t>
            </a:r>
            <a:endParaRPr/>
          </a:p>
        </p:txBody>
      </p:sp>
      <p:sp>
        <p:nvSpPr>
          <p:cNvPr id="3455" name="Google Shape;3455;p8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Con: </a:t>
            </a:r>
            <a:r>
              <a:rPr lang="en"/>
              <a:t>DVMRP scales poorly.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Pruning information is periodically cleared.</a:t>
            </a:r>
            <a:br>
              <a:rPr lang="en"/>
            </a:br>
            <a:r>
              <a:rPr lang="en"/>
              <a:t>Packets are occasionally broadcast to everybody, wasting bandwidth.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table needs one entry per source, per destination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DVMRP gives optimal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Spanning tree gives us the least-cost paths from source to all group members.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packets travel least-cost paths to their destinations.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DVMRP is a simple, elegant extension to an existing protocol.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reused the unicast forwarding table to save ourselves some work.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Core-Based Trees</a:t>
            </a:r>
            <a:endParaRPr/>
          </a:p>
        </p:txBody>
      </p:sp>
      <p:sp>
        <p:nvSpPr>
          <p:cNvPr id="3461" name="Google Shape;3461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3462" name="Google Shape;3462;p8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Core-Based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Protocol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6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67" name="Google Shape;3467;p88"/>
          <p:cNvCxnSpPr>
            <a:stCxn id="3468" idx="1"/>
            <a:endCxn id="3469" idx="0"/>
          </p:cNvCxnSpPr>
          <p:nvPr/>
        </p:nvCxnSpPr>
        <p:spPr>
          <a:xfrm flipH="1">
            <a:off x="4639150" y="43718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0" name="Google Shape;3470;p88"/>
          <p:cNvCxnSpPr>
            <a:stCxn id="3468" idx="1"/>
            <a:endCxn id="3471" idx="0"/>
          </p:cNvCxnSpPr>
          <p:nvPr/>
        </p:nvCxnSpPr>
        <p:spPr>
          <a:xfrm rot="10800000">
            <a:off x="4639150" y="4143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2" name="Google Shape;3472;p88"/>
          <p:cNvCxnSpPr>
            <a:stCxn id="3468" idx="1"/>
            <a:endCxn id="3473" idx="0"/>
          </p:cNvCxnSpPr>
          <p:nvPr/>
        </p:nvCxnSpPr>
        <p:spPr>
          <a:xfrm rot="10800000">
            <a:off x="4639150" y="43718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4" name="Google Shape;3474;p88"/>
          <p:cNvCxnSpPr>
            <a:stCxn id="3475" idx="3"/>
            <a:endCxn id="3476" idx="0"/>
          </p:cNvCxnSpPr>
          <p:nvPr/>
        </p:nvCxnSpPr>
        <p:spPr>
          <a:xfrm>
            <a:off x="7274525" y="28466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7" name="Google Shape;3477;p88"/>
          <p:cNvCxnSpPr>
            <a:stCxn id="3475" idx="3"/>
            <a:endCxn id="3478" idx="0"/>
          </p:cNvCxnSpPr>
          <p:nvPr/>
        </p:nvCxnSpPr>
        <p:spPr>
          <a:xfrm flipH="1" rot="10800000">
            <a:off x="7274525" y="2618025"/>
            <a:ext cx="3807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9" name="Google Shape;3479;p88"/>
          <p:cNvCxnSpPr>
            <a:stCxn id="3475" idx="3"/>
            <a:endCxn id="3480" idx="0"/>
          </p:cNvCxnSpPr>
          <p:nvPr/>
        </p:nvCxnSpPr>
        <p:spPr>
          <a:xfrm>
            <a:off x="7274525" y="2846625"/>
            <a:ext cx="3807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1" name="Google Shape;3481;p88"/>
          <p:cNvCxnSpPr>
            <a:stCxn id="3482" idx="0"/>
            <a:endCxn id="3483" idx="0"/>
          </p:cNvCxnSpPr>
          <p:nvPr/>
        </p:nvCxnSpPr>
        <p:spPr>
          <a:xfrm flipH="1" rot="10800000">
            <a:off x="58083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4" name="Google Shape;3484;p88"/>
          <p:cNvCxnSpPr>
            <a:stCxn id="3482" idx="0"/>
            <a:endCxn id="3485" idx="0"/>
          </p:cNvCxnSpPr>
          <p:nvPr/>
        </p:nvCxnSpPr>
        <p:spPr>
          <a:xfrm rot="10800000">
            <a:off x="5655900" y="2177875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6" name="Google Shape;3486;p88"/>
          <p:cNvCxnSpPr>
            <a:stCxn id="3487" idx="3"/>
            <a:endCxn id="3488" idx="0"/>
          </p:cNvCxnSpPr>
          <p:nvPr/>
        </p:nvCxnSpPr>
        <p:spPr>
          <a:xfrm>
            <a:off x="7670575" y="39908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9" name="Google Shape;3489;p88"/>
          <p:cNvCxnSpPr>
            <a:stCxn id="3487" idx="3"/>
            <a:endCxn id="3490" idx="0"/>
          </p:cNvCxnSpPr>
          <p:nvPr/>
        </p:nvCxnSpPr>
        <p:spPr>
          <a:xfrm flipH="1" rot="10800000">
            <a:off x="7670575" y="3838425"/>
            <a:ext cx="304500" cy="152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1" name="Google Shape;3491;p88"/>
          <p:cNvCxnSpPr>
            <a:stCxn id="3492" idx="2"/>
            <a:endCxn id="3493" idx="0"/>
          </p:cNvCxnSpPr>
          <p:nvPr/>
        </p:nvCxnSpPr>
        <p:spPr>
          <a:xfrm>
            <a:off x="64616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4" name="Google Shape;3494;p88"/>
          <p:cNvCxnSpPr>
            <a:stCxn id="3492" idx="2"/>
            <a:endCxn id="3495" idx="0"/>
          </p:cNvCxnSpPr>
          <p:nvPr/>
        </p:nvCxnSpPr>
        <p:spPr>
          <a:xfrm flipH="1">
            <a:off x="6309250" y="4521550"/>
            <a:ext cx="152400" cy="304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6" name="Google Shape;3496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Next Up: CBT</a:t>
            </a:r>
            <a:endParaRPr/>
          </a:p>
        </p:txBody>
      </p:sp>
      <p:sp>
        <p:nvSpPr>
          <p:cNvPr id="3497" name="Google Shape;3497;p88"/>
          <p:cNvSpPr txBox="1"/>
          <p:nvPr>
            <p:ph idx="1" type="body"/>
          </p:nvPr>
        </p:nvSpPr>
        <p:spPr>
          <a:xfrm>
            <a:off x="107050" y="402200"/>
            <a:ext cx="8909700" cy="8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now look at a different routing protocol for routers to learn how to forward multicast packets to their destination groups.</a:t>
            </a:r>
            <a:endParaRPr/>
          </a:p>
        </p:txBody>
      </p:sp>
      <p:sp>
        <p:nvSpPr>
          <p:cNvPr id="3482" name="Google Shape;3482;p88"/>
          <p:cNvSpPr/>
          <p:nvPr/>
        </p:nvSpPr>
        <p:spPr>
          <a:xfrm>
            <a:off x="5665800" y="24826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8" name="Google Shape;3498;p88"/>
          <p:cNvCxnSpPr>
            <a:stCxn id="3499" idx="3"/>
            <a:endCxn id="3482" idx="1"/>
          </p:cNvCxnSpPr>
          <p:nvPr/>
        </p:nvCxnSpPr>
        <p:spPr>
          <a:xfrm flipH="1" rot="10800000">
            <a:off x="4852325" y="2625225"/>
            <a:ext cx="813600" cy="51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0" name="Google Shape;3500;p88"/>
          <p:cNvCxnSpPr>
            <a:stCxn id="3499" idx="3"/>
            <a:endCxn id="3501" idx="1"/>
          </p:cNvCxnSpPr>
          <p:nvPr/>
        </p:nvCxnSpPr>
        <p:spPr>
          <a:xfrm>
            <a:off x="4852325" y="3144225"/>
            <a:ext cx="813600" cy="40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2" name="Google Shape;3502;p88"/>
          <p:cNvCxnSpPr>
            <a:stCxn id="3482" idx="3"/>
            <a:endCxn id="3475" idx="1"/>
          </p:cNvCxnSpPr>
          <p:nvPr/>
        </p:nvCxnSpPr>
        <p:spPr>
          <a:xfrm>
            <a:off x="5950800" y="2625175"/>
            <a:ext cx="1038600" cy="22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3" name="Google Shape;3503;p88"/>
          <p:cNvCxnSpPr>
            <a:stCxn id="3501" idx="3"/>
            <a:endCxn id="3475" idx="1"/>
          </p:cNvCxnSpPr>
          <p:nvPr/>
        </p:nvCxnSpPr>
        <p:spPr>
          <a:xfrm flipH="1" rot="10800000">
            <a:off x="5950800" y="2846675"/>
            <a:ext cx="1038600" cy="338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4" name="Google Shape;3504;p88"/>
          <p:cNvSpPr/>
          <p:nvPr/>
        </p:nvSpPr>
        <p:spPr>
          <a:xfrm>
            <a:off x="5708275" y="3821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5" name="Google Shape;3505;p88"/>
          <p:cNvCxnSpPr>
            <a:stCxn id="3501" idx="2"/>
            <a:endCxn id="3504" idx="0"/>
          </p:cNvCxnSpPr>
          <p:nvPr/>
        </p:nvCxnSpPr>
        <p:spPr>
          <a:xfrm>
            <a:off x="5808300" y="3327575"/>
            <a:ext cx="42600" cy="494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8" name="Google Shape;3468;p88"/>
          <p:cNvSpPr/>
          <p:nvPr/>
        </p:nvSpPr>
        <p:spPr>
          <a:xfrm>
            <a:off x="5020150" y="4229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6" name="Google Shape;3506;p88"/>
          <p:cNvCxnSpPr>
            <a:stCxn id="3468" idx="3"/>
            <a:endCxn id="3504" idx="2"/>
          </p:cNvCxnSpPr>
          <p:nvPr/>
        </p:nvCxnSpPr>
        <p:spPr>
          <a:xfrm flipH="1" rot="10800000">
            <a:off x="5305150" y="4106625"/>
            <a:ext cx="545700" cy="265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7" name="Google Shape;3507;p88"/>
          <p:cNvCxnSpPr>
            <a:stCxn id="3504" idx="2"/>
            <a:endCxn id="3492" idx="1"/>
          </p:cNvCxnSpPr>
          <p:nvPr/>
        </p:nvCxnSpPr>
        <p:spPr>
          <a:xfrm>
            <a:off x="5850775" y="4106550"/>
            <a:ext cx="468300" cy="272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2" name="Google Shape;3492;p88"/>
          <p:cNvSpPr/>
          <p:nvPr/>
        </p:nvSpPr>
        <p:spPr>
          <a:xfrm>
            <a:off x="6319150" y="42365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08" name="Google Shape;3508;p88"/>
          <p:cNvCxnSpPr>
            <a:stCxn id="3487" idx="1"/>
            <a:endCxn id="3492" idx="3"/>
          </p:cNvCxnSpPr>
          <p:nvPr/>
        </p:nvCxnSpPr>
        <p:spPr>
          <a:xfrm flipH="1">
            <a:off x="6604075" y="3990825"/>
            <a:ext cx="781500" cy="388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9" name="Google Shape;3509;p88"/>
          <p:cNvCxnSpPr>
            <a:stCxn id="3475" idx="2"/>
            <a:endCxn id="3487" idx="0"/>
          </p:cNvCxnSpPr>
          <p:nvPr/>
        </p:nvCxnSpPr>
        <p:spPr>
          <a:xfrm>
            <a:off x="7132025" y="2989125"/>
            <a:ext cx="396000" cy="859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1" name="Google Shape;3501;p88"/>
          <p:cNvSpPr/>
          <p:nvPr/>
        </p:nvSpPr>
        <p:spPr>
          <a:xfrm>
            <a:off x="5665800" y="30425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5" name="Google Shape;3475;p88"/>
          <p:cNvSpPr/>
          <p:nvPr/>
        </p:nvSpPr>
        <p:spPr>
          <a:xfrm>
            <a:off x="6989525" y="27041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7" name="Google Shape;3487;p88"/>
          <p:cNvSpPr/>
          <p:nvPr/>
        </p:nvSpPr>
        <p:spPr>
          <a:xfrm>
            <a:off x="7385575" y="38483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0" name="Google Shape;3510;p88"/>
          <p:cNvCxnSpPr>
            <a:stCxn id="3499" idx="1"/>
            <a:endCxn id="3511" idx="0"/>
          </p:cNvCxnSpPr>
          <p:nvPr/>
        </p:nvCxnSpPr>
        <p:spPr>
          <a:xfrm flipH="1">
            <a:off x="4186325" y="31442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2" name="Google Shape;3512;p88"/>
          <p:cNvSpPr/>
          <p:nvPr/>
        </p:nvSpPr>
        <p:spPr>
          <a:xfrm rot="5400000">
            <a:off x="4034050" y="3068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3" name="Google Shape;3513;p88"/>
          <p:cNvSpPr/>
          <p:nvPr/>
        </p:nvSpPr>
        <p:spPr>
          <a:xfrm rot="5400000">
            <a:off x="4034050" y="28394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1" name="Google Shape;3511;p88"/>
          <p:cNvSpPr/>
          <p:nvPr/>
        </p:nvSpPr>
        <p:spPr>
          <a:xfrm rot="5400000">
            <a:off x="4034050" y="3296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4" name="Google Shape;3514;p88"/>
          <p:cNvCxnSpPr>
            <a:stCxn id="3499" idx="1"/>
            <a:endCxn id="3513" idx="0"/>
          </p:cNvCxnSpPr>
          <p:nvPr/>
        </p:nvCxnSpPr>
        <p:spPr>
          <a:xfrm rot="10800000">
            <a:off x="4186325" y="291562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5" name="Google Shape;3515;p88"/>
          <p:cNvCxnSpPr>
            <a:stCxn id="3499" idx="1"/>
            <a:endCxn id="3512" idx="0"/>
          </p:cNvCxnSpPr>
          <p:nvPr/>
        </p:nvCxnSpPr>
        <p:spPr>
          <a:xfrm rot="10800000">
            <a:off x="4186325" y="314422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5" name="Google Shape;3485;p88"/>
          <p:cNvSpPr/>
          <p:nvPr/>
        </p:nvSpPr>
        <p:spPr>
          <a:xfrm flipH="1" rot="10800000">
            <a:off x="55797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3" name="Google Shape;3483;p88"/>
          <p:cNvSpPr/>
          <p:nvPr/>
        </p:nvSpPr>
        <p:spPr>
          <a:xfrm flipH="1" rot="10800000">
            <a:off x="5884500" y="202546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0" name="Google Shape;3480;p88"/>
          <p:cNvSpPr/>
          <p:nvPr/>
        </p:nvSpPr>
        <p:spPr>
          <a:xfrm flipH="1" rot="-5400000">
            <a:off x="7655275" y="27704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8" name="Google Shape;3478;p88"/>
          <p:cNvSpPr/>
          <p:nvPr/>
        </p:nvSpPr>
        <p:spPr>
          <a:xfrm flipH="1" rot="-5400000">
            <a:off x="7655275" y="25418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6" name="Google Shape;3476;p88"/>
          <p:cNvSpPr/>
          <p:nvPr/>
        </p:nvSpPr>
        <p:spPr>
          <a:xfrm flipH="1" rot="-5400000">
            <a:off x="7655275" y="2999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0" name="Google Shape;3490;p88"/>
          <p:cNvSpPr/>
          <p:nvPr/>
        </p:nvSpPr>
        <p:spPr>
          <a:xfrm flipH="1" rot="-5400000">
            <a:off x="7975075" y="37622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88" name="Google Shape;3488;p88"/>
          <p:cNvSpPr/>
          <p:nvPr/>
        </p:nvSpPr>
        <p:spPr>
          <a:xfrm flipH="1" rot="-5400000">
            <a:off x="7975075" y="4067013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5" name="Google Shape;3495;p88"/>
          <p:cNvSpPr/>
          <p:nvPr/>
        </p:nvSpPr>
        <p:spPr>
          <a:xfrm>
            <a:off x="62330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3" name="Google Shape;3493;p88"/>
          <p:cNvSpPr/>
          <p:nvPr/>
        </p:nvSpPr>
        <p:spPr>
          <a:xfrm>
            <a:off x="6537850" y="4826350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3" name="Google Shape;3473;p88"/>
          <p:cNvSpPr/>
          <p:nvPr/>
        </p:nvSpPr>
        <p:spPr>
          <a:xfrm rot="5400000">
            <a:off x="4486750" y="42956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71" name="Google Shape;3471;p88"/>
          <p:cNvSpPr/>
          <p:nvPr/>
        </p:nvSpPr>
        <p:spPr>
          <a:xfrm rot="5400000">
            <a:off x="4486750" y="40670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9" name="Google Shape;3469;p88"/>
          <p:cNvSpPr/>
          <p:nvPr/>
        </p:nvSpPr>
        <p:spPr>
          <a:xfrm rot="5400000">
            <a:off x="4486750" y="4524225"/>
            <a:ext cx="152400" cy="1524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9" name="Google Shape;3499;p88"/>
          <p:cNvSpPr/>
          <p:nvPr/>
        </p:nvSpPr>
        <p:spPr>
          <a:xfrm>
            <a:off x="4567325" y="30017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16" name="Google Shape;3516;p88"/>
          <p:cNvCxnSpPr>
            <a:stCxn id="3517" idx="2"/>
            <a:endCxn id="3518" idx="0"/>
          </p:cNvCxnSpPr>
          <p:nvPr/>
        </p:nvCxnSpPr>
        <p:spPr>
          <a:xfrm>
            <a:off x="25709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7" name="Google Shape;3517;p88"/>
          <p:cNvSpPr/>
          <p:nvPr/>
        </p:nvSpPr>
        <p:spPr>
          <a:xfrm>
            <a:off x="2131475" y="1379325"/>
            <a:ext cx="8790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8" name="Google Shape;3518;p88"/>
          <p:cNvSpPr/>
          <p:nvPr/>
        </p:nvSpPr>
        <p:spPr>
          <a:xfrm>
            <a:off x="3009425" y="1988925"/>
            <a:ext cx="951900" cy="429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Overlay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9" name="Google Shape;3519;p88"/>
          <p:cNvSpPr/>
          <p:nvPr/>
        </p:nvSpPr>
        <p:spPr>
          <a:xfrm>
            <a:off x="1085675" y="1988925"/>
            <a:ext cx="1141800" cy="26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 Multicast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0" name="Google Shape;3520;p88"/>
          <p:cNvCxnSpPr>
            <a:stCxn id="3517" idx="2"/>
            <a:endCxn id="3519" idx="0"/>
          </p:cNvCxnSpPr>
          <p:nvPr/>
        </p:nvCxnSpPr>
        <p:spPr>
          <a:xfrm flipH="1">
            <a:off x="1656575" y="1643025"/>
            <a:ext cx="9144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1" name="Google Shape;3521;p88"/>
          <p:cNvSpPr/>
          <p:nvPr/>
        </p:nvSpPr>
        <p:spPr>
          <a:xfrm>
            <a:off x="349175" y="2598525"/>
            <a:ext cx="1243200" cy="476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Host-to-router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(IGMP)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2" name="Google Shape;3522;p88"/>
          <p:cNvSpPr/>
          <p:nvPr/>
        </p:nvSpPr>
        <p:spPr>
          <a:xfrm>
            <a:off x="1640525" y="2598525"/>
            <a:ext cx="1403700" cy="476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Routing protocol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(DVMRP, CBT)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3" name="Google Shape;3523;p88"/>
          <p:cNvCxnSpPr>
            <a:stCxn id="3519" idx="2"/>
            <a:endCxn id="3521" idx="0"/>
          </p:cNvCxnSpPr>
          <p:nvPr/>
        </p:nvCxnSpPr>
        <p:spPr>
          <a:xfrm flipH="1">
            <a:off x="9707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4" name="Google Shape;3524;p88"/>
          <p:cNvCxnSpPr>
            <a:stCxn id="3519" idx="2"/>
            <a:endCxn id="3522" idx="0"/>
          </p:cNvCxnSpPr>
          <p:nvPr/>
        </p:nvCxnSpPr>
        <p:spPr>
          <a:xfrm>
            <a:off x="1656575" y="2252625"/>
            <a:ext cx="685800" cy="34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5" name="Google Shape;3525;p88"/>
          <p:cNvSpPr txBox="1"/>
          <p:nvPr/>
        </p:nvSpPr>
        <p:spPr>
          <a:xfrm>
            <a:off x="454575" y="3296625"/>
            <a:ext cx="2589600" cy="16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Two options: DVMRP or CBT.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Pick one (just like picking distance-vector or link-state).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We'll show DVMRP first, then CBT – but remember they are two options for the same goal.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9" name="Shape 3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30" name="Google Shape;3530;p89"/>
          <p:cNvCxnSpPr>
            <a:endCxn id="353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2" name="Google Shape;3532;p89"/>
          <p:cNvCxnSpPr>
            <a:endCxn id="353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4" name="Google Shape;3534;p89"/>
          <p:cNvCxnSpPr>
            <a:endCxn id="353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89"/>
          <p:cNvCxnSpPr>
            <a:stCxn id="3537" idx="3"/>
            <a:endCxn id="353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9" name="Google Shape;3539;p89"/>
          <p:cNvCxnSpPr>
            <a:stCxn id="3537" idx="3"/>
            <a:endCxn id="354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1" name="Google Shape;3541;p89"/>
          <p:cNvCxnSpPr>
            <a:stCxn id="3542" idx="3"/>
            <a:endCxn id="3543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4" name="Google Shape;3544;p89"/>
          <p:cNvCxnSpPr>
            <a:stCxn id="3545" idx="2"/>
            <a:endCxn id="354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7" name="Google Shape;3547;p89"/>
          <p:cNvCxnSpPr>
            <a:stCxn id="3548" idx="1"/>
            <a:endCxn id="3549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0" name="Google Shape;3550;p89"/>
          <p:cNvCxnSpPr>
            <a:stCxn id="3551" idx="1"/>
            <a:endCxn id="3552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3" name="Google Shape;3553;p89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Core-Based Tree (CBT)</a:t>
            </a:r>
            <a:r>
              <a:rPr lang="en"/>
              <a:t> for a given destination group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Rooted at a specific core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Touches every member of that destination group.</a:t>
            </a:r>
            <a:endParaRPr/>
          </a:p>
        </p:txBody>
      </p:sp>
      <p:sp>
        <p:nvSpPr>
          <p:cNvPr id="3554" name="Google Shape;3554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CBT: Definition</a:t>
            </a:r>
            <a:endParaRPr/>
          </a:p>
        </p:txBody>
      </p:sp>
      <p:sp>
        <p:nvSpPr>
          <p:cNvPr id="3555" name="Google Shape;3555;p8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6" name="Google Shape;3556;p8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2" name="Google Shape;3552;p8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57" name="Google Shape;3557;p89"/>
          <p:cNvCxnSpPr>
            <a:stCxn id="3551" idx="1"/>
            <a:endCxn id="3556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8" name="Google Shape;3558;p89"/>
          <p:cNvCxnSpPr>
            <a:stCxn id="3551" idx="1"/>
            <a:endCxn id="3555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59" name="Google Shape;3559;p8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0" name="Google Shape;3560;p8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1" name="Google Shape;3561;p8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2" name="Google Shape;3562;p8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1" name="Google Shape;3551;p8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3" name="Google Shape;3563;p8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4" name="Google Shape;3564;p8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9" name="Google Shape;3549;p8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65" name="Google Shape;3565;p89"/>
          <p:cNvCxnSpPr>
            <a:stCxn id="3548" idx="1"/>
            <a:endCxn id="356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6" name="Google Shape;3566;p89"/>
          <p:cNvCxnSpPr>
            <a:stCxn id="3548" idx="1"/>
            <a:endCxn id="356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7" name="Google Shape;3567;p89"/>
          <p:cNvCxnSpPr>
            <a:stCxn id="3560" idx="1"/>
            <a:endCxn id="3551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8" name="Google Shape;3568;p89"/>
          <p:cNvCxnSpPr>
            <a:stCxn id="3560" idx="1"/>
            <a:endCxn id="3548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9" name="Google Shape;3569;p89"/>
          <p:cNvCxnSpPr>
            <a:stCxn id="3559" idx="1"/>
            <a:endCxn id="356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0" name="Google Shape;3570;p89"/>
          <p:cNvCxnSpPr>
            <a:stCxn id="3559" idx="0"/>
            <a:endCxn id="356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1" name="Google Shape;3571;p89"/>
          <p:cNvCxnSpPr>
            <a:stCxn id="3545" idx="0"/>
            <a:endCxn id="355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2" name="Google Shape;3572;p89"/>
          <p:cNvCxnSpPr>
            <a:stCxn id="3559" idx="3"/>
            <a:endCxn id="356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3" name="Google Shape;3573;p89"/>
          <p:cNvCxnSpPr>
            <a:stCxn id="3561" idx="3"/>
            <a:endCxn id="353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4" name="Google Shape;3574;p89"/>
          <p:cNvCxnSpPr>
            <a:stCxn id="3561" idx="3"/>
            <a:endCxn id="354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5" name="Google Shape;3575;p8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6" name="Google Shape;3576;p8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3" name="Google Shape;3543;p8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77" name="Google Shape;3577;p89"/>
          <p:cNvCxnSpPr>
            <a:stCxn id="3542" idx="3"/>
            <a:endCxn id="357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8" name="Google Shape;3578;p89"/>
          <p:cNvCxnSpPr>
            <a:stCxn id="3542" idx="3"/>
            <a:endCxn id="357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9" name="Google Shape;3579;p8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8" name="Google Shape;3538;p8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0" name="Google Shape;3540;p8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0" name="Google Shape;3580;p89"/>
          <p:cNvCxnSpPr>
            <a:stCxn id="3537" idx="3"/>
            <a:endCxn id="357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3" name="Google Shape;3533;p8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1" name="Google Shape;3531;p8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5" name="Google Shape;3535;p8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1" name="Google Shape;3581;p8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2" name="Google Shape;3582;p8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6" name="Google Shape;3546;p8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3" name="Google Shape;3583;p89"/>
          <p:cNvCxnSpPr>
            <a:stCxn id="3545" idx="2"/>
            <a:endCxn id="358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4" name="Google Shape;3584;p89"/>
          <p:cNvCxnSpPr>
            <a:stCxn id="3545" idx="2"/>
            <a:endCxn id="358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8" name="Google Shape;3548;p8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5" name="Google Shape;3545;p8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85" name="Google Shape;3585;p89"/>
          <p:cNvCxnSpPr>
            <a:stCxn id="3586" idx="2"/>
            <a:endCxn id="358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8" name="Google Shape;3588;p8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9" name="Google Shape;3589;p8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7" name="Google Shape;3587;p8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90" name="Google Shape;3590;p89"/>
          <p:cNvCxnSpPr>
            <a:stCxn id="3586" idx="2"/>
            <a:endCxn id="358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1" name="Google Shape;3591;p89"/>
          <p:cNvCxnSpPr>
            <a:stCxn id="3586" idx="2"/>
            <a:endCxn id="358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2" name="Google Shape;3592;p89"/>
          <p:cNvCxnSpPr>
            <a:stCxn id="3586" idx="0"/>
            <a:endCxn id="355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37" name="Google Shape;3537;p8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2" name="Google Shape;3542;p8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6" name="Google Shape;3586;p8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7" name="Google Shape;3597;p90"/>
          <p:cNvCxnSpPr>
            <a:stCxn id="3598" idx="3"/>
            <a:endCxn id="359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0" name="Google Shape;3600;p90"/>
          <p:cNvCxnSpPr>
            <a:stCxn id="3601" idx="0"/>
            <a:endCxn id="360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3" name="Google Shape;3603;p90"/>
          <p:cNvCxnSpPr>
            <a:endCxn id="360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5" name="Google Shape;3605;p90"/>
          <p:cNvCxnSpPr>
            <a:endCxn id="360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7" name="Google Shape;3607;p90"/>
          <p:cNvCxnSpPr>
            <a:endCxn id="360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9" name="Google Shape;3609;p90"/>
          <p:cNvCxnSpPr>
            <a:stCxn id="3610" idx="3"/>
            <a:endCxn id="361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2" name="Google Shape;3612;p90"/>
          <p:cNvCxnSpPr>
            <a:stCxn id="3610" idx="3"/>
            <a:endCxn id="361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4" name="Google Shape;3614;p90"/>
          <p:cNvCxnSpPr>
            <a:stCxn id="3599" idx="3"/>
            <a:endCxn id="361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6" name="Google Shape;3616;p90"/>
          <p:cNvCxnSpPr>
            <a:stCxn id="3617" idx="2"/>
            <a:endCxn id="361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9" name="Google Shape;3619;p90"/>
          <p:cNvCxnSpPr>
            <a:stCxn id="3620" idx="1"/>
            <a:endCxn id="362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2" name="Google Shape;3622;p90"/>
          <p:cNvCxnSpPr>
            <a:stCxn id="3623" idx="1"/>
            <a:endCxn id="362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5" name="Google Shape;3625;p90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</a:t>
            </a:r>
            <a:r>
              <a:rPr b="1" lang="en"/>
              <a:t>Core-Based Tree (CBT)</a:t>
            </a:r>
            <a:r>
              <a:rPr lang="en"/>
              <a:t> for a given destination group is: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Rooted at a specific core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Touches every member of that destination group.</a:t>
            </a:r>
            <a:endParaRPr/>
          </a:p>
        </p:txBody>
      </p:sp>
      <p:sp>
        <p:nvSpPr>
          <p:cNvPr id="3626" name="Google Shape;3626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CBT: Definition</a:t>
            </a:r>
            <a:endParaRPr/>
          </a:p>
        </p:txBody>
      </p:sp>
      <p:sp>
        <p:nvSpPr>
          <p:cNvPr id="3627" name="Google Shape;3627;p90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8" name="Google Shape;3628;p90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4" name="Google Shape;3624;p90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29" name="Google Shape;3629;p90"/>
          <p:cNvCxnSpPr>
            <a:stCxn id="3623" idx="1"/>
            <a:endCxn id="362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0" name="Google Shape;3630;p90"/>
          <p:cNvCxnSpPr>
            <a:stCxn id="3623" idx="1"/>
            <a:endCxn id="362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2" name="Google Shape;3602;p90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1" name="Google Shape;3631;p90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8" name="Google Shape;3598;p90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2" name="Google Shape;3632;p90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3" name="Google Shape;3623;p90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3" name="Google Shape;3633;p90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4" name="Google Shape;3634;p90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1" name="Google Shape;3621;p90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5" name="Google Shape;3635;p90"/>
          <p:cNvCxnSpPr>
            <a:stCxn id="3620" idx="1"/>
            <a:endCxn id="363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6" name="Google Shape;3636;p90"/>
          <p:cNvCxnSpPr>
            <a:stCxn id="3620" idx="1"/>
            <a:endCxn id="363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7" name="Google Shape;3637;p90"/>
          <p:cNvCxnSpPr>
            <a:stCxn id="3631" idx="1"/>
            <a:endCxn id="362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8" name="Google Shape;3638;p90"/>
          <p:cNvCxnSpPr>
            <a:stCxn id="3631" idx="1"/>
            <a:endCxn id="362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9" name="Google Shape;3639;p90"/>
          <p:cNvCxnSpPr>
            <a:stCxn id="3602" idx="1"/>
            <a:endCxn id="363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0" name="Google Shape;3640;p90"/>
          <p:cNvCxnSpPr>
            <a:stCxn id="3602" idx="0"/>
            <a:endCxn id="363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1" name="Google Shape;3641;p90"/>
          <p:cNvCxnSpPr>
            <a:stCxn id="3617" idx="0"/>
            <a:endCxn id="360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2" name="Google Shape;3642;p90"/>
          <p:cNvCxnSpPr>
            <a:stCxn id="3602" idx="3"/>
            <a:endCxn id="359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3" name="Google Shape;3643;p90"/>
          <p:cNvCxnSpPr>
            <a:stCxn id="3598" idx="3"/>
            <a:endCxn id="361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4" name="Google Shape;3644;p90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5" name="Google Shape;3645;p90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5" name="Google Shape;3615;p90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6" name="Google Shape;3646;p90"/>
          <p:cNvCxnSpPr>
            <a:stCxn id="3599" idx="3"/>
            <a:endCxn id="364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7" name="Google Shape;3647;p90"/>
          <p:cNvCxnSpPr>
            <a:stCxn id="3599" idx="3"/>
            <a:endCxn id="364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8" name="Google Shape;3648;p90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1" name="Google Shape;3611;p90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3" name="Google Shape;3613;p90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49" name="Google Shape;3649;p90"/>
          <p:cNvCxnSpPr>
            <a:stCxn id="3610" idx="3"/>
            <a:endCxn id="364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06" name="Google Shape;3606;p90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4" name="Google Shape;3604;p90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8" name="Google Shape;3608;p90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0" name="Google Shape;3650;p90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1" name="Google Shape;3651;p90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8" name="Google Shape;3618;p90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2" name="Google Shape;3652;p90"/>
          <p:cNvCxnSpPr>
            <a:stCxn id="3617" idx="2"/>
            <a:endCxn id="365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3" name="Google Shape;3653;p90"/>
          <p:cNvCxnSpPr>
            <a:stCxn id="3617" idx="2"/>
            <a:endCxn id="365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0" name="Google Shape;3620;p90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7" name="Google Shape;3617;p90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4" name="Google Shape;3654;p90"/>
          <p:cNvCxnSpPr>
            <a:stCxn id="3601" idx="2"/>
            <a:endCxn id="365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6" name="Google Shape;3656;p90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7" name="Google Shape;3657;p90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5" name="Google Shape;3655;p9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58" name="Google Shape;3658;p90"/>
          <p:cNvCxnSpPr>
            <a:stCxn id="3601" idx="2"/>
            <a:endCxn id="365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9" name="Google Shape;3659;p90"/>
          <p:cNvCxnSpPr>
            <a:stCxn id="3601" idx="2"/>
            <a:endCxn id="365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0" name="Google Shape;3610;p90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9" name="Google Shape;3599;p90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1" name="Google Shape;3601;p90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0" name="Google Shape;3660;p90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1" name="Google Shape;3661;p90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2" name="Google Shape;3662;p90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3" name="Google Shape;3663;p90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4" name="Google Shape;3664;p90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5" name="Google Shape;3665;p90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666" name="Google Shape;3666;p90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0" name="Shape 3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71" name="Google Shape;3671;p91"/>
          <p:cNvCxnSpPr>
            <a:stCxn id="3672" idx="3"/>
            <a:endCxn id="367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4" name="Google Shape;3674;p91"/>
          <p:cNvCxnSpPr>
            <a:stCxn id="3675" idx="0"/>
            <a:endCxn id="367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7" name="Google Shape;3677;p91"/>
          <p:cNvCxnSpPr>
            <a:endCxn id="3678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9" name="Google Shape;3679;p91"/>
          <p:cNvCxnSpPr>
            <a:endCxn id="3680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1" name="Google Shape;3681;p91"/>
          <p:cNvCxnSpPr>
            <a:endCxn id="3682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3" name="Google Shape;3683;p91"/>
          <p:cNvCxnSpPr>
            <a:stCxn id="3684" idx="3"/>
            <a:endCxn id="3685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6" name="Google Shape;3686;p91"/>
          <p:cNvCxnSpPr>
            <a:stCxn id="3684" idx="3"/>
            <a:endCxn id="3687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8" name="Google Shape;3688;p91"/>
          <p:cNvCxnSpPr>
            <a:stCxn id="3673" idx="3"/>
            <a:endCxn id="3689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0" name="Google Shape;3690;p91"/>
          <p:cNvCxnSpPr>
            <a:stCxn id="3691" idx="2"/>
            <a:endCxn id="3692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3" name="Google Shape;3693;p91"/>
          <p:cNvCxnSpPr>
            <a:stCxn id="3694" idx="1"/>
            <a:endCxn id="3695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6" name="Google Shape;3696;p91"/>
          <p:cNvCxnSpPr>
            <a:stCxn id="3697" idx="1"/>
            <a:endCxn id="3698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9" name="Google Shape;3699;p91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First step: Choose a </a:t>
            </a:r>
            <a:r>
              <a:rPr b="1" lang="en"/>
              <a:t>core router</a:t>
            </a:r>
            <a:r>
              <a:rPr lang="en"/>
              <a:t> to be the root of the tree.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later on how the core is chosen.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Initially, the core is the only node on the tree.</a:t>
            </a:r>
            <a:endParaRPr/>
          </a:p>
        </p:txBody>
      </p:sp>
      <p:sp>
        <p:nvSpPr>
          <p:cNvPr id="3700" name="Google Shape;3700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CBT: Choosing Core</a:t>
            </a:r>
            <a:endParaRPr/>
          </a:p>
        </p:txBody>
      </p:sp>
      <p:sp>
        <p:nvSpPr>
          <p:cNvPr id="3701" name="Google Shape;3701;p9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2" name="Google Shape;3702;p9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8" name="Google Shape;3698;p9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3" name="Google Shape;3703;p91"/>
          <p:cNvCxnSpPr>
            <a:stCxn id="3697" idx="1"/>
            <a:endCxn id="3702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4" name="Google Shape;3704;p91"/>
          <p:cNvCxnSpPr>
            <a:stCxn id="3697" idx="1"/>
            <a:endCxn id="3701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5" name="Google Shape;3705;p9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2" name="Google Shape;3672;p9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6" name="Google Shape;3706;p9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7" name="Google Shape;3697;p9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7" name="Google Shape;3707;p9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8" name="Google Shape;3708;p9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5" name="Google Shape;3695;p9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09" name="Google Shape;3709;p91"/>
          <p:cNvCxnSpPr>
            <a:stCxn id="3694" idx="1"/>
            <a:endCxn id="3708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0" name="Google Shape;3710;p91"/>
          <p:cNvCxnSpPr>
            <a:stCxn id="3694" idx="1"/>
            <a:endCxn id="3707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1" name="Google Shape;3711;p91"/>
          <p:cNvCxnSpPr>
            <a:stCxn id="3705" idx="1"/>
            <a:endCxn id="3697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2" name="Google Shape;3712;p91"/>
          <p:cNvCxnSpPr>
            <a:stCxn id="3705" idx="1"/>
            <a:endCxn id="3694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3" name="Google Shape;3713;p91"/>
          <p:cNvCxnSpPr>
            <a:stCxn id="3676" idx="1"/>
            <a:endCxn id="370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4" name="Google Shape;3714;p91"/>
          <p:cNvCxnSpPr>
            <a:stCxn id="3676" idx="0"/>
            <a:endCxn id="3706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5" name="Google Shape;3715;p91"/>
          <p:cNvCxnSpPr>
            <a:stCxn id="3691" idx="0"/>
            <a:endCxn id="367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6" name="Google Shape;3716;p91"/>
          <p:cNvCxnSpPr>
            <a:stCxn id="3676" idx="3"/>
            <a:endCxn id="367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7" name="Google Shape;3717;p91"/>
          <p:cNvCxnSpPr>
            <a:stCxn id="3672" idx="3"/>
            <a:endCxn id="3684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18" name="Google Shape;3718;p9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9" name="Google Shape;3719;p9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9" name="Google Shape;3689;p9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0" name="Google Shape;3720;p91"/>
          <p:cNvCxnSpPr>
            <a:stCxn id="3673" idx="3"/>
            <a:endCxn id="371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1" name="Google Shape;3721;p91"/>
          <p:cNvCxnSpPr>
            <a:stCxn id="3673" idx="3"/>
            <a:endCxn id="371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2" name="Google Shape;3722;p9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5" name="Google Shape;3685;p9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7" name="Google Shape;3687;p9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3" name="Google Shape;3723;p91"/>
          <p:cNvCxnSpPr>
            <a:stCxn id="3684" idx="3"/>
            <a:endCxn id="372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0" name="Google Shape;3680;p9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8" name="Google Shape;3678;p9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2" name="Google Shape;3682;p9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4" name="Google Shape;3724;p9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5" name="Google Shape;3725;p9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2" name="Google Shape;3692;p9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6" name="Google Shape;3726;p91"/>
          <p:cNvCxnSpPr>
            <a:stCxn id="3691" idx="2"/>
            <a:endCxn id="372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7" name="Google Shape;3727;p91"/>
          <p:cNvCxnSpPr>
            <a:stCxn id="3691" idx="2"/>
            <a:endCxn id="372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4" name="Google Shape;3694;p9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1" name="Google Shape;3691;p9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8" name="Google Shape;3728;p91"/>
          <p:cNvCxnSpPr>
            <a:stCxn id="3675" idx="2"/>
            <a:endCxn id="372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0" name="Google Shape;3730;p9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1" name="Google Shape;3731;p9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9" name="Google Shape;3729;p9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32" name="Google Shape;3732;p91"/>
          <p:cNvCxnSpPr>
            <a:stCxn id="3675" idx="2"/>
            <a:endCxn id="373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3" name="Google Shape;3733;p91"/>
          <p:cNvCxnSpPr>
            <a:stCxn id="3675" idx="2"/>
            <a:endCxn id="373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84" name="Google Shape;3684;p9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3" name="Google Shape;3673;p9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5" name="Google Shape;3675;p9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6" name="Google Shape;3676;p9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7" name="Shape 3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8" name="Google Shape;3738;p92"/>
          <p:cNvCxnSpPr>
            <a:stCxn id="3739" idx="3"/>
            <a:endCxn id="3740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1" name="Google Shape;3741;p92"/>
          <p:cNvCxnSpPr>
            <a:stCxn id="3742" idx="0"/>
            <a:endCxn id="374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4" name="Google Shape;3744;p92"/>
          <p:cNvCxnSpPr>
            <a:endCxn id="374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6" name="Google Shape;3746;p92"/>
          <p:cNvCxnSpPr>
            <a:endCxn id="374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8" name="Google Shape;3748;p92"/>
          <p:cNvCxnSpPr>
            <a:endCxn id="374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0" name="Google Shape;3750;p92"/>
          <p:cNvCxnSpPr>
            <a:stCxn id="3751" idx="3"/>
            <a:endCxn id="375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3" name="Google Shape;3753;p92"/>
          <p:cNvCxnSpPr>
            <a:stCxn id="3751" idx="3"/>
            <a:endCxn id="375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5" name="Google Shape;3755;p92"/>
          <p:cNvCxnSpPr>
            <a:stCxn id="3740" idx="3"/>
            <a:endCxn id="375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7" name="Google Shape;3757;p92"/>
          <p:cNvCxnSpPr>
            <a:stCxn id="3758" idx="2"/>
            <a:endCxn id="375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0" name="Google Shape;3760;p92"/>
          <p:cNvCxnSpPr>
            <a:stCxn id="3761" idx="1"/>
            <a:endCxn id="376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3" name="Google Shape;3763;p92"/>
          <p:cNvCxnSpPr>
            <a:stCxn id="3764" idx="1"/>
            <a:endCxn id="376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6" name="Google Shape;3766;p92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767" name="Google Shape;3767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768" name="Google Shape;3768;p92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9" name="Google Shape;3769;p92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5" name="Google Shape;3765;p92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0" name="Google Shape;3770;p92"/>
          <p:cNvCxnSpPr>
            <a:stCxn id="3764" idx="1"/>
            <a:endCxn id="376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1" name="Google Shape;3771;p92"/>
          <p:cNvCxnSpPr>
            <a:stCxn id="3764" idx="1"/>
            <a:endCxn id="376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2" name="Google Shape;3772;p92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9" name="Google Shape;3739;p92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3" name="Google Shape;3773;p92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4" name="Google Shape;3764;p92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4" name="Google Shape;3774;p92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5" name="Google Shape;3775;p92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62" name="Google Shape;3762;p92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76" name="Google Shape;3776;p92"/>
          <p:cNvCxnSpPr>
            <a:stCxn id="3761" idx="1"/>
            <a:endCxn id="377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7" name="Google Shape;3777;p92"/>
          <p:cNvCxnSpPr>
            <a:stCxn id="3761" idx="1"/>
            <a:endCxn id="377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8" name="Google Shape;3778;p92"/>
          <p:cNvCxnSpPr>
            <a:stCxn id="3772" idx="1"/>
            <a:endCxn id="376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79" name="Google Shape;3779;p92"/>
          <p:cNvCxnSpPr>
            <a:stCxn id="3772" idx="1"/>
            <a:endCxn id="376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0" name="Google Shape;3780;p92"/>
          <p:cNvCxnSpPr>
            <a:stCxn id="3743" idx="1"/>
            <a:endCxn id="3772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1" name="Google Shape;3781;p92"/>
          <p:cNvCxnSpPr>
            <a:stCxn id="3743" idx="0"/>
            <a:endCxn id="377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2" name="Google Shape;3782;p92"/>
          <p:cNvCxnSpPr>
            <a:stCxn id="3758" idx="0"/>
            <a:endCxn id="374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3" name="Google Shape;3783;p92"/>
          <p:cNvCxnSpPr>
            <a:stCxn id="3743" idx="3"/>
            <a:endCxn id="3739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4" name="Google Shape;3784;p92"/>
          <p:cNvCxnSpPr>
            <a:stCxn id="3739" idx="3"/>
            <a:endCxn id="375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5" name="Google Shape;3785;p92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6" name="Google Shape;3786;p92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6" name="Google Shape;3756;p92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87" name="Google Shape;3787;p92"/>
          <p:cNvCxnSpPr>
            <a:stCxn id="3740" idx="3"/>
            <a:endCxn id="378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8" name="Google Shape;3788;p92"/>
          <p:cNvCxnSpPr>
            <a:stCxn id="3740" idx="3"/>
            <a:endCxn id="378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89" name="Google Shape;3789;p92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2" name="Google Shape;3752;p92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4" name="Google Shape;3754;p92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0" name="Google Shape;3790;p92"/>
          <p:cNvCxnSpPr>
            <a:stCxn id="3751" idx="3"/>
            <a:endCxn id="378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7" name="Google Shape;3747;p92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5" name="Google Shape;3745;p92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9" name="Google Shape;3749;p92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1" name="Google Shape;3791;p92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2" name="Google Shape;3792;p92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9" name="Google Shape;3759;p92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3" name="Google Shape;3793;p92"/>
          <p:cNvCxnSpPr>
            <a:stCxn id="3758" idx="2"/>
            <a:endCxn id="379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4" name="Google Shape;3794;p92"/>
          <p:cNvCxnSpPr>
            <a:stCxn id="3758" idx="2"/>
            <a:endCxn id="379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1" name="Google Shape;3761;p92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8" name="Google Shape;3758;p92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5" name="Google Shape;3795;p92"/>
          <p:cNvCxnSpPr>
            <a:stCxn id="3742" idx="2"/>
            <a:endCxn id="3796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7" name="Google Shape;3797;p92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8" name="Google Shape;3798;p92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96" name="Google Shape;3796;p92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99" name="Google Shape;3799;p92"/>
          <p:cNvCxnSpPr>
            <a:stCxn id="3742" idx="2"/>
            <a:endCxn id="3798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0" name="Google Shape;3800;p92"/>
          <p:cNvCxnSpPr>
            <a:stCxn id="3742" idx="2"/>
            <a:endCxn id="3797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1" name="Google Shape;3751;p92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0" name="Google Shape;3740;p92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2" name="Google Shape;3742;p92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3" name="Google Shape;3743;p92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1" name="Google Shape;3801;p92"/>
          <p:cNvSpPr/>
          <p:nvPr/>
        </p:nvSpPr>
        <p:spPr>
          <a:xfrm>
            <a:off x="206750" y="1653525"/>
            <a:ext cx="2537400" cy="871500"/>
          </a:xfrm>
          <a:prstGeom prst="wedgeRoundRectCallout">
            <a:avLst>
              <a:gd fmla="val 43661" name="adj1"/>
              <a:gd fmla="val 78830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should join the tree.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5" name="Shape 3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06" name="Google Shape;3806;p93"/>
          <p:cNvCxnSpPr>
            <a:stCxn id="3807" idx="3"/>
            <a:endCxn id="3808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9" name="Google Shape;3809;p93"/>
          <p:cNvCxnSpPr>
            <a:stCxn id="3810" idx="0"/>
            <a:endCxn id="3811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2" name="Google Shape;3812;p93"/>
          <p:cNvCxnSpPr>
            <a:endCxn id="3813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4" name="Google Shape;3814;p93"/>
          <p:cNvCxnSpPr>
            <a:endCxn id="3815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6" name="Google Shape;3816;p93"/>
          <p:cNvCxnSpPr>
            <a:endCxn id="3817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8" name="Google Shape;3818;p93"/>
          <p:cNvCxnSpPr>
            <a:stCxn id="3819" idx="3"/>
            <a:endCxn id="3820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1" name="Google Shape;3821;p93"/>
          <p:cNvCxnSpPr>
            <a:stCxn id="3819" idx="3"/>
            <a:endCxn id="3822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3" name="Google Shape;3823;p93"/>
          <p:cNvCxnSpPr>
            <a:stCxn id="3808" idx="3"/>
            <a:endCxn id="3824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5" name="Google Shape;3825;p93"/>
          <p:cNvCxnSpPr>
            <a:stCxn id="3826" idx="2"/>
            <a:endCxn id="3827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8" name="Google Shape;3828;p93"/>
          <p:cNvCxnSpPr>
            <a:stCxn id="3829" idx="1"/>
            <a:endCxn id="3830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1" name="Google Shape;3831;p93"/>
          <p:cNvCxnSpPr>
            <a:stCxn id="3832" idx="1"/>
            <a:endCxn id="3833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34" name="Google Shape;3834;p93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835" name="Google Shape;3835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836" name="Google Shape;3836;p9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7" name="Google Shape;3837;p9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3" name="Google Shape;3833;p9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38" name="Google Shape;3838;p93"/>
          <p:cNvCxnSpPr>
            <a:stCxn id="3832" idx="1"/>
            <a:endCxn id="3837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9" name="Google Shape;3839;p93"/>
          <p:cNvCxnSpPr>
            <a:stCxn id="3832" idx="1"/>
            <a:endCxn id="3836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0" name="Google Shape;3840;p9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7" name="Google Shape;3807;p9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1" name="Google Shape;3841;p9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2" name="Google Shape;3832;p9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2" name="Google Shape;3842;p9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3" name="Google Shape;3843;p9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0" name="Google Shape;3830;p9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44" name="Google Shape;3844;p93"/>
          <p:cNvCxnSpPr>
            <a:stCxn id="3829" idx="1"/>
            <a:endCxn id="3843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5" name="Google Shape;3845;p93"/>
          <p:cNvCxnSpPr>
            <a:stCxn id="3829" idx="1"/>
            <a:endCxn id="3842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6" name="Google Shape;3846;p93"/>
          <p:cNvCxnSpPr>
            <a:stCxn id="3840" idx="1"/>
            <a:endCxn id="3832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93"/>
          <p:cNvCxnSpPr>
            <a:stCxn id="3840" idx="1"/>
            <a:endCxn id="3829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8" name="Google Shape;3848;p93"/>
          <p:cNvCxnSpPr>
            <a:stCxn id="3811" idx="1"/>
            <a:endCxn id="384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9" name="Google Shape;3849;p93"/>
          <p:cNvCxnSpPr>
            <a:stCxn id="3811" idx="0"/>
            <a:endCxn id="3841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0" name="Google Shape;3850;p93"/>
          <p:cNvCxnSpPr>
            <a:stCxn id="3826" idx="0"/>
            <a:endCxn id="3811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1" name="Google Shape;3851;p93"/>
          <p:cNvCxnSpPr>
            <a:stCxn id="3811" idx="3"/>
            <a:endCxn id="3807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2" name="Google Shape;3852;p93"/>
          <p:cNvCxnSpPr>
            <a:stCxn id="3807" idx="3"/>
            <a:endCxn id="3819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3" name="Google Shape;3853;p9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4" name="Google Shape;3854;p9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4" name="Google Shape;3824;p9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5" name="Google Shape;3855;p93"/>
          <p:cNvCxnSpPr>
            <a:stCxn id="3808" idx="3"/>
            <a:endCxn id="3854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93"/>
          <p:cNvCxnSpPr>
            <a:stCxn id="3808" idx="3"/>
            <a:endCxn id="3853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57" name="Google Shape;3857;p9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0" name="Google Shape;3820;p9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2" name="Google Shape;3822;p9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58" name="Google Shape;3858;p93"/>
          <p:cNvCxnSpPr>
            <a:stCxn id="3819" idx="3"/>
            <a:endCxn id="3857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5" name="Google Shape;3815;p9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3" name="Google Shape;3813;p9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7" name="Google Shape;3817;p9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9" name="Google Shape;3859;p9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0" name="Google Shape;3860;p9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7" name="Google Shape;3827;p9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1" name="Google Shape;3861;p93"/>
          <p:cNvCxnSpPr>
            <a:stCxn id="3826" idx="2"/>
            <a:endCxn id="3860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2" name="Google Shape;3862;p93"/>
          <p:cNvCxnSpPr>
            <a:stCxn id="3826" idx="2"/>
            <a:endCxn id="3859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29" name="Google Shape;3829;p9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6" name="Google Shape;3826;p9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3" name="Google Shape;3863;p93"/>
          <p:cNvCxnSpPr>
            <a:stCxn id="3810" idx="2"/>
            <a:endCxn id="3864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5" name="Google Shape;3865;p9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6" name="Google Shape;3866;p9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4" name="Google Shape;3864;p9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67" name="Google Shape;3867;p93"/>
          <p:cNvCxnSpPr>
            <a:stCxn id="3810" idx="2"/>
            <a:endCxn id="3866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8" name="Google Shape;3868;p93"/>
          <p:cNvCxnSpPr>
            <a:stCxn id="3810" idx="2"/>
            <a:endCxn id="3865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19" name="Google Shape;3819;p9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8" name="Google Shape;3808;p9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0" name="Google Shape;3810;p9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1" name="Google Shape;3811;p9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9" name="Google Shape;3869;p93"/>
          <p:cNvSpPr/>
          <p:nvPr/>
        </p:nvSpPr>
        <p:spPr>
          <a:xfrm>
            <a:off x="1894900" y="2131388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3" name="Shape 3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74" name="Google Shape;3874;p94"/>
          <p:cNvCxnSpPr/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5" name="Google Shape;3875;p94"/>
          <p:cNvCxnSpPr>
            <a:stCxn id="3876" idx="3"/>
            <a:endCxn id="3877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8" name="Google Shape;3878;p94"/>
          <p:cNvCxnSpPr>
            <a:stCxn id="3879" idx="0"/>
            <a:endCxn id="3880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1" name="Google Shape;3881;p94"/>
          <p:cNvCxnSpPr>
            <a:endCxn id="3882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94"/>
          <p:cNvCxnSpPr>
            <a:endCxn id="3884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5" name="Google Shape;3885;p94"/>
          <p:cNvCxnSpPr>
            <a:endCxn id="3886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7" name="Google Shape;3887;p94"/>
          <p:cNvCxnSpPr>
            <a:stCxn id="3888" idx="3"/>
            <a:endCxn id="3889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0" name="Google Shape;3890;p94"/>
          <p:cNvCxnSpPr>
            <a:stCxn id="3888" idx="3"/>
            <a:endCxn id="3891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2" name="Google Shape;3892;p94"/>
          <p:cNvCxnSpPr>
            <a:stCxn id="3877" idx="3"/>
            <a:endCxn id="3893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4" name="Google Shape;3894;p94"/>
          <p:cNvCxnSpPr>
            <a:stCxn id="3895" idx="2"/>
            <a:endCxn id="389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7" name="Google Shape;3897;p94"/>
          <p:cNvCxnSpPr>
            <a:stCxn id="3898" idx="1"/>
            <a:endCxn id="3899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0" name="Google Shape;3900;p94"/>
          <p:cNvCxnSpPr>
            <a:stCxn id="3901" idx="1"/>
            <a:endCxn id="3902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3" name="Google Shape;3903;p94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904" name="Google Shape;3904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905" name="Google Shape;3905;p9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6" name="Google Shape;3906;p9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2" name="Google Shape;3902;p9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07" name="Google Shape;3907;p94"/>
          <p:cNvCxnSpPr>
            <a:stCxn id="3901" idx="1"/>
            <a:endCxn id="3906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8" name="Google Shape;3908;p94"/>
          <p:cNvCxnSpPr>
            <a:stCxn id="3901" idx="1"/>
            <a:endCxn id="3905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6" name="Google Shape;3876;p9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9" name="Google Shape;3909;p9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1" name="Google Shape;3901;p9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0" name="Google Shape;3910;p9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1" name="Google Shape;3911;p9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9" name="Google Shape;3899;p9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2" name="Google Shape;3912;p94"/>
          <p:cNvCxnSpPr>
            <a:stCxn id="3898" idx="1"/>
            <a:endCxn id="3911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3" name="Google Shape;3913;p94"/>
          <p:cNvCxnSpPr>
            <a:stCxn id="3898" idx="1"/>
            <a:endCxn id="3910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4" name="Google Shape;3914;p94"/>
          <p:cNvCxnSpPr>
            <a:stCxn id="3915" idx="1"/>
            <a:endCxn id="3901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6" name="Google Shape;3916;p94"/>
          <p:cNvCxnSpPr>
            <a:stCxn id="3915" idx="1"/>
            <a:endCxn id="3898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7" name="Google Shape;3917;p94"/>
          <p:cNvCxnSpPr>
            <a:stCxn id="3880" idx="1"/>
            <a:endCxn id="391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8" name="Google Shape;3918;p94"/>
          <p:cNvCxnSpPr>
            <a:stCxn id="3880" idx="0"/>
            <a:endCxn id="3909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9" name="Google Shape;3919;p94"/>
          <p:cNvCxnSpPr>
            <a:stCxn id="3895" idx="0"/>
            <a:endCxn id="3880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0" name="Google Shape;3920;p94"/>
          <p:cNvCxnSpPr>
            <a:stCxn id="3880" idx="3"/>
            <a:endCxn id="3876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1" name="Google Shape;3921;p94"/>
          <p:cNvCxnSpPr>
            <a:stCxn id="3876" idx="3"/>
            <a:endCxn id="3888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2" name="Google Shape;3922;p9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3" name="Google Shape;3923;p9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3" name="Google Shape;3893;p9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4" name="Google Shape;3924;p94"/>
          <p:cNvCxnSpPr>
            <a:stCxn id="3877" idx="3"/>
            <a:endCxn id="3923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5" name="Google Shape;3925;p94"/>
          <p:cNvCxnSpPr>
            <a:stCxn id="3877" idx="3"/>
            <a:endCxn id="3922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6" name="Google Shape;3926;p9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9" name="Google Shape;3889;p9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1" name="Google Shape;3891;p9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27" name="Google Shape;3927;p94"/>
          <p:cNvCxnSpPr>
            <a:stCxn id="3888" idx="3"/>
            <a:endCxn id="3926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4" name="Google Shape;3884;p9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2" name="Google Shape;3882;p9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6" name="Google Shape;3886;p9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8" name="Google Shape;3928;p9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9" name="Google Shape;3929;p9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6" name="Google Shape;3896;p9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0" name="Google Shape;3930;p94"/>
          <p:cNvCxnSpPr>
            <a:stCxn id="3895" idx="2"/>
            <a:endCxn id="3929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1" name="Google Shape;3931;p94"/>
          <p:cNvCxnSpPr>
            <a:stCxn id="3895" idx="2"/>
            <a:endCxn id="3928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8" name="Google Shape;3898;p9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5" name="Google Shape;3895;p9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2" name="Google Shape;3932;p94"/>
          <p:cNvCxnSpPr>
            <a:stCxn id="3879" idx="2"/>
            <a:endCxn id="3933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4" name="Google Shape;3934;p9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5" name="Google Shape;3935;p9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3" name="Google Shape;3933;p9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36" name="Google Shape;3936;p94"/>
          <p:cNvCxnSpPr>
            <a:stCxn id="3879" idx="2"/>
            <a:endCxn id="3935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37" name="Google Shape;3937;p94"/>
          <p:cNvCxnSpPr>
            <a:stCxn id="3879" idx="2"/>
            <a:endCxn id="3934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8" name="Google Shape;3888;p9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7" name="Google Shape;3877;p9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9" name="Google Shape;3879;p9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0" name="Google Shape;3880;p9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8" name="Google Shape;3938;p94"/>
          <p:cNvSpPr/>
          <p:nvPr/>
        </p:nvSpPr>
        <p:spPr>
          <a:xfrm>
            <a:off x="28855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5" name="Google Shape;3915;p9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2" name="Shape 3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3" name="Google Shape;3943;p95"/>
          <p:cNvCxnSpPr/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4" name="Google Shape;3944;p95"/>
          <p:cNvCxnSpPr>
            <a:stCxn id="3945" idx="3"/>
            <a:endCxn id="3946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7" name="Google Shape;3947;p95"/>
          <p:cNvCxnSpPr>
            <a:stCxn id="3948" idx="0"/>
            <a:endCxn id="394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0" name="Google Shape;3950;p95"/>
          <p:cNvCxnSpPr>
            <a:endCxn id="395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2" name="Google Shape;3952;p95"/>
          <p:cNvCxnSpPr>
            <a:endCxn id="395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4" name="Google Shape;3954;p95"/>
          <p:cNvCxnSpPr>
            <a:endCxn id="395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6" name="Google Shape;3956;p95"/>
          <p:cNvCxnSpPr>
            <a:stCxn id="3957" idx="3"/>
            <a:endCxn id="395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9" name="Google Shape;3959;p95"/>
          <p:cNvCxnSpPr>
            <a:stCxn id="3957" idx="3"/>
            <a:endCxn id="396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1" name="Google Shape;3961;p95"/>
          <p:cNvCxnSpPr>
            <a:stCxn id="3946" idx="3"/>
            <a:endCxn id="3962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3" name="Google Shape;3963;p95"/>
          <p:cNvCxnSpPr>
            <a:stCxn id="3964" idx="2"/>
            <a:endCxn id="3965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6" name="Google Shape;3966;p95"/>
          <p:cNvCxnSpPr>
            <a:stCxn id="3967" idx="1"/>
            <a:endCxn id="396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9" name="Google Shape;3969;p95"/>
          <p:cNvCxnSpPr>
            <a:stCxn id="3970" idx="1"/>
            <a:endCxn id="397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2" name="Google Shape;3972;p95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3973" name="Google Shape;3973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3974" name="Google Shape;3974;p95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5" name="Google Shape;3975;p95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1" name="Google Shape;3971;p95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76" name="Google Shape;3976;p95"/>
          <p:cNvCxnSpPr>
            <a:stCxn id="3970" idx="1"/>
            <a:endCxn id="397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7" name="Google Shape;3977;p95"/>
          <p:cNvCxnSpPr>
            <a:stCxn id="3970" idx="1"/>
            <a:endCxn id="397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5" name="Google Shape;3945;p95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8" name="Google Shape;3978;p95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0" name="Google Shape;3970;p95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9" name="Google Shape;3979;p95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0" name="Google Shape;3980;p95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8" name="Google Shape;3968;p95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81" name="Google Shape;3981;p95"/>
          <p:cNvCxnSpPr>
            <a:stCxn id="3967" idx="1"/>
            <a:endCxn id="398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2" name="Google Shape;3982;p95"/>
          <p:cNvCxnSpPr>
            <a:stCxn id="3967" idx="1"/>
            <a:endCxn id="397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3" name="Google Shape;3983;p95"/>
          <p:cNvCxnSpPr>
            <a:stCxn id="3984" idx="1"/>
            <a:endCxn id="397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5" name="Google Shape;3985;p95"/>
          <p:cNvCxnSpPr>
            <a:stCxn id="3984" idx="1"/>
            <a:endCxn id="3967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6" name="Google Shape;3986;p95"/>
          <p:cNvCxnSpPr>
            <a:stCxn id="3949" idx="1"/>
            <a:endCxn id="3984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7" name="Google Shape;3987;p95"/>
          <p:cNvCxnSpPr>
            <a:stCxn id="3949" idx="0"/>
            <a:endCxn id="397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8" name="Google Shape;3988;p95"/>
          <p:cNvCxnSpPr>
            <a:stCxn id="3964" idx="0"/>
            <a:endCxn id="394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9" name="Google Shape;3989;p95"/>
          <p:cNvCxnSpPr>
            <a:stCxn id="3949" idx="3"/>
            <a:endCxn id="3945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0" name="Google Shape;3990;p95"/>
          <p:cNvCxnSpPr>
            <a:stCxn id="3945" idx="3"/>
            <a:endCxn id="395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1" name="Google Shape;3991;p95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2" name="Google Shape;3992;p95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2" name="Google Shape;3962;p95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3" name="Google Shape;3993;p95"/>
          <p:cNvCxnSpPr>
            <a:stCxn id="3946" idx="3"/>
            <a:endCxn id="399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4" name="Google Shape;3994;p95"/>
          <p:cNvCxnSpPr>
            <a:stCxn id="3946" idx="3"/>
            <a:endCxn id="399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5" name="Google Shape;3995;p95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8" name="Google Shape;3958;p95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0" name="Google Shape;3960;p95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6" name="Google Shape;3996;p95"/>
          <p:cNvCxnSpPr>
            <a:stCxn id="3957" idx="3"/>
            <a:endCxn id="399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3" name="Google Shape;3953;p95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1" name="Google Shape;3951;p95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5" name="Google Shape;3955;p95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7" name="Google Shape;3997;p95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8" name="Google Shape;3998;p95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5" name="Google Shape;3965;p95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99" name="Google Shape;3999;p95"/>
          <p:cNvCxnSpPr>
            <a:stCxn id="3964" idx="2"/>
            <a:endCxn id="399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0" name="Google Shape;4000;p95"/>
          <p:cNvCxnSpPr>
            <a:stCxn id="3964" idx="2"/>
            <a:endCxn id="399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7" name="Google Shape;3967;p95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4" name="Google Shape;3964;p95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1" name="Google Shape;4001;p95"/>
          <p:cNvCxnSpPr>
            <a:stCxn id="3948" idx="2"/>
            <a:endCxn id="4002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3" name="Google Shape;4003;p95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4" name="Google Shape;4004;p95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2" name="Google Shape;4002;p95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05" name="Google Shape;4005;p95"/>
          <p:cNvCxnSpPr>
            <a:stCxn id="3948" idx="2"/>
            <a:endCxn id="4004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6" name="Google Shape;4006;p95"/>
          <p:cNvCxnSpPr>
            <a:stCxn id="3948" idx="2"/>
            <a:endCxn id="4003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57" name="Google Shape;3957;p95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6" name="Google Shape;3946;p95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8" name="Google Shape;3948;p95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9" name="Google Shape;3949;p95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7" name="Google Shape;4007;p95"/>
          <p:cNvSpPr/>
          <p:nvPr/>
        </p:nvSpPr>
        <p:spPr>
          <a:xfrm>
            <a:off x="3876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4" name="Google Shape;3984;p95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1" name="Shape 4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2" name="Google Shape;4012;p96"/>
          <p:cNvCxnSpPr/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3" name="Google Shape;4013;p96"/>
          <p:cNvCxnSpPr>
            <a:stCxn id="4014" idx="3"/>
            <a:endCxn id="401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6" name="Google Shape;4016;p96"/>
          <p:cNvCxnSpPr>
            <a:stCxn id="4017" idx="0"/>
            <a:endCxn id="4018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9" name="Google Shape;4019;p96"/>
          <p:cNvCxnSpPr>
            <a:endCxn id="402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1" name="Google Shape;4021;p96"/>
          <p:cNvCxnSpPr>
            <a:endCxn id="402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3" name="Google Shape;4023;p96"/>
          <p:cNvCxnSpPr>
            <a:endCxn id="402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5" name="Google Shape;4025;p96"/>
          <p:cNvCxnSpPr>
            <a:stCxn id="4026" idx="3"/>
            <a:endCxn id="402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8" name="Google Shape;4028;p96"/>
          <p:cNvCxnSpPr>
            <a:stCxn id="4026" idx="3"/>
            <a:endCxn id="402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0" name="Google Shape;4030;p96"/>
          <p:cNvCxnSpPr>
            <a:stCxn id="4015" idx="3"/>
            <a:endCxn id="403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2" name="Google Shape;4032;p96"/>
          <p:cNvCxnSpPr>
            <a:stCxn id="4033" idx="2"/>
            <a:endCxn id="403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5" name="Google Shape;4035;p96"/>
          <p:cNvCxnSpPr>
            <a:stCxn id="4036" idx="1"/>
            <a:endCxn id="403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8" name="Google Shape;4038;p96"/>
          <p:cNvCxnSpPr>
            <a:stCxn id="4039" idx="1"/>
            <a:endCxn id="404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1" name="Google Shape;4041;p96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042" name="Google Shape;4042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043" name="Google Shape;4043;p96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4" name="Google Shape;4044;p96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0" name="Google Shape;4040;p96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45" name="Google Shape;4045;p96"/>
          <p:cNvCxnSpPr>
            <a:stCxn id="4039" idx="1"/>
            <a:endCxn id="4044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6" name="Google Shape;4046;p96"/>
          <p:cNvCxnSpPr>
            <a:stCxn id="4039" idx="1"/>
            <a:endCxn id="404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4" name="Google Shape;4014;p96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7" name="Google Shape;4047;p96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9" name="Google Shape;4039;p96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8" name="Google Shape;4048;p96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9" name="Google Shape;4049;p96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7" name="Google Shape;4037;p96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50" name="Google Shape;4050;p96"/>
          <p:cNvCxnSpPr>
            <a:stCxn id="4036" idx="1"/>
            <a:endCxn id="4049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96"/>
          <p:cNvCxnSpPr>
            <a:stCxn id="4036" idx="1"/>
            <a:endCxn id="4048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2" name="Google Shape;4052;p96"/>
          <p:cNvCxnSpPr>
            <a:stCxn id="4053" idx="1"/>
            <a:endCxn id="403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4" name="Google Shape;4054;p96"/>
          <p:cNvCxnSpPr>
            <a:stCxn id="4053" idx="1"/>
            <a:endCxn id="403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5" name="Google Shape;4055;p96"/>
          <p:cNvCxnSpPr>
            <a:stCxn id="4018" idx="0"/>
            <a:endCxn id="4047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6" name="Google Shape;4056;p96"/>
          <p:cNvCxnSpPr>
            <a:stCxn id="4033" idx="0"/>
            <a:endCxn id="4018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7" name="Google Shape;4057;p96"/>
          <p:cNvCxnSpPr>
            <a:stCxn id="4018" idx="3"/>
            <a:endCxn id="401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8" name="Google Shape;4058;p96"/>
          <p:cNvCxnSpPr>
            <a:stCxn id="4014" idx="3"/>
            <a:endCxn id="402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59" name="Google Shape;4059;p96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0" name="Google Shape;4060;p96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1" name="Google Shape;4031;p96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1" name="Google Shape;4061;p96"/>
          <p:cNvCxnSpPr>
            <a:stCxn id="4015" idx="3"/>
            <a:endCxn id="4060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2" name="Google Shape;4062;p96"/>
          <p:cNvCxnSpPr>
            <a:stCxn id="4015" idx="3"/>
            <a:endCxn id="4059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3" name="Google Shape;4063;p96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7" name="Google Shape;4027;p96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9" name="Google Shape;4029;p96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4" name="Google Shape;4064;p96"/>
          <p:cNvCxnSpPr>
            <a:stCxn id="4026" idx="3"/>
            <a:endCxn id="4063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2" name="Google Shape;4022;p96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0" name="Google Shape;4020;p96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4" name="Google Shape;4024;p96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5" name="Google Shape;4065;p96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6" name="Google Shape;4066;p96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4" name="Google Shape;4034;p96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7" name="Google Shape;4067;p96"/>
          <p:cNvCxnSpPr>
            <a:stCxn id="4033" idx="2"/>
            <a:endCxn id="4066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8" name="Google Shape;4068;p96"/>
          <p:cNvCxnSpPr>
            <a:stCxn id="4033" idx="2"/>
            <a:endCxn id="4065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33" name="Google Shape;4033;p96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9" name="Google Shape;4069;p96"/>
          <p:cNvCxnSpPr>
            <a:stCxn id="4017" idx="2"/>
            <a:endCxn id="4070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1" name="Google Shape;4071;p96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2" name="Google Shape;4072;p96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0" name="Google Shape;4070;p96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3" name="Google Shape;4073;p96"/>
          <p:cNvCxnSpPr>
            <a:stCxn id="4017" idx="2"/>
            <a:endCxn id="4072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4" name="Google Shape;4074;p96"/>
          <p:cNvCxnSpPr>
            <a:stCxn id="4017" idx="2"/>
            <a:endCxn id="4071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6" name="Google Shape;4026;p96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5" name="Google Shape;4015;p96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7" name="Google Shape;4017;p96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8" name="Google Shape;4018;p96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3" name="Google Shape;4053;p96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5" name="Google Shape;4075;p96"/>
          <p:cNvSpPr/>
          <p:nvPr/>
        </p:nvSpPr>
        <p:spPr>
          <a:xfrm>
            <a:off x="359150" y="4394575"/>
            <a:ext cx="2537400" cy="568800"/>
          </a:xfrm>
          <a:prstGeom prst="wedgeRoundRectCallout">
            <a:avLst>
              <a:gd fmla="val 37465" name="adj1"/>
              <a:gd fmla="val -76348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6" name="Google Shape;4036;p96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6" name="Google Shape;4076;p96"/>
          <p:cNvSpPr/>
          <p:nvPr/>
        </p:nvSpPr>
        <p:spPr>
          <a:xfrm>
            <a:off x="1894900" y="43183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7" name="Google Shape;4077;p96"/>
          <p:cNvSpPr/>
          <p:nvPr/>
        </p:nvSpPr>
        <p:spPr>
          <a:xfrm>
            <a:off x="2885500" y="3854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78" name="Google Shape;4078;p96"/>
          <p:cNvCxnSpPr/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9" name="Google Shape;4079;p96"/>
          <p:cNvSpPr/>
          <p:nvPr/>
        </p:nvSpPr>
        <p:spPr>
          <a:xfrm>
            <a:off x="3876100" y="3854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3" name="Shape 4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4" name="Google Shape;4084;p97"/>
          <p:cNvCxnSpPr>
            <a:stCxn id="4085" idx="3"/>
            <a:endCxn id="4086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7" name="Google Shape;4087;p97"/>
          <p:cNvCxnSpPr>
            <a:stCxn id="4088" idx="0"/>
            <a:endCxn id="4089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97"/>
          <p:cNvCxnSpPr>
            <a:endCxn id="4091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2" name="Google Shape;4092;p97"/>
          <p:cNvCxnSpPr>
            <a:endCxn id="4093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4" name="Google Shape;4094;p97"/>
          <p:cNvCxnSpPr>
            <a:endCxn id="4095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6" name="Google Shape;4096;p97"/>
          <p:cNvCxnSpPr>
            <a:stCxn id="4097" idx="3"/>
            <a:endCxn id="4098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9" name="Google Shape;4099;p97"/>
          <p:cNvCxnSpPr>
            <a:stCxn id="4097" idx="3"/>
            <a:endCxn id="4100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1" name="Google Shape;4101;p97"/>
          <p:cNvCxnSpPr>
            <a:stCxn id="4086" idx="3"/>
            <a:endCxn id="4102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3" name="Google Shape;4103;p97"/>
          <p:cNvCxnSpPr>
            <a:stCxn id="4104" idx="2"/>
            <a:endCxn id="4105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6" name="Google Shape;4106;p97"/>
          <p:cNvCxnSpPr>
            <a:stCxn id="4107" idx="1"/>
            <a:endCxn id="410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9" name="Google Shape;4109;p97"/>
          <p:cNvCxnSpPr>
            <a:stCxn id="4110" idx="1"/>
            <a:endCxn id="411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2" name="Google Shape;4112;p97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113" name="Google Shape;4113;p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114" name="Google Shape;4114;p97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5" name="Google Shape;4115;p97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1" name="Google Shape;4111;p97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16" name="Google Shape;4116;p97"/>
          <p:cNvCxnSpPr>
            <a:stCxn id="4110" idx="1"/>
            <a:endCxn id="411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7" name="Google Shape;4117;p97"/>
          <p:cNvCxnSpPr>
            <a:stCxn id="4110" idx="1"/>
            <a:endCxn id="411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5" name="Google Shape;4085;p97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8" name="Google Shape;4118;p97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0" name="Google Shape;4110;p97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9" name="Google Shape;4119;p97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0" name="Google Shape;4120;p97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8" name="Google Shape;4108;p97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21" name="Google Shape;4121;p97"/>
          <p:cNvCxnSpPr>
            <a:stCxn id="4107" idx="1"/>
            <a:endCxn id="412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2" name="Google Shape;4122;p97"/>
          <p:cNvCxnSpPr>
            <a:stCxn id="4107" idx="1"/>
            <a:endCxn id="411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3" name="Google Shape;4123;p97"/>
          <p:cNvCxnSpPr>
            <a:stCxn id="4124" idx="1"/>
            <a:endCxn id="411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5" name="Google Shape;4125;p97"/>
          <p:cNvCxnSpPr>
            <a:stCxn id="4124" idx="1"/>
            <a:endCxn id="4107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6" name="Google Shape;4126;p97"/>
          <p:cNvCxnSpPr>
            <a:stCxn id="4089" idx="1"/>
            <a:endCxn id="4124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7" name="Google Shape;4127;p97"/>
          <p:cNvCxnSpPr>
            <a:stCxn id="4089" idx="0"/>
            <a:endCxn id="411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8" name="Google Shape;4128;p97"/>
          <p:cNvCxnSpPr>
            <a:stCxn id="4104" idx="0"/>
            <a:endCxn id="4089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9" name="Google Shape;4129;p97"/>
          <p:cNvCxnSpPr>
            <a:stCxn id="4089" idx="3"/>
            <a:endCxn id="4085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0" name="Google Shape;4130;p97"/>
          <p:cNvCxnSpPr>
            <a:stCxn id="4085" idx="3"/>
            <a:endCxn id="4097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1" name="Google Shape;4131;p97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2" name="Google Shape;4132;p97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2" name="Google Shape;4102;p97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3" name="Google Shape;4133;p97"/>
          <p:cNvCxnSpPr>
            <a:stCxn id="4086" idx="3"/>
            <a:endCxn id="413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97"/>
          <p:cNvCxnSpPr>
            <a:stCxn id="4086" idx="3"/>
            <a:endCxn id="413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5" name="Google Shape;4135;p97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8" name="Google Shape;4098;p97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0" name="Google Shape;4100;p97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6" name="Google Shape;4136;p97"/>
          <p:cNvCxnSpPr>
            <a:stCxn id="4097" idx="3"/>
            <a:endCxn id="413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3" name="Google Shape;4093;p97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1" name="Google Shape;4091;p97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5" name="Google Shape;4095;p97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7" name="Google Shape;4137;p97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8" name="Google Shape;4138;p97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5" name="Google Shape;4105;p97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39" name="Google Shape;4139;p97"/>
          <p:cNvCxnSpPr>
            <a:stCxn id="4104" idx="2"/>
            <a:endCxn id="413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0" name="Google Shape;4140;p97"/>
          <p:cNvCxnSpPr>
            <a:stCxn id="4104" idx="2"/>
            <a:endCxn id="413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4" name="Google Shape;4104;p97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1" name="Google Shape;4141;p97"/>
          <p:cNvCxnSpPr>
            <a:stCxn id="4088" idx="2"/>
            <a:endCxn id="4142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3" name="Google Shape;4143;p97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4" name="Google Shape;4144;p97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2" name="Google Shape;4142;p97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5" name="Google Shape;4145;p97"/>
          <p:cNvCxnSpPr>
            <a:stCxn id="4088" idx="2"/>
            <a:endCxn id="4144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97"/>
          <p:cNvCxnSpPr>
            <a:stCxn id="4088" idx="2"/>
            <a:endCxn id="4143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7" name="Google Shape;4097;p97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6" name="Google Shape;4086;p97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8" name="Google Shape;4088;p97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9" name="Google Shape;4089;p97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4" name="Google Shape;4124;p97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7" name="Google Shape;4107;p97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7" name="Google Shape;4147;p97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48" name="Google Shape;4148;p97"/>
          <p:cNvCxnSpPr/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9" name="Google Shape;4149;p97"/>
          <p:cNvCxnSpPr/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0" name="Google Shape;4150;p97"/>
          <p:cNvSpPr/>
          <p:nvPr/>
        </p:nvSpPr>
        <p:spPr>
          <a:xfrm>
            <a:off x="6479350" y="1957288"/>
            <a:ext cx="2537400" cy="568800"/>
          </a:xfrm>
          <a:prstGeom prst="wedgeRoundRectCallout">
            <a:avLst>
              <a:gd fmla="val -45946" name="adj1"/>
              <a:gd fmla="val 88170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1" name="Google Shape;4151;p97"/>
          <p:cNvSpPr/>
          <p:nvPr/>
        </p:nvSpPr>
        <p:spPr>
          <a:xfrm>
            <a:off x="5857300" y="2095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2" name="Google Shape;4152;p97"/>
          <p:cNvSpPr/>
          <p:nvPr/>
        </p:nvSpPr>
        <p:spPr>
          <a:xfrm>
            <a:off x="4866700" y="2476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3" name="Google Shape;4153;p97"/>
          <p:cNvSpPr/>
          <p:nvPr/>
        </p:nvSpPr>
        <p:spPr>
          <a:xfrm>
            <a:off x="3876100" y="24760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R6,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7" name="Shape 4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58" name="Google Shape;4158;p98"/>
          <p:cNvCxnSpPr>
            <a:stCxn id="4159" idx="3"/>
            <a:endCxn id="4160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1" name="Google Shape;4161;p98"/>
          <p:cNvCxnSpPr>
            <a:stCxn id="4162" idx="0"/>
            <a:endCxn id="416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4" name="Google Shape;4164;p98"/>
          <p:cNvCxnSpPr>
            <a:endCxn id="416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6" name="Google Shape;4166;p98"/>
          <p:cNvCxnSpPr>
            <a:endCxn id="416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8" name="Google Shape;4168;p98"/>
          <p:cNvCxnSpPr>
            <a:endCxn id="416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0" name="Google Shape;4170;p98"/>
          <p:cNvCxnSpPr>
            <a:stCxn id="4171" idx="3"/>
            <a:endCxn id="417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3" name="Google Shape;4173;p98"/>
          <p:cNvCxnSpPr>
            <a:stCxn id="4171" idx="3"/>
            <a:endCxn id="417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5" name="Google Shape;4175;p98"/>
          <p:cNvCxnSpPr>
            <a:stCxn id="4160" idx="3"/>
            <a:endCxn id="417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7" name="Google Shape;4177;p98"/>
          <p:cNvCxnSpPr>
            <a:stCxn id="4178" idx="2"/>
            <a:endCxn id="417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98"/>
          <p:cNvCxnSpPr>
            <a:stCxn id="4181" idx="1"/>
            <a:endCxn id="418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3" name="Google Shape;4183;p98"/>
          <p:cNvCxnSpPr>
            <a:stCxn id="4184" idx="1"/>
            <a:endCxn id="418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6" name="Google Shape;4186;p98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187" name="Google Shape;4187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188" name="Google Shape;4188;p98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9" name="Google Shape;4189;p9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5" name="Google Shape;4185;p98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0" name="Google Shape;4190;p98"/>
          <p:cNvCxnSpPr>
            <a:stCxn id="4184" idx="1"/>
            <a:endCxn id="418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98"/>
          <p:cNvCxnSpPr>
            <a:stCxn id="4184" idx="1"/>
            <a:endCxn id="418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9" name="Google Shape;4159;p9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2" name="Google Shape;4192;p98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4" name="Google Shape;4184;p98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3" name="Google Shape;4193;p98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4" name="Google Shape;4194;p98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2" name="Google Shape;4182;p98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95" name="Google Shape;4195;p98"/>
          <p:cNvCxnSpPr>
            <a:stCxn id="4181" idx="1"/>
            <a:endCxn id="419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6" name="Google Shape;4196;p98"/>
          <p:cNvCxnSpPr>
            <a:stCxn id="4181" idx="1"/>
            <a:endCxn id="419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7" name="Google Shape;4197;p98"/>
          <p:cNvCxnSpPr>
            <a:stCxn id="4198" idx="1"/>
            <a:endCxn id="418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9" name="Google Shape;4199;p98"/>
          <p:cNvCxnSpPr>
            <a:stCxn id="4198" idx="1"/>
            <a:endCxn id="418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0" name="Google Shape;4200;p98"/>
          <p:cNvCxnSpPr>
            <a:stCxn id="4163" idx="1"/>
            <a:endCxn id="4198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1" name="Google Shape;4201;p98"/>
          <p:cNvCxnSpPr>
            <a:stCxn id="4163" idx="0"/>
            <a:endCxn id="419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98"/>
          <p:cNvCxnSpPr>
            <a:stCxn id="4178" idx="0"/>
            <a:endCxn id="416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3" name="Google Shape;4203;p98"/>
          <p:cNvCxnSpPr>
            <a:stCxn id="4163" idx="3"/>
            <a:endCxn id="4159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4" name="Google Shape;4204;p98"/>
          <p:cNvCxnSpPr>
            <a:stCxn id="4159" idx="3"/>
            <a:endCxn id="417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5" name="Google Shape;4205;p98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6" name="Google Shape;4206;p98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6" name="Google Shape;4176;p98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07" name="Google Shape;4207;p98"/>
          <p:cNvCxnSpPr>
            <a:stCxn id="4160" idx="3"/>
            <a:endCxn id="420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8" name="Google Shape;4208;p98"/>
          <p:cNvCxnSpPr>
            <a:stCxn id="4160" idx="3"/>
            <a:endCxn id="420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09" name="Google Shape;4209;p98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2" name="Google Shape;4172;p98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4" name="Google Shape;4174;p98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0" name="Google Shape;4210;p98"/>
          <p:cNvCxnSpPr>
            <a:stCxn id="4171" idx="3"/>
            <a:endCxn id="420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67" name="Google Shape;4167;p98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5" name="Google Shape;4165;p98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9" name="Google Shape;4169;p98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1" name="Google Shape;4211;p98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2" name="Google Shape;4212;p98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9" name="Google Shape;4179;p98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3" name="Google Shape;4213;p98"/>
          <p:cNvCxnSpPr>
            <a:stCxn id="4178" idx="2"/>
            <a:endCxn id="421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4" name="Google Shape;4214;p98"/>
          <p:cNvCxnSpPr>
            <a:stCxn id="4178" idx="2"/>
            <a:endCxn id="421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8" name="Google Shape;4178;p98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5" name="Google Shape;4215;p98"/>
          <p:cNvCxnSpPr>
            <a:stCxn id="4162" idx="2"/>
            <a:endCxn id="4216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7" name="Google Shape;4217;p98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8" name="Google Shape;4218;p98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6" name="Google Shape;4216;p98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19" name="Google Shape;4219;p98"/>
          <p:cNvCxnSpPr>
            <a:stCxn id="4162" idx="2"/>
            <a:endCxn id="4218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0" name="Google Shape;4220;p98"/>
          <p:cNvCxnSpPr>
            <a:stCxn id="4162" idx="2"/>
            <a:endCxn id="4217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71" name="Google Shape;4171;p98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0" name="Google Shape;4160;p98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2" name="Google Shape;4162;p98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3" name="Google Shape;4163;p98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8" name="Google Shape;4198;p98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1" name="Google Shape;4181;p98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1" name="Google Shape;4221;p9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2" name="Google Shape;4222;p98"/>
          <p:cNvSpPr/>
          <p:nvPr/>
        </p:nvSpPr>
        <p:spPr>
          <a:xfrm>
            <a:off x="4626700" y="4394563"/>
            <a:ext cx="2537400" cy="568800"/>
          </a:xfrm>
          <a:prstGeom prst="wedgeRoundRectCallout">
            <a:avLst>
              <a:gd fmla="val -59923" name="adj1"/>
              <a:gd fmla="val -53123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3" name="Google Shape;4223;p98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4" name="Google Shape;4224;p98"/>
          <p:cNvSpPr/>
          <p:nvPr/>
        </p:nvSpPr>
        <p:spPr>
          <a:xfrm>
            <a:off x="4371400" y="40449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25" name="Google Shape;4225;p98"/>
          <p:cNvCxnSpPr/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9" name="Shape 4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0" name="Google Shape;4230;p99"/>
          <p:cNvCxnSpPr>
            <a:stCxn id="4231" idx="3"/>
            <a:endCxn id="423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3" name="Google Shape;4233;p99"/>
          <p:cNvCxnSpPr>
            <a:stCxn id="4234" idx="0"/>
            <a:endCxn id="4235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6" name="Google Shape;4236;p99"/>
          <p:cNvCxnSpPr>
            <a:endCxn id="4237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99"/>
          <p:cNvCxnSpPr>
            <a:endCxn id="4239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0" name="Google Shape;4240;p99"/>
          <p:cNvCxnSpPr>
            <a:endCxn id="4241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2" name="Google Shape;4242;p99"/>
          <p:cNvCxnSpPr>
            <a:stCxn id="4243" idx="3"/>
            <a:endCxn id="4244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5" name="Google Shape;4245;p99"/>
          <p:cNvCxnSpPr>
            <a:stCxn id="4243" idx="3"/>
            <a:endCxn id="4246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7" name="Google Shape;4247;p99"/>
          <p:cNvCxnSpPr>
            <a:stCxn id="4232" idx="3"/>
            <a:endCxn id="4248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9" name="Google Shape;4249;p99"/>
          <p:cNvCxnSpPr>
            <a:stCxn id="4250" idx="2"/>
            <a:endCxn id="4251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2" name="Google Shape;4252;p99"/>
          <p:cNvCxnSpPr>
            <a:stCxn id="4253" idx="1"/>
            <a:endCxn id="4254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5" name="Google Shape;4255;p99"/>
          <p:cNvCxnSpPr>
            <a:stCxn id="4256" idx="1"/>
            <a:endCxn id="4257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8" name="Google Shape;4258;p99"/>
          <p:cNvSpPr txBox="1"/>
          <p:nvPr>
            <p:ph idx="1" type="body"/>
          </p:nvPr>
        </p:nvSpPr>
        <p:spPr>
          <a:xfrm>
            <a:off x="107050" y="402200"/>
            <a:ext cx="8909700" cy="12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259" name="Google Shape;4259;p9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260" name="Google Shape;4260;p9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1" name="Google Shape;4261;p9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7" name="Google Shape;4257;p9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2" name="Google Shape;4262;p99"/>
          <p:cNvCxnSpPr>
            <a:stCxn id="4256" idx="1"/>
            <a:endCxn id="426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3" name="Google Shape;4263;p99"/>
          <p:cNvCxnSpPr>
            <a:stCxn id="4256" idx="1"/>
            <a:endCxn id="4260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1" name="Google Shape;4231;p9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6" name="Google Shape;4256;p9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4" name="Google Shape;4264;p9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5" name="Google Shape;4265;p9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4" name="Google Shape;4254;p9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66" name="Google Shape;4266;p99"/>
          <p:cNvCxnSpPr>
            <a:stCxn id="4253" idx="1"/>
            <a:endCxn id="426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7" name="Google Shape;4267;p99"/>
          <p:cNvCxnSpPr>
            <a:stCxn id="4253" idx="1"/>
            <a:endCxn id="426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8" name="Google Shape;4268;p99"/>
          <p:cNvCxnSpPr>
            <a:stCxn id="4269" idx="1"/>
            <a:endCxn id="4256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0" name="Google Shape;4270;p99"/>
          <p:cNvCxnSpPr>
            <a:stCxn id="4269" idx="1"/>
            <a:endCxn id="4253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1" name="Google Shape;4271;p99"/>
          <p:cNvCxnSpPr>
            <a:stCxn id="4235" idx="1"/>
            <a:endCxn id="4269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2" name="Google Shape;4272;p99"/>
          <p:cNvCxnSpPr>
            <a:stCxn id="4235" idx="0"/>
            <a:endCxn id="427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4" name="Google Shape;4274;p99"/>
          <p:cNvCxnSpPr>
            <a:stCxn id="4250" idx="0"/>
            <a:endCxn id="4235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5" name="Google Shape;4275;p99"/>
          <p:cNvCxnSpPr>
            <a:stCxn id="4235" idx="3"/>
            <a:endCxn id="423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6" name="Google Shape;4276;p99"/>
          <p:cNvCxnSpPr>
            <a:stCxn id="4231" idx="3"/>
            <a:endCxn id="4243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77" name="Google Shape;4277;p9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8" name="Google Shape;4278;p9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8" name="Google Shape;4248;p9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79" name="Google Shape;4279;p99"/>
          <p:cNvCxnSpPr>
            <a:stCxn id="4232" idx="3"/>
            <a:endCxn id="4278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0" name="Google Shape;4280;p99"/>
          <p:cNvCxnSpPr>
            <a:stCxn id="4232" idx="3"/>
            <a:endCxn id="4277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1" name="Google Shape;4281;p9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4" name="Google Shape;4244;p9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6" name="Google Shape;4246;p9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2" name="Google Shape;4282;p99"/>
          <p:cNvCxnSpPr>
            <a:stCxn id="4243" idx="3"/>
            <a:endCxn id="4281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39" name="Google Shape;4239;p9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7" name="Google Shape;4237;p9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1" name="Google Shape;4241;p9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3" name="Google Shape;4283;p9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4" name="Google Shape;4284;p9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1" name="Google Shape;4251;p9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5" name="Google Shape;4285;p99"/>
          <p:cNvCxnSpPr>
            <a:stCxn id="4250" idx="2"/>
            <a:endCxn id="4284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6" name="Google Shape;4286;p99"/>
          <p:cNvCxnSpPr>
            <a:stCxn id="4250" idx="2"/>
            <a:endCxn id="4283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0" name="Google Shape;4250;p9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87" name="Google Shape;4287;p99"/>
          <p:cNvCxnSpPr>
            <a:stCxn id="4234" idx="2"/>
            <a:endCxn id="4288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9" name="Google Shape;4289;p9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0" name="Google Shape;4290;p9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8" name="Google Shape;4288;p9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1" name="Google Shape;4291;p99"/>
          <p:cNvCxnSpPr>
            <a:stCxn id="4234" idx="2"/>
            <a:endCxn id="4290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2" name="Google Shape;4292;p99"/>
          <p:cNvCxnSpPr>
            <a:stCxn id="4234" idx="2"/>
            <a:endCxn id="4289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3" name="Google Shape;4243;p9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2" name="Google Shape;4232;p9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4" name="Google Shape;4234;p9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5" name="Google Shape;4235;p9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9" name="Google Shape;4269;p9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3" name="Google Shape;4253;p9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3" name="Google Shape;4293;p9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4" name="Google Shape;4294;p99"/>
          <p:cNvSpPr/>
          <p:nvPr/>
        </p:nvSpPr>
        <p:spPr>
          <a:xfrm>
            <a:off x="5083900" y="2032363"/>
            <a:ext cx="2537400" cy="568800"/>
          </a:xfrm>
          <a:prstGeom prst="wedgeRoundRectCallout">
            <a:avLst>
              <a:gd fmla="val -61579" name="adj1"/>
              <a:gd fmla="val 57206" name="adj2"/>
              <a:gd fmla="val 0" name="adj3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Some of my children are members of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5" name="Google Shape;4295;p99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6" name="Google Shape;4296;p99"/>
          <p:cNvSpPr/>
          <p:nvPr/>
        </p:nvSpPr>
        <p:spPr>
          <a:xfrm>
            <a:off x="4866700" y="2444725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R1,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3" name="Google Shape;4273;p9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297" name="Google Shape;4297;p99"/>
          <p:cNvCxnSpPr/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02" name="Google Shape;4302;p100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3" name="Google Shape;4303;p10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4" name="Google Shape;4304;p100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5" name="Google Shape;4305;p100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6" name="Google Shape;4306;p100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7" name="Google Shape;4307;p100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08" name="Google Shape;4308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Join Messages</a:t>
            </a:r>
            <a:endParaRPr/>
          </a:p>
        </p:txBody>
      </p:sp>
      <p:sp>
        <p:nvSpPr>
          <p:cNvPr id="4309" name="Google Shape;4309;p100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a router needs to join the tree: Unicast a </a:t>
            </a:r>
            <a:r>
              <a:rPr b="1" lang="en"/>
              <a:t>Join</a:t>
            </a:r>
            <a:r>
              <a:rPr lang="en"/>
              <a:t> message to the core.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Routers along the path see the message. They join the tree by enabling the incoming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came from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 and the outgoing link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the link the message is forwarded to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  <p:sp>
        <p:nvSpPr>
          <p:cNvPr id="4310" name="Google Shape;4310;p100"/>
          <p:cNvSpPr txBox="1"/>
          <p:nvPr/>
        </p:nvSpPr>
        <p:spPr>
          <a:xfrm>
            <a:off x="630600" y="3214700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When you receive a join message, enable the incoming link.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That link is now part of the tree.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1" name="Google Shape;4311;p100"/>
          <p:cNvCxnSpPr>
            <a:stCxn id="4312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3" name="Google Shape;4313;p100"/>
          <p:cNvCxnSpPr>
            <a:stCxn id="4312" idx="0"/>
          </p:cNvCxnSpPr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4" name="Google Shape;4314;p100"/>
          <p:cNvCxnSpPr>
            <a:stCxn id="4312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00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12" name="Google Shape;4312;p100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6" name="Google Shape;4316;p100"/>
          <p:cNvSpPr/>
          <p:nvPr/>
        </p:nvSpPr>
        <p:spPr>
          <a:xfrm>
            <a:off x="35756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7" name="Google Shape;4317;p100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318" name="Google Shape;4318;p100"/>
          <p:cNvSpPr/>
          <p:nvPr/>
        </p:nvSpPr>
        <p:spPr>
          <a:xfrm>
            <a:off x="3575650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9" name="Google Shape;4319;p100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0" name="Google Shape;4320;p100"/>
          <p:cNvSpPr/>
          <p:nvPr/>
        </p:nvSpPr>
        <p:spPr>
          <a:xfrm>
            <a:off x="49472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1" name="Google Shape;4321;p100"/>
          <p:cNvSpPr txBox="1"/>
          <p:nvPr/>
        </p:nvSpPr>
        <p:spPr>
          <a:xfrm>
            <a:off x="6512225" y="3648200"/>
            <a:ext cx="2287500" cy="12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All join messages get forwarded toward the root.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Enable this outgoing link.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It is now part of the tree.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22" name="Google Shape;4322;p100"/>
          <p:cNvCxnSpPr/>
          <p:nvPr/>
        </p:nvCxnSpPr>
        <p:spPr>
          <a:xfrm>
            <a:off x="5700250" y="3800600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23" name="Google Shape;4323;p100"/>
          <p:cNvSpPr/>
          <p:nvPr/>
        </p:nvSpPr>
        <p:spPr>
          <a:xfrm>
            <a:off x="5520938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4" name="Google Shape;4324;p100"/>
          <p:cNvSpPr/>
          <p:nvPr/>
        </p:nvSpPr>
        <p:spPr>
          <a:xfrm>
            <a:off x="5597138" y="39925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5" name="Google Shape;4325;p100"/>
          <p:cNvSpPr/>
          <p:nvPr/>
        </p:nvSpPr>
        <p:spPr>
          <a:xfrm>
            <a:off x="5673338" y="40687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"Join."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9" name="Shape 4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30" name="Google Shape;4330;p101"/>
          <p:cNvCxnSpPr>
            <a:stCxn id="4331" idx="3"/>
            <a:endCxn id="4332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3" name="Google Shape;4333;p101"/>
          <p:cNvCxnSpPr>
            <a:endCxn id="433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5" name="Google Shape;4335;p101"/>
          <p:cNvCxnSpPr>
            <a:endCxn id="433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7" name="Google Shape;4337;p101"/>
          <p:cNvCxnSpPr>
            <a:endCxn id="433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9" name="Google Shape;4339;p101"/>
          <p:cNvCxnSpPr>
            <a:stCxn id="4340" idx="3"/>
            <a:endCxn id="434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2" name="Google Shape;4342;p101"/>
          <p:cNvCxnSpPr>
            <a:stCxn id="4340" idx="3"/>
            <a:endCxn id="434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4" name="Google Shape;4344;p101"/>
          <p:cNvCxnSpPr>
            <a:stCxn id="4332" idx="3"/>
            <a:endCxn id="434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6" name="Google Shape;4346;p101"/>
          <p:cNvCxnSpPr>
            <a:stCxn id="4347" idx="2"/>
            <a:endCxn id="434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9" name="Google Shape;4349;p101"/>
          <p:cNvCxnSpPr>
            <a:stCxn id="4350" idx="1"/>
            <a:endCxn id="435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2" name="Google Shape;4352;p101"/>
          <p:cNvCxnSpPr>
            <a:stCxn id="4353" idx="1"/>
            <a:endCxn id="435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5" name="Google Shape;4355;p101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you are a leaf with no directly-connected members: Send </a:t>
            </a:r>
            <a:r>
              <a:rPr lang="en"/>
              <a:t>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356" name="Google Shape;4356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357" name="Google Shape;4357;p10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8" name="Google Shape;4358;p10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4" name="Google Shape;4354;p10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59" name="Google Shape;4359;p101"/>
          <p:cNvCxnSpPr>
            <a:stCxn id="4353" idx="1"/>
            <a:endCxn id="435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0" name="Google Shape;4360;p101"/>
          <p:cNvCxnSpPr>
            <a:stCxn id="4353" idx="1"/>
            <a:endCxn id="435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1" name="Google Shape;4361;p10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1" name="Google Shape;4331;p10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2" name="Google Shape;4362;p10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3" name="Google Shape;4353;p10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3" name="Google Shape;4363;p10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4" name="Google Shape;4364;p10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1" name="Google Shape;4351;p10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65" name="Google Shape;4365;p101"/>
          <p:cNvCxnSpPr>
            <a:stCxn id="4350" idx="1"/>
            <a:endCxn id="436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6" name="Google Shape;4366;p101"/>
          <p:cNvCxnSpPr>
            <a:stCxn id="4350" idx="1"/>
            <a:endCxn id="436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7" name="Google Shape;4367;p101"/>
          <p:cNvCxnSpPr>
            <a:stCxn id="4361" idx="1"/>
            <a:endCxn id="435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8" name="Google Shape;4368;p101"/>
          <p:cNvCxnSpPr>
            <a:stCxn id="4361" idx="1"/>
            <a:endCxn id="435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9" name="Google Shape;4369;p101"/>
          <p:cNvCxnSpPr>
            <a:stCxn id="4370" idx="1"/>
            <a:endCxn id="436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1" name="Google Shape;4371;p101"/>
          <p:cNvCxnSpPr>
            <a:stCxn id="4370" idx="0"/>
            <a:endCxn id="436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2" name="Google Shape;4372;p101"/>
          <p:cNvCxnSpPr>
            <a:stCxn id="4347" idx="0"/>
            <a:endCxn id="4370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3" name="Google Shape;4373;p101"/>
          <p:cNvCxnSpPr>
            <a:stCxn id="4370" idx="3"/>
            <a:endCxn id="4331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4" name="Google Shape;4374;p101"/>
          <p:cNvCxnSpPr>
            <a:stCxn id="4331" idx="3"/>
            <a:endCxn id="434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5" name="Google Shape;4375;p10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6" name="Google Shape;4376;p10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5" name="Google Shape;4345;p10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7" name="Google Shape;4377;p101"/>
          <p:cNvCxnSpPr>
            <a:stCxn id="4332" idx="3"/>
            <a:endCxn id="4376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8" name="Google Shape;4378;p101"/>
          <p:cNvCxnSpPr>
            <a:stCxn id="4332" idx="3"/>
            <a:endCxn id="4375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9" name="Google Shape;4379;p10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1" name="Google Shape;4341;p10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3" name="Google Shape;4343;p10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0" name="Google Shape;4380;p101"/>
          <p:cNvCxnSpPr>
            <a:stCxn id="4340" idx="3"/>
            <a:endCxn id="4379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6" name="Google Shape;4336;p10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4" name="Google Shape;4334;p10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8" name="Google Shape;4338;p10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1" name="Google Shape;4381;p10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2" name="Google Shape;4382;p10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8" name="Google Shape;4348;p10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3" name="Google Shape;4383;p101"/>
          <p:cNvCxnSpPr>
            <a:stCxn id="4347" idx="2"/>
            <a:endCxn id="4382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4" name="Google Shape;4384;p101"/>
          <p:cNvCxnSpPr>
            <a:stCxn id="4347" idx="2"/>
            <a:endCxn id="4381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0" name="Google Shape;4350;p10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85" name="Google Shape;4385;p101"/>
          <p:cNvCxnSpPr>
            <a:stCxn id="4386" idx="2"/>
            <a:endCxn id="438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8" name="Google Shape;4388;p10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9" name="Google Shape;4389;p10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7" name="Google Shape;4387;p10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90" name="Google Shape;4390;p101"/>
          <p:cNvCxnSpPr>
            <a:stCxn id="4386" idx="2"/>
            <a:endCxn id="438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101"/>
          <p:cNvCxnSpPr>
            <a:stCxn id="4386" idx="2"/>
            <a:endCxn id="438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0" name="Google Shape;4340;p10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2" name="Google Shape;4332;p10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6" name="Google Shape;4386;p10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392" name="Google Shape;4392;p101"/>
          <p:cNvGrpSpPr/>
          <p:nvPr/>
        </p:nvGrpSpPr>
        <p:grpSpPr>
          <a:xfrm>
            <a:off x="3757375" y="4443600"/>
            <a:ext cx="762900" cy="630300"/>
            <a:chOff x="3757375" y="4443600"/>
            <a:chExt cx="762900" cy="630300"/>
          </a:xfrm>
        </p:grpSpPr>
        <p:sp>
          <p:nvSpPr>
            <p:cNvPr id="4393" name="Google Shape;4393;p101"/>
            <p:cNvSpPr/>
            <p:nvPr/>
          </p:nvSpPr>
          <p:spPr>
            <a:xfrm>
              <a:off x="3757375" y="4443600"/>
              <a:ext cx="762900" cy="630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94" name="Google Shape;4394;p101"/>
            <p:cNvCxnSpPr>
              <a:endCxn id="4395" idx="0"/>
            </p:cNvCxnSpPr>
            <p:nvPr/>
          </p:nvCxnSpPr>
          <p:spPr>
            <a:xfrm>
              <a:off x="4104700" y="4470763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396" name="Google Shape;4396;p101"/>
            <p:cNvSpPr/>
            <p:nvPr/>
          </p:nvSpPr>
          <p:spPr>
            <a:xfrm>
              <a:off x="40285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7" name="Google Shape;4397;p101"/>
            <p:cNvSpPr/>
            <p:nvPr/>
          </p:nvSpPr>
          <p:spPr>
            <a:xfrm>
              <a:off x="37999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395" name="Google Shape;4395;p101"/>
            <p:cNvSpPr/>
            <p:nvPr/>
          </p:nvSpPr>
          <p:spPr>
            <a:xfrm>
              <a:off x="4257100" y="4851763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398" name="Google Shape;4398;p101"/>
            <p:cNvCxnSpPr>
              <a:endCxn id="4397" idx="0"/>
            </p:cNvCxnSpPr>
            <p:nvPr/>
          </p:nvCxnSpPr>
          <p:spPr>
            <a:xfrm flipH="1">
              <a:off x="3876100" y="4470763"/>
              <a:ext cx="22860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99" name="Google Shape;4399;p101"/>
            <p:cNvCxnSpPr>
              <a:endCxn id="4396" idx="0"/>
            </p:cNvCxnSpPr>
            <p:nvPr/>
          </p:nvCxnSpPr>
          <p:spPr>
            <a:xfrm>
              <a:off x="4104700" y="4470763"/>
              <a:ext cx="0" cy="3810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00" name="Google Shape;4400;p101"/>
          <p:cNvSpPr/>
          <p:nvPr/>
        </p:nvSpPr>
        <p:spPr>
          <a:xfrm>
            <a:off x="1936600" y="4376875"/>
            <a:ext cx="1710900" cy="568800"/>
          </a:xfrm>
          <a:prstGeom prst="wedgeRoundRectCallout">
            <a:avLst>
              <a:gd fmla="val 64966" name="adj1"/>
              <a:gd fmla="val -55705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1" name="Google Shape;4401;p101"/>
          <p:cNvSpPr/>
          <p:nvPr/>
        </p:nvSpPr>
        <p:spPr>
          <a:xfrm>
            <a:off x="4866700" y="32067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02" name="Google Shape;4402;p101"/>
          <p:cNvGrpSpPr/>
          <p:nvPr/>
        </p:nvGrpSpPr>
        <p:grpSpPr>
          <a:xfrm>
            <a:off x="4040650" y="3632575"/>
            <a:ext cx="621000" cy="533450"/>
            <a:chOff x="4040650" y="3632575"/>
            <a:chExt cx="621000" cy="533450"/>
          </a:xfrm>
        </p:grpSpPr>
        <p:sp>
          <p:nvSpPr>
            <p:cNvPr id="4403" name="Google Shape;4403;p101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04" name="Google Shape;4404;p101"/>
            <p:cNvCxnSpPr/>
            <p:nvPr/>
          </p:nvCxnSpPr>
          <p:spPr>
            <a:xfrm flipH="1" rot="10800000">
              <a:off x="4104700" y="3632575"/>
              <a:ext cx="457200" cy="5334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47" name="Google Shape;4347;p10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05" name="Google Shape;4405;p101"/>
          <p:cNvCxnSpPr>
            <a:stCxn id="4386" idx="0"/>
            <a:endCxn id="4370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6" name="Google Shape;4406;p101"/>
          <p:cNvSpPr/>
          <p:nvPr/>
        </p:nvSpPr>
        <p:spPr>
          <a:xfrm>
            <a:off x="4318725" y="40449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R9,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0" name="Google Shape;4370;p10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0" name="Shape 4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11" name="Google Shape;4411;p102"/>
          <p:cNvCxnSpPr>
            <a:stCxn id="4412" idx="3"/>
            <a:endCxn id="441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4" name="Google Shape;4414;p102"/>
          <p:cNvCxnSpPr>
            <a:endCxn id="4415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6" name="Google Shape;4416;p102"/>
          <p:cNvCxnSpPr>
            <a:endCxn id="4417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8" name="Google Shape;4418;p102"/>
          <p:cNvCxnSpPr>
            <a:endCxn id="4419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0" name="Google Shape;4420;p102"/>
          <p:cNvCxnSpPr>
            <a:stCxn id="4421" idx="3"/>
            <a:endCxn id="4422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3" name="Google Shape;4423;p102"/>
          <p:cNvCxnSpPr>
            <a:stCxn id="4421" idx="3"/>
            <a:endCxn id="4424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5" name="Google Shape;4425;p102"/>
          <p:cNvCxnSpPr>
            <a:stCxn id="4413" idx="3"/>
            <a:endCxn id="4426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7" name="Google Shape;4427;p102"/>
          <p:cNvCxnSpPr>
            <a:stCxn id="4428" idx="2"/>
            <a:endCxn id="4429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0" name="Google Shape;4430;p102"/>
          <p:cNvCxnSpPr>
            <a:stCxn id="4431" idx="1"/>
            <a:endCxn id="4432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3" name="Google Shape;4433;p102"/>
          <p:cNvCxnSpPr>
            <a:stCxn id="4434" idx="1"/>
            <a:endCxn id="4435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6" name="Google Shape;4436;p102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437" name="Google Shape;4437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438" name="Google Shape;4438;p102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9" name="Google Shape;4439;p102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5" name="Google Shape;4435;p102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0" name="Google Shape;4440;p102"/>
          <p:cNvCxnSpPr>
            <a:stCxn id="4434" idx="1"/>
            <a:endCxn id="443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1" name="Google Shape;4441;p102"/>
          <p:cNvCxnSpPr>
            <a:stCxn id="4434" idx="1"/>
            <a:endCxn id="4438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2" name="Google Shape;4412;p102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2" name="Google Shape;4442;p102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4" name="Google Shape;4434;p102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3" name="Google Shape;4443;p102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4" name="Google Shape;4444;p102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2" name="Google Shape;4432;p102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45" name="Google Shape;4445;p102"/>
          <p:cNvCxnSpPr>
            <a:stCxn id="4431" idx="1"/>
            <a:endCxn id="444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6" name="Google Shape;4446;p102"/>
          <p:cNvCxnSpPr>
            <a:stCxn id="4431" idx="1"/>
            <a:endCxn id="444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7" name="Google Shape;4447;p102"/>
          <p:cNvCxnSpPr>
            <a:stCxn id="4448" idx="1"/>
            <a:endCxn id="4434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9" name="Google Shape;4449;p102"/>
          <p:cNvCxnSpPr>
            <a:stCxn id="4448" idx="1"/>
            <a:endCxn id="4431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0" name="Google Shape;4450;p102"/>
          <p:cNvCxnSpPr>
            <a:stCxn id="4451" idx="1"/>
            <a:endCxn id="4448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2" name="Google Shape;4452;p102"/>
          <p:cNvCxnSpPr>
            <a:stCxn id="4451" idx="0"/>
            <a:endCxn id="444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3" name="Google Shape;4453;p102"/>
          <p:cNvCxnSpPr>
            <a:stCxn id="4428" idx="0"/>
            <a:endCxn id="4451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4" name="Google Shape;4454;p102"/>
          <p:cNvCxnSpPr>
            <a:stCxn id="4451" idx="3"/>
            <a:endCxn id="441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5" name="Google Shape;4455;p102"/>
          <p:cNvCxnSpPr>
            <a:stCxn id="4412" idx="3"/>
            <a:endCxn id="4421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6" name="Google Shape;4456;p102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7" name="Google Shape;4457;p102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6" name="Google Shape;4426;p102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58" name="Google Shape;4458;p102"/>
          <p:cNvCxnSpPr>
            <a:stCxn id="4413" idx="3"/>
            <a:endCxn id="4457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9" name="Google Shape;4459;p102"/>
          <p:cNvCxnSpPr>
            <a:stCxn id="4413" idx="3"/>
            <a:endCxn id="4456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0" name="Google Shape;4460;p102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2" name="Google Shape;4422;p102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4" name="Google Shape;4424;p102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1" name="Google Shape;4461;p102"/>
          <p:cNvCxnSpPr>
            <a:stCxn id="4421" idx="3"/>
            <a:endCxn id="4460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17" name="Google Shape;4417;p102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5" name="Google Shape;4415;p102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9" name="Google Shape;4419;p102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2" name="Google Shape;4462;p102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3" name="Google Shape;4463;p102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9" name="Google Shape;4429;p102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64" name="Google Shape;4464;p102"/>
          <p:cNvCxnSpPr>
            <a:stCxn id="4428" idx="2"/>
            <a:endCxn id="4463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5" name="Google Shape;4465;p102"/>
          <p:cNvCxnSpPr>
            <a:stCxn id="4428" idx="2"/>
            <a:endCxn id="4462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6" name="Google Shape;4466;p102"/>
          <p:cNvCxnSpPr>
            <a:stCxn id="4467" idx="2"/>
            <a:endCxn id="4468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9" name="Google Shape;4469;p102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0" name="Google Shape;4470;p102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8" name="Google Shape;4468;p102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71" name="Google Shape;4471;p102"/>
          <p:cNvCxnSpPr>
            <a:stCxn id="4467" idx="2"/>
            <a:endCxn id="4470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2" name="Google Shape;4472;p102"/>
          <p:cNvCxnSpPr>
            <a:stCxn id="4467" idx="2"/>
            <a:endCxn id="4469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1" name="Google Shape;4421;p102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3" name="Google Shape;4413;p102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7" name="Google Shape;4467;p102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3" name="Google Shape;4473;p102"/>
          <p:cNvGrpSpPr/>
          <p:nvPr/>
        </p:nvGrpSpPr>
        <p:grpSpPr>
          <a:xfrm>
            <a:off x="2733006" y="3480175"/>
            <a:ext cx="685864" cy="533450"/>
            <a:chOff x="4040650" y="3632575"/>
            <a:chExt cx="621085" cy="533450"/>
          </a:xfrm>
        </p:grpSpPr>
        <p:sp>
          <p:nvSpPr>
            <p:cNvPr id="4474" name="Google Shape;4474;p102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5" name="Google Shape;4475;p102"/>
            <p:cNvCxnSpPr>
              <a:stCxn id="4431" idx="3"/>
              <a:endCxn id="4448" idx="1"/>
            </p:cNvCxnSpPr>
            <p:nvPr/>
          </p:nvCxnSpPr>
          <p:spPr>
            <a:xfrm flipH="1" rot="10800000">
              <a:off x="4040735" y="3632575"/>
              <a:ext cx="621000" cy="4572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28" name="Google Shape;4428;p102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476" name="Google Shape;4476;p102"/>
          <p:cNvCxnSpPr>
            <a:stCxn id="4467" idx="0"/>
            <a:endCxn id="4451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1" name="Google Shape;4451;p102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477" name="Google Shape;4477;p102"/>
          <p:cNvGrpSpPr/>
          <p:nvPr/>
        </p:nvGrpSpPr>
        <p:grpSpPr>
          <a:xfrm>
            <a:off x="1675275" y="3593350"/>
            <a:ext cx="779700" cy="700500"/>
            <a:chOff x="1675275" y="3593350"/>
            <a:chExt cx="779700" cy="700500"/>
          </a:xfrm>
        </p:grpSpPr>
        <p:sp>
          <p:nvSpPr>
            <p:cNvPr id="4478" name="Google Shape;4478;p102"/>
            <p:cNvSpPr/>
            <p:nvPr/>
          </p:nvSpPr>
          <p:spPr>
            <a:xfrm>
              <a:off x="1675275" y="3593350"/>
              <a:ext cx="779700" cy="70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79" name="Google Shape;4479;p102"/>
            <p:cNvCxnSpPr>
              <a:endCxn id="4480" idx="0"/>
            </p:cNvCxnSpPr>
            <p:nvPr/>
          </p:nvCxnSpPr>
          <p:spPr>
            <a:xfrm flipH="1">
              <a:off x="2047300" y="39373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81" name="Google Shape;4481;p102"/>
            <p:cNvSpPr/>
            <p:nvPr/>
          </p:nvSpPr>
          <p:spPr>
            <a:xfrm rot="5400000">
              <a:off x="1894900" y="38611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2" name="Google Shape;4482;p102"/>
            <p:cNvSpPr/>
            <p:nvPr/>
          </p:nvSpPr>
          <p:spPr>
            <a:xfrm rot="5400000">
              <a:off x="1894900" y="36325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480" name="Google Shape;4480;p102"/>
            <p:cNvSpPr/>
            <p:nvPr/>
          </p:nvSpPr>
          <p:spPr>
            <a:xfrm rot="5400000">
              <a:off x="1894900" y="40897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483" name="Google Shape;4483;p102"/>
            <p:cNvCxnSpPr>
              <a:endCxn id="4482" idx="0"/>
            </p:cNvCxnSpPr>
            <p:nvPr/>
          </p:nvCxnSpPr>
          <p:spPr>
            <a:xfrm rot="10800000">
              <a:off x="2047300" y="37087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4" name="Google Shape;4484;p102"/>
            <p:cNvCxnSpPr>
              <a:endCxn id="4481" idx="0"/>
            </p:cNvCxnSpPr>
            <p:nvPr/>
          </p:nvCxnSpPr>
          <p:spPr>
            <a:xfrm rot="10800000">
              <a:off x="2047300" y="3937375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485" name="Google Shape;4485;p102"/>
          <p:cNvSpPr/>
          <p:nvPr/>
        </p:nvSpPr>
        <p:spPr>
          <a:xfrm>
            <a:off x="565000" y="4300675"/>
            <a:ext cx="1710900" cy="568800"/>
          </a:xfrm>
          <a:prstGeom prst="wedgeRoundRectCallout">
            <a:avLst>
              <a:gd fmla="val 67673" name="adj1"/>
              <a:gd fmla="val -64618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6" name="Google Shape;4486;p102"/>
          <p:cNvSpPr/>
          <p:nvPr/>
        </p:nvSpPr>
        <p:spPr>
          <a:xfrm>
            <a:off x="1894900" y="43183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7" name="Google Shape;4487;p102"/>
          <p:cNvSpPr/>
          <p:nvPr/>
        </p:nvSpPr>
        <p:spPr>
          <a:xfrm>
            <a:off x="3114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R4,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8" name="Google Shape;4448;p102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1" name="Google Shape;4431;p102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1" name="Shape 4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92" name="Google Shape;4492;p103"/>
          <p:cNvCxnSpPr>
            <a:stCxn id="4493" idx="3"/>
            <a:endCxn id="4494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5" name="Google Shape;4495;p103"/>
          <p:cNvCxnSpPr>
            <a:endCxn id="4496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7" name="Google Shape;4497;p103"/>
          <p:cNvCxnSpPr>
            <a:endCxn id="4498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9" name="Google Shape;4499;p103"/>
          <p:cNvCxnSpPr>
            <a:endCxn id="4500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1" name="Google Shape;4501;p103"/>
          <p:cNvCxnSpPr>
            <a:stCxn id="4502" idx="3"/>
            <a:endCxn id="4503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4" name="Google Shape;4504;p103"/>
          <p:cNvCxnSpPr>
            <a:stCxn id="4502" idx="3"/>
            <a:endCxn id="4505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6" name="Google Shape;4506;p103"/>
          <p:cNvCxnSpPr>
            <a:stCxn id="4494" idx="3"/>
            <a:endCxn id="4507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8" name="Google Shape;4508;p103"/>
          <p:cNvCxnSpPr>
            <a:stCxn id="4509" idx="2"/>
            <a:endCxn id="4510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1" name="Google Shape;4511;p103"/>
          <p:cNvCxnSpPr>
            <a:stCxn id="4512" idx="1"/>
            <a:endCxn id="4513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4" name="Google Shape;4514;p103"/>
          <p:cNvCxnSpPr>
            <a:stCxn id="4515" idx="1"/>
            <a:endCxn id="4516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17" name="Google Shape;4517;p103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518" name="Google Shape;4518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519" name="Google Shape;4519;p10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0" name="Google Shape;4520;p10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6" name="Google Shape;4516;p10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21" name="Google Shape;4521;p103"/>
          <p:cNvCxnSpPr>
            <a:stCxn id="4515" idx="1"/>
            <a:endCxn id="4520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2" name="Google Shape;4522;p103"/>
          <p:cNvCxnSpPr>
            <a:stCxn id="4515" idx="1"/>
            <a:endCxn id="4519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3" name="Google Shape;4493;p10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3" name="Google Shape;4523;p10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4" name="Google Shape;4524;p10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5" name="Google Shape;4525;p10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3" name="Google Shape;4513;p10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26" name="Google Shape;4526;p103"/>
          <p:cNvCxnSpPr>
            <a:stCxn id="4512" idx="1"/>
            <a:endCxn id="4525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7" name="Google Shape;4527;p103"/>
          <p:cNvCxnSpPr>
            <a:stCxn id="4512" idx="1"/>
            <a:endCxn id="4524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8" name="Google Shape;4528;p103"/>
          <p:cNvCxnSpPr>
            <a:stCxn id="4529" idx="1"/>
            <a:endCxn id="4515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0" name="Google Shape;4530;p103"/>
          <p:cNvCxnSpPr>
            <a:stCxn id="4529" idx="1"/>
            <a:endCxn id="4512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1" name="Google Shape;4531;p103"/>
          <p:cNvCxnSpPr>
            <a:stCxn id="4532" idx="1"/>
            <a:endCxn id="4529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3" name="Google Shape;4533;p103"/>
          <p:cNvCxnSpPr>
            <a:stCxn id="4532" idx="0"/>
            <a:endCxn id="4523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4" name="Google Shape;4534;p103"/>
          <p:cNvCxnSpPr>
            <a:stCxn id="4509" idx="0"/>
            <a:endCxn id="453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5" name="Google Shape;4535;p103"/>
          <p:cNvCxnSpPr>
            <a:stCxn id="4532" idx="3"/>
            <a:endCxn id="4493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6" name="Google Shape;4536;p103"/>
          <p:cNvCxnSpPr>
            <a:stCxn id="4493" idx="3"/>
            <a:endCxn id="4502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7" name="Google Shape;4537;p10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8" name="Google Shape;4538;p10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7" name="Google Shape;4507;p10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39" name="Google Shape;4539;p103"/>
          <p:cNvCxnSpPr>
            <a:stCxn id="4494" idx="3"/>
            <a:endCxn id="4538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0" name="Google Shape;4540;p103"/>
          <p:cNvCxnSpPr>
            <a:stCxn id="4494" idx="3"/>
            <a:endCxn id="4537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41" name="Google Shape;4541;p10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3" name="Google Shape;4503;p10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5" name="Google Shape;4505;p10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2" name="Google Shape;4542;p103"/>
          <p:cNvCxnSpPr>
            <a:stCxn id="4502" idx="3"/>
            <a:endCxn id="4541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8" name="Google Shape;4498;p10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6" name="Google Shape;4496;p10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0" name="Google Shape;4500;p10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3" name="Google Shape;4543;p10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4" name="Google Shape;4544;p10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0" name="Google Shape;4510;p10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5" name="Google Shape;4545;p103"/>
          <p:cNvCxnSpPr>
            <a:stCxn id="4509" idx="2"/>
            <a:endCxn id="4544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6" name="Google Shape;4546;p103"/>
          <p:cNvCxnSpPr>
            <a:stCxn id="4509" idx="2"/>
            <a:endCxn id="4543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7" name="Google Shape;4547;p103"/>
          <p:cNvCxnSpPr>
            <a:stCxn id="4548" idx="2"/>
            <a:endCxn id="454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0" name="Google Shape;4550;p10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1" name="Google Shape;4551;p10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9" name="Google Shape;4549;p10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2" name="Google Shape;4552;p103"/>
          <p:cNvCxnSpPr>
            <a:stCxn id="4548" idx="2"/>
            <a:endCxn id="455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3" name="Google Shape;4553;p103"/>
          <p:cNvCxnSpPr>
            <a:stCxn id="4548" idx="2"/>
            <a:endCxn id="455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02" name="Google Shape;4502;p10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4" name="Google Shape;4494;p10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8" name="Google Shape;4548;p10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4" name="Google Shape;4554;p103"/>
          <p:cNvGrpSpPr/>
          <p:nvPr/>
        </p:nvGrpSpPr>
        <p:grpSpPr>
          <a:xfrm>
            <a:off x="2733006" y="2946825"/>
            <a:ext cx="685864" cy="533400"/>
            <a:chOff x="4040650" y="3632625"/>
            <a:chExt cx="621085" cy="533400"/>
          </a:xfrm>
        </p:grpSpPr>
        <p:sp>
          <p:nvSpPr>
            <p:cNvPr id="4555" name="Google Shape;4555;p103"/>
            <p:cNvSpPr/>
            <p:nvPr/>
          </p:nvSpPr>
          <p:spPr>
            <a:xfrm>
              <a:off x="4040650" y="3632625"/>
              <a:ext cx="621000" cy="5334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56" name="Google Shape;4556;p103"/>
            <p:cNvCxnSpPr>
              <a:stCxn id="4515" idx="3"/>
              <a:endCxn id="4529" idx="1"/>
            </p:cNvCxnSpPr>
            <p:nvPr/>
          </p:nvCxnSpPr>
          <p:spPr>
            <a:xfrm>
              <a:off x="4040735" y="3708775"/>
              <a:ext cx="621000" cy="4572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9" name="Google Shape;4509;p10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57" name="Google Shape;4557;p103"/>
          <p:cNvCxnSpPr>
            <a:stCxn id="4548" idx="0"/>
            <a:endCxn id="453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32" name="Google Shape;4532;p10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558" name="Google Shape;4558;p103"/>
          <p:cNvGrpSpPr/>
          <p:nvPr/>
        </p:nvGrpSpPr>
        <p:grpSpPr>
          <a:xfrm>
            <a:off x="1675275" y="2678950"/>
            <a:ext cx="779700" cy="700500"/>
            <a:chOff x="1675275" y="3593350"/>
            <a:chExt cx="779700" cy="700500"/>
          </a:xfrm>
        </p:grpSpPr>
        <p:sp>
          <p:nvSpPr>
            <p:cNvPr id="4559" name="Google Shape;4559;p103"/>
            <p:cNvSpPr/>
            <p:nvPr/>
          </p:nvSpPr>
          <p:spPr>
            <a:xfrm>
              <a:off x="1675275" y="3593350"/>
              <a:ext cx="779700" cy="7005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60" name="Google Shape;4560;p103"/>
            <p:cNvCxnSpPr>
              <a:endCxn id="4561" idx="0"/>
            </p:cNvCxnSpPr>
            <p:nvPr/>
          </p:nvCxnSpPr>
          <p:spPr>
            <a:xfrm flipH="1">
              <a:off x="2047300" y="39373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62" name="Google Shape;4562;p103"/>
            <p:cNvSpPr/>
            <p:nvPr/>
          </p:nvSpPr>
          <p:spPr>
            <a:xfrm rot="5400000">
              <a:off x="1894900" y="38611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3" name="Google Shape;4563;p103"/>
            <p:cNvSpPr/>
            <p:nvPr/>
          </p:nvSpPr>
          <p:spPr>
            <a:xfrm rot="5400000">
              <a:off x="1894900" y="36325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561" name="Google Shape;4561;p103"/>
            <p:cNvSpPr/>
            <p:nvPr/>
          </p:nvSpPr>
          <p:spPr>
            <a:xfrm rot="5400000">
              <a:off x="1894900" y="4089775"/>
              <a:ext cx="152400" cy="152400"/>
            </a:xfrm>
            <a:prstGeom prst="ellipse">
              <a:avLst/>
            </a:pr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564" name="Google Shape;4564;p103"/>
            <p:cNvCxnSpPr>
              <a:endCxn id="4563" idx="0"/>
            </p:cNvCxnSpPr>
            <p:nvPr/>
          </p:nvCxnSpPr>
          <p:spPr>
            <a:xfrm rot="10800000">
              <a:off x="2047300" y="3708775"/>
              <a:ext cx="381000" cy="2286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65" name="Google Shape;4565;p103"/>
            <p:cNvCxnSpPr>
              <a:endCxn id="4562" idx="0"/>
            </p:cNvCxnSpPr>
            <p:nvPr/>
          </p:nvCxnSpPr>
          <p:spPr>
            <a:xfrm rot="10800000">
              <a:off x="2047300" y="3937375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66" name="Google Shape;4566;p103"/>
          <p:cNvSpPr/>
          <p:nvPr/>
        </p:nvSpPr>
        <p:spPr>
          <a:xfrm>
            <a:off x="565000" y="2090875"/>
            <a:ext cx="1710900" cy="568800"/>
          </a:xfrm>
          <a:prstGeom prst="wedgeRoundRectCallout">
            <a:avLst>
              <a:gd fmla="val 68350" name="adj1"/>
              <a:gd fmla="val 5870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[IGMP] All of my hosts have left G1.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7" name="Google Shape;4567;p103"/>
          <p:cNvSpPr/>
          <p:nvPr/>
        </p:nvSpPr>
        <p:spPr>
          <a:xfrm>
            <a:off x="1894900" y="210856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8" name="Google Shape;4568;p103"/>
          <p:cNvSpPr/>
          <p:nvPr/>
        </p:nvSpPr>
        <p:spPr>
          <a:xfrm>
            <a:off x="3114100" y="27114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R2, To R3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2" name="Google Shape;4512;p10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9" name="Google Shape;4529;p10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5" name="Google Shape;4515;p10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2" name="Shape 4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73" name="Google Shape;4573;p104"/>
          <p:cNvCxnSpPr>
            <a:stCxn id="4574" idx="3"/>
            <a:endCxn id="457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6" name="Google Shape;4576;p104"/>
          <p:cNvCxnSpPr>
            <a:endCxn id="4577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8" name="Google Shape;4578;p104"/>
          <p:cNvCxnSpPr>
            <a:endCxn id="4579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0" name="Google Shape;4580;p104"/>
          <p:cNvCxnSpPr>
            <a:endCxn id="4581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2" name="Google Shape;4582;p104"/>
          <p:cNvCxnSpPr>
            <a:stCxn id="4583" idx="3"/>
            <a:endCxn id="4584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5" name="Google Shape;4585;p104"/>
          <p:cNvCxnSpPr>
            <a:stCxn id="4583" idx="3"/>
            <a:endCxn id="4586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7" name="Google Shape;4587;p104"/>
          <p:cNvCxnSpPr>
            <a:stCxn id="4575" idx="3"/>
            <a:endCxn id="4588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9" name="Google Shape;4589;p104"/>
          <p:cNvCxnSpPr>
            <a:stCxn id="4590" idx="2"/>
            <a:endCxn id="4591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2" name="Google Shape;4592;p104"/>
          <p:cNvCxnSpPr>
            <a:stCxn id="4593" idx="1"/>
            <a:endCxn id="4594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95" name="Google Shape;4595;p104"/>
          <p:cNvCxnSpPr>
            <a:stCxn id="4596" idx="1"/>
            <a:endCxn id="4597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8" name="Google Shape;4598;p104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599" name="Google Shape;4599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600" name="Google Shape;4600;p10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1" name="Google Shape;4601;p10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7" name="Google Shape;4597;p10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2" name="Google Shape;4602;p104"/>
          <p:cNvCxnSpPr>
            <a:stCxn id="4596" idx="1"/>
            <a:endCxn id="460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3" name="Google Shape;4603;p104"/>
          <p:cNvCxnSpPr>
            <a:stCxn id="4596" idx="1"/>
            <a:endCxn id="4600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4" name="Google Shape;4574;p10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4" name="Google Shape;4604;p10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5" name="Google Shape;4605;p10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6" name="Google Shape;4606;p10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4" name="Google Shape;4594;p10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07" name="Google Shape;4607;p104"/>
          <p:cNvCxnSpPr>
            <a:stCxn id="4593" idx="1"/>
            <a:endCxn id="4606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8" name="Google Shape;4608;p104"/>
          <p:cNvCxnSpPr>
            <a:stCxn id="4593" idx="1"/>
            <a:endCxn id="4605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9" name="Google Shape;4609;p104"/>
          <p:cNvCxnSpPr>
            <a:stCxn id="4610" idx="1"/>
            <a:endCxn id="4596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1" name="Google Shape;4611;p104"/>
          <p:cNvCxnSpPr>
            <a:stCxn id="4610" idx="1"/>
            <a:endCxn id="4593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2" name="Google Shape;4612;p104"/>
          <p:cNvCxnSpPr>
            <a:stCxn id="4613" idx="1"/>
            <a:endCxn id="4610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4" name="Google Shape;4614;p104"/>
          <p:cNvCxnSpPr>
            <a:stCxn id="4613" idx="0"/>
            <a:endCxn id="4604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5" name="Google Shape;4615;p104"/>
          <p:cNvCxnSpPr>
            <a:stCxn id="4590" idx="0"/>
            <a:endCxn id="461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6" name="Google Shape;4616;p104"/>
          <p:cNvCxnSpPr>
            <a:stCxn id="4613" idx="3"/>
            <a:endCxn id="457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7" name="Google Shape;4617;p104"/>
          <p:cNvCxnSpPr>
            <a:stCxn id="4574" idx="3"/>
            <a:endCxn id="4583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8" name="Google Shape;4618;p10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9" name="Google Shape;4619;p10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8" name="Google Shape;4588;p10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0" name="Google Shape;4620;p104"/>
          <p:cNvCxnSpPr>
            <a:stCxn id="4575" idx="3"/>
            <a:endCxn id="461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1" name="Google Shape;4621;p104"/>
          <p:cNvCxnSpPr>
            <a:stCxn id="4575" idx="3"/>
            <a:endCxn id="461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2" name="Google Shape;4622;p10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4" name="Google Shape;4584;p10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6" name="Google Shape;4586;p10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3" name="Google Shape;4623;p104"/>
          <p:cNvCxnSpPr>
            <a:stCxn id="4583" idx="3"/>
            <a:endCxn id="462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9" name="Google Shape;4579;p10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7" name="Google Shape;4577;p10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1" name="Google Shape;4581;p10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4" name="Google Shape;4624;p10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5" name="Google Shape;4625;p10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1" name="Google Shape;4591;p10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26" name="Google Shape;4626;p104"/>
          <p:cNvCxnSpPr>
            <a:stCxn id="4590" idx="2"/>
            <a:endCxn id="462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7" name="Google Shape;4627;p104"/>
          <p:cNvCxnSpPr>
            <a:stCxn id="4590" idx="2"/>
            <a:endCxn id="462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8" name="Google Shape;4628;p104"/>
          <p:cNvCxnSpPr>
            <a:stCxn id="4629" idx="2"/>
            <a:endCxn id="4630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31" name="Google Shape;4631;p10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2" name="Google Shape;4632;p10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0" name="Google Shape;4630;p10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33" name="Google Shape;4633;p104"/>
          <p:cNvCxnSpPr>
            <a:stCxn id="4629" idx="2"/>
            <a:endCxn id="4632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34" name="Google Shape;4634;p104"/>
          <p:cNvCxnSpPr>
            <a:stCxn id="4629" idx="2"/>
            <a:endCxn id="4631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3" name="Google Shape;4583;p10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5" name="Google Shape;4575;p10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9" name="Google Shape;4629;p10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0" name="Google Shape;4590;p10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35" name="Google Shape;4635;p104"/>
          <p:cNvCxnSpPr>
            <a:stCxn id="4629" idx="0"/>
            <a:endCxn id="461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3" name="Google Shape;4593;p10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6" name="Google Shape;4596;p10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6" name="Google Shape;4636;p104"/>
          <p:cNvSpPr/>
          <p:nvPr/>
        </p:nvSpPr>
        <p:spPr>
          <a:xfrm>
            <a:off x="2581600" y="2718175"/>
            <a:ext cx="1142100" cy="381000"/>
          </a:xfrm>
          <a:prstGeom prst="wedgeRoundRectCallout">
            <a:avLst>
              <a:gd fmla="val 38920" name="adj1"/>
              <a:gd fmla="val 91857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am a leaf.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7" name="Google Shape;4637;p104"/>
          <p:cNvSpPr/>
          <p:nvPr/>
        </p:nvSpPr>
        <p:spPr>
          <a:xfrm>
            <a:off x="28855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8" name="Google Shape;4638;p104"/>
          <p:cNvSpPr/>
          <p:nvPr/>
        </p:nvSpPr>
        <p:spPr>
          <a:xfrm>
            <a:off x="3876100" y="3702013"/>
            <a:ext cx="1371600" cy="546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 R3, To R5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39" name="Google Shape;4639;p104"/>
          <p:cNvGrpSpPr/>
          <p:nvPr/>
        </p:nvGrpSpPr>
        <p:grpSpPr>
          <a:xfrm>
            <a:off x="3682550" y="3415375"/>
            <a:ext cx="803100" cy="129600"/>
            <a:chOff x="3682550" y="3415375"/>
            <a:chExt cx="803100" cy="129600"/>
          </a:xfrm>
        </p:grpSpPr>
        <p:sp>
          <p:nvSpPr>
            <p:cNvPr id="4640" name="Google Shape;4640;p104"/>
            <p:cNvSpPr/>
            <p:nvPr/>
          </p:nvSpPr>
          <p:spPr>
            <a:xfrm>
              <a:off x="3682550" y="3415375"/>
              <a:ext cx="803100" cy="1296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4641" name="Google Shape;4641;p104"/>
            <p:cNvCxnSpPr>
              <a:stCxn id="4610" idx="3"/>
              <a:endCxn id="4613" idx="1"/>
            </p:cNvCxnSpPr>
            <p:nvPr/>
          </p:nvCxnSpPr>
          <p:spPr>
            <a:xfrm>
              <a:off x="3723700" y="3480175"/>
              <a:ext cx="685800" cy="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3" name="Google Shape;4613;p10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0" name="Google Shape;4610;p10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5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6" name="Google Shape;4646;p105"/>
          <p:cNvCxnSpPr>
            <a:stCxn id="4647" idx="3"/>
            <a:endCxn id="4648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9" name="Google Shape;4649;p105"/>
          <p:cNvCxnSpPr>
            <a:endCxn id="465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1" name="Google Shape;4651;p105"/>
          <p:cNvCxnSpPr>
            <a:endCxn id="465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3" name="Google Shape;4653;p105"/>
          <p:cNvCxnSpPr>
            <a:endCxn id="465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5" name="Google Shape;4655;p105"/>
          <p:cNvCxnSpPr>
            <a:stCxn id="4656" idx="3"/>
            <a:endCxn id="465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8" name="Google Shape;4658;p105"/>
          <p:cNvCxnSpPr>
            <a:stCxn id="4656" idx="3"/>
            <a:endCxn id="465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0" name="Google Shape;4660;p105"/>
          <p:cNvCxnSpPr>
            <a:stCxn id="4648" idx="3"/>
            <a:endCxn id="466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2" name="Google Shape;4662;p105"/>
          <p:cNvCxnSpPr>
            <a:stCxn id="4663" idx="2"/>
            <a:endCxn id="466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5" name="Google Shape;4665;p105"/>
          <p:cNvCxnSpPr>
            <a:stCxn id="4666" idx="1"/>
            <a:endCxn id="466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8" name="Google Shape;4668;p105"/>
          <p:cNvCxnSpPr>
            <a:stCxn id="4669" idx="1"/>
            <a:endCxn id="467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1" name="Google Shape;4671;p105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672" name="Google Shape;4672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673" name="Google Shape;4673;p105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4" name="Google Shape;4674;p105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0" name="Google Shape;4670;p105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5" name="Google Shape;4675;p105"/>
          <p:cNvCxnSpPr>
            <a:stCxn id="4669" idx="1"/>
            <a:endCxn id="4674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76" name="Google Shape;4676;p105"/>
          <p:cNvCxnSpPr>
            <a:stCxn id="4669" idx="1"/>
            <a:endCxn id="467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47" name="Google Shape;4647;p105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7" name="Google Shape;4677;p105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8" name="Google Shape;4678;p105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9" name="Google Shape;4679;p105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7" name="Google Shape;4667;p105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0" name="Google Shape;4680;p105"/>
          <p:cNvCxnSpPr>
            <a:stCxn id="4666" idx="1"/>
            <a:endCxn id="4679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1" name="Google Shape;4681;p105"/>
          <p:cNvCxnSpPr>
            <a:stCxn id="4666" idx="1"/>
            <a:endCxn id="4678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2" name="Google Shape;4682;p105"/>
          <p:cNvCxnSpPr>
            <a:stCxn id="4683" idx="1"/>
            <a:endCxn id="466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4" name="Google Shape;4684;p105"/>
          <p:cNvCxnSpPr>
            <a:stCxn id="4683" idx="1"/>
            <a:endCxn id="466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5" name="Google Shape;4685;p105"/>
          <p:cNvCxnSpPr>
            <a:stCxn id="4686" idx="1"/>
            <a:endCxn id="4683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7" name="Google Shape;4687;p105"/>
          <p:cNvCxnSpPr>
            <a:stCxn id="4686" idx="0"/>
            <a:endCxn id="4677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8" name="Google Shape;4688;p105"/>
          <p:cNvCxnSpPr>
            <a:stCxn id="4663" idx="0"/>
            <a:endCxn id="468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89" name="Google Shape;4689;p105"/>
          <p:cNvCxnSpPr>
            <a:stCxn id="4686" idx="3"/>
            <a:endCxn id="4647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0" name="Google Shape;4690;p105"/>
          <p:cNvCxnSpPr>
            <a:stCxn id="4647" idx="3"/>
            <a:endCxn id="465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1" name="Google Shape;4691;p105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2" name="Google Shape;4692;p105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1" name="Google Shape;4661;p105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3" name="Google Shape;4693;p105"/>
          <p:cNvCxnSpPr>
            <a:stCxn id="4648" idx="3"/>
            <a:endCxn id="4692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4" name="Google Shape;4694;p105"/>
          <p:cNvCxnSpPr>
            <a:stCxn id="4648" idx="3"/>
            <a:endCxn id="4691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5" name="Google Shape;4695;p105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7" name="Google Shape;4657;p105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9" name="Google Shape;4659;p105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6" name="Google Shape;4696;p105"/>
          <p:cNvCxnSpPr>
            <a:stCxn id="4656" idx="3"/>
            <a:endCxn id="4695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2" name="Google Shape;4652;p105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0" name="Google Shape;4650;p105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4" name="Google Shape;4654;p105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7" name="Google Shape;4697;p105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8" name="Google Shape;4698;p105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4" name="Google Shape;4664;p105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99" name="Google Shape;4699;p105"/>
          <p:cNvCxnSpPr>
            <a:stCxn id="4663" idx="2"/>
            <a:endCxn id="4698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0" name="Google Shape;4700;p105"/>
          <p:cNvCxnSpPr>
            <a:stCxn id="4663" idx="2"/>
            <a:endCxn id="4697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1" name="Google Shape;4701;p105"/>
          <p:cNvCxnSpPr>
            <a:stCxn id="4702" idx="2"/>
            <a:endCxn id="4703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4" name="Google Shape;4704;p105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5" name="Google Shape;4705;p105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3" name="Google Shape;4703;p105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6" name="Google Shape;4706;p105"/>
          <p:cNvCxnSpPr>
            <a:stCxn id="4702" idx="2"/>
            <a:endCxn id="4705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7" name="Google Shape;4707;p105"/>
          <p:cNvCxnSpPr>
            <a:stCxn id="4702" idx="2"/>
            <a:endCxn id="4704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6" name="Google Shape;4656;p105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8" name="Google Shape;4648;p105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2" name="Google Shape;4702;p105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3" name="Google Shape;4663;p105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08" name="Google Shape;4708;p105"/>
          <p:cNvCxnSpPr>
            <a:stCxn id="4702" idx="0"/>
            <a:endCxn id="468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6" name="Google Shape;4666;p105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9" name="Google Shape;4669;p105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6" name="Google Shape;4686;p105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3" name="Google Shape;4683;p105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2" name="Shape 4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13" name="Google Shape;4713;p106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4" name="Google Shape;4714;p106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5" name="Google Shape;4715;p106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6" name="Google Shape;4716;p106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7" name="Google Shape;4717;p106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8" name="Google Shape;4718;p106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9" name="Google Shape;4719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720" name="Google Shape;4720;p106"/>
          <p:cNvSpPr txBox="1"/>
          <p:nvPr>
            <p:ph idx="1" type="body"/>
          </p:nvPr>
        </p:nvSpPr>
        <p:spPr>
          <a:xfrm>
            <a:off x="107050" y="402200"/>
            <a:ext cx="8909700" cy="12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721" name="Google Shape;4721;p106"/>
          <p:cNvSpPr txBox="1"/>
          <p:nvPr/>
        </p:nvSpPr>
        <p:spPr>
          <a:xfrm>
            <a:off x="630600" y="3214700"/>
            <a:ext cx="2815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When you receive a Quit message, disable the link you got that message from.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2" name="Google Shape;4722;p106"/>
          <p:cNvCxnSpPr>
            <a:stCxn id="4723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4" name="Google Shape;4724;p106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5" name="Google Shape;4725;p106"/>
          <p:cNvCxnSpPr>
            <a:stCxn id="4723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6" name="Google Shape;4726;p106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23" name="Google Shape;4723;p106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27" name="Google Shape;4727;p106"/>
          <p:cNvSpPr/>
          <p:nvPr/>
        </p:nvSpPr>
        <p:spPr>
          <a:xfrm>
            <a:off x="35756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8" name="Google Shape;4728;p106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729" name="Google Shape;4729;p106"/>
          <p:cNvSpPr/>
          <p:nvPr/>
        </p:nvSpPr>
        <p:spPr>
          <a:xfrm>
            <a:off x="3575650" y="39163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0" name="Google Shape;4730;p106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1" name="Google Shape;4731;p106"/>
          <p:cNvSpPr/>
          <p:nvPr/>
        </p:nvSpPr>
        <p:spPr>
          <a:xfrm>
            <a:off x="4947250" y="313265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2" name="Google Shape;4732;p106"/>
          <p:cNvSpPr txBox="1"/>
          <p:nvPr/>
        </p:nvSpPr>
        <p:spPr>
          <a:xfrm>
            <a:off x="6512225" y="3648200"/>
            <a:ext cx="22875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Send a "Quit" message to your parent.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Note: Send "Quit" to your parent, not the root.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33" name="Google Shape;4733;p106"/>
          <p:cNvCxnSpPr/>
          <p:nvPr/>
        </p:nvCxnSpPr>
        <p:spPr>
          <a:xfrm>
            <a:off x="5700250" y="3800600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34" name="Google Shape;4734;p106"/>
          <p:cNvSpPr/>
          <p:nvPr/>
        </p:nvSpPr>
        <p:spPr>
          <a:xfrm>
            <a:off x="5771050" y="3876800"/>
            <a:ext cx="600600" cy="244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"Quit."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5" name="Google Shape;4735;p106"/>
          <p:cNvSpPr txBox="1"/>
          <p:nvPr/>
        </p:nvSpPr>
        <p:spPr>
          <a:xfrm>
            <a:off x="5933350" y="2381775"/>
            <a:ext cx="28155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you only have 1 enabled link, you are a leaf.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(The 1 link is to your parent.)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9" name="Shape 4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0" name="Google Shape;4740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Building a CBT: Quit Messages</a:t>
            </a:r>
            <a:endParaRPr/>
          </a:p>
        </p:txBody>
      </p:sp>
      <p:sp>
        <p:nvSpPr>
          <p:cNvPr id="4741" name="Google Shape;4741;p107"/>
          <p:cNvSpPr txBox="1"/>
          <p:nvPr>
            <p:ph idx="1" type="body"/>
          </p:nvPr>
        </p:nvSpPr>
        <p:spPr>
          <a:xfrm>
            <a:off x="107050" y="402200"/>
            <a:ext cx="8909700" cy="22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are a leaf with no directly-connected members: Send a </a:t>
            </a:r>
            <a:r>
              <a:rPr b="1" lang="en"/>
              <a:t>Quit</a:t>
            </a:r>
            <a:r>
              <a:rPr lang="en"/>
              <a:t> message to your parent.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Quit message only goes to your direct parent, not all the way to the core.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Parent receives Quit message and disables their link to that child.</a:t>
            </a:r>
            <a:endParaRPr/>
          </a:p>
        </p:txBody>
      </p:sp>
      <p:sp>
        <p:nvSpPr>
          <p:cNvPr id="4742" name="Google Shape;4742;p107"/>
          <p:cNvSpPr/>
          <p:nvPr/>
        </p:nvSpPr>
        <p:spPr>
          <a:xfrm>
            <a:off x="4489025" y="28273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3" name="Google Shape;4743;p107"/>
          <p:cNvSpPr/>
          <p:nvPr/>
        </p:nvSpPr>
        <p:spPr>
          <a:xfrm>
            <a:off x="40318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4" name="Google Shape;4744;p107"/>
          <p:cNvSpPr/>
          <p:nvPr/>
        </p:nvSpPr>
        <p:spPr>
          <a:xfrm>
            <a:off x="31174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5" name="Google Shape;4745;p107"/>
          <p:cNvSpPr/>
          <p:nvPr/>
        </p:nvSpPr>
        <p:spPr>
          <a:xfrm>
            <a:off x="49462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6" name="Google Shape;4746;p107"/>
          <p:cNvSpPr/>
          <p:nvPr/>
        </p:nvSpPr>
        <p:spPr>
          <a:xfrm>
            <a:off x="58606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7" name="Google Shape;4747;p107"/>
          <p:cNvSpPr/>
          <p:nvPr/>
        </p:nvSpPr>
        <p:spPr>
          <a:xfrm>
            <a:off x="2203025" y="412275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48" name="Google Shape;4748;p107"/>
          <p:cNvSpPr/>
          <p:nvPr/>
        </p:nvSpPr>
        <p:spPr>
          <a:xfrm>
            <a:off x="6775025" y="4122750"/>
            <a:ext cx="304800" cy="3048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49" name="Google Shape;4749;p107"/>
          <p:cNvCxnSpPr>
            <a:stCxn id="4742" idx="2"/>
            <a:endCxn id="4747" idx="0"/>
          </p:cNvCxnSpPr>
          <p:nvPr/>
        </p:nvCxnSpPr>
        <p:spPr>
          <a:xfrm flipH="1">
            <a:off x="2355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0" name="Google Shape;4750;p107"/>
          <p:cNvCxnSpPr>
            <a:stCxn id="4742" idx="2"/>
            <a:endCxn id="4744" idx="0"/>
          </p:cNvCxnSpPr>
          <p:nvPr/>
        </p:nvCxnSpPr>
        <p:spPr>
          <a:xfrm flipH="1">
            <a:off x="32698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1" name="Google Shape;4751;p107"/>
          <p:cNvCxnSpPr>
            <a:stCxn id="4742" idx="2"/>
            <a:endCxn id="4743" idx="0"/>
          </p:cNvCxnSpPr>
          <p:nvPr/>
        </p:nvCxnSpPr>
        <p:spPr>
          <a:xfrm flipH="1">
            <a:off x="41842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2" name="Google Shape;4752;p107"/>
          <p:cNvCxnSpPr>
            <a:stCxn id="4742" idx="2"/>
            <a:endCxn id="4745" idx="0"/>
          </p:cNvCxnSpPr>
          <p:nvPr/>
        </p:nvCxnSpPr>
        <p:spPr>
          <a:xfrm>
            <a:off x="4641425" y="3132150"/>
            <a:ext cx="4572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3" name="Google Shape;4753;p107"/>
          <p:cNvCxnSpPr>
            <a:stCxn id="4742" idx="2"/>
            <a:endCxn id="4746" idx="0"/>
          </p:cNvCxnSpPr>
          <p:nvPr/>
        </p:nvCxnSpPr>
        <p:spPr>
          <a:xfrm>
            <a:off x="4641425" y="3132150"/>
            <a:ext cx="13716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4" name="Google Shape;4754;p107"/>
          <p:cNvCxnSpPr>
            <a:stCxn id="4742" idx="2"/>
            <a:endCxn id="4748" idx="0"/>
          </p:cNvCxnSpPr>
          <p:nvPr/>
        </p:nvCxnSpPr>
        <p:spPr>
          <a:xfrm>
            <a:off x="4641425" y="3132150"/>
            <a:ext cx="2286000" cy="990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55" name="Google Shape;4755;p107"/>
          <p:cNvSpPr/>
          <p:nvPr/>
        </p:nvSpPr>
        <p:spPr>
          <a:xfrm>
            <a:off x="2043980" y="3700650"/>
            <a:ext cx="952000" cy="607725"/>
          </a:xfrm>
          <a:custGeom>
            <a:rect b="b" l="l" r="r" t="t"/>
            <a:pathLst>
              <a:path extrusionOk="0" h="24309" w="38080">
                <a:moveTo>
                  <a:pt x="4313" y="24309"/>
                </a:moveTo>
                <a:cubicBezTo>
                  <a:pt x="3943" y="22905"/>
                  <a:pt x="-3538" y="19937"/>
                  <a:pt x="2090" y="15885"/>
                </a:cubicBezTo>
                <a:cubicBezTo>
                  <a:pt x="7718" y="11834"/>
                  <a:pt x="32082" y="2648"/>
                  <a:pt x="3808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6" name="Google Shape;4756;p107"/>
          <p:cNvSpPr/>
          <p:nvPr/>
        </p:nvSpPr>
        <p:spPr>
          <a:xfrm>
            <a:off x="3006018" y="3649100"/>
            <a:ext cx="743450" cy="659275"/>
          </a:xfrm>
          <a:custGeom>
            <a:rect b="b" l="l" r="r" t="t"/>
            <a:pathLst>
              <a:path extrusionOk="0" h="26371" w="29738">
                <a:moveTo>
                  <a:pt x="2407" y="26371"/>
                </a:moveTo>
                <a:cubicBezTo>
                  <a:pt x="2326" y="25127"/>
                  <a:pt x="-2633" y="23299"/>
                  <a:pt x="1922" y="18904"/>
                </a:cubicBezTo>
                <a:cubicBezTo>
                  <a:pt x="6477" y="14509"/>
                  <a:pt x="25102" y="3151"/>
                  <a:pt x="29738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7" name="Google Shape;4757;p107"/>
          <p:cNvSpPr/>
          <p:nvPr/>
        </p:nvSpPr>
        <p:spPr>
          <a:xfrm>
            <a:off x="3945369" y="3575650"/>
            <a:ext cx="380000" cy="732725"/>
          </a:xfrm>
          <a:custGeom>
            <a:rect b="b" l="l" r="r" t="t"/>
            <a:pathLst>
              <a:path extrusionOk="0" h="29309" w="15200">
                <a:moveTo>
                  <a:pt x="1409" y="29309"/>
                </a:moveTo>
                <a:cubicBezTo>
                  <a:pt x="1328" y="28065"/>
                  <a:pt x="-1374" y="26727"/>
                  <a:pt x="924" y="21842"/>
                </a:cubicBezTo>
                <a:cubicBezTo>
                  <a:pt x="3223" y="16957"/>
                  <a:pt x="12821" y="3640"/>
                  <a:pt x="15200" y="0"/>
                </a:cubicBez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4758" name="Google Shape;4758;p107"/>
          <p:cNvSpPr txBox="1"/>
          <p:nvPr/>
        </p:nvSpPr>
        <p:spPr>
          <a:xfrm>
            <a:off x="20725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9" name="Google Shape;4759;p107"/>
          <p:cNvSpPr txBox="1"/>
          <p:nvPr/>
        </p:nvSpPr>
        <p:spPr>
          <a:xfrm>
            <a:off x="29869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0" name="Google Shape;4760;p107"/>
          <p:cNvSpPr txBox="1"/>
          <p:nvPr/>
        </p:nvSpPr>
        <p:spPr>
          <a:xfrm>
            <a:off x="3901325" y="4503750"/>
            <a:ext cx="5658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Sent quit.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1" name="Google Shape;4761;p107"/>
          <p:cNvSpPr txBox="1"/>
          <p:nvPr/>
        </p:nvSpPr>
        <p:spPr>
          <a:xfrm>
            <a:off x="5215325" y="4503750"/>
            <a:ext cx="15954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Non-members according to IGMP.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5" name="Shape 4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6" name="Google Shape;4766;p10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67" name="Google Shape;4767;p108"/>
          <p:cNvCxnSpPr>
            <a:stCxn id="4768" idx="3"/>
            <a:endCxn id="476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0" name="Google Shape;4770;p108"/>
          <p:cNvCxnSpPr>
            <a:stCxn id="4771" idx="0"/>
            <a:endCxn id="477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3" name="Google Shape;4773;p108"/>
          <p:cNvCxnSpPr>
            <a:endCxn id="477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5" name="Google Shape;4775;p108"/>
          <p:cNvCxnSpPr>
            <a:endCxn id="477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7" name="Google Shape;4777;p108"/>
          <p:cNvCxnSpPr>
            <a:endCxn id="477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9" name="Google Shape;4779;p108"/>
          <p:cNvCxnSpPr>
            <a:stCxn id="4780" idx="3"/>
            <a:endCxn id="478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2" name="Google Shape;4782;p108"/>
          <p:cNvCxnSpPr>
            <a:stCxn id="4780" idx="3"/>
            <a:endCxn id="478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4" name="Google Shape;4784;p108"/>
          <p:cNvCxnSpPr>
            <a:stCxn id="4769" idx="3"/>
            <a:endCxn id="478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6" name="Google Shape;4786;p108"/>
          <p:cNvCxnSpPr>
            <a:stCxn id="4787" idx="2"/>
            <a:endCxn id="478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9" name="Google Shape;4789;p108"/>
          <p:cNvCxnSpPr>
            <a:stCxn id="4790" idx="1"/>
            <a:endCxn id="479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2" name="Google Shape;4792;p108"/>
          <p:cNvCxnSpPr>
            <a:stCxn id="4793" idx="1"/>
            <a:endCxn id="479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5" name="Google Shape;4795;p108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1: You're a group member, and you send a packet to the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message along the tree to reach every group member.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floods the packet out of all its enabled tree links.</a:t>
            </a:r>
            <a:endParaRPr/>
          </a:p>
        </p:txBody>
      </p:sp>
      <p:sp>
        <p:nvSpPr>
          <p:cNvPr id="4796" name="Google Shape;4796;p10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CBT: Member Sending Packet</a:t>
            </a:r>
            <a:endParaRPr/>
          </a:p>
        </p:txBody>
      </p:sp>
      <p:sp>
        <p:nvSpPr>
          <p:cNvPr id="4797" name="Google Shape;4797;p108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4" name="Google Shape;4794;p108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8" name="Google Shape;4798;p108"/>
          <p:cNvCxnSpPr>
            <a:stCxn id="4793" idx="1"/>
            <a:endCxn id="4799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0" name="Google Shape;4800;p108"/>
          <p:cNvCxnSpPr>
            <a:stCxn id="4793" idx="1"/>
            <a:endCxn id="479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2" name="Google Shape;4772;p108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1" name="Google Shape;4801;p108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8" name="Google Shape;4768;p108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2" name="Google Shape;4802;p108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3" name="Google Shape;4793;p108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3" name="Google Shape;4803;p108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4" name="Google Shape;4804;p108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1" name="Google Shape;4791;p108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05" name="Google Shape;4805;p108"/>
          <p:cNvCxnSpPr>
            <a:stCxn id="4790" idx="1"/>
            <a:endCxn id="480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6" name="Google Shape;4806;p108"/>
          <p:cNvCxnSpPr>
            <a:stCxn id="4790" idx="1"/>
            <a:endCxn id="480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7" name="Google Shape;4807;p108"/>
          <p:cNvCxnSpPr>
            <a:stCxn id="4801" idx="1"/>
            <a:endCxn id="479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8" name="Google Shape;4808;p108"/>
          <p:cNvCxnSpPr>
            <a:stCxn id="4801" idx="1"/>
            <a:endCxn id="479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9" name="Google Shape;4809;p108"/>
          <p:cNvCxnSpPr>
            <a:stCxn id="4772" idx="1"/>
            <a:endCxn id="480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0" name="Google Shape;4810;p108"/>
          <p:cNvCxnSpPr>
            <a:stCxn id="4772" idx="0"/>
            <a:endCxn id="480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1" name="Google Shape;4811;p108"/>
          <p:cNvCxnSpPr>
            <a:stCxn id="4787" idx="0"/>
            <a:endCxn id="477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2" name="Google Shape;4812;p108"/>
          <p:cNvCxnSpPr>
            <a:stCxn id="4772" idx="3"/>
            <a:endCxn id="476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3" name="Google Shape;4813;p108"/>
          <p:cNvCxnSpPr>
            <a:stCxn id="4768" idx="3"/>
            <a:endCxn id="478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4" name="Google Shape;4814;p108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15" name="Google Shape;4815;p108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5" name="Google Shape;4785;p108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6" name="Google Shape;4816;p108"/>
          <p:cNvCxnSpPr>
            <a:stCxn id="4769" idx="3"/>
            <a:endCxn id="481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7" name="Google Shape;4817;p108"/>
          <p:cNvCxnSpPr>
            <a:stCxn id="4769" idx="3"/>
            <a:endCxn id="481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8" name="Google Shape;4818;p108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1" name="Google Shape;4781;p108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3" name="Google Shape;4783;p108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9" name="Google Shape;4819;p108"/>
          <p:cNvCxnSpPr>
            <a:stCxn id="4780" idx="3"/>
            <a:endCxn id="481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76" name="Google Shape;4776;p108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4" name="Google Shape;4774;p108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8" name="Google Shape;4778;p108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0" name="Google Shape;4820;p108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1" name="Google Shape;4821;p108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8" name="Google Shape;4788;p108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2" name="Google Shape;4822;p108"/>
          <p:cNvCxnSpPr>
            <a:stCxn id="4787" idx="2"/>
            <a:endCxn id="482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3" name="Google Shape;4823;p108"/>
          <p:cNvCxnSpPr>
            <a:stCxn id="4787" idx="2"/>
            <a:endCxn id="482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0" name="Google Shape;4790;p108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7" name="Google Shape;4787;p108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4" name="Google Shape;4824;p108"/>
          <p:cNvCxnSpPr>
            <a:stCxn id="4771" idx="2"/>
            <a:endCxn id="482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6" name="Google Shape;4826;p108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7" name="Google Shape;4827;p108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5" name="Google Shape;4825;p108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8" name="Google Shape;4828;p108"/>
          <p:cNvCxnSpPr>
            <a:stCxn id="4771" idx="2"/>
            <a:endCxn id="482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9" name="Google Shape;4829;p108"/>
          <p:cNvCxnSpPr>
            <a:stCxn id="4771" idx="2"/>
            <a:endCxn id="482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0" name="Google Shape;4780;p108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69" name="Google Shape;4769;p108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1" name="Google Shape;4771;p108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0" name="Google Shape;4830;p108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1" name="Google Shape;4831;p108"/>
          <p:cNvCxnSpPr/>
          <p:nvPr/>
        </p:nvCxnSpPr>
        <p:spPr>
          <a:xfrm>
            <a:off x="3914200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2" name="Google Shape;4832;p108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3" name="Google Shape;4833;p108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4" name="Google Shape;4834;p108"/>
          <p:cNvCxnSpPr/>
          <p:nvPr/>
        </p:nvCxnSpPr>
        <p:spPr>
          <a:xfrm>
            <a:off x="2809300" y="29467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35" name="Google Shape;4835;p108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836" name="Google Shape;4836;p108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837" name="Google Shape;4837;p108"/>
          <p:cNvSpPr txBox="1"/>
          <p:nvPr/>
        </p:nvSpPr>
        <p:spPr>
          <a:xfrm>
            <a:off x="1660000" y="25027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99" name="Google Shape;4799;p108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1" name="Shape 4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2" name="Google Shape;4842;p109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43" name="Google Shape;4843;p109"/>
          <p:cNvCxnSpPr>
            <a:stCxn id="4844" idx="3"/>
            <a:endCxn id="4845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6" name="Google Shape;4846;p109"/>
          <p:cNvCxnSpPr>
            <a:stCxn id="4847" idx="0"/>
            <a:endCxn id="4848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9" name="Google Shape;4849;p109"/>
          <p:cNvCxnSpPr>
            <a:endCxn id="4850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1" name="Google Shape;4851;p109"/>
          <p:cNvCxnSpPr>
            <a:endCxn id="4852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3" name="Google Shape;4853;p109"/>
          <p:cNvCxnSpPr>
            <a:endCxn id="4854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5" name="Google Shape;4855;p109"/>
          <p:cNvCxnSpPr>
            <a:stCxn id="4856" idx="3"/>
            <a:endCxn id="4857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8" name="Google Shape;4858;p109"/>
          <p:cNvCxnSpPr>
            <a:stCxn id="4856" idx="3"/>
            <a:endCxn id="4859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0" name="Google Shape;4860;p109"/>
          <p:cNvCxnSpPr>
            <a:stCxn id="4845" idx="3"/>
            <a:endCxn id="4861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2" name="Google Shape;4862;p109"/>
          <p:cNvCxnSpPr>
            <a:stCxn id="4863" idx="2"/>
            <a:endCxn id="4864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5" name="Google Shape;4865;p109"/>
          <p:cNvCxnSpPr>
            <a:stCxn id="4866" idx="1"/>
            <a:endCxn id="4867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8" name="Google Shape;4868;p109"/>
          <p:cNvCxnSpPr>
            <a:stCxn id="4869" idx="1"/>
            <a:endCxn id="4870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1" name="Google Shape;4871;p109"/>
          <p:cNvSpPr txBox="1"/>
          <p:nvPr>
            <p:ph idx="1" type="body"/>
          </p:nvPr>
        </p:nvSpPr>
        <p:spPr>
          <a:xfrm>
            <a:off x="107050" y="402200"/>
            <a:ext cx="8909700" cy="12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Case 1: You're a group member, and you send a packet to the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Broadcast message along the tree to reach every group member.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router floods the packet out of all its enabled tree links.</a:t>
            </a:r>
            <a:endParaRPr/>
          </a:p>
        </p:txBody>
      </p:sp>
      <p:sp>
        <p:nvSpPr>
          <p:cNvPr id="4872" name="Google Shape;4872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Using a CBT: Member Sending Packet</a:t>
            </a:r>
            <a:endParaRPr/>
          </a:p>
        </p:txBody>
      </p:sp>
      <p:sp>
        <p:nvSpPr>
          <p:cNvPr id="4873" name="Google Shape;4873;p109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0" name="Google Shape;4870;p109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74" name="Google Shape;4874;p109"/>
          <p:cNvCxnSpPr>
            <a:stCxn id="4869" idx="1"/>
            <a:endCxn id="487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6" name="Google Shape;4876;p109"/>
          <p:cNvCxnSpPr>
            <a:stCxn id="4869" idx="1"/>
            <a:endCxn id="4873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8" name="Google Shape;4848;p109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7" name="Google Shape;4877;p109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4" name="Google Shape;4844;p109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8" name="Google Shape;4878;p109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9" name="Google Shape;4869;p109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9" name="Google Shape;4879;p109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0" name="Google Shape;4880;p109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7" name="Google Shape;4867;p109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81" name="Google Shape;4881;p109"/>
          <p:cNvCxnSpPr>
            <a:stCxn id="4866" idx="1"/>
            <a:endCxn id="488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2" name="Google Shape;4882;p109"/>
          <p:cNvCxnSpPr>
            <a:stCxn id="4866" idx="1"/>
            <a:endCxn id="487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3" name="Google Shape;4883;p109"/>
          <p:cNvCxnSpPr>
            <a:stCxn id="4877" idx="1"/>
            <a:endCxn id="4869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4" name="Google Shape;4884;p109"/>
          <p:cNvCxnSpPr>
            <a:stCxn id="4877" idx="1"/>
            <a:endCxn id="486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5" name="Google Shape;4885;p109"/>
          <p:cNvCxnSpPr>
            <a:stCxn id="4848" idx="1"/>
            <a:endCxn id="4877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6" name="Google Shape;4886;p109"/>
          <p:cNvCxnSpPr>
            <a:stCxn id="4848" idx="0"/>
            <a:endCxn id="487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7" name="Google Shape;4887;p109"/>
          <p:cNvCxnSpPr>
            <a:stCxn id="4863" idx="0"/>
            <a:endCxn id="4848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8" name="Google Shape;4888;p109"/>
          <p:cNvCxnSpPr>
            <a:stCxn id="4848" idx="3"/>
            <a:endCxn id="4844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9" name="Google Shape;4889;p109"/>
          <p:cNvCxnSpPr>
            <a:stCxn id="4844" idx="3"/>
            <a:endCxn id="4856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0" name="Google Shape;4890;p109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1" name="Google Shape;4891;p109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1" name="Google Shape;4861;p109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2" name="Google Shape;4892;p109"/>
          <p:cNvCxnSpPr>
            <a:stCxn id="4845" idx="3"/>
            <a:endCxn id="4891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3" name="Google Shape;4893;p109"/>
          <p:cNvCxnSpPr>
            <a:stCxn id="4845" idx="3"/>
            <a:endCxn id="4890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4" name="Google Shape;4894;p109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7" name="Google Shape;4857;p109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9" name="Google Shape;4859;p109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5" name="Google Shape;4895;p109"/>
          <p:cNvCxnSpPr>
            <a:stCxn id="4856" idx="3"/>
            <a:endCxn id="4894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2" name="Google Shape;4852;p109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0" name="Google Shape;4850;p109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4" name="Google Shape;4854;p109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6" name="Google Shape;4896;p109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7" name="Google Shape;4897;p109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4" name="Google Shape;4864;p109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98" name="Google Shape;4898;p109"/>
          <p:cNvCxnSpPr>
            <a:stCxn id="4863" idx="2"/>
            <a:endCxn id="4897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9" name="Google Shape;4899;p109"/>
          <p:cNvCxnSpPr>
            <a:stCxn id="4863" idx="2"/>
            <a:endCxn id="4896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6" name="Google Shape;4866;p109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3" name="Google Shape;4863;p109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0" name="Google Shape;4900;p109"/>
          <p:cNvCxnSpPr>
            <a:stCxn id="4847" idx="2"/>
            <a:endCxn id="4901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2" name="Google Shape;4902;p109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3" name="Google Shape;4903;p109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1" name="Google Shape;4901;p109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4" name="Google Shape;4904;p109"/>
          <p:cNvCxnSpPr>
            <a:stCxn id="4847" idx="2"/>
            <a:endCxn id="4903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5" name="Google Shape;4905;p109"/>
          <p:cNvCxnSpPr>
            <a:stCxn id="4847" idx="2"/>
            <a:endCxn id="4902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56" name="Google Shape;4856;p109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5" name="Google Shape;4845;p109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47" name="Google Shape;4847;p109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06" name="Google Shape;4906;p109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07" name="Google Shape;4907;p109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08" name="Google Shape;4908;p109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09" name="Google Shape;4909;p109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10" name="Google Shape;4910;p109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11" name="Google Shape;4911;p109"/>
          <p:cNvSpPr txBox="1"/>
          <p:nvPr/>
        </p:nvSpPr>
        <p:spPr>
          <a:xfrm>
            <a:off x="4250800" y="18169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12" name="Google Shape;4912;p109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13" name="Google Shape;4913;p109"/>
          <p:cNvSpPr/>
          <p:nvPr/>
        </p:nvSpPr>
        <p:spPr>
          <a:xfrm rot="5400000">
            <a:off x="4485700" y="2032375"/>
            <a:ext cx="152400" cy="152400"/>
          </a:xfrm>
          <a:prstGeom prst="ellipse">
            <a:avLst/>
          </a:prstGeom>
          <a:solidFill>
            <a:srgbClr val="38761D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14" name="Google Shape;4914;p109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8" name="Shape 4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9" name="Google Shape;4919;p110"/>
          <p:cNvSpPr/>
          <p:nvPr/>
        </p:nvSpPr>
        <p:spPr>
          <a:xfrm>
            <a:off x="6391750" y="1207613"/>
            <a:ext cx="2436300" cy="1152000"/>
          </a:xfrm>
          <a:prstGeom prst="roundRect">
            <a:avLst>
              <a:gd fmla="val 12190" name="adj"/>
            </a:avLst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R5 (Core)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 core, send this on the tree: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0" name="Google Shape;4920;p110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21" name="Google Shape;4921;p110"/>
          <p:cNvCxnSpPr>
            <a:stCxn id="4922" idx="3"/>
            <a:endCxn id="4923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4" name="Google Shape;4924;p110"/>
          <p:cNvCxnSpPr>
            <a:stCxn id="4925" idx="0"/>
            <a:endCxn id="4926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7" name="Google Shape;4927;p110"/>
          <p:cNvCxnSpPr>
            <a:endCxn id="4928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9" name="Google Shape;4929;p110"/>
          <p:cNvCxnSpPr>
            <a:endCxn id="4930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1" name="Google Shape;4931;p110"/>
          <p:cNvCxnSpPr>
            <a:endCxn id="4932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3" name="Google Shape;4933;p110"/>
          <p:cNvCxnSpPr>
            <a:stCxn id="4934" idx="3"/>
            <a:endCxn id="4935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6" name="Google Shape;4936;p110"/>
          <p:cNvCxnSpPr>
            <a:stCxn id="4934" idx="3"/>
            <a:endCxn id="4937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38" name="Google Shape;4938;p110"/>
          <p:cNvCxnSpPr>
            <a:stCxn id="4923" idx="3"/>
            <a:endCxn id="4939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0" name="Google Shape;4940;p110"/>
          <p:cNvCxnSpPr>
            <a:stCxn id="4941" idx="2"/>
            <a:endCxn id="4942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3" name="Google Shape;4943;p110"/>
          <p:cNvCxnSpPr>
            <a:stCxn id="4944" idx="1"/>
            <a:endCxn id="4945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6" name="Google Shape;4946;p110"/>
          <p:cNvCxnSpPr>
            <a:stCxn id="4947" idx="1"/>
            <a:endCxn id="4948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9" name="Google Shape;4949;p110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Case 2: You're not a group member, and you send a packet to the group.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Encapsulate the packet, and unicast it to the 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core broadcasts the packet to</a:t>
            </a:r>
            <a:br>
              <a:rPr lang="en"/>
            </a:br>
            <a:r>
              <a:rPr lang="en"/>
              <a:t>everybody on the tree.</a:t>
            </a:r>
            <a:endParaRPr/>
          </a:p>
        </p:txBody>
      </p:sp>
      <p:sp>
        <p:nvSpPr>
          <p:cNvPr id="4950" name="Google Shape;4950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Non-Member Sending Packet</a:t>
            </a:r>
            <a:endParaRPr/>
          </a:p>
        </p:txBody>
      </p:sp>
      <p:sp>
        <p:nvSpPr>
          <p:cNvPr id="4951" name="Google Shape;4951;p110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8" name="Google Shape;4948;p110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2" name="Google Shape;4952;p110"/>
          <p:cNvCxnSpPr>
            <a:stCxn id="4947" idx="1"/>
            <a:endCxn id="4953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4" name="Google Shape;4954;p110"/>
          <p:cNvCxnSpPr>
            <a:stCxn id="4947" idx="1"/>
            <a:endCxn id="4951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6" name="Google Shape;4926;p110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5" name="Google Shape;4955;p110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2" name="Google Shape;4922;p110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6" name="Google Shape;4956;p110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7" name="Google Shape;4947;p110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7" name="Google Shape;4957;p110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8" name="Google Shape;4958;p110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5" name="Google Shape;4945;p110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59" name="Google Shape;4959;p110"/>
          <p:cNvCxnSpPr>
            <a:stCxn id="4944" idx="1"/>
            <a:endCxn id="4958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0" name="Google Shape;4960;p110"/>
          <p:cNvCxnSpPr>
            <a:stCxn id="4944" idx="1"/>
            <a:endCxn id="4957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1" name="Google Shape;4961;p110"/>
          <p:cNvCxnSpPr>
            <a:stCxn id="4955" idx="1"/>
            <a:endCxn id="4947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2" name="Google Shape;4962;p110"/>
          <p:cNvCxnSpPr>
            <a:stCxn id="4955" idx="1"/>
            <a:endCxn id="4944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3" name="Google Shape;4963;p110"/>
          <p:cNvCxnSpPr>
            <a:stCxn id="4926" idx="1"/>
            <a:endCxn id="495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4" name="Google Shape;4964;p110"/>
          <p:cNvCxnSpPr>
            <a:stCxn id="4926" idx="0"/>
            <a:endCxn id="4956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5" name="Google Shape;4965;p110"/>
          <p:cNvCxnSpPr>
            <a:stCxn id="4941" idx="0"/>
            <a:endCxn id="4926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6" name="Google Shape;4966;p110"/>
          <p:cNvCxnSpPr>
            <a:stCxn id="4926" idx="3"/>
            <a:endCxn id="4922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67" name="Google Shape;4967;p110"/>
          <p:cNvCxnSpPr>
            <a:stCxn id="4922" idx="3"/>
            <a:endCxn id="4934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8" name="Google Shape;4968;p110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9" name="Google Shape;4969;p110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9" name="Google Shape;4939;p110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0" name="Google Shape;4970;p110"/>
          <p:cNvCxnSpPr>
            <a:stCxn id="4923" idx="3"/>
            <a:endCxn id="496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1" name="Google Shape;4971;p110"/>
          <p:cNvCxnSpPr>
            <a:stCxn id="4923" idx="3"/>
            <a:endCxn id="496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2" name="Google Shape;4972;p110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5" name="Google Shape;4935;p110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7" name="Google Shape;4937;p110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3" name="Google Shape;4973;p110"/>
          <p:cNvCxnSpPr>
            <a:stCxn id="4934" idx="3"/>
            <a:endCxn id="497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0" name="Google Shape;4930;p110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8" name="Google Shape;4928;p110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2" name="Google Shape;4932;p110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4" name="Google Shape;4974;p110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5" name="Google Shape;4975;p110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2" name="Google Shape;4942;p110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6" name="Google Shape;4976;p110"/>
          <p:cNvCxnSpPr>
            <a:stCxn id="4941" idx="2"/>
            <a:endCxn id="497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77" name="Google Shape;4977;p110"/>
          <p:cNvCxnSpPr>
            <a:stCxn id="4941" idx="2"/>
            <a:endCxn id="497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4" name="Google Shape;4944;p110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1" name="Google Shape;4941;p110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8" name="Google Shape;4978;p110"/>
          <p:cNvCxnSpPr>
            <a:stCxn id="4925" idx="2"/>
            <a:endCxn id="497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0" name="Google Shape;4980;p110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1" name="Google Shape;4981;p110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79" name="Google Shape;4979;p11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2" name="Google Shape;4982;p110"/>
          <p:cNvCxnSpPr>
            <a:stCxn id="4925" idx="2"/>
            <a:endCxn id="498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83" name="Google Shape;4983;p110"/>
          <p:cNvCxnSpPr>
            <a:stCxn id="4925" idx="2"/>
            <a:endCxn id="498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4" name="Google Shape;4934;p110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3" name="Google Shape;4923;p110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5" name="Google Shape;4925;p110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84" name="Google Shape;4984;p110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5" name="Google Shape;4985;p110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6" name="Google Shape;4986;p110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7" name="Google Shape;4987;p110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88" name="Google Shape;4988;p110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89" name="Google Shape;4989;p110"/>
          <p:cNvSpPr txBox="1"/>
          <p:nvPr/>
        </p:nvSpPr>
        <p:spPr>
          <a:xfrm>
            <a:off x="5323900" y="48202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0" name="Google Shape;4990;p110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1" name="Google Shape;4991;p110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92" name="Google Shape;4992;p110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3" name="Google Shape;4993;p110"/>
          <p:cNvCxnSpPr/>
          <p:nvPr/>
        </p:nvCxnSpPr>
        <p:spPr>
          <a:xfrm>
            <a:off x="4874350" y="3840184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4" name="Google Shape;4994;p110"/>
          <p:cNvCxnSpPr/>
          <p:nvPr/>
        </p:nvCxnSpPr>
        <p:spPr>
          <a:xfrm>
            <a:off x="4913427" y="3840184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5" name="Google Shape;4995;p110"/>
          <p:cNvCxnSpPr/>
          <p:nvPr/>
        </p:nvCxnSpPr>
        <p:spPr>
          <a:xfrm>
            <a:off x="5136394" y="4546975"/>
            <a:ext cx="1494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6" name="Google Shape;4996;p110"/>
          <p:cNvCxnSpPr/>
          <p:nvPr/>
        </p:nvCxnSpPr>
        <p:spPr>
          <a:xfrm>
            <a:off x="5163801" y="4546975"/>
            <a:ext cx="149400" cy="249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7" name="Google Shape;4997;p110"/>
          <p:cNvCxnSpPr/>
          <p:nvPr/>
        </p:nvCxnSpPr>
        <p:spPr>
          <a:xfrm rot="10800000">
            <a:off x="6449244" y="1078463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998" name="Google Shape;4998;p110"/>
          <p:cNvCxnSpPr/>
          <p:nvPr/>
        </p:nvCxnSpPr>
        <p:spPr>
          <a:xfrm rot="10800000">
            <a:off x="6509350" y="1114588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999" name="Google Shape;4999;p110"/>
          <p:cNvSpPr/>
          <p:nvPr/>
        </p:nvSpPr>
        <p:spPr>
          <a:xfrm>
            <a:off x="6869650" y="1740425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0" name="Google Shape;5000;p110"/>
          <p:cNvCxnSpPr/>
          <p:nvPr/>
        </p:nvCxnSpPr>
        <p:spPr>
          <a:xfrm rot="10800000">
            <a:off x="6741850" y="4391425"/>
            <a:ext cx="1736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01" name="Google Shape;5001;p110"/>
          <p:cNvSpPr/>
          <p:nvPr/>
        </p:nvSpPr>
        <p:spPr>
          <a:xfrm>
            <a:off x="6869650" y="4470538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5" name="Shape 5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06" name="Google Shape;5006;p111"/>
          <p:cNvCxnSpPr/>
          <p:nvPr/>
        </p:nvCxnSpPr>
        <p:spPr>
          <a:xfrm>
            <a:off x="4965474" y="3576845"/>
            <a:ext cx="3462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07" name="Google Shape;5007;p111"/>
          <p:cNvSpPr/>
          <p:nvPr/>
        </p:nvSpPr>
        <p:spPr>
          <a:xfrm>
            <a:off x="6391750" y="1207613"/>
            <a:ext cx="2436300" cy="1152000"/>
          </a:xfrm>
          <a:prstGeom prst="roundRect">
            <a:avLst>
              <a:gd fmla="val 12190" name="adj"/>
            </a:avLst>
          </a:prstGeom>
          <a:solidFill>
            <a:srgbClr val="D9D2E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R5 (Core)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Hi core, send this on the tree: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8" name="Google Shape;5008;p111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09" name="Google Shape;5009;p111"/>
          <p:cNvCxnSpPr>
            <a:stCxn id="5010" idx="3"/>
            <a:endCxn id="5011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2" name="Google Shape;5012;p111"/>
          <p:cNvCxnSpPr>
            <a:stCxn id="5013" idx="0"/>
            <a:endCxn id="5014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5" name="Google Shape;5015;p111"/>
          <p:cNvCxnSpPr>
            <a:endCxn id="5016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7" name="Google Shape;5017;p111"/>
          <p:cNvCxnSpPr>
            <a:endCxn id="5018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9" name="Google Shape;5019;p111"/>
          <p:cNvCxnSpPr>
            <a:endCxn id="5020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1" name="Google Shape;5021;p111"/>
          <p:cNvCxnSpPr>
            <a:stCxn id="5022" idx="3"/>
            <a:endCxn id="5023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4" name="Google Shape;5024;p111"/>
          <p:cNvCxnSpPr>
            <a:stCxn id="5022" idx="3"/>
            <a:endCxn id="5025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6" name="Google Shape;5026;p111"/>
          <p:cNvCxnSpPr>
            <a:stCxn id="5011" idx="3"/>
            <a:endCxn id="5027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28" name="Google Shape;5028;p111"/>
          <p:cNvCxnSpPr>
            <a:stCxn id="5029" idx="2"/>
            <a:endCxn id="5030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1" name="Google Shape;5031;p111"/>
          <p:cNvCxnSpPr>
            <a:stCxn id="5032" idx="1"/>
            <a:endCxn id="5033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4" name="Google Shape;5034;p111"/>
          <p:cNvCxnSpPr>
            <a:stCxn id="5035" idx="1"/>
            <a:endCxn id="5036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7" name="Google Shape;5037;p111"/>
          <p:cNvSpPr txBox="1"/>
          <p:nvPr>
            <p:ph idx="1" type="body"/>
          </p:nvPr>
        </p:nvSpPr>
        <p:spPr>
          <a:xfrm>
            <a:off x="107050" y="402200"/>
            <a:ext cx="8909700" cy="15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2: You're not a group member, and you send a packet to the group.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Encapsulate the packet, and unicast it to the core.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the core broadcasts the packet to</a:t>
            </a:r>
            <a:br>
              <a:rPr lang="en"/>
            </a:br>
            <a:r>
              <a:rPr lang="en"/>
              <a:t>everybody on the tree.</a:t>
            </a:r>
            <a:endParaRPr/>
          </a:p>
        </p:txBody>
      </p:sp>
      <p:sp>
        <p:nvSpPr>
          <p:cNvPr id="5038" name="Google Shape;5038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Non-Member Sending Packet</a:t>
            </a:r>
            <a:endParaRPr/>
          </a:p>
        </p:txBody>
      </p:sp>
      <p:sp>
        <p:nvSpPr>
          <p:cNvPr id="5039" name="Google Shape;5039;p111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6" name="Google Shape;5036;p111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0" name="Google Shape;5040;p111"/>
          <p:cNvCxnSpPr>
            <a:stCxn id="5035" idx="1"/>
            <a:endCxn id="5041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2" name="Google Shape;5042;p111"/>
          <p:cNvCxnSpPr>
            <a:stCxn id="5035" idx="1"/>
            <a:endCxn id="5039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4" name="Google Shape;5014;p111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3" name="Google Shape;5043;p111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0" name="Google Shape;5010;p111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4" name="Google Shape;5044;p111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5" name="Google Shape;5035;p111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5" name="Google Shape;5045;p111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6" name="Google Shape;5046;p111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3" name="Google Shape;5033;p111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47" name="Google Shape;5047;p111"/>
          <p:cNvCxnSpPr>
            <a:stCxn id="5032" idx="1"/>
            <a:endCxn id="5046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8" name="Google Shape;5048;p111"/>
          <p:cNvCxnSpPr>
            <a:stCxn id="5032" idx="1"/>
            <a:endCxn id="5045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9" name="Google Shape;5049;p111"/>
          <p:cNvCxnSpPr>
            <a:stCxn id="5043" idx="1"/>
            <a:endCxn id="5035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0" name="Google Shape;5050;p111"/>
          <p:cNvCxnSpPr>
            <a:stCxn id="5043" idx="1"/>
            <a:endCxn id="5032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1" name="Google Shape;5051;p111"/>
          <p:cNvCxnSpPr>
            <a:stCxn id="5014" idx="1"/>
            <a:endCxn id="5043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2" name="Google Shape;5052;p111"/>
          <p:cNvCxnSpPr>
            <a:stCxn id="5014" idx="0"/>
            <a:endCxn id="5044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3" name="Google Shape;5053;p111"/>
          <p:cNvCxnSpPr>
            <a:stCxn id="5029" idx="0"/>
            <a:endCxn id="5014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4" name="Google Shape;5054;p111"/>
          <p:cNvCxnSpPr>
            <a:stCxn id="5014" idx="3"/>
            <a:endCxn id="5010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5" name="Google Shape;5055;p111"/>
          <p:cNvCxnSpPr>
            <a:stCxn id="5010" idx="3"/>
            <a:endCxn id="5022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6" name="Google Shape;5056;p111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7" name="Google Shape;5057;p111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7" name="Google Shape;5027;p111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58" name="Google Shape;5058;p111"/>
          <p:cNvCxnSpPr>
            <a:stCxn id="5011" idx="3"/>
            <a:endCxn id="5057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9" name="Google Shape;5059;p111"/>
          <p:cNvCxnSpPr>
            <a:stCxn id="5011" idx="3"/>
            <a:endCxn id="5056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0" name="Google Shape;5060;p111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3" name="Google Shape;5023;p111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5" name="Google Shape;5025;p111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1" name="Google Shape;5061;p111"/>
          <p:cNvCxnSpPr>
            <a:stCxn id="5022" idx="3"/>
            <a:endCxn id="5060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8" name="Google Shape;5018;p111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6" name="Google Shape;5016;p111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0" name="Google Shape;5020;p111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2" name="Google Shape;5062;p111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3" name="Google Shape;5063;p111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0" name="Google Shape;5030;p111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4" name="Google Shape;5064;p111"/>
          <p:cNvCxnSpPr>
            <a:stCxn id="5029" idx="2"/>
            <a:endCxn id="5063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5" name="Google Shape;5065;p111"/>
          <p:cNvCxnSpPr>
            <a:stCxn id="5029" idx="2"/>
            <a:endCxn id="5062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2" name="Google Shape;5032;p111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9" name="Google Shape;5029;p111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66" name="Google Shape;5066;p111"/>
          <p:cNvCxnSpPr>
            <a:stCxn id="5013" idx="2"/>
            <a:endCxn id="5067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68" name="Google Shape;5068;p111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9" name="Google Shape;5069;p111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7" name="Google Shape;5067;p111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0" name="Google Shape;5070;p111"/>
          <p:cNvCxnSpPr>
            <a:stCxn id="5013" idx="2"/>
            <a:endCxn id="5069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1" name="Google Shape;5071;p111"/>
          <p:cNvCxnSpPr>
            <a:stCxn id="5013" idx="2"/>
            <a:endCxn id="5068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2" name="Google Shape;5022;p111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1" name="Google Shape;5011;p111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3" name="Google Shape;5013;p111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2" name="Google Shape;5072;p111"/>
          <p:cNvCxnSpPr/>
          <p:nvPr/>
        </p:nvCxnSpPr>
        <p:spPr>
          <a:xfrm>
            <a:off x="4485700" y="290818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3" name="Google Shape;5073;p111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4" name="Google Shape;5074;p111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5" name="Google Shape;5075;p111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6" name="Google Shape;5076;p111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77" name="Google Shape;5077;p111"/>
          <p:cNvSpPr txBox="1"/>
          <p:nvPr/>
        </p:nvSpPr>
        <p:spPr>
          <a:xfrm>
            <a:off x="7228900" y="4058275"/>
            <a:ext cx="62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78" name="Google Shape;5078;p111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79" name="Google Shape;5079;p111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0" name="Google Shape;5080;p111"/>
          <p:cNvSpPr/>
          <p:nvPr/>
        </p:nvSpPr>
        <p:spPr>
          <a:xfrm>
            <a:off x="7076500" y="4089763"/>
            <a:ext cx="152400" cy="152400"/>
          </a:xfrm>
          <a:prstGeom prst="ellipse">
            <a:avLst/>
          </a:prstGeom>
          <a:solidFill>
            <a:srgbClr val="B7B7B7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1" name="Google Shape;5081;p111"/>
          <p:cNvCxnSpPr/>
          <p:nvPr/>
        </p:nvCxnSpPr>
        <p:spPr>
          <a:xfrm>
            <a:off x="6047814" y="3812558"/>
            <a:ext cx="263700" cy="1764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2" name="Google Shape;5082;p111"/>
          <p:cNvCxnSpPr/>
          <p:nvPr/>
        </p:nvCxnSpPr>
        <p:spPr>
          <a:xfrm>
            <a:off x="6081691" y="3802237"/>
            <a:ext cx="263400" cy="1773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3" name="Google Shape;5083;p111"/>
          <p:cNvCxnSpPr/>
          <p:nvPr/>
        </p:nvCxnSpPr>
        <p:spPr>
          <a:xfrm>
            <a:off x="6748989" y="4075776"/>
            <a:ext cx="282900" cy="1701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4" name="Google Shape;5084;p111"/>
          <p:cNvCxnSpPr/>
          <p:nvPr/>
        </p:nvCxnSpPr>
        <p:spPr>
          <a:xfrm rot="10800000">
            <a:off x="6449244" y="1078463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85" name="Google Shape;5085;p111"/>
          <p:cNvCxnSpPr/>
          <p:nvPr/>
        </p:nvCxnSpPr>
        <p:spPr>
          <a:xfrm rot="10800000">
            <a:off x="6509350" y="1114588"/>
            <a:ext cx="2231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6" name="Google Shape;5086;p111"/>
          <p:cNvSpPr/>
          <p:nvPr/>
        </p:nvSpPr>
        <p:spPr>
          <a:xfrm>
            <a:off x="6869650" y="1740425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7" name="Google Shape;5087;p111"/>
          <p:cNvCxnSpPr/>
          <p:nvPr/>
        </p:nvCxnSpPr>
        <p:spPr>
          <a:xfrm rot="10800000">
            <a:off x="6741850" y="4391425"/>
            <a:ext cx="1736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88" name="Google Shape;5088;p111"/>
          <p:cNvSpPr/>
          <p:nvPr/>
        </p:nvSpPr>
        <p:spPr>
          <a:xfrm>
            <a:off x="6869650" y="4470538"/>
            <a:ext cx="1480500" cy="533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089" name="Google Shape;5089;p111"/>
          <p:cNvCxnSpPr/>
          <p:nvPr/>
        </p:nvCxnSpPr>
        <p:spPr>
          <a:xfrm>
            <a:off x="6748989" y="4042355"/>
            <a:ext cx="282900" cy="1701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090" name="Google Shape;5090;p111"/>
          <p:cNvCxnSpPr/>
          <p:nvPr/>
        </p:nvCxnSpPr>
        <p:spPr>
          <a:xfrm>
            <a:off x="4991750" y="3544000"/>
            <a:ext cx="346200" cy="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4" name="Shape 5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5" name="Google Shape;5095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 CBT: Forwarding Packets</a:t>
            </a:r>
            <a:endParaRPr/>
          </a:p>
        </p:txBody>
      </p:sp>
      <p:sp>
        <p:nvSpPr>
          <p:cNvPr id="5096" name="Google Shape;5096;p112"/>
          <p:cNvSpPr txBox="1"/>
          <p:nvPr>
            <p:ph idx="1" type="body"/>
          </p:nvPr>
        </p:nvSpPr>
        <p:spPr>
          <a:xfrm>
            <a:off x="107050" y="402200"/>
            <a:ext cx="8909700" cy="18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when you receive a multicast packet, flood the packet out of all enabled tree links.</a:t>
            </a:r>
            <a:endParaRPr/>
          </a:p>
        </p:txBody>
      </p:sp>
      <p:cxnSp>
        <p:nvCxnSpPr>
          <p:cNvPr id="5097" name="Google Shape;5097;p112"/>
          <p:cNvCxnSpPr/>
          <p:nvPr/>
        </p:nvCxnSpPr>
        <p:spPr>
          <a:xfrm>
            <a:off x="4561750" y="3800600"/>
            <a:ext cx="5685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8" name="Google Shape;5098;p112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9" name="Google Shape;5099;p112"/>
          <p:cNvCxnSpPr/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0" name="Google Shape;5100;p112"/>
          <p:cNvCxnSpPr/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1" name="Google Shape;5101;p112"/>
          <p:cNvCxnSpPr/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2" name="Google Shape;5102;p112"/>
          <p:cNvCxnSpPr/>
          <p:nvPr/>
        </p:nvCxnSpPr>
        <p:spPr>
          <a:xfrm flipH="1">
            <a:off x="3990550" y="3800600"/>
            <a:ext cx="5712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3" name="Google Shape;5103;p112"/>
          <p:cNvSpPr txBox="1"/>
          <p:nvPr/>
        </p:nvSpPr>
        <p:spPr>
          <a:xfrm>
            <a:off x="410800" y="3741800"/>
            <a:ext cx="331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When you receive data for a group, send that data out of all other enabled links</a:t>
            </a:r>
            <a:b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(i.e. all other links on that group's tree).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4" name="Google Shape;5104;p112"/>
          <p:cNvCxnSpPr>
            <a:stCxn id="5105" idx="0"/>
          </p:cNvCxnSpPr>
          <p:nvPr/>
        </p:nvCxnSpPr>
        <p:spPr>
          <a:xfrm flipH="1" rot="10800000">
            <a:off x="4561750" y="2511200"/>
            <a:ext cx="570000" cy="984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6" name="Google Shape;5106;p112"/>
          <p:cNvCxnSpPr>
            <a:stCxn id="5105" idx="0"/>
          </p:cNvCxnSpPr>
          <p:nvPr/>
        </p:nvCxnSpPr>
        <p:spPr>
          <a:xfrm rot="10800000">
            <a:off x="3992050" y="2506700"/>
            <a:ext cx="569700" cy="989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7" name="Google Shape;5107;p112"/>
          <p:cNvCxnSpPr>
            <a:stCxn id="5105" idx="3"/>
          </p:cNvCxnSpPr>
          <p:nvPr/>
        </p:nvCxnSpPr>
        <p:spPr>
          <a:xfrm>
            <a:off x="4714150" y="3648200"/>
            <a:ext cx="1582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8" name="Google Shape;5108;p112"/>
          <p:cNvCxnSpPr/>
          <p:nvPr/>
        </p:nvCxnSpPr>
        <p:spPr>
          <a:xfrm rot="10800000">
            <a:off x="41384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05" name="Google Shape;5105;p112"/>
          <p:cNvSpPr/>
          <p:nvPr/>
        </p:nvSpPr>
        <p:spPr>
          <a:xfrm>
            <a:off x="4409350" y="34958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09" name="Google Shape;5109;p112"/>
          <p:cNvCxnSpPr/>
          <p:nvPr/>
        </p:nvCxnSpPr>
        <p:spPr>
          <a:xfrm flipH="1" rot="10800000">
            <a:off x="4714150" y="29507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10" name="Google Shape;5110;p112"/>
          <p:cNvCxnSpPr/>
          <p:nvPr/>
        </p:nvCxnSpPr>
        <p:spPr>
          <a:xfrm flipH="1" rot="10800000">
            <a:off x="4148700" y="3876800"/>
            <a:ext cx="270900" cy="4689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11" name="Google Shape;5111;p112"/>
          <p:cNvCxnSpPr/>
          <p:nvPr/>
        </p:nvCxnSpPr>
        <p:spPr>
          <a:xfrm>
            <a:off x="4790350" y="3734761"/>
            <a:ext cx="7422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2" name="Google Shape;5112;p112"/>
          <p:cNvSpPr/>
          <p:nvPr/>
        </p:nvSpPr>
        <p:spPr>
          <a:xfrm>
            <a:off x="2507350" y="2950700"/>
            <a:ext cx="1582200" cy="468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To: G1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6" name="Shape 5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17" name="Google Shape;5117;p113"/>
          <p:cNvCxnSpPr>
            <a:stCxn id="5118" idx="3"/>
            <a:endCxn id="511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0" name="Google Shape;5120;p113"/>
          <p:cNvCxnSpPr>
            <a:stCxn id="5121" idx="0"/>
            <a:endCxn id="5122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3" name="Google Shape;5123;p113"/>
          <p:cNvCxnSpPr>
            <a:endCxn id="5124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5" name="Google Shape;5125;p113"/>
          <p:cNvCxnSpPr>
            <a:endCxn id="5126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7" name="Google Shape;5127;p113"/>
          <p:cNvCxnSpPr>
            <a:endCxn id="5128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9" name="Google Shape;5129;p113"/>
          <p:cNvCxnSpPr>
            <a:stCxn id="5130" idx="3"/>
            <a:endCxn id="5131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2" name="Google Shape;5132;p113"/>
          <p:cNvCxnSpPr>
            <a:stCxn id="5130" idx="3"/>
            <a:endCxn id="5133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4" name="Google Shape;5134;p113"/>
          <p:cNvCxnSpPr>
            <a:stCxn id="5119" idx="3"/>
            <a:endCxn id="5135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6" name="Google Shape;5136;p113"/>
          <p:cNvCxnSpPr>
            <a:stCxn id="5137" idx="2"/>
            <a:endCxn id="5138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9" name="Google Shape;5139;p113"/>
          <p:cNvCxnSpPr>
            <a:stCxn id="5140" idx="1"/>
            <a:endCxn id="5141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2" name="Google Shape;5142;p113"/>
          <p:cNvCxnSpPr>
            <a:stCxn id="5143" idx="1"/>
            <a:endCxn id="5144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5" name="Google Shape;5145;p113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 CBT for a group must touch every member of that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build one tree per gro</a:t>
            </a:r>
            <a:r>
              <a:rPr lang="en"/>
              <a:t>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remember the enabled links for each group's tree.</a:t>
            </a:r>
            <a:endParaRPr/>
          </a:p>
        </p:txBody>
      </p:sp>
      <p:sp>
        <p:nvSpPr>
          <p:cNvPr id="5146" name="Google Shape;5146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Destination Group</a:t>
            </a:r>
            <a:endParaRPr/>
          </a:p>
        </p:txBody>
      </p:sp>
      <p:sp>
        <p:nvSpPr>
          <p:cNvPr id="5147" name="Google Shape;5147;p113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8" name="Google Shape;5148;p113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4" name="Google Shape;5144;p113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9" name="Google Shape;5149;p113"/>
          <p:cNvCxnSpPr>
            <a:stCxn id="5143" idx="1"/>
            <a:endCxn id="5148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0" name="Google Shape;5150;p113"/>
          <p:cNvCxnSpPr>
            <a:stCxn id="5143" idx="1"/>
            <a:endCxn id="5147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2" name="Google Shape;5122;p113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1" name="Google Shape;5151;p113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8" name="Google Shape;5118;p113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2" name="Google Shape;5152;p113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3" name="Google Shape;5143;p113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3" name="Google Shape;5153;p113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4" name="Google Shape;5154;p113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1" name="Google Shape;5141;p113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55" name="Google Shape;5155;p113"/>
          <p:cNvCxnSpPr>
            <a:stCxn id="5140" idx="1"/>
            <a:endCxn id="5154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6" name="Google Shape;5156;p113"/>
          <p:cNvCxnSpPr>
            <a:stCxn id="5140" idx="1"/>
            <a:endCxn id="5153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7" name="Google Shape;5157;p113"/>
          <p:cNvCxnSpPr>
            <a:stCxn id="5151" idx="1"/>
            <a:endCxn id="5143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8" name="Google Shape;5158;p113"/>
          <p:cNvCxnSpPr>
            <a:stCxn id="5151" idx="1"/>
            <a:endCxn id="5140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9" name="Google Shape;5159;p113"/>
          <p:cNvCxnSpPr>
            <a:stCxn id="5122" idx="1"/>
            <a:endCxn id="5151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0" name="Google Shape;5160;p113"/>
          <p:cNvCxnSpPr>
            <a:stCxn id="5122" idx="0"/>
            <a:endCxn id="5152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1" name="Google Shape;5161;p113"/>
          <p:cNvCxnSpPr>
            <a:stCxn id="5137" idx="0"/>
            <a:endCxn id="5122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2" name="Google Shape;5162;p113"/>
          <p:cNvCxnSpPr>
            <a:stCxn id="5122" idx="3"/>
            <a:endCxn id="511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3" name="Google Shape;5163;p113"/>
          <p:cNvCxnSpPr>
            <a:stCxn id="5118" idx="3"/>
            <a:endCxn id="5130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4" name="Google Shape;5164;p113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65" name="Google Shape;5165;p113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5" name="Google Shape;5135;p113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6" name="Google Shape;5166;p113"/>
          <p:cNvCxnSpPr>
            <a:stCxn id="5119" idx="3"/>
            <a:endCxn id="5165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7" name="Google Shape;5167;p113"/>
          <p:cNvCxnSpPr>
            <a:stCxn id="5119" idx="3"/>
            <a:endCxn id="5164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8" name="Google Shape;5168;p113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1" name="Google Shape;5131;p113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3" name="Google Shape;5133;p113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69" name="Google Shape;5169;p113"/>
          <p:cNvCxnSpPr>
            <a:stCxn id="5130" idx="3"/>
            <a:endCxn id="5168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6" name="Google Shape;5126;p113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4" name="Google Shape;5124;p113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8" name="Google Shape;5128;p113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0" name="Google Shape;5170;p113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1" name="Google Shape;5171;p113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8" name="Google Shape;5138;p113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2" name="Google Shape;5172;p113"/>
          <p:cNvCxnSpPr>
            <a:stCxn id="5137" idx="2"/>
            <a:endCxn id="5171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3" name="Google Shape;5173;p113"/>
          <p:cNvCxnSpPr>
            <a:stCxn id="5137" idx="2"/>
            <a:endCxn id="5170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40" name="Google Shape;5140;p113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7" name="Google Shape;5137;p113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4" name="Google Shape;5174;p113"/>
          <p:cNvCxnSpPr>
            <a:stCxn id="5121" idx="2"/>
            <a:endCxn id="5175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6" name="Google Shape;5176;p113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7" name="Google Shape;5177;p113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75" name="Google Shape;5175;p113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78" name="Google Shape;5178;p113"/>
          <p:cNvCxnSpPr>
            <a:stCxn id="5121" idx="2"/>
            <a:endCxn id="5177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9" name="Google Shape;5179;p113"/>
          <p:cNvCxnSpPr>
            <a:stCxn id="5121" idx="2"/>
            <a:endCxn id="5176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0" name="Google Shape;5130;p113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9" name="Google Shape;5119;p113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1" name="Google Shape;5121;p113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80" name="Google Shape;5180;p113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1" name="Google Shape;5181;p113"/>
          <p:cNvCxnSpPr/>
          <p:nvPr/>
        </p:nvCxnSpPr>
        <p:spPr>
          <a:xfrm rot="10800000">
            <a:off x="4209475" y="3253125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2" name="Google Shape;5182;p113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3" name="Google Shape;5183;p113"/>
          <p:cNvCxnSpPr/>
          <p:nvPr/>
        </p:nvCxnSpPr>
        <p:spPr>
          <a:xfrm flipH="1">
            <a:off x="5780975" y="31422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4" name="Google Shape;5184;p113"/>
          <p:cNvCxnSpPr/>
          <p:nvPr/>
        </p:nvCxnSpPr>
        <p:spPr>
          <a:xfrm>
            <a:off x="3065500" y="31420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5" name="Google Shape;5185;p113"/>
          <p:cNvCxnSpPr/>
          <p:nvPr/>
        </p:nvCxnSpPr>
        <p:spPr>
          <a:xfrm flipH="1" rot="10800000">
            <a:off x="3065500" y="363257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186" name="Google Shape;5186;p113"/>
          <p:cNvCxnSpPr/>
          <p:nvPr/>
        </p:nvCxnSpPr>
        <p:spPr>
          <a:xfrm flipH="1" rot="10800000">
            <a:off x="4196250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0" name="Shape 5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91" name="Google Shape;5191;p114"/>
          <p:cNvCxnSpPr>
            <a:stCxn id="5192" idx="0"/>
            <a:endCxn id="5193" idx="2"/>
          </p:cNvCxnSpPr>
          <p:nvPr/>
        </p:nvCxnSpPr>
        <p:spPr>
          <a:xfrm flipH="1" rot="10800000">
            <a:off x="4104700" y="3632575"/>
            <a:ext cx="457200" cy="5334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4" name="Google Shape;5194;p114"/>
          <p:cNvCxnSpPr>
            <a:stCxn id="5195" idx="1"/>
            <a:endCxn id="5196" idx="3"/>
          </p:cNvCxnSpPr>
          <p:nvPr/>
        </p:nvCxnSpPr>
        <p:spPr>
          <a:xfrm flipH="1">
            <a:off x="2733100" y="34801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7" name="Google Shape;5197;p114"/>
          <p:cNvCxnSpPr>
            <a:stCxn id="5198" idx="3"/>
            <a:endCxn id="5199" idx="1"/>
          </p:cNvCxnSpPr>
          <p:nvPr/>
        </p:nvCxnSpPr>
        <p:spPr>
          <a:xfrm>
            <a:off x="5704900" y="3480175"/>
            <a:ext cx="68580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0" name="Google Shape;5200;p114"/>
          <p:cNvCxnSpPr>
            <a:stCxn id="5201" idx="0"/>
            <a:endCxn id="5193" idx="2"/>
          </p:cNvCxnSpPr>
          <p:nvPr/>
        </p:nvCxnSpPr>
        <p:spPr>
          <a:xfrm rot="10800000">
            <a:off x="4561900" y="3632575"/>
            <a:ext cx="457200" cy="533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2" name="Google Shape;5202;p114"/>
          <p:cNvCxnSpPr>
            <a:endCxn id="5203" idx="0"/>
          </p:cNvCxnSpPr>
          <p:nvPr/>
        </p:nvCxnSpPr>
        <p:spPr>
          <a:xfrm flipH="1" rot="10800000">
            <a:off x="4561900" y="2184763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4" name="Google Shape;5204;p114"/>
          <p:cNvCxnSpPr>
            <a:endCxn id="5205" idx="0"/>
          </p:cNvCxnSpPr>
          <p:nvPr/>
        </p:nvCxnSpPr>
        <p:spPr>
          <a:xfrm rot="10800000">
            <a:off x="4561900" y="2184763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6" name="Google Shape;5206;p114"/>
          <p:cNvCxnSpPr>
            <a:endCxn id="5207" idx="0"/>
          </p:cNvCxnSpPr>
          <p:nvPr/>
        </p:nvCxnSpPr>
        <p:spPr>
          <a:xfrm rot="10800000">
            <a:off x="4333300" y="2184763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8" name="Google Shape;5208;p114"/>
          <p:cNvCxnSpPr>
            <a:stCxn id="5209" idx="3"/>
            <a:endCxn id="5210" idx="0"/>
          </p:cNvCxnSpPr>
          <p:nvPr/>
        </p:nvCxnSpPr>
        <p:spPr>
          <a:xfrm>
            <a:off x="66955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1" name="Google Shape;5211;p114"/>
          <p:cNvCxnSpPr>
            <a:stCxn id="5209" idx="3"/>
            <a:endCxn id="5212" idx="0"/>
          </p:cNvCxnSpPr>
          <p:nvPr/>
        </p:nvCxnSpPr>
        <p:spPr>
          <a:xfrm flipH="1" rot="10800000">
            <a:off x="66955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3" name="Google Shape;5213;p114"/>
          <p:cNvCxnSpPr>
            <a:stCxn id="5199" idx="3"/>
            <a:endCxn id="5214" idx="0"/>
          </p:cNvCxnSpPr>
          <p:nvPr/>
        </p:nvCxnSpPr>
        <p:spPr>
          <a:xfrm flipH="1" rot="10800000">
            <a:off x="6695500" y="37087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5" name="Google Shape;5215;p114"/>
          <p:cNvCxnSpPr>
            <a:stCxn id="5192" idx="2"/>
            <a:endCxn id="5216" idx="0"/>
          </p:cNvCxnSpPr>
          <p:nvPr/>
        </p:nvCxnSpPr>
        <p:spPr>
          <a:xfrm>
            <a:off x="41047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7" name="Google Shape;5217;p114"/>
          <p:cNvCxnSpPr>
            <a:stCxn id="5196" idx="1"/>
            <a:endCxn id="5218" idx="0"/>
          </p:cNvCxnSpPr>
          <p:nvPr/>
        </p:nvCxnSpPr>
        <p:spPr>
          <a:xfrm flipH="1">
            <a:off x="2047300" y="3937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9" name="Google Shape;5219;p114"/>
          <p:cNvCxnSpPr>
            <a:stCxn id="5220" idx="1"/>
            <a:endCxn id="5221" idx="0"/>
          </p:cNvCxnSpPr>
          <p:nvPr/>
        </p:nvCxnSpPr>
        <p:spPr>
          <a:xfrm flipH="1">
            <a:off x="2047300" y="30229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2" name="Google Shape;5222;p114"/>
          <p:cNvSpPr txBox="1"/>
          <p:nvPr>
            <p:ph idx="1" type="body"/>
          </p:nvPr>
        </p:nvSpPr>
        <p:spPr>
          <a:xfrm>
            <a:off x="107050" y="402200"/>
            <a:ext cx="8909700" cy="13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 CBT for a group must touch every member of that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build one tree per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must remember the enabled links for each group's tree.</a:t>
            </a:r>
            <a:endParaRPr/>
          </a:p>
        </p:txBody>
      </p:sp>
      <p:sp>
        <p:nvSpPr>
          <p:cNvPr id="5223" name="Google Shape;5223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One Tree Per Destination Group</a:t>
            </a:r>
            <a:endParaRPr/>
          </a:p>
        </p:txBody>
      </p:sp>
      <p:sp>
        <p:nvSpPr>
          <p:cNvPr id="5224" name="Google Shape;5224;p114"/>
          <p:cNvSpPr/>
          <p:nvPr/>
        </p:nvSpPr>
        <p:spPr>
          <a:xfrm rot="5400000">
            <a:off x="18949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5" name="Google Shape;5225;p114"/>
          <p:cNvSpPr/>
          <p:nvPr/>
        </p:nvSpPr>
        <p:spPr>
          <a:xfrm rot="5400000">
            <a:off x="18949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1" name="Google Shape;5221;p114"/>
          <p:cNvSpPr/>
          <p:nvPr/>
        </p:nvSpPr>
        <p:spPr>
          <a:xfrm rot="5400000">
            <a:off x="18949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26" name="Google Shape;5226;p114"/>
          <p:cNvCxnSpPr>
            <a:stCxn id="5220" idx="1"/>
            <a:endCxn id="5225" idx="0"/>
          </p:cNvCxnSpPr>
          <p:nvPr/>
        </p:nvCxnSpPr>
        <p:spPr>
          <a:xfrm rot="10800000">
            <a:off x="2047300" y="27943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7" name="Google Shape;5227;p114"/>
          <p:cNvCxnSpPr>
            <a:stCxn id="5220" idx="1"/>
            <a:endCxn id="5224" idx="0"/>
          </p:cNvCxnSpPr>
          <p:nvPr/>
        </p:nvCxnSpPr>
        <p:spPr>
          <a:xfrm rot="10800000">
            <a:off x="20473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5" name="Google Shape;5195;p114"/>
          <p:cNvSpPr/>
          <p:nvPr/>
        </p:nvSpPr>
        <p:spPr>
          <a:xfrm>
            <a:off x="34189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R3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8" name="Google Shape;5228;p114"/>
          <p:cNvSpPr/>
          <p:nvPr/>
        </p:nvSpPr>
        <p:spPr>
          <a:xfrm>
            <a:off x="4409500" y="2565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0" name="Google Shape;5220;p114"/>
          <p:cNvSpPr/>
          <p:nvPr/>
        </p:nvSpPr>
        <p:spPr>
          <a:xfrm>
            <a:off x="24283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9" name="Google Shape;5229;p114"/>
          <p:cNvSpPr/>
          <p:nvPr/>
        </p:nvSpPr>
        <p:spPr>
          <a:xfrm rot="5400000">
            <a:off x="1894900" y="3861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0" name="Google Shape;5230;p114"/>
          <p:cNvSpPr/>
          <p:nvPr/>
        </p:nvSpPr>
        <p:spPr>
          <a:xfrm rot="5400000">
            <a:off x="1894900" y="36325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8" name="Google Shape;5218;p114"/>
          <p:cNvSpPr/>
          <p:nvPr/>
        </p:nvSpPr>
        <p:spPr>
          <a:xfrm rot="5400000">
            <a:off x="1894900" y="4089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31" name="Google Shape;5231;p114"/>
          <p:cNvCxnSpPr>
            <a:stCxn id="5196" idx="1"/>
            <a:endCxn id="5230" idx="0"/>
          </p:cNvCxnSpPr>
          <p:nvPr/>
        </p:nvCxnSpPr>
        <p:spPr>
          <a:xfrm rot="10800000">
            <a:off x="2047300" y="3708775"/>
            <a:ext cx="381000" cy="228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2" name="Google Shape;5232;p114"/>
          <p:cNvCxnSpPr>
            <a:stCxn id="5196" idx="1"/>
            <a:endCxn id="5229" idx="0"/>
          </p:cNvCxnSpPr>
          <p:nvPr/>
        </p:nvCxnSpPr>
        <p:spPr>
          <a:xfrm rot="10800000">
            <a:off x="2047300" y="39373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3" name="Google Shape;5233;p114"/>
          <p:cNvCxnSpPr>
            <a:stCxn id="5195" idx="1"/>
            <a:endCxn id="5220" idx="3"/>
          </p:cNvCxnSpPr>
          <p:nvPr/>
        </p:nvCxnSpPr>
        <p:spPr>
          <a:xfrm rot="10800000">
            <a:off x="27331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4" name="Google Shape;5234;p114"/>
          <p:cNvCxnSpPr>
            <a:stCxn id="5193" idx="1"/>
            <a:endCxn id="5195" idx="3"/>
          </p:cNvCxnSpPr>
          <p:nvPr/>
        </p:nvCxnSpPr>
        <p:spPr>
          <a:xfrm rot="10800000">
            <a:off x="3723700" y="3480175"/>
            <a:ext cx="6858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5" name="Google Shape;5235;p114"/>
          <p:cNvCxnSpPr>
            <a:stCxn id="5193" idx="0"/>
            <a:endCxn id="5228" idx="2"/>
          </p:cNvCxnSpPr>
          <p:nvPr/>
        </p:nvCxnSpPr>
        <p:spPr>
          <a:xfrm rot="10800000">
            <a:off x="4561900" y="2870575"/>
            <a:ext cx="0" cy="457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6" name="Google Shape;5236;p114"/>
          <p:cNvCxnSpPr>
            <a:stCxn id="5193" idx="3"/>
            <a:endCxn id="5198" idx="1"/>
          </p:cNvCxnSpPr>
          <p:nvPr/>
        </p:nvCxnSpPr>
        <p:spPr>
          <a:xfrm>
            <a:off x="4714300" y="3480175"/>
            <a:ext cx="6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37" name="Google Shape;5237;p114"/>
          <p:cNvCxnSpPr>
            <a:stCxn id="5198" idx="3"/>
            <a:endCxn id="5209" idx="1"/>
          </p:cNvCxnSpPr>
          <p:nvPr/>
        </p:nvCxnSpPr>
        <p:spPr>
          <a:xfrm flipH="1" rot="10800000">
            <a:off x="5704900" y="3022975"/>
            <a:ext cx="685800" cy="457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8" name="Google Shape;5238;p114"/>
          <p:cNvSpPr/>
          <p:nvPr/>
        </p:nvSpPr>
        <p:spPr>
          <a:xfrm rot="-5400000">
            <a:off x="7076500" y="38611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9" name="Google Shape;5239;p114"/>
          <p:cNvSpPr/>
          <p:nvPr/>
        </p:nvSpPr>
        <p:spPr>
          <a:xfrm rot="-5400000">
            <a:off x="7076500" y="40897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4" name="Google Shape;5214;p114"/>
          <p:cNvSpPr/>
          <p:nvPr/>
        </p:nvSpPr>
        <p:spPr>
          <a:xfrm rot="-5400000">
            <a:off x="7076500" y="3632575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0" name="Google Shape;5240;p114"/>
          <p:cNvCxnSpPr>
            <a:stCxn id="5199" idx="3"/>
            <a:endCxn id="5239" idx="0"/>
          </p:cNvCxnSpPr>
          <p:nvPr/>
        </p:nvCxnSpPr>
        <p:spPr>
          <a:xfrm>
            <a:off x="6695500" y="3937375"/>
            <a:ext cx="3810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1" name="Google Shape;5241;p114"/>
          <p:cNvCxnSpPr>
            <a:stCxn id="5199" idx="3"/>
            <a:endCxn id="5238" idx="0"/>
          </p:cNvCxnSpPr>
          <p:nvPr/>
        </p:nvCxnSpPr>
        <p:spPr>
          <a:xfrm>
            <a:off x="6695500" y="3937375"/>
            <a:ext cx="381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2" name="Google Shape;5242;p114"/>
          <p:cNvSpPr/>
          <p:nvPr/>
        </p:nvSpPr>
        <p:spPr>
          <a:xfrm rot="-5400000">
            <a:off x="7076500" y="29467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0" name="Google Shape;5210;p114"/>
          <p:cNvSpPr/>
          <p:nvPr/>
        </p:nvSpPr>
        <p:spPr>
          <a:xfrm rot="-5400000">
            <a:off x="7076500" y="31753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2" name="Google Shape;5212;p114"/>
          <p:cNvSpPr/>
          <p:nvPr/>
        </p:nvSpPr>
        <p:spPr>
          <a:xfrm rot="-5400000">
            <a:off x="7076500" y="2718175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3" name="Google Shape;5243;p114"/>
          <p:cNvCxnSpPr>
            <a:stCxn id="5209" idx="3"/>
            <a:endCxn id="5242" idx="0"/>
          </p:cNvCxnSpPr>
          <p:nvPr/>
        </p:nvCxnSpPr>
        <p:spPr>
          <a:xfrm>
            <a:off x="6695500" y="3022975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5" name="Google Shape;5205;p114"/>
          <p:cNvSpPr/>
          <p:nvPr/>
        </p:nvSpPr>
        <p:spPr>
          <a:xfrm rot="10800000">
            <a:off x="4485700" y="20323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3" name="Google Shape;5203;p114"/>
          <p:cNvSpPr/>
          <p:nvPr/>
        </p:nvSpPr>
        <p:spPr>
          <a:xfrm rot="10800000">
            <a:off x="4714300" y="20323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7" name="Google Shape;5207;p114"/>
          <p:cNvSpPr/>
          <p:nvPr/>
        </p:nvSpPr>
        <p:spPr>
          <a:xfrm rot="10800000">
            <a:off x="4257100" y="20323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4" name="Google Shape;5244;p114"/>
          <p:cNvSpPr/>
          <p:nvPr/>
        </p:nvSpPr>
        <p:spPr>
          <a:xfrm>
            <a:off x="40285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5" name="Google Shape;5245;p114"/>
          <p:cNvSpPr/>
          <p:nvPr/>
        </p:nvSpPr>
        <p:spPr>
          <a:xfrm>
            <a:off x="37999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6" name="Google Shape;5216;p114"/>
          <p:cNvSpPr/>
          <p:nvPr/>
        </p:nvSpPr>
        <p:spPr>
          <a:xfrm>
            <a:off x="42571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6" name="Google Shape;5246;p114"/>
          <p:cNvCxnSpPr>
            <a:stCxn id="5192" idx="2"/>
            <a:endCxn id="5245" idx="0"/>
          </p:cNvCxnSpPr>
          <p:nvPr/>
        </p:nvCxnSpPr>
        <p:spPr>
          <a:xfrm flipH="1">
            <a:off x="38761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47" name="Google Shape;5247;p114"/>
          <p:cNvCxnSpPr>
            <a:stCxn id="5192" idx="2"/>
            <a:endCxn id="5244" idx="0"/>
          </p:cNvCxnSpPr>
          <p:nvPr/>
        </p:nvCxnSpPr>
        <p:spPr>
          <a:xfrm>
            <a:off x="4104700" y="4470775"/>
            <a:ext cx="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6" name="Google Shape;5196;p114"/>
          <p:cNvSpPr/>
          <p:nvPr/>
        </p:nvSpPr>
        <p:spPr>
          <a:xfrm>
            <a:off x="24283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R4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2" name="Google Shape;5192;p114"/>
          <p:cNvSpPr/>
          <p:nvPr/>
        </p:nvSpPr>
        <p:spPr>
          <a:xfrm>
            <a:off x="39523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R9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48" name="Google Shape;5248;p114"/>
          <p:cNvCxnSpPr>
            <a:stCxn id="5201" idx="2"/>
            <a:endCxn id="5249" idx="0"/>
          </p:cNvCxnSpPr>
          <p:nvPr/>
        </p:nvCxnSpPr>
        <p:spPr>
          <a:xfrm>
            <a:off x="5019100" y="4470775"/>
            <a:ext cx="2286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0" name="Google Shape;5250;p114"/>
          <p:cNvSpPr/>
          <p:nvPr/>
        </p:nvSpPr>
        <p:spPr>
          <a:xfrm>
            <a:off x="4942900" y="48517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1" name="Google Shape;5251;p114"/>
          <p:cNvSpPr/>
          <p:nvPr/>
        </p:nvSpPr>
        <p:spPr>
          <a:xfrm>
            <a:off x="4714300" y="4851763"/>
            <a:ext cx="152400" cy="152400"/>
          </a:xfrm>
          <a:prstGeom prst="ellipse">
            <a:avLst/>
          </a:prstGeom>
          <a:solidFill>
            <a:srgbClr val="B7B7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9" name="Google Shape;5249;p114"/>
          <p:cNvSpPr/>
          <p:nvPr/>
        </p:nvSpPr>
        <p:spPr>
          <a:xfrm>
            <a:off x="5171500" y="4851763"/>
            <a:ext cx="152400" cy="152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2" name="Google Shape;5252;p114"/>
          <p:cNvCxnSpPr>
            <a:stCxn id="5201" idx="2"/>
            <a:endCxn id="5251" idx="0"/>
          </p:cNvCxnSpPr>
          <p:nvPr/>
        </p:nvCxnSpPr>
        <p:spPr>
          <a:xfrm flipH="1">
            <a:off x="4790500" y="4470775"/>
            <a:ext cx="228600" cy="3810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3" name="Google Shape;5253;p114"/>
          <p:cNvCxnSpPr>
            <a:stCxn id="5201" idx="2"/>
            <a:endCxn id="5250" idx="0"/>
          </p:cNvCxnSpPr>
          <p:nvPr/>
        </p:nvCxnSpPr>
        <p:spPr>
          <a:xfrm>
            <a:off x="5019100" y="4470775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9" name="Google Shape;5209;p114"/>
          <p:cNvSpPr/>
          <p:nvPr/>
        </p:nvSpPr>
        <p:spPr>
          <a:xfrm>
            <a:off x="6390700" y="28705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R6</a:t>
            </a:r>
            <a:endParaRPr sz="1300"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99" name="Google Shape;5199;p114"/>
          <p:cNvSpPr/>
          <p:nvPr/>
        </p:nvSpPr>
        <p:spPr>
          <a:xfrm>
            <a:off x="6390700" y="3784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R8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01" name="Google Shape;5201;p114"/>
          <p:cNvSpPr/>
          <p:nvPr/>
        </p:nvSpPr>
        <p:spPr>
          <a:xfrm>
            <a:off x="4866700" y="41659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R10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4" name="Google Shape;5254;p114"/>
          <p:cNvCxnSpPr/>
          <p:nvPr/>
        </p:nvCxnSpPr>
        <p:spPr>
          <a:xfrm>
            <a:off x="4485700" y="2975350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5" name="Google Shape;5255;p114"/>
          <p:cNvCxnSpPr/>
          <p:nvPr/>
        </p:nvCxnSpPr>
        <p:spPr>
          <a:xfrm rot="10800000">
            <a:off x="4761925" y="3403975"/>
            <a:ext cx="3048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5256" name="Google Shape;5256;p114"/>
          <p:cNvCxnSpPr/>
          <p:nvPr/>
        </p:nvCxnSpPr>
        <p:spPr>
          <a:xfrm rot="10800000">
            <a:off x="5780975" y="3662925"/>
            <a:ext cx="277200" cy="18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98" name="Google Shape;5198;p114"/>
          <p:cNvSpPr/>
          <p:nvPr/>
        </p:nvSpPr>
        <p:spPr>
          <a:xfrm>
            <a:off x="5400100" y="3327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57" name="Google Shape;5257;p114"/>
          <p:cNvCxnSpPr/>
          <p:nvPr/>
        </p:nvCxnSpPr>
        <p:spPr>
          <a:xfrm rot="10800000">
            <a:off x="4721841" y="3683809"/>
            <a:ext cx="213300" cy="24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193" name="Google Shape;5193;p114"/>
          <p:cNvSpPr/>
          <p:nvPr/>
        </p:nvSpPr>
        <p:spPr>
          <a:xfrm>
            <a:off x="4409500" y="3327775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1" name="Shape 5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2" name="Google Shape;5262;p11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Core-Based Trees: Pros and Cons</a:t>
            </a:r>
            <a:endParaRPr/>
          </a:p>
        </p:txBody>
      </p:sp>
      <p:sp>
        <p:nvSpPr>
          <p:cNvPr id="5263" name="Google Shape;5263;p11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  <p:sp>
        <p:nvSpPr>
          <p:cNvPr id="5264" name="Google Shape;5264;p11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Core-Based Trees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Pros and Cons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8" name="Shape 5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9" name="Google Shape;5269;p116"/>
          <p:cNvSpPr txBox="1"/>
          <p:nvPr>
            <p:ph idx="1" type="body"/>
          </p:nvPr>
        </p:nvSpPr>
        <p:spPr>
          <a:xfrm>
            <a:off x="107050" y="402200"/>
            <a:ext cx="8909700" cy="138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Pro: CBT scales better than DVMRP.</a:t>
            </a:r>
            <a:endParaRPr/>
          </a:p>
        </p:txBody>
      </p:sp>
      <p:sp>
        <p:nvSpPr>
          <p:cNvPr id="5270" name="Google Shape;5270;p11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of CBT</a:t>
            </a:r>
            <a:endParaRPr/>
          </a:p>
        </p:txBody>
      </p:sp>
      <p:sp>
        <p:nvSpPr>
          <p:cNvPr id="5271" name="Google Shape;5271;p116"/>
          <p:cNvSpPr txBox="1"/>
          <p:nvPr>
            <p:ph idx="1" type="body"/>
          </p:nvPr>
        </p:nvSpPr>
        <p:spPr>
          <a:xfrm>
            <a:off x="4551850" y="1635650"/>
            <a:ext cx="44649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needs one tree per destination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never broadcasts packets to everyone. The tree is constantly updated to only touch current group members.</a:t>
            </a:r>
            <a:endParaRPr/>
          </a:p>
        </p:txBody>
      </p:sp>
      <p:sp>
        <p:nvSpPr>
          <p:cNvPr id="5272" name="Google Shape;5272;p116"/>
          <p:cNvSpPr txBox="1"/>
          <p:nvPr>
            <p:ph idx="1" type="body"/>
          </p:nvPr>
        </p:nvSpPr>
        <p:spPr>
          <a:xfrm>
            <a:off x="107050" y="1635650"/>
            <a:ext cx="4464900" cy="21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needs one tree per sender, per destination group.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periodically clears prune state, causing packets to be broadcast to everyone (including non-members).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6" name="Shape 5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7" name="Google Shape;5277;p11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 Pro: Less State</a:t>
            </a:r>
            <a:endParaRPr/>
          </a:p>
        </p:txBody>
      </p:sp>
      <p:sp>
        <p:nvSpPr>
          <p:cNvPr id="5278" name="Google Shape;5278;p117"/>
          <p:cNvSpPr txBox="1"/>
          <p:nvPr>
            <p:ph idx="1" type="body"/>
          </p:nvPr>
        </p:nvSpPr>
        <p:spPr>
          <a:xfrm>
            <a:off x="107050" y="402200"/>
            <a:ext cx="8909700" cy="106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DVMRP requires one tree per sender, per destination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CBT requires one tree per destination group. Scales much better!</a:t>
            </a:r>
            <a:endParaRPr/>
          </a:p>
        </p:txBody>
      </p:sp>
      <p:graphicFrame>
        <p:nvGraphicFramePr>
          <p:cNvPr id="5279" name="Google Shape;5279;p117"/>
          <p:cNvGraphicFramePr/>
          <p:nvPr/>
        </p:nvGraphicFramePr>
        <p:xfrm>
          <a:off x="847700" y="21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5850"/>
                <a:gridCol w="575850"/>
                <a:gridCol w="575850"/>
                <a:gridCol w="575850"/>
                <a:gridCol w="575850"/>
                <a:gridCol w="575850"/>
              </a:tblGrid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Tree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80" name="Google Shape;5280;p117"/>
          <p:cNvSpPr txBox="1"/>
          <p:nvPr/>
        </p:nvSpPr>
        <p:spPr>
          <a:xfrm>
            <a:off x="1423550" y="1876050"/>
            <a:ext cx="2879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Group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1" name="Google Shape;5281;p117"/>
          <p:cNvSpPr txBox="1"/>
          <p:nvPr/>
        </p:nvSpPr>
        <p:spPr>
          <a:xfrm>
            <a:off x="216200" y="2864900"/>
            <a:ext cx="6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282" name="Google Shape;5282;p117"/>
          <p:cNvGraphicFramePr/>
          <p:nvPr/>
        </p:nvGraphicFramePr>
        <p:xfrm>
          <a:off x="5355900" y="214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5850"/>
                <a:gridCol w="575850"/>
                <a:gridCol w="575850"/>
                <a:gridCol w="575850"/>
                <a:gridCol w="575850"/>
                <a:gridCol w="575850"/>
              </a:tblGrid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G1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G2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G3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G4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G5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Tree</a:t>
                      </a:r>
                      <a:endParaRPr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 vMerge="1"/>
                <a:tc vMerge="1"/>
                <a:tc vMerge="1"/>
                <a:tc vMerge="1"/>
                <a:tc vMerge="1"/>
              </a:tr>
            </a:tbl>
          </a:graphicData>
        </a:graphic>
      </p:graphicFrame>
      <p:sp>
        <p:nvSpPr>
          <p:cNvPr id="5283" name="Google Shape;5283;p117"/>
          <p:cNvSpPr txBox="1"/>
          <p:nvPr/>
        </p:nvSpPr>
        <p:spPr>
          <a:xfrm>
            <a:off x="5931750" y="1876050"/>
            <a:ext cx="28791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Group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4" name="Google Shape;5284;p117"/>
          <p:cNvSpPr txBox="1"/>
          <p:nvPr/>
        </p:nvSpPr>
        <p:spPr>
          <a:xfrm>
            <a:off x="4724400" y="2864900"/>
            <a:ext cx="631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Sender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5" name="Google Shape;5285;p117"/>
          <p:cNvSpPr txBox="1"/>
          <p:nvPr/>
        </p:nvSpPr>
        <p:spPr>
          <a:xfrm>
            <a:off x="174178" y="3933450"/>
            <a:ext cx="41682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DVMRP: One tree per sender, per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tree shows the shortest path from that sender to all hosts in that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6" name="Google Shape;5286;p117"/>
          <p:cNvSpPr txBox="1"/>
          <p:nvPr/>
        </p:nvSpPr>
        <p:spPr>
          <a:xfrm>
            <a:off x="5743022" y="3933450"/>
            <a:ext cx="2955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CBT: One tree per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Each tree connects all hosts in</a:t>
            </a:r>
            <a:b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that destination group.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0" name="Shape 5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1" name="Google Shape;5291;p118"/>
          <p:cNvSpPr txBox="1"/>
          <p:nvPr>
            <p:ph idx="1" type="body"/>
          </p:nvPr>
        </p:nvSpPr>
        <p:spPr>
          <a:xfrm>
            <a:off x="4551850" y="1635650"/>
            <a:ext cx="4464900" cy="24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CBTs don't involve the sender at all. There is no guarantee that packets are taking the shortest path from the sender.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requires choosing a good core.</a:t>
            </a:r>
            <a:br>
              <a:rPr lang="en"/>
            </a:br>
            <a:r>
              <a:rPr lang="en"/>
              <a:t>A bad choice of core can lead to suboptimal paths.</a:t>
            </a:r>
            <a:endParaRPr/>
          </a:p>
        </p:txBody>
      </p:sp>
      <p:sp>
        <p:nvSpPr>
          <p:cNvPr id="5292" name="Google Shape;5292;p118"/>
          <p:cNvSpPr txBox="1"/>
          <p:nvPr>
            <p:ph idx="1" type="body"/>
          </p:nvPr>
        </p:nvSpPr>
        <p:spPr>
          <a:xfrm>
            <a:off x="107050" y="402200"/>
            <a:ext cx="8909700" cy="12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Con: CBT is less efficient than DVMRP.</a:t>
            </a:r>
            <a:endParaRPr/>
          </a:p>
        </p:txBody>
      </p:sp>
      <p:sp>
        <p:nvSpPr>
          <p:cNvPr id="5293" name="Google Shape;5293;p11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 of CBT</a:t>
            </a:r>
            <a:endParaRPr/>
          </a:p>
        </p:txBody>
      </p:sp>
      <p:sp>
        <p:nvSpPr>
          <p:cNvPr id="5294" name="Google Shape;5294;p118"/>
          <p:cNvSpPr txBox="1"/>
          <p:nvPr>
            <p:ph idx="1" type="body"/>
          </p:nvPr>
        </p:nvSpPr>
        <p:spPr>
          <a:xfrm>
            <a:off x="107050" y="1635650"/>
            <a:ext cx="4464900" cy="24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gives us the shortest paths from the sender to all group members.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doesn't require a specific choice of core.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8" name="Shape 5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9" name="Google Shape;5299;p119"/>
          <p:cNvSpPr/>
          <p:nvPr/>
        </p:nvSpPr>
        <p:spPr>
          <a:xfrm>
            <a:off x="6620787" y="815700"/>
            <a:ext cx="608650" cy="3250250"/>
          </a:xfrm>
          <a:custGeom>
            <a:rect b="b" l="l" r="r" t="t"/>
            <a:pathLst>
              <a:path extrusionOk="0" h="130010" w="24346">
                <a:moveTo>
                  <a:pt x="24346" y="0"/>
                </a:moveTo>
                <a:lnTo>
                  <a:pt x="24346" y="33834"/>
                </a:lnTo>
                <a:lnTo>
                  <a:pt x="0" y="58180"/>
                </a:lnTo>
                <a:lnTo>
                  <a:pt x="0" y="130010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00" name="Google Shape;5300;p119"/>
          <p:cNvSpPr/>
          <p:nvPr/>
        </p:nvSpPr>
        <p:spPr>
          <a:xfrm>
            <a:off x="7350175" y="836875"/>
            <a:ext cx="1471200" cy="2493725"/>
          </a:xfrm>
          <a:custGeom>
            <a:rect b="b" l="l" r="r" t="t"/>
            <a:pathLst>
              <a:path extrusionOk="0" h="99749" w="58848">
                <a:moveTo>
                  <a:pt x="0" y="0"/>
                </a:moveTo>
                <a:lnTo>
                  <a:pt x="0" y="30687"/>
                </a:lnTo>
                <a:lnTo>
                  <a:pt x="27412" y="58098"/>
                </a:lnTo>
                <a:lnTo>
                  <a:pt x="27412" y="68313"/>
                </a:lnTo>
                <a:lnTo>
                  <a:pt x="58848" y="99749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01" name="Google Shape;5301;p119"/>
          <p:cNvSpPr/>
          <p:nvPr/>
        </p:nvSpPr>
        <p:spPr>
          <a:xfrm>
            <a:off x="6780633" y="1833960"/>
            <a:ext cx="1929625" cy="2269125"/>
          </a:xfrm>
          <a:custGeom>
            <a:rect b="b" l="l" r="r" t="t"/>
            <a:pathLst>
              <a:path extrusionOk="0" h="90765" w="77185">
                <a:moveTo>
                  <a:pt x="203" y="90765"/>
                </a:moveTo>
                <a:cubicBezTo>
                  <a:pt x="203" y="82787"/>
                  <a:pt x="-253" y="54587"/>
                  <a:pt x="203" y="42896"/>
                </a:cubicBezTo>
                <a:cubicBezTo>
                  <a:pt x="659" y="31206"/>
                  <a:pt x="-708" y="27754"/>
                  <a:pt x="2939" y="20622"/>
                </a:cubicBezTo>
                <a:cubicBezTo>
                  <a:pt x="6586" y="13491"/>
                  <a:pt x="15478" y="-1402"/>
                  <a:pt x="22086" y="107"/>
                </a:cubicBezTo>
                <a:cubicBezTo>
                  <a:pt x="28694" y="1616"/>
                  <a:pt x="35750" y="20949"/>
                  <a:pt x="42588" y="29676"/>
                </a:cubicBezTo>
                <a:cubicBezTo>
                  <a:pt x="49427" y="38403"/>
                  <a:pt x="57351" y="46457"/>
                  <a:pt x="63117" y="52470"/>
                </a:cubicBezTo>
                <a:cubicBezTo>
                  <a:pt x="68883" y="58483"/>
                  <a:pt x="74840" y="63542"/>
                  <a:pt x="77185" y="65756"/>
                </a:cubicBez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302" name="Google Shape;5302;p119"/>
          <p:cNvCxnSpPr>
            <a:stCxn id="5303" idx="2"/>
            <a:endCxn id="5304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5" name="Google Shape;5305;p119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06" name="Google Shape;5306;p11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CBT Drawback: Choice of Core</a:t>
            </a:r>
            <a:endParaRPr/>
          </a:p>
        </p:txBody>
      </p:sp>
      <p:sp>
        <p:nvSpPr>
          <p:cNvPr id="5307" name="Google Shape;5307;p119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08" name="Google Shape;5308;p119"/>
          <p:cNvCxnSpPr>
            <a:stCxn id="5307" idx="4"/>
            <a:endCxn id="5303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9" name="Google Shape;5309;p119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0" name="Google Shape;5310;p119"/>
          <p:cNvCxnSpPr>
            <a:stCxn id="5303" idx="2"/>
            <a:endCxn id="5309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1" name="Google Shape;5311;p119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2" name="Google Shape;5312;p119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3" name="Google Shape;5313;p119"/>
          <p:cNvCxnSpPr>
            <a:stCxn id="5309" idx="2"/>
            <a:endCxn id="5314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5" name="Google Shape;5315;p119"/>
          <p:cNvCxnSpPr>
            <a:stCxn id="5314" idx="2"/>
            <a:endCxn id="5312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6" name="Google Shape;5316;p119"/>
          <p:cNvCxnSpPr>
            <a:stCxn id="5304" idx="2"/>
            <a:endCxn id="5311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17" name="Google Shape;5317;p119"/>
          <p:cNvCxnSpPr>
            <a:stCxn id="5311" idx="1"/>
            <a:endCxn id="5314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18" name="Google Shape;5318;p119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9" name="Google Shape;5319;p119"/>
          <p:cNvCxnSpPr>
            <a:stCxn id="5304" idx="2"/>
            <a:endCxn id="5318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20" name="Google Shape;5320;p119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</a:t>
            </a: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1" name="Google Shape;5321;p119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 is the core.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3" name="Google Shape;5303;p119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4" name="Google Shape;5304;p119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4" name="Google Shape;5314;p119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2" name="Google Shape;5322;p119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6" name="Shape 5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7" name="Google Shape;5327;p120"/>
          <p:cNvSpPr/>
          <p:nvPr/>
        </p:nvSpPr>
        <p:spPr>
          <a:xfrm>
            <a:off x="6620787" y="815700"/>
            <a:ext cx="608650" cy="3250250"/>
          </a:xfrm>
          <a:custGeom>
            <a:rect b="b" l="l" r="r" t="t"/>
            <a:pathLst>
              <a:path extrusionOk="0" h="130010" w="24346">
                <a:moveTo>
                  <a:pt x="24346" y="0"/>
                </a:moveTo>
                <a:lnTo>
                  <a:pt x="24346" y="33834"/>
                </a:lnTo>
                <a:lnTo>
                  <a:pt x="0" y="58180"/>
                </a:lnTo>
                <a:lnTo>
                  <a:pt x="0" y="130010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8" name="Google Shape;5328;p120"/>
          <p:cNvSpPr/>
          <p:nvPr/>
        </p:nvSpPr>
        <p:spPr>
          <a:xfrm>
            <a:off x="6767900" y="2736500"/>
            <a:ext cx="1921100" cy="1357975"/>
          </a:xfrm>
          <a:custGeom>
            <a:rect b="b" l="l" r="r" t="t"/>
            <a:pathLst>
              <a:path extrusionOk="0" h="54319" w="76844">
                <a:moveTo>
                  <a:pt x="0" y="54319"/>
                </a:moveTo>
                <a:lnTo>
                  <a:pt x="0" y="30892"/>
                </a:lnTo>
                <a:lnTo>
                  <a:pt x="48397" y="30892"/>
                </a:lnTo>
                <a:lnTo>
                  <a:pt x="48397" y="0"/>
                </a:lnTo>
                <a:lnTo>
                  <a:pt x="76844" y="2844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29" name="Google Shape;5329;p120"/>
          <p:cNvSpPr/>
          <p:nvPr/>
        </p:nvSpPr>
        <p:spPr>
          <a:xfrm>
            <a:off x="6781025" y="824025"/>
            <a:ext cx="1989900" cy="2525225"/>
          </a:xfrm>
          <a:custGeom>
            <a:rect b="b" l="l" r="r" t="t"/>
            <a:pathLst>
              <a:path extrusionOk="0" h="101009" w="79596">
                <a:moveTo>
                  <a:pt x="24477" y="0"/>
                </a:moveTo>
                <a:lnTo>
                  <a:pt x="24477" y="33670"/>
                </a:lnTo>
                <a:lnTo>
                  <a:pt x="0" y="58147"/>
                </a:lnTo>
                <a:lnTo>
                  <a:pt x="0" y="101009"/>
                </a:lnTo>
                <a:lnTo>
                  <a:pt x="43084" y="101009"/>
                </a:lnTo>
                <a:lnTo>
                  <a:pt x="43084" y="60473"/>
                </a:lnTo>
                <a:lnTo>
                  <a:pt x="49545" y="70214"/>
                </a:lnTo>
                <a:lnTo>
                  <a:pt x="79596" y="100265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30" name="Google Shape;5330;p120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31" name="Google Shape;5331;p12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 Drawback: Choice of Core</a:t>
            </a:r>
            <a:endParaRPr/>
          </a:p>
        </p:txBody>
      </p:sp>
      <p:sp>
        <p:nvSpPr>
          <p:cNvPr id="5332" name="Google Shape;5332;p120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3" name="Google Shape;5333;p120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34" name="Google Shape;5334;p120"/>
          <p:cNvCxnSpPr>
            <a:stCxn id="5333" idx="4"/>
            <a:endCxn id="5332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5" name="Google Shape;5335;p120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6" name="Google Shape;5336;p120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37" name="Google Shape;5337;p120"/>
          <p:cNvCxnSpPr>
            <a:stCxn id="5332" idx="2"/>
            <a:endCxn id="5335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8" name="Google Shape;5338;p120"/>
          <p:cNvCxnSpPr>
            <a:stCxn id="5332" idx="2"/>
            <a:endCxn id="5336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39" name="Google Shape;5339;p120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0" name="Google Shape;5340;p120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1" name="Google Shape;5341;p120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2" name="Google Shape;5342;p120"/>
          <p:cNvCxnSpPr>
            <a:stCxn id="5335" idx="2"/>
            <a:endCxn id="5339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3" name="Google Shape;5343;p120"/>
          <p:cNvCxnSpPr>
            <a:stCxn id="5339" idx="2"/>
            <a:endCxn id="5341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4" name="Google Shape;5344;p120"/>
          <p:cNvCxnSpPr>
            <a:stCxn id="5336" idx="2"/>
            <a:endCxn id="5340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5" name="Google Shape;5345;p120"/>
          <p:cNvCxnSpPr>
            <a:stCxn id="5340" idx="1"/>
            <a:endCxn id="5339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6" name="Google Shape;5346;p120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47" name="Google Shape;5347;p120"/>
          <p:cNvCxnSpPr>
            <a:stCxn id="5336" idx="2"/>
            <a:endCxn id="5346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48" name="Google Shape;5348;p120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9" name="Google Shape;5349;p120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R4 is the core.</a:t>
            </a:r>
            <a:endParaRPr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50" name="Google Shape;5350;p120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4" name="Shape 5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" name="Google Shape;5355;p121"/>
          <p:cNvSpPr/>
          <p:nvPr/>
        </p:nvSpPr>
        <p:spPr>
          <a:xfrm>
            <a:off x="6623550" y="823550"/>
            <a:ext cx="1236400" cy="3239950"/>
          </a:xfrm>
          <a:custGeom>
            <a:rect b="b" l="l" r="r" t="t"/>
            <a:pathLst>
              <a:path extrusionOk="0" h="129598" w="49456">
                <a:moveTo>
                  <a:pt x="23885" y="0"/>
                </a:moveTo>
                <a:lnTo>
                  <a:pt x="23885" y="33557"/>
                </a:lnTo>
                <a:lnTo>
                  <a:pt x="49456" y="59128"/>
                </a:lnTo>
                <a:lnTo>
                  <a:pt x="49456" y="99412"/>
                </a:lnTo>
                <a:lnTo>
                  <a:pt x="0" y="99412"/>
                </a:lnTo>
                <a:lnTo>
                  <a:pt x="0" y="129598"/>
                </a:lnTo>
              </a:path>
            </a:pathLst>
          </a:custGeom>
          <a:noFill/>
          <a:ln cap="flat" cmpd="sng" w="28575">
            <a:solidFill>
              <a:srgbClr val="F1C23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6" name="Google Shape;5356;p121"/>
          <p:cNvSpPr/>
          <p:nvPr/>
        </p:nvSpPr>
        <p:spPr>
          <a:xfrm>
            <a:off x="6767900" y="2736500"/>
            <a:ext cx="1921100" cy="1357975"/>
          </a:xfrm>
          <a:custGeom>
            <a:rect b="b" l="l" r="r" t="t"/>
            <a:pathLst>
              <a:path extrusionOk="0" h="54319" w="76844">
                <a:moveTo>
                  <a:pt x="0" y="54319"/>
                </a:moveTo>
                <a:lnTo>
                  <a:pt x="0" y="30892"/>
                </a:lnTo>
                <a:lnTo>
                  <a:pt x="48397" y="30892"/>
                </a:lnTo>
                <a:lnTo>
                  <a:pt x="48397" y="0"/>
                </a:lnTo>
                <a:lnTo>
                  <a:pt x="76844" y="28447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7" name="Google Shape;5357;p121"/>
          <p:cNvSpPr/>
          <p:nvPr/>
        </p:nvSpPr>
        <p:spPr>
          <a:xfrm>
            <a:off x="7350175" y="836875"/>
            <a:ext cx="1471200" cy="2493725"/>
          </a:xfrm>
          <a:custGeom>
            <a:rect b="b" l="l" r="r" t="t"/>
            <a:pathLst>
              <a:path extrusionOk="0" h="99749" w="58848">
                <a:moveTo>
                  <a:pt x="0" y="0"/>
                </a:moveTo>
                <a:lnTo>
                  <a:pt x="0" y="30687"/>
                </a:lnTo>
                <a:lnTo>
                  <a:pt x="27412" y="58098"/>
                </a:lnTo>
                <a:lnTo>
                  <a:pt x="27412" y="68313"/>
                </a:lnTo>
                <a:lnTo>
                  <a:pt x="58848" y="99749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8" name="Google Shape;5358;p121"/>
          <p:cNvSpPr txBox="1"/>
          <p:nvPr>
            <p:ph idx="1" type="body"/>
          </p:nvPr>
        </p:nvSpPr>
        <p:spPr>
          <a:xfrm>
            <a:off x="107050" y="402200"/>
            <a:ext cx="4991100" cy="32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causes packets to take suboptimal paths.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choice of core has a big impact on CBT performance.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Choosing a good core is hard. Core is often manually chosen by operator.</a:t>
            </a:r>
            <a:endParaRPr/>
          </a:p>
        </p:txBody>
      </p:sp>
      <p:sp>
        <p:nvSpPr>
          <p:cNvPr id="5359" name="Google Shape;5359;p12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CBT Drawback: Choice of Core</a:t>
            </a:r>
            <a:endParaRPr/>
          </a:p>
        </p:txBody>
      </p:sp>
      <p:sp>
        <p:nvSpPr>
          <p:cNvPr id="5360" name="Google Shape;5360;p121"/>
          <p:cNvSpPr/>
          <p:nvPr/>
        </p:nvSpPr>
        <p:spPr>
          <a:xfrm>
            <a:off x="7156375" y="1357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1" name="Google Shape;5361;p121"/>
          <p:cNvSpPr/>
          <p:nvPr/>
        </p:nvSpPr>
        <p:spPr>
          <a:xfrm>
            <a:off x="7156375" y="6715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2" name="Google Shape;5362;p121"/>
          <p:cNvCxnSpPr>
            <a:stCxn id="5361" idx="4"/>
            <a:endCxn id="5360" idx="0"/>
          </p:cNvCxnSpPr>
          <p:nvPr/>
        </p:nvCxnSpPr>
        <p:spPr>
          <a:xfrm>
            <a:off x="7308775" y="9763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3" name="Google Shape;5363;p121"/>
          <p:cNvSpPr/>
          <p:nvPr/>
        </p:nvSpPr>
        <p:spPr>
          <a:xfrm>
            <a:off x="65467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solidFill>
                <a:srgbClr val="B7B7B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4" name="Google Shape;5364;p121"/>
          <p:cNvSpPr/>
          <p:nvPr/>
        </p:nvSpPr>
        <p:spPr>
          <a:xfrm>
            <a:off x="7765975" y="2271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65" name="Google Shape;5365;p121"/>
          <p:cNvCxnSpPr>
            <a:stCxn id="5360" idx="2"/>
            <a:endCxn id="5363" idx="0"/>
          </p:cNvCxnSpPr>
          <p:nvPr/>
        </p:nvCxnSpPr>
        <p:spPr>
          <a:xfrm flipH="1">
            <a:off x="6699175" y="1662152"/>
            <a:ext cx="609600" cy="6096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6" name="Google Shape;5366;p121"/>
          <p:cNvCxnSpPr>
            <a:stCxn id="5360" idx="2"/>
            <a:endCxn id="5364" idx="0"/>
          </p:cNvCxnSpPr>
          <p:nvPr/>
        </p:nvCxnSpPr>
        <p:spPr>
          <a:xfrm>
            <a:off x="7308775" y="1662152"/>
            <a:ext cx="6096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7" name="Google Shape;5367;p121"/>
          <p:cNvSpPr/>
          <p:nvPr/>
        </p:nvSpPr>
        <p:spPr>
          <a:xfrm>
            <a:off x="6546775" y="32623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R4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8" name="Google Shape;5368;p121"/>
          <p:cNvSpPr/>
          <p:nvPr/>
        </p:nvSpPr>
        <p:spPr>
          <a:xfrm>
            <a:off x="7765975" y="3262352"/>
            <a:ext cx="304800" cy="3048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9" name="Google Shape;5369;p121"/>
          <p:cNvSpPr/>
          <p:nvPr/>
        </p:nvSpPr>
        <p:spPr>
          <a:xfrm>
            <a:off x="6546775" y="39481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0" name="Google Shape;5370;p121"/>
          <p:cNvCxnSpPr>
            <a:stCxn id="5363" idx="2"/>
            <a:endCxn id="5367" idx="0"/>
          </p:cNvCxnSpPr>
          <p:nvPr/>
        </p:nvCxnSpPr>
        <p:spPr>
          <a:xfrm>
            <a:off x="6699175" y="2576552"/>
            <a:ext cx="0" cy="685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1" name="Google Shape;5371;p121"/>
          <p:cNvCxnSpPr>
            <a:stCxn id="5367" idx="2"/>
            <a:endCxn id="5369" idx="0"/>
          </p:cNvCxnSpPr>
          <p:nvPr/>
        </p:nvCxnSpPr>
        <p:spPr>
          <a:xfrm>
            <a:off x="6699175" y="3567152"/>
            <a:ext cx="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2" name="Google Shape;5372;p121"/>
          <p:cNvCxnSpPr>
            <a:stCxn id="5364" idx="2"/>
            <a:endCxn id="5368" idx="0"/>
          </p:cNvCxnSpPr>
          <p:nvPr/>
        </p:nvCxnSpPr>
        <p:spPr>
          <a:xfrm>
            <a:off x="7918375" y="25765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3" name="Google Shape;5373;p121"/>
          <p:cNvCxnSpPr>
            <a:stCxn id="5368" idx="1"/>
            <a:endCxn id="5367" idx="3"/>
          </p:cNvCxnSpPr>
          <p:nvPr/>
        </p:nvCxnSpPr>
        <p:spPr>
          <a:xfrm rot="10800000">
            <a:off x="6851575" y="3414752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4" name="Google Shape;5374;p121"/>
          <p:cNvSpPr/>
          <p:nvPr/>
        </p:nvSpPr>
        <p:spPr>
          <a:xfrm>
            <a:off x="8604175" y="3262352"/>
            <a:ext cx="304800" cy="304800"/>
          </a:xfrm>
          <a:prstGeom prst="ellipse">
            <a:avLst/>
          </a:prstGeom>
          <a:solidFill>
            <a:srgbClr val="D9EAD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5" name="Google Shape;5375;p121"/>
          <p:cNvCxnSpPr>
            <a:stCxn id="5364" idx="2"/>
            <a:endCxn id="5374" idx="1"/>
          </p:cNvCxnSpPr>
          <p:nvPr/>
        </p:nvCxnSpPr>
        <p:spPr>
          <a:xfrm>
            <a:off x="7918375" y="2576552"/>
            <a:ext cx="730500" cy="73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6" name="Google Shape;5376;p121"/>
          <p:cNvSpPr txBox="1"/>
          <p:nvPr/>
        </p:nvSpPr>
        <p:spPr>
          <a:xfrm>
            <a:off x="6622975" y="43254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A, B, C are members of G1.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7" name="Google Shape;5377;p121"/>
          <p:cNvSpPr txBox="1"/>
          <p:nvPr/>
        </p:nvSpPr>
        <p:spPr>
          <a:xfrm>
            <a:off x="6622975" y="4630275"/>
            <a:ext cx="2286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R5 is the core.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78" name="Google Shape;5378;p121"/>
          <p:cNvGraphicFramePr/>
          <p:nvPr/>
        </p:nvGraphicFramePr>
        <p:xfrm>
          <a:off x="661563" y="369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1294025"/>
                <a:gridCol w="1294025"/>
                <a:gridCol w="1294025"/>
              </a:tblGrid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Hosts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Cost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Shortest path?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B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FF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 to C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E69138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>
                        <a:solidFill>
                          <a:srgbClr val="E6913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  <a:tr h="7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 to C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900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>
                        <a:solidFill>
                          <a:srgbClr val="9900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45700" marL="45700"/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2" name="Shape 5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3" name="Google Shape;5383;p12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Main idea: CBT gives better scaling than DVMRP, at the cost of worse efficiency.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Other comparisons between the two protocols: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con: T</a:t>
            </a:r>
            <a:r>
              <a:rPr lang="en"/>
              <a:t>he unicast and multicast protocols are tightly-coupled.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DVMRP is an extension to distance-vector. </a:t>
            </a:r>
            <a:r>
              <a:rPr lang="en"/>
              <a:t>If we changed the unicast protocol (e.g. to link-state), we'd have to change the multicast protocol too.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CBT works with any unicast protocol.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creates a single point of failure at the core.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Can be solved by using multiple cores, but introduces more complexity.</a:t>
            </a:r>
            <a:br>
              <a:rPr lang="en"/>
            </a:br>
            <a:r>
              <a:rPr lang="en"/>
              <a:t>Won't discuss further.</a:t>
            </a:r>
            <a:endParaRPr/>
          </a:p>
        </p:txBody>
      </p:sp>
      <p:sp>
        <p:nvSpPr>
          <p:cNvPr id="5384" name="Google Shape;5384;p1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Benefits/Drawbacks of CBT</a:t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8" name="Shape 5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9" name="Google Shape;5389;p12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DVMRP and CBT in Practice</a:t>
            </a:r>
            <a:endParaRPr/>
          </a:p>
        </p:txBody>
      </p:sp>
      <p:sp>
        <p:nvSpPr>
          <p:cNvPr id="5390" name="Google Shape;5390;p12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DVMRP or CBT better? It depends.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 is better if you have one source sending to a large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You get the shortest paths to all group members.</a:t>
            </a:r>
            <a:br>
              <a:rPr lang="en"/>
            </a:br>
            <a:r>
              <a:rPr lang="en"/>
              <a:t>The group is large, so you get lots of bandwidth savings.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group is large, the occasional broadcasting (after pruning is cleared) isn't a big problem.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 is better if you're sending to a small group.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CBT avoids broadcasting to non-members.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Both are used today. PIM (Protocol-Independent Multicast) has two variants: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PIM-DM (Dense Mode): Uses DVMRP for large groups.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PIM-SM (Sparse Mode): Uses CBT for small groups.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4" name="Shape 5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5" name="Google Shape;5395;p12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Challenges</a:t>
            </a:r>
            <a:endParaRPr/>
          </a:p>
        </p:txBody>
      </p:sp>
      <p:sp>
        <p:nvSpPr>
          <p:cNvPr id="5396" name="Google Shape;5396;p12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Lecture 22, CS 168, Summer 2025</a:t>
            </a:r>
            <a:endParaRPr/>
          </a:p>
        </p:txBody>
      </p:sp>
      <p:sp>
        <p:nvSpPr>
          <p:cNvPr id="5397" name="Google Shape;5397;p12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Multicast Challenges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Overlay-Based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1" name="Shape 5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2" name="Google Shape;5402;p12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Our protocols don't scale to inter-domain routing.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DVMRP: Pruning is periodically cleared. Packets forwarded to all of Internet?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CBT: Where to put the core? ASes don't want to depend on a core in another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practice, very little </a:t>
            </a:r>
            <a:r>
              <a:rPr lang="en"/>
              <a:t>adoption</a:t>
            </a:r>
            <a:r>
              <a:rPr lang="en"/>
              <a:t> of inter-domain IP multicast.</a:t>
            </a:r>
            <a:endParaRPr/>
          </a:p>
        </p:txBody>
      </p:sp>
      <p:sp>
        <p:nvSpPr>
          <p:cNvPr id="5403" name="Google Shape;5403;p12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Challenges (</a:t>
            </a:r>
            <a:r>
              <a:rPr lang="en"/>
              <a:t>1/5</a:t>
            </a:r>
            <a:r>
              <a:rPr lang="en"/>
              <a:t>): Inter-Domain Routing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7" name="Shape 5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8" name="Google Shape;5408;p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(2/5): Charging</a:t>
            </a:r>
            <a:endParaRPr/>
          </a:p>
        </p:txBody>
      </p:sp>
      <p:sp>
        <p:nvSpPr>
          <p:cNvPr id="5409" name="Google Shape;5409;p126"/>
          <p:cNvSpPr txBox="1"/>
          <p:nvPr>
            <p:ph idx="1" type="body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It's hard to design a business model for IP multicast.</a:t>
            </a:r>
            <a:endParaRPr/>
          </a:p>
        </p:txBody>
      </p:sp>
      <p:sp>
        <p:nvSpPr>
          <p:cNvPr id="5410" name="Google Shape;5410;p126"/>
          <p:cNvSpPr/>
          <p:nvPr/>
        </p:nvSpPr>
        <p:spPr>
          <a:xfrm>
            <a:off x="706363" y="17515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1" name="Google Shape;5411;p126"/>
          <p:cNvSpPr/>
          <p:nvPr/>
        </p:nvSpPr>
        <p:spPr>
          <a:xfrm>
            <a:off x="2626563" y="17515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2" name="Google Shape;5412;p126"/>
          <p:cNvCxnSpPr>
            <a:stCxn id="5410" idx="6"/>
            <a:endCxn id="5411" idx="2"/>
          </p:cNvCxnSpPr>
          <p:nvPr/>
        </p:nvCxnSpPr>
        <p:spPr>
          <a:xfrm>
            <a:off x="1676263" y="2028100"/>
            <a:ext cx="950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413" name="Google Shape;5413;p126"/>
          <p:cNvCxnSpPr/>
          <p:nvPr/>
        </p:nvCxnSpPr>
        <p:spPr>
          <a:xfrm>
            <a:off x="1734050" y="2180500"/>
            <a:ext cx="8640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4" name="Google Shape;5414;p126"/>
          <p:cNvCxnSpPr/>
          <p:nvPr/>
        </p:nvCxnSpPr>
        <p:spPr>
          <a:xfrm flipH="1" rot="10800000">
            <a:off x="3596463" y="16522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5" name="Google Shape;5415;p126"/>
          <p:cNvCxnSpPr/>
          <p:nvPr/>
        </p:nvCxnSpPr>
        <p:spPr>
          <a:xfrm>
            <a:off x="3596463" y="21856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6" name="Google Shape;5416;p126"/>
          <p:cNvCxnSpPr/>
          <p:nvPr/>
        </p:nvCxnSpPr>
        <p:spPr>
          <a:xfrm>
            <a:off x="3672663" y="2028100"/>
            <a:ext cx="728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7" name="Google Shape;5417;p126"/>
          <p:cNvSpPr/>
          <p:nvPr/>
        </p:nvSpPr>
        <p:spPr>
          <a:xfrm>
            <a:off x="6284163" y="11419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A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8" name="Google Shape;5418;p126"/>
          <p:cNvCxnSpPr/>
          <p:nvPr/>
        </p:nvCxnSpPr>
        <p:spPr>
          <a:xfrm rot="10800000">
            <a:off x="6616725" y="1771275"/>
            <a:ext cx="0" cy="5370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19" name="Google Shape;5419;p126"/>
          <p:cNvCxnSpPr/>
          <p:nvPr/>
        </p:nvCxnSpPr>
        <p:spPr>
          <a:xfrm flipH="1" rot="10800000">
            <a:off x="7254063" y="10426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0" name="Google Shape;5420;p126"/>
          <p:cNvCxnSpPr/>
          <p:nvPr/>
        </p:nvCxnSpPr>
        <p:spPr>
          <a:xfrm>
            <a:off x="7254063" y="1576025"/>
            <a:ext cx="726600" cy="194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21" name="Google Shape;5421;p126"/>
          <p:cNvCxnSpPr/>
          <p:nvPr/>
        </p:nvCxnSpPr>
        <p:spPr>
          <a:xfrm>
            <a:off x="7330263" y="1418500"/>
            <a:ext cx="7281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2" name="Google Shape;5422;p126"/>
          <p:cNvSpPr/>
          <p:nvPr/>
        </p:nvSpPr>
        <p:spPr>
          <a:xfrm>
            <a:off x="6284163" y="24373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 B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23" name="Google Shape;5423;p126"/>
          <p:cNvCxnSpPr>
            <a:stCxn id="5417" idx="4"/>
            <a:endCxn id="5422" idx="0"/>
          </p:cNvCxnSpPr>
          <p:nvPr/>
        </p:nvCxnSpPr>
        <p:spPr>
          <a:xfrm>
            <a:off x="6769113" y="1695100"/>
            <a:ext cx="0" cy="74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4" name="Google Shape;5424;p126"/>
          <p:cNvSpPr txBox="1"/>
          <p:nvPr/>
        </p:nvSpPr>
        <p:spPr>
          <a:xfrm>
            <a:off x="706375" y="2844100"/>
            <a:ext cx="3694200" cy="1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and B are peers, which means they can exchange equal amounts of traffic.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But if A sends a multicast packet to B, then B uses more bandwidth than 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Should A pay B to forward this packet?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5" name="Google Shape;5425;p126"/>
          <p:cNvSpPr txBox="1"/>
          <p:nvPr/>
        </p:nvSpPr>
        <p:spPr>
          <a:xfrm>
            <a:off x="5246625" y="3119525"/>
            <a:ext cx="3045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provides service to B.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B sends a multicast packet, A has to use more bandwidth (compared to unicast packet).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Should A charge more for the multicast packet?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9" name="Shape 5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30" name="Google Shape;5430;p127"/>
          <p:cNvCxnSpPr/>
          <p:nvPr/>
        </p:nvCxnSpPr>
        <p:spPr>
          <a:xfrm>
            <a:off x="5549563" y="3915608"/>
            <a:ext cx="1545600" cy="7302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1" name="Google Shape;5431;p127"/>
          <p:cNvCxnSpPr/>
          <p:nvPr/>
        </p:nvCxnSpPr>
        <p:spPr>
          <a:xfrm flipH="1" rot="10800000">
            <a:off x="5549563" y="3117173"/>
            <a:ext cx="1545600" cy="7302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2" name="Google Shape;5432;p127"/>
          <p:cNvCxnSpPr/>
          <p:nvPr/>
        </p:nvCxnSpPr>
        <p:spPr>
          <a:xfrm>
            <a:off x="5589699" y="3847125"/>
            <a:ext cx="1528200" cy="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3" name="Google Shape;5433;p1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(3/5): Congestion Control</a:t>
            </a:r>
            <a:endParaRPr/>
          </a:p>
        </p:txBody>
      </p:sp>
      <p:sp>
        <p:nvSpPr>
          <p:cNvPr id="5434" name="Google Shape;5434;p127"/>
          <p:cNvSpPr txBox="1"/>
          <p:nvPr>
            <p:ph idx="1" type="body"/>
          </p:nvPr>
        </p:nvSpPr>
        <p:spPr>
          <a:xfrm>
            <a:off x="107050" y="402200"/>
            <a:ext cx="8909700" cy="24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rate should the sender choose? It's not so obvious.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 Mbps: Too low. Wastes unused capacity on some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100 Mbps: Too high. Overloads some of the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Have different groups depending on performance.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One group gets high-quality video, one group gets low-quality video.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try joining different groups to see which is best for them.</a:t>
            </a:r>
            <a:endParaRPr/>
          </a:p>
        </p:txBody>
      </p:sp>
      <p:cxnSp>
        <p:nvCxnSpPr>
          <p:cNvPr id="5435" name="Google Shape;5435;p127"/>
          <p:cNvCxnSpPr>
            <a:stCxn id="5436" idx="3"/>
            <a:endCxn id="5437" idx="1"/>
          </p:cNvCxnSpPr>
          <p:nvPr/>
        </p:nvCxnSpPr>
        <p:spPr>
          <a:xfrm>
            <a:off x="4370563" y="3884400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8" name="Google Shape;5438;p127"/>
          <p:cNvCxnSpPr>
            <a:stCxn id="5437" idx="3"/>
            <a:endCxn id="5439" idx="2"/>
          </p:cNvCxnSpPr>
          <p:nvPr/>
        </p:nvCxnSpPr>
        <p:spPr>
          <a:xfrm flipH="1" rot="10800000">
            <a:off x="5589763" y="3198600"/>
            <a:ext cx="14478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0" name="Google Shape;5440;p127"/>
          <p:cNvCxnSpPr>
            <a:stCxn id="5437" idx="3"/>
            <a:endCxn id="5441" idx="2"/>
          </p:cNvCxnSpPr>
          <p:nvPr/>
        </p:nvCxnSpPr>
        <p:spPr>
          <a:xfrm>
            <a:off x="5589763" y="3884400"/>
            <a:ext cx="14478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2" name="Google Shape;5442;p127"/>
          <p:cNvCxnSpPr>
            <a:stCxn id="5437" idx="3"/>
            <a:endCxn id="5443" idx="2"/>
          </p:cNvCxnSpPr>
          <p:nvPr/>
        </p:nvCxnSpPr>
        <p:spPr>
          <a:xfrm>
            <a:off x="5589763" y="3884400"/>
            <a:ext cx="1447800" cy="685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4" name="Google Shape;5444;p127"/>
          <p:cNvCxnSpPr>
            <a:stCxn id="5445" idx="6"/>
            <a:endCxn id="5436" idx="1"/>
          </p:cNvCxnSpPr>
          <p:nvPr/>
        </p:nvCxnSpPr>
        <p:spPr>
          <a:xfrm>
            <a:off x="3532362" y="3884400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43" name="Google Shape;5443;p127"/>
          <p:cNvSpPr/>
          <p:nvPr/>
        </p:nvSpPr>
        <p:spPr>
          <a:xfrm>
            <a:off x="7037562" y="44178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9" name="Google Shape;5439;p127"/>
          <p:cNvSpPr/>
          <p:nvPr/>
        </p:nvSpPr>
        <p:spPr>
          <a:xfrm>
            <a:off x="7037562" y="30462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1" name="Google Shape;5441;p127"/>
          <p:cNvSpPr/>
          <p:nvPr/>
        </p:nvSpPr>
        <p:spPr>
          <a:xfrm>
            <a:off x="7037562" y="3731988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46" name="Google Shape;5446;p127"/>
          <p:cNvCxnSpPr/>
          <p:nvPr/>
        </p:nvCxnSpPr>
        <p:spPr>
          <a:xfrm>
            <a:off x="3472563" y="3837813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6" name="Google Shape;5436;p127"/>
          <p:cNvSpPr/>
          <p:nvPr/>
        </p:nvSpPr>
        <p:spPr>
          <a:xfrm>
            <a:off x="4065763" y="3732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5" name="Google Shape;5445;p127"/>
          <p:cNvSpPr/>
          <p:nvPr/>
        </p:nvSpPr>
        <p:spPr>
          <a:xfrm>
            <a:off x="3227562" y="373200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7" name="Google Shape;5437;p127"/>
          <p:cNvSpPr/>
          <p:nvPr/>
        </p:nvSpPr>
        <p:spPr>
          <a:xfrm>
            <a:off x="5284963" y="3732000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7" name="Google Shape;5447;p127"/>
          <p:cNvSpPr txBox="1"/>
          <p:nvPr/>
        </p:nvSpPr>
        <p:spPr>
          <a:xfrm rot="-1512877">
            <a:off x="5816187" y="3268659"/>
            <a:ext cx="814065" cy="215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100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8" name="Google Shape;5448;p127"/>
          <p:cNvSpPr txBox="1"/>
          <p:nvPr/>
        </p:nvSpPr>
        <p:spPr>
          <a:xfrm rot="1532703">
            <a:off x="5816241" y="4279684"/>
            <a:ext cx="813968" cy="2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9" name="Google Shape;5449;p127"/>
          <p:cNvSpPr txBox="1"/>
          <p:nvPr/>
        </p:nvSpPr>
        <p:spPr>
          <a:xfrm>
            <a:off x="6206256" y="3600942"/>
            <a:ext cx="727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 Mbps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0" name="Google Shape;5450;p127"/>
          <p:cNvSpPr txBox="1"/>
          <p:nvPr/>
        </p:nvSpPr>
        <p:spPr>
          <a:xfrm>
            <a:off x="734838" y="3514575"/>
            <a:ext cx="2234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sends a multicast packet to a destination group with A, B, C as members.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4" name="Shape 5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5" name="Google Shape;5455;p1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(4/5): Reliability</a:t>
            </a:r>
            <a:endParaRPr/>
          </a:p>
        </p:txBody>
      </p:sp>
      <p:sp>
        <p:nvSpPr>
          <p:cNvPr id="5456" name="Google Shape;5456;p1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is best-effort. Adding reliability introduces more complexity.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packet reaches some (but not all) group members?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packet is dropped at the first hop? Nobody receives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 an ack when you receive the packet?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everyone gets packet, sender gets overwhelmed with tons of 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Send a nack if you don't get a packet (e.g. if timer expires)?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nobody gets packet, sender gets overwhelmed with tons of nacks.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recover from loss?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Multicast packet to </a:t>
            </a:r>
            <a:r>
              <a:rPr lang="en"/>
              <a:t>everyone again? Wastes bandwidth if most received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Unicast packet to people who didn't get it? Wastes bandwidth sending duplicate packets across links.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we often implement reliability by encoding redundancy into the data.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0" name="Shape 5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1" name="Google Shape;5461;p1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Multicast Challenges (5/5): Security</a:t>
            </a:r>
            <a:endParaRPr/>
          </a:p>
        </p:txBody>
      </p:sp>
      <p:sp>
        <p:nvSpPr>
          <p:cNvPr id="5462" name="Google Shape;5462;p12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 has no access control.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Anybody can join any </a:t>
            </a:r>
            <a:r>
              <a:rPr lang="en"/>
              <a:t>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Anybody can send messages to any group.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attack: Denial-of-service.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tons of packets to a group, overwhelming the members of that group.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effective than the unicast alternative, where you'd have to send tons of packets to each member separately.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Possible solution: Encrypt messages with a secret key.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a secret key to everyone in the group. How to distribute the key securely?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someone leaves the group, they can still use the key to read messages.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Switch to a new key when someone leaves? How to distribute the new key?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6" name="Shape 5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7" name="Google Shape;5467;p1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Today, IP multicast is mostly used within a single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Inter-domain IP multicast is not widely adopted.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means you can't send multicast packets on the Internet and expect them to "automatically" 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So, how do modern applications support inter-domain group communication?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can write custom solutions based on the unicast model.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Use a central relay server. Sender unicasts packet to server, and server unicasts packet to all group members.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applications could just use the naive unicast solution (send separate packets to each group member).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Another solution: Overlay multicast. (Coming up next!)</a:t>
            </a:r>
            <a:endParaRPr/>
          </a:p>
        </p:txBody>
      </p:sp>
      <p:sp>
        <p:nvSpPr>
          <p:cNvPr id="5468" name="Google Shape;5468;p1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 Multicast in Practice</a:t>
            </a:r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2" name="Shape 5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3" name="Google Shape;5473;p13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Overlay-Based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4" name="Google Shape;5474;p13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Overlay-Based Multicast</a:t>
            </a:r>
            <a:endParaRPr/>
          </a:p>
        </p:txBody>
      </p:sp>
      <p:sp>
        <p:nvSpPr>
          <p:cNvPr id="5475" name="Google Shape;5475;p13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9" name="Shape 5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0" name="Google Shape;5480;p1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Overlay Multicast</a:t>
            </a:r>
            <a:endParaRPr/>
          </a:p>
        </p:txBody>
      </p:sp>
      <p:sp>
        <p:nvSpPr>
          <p:cNvPr id="5481" name="Google Shape;5481;p1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1990s and 2000s: Much work on IP multicast.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Early 2000s: Deployment of IP multicast was slow.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problems we discussed made deployment hard.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startups emerged, seeking alternate solutions.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FastForward Networks (Berkeley)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ProxyNet (Berkeley)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Sightpath (MIT)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Akamai (MIT)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Common theme in these startups: Overlay-based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approach has good enough performance, and is simple enough to deploy, that it is commonly used today.</a:t>
            </a:r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5" name="Shape 5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6" name="Google Shape;5486;p133"/>
          <p:cNvSpPr txBox="1"/>
          <p:nvPr>
            <p:ph idx="1" type="body"/>
          </p:nvPr>
        </p:nvSpPr>
        <p:spPr>
          <a:xfrm>
            <a:off x="107050" y="402200"/>
            <a:ext cx="89097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Problem: No inter-domain support for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A and G cannot be part of a group.</a:t>
            </a:r>
            <a:endParaRPr/>
          </a:p>
        </p:txBody>
      </p:sp>
      <p:sp>
        <p:nvSpPr>
          <p:cNvPr id="5487" name="Google Shape;5487;p1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Multicast: Key Idea</a:t>
            </a:r>
            <a:endParaRPr/>
          </a:p>
        </p:txBody>
      </p:sp>
      <p:sp>
        <p:nvSpPr>
          <p:cNvPr id="5488" name="Google Shape;5488;p133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89" name="Google Shape;5489;p133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0" name="Google Shape;5490;p133"/>
          <p:cNvCxnSpPr>
            <a:stCxn id="5491" idx="1"/>
            <a:endCxn id="5489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1" name="Google Shape;5491;p133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2" name="Google Shape;5492;p133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3" name="Google Shape;5493;p133"/>
          <p:cNvCxnSpPr>
            <a:stCxn id="5492" idx="1"/>
            <a:endCxn id="5491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4" name="Google Shape;5494;p133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5" name="Google Shape;5495;p133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6" name="Google Shape;5496;p133"/>
          <p:cNvCxnSpPr>
            <a:stCxn id="5497" idx="1"/>
            <a:endCxn id="5495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7" name="Google Shape;5497;p133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98" name="Google Shape;5498;p133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99" name="Google Shape;5499;p133"/>
          <p:cNvCxnSpPr>
            <a:stCxn id="5500" idx="1"/>
            <a:endCxn id="5498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0" name="Google Shape;5500;p133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1" name="Google Shape;5501;p133"/>
          <p:cNvCxnSpPr>
            <a:stCxn id="5498" idx="0"/>
            <a:endCxn id="5495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2" name="Google Shape;5502;p133"/>
          <p:cNvCxnSpPr>
            <a:stCxn id="5498" idx="1"/>
            <a:endCxn id="5492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3" name="Google Shape;5503;p133"/>
          <p:cNvCxnSpPr>
            <a:stCxn id="5500" idx="0"/>
            <a:endCxn id="5497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4" name="Google Shape;5504;p133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5" name="Google Shape;5505;p133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6" name="Google Shape;5506;p133"/>
          <p:cNvCxnSpPr>
            <a:stCxn id="5507" idx="1"/>
            <a:endCxn id="5505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07" name="Google Shape;5507;p133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08" name="Google Shape;5508;p133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09" name="Google Shape;5509;p133"/>
          <p:cNvCxnSpPr>
            <a:stCxn id="5508" idx="0"/>
            <a:endCxn id="5505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0" name="Google Shape;5510;p133"/>
          <p:cNvCxnSpPr>
            <a:stCxn id="5508" idx="0"/>
            <a:endCxn id="5507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1" name="Google Shape;5511;p133"/>
          <p:cNvCxnSpPr>
            <a:stCxn id="5500" idx="3"/>
            <a:endCxn id="5505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2" name="Google Shape;5512;p133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3" name="Google Shape;5513;p133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4" name="Google Shape;5514;p133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15" name="Google Shape;5515;p133"/>
          <p:cNvCxnSpPr>
            <a:stCxn id="5489" idx="0"/>
            <a:endCxn id="5512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6" name="Google Shape;5516;p133"/>
          <p:cNvCxnSpPr>
            <a:stCxn id="5491" idx="0"/>
            <a:endCxn id="551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7" name="Google Shape;5517;p133"/>
          <p:cNvCxnSpPr>
            <a:stCxn id="5492" idx="0"/>
            <a:endCxn id="5514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8" name="Google Shape;5518;p133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19" name="Google Shape;5519;p133"/>
          <p:cNvCxnSpPr>
            <a:stCxn id="5495" idx="0"/>
            <a:endCxn id="551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0" name="Google Shape;5520;p133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1" name="Google Shape;5521;p133"/>
          <p:cNvCxnSpPr>
            <a:stCxn id="5505" idx="0"/>
            <a:endCxn id="5520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2" name="Google Shape;5522;p133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3" name="Google Shape;5523;p133"/>
          <p:cNvCxnSpPr>
            <a:stCxn id="5507" idx="0"/>
            <a:endCxn id="552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4" name="Google Shape;5524;p133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25" name="Google Shape;5525;p133"/>
          <p:cNvCxnSpPr>
            <a:stCxn id="5497" idx="0"/>
            <a:endCxn id="552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9" name="Shape 5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30" name="Google Shape;5530;p134"/>
          <p:cNvCxnSpPr>
            <a:stCxn id="5531" idx="6"/>
            <a:endCxn id="5532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3" name="Google Shape;5533;p134"/>
          <p:cNvCxnSpPr>
            <a:stCxn id="5534" idx="6"/>
            <a:endCxn id="5531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5" name="Google Shape;5535;p134"/>
          <p:cNvCxnSpPr>
            <a:stCxn id="5536" idx="5"/>
            <a:endCxn id="5534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7" name="Google Shape;5537;p134"/>
          <p:cNvCxnSpPr>
            <a:stCxn id="5536" idx="6"/>
            <a:endCxn id="5532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8" name="Google Shape;5538;p134"/>
          <p:cNvCxnSpPr>
            <a:stCxn id="5539" idx="6"/>
            <a:endCxn id="5536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0" name="Google Shape;5540;p134"/>
          <p:cNvCxnSpPr>
            <a:stCxn id="5541" idx="6"/>
            <a:endCxn id="553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2" name="Google Shape;5542;p134"/>
          <p:cNvCxnSpPr>
            <a:stCxn id="5543" idx="6"/>
            <a:endCxn id="553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44" name="Google Shape;5544;p134"/>
          <p:cNvSpPr txBox="1"/>
          <p:nvPr>
            <p:ph idx="1" type="body"/>
          </p:nvPr>
        </p:nvSpPr>
        <p:spPr>
          <a:xfrm>
            <a:off x="107050" y="402200"/>
            <a:ext cx="8909700" cy="21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Build a </a:t>
            </a:r>
            <a:r>
              <a:rPr b="1" lang="en"/>
              <a:t>virtual network topology</a:t>
            </a:r>
            <a:r>
              <a:rPr lang="en"/>
              <a:t> to connect the hosts together.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virtual links are a fiction. Packets still have to be sent along physical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 virtual links give us the </a:t>
            </a:r>
            <a:r>
              <a:rPr i="1" lang="en"/>
              <a:t>illusion</a:t>
            </a:r>
            <a:r>
              <a:rPr lang="en"/>
              <a:t> that the hosts are in a single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hosts can run a multicast routing protocol (CBT, DVMRP) to learn how to send multicast packets.</a:t>
            </a:r>
            <a:endParaRPr/>
          </a:p>
        </p:txBody>
      </p:sp>
      <p:sp>
        <p:nvSpPr>
          <p:cNvPr id="5545" name="Google Shape;5545;p1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Key Idea</a:t>
            </a:r>
            <a:endParaRPr/>
          </a:p>
        </p:txBody>
      </p:sp>
      <p:sp>
        <p:nvSpPr>
          <p:cNvPr id="5546" name="Google Shape;5546;p134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7" name="Google Shape;5547;p134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48" name="Google Shape;5548;p134"/>
          <p:cNvCxnSpPr>
            <a:stCxn id="5549" idx="1"/>
            <a:endCxn id="554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9" name="Google Shape;5549;p134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0" name="Google Shape;5550;p134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1" name="Google Shape;5551;p134"/>
          <p:cNvCxnSpPr>
            <a:stCxn id="5550" idx="1"/>
            <a:endCxn id="554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2" name="Google Shape;5552;p134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3" name="Google Shape;5553;p134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4" name="Google Shape;5554;p134"/>
          <p:cNvCxnSpPr>
            <a:stCxn id="5555" idx="1"/>
            <a:endCxn id="555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5" name="Google Shape;5555;p134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6" name="Google Shape;5556;p134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7" name="Google Shape;5557;p134"/>
          <p:cNvCxnSpPr>
            <a:stCxn id="5558" idx="1"/>
            <a:endCxn id="555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8" name="Google Shape;5558;p134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59" name="Google Shape;5559;p134"/>
          <p:cNvCxnSpPr>
            <a:stCxn id="5556" idx="0"/>
            <a:endCxn id="555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0" name="Google Shape;5560;p134"/>
          <p:cNvCxnSpPr>
            <a:stCxn id="5556" idx="1"/>
            <a:endCxn id="555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1" name="Google Shape;5561;p134"/>
          <p:cNvCxnSpPr>
            <a:stCxn id="5558" idx="0"/>
            <a:endCxn id="5555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2" name="Google Shape;5562;p134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3" name="Google Shape;5563;p134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64" name="Google Shape;5564;p134"/>
          <p:cNvCxnSpPr>
            <a:stCxn id="5565" idx="1"/>
            <a:endCxn id="556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65" name="Google Shape;5565;p134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6" name="Google Shape;5566;p134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67" name="Google Shape;5567;p134"/>
          <p:cNvCxnSpPr>
            <a:stCxn id="5566" idx="0"/>
            <a:endCxn id="556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8" name="Google Shape;5568;p134"/>
          <p:cNvCxnSpPr>
            <a:stCxn id="5566" idx="0"/>
            <a:endCxn id="5565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9" name="Google Shape;5569;p134"/>
          <p:cNvCxnSpPr>
            <a:stCxn id="5558" idx="3"/>
            <a:endCxn id="556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1" name="Google Shape;5541;p134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3" name="Google Shape;5543;p134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9" name="Google Shape;5539;p134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0" name="Google Shape;5570;p134"/>
          <p:cNvCxnSpPr>
            <a:stCxn id="5547" idx="0"/>
            <a:endCxn id="5541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1" name="Google Shape;5571;p134"/>
          <p:cNvCxnSpPr>
            <a:stCxn id="5549" idx="0"/>
            <a:endCxn id="554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2" name="Google Shape;5572;p134"/>
          <p:cNvCxnSpPr>
            <a:stCxn id="5550" idx="0"/>
            <a:endCxn id="553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6" name="Google Shape;5536;p134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3" name="Google Shape;5573;p134"/>
          <p:cNvCxnSpPr>
            <a:stCxn id="5553" idx="0"/>
            <a:endCxn id="553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1" name="Google Shape;5531;p134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4" name="Google Shape;5574;p134"/>
          <p:cNvCxnSpPr>
            <a:stCxn id="5563" idx="0"/>
            <a:endCxn id="5531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2" name="Google Shape;5532;p134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5" name="Google Shape;5575;p134"/>
          <p:cNvCxnSpPr>
            <a:stCxn id="5565" idx="0"/>
            <a:endCxn id="553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4" name="Google Shape;5534;p134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76" name="Google Shape;5576;p134"/>
          <p:cNvCxnSpPr>
            <a:stCxn id="5555" idx="0"/>
            <a:endCxn id="553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0" name="Shape 5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1" name="Google Shape;5581;p135"/>
          <p:cNvCxnSpPr>
            <a:stCxn id="5582" idx="6"/>
            <a:endCxn id="5583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4" name="Google Shape;5584;p135"/>
          <p:cNvCxnSpPr>
            <a:stCxn id="5585" idx="6"/>
            <a:endCxn id="5582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6" name="Google Shape;5586;p135"/>
          <p:cNvCxnSpPr>
            <a:stCxn id="5587" idx="5"/>
            <a:endCxn id="5585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8" name="Google Shape;5588;p135"/>
          <p:cNvCxnSpPr>
            <a:stCxn id="5587" idx="6"/>
            <a:endCxn id="5583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9" name="Google Shape;5589;p135"/>
          <p:cNvCxnSpPr>
            <a:stCxn id="5590" idx="6"/>
            <a:endCxn id="5587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1" name="Google Shape;5591;p135"/>
          <p:cNvCxnSpPr>
            <a:stCxn id="5592" idx="6"/>
            <a:endCxn id="5590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3" name="Google Shape;5593;p135"/>
          <p:cNvCxnSpPr>
            <a:stCxn id="5594" idx="6"/>
            <a:endCxn id="5590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95" name="Google Shape;5595;p135"/>
          <p:cNvSpPr txBox="1"/>
          <p:nvPr>
            <p:ph idx="1" type="body"/>
          </p:nvPr>
        </p:nvSpPr>
        <p:spPr>
          <a:xfrm>
            <a:off x="107050" y="402200"/>
            <a:ext cx="8909700" cy="20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is implemented in </a:t>
            </a:r>
            <a:r>
              <a:rPr b="1" lang="en"/>
              <a:t>hosts, not routers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 just forward unicast packets, as usual.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Virtual routers</a:t>
            </a:r>
            <a:r>
              <a:rPr lang="en"/>
              <a:t> in the hosts run routing protocols and populate multicast tables.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are now forwarding packets between each other!</a:t>
            </a:r>
            <a:endParaRPr/>
          </a:p>
        </p:txBody>
      </p:sp>
      <p:sp>
        <p:nvSpPr>
          <p:cNvPr id="5596" name="Google Shape;5596;p1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Key Idea</a:t>
            </a:r>
            <a:endParaRPr/>
          </a:p>
        </p:txBody>
      </p:sp>
      <p:sp>
        <p:nvSpPr>
          <p:cNvPr id="5597" name="Google Shape;5597;p135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8" name="Google Shape;5598;p135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599" name="Google Shape;5599;p135"/>
          <p:cNvCxnSpPr>
            <a:stCxn id="5600" idx="1"/>
            <a:endCxn id="5598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0" name="Google Shape;5600;p135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1" name="Google Shape;5601;p135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2" name="Google Shape;5602;p135"/>
          <p:cNvCxnSpPr>
            <a:stCxn id="5601" idx="1"/>
            <a:endCxn id="5600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3" name="Google Shape;5603;p135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4" name="Google Shape;5604;p135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5" name="Google Shape;5605;p135"/>
          <p:cNvCxnSpPr>
            <a:stCxn id="5606" idx="1"/>
            <a:endCxn id="5604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6" name="Google Shape;5606;p135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7" name="Google Shape;5607;p135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08" name="Google Shape;5608;p135"/>
          <p:cNvCxnSpPr>
            <a:stCxn id="5609" idx="1"/>
            <a:endCxn id="5607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09" name="Google Shape;5609;p135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0" name="Google Shape;5610;p135"/>
          <p:cNvCxnSpPr>
            <a:stCxn id="5607" idx="0"/>
            <a:endCxn id="5604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1" name="Google Shape;5611;p135"/>
          <p:cNvCxnSpPr>
            <a:stCxn id="5607" idx="1"/>
            <a:endCxn id="5601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2" name="Google Shape;5612;p135"/>
          <p:cNvCxnSpPr>
            <a:stCxn id="5609" idx="0"/>
            <a:endCxn id="5606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3" name="Google Shape;5613;p135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4" name="Google Shape;5614;p135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5" name="Google Shape;5615;p135"/>
          <p:cNvCxnSpPr>
            <a:stCxn id="5616" idx="1"/>
            <a:endCxn id="5614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6" name="Google Shape;5616;p135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7" name="Google Shape;5617;p135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8" name="Google Shape;5618;p135"/>
          <p:cNvCxnSpPr>
            <a:stCxn id="5617" idx="0"/>
            <a:endCxn id="5614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9" name="Google Shape;5619;p135"/>
          <p:cNvCxnSpPr>
            <a:stCxn id="5617" idx="0"/>
            <a:endCxn id="5616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0" name="Google Shape;5620;p135"/>
          <p:cNvCxnSpPr>
            <a:stCxn id="5609" idx="3"/>
            <a:endCxn id="5614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92" name="Google Shape;5592;p135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4" name="Google Shape;5594;p135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0" name="Google Shape;5590;p135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1" name="Google Shape;5621;p135"/>
          <p:cNvCxnSpPr>
            <a:stCxn id="5598" idx="0"/>
            <a:endCxn id="5592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2" name="Google Shape;5622;p135"/>
          <p:cNvCxnSpPr>
            <a:stCxn id="5600" idx="0"/>
            <a:endCxn id="5594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3" name="Google Shape;5623;p135"/>
          <p:cNvCxnSpPr>
            <a:stCxn id="5601" idx="0"/>
            <a:endCxn id="5590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7" name="Google Shape;5587;p135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4" name="Google Shape;5624;p135"/>
          <p:cNvCxnSpPr>
            <a:stCxn id="5604" idx="0"/>
            <a:endCxn id="5587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2" name="Google Shape;5582;p135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5" name="Google Shape;5625;p135"/>
          <p:cNvCxnSpPr>
            <a:stCxn id="5614" idx="0"/>
            <a:endCxn id="5582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3" name="Google Shape;5583;p135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6" name="Google Shape;5626;p135"/>
          <p:cNvCxnSpPr>
            <a:stCxn id="5616" idx="0"/>
            <a:endCxn id="5583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5" name="Google Shape;5585;p135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27" name="Google Shape;5627;p135"/>
          <p:cNvCxnSpPr>
            <a:stCxn id="5606" idx="0"/>
            <a:endCxn id="5585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1" name="Shape 5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32" name="Google Shape;5632;p136"/>
          <p:cNvCxnSpPr>
            <a:stCxn id="5633" idx="6"/>
            <a:endCxn id="5634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5" name="Google Shape;5635;p136"/>
          <p:cNvCxnSpPr>
            <a:stCxn id="5636" idx="6"/>
            <a:endCxn id="5633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7" name="Google Shape;5637;p136"/>
          <p:cNvCxnSpPr>
            <a:stCxn id="5638" idx="5"/>
            <a:endCxn id="5636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39" name="Google Shape;5639;p136"/>
          <p:cNvCxnSpPr>
            <a:stCxn id="5638" idx="6"/>
            <a:endCxn id="5634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0" name="Google Shape;5640;p136"/>
          <p:cNvCxnSpPr>
            <a:stCxn id="5641" idx="6"/>
            <a:endCxn id="5638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2" name="Google Shape;5642;p136"/>
          <p:cNvCxnSpPr>
            <a:stCxn id="5643" idx="6"/>
            <a:endCxn id="5641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44" name="Google Shape;5644;p136"/>
          <p:cNvCxnSpPr>
            <a:stCxn id="5645" idx="6"/>
            <a:endCxn id="5641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46" name="Google Shape;5646;p136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use </a:t>
            </a:r>
            <a:r>
              <a:rPr b="1" lang="en"/>
              <a:t>virtual forwarding tables</a:t>
            </a:r>
            <a:r>
              <a:rPr lang="en"/>
              <a:t> to route packets through the overlay network.</a:t>
            </a:r>
            <a:endParaRPr/>
          </a:p>
        </p:txBody>
      </p:sp>
      <p:sp>
        <p:nvSpPr>
          <p:cNvPr id="5647" name="Google Shape;5647;p1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Multicast: Forwarding Packets</a:t>
            </a:r>
            <a:endParaRPr/>
          </a:p>
        </p:txBody>
      </p:sp>
      <p:sp>
        <p:nvSpPr>
          <p:cNvPr id="5648" name="Google Shape;5648;p136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9" name="Google Shape;5649;p136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0" name="Google Shape;5650;p136"/>
          <p:cNvCxnSpPr>
            <a:stCxn id="5651" idx="1"/>
            <a:endCxn id="5649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1" name="Google Shape;5651;p136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2" name="Google Shape;5652;p136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3" name="Google Shape;5653;p136"/>
          <p:cNvCxnSpPr>
            <a:stCxn id="5652" idx="1"/>
            <a:endCxn id="5651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4" name="Google Shape;5654;p136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5" name="Google Shape;5655;p136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6" name="Google Shape;5656;p136"/>
          <p:cNvCxnSpPr>
            <a:stCxn id="5657" idx="1"/>
            <a:endCxn id="5655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7" name="Google Shape;5657;p136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8" name="Google Shape;5658;p136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59" name="Google Shape;5659;p136"/>
          <p:cNvCxnSpPr>
            <a:stCxn id="5660" idx="1"/>
            <a:endCxn id="5658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0" name="Google Shape;5660;p136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1" name="Google Shape;5661;p136"/>
          <p:cNvCxnSpPr>
            <a:stCxn id="5658" idx="0"/>
            <a:endCxn id="5655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2" name="Google Shape;5662;p136"/>
          <p:cNvCxnSpPr>
            <a:stCxn id="5658" idx="1"/>
            <a:endCxn id="5652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3" name="Google Shape;5663;p136"/>
          <p:cNvCxnSpPr>
            <a:stCxn id="5660" idx="0"/>
            <a:endCxn id="5657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4" name="Google Shape;5664;p136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5" name="Google Shape;5665;p136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6" name="Google Shape;5666;p136"/>
          <p:cNvCxnSpPr>
            <a:stCxn id="5667" idx="1"/>
            <a:endCxn id="5665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67" name="Google Shape;5667;p136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8" name="Google Shape;5668;p136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69" name="Google Shape;5669;p136"/>
          <p:cNvCxnSpPr>
            <a:stCxn id="5668" idx="0"/>
            <a:endCxn id="5665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0" name="Google Shape;5670;p136"/>
          <p:cNvCxnSpPr>
            <a:stCxn id="5668" idx="0"/>
            <a:endCxn id="5667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1" name="Google Shape;5671;p136"/>
          <p:cNvCxnSpPr>
            <a:stCxn id="5660" idx="3"/>
            <a:endCxn id="5665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3" name="Google Shape;5643;p136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5" name="Google Shape;5645;p136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1" name="Google Shape;5641;p136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2" name="Google Shape;5672;p136"/>
          <p:cNvCxnSpPr>
            <a:stCxn id="5649" idx="0"/>
            <a:endCxn id="5643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3" name="Google Shape;5673;p136"/>
          <p:cNvCxnSpPr>
            <a:stCxn id="5651" idx="0"/>
            <a:endCxn id="5645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4" name="Google Shape;5674;p136"/>
          <p:cNvCxnSpPr>
            <a:stCxn id="5652" idx="0"/>
            <a:endCxn id="5641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8" name="Google Shape;5638;p136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5" name="Google Shape;5675;p136"/>
          <p:cNvCxnSpPr>
            <a:stCxn id="5655" idx="0"/>
            <a:endCxn id="563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3" name="Google Shape;5633;p136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6" name="Google Shape;5676;p136"/>
          <p:cNvCxnSpPr>
            <a:stCxn id="5665" idx="0"/>
            <a:endCxn id="5633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4" name="Google Shape;5634;p136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7" name="Google Shape;5677;p136"/>
          <p:cNvCxnSpPr>
            <a:stCxn id="5667" idx="0"/>
            <a:endCxn id="5634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6" name="Google Shape;5636;p136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78" name="Google Shape;5678;p136"/>
          <p:cNvCxnSpPr>
            <a:stCxn id="5657" idx="0"/>
            <a:endCxn id="5636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79" name="Google Shape;5679;p136"/>
          <p:cNvGraphicFramePr/>
          <p:nvPr/>
        </p:nvGraphicFramePr>
        <p:xfrm>
          <a:off x="460150" y="135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0" name="Google Shape;5680;p136"/>
          <p:cNvGraphicFramePr/>
          <p:nvPr/>
        </p:nvGraphicFramePr>
        <p:xfrm>
          <a:off x="2288950" y="1509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1" name="Google Shape;5681;p136"/>
          <p:cNvGraphicFramePr/>
          <p:nvPr/>
        </p:nvGraphicFramePr>
        <p:xfrm>
          <a:off x="4574950" y="128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82" name="Google Shape;5682;p136"/>
          <p:cNvGraphicFramePr/>
          <p:nvPr/>
        </p:nvGraphicFramePr>
        <p:xfrm>
          <a:off x="6022750" y="1356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83" name="Google Shape;5683;p136"/>
          <p:cNvSpPr txBox="1"/>
          <p:nvPr/>
        </p:nvSpPr>
        <p:spPr>
          <a:xfrm>
            <a:off x="1558750" y="3063980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4" name="Google Shape;5684;p136"/>
          <p:cNvSpPr txBox="1"/>
          <p:nvPr/>
        </p:nvSpPr>
        <p:spPr>
          <a:xfrm>
            <a:off x="3616150" y="2298705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5" name="Google Shape;5685;p136"/>
          <p:cNvSpPr txBox="1"/>
          <p:nvPr/>
        </p:nvSpPr>
        <p:spPr>
          <a:xfrm>
            <a:off x="7349950" y="2381554"/>
            <a:ext cx="81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 omitted, no space on slide :(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9" name="Shape 5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90" name="Google Shape;5690;p137"/>
          <p:cNvCxnSpPr>
            <a:stCxn id="5691" idx="6"/>
            <a:endCxn id="5692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3" name="Google Shape;5693;p137"/>
          <p:cNvCxnSpPr>
            <a:stCxn id="5694" idx="6"/>
            <a:endCxn id="5691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5" name="Google Shape;5695;p137"/>
          <p:cNvCxnSpPr>
            <a:stCxn id="5696" idx="5"/>
            <a:endCxn id="5694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7" name="Google Shape;5697;p137"/>
          <p:cNvCxnSpPr>
            <a:stCxn id="5696" idx="6"/>
            <a:endCxn id="5692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8" name="Google Shape;5698;p137"/>
          <p:cNvCxnSpPr>
            <a:stCxn id="5699" idx="6"/>
            <a:endCxn id="5696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00" name="Google Shape;5700;p137"/>
          <p:cNvCxnSpPr>
            <a:stCxn id="5701" idx="6"/>
            <a:endCxn id="569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02" name="Google Shape;5702;p137"/>
          <p:cNvCxnSpPr>
            <a:stCxn id="5703" idx="6"/>
            <a:endCxn id="569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04" name="Google Shape;5704;p137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Routers have forwarding tables for hosts, just like usual.</a:t>
            </a:r>
            <a:endParaRPr/>
          </a:p>
        </p:txBody>
      </p:sp>
      <p:sp>
        <p:nvSpPr>
          <p:cNvPr id="5705" name="Google Shape;5705;p1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Forwarding Packets</a:t>
            </a:r>
            <a:endParaRPr/>
          </a:p>
        </p:txBody>
      </p:sp>
      <p:sp>
        <p:nvSpPr>
          <p:cNvPr id="5706" name="Google Shape;5706;p137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7" name="Google Shape;5707;p137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08" name="Google Shape;5708;p137"/>
          <p:cNvCxnSpPr>
            <a:stCxn id="5709" idx="1"/>
            <a:endCxn id="570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9" name="Google Shape;5709;p137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0" name="Google Shape;5710;p137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1" name="Google Shape;5711;p137"/>
          <p:cNvCxnSpPr>
            <a:stCxn id="5710" idx="1"/>
            <a:endCxn id="570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2" name="Google Shape;5712;p137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3" name="Google Shape;5713;p137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4" name="Google Shape;5714;p137"/>
          <p:cNvCxnSpPr>
            <a:stCxn id="5715" idx="1"/>
            <a:endCxn id="571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5" name="Google Shape;5715;p137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16" name="Google Shape;5716;p137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7" name="Google Shape;5717;p137"/>
          <p:cNvCxnSpPr>
            <a:stCxn id="5718" idx="1"/>
            <a:endCxn id="571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8" name="Google Shape;5718;p137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19" name="Google Shape;5719;p137"/>
          <p:cNvCxnSpPr>
            <a:stCxn id="5716" idx="0"/>
            <a:endCxn id="571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0" name="Google Shape;5720;p137"/>
          <p:cNvCxnSpPr>
            <a:stCxn id="5716" idx="1"/>
            <a:endCxn id="571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1" name="Google Shape;5721;p137"/>
          <p:cNvCxnSpPr>
            <a:stCxn id="5718" idx="0"/>
            <a:endCxn id="5715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2" name="Google Shape;5722;p137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3" name="Google Shape;5723;p137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4" name="Google Shape;5724;p137"/>
          <p:cNvCxnSpPr>
            <a:stCxn id="5725" idx="1"/>
            <a:endCxn id="572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25" name="Google Shape;5725;p137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26" name="Google Shape;5726;p137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27" name="Google Shape;5727;p137"/>
          <p:cNvCxnSpPr>
            <a:stCxn id="5726" idx="0"/>
            <a:endCxn id="572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8" name="Google Shape;5728;p137"/>
          <p:cNvCxnSpPr>
            <a:stCxn id="5726" idx="0"/>
            <a:endCxn id="5725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9" name="Google Shape;5729;p137"/>
          <p:cNvCxnSpPr>
            <a:stCxn id="5718" idx="3"/>
            <a:endCxn id="572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1" name="Google Shape;5701;p137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3" name="Google Shape;5703;p137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9" name="Google Shape;5699;p137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0" name="Google Shape;5730;p137"/>
          <p:cNvCxnSpPr>
            <a:stCxn id="5707" idx="0"/>
            <a:endCxn id="5701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1" name="Google Shape;5731;p137"/>
          <p:cNvCxnSpPr>
            <a:stCxn id="5709" idx="0"/>
            <a:endCxn id="5703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2" name="Google Shape;5732;p137"/>
          <p:cNvCxnSpPr>
            <a:stCxn id="5710" idx="0"/>
            <a:endCxn id="569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6" name="Google Shape;5696;p137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3" name="Google Shape;5733;p137"/>
          <p:cNvCxnSpPr>
            <a:stCxn id="5713" idx="0"/>
            <a:endCxn id="569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1" name="Google Shape;5691;p137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4" name="Google Shape;5734;p137"/>
          <p:cNvCxnSpPr>
            <a:stCxn id="5723" idx="0"/>
            <a:endCxn id="5691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2" name="Google Shape;5692;p137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5" name="Google Shape;5735;p137"/>
          <p:cNvCxnSpPr>
            <a:stCxn id="5725" idx="0"/>
            <a:endCxn id="5692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94" name="Google Shape;5694;p137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36" name="Google Shape;5736;p137"/>
          <p:cNvCxnSpPr>
            <a:stCxn id="5715" idx="0"/>
            <a:endCxn id="5694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737" name="Google Shape;5737;p137"/>
          <p:cNvGraphicFramePr/>
          <p:nvPr/>
        </p:nvGraphicFramePr>
        <p:xfrm>
          <a:off x="8984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R51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8" name="Google Shape;5738;p137"/>
          <p:cNvGraphicFramePr/>
          <p:nvPr/>
        </p:nvGraphicFramePr>
        <p:xfrm>
          <a:off x="24986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R52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39" name="Google Shape;5739;p137"/>
          <p:cNvGraphicFramePr/>
          <p:nvPr/>
        </p:nvGraphicFramePr>
        <p:xfrm>
          <a:off x="40988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R61's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R63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R62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40" name="Google Shape;5740;p137"/>
          <p:cNvGraphicFramePr/>
          <p:nvPr/>
        </p:nvGraphicFramePr>
        <p:xfrm>
          <a:off x="5699050" y="1125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574600"/>
                <a:gridCol w="8527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R73's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R71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R72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R72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41" name="Google Shape;5741;p137"/>
          <p:cNvSpPr txBox="1"/>
          <p:nvPr/>
        </p:nvSpPr>
        <p:spPr>
          <a:xfrm>
            <a:off x="7299250" y="1580588"/>
            <a:ext cx="132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Tables for the other routers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omitted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5" name="Shape 5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6" name="Google Shape;5746;p138"/>
          <p:cNvSpPr/>
          <p:nvPr/>
        </p:nvSpPr>
        <p:spPr>
          <a:xfrm>
            <a:off x="524950" y="2001417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C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47" name="Google Shape;5747;p138"/>
          <p:cNvCxnSpPr>
            <a:stCxn id="5748" idx="6"/>
            <a:endCxn id="5749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0" name="Google Shape;5750;p138"/>
          <p:cNvCxnSpPr>
            <a:stCxn id="5751" idx="6"/>
            <a:endCxn id="5748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2" name="Google Shape;5752;p138"/>
          <p:cNvCxnSpPr>
            <a:stCxn id="5753" idx="5"/>
            <a:endCxn id="5751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4" name="Google Shape;5754;p138"/>
          <p:cNvCxnSpPr>
            <a:stCxn id="5753" idx="6"/>
            <a:endCxn id="5749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5" name="Google Shape;5755;p138"/>
          <p:cNvCxnSpPr>
            <a:stCxn id="5756" idx="6"/>
            <a:endCxn id="5753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7" name="Google Shape;5757;p138"/>
          <p:cNvCxnSpPr>
            <a:stCxn id="5758" idx="6"/>
            <a:endCxn id="5756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759" name="Google Shape;5759;p138"/>
          <p:cNvCxnSpPr>
            <a:stCxn id="5760" idx="6"/>
            <a:endCxn id="5756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61" name="Google Shape;5761;p138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Virtual routers</a:t>
            </a:r>
            <a:r>
              <a:rPr lang="en"/>
              <a:t>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762" name="Google Shape;5762;p1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763" name="Google Shape;5763;p138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64" name="Google Shape;5764;p138"/>
          <p:cNvCxnSpPr>
            <a:stCxn id="5765" idx="1"/>
            <a:endCxn id="5766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7" name="Google Shape;5767;p138"/>
          <p:cNvCxnSpPr>
            <a:stCxn id="5768" idx="1"/>
            <a:endCxn id="576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9" name="Google Shape;5769;p138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0" name="Google Shape;5770;p138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1" name="Google Shape;5771;p138"/>
          <p:cNvCxnSpPr>
            <a:stCxn id="5772" idx="1"/>
            <a:endCxn id="5770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2" name="Google Shape;5772;p138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73" name="Google Shape;5773;p138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4" name="Google Shape;5774;p138"/>
          <p:cNvCxnSpPr>
            <a:stCxn id="5775" idx="1"/>
            <a:endCxn id="5773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5" name="Google Shape;5775;p138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76" name="Google Shape;5776;p138"/>
          <p:cNvCxnSpPr>
            <a:stCxn id="5773" idx="0"/>
            <a:endCxn id="5770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7" name="Google Shape;5777;p138"/>
          <p:cNvCxnSpPr>
            <a:stCxn id="5773" idx="1"/>
            <a:endCxn id="5768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8" name="Google Shape;5778;p138"/>
          <p:cNvCxnSpPr>
            <a:stCxn id="5775" idx="0"/>
            <a:endCxn id="5772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9" name="Google Shape;5779;p138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0" name="Google Shape;5780;p138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1" name="Google Shape;5781;p138"/>
          <p:cNvCxnSpPr>
            <a:stCxn id="5782" idx="1"/>
            <a:endCxn id="5780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2" name="Google Shape;5782;p138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83" name="Google Shape;5783;p138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4" name="Google Shape;5784;p138"/>
          <p:cNvCxnSpPr>
            <a:stCxn id="5783" idx="0"/>
            <a:endCxn id="5780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5" name="Google Shape;5785;p138"/>
          <p:cNvCxnSpPr>
            <a:stCxn id="5783" idx="0"/>
            <a:endCxn id="578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6" name="Google Shape;5786;p138"/>
          <p:cNvCxnSpPr>
            <a:stCxn id="5775" idx="3"/>
            <a:endCxn id="5780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0" name="Google Shape;5760;p138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87" name="Google Shape;5787;p138"/>
          <p:cNvCxnSpPr>
            <a:stCxn id="5766" idx="0"/>
            <a:endCxn id="575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8" name="Google Shape;5788;p138"/>
          <p:cNvCxnSpPr>
            <a:stCxn id="5765" idx="0"/>
            <a:endCxn id="5760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9" name="Google Shape;5789;p138"/>
          <p:cNvCxnSpPr>
            <a:stCxn id="5768" idx="0"/>
            <a:endCxn id="5756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3" name="Google Shape;5753;p138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0" name="Google Shape;5790;p138"/>
          <p:cNvCxnSpPr>
            <a:stCxn id="5770" idx="0"/>
            <a:endCxn id="5753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8" name="Google Shape;5748;p138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1" name="Google Shape;5791;p138"/>
          <p:cNvCxnSpPr>
            <a:stCxn id="5780" idx="0"/>
            <a:endCxn id="5748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9" name="Google Shape;5749;p138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2" name="Google Shape;5792;p138"/>
          <p:cNvCxnSpPr>
            <a:stCxn id="5782" idx="0"/>
            <a:endCxn id="5749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51" name="Google Shape;5751;p138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793" name="Google Shape;5793;p138"/>
          <p:cNvCxnSpPr>
            <a:stCxn id="5772" idx="0"/>
            <a:endCxn id="5751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4" name="Google Shape;5794;p138"/>
          <p:cNvSpPr/>
          <p:nvPr/>
        </p:nvSpPr>
        <p:spPr>
          <a:xfrm>
            <a:off x="707950" y="2256630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795" name="Google Shape;5795;p138"/>
          <p:cNvGraphicFramePr/>
          <p:nvPr/>
        </p:nvGraphicFramePr>
        <p:xfrm>
          <a:off x="460150" y="1138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96" name="Google Shape;5796;p138"/>
          <p:cNvSpPr/>
          <p:nvPr/>
        </p:nvSpPr>
        <p:spPr>
          <a:xfrm>
            <a:off x="1435750" y="15924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7" name="Google Shape;5797;p138"/>
          <p:cNvSpPr txBox="1"/>
          <p:nvPr/>
        </p:nvSpPr>
        <p:spPr>
          <a:xfrm>
            <a:off x="2010675" y="1614050"/>
            <a:ext cx="246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8" name="Google Shape;5798;p138"/>
          <p:cNvSpPr/>
          <p:nvPr/>
        </p:nvSpPr>
        <p:spPr>
          <a:xfrm>
            <a:off x="1098350" y="2958250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766" name="Google Shape;5766;p138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5" name="Google Shape;5765;p138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8" name="Google Shape;5768;p138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8" name="Google Shape;5758;p138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6" name="Google Shape;5756;p138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99" name="Google Shape;5799;p138"/>
          <p:cNvSpPr/>
          <p:nvPr/>
        </p:nvSpPr>
        <p:spPr>
          <a:xfrm>
            <a:off x="2353750" y="21462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A, To: C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0" name="Google Shape;5800;p138"/>
          <p:cNvSpPr/>
          <p:nvPr/>
        </p:nvSpPr>
        <p:spPr>
          <a:xfrm>
            <a:off x="2536750" y="24014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01" name="Google Shape;5801;p138"/>
          <p:cNvSpPr txBox="1"/>
          <p:nvPr/>
        </p:nvSpPr>
        <p:spPr>
          <a:xfrm>
            <a:off x="3445132" y="2224875"/>
            <a:ext cx="3526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02" name="Google Shape;5802;p138"/>
          <p:cNvCxnSpPr/>
          <p:nvPr/>
        </p:nvCxnSpPr>
        <p:spPr>
          <a:xfrm>
            <a:off x="1279450" y="2800575"/>
            <a:ext cx="525000" cy="52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6" name="Shape 5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07" name="Google Shape;5807;p139"/>
          <p:cNvCxnSpPr>
            <a:stCxn id="5808" idx="6"/>
            <a:endCxn id="5809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0" name="Google Shape;5810;p139"/>
          <p:cNvCxnSpPr>
            <a:stCxn id="5811" idx="6"/>
            <a:endCxn id="5808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2" name="Google Shape;5812;p139"/>
          <p:cNvCxnSpPr>
            <a:stCxn id="5813" idx="5"/>
            <a:endCxn id="5811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4" name="Google Shape;5814;p139"/>
          <p:cNvCxnSpPr>
            <a:stCxn id="5813" idx="6"/>
            <a:endCxn id="5809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5" name="Google Shape;5815;p139"/>
          <p:cNvCxnSpPr>
            <a:stCxn id="5816" idx="6"/>
            <a:endCxn id="5813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7" name="Google Shape;5817;p139"/>
          <p:cNvCxnSpPr>
            <a:stCxn id="5818" idx="6"/>
            <a:endCxn id="5816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19" name="Google Shape;5819;p139"/>
          <p:cNvCxnSpPr>
            <a:stCxn id="5820" idx="6"/>
            <a:endCxn id="5816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21" name="Google Shape;5821;p139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Virtual routers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822" name="Google Shape;5822;p1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823" name="Google Shape;5823;p139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24" name="Google Shape;5824;p139"/>
          <p:cNvCxnSpPr>
            <a:stCxn id="5825" idx="1"/>
            <a:endCxn id="5826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27" name="Google Shape;5827;p139"/>
          <p:cNvCxnSpPr>
            <a:stCxn id="5828" idx="1"/>
            <a:endCxn id="582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9" name="Google Shape;5829;p139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0" name="Google Shape;5830;p139"/>
          <p:cNvCxnSpPr>
            <a:stCxn id="5831" idx="1"/>
            <a:endCxn id="5832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1" name="Google Shape;5831;p139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3" name="Google Shape;5833;p139"/>
          <p:cNvCxnSpPr>
            <a:stCxn id="5834" idx="1"/>
            <a:endCxn id="5835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4" name="Google Shape;5834;p139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36" name="Google Shape;5836;p139"/>
          <p:cNvCxnSpPr>
            <a:stCxn id="5835" idx="0"/>
            <a:endCxn id="5832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7" name="Google Shape;5837;p139"/>
          <p:cNvCxnSpPr>
            <a:stCxn id="5835" idx="1"/>
            <a:endCxn id="5828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8" name="Google Shape;5838;p139"/>
          <p:cNvCxnSpPr>
            <a:stCxn id="5834" idx="0"/>
            <a:endCxn id="5831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9" name="Google Shape;5839;p139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0" name="Google Shape;5840;p139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1" name="Google Shape;5841;p139"/>
          <p:cNvCxnSpPr>
            <a:stCxn id="5842" idx="1"/>
            <a:endCxn id="5840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2" name="Google Shape;5842;p139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43" name="Google Shape;5843;p139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4" name="Google Shape;5844;p139"/>
          <p:cNvCxnSpPr>
            <a:stCxn id="5843" idx="0"/>
            <a:endCxn id="5840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5" name="Google Shape;5845;p139"/>
          <p:cNvCxnSpPr>
            <a:stCxn id="5843" idx="0"/>
            <a:endCxn id="584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6" name="Google Shape;5846;p139"/>
          <p:cNvCxnSpPr>
            <a:stCxn id="5834" idx="3"/>
            <a:endCxn id="5840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0" name="Google Shape;5820;p139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47" name="Google Shape;5847;p139"/>
          <p:cNvCxnSpPr>
            <a:stCxn id="5826" idx="0"/>
            <a:endCxn id="581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8" name="Google Shape;5848;p139"/>
          <p:cNvCxnSpPr>
            <a:stCxn id="5825" idx="0"/>
            <a:endCxn id="5820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9" name="Google Shape;5849;p139"/>
          <p:cNvCxnSpPr>
            <a:stCxn id="5828" idx="0"/>
            <a:endCxn id="5816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0" name="Google Shape;5850;p139"/>
          <p:cNvCxnSpPr>
            <a:stCxn id="5832" idx="0"/>
            <a:endCxn id="5813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8" name="Google Shape;5808;p139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1" name="Google Shape;5851;p139"/>
          <p:cNvCxnSpPr>
            <a:stCxn id="5840" idx="0"/>
            <a:endCxn id="5808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9" name="Google Shape;5809;p139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2" name="Google Shape;5852;p139"/>
          <p:cNvCxnSpPr>
            <a:stCxn id="5842" idx="0"/>
            <a:endCxn id="5809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1" name="Google Shape;5811;p139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53" name="Google Shape;5853;p139"/>
          <p:cNvCxnSpPr>
            <a:stCxn id="5831" idx="0"/>
            <a:endCxn id="5811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854" name="Google Shape;5854;p139"/>
          <p:cNvGraphicFramePr/>
          <p:nvPr/>
        </p:nvGraphicFramePr>
        <p:xfrm>
          <a:off x="2288950" y="12907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55" name="Google Shape;5855;p139"/>
          <p:cNvSpPr/>
          <p:nvPr/>
        </p:nvSpPr>
        <p:spPr>
          <a:xfrm flipH="1">
            <a:off x="1969150" y="17448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6" name="Google Shape;5856;p139"/>
          <p:cNvSpPr txBox="1"/>
          <p:nvPr/>
        </p:nvSpPr>
        <p:spPr>
          <a:xfrm>
            <a:off x="333250" y="1506200"/>
            <a:ext cx="1632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6" name="Google Shape;5826;p139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5" name="Google Shape;5825;p139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8" name="Google Shape;5818;p139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7" name="Google Shape;5857;p139"/>
          <p:cNvSpPr/>
          <p:nvPr/>
        </p:nvSpPr>
        <p:spPr>
          <a:xfrm>
            <a:off x="2353750" y="21462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C, To: D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8" name="Google Shape;5858;p139"/>
          <p:cNvSpPr/>
          <p:nvPr/>
        </p:nvSpPr>
        <p:spPr>
          <a:xfrm>
            <a:off x="2536750" y="24014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9" name="Google Shape;5859;p139"/>
          <p:cNvSpPr txBox="1"/>
          <p:nvPr/>
        </p:nvSpPr>
        <p:spPr>
          <a:xfrm>
            <a:off x="4574951" y="1928963"/>
            <a:ext cx="1872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0" name="Google Shape;5860;p139"/>
          <p:cNvSpPr/>
          <p:nvPr/>
        </p:nvSpPr>
        <p:spPr>
          <a:xfrm>
            <a:off x="2941000" y="2798825"/>
            <a:ext cx="1032325" cy="1972275"/>
          </a:xfrm>
          <a:custGeom>
            <a:rect b="b" l="l" r="r" t="t"/>
            <a:pathLst>
              <a:path extrusionOk="0" h="78891" w="41293">
                <a:moveTo>
                  <a:pt x="0" y="12963"/>
                </a:moveTo>
                <a:lnTo>
                  <a:pt x="0" y="64085"/>
                </a:lnTo>
                <a:lnTo>
                  <a:pt x="41293" y="78891"/>
                </a:lnTo>
                <a:lnTo>
                  <a:pt x="41293" y="0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832" name="Google Shape;5832;p139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35" name="Google Shape;5835;p139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3" name="Google Shape;5813;p139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28" name="Google Shape;5828;p139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16" name="Google Shape;5816;p139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1" name="Google Shape;5861;p139"/>
          <p:cNvSpPr/>
          <p:nvPr/>
        </p:nvSpPr>
        <p:spPr>
          <a:xfrm>
            <a:off x="3496750" y="18414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C, To: D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2" name="Google Shape;5862;p139"/>
          <p:cNvSpPr/>
          <p:nvPr/>
        </p:nvSpPr>
        <p:spPr>
          <a:xfrm>
            <a:off x="3679750" y="20966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63" name="Google Shape;5863;p139"/>
          <p:cNvCxnSpPr/>
          <p:nvPr/>
        </p:nvCxnSpPr>
        <p:spPr>
          <a:xfrm flipH="1" rot="10800000">
            <a:off x="3108250" y="2961975"/>
            <a:ext cx="393900" cy="143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7" name="Shape 5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68" name="Google Shape;5868;p140"/>
          <p:cNvCxnSpPr>
            <a:stCxn id="5869" idx="6"/>
            <a:endCxn id="5870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1" name="Google Shape;5871;p140"/>
          <p:cNvCxnSpPr>
            <a:stCxn id="5872" idx="6"/>
            <a:endCxn id="5869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3" name="Google Shape;5873;p140"/>
          <p:cNvCxnSpPr>
            <a:stCxn id="5874" idx="5"/>
            <a:endCxn id="5872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5" name="Google Shape;5875;p140"/>
          <p:cNvCxnSpPr>
            <a:stCxn id="5874" idx="6"/>
            <a:endCxn id="5870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6" name="Google Shape;5876;p140"/>
          <p:cNvCxnSpPr>
            <a:stCxn id="5877" idx="6"/>
            <a:endCxn id="5874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78" name="Google Shape;5878;p140"/>
          <p:cNvCxnSpPr>
            <a:stCxn id="5879" idx="6"/>
            <a:endCxn id="5877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80" name="Google Shape;5880;p140"/>
          <p:cNvCxnSpPr>
            <a:stCxn id="5881" idx="6"/>
            <a:endCxn id="5877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82" name="Google Shape;5882;p140"/>
          <p:cNvSpPr txBox="1"/>
          <p:nvPr>
            <p:ph idx="1" type="body"/>
          </p:nvPr>
        </p:nvSpPr>
        <p:spPr>
          <a:xfrm>
            <a:off x="107050" y="402200"/>
            <a:ext cx="89097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Virtual routers use </a:t>
            </a:r>
            <a:r>
              <a:rPr b="1" lang="en"/>
              <a:t>encapsulation</a:t>
            </a:r>
            <a:r>
              <a:rPr lang="en"/>
              <a:t> to send packets to the next-hop virtual routers.</a:t>
            </a:r>
            <a:endParaRPr/>
          </a:p>
        </p:txBody>
      </p:sp>
      <p:sp>
        <p:nvSpPr>
          <p:cNvPr id="5883" name="Google Shape;5883;p1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Multicast: Encapsulation</a:t>
            </a:r>
            <a:endParaRPr/>
          </a:p>
        </p:txBody>
      </p:sp>
      <p:sp>
        <p:nvSpPr>
          <p:cNvPr id="5884" name="Google Shape;5884;p140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85" name="Google Shape;5885;p140"/>
          <p:cNvCxnSpPr>
            <a:stCxn id="5886" idx="1"/>
            <a:endCxn id="588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88" name="Google Shape;5888;p140"/>
          <p:cNvCxnSpPr>
            <a:stCxn id="5889" idx="1"/>
            <a:endCxn id="5886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0" name="Google Shape;5890;p140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1" name="Google Shape;5891;p140"/>
          <p:cNvCxnSpPr>
            <a:stCxn id="5892" idx="1"/>
            <a:endCxn id="5893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2" name="Google Shape;5892;p140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894" name="Google Shape;5894;p140"/>
          <p:cNvCxnSpPr>
            <a:stCxn id="5895" idx="1"/>
            <a:endCxn id="5896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7" name="Google Shape;5897;p140"/>
          <p:cNvCxnSpPr>
            <a:stCxn id="5896" idx="0"/>
            <a:endCxn id="5893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8" name="Google Shape;5898;p140"/>
          <p:cNvCxnSpPr>
            <a:stCxn id="5896" idx="1"/>
            <a:endCxn id="5889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9" name="Google Shape;5899;p140"/>
          <p:cNvCxnSpPr>
            <a:stCxn id="5895" idx="0"/>
            <a:endCxn id="5892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0" name="Google Shape;5900;p140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1" name="Google Shape;5901;p140"/>
          <p:cNvCxnSpPr>
            <a:stCxn id="5902" idx="1"/>
            <a:endCxn id="5903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04" name="Google Shape;5904;p140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5" name="Google Shape;5905;p140"/>
          <p:cNvCxnSpPr>
            <a:stCxn id="5904" idx="0"/>
            <a:endCxn id="5903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6" name="Google Shape;5906;p140"/>
          <p:cNvCxnSpPr>
            <a:stCxn id="5904" idx="0"/>
            <a:endCxn id="5902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7" name="Google Shape;5907;p140"/>
          <p:cNvCxnSpPr>
            <a:stCxn id="5895" idx="3"/>
            <a:endCxn id="5903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1" name="Google Shape;5881;p140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8" name="Google Shape;5908;p140"/>
          <p:cNvCxnSpPr>
            <a:stCxn id="5887" idx="0"/>
            <a:endCxn id="5879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9" name="Google Shape;5909;p140"/>
          <p:cNvCxnSpPr>
            <a:stCxn id="5886" idx="0"/>
            <a:endCxn id="5881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0" name="Google Shape;5910;p140"/>
          <p:cNvCxnSpPr>
            <a:stCxn id="5889" idx="0"/>
            <a:endCxn id="5877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1" name="Google Shape;5911;p140"/>
          <p:cNvCxnSpPr>
            <a:stCxn id="5893" idx="0"/>
            <a:endCxn id="5874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69" name="Google Shape;5869;p140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2" name="Google Shape;5912;p140"/>
          <p:cNvCxnSpPr>
            <a:stCxn id="5903" idx="0"/>
            <a:endCxn id="5869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3" name="Google Shape;5913;p140"/>
          <p:cNvCxnSpPr>
            <a:stCxn id="5902" idx="0"/>
            <a:endCxn id="5870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72" name="Google Shape;5872;p140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14" name="Google Shape;5914;p140"/>
          <p:cNvCxnSpPr>
            <a:stCxn id="5892" idx="0"/>
            <a:endCxn id="5872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915" name="Google Shape;5915;p140"/>
          <p:cNvGraphicFramePr/>
          <p:nvPr/>
        </p:nvGraphicFramePr>
        <p:xfrm>
          <a:off x="3431950" y="985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{C066AABE-FF3B-43A9-B820-11284CE5CD93}</a:tableStyleId>
              </a:tblPr>
              <a:tblGrid>
                <a:gridCol w="475600"/>
                <a:gridCol w="705800"/>
              </a:tblGrid>
              <a:tr h="1649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</a:t>
                      </a: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's Virtual Table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 hMerge="1"/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/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164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...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16" name="Google Shape;5916;p140"/>
          <p:cNvSpPr/>
          <p:nvPr/>
        </p:nvSpPr>
        <p:spPr>
          <a:xfrm flipH="1">
            <a:off x="3112150" y="1440050"/>
            <a:ext cx="529500" cy="529500"/>
          </a:xfrm>
          <a:prstGeom prst="arc">
            <a:avLst>
              <a:gd fmla="val 16200000" name="adj1"/>
              <a:gd fmla="val 5236851" name="adj2"/>
            </a:avLst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7" name="Google Shape;5917;p140"/>
          <p:cNvSpPr txBox="1"/>
          <p:nvPr/>
        </p:nvSpPr>
        <p:spPr>
          <a:xfrm>
            <a:off x="1476250" y="1201400"/>
            <a:ext cx="16320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Encapsulate packet to forward it to the virtual next-hop.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7" name="Google Shape;5887;p140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6" name="Google Shape;5886;p140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9" name="Google Shape;5879;p140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8" name="Google Shape;5918;p140"/>
          <p:cNvSpPr/>
          <p:nvPr/>
        </p:nvSpPr>
        <p:spPr>
          <a:xfrm>
            <a:off x="3496750" y="18414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D,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9" name="Google Shape;5919;p140"/>
          <p:cNvSpPr/>
          <p:nvPr/>
        </p:nvSpPr>
        <p:spPr>
          <a:xfrm>
            <a:off x="3679750" y="20966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0" name="Google Shape;5920;p140"/>
          <p:cNvSpPr txBox="1"/>
          <p:nvPr/>
        </p:nvSpPr>
        <p:spPr>
          <a:xfrm>
            <a:off x="6820001" y="1363725"/>
            <a:ext cx="1872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After packet reaches next-hop, decapsulate.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9" name="Google Shape;5889;p140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7" name="Google Shape;5877;p140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1" name="Google Shape;5921;p140"/>
          <p:cNvSpPr/>
          <p:nvPr/>
        </p:nvSpPr>
        <p:spPr>
          <a:xfrm>
            <a:off x="7230550" y="1917650"/>
            <a:ext cx="1051800" cy="6414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latin typeface="Roboto"/>
                <a:ea typeface="Roboto"/>
                <a:cs typeface="Roboto"/>
                <a:sym typeface="Roboto"/>
              </a:rPr>
              <a:t>From: D, To: G</a:t>
            </a:r>
            <a:endParaRPr sz="1200" strike="sngStrike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2" name="Google Shape;5922;p140"/>
          <p:cNvSpPr/>
          <p:nvPr/>
        </p:nvSpPr>
        <p:spPr>
          <a:xfrm>
            <a:off x="7413550" y="2172863"/>
            <a:ext cx="685800" cy="34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To: 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3" name="Google Shape;5923;p140"/>
          <p:cNvSpPr/>
          <p:nvPr/>
        </p:nvSpPr>
        <p:spPr>
          <a:xfrm>
            <a:off x="4061375" y="2800350"/>
            <a:ext cx="3642075" cy="1941700"/>
          </a:xfrm>
          <a:custGeom>
            <a:rect b="b" l="l" r="r" t="t"/>
            <a:pathLst>
              <a:path extrusionOk="0" h="77668" w="145683">
                <a:moveTo>
                  <a:pt x="0" y="0"/>
                </a:moveTo>
                <a:lnTo>
                  <a:pt x="0" y="77668"/>
                </a:lnTo>
                <a:lnTo>
                  <a:pt x="48074" y="77668"/>
                </a:lnTo>
                <a:lnTo>
                  <a:pt x="97097" y="51529"/>
                </a:lnTo>
                <a:lnTo>
                  <a:pt x="145683" y="51529"/>
                </a:lnTo>
                <a:lnTo>
                  <a:pt x="145683" y="302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03" name="Google Shape;5903;p140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2" name="Google Shape;5902;p140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0" name="Google Shape;5870;p140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5" name="Google Shape;5895;p140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6" name="Google Shape;5896;p140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4" name="Google Shape;5874;p140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3" name="Google Shape;5893;p140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24" name="Google Shape;5924;p140"/>
          <p:cNvCxnSpPr/>
          <p:nvPr/>
        </p:nvCxnSpPr>
        <p:spPr>
          <a:xfrm>
            <a:off x="4251250" y="2648175"/>
            <a:ext cx="445800" cy="10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8" name="Shape 5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9" name="Google Shape;5929;p14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Introducing Multicast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IP Multicast Service Model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IGMP: Directly-Connected Hosts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DVMRP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Naive Approach: Flooding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RPB (Broadcasting):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RPM (Multicasting): Pruning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Core-Based Trees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Protocol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Pros and Cons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IP Multicast Challenges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Overlay-Based Multicast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0" name="Google Shape;5930;p1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Implementing </a:t>
            </a:r>
            <a:r>
              <a:rPr lang="en" sz="3200"/>
              <a:t>Overlay Multicast: Stretch</a:t>
            </a:r>
            <a:endParaRPr sz="3200"/>
          </a:p>
        </p:txBody>
      </p:sp>
      <p:sp>
        <p:nvSpPr>
          <p:cNvPr id="5931" name="Google Shape;5931;p1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22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5" name="Shape 5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6" name="Google Shape;5936;p1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Hosts act as </a:t>
            </a:r>
            <a:r>
              <a:rPr b="1" lang="en"/>
              <a:t>virtual routers</a:t>
            </a:r>
            <a:r>
              <a:rPr lang="en"/>
              <a:t>: Run routing protocols, forwards multicast packets.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could be end hosts, e.g. your personal laptop.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could be machines deployed by some company specifically for multicast. These are still L7 hosts, not L3 routers – their main job is just overlay multicast.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overlay idea can also be used for other applications besides multicast.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Peer-to-peer networks: Users share files, with no central server.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Many overlay networks can exist at the same time.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host could run multiple virtual routers, and participate in multiple overlay topologies.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7" name="Google Shape;5937;p1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Overlay Multicast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1" name="Shape 5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2" name="Google Shape;5942;p143"/>
          <p:cNvSpPr txBox="1"/>
          <p:nvPr>
            <p:ph idx="1" type="body"/>
          </p:nvPr>
        </p:nvSpPr>
        <p:spPr>
          <a:xfrm>
            <a:off x="107050" y="797450"/>
            <a:ext cx="4952400" cy="27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need to modify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application can make its own choices (e.g. link costs).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limit which users can participate.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implement custom business models (e.g. track usage and charge accordingly).</a:t>
            </a:r>
            <a:endParaRPr/>
          </a:p>
        </p:txBody>
      </p:sp>
      <p:sp>
        <p:nvSpPr>
          <p:cNvPr id="5943" name="Google Shape;5943;p143"/>
          <p:cNvSpPr txBox="1"/>
          <p:nvPr>
            <p:ph idx="1" type="body"/>
          </p:nvPr>
        </p:nvSpPr>
        <p:spPr>
          <a:xfrm>
            <a:off x="5059375" y="797450"/>
            <a:ext cx="3957300" cy="27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IP multicast: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implemented in routers.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routers must be standardized.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built-in security.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built-in business model.</a:t>
            </a:r>
            <a:endParaRPr/>
          </a:p>
        </p:txBody>
      </p:sp>
      <p:sp>
        <p:nvSpPr>
          <p:cNvPr id="5944" name="Google Shape;5944;p143"/>
          <p:cNvSpPr txBox="1"/>
          <p:nvPr>
            <p:ph idx="1" type="body"/>
          </p:nvPr>
        </p:nvSpPr>
        <p:spPr>
          <a:xfrm>
            <a:off x="107050" y="402200"/>
            <a:ext cx="8909700" cy="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Pro: Overlay multicast is easy to deploy and accommodates diversity in goals.</a:t>
            </a:r>
            <a:endParaRPr/>
          </a:p>
        </p:txBody>
      </p:sp>
      <p:sp>
        <p:nvSpPr>
          <p:cNvPr id="5945" name="Google Shape;5945;p1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 of Overlay Multicast</a:t>
            </a:r>
            <a:endParaRPr/>
          </a:p>
        </p:txBody>
      </p:sp>
      <p:sp>
        <p:nvSpPr>
          <p:cNvPr id="5946" name="Google Shape;5946;p143"/>
          <p:cNvSpPr txBox="1"/>
          <p:nvPr>
            <p:ph idx="1" type="body"/>
          </p:nvPr>
        </p:nvSpPr>
        <p:spPr>
          <a:xfrm>
            <a:off x="107050" y="3450200"/>
            <a:ext cx="8909700" cy="16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Con: </a:t>
            </a:r>
            <a:r>
              <a:rPr lang="en"/>
              <a:t>Overlay multicast introduces additional overhead.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Packets require extra processing, e.g. encapsulating and decapsulating.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guarantee that packets take least-cost paths to destinations.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 developers must implement multicast themselves.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0" name="Shape 5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1" name="Google Shape;5951;p1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 Performance: Stretch</a:t>
            </a:r>
            <a:endParaRPr/>
          </a:p>
        </p:txBody>
      </p:sp>
      <p:sp>
        <p:nvSpPr>
          <p:cNvPr id="5952" name="Google Shape;5952;p144"/>
          <p:cNvSpPr txBox="1"/>
          <p:nvPr>
            <p:ph idx="1" type="body"/>
          </p:nvPr>
        </p:nvSpPr>
        <p:spPr>
          <a:xfrm>
            <a:off x="107050" y="402200"/>
            <a:ext cx="8909700" cy="19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Stretch</a:t>
            </a:r>
            <a:r>
              <a:rPr lang="en"/>
              <a:t>: Ratio of physical path cost to the corresponding virtual path 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stretch is good: Physical path cost is similar to virtual path 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stretch is bad: Physical path is many times longer than virtual path.</a:t>
            </a:r>
            <a:endParaRPr/>
          </a:p>
        </p:txBody>
      </p:sp>
      <p:sp>
        <p:nvSpPr>
          <p:cNvPr id="5953" name="Google Shape;5953;p144"/>
          <p:cNvSpPr/>
          <p:nvPr/>
        </p:nvSpPr>
        <p:spPr>
          <a:xfrm>
            <a:off x="1813550" y="3645600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4" name="Google Shape;5954;p144"/>
          <p:cNvSpPr/>
          <p:nvPr/>
        </p:nvSpPr>
        <p:spPr>
          <a:xfrm>
            <a:off x="2013450" y="2729425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55" name="Google Shape;5955;p144"/>
          <p:cNvCxnSpPr/>
          <p:nvPr/>
        </p:nvCxnSpPr>
        <p:spPr>
          <a:xfrm>
            <a:off x="2118350" y="2495550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6" name="Google Shape;5956;p144"/>
          <p:cNvCxnSpPr>
            <a:stCxn id="5957" idx="6"/>
            <a:endCxn id="5958" idx="2"/>
          </p:cNvCxnSpPr>
          <p:nvPr/>
        </p:nvCxnSpPr>
        <p:spPr>
          <a:xfrm>
            <a:off x="2118350" y="2647950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59" name="Google Shape;5959;p144"/>
          <p:cNvSpPr/>
          <p:nvPr/>
        </p:nvSpPr>
        <p:spPr>
          <a:xfrm>
            <a:off x="18135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0" name="Google Shape;5960;p144"/>
          <p:cNvCxnSpPr>
            <a:stCxn id="5961" idx="1"/>
            <a:endCxn id="5959" idx="3"/>
          </p:cNvCxnSpPr>
          <p:nvPr/>
        </p:nvCxnSpPr>
        <p:spPr>
          <a:xfrm rot="10800000">
            <a:off x="2118350" y="424815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1" name="Google Shape;5961;p144"/>
          <p:cNvSpPr/>
          <p:nvPr/>
        </p:nvSpPr>
        <p:spPr>
          <a:xfrm>
            <a:off x="27279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2" name="Google Shape;5962;p144"/>
          <p:cNvSpPr/>
          <p:nvPr/>
        </p:nvSpPr>
        <p:spPr>
          <a:xfrm>
            <a:off x="3642350" y="4095752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3" name="Google Shape;5963;p144"/>
          <p:cNvCxnSpPr>
            <a:stCxn id="5962" idx="1"/>
            <a:endCxn id="5961" idx="3"/>
          </p:cNvCxnSpPr>
          <p:nvPr/>
        </p:nvCxnSpPr>
        <p:spPr>
          <a:xfrm rot="10800000">
            <a:off x="3032750" y="4248152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57" name="Google Shape;5957;p144"/>
          <p:cNvSpPr/>
          <p:nvPr/>
        </p:nvSpPr>
        <p:spPr>
          <a:xfrm>
            <a:off x="1813550" y="24955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4" name="Google Shape;5964;p144"/>
          <p:cNvSpPr/>
          <p:nvPr/>
        </p:nvSpPr>
        <p:spPr>
          <a:xfrm>
            <a:off x="2727950" y="31051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8" name="Google Shape;5958;p144"/>
          <p:cNvSpPr/>
          <p:nvPr/>
        </p:nvSpPr>
        <p:spPr>
          <a:xfrm>
            <a:off x="3642350" y="2647950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5" name="Google Shape;5965;p144"/>
          <p:cNvCxnSpPr>
            <a:stCxn id="5959" idx="0"/>
            <a:endCxn id="5957" idx="4"/>
          </p:cNvCxnSpPr>
          <p:nvPr/>
        </p:nvCxnSpPr>
        <p:spPr>
          <a:xfrm rot="10800000">
            <a:off x="1965950" y="2800352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6" name="Google Shape;5966;p144"/>
          <p:cNvCxnSpPr>
            <a:stCxn id="5961" idx="0"/>
            <a:endCxn id="5964" idx="4"/>
          </p:cNvCxnSpPr>
          <p:nvPr/>
        </p:nvCxnSpPr>
        <p:spPr>
          <a:xfrm rot="10800000">
            <a:off x="2880350" y="3409952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7" name="Google Shape;5967;p144"/>
          <p:cNvCxnSpPr>
            <a:stCxn id="5962" idx="0"/>
            <a:endCxn id="5958" idx="4"/>
          </p:cNvCxnSpPr>
          <p:nvPr/>
        </p:nvCxnSpPr>
        <p:spPr>
          <a:xfrm rot="10800000">
            <a:off x="3794750" y="2952752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8" name="Google Shape;5968;p144"/>
          <p:cNvSpPr txBox="1"/>
          <p:nvPr/>
        </p:nvSpPr>
        <p:spPr>
          <a:xfrm>
            <a:off x="4556750" y="2746950"/>
            <a:ext cx="35958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Assume all links are assigned cost 1.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Physical path cost: 4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Virtual path cost: 1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Stretch: 4 / 1 = 4x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2" name="Shape 5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3" name="Google Shape;5973;p145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4" name="Google Shape;5974;p145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5" name="Google Shape;5975;p145"/>
          <p:cNvSpPr/>
          <p:nvPr/>
        </p:nvSpPr>
        <p:spPr>
          <a:xfrm>
            <a:off x="4061375" y="2800350"/>
            <a:ext cx="3642075" cy="1941700"/>
          </a:xfrm>
          <a:custGeom>
            <a:rect b="b" l="l" r="r" t="t"/>
            <a:pathLst>
              <a:path extrusionOk="0" h="77668" w="145683">
                <a:moveTo>
                  <a:pt x="0" y="0"/>
                </a:moveTo>
                <a:lnTo>
                  <a:pt x="0" y="77668"/>
                </a:lnTo>
                <a:lnTo>
                  <a:pt x="48074" y="77668"/>
                </a:lnTo>
                <a:lnTo>
                  <a:pt x="97097" y="51529"/>
                </a:lnTo>
                <a:lnTo>
                  <a:pt x="145683" y="51529"/>
                </a:lnTo>
                <a:lnTo>
                  <a:pt x="145683" y="3028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976" name="Google Shape;5976;p145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77" name="Google Shape;5977;p145"/>
          <p:cNvCxnSpPr/>
          <p:nvPr/>
        </p:nvCxnSpPr>
        <p:spPr>
          <a:xfrm>
            <a:off x="4175050" y="25719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78" name="Google Shape;5978;p145"/>
          <p:cNvSpPr/>
          <p:nvPr/>
        </p:nvSpPr>
        <p:spPr>
          <a:xfrm>
            <a:off x="2941000" y="2798825"/>
            <a:ext cx="1032325" cy="1972275"/>
          </a:xfrm>
          <a:custGeom>
            <a:rect b="b" l="l" r="r" t="t"/>
            <a:pathLst>
              <a:path extrusionOk="0" h="78891" w="41293">
                <a:moveTo>
                  <a:pt x="0" y="12963"/>
                </a:moveTo>
                <a:lnTo>
                  <a:pt x="0" y="64085"/>
                </a:lnTo>
                <a:lnTo>
                  <a:pt x="41293" y="78891"/>
                </a:lnTo>
                <a:lnTo>
                  <a:pt x="41293" y="0"/>
                </a:ln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79" name="Google Shape;5979;p145"/>
          <p:cNvCxnSpPr/>
          <p:nvPr/>
        </p:nvCxnSpPr>
        <p:spPr>
          <a:xfrm flipH="1" rot="10800000">
            <a:off x="3032050" y="25719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80" name="Google Shape;5980;p145"/>
          <p:cNvSpPr/>
          <p:nvPr/>
        </p:nvSpPr>
        <p:spPr>
          <a:xfrm>
            <a:off x="1098350" y="2958250"/>
            <a:ext cx="1733850" cy="1462250"/>
          </a:xfrm>
          <a:custGeom>
            <a:rect b="b" l="l" r="r" t="t"/>
            <a:pathLst>
              <a:path extrusionOk="0" h="58490" w="69354">
                <a:moveTo>
                  <a:pt x="0" y="0"/>
                </a:moveTo>
                <a:lnTo>
                  <a:pt x="0" y="58490"/>
                </a:lnTo>
                <a:lnTo>
                  <a:pt x="69354" y="58490"/>
                </a:lnTo>
                <a:lnTo>
                  <a:pt x="69354" y="6251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981" name="Google Shape;5981;p145"/>
          <p:cNvCxnSpPr/>
          <p:nvPr/>
        </p:nvCxnSpPr>
        <p:spPr>
          <a:xfrm>
            <a:off x="1203250" y="27243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2" name="Google Shape;5982;p145"/>
          <p:cNvCxnSpPr>
            <a:stCxn id="5983" idx="6"/>
            <a:endCxn id="5984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5" name="Google Shape;5985;p145"/>
          <p:cNvCxnSpPr>
            <a:stCxn id="5986" idx="6"/>
            <a:endCxn id="5983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7" name="Google Shape;5987;p145"/>
          <p:cNvCxnSpPr>
            <a:stCxn id="5988" idx="5"/>
            <a:endCxn id="5986" idx="2"/>
          </p:cNvCxnSpPr>
          <p:nvPr/>
        </p:nvCxnSpPr>
        <p:spPr>
          <a:xfrm>
            <a:off x="4130413" y="2832138"/>
            <a:ext cx="882900" cy="4257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89" name="Google Shape;5989;p145"/>
          <p:cNvCxnSpPr>
            <a:stCxn id="5988" idx="6"/>
            <a:endCxn id="5984" idx="2"/>
          </p:cNvCxnSpPr>
          <p:nvPr/>
        </p:nvCxnSpPr>
        <p:spPr>
          <a:xfrm>
            <a:off x="4175050" y="2724375"/>
            <a:ext cx="3429000" cy="762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0" name="Google Shape;5990;p145"/>
          <p:cNvCxnSpPr>
            <a:stCxn id="5991" idx="6"/>
            <a:endCxn id="5988" idx="2"/>
          </p:cNvCxnSpPr>
          <p:nvPr/>
        </p:nvCxnSpPr>
        <p:spPr>
          <a:xfrm flipH="1" rot="10800000">
            <a:off x="3032050" y="2724375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2" name="Google Shape;5992;p145"/>
          <p:cNvCxnSpPr>
            <a:stCxn id="5993" idx="6"/>
            <a:endCxn id="5991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994" name="Google Shape;5994;p145"/>
          <p:cNvCxnSpPr>
            <a:stCxn id="5995" idx="6"/>
            <a:endCxn id="5991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96" name="Google Shape;5996;p1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 Performance: Stretch</a:t>
            </a:r>
            <a:endParaRPr/>
          </a:p>
        </p:txBody>
      </p:sp>
      <p:sp>
        <p:nvSpPr>
          <p:cNvPr id="5997" name="Google Shape;5997;p145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98" name="Google Shape;5998;p145"/>
          <p:cNvCxnSpPr>
            <a:stCxn id="5999" idx="1"/>
            <a:endCxn id="5997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9" name="Google Shape;5999;p145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0" name="Google Shape;6000;p145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1" name="Google Shape;6001;p145"/>
          <p:cNvCxnSpPr>
            <a:stCxn id="6000" idx="1"/>
            <a:endCxn id="5999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2" name="Google Shape;6002;p145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3" name="Google Shape;6003;p145"/>
          <p:cNvCxnSpPr>
            <a:stCxn id="6004" idx="1"/>
            <a:endCxn id="6002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4" name="Google Shape;6004;p145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5" name="Google Shape;6005;p145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6" name="Google Shape;6006;p145"/>
          <p:cNvCxnSpPr>
            <a:stCxn id="6007" idx="1"/>
            <a:endCxn id="6005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7" name="Google Shape;6007;p145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08" name="Google Shape;6008;p145"/>
          <p:cNvCxnSpPr>
            <a:stCxn id="6005" idx="0"/>
            <a:endCxn id="6002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9" name="Google Shape;6009;p145"/>
          <p:cNvCxnSpPr>
            <a:stCxn id="6005" idx="1"/>
            <a:endCxn id="6000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0" name="Google Shape;6010;p145"/>
          <p:cNvCxnSpPr>
            <a:stCxn id="6007" idx="0"/>
            <a:endCxn id="6004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1" name="Google Shape;6011;p145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2" name="Google Shape;6012;p145"/>
          <p:cNvCxnSpPr>
            <a:stCxn id="6013" idx="1"/>
            <a:endCxn id="6011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3" name="Google Shape;6013;p145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4" name="Google Shape;6014;p145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5" name="Google Shape;6015;p145"/>
          <p:cNvCxnSpPr>
            <a:stCxn id="6014" idx="0"/>
            <a:endCxn id="6011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6" name="Google Shape;6016;p145"/>
          <p:cNvCxnSpPr>
            <a:stCxn id="6014" idx="0"/>
            <a:endCxn id="6013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7" name="Google Shape;6017;p145"/>
          <p:cNvCxnSpPr>
            <a:stCxn id="6007" idx="3"/>
            <a:endCxn id="6011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93" name="Google Shape;5993;p145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5" name="Google Shape;5995;p145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1" name="Google Shape;5991;p145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8" name="Google Shape;6018;p145"/>
          <p:cNvCxnSpPr>
            <a:stCxn id="5997" idx="0"/>
            <a:endCxn id="5993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9" name="Google Shape;6019;p145"/>
          <p:cNvCxnSpPr>
            <a:stCxn id="5999" idx="0"/>
            <a:endCxn id="5995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0" name="Google Shape;6020;p145"/>
          <p:cNvCxnSpPr>
            <a:stCxn id="6000" idx="0"/>
            <a:endCxn id="5991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8" name="Google Shape;5988;p145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1" name="Google Shape;6021;p145"/>
          <p:cNvCxnSpPr>
            <a:stCxn id="6002" idx="0"/>
            <a:endCxn id="5988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3" name="Google Shape;5983;p145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2" name="Google Shape;6022;p145"/>
          <p:cNvCxnSpPr>
            <a:stCxn id="6011" idx="0"/>
            <a:endCxn id="5983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4" name="Google Shape;5984;p145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3" name="Google Shape;6023;p145"/>
          <p:cNvCxnSpPr>
            <a:stCxn id="6013" idx="0"/>
            <a:endCxn id="5984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6" name="Google Shape;5986;p145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24" name="Google Shape;6024;p145"/>
          <p:cNvCxnSpPr>
            <a:stCxn id="6004" idx="0"/>
            <a:endCxn id="5986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5" name="Google Shape;6025;p145"/>
          <p:cNvSpPr txBox="1"/>
          <p:nvPr>
            <p:ph idx="1" type="body"/>
          </p:nvPr>
        </p:nvSpPr>
        <p:spPr>
          <a:xfrm>
            <a:off x="107050" y="402200"/>
            <a:ext cx="8909700" cy="19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virtual topology matches well. Packet takes a pretty good path through the underlay network.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9" name="Shape 6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0" name="Google Shape;6030;p146"/>
          <p:cNvSpPr/>
          <p:nvPr/>
        </p:nvSpPr>
        <p:spPr>
          <a:xfrm>
            <a:off x="61562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1" name="Google Shape;6031;p146"/>
          <p:cNvSpPr/>
          <p:nvPr/>
        </p:nvSpPr>
        <p:spPr>
          <a:xfrm>
            <a:off x="3565450" y="3874425"/>
            <a:ext cx="20691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2" name="Google Shape;6032;p146"/>
          <p:cNvSpPr/>
          <p:nvPr/>
        </p:nvSpPr>
        <p:spPr>
          <a:xfrm>
            <a:off x="898450" y="3874425"/>
            <a:ext cx="2133600" cy="1205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3" name="Google Shape;6033;p146"/>
          <p:cNvSpPr/>
          <p:nvPr/>
        </p:nvSpPr>
        <p:spPr>
          <a:xfrm>
            <a:off x="1011275" y="2943825"/>
            <a:ext cx="1919900" cy="1588725"/>
          </a:xfrm>
          <a:custGeom>
            <a:rect b="b" l="l" r="r" t="t"/>
            <a:pathLst>
              <a:path extrusionOk="0" h="63549" w="76796">
                <a:moveTo>
                  <a:pt x="0" y="0"/>
                </a:moveTo>
                <a:lnTo>
                  <a:pt x="0" y="63549"/>
                </a:lnTo>
                <a:lnTo>
                  <a:pt x="76796" y="63549"/>
                </a:lnTo>
                <a:lnTo>
                  <a:pt x="76796" y="5358"/>
                </a:ln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4" name="Google Shape;6034;p146"/>
          <p:cNvSpPr/>
          <p:nvPr/>
        </p:nvSpPr>
        <p:spPr>
          <a:xfrm>
            <a:off x="2012150" y="3111250"/>
            <a:ext cx="822275" cy="1305975"/>
          </a:xfrm>
          <a:custGeom>
            <a:rect b="b" l="l" r="r" t="t"/>
            <a:pathLst>
              <a:path extrusionOk="0" h="52239" w="32891">
                <a:moveTo>
                  <a:pt x="32891" y="0"/>
                </a:moveTo>
                <a:lnTo>
                  <a:pt x="32891" y="52239"/>
                </a:lnTo>
                <a:lnTo>
                  <a:pt x="0" y="52239"/>
                </a:lnTo>
                <a:lnTo>
                  <a:pt x="0" y="17413"/>
                </a:lnTo>
              </a:path>
            </a:pathLst>
          </a:cu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5" name="Google Shape;6035;p146"/>
          <p:cNvSpPr/>
          <p:nvPr/>
        </p:nvSpPr>
        <p:spPr>
          <a:xfrm>
            <a:off x="1913925" y="3312800"/>
            <a:ext cx="3212000" cy="1591250"/>
          </a:xfrm>
          <a:custGeom>
            <a:rect b="b" l="l" r="r" t="t"/>
            <a:pathLst>
              <a:path extrusionOk="0" h="63650" w="128480">
                <a:moveTo>
                  <a:pt x="0" y="9410"/>
                </a:moveTo>
                <a:lnTo>
                  <a:pt x="0" y="51529"/>
                </a:lnTo>
                <a:lnTo>
                  <a:pt x="44649" y="51529"/>
                </a:lnTo>
                <a:lnTo>
                  <a:pt x="78436" y="63650"/>
                </a:lnTo>
                <a:lnTo>
                  <a:pt x="128480" y="63650"/>
                </a:lnTo>
                <a:lnTo>
                  <a:pt x="128480" y="0"/>
                </a:lnTo>
              </a:path>
            </a:pathLst>
          </a:cu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6" name="Google Shape;6036;p146"/>
          <p:cNvSpPr/>
          <p:nvPr/>
        </p:nvSpPr>
        <p:spPr>
          <a:xfrm>
            <a:off x="5214425" y="3319575"/>
            <a:ext cx="1346525" cy="1445625"/>
          </a:xfrm>
          <a:custGeom>
            <a:rect b="b" l="l" r="r" t="t"/>
            <a:pathLst>
              <a:path extrusionOk="0" h="57825" w="53861">
                <a:moveTo>
                  <a:pt x="0" y="0"/>
                </a:moveTo>
                <a:lnTo>
                  <a:pt x="0" y="57825"/>
                </a:lnTo>
                <a:lnTo>
                  <a:pt x="53861" y="28948"/>
                </a:lnTo>
                <a:lnTo>
                  <a:pt x="53861" y="1326"/>
                </a:lnTo>
              </a:path>
            </a:pathLst>
          </a:cu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037" name="Google Shape;6037;p146"/>
          <p:cNvSpPr/>
          <p:nvPr/>
        </p:nvSpPr>
        <p:spPr>
          <a:xfrm>
            <a:off x="6667500" y="2888175"/>
            <a:ext cx="1043701" cy="1220050"/>
          </a:xfrm>
          <a:custGeom>
            <a:rect b="b" l="l" r="r" t="t"/>
            <a:pathLst>
              <a:path extrusionOk="0" h="48802" w="42238">
                <a:moveTo>
                  <a:pt x="0" y="18836"/>
                </a:moveTo>
                <a:lnTo>
                  <a:pt x="0" y="48802"/>
                </a:lnTo>
                <a:lnTo>
                  <a:pt x="42238" y="48802"/>
                </a:lnTo>
                <a:lnTo>
                  <a:pt x="42238" y="0"/>
                </a:lnTo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6038" name="Google Shape;6038;p146"/>
          <p:cNvCxnSpPr>
            <a:stCxn id="6039" idx="6"/>
            <a:endCxn id="6040" idx="3"/>
          </p:cNvCxnSpPr>
          <p:nvPr/>
        </p:nvCxnSpPr>
        <p:spPr>
          <a:xfrm flipH="1" rot="10800000">
            <a:off x="6765850" y="29082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1" name="Google Shape;6041;p146"/>
          <p:cNvCxnSpPr>
            <a:stCxn id="6042" idx="6"/>
            <a:endCxn id="6039" idx="2"/>
          </p:cNvCxnSpPr>
          <p:nvPr/>
        </p:nvCxnSpPr>
        <p:spPr>
          <a:xfrm>
            <a:off x="5318050" y="32577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3" name="Google Shape;6043;p146"/>
          <p:cNvCxnSpPr>
            <a:stCxn id="6044" idx="6"/>
            <a:endCxn id="6042" idx="2"/>
          </p:cNvCxnSpPr>
          <p:nvPr/>
        </p:nvCxnSpPr>
        <p:spPr>
          <a:xfrm flipH="1" rot="10800000">
            <a:off x="2117650" y="3257775"/>
            <a:ext cx="2895600" cy="2286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5" name="Google Shape;6045;p146"/>
          <p:cNvCxnSpPr>
            <a:stCxn id="6046" idx="6"/>
            <a:endCxn id="6042" idx="2"/>
          </p:cNvCxnSpPr>
          <p:nvPr/>
        </p:nvCxnSpPr>
        <p:spPr>
          <a:xfrm>
            <a:off x="4175050" y="2724375"/>
            <a:ext cx="838200" cy="533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47" name="Google Shape;6047;p146"/>
          <p:cNvCxnSpPr>
            <a:stCxn id="6048" idx="6"/>
            <a:endCxn id="6049" idx="2"/>
          </p:cNvCxnSpPr>
          <p:nvPr/>
        </p:nvCxnSpPr>
        <p:spPr>
          <a:xfrm>
            <a:off x="1203250" y="28767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50" name="Google Shape;6050;p146"/>
          <p:cNvCxnSpPr>
            <a:stCxn id="6044" idx="6"/>
            <a:endCxn id="6049" idx="3"/>
          </p:cNvCxnSpPr>
          <p:nvPr/>
        </p:nvCxnSpPr>
        <p:spPr>
          <a:xfrm flipH="1" rot="10800000">
            <a:off x="2117650" y="3136875"/>
            <a:ext cx="654300" cy="3495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051" name="Google Shape;6051;p146"/>
          <p:cNvSpPr txBox="1"/>
          <p:nvPr>
            <p:ph idx="1" type="body"/>
          </p:nvPr>
        </p:nvSpPr>
        <p:spPr>
          <a:xfrm>
            <a:off x="107050" y="402200"/>
            <a:ext cx="8909700" cy="19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 multicast performance depends on how well the virtual topology matches the physical topology.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virtual topology matches poorly. Packet takes a bad path through the underlay network.</a:t>
            </a:r>
            <a:endParaRPr/>
          </a:p>
        </p:txBody>
      </p:sp>
      <p:sp>
        <p:nvSpPr>
          <p:cNvPr id="6052" name="Google Shape;6052;p1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Overlay Multicast Performance: Stretch</a:t>
            </a:r>
            <a:endParaRPr/>
          </a:p>
        </p:txBody>
      </p:sp>
      <p:sp>
        <p:nvSpPr>
          <p:cNvPr id="6053" name="Google Shape;6053;p146"/>
          <p:cNvSpPr/>
          <p:nvPr/>
        </p:nvSpPr>
        <p:spPr>
          <a:xfrm>
            <a:off x="8984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4" name="Google Shape;6054;p146"/>
          <p:cNvCxnSpPr>
            <a:stCxn id="6055" idx="1"/>
            <a:endCxn id="6053" idx="3"/>
          </p:cNvCxnSpPr>
          <p:nvPr/>
        </p:nvCxnSpPr>
        <p:spPr>
          <a:xfrm rot="10800000">
            <a:off x="12032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5" name="Google Shape;6055;p146"/>
          <p:cNvSpPr/>
          <p:nvPr/>
        </p:nvSpPr>
        <p:spPr>
          <a:xfrm>
            <a:off x="18128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56" name="Google Shape;6056;p146"/>
          <p:cNvSpPr/>
          <p:nvPr/>
        </p:nvSpPr>
        <p:spPr>
          <a:xfrm>
            <a:off x="2727250" y="43245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R53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7" name="Google Shape;6057;p146"/>
          <p:cNvCxnSpPr>
            <a:stCxn id="6056" idx="1"/>
            <a:endCxn id="6055" idx="3"/>
          </p:cNvCxnSpPr>
          <p:nvPr/>
        </p:nvCxnSpPr>
        <p:spPr>
          <a:xfrm rot="10800000">
            <a:off x="2117650" y="4476977"/>
            <a:ext cx="609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58" name="Google Shape;6058;p146"/>
          <p:cNvSpPr/>
          <p:nvPr/>
        </p:nvSpPr>
        <p:spPr>
          <a:xfrm>
            <a:off x="3870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59" name="Google Shape;6059;p146"/>
          <p:cNvCxnSpPr>
            <a:stCxn id="6060" idx="1"/>
            <a:endCxn id="6058" idx="3"/>
          </p:cNvCxnSpPr>
          <p:nvPr/>
        </p:nvCxnSpPr>
        <p:spPr>
          <a:xfrm rot="10800000">
            <a:off x="41750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0" name="Google Shape;6060;p146"/>
          <p:cNvSpPr/>
          <p:nvPr/>
        </p:nvSpPr>
        <p:spPr>
          <a:xfrm>
            <a:off x="50132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61" name="Google Shape;6061;p146"/>
          <p:cNvSpPr/>
          <p:nvPr/>
        </p:nvSpPr>
        <p:spPr>
          <a:xfrm>
            <a:off x="3870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2" name="Google Shape;6062;p146"/>
          <p:cNvCxnSpPr>
            <a:stCxn id="6063" idx="1"/>
            <a:endCxn id="6061" idx="3"/>
          </p:cNvCxnSpPr>
          <p:nvPr/>
        </p:nvCxnSpPr>
        <p:spPr>
          <a:xfrm rot="10800000">
            <a:off x="4175050" y="47817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3" name="Google Shape;6063;p146"/>
          <p:cNvSpPr/>
          <p:nvPr/>
        </p:nvSpPr>
        <p:spPr>
          <a:xfrm>
            <a:off x="50132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R64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4" name="Google Shape;6064;p146"/>
          <p:cNvCxnSpPr>
            <a:stCxn id="6061" idx="0"/>
            <a:endCxn id="6058" idx="2"/>
          </p:cNvCxnSpPr>
          <p:nvPr/>
        </p:nvCxnSpPr>
        <p:spPr>
          <a:xfrm rot="10800000">
            <a:off x="4022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5" name="Google Shape;6065;p146"/>
          <p:cNvCxnSpPr>
            <a:stCxn id="6061" idx="1"/>
            <a:endCxn id="6056" idx="3"/>
          </p:cNvCxnSpPr>
          <p:nvPr/>
        </p:nvCxnSpPr>
        <p:spPr>
          <a:xfrm rot="10800000">
            <a:off x="3032050" y="4476977"/>
            <a:ext cx="838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6" name="Google Shape;6066;p146"/>
          <p:cNvCxnSpPr>
            <a:stCxn id="6063" idx="0"/>
            <a:endCxn id="6060" idx="2"/>
          </p:cNvCxnSpPr>
          <p:nvPr/>
        </p:nvCxnSpPr>
        <p:spPr>
          <a:xfrm rot="10800000">
            <a:off x="5165650" y="4324577"/>
            <a:ext cx="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7" name="Google Shape;6067;p146"/>
          <p:cNvSpPr/>
          <p:nvPr/>
        </p:nvSpPr>
        <p:spPr>
          <a:xfrm>
            <a:off x="6461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R71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68" name="Google Shape;6068;p146"/>
          <p:cNvCxnSpPr>
            <a:stCxn id="6069" idx="1"/>
            <a:endCxn id="6067" idx="3"/>
          </p:cNvCxnSpPr>
          <p:nvPr/>
        </p:nvCxnSpPr>
        <p:spPr>
          <a:xfrm rot="10800000">
            <a:off x="6765850" y="4172177"/>
            <a:ext cx="838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9" name="Google Shape;6069;p146"/>
          <p:cNvSpPr/>
          <p:nvPr/>
        </p:nvSpPr>
        <p:spPr>
          <a:xfrm>
            <a:off x="7604050" y="40197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R72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0" name="Google Shape;6070;p146"/>
          <p:cNvSpPr/>
          <p:nvPr/>
        </p:nvSpPr>
        <p:spPr>
          <a:xfrm>
            <a:off x="7146850" y="4629377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R73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1" name="Google Shape;6071;p146"/>
          <p:cNvCxnSpPr>
            <a:stCxn id="6070" idx="0"/>
            <a:endCxn id="6067" idx="2"/>
          </p:cNvCxnSpPr>
          <p:nvPr/>
        </p:nvCxnSpPr>
        <p:spPr>
          <a:xfrm rot="10800000">
            <a:off x="6613450" y="4324577"/>
            <a:ext cx="6858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2" name="Google Shape;6072;p146"/>
          <p:cNvCxnSpPr>
            <a:stCxn id="6070" idx="0"/>
            <a:endCxn id="6069" idx="2"/>
          </p:cNvCxnSpPr>
          <p:nvPr/>
        </p:nvCxnSpPr>
        <p:spPr>
          <a:xfrm flipH="1" rot="10800000">
            <a:off x="7299250" y="4324577"/>
            <a:ext cx="457200" cy="304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3" name="Google Shape;6073;p146"/>
          <p:cNvCxnSpPr>
            <a:stCxn id="6063" idx="3"/>
            <a:endCxn id="6067" idx="1"/>
          </p:cNvCxnSpPr>
          <p:nvPr/>
        </p:nvCxnSpPr>
        <p:spPr>
          <a:xfrm flipH="1" rot="10800000">
            <a:off x="5318050" y="4172177"/>
            <a:ext cx="114300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8" name="Google Shape;6048;p146"/>
          <p:cNvSpPr/>
          <p:nvPr/>
        </p:nvSpPr>
        <p:spPr>
          <a:xfrm>
            <a:off x="898450" y="2724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4" name="Google Shape;6044;p146"/>
          <p:cNvSpPr/>
          <p:nvPr/>
        </p:nvSpPr>
        <p:spPr>
          <a:xfrm>
            <a:off x="1812850" y="3333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B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49" name="Google Shape;6049;p146"/>
          <p:cNvSpPr/>
          <p:nvPr/>
        </p:nvSpPr>
        <p:spPr>
          <a:xfrm>
            <a:off x="2727250" y="2876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C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4" name="Google Shape;6074;p146"/>
          <p:cNvCxnSpPr>
            <a:stCxn id="6053" idx="0"/>
            <a:endCxn id="6048" idx="4"/>
          </p:cNvCxnSpPr>
          <p:nvPr/>
        </p:nvCxnSpPr>
        <p:spPr>
          <a:xfrm rot="10800000">
            <a:off x="1050850" y="3029177"/>
            <a:ext cx="0" cy="1295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5" name="Google Shape;6075;p146"/>
          <p:cNvCxnSpPr>
            <a:stCxn id="6055" idx="0"/>
            <a:endCxn id="6044" idx="4"/>
          </p:cNvCxnSpPr>
          <p:nvPr/>
        </p:nvCxnSpPr>
        <p:spPr>
          <a:xfrm rot="10800000">
            <a:off x="1965250" y="3638777"/>
            <a:ext cx="0" cy="68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76" name="Google Shape;6076;p146"/>
          <p:cNvCxnSpPr>
            <a:stCxn id="6056" idx="0"/>
            <a:endCxn id="6049" idx="4"/>
          </p:cNvCxnSpPr>
          <p:nvPr/>
        </p:nvCxnSpPr>
        <p:spPr>
          <a:xfrm rot="10800000">
            <a:off x="2879650" y="31815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6" name="Google Shape;6046;p146"/>
          <p:cNvSpPr/>
          <p:nvPr/>
        </p:nvSpPr>
        <p:spPr>
          <a:xfrm>
            <a:off x="3870250" y="2571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D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7" name="Google Shape;6077;p146"/>
          <p:cNvCxnSpPr>
            <a:stCxn id="6058" idx="0"/>
            <a:endCxn id="6046" idx="4"/>
          </p:cNvCxnSpPr>
          <p:nvPr/>
        </p:nvCxnSpPr>
        <p:spPr>
          <a:xfrm rot="10800000">
            <a:off x="4022650" y="2876777"/>
            <a:ext cx="0" cy="114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9" name="Google Shape;6039;p146"/>
          <p:cNvSpPr/>
          <p:nvPr/>
        </p:nvSpPr>
        <p:spPr>
          <a:xfrm>
            <a:off x="64610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F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8" name="Google Shape;6078;p146"/>
          <p:cNvCxnSpPr>
            <a:stCxn id="6067" idx="0"/>
            <a:endCxn id="6039" idx="4"/>
          </p:cNvCxnSpPr>
          <p:nvPr/>
        </p:nvCxnSpPr>
        <p:spPr>
          <a:xfrm rot="10800000">
            <a:off x="66134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0" name="Google Shape;6040;p146"/>
          <p:cNvSpPr/>
          <p:nvPr/>
        </p:nvSpPr>
        <p:spPr>
          <a:xfrm>
            <a:off x="7604050" y="26481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79" name="Google Shape;6079;p146"/>
          <p:cNvCxnSpPr>
            <a:stCxn id="6069" idx="0"/>
            <a:endCxn id="6040" idx="4"/>
          </p:cNvCxnSpPr>
          <p:nvPr/>
        </p:nvCxnSpPr>
        <p:spPr>
          <a:xfrm rot="10800000">
            <a:off x="7756450" y="2952977"/>
            <a:ext cx="0" cy="1066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2" name="Google Shape;6042;p146"/>
          <p:cNvSpPr/>
          <p:nvPr/>
        </p:nvSpPr>
        <p:spPr>
          <a:xfrm>
            <a:off x="5013250" y="3105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Roboto"/>
                <a:ea typeface="Roboto"/>
                <a:cs typeface="Roboto"/>
                <a:sym typeface="Roboto"/>
              </a:rPr>
              <a:t>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80" name="Google Shape;6080;p146"/>
          <p:cNvCxnSpPr>
            <a:stCxn id="6060" idx="0"/>
            <a:endCxn id="6042" idx="4"/>
          </p:cNvCxnSpPr>
          <p:nvPr/>
        </p:nvCxnSpPr>
        <p:spPr>
          <a:xfrm rot="10800000">
            <a:off x="5165650" y="3410177"/>
            <a:ext cx="0" cy="609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1" name="Google Shape;6081;p146"/>
          <p:cNvCxnSpPr/>
          <p:nvPr/>
        </p:nvCxnSpPr>
        <p:spPr>
          <a:xfrm>
            <a:off x="1203250" y="2800575"/>
            <a:ext cx="1524000" cy="152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2" name="Google Shape;6082;p146"/>
          <p:cNvCxnSpPr/>
          <p:nvPr/>
        </p:nvCxnSpPr>
        <p:spPr>
          <a:xfrm flipH="1" rot="10800000">
            <a:off x="2193850" y="3068475"/>
            <a:ext cx="498900" cy="2655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083" name="Google Shape;6083;p146"/>
          <p:cNvCxnSpPr/>
          <p:nvPr/>
        </p:nvCxnSpPr>
        <p:spPr>
          <a:xfrm flipH="1" rot="10800000">
            <a:off x="2117650" y="3333975"/>
            <a:ext cx="2895600" cy="228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4" name="Google Shape;6084;p146"/>
          <p:cNvCxnSpPr/>
          <p:nvPr/>
        </p:nvCxnSpPr>
        <p:spPr>
          <a:xfrm>
            <a:off x="5318050" y="3333975"/>
            <a:ext cx="11430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5" name="Google Shape;6085;p146"/>
          <p:cNvCxnSpPr/>
          <p:nvPr/>
        </p:nvCxnSpPr>
        <p:spPr>
          <a:xfrm flipH="1" rot="10800000">
            <a:off x="6765850" y="2984475"/>
            <a:ext cx="882900" cy="3495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9" name="Shape 6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0" name="Google Shape;6090;p1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Overlay Multicast Performance</a:t>
            </a:r>
            <a:endParaRPr/>
          </a:p>
        </p:txBody>
      </p:sp>
      <p:sp>
        <p:nvSpPr>
          <p:cNvPr id="6091" name="Google Shape;6091;p1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you build a low-stretch overlay?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Manually configured by operator. Common in dedicated networks like datacenters, where the operator controls the topology.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Self-organizing protocols: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Initially, choose neighbors at random.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Periodically, search for new candidate neighbors and measure distance to them (e.g. RTT).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best candidate outperforms your worst current neighbor, swap them.</a:t>
            </a:r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5" name="Shape 6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6" name="Google Shape;6096;p1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6097" name="Google Shape;6097;p1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Multicast saves bandwidth in group based communication!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DVMRP/CBT: Extend distance vector to multicast, or make a tree with a core node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Challenges of IP Multicast: 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Scaling to Inter-Domain, Business models, Congestion, Reliability, Security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Overlay-Based Multicast: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fake virtual topology between end-hosts to use as an overlay</a:t>
            </a:r>
            <a:endParaRPr/>
          </a:p>
        </p:txBody>
      </p:sp>
      <p:sp>
        <p:nvSpPr>
          <p:cNvPr id="6098" name="Google Shape;6098;p148"/>
          <p:cNvSpPr/>
          <p:nvPr/>
        </p:nvSpPr>
        <p:spPr>
          <a:xfrm>
            <a:off x="2277600" y="846000"/>
            <a:ext cx="1674900" cy="19491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9" name="Google Shape;6099;p148"/>
          <p:cNvSpPr/>
          <p:nvPr/>
        </p:nvSpPr>
        <p:spPr>
          <a:xfrm>
            <a:off x="144000" y="1474600"/>
            <a:ext cx="1451700" cy="790500"/>
          </a:xfrm>
          <a:prstGeom prst="ellipse">
            <a:avLst/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0" name="Google Shape;6100;p148"/>
          <p:cNvCxnSpPr>
            <a:stCxn id="6101" idx="3"/>
            <a:endCxn id="6102" idx="1"/>
          </p:cNvCxnSpPr>
          <p:nvPr/>
        </p:nvCxnSpPr>
        <p:spPr>
          <a:xfrm>
            <a:off x="1418925" y="1765175"/>
            <a:ext cx="914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3" name="Google Shape;6103;p148"/>
          <p:cNvCxnSpPr>
            <a:stCxn id="6102" idx="3"/>
            <a:endCxn id="6104" idx="3"/>
          </p:cNvCxnSpPr>
          <p:nvPr/>
        </p:nvCxnSpPr>
        <p:spPr>
          <a:xfrm flipH="1" rot="10800000">
            <a:off x="2638125" y="11870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5" name="Google Shape;6105;p148"/>
          <p:cNvCxnSpPr>
            <a:stCxn id="6102" idx="3"/>
            <a:endCxn id="6106" idx="2"/>
          </p:cNvCxnSpPr>
          <p:nvPr/>
        </p:nvCxnSpPr>
        <p:spPr>
          <a:xfrm flipH="1" rot="10800000">
            <a:off x="2638125" y="15365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7" name="Google Shape;6107;p148"/>
          <p:cNvCxnSpPr>
            <a:stCxn id="6102" idx="3"/>
            <a:endCxn id="6108" idx="2"/>
          </p:cNvCxnSpPr>
          <p:nvPr/>
        </p:nvCxnSpPr>
        <p:spPr>
          <a:xfrm>
            <a:off x="2638125" y="1765175"/>
            <a:ext cx="685800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9" name="Google Shape;6109;p148"/>
          <p:cNvCxnSpPr>
            <a:stCxn id="6102" idx="3"/>
            <a:endCxn id="6110" idx="1"/>
          </p:cNvCxnSpPr>
          <p:nvPr/>
        </p:nvCxnSpPr>
        <p:spPr>
          <a:xfrm>
            <a:off x="2638125" y="1765175"/>
            <a:ext cx="730500" cy="578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1" name="Google Shape;6111;p148"/>
          <p:cNvCxnSpPr>
            <a:stCxn id="6112" idx="6"/>
            <a:endCxn id="6101" idx="1"/>
          </p:cNvCxnSpPr>
          <p:nvPr/>
        </p:nvCxnSpPr>
        <p:spPr>
          <a:xfrm>
            <a:off x="580725" y="1765175"/>
            <a:ext cx="53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3" name="Google Shape;6113;p148"/>
          <p:cNvSpPr txBox="1"/>
          <p:nvPr/>
        </p:nvSpPr>
        <p:spPr>
          <a:xfrm>
            <a:off x="664050" y="1993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USA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4" name="Google Shape;6114;p148"/>
          <p:cNvSpPr txBox="1"/>
          <p:nvPr/>
        </p:nvSpPr>
        <p:spPr>
          <a:xfrm>
            <a:off x="2756850" y="2374775"/>
            <a:ext cx="4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15" name="Google Shape;6115;p148"/>
          <p:cNvCxnSpPr/>
          <p:nvPr/>
        </p:nvCxnSpPr>
        <p:spPr>
          <a:xfrm flipH="1" rot="10800000">
            <a:off x="2638125" y="11108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99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6" name="Google Shape;6116;p148"/>
          <p:cNvCxnSpPr/>
          <p:nvPr/>
        </p:nvCxnSpPr>
        <p:spPr>
          <a:xfrm flipH="1" rot="10800000">
            <a:off x="2638125" y="14746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7" name="Google Shape;6117;p148"/>
          <p:cNvCxnSpPr/>
          <p:nvPr/>
        </p:nvCxnSpPr>
        <p:spPr>
          <a:xfrm>
            <a:off x="2638125" y="1805300"/>
            <a:ext cx="759900" cy="2532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18" name="Google Shape;6118;p148"/>
          <p:cNvCxnSpPr/>
          <p:nvPr/>
        </p:nvCxnSpPr>
        <p:spPr>
          <a:xfrm>
            <a:off x="2638125" y="1841375"/>
            <a:ext cx="730500" cy="578100"/>
          </a:xfrm>
          <a:prstGeom prst="straightConnector1">
            <a:avLst/>
          </a:pr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0" name="Google Shape;6110;p148"/>
          <p:cNvSpPr/>
          <p:nvPr/>
        </p:nvSpPr>
        <p:spPr>
          <a:xfrm>
            <a:off x="3323925" y="22985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4" name="Google Shape;6104;p148"/>
          <p:cNvSpPr/>
          <p:nvPr/>
        </p:nvSpPr>
        <p:spPr>
          <a:xfrm>
            <a:off x="3323925" y="9269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6" name="Google Shape;6106;p148"/>
          <p:cNvSpPr/>
          <p:nvPr/>
        </p:nvSpPr>
        <p:spPr>
          <a:xfrm>
            <a:off x="3323925" y="1384163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8" name="Google Shape;6108;p148"/>
          <p:cNvSpPr/>
          <p:nvPr/>
        </p:nvSpPr>
        <p:spPr>
          <a:xfrm>
            <a:off x="3323925" y="18413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19" name="Google Shape;6119;p148"/>
          <p:cNvCxnSpPr/>
          <p:nvPr/>
        </p:nvCxnSpPr>
        <p:spPr>
          <a:xfrm>
            <a:off x="520925" y="1718588"/>
            <a:ext cx="18765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1" name="Google Shape;6101;p148"/>
          <p:cNvSpPr/>
          <p:nvPr/>
        </p:nvSpPr>
        <p:spPr>
          <a:xfrm>
            <a:off x="1114125" y="1612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2" name="Google Shape;6112;p148"/>
          <p:cNvSpPr/>
          <p:nvPr/>
        </p:nvSpPr>
        <p:spPr>
          <a:xfrm>
            <a:off x="275925" y="1612775"/>
            <a:ext cx="304800" cy="3048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2" name="Google Shape;6102;p148"/>
          <p:cNvSpPr/>
          <p:nvPr/>
        </p:nvSpPr>
        <p:spPr>
          <a:xfrm>
            <a:off x="2333325" y="1612775"/>
            <a:ext cx="304800" cy="304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20" name="Google Shape;6120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8822" y="868342"/>
            <a:ext cx="4988978" cy="185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1E71E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