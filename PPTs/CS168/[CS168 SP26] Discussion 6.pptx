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embeddedFontLst>
    <p:embeddedFont>
      <p:font typeface="Average" panose="020B0604020202020204" charset="0"/>
      <p:regular r:id="rId54"/>
    </p:embeddedFont>
    <p:embeddedFont>
      <p:font typeface="Francois One" panose="020B0604020202020204" charset="0"/>
      <p:regular r:id="rId55"/>
    </p:embeddedFont>
    <p:embeddedFont>
      <p:font typeface="Lato" panose="020F0502020204030203" pitchFamily="34"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PT Sans Narrow" panose="020B0506020203020204" pitchFamily="34" charset="0"/>
      <p:regular r:id="rId64"/>
      <p:bold r:id="rId65"/>
    </p:embeddedFont>
    <p:embeddedFont>
      <p:font typeface="Roboto" panose="02000000000000000000" pitchFamily="2" charset="0"/>
      <p:regular r:id="rId66"/>
      <p:bold r:id="rId67"/>
      <p:italic r:id="rId68"/>
      <p:boldItalic r:id="rId69"/>
    </p:embeddedFont>
    <p:embeddedFont>
      <p:font typeface="Roboto Light" panose="02000000000000000000" pitchFamily="2" charset="0"/>
      <p:regular r:id="rId70"/>
      <p:bold r:id="rId71"/>
      <p:italic r:id="rId72"/>
      <p:boldItalic r:id="rId73"/>
    </p:embeddedFont>
    <p:embeddedFont>
      <p:font typeface="Roboto Medium" panose="02000000000000000000" pitchFamily="2"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TKnttNTquUA8oOlsPFIzqyeBK3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6"/>
      </p:cViewPr>
      <p:guideLst/>
    </p:cSldViewPr>
  </p:slideViewPr>
  <p:notesTextViewPr>
    <p:cViewPr>
      <p:scale>
        <a:sx n="1" d="1"/>
        <a:sy n="1" d="1"/>
      </p:scale>
      <p:origin x="0" y="0"/>
    </p:cViewPr>
  </p:notesTextViewPr>
  <p:sorterViewPr>
    <p:cViewPr>
      <p:scale>
        <a:sx n="100" d="100"/>
        <a:sy n="100" d="100"/>
      </p:scale>
      <p:origin x="0" y="-45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font" Target="fonts/font5.fntdata"/><Relationship Id="rId74" Type="http://schemas.openxmlformats.org/officeDocument/2006/relationships/font" Target="fonts/font21.fntdata"/><Relationship Id="rId5" Type="http://schemas.openxmlformats.org/officeDocument/2006/relationships/slide" Target="slides/slide4.xml"/><Relationship Id="rId61" Type="http://schemas.openxmlformats.org/officeDocument/2006/relationships/font" Target="fonts/font8.fntdata"/><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77"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9.fntdata"/><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font" Target="fonts/font22.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font" Target="fonts/font20.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6" Type="http://schemas.openxmlformats.org/officeDocument/2006/relationships/font" Target="fonts/font23.fntdata"/><Relationship Id="rId7" Type="http://schemas.openxmlformats.org/officeDocument/2006/relationships/slide" Target="slides/slide6.xml"/><Relationship Id="rId71" Type="http://schemas.openxmlformats.org/officeDocument/2006/relationships/font" Target="fonts/font1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a8c14dc2e_0_4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6a8c14dc2e_0_4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Slides template credit: Josh Hug, Lisa Yan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6a8da6ef7b_1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6a8da6ef7b_1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aa5533722_0_5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6aa5533722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Clr>
                <a:schemeClr val="dk1"/>
              </a:buClr>
              <a:buSzPts val="1100"/>
              <a:buChar char="●"/>
            </a:pPr>
            <a:r>
              <a:rPr lang="en">
                <a:solidFill>
                  <a:schemeClr val="dk1"/>
                </a:solidFill>
              </a:rPr>
              <a:t>So far, we have a best-effort network (via L3). Now, we need to handle packet loss, …</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How can we implement this? With the following: …</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And some of the design considerations are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end-to-end principle: put reliability in the end hosts, not in the network</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At network layer: best-effort delivery (no guarantee that data is effectively transmitted)</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At transport layer: at-least-once delivery (data is delivered one or more times)</a:t>
            </a:r>
            <a:endParaRPr>
              <a:solidFill>
                <a:schemeClr val="dk1"/>
              </a:solidFill>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At the app layer: exactly-once delivery (data is delivered once)</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6aa5e117e9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6aa5e117e9_3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6aa5e117e9_3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36aa5e117e9_3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6aa5e117e9_3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36aa5e117e9_3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aa5e117e9_3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36aa5e117e9_3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6aa5e117e9_3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g36aa5e117e9_3_2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6aa5e117e9_3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g36aa5e117e9_3_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6aa5e117e9_3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8" name="Google Shape;558;g36aa5e117e9_3_3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6aa5e117e9_3_101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6" name="Google Shape;636;g36aa5e117e9_3_10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6aa5e117e9_3_10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1" name="Google Shape;641;g36aa5e117e9_3_10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UDP is message-oriented — meant for individual messages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Message Oriented protocols send data in distinct chunks or groups. Stream protocols send a continuous flow of data.</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TCP is used for reliable in-order bytestream delivery</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6aa5e117e9_3_10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1" name="Google Shape;671;g36aa5e117e9_3_10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36aa5e117e9_3_10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2" name="Google Shape;692;g36aa5e117e9_3_10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the SYN flag is set (1), then this is the initial sequence number (ISN). The sequence number of the actual first data byte and the acknowledged number in the corresponding ACK are then the ISN plus 1 — kth byte in segment is ISN + K</a:t>
            </a:r>
            <a:endParaRPr sz="1200">
              <a:solidFill>
                <a:schemeClr val="dk1"/>
              </a:solidFill>
              <a:latin typeface="Calibri"/>
              <a:ea typeface="Calibri"/>
              <a:cs typeface="Calibri"/>
              <a:sym typeface="Calibri"/>
            </a:endParaRPr>
          </a:p>
          <a:p>
            <a:pPr marL="457200" lvl="0" indent="-3048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the SYN flag is clear (0), then this is the accumulated sequence number of the first data byte of this segment for the current session.</a:t>
            </a:r>
            <a:endParaRPr sz="1200">
              <a:solidFill>
                <a:schemeClr val="dk1"/>
              </a:solidFill>
              <a:latin typeface="Calibri"/>
              <a:ea typeface="Calibri"/>
              <a:cs typeface="Calibri"/>
              <a:sym typeface="Calibri"/>
            </a:endParaRPr>
          </a:p>
          <a:p>
            <a:pPr marL="457200" lvl="0" indent="-3048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Units are bytes rather than packets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6aa5e117e9_3_1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4" name="Google Shape;714;g36aa5e117e9_3_1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6aa5e117e9_3_1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7" name="Google Shape;737;g36aa5e117e9_3_1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9 bits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FIN says "i finished talking to you, but i'll still listen to everything you have to say until you're done"</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RST says "there is no conversation. i won't say anything and i won't listen to anything you say</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If the SYN flag is set (1), then this is the initial sequence number. The sequence number of the actual first data byte and the acknowledged number in the corresponding ACK are then this sequence number plus 1.</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If the SYN flag is clear (0), then this is the accumulated sequence number of the first data byte of this segment for the current session.</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6aa5e117e9_3_1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1" name="Google Shape;761;g36aa5e117e9_3_11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unit: byte</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limited to between 2 and 65,535 bytes.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6aa5e117e9_3_1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4" name="Google Shape;784;g36aa5e117e9_3_1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36aa5e117e9_3_1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8" name="Google Shape;808;g36aa5e117e9_3_1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6aa5e117e9_3_123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6" name="Google Shape;826;g36aa5e117e9_3_1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36aa5e117e9_3_1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2" name="Google Shape;832;g36aa5e117e9_3_12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36aa5e117e9_3_12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0" name="Google Shape;840;g36aa5e117e9_3_12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6aa5e117e9_3_12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8" name="Google Shape;848;g36aa5e117e9_3_12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36aa5e117e9_3_1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6" name="Google Shape;856;g36aa5e117e9_3_1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Connection spoofing, connection resetting, and data injection</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36aa5e117e9_3_1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2" name="Google Shape;862;g36aa5e117e9_3_12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example about TCP options:</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 Maximum Segment Size (MSS) : max tcp payload, willing to receive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 Selective Acknowledgements (SACK) : explicitly say what bytes were received </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36aa5e117e9_3_129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8" name="Google Shape;868;g36aa5e117e9_3_12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36aa5e117e9_3_1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4" name="Google Shape;874;g36aa5e117e9_3_1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6aa5e117e9_3_1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0" name="Google Shape;880;g36aa5e117e9_3_13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could combine into three-way handshake</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36aa5e117e9_3_13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7" name="Google Shape;887;g36aa5e117e9_3_13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If side that sent RST receives more packets, will resend the RST</a:t>
            </a:r>
            <a:endParaRPr sz="1200">
              <a:solidFill>
                <a:schemeClr val="dk1"/>
              </a:solidFill>
              <a:latin typeface="Calibri"/>
              <a:ea typeface="Calibri"/>
              <a:cs typeface="Calibri"/>
              <a:sym typeface="Calibri"/>
            </a:endParaRPr>
          </a:p>
          <a:p>
            <a:pPr marL="457200" lvl="0" indent="-298450" algn="l" rtl="0">
              <a:lnSpc>
                <a:spcPct val="100000"/>
              </a:lnSpc>
              <a:spcBef>
                <a:spcPts val="0"/>
              </a:spcBef>
              <a:spcAft>
                <a:spcPts val="0"/>
              </a:spcAft>
              <a:buClr>
                <a:schemeClr val="dk1"/>
              </a:buClr>
              <a:buSzPts val="1100"/>
              <a:buChar char="-"/>
            </a:pPr>
            <a:r>
              <a:rPr lang="en">
                <a:solidFill>
                  <a:schemeClr val="dk1"/>
                </a:solidFill>
              </a:rPr>
              <a:t>what if receiving process dies? (eg segfault)</a:t>
            </a: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36aa5e117e9_3_131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3" name="Google Shape;893;g36aa5e117e9_3_1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36aa5e117e9_3_13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9" name="Google Shape;899;g36aa5e117e9_3_1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36aa5e117e9_3_1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5" name="Google Shape;905;g36aa5e117e9_3_13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Arial"/>
              <a:buNone/>
            </a:pPr>
            <a:r>
              <a:rPr lang="en" sz="1200">
                <a:solidFill>
                  <a:schemeClr val="dk1"/>
                </a:solidFill>
                <a:latin typeface="Calibri"/>
                <a:ea typeface="Calibri"/>
                <a:cs typeface="Calibri"/>
                <a:sym typeface="Calibri"/>
              </a:rPr>
              <a:t>exponential weighted moving average</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36aa5e117e9_3_13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1" name="Google Shape;911;g36aa5e117e9_3_13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36aa5e117e9_3_1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7" name="Google Shape;917;g36aa5e117e9_3_13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36aa5e117e9_3_133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3" name="Google Shape;923;g36aa5e117e9_3_1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344c3b177d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9" name="Google Shape;929;g344c3b177d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344c3b177df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5" name="Google Shape;955;g344c3b177df_0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36aa5e117e9_3_1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2" name="Google Shape;962;g36aa5e117e9_3_13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Note: there is no transmission delay, so D100, 200, 300 are sent at the same time. We just separated them here to follow convention of previous diagrams. That’s why it only takes 1 RTT for both A200s to get back, and the timer starts when they both get back.</a:t>
            </a:r>
            <a:endParaRPr/>
          </a:p>
          <a:p>
            <a:pPr marL="0" lvl="0" indent="0" algn="l" rtl="0">
              <a:lnSpc>
                <a:spcPct val="100000"/>
              </a:lnSpc>
              <a:spcBef>
                <a:spcPts val="0"/>
              </a:spcBef>
              <a:spcAft>
                <a:spcPts val="0"/>
              </a:spcAft>
              <a:buSzPts val="1100"/>
              <a:buNone/>
            </a:pPr>
            <a:r>
              <a:rPr lang="en"/>
              <a:t>Note: timer starts on every new ACK received.</a:t>
            </a:r>
            <a:endParaRPr/>
          </a:p>
        </p:txBody>
      </p:sp>
      <p:sp>
        <p:nvSpPr>
          <p:cNvPr id="963" name="Google Shape;963;g36aa5e117e9_3_13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36aa5e117e9_3_1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1" name="Google Shape;1001;g36aa5e117e9_3_14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2" name="Google Shape;1002;g36aa5e117e9_3_1405: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36aa5e117e9_3_1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4" name="Google Shape;1044;g36aa5e117e9_3_14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5" name="Google Shape;1045;g36aa5e117e9_3_14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41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344c3b177df_0_3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9" name="Google Shape;1059;g344c3b177df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344c3b177df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5" name="Google Shape;1065;g344c3b177df_0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344c3b177df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3" name="Google Shape;1073;g344c3b177df_0_1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344c3b177df_0_1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3" name="Google Shape;1083;g344c3b177df_0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solidFill>
                  <a:schemeClr val="dk1"/>
                </a:solidFill>
                <a:latin typeface="Calibri"/>
                <a:ea typeface="Calibri"/>
                <a:cs typeface="Calibri"/>
                <a:sym typeface="Calibri"/>
              </a:rPr>
              <a:t>Bandwidth delay product </a:t>
            </a:r>
            <a:endParaRPr sz="12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344c3b177df_0_3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1" name="Google Shape;1091;g344c3b177df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344c3b177df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7" name="Google Shape;1097;g344c3b177df_0_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344c3b177df_0_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5" name="Google Shape;1105;g344c3b177df_0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344c3b177df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3" name="Google Shape;1113;g344c3b177df_0_1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344c3b177df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1" name="Google Shape;1121;g344c3b177df_0_2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36a8da6ef7b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9" name="Google Shape;1129;g36a8da6ef7b_1_1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5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11" name="Google Shape;11;p55"/>
          <p:cNvSpPr txBox="1">
            <a:spLocks noGrp="1"/>
          </p:cNvSpPr>
          <p:nvPr>
            <p:ph type="subTitle" idx="1"/>
          </p:nvPr>
        </p:nvSpPr>
        <p:spPr>
          <a:xfrm>
            <a:off x="311700" y="2834125"/>
            <a:ext cx="8520600" cy="1536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 name="Google Shape;12;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5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b="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58"/>
          <p:cNvSpPr txBox="1">
            <a:spLocks noGrp="1"/>
          </p:cNvSpPr>
          <p:nvPr>
            <p:ph type="body" idx="1"/>
          </p:nvPr>
        </p:nvSpPr>
        <p:spPr>
          <a:xfrm>
            <a:off x="107050" y="402200"/>
            <a:ext cx="8909700" cy="45306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6" name="Google Shape;16;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cxnSp>
        <p:nvCxnSpPr>
          <p:cNvPr id="17" name="Google Shape;17;p58"/>
          <p:cNvCxnSpPr/>
          <p:nvPr/>
        </p:nvCxnSpPr>
        <p:spPr>
          <a:xfrm>
            <a:off x="95431" y="402210"/>
            <a:ext cx="89097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18"/>
        <p:cNvGrpSpPr/>
        <p:nvPr/>
      </p:nvGrpSpPr>
      <p:grpSpPr>
        <a:xfrm>
          <a:off x="0" y="0"/>
          <a:ext cx="0" cy="0"/>
          <a:chOff x="0" y="0"/>
          <a:chExt cx="0" cy="0"/>
        </a:xfrm>
      </p:grpSpPr>
      <p:sp>
        <p:nvSpPr>
          <p:cNvPr id="19" name="Google Shape;19;p57"/>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57"/>
          <p:cNvSpPr txBox="1">
            <a:spLocks noGrp="1"/>
          </p:cNvSpPr>
          <p:nvPr>
            <p:ph type="body" idx="1"/>
          </p:nvPr>
        </p:nvSpPr>
        <p:spPr>
          <a:xfrm>
            <a:off x="4812375" y="402198"/>
            <a:ext cx="3999900" cy="4260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algn="l">
              <a:lnSpc>
                <a:spcPct val="115000"/>
              </a:lnSpc>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2" name="Google Shape;22;p57"/>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cxnSp>
        <p:nvCxnSpPr>
          <p:cNvPr id="23" name="Google Shape;23;p57"/>
          <p:cNvCxnSpPr/>
          <p:nvPr/>
        </p:nvCxnSpPr>
        <p:spPr>
          <a:xfrm>
            <a:off x="266975" y="4049175"/>
            <a:ext cx="4038000" cy="0"/>
          </a:xfrm>
          <a:prstGeom prst="straightConnector1">
            <a:avLst/>
          </a:prstGeom>
          <a:noFill/>
          <a:ln w="19050" cap="flat" cmpd="sng">
            <a:solidFill>
              <a:srgbClr val="BF9000"/>
            </a:solidFill>
            <a:prstDash val="solid"/>
            <a:round/>
            <a:headEnd type="none" w="sm" len="sm"/>
            <a:tailEnd type="none" w="sm" len="sm"/>
          </a:ln>
        </p:spPr>
      </p:cxnSp>
      <p:sp>
        <p:nvSpPr>
          <p:cNvPr id="24" name="Google Shape;24;p57"/>
          <p:cNvSpPr txBox="1">
            <a:spLocks noGrp="1"/>
          </p:cNvSpPr>
          <p:nvPr>
            <p:ph type="subTitle" idx="2"/>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600"/>
              </a:spcBef>
              <a:spcAft>
                <a:spcPts val="0"/>
              </a:spcAft>
              <a:buSzPts val="1800"/>
              <a:buNone/>
              <a:defRPr/>
            </a:lvl1pPr>
            <a:lvl2pPr lvl="1" algn="l">
              <a:lnSpc>
                <a:spcPct val="100000"/>
              </a:lnSpc>
              <a:spcBef>
                <a:spcPts val="600"/>
              </a:spcBef>
              <a:spcAft>
                <a:spcPts val="0"/>
              </a:spcAft>
              <a:buSzPts val="2100"/>
              <a:buNone/>
              <a:defRPr sz="2100"/>
            </a:lvl2pPr>
            <a:lvl3pPr lvl="2" algn="l">
              <a:lnSpc>
                <a:spcPct val="100000"/>
              </a:lnSpc>
              <a:spcBef>
                <a:spcPts val="600"/>
              </a:spcBef>
              <a:spcAft>
                <a:spcPts val="0"/>
              </a:spcAft>
              <a:buSzPts val="2100"/>
              <a:buNone/>
              <a:defRPr sz="2100"/>
            </a:lvl3pPr>
            <a:lvl4pPr lvl="3" algn="l">
              <a:lnSpc>
                <a:spcPct val="100000"/>
              </a:lnSpc>
              <a:spcBef>
                <a:spcPts val="600"/>
              </a:spcBef>
              <a:spcAft>
                <a:spcPts val="0"/>
              </a:spcAft>
              <a:buSzPts val="2100"/>
              <a:buNone/>
              <a:defRPr sz="2100"/>
            </a:lvl4pPr>
            <a:lvl5pPr lvl="4" algn="l">
              <a:lnSpc>
                <a:spcPct val="100000"/>
              </a:lnSpc>
              <a:spcBef>
                <a:spcPts val="600"/>
              </a:spcBef>
              <a:spcAft>
                <a:spcPts val="0"/>
              </a:spcAft>
              <a:buSzPts val="2100"/>
              <a:buNone/>
              <a:defRPr sz="2100"/>
            </a:lvl5pPr>
            <a:lvl6pPr lvl="5" algn="l">
              <a:lnSpc>
                <a:spcPct val="100000"/>
              </a:lnSpc>
              <a:spcBef>
                <a:spcPts val="600"/>
              </a:spcBef>
              <a:spcAft>
                <a:spcPts val="0"/>
              </a:spcAft>
              <a:buSzPts val="2100"/>
              <a:buNone/>
              <a:defRPr sz="2100"/>
            </a:lvl6pPr>
            <a:lvl7pPr lvl="6" algn="l">
              <a:lnSpc>
                <a:spcPct val="100000"/>
              </a:lnSpc>
              <a:spcBef>
                <a:spcPts val="600"/>
              </a:spcBef>
              <a:spcAft>
                <a:spcPts val="0"/>
              </a:spcAft>
              <a:buSzPts val="2100"/>
              <a:buNone/>
              <a:defRPr sz="2100"/>
            </a:lvl7pPr>
            <a:lvl8pPr lvl="7" algn="l">
              <a:lnSpc>
                <a:spcPct val="100000"/>
              </a:lnSpc>
              <a:spcBef>
                <a:spcPts val="600"/>
              </a:spcBef>
              <a:spcAft>
                <a:spcPts val="0"/>
              </a:spcAft>
              <a:buSzPts val="2100"/>
              <a:buNone/>
              <a:defRPr sz="2100"/>
            </a:lvl8pPr>
            <a:lvl9pPr lvl="8" algn="l">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3">
  <p:cSld name="SECTION_HEADER_3">
    <p:spTree>
      <p:nvGrpSpPr>
        <p:cNvPr id="1" name="Shape 25"/>
        <p:cNvGrpSpPr/>
        <p:nvPr/>
      </p:nvGrpSpPr>
      <p:grpSpPr>
        <a:xfrm>
          <a:off x="0" y="0"/>
          <a:ext cx="0" cy="0"/>
          <a:chOff x="0" y="0"/>
          <a:chExt cx="0" cy="0"/>
        </a:xfrm>
      </p:grpSpPr>
      <p:sp>
        <p:nvSpPr>
          <p:cNvPr id="26" name="Google Shape;26;g328f2d3a351_0_56"/>
          <p:cNvSpPr txBox="1">
            <a:spLocks noGrp="1"/>
          </p:cNvSpPr>
          <p:nvPr>
            <p:ph type="title"/>
          </p:nvPr>
        </p:nvSpPr>
        <p:spPr>
          <a:xfrm>
            <a:off x="671250" y="2141250"/>
            <a:ext cx="7852200" cy="861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1pPr>
            <a:lvl2pPr marR="0" lvl="1"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2pPr>
            <a:lvl3pPr marR="0" lvl="2"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3pPr>
            <a:lvl4pPr marR="0" lvl="3"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4pPr>
            <a:lvl5pPr marR="0" lvl="4"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5pPr>
            <a:lvl6pPr marR="0" lvl="5"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6pPr>
            <a:lvl7pPr marR="0" lvl="6"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7pPr>
            <a:lvl8pPr marR="0" lvl="7"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8pPr>
            <a:lvl9pPr marR="0" lvl="8"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9pPr>
          </a:lstStyle>
          <a:p>
            <a:endParaRPr/>
          </a:p>
        </p:txBody>
      </p:sp>
      <p:sp>
        <p:nvSpPr>
          <p:cNvPr id="27" name="Google Shape;27;g328f2d3a351_0_56"/>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5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EF6C00"/>
              </a:buClr>
              <a:buSzPts val="4400"/>
              <a:buFont typeface="PT Sans Narrow"/>
              <a:buNone/>
              <a:defRPr sz="4400" b="1" i="0" u="none" strike="noStrike" cap="none">
                <a:solidFill>
                  <a:srgbClr val="EF6C00"/>
                </a:solidFill>
                <a:latin typeface="PT Sans Narrow"/>
                <a:ea typeface="PT Sans Narrow"/>
                <a:cs typeface="PT Sans Narrow"/>
                <a:sym typeface="PT Sans Narrow"/>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0" name="Google Shape;30;p56"/>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rgbClr val="695D46"/>
              </a:buClr>
              <a:buSzPts val="2400"/>
              <a:buFont typeface="Arial"/>
              <a:buChar char="•"/>
              <a:defRPr sz="2400" b="0" i="0" u="none" strike="noStrike" cap="none">
                <a:solidFill>
                  <a:srgbClr val="695D46"/>
                </a:solidFill>
                <a:latin typeface="Open Sans"/>
                <a:ea typeface="Open Sans"/>
                <a:cs typeface="Open Sans"/>
                <a:sym typeface="Open Sans"/>
              </a:defRPr>
            </a:lvl1pPr>
            <a:lvl2pPr marL="914400" marR="0" lvl="1"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2pPr>
            <a:lvl3pPr marL="1371600" marR="0" lvl="2"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3pPr>
            <a:lvl4pPr marL="1828800" marR="0" lvl="3"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4pPr>
            <a:lvl5pPr marL="2286000" marR="0" lvl="4"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 name="Google Shape;31;p5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5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5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cxnSp>
        <p:nvCxnSpPr>
          <p:cNvPr id="34" name="Google Shape;34;p56"/>
          <p:cNvCxnSpPr/>
          <p:nvPr/>
        </p:nvCxnSpPr>
        <p:spPr>
          <a:xfrm>
            <a:off x="0" y="5118865"/>
            <a:ext cx="9144000" cy="0"/>
          </a:xfrm>
          <a:prstGeom prst="straightConnector1">
            <a:avLst/>
          </a:prstGeom>
          <a:noFill/>
          <a:ln w="127000" cap="flat" cmpd="sng">
            <a:solidFill>
              <a:schemeClr val="accent2"/>
            </a:solidFill>
            <a:prstDash val="solid"/>
            <a:round/>
            <a:headEnd type="none" w="sm" len="sm"/>
            <a:tailEnd type="none" w="sm" len="sm"/>
          </a:ln>
          <a:effectLst>
            <a:outerShdw blurRad="40000" dist="20000" dir="5400000" rotWithShape="0">
              <a:srgbClr val="000000">
                <a:alpha val="33725"/>
              </a:srgbClr>
            </a:outerShdw>
          </a:effectLst>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5"/>
        <p:cNvGrpSpPr/>
        <p:nvPr/>
      </p:nvGrpSpPr>
      <p:grpSpPr>
        <a:xfrm>
          <a:off x="0" y="0"/>
          <a:ext cx="0" cy="0"/>
          <a:chOff x="0" y="0"/>
          <a:chExt cx="0" cy="0"/>
        </a:xfrm>
      </p:grpSpPr>
      <p:sp>
        <p:nvSpPr>
          <p:cNvPr id="36" name="Google Shape;36;g36a9663c22c_0_821"/>
          <p:cNvSpPr txBox="1">
            <a:spLocks noGrp="1"/>
          </p:cNvSpPr>
          <p:nvPr>
            <p:ph type="body" idx="1"/>
          </p:nvPr>
        </p:nvSpPr>
        <p:spPr>
          <a:xfrm>
            <a:off x="722313" y="2180035"/>
            <a:ext cx="7772400" cy="1125300"/>
          </a:xfrm>
          <a:prstGeom prst="rect">
            <a:avLst/>
          </a:prstGeom>
          <a:noFill/>
          <a:ln>
            <a:noFill/>
          </a:ln>
        </p:spPr>
        <p:txBody>
          <a:bodyPr spcFirstLastPara="1" wrap="square" lIns="91425" tIns="91425" rIns="91425" bIns="91425" anchor="b" anchorCtr="0">
            <a:noAutofit/>
          </a:bodyPr>
          <a:lstStyle>
            <a:lvl1pPr marL="457200" marR="0" lvl="0" indent="-228600" algn="ctr">
              <a:lnSpc>
                <a:spcPct val="100000"/>
              </a:lnSpc>
              <a:spcBef>
                <a:spcPts val="2400"/>
              </a:spcBef>
              <a:spcAft>
                <a:spcPts val="0"/>
              </a:spcAft>
              <a:buClr>
                <a:schemeClr val="accent2"/>
              </a:buClr>
              <a:buSzPts val="2400"/>
              <a:buFont typeface="Arial"/>
              <a:buNone/>
              <a:defRPr sz="12000" b="1" i="0" u="none" strike="noStrike" cap="none">
                <a:solidFill>
                  <a:schemeClr val="accent2"/>
                </a:solidFill>
                <a:latin typeface="PT Sans Narrow"/>
                <a:ea typeface="PT Sans Narrow"/>
                <a:cs typeface="PT Sans Narrow"/>
                <a:sym typeface="PT Sans Narrow"/>
              </a:defRPr>
            </a:lvl1pPr>
            <a:lvl2pPr marL="914400" marR="0" lvl="1" indent="-228600" algn="l">
              <a:lnSpc>
                <a:spcPct val="100000"/>
              </a:lnSpc>
              <a:spcBef>
                <a:spcPts val="360"/>
              </a:spcBef>
              <a:spcAft>
                <a:spcPts val="0"/>
              </a:spcAft>
              <a:buClr>
                <a:srgbClr val="888888"/>
              </a:buClr>
              <a:buSzPts val="2000"/>
              <a:buFont typeface="Arial"/>
              <a:buNone/>
              <a:defRPr sz="1800" b="0" i="0" u="none" strike="noStrike" cap="none">
                <a:solidFill>
                  <a:srgbClr val="888888"/>
                </a:solidFill>
                <a:latin typeface="Open Sans"/>
                <a:ea typeface="Open Sans"/>
                <a:cs typeface="Open Sans"/>
                <a:sym typeface="Open Sans"/>
              </a:defRPr>
            </a:lvl2pPr>
            <a:lvl3pPr marL="1371600" marR="0" lvl="2" indent="-228600" algn="l">
              <a:lnSpc>
                <a:spcPct val="100000"/>
              </a:lnSpc>
              <a:spcBef>
                <a:spcPts val="320"/>
              </a:spcBef>
              <a:spcAft>
                <a:spcPts val="0"/>
              </a:spcAft>
              <a:buClr>
                <a:srgbClr val="888888"/>
              </a:buClr>
              <a:buSzPts val="2000"/>
              <a:buFont typeface="Arial"/>
              <a:buNone/>
              <a:defRPr sz="1600" b="0" i="0" u="none" strike="noStrike" cap="none">
                <a:solidFill>
                  <a:srgbClr val="888888"/>
                </a:solidFill>
                <a:latin typeface="Open Sans"/>
                <a:ea typeface="Open Sans"/>
                <a:cs typeface="Open Sans"/>
                <a:sym typeface="Open Sans"/>
              </a:defRPr>
            </a:lvl3pPr>
            <a:lvl4pPr marL="1828800" marR="0" lvl="3"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Open Sans"/>
                <a:ea typeface="Open Sans"/>
                <a:cs typeface="Open Sans"/>
                <a:sym typeface="Open Sans"/>
              </a:defRPr>
            </a:lvl4pPr>
            <a:lvl5pPr marL="2286000" marR="0" lvl="4"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Open Sans"/>
                <a:ea typeface="Open Sans"/>
                <a:cs typeface="Open Sans"/>
                <a:sym typeface="Open Sans"/>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7" name="Google Shape;37;g36a9663c22c_0_821"/>
          <p:cNvSpPr txBox="1">
            <a:spLocks noGrp="1"/>
          </p:cNvSpPr>
          <p:nvPr>
            <p:ph type="dt" idx="10"/>
          </p:nvPr>
        </p:nvSpPr>
        <p:spPr>
          <a:xfrm>
            <a:off x="457200" y="4767263"/>
            <a:ext cx="2133600" cy="2739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g36a9663c22c_0_821"/>
          <p:cNvSpPr txBox="1">
            <a:spLocks noGrp="1"/>
          </p:cNvSpPr>
          <p:nvPr>
            <p:ph type="ftr" idx="11"/>
          </p:nvPr>
        </p:nvSpPr>
        <p:spPr>
          <a:xfrm>
            <a:off x="3124200" y="4767263"/>
            <a:ext cx="2895600" cy="2739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g36a9663c22c_0_82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59"/>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cxnSp>
        <p:nvCxnSpPr>
          <p:cNvPr id="43" name="Google Shape;43;p59"/>
          <p:cNvCxnSpPr/>
          <p:nvPr/>
        </p:nvCxnSpPr>
        <p:spPr>
          <a:xfrm>
            <a:off x="95431" y="402210"/>
            <a:ext cx="89097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44"/>
        <p:cNvGrpSpPr/>
        <p:nvPr/>
      </p:nvGrpSpPr>
      <p:grpSpPr>
        <a:xfrm>
          <a:off x="0" y="0"/>
          <a:ext cx="0" cy="0"/>
          <a:chOff x="0" y="0"/>
          <a:chExt cx="0" cy="0"/>
        </a:xfrm>
      </p:grpSpPr>
      <p:sp>
        <p:nvSpPr>
          <p:cNvPr id="45" name="Google Shape;45;p60"/>
          <p:cNvSpPr txBox="1">
            <a:spLocks noGrp="1"/>
          </p:cNvSpPr>
          <p:nvPr>
            <p:ph type="title"/>
          </p:nvPr>
        </p:nvSpPr>
        <p:spPr>
          <a:xfrm>
            <a:off x="671250" y="2141250"/>
            <a:ext cx="7852200" cy="861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1pPr>
            <a:lvl2pPr marR="0" lvl="1"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2pPr>
            <a:lvl3pPr marR="0" lvl="2"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3pPr>
            <a:lvl4pPr marR="0" lvl="3"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4pPr>
            <a:lvl5pPr marR="0" lvl="4"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5pPr>
            <a:lvl6pPr marR="0" lvl="5"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6pPr>
            <a:lvl7pPr marR="0" lvl="6"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7pPr>
            <a:lvl8pPr marR="0" lvl="7"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8pPr>
            <a:lvl9pPr marR="0" lvl="8"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9pPr>
          </a:lstStyle>
          <a:p>
            <a:endParaRPr/>
          </a:p>
        </p:txBody>
      </p:sp>
      <p:sp>
        <p:nvSpPr>
          <p:cNvPr id="46" name="Google Shape;46;p60"/>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9" name="Google Shape;49;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61"/>
          <p:cNvSpPr txBox="1">
            <a:spLocks noGrp="1"/>
          </p:cNvSpPr>
          <p:nvPr>
            <p:ph type="subTitle" idx="1"/>
          </p:nvPr>
        </p:nvSpPr>
        <p:spPr>
          <a:xfrm>
            <a:off x="311700" y="2834125"/>
            <a:ext cx="8520600" cy="153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51"/>
        <p:cNvGrpSpPr/>
        <p:nvPr/>
      </p:nvGrpSpPr>
      <p:grpSpPr>
        <a:xfrm>
          <a:off x="0" y="0"/>
          <a:ext cx="0" cy="0"/>
          <a:chOff x="0" y="0"/>
          <a:chExt cx="0" cy="0"/>
        </a:xfrm>
      </p:grpSpPr>
      <p:sp>
        <p:nvSpPr>
          <p:cNvPr id="52" name="Google Shape;52;p62"/>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62"/>
          <p:cNvSpPr txBox="1">
            <a:spLocks noGrp="1"/>
          </p:cNvSpPr>
          <p:nvPr>
            <p:ph type="subTitle" idx="1"/>
          </p:nvPr>
        </p:nvSpPr>
        <p:spPr>
          <a:xfrm>
            <a:off x="4835400" y="4198275"/>
            <a:ext cx="4045200" cy="465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54" name="Google Shape;54;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62"/>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Demo Slides</a:t>
            </a:r>
            <a:endParaRPr sz="2500" b="1" i="0" u="none" strike="noStrike" cap="none">
              <a:solidFill>
                <a:schemeClr val="accent3"/>
              </a:solidFill>
              <a:latin typeface="Roboto"/>
              <a:ea typeface="Roboto"/>
              <a:cs typeface="Roboto"/>
              <a:sym typeface="Roboto"/>
            </a:endParaRPr>
          </a:p>
        </p:txBody>
      </p:sp>
      <p:sp>
        <p:nvSpPr>
          <p:cNvPr id="56" name="Google Shape;56;p62"/>
          <p:cNvSpPr txBox="1">
            <a:spLocks noGrp="1"/>
          </p:cNvSpPr>
          <p:nvPr>
            <p:ph type="body" idx="2"/>
          </p:nvPr>
        </p:nvSpPr>
        <p:spPr>
          <a:xfrm>
            <a:off x="95425" y="402200"/>
            <a:ext cx="43023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7" name="Google Shape;57;p62"/>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58" name="Google Shape;58;p62"/>
          <p:cNvCxnSpPr/>
          <p:nvPr/>
        </p:nvCxnSpPr>
        <p:spPr>
          <a:xfrm>
            <a:off x="95431" y="402210"/>
            <a:ext cx="43521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59"/>
        <p:cNvGrpSpPr/>
        <p:nvPr/>
      </p:nvGrpSpPr>
      <p:grpSpPr>
        <a:xfrm>
          <a:off x="0" y="0"/>
          <a:ext cx="0" cy="0"/>
          <a:chOff x="0" y="0"/>
          <a:chExt cx="0" cy="0"/>
        </a:xfrm>
      </p:grpSpPr>
      <p:sp>
        <p:nvSpPr>
          <p:cNvPr id="60" name="Google Shape;60;p63"/>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3"/>
          <p:cNvSpPr txBox="1">
            <a:spLocks noGrp="1"/>
          </p:cNvSpPr>
          <p:nvPr>
            <p:ph type="subTitle" idx="1"/>
          </p:nvPr>
        </p:nvSpPr>
        <p:spPr>
          <a:xfrm>
            <a:off x="225450" y="3943400"/>
            <a:ext cx="4045200" cy="465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62" name="Google Shape;62;p63"/>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Demo Slides</a:t>
            </a:r>
            <a:endParaRPr sz="2500" b="1" i="0" u="none" strike="noStrike" cap="none">
              <a:solidFill>
                <a:schemeClr val="accent3"/>
              </a:solidFill>
              <a:latin typeface="Roboto"/>
              <a:ea typeface="Roboto"/>
              <a:cs typeface="Roboto"/>
              <a:sym typeface="Roboto"/>
            </a:endParaRPr>
          </a:p>
        </p:txBody>
      </p:sp>
      <p:sp>
        <p:nvSpPr>
          <p:cNvPr id="63" name="Google Shape;63;p63"/>
          <p:cNvSpPr txBox="1">
            <a:spLocks noGrp="1"/>
          </p:cNvSpPr>
          <p:nvPr>
            <p:ph type="body" idx="2"/>
          </p:nvPr>
        </p:nvSpPr>
        <p:spPr>
          <a:xfrm>
            <a:off x="4667425" y="402200"/>
            <a:ext cx="43023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4" name="Google Shape;64;p63"/>
          <p:cNvSpPr txBox="1">
            <a:spLocks noGrp="1"/>
          </p:cNvSpPr>
          <p:nvPr>
            <p:ph type="title"/>
          </p:nvPr>
        </p:nvSpPr>
        <p:spPr>
          <a:xfrm>
            <a:off x="4572000" y="0"/>
            <a:ext cx="4572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65" name="Google Shape;65;p63"/>
          <p:cNvCxnSpPr/>
          <p:nvPr/>
        </p:nvCxnSpPr>
        <p:spPr>
          <a:xfrm>
            <a:off x="4667431" y="402210"/>
            <a:ext cx="4352100" cy="0"/>
          </a:xfrm>
          <a:prstGeom prst="straightConnector1">
            <a:avLst/>
          </a:prstGeom>
          <a:noFill/>
          <a:ln w="19050" cap="flat" cmpd="sng">
            <a:solidFill>
              <a:srgbClr val="BF9000"/>
            </a:solidFill>
            <a:prstDash val="solid"/>
            <a:round/>
            <a:headEnd type="none" w="sm" len="sm"/>
            <a:tailEnd type="none" w="sm" len="sm"/>
          </a:ln>
        </p:spPr>
      </p:cxnSp>
      <p:pic>
        <p:nvPicPr>
          <p:cNvPr id="66" name="Google Shape;66;p63"/>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67" name="Google Shape;67;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68"/>
        <p:cNvGrpSpPr/>
        <p:nvPr/>
      </p:nvGrpSpPr>
      <p:grpSpPr>
        <a:xfrm>
          <a:off x="0" y="0"/>
          <a:ext cx="0" cy="0"/>
          <a:chOff x="0" y="0"/>
          <a:chExt cx="0" cy="0"/>
        </a:xfrm>
      </p:grpSpPr>
      <p:sp>
        <p:nvSpPr>
          <p:cNvPr id="69" name="Google Shape;69;p64"/>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64"/>
          <p:cNvSpPr txBox="1">
            <a:spLocks noGrp="1"/>
          </p:cNvSpPr>
          <p:nvPr>
            <p:ph type="subTitle" idx="1"/>
          </p:nvPr>
        </p:nvSpPr>
        <p:spPr>
          <a:xfrm>
            <a:off x="225450" y="3943400"/>
            <a:ext cx="2450400" cy="71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71" name="Google Shape;71;p64"/>
          <p:cNvSpPr txBox="1">
            <a:spLocks noGrp="1"/>
          </p:cNvSpPr>
          <p:nvPr>
            <p:ph type="body" idx="2"/>
          </p:nvPr>
        </p:nvSpPr>
        <p:spPr>
          <a:xfrm>
            <a:off x="2937350" y="402200"/>
            <a:ext cx="60324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2" name="Google Shape;72;p64"/>
          <p:cNvSpPr txBox="1">
            <a:spLocks noGrp="1"/>
          </p:cNvSpPr>
          <p:nvPr>
            <p:ph type="title"/>
          </p:nvPr>
        </p:nvSpPr>
        <p:spPr>
          <a:xfrm>
            <a:off x="2776500" y="0"/>
            <a:ext cx="63675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73" name="Google Shape;73;p64"/>
          <p:cNvCxnSpPr/>
          <p:nvPr/>
        </p:nvCxnSpPr>
        <p:spPr>
          <a:xfrm>
            <a:off x="2937350" y="402200"/>
            <a:ext cx="6082200" cy="0"/>
          </a:xfrm>
          <a:prstGeom prst="straightConnector1">
            <a:avLst/>
          </a:prstGeom>
          <a:noFill/>
          <a:ln w="19050" cap="flat" cmpd="sng">
            <a:solidFill>
              <a:srgbClr val="BF9000"/>
            </a:solidFill>
            <a:prstDash val="solid"/>
            <a:round/>
            <a:headEnd type="none" w="sm" len="sm"/>
            <a:tailEnd type="none" w="sm" len="sm"/>
          </a:ln>
        </p:spPr>
      </p:cxnSp>
      <p:pic>
        <p:nvPicPr>
          <p:cNvPr id="74" name="Google Shape;74;p64"/>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75" name="Google Shape;75;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76" name="Google Shape;76;p64"/>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Demo</a:t>
            </a:r>
            <a:endParaRPr sz="2500" b="1" i="0" u="none" strike="noStrike" cap="none">
              <a:solidFill>
                <a:schemeClr val="accent3"/>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77"/>
        <p:cNvGrpSpPr/>
        <p:nvPr/>
      </p:nvGrpSpPr>
      <p:grpSpPr>
        <a:xfrm>
          <a:off x="0" y="0"/>
          <a:ext cx="0" cy="0"/>
          <a:chOff x="0" y="0"/>
          <a:chExt cx="0" cy="0"/>
        </a:xfrm>
      </p:grpSpPr>
      <p:sp>
        <p:nvSpPr>
          <p:cNvPr id="78" name="Google Shape;78;p65"/>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65"/>
          <p:cNvSpPr txBox="1">
            <a:spLocks noGrp="1"/>
          </p:cNvSpPr>
          <p:nvPr>
            <p:ph type="subTitle" idx="1"/>
          </p:nvPr>
        </p:nvSpPr>
        <p:spPr>
          <a:xfrm>
            <a:off x="225450" y="3943400"/>
            <a:ext cx="2450400" cy="71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80" name="Google Shape;80;p65"/>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Compare</a:t>
            </a:r>
            <a:endParaRPr sz="2500" b="1" i="0" u="none" strike="noStrike" cap="none">
              <a:solidFill>
                <a:schemeClr val="accent3"/>
              </a:solidFill>
              <a:latin typeface="Roboto"/>
              <a:ea typeface="Roboto"/>
              <a:cs typeface="Roboto"/>
              <a:sym typeface="Roboto"/>
            </a:endParaRPr>
          </a:p>
        </p:txBody>
      </p:sp>
      <p:sp>
        <p:nvSpPr>
          <p:cNvPr id="81" name="Google Shape;81;p65"/>
          <p:cNvSpPr txBox="1">
            <a:spLocks noGrp="1"/>
          </p:cNvSpPr>
          <p:nvPr>
            <p:ph type="body" idx="2"/>
          </p:nvPr>
        </p:nvSpPr>
        <p:spPr>
          <a:xfrm>
            <a:off x="2937350" y="402200"/>
            <a:ext cx="60324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82" name="Google Shape;82;p65"/>
          <p:cNvSpPr txBox="1">
            <a:spLocks noGrp="1"/>
          </p:cNvSpPr>
          <p:nvPr>
            <p:ph type="title"/>
          </p:nvPr>
        </p:nvSpPr>
        <p:spPr>
          <a:xfrm>
            <a:off x="2776500" y="0"/>
            <a:ext cx="63675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83" name="Google Shape;83;p65"/>
          <p:cNvCxnSpPr/>
          <p:nvPr/>
        </p:nvCxnSpPr>
        <p:spPr>
          <a:xfrm>
            <a:off x="2937350" y="402200"/>
            <a:ext cx="6082200" cy="0"/>
          </a:xfrm>
          <a:prstGeom prst="straightConnector1">
            <a:avLst/>
          </a:prstGeom>
          <a:noFill/>
          <a:ln w="19050" cap="flat" cmpd="sng">
            <a:solidFill>
              <a:srgbClr val="BF9000"/>
            </a:solidFill>
            <a:prstDash val="solid"/>
            <a:round/>
            <a:headEnd type="none" w="sm" len="sm"/>
            <a:tailEnd type="none" w="sm" len="sm"/>
          </a:ln>
        </p:spPr>
      </p:cxnSp>
      <p:pic>
        <p:nvPicPr>
          <p:cNvPr id="84" name="Google Shape;84;p65"/>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85" name="Google Shape;85;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86"/>
        <p:cNvGrpSpPr/>
        <p:nvPr/>
      </p:nvGrpSpPr>
      <p:grpSpPr>
        <a:xfrm>
          <a:off x="0" y="0"/>
          <a:ext cx="0" cy="0"/>
          <a:chOff x="0" y="0"/>
          <a:chExt cx="0" cy="0"/>
        </a:xfrm>
      </p:grpSpPr>
      <p:sp>
        <p:nvSpPr>
          <p:cNvPr id="87" name="Google Shape;87;p66"/>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6"/>
          <p:cNvSpPr txBox="1">
            <a:spLocks noGrp="1"/>
          </p:cNvSpPr>
          <p:nvPr>
            <p:ph type="subTitle" idx="1"/>
          </p:nvPr>
        </p:nvSpPr>
        <p:spPr>
          <a:xfrm>
            <a:off x="225450" y="3943400"/>
            <a:ext cx="2450400" cy="71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89" name="Google Shape;89;p66"/>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Solution</a:t>
            </a:r>
            <a:endParaRPr sz="2500" b="1" i="0" u="none" strike="noStrike" cap="none">
              <a:solidFill>
                <a:schemeClr val="accent3"/>
              </a:solidFill>
              <a:latin typeface="Roboto"/>
              <a:ea typeface="Roboto"/>
              <a:cs typeface="Roboto"/>
              <a:sym typeface="Roboto"/>
            </a:endParaRPr>
          </a:p>
        </p:txBody>
      </p:sp>
      <p:sp>
        <p:nvSpPr>
          <p:cNvPr id="90" name="Google Shape;90;p66"/>
          <p:cNvSpPr txBox="1">
            <a:spLocks noGrp="1"/>
          </p:cNvSpPr>
          <p:nvPr>
            <p:ph type="body" idx="2"/>
          </p:nvPr>
        </p:nvSpPr>
        <p:spPr>
          <a:xfrm>
            <a:off x="2937350" y="402200"/>
            <a:ext cx="60324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91" name="Google Shape;91;p66"/>
          <p:cNvSpPr txBox="1">
            <a:spLocks noGrp="1"/>
          </p:cNvSpPr>
          <p:nvPr>
            <p:ph type="title"/>
          </p:nvPr>
        </p:nvSpPr>
        <p:spPr>
          <a:xfrm>
            <a:off x="2776500" y="0"/>
            <a:ext cx="63675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92" name="Google Shape;92;p66"/>
          <p:cNvCxnSpPr/>
          <p:nvPr/>
        </p:nvCxnSpPr>
        <p:spPr>
          <a:xfrm>
            <a:off x="2937350" y="402200"/>
            <a:ext cx="6082200" cy="0"/>
          </a:xfrm>
          <a:prstGeom prst="straightConnector1">
            <a:avLst/>
          </a:prstGeom>
          <a:noFill/>
          <a:ln w="19050" cap="flat" cmpd="sng">
            <a:solidFill>
              <a:srgbClr val="BF9000"/>
            </a:solidFill>
            <a:prstDash val="solid"/>
            <a:round/>
            <a:headEnd type="none" w="sm" len="sm"/>
            <a:tailEnd type="none" w="sm" len="sm"/>
          </a:ln>
        </p:spPr>
      </p:cxnSp>
      <p:pic>
        <p:nvPicPr>
          <p:cNvPr id="93" name="Google Shape;93;p66"/>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94" name="Google Shape;94;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5"/>
        <p:cNvGrpSpPr/>
        <p:nvPr/>
      </p:nvGrpSpPr>
      <p:grpSpPr>
        <a:xfrm>
          <a:off x="0" y="0"/>
          <a:ext cx="0" cy="0"/>
          <a:chOff x="0" y="0"/>
          <a:chExt cx="0" cy="0"/>
        </a:xfrm>
      </p:grpSpPr>
      <p:sp>
        <p:nvSpPr>
          <p:cNvPr id="96" name="Google Shape;96;p67"/>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7" name="Google Shape;97;p67"/>
          <p:cNvSpPr txBox="1">
            <a:spLocks noGrp="1"/>
          </p:cNvSpPr>
          <p:nvPr>
            <p:ph type="body" idx="1"/>
          </p:nvPr>
        </p:nvSpPr>
        <p:spPr>
          <a:xfrm>
            <a:off x="4812381" y="402206"/>
            <a:ext cx="39999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98" name="Google Shape;9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cxnSp>
        <p:nvCxnSpPr>
          <p:cNvPr id="99" name="Google Shape;99;p67"/>
          <p:cNvCxnSpPr/>
          <p:nvPr/>
        </p:nvCxnSpPr>
        <p:spPr>
          <a:xfrm>
            <a:off x="95431" y="402210"/>
            <a:ext cx="8909700" cy="0"/>
          </a:xfrm>
          <a:prstGeom prst="straightConnector1">
            <a:avLst/>
          </a:prstGeom>
          <a:noFill/>
          <a:ln w="19050" cap="flat" cmpd="sng">
            <a:solidFill>
              <a:srgbClr val="BF9000"/>
            </a:solidFill>
            <a:prstDash val="solid"/>
            <a:round/>
            <a:headEnd type="none" w="sm" len="sm"/>
            <a:tailEnd type="none" w="sm" len="sm"/>
          </a:ln>
        </p:spPr>
      </p:cxnSp>
      <p:sp>
        <p:nvSpPr>
          <p:cNvPr id="100" name="Google Shape;100;p67"/>
          <p:cNvSpPr txBox="1">
            <a:spLocks noGrp="1"/>
          </p:cNvSpPr>
          <p:nvPr>
            <p:ph type="body" idx="2"/>
          </p:nvPr>
        </p:nvSpPr>
        <p:spPr>
          <a:xfrm>
            <a:off x="95431" y="402206"/>
            <a:ext cx="39999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1"/>
        <p:cNvGrpSpPr/>
        <p:nvPr/>
      </p:nvGrpSpPr>
      <p:grpSpPr>
        <a:xfrm>
          <a:off x="0" y="0"/>
          <a:ext cx="0" cy="0"/>
          <a:chOff x="0" y="0"/>
          <a:chExt cx="0" cy="0"/>
        </a:xfrm>
      </p:grpSpPr>
      <p:sp>
        <p:nvSpPr>
          <p:cNvPr id="102" name="Google Shape;102;p6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03" name="Google Shape;103;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104"/>
        <p:cNvGrpSpPr/>
        <p:nvPr/>
      </p:nvGrpSpPr>
      <p:grpSpPr>
        <a:xfrm>
          <a:off x="0" y="0"/>
          <a:ext cx="0" cy="0"/>
          <a:chOff x="0" y="0"/>
          <a:chExt cx="0" cy="0"/>
        </a:xfrm>
      </p:grpSpPr>
      <p:sp>
        <p:nvSpPr>
          <p:cNvPr id="105" name="Google Shape;105;p6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6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07" name="Google Shape;107;p6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108" name="Google Shape;108;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69"/>
          <p:cNvSpPr txBox="1">
            <a:spLocks noGrp="1"/>
          </p:cNvSpPr>
          <p:nvPr>
            <p:ph type="body" idx="2"/>
          </p:nvPr>
        </p:nvSpPr>
        <p:spPr>
          <a:xfrm>
            <a:off x="4812381" y="402206"/>
            <a:ext cx="39999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0"/>
        <p:cNvGrpSpPr/>
        <p:nvPr/>
      </p:nvGrpSpPr>
      <p:grpSpPr>
        <a:xfrm>
          <a:off x="0" y="0"/>
          <a:ext cx="0" cy="0"/>
          <a:chOff x="0" y="0"/>
          <a:chExt cx="0" cy="0"/>
        </a:xfrm>
      </p:grpSpPr>
      <p:sp>
        <p:nvSpPr>
          <p:cNvPr id="111" name="Google Shape;111;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70"/>
          <p:cNvSpPr txBox="1">
            <a:spLocks noGrp="1"/>
          </p:cNvSpPr>
          <p:nvPr>
            <p:ph type="title"/>
          </p:nvPr>
        </p:nvSpPr>
        <p:spPr>
          <a:xfrm>
            <a:off x="95425" y="4288400"/>
            <a:ext cx="8658900" cy="768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algn="l">
              <a:lnSpc>
                <a:spcPct val="100000"/>
              </a:lnSpc>
              <a:spcBef>
                <a:spcPts val="0"/>
              </a:spcBef>
              <a:spcAft>
                <a:spcPts val="0"/>
              </a:spcAft>
              <a:buSzPts val="2400"/>
              <a:buFont typeface="Roboto"/>
              <a:buNone/>
              <a:defRPr sz="2400">
                <a:latin typeface="Roboto"/>
                <a:ea typeface="Roboto"/>
                <a:cs typeface="Roboto"/>
                <a:sym typeface="Roboto"/>
              </a:defRPr>
            </a:lvl2pPr>
            <a:lvl3pPr lvl="2" algn="l">
              <a:lnSpc>
                <a:spcPct val="100000"/>
              </a:lnSpc>
              <a:spcBef>
                <a:spcPts val="0"/>
              </a:spcBef>
              <a:spcAft>
                <a:spcPts val="0"/>
              </a:spcAft>
              <a:buSzPts val="2400"/>
              <a:buFont typeface="Roboto"/>
              <a:buNone/>
              <a:defRPr sz="2400">
                <a:latin typeface="Roboto"/>
                <a:ea typeface="Roboto"/>
                <a:cs typeface="Roboto"/>
                <a:sym typeface="Roboto"/>
              </a:defRPr>
            </a:lvl3pPr>
            <a:lvl4pPr lvl="3" algn="l">
              <a:lnSpc>
                <a:spcPct val="100000"/>
              </a:lnSpc>
              <a:spcBef>
                <a:spcPts val="0"/>
              </a:spcBef>
              <a:spcAft>
                <a:spcPts val="0"/>
              </a:spcAft>
              <a:buSzPts val="2400"/>
              <a:buFont typeface="Roboto"/>
              <a:buNone/>
              <a:defRPr sz="2400">
                <a:latin typeface="Roboto"/>
                <a:ea typeface="Roboto"/>
                <a:cs typeface="Roboto"/>
                <a:sym typeface="Roboto"/>
              </a:defRPr>
            </a:lvl4pPr>
            <a:lvl5pPr lvl="4" algn="l">
              <a:lnSpc>
                <a:spcPct val="100000"/>
              </a:lnSpc>
              <a:spcBef>
                <a:spcPts val="0"/>
              </a:spcBef>
              <a:spcAft>
                <a:spcPts val="0"/>
              </a:spcAft>
              <a:buSzPts val="2400"/>
              <a:buFont typeface="Roboto"/>
              <a:buNone/>
              <a:defRPr sz="2400">
                <a:latin typeface="Roboto"/>
                <a:ea typeface="Roboto"/>
                <a:cs typeface="Roboto"/>
                <a:sym typeface="Roboto"/>
              </a:defRPr>
            </a:lvl5pPr>
            <a:lvl6pPr lvl="5" algn="l">
              <a:lnSpc>
                <a:spcPct val="100000"/>
              </a:lnSpc>
              <a:spcBef>
                <a:spcPts val="0"/>
              </a:spcBef>
              <a:spcAft>
                <a:spcPts val="0"/>
              </a:spcAft>
              <a:buSzPts val="2400"/>
              <a:buFont typeface="Roboto"/>
              <a:buNone/>
              <a:defRPr sz="2400">
                <a:latin typeface="Roboto"/>
                <a:ea typeface="Roboto"/>
                <a:cs typeface="Roboto"/>
                <a:sym typeface="Roboto"/>
              </a:defRPr>
            </a:lvl6pPr>
            <a:lvl7pPr lvl="6" algn="l">
              <a:lnSpc>
                <a:spcPct val="100000"/>
              </a:lnSpc>
              <a:spcBef>
                <a:spcPts val="0"/>
              </a:spcBef>
              <a:spcAft>
                <a:spcPts val="0"/>
              </a:spcAft>
              <a:buSzPts val="2400"/>
              <a:buFont typeface="Roboto"/>
              <a:buNone/>
              <a:defRPr sz="2400">
                <a:latin typeface="Roboto"/>
                <a:ea typeface="Roboto"/>
                <a:cs typeface="Roboto"/>
                <a:sym typeface="Roboto"/>
              </a:defRPr>
            </a:lvl7pPr>
            <a:lvl8pPr lvl="7" algn="l">
              <a:lnSpc>
                <a:spcPct val="100000"/>
              </a:lnSpc>
              <a:spcBef>
                <a:spcPts val="0"/>
              </a:spcBef>
              <a:spcAft>
                <a:spcPts val="0"/>
              </a:spcAft>
              <a:buSzPts val="2400"/>
              <a:buFont typeface="Roboto"/>
              <a:buNone/>
              <a:defRPr sz="2400">
                <a:latin typeface="Roboto"/>
                <a:ea typeface="Roboto"/>
                <a:cs typeface="Roboto"/>
                <a:sym typeface="Roboto"/>
              </a:defRPr>
            </a:lvl8pPr>
            <a:lvl9pPr lvl="8" algn="l">
              <a:lnSpc>
                <a:spcPct val="100000"/>
              </a:lnSpc>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113" name="Google Shape;113;p70"/>
          <p:cNvCxnSpPr/>
          <p:nvPr/>
        </p:nvCxnSpPr>
        <p:spPr>
          <a:xfrm>
            <a:off x="168250" y="4288400"/>
            <a:ext cx="87570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4"/>
        <p:cNvGrpSpPr/>
        <p:nvPr/>
      </p:nvGrpSpPr>
      <p:grpSpPr>
        <a:xfrm>
          <a:off x="0" y="0"/>
          <a:ext cx="0" cy="0"/>
          <a:chOff x="0" y="0"/>
          <a:chExt cx="0" cy="0"/>
        </a:xfrm>
      </p:grpSpPr>
      <p:sp>
        <p:nvSpPr>
          <p:cNvPr id="115" name="Google Shape;115;p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16"/>
        <p:cNvGrpSpPr/>
        <p:nvPr/>
      </p:nvGrpSpPr>
      <p:grpSpPr>
        <a:xfrm>
          <a:off x="0" y="0"/>
          <a:ext cx="0" cy="0"/>
          <a:chOff x="0" y="0"/>
          <a:chExt cx="0" cy="0"/>
        </a:xfrm>
      </p:grpSpPr>
      <p:sp>
        <p:nvSpPr>
          <p:cNvPr id="117" name="Google Shape;117;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18"/>
        <p:cNvGrpSpPr/>
        <p:nvPr/>
      </p:nvGrpSpPr>
      <p:grpSpPr>
        <a:xfrm>
          <a:off x="0" y="0"/>
          <a:ext cx="0" cy="0"/>
          <a:chOff x="0" y="0"/>
          <a:chExt cx="0" cy="0"/>
        </a:xfrm>
      </p:grpSpPr>
      <p:sp>
        <p:nvSpPr>
          <p:cNvPr id="119" name="Google Shape;119;p73"/>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21" name="Google Shape;121;p73"/>
          <p:cNvSpPr txBox="1">
            <a:spLocks noGrp="1"/>
          </p:cNvSpPr>
          <p:nvPr>
            <p:ph type="body" idx="1"/>
          </p:nvPr>
        </p:nvSpPr>
        <p:spPr>
          <a:xfrm>
            <a:off x="4812375" y="402198"/>
            <a:ext cx="3999900" cy="4260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22" name="Google Shape;122;p73"/>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123" name="Google Shape;123;p73"/>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cxnSp>
        <p:nvCxnSpPr>
          <p:cNvPr id="124" name="Google Shape;124;p73"/>
          <p:cNvCxnSpPr/>
          <p:nvPr/>
        </p:nvCxnSpPr>
        <p:spPr>
          <a:xfrm>
            <a:off x="266975" y="4049175"/>
            <a:ext cx="4038000" cy="0"/>
          </a:xfrm>
          <a:prstGeom prst="straightConnector1">
            <a:avLst/>
          </a:prstGeom>
          <a:noFill/>
          <a:ln w="19050" cap="flat" cmpd="sng">
            <a:solidFill>
              <a:srgbClr val="BF9000"/>
            </a:solidFill>
            <a:prstDash val="solid"/>
            <a:round/>
            <a:headEnd type="none" w="sm" len="sm"/>
            <a:tailEnd type="none" w="sm" len="sm"/>
          </a:ln>
        </p:spPr>
      </p:cxnSp>
      <p:sp>
        <p:nvSpPr>
          <p:cNvPr id="125" name="Google Shape;125;p73"/>
          <p:cNvSpPr txBox="1">
            <a:spLocks noGrp="1"/>
          </p:cNvSpPr>
          <p:nvPr>
            <p:ph type="subTitle" idx="2"/>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600"/>
              </a:spcBef>
              <a:spcAft>
                <a:spcPts val="0"/>
              </a:spcAft>
              <a:buClr>
                <a:schemeClr val="lt1"/>
              </a:buClr>
              <a:buSzPts val="1800"/>
              <a:buNone/>
              <a:defRPr>
                <a:solidFill>
                  <a:schemeClr val="lt1"/>
                </a:solidFill>
              </a:defRPr>
            </a:lvl1pPr>
            <a:lvl2pPr lvl="1" algn="l">
              <a:lnSpc>
                <a:spcPct val="100000"/>
              </a:lnSpc>
              <a:spcBef>
                <a:spcPts val="600"/>
              </a:spcBef>
              <a:spcAft>
                <a:spcPts val="0"/>
              </a:spcAft>
              <a:buClr>
                <a:schemeClr val="lt1"/>
              </a:buClr>
              <a:buSzPts val="2100"/>
              <a:buNone/>
              <a:defRPr sz="2100">
                <a:solidFill>
                  <a:schemeClr val="lt1"/>
                </a:solidFill>
              </a:defRPr>
            </a:lvl2pPr>
            <a:lvl3pPr lvl="2" algn="l">
              <a:lnSpc>
                <a:spcPct val="100000"/>
              </a:lnSpc>
              <a:spcBef>
                <a:spcPts val="600"/>
              </a:spcBef>
              <a:spcAft>
                <a:spcPts val="0"/>
              </a:spcAft>
              <a:buClr>
                <a:schemeClr val="lt1"/>
              </a:buClr>
              <a:buSzPts val="2100"/>
              <a:buNone/>
              <a:defRPr sz="2100">
                <a:solidFill>
                  <a:schemeClr val="lt1"/>
                </a:solidFill>
              </a:defRPr>
            </a:lvl3pPr>
            <a:lvl4pPr lvl="3" algn="l">
              <a:lnSpc>
                <a:spcPct val="100000"/>
              </a:lnSpc>
              <a:spcBef>
                <a:spcPts val="600"/>
              </a:spcBef>
              <a:spcAft>
                <a:spcPts val="0"/>
              </a:spcAft>
              <a:buClr>
                <a:schemeClr val="lt1"/>
              </a:buClr>
              <a:buSzPts val="2100"/>
              <a:buNone/>
              <a:defRPr sz="2100">
                <a:solidFill>
                  <a:schemeClr val="lt1"/>
                </a:solidFill>
              </a:defRPr>
            </a:lvl4pPr>
            <a:lvl5pPr lvl="4" algn="l">
              <a:lnSpc>
                <a:spcPct val="100000"/>
              </a:lnSpc>
              <a:spcBef>
                <a:spcPts val="600"/>
              </a:spcBef>
              <a:spcAft>
                <a:spcPts val="0"/>
              </a:spcAft>
              <a:buClr>
                <a:schemeClr val="lt1"/>
              </a:buClr>
              <a:buSzPts val="2100"/>
              <a:buNone/>
              <a:defRPr sz="2100">
                <a:solidFill>
                  <a:schemeClr val="lt1"/>
                </a:solidFill>
              </a:defRPr>
            </a:lvl5pPr>
            <a:lvl6pPr lvl="5" algn="l">
              <a:lnSpc>
                <a:spcPct val="100000"/>
              </a:lnSpc>
              <a:spcBef>
                <a:spcPts val="600"/>
              </a:spcBef>
              <a:spcAft>
                <a:spcPts val="0"/>
              </a:spcAft>
              <a:buClr>
                <a:schemeClr val="lt1"/>
              </a:buClr>
              <a:buSzPts val="2100"/>
              <a:buNone/>
              <a:defRPr sz="2100">
                <a:solidFill>
                  <a:schemeClr val="lt1"/>
                </a:solidFill>
              </a:defRPr>
            </a:lvl6pPr>
            <a:lvl7pPr lvl="6" algn="l">
              <a:lnSpc>
                <a:spcPct val="100000"/>
              </a:lnSpc>
              <a:spcBef>
                <a:spcPts val="600"/>
              </a:spcBef>
              <a:spcAft>
                <a:spcPts val="0"/>
              </a:spcAft>
              <a:buClr>
                <a:schemeClr val="lt1"/>
              </a:buClr>
              <a:buSzPts val="2100"/>
              <a:buNone/>
              <a:defRPr sz="2100">
                <a:solidFill>
                  <a:schemeClr val="lt1"/>
                </a:solidFill>
              </a:defRPr>
            </a:lvl7pPr>
            <a:lvl8pPr lvl="7" algn="l">
              <a:lnSpc>
                <a:spcPct val="100000"/>
              </a:lnSpc>
              <a:spcBef>
                <a:spcPts val="600"/>
              </a:spcBef>
              <a:spcAft>
                <a:spcPts val="0"/>
              </a:spcAft>
              <a:buClr>
                <a:schemeClr val="lt1"/>
              </a:buClr>
              <a:buSzPts val="2100"/>
              <a:buNone/>
              <a:defRPr sz="2100">
                <a:solidFill>
                  <a:schemeClr val="lt1"/>
                </a:solidFill>
              </a:defRPr>
            </a:lvl8pPr>
            <a:lvl9pPr lvl="8" algn="l">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26"/>
        <p:cNvGrpSpPr/>
        <p:nvPr/>
      </p:nvGrpSpPr>
      <p:grpSpPr>
        <a:xfrm>
          <a:off x="0" y="0"/>
          <a:ext cx="0" cy="0"/>
          <a:chOff x="0" y="0"/>
          <a:chExt cx="0" cy="0"/>
        </a:xfrm>
      </p:grpSpPr>
      <p:sp>
        <p:nvSpPr>
          <p:cNvPr id="127" name="Google Shape;127;p7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7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29" name="Google Shape;129;p7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130" name="Google Shape;130;p7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31" name="Google Shape;131;p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32"/>
        <p:cNvGrpSpPr/>
        <p:nvPr/>
      </p:nvGrpSpPr>
      <p:grpSpPr>
        <a:xfrm>
          <a:off x="0" y="0"/>
          <a:ext cx="0" cy="0"/>
          <a:chOff x="0" y="0"/>
          <a:chExt cx="0" cy="0"/>
        </a:xfrm>
      </p:grpSpPr>
      <p:sp>
        <p:nvSpPr>
          <p:cNvPr id="133" name="Google Shape;133;p75"/>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75"/>
          <p:cNvSpPr txBox="1">
            <a:spLocks noGrp="1"/>
          </p:cNvSpPr>
          <p:nvPr>
            <p:ph type="body" idx="1"/>
          </p:nvPr>
        </p:nvSpPr>
        <p:spPr>
          <a:xfrm>
            <a:off x="4882900" y="1152150"/>
            <a:ext cx="3950100" cy="342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36" name="Google Shape;136;p75"/>
          <p:cNvSpPr txBox="1">
            <a:spLocks noGrp="1"/>
          </p:cNvSpPr>
          <p:nvPr>
            <p:ph type="body" idx="2"/>
          </p:nvPr>
        </p:nvSpPr>
        <p:spPr>
          <a:xfrm>
            <a:off x="310900" y="448050"/>
            <a:ext cx="3950100" cy="4124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37" name="Google Shape;137;p75"/>
          <p:cNvSpPr txBox="1">
            <a:spLocks noGrp="1"/>
          </p:cNvSpPr>
          <p:nvPr>
            <p:ph type="title"/>
          </p:nvPr>
        </p:nvSpPr>
        <p:spPr>
          <a:xfrm>
            <a:off x="4882900" y="445025"/>
            <a:ext cx="3950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138" name="Google Shape;138;p75"/>
          <p:cNvPicPr preferRelativeResize="0"/>
          <p:nvPr/>
        </p:nvPicPr>
        <p:blipFill rotWithShape="1">
          <a:blip r:embed="rId2">
            <a:alphaModFix/>
          </a:blip>
          <a:srcRect/>
          <a:stretch/>
        </p:blipFill>
        <p:spPr>
          <a:xfrm>
            <a:off x="0" y="4983478"/>
            <a:ext cx="457200" cy="160022"/>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39"/>
        <p:cNvGrpSpPr/>
        <p:nvPr/>
      </p:nvGrpSpPr>
      <p:grpSpPr>
        <a:xfrm>
          <a:off x="0" y="0"/>
          <a:ext cx="0" cy="0"/>
          <a:chOff x="0" y="0"/>
          <a:chExt cx="0" cy="0"/>
        </a:xfrm>
      </p:grpSpPr>
      <p:sp>
        <p:nvSpPr>
          <p:cNvPr id="140" name="Google Shape;140;p76"/>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42" name="Google Shape;142;p76"/>
          <p:cNvSpPr txBox="1">
            <a:spLocks noGrp="1"/>
          </p:cNvSpPr>
          <p:nvPr>
            <p:ph type="body" idx="1"/>
          </p:nvPr>
        </p:nvSpPr>
        <p:spPr>
          <a:xfrm>
            <a:off x="4882900" y="1152150"/>
            <a:ext cx="3950100" cy="342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43" name="Google Shape;143;p76"/>
          <p:cNvSpPr txBox="1">
            <a:spLocks noGrp="1"/>
          </p:cNvSpPr>
          <p:nvPr>
            <p:ph type="body" idx="2"/>
          </p:nvPr>
        </p:nvSpPr>
        <p:spPr>
          <a:xfrm>
            <a:off x="310900" y="448050"/>
            <a:ext cx="3950100" cy="4124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44" name="Google Shape;144;p76"/>
          <p:cNvSpPr txBox="1">
            <a:spLocks noGrp="1"/>
          </p:cNvSpPr>
          <p:nvPr>
            <p:ph type="subTitle" idx="3"/>
          </p:nvPr>
        </p:nvSpPr>
        <p:spPr>
          <a:xfrm>
            <a:off x="225450" y="3943400"/>
            <a:ext cx="4045200" cy="465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145" name="Google Shape;145;p76"/>
          <p:cNvSpPr txBox="1">
            <a:spLocks noGrp="1"/>
          </p:cNvSpPr>
          <p:nvPr>
            <p:ph type="title"/>
          </p:nvPr>
        </p:nvSpPr>
        <p:spPr>
          <a:xfrm>
            <a:off x="208450" y="3418425"/>
            <a:ext cx="3950100" cy="57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pic>
        <p:nvPicPr>
          <p:cNvPr id="146" name="Google Shape;146;p76"/>
          <p:cNvPicPr preferRelativeResize="0"/>
          <p:nvPr/>
        </p:nvPicPr>
        <p:blipFill rotWithShape="1">
          <a:blip r:embed="rId2">
            <a:alphaModFix/>
          </a:blip>
          <a:srcRect/>
          <a:stretch/>
        </p:blipFill>
        <p:spPr>
          <a:xfrm>
            <a:off x="0" y="4983478"/>
            <a:ext cx="457200" cy="160022"/>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47"/>
        <p:cNvGrpSpPr/>
        <p:nvPr/>
      </p:nvGrpSpPr>
      <p:grpSpPr>
        <a:xfrm>
          <a:off x="0" y="0"/>
          <a:ext cx="0" cy="0"/>
          <a:chOff x="0" y="0"/>
          <a:chExt cx="0" cy="0"/>
        </a:xfrm>
      </p:grpSpPr>
      <p:sp>
        <p:nvSpPr>
          <p:cNvPr id="148" name="Google Shape;148;p7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49" name="Google Shape;149;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50"/>
        <p:cNvGrpSpPr/>
        <p:nvPr/>
      </p:nvGrpSpPr>
      <p:grpSpPr>
        <a:xfrm>
          <a:off x="0" y="0"/>
          <a:ext cx="0" cy="0"/>
          <a:chOff x="0" y="0"/>
          <a:chExt cx="0" cy="0"/>
        </a:xfrm>
      </p:grpSpPr>
      <p:sp>
        <p:nvSpPr>
          <p:cNvPr id="151" name="Google Shape;151;p78"/>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78"/>
          <p:cNvSpPr txBox="1">
            <a:spLocks noGrp="1"/>
          </p:cNvSpPr>
          <p:nvPr>
            <p:ph type="body" idx="1"/>
          </p:nvPr>
        </p:nvSpPr>
        <p:spPr>
          <a:xfrm>
            <a:off x="311700" y="1152150"/>
            <a:ext cx="3950100" cy="342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54" name="Google Shape;154;p78"/>
          <p:cNvSpPr txBox="1">
            <a:spLocks noGrp="1"/>
          </p:cNvSpPr>
          <p:nvPr>
            <p:ph type="body" idx="2"/>
          </p:nvPr>
        </p:nvSpPr>
        <p:spPr>
          <a:xfrm>
            <a:off x="4882900" y="448050"/>
            <a:ext cx="3950100" cy="4124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55" name="Google Shape;155;p78"/>
          <p:cNvSpPr txBox="1">
            <a:spLocks noGrp="1"/>
          </p:cNvSpPr>
          <p:nvPr>
            <p:ph type="title"/>
          </p:nvPr>
        </p:nvSpPr>
        <p:spPr>
          <a:xfrm>
            <a:off x="311700" y="445025"/>
            <a:ext cx="3950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4">
  <p:cSld name="SECTION_HEADER_4">
    <p:spTree>
      <p:nvGrpSpPr>
        <p:cNvPr id="1" name="Shape 156"/>
        <p:cNvGrpSpPr/>
        <p:nvPr/>
      </p:nvGrpSpPr>
      <p:grpSpPr>
        <a:xfrm>
          <a:off x="0" y="0"/>
          <a:ext cx="0" cy="0"/>
          <a:chOff x="0" y="0"/>
          <a:chExt cx="0" cy="0"/>
        </a:xfrm>
      </p:grpSpPr>
      <p:sp>
        <p:nvSpPr>
          <p:cNvPr id="157" name="Google Shape;157;g36aa5e117e9_3_1007"/>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36aa5e117e9_3_1007"/>
          <p:cNvSpPr txBox="1">
            <a:spLocks noGrp="1"/>
          </p:cNvSpPr>
          <p:nvPr>
            <p:ph type="title"/>
          </p:nvPr>
        </p:nvSpPr>
        <p:spPr>
          <a:xfrm>
            <a:off x="311700" y="814800"/>
            <a:ext cx="8571300" cy="9420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a:endParaRPr/>
          </a:p>
        </p:txBody>
      </p:sp>
      <p:sp>
        <p:nvSpPr>
          <p:cNvPr id="159" name="Google Shape;159;g36aa5e117e9_3_100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4"/>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B5394"/>
              </a:buClr>
              <a:buSzPts val="1600"/>
              <a:buFont typeface="Roboto Medium"/>
              <a:buNone/>
              <a:defRPr sz="1600" b="0" i="0" u="none" strike="noStrike" cap="none">
                <a:solidFill>
                  <a:srgbClr val="0B5394"/>
                </a:solidFill>
                <a:latin typeface="Roboto Medium"/>
                <a:ea typeface="Roboto Medium"/>
                <a:cs typeface="Roboto Medium"/>
                <a:sym typeface="Roboto Medium"/>
              </a:defRPr>
            </a:lvl1pPr>
            <a:lvl2pPr marR="0" lvl="1"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2pPr>
            <a:lvl3pPr marR="0" lvl="2"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3pPr>
            <a:lvl4pPr marR="0" lvl="3"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4pPr>
            <a:lvl5pPr marR="0" lvl="4"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5pPr>
            <a:lvl6pPr marR="0" lvl="5"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6pPr>
            <a:lvl7pPr marR="0" lvl="6"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7pPr>
            <a:lvl8pPr marR="0" lvl="7"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8pPr>
            <a:lvl9pPr marR="0" lvl="8"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9pPr>
          </a:lstStyle>
          <a:p>
            <a:endParaRPr/>
          </a:p>
        </p:txBody>
      </p:sp>
      <p:sp>
        <p:nvSpPr>
          <p:cNvPr id="7" name="Google Shape;7;p54"/>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endParaRPr/>
          </a:p>
        </p:txBody>
      </p:sp>
      <p:sp>
        <p:nvSpPr>
          <p:cNvPr id="8" name="Google Shape;8;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p26.cs168.io/exa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forms.gle/ZqQiyvLYzjTDmTD47"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5.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6a8c14dc2e_0_40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1</a:t>
            </a:fld>
            <a:endParaRPr/>
          </a:p>
        </p:txBody>
      </p:sp>
      <p:sp>
        <p:nvSpPr>
          <p:cNvPr id="165" name="Google Shape;165;g36a8c14dc2e_0_401"/>
          <p:cNvSpPr txBox="1"/>
          <p:nvPr/>
        </p:nvSpPr>
        <p:spPr>
          <a:xfrm>
            <a:off x="311700" y="3854350"/>
            <a:ext cx="8520600" cy="80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rgbClr val="000000"/>
              </a:buClr>
              <a:buSzPts val="1600"/>
              <a:buFont typeface="Arial"/>
              <a:buNone/>
            </a:pPr>
            <a:r>
              <a:rPr lang="en" sz="1600" b="0" i="0" u="none" strike="noStrike" cap="none">
                <a:solidFill>
                  <a:srgbClr val="000000"/>
                </a:solidFill>
                <a:latin typeface="Roboto Medium"/>
                <a:ea typeface="Roboto Medium"/>
                <a:cs typeface="Roboto Medium"/>
                <a:sym typeface="Roboto Medium"/>
              </a:rPr>
              <a:t>CS 168, </a:t>
            </a:r>
            <a:r>
              <a:rPr lang="en" sz="1600">
                <a:latin typeface="Roboto Medium"/>
                <a:ea typeface="Roboto Medium"/>
                <a:cs typeface="Roboto Medium"/>
                <a:sym typeface="Roboto Medium"/>
              </a:rPr>
              <a:t>Spring 2026 </a:t>
            </a:r>
            <a:r>
              <a:rPr lang="en" sz="1600" b="0" i="0" u="none" strike="noStrike" cap="none">
                <a:solidFill>
                  <a:srgbClr val="000000"/>
                </a:solidFill>
                <a:latin typeface="Roboto Medium"/>
                <a:ea typeface="Roboto Medium"/>
                <a:cs typeface="Roboto Medium"/>
                <a:sym typeface="Roboto Medium"/>
              </a:rPr>
              <a:t>@ UC Berkeley</a:t>
            </a:r>
            <a:endParaRPr sz="1600" b="0" i="0" u="none" strike="noStrike" cap="none">
              <a:solidFill>
                <a:srgbClr val="000000"/>
              </a:solidFill>
              <a:latin typeface="Roboto Medium"/>
              <a:ea typeface="Roboto Medium"/>
              <a:cs typeface="Roboto Medium"/>
              <a:sym typeface="Roboto Medium"/>
            </a:endParaRPr>
          </a:p>
          <a:p>
            <a:pPr marL="0" marR="0" lvl="0" indent="0" algn="l" rtl="0">
              <a:lnSpc>
                <a:spcPct val="100000"/>
              </a:lnSpc>
              <a:spcBef>
                <a:spcPts val="600"/>
              </a:spcBef>
              <a:spcAft>
                <a:spcPts val="0"/>
              </a:spcAft>
              <a:buClr>
                <a:srgbClr val="000000"/>
              </a:buClr>
              <a:buSzPts val="1600"/>
              <a:buFont typeface="Arial"/>
              <a:buNone/>
            </a:pPr>
            <a:r>
              <a:rPr lang="en" sz="1600" b="0" i="0" u="none" strike="noStrike" cap="none">
                <a:solidFill>
                  <a:srgbClr val="000000"/>
                </a:solidFill>
                <a:latin typeface="Roboto Light"/>
                <a:ea typeface="Roboto Light"/>
                <a:cs typeface="Roboto Light"/>
                <a:sym typeface="Roboto Light"/>
              </a:rPr>
              <a:t>Slides credit: Sylvia Ratnasamy, Rob Shakir, Peyrin Kao, Iuniana Oprescu</a:t>
            </a:r>
            <a:endParaRPr sz="1600" b="0" i="0" u="none" strike="noStrike" cap="none">
              <a:solidFill>
                <a:srgbClr val="000000"/>
              </a:solidFill>
              <a:latin typeface="Roboto Light"/>
              <a:ea typeface="Roboto Light"/>
              <a:cs typeface="Roboto Light"/>
              <a:sym typeface="Roboto Light"/>
            </a:endParaRPr>
          </a:p>
        </p:txBody>
      </p:sp>
      <p:sp>
        <p:nvSpPr>
          <p:cNvPr id="166" name="Google Shape;166;g36a8c14dc2e_0_401"/>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dk1"/>
              </a:buClr>
              <a:buSzPts val="1100"/>
              <a:buFont typeface="Arial"/>
              <a:buNone/>
            </a:pPr>
            <a:r>
              <a:rPr lang="en" sz="3600" b="0" i="0" u="none" strike="noStrike" cap="none">
                <a:solidFill>
                  <a:schemeClr val="accent3"/>
                </a:solidFill>
                <a:latin typeface="Roboto Medium"/>
                <a:ea typeface="Roboto Medium"/>
                <a:cs typeface="Roboto Medium"/>
                <a:sym typeface="Roboto Medium"/>
              </a:rPr>
              <a:t>Reliable Delivery, TCP 📆</a:t>
            </a:r>
            <a:endParaRPr sz="3600" b="0" i="0" u="none" strike="noStrike" cap="none">
              <a:solidFill>
                <a:schemeClr val="accent3"/>
              </a:solidFill>
              <a:latin typeface="Roboto Medium"/>
              <a:ea typeface="Roboto Medium"/>
              <a:cs typeface="Roboto Medium"/>
              <a:sym typeface="Roboto Medium"/>
            </a:endParaRPr>
          </a:p>
        </p:txBody>
      </p:sp>
      <p:sp>
        <p:nvSpPr>
          <p:cNvPr id="167" name="Google Shape;167;g36a8c14dc2e_0_401"/>
          <p:cNvSpPr txBox="1">
            <a:spLocks noGrp="1"/>
          </p:cNvSpPr>
          <p:nvPr>
            <p:ph type="subTitle" idx="1"/>
          </p:nvPr>
        </p:nvSpPr>
        <p:spPr>
          <a:xfrm>
            <a:off x="311700" y="2571750"/>
            <a:ext cx="8520600" cy="549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600"/>
              </a:spcBef>
              <a:spcAft>
                <a:spcPts val="0"/>
              </a:spcAft>
              <a:buSzPts val="2400"/>
              <a:buNone/>
            </a:pPr>
            <a:r>
              <a:rPr lang="en"/>
              <a:t>Discussion 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6a8da6ef7b_1_4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Logistics</a:t>
            </a:r>
            <a:endParaRPr/>
          </a:p>
        </p:txBody>
      </p:sp>
      <p:sp>
        <p:nvSpPr>
          <p:cNvPr id="173" name="Google Shape;173;g36a8da6ef7b_1_41"/>
          <p:cNvSpPr txBox="1">
            <a:spLocks noGrp="1"/>
          </p:cNvSpPr>
          <p:nvPr>
            <p:ph type="body" idx="1"/>
          </p:nvPr>
        </p:nvSpPr>
        <p:spPr>
          <a:xfrm>
            <a:off x="107050" y="402200"/>
            <a:ext cx="8909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Midterm on March 20th, 7-9pm (put it in your calendar)!</a:t>
            </a:r>
            <a:endParaRPr sz="2000"/>
          </a:p>
          <a:p>
            <a:pPr marL="914400" lvl="1" indent="-355600" algn="l" rtl="0">
              <a:lnSpc>
                <a:spcPct val="100000"/>
              </a:lnSpc>
              <a:spcBef>
                <a:spcPts val="400"/>
              </a:spcBef>
              <a:spcAft>
                <a:spcPts val="0"/>
              </a:spcAft>
              <a:buSzPts val="2000"/>
              <a:buChar char="○"/>
            </a:pPr>
            <a:r>
              <a:rPr lang="en" sz="2000" u="sng">
                <a:solidFill>
                  <a:schemeClr val="hlink"/>
                </a:solidFill>
                <a:hlinkClick r:id="rId3"/>
              </a:rPr>
              <a:t>Exam Logistics</a:t>
            </a:r>
            <a:endParaRPr sz="2000"/>
          </a:p>
          <a:p>
            <a:pPr marL="914400" lvl="1" indent="-355600" algn="l" rtl="0">
              <a:lnSpc>
                <a:spcPct val="100000"/>
              </a:lnSpc>
              <a:spcBef>
                <a:spcPts val="400"/>
              </a:spcBef>
              <a:spcAft>
                <a:spcPts val="0"/>
              </a:spcAft>
              <a:buSzPts val="2000"/>
              <a:buChar char="○"/>
            </a:pPr>
            <a:r>
              <a:rPr lang="en" sz="2000" u="sng">
                <a:solidFill>
                  <a:schemeClr val="hlink"/>
                </a:solidFill>
                <a:hlinkClick r:id="rId4"/>
              </a:rPr>
              <a:t>Accommodations</a:t>
            </a:r>
            <a:r>
              <a:rPr lang="en" sz="2000" u="sng">
                <a:solidFill>
                  <a:schemeClr val="hlink"/>
                </a:solidFill>
                <a:hlinkClick r:id="rId4"/>
              </a:rPr>
              <a:t> form</a:t>
            </a:r>
            <a:endParaRPr sz="2000"/>
          </a:p>
          <a:p>
            <a:pPr marL="1371600" lvl="2" indent="-355600" algn="l" rtl="0">
              <a:lnSpc>
                <a:spcPct val="100000"/>
              </a:lnSpc>
              <a:spcBef>
                <a:spcPts val="400"/>
              </a:spcBef>
              <a:spcAft>
                <a:spcPts val="0"/>
              </a:spcAft>
              <a:buSzPts val="2000"/>
              <a:buChar char="■"/>
            </a:pPr>
            <a:r>
              <a:rPr lang="en" sz="2000"/>
              <a:t>Can still submit late but no guarantees</a:t>
            </a:r>
            <a:endParaRPr sz="2000"/>
          </a:p>
          <a:p>
            <a:pPr marL="0" lvl="0" indent="0" algn="l" rtl="0">
              <a:lnSpc>
                <a:spcPct val="100000"/>
              </a:lnSpc>
              <a:spcBef>
                <a:spcPts val="400"/>
              </a:spcBef>
              <a:spcAft>
                <a:spcPts val="0"/>
              </a:spcAft>
              <a:buSzPts val="1800"/>
              <a:buNone/>
            </a:pP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TCP</a:t>
            </a:r>
            <a:endParaRPr/>
          </a:p>
        </p:txBody>
      </p:sp>
      <p:sp>
        <p:nvSpPr>
          <p:cNvPr id="179" name="Google Shape;179;p3"/>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TCP Header</a:t>
            </a:r>
            <a:endParaRPr b="1">
              <a:solidFill>
                <a:schemeClr val="accent3"/>
              </a:solidFill>
              <a:latin typeface="Roboto"/>
              <a:ea typeface="Roboto"/>
              <a:cs typeface="Roboto"/>
              <a:sym typeface="Roboto"/>
            </a:endParaRPr>
          </a:p>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Connection Establishment</a:t>
            </a:r>
            <a:endParaRPr b="1">
              <a:solidFill>
                <a:srgbClr val="CCCCCC"/>
              </a:solidFill>
              <a:latin typeface="Roboto"/>
              <a:ea typeface="Roboto"/>
              <a:cs typeface="Roboto"/>
              <a:sym typeface="Roboto"/>
            </a:endParaRPr>
          </a:p>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Teardown</a:t>
            </a:r>
            <a:endParaRPr b="1">
              <a:solidFill>
                <a:srgbClr val="CCCCCC"/>
              </a:solidFill>
              <a:latin typeface="Roboto"/>
              <a:ea typeface="Roboto"/>
              <a:cs typeface="Roboto"/>
              <a:sym typeface="Roboto"/>
            </a:endParaRPr>
          </a:p>
          <a:p>
            <a:pPr marL="457200" lvl="0" indent="-342900" algn="l" rtl="0">
              <a:lnSpc>
                <a:spcPct val="115000"/>
              </a:lnSpc>
              <a:spcBef>
                <a:spcPts val="600"/>
              </a:spcBef>
              <a:spcAft>
                <a:spcPts val="0"/>
              </a:spcAft>
              <a:buClr>
                <a:srgbClr val="B7B7B7"/>
              </a:buClr>
              <a:buSzPts val="1800"/>
              <a:buFont typeface="Roboto"/>
              <a:buChar char="•"/>
            </a:pPr>
            <a:r>
              <a:rPr lang="en" b="1">
                <a:latin typeface="Roboto"/>
                <a:ea typeface="Roboto"/>
                <a:cs typeface="Roboto"/>
                <a:sym typeface="Roboto"/>
              </a:rPr>
              <a:t>Reliability</a:t>
            </a:r>
            <a:endParaRPr b="1">
              <a:solidFill>
                <a:srgbClr val="CCCCCC"/>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6aa5533722_0_504"/>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Reliability</a:t>
            </a:r>
            <a:endParaRPr/>
          </a:p>
        </p:txBody>
      </p:sp>
      <p:sp>
        <p:nvSpPr>
          <p:cNvPr id="185" name="Google Shape;185;g36aa5533722_0_504"/>
          <p:cNvSpPr txBox="1">
            <a:spLocks noGrp="1"/>
          </p:cNvSpPr>
          <p:nvPr>
            <p:ph type="body" idx="1"/>
          </p:nvPr>
        </p:nvSpPr>
        <p:spPr>
          <a:xfrm>
            <a:off x="107050" y="402200"/>
            <a:ext cx="8909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Best-effort network</a:t>
            </a:r>
            <a:endParaRPr sz="2000"/>
          </a:p>
          <a:p>
            <a:pPr marL="914400" lvl="1" indent="-355600" algn="l" rtl="0">
              <a:lnSpc>
                <a:spcPct val="100000"/>
              </a:lnSpc>
              <a:spcBef>
                <a:spcPts val="400"/>
              </a:spcBef>
              <a:spcAft>
                <a:spcPts val="0"/>
              </a:spcAft>
              <a:buSzPts val="2000"/>
              <a:buChar char="○"/>
            </a:pPr>
            <a:r>
              <a:rPr lang="en" sz="2000"/>
              <a:t>Need to handle packet loss, corruption, reordering, delays, duplications, etc.</a:t>
            </a:r>
            <a:endParaRPr sz="2000"/>
          </a:p>
          <a:p>
            <a:pPr marL="457200" lvl="0" indent="-355600" algn="l" rtl="0">
              <a:lnSpc>
                <a:spcPct val="100000"/>
              </a:lnSpc>
              <a:spcBef>
                <a:spcPts val="400"/>
              </a:spcBef>
              <a:spcAft>
                <a:spcPts val="0"/>
              </a:spcAft>
              <a:buSzPts val="2000"/>
              <a:buChar char="●"/>
            </a:pPr>
            <a:r>
              <a:rPr lang="en" sz="2000"/>
              <a:t>Building blocks</a:t>
            </a:r>
            <a:endParaRPr sz="2000"/>
          </a:p>
          <a:p>
            <a:pPr marL="914400" lvl="1" indent="-355600" algn="l" rtl="0">
              <a:lnSpc>
                <a:spcPct val="100000"/>
              </a:lnSpc>
              <a:spcBef>
                <a:spcPts val="400"/>
              </a:spcBef>
              <a:spcAft>
                <a:spcPts val="0"/>
              </a:spcAft>
              <a:buSzPts val="2000"/>
              <a:buChar char="○"/>
            </a:pPr>
            <a:r>
              <a:rPr lang="en" sz="2000"/>
              <a:t>Checksums: detect corruption</a:t>
            </a:r>
            <a:endParaRPr sz="2000"/>
          </a:p>
          <a:p>
            <a:pPr marL="914400" lvl="1" indent="-355600" algn="l" rtl="0">
              <a:lnSpc>
                <a:spcPct val="100000"/>
              </a:lnSpc>
              <a:spcBef>
                <a:spcPts val="400"/>
              </a:spcBef>
              <a:spcAft>
                <a:spcPts val="0"/>
              </a:spcAft>
              <a:buSzPts val="2000"/>
              <a:buChar char="○"/>
            </a:pPr>
            <a:r>
              <a:rPr lang="en" sz="2000"/>
              <a:t>Feedback: positive/negative feedback from receiver</a:t>
            </a:r>
            <a:endParaRPr sz="2000"/>
          </a:p>
          <a:p>
            <a:pPr marL="914400" lvl="1" indent="-355600" algn="l" rtl="0">
              <a:lnSpc>
                <a:spcPct val="100000"/>
              </a:lnSpc>
              <a:spcBef>
                <a:spcPts val="400"/>
              </a:spcBef>
              <a:spcAft>
                <a:spcPts val="0"/>
              </a:spcAft>
              <a:buSzPts val="2000"/>
              <a:buChar char="○"/>
            </a:pPr>
            <a:r>
              <a:rPr lang="en" sz="2000"/>
              <a:t>Retransmissions: sender re-sends packets</a:t>
            </a:r>
            <a:endParaRPr sz="2000"/>
          </a:p>
          <a:p>
            <a:pPr marL="914400" lvl="1" indent="-355600" algn="l" rtl="0">
              <a:lnSpc>
                <a:spcPct val="100000"/>
              </a:lnSpc>
              <a:spcBef>
                <a:spcPts val="400"/>
              </a:spcBef>
              <a:spcAft>
                <a:spcPts val="0"/>
              </a:spcAft>
              <a:buSzPts val="2000"/>
              <a:buChar char="○"/>
            </a:pPr>
            <a:r>
              <a:rPr lang="en" sz="2000"/>
              <a:t>Timeouts: when to resend a packet</a:t>
            </a:r>
            <a:endParaRPr sz="2000"/>
          </a:p>
          <a:p>
            <a:pPr marL="914400" lvl="1" indent="-355600" algn="l" rtl="0">
              <a:lnSpc>
                <a:spcPct val="100000"/>
              </a:lnSpc>
              <a:spcBef>
                <a:spcPts val="400"/>
              </a:spcBef>
              <a:spcAft>
                <a:spcPts val="0"/>
              </a:spcAft>
              <a:buSzPts val="2000"/>
              <a:buChar char="○"/>
            </a:pPr>
            <a:r>
              <a:rPr lang="en" sz="2000"/>
              <a:t>Sequence numbers: indicate which packets have been received</a:t>
            </a:r>
            <a:endParaRPr sz="2000"/>
          </a:p>
          <a:p>
            <a:pPr marL="457200" lvl="0" indent="-355600" algn="l" rtl="0">
              <a:lnSpc>
                <a:spcPct val="100000"/>
              </a:lnSpc>
              <a:spcBef>
                <a:spcPts val="400"/>
              </a:spcBef>
              <a:spcAft>
                <a:spcPts val="0"/>
              </a:spcAft>
              <a:buSzPts val="2000"/>
              <a:buChar char="●"/>
            </a:pPr>
            <a:r>
              <a:rPr lang="en" sz="2000"/>
              <a:t>Design considerations</a:t>
            </a:r>
            <a:endParaRPr sz="2000"/>
          </a:p>
          <a:p>
            <a:pPr marL="914400" lvl="1" indent="-355600" algn="l" rtl="0">
              <a:lnSpc>
                <a:spcPct val="100000"/>
              </a:lnSpc>
              <a:spcBef>
                <a:spcPts val="400"/>
              </a:spcBef>
              <a:spcAft>
                <a:spcPts val="0"/>
              </a:spcAft>
              <a:buSzPts val="2000"/>
              <a:buChar char="○"/>
            </a:pPr>
            <a:r>
              <a:rPr lang="en" sz="2000"/>
              <a:t>Window size, nature of feedback, detection of loss, response to loss</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89"/>
        <p:cNvGrpSpPr/>
        <p:nvPr/>
      </p:nvGrpSpPr>
      <p:grpSpPr>
        <a:xfrm>
          <a:off x="0" y="0"/>
          <a:ext cx="0" cy="0"/>
          <a:chOff x="0" y="0"/>
          <a:chExt cx="0" cy="0"/>
        </a:xfrm>
      </p:grpSpPr>
      <p:sp>
        <p:nvSpPr>
          <p:cNvPr id="190" name="Google Shape;190;g36aa5e117e9_3_0"/>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250000"/>
              <a:buNone/>
            </a:pPr>
            <a:r>
              <a:rPr lang="en"/>
              <a:t>Go-Back-N</a:t>
            </a:r>
            <a:endParaRPr/>
          </a:p>
        </p:txBody>
      </p:sp>
      <p:sp>
        <p:nvSpPr>
          <p:cNvPr id="191" name="Google Shape;191;g36aa5e117e9_3_0"/>
          <p:cNvSpPr txBox="1">
            <a:spLocks noGrp="1"/>
          </p:cNvSpPr>
          <p:nvPr>
            <p:ph type="body" idx="1"/>
          </p:nvPr>
        </p:nvSpPr>
        <p:spPr>
          <a:xfrm>
            <a:off x="107050" y="402200"/>
            <a:ext cx="8909700" cy="4530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Simple (though not advisable algorithm)</a:t>
            </a:r>
            <a:endParaRPr/>
          </a:p>
          <a:p>
            <a:pPr marL="457200" lvl="0" indent="-342900" algn="l" rtl="0">
              <a:lnSpc>
                <a:spcPct val="115000"/>
              </a:lnSpc>
              <a:spcBef>
                <a:spcPts val="0"/>
              </a:spcBef>
              <a:spcAft>
                <a:spcPts val="0"/>
              </a:spcAft>
              <a:buSzPts val="1800"/>
              <a:buChar char="●"/>
            </a:pPr>
            <a:r>
              <a:rPr lang="en"/>
              <a:t>“Sliding window” protocol: sender keeps a window of </a:t>
            </a:r>
            <a:r>
              <a:rPr lang="en" b="1"/>
              <a:t>up to W transmitted but unACKed</a:t>
            </a:r>
            <a:r>
              <a:rPr lang="en"/>
              <a:t> packets</a:t>
            </a:r>
            <a:endParaRPr/>
          </a:p>
          <a:p>
            <a:pPr marL="0" lvl="0" indent="0" algn="l" rtl="0">
              <a:lnSpc>
                <a:spcPct val="115000"/>
              </a:lnSpc>
              <a:spcBef>
                <a:spcPts val="1200"/>
              </a:spcBef>
              <a:spcAft>
                <a:spcPts val="0"/>
              </a:spcAft>
              <a:buSzPts val="2118"/>
              <a:buNone/>
            </a:pPr>
            <a:endParaRPr/>
          </a:p>
          <a:p>
            <a:pPr marL="0" lvl="0" indent="0" algn="l" rtl="0">
              <a:lnSpc>
                <a:spcPct val="115000"/>
              </a:lnSpc>
              <a:spcBef>
                <a:spcPts val="1200"/>
              </a:spcBef>
              <a:spcAft>
                <a:spcPts val="0"/>
              </a:spcAft>
              <a:buSzPts val="2118"/>
              <a:buNone/>
            </a:pPr>
            <a:endParaRPr/>
          </a:p>
          <a:p>
            <a:pPr marL="0" lvl="0" indent="0" algn="l" rtl="0">
              <a:lnSpc>
                <a:spcPct val="115000"/>
              </a:lnSpc>
              <a:spcBef>
                <a:spcPts val="1200"/>
              </a:spcBef>
              <a:spcAft>
                <a:spcPts val="0"/>
              </a:spcAft>
              <a:buSzPts val="2118"/>
              <a:buNone/>
            </a:pPr>
            <a:endParaRPr/>
          </a:p>
          <a:p>
            <a:pPr marL="457200" lvl="0" indent="0" algn="l" rtl="0">
              <a:lnSpc>
                <a:spcPct val="115000"/>
              </a:lnSpc>
              <a:spcBef>
                <a:spcPts val="1200"/>
              </a:spcBef>
              <a:spcAft>
                <a:spcPts val="0"/>
              </a:spcAft>
              <a:buSzPts val="2118"/>
              <a:buNone/>
            </a:pPr>
            <a:endParaRPr/>
          </a:p>
          <a:p>
            <a:pPr marL="457200" lvl="0" indent="-342900" algn="l" rtl="0">
              <a:lnSpc>
                <a:spcPct val="115000"/>
              </a:lnSpc>
              <a:spcBef>
                <a:spcPts val="1200"/>
              </a:spcBef>
              <a:spcAft>
                <a:spcPts val="0"/>
              </a:spcAft>
              <a:buSzPts val="1800"/>
              <a:buChar char="●"/>
            </a:pPr>
            <a:r>
              <a:rPr lang="en"/>
              <a:t>Timer for oldest in-flight packet</a:t>
            </a:r>
            <a:endParaRPr/>
          </a:p>
          <a:p>
            <a:pPr marL="457200" lvl="0" indent="-342900" algn="l" rtl="0">
              <a:lnSpc>
                <a:spcPct val="115000"/>
              </a:lnSpc>
              <a:spcBef>
                <a:spcPts val="0"/>
              </a:spcBef>
              <a:spcAft>
                <a:spcPts val="0"/>
              </a:spcAft>
              <a:buSzPts val="1800"/>
              <a:buChar char="●"/>
            </a:pPr>
            <a:r>
              <a:rPr lang="en"/>
              <a:t>On timeout, resend all W packets (starting with the lost one)</a:t>
            </a:r>
            <a:endParaRPr/>
          </a:p>
          <a:p>
            <a:pPr marL="457200" lvl="0" indent="-342900" algn="l" rtl="0">
              <a:lnSpc>
                <a:spcPct val="115000"/>
              </a:lnSpc>
              <a:spcBef>
                <a:spcPts val="0"/>
              </a:spcBef>
              <a:spcAft>
                <a:spcPts val="0"/>
              </a:spcAft>
              <a:buSzPts val="1800"/>
              <a:buChar char="●"/>
            </a:pPr>
            <a:r>
              <a:rPr lang="en"/>
              <a:t>Receiver discards out-of-order packets</a:t>
            </a:r>
            <a:endParaRPr/>
          </a:p>
        </p:txBody>
      </p:sp>
      <p:pic>
        <p:nvPicPr>
          <p:cNvPr id="192" name="Google Shape;192;g36aa5e117e9_3_0"/>
          <p:cNvPicPr preferRelativeResize="0"/>
          <p:nvPr/>
        </p:nvPicPr>
        <p:blipFill rotWithShape="1">
          <a:blip r:embed="rId3">
            <a:alphaModFix/>
          </a:blip>
          <a:srcRect/>
          <a:stretch/>
        </p:blipFill>
        <p:spPr>
          <a:xfrm>
            <a:off x="944375" y="2327400"/>
            <a:ext cx="5878376" cy="1180550"/>
          </a:xfrm>
          <a:prstGeom prst="rect">
            <a:avLst/>
          </a:prstGeom>
          <a:noFill/>
          <a:ln>
            <a:noFill/>
          </a:ln>
        </p:spPr>
      </p:pic>
      <p:sp>
        <p:nvSpPr>
          <p:cNvPr id="193" name="Google Shape;193;g36aa5e117e9_3_0"/>
          <p:cNvSpPr txBox="1"/>
          <p:nvPr/>
        </p:nvSpPr>
        <p:spPr>
          <a:xfrm>
            <a:off x="0" y="4755500"/>
            <a:ext cx="4273200" cy="2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Open Sans"/>
                <a:ea typeface="Open Sans"/>
                <a:cs typeface="Open Sans"/>
                <a:sym typeface="Open Sans"/>
              </a:rPr>
              <a:t>Kurose Ross, </a:t>
            </a:r>
            <a:r>
              <a:rPr lang="en" sz="800" b="0" i="1" u="none" strike="noStrike" cap="none">
                <a:solidFill>
                  <a:srgbClr val="000000"/>
                </a:solidFill>
                <a:latin typeface="Open Sans"/>
                <a:ea typeface="Open Sans"/>
                <a:cs typeface="Open Sans"/>
                <a:sym typeface="Open Sans"/>
              </a:rPr>
              <a:t>Computer Networking: A Top-down Approach, </a:t>
            </a:r>
            <a:r>
              <a:rPr lang="en" sz="800" b="0" i="0" u="none" strike="noStrike" cap="none">
                <a:solidFill>
                  <a:srgbClr val="000000"/>
                </a:solidFill>
                <a:latin typeface="Open Sans"/>
                <a:ea typeface="Open Sans"/>
                <a:cs typeface="Open Sans"/>
                <a:sym typeface="Open Sans"/>
              </a:rPr>
              <a:t>Chapter 3</a:t>
            </a:r>
            <a:endParaRPr sz="800" b="0" i="0" u="none" strike="noStrike" cap="none">
              <a:solidFill>
                <a:srgbClr val="000000"/>
              </a:solidFill>
              <a:latin typeface="Open Sans"/>
              <a:ea typeface="Open Sans"/>
              <a:cs typeface="Open Sans"/>
              <a:sym typeface="Open Sans"/>
            </a:endParaRPr>
          </a:p>
        </p:txBody>
      </p:sp>
      <p:sp>
        <p:nvSpPr>
          <p:cNvPr id="194" name="Google Shape;194;g36aa5e117e9_3_0"/>
          <p:cNvSpPr txBox="1"/>
          <p:nvPr/>
        </p:nvSpPr>
        <p:spPr>
          <a:xfrm rot="713816">
            <a:off x="5990545" y="1387012"/>
            <a:ext cx="3101112" cy="83114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FF0000"/>
                </a:solidFill>
                <a:latin typeface="Open Sans"/>
                <a:ea typeface="Open Sans"/>
                <a:cs typeface="Open Sans"/>
                <a:sym typeface="Open Sans"/>
              </a:rPr>
              <a:t>Not</a:t>
            </a:r>
            <a:r>
              <a:rPr lang="en" sz="1400" b="0" i="0" u="none" strike="noStrike" cap="none">
                <a:solidFill>
                  <a:srgbClr val="FF0000"/>
                </a:solidFill>
                <a:latin typeface="Open Sans"/>
                <a:ea typeface="Open Sans"/>
                <a:cs typeface="Open Sans"/>
                <a:sym typeface="Open Sans"/>
              </a:rPr>
              <a:t> what TCP does, but useful as a starting point to figure out something better.</a:t>
            </a:r>
            <a:endParaRPr sz="1400" b="0" i="0" u="none" strike="noStrike" cap="none">
              <a:solidFill>
                <a:srgbClr val="FF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98"/>
        <p:cNvGrpSpPr/>
        <p:nvPr/>
      </p:nvGrpSpPr>
      <p:grpSpPr>
        <a:xfrm>
          <a:off x="0" y="0"/>
          <a:ext cx="0" cy="0"/>
          <a:chOff x="0" y="0"/>
          <a:chExt cx="0" cy="0"/>
        </a:xfrm>
      </p:grpSpPr>
      <p:grpSp>
        <p:nvGrpSpPr>
          <p:cNvPr id="199" name="Google Shape;199;g36aa5e117e9_3_8"/>
          <p:cNvGrpSpPr/>
          <p:nvPr/>
        </p:nvGrpSpPr>
        <p:grpSpPr>
          <a:xfrm>
            <a:off x="2999232" y="667512"/>
            <a:ext cx="3187200" cy="4280700"/>
            <a:chOff x="2978400" y="936000"/>
            <a:chExt cx="3187200" cy="4280700"/>
          </a:xfrm>
        </p:grpSpPr>
        <p:sp>
          <p:nvSpPr>
            <p:cNvPr id="200" name="Google Shape;200;g36aa5e117e9_3_8"/>
            <p:cNvSpPr/>
            <p:nvPr/>
          </p:nvSpPr>
          <p:spPr>
            <a:xfrm>
              <a:off x="2978400" y="936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g36aa5e117e9_3_8"/>
            <p:cNvSpPr/>
            <p:nvPr/>
          </p:nvSpPr>
          <p:spPr>
            <a:xfrm>
              <a:off x="2978400" y="1386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36aa5e117e9_3_8"/>
            <p:cNvSpPr/>
            <p:nvPr/>
          </p:nvSpPr>
          <p:spPr>
            <a:xfrm>
              <a:off x="2978400" y="1837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g36aa5e117e9_3_8"/>
            <p:cNvSpPr/>
            <p:nvPr/>
          </p:nvSpPr>
          <p:spPr>
            <a:xfrm>
              <a:off x="2978400" y="2287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g36aa5e117e9_3_8"/>
            <p:cNvSpPr/>
            <p:nvPr/>
          </p:nvSpPr>
          <p:spPr>
            <a:xfrm>
              <a:off x="2978400" y="2738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g36aa5e117e9_3_8"/>
            <p:cNvSpPr/>
            <p:nvPr/>
          </p:nvSpPr>
          <p:spPr>
            <a:xfrm>
              <a:off x="2978400" y="3189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g36aa5e117e9_3_8"/>
            <p:cNvSpPr/>
            <p:nvPr/>
          </p:nvSpPr>
          <p:spPr>
            <a:xfrm>
              <a:off x="2978400" y="3639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g36aa5e117e9_3_8"/>
            <p:cNvSpPr/>
            <p:nvPr/>
          </p:nvSpPr>
          <p:spPr>
            <a:xfrm>
              <a:off x="2978400" y="4090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g36aa5e117e9_3_8"/>
            <p:cNvSpPr/>
            <p:nvPr/>
          </p:nvSpPr>
          <p:spPr>
            <a:xfrm>
              <a:off x="2978400" y="4540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g36aa5e117e9_3_8"/>
            <p:cNvSpPr/>
            <p:nvPr/>
          </p:nvSpPr>
          <p:spPr>
            <a:xfrm>
              <a:off x="2978400" y="4991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0" name="Google Shape;210;g36aa5e117e9_3_8"/>
          <p:cNvSpPr/>
          <p:nvPr/>
        </p:nvSpPr>
        <p:spPr>
          <a:xfrm>
            <a:off x="539975" y="1737275"/>
            <a:ext cx="543000" cy="540300"/>
          </a:xfrm>
          <a:prstGeom prst="rect">
            <a:avLst/>
          </a:prstGeom>
          <a:solidFill>
            <a:srgbClr val="C9DAF8"/>
          </a:solidFill>
          <a:ln w="9525" cap="flat" cmpd="sng">
            <a:solidFill>
              <a:srgbClr val="6D9EEB"/>
            </a:solidFill>
            <a:prstDash val="solid"/>
            <a:round/>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Window</a:t>
            </a:r>
            <a:endParaRPr sz="1000" b="0" i="0" u="none" strike="noStrike" cap="none">
              <a:solidFill>
                <a:srgbClr val="000000"/>
              </a:solidFill>
              <a:latin typeface="Arial"/>
              <a:ea typeface="Arial"/>
              <a:cs typeface="Arial"/>
              <a:sym typeface="Arial"/>
            </a:endParaRPr>
          </a:p>
        </p:txBody>
      </p:sp>
      <p:sp>
        <p:nvSpPr>
          <p:cNvPr id="211" name="Google Shape;211;g36aa5e117e9_3_8"/>
          <p:cNvSpPr txBox="1">
            <a:spLocks noGrp="1"/>
          </p:cNvSpPr>
          <p:nvPr>
            <p:ph type="title"/>
          </p:nvPr>
        </p:nvSpPr>
        <p:spPr>
          <a:xfrm>
            <a:off x="311700" y="-12175"/>
            <a:ext cx="8520600" cy="707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000"/>
              <a:buNone/>
            </a:pPr>
            <a:r>
              <a:rPr lang="en"/>
              <a:t>Go-Back-N w/o Errors</a:t>
            </a:r>
            <a:endParaRPr/>
          </a:p>
        </p:txBody>
      </p:sp>
      <p:cxnSp>
        <p:nvCxnSpPr>
          <p:cNvPr id="212" name="Google Shape;212;g36aa5e117e9_3_8"/>
          <p:cNvCxnSpPr/>
          <p:nvPr/>
        </p:nvCxnSpPr>
        <p:spPr>
          <a:xfrm>
            <a:off x="2994300" y="656375"/>
            <a:ext cx="12600" cy="4037700"/>
          </a:xfrm>
          <a:prstGeom prst="straightConnector1">
            <a:avLst/>
          </a:prstGeom>
          <a:noFill/>
          <a:ln w="38100" cap="flat" cmpd="sng">
            <a:solidFill>
              <a:srgbClr val="000000"/>
            </a:solidFill>
            <a:prstDash val="solid"/>
            <a:round/>
            <a:headEnd type="none" w="sm" len="sm"/>
            <a:tailEnd type="none" w="sm" len="sm"/>
          </a:ln>
        </p:spPr>
      </p:cxnSp>
      <p:cxnSp>
        <p:nvCxnSpPr>
          <p:cNvPr id="213" name="Google Shape;213;g36aa5e117e9_3_8"/>
          <p:cNvCxnSpPr/>
          <p:nvPr/>
        </p:nvCxnSpPr>
        <p:spPr>
          <a:xfrm>
            <a:off x="6190500" y="657930"/>
            <a:ext cx="14400" cy="4151700"/>
          </a:xfrm>
          <a:prstGeom prst="straightConnector1">
            <a:avLst/>
          </a:prstGeom>
          <a:noFill/>
          <a:ln w="38100" cap="flat" cmpd="sng">
            <a:solidFill>
              <a:srgbClr val="000000"/>
            </a:solidFill>
            <a:prstDash val="solid"/>
            <a:round/>
            <a:headEnd type="none" w="sm" len="sm"/>
            <a:tailEnd type="none" w="sm" len="sm"/>
          </a:ln>
        </p:spPr>
      </p:cxnSp>
      <p:cxnSp>
        <p:nvCxnSpPr>
          <p:cNvPr id="214" name="Google Shape;214;g36aa5e117e9_3_8"/>
          <p:cNvCxnSpPr>
            <a:stCxn id="215" idx="3"/>
          </p:cNvCxnSpPr>
          <p:nvPr/>
        </p:nvCxnSpPr>
        <p:spPr>
          <a:xfrm>
            <a:off x="3003300" y="7402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216" name="Google Shape;216;g36aa5e117e9_3_8"/>
          <p:cNvSpPr/>
          <p:nvPr/>
        </p:nvSpPr>
        <p:spPr>
          <a:xfrm>
            <a:off x="564794"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g36aa5e117e9_3_8"/>
          <p:cNvSpPr/>
          <p:nvPr/>
        </p:nvSpPr>
        <p:spPr>
          <a:xfrm>
            <a:off x="699765"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g36aa5e117e9_3_8"/>
          <p:cNvSpPr/>
          <p:nvPr/>
        </p:nvSpPr>
        <p:spPr>
          <a:xfrm>
            <a:off x="834736"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g36aa5e117e9_3_8"/>
          <p:cNvSpPr/>
          <p:nvPr/>
        </p:nvSpPr>
        <p:spPr>
          <a:xfrm>
            <a:off x="969707"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36aa5e117e9_3_8"/>
          <p:cNvSpPr/>
          <p:nvPr/>
        </p:nvSpPr>
        <p:spPr>
          <a:xfrm>
            <a:off x="110467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36aa5e117e9_3_8"/>
          <p:cNvSpPr/>
          <p:nvPr/>
        </p:nvSpPr>
        <p:spPr>
          <a:xfrm>
            <a:off x="123964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g36aa5e117e9_3_8"/>
          <p:cNvSpPr/>
          <p:nvPr/>
        </p:nvSpPr>
        <p:spPr>
          <a:xfrm>
            <a:off x="137462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g36aa5e117e9_3_8"/>
          <p:cNvSpPr/>
          <p:nvPr/>
        </p:nvSpPr>
        <p:spPr>
          <a:xfrm>
            <a:off x="150959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g36aa5e117e9_3_8"/>
          <p:cNvSpPr/>
          <p:nvPr/>
        </p:nvSpPr>
        <p:spPr>
          <a:xfrm>
            <a:off x="164456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g36aa5e117e9_3_8"/>
          <p:cNvSpPr/>
          <p:nvPr/>
        </p:nvSpPr>
        <p:spPr>
          <a:xfrm>
            <a:off x="177953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g36aa5e117e9_3_8"/>
          <p:cNvSpPr/>
          <p:nvPr/>
        </p:nvSpPr>
        <p:spPr>
          <a:xfrm>
            <a:off x="191450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g36aa5e117e9_3_8"/>
          <p:cNvSpPr/>
          <p:nvPr/>
        </p:nvSpPr>
        <p:spPr>
          <a:xfrm>
            <a:off x="204947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g36aa5e117e9_3_8"/>
          <p:cNvSpPr/>
          <p:nvPr/>
        </p:nvSpPr>
        <p:spPr>
          <a:xfrm>
            <a:off x="218444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g36aa5e117e9_3_8"/>
          <p:cNvSpPr/>
          <p:nvPr/>
        </p:nvSpPr>
        <p:spPr>
          <a:xfrm>
            <a:off x="231941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g36aa5e117e9_3_8"/>
          <p:cNvSpPr txBox="1"/>
          <p:nvPr/>
        </p:nvSpPr>
        <p:spPr>
          <a:xfrm>
            <a:off x="2560200" y="6580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S=1</a:t>
            </a:r>
            <a:endParaRPr sz="1400" b="0" i="0" u="none" strike="noStrike" cap="none">
              <a:solidFill>
                <a:srgbClr val="000000"/>
              </a:solidFill>
              <a:latin typeface="Lato"/>
              <a:ea typeface="Lato"/>
              <a:cs typeface="Lato"/>
              <a:sym typeface="Lato"/>
            </a:endParaRPr>
          </a:p>
        </p:txBody>
      </p:sp>
      <p:sp>
        <p:nvSpPr>
          <p:cNvPr id="230" name="Google Shape;230;g36aa5e117e9_3_8"/>
          <p:cNvSpPr txBox="1"/>
          <p:nvPr/>
        </p:nvSpPr>
        <p:spPr>
          <a:xfrm>
            <a:off x="2560200" y="8774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S=2</a:t>
            </a:r>
            <a:endParaRPr sz="1400" b="0" i="0" u="none" strike="noStrike" cap="none">
              <a:solidFill>
                <a:srgbClr val="000000"/>
              </a:solidFill>
              <a:latin typeface="Lato"/>
              <a:ea typeface="Lato"/>
              <a:cs typeface="Lato"/>
              <a:sym typeface="Lato"/>
            </a:endParaRPr>
          </a:p>
        </p:txBody>
      </p:sp>
      <p:sp>
        <p:nvSpPr>
          <p:cNvPr id="231" name="Google Shape;231;g36aa5e117e9_3_8"/>
          <p:cNvSpPr txBox="1"/>
          <p:nvPr/>
        </p:nvSpPr>
        <p:spPr>
          <a:xfrm>
            <a:off x="2560200" y="1096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S=3</a:t>
            </a:r>
            <a:endParaRPr sz="1400" b="0" i="0" u="none" strike="noStrike" cap="none">
              <a:solidFill>
                <a:srgbClr val="000000"/>
              </a:solidFill>
              <a:latin typeface="Lato"/>
              <a:ea typeface="Lato"/>
              <a:cs typeface="Lato"/>
              <a:sym typeface="Lato"/>
            </a:endParaRPr>
          </a:p>
        </p:txBody>
      </p:sp>
      <p:sp>
        <p:nvSpPr>
          <p:cNvPr id="232" name="Google Shape;232;g36aa5e117e9_3_8"/>
          <p:cNvSpPr txBox="1"/>
          <p:nvPr/>
        </p:nvSpPr>
        <p:spPr>
          <a:xfrm>
            <a:off x="2560200" y="1316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S=4</a:t>
            </a:r>
            <a:endParaRPr sz="1400" b="0" i="0" u="none" strike="noStrike" cap="none">
              <a:solidFill>
                <a:srgbClr val="000000"/>
              </a:solidFill>
              <a:latin typeface="Lato"/>
              <a:ea typeface="Lato"/>
              <a:cs typeface="Lato"/>
              <a:sym typeface="Lato"/>
            </a:endParaRPr>
          </a:p>
        </p:txBody>
      </p:sp>
      <p:cxnSp>
        <p:nvCxnSpPr>
          <p:cNvPr id="233" name="Google Shape;233;g36aa5e117e9_3_8"/>
          <p:cNvCxnSpPr>
            <a:stCxn id="230" idx="3"/>
          </p:cNvCxnSpPr>
          <p:nvPr/>
        </p:nvCxnSpPr>
        <p:spPr>
          <a:xfrm>
            <a:off x="3003300" y="959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234" name="Google Shape;234;g36aa5e117e9_3_8"/>
          <p:cNvCxnSpPr>
            <a:stCxn id="231" idx="3"/>
          </p:cNvCxnSpPr>
          <p:nvPr/>
        </p:nvCxnSpPr>
        <p:spPr>
          <a:xfrm>
            <a:off x="3003300" y="11791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235" name="Google Shape;235;g36aa5e117e9_3_8"/>
          <p:cNvCxnSpPr>
            <a:stCxn id="232" idx="3"/>
          </p:cNvCxnSpPr>
          <p:nvPr/>
        </p:nvCxnSpPr>
        <p:spPr>
          <a:xfrm>
            <a:off x="3003300" y="139857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236" name="Google Shape;236;g36aa5e117e9_3_8"/>
          <p:cNvSpPr/>
          <p:nvPr/>
        </p:nvSpPr>
        <p:spPr>
          <a:xfrm>
            <a:off x="698041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g36aa5e117e9_3_8"/>
          <p:cNvSpPr/>
          <p:nvPr/>
        </p:nvSpPr>
        <p:spPr>
          <a:xfrm>
            <a:off x="711539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g36aa5e117e9_3_8"/>
          <p:cNvSpPr/>
          <p:nvPr/>
        </p:nvSpPr>
        <p:spPr>
          <a:xfrm>
            <a:off x="725036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g36aa5e117e9_3_8"/>
          <p:cNvSpPr/>
          <p:nvPr/>
        </p:nvSpPr>
        <p:spPr>
          <a:xfrm>
            <a:off x="738533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g36aa5e117e9_3_8"/>
          <p:cNvSpPr/>
          <p:nvPr/>
        </p:nvSpPr>
        <p:spPr>
          <a:xfrm>
            <a:off x="752030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g36aa5e117e9_3_8"/>
          <p:cNvSpPr/>
          <p:nvPr/>
        </p:nvSpPr>
        <p:spPr>
          <a:xfrm>
            <a:off x="765527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g36aa5e117e9_3_8"/>
          <p:cNvSpPr/>
          <p:nvPr/>
        </p:nvSpPr>
        <p:spPr>
          <a:xfrm>
            <a:off x="779024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g36aa5e117e9_3_8"/>
          <p:cNvSpPr/>
          <p:nvPr/>
        </p:nvSpPr>
        <p:spPr>
          <a:xfrm>
            <a:off x="792521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g36aa5e117e9_3_8"/>
          <p:cNvSpPr/>
          <p:nvPr/>
        </p:nvSpPr>
        <p:spPr>
          <a:xfrm>
            <a:off x="806018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g36aa5e117e9_3_8"/>
          <p:cNvSpPr/>
          <p:nvPr/>
        </p:nvSpPr>
        <p:spPr>
          <a:xfrm>
            <a:off x="819515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g36aa5e117e9_3_8"/>
          <p:cNvSpPr/>
          <p:nvPr/>
        </p:nvSpPr>
        <p:spPr>
          <a:xfrm>
            <a:off x="833013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g36aa5e117e9_3_8"/>
          <p:cNvSpPr/>
          <p:nvPr/>
        </p:nvSpPr>
        <p:spPr>
          <a:xfrm>
            <a:off x="846510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g36aa5e117e9_3_8"/>
          <p:cNvSpPr/>
          <p:nvPr/>
        </p:nvSpPr>
        <p:spPr>
          <a:xfrm>
            <a:off x="860007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g36aa5e117e9_3_8"/>
          <p:cNvSpPr/>
          <p:nvPr/>
        </p:nvSpPr>
        <p:spPr>
          <a:xfrm>
            <a:off x="873504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g36aa5e117e9_3_8"/>
          <p:cNvSpPr/>
          <p:nvPr/>
        </p:nvSpPr>
        <p:spPr>
          <a:xfrm>
            <a:off x="56478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g36aa5e117e9_3_8"/>
          <p:cNvSpPr/>
          <p:nvPr/>
        </p:nvSpPr>
        <p:spPr>
          <a:xfrm>
            <a:off x="69975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g36aa5e117e9_3_8"/>
          <p:cNvSpPr/>
          <p:nvPr/>
        </p:nvSpPr>
        <p:spPr>
          <a:xfrm>
            <a:off x="83472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g36aa5e117e9_3_8"/>
          <p:cNvSpPr/>
          <p:nvPr/>
        </p:nvSpPr>
        <p:spPr>
          <a:xfrm>
            <a:off x="96969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g36aa5e117e9_3_8"/>
          <p:cNvSpPr/>
          <p:nvPr/>
        </p:nvSpPr>
        <p:spPr>
          <a:xfrm>
            <a:off x="6976872"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g36aa5e117e9_3_8"/>
          <p:cNvSpPr/>
          <p:nvPr/>
        </p:nvSpPr>
        <p:spPr>
          <a:xfrm>
            <a:off x="7111843"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g36aa5e117e9_3_8"/>
          <p:cNvSpPr/>
          <p:nvPr/>
        </p:nvSpPr>
        <p:spPr>
          <a:xfrm>
            <a:off x="7246814"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g36aa5e117e9_3_8"/>
          <p:cNvSpPr/>
          <p:nvPr/>
        </p:nvSpPr>
        <p:spPr>
          <a:xfrm>
            <a:off x="7381785"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g36aa5e117e9_3_8"/>
          <p:cNvSpPr txBox="1"/>
          <p:nvPr/>
        </p:nvSpPr>
        <p:spPr>
          <a:xfrm>
            <a:off x="6190500" y="11865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A=1</a:t>
            </a:r>
            <a:endParaRPr sz="1400" b="0" i="0" u="none" strike="noStrike" cap="none">
              <a:solidFill>
                <a:srgbClr val="000000"/>
              </a:solidFill>
              <a:latin typeface="Lato"/>
              <a:ea typeface="Lato"/>
              <a:cs typeface="Lato"/>
              <a:sym typeface="Lato"/>
            </a:endParaRPr>
          </a:p>
        </p:txBody>
      </p:sp>
      <p:sp>
        <p:nvSpPr>
          <p:cNvPr id="259" name="Google Shape;259;g36aa5e117e9_3_8"/>
          <p:cNvSpPr txBox="1"/>
          <p:nvPr/>
        </p:nvSpPr>
        <p:spPr>
          <a:xfrm>
            <a:off x="6190500" y="14060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A=2</a:t>
            </a:r>
            <a:endParaRPr sz="1400" b="0" i="0" u="none" strike="noStrike" cap="none">
              <a:solidFill>
                <a:srgbClr val="000000"/>
              </a:solidFill>
              <a:latin typeface="Lato"/>
              <a:ea typeface="Lato"/>
              <a:cs typeface="Lato"/>
              <a:sym typeface="Lato"/>
            </a:endParaRPr>
          </a:p>
        </p:txBody>
      </p:sp>
      <p:sp>
        <p:nvSpPr>
          <p:cNvPr id="260" name="Google Shape;260;g36aa5e117e9_3_8"/>
          <p:cNvSpPr txBox="1"/>
          <p:nvPr/>
        </p:nvSpPr>
        <p:spPr>
          <a:xfrm>
            <a:off x="6190500" y="16254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A=3</a:t>
            </a:r>
            <a:endParaRPr sz="1400" b="0" i="0" u="none" strike="noStrike" cap="none">
              <a:solidFill>
                <a:srgbClr val="000000"/>
              </a:solidFill>
              <a:latin typeface="Lato"/>
              <a:ea typeface="Lato"/>
              <a:cs typeface="Lato"/>
              <a:sym typeface="Lato"/>
            </a:endParaRPr>
          </a:p>
        </p:txBody>
      </p:sp>
      <p:sp>
        <p:nvSpPr>
          <p:cNvPr id="261" name="Google Shape;261;g36aa5e117e9_3_8"/>
          <p:cNvSpPr txBox="1"/>
          <p:nvPr/>
        </p:nvSpPr>
        <p:spPr>
          <a:xfrm>
            <a:off x="6190500" y="18449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A=4</a:t>
            </a:r>
            <a:endParaRPr sz="1400" b="0" i="0" u="none" strike="noStrike" cap="none">
              <a:solidFill>
                <a:srgbClr val="000000"/>
              </a:solidFill>
              <a:latin typeface="Lato"/>
              <a:ea typeface="Lato"/>
              <a:cs typeface="Lato"/>
              <a:sym typeface="Lato"/>
            </a:endParaRPr>
          </a:p>
        </p:txBody>
      </p:sp>
      <p:cxnSp>
        <p:nvCxnSpPr>
          <p:cNvPr id="262" name="Google Shape;262;g36aa5e117e9_3_8"/>
          <p:cNvCxnSpPr/>
          <p:nvPr/>
        </p:nvCxnSpPr>
        <p:spPr>
          <a:xfrm flipH="1">
            <a:off x="2994300" y="1268825"/>
            <a:ext cx="3187200" cy="528600"/>
          </a:xfrm>
          <a:prstGeom prst="straightConnector1">
            <a:avLst/>
          </a:prstGeom>
          <a:noFill/>
          <a:ln w="9525" cap="flat" cmpd="sng">
            <a:solidFill>
              <a:srgbClr val="0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1"/>
                                          </p:stCondLst>
                                        </p:cTn>
                                        <p:tgtEl>
                                          <p:spTgt spid="250"/>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2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1"/>
                                          </p:stCondLst>
                                        </p:cTn>
                                        <p:tgtEl>
                                          <p:spTgt spid="251"/>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1"/>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1"/>
                                          </p:stCondLst>
                                        </p:cTn>
                                        <p:tgtEl>
                                          <p:spTgt spid="252"/>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2"/>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1"/>
                                          </p:stCondLst>
                                        </p:cTn>
                                        <p:tgtEl>
                                          <p:spTgt spid="253"/>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2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6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6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266"/>
        <p:cNvGrpSpPr/>
        <p:nvPr/>
      </p:nvGrpSpPr>
      <p:grpSpPr>
        <a:xfrm>
          <a:off x="0" y="0"/>
          <a:ext cx="0" cy="0"/>
          <a:chOff x="0" y="0"/>
          <a:chExt cx="0" cy="0"/>
        </a:xfrm>
      </p:grpSpPr>
      <p:grpSp>
        <p:nvGrpSpPr>
          <p:cNvPr id="267" name="Google Shape;267;g36aa5e117e9_3_75"/>
          <p:cNvGrpSpPr/>
          <p:nvPr/>
        </p:nvGrpSpPr>
        <p:grpSpPr>
          <a:xfrm>
            <a:off x="2999232" y="667512"/>
            <a:ext cx="3187200" cy="4280700"/>
            <a:chOff x="2978400" y="936000"/>
            <a:chExt cx="3187200" cy="4280700"/>
          </a:xfrm>
        </p:grpSpPr>
        <p:sp>
          <p:nvSpPr>
            <p:cNvPr id="268" name="Google Shape;268;g36aa5e117e9_3_75"/>
            <p:cNvSpPr/>
            <p:nvPr/>
          </p:nvSpPr>
          <p:spPr>
            <a:xfrm>
              <a:off x="2978400" y="936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g36aa5e117e9_3_75"/>
            <p:cNvSpPr/>
            <p:nvPr/>
          </p:nvSpPr>
          <p:spPr>
            <a:xfrm>
              <a:off x="2978400" y="1386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g36aa5e117e9_3_75"/>
            <p:cNvSpPr/>
            <p:nvPr/>
          </p:nvSpPr>
          <p:spPr>
            <a:xfrm>
              <a:off x="2978400" y="1837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g36aa5e117e9_3_75"/>
            <p:cNvSpPr/>
            <p:nvPr/>
          </p:nvSpPr>
          <p:spPr>
            <a:xfrm>
              <a:off x="2978400" y="2287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g36aa5e117e9_3_75"/>
            <p:cNvSpPr/>
            <p:nvPr/>
          </p:nvSpPr>
          <p:spPr>
            <a:xfrm>
              <a:off x="2978400" y="2738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g36aa5e117e9_3_75"/>
            <p:cNvSpPr/>
            <p:nvPr/>
          </p:nvSpPr>
          <p:spPr>
            <a:xfrm>
              <a:off x="2978400" y="3189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g36aa5e117e9_3_75"/>
            <p:cNvSpPr/>
            <p:nvPr/>
          </p:nvSpPr>
          <p:spPr>
            <a:xfrm>
              <a:off x="2978400" y="3639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g36aa5e117e9_3_75"/>
            <p:cNvSpPr/>
            <p:nvPr/>
          </p:nvSpPr>
          <p:spPr>
            <a:xfrm>
              <a:off x="2978400" y="4090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6aa5e117e9_3_75"/>
            <p:cNvSpPr/>
            <p:nvPr/>
          </p:nvSpPr>
          <p:spPr>
            <a:xfrm>
              <a:off x="2978400" y="4540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g36aa5e117e9_3_75"/>
            <p:cNvSpPr/>
            <p:nvPr/>
          </p:nvSpPr>
          <p:spPr>
            <a:xfrm>
              <a:off x="2978400" y="4991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8" name="Google Shape;278;g36aa5e117e9_3_75"/>
          <p:cNvSpPr/>
          <p:nvPr/>
        </p:nvSpPr>
        <p:spPr>
          <a:xfrm>
            <a:off x="676656" y="1737275"/>
            <a:ext cx="543000" cy="540300"/>
          </a:xfrm>
          <a:prstGeom prst="rect">
            <a:avLst/>
          </a:prstGeom>
          <a:solidFill>
            <a:srgbClr val="C9DAF8"/>
          </a:solidFill>
          <a:ln w="9525" cap="flat" cmpd="sng">
            <a:solidFill>
              <a:srgbClr val="6D9EEB"/>
            </a:solidFill>
            <a:prstDash val="solid"/>
            <a:round/>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Window</a:t>
            </a:r>
            <a:endParaRPr sz="1000" b="0" i="0" u="none" strike="noStrike" cap="none">
              <a:solidFill>
                <a:srgbClr val="000000"/>
              </a:solidFill>
              <a:latin typeface="Arial"/>
              <a:ea typeface="Arial"/>
              <a:cs typeface="Arial"/>
              <a:sym typeface="Arial"/>
            </a:endParaRPr>
          </a:p>
        </p:txBody>
      </p:sp>
      <p:sp>
        <p:nvSpPr>
          <p:cNvPr id="279" name="Google Shape;279;g36aa5e117e9_3_75"/>
          <p:cNvSpPr txBox="1">
            <a:spLocks noGrp="1"/>
          </p:cNvSpPr>
          <p:nvPr>
            <p:ph type="title"/>
          </p:nvPr>
        </p:nvSpPr>
        <p:spPr>
          <a:xfrm>
            <a:off x="311700" y="-12175"/>
            <a:ext cx="8520600" cy="707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000"/>
              <a:buNone/>
            </a:pPr>
            <a:r>
              <a:rPr lang="en"/>
              <a:t>Go-Back-N w/o Errors</a:t>
            </a:r>
            <a:endParaRPr/>
          </a:p>
        </p:txBody>
      </p:sp>
      <p:cxnSp>
        <p:nvCxnSpPr>
          <p:cNvPr id="280" name="Google Shape;280;g36aa5e117e9_3_75"/>
          <p:cNvCxnSpPr/>
          <p:nvPr/>
        </p:nvCxnSpPr>
        <p:spPr>
          <a:xfrm>
            <a:off x="2994300" y="656375"/>
            <a:ext cx="12600" cy="4037700"/>
          </a:xfrm>
          <a:prstGeom prst="straightConnector1">
            <a:avLst/>
          </a:prstGeom>
          <a:noFill/>
          <a:ln w="38100" cap="flat" cmpd="sng">
            <a:solidFill>
              <a:srgbClr val="000000"/>
            </a:solidFill>
            <a:prstDash val="solid"/>
            <a:round/>
            <a:headEnd type="none" w="sm" len="sm"/>
            <a:tailEnd type="none" w="sm" len="sm"/>
          </a:ln>
        </p:spPr>
      </p:cxnSp>
      <p:cxnSp>
        <p:nvCxnSpPr>
          <p:cNvPr id="281" name="Google Shape;281;g36aa5e117e9_3_75"/>
          <p:cNvCxnSpPr/>
          <p:nvPr/>
        </p:nvCxnSpPr>
        <p:spPr>
          <a:xfrm>
            <a:off x="6190500" y="657930"/>
            <a:ext cx="14400" cy="4151700"/>
          </a:xfrm>
          <a:prstGeom prst="straightConnector1">
            <a:avLst/>
          </a:prstGeom>
          <a:noFill/>
          <a:ln w="38100" cap="flat" cmpd="sng">
            <a:solidFill>
              <a:srgbClr val="000000"/>
            </a:solidFill>
            <a:prstDash val="solid"/>
            <a:round/>
            <a:headEnd type="none" w="sm" len="sm"/>
            <a:tailEnd type="none" w="sm" len="sm"/>
          </a:ln>
        </p:spPr>
      </p:cxnSp>
      <p:cxnSp>
        <p:nvCxnSpPr>
          <p:cNvPr id="282" name="Google Shape;282;g36aa5e117e9_3_75"/>
          <p:cNvCxnSpPr>
            <a:stCxn id="283" idx="3"/>
            <a:endCxn id="284" idx="1"/>
          </p:cNvCxnSpPr>
          <p:nvPr/>
        </p:nvCxnSpPr>
        <p:spPr>
          <a:xfrm>
            <a:off x="3003300" y="7402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285" name="Google Shape;285;g36aa5e117e9_3_75"/>
          <p:cNvSpPr/>
          <p:nvPr/>
        </p:nvSpPr>
        <p:spPr>
          <a:xfrm>
            <a:off x="564794"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g36aa5e117e9_3_75"/>
          <p:cNvSpPr/>
          <p:nvPr/>
        </p:nvSpPr>
        <p:spPr>
          <a:xfrm>
            <a:off x="699765"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g36aa5e117e9_3_75"/>
          <p:cNvSpPr/>
          <p:nvPr/>
        </p:nvSpPr>
        <p:spPr>
          <a:xfrm>
            <a:off x="834736"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g36aa5e117e9_3_75"/>
          <p:cNvSpPr/>
          <p:nvPr/>
        </p:nvSpPr>
        <p:spPr>
          <a:xfrm>
            <a:off x="969707"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g36aa5e117e9_3_75"/>
          <p:cNvSpPr/>
          <p:nvPr/>
        </p:nvSpPr>
        <p:spPr>
          <a:xfrm>
            <a:off x="110467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g36aa5e117e9_3_75"/>
          <p:cNvSpPr/>
          <p:nvPr/>
        </p:nvSpPr>
        <p:spPr>
          <a:xfrm>
            <a:off x="123964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g36aa5e117e9_3_75"/>
          <p:cNvSpPr/>
          <p:nvPr/>
        </p:nvSpPr>
        <p:spPr>
          <a:xfrm>
            <a:off x="137462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g36aa5e117e9_3_75"/>
          <p:cNvSpPr/>
          <p:nvPr/>
        </p:nvSpPr>
        <p:spPr>
          <a:xfrm>
            <a:off x="150959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g36aa5e117e9_3_75"/>
          <p:cNvSpPr/>
          <p:nvPr/>
        </p:nvSpPr>
        <p:spPr>
          <a:xfrm>
            <a:off x="164456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g36aa5e117e9_3_75"/>
          <p:cNvSpPr/>
          <p:nvPr/>
        </p:nvSpPr>
        <p:spPr>
          <a:xfrm>
            <a:off x="177953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g36aa5e117e9_3_75"/>
          <p:cNvSpPr/>
          <p:nvPr/>
        </p:nvSpPr>
        <p:spPr>
          <a:xfrm>
            <a:off x="191450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g36aa5e117e9_3_75"/>
          <p:cNvSpPr/>
          <p:nvPr/>
        </p:nvSpPr>
        <p:spPr>
          <a:xfrm>
            <a:off x="204947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g36aa5e117e9_3_75"/>
          <p:cNvSpPr/>
          <p:nvPr/>
        </p:nvSpPr>
        <p:spPr>
          <a:xfrm>
            <a:off x="218444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g36aa5e117e9_3_75"/>
          <p:cNvSpPr/>
          <p:nvPr/>
        </p:nvSpPr>
        <p:spPr>
          <a:xfrm>
            <a:off x="231941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g36aa5e117e9_3_75"/>
          <p:cNvSpPr txBox="1"/>
          <p:nvPr/>
        </p:nvSpPr>
        <p:spPr>
          <a:xfrm>
            <a:off x="2560200" y="6580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S=1</a:t>
            </a:r>
            <a:endParaRPr sz="1400" b="0" i="0" u="none" strike="noStrike" cap="none">
              <a:solidFill>
                <a:srgbClr val="000000"/>
              </a:solidFill>
              <a:latin typeface="Lato"/>
              <a:ea typeface="Lato"/>
              <a:cs typeface="Lato"/>
              <a:sym typeface="Lato"/>
            </a:endParaRPr>
          </a:p>
        </p:txBody>
      </p:sp>
      <p:sp>
        <p:nvSpPr>
          <p:cNvPr id="299" name="Google Shape;299;g36aa5e117e9_3_75"/>
          <p:cNvSpPr txBox="1"/>
          <p:nvPr/>
        </p:nvSpPr>
        <p:spPr>
          <a:xfrm>
            <a:off x="2560200" y="8774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S=2</a:t>
            </a:r>
            <a:endParaRPr sz="1400" b="0" i="0" u="none" strike="noStrike" cap="none">
              <a:solidFill>
                <a:srgbClr val="000000"/>
              </a:solidFill>
              <a:latin typeface="Lato"/>
              <a:ea typeface="Lato"/>
              <a:cs typeface="Lato"/>
              <a:sym typeface="Lato"/>
            </a:endParaRPr>
          </a:p>
        </p:txBody>
      </p:sp>
      <p:sp>
        <p:nvSpPr>
          <p:cNvPr id="300" name="Google Shape;300;g36aa5e117e9_3_75"/>
          <p:cNvSpPr txBox="1"/>
          <p:nvPr/>
        </p:nvSpPr>
        <p:spPr>
          <a:xfrm>
            <a:off x="2560200" y="1096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S=3</a:t>
            </a:r>
            <a:endParaRPr sz="1400" b="0" i="0" u="none" strike="noStrike" cap="none">
              <a:solidFill>
                <a:srgbClr val="000000"/>
              </a:solidFill>
              <a:latin typeface="Lato"/>
              <a:ea typeface="Lato"/>
              <a:cs typeface="Lato"/>
              <a:sym typeface="Lato"/>
            </a:endParaRPr>
          </a:p>
        </p:txBody>
      </p:sp>
      <p:sp>
        <p:nvSpPr>
          <p:cNvPr id="301" name="Google Shape;301;g36aa5e117e9_3_75"/>
          <p:cNvSpPr txBox="1"/>
          <p:nvPr/>
        </p:nvSpPr>
        <p:spPr>
          <a:xfrm>
            <a:off x="2560200" y="1316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S=4</a:t>
            </a:r>
            <a:endParaRPr sz="1400" b="0" i="0" u="none" strike="noStrike" cap="none">
              <a:solidFill>
                <a:srgbClr val="000000"/>
              </a:solidFill>
              <a:latin typeface="Lato"/>
              <a:ea typeface="Lato"/>
              <a:cs typeface="Lato"/>
              <a:sym typeface="Lato"/>
            </a:endParaRPr>
          </a:p>
        </p:txBody>
      </p:sp>
      <p:sp>
        <p:nvSpPr>
          <p:cNvPr id="284" name="Google Shape;284;g36aa5e117e9_3_75"/>
          <p:cNvSpPr txBox="1"/>
          <p:nvPr/>
        </p:nvSpPr>
        <p:spPr>
          <a:xfrm>
            <a:off x="6190500" y="11865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A=1</a:t>
            </a:r>
            <a:endParaRPr sz="1400" b="0" i="0" u="none" strike="noStrike" cap="none">
              <a:solidFill>
                <a:srgbClr val="000000"/>
              </a:solidFill>
              <a:latin typeface="Lato"/>
              <a:ea typeface="Lato"/>
              <a:cs typeface="Lato"/>
              <a:sym typeface="Lato"/>
            </a:endParaRPr>
          </a:p>
        </p:txBody>
      </p:sp>
      <p:sp>
        <p:nvSpPr>
          <p:cNvPr id="302" name="Google Shape;302;g36aa5e117e9_3_75"/>
          <p:cNvSpPr txBox="1"/>
          <p:nvPr/>
        </p:nvSpPr>
        <p:spPr>
          <a:xfrm>
            <a:off x="6190500" y="14060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A=2</a:t>
            </a:r>
            <a:endParaRPr sz="1400" b="0" i="0" u="none" strike="noStrike" cap="none">
              <a:solidFill>
                <a:srgbClr val="000000"/>
              </a:solidFill>
              <a:latin typeface="Lato"/>
              <a:ea typeface="Lato"/>
              <a:cs typeface="Lato"/>
              <a:sym typeface="Lato"/>
            </a:endParaRPr>
          </a:p>
        </p:txBody>
      </p:sp>
      <p:sp>
        <p:nvSpPr>
          <p:cNvPr id="303" name="Google Shape;303;g36aa5e117e9_3_75"/>
          <p:cNvSpPr txBox="1"/>
          <p:nvPr/>
        </p:nvSpPr>
        <p:spPr>
          <a:xfrm>
            <a:off x="6190500" y="16254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A=3</a:t>
            </a:r>
            <a:endParaRPr sz="1400" b="0" i="0" u="none" strike="noStrike" cap="none">
              <a:solidFill>
                <a:srgbClr val="000000"/>
              </a:solidFill>
              <a:latin typeface="Lato"/>
              <a:ea typeface="Lato"/>
              <a:cs typeface="Lato"/>
              <a:sym typeface="Lato"/>
            </a:endParaRPr>
          </a:p>
        </p:txBody>
      </p:sp>
      <p:sp>
        <p:nvSpPr>
          <p:cNvPr id="304" name="Google Shape;304;g36aa5e117e9_3_75"/>
          <p:cNvSpPr txBox="1"/>
          <p:nvPr/>
        </p:nvSpPr>
        <p:spPr>
          <a:xfrm>
            <a:off x="6190500" y="18449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A=4</a:t>
            </a:r>
            <a:endParaRPr sz="1400" b="0" i="0" u="none" strike="noStrike" cap="none">
              <a:solidFill>
                <a:srgbClr val="000000"/>
              </a:solidFill>
              <a:latin typeface="Lato"/>
              <a:ea typeface="Lato"/>
              <a:cs typeface="Lato"/>
              <a:sym typeface="Lato"/>
            </a:endParaRPr>
          </a:p>
        </p:txBody>
      </p:sp>
      <p:cxnSp>
        <p:nvCxnSpPr>
          <p:cNvPr id="305" name="Google Shape;305;g36aa5e117e9_3_75"/>
          <p:cNvCxnSpPr/>
          <p:nvPr/>
        </p:nvCxnSpPr>
        <p:spPr>
          <a:xfrm flipH="1">
            <a:off x="2994300" y="12688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06" name="Google Shape;306;g36aa5e117e9_3_75"/>
          <p:cNvCxnSpPr>
            <a:stCxn id="299" idx="3"/>
            <a:endCxn id="302" idx="1"/>
          </p:cNvCxnSpPr>
          <p:nvPr/>
        </p:nvCxnSpPr>
        <p:spPr>
          <a:xfrm>
            <a:off x="3003300" y="959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07" name="Google Shape;307;g36aa5e117e9_3_75"/>
          <p:cNvCxnSpPr>
            <a:stCxn id="300" idx="3"/>
            <a:endCxn id="303" idx="1"/>
          </p:cNvCxnSpPr>
          <p:nvPr/>
        </p:nvCxnSpPr>
        <p:spPr>
          <a:xfrm>
            <a:off x="3003300" y="11791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08" name="Google Shape;308;g36aa5e117e9_3_75"/>
          <p:cNvCxnSpPr>
            <a:stCxn id="301" idx="3"/>
            <a:endCxn id="304" idx="1"/>
          </p:cNvCxnSpPr>
          <p:nvPr/>
        </p:nvCxnSpPr>
        <p:spPr>
          <a:xfrm>
            <a:off x="3003300" y="139857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309" name="Google Shape;309;g36aa5e117e9_3_75"/>
          <p:cNvSpPr/>
          <p:nvPr/>
        </p:nvSpPr>
        <p:spPr>
          <a:xfrm>
            <a:off x="6980419"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g36aa5e117e9_3_75"/>
          <p:cNvSpPr/>
          <p:nvPr/>
        </p:nvSpPr>
        <p:spPr>
          <a:xfrm>
            <a:off x="7115390"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g36aa5e117e9_3_75"/>
          <p:cNvSpPr/>
          <p:nvPr/>
        </p:nvSpPr>
        <p:spPr>
          <a:xfrm>
            <a:off x="7250361"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g36aa5e117e9_3_75"/>
          <p:cNvSpPr/>
          <p:nvPr/>
        </p:nvSpPr>
        <p:spPr>
          <a:xfrm>
            <a:off x="7385332"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g36aa5e117e9_3_75"/>
          <p:cNvSpPr/>
          <p:nvPr/>
        </p:nvSpPr>
        <p:spPr>
          <a:xfrm>
            <a:off x="752030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g36aa5e117e9_3_75"/>
          <p:cNvSpPr/>
          <p:nvPr/>
        </p:nvSpPr>
        <p:spPr>
          <a:xfrm>
            <a:off x="765527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g36aa5e117e9_3_75"/>
          <p:cNvSpPr/>
          <p:nvPr/>
        </p:nvSpPr>
        <p:spPr>
          <a:xfrm>
            <a:off x="779024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g36aa5e117e9_3_75"/>
          <p:cNvSpPr/>
          <p:nvPr/>
        </p:nvSpPr>
        <p:spPr>
          <a:xfrm>
            <a:off x="792521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g36aa5e117e9_3_75"/>
          <p:cNvSpPr/>
          <p:nvPr/>
        </p:nvSpPr>
        <p:spPr>
          <a:xfrm>
            <a:off x="806018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g36aa5e117e9_3_75"/>
          <p:cNvSpPr/>
          <p:nvPr/>
        </p:nvSpPr>
        <p:spPr>
          <a:xfrm>
            <a:off x="819515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g36aa5e117e9_3_75"/>
          <p:cNvSpPr/>
          <p:nvPr/>
        </p:nvSpPr>
        <p:spPr>
          <a:xfrm>
            <a:off x="833013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g36aa5e117e9_3_75"/>
          <p:cNvSpPr/>
          <p:nvPr/>
        </p:nvSpPr>
        <p:spPr>
          <a:xfrm>
            <a:off x="846510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g36aa5e117e9_3_75"/>
          <p:cNvSpPr/>
          <p:nvPr/>
        </p:nvSpPr>
        <p:spPr>
          <a:xfrm>
            <a:off x="860007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g36aa5e117e9_3_75"/>
          <p:cNvSpPr/>
          <p:nvPr/>
        </p:nvSpPr>
        <p:spPr>
          <a:xfrm>
            <a:off x="873504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g36aa5e117e9_3_75"/>
          <p:cNvSpPr txBox="1"/>
          <p:nvPr/>
        </p:nvSpPr>
        <p:spPr>
          <a:xfrm>
            <a:off x="2556063" y="1703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S=5</a:t>
            </a:r>
            <a:endParaRPr sz="1400" b="0" i="0" u="none" strike="noStrike" cap="none">
              <a:solidFill>
                <a:srgbClr val="000000"/>
              </a:solidFill>
              <a:latin typeface="Lato"/>
              <a:ea typeface="Lato"/>
              <a:cs typeface="Lato"/>
              <a:sym typeface="Lato"/>
            </a:endParaRPr>
          </a:p>
        </p:txBody>
      </p:sp>
      <p:sp>
        <p:nvSpPr>
          <p:cNvPr id="324" name="Google Shape;324;g36aa5e117e9_3_75"/>
          <p:cNvSpPr/>
          <p:nvPr/>
        </p:nvSpPr>
        <p:spPr>
          <a:xfrm>
            <a:off x="1104674"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25" name="Google Shape;325;g36aa5e117e9_3_75"/>
          <p:cNvCxnSpPr/>
          <p:nvPr/>
        </p:nvCxnSpPr>
        <p:spPr>
          <a:xfrm>
            <a:off x="2994300" y="18049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26" name="Google Shape;326;g36aa5e117e9_3_75"/>
          <p:cNvCxnSpPr/>
          <p:nvPr/>
        </p:nvCxnSpPr>
        <p:spPr>
          <a:xfrm flipH="1">
            <a:off x="2999100" y="1488200"/>
            <a:ext cx="3191400" cy="516600"/>
          </a:xfrm>
          <a:prstGeom prst="straightConnector1">
            <a:avLst/>
          </a:prstGeom>
          <a:noFill/>
          <a:ln w="9525" cap="flat" cmpd="sng">
            <a:solidFill>
              <a:srgbClr val="0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330"/>
        <p:cNvGrpSpPr/>
        <p:nvPr/>
      </p:nvGrpSpPr>
      <p:grpSpPr>
        <a:xfrm>
          <a:off x="0" y="0"/>
          <a:ext cx="0" cy="0"/>
          <a:chOff x="0" y="0"/>
          <a:chExt cx="0" cy="0"/>
        </a:xfrm>
      </p:grpSpPr>
      <p:grpSp>
        <p:nvGrpSpPr>
          <p:cNvPr id="331" name="Google Shape;331;g36aa5e117e9_3_138"/>
          <p:cNvGrpSpPr/>
          <p:nvPr/>
        </p:nvGrpSpPr>
        <p:grpSpPr>
          <a:xfrm>
            <a:off x="2999232" y="667512"/>
            <a:ext cx="3187200" cy="4280700"/>
            <a:chOff x="2978400" y="936000"/>
            <a:chExt cx="3187200" cy="4280700"/>
          </a:xfrm>
        </p:grpSpPr>
        <p:sp>
          <p:nvSpPr>
            <p:cNvPr id="332" name="Google Shape;332;g36aa5e117e9_3_138"/>
            <p:cNvSpPr/>
            <p:nvPr/>
          </p:nvSpPr>
          <p:spPr>
            <a:xfrm>
              <a:off x="2978400" y="936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g36aa5e117e9_3_138"/>
            <p:cNvSpPr/>
            <p:nvPr/>
          </p:nvSpPr>
          <p:spPr>
            <a:xfrm>
              <a:off x="2978400" y="1386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g36aa5e117e9_3_138"/>
            <p:cNvSpPr/>
            <p:nvPr/>
          </p:nvSpPr>
          <p:spPr>
            <a:xfrm>
              <a:off x="2978400" y="1837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g36aa5e117e9_3_138"/>
            <p:cNvSpPr/>
            <p:nvPr/>
          </p:nvSpPr>
          <p:spPr>
            <a:xfrm>
              <a:off x="2978400" y="2287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g36aa5e117e9_3_138"/>
            <p:cNvSpPr/>
            <p:nvPr/>
          </p:nvSpPr>
          <p:spPr>
            <a:xfrm>
              <a:off x="2978400" y="2738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g36aa5e117e9_3_138"/>
            <p:cNvSpPr/>
            <p:nvPr/>
          </p:nvSpPr>
          <p:spPr>
            <a:xfrm>
              <a:off x="2978400" y="3189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g36aa5e117e9_3_138"/>
            <p:cNvSpPr/>
            <p:nvPr/>
          </p:nvSpPr>
          <p:spPr>
            <a:xfrm>
              <a:off x="2978400" y="3639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g36aa5e117e9_3_138"/>
            <p:cNvSpPr/>
            <p:nvPr/>
          </p:nvSpPr>
          <p:spPr>
            <a:xfrm>
              <a:off x="2978400" y="4090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g36aa5e117e9_3_138"/>
            <p:cNvSpPr/>
            <p:nvPr/>
          </p:nvSpPr>
          <p:spPr>
            <a:xfrm>
              <a:off x="2978400" y="4540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g36aa5e117e9_3_138"/>
            <p:cNvSpPr/>
            <p:nvPr/>
          </p:nvSpPr>
          <p:spPr>
            <a:xfrm>
              <a:off x="2978400" y="4991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2" name="Google Shape;342;g36aa5e117e9_3_138"/>
          <p:cNvSpPr/>
          <p:nvPr/>
        </p:nvSpPr>
        <p:spPr>
          <a:xfrm>
            <a:off x="813816" y="1737275"/>
            <a:ext cx="543000" cy="540300"/>
          </a:xfrm>
          <a:prstGeom prst="rect">
            <a:avLst/>
          </a:prstGeom>
          <a:solidFill>
            <a:srgbClr val="C9DAF8"/>
          </a:solidFill>
          <a:ln w="9525" cap="flat" cmpd="sng">
            <a:solidFill>
              <a:srgbClr val="6D9EEB"/>
            </a:solidFill>
            <a:prstDash val="solid"/>
            <a:round/>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Window</a:t>
            </a:r>
            <a:endParaRPr sz="1000" b="0" i="0" u="none" strike="noStrike" cap="none">
              <a:solidFill>
                <a:srgbClr val="000000"/>
              </a:solidFill>
              <a:latin typeface="Arial"/>
              <a:ea typeface="Arial"/>
              <a:cs typeface="Arial"/>
              <a:sym typeface="Arial"/>
            </a:endParaRPr>
          </a:p>
        </p:txBody>
      </p:sp>
      <p:sp>
        <p:nvSpPr>
          <p:cNvPr id="343" name="Google Shape;343;g36aa5e117e9_3_138"/>
          <p:cNvSpPr txBox="1">
            <a:spLocks noGrp="1"/>
          </p:cNvSpPr>
          <p:nvPr>
            <p:ph type="title"/>
          </p:nvPr>
        </p:nvSpPr>
        <p:spPr>
          <a:xfrm>
            <a:off x="311700" y="-12175"/>
            <a:ext cx="8520600" cy="707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000"/>
              <a:buNone/>
            </a:pPr>
            <a:r>
              <a:rPr lang="en"/>
              <a:t>Go-Back-N w/o Errors</a:t>
            </a:r>
            <a:endParaRPr/>
          </a:p>
        </p:txBody>
      </p:sp>
      <p:cxnSp>
        <p:nvCxnSpPr>
          <p:cNvPr id="344" name="Google Shape;344;g36aa5e117e9_3_138"/>
          <p:cNvCxnSpPr/>
          <p:nvPr/>
        </p:nvCxnSpPr>
        <p:spPr>
          <a:xfrm>
            <a:off x="2994300" y="656375"/>
            <a:ext cx="12600" cy="4037700"/>
          </a:xfrm>
          <a:prstGeom prst="straightConnector1">
            <a:avLst/>
          </a:prstGeom>
          <a:noFill/>
          <a:ln w="38100" cap="flat" cmpd="sng">
            <a:solidFill>
              <a:srgbClr val="000000"/>
            </a:solidFill>
            <a:prstDash val="solid"/>
            <a:round/>
            <a:headEnd type="none" w="sm" len="sm"/>
            <a:tailEnd type="none" w="sm" len="sm"/>
          </a:ln>
        </p:spPr>
      </p:cxnSp>
      <p:cxnSp>
        <p:nvCxnSpPr>
          <p:cNvPr id="345" name="Google Shape;345;g36aa5e117e9_3_138"/>
          <p:cNvCxnSpPr/>
          <p:nvPr/>
        </p:nvCxnSpPr>
        <p:spPr>
          <a:xfrm>
            <a:off x="6190500" y="657930"/>
            <a:ext cx="14400" cy="4151700"/>
          </a:xfrm>
          <a:prstGeom prst="straightConnector1">
            <a:avLst/>
          </a:prstGeom>
          <a:noFill/>
          <a:ln w="38100" cap="flat" cmpd="sng">
            <a:solidFill>
              <a:srgbClr val="000000"/>
            </a:solidFill>
            <a:prstDash val="solid"/>
            <a:round/>
            <a:headEnd type="none" w="sm" len="sm"/>
            <a:tailEnd type="none" w="sm" len="sm"/>
          </a:ln>
        </p:spPr>
      </p:cxnSp>
      <p:cxnSp>
        <p:nvCxnSpPr>
          <p:cNvPr id="346" name="Google Shape;346;g36aa5e117e9_3_138"/>
          <p:cNvCxnSpPr>
            <a:stCxn id="347" idx="3"/>
            <a:endCxn id="348" idx="1"/>
          </p:cNvCxnSpPr>
          <p:nvPr/>
        </p:nvCxnSpPr>
        <p:spPr>
          <a:xfrm>
            <a:off x="3003300" y="7402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349" name="Google Shape;349;g36aa5e117e9_3_138"/>
          <p:cNvSpPr/>
          <p:nvPr/>
        </p:nvSpPr>
        <p:spPr>
          <a:xfrm>
            <a:off x="564794"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g36aa5e117e9_3_138"/>
          <p:cNvSpPr/>
          <p:nvPr/>
        </p:nvSpPr>
        <p:spPr>
          <a:xfrm>
            <a:off x="699765"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g36aa5e117e9_3_138"/>
          <p:cNvSpPr/>
          <p:nvPr/>
        </p:nvSpPr>
        <p:spPr>
          <a:xfrm>
            <a:off x="834736"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g36aa5e117e9_3_138"/>
          <p:cNvSpPr/>
          <p:nvPr/>
        </p:nvSpPr>
        <p:spPr>
          <a:xfrm>
            <a:off x="969707"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g36aa5e117e9_3_138"/>
          <p:cNvSpPr/>
          <p:nvPr/>
        </p:nvSpPr>
        <p:spPr>
          <a:xfrm>
            <a:off x="110467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g36aa5e117e9_3_138"/>
          <p:cNvSpPr/>
          <p:nvPr/>
        </p:nvSpPr>
        <p:spPr>
          <a:xfrm>
            <a:off x="123964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g36aa5e117e9_3_138"/>
          <p:cNvSpPr/>
          <p:nvPr/>
        </p:nvSpPr>
        <p:spPr>
          <a:xfrm>
            <a:off x="137462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g36aa5e117e9_3_138"/>
          <p:cNvSpPr/>
          <p:nvPr/>
        </p:nvSpPr>
        <p:spPr>
          <a:xfrm>
            <a:off x="150959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g36aa5e117e9_3_138"/>
          <p:cNvSpPr/>
          <p:nvPr/>
        </p:nvSpPr>
        <p:spPr>
          <a:xfrm>
            <a:off x="164456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g36aa5e117e9_3_138"/>
          <p:cNvSpPr/>
          <p:nvPr/>
        </p:nvSpPr>
        <p:spPr>
          <a:xfrm>
            <a:off x="177953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g36aa5e117e9_3_138"/>
          <p:cNvSpPr/>
          <p:nvPr/>
        </p:nvSpPr>
        <p:spPr>
          <a:xfrm>
            <a:off x="191450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g36aa5e117e9_3_138"/>
          <p:cNvSpPr/>
          <p:nvPr/>
        </p:nvSpPr>
        <p:spPr>
          <a:xfrm>
            <a:off x="204947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g36aa5e117e9_3_138"/>
          <p:cNvSpPr/>
          <p:nvPr/>
        </p:nvSpPr>
        <p:spPr>
          <a:xfrm>
            <a:off x="218444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g36aa5e117e9_3_138"/>
          <p:cNvSpPr/>
          <p:nvPr/>
        </p:nvSpPr>
        <p:spPr>
          <a:xfrm>
            <a:off x="231941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g36aa5e117e9_3_138"/>
          <p:cNvSpPr txBox="1"/>
          <p:nvPr/>
        </p:nvSpPr>
        <p:spPr>
          <a:xfrm>
            <a:off x="2560200" y="6580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S=1</a:t>
            </a:r>
            <a:endParaRPr sz="1400" b="0" i="0" u="none" strike="noStrike" cap="none">
              <a:solidFill>
                <a:srgbClr val="000000"/>
              </a:solidFill>
              <a:latin typeface="Lato"/>
              <a:ea typeface="Lato"/>
              <a:cs typeface="Lato"/>
              <a:sym typeface="Lato"/>
            </a:endParaRPr>
          </a:p>
        </p:txBody>
      </p:sp>
      <p:sp>
        <p:nvSpPr>
          <p:cNvPr id="363" name="Google Shape;363;g36aa5e117e9_3_138"/>
          <p:cNvSpPr txBox="1"/>
          <p:nvPr/>
        </p:nvSpPr>
        <p:spPr>
          <a:xfrm>
            <a:off x="2560200" y="8774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S=2</a:t>
            </a:r>
            <a:endParaRPr sz="1400" b="0" i="0" u="none" strike="noStrike" cap="none">
              <a:solidFill>
                <a:srgbClr val="000000"/>
              </a:solidFill>
              <a:latin typeface="Lato"/>
              <a:ea typeface="Lato"/>
              <a:cs typeface="Lato"/>
              <a:sym typeface="Lato"/>
            </a:endParaRPr>
          </a:p>
        </p:txBody>
      </p:sp>
      <p:sp>
        <p:nvSpPr>
          <p:cNvPr id="364" name="Google Shape;364;g36aa5e117e9_3_138"/>
          <p:cNvSpPr txBox="1"/>
          <p:nvPr/>
        </p:nvSpPr>
        <p:spPr>
          <a:xfrm>
            <a:off x="2560200" y="1096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S=3</a:t>
            </a:r>
            <a:endParaRPr sz="1400" b="0" i="0" u="none" strike="noStrike" cap="none">
              <a:solidFill>
                <a:srgbClr val="000000"/>
              </a:solidFill>
              <a:latin typeface="Lato"/>
              <a:ea typeface="Lato"/>
              <a:cs typeface="Lato"/>
              <a:sym typeface="Lato"/>
            </a:endParaRPr>
          </a:p>
        </p:txBody>
      </p:sp>
      <p:sp>
        <p:nvSpPr>
          <p:cNvPr id="365" name="Google Shape;365;g36aa5e117e9_3_138"/>
          <p:cNvSpPr txBox="1"/>
          <p:nvPr/>
        </p:nvSpPr>
        <p:spPr>
          <a:xfrm>
            <a:off x="2560200" y="1316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S=4</a:t>
            </a:r>
            <a:endParaRPr sz="1400" b="0" i="0" u="none" strike="noStrike" cap="none">
              <a:solidFill>
                <a:srgbClr val="000000"/>
              </a:solidFill>
              <a:latin typeface="Lato"/>
              <a:ea typeface="Lato"/>
              <a:cs typeface="Lato"/>
              <a:sym typeface="Lato"/>
            </a:endParaRPr>
          </a:p>
        </p:txBody>
      </p:sp>
      <p:sp>
        <p:nvSpPr>
          <p:cNvPr id="348" name="Google Shape;348;g36aa5e117e9_3_138"/>
          <p:cNvSpPr txBox="1"/>
          <p:nvPr/>
        </p:nvSpPr>
        <p:spPr>
          <a:xfrm>
            <a:off x="6190500" y="11865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A=1</a:t>
            </a:r>
            <a:endParaRPr sz="1400" b="0" i="0" u="none" strike="noStrike" cap="none">
              <a:solidFill>
                <a:srgbClr val="000000"/>
              </a:solidFill>
              <a:latin typeface="Lato"/>
              <a:ea typeface="Lato"/>
              <a:cs typeface="Lato"/>
              <a:sym typeface="Lato"/>
            </a:endParaRPr>
          </a:p>
        </p:txBody>
      </p:sp>
      <p:sp>
        <p:nvSpPr>
          <p:cNvPr id="366" name="Google Shape;366;g36aa5e117e9_3_138"/>
          <p:cNvSpPr txBox="1"/>
          <p:nvPr/>
        </p:nvSpPr>
        <p:spPr>
          <a:xfrm>
            <a:off x="6190500" y="14060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A=2</a:t>
            </a:r>
            <a:endParaRPr sz="1400" b="0" i="0" u="none" strike="noStrike" cap="none">
              <a:solidFill>
                <a:srgbClr val="000000"/>
              </a:solidFill>
              <a:latin typeface="Lato"/>
              <a:ea typeface="Lato"/>
              <a:cs typeface="Lato"/>
              <a:sym typeface="Lato"/>
            </a:endParaRPr>
          </a:p>
        </p:txBody>
      </p:sp>
      <p:sp>
        <p:nvSpPr>
          <p:cNvPr id="367" name="Google Shape;367;g36aa5e117e9_3_138"/>
          <p:cNvSpPr txBox="1"/>
          <p:nvPr/>
        </p:nvSpPr>
        <p:spPr>
          <a:xfrm>
            <a:off x="6190500" y="16254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A=3</a:t>
            </a:r>
            <a:endParaRPr sz="1400" b="0" i="0" u="none" strike="noStrike" cap="none">
              <a:solidFill>
                <a:srgbClr val="000000"/>
              </a:solidFill>
              <a:latin typeface="Lato"/>
              <a:ea typeface="Lato"/>
              <a:cs typeface="Lato"/>
              <a:sym typeface="Lato"/>
            </a:endParaRPr>
          </a:p>
        </p:txBody>
      </p:sp>
      <p:sp>
        <p:nvSpPr>
          <p:cNvPr id="368" name="Google Shape;368;g36aa5e117e9_3_138"/>
          <p:cNvSpPr txBox="1"/>
          <p:nvPr/>
        </p:nvSpPr>
        <p:spPr>
          <a:xfrm>
            <a:off x="6190500" y="18449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A=4</a:t>
            </a:r>
            <a:endParaRPr sz="1400" b="0" i="0" u="none" strike="noStrike" cap="none">
              <a:solidFill>
                <a:srgbClr val="000000"/>
              </a:solidFill>
              <a:latin typeface="Lato"/>
              <a:ea typeface="Lato"/>
              <a:cs typeface="Lato"/>
              <a:sym typeface="Lato"/>
            </a:endParaRPr>
          </a:p>
        </p:txBody>
      </p:sp>
      <p:cxnSp>
        <p:nvCxnSpPr>
          <p:cNvPr id="369" name="Google Shape;369;g36aa5e117e9_3_138"/>
          <p:cNvCxnSpPr/>
          <p:nvPr/>
        </p:nvCxnSpPr>
        <p:spPr>
          <a:xfrm flipH="1">
            <a:off x="2994300" y="12688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70" name="Google Shape;370;g36aa5e117e9_3_138"/>
          <p:cNvCxnSpPr>
            <a:stCxn id="363" idx="3"/>
            <a:endCxn id="366" idx="1"/>
          </p:cNvCxnSpPr>
          <p:nvPr/>
        </p:nvCxnSpPr>
        <p:spPr>
          <a:xfrm>
            <a:off x="3003300" y="959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71" name="Google Shape;371;g36aa5e117e9_3_138"/>
          <p:cNvCxnSpPr>
            <a:stCxn id="364" idx="3"/>
            <a:endCxn id="367" idx="1"/>
          </p:cNvCxnSpPr>
          <p:nvPr/>
        </p:nvCxnSpPr>
        <p:spPr>
          <a:xfrm>
            <a:off x="3003300" y="11791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72" name="Google Shape;372;g36aa5e117e9_3_138"/>
          <p:cNvCxnSpPr>
            <a:stCxn id="365" idx="3"/>
            <a:endCxn id="368" idx="1"/>
          </p:cNvCxnSpPr>
          <p:nvPr/>
        </p:nvCxnSpPr>
        <p:spPr>
          <a:xfrm>
            <a:off x="3003300" y="13985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373" name="Google Shape;373;g36aa5e117e9_3_138"/>
          <p:cNvCxnSpPr>
            <a:stCxn id="366" idx="1"/>
          </p:cNvCxnSpPr>
          <p:nvPr/>
        </p:nvCxnSpPr>
        <p:spPr>
          <a:xfrm flipH="1">
            <a:off x="2999100" y="148820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374" name="Google Shape;374;g36aa5e117e9_3_138"/>
          <p:cNvSpPr/>
          <p:nvPr/>
        </p:nvSpPr>
        <p:spPr>
          <a:xfrm>
            <a:off x="6980419"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g36aa5e117e9_3_138"/>
          <p:cNvSpPr/>
          <p:nvPr/>
        </p:nvSpPr>
        <p:spPr>
          <a:xfrm>
            <a:off x="7115390"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g36aa5e117e9_3_138"/>
          <p:cNvSpPr/>
          <p:nvPr/>
        </p:nvSpPr>
        <p:spPr>
          <a:xfrm>
            <a:off x="7250361"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6aa5e117e9_3_138"/>
          <p:cNvSpPr/>
          <p:nvPr/>
        </p:nvSpPr>
        <p:spPr>
          <a:xfrm>
            <a:off x="7385332"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g36aa5e117e9_3_138"/>
          <p:cNvSpPr/>
          <p:nvPr/>
        </p:nvSpPr>
        <p:spPr>
          <a:xfrm>
            <a:off x="752030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6aa5e117e9_3_138"/>
          <p:cNvSpPr/>
          <p:nvPr/>
        </p:nvSpPr>
        <p:spPr>
          <a:xfrm>
            <a:off x="765527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g36aa5e117e9_3_138"/>
          <p:cNvSpPr/>
          <p:nvPr/>
        </p:nvSpPr>
        <p:spPr>
          <a:xfrm>
            <a:off x="779024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g36aa5e117e9_3_138"/>
          <p:cNvSpPr/>
          <p:nvPr/>
        </p:nvSpPr>
        <p:spPr>
          <a:xfrm>
            <a:off x="792521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g36aa5e117e9_3_138"/>
          <p:cNvSpPr/>
          <p:nvPr/>
        </p:nvSpPr>
        <p:spPr>
          <a:xfrm>
            <a:off x="806018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g36aa5e117e9_3_138"/>
          <p:cNvSpPr/>
          <p:nvPr/>
        </p:nvSpPr>
        <p:spPr>
          <a:xfrm>
            <a:off x="819515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g36aa5e117e9_3_138"/>
          <p:cNvSpPr/>
          <p:nvPr/>
        </p:nvSpPr>
        <p:spPr>
          <a:xfrm>
            <a:off x="833013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g36aa5e117e9_3_138"/>
          <p:cNvSpPr/>
          <p:nvPr/>
        </p:nvSpPr>
        <p:spPr>
          <a:xfrm>
            <a:off x="846510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g36aa5e117e9_3_138"/>
          <p:cNvSpPr/>
          <p:nvPr/>
        </p:nvSpPr>
        <p:spPr>
          <a:xfrm>
            <a:off x="860007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g36aa5e117e9_3_138"/>
          <p:cNvSpPr/>
          <p:nvPr/>
        </p:nvSpPr>
        <p:spPr>
          <a:xfrm>
            <a:off x="873504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g36aa5e117e9_3_138"/>
          <p:cNvSpPr txBox="1"/>
          <p:nvPr/>
        </p:nvSpPr>
        <p:spPr>
          <a:xfrm>
            <a:off x="2556063" y="1703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S=5</a:t>
            </a:r>
            <a:endParaRPr sz="1400" b="0" i="0" u="none" strike="noStrike" cap="none">
              <a:solidFill>
                <a:srgbClr val="000000"/>
              </a:solidFill>
              <a:latin typeface="Lato"/>
              <a:ea typeface="Lato"/>
              <a:cs typeface="Lato"/>
              <a:sym typeface="Lato"/>
            </a:endParaRPr>
          </a:p>
        </p:txBody>
      </p:sp>
      <p:sp>
        <p:nvSpPr>
          <p:cNvPr id="389" name="Google Shape;389;g36aa5e117e9_3_138"/>
          <p:cNvSpPr/>
          <p:nvPr/>
        </p:nvSpPr>
        <p:spPr>
          <a:xfrm>
            <a:off x="1104674"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0" name="Google Shape;390;g36aa5e117e9_3_138"/>
          <p:cNvCxnSpPr/>
          <p:nvPr/>
        </p:nvCxnSpPr>
        <p:spPr>
          <a:xfrm>
            <a:off x="2994300" y="18049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391" name="Google Shape;391;g36aa5e117e9_3_138"/>
          <p:cNvSpPr txBox="1"/>
          <p:nvPr/>
        </p:nvSpPr>
        <p:spPr>
          <a:xfrm>
            <a:off x="2556063" y="19226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S=6</a:t>
            </a:r>
            <a:endParaRPr sz="1400" b="0" i="0" u="none" strike="noStrike" cap="none">
              <a:solidFill>
                <a:srgbClr val="000000"/>
              </a:solidFill>
              <a:latin typeface="Lato"/>
              <a:ea typeface="Lato"/>
              <a:cs typeface="Lato"/>
              <a:sym typeface="Lato"/>
            </a:endParaRPr>
          </a:p>
        </p:txBody>
      </p:sp>
      <p:cxnSp>
        <p:nvCxnSpPr>
          <p:cNvPr id="392" name="Google Shape;392;g36aa5e117e9_3_138"/>
          <p:cNvCxnSpPr/>
          <p:nvPr/>
        </p:nvCxnSpPr>
        <p:spPr>
          <a:xfrm>
            <a:off x="2994300" y="2024375"/>
            <a:ext cx="3193500" cy="538200"/>
          </a:xfrm>
          <a:prstGeom prst="straightConnector1">
            <a:avLst/>
          </a:prstGeom>
          <a:noFill/>
          <a:ln w="9525" cap="flat" cmpd="sng">
            <a:solidFill>
              <a:srgbClr val="000000"/>
            </a:solidFill>
            <a:prstDash val="solid"/>
            <a:round/>
            <a:headEnd type="none" w="sm" len="sm"/>
            <a:tailEnd type="triangle" w="med" len="med"/>
          </a:ln>
        </p:spPr>
      </p:cxnSp>
      <p:sp>
        <p:nvSpPr>
          <p:cNvPr id="393" name="Google Shape;393;g36aa5e117e9_3_138"/>
          <p:cNvSpPr/>
          <p:nvPr/>
        </p:nvSpPr>
        <p:spPr>
          <a:xfrm>
            <a:off x="1239645"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94" name="Google Shape;394;g36aa5e117e9_3_138"/>
          <p:cNvCxnSpPr/>
          <p:nvPr/>
        </p:nvCxnSpPr>
        <p:spPr>
          <a:xfrm flipH="1">
            <a:off x="2999100" y="1707650"/>
            <a:ext cx="3191400" cy="516600"/>
          </a:xfrm>
          <a:prstGeom prst="straightConnector1">
            <a:avLst/>
          </a:prstGeom>
          <a:noFill/>
          <a:ln w="9525" cap="flat" cmpd="sng">
            <a:solidFill>
              <a:srgbClr val="0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398"/>
        <p:cNvGrpSpPr/>
        <p:nvPr/>
      </p:nvGrpSpPr>
      <p:grpSpPr>
        <a:xfrm>
          <a:off x="0" y="0"/>
          <a:ext cx="0" cy="0"/>
          <a:chOff x="0" y="0"/>
          <a:chExt cx="0" cy="0"/>
        </a:xfrm>
      </p:grpSpPr>
      <p:grpSp>
        <p:nvGrpSpPr>
          <p:cNvPr id="399" name="Google Shape;399;g36aa5e117e9_3_205"/>
          <p:cNvGrpSpPr/>
          <p:nvPr/>
        </p:nvGrpSpPr>
        <p:grpSpPr>
          <a:xfrm>
            <a:off x="2999232" y="667512"/>
            <a:ext cx="3187200" cy="4280700"/>
            <a:chOff x="2978400" y="936000"/>
            <a:chExt cx="3187200" cy="4280700"/>
          </a:xfrm>
        </p:grpSpPr>
        <p:sp>
          <p:nvSpPr>
            <p:cNvPr id="400" name="Google Shape;400;g36aa5e117e9_3_205"/>
            <p:cNvSpPr/>
            <p:nvPr/>
          </p:nvSpPr>
          <p:spPr>
            <a:xfrm>
              <a:off x="2978400" y="936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g36aa5e117e9_3_205"/>
            <p:cNvSpPr/>
            <p:nvPr/>
          </p:nvSpPr>
          <p:spPr>
            <a:xfrm>
              <a:off x="2978400" y="1386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g36aa5e117e9_3_205"/>
            <p:cNvSpPr/>
            <p:nvPr/>
          </p:nvSpPr>
          <p:spPr>
            <a:xfrm>
              <a:off x="2978400" y="1837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g36aa5e117e9_3_205"/>
            <p:cNvSpPr/>
            <p:nvPr/>
          </p:nvSpPr>
          <p:spPr>
            <a:xfrm>
              <a:off x="2978400" y="2287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g36aa5e117e9_3_205"/>
            <p:cNvSpPr/>
            <p:nvPr/>
          </p:nvSpPr>
          <p:spPr>
            <a:xfrm>
              <a:off x="2978400" y="2738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g36aa5e117e9_3_205"/>
            <p:cNvSpPr/>
            <p:nvPr/>
          </p:nvSpPr>
          <p:spPr>
            <a:xfrm>
              <a:off x="2978400" y="3189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g36aa5e117e9_3_205"/>
            <p:cNvSpPr/>
            <p:nvPr/>
          </p:nvSpPr>
          <p:spPr>
            <a:xfrm>
              <a:off x="2978400" y="3639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g36aa5e117e9_3_205"/>
            <p:cNvSpPr/>
            <p:nvPr/>
          </p:nvSpPr>
          <p:spPr>
            <a:xfrm>
              <a:off x="2978400" y="4090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g36aa5e117e9_3_205"/>
            <p:cNvSpPr/>
            <p:nvPr/>
          </p:nvSpPr>
          <p:spPr>
            <a:xfrm>
              <a:off x="2978400" y="4540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g36aa5e117e9_3_205"/>
            <p:cNvSpPr/>
            <p:nvPr/>
          </p:nvSpPr>
          <p:spPr>
            <a:xfrm>
              <a:off x="2978400" y="4991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0" name="Google Shape;410;g36aa5e117e9_3_205"/>
          <p:cNvSpPr/>
          <p:nvPr/>
        </p:nvSpPr>
        <p:spPr>
          <a:xfrm>
            <a:off x="941832" y="1737275"/>
            <a:ext cx="543000" cy="540300"/>
          </a:xfrm>
          <a:prstGeom prst="rect">
            <a:avLst/>
          </a:prstGeom>
          <a:solidFill>
            <a:srgbClr val="C9DAF8"/>
          </a:solidFill>
          <a:ln w="9525" cap="flat" cmpd="sng">
            <a:solidFill>
              <a:srgbClr val="6D9EEB"/>
            </a:solidFill>
            <a:prstDash val="solid"/>
            <a:round/>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Window</a:t>
            </a:r>
            <a:endParaRPr sz="1000" b="0" i="0" u="none" strike="noStrike" cap="none">
              <a:solidFill>
                <a:srgbClr val="000000"/>
              </a:solidFill>
              <a:latin typeface="Arial"/>
              <a:ea typeface="Arial"/>
              <a:cs typeface="Arial"/>
              <a:sym typeface="Arial"/>
            </a:endParaRPr>
          </a:p>
        </p:txBody>
      </p:sp>
      <p:sp>
        <p:nvSpPr>
          <p:cNvPr id="411" name="Google Shape;411;g36aa5e117e9_3_205"/>
          <p:cNvSpPr txBox="1">
            <a:spLocks noGrp="1"/>
          </p:cNvSpPr>
          <p:nvPr>
            <p:ph type="title"/>
          </p:nvPr>
        </p:nvSpPr>
        <p:spPr>
          <a:xfrm>
            <a:off x="311700" y="-12175"/>
            <a:ext cx="8520600" cy="707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000"/>
              <a:buNone/>
            </a:pPr>
            <a:r>
              <a:rPr lang="en"/>
              <a:t>Go-Back-N w/o Errors</a:t>
            </a:r>
            <a:endParaRPr/>
          </a:p>
        </p:txBody>
      </p:sp>
      <p:cxnSp>
        <p:nvCxnSpPr>
          <p:cNvPr id="412" name="Google Shape;412;g36aa5e117e9_3_205"/>
          <p:cNvCxnSpPr/>
          <p:nvPr/>
        </p:nvCxnSpPr>
        <p:spPr>
          <a:xfrm>
            <a:off x="2994300" y="656375"/>
            <a:ext cx="12600" cy="4037700"/>
          </a:xfrm>
          <a:prstGeom prst="straightConnector1">
            <a:avLst/>
          </a:prstGeom>
          <a:noFill/>
          <a:ln w="38100" cap="flat" cmpd="sng">
            <a:solidFill>
              <a:srgbClr val="000000"/>
            </a:solidFill>
            <a:prstDash val="solid"/>
            <a:round/>
            <a:headEnd type="none" w="sm" len="sm"/>
            <a:tailEnd type="none" w="sm" len="sm"/>
          </a:ln>
        </p:spPr>
      </p:cxnSp>
      <p:cxnSp>
        <p:nvCxnSpPr>
          <p:cNvPr id="413" name="Google Shape;413;g36aa5e117e9_3_205"/>
          <p:cNvCxnSpPr/>
          <p:nvPr/>
        </p:nvCxnSpPr>
        <p:spPr>
          <a:xfrm>
            <a:off x="6190500" y="657930"/>
            <a:ext cx="14400" cy="4151700"/>
          </a:xfrm>
          <a:prstGeom prst="straightConnector1">
            <a:avLst/>
          </a:prstGeom>
          <a:noFill/>
          <a:ln w="38100" cap="flat" cmpd="sng">
            <a:solidFill>
              <a:srgbClr val="000000"/>
            </a:solidFill>
            <a:prstDash val="solid"/>
            <a:round/>
            <a:headEnd type="none" w="sm" len="sm"/>
            <a:tailEnd type="none" w="sm" len="sm"/>
          </a:ln>
        </p:spPr>
      </p:cxnSp>
      <p:cxnSp>
        <p:nvCxnSpPr>
          <p:cNvPr id="414" name="Google Shape;414;g36aa5e117e9_3_205"/>
          <p:cNvCxnSpPr>
            <a:stCxn id="415" idx="3"/>
            <a:endCxn id="416" idx="1"/>
          </p:cNvCxnSpPr>
          <p:nvPr/>
        </p:nvCxnSpPr>
        <p:spPr>
          <a:xfrm>
            <a:off x="3003300" y="7402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417" name="Google Shape;417;g36aa5e117e9_3_205"/>
          <p:cNvSpPr/>
          <p:nvPr/>
        </p:nvSpPr>
        <p:spPr>
          <a:xfrm>
            <a:off x="564794"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g36aa5e117e9_3_205"/>
          <p:cNvSpPr/>
          <p:nvPr/>
        </p:nvSpPr>
        <p:spPr>
          <a:xfrm>
            <a:off x="699765"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g36aa5e117e9_3_205"/>
          <p:cNvSpPr/>
          <p:nvPr/>
        </p:nvSpPr>
        <p:spPr>
          <a:xfrm>
            <a:off x="834736"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g36aa5e117e9_3_205"/>
          <p:cNvSpPr/>
          <p:nvPr/>
        </p:nvSpPr>
        <p:spPr>
          <a:xfrm>
            <a:off x="969707"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g36aa5e117e9_3_205"/>
          <p:cNvSpPr/>
          <p:nvPr/>
        </p:nvSpPr>
        <p:spPr>
          <a:xfrm>
            <a:off x="110467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g36aa5e117e9_3_205"/>
          <p:cNvSpPr/>
          <p:nvPr/>
        </p:nvSpPr>
        <p:spPr>
          <a:xfrm>
            <a:off x="123964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g36aa5e117e9_3_205"/>
          <p:cNvSpPr/>
          <p:nvPr/>
        </p:nvSpPr>
        <p:spPr>
          <a:xfrm>
            <a:off x="137462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g36aa5e117e9_3_205"/>
          <p:cNvSpPr/>
          <p:nvPr/>
        </p:nvSpPr>
        <p:spPr>
          <a:xfrm>
            <a:off x="150959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g36aa5e117e9_3_205"/>
          <p:cNvSpPr/>
          <p:nvPr/>
        </p:nvSpPr>
        <p:spPr>
          <a:xfrm>
            <a:off x="164456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g36aa5e117e9_3_205"/>
          <p:cNvSpPr/>
          <p:nvPr/>
        </p:nvSpPr>
        <p:spPr>
          <a:xfrm>
            <a:off x="177953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g36aa5e117e9_3_205"/>
          <p:cNvSpPr/>
          <p:nvPr/>
        </p:nvSpPr>
        <p:spPr>
          <a:xfrm>
            <a:off x="191450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g36aa5e117e9_3_205"/>
          <p:cNvSpPr/>
          <p:nvPr/>
        </p:nvSpPr>
        <p:spPr>
          <a:xfrm>
            <a:off x="204947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g36aa5e117e9_3_205"/>
          <p:cNvSpPr/>
          <p:nvPr/>
        </p:nvSpPr>
        <p:spPr>
          <a:xfrm>
            <a:off x="218444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g36aa5e117e9_3_205"/>
          <p:cNvSpPr/>
          <p:nvPr/>
        </p:nvSpPr>
        <p:spPr>
          <a:xfrm>
            <a:off x="231941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g36aa5e117e9_3_205"/>
          <p:cNvSpPr txBox="1"/>
          <p:nvPr/>
        </p:nvSpPr>
        <p:spPr>
          <a:xfrm>
            <a:off x="2560200" y="6580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S=1</a:t>
            </a:r>
            <a:endParaRPr sz="1400" b="0" i="0" u="none" strike="noStrike" cap="none">
              <a:solidFill>
                <a:srgbClr val="000000"/>
              </a:solidFill>
              <a:latin typeface="Lato"/>
              <a:ea typeface="Lato"/>
              <a:cs typeface="Lato"/>
              <a:sym typeface="Lato"/>
            </a:endParaRPr>
          </a:p>
        </p:txBody>
      </p:sp>
      <p:sp>
        <p:nvSpPr>
          <p:cNvPr id="431" name="Google Shape;431;g36aa5e117e9_3_205"/>
          <p:cNvSpPr txBox="1"/>
          <p:nvPr/>
        </p:nvSpPr>
        <p:spPr>
          <a:xfrm>
            <a:off x="2560200" y="8774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S=2</a:t>
            </a:r>
            <a:endParaRPr sz="1400" b="0" i="0" u="none" strike="noStrike" cap="none">
              <a:solidFill>
                <a:srgbClr val="000000"/>
              </a:solidFill>
              <a:latin typeface="Lato"/>
              <a:ea typeface="Lato"/>
              <a:cs typeface="Lato"/>
              <a:sym typeface="Lato"/>
            </a:endParaRPr>
          </a:p>
        </p:txBody>
      </p:sp>
      <p:sp>
        <p:nvSpPr>
          <p:cNvPr id="432" name="Google Shape;432;g36aa5e117e9_3_205"/>
          <p:cNvSpPr txBox="1"/>
          <p:nvPr/>
        </p:nvSpPr>
        <p:spPr>
          <a:xfrm>
            <a:off x="2560200" y="1096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S=3</a:t>
            </a:r>
            <a:endParaRPr sz="1400" b="0" i="0" u="none" strike="noStrike" cap="none">
              <a:solidFill>
                <a:srgbClr val="000000"/>
              </a:solidFill>
              <a:latin typeface="Lato"/>
              <a:ea typeface="Lato"/>
              <a:cs typeface="Lato"/>
              <a:sym typeface="Lato"/>
            </a:endParaRPr>
          </a:p>
        </p:txBody>
      </p:sp>
      <p:sp>
        <p:nvSpPr>
          <p:cNvPr id="433" name="Google Shape;433;g36aa5e117e9_3_205"/>
          <p:cNvSpPr txBox="1"/>
          <p:nvPr/>
        </p:nvSpPr>
        <p:spPr>
          <a:xfrm>
            <a:off x="2560200" y="1316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S=4</a:t>
            </a:r>
            <a:endParaRPr sz="1400" b="0" i="0" u="none" strike="noStrike" cap="none">
              <a:solidFill>
                <a:srgbClr val="000000"/>
              </a:solidFill>
              <a:latin typeface="Lato"/>
              <a:ea typeface="Lato"/>
              <a:cs typeface="Lato"/>
              <a:sym typeface="Lato"/>
            </a:endParaRPr>
          </a:p>
        </p:txBody>
      </p:sp>
      <p:sp>
        <p:nvSpPr>
          <p:cNvPr id="416" name="Google Shape;416;g36aa5e117e9_3_205"/>
          <p:cNvSpPr txBox="1"/>
          <p:nvPr/>
        </p:nvSpPr>
        <p:spPr>
          <a:xfrm>
            <a:off x="6190500" y="11865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A=1</a:t>
            </a:r>
            <a:endParaRPr sz="1400" b="0" i="0" u="none" strike="noStrike" cap="none">
              <a:solidFill>
                <a:srgbClr val="000000"/>
              </a:solidFill>
              <a:latin typeface="Lato"/>
              <a:ea typeface="Lato"/>
              <a:cs typeface="Lato"/>
              <a:sym typeface="Lato"/>
            </a:endParaRPr>
          </a:p>
        </p:txBody>
      </p:sp>
      <p:sp>
        <p:nvSpPr>
          <p:cNvPr id="434" name="Google Shape;434;g36aa5e117e9_3_205"/>
          <p:cNvSpPr txBox="1"/>
          <p:nvPr/>
        </p:nvSpPr>
        <p:spPr>
          <a:xfrm>
            <a:off x="6190500" y="14060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A=2</a:t>
            </a:r>
            <a:endParaRPr sz="1400" b="0" i="0" u="none" strike="noStrike" cap="none">
              <a:solidFill>
                <a:srgbClr val="000000"/>
              </a:solidFill>
              <a:latin typeface="Lato"/>
              <a:ea typeface="Lato"/>
              <a:cs typeface="Lato"/>
              <a:sym typeface="Lato"/>
            </a:endParaRPr>
          </a:p>
        </p:txBody>
      </p:sp>
      <p:sp>
        <p:nvSpPr>
          <p:cNvPr id="435" name="Google Shape;435;g36aa5e117e9_3_205"/>
          <p:cNvSpPr txBox="1"/>
          <p:nvPr/>
        </p:nvSpPr>
        <p:spPr>
          <a:xfrm>
            <a:off x="6190500" y="16254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A=3</a:t>
            </a:r>
            <a:endParaRPr sz="1400" b="0" i="0" u="none" strike="noStrike" cap="none">
              <a:solidFill>
                <a:srgbClr val="000000"/>
              </a:solidFill>
              <a:latin typeface="Lato"/>
              <a:ea typeface="Lato"/>
              <a:cs typeface="Lato"/>
              <a:sym typeface="Lato"/>
            </a:endParaRPr>
          </a:p>
        </p:txBody>
      </p:sp>
      <p:sp>
        <p:nvSpPr>
          <p:cNvPr id="436" name="Google Shape;436;g36aa5e117e9_3_205"/>
          <p:cNvSpPr txBox="1"/>
          <p:nvPr/>
        </p:nvSpPr>
        <p:spPr>
          <a:xfrm>
            <a:off x="6190500" y="18449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A=4</a:t>
            </a:r>
            <a:endParaRPr sz="1400" b="0" i="0" u="none" strike="noStrike" cap="none">
              <a:solidFill>
                <a:srgbClr val="000000"/>
              </a:solidFill>
              <a:latin typeface="Lato"/>
              <a:ea typeface="Lato"/>
              <a:cs typeface="Lato"/>
              <a:sym typeface="Lato"/>
            </a:endParaRPr>
          </a:p>
        </p:txBody>
      </p:sp>
      <p:cxnSp>
        <p:nvCxnSpPr>
          <p:cNvPr id="437" name="Google Shape;437;g36aa5e117e9_3_205"/>
          <p:cNvCxnSpPr/>
          <p:nvPr/>
        </p:nvCxnSpPr>
        <p:spPr>
          <a:xfrm flipH="1">
            <a:off x="2994300" y="12688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438" name="Google Shape;438;g36aa5e117e9_3_205"/>
          <p:cNvCxnSpPr>
            <a:stCxn id="431" idx="3"/>
            <a:endCxn id="434" idx="1"/>
          </p:cNvCxnSpPr>
          <p:nvPr/>
        </p:nvCxnSpPr>
        <p:spPr>
          <a:xfrm>
            <a:off x="3003300" y="959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439" name="Google Shape;439;g36aa5e117e9_3_205"/>
          <p:cNvCxnSpPr>
            <a:stCxn id="432" idx="3"/>
            <a:endCxn id="435" idx="1"/>
          </p:cNvCxnSpPr>
          <p:nvPr/>
        </p:nvCxnSpPr>
        <p:spPr>
          <a:xfrm>
            <a:off x="3003300" y="11791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440" name="Google Shape;440;g36aa5e117e9_3_205"/>
          <p:cNvCxnSpPr>
            <a:stCxn id="433" idx="3"/>
            <a:endCxn id="436" idx="1"/>
          </p:cNvCxnSpPr>
          <p:nvPr/>
        </p:nvCxnSpPr>
        <p:spPr>
          <a:xfrm>
            <a:off x="3003300" y="13985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441" name="Google Shape;441;g36aa5e117e9_3_205"/>
          <p:cNvCxnSpPr>
            <a:stCxn id="434" idx="1"/>
          </p:cNvCxnSpPr>
          <p:nvPr/>
        </p:nvCxnSpPr>
        <p:spPr>
          <a:xfrm flipH="1">
            <a:off x="2999100" y="148820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442" name="Google Shape;442;g36aa5e117e9_3_205"/>
          <p:cNvCxnSpPr>
            <a:stCxn id="435" idx="1"/>
          </p:cNvCxnSpPr>
          <p:nvPr/>
        </p:nvCxnSpPr>
        <p:spPr>
          <a:xfrm flipH="1">
            <a:off x="2999100" y="170765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443" name="Google Shape;443;g36aa5e117e9_3_205"/>
          <p:cNvSpPr/>
          <p:nvPr/>
        </p:nvSpPr>
        <p:spPr>
          <a:xfrm>
            <a:off x="6980419"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g36aa5e117e9_3_205"/>
          <p:cNvSpPr/>
          <p:nvPr/>
        </p:nvSpPr>
        <p:spPr>
          <a:xfrm>
            <a:off x="7115390"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g36aa5e117e9_3_205"/>
          <p:cNvSpPr/>
          <p:nvPr/>
        </p:nvSpPr>
        <p:spPr>
          <a:xfrm>
            <a:off x="7250361"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g36aa5e117e9_3_205"/>
          <p:cNvSpPr/>
          <p:nvPr/>
        </p:nvSpPr>
        <p:spPr>
          <a:xfrm>
            <a:off x="7385332"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g36aa5e117e9_3_205"/>
          <p:cNvSpPr/>
          <p:nvPr/>
        </p:nvSpPr>
        <p:spPr>
          <a:xfrm>
            <a:off x="752030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g36aa5e117e9_3_205"/>
          <p:cNvSpPr/>
          <p:nvPr/>
        </p:nvSpPr>
        <p:spPr>
          <a:xfrm>
            <a:off x="765527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g36aa5e117e9_3_205"/>
          <p:cNvSpPr/>
          <p:nvPr/>
        </p:nvSpPr>
        <p:spPr>
          <a:xfrm>
            <a:off x="779024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g36aa5e117e9_3_205"/>
          <p:cNvSpPr/>
          <p:nvPr/>
        </p:nvSpPr>
        <p:spPr>
          <a:xfrm>
            <a:off x="792521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g36aa5e117e9_3_205"/>
          <p:cNvSpPr/>
          <p:nvPr/>
        </p:nvSpPr>
        <p:spPr>
          <a:xfrm>
            <a:off x="806018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g36aa5e117e9_3_205"/>
          <p:cNvSpPr/>
          <p:nvPr/>
        </p:nvSpPr>
        <p:spPr>
          <a:xfrm>
            <a:off x="819515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g36aa5e117e9_3_205"/>
          <p:cNvSpPr/>
          <p:nvPr/>
        </p:nvSpPr>
        <p:spPr>
          <a:xfrm>
            <a:off x="833013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g36aa5e117e9_3_205"/>
          <p:cNvSpPr/>
          <p:nvPr/>
        </p:nvSpPr>
        <p:spPr>
          <a:xfrm>
            <a:off x="846510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g36aa5e117e9_3_205"/>
          <p:cNvSpPr/>
          <p:nvPr/>
        </p:nvSpPr>
        <p:spPr>
          <a:xfrm>
            <a:off x="860007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g36aa5e117e9_3_205"/>
          <p:cNvSpPr/>
          <p:nvPr/>
        </p:nvSpPr>
        <p:spPr>
          <a:xfrm>
            <a:off x="873504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g36aa5e117e9_3_205"/>
          <p:cNvSpPr txBox="1"/>
          <p:nvPr/>
        </p:nvSpPr>
        <p:spPr>
          <a:xfrm>
            <a:off x="2556063" y="1703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S=5</a:t>
            </a:r>
            <a:endParaRPr sz="1400" b="0" i="0" u="none" strike="noStrike" cap="none">
              <a:solidFill>
                <a:srgbClr val="000000"/>
              </a:solidFill>
              <a:latin typeface="Lato"/>
              <a:ea typeface="Lato"/>
              <a:cs typeface="Lato"/>
              <a:sym typeface="Lato"/>
            </a:endParaRPr>
          </a:p>
        </p:txBody>
      </p:sp>
      <p:sp>
        <p:nvSpPr>
          <p:cNvPr id="458" name="Google Shape;458;g36aa5e117e9_3_205"/>
          <p:cNvSpPr/>
          <p:nvPr/>
        </p:nvSpPr>
        <p:spPr>
          <a:xfrm>
            <a:off x="1104674"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59" name="Google Shape;459;g36aa5e117e9_3_205"/>
          <p:cNvCxnSpPr/>
          <p:nvPr/>
        </p:nvCxnSpPr>
        <p:spPr>
          <a:xfrm>
            <a:off x="2994300" y="18049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460" name="Google Shape;460;g36aa5e117e9_3_205"/>
          <p:cNvSpPr txBox="1"/>
          <p:nvPr/>
        </p:nvSpPr>
        <p:spPr>
          <a:xfrm>
            <a:off x="2556063" y="19226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S=6</a:t>
            </a:r>
            <a:endParaRPr sz="1400" b="0" i="0" u="none" strike="noStrike" cap="none">
              <a:solidFill>
                <a:srgbClr val="000000"/>
              </a:solidFill>
              <a:latin typeface="Lato"/>
              <a:ea typeface="Lato"/>
              <a:cs typeface="Lato"/>
              <a:sym typeface="Lato"/>
            </a:endParaRPr>
          </a:p>
        </p:txBody>
      </p:sp>
      <p:cxnSp>
        <p:nvCxnSpPr>
          <p:cNvPr id="461" name="Google Shape;461;g36aa5e117e9_3_205"/>
          <p:cNvCxnSpPr/>
          <p:nvPr/>
        </p:nvCxnSpPr>
        <p:spPr>
          <a:xfrm>
            <a:off x="2994300" y="2024375"/>
            <a:ext cx="3193500" cy="538200"/>
          </a:xfrm>
          <a:prstGeom prst="straightConnector1">
            <a:avLst/>
          </a:prstGeom>
          <a:noFill/>
          <a:ln w="9525" cap="flat" cmpd="sng">
            <a:solidFill>
              <a:srgbClr val="000000"/>
            </a:solidFill>
            <a:prstDash val="solid"/>
            <a:round/>
            <a:headEnd type="none" w="sm" len="sm"/>
            <a:tailEnd type="triangle" w="med" len="med"/>
          </a:ln>
        </p:spPr>
      </p:cxnSp>
      <p:sp>
        <p:nvSpPr>
          <p:cNvPr id="462" name="Google Shape;462;g36aa5e117e9_3_205"/>
          <p:cNvSpPr/>
          <p:nvPr/>
        </p:nvSpPr>
        <p:spPr>
          <a:xfrm>
            <a:off x="1239645"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g36aa5e117e9_3_205"/>
          <p:cNvSpPr txBox="1"/>
          <p:nvPr/>
        </p:nvSpPr>
        <p:spPr>
          <a:xfrm>
            <a:off x="2556063" y="21420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S=7</a:t>
            </a:r>
            <a:endParaRPr sz="1400" b="0" i="0" u="none" strike="noStrike" cap="none">
              <a:solidFill>
                <a:srgbClr val="000000"/>
              </a:solidFill>
              <a:latin typeface="Lato"/>
              <a:ea typeface="Lato"/>
              <a:cs typeface="Lato"/>
              <a:sym typeface="Lato"/>
            </a:endParaRPr>
          </a:p>
        </p:txBody>
      </p:sp>
      <p:cxnSp>
        <p:nvCxnSpPr>
          <p:cNvPr id="464" name="Google Shape;464;g36aa5e117e9_3_205"/>
          <p:cNvCxnSpPr/>
          <p:nvPr/>
        </p:nvCxnSpPr>
        <p:spPr>
          <a:xfrm>
            <a:off x="2994300" y="22438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465" name="Google Shape;465;g36aa5e117e9_3_205"/>
          <p:cNvSpPr/>
          <p:nvPr/>
        </p:nvSpPr>
        <p:spPr>
          <a:xfrm>
            <a:off x="1374620"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66" name="Google Shape;466;g36aa5e117e9_3_205"/>
          <p:cNvCxnSpPr/>
          <p:nvPr/>
        </p:nvCxnSpPr>
        <p:spPr>
          <a:xfrm flipH="1">
            <a:off x="2999100" y="192710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467" name="Google Shape;467;g36aa5e117e9_3_205"/>
          <p:cNvSpPr txBox="1"/>
          <p:nvPr/>
        </p:nvSpPr>
        <p:spPr>
          <a:xfrm>
            <a:off x="6209650" y="22438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A=5</a:t>
            </a:r>
            <a:endParaRPr sz="1400" b="0" i="0" u="none" strike="noStrike" cap="none">
              <a:solidFill>
                <a:srgbClr val="000000"/>
              </a:solidFill>
              <a:latin typeface="Lato"/>
              <a:ea typeface="Lato"/>
              <a:cs typeface="Lato"/>
              <a:sym typeface="Lato"/>
            </a:endParaRPr>
          </a:p>
        </p:txBody>
      </p:sp>
      <p:sp>
        <p:nvSpPr>
          <p:cNvPr id="468" name="Google Shape;468;g36aa5e117e9_3_205"/>
          <p:cNvSpPr/>
          <p:nvPr/>
        </p:nvSpPr>
        <p:spPr>
          <a:xfrm>
            <a:off x="7520307"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472"/>
        <p:cNvGrpSpPr/>
        <p:nvPr/>
      </p:nvGrpSpPr>
      <p:grpSpPr>
        <a:xfrm>
          <a:off x="0" y="0"/>
          <a:ext cx="0" cy="0"/>
          <a:chOff x="0" y="0"/>
          <a:chExt cx="0" cy="0"/>
        </a:xfrm>
      </p:grpSpPr>
      <p:grpSp>
        <p:nvGrpSpPr>
          <p:cNvPr id="473" name="Google Shape;473;g36aa5e117e9_3_278"/>
          <p:cNvGrpSpPr/>
          <p:nvPr/>
        </p:nvGrpSpPr>
        <p:grpSpPr>
          <a:xfrm>
            <a:off x="2999232" y="667512"/>
            <a:ext cx="3187200" cy="4280700"/>
            <a:chOff x="2978400" y="936000"/>
            <a:chExt cx="3187200" cy="4280700"/>
          </a:xfrm>
        </p:grpSpPr>
        <p:sp>
          <p:nvSpPr>
            <p:cNvPr id="474" name="Google Shape;474;g36aa5e117e9_3_278"/>
            <p:cNvSpPr/>
            <p:nvPr/>
          </p:nvSpPr>
          <p:spPr>
            <a:xfrm>
              <a:off x="2978400" y="936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g36aa5e117e9_3_278"/>
            <p:cNvSpPr/>
            <p:nvPr/>
          </p:nvSpPr>
          <p:spPr>
            <a:xfrm>
              <a:off x="2978400" y="1386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g36aa5e117e9_3_278"/>
            <p:cNvSpPr/>
            <p:nvPr/>
          </p:nvSpPr>
          <p:spPr>
            <a:xfrm>
              <a:off x="2978400" y="1837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g36aa5e117e9_3_278"/>
            <p:cNvSpPr/>
            <p:nvPr/>
          </p:nvSpPr>
          <p:spPr>
            <a:xfrm>
              <a:off x="2978400" y="2287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g36aa5e117e9_3_278"/>
            <p:cNvSpPr/>
            <p:nvPr/>
          </p:nvSpPr>
          <p:spPr>
            <a:xfrm>
              <a:off x="2978400" y="2738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g36aa5e117e9_3_278"/>
            <p:cNvSpPr/>
            <p:nvPr/>
          </p:nvSpPr>
          <p:spPr>
            <a:xfrm>
              <a:off x="2978400" y="3189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g36aa5e117e9_3_278"/>
            <p:cNvSpPr/>
            <p:nvPr/>
          </p:nvSpPr>
          <p:spPr>
            <a:xfrm>
              <a:off x="2978400" y="3639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g36aa5e117e9_3_278"/>
            <p:cNvSpPr/>
            <p:nvPr/>
          </p:nvSpPr>
          <p:spPr>
            <a:xfrm>
              <a:off x="2978400" y="4090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g36aa5e117e9_3_278"/>
            <p:cNvSpPr/>
            <p:nvPr/>
          </p:nvSpPr>
          <p:spPr>
            <a:xfrm>
              <a:off x="2978400" y="4540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g36aa5e117e9_3_278"/>
            <p:cNvSpPr/>
            <p:nvPr/>
          </p:nvSpPr>
          <p:spPr>
            <a:xfrm>
              <a:off x="2978400" y="4991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84" name="Google Shape;484;g36aa5e117e9_3_278"/>
          <p:cNvSpPr/>
          <p:nvPr/>
        </p:nvSpPr>
        <p:spPr>
          <a:xfrm>
            <a:off x="1078992" y="1737275"/>
            <a:ext cx="543000" cy="540300"/>
          </a:xfrm>
          <a:prstGeom prst="rect">
            <a:avLst/>
          </a:prstGeom>
          <a:solidFill>
            <a:srgbClr val="C9DAF8"/>
          </a:solidFill>
          <a:ln w="9525" cap="flat" cmpd="sng">
            <a:solidFill>
              <a:srgbClr val="6D9EEB"/>
            </a:solidFill>
            <a:prstDash val="solid"/>
            <a:round/>
            <a:headEnd type="none" w="sm" len="sm"/>
            <a:tailEnd type="none" w="sm" len="sm"/>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Window</a:t>
            </a:r>
            <a:endParaRPr sz="1000" b="0" i="0" u="none" strike="noStrike" cap="none">
              <a:solidFill>
                <a:srgbClr val="000000"/>
              </a:solidFill>
              <a:latin typeface="Arial"/>
              <a:ea typeface="Arial"/>
              <a:cs typeface="Arial"/>
              <a:sym typeface="Arial"/>
            </a:endParaRPr>
          </a:p>
        </p:txBody>
      </p:sp>
      <p:sp>
        <p:nvSpPr>
          <p:cNvPr id="485" name="Google Shape;485;g36aa5e117e9_3_278"/>
          <p:cNvSpPr txBox="1">
            <a:spLocks noGrp="1"/>
          </p:cNvSpPr>
          <p:nvPr>
            <p:ph type="title"/>
          </p:nvPr>
        </p:nvSpPr>
        <p:spPr>
          <a:xfrm>
            <a:off x="311700" y="-12175"/>
            <a:ext cx="8520600" cy="707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000"/>
              <a:buNone/>
            </a:pPr>
            <a:r>
              <a:rPr lang="en"/>
              <a:t>Go-Back-N w/o Errors</a:t>
            </a:r>
            <a:endParaRPr/>
          </a:p>
        </p:txBody>
      </p:sp>
      <p:cxnSp>
        <p:nvCxnSpPr>
          <p:cNvPr id="486" name="Google Shape;486;g36aa5e117e9_3_278"/>
          <p:cNvCxnSpPr/>
          <p:nvPr/>
        </p:nvCxnSpPr>
        <p:spPr>
          <a:xfrm>
            <a:off x="2994300" y="656375"/>
            <a:ext cx="12600" cy="4037700"/>
          </a:xfrm>
          <a:prstGeom prst="straightConnector1">
            <a:avLst/>
          </a:prstGeom>
          <a:noFill/>
          <a:ln w="38100" cap="flat" cmpd="sng">
            <a:solidFill>
              <a:srgbClr val="000000"/>
            </a:solidFill>
            <a:prstDash val="solid"/>
            <a:round/>
            <a:headEnd type="none" w="sm" len="sm"/>
            <a:tailEnd type="none" w="sm" len="sm"/>
          </a:ln>
        </p:spPr>
      </p:cxnSp>
      <p:cxnSp>
        <p:nvCxnSpPr>
          <p:cNvPr id="487" name="Google Shape;487;g36aa5e117e9_3_278"/>
          <p:cNvCxnSpPr/>
          <p:nvPr/>
        </p:nvCxnSpPr>
        <p:spPr>
          <a:xfrm>
            <a:off x="6190500" y="657930"/>
            <a:ext cx="14400" cy="4151700"/>
          </a:xfrm>
          <a:prstGeom prst="straightConnector1">
            <a:avLst/>
          </a:prstGeom>
          <a:noFill/>
          <a:ln w="38100" cap="flat" cmpd="sng">
            <a:solidFill>
              <a:srgbClr val="000000"/>
            </a:solidFill>
            <a:prstDash val="solid"/>
            <a:round/>
            <a:headEnd type="none" w="sm" len="sm"/>
            <a:tailEnd type="none" w="sm" len="sm"/>
          </a:ln>
        </p:spPr>
      </p:cxnSp>
      <p:cxnSp>
        <p:nvCxnSpPr>
          <p:cNvPr id="488" name="Google Shape;488;g36aa5e117e9_3_278"/>
          <p:cNvCxnSpPr>
            <a:stCxn id="489" idx="3"/>
            <a:endCxn id="490" idx="1"/>
          </p:cNvCxnSpPr>
          <p:nvPr/>
        </p:nvCxnSpPr>
        <p:spPr>
          <a:xfrm>
            <a:off x="3003300" y="7402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491" name="Google Shape;491;g36aa5e117e9_3_278"/>
          <p:cNvSpPr/>
          <p:nvPr/>
        </p:nvSpPr>
        <p:spPr>
          <a:xfrm>
            <a:off x="564794"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g36aa5e117e9_3_278"/>
          <p:cNvSpPr/>
          <p:nvPr/>
        </p:nvSpPr>
        <p:spPr>
          <a:xfrm>
            <a:off x="699765"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g36aa5e117e9_3_278"/>
          <p:cNvSpPr/>
          <p:nvPr/>
        </p:nvSpPr>
        <p:spPr>
          <a:xfrm>
            <a:off x="834736"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g36aa5e117e9_3_278"/>
          <p:cNvSpPr/>
          <p:nvPr/>
        </p:nvSpPr>
        <p:spPr>
          <a:xfrm>
            <a:off x="969707"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g36aa5e117e9_3_278"/>
          <p:cNvSpPr/>
          <p:nvPr/>
        </p:nvSpPr>
        <p:spPr>
          <a:xfrm>
            <a:off x="110467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g36aa5e117e9_3_278"/>
          <p:cNvSpPr/>
          <p:nvPr/>
        </p:nvSpPr>
        <p:spPr>
          <a:xfrm>
            <a:off x="123964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g36aa5e117e9_3_278"/>
          <p:cNvSpPr/>
          <p:nvPr/>
        </p:nvSpPr>
        <p:spPr>
          <a:xfrm>
            <a:off x="137462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g36aa5e117e9_3_278"/>
          <p:cNvSpPr/>
          <p:nvPr/>
        </p:nvSpPr>
        <p:spPr>
          <a:xfrm>
            <a:off x="150959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g36aa5e117e9_3_278"/>
          <p:cNvSpPr/>
          <p:nvPr/>
        </p:nvSpPr>
        <p:spPr>
          <a:xfrm>
            <a:off x="164456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g36aa5e117e9_3_278"/>
          <p:cNvSpPr/>
          <p:nvPr/>
        </p:nvSpPr>
        <p:spPr>
          <a:xfrm>
            <a:off x="177953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g36aa5e117e9_3_278"/>
          <p:cNvSpPr/>
          <p:nvPr/>
        </p:nvSpPr>
        <p:spPr>
          <a:xfrm>
            <a:off x="191450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g36aa5e117e9_3_278"/>
          <p:cNvSpPr/>
          <p:nvPr/>
        </p:nvSpPr>
        <p:spPr>
          <a:xfrm>
            <a:off x="204947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g36aa5e117e9_3_278"/>
          <p:cNvSpPr/>
          <p:nvPr/>
        </p:nvSpPr>
        <p:spPr>
          <a:xfrm>
            <a:off x="218444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g36aa5e117e9_3_278"/>
          <p:cNvSpPr/>
          <p:nvPr/>
        </p:nvSpPr>
        <p:spPr>
          <a:xfrm>
            <a:off x="2319418"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g36aa5e117e9_3_278"/>
          <p:cNvSpPr txBox="1"/>
          <p:nvPr/>
        </p:nvSpPr>
        <p:spPr>
          <a:xfrm>
            <a:off x="2560200" y="6580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S=1</a:t>
            </a:r>
            <a:endParaRPr sz="1400" b="0" i="0" u="none" strike="noStrike" cap="none">
              <a:solidFill>
                <a:srgbClr val="000000"/>
              </a:solidFill>
              <a:latin typeface="Lato"/>
              <a:ea typeface="Lato"/>
              <a:cs typeface="Lato"/>
              <a:sym typeface="Lato"/>
            </a:endParaRPr>
          </a:p>
        </p:txBody>
      </p:sp>
      <p:sp>
        <p:nvSpPr>
          <p:cNvPr id="505" name="Google Shape;505;g36aa5e117e9_3_278"/>
          <p:cNvSpPr txBox="1"/>
          <p:nvPr/>
        </p:nvSpPr>
        <p:spPr>
          <a:xfrm>
            <a:off x="2560200" y="8774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S=2</a:t>
            </a:r>
            <a:endParaRPr sz="1400" b="0" i="0" u="none" strike="noStrike" cap="none">
              <a:solidFill>
                <a:srgbClr val="000000"/>
              </a:solidFill>
              <a:latin typeface="Lato"/>
              <a:ea typeface="Lato"/>
              <a:cs typeface="Lato"/>
              <a:sym typeface="Lato"/>
            </a:endParaRPr>
          </a:p>
        </p:txBody>
      </p:sp>
      <p:sp>
        <p:nvSpPr>
          <p:cNvPr id="506" name="Google Shape;506;g36aa5e117e9_3_278"/>
          <p:cNvSpPr txBox="1"/>
          <p:nvPr/>
        </p:nvSpPr>
        <p:spPr>
          <a:xfrm>
            <a:off x="2560200" y="1096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S=3</a:t>
            </a:r>
            <a:endParaRPr sz="1400" b="0" i="0" u="none" strike="noStrike" cap="none">
              <a:solidFill>
                <a:srgbClr val="000000"/>
              </a:solidFill>
              <a:latin typeface="Lato"/>
              <a:ea typeface="Lato"/>
              <a:cs typeface="Lato"/>
              <a:sym typeface="Lato"/>
            </a:endParaRPr>
          </a:p>
        </p:txBody>
      </p:sp>
      <p:sp>
        <p:nvSpPr>
          <p:cNvPr id="507" name="Google Shape;507;g36aa5e117e9_3_278"/>
          <p:cNvSpPr txBox="1"/>
          <p:nvPr/>
        </p:nvSpPr>
        <p:spPr>
          <a:xfrm>
            <a:off x="2560200" y="1316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S=4</a:t>
            </a:r>
            <a:endParaRPr sz="1400" b="0" i="0" u="none" strike="noStrike" cap="none">
              <a:solidFill>
                <a:srgbClr val="000000"/>
              </a:solidFill>
              <a:latin typeface="Lato"/>
              <a:ea typeface="Lato"/>
              <a:cs typeface="Lato"/>
              <a:sym typeface="Lato"/>
            </a:endParaRPr>
          </a:p>
        </p:txBody>
      </p:sp>
      <p:sp>
        <p:nvSpPr>
          <p:cNvPr id="490" name="Google Shape;490;g36aa5e117e9_3_278"/>
          <p:cNvSpPr txBox="1"/>
          <p:nvPr/>
        </p:nvSpPr>
        <p:spPr>
          <a:xfrm>
            <a:off x="6190500" y="11865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A=1</a:t>
            </a:r>
            <a:endParaRPr sz="1400" b="0" i="0" u="none" strike="noStrike" cap="none">
              <a:solidFill>
                <a:srgbClr val="000000"/>
              </a:solidFill>
              <a:latin typeface="Lato"/>
              <a:ea typeface="Lato"/>
              <a:cs typeface="Lato"/>
              <a:sym typeface="Lato"/>
            </a:endParaRPr>
          </a:p>
        </p:txBody>
      </p:sp>
      <p:sp>
        <p:nvSpPr>
          <p:cNvPr id="508" name="Google Shape;508;g36aa5e117e9_3_278"/>
          <p:cNvSpPr txBox="1"/>
          <p:nvPr/>
        </p:nvSpPr>
        <p:spPr>
          <a:xfrm>
            <a:off x="6190500" y="14060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A=2</a:t>
            </a:r>
            <a:endParaRPr sz="1400" b="0" i="0" u="none" strike="noStrike" cap="none">
              <a:solidFill>
                <a:srgbClr val="000000"/>
              </a:solidFill>
              <a:latin typeface="Lato"/>
              <a:ea typeface="Lato"/>
              <a:cs typeface="Lato"/>
              <a:sym typeface="Lato"/>
            </a:endParaRPr>
          </a:p>
        </p:txBody>
      </p:sp>
      <p:sp>
        <p:nvSpPr>
          <p:cNvPr id="509" name="Google Shape;509;g36aa5e117e9_3_278"/>
          <p:cNvSpPr txBox="1"/>
          <p:nvPr/>
        </p:nvSpPr>
        <p:spPr>
          <a:xfrm>
            <a:off x="6190500" y="16254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A=3</a:t>
            </a:r>
            <a:endParaRPr sz="1400" b="0" i="0" u="none" strike="noStrike" cap="none">
              <a:solidFill>
                <a:srgbClr val="000000"/>
              </a:solidFill>
              <a:latin typeface="Lato"/>
              <a:ea typeface="Lato"/>
              <a:cs typeface="Lato"/>
              <a:sym typeface="Lato"/>
            </a:endParaRPr>
          </a:p>
        </p:txBody>
      </p:sp>
      <p:sp>
        <p:nvSpPr>
          <p:cNvPr id="510" name="Google Shape;510;g36aa5e117e9_3_278"/>
          <p:cNvSpPr txBox="1"/>
          <p:nvPr/>
        </p:nvSpPr>
        <p:spPr>
          <a:xfrm>
            <a:off x="6190500" y="18449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A=4</a:t>
            </a:r>
            <a:endParaRPr sz="1400" b="0" i="0" u="none" strike="noStrike" cap="none">
              <a:solidFill>
                <a:srgbClr val="000000"/>
              </a:solidFill>
              <a:latin typeface="Lato"/>
              <a:ea typeface="Lato"/>
              <a:cs typeface="Lato"/>
              <a:sym typeface="Lato"/>
            </a:endParaRPr>
          </a:p>
        </p:txBody>
      </p:sp>
      <p:cxnSp>
        <p:nvCxnSpPr>
          <p:cNvPr id="511" name="Google Shape;511;g36aa5e117e9_3_278"/>
          <p:cNvCxnSpPr/>
          <p:nvPr/>
        </p:nvCxnSpPr>
        <p:spPr>
          <a:xfrm flipH="1">
            <a:off x="2994300" y="12688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12" name="Google Shape;512;g36aa5e117e9_3_278"/>
          <p:cNvCxnSpPr>
            <a:stCxn id="505" idx="3"/>
            <a:endCxn id="508" idx="1"/>
          </p:cNvCxnSpPr>
          <p:nvPr/>
        </p:nvCxnSpPr>
        <p:spPr>
          <a:xfrm>
            <a:off x="3003300" y="959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13" name="Google Shape;513;g36aa5e117e9_3_278"/>
          <p:cNvCxnSpPr>
            <a:stCxn id="506" idx="3"/>
            <a:endCxn id="509" idx="1"/>
          </p:cNvCxnSpPr>
          <p:nvPr/>
        </p:nvCxnSpPr>
        <p:spPr>
          <a:xfrm>
            <a:off x="3003300" y="11791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14" name="Google Shape;514;g36aa5e117e9_3_278"/>
          <p:cNvCxnSpPr>
            <a:stCxn id="507" idx="3"/>
            <a:endCxn id="510" idx="1"/>
          </p:cNvCxnSpPr>
          <p:nvPr/>
        </p:nvCxnSpPr>
        <p:spPr>
          <a:xfrm>
            <a:off x="3003300" y="13985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15" name="Google Shape;515;g36aa5e117e9_3_278"/>
          <p:cNvCxnSpPr>
            <a:stCxn id="508" idx="1"/>
          </p:cNvCxnSpPr>
          <p:nvPr/>
        </p:nvCxnSpPr>
        <p:spPr>
          <a:xfrm flipH="1">
            <a:off x="2999100" y="148820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516" name="Google Shape;516;g36aa5e117e9_3_278"/>
          <p:cNvCxnSpPr>
            <a:stCxn id="509" idx="1"/>
          </p:cNvCxnSpPr>
          <p:nvPr/>
        </p:nvCxnSpPr>
        <p:spPr>
          <a:xfrm flipH="1">
            <a:off x="2999100" y="170765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517" name="Google Shape;517;g36aa5e117e9_3_278"/>
          <p:cNvCxnSpPr>
            <a:stCxn id="510" idx="1"/>
          </p:cNvCxnSpPr>
          <p:nvPr/>
        </p:nvCxnSpPr>
        <p:spPr>
          <a:xfrm flipH="1">
            <a:off x="2999100" y="192710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518" name="Google Shape;518;g36aa5e117e9_3_278"/>
          <p:cNvSpPr/>
          <p:nvPr/>
        </p:nvSpPr>
        <p:spPr>
          <a:xfrm>
            <a:off x="6980419"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g36aa5e117e9_3_278"/>
          <p:cNvSpPr/>
          <p:nvPr/>
        </p:nvSpPr>
        <p:spPr>
          <a:xfrm>
            <a:off x="7115390"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g36aa5e117e9_3_278"/>
          <p:cNvSpPr/>
          <p:nvPr/>
        </p:nvSpPr>
        <p:spPr>
          <a:xfrm>
            <a:off x="7250361"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g36aa5e117e9_3_278"/>
          <p:cNvSpPr/>
          <p:nvPr/>
        </p:nvSpPr>
        <p:spPr>
          <a:xfrm>
            <a:off x="7385332"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g36aa5e117e9_3_278"/>
          <p:cNvSpPr/>
          <p:nvPr/>
        </p:nvSpPr>
        <p:spPr>
          <a:xfrm>
            <a:off x="7520303"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g36aa5e117e9_3_278"/>
          <p:cNvSpPr/>
          <p:nvPr/>
        </p:nvSpPr>
        <p:spPr>
          <a:xfrm>
            <a:off x="7655274"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g36aa5e117e9_3_278"/>
          <p:cNvSpPr/>
          <p:nvPr/>
        </p:nvSpPr>
        <p:spPr>
          <a:xfrm>
            <a:off x="7790245"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g36aa5e117e9_3_278"/>
          <p:cNvSpPr/>
          <p:nvPr/>
        </p:nvSpPr>
        <p:spPr>
          <a:xfrm>
            <a:off x="7925216"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g36aa5e117e9_3_278"/>
          <p:cNvSpPr/>
          <p:nvPr/>
        </p:nvSpPr>
        <p:spPr>
          <a:xfrm>
            <a:off x="8060187"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g36aa5e117e9_3_278"/>
          <p:cNvSpPr/>
          <p:nvPr/>
        </p:nvSpPr>
        <p:spPr>
          <a:xfrm>
            <a:off x="8195159"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g36aa5e117e9_3_278"/>
          <p:cNvSpPr/>
          <p:nvPr/>
        </p:nvSpPr>
        <p:spPr>
          <a:xfrm>
            <a:off x="8330130"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g36aa5e117e9_3_278"/>
          <p:cNvSpPr/>
          <p:nvPr/>
        </p:nvSpPr>
        <p:spPr>
          <a:xfrm>
            <a:off x="8465101"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g36aa5e117e9_3_278"/>
          <p:cNvSpPr/>
          <p:nvPr/>
        </p:nvSpPr>
        <p:spPr>
          <a:xfrm>
            <a:off x="8600072"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g36aa5e117e9_3_278"/>
          <p:cNvSpPr/>
          <p:nvPr/>
        </p:nvSpPr>
        <p:spPr>
          <a:xfrm>
            <a:off x="8735043" y="1782087"/>
            <a:ext cx="89100" cy="323100"/>
          </a:xfrm>
          <a:prstGeom prst="rect">
            <a:avLst/>
          </a:prstGeom>
          <a:solidFill>
            <a:srgbClr val="99999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g36aa5e117e9_3_278"/>
          <p:cNvSpPr txBox="1"/>
          <p:nvPr/>
        </p:nvSpPr>
        <p:spPr>
          <a:xfrm>
            <a:off x="2556063" y="1703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S=5</a:t>
            </a:r>
            <a:endParaRPr sz="1400" b="0" i="0" u="none" strike="noStrike" cap="none">
              <a:solidFill>
                <a:srgbClr val="000000"/>
              </a:solidFill>
              <a:latin typeface="Lato"/>
              <a:ea typeface="Lato"/>
              <a:cs typeface="Lato"/>
              <a:sym typeface="Lato"/>
            </a:endParaRPr>
          </a:p>
        </p:txBody>
      </p:sp>
      <p:sp>
        <p:nvSpPr>
          <p:cNvPr id="533" name="Google Shape;533;g36aa5e117e9_3_278"/>
          <p:cNvSpPr/>
          <p:nvPr/>
        </p:nvSpPr>
        <p:spPr>
          <a:xfrm>
            <a:off x="1104674"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34" name="Google Shape;534;g36aa5e117e9_3_278"/>
          <p:cNvCxnSpPr/>
          <p:nvPr/>
        </p:nvCxnSpPr>
        <p:spPr>
          <a:xfrm>
            <a:off x="2994300" y="18049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535" name="Google Shape;535;g36aa5e117e9_3_278"/>
          <p:cNvSpPr txBox="1"/>
          <p:nvPr/>
        </p:nvSpPr>
        <p:spPr>
          <a:xfrm>
            <a:off x="2556063" y="19226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S=6</a:t>
            </a:r>
            <a:endParaRPr sz="1400" b="0" i="0" u="none" strike="noStrike" cap="none">
              <a:solidFill>
                <a:srgbClr val="000000"/>
              </a:solidFill>
              <a:latin typeface="Lato"/>
              <a:ea typeface="Lato"/>
              <a:cs typeface="Lato"/>
              <a:sym typeface="Lato"/>
            </a:endParaRPr>
          </a:p>
        </p:txBody>
      </p:sp>
      <p:cxnSp>
        <p:nvCxnSpPr>
          <p:cNvPr id="536" name="Google Shape;536;g36aa5e117e9_3_278"/>
          <p:cNvCxnSpPr/>
          <p:nvPr/>
        </p:nvCxnSpPr>
        <p:spPr>
          <a:xfrm>
            <a:off x="2994300" y="2024375"/>
            <a:ext cx="3193500" cy="538200"/>
          </a:xfrm>
          <a:prstGeom prst="straightConnector1">
            <a:avLst/>
          </a:prstGeom>
          <a:noFill/>
          <a:ln w="9525" cap="flat" cmpd="sng">
            <a:solidFill>
              <a:srgbClr val="000000"/>
            </a:solidFill>
            <a:prstDash val="solid"/>
            <a:round/>
            <a:headEnd type="none" w="sm" len="sm"/>
            <a:tailEnd type="triangle" w="med" len="med"/>
          </a:ln>
        </p:spPr>
      </p:cxnSp>
      <p:sp>
        <p:nvSpPr>
          <p:cNvPr id="537" name="Google Shape;537;g36aa5e117e9_3_278"/>
          <p:cNvSpPr/>
          <p:nvPr/>
        </p:nvSpPr>
        <p:spPr>
          <a:xfrm>
            <a:off x="1239645"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g36aa5e117e9_3_278"/>
          <p:cNvSpPr/>
          <p:nvPr/>
        </p:nvSpPr>
        <p:spPr>
          <a:xfrm>
            <a:off x="7655278"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g36aa5e117e9_3_278"/>
          <p:cNvSpPr txBox="1"/>
          <p:nvPr/>
        </p:nvSpPr>
        <p:spPr>
          <a:xfrm>
            <a:off x="2556063" y="21420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S=7</a:t>
            </a:r>
            <a:endParaRPr sz="1400" b="0" i="0" u="none" strike="noStrike" cap="none">
              <a:solidFill>
                <a:srgbClr val="000000"/>
              </a:solidFill>
              <a:latin typeface="Lato"/>
              <a:ea typeface="Lato"/>
              <a:cs typeface="Lato"/>
              <a:sym typeface="Lato"/>
            </a:endParaRPr>
          </a:p>
        </p:txBody>
      </p:sp>
      <p:cxnSp>
        <p:nvCxnSpPr>
          <p:cNvPr id="540" name="Google Shape;540;g36aa5e117e9_3_278"/>
          <p:cNvCxnSpPr/>
          <p:nvPr/>
        </p:nvCxnSpPr>
        <p:spPr>
          <a:xfrm>
            <a:off x="2994300" y="22438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541" name="Google Shape;541;g36aa5e117e9_3_278"/>
          <p:cNvSpPr/>
          <p:nvPr/>
        </p:nvSpPr>
        <p:spPr>
          <a:xfrm>
            <a:off x="1374620"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g36aa5e117e9_3_278"/>
          <p:cNvSpPr/>
          <p:nvPr/>
        </p:nvSpPr>
        <p:spPr>
          <a:xfrm>
            <a:off x="7790253"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g36aa5e117e9_3_278"/>
          <p:cNvSpPr txBox="1"/>
          <p:nvPr/>
        </p:nvSpPr>
        <p:spPr>
          <a:xfrm>
            <a:off x="2556063" y="23615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S=8</a:t>
            </a:r>
            <a:endParaRPr sz="1400" b="0" i="0" u="none" strike="noStrike" cap="none">
              <a:solidFill>
                <a:srgbClr val="000000"/>
              </a:solidFill>
              <a:latin typeface="Lato"/>
              <a:ea typeface="Lato"/>
              <a:cs typeface="Lato"/>
              <a:sym typeface="Lato"/>
            </a:endParaRPr>
          </a:p>
        </p:txBody>
      </p:sp>
      <p:cxnSp>
        <p:nvCxnSpPr>
          <p:cNvPr id="544" name="Google Shape;544;g36aa5e117e9_3_278"/>
          <p:cNvCxnSpPr/>
          <p:nvPr/>
        </p:nvCxnSpPr>
        <p:spPr>
          <a:xfrm>
            <a:off x="2994300" y="246327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545" name="Google Shape;545;g36aa5e117e9_3_278"/>
          <p:cNvSpPr/>
          <p:nvPr/>
        </p:nvSpPr>
        <p:spPr>
          <a:xfrm>
            <a:off x="1509594" y="1782087"/>
            <a:ext cx="89100" cy="323100"/>
          </a:xfrm>
          <a:prstGeom prst="rect">
            <a:avLst/>
          </a:prstGeom>
          <a:solidFill>
            <a:srgbClr val="FFD966"/>
          </a:solidFill>
          <a:ln w="952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g36aa5e117e9_3_278"/>
          <p:cNvSpPr/>
          <p:nvPr/>
        </p:nvSpPr>
        <p:spPr>
          <a:xfrm>
            <a:off x="7925216" y="1782087"/>
            <a:ext cx="89100" cy="323100"/>
          </a:xfrm>
          <a:prstGeom prst="rect">
            <a:avLst/>
          </a:prstGeom>
          <a:solidFill>
            <a:srgbClr val="6AA84F"/>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g36aa5e117e9_3_278"/>
          <p:cNvSpPr txBox="1"/>
          <p:nvPr/>
        </p:nvSpPr>
        <p:spPr>
          <a:xfrm>
            <a:off x="6209650" y="22438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A=5</a:t>
            </a:r>
            <a:endParaRPr sz="1400" b="0" i="0" u="none" strike="noStrike" cap="none">
              <a:solidFill>
                <a:srgbClr val="000000"/>
              </a:solidFill>
              <a:latin typeface="Lato"/>
              <a:ea typeface="Lato"/>
              <a:cs typeface="Lato"/>
              <a:sym typeface="Lato"/>
            </a:endParaRPr>
          </a:p>
        </p:txBody>
      </p:sp>
      <p:sp>
        <p:nvSpPr>
          <p:cNvPr id="548" name="Google Shape;548;g36aa5e117e9_3_278"/>
          <p:cNvSpPr txBox="1"/>
          <p:nvPr/>
        </p:nvSpPr>
        <p:spPr>
          <a:xfrm>
            <a:off x="6209650" y="26827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A=7</a:t>
            </a:r>
            <a:endParaRPr sz="1400" b="0" i="0" u="none" strike="noStrike" cap="none">
              <a:solidFill>
                <a:srgbClr val="000000"/>
              </a:solidFill>
              <a:latin typeface="Lato"/>
              <a:ea typeface="Lato"/>
              <a:cs typeface="Lato"/>
              <a:sym typeface="Lato"/>
            </a:endParaRPr>
          </a:p>
        </p:txBody>
      </p:sp>
      <p:sp>
        <p:nvSpPr>
          <p:cNvPr id="549" name="Google Shape;549;g36aa5e117e9_3_278"/>
          <p:cNvSpPr txBox="1"/>
          <p:nvPr/>
        </p:nvSpPr>
        <p:spPr>
          <a:xfrm>
            <a:off x="6209650" y="2902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A=8</a:t>
            </a:r>
            <a:endParaRPr sz="1400" b="0" i="0" u="none" strike="noStrike" cap="none">
              <a:solidFill>
                <a:srgbClr val="000000"/>
              </a:solidFill>
              <a:latin typeface="Lato"/>
              <a:ea typeface="Lato"/>
              <a:cs typeface="Lato"/>
              <a:sym typeface="Lato"/>
            </a:endParaRPr>
          </a:p>
        </p:txBody>
      </p:sp>
      <p:sp>
        <p:nvSpPr>
          <p:cNvPr id="550" name="Google Shape;550;g36aa5e117e9_3_278"/>
          <p:cNvSpPr txBox="1"/>
          <p:nvPr/>
        </p:nvSpPr>
        <p:spPr>
          <a:xfrm>
            <a:off x="6207600" y="24632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A=6</a:t>
            </a:r>
            <a:endParaRPr sz="1400" b="0" i="0" u="none" strike="noStrike" cap="none">
              <a:solidFill>
                <a:srgbClr val="000000"/>
              </a:solidFill>
              <a:latin typeface="Lato"/>
              <a:ea typeface="Lato"/>
              <a:cs typeface="Lato"/>
              <a:sym typeface="Lato"/>
            </a:endParaRPr>
          </a:p>
        </p:txBody>
      </p:sp>
      <p:cxnSp>
        <p:nvCxnSpPr>
          <p:cNvPr id="551" name="Google Shape;551;g36aa5e117e9_3_278"/>
          <p:cNvCxnSpPr/>
          <p:nvPr/>
        </p:nvCxnSpPr>
        <p:spPr>
          <a:xfrm flipH="1">
            <a:off x="2990100" y="2770632"/>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552" name="Google Shape;552;g36aa5e117e9_3_278"/>
          <p:cNvCxnSpPr/>
          <p:nvPr/>
        </p:nvCxnSpPr>
        <p:spPr>
          <a:xfrm flipH="1">
            <a:off x="3026700" y="2990082"/>
            <a:ext cx="3154800" cy="489600"/>
          </a:xfrm>
          <a:prstGeom prst="straightConnector1">
            <a:avLst/>
          </a:prstGeom>
          <a:noFill/>
          <a:ln w="9525" cap="flat" cmpd="sng">
            <a:solidFill>
              <a:srgbClr val="000000"/>
            </a:solidFill>
            <a:prstDash val="solid"/>
            <a:round/>
            <a:headEnd type="none" w="sm" len="sm"/>
            <a:tailEnd type="triangle" w="med" len="med"/>
          </a:ln>
        </p:spPr>
      </p:cxnSp>
      <p:cxnSp>
        <p:nvCxnSpPr>
          <p:cNvPr id="553" name="Google Shape;553;g36aa5e117e9_3_278"/>
          <p:cNvCxnSpPr/>
          <p:nvPr/>
        </p:nvCxnSpPr>
        <p:spPr>
          <a:xfrm flipH="1">
            <a:off x="3008713" y="233172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554" name="Google Shape;554;g36aa5e117e9_3_278"/>
          <p:cNvCxnSpPr/>
          <p:nvPr/>
        </p:nvCxnSpPr>
        <p:spPr>
          <a:xfrm flipH="1">
            <a:off x="3008713" y="257337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555" name="Google Shape;555;g36aa5e117e9_3_278"/>
          <p:cNvSpPr txBox="1"/>
          <p:nvPr/>
        </p:nvSpPr>
        <p:spPr>
          <a:xfrm>
            <a:off x="2455325" y="3011450"/>
            <a:ext cx="821100" cy="489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Open Sans"/>
                <a:ea typeface="Open Sans"/>
                <a:cs typeface="Open Sans"/>
                <a:sym typeface="Open Sans"/>
              </a:rPr>
              <a:t>…</a:t>
            </a:r>
            <a:endParaRPr sz="1400" b="0" i="0" u="none" strike="noStrike" cap="none">
              <a:solidFill>
                <a:srgbClr val="000000"/>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2"/>
                                        </p:tgtEl>
                                        <p:attrNameLst>
                                          <p:attrName>style.visibility</p:attrName>
                                        </p:attrNameLst>
                                      </p:cBhvr>
                                      <p:to>
                                        <p:strVal val="visible"/>
                                      </p:to>
                                    </p:set>
                                  </p:childTnLst>
                                </p:cTn>
                              </p:par>
                            </p:childTnLst>
                          </p:cTn>
                        </p:par>
                        <p:par>
                          <p:cTn id="23" fill="hold">
                            <p:stCondLst>
                              <p:cond delay="1"/>
                            </p:stCondLst>
                            <p:childTnLst>
                              <p:par>
                                <p:cTn id="24" presetID="1" presetClass="entr" presetSubtype="0" fill="hold" nodeType="afterEffect">
                                  <p:stCondLst>
                                    <p:cond delay="0"/>
                                  </p:stCondLst>
                                  <p:childTnLst>
                                    <p:set>
                                      <p:cBhvr>
                                        <p:cTn id="25" dur="1" fill="hold">
                                          <p:stCondLst>
                                            <p:cond delay="0"/>
                                          </p:stCondLst>
                                        </p:cTn>
                                        <p:tgtEl>
                                          <p:spTgt spid="54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5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5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5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5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559"/>
        <p:cNvGrpSpPr/>
        <p:nvPr/>
      </p:nvGrpSpPr>
      <p:grpSpPr>
        <a:xfrm>
          <a:off x="0" y="0"/>
          <a:ext cx="0" cy="0"/>
          <a:chOff x="0" y="0"/>
          <a:chExt cx="0" cy="0"/>
        </a:xfrm>
      </p:grpSpPr>
      <p:grpSp>
        <p:nvGrpSpPr>
          <p:cNvPr id="560" name="Google Shape;560;g36aa5e117e9_3_364"/>
          <p:cNvGrpSpPr/>
          <p:nvPr/>
        </p:nvGrpSpPr>
        <p:grpSpPr>
          <a:xfrm>
            <a:off x="2999232" y="667512"/>
            <a:ext cx="3187200" cy="4280700"/>
            <a:chOff x="2978400" y="936000"/>
            <a:chExt cx="3187200" cy="4280700"/>
          </a:xfrm>
        </p:grpSpPr>
        <p:sp>
          <p:nvSpPr>
            <p:cNvPr id="561" name="Google Shape;561;g36aa5e117e9_3_364"/>
            <p:cNvSpPr/>
            <p:nvPr/>
          </p:nvSpPr>
          <p:spPr>
            <a:xfrm>
              <a:off x="2978400" y="936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2" name="Google Shape;562;g36aa5e117e9_3_364"/>
            <p:cNvSpPr/>
            <p:nvPr/>
          </p:nvSpPr>
          <p:spPr>
            <a:xfrm>
              <a:off x="2978400" y="1386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g36aa5e117e9_3_364"/>
            <p:cNvSpPr/>
            <p:nvPr/>
          </p:nvSpPr>
          <p:spPr>
            <a:xfrm>
              <a:off x="2978400" y="1837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g36aa5e117e9_3_364"/>
            <p:cNvSpPr/>
            <p:nvPr/>
          </p:nvSpPr>
          <p:spPr>
            <a:xfrm>
              <a:off x="2978400" y="2287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g36aa5e117e9_3_364"/>
            <p:cNvSpPr/>
            <p:nvPr/>
          </p:nvSpPr>
          <p:spPr>
            <a:xfrm>
              <a:off x="2978400" y="2738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g36aa5e117e9_3_364"/>
            <p:cNvSpPr/>
            <p:nvPr/>
          </p:nvSpPr>
          <p:spPr>
            <a:xfrm>
              <a:off x="2978400" y="31890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g36aa5e117e9_3_364"/>
            <p:cNvSpPr/>
            <p:nvPr/>
          </p:nvSpPr>
          <p:spPr>
            <a:xfrm>
              <a:off x="2978400" y="36396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g36aa5e117e9_3_364"/>
            <p:cNvSpPr/>
            <p:nvPr/>
          </p:nvSpPr>
          <p:spPr>
            <a:xfrm>
              <a:off x="2978400" y="40902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g36aa5e117e9_3_364"/>
            <p:cNvSpPr/>
            <p:nvPr/>
          </p:nvSpPr>
          <p:spPr>
            <a:xfrm>
              <a:off x="2978400" y="45408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g36aa5e117e9_3_364"/>
            <p:cNvSpPr/>
            <p:nvPr/>
          </p:nvSpPr>
          <p:spPr>
            <a:xfrm>
              <a:off x="2978400" y="4991400"/>
              <a:ext cx="3187200" cy="225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1" name="Google Shape;571;g36aa5e117e9_3_364"/>
          <p:cNvSpPr txBox="1">
            <a:spLocks noGrp="1"/>
          </p:cNvSpPr>
          <p:nvPr>
            <p:ph type="title"/>
          </p:nvPr>
        </p:nvSpPr>
        <p:spPr>
          <a:xfrm>
            <a:off x="311700" y="-12175"/>
            <a:ext cx="8520600" cy="707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000"/>
              <a:buNone/>
            </a:pPr>
            <a:r>
              <a:rPr lang="en"/>
              <a:t>Go-Back-N w/ Errors</a:t>
            </a:r>
            <a:endParaRPr/>
          </a:p>
        </p:txBody>
      </p:sp>
      <p:cxnSp>
        <p:nvCxnSpPr>
          <p:cNvPr id="572" name="Google Shape;572;g36aa5e117e9_3_364"/>
          <p:cNvCxnSpPr/>
          <p:nvPr/>
        </p:nvCxnSpPr>
        <p:spPr>
          <a:xfrm>
            <a:off x="2994300" y="656375"/>
            <a:ext cx="12600" cy="4037700"/>
          </a:xfrm>
          <a:prstGeom prst="straightConnector1">
            <a:avLst/>
          </a:prstGeom>
          <a:noFill/>
          <a:ln w="38100" cap="flat" cmpd="sng">
            <a:solidFill>
              <a:srgbClr val="000000"/>
            </a:solidFill>
            <a:prstDash val="solid"/>
            <a:round/>
            <a:headEnd type="none" w="sm" len="sm"/>
            <a:tailEnd type="none" w="sm" len="sm"/>
          </a:ln>
        </p:spPr>
      </p:cxnSp>
      <p:cxnSp>
        <p:nvCxnSpPr>
          <p:cNvPr id="573" name="Google Shape;573;g36aa5e117e9_3_364"/>
          <p:cNvCxnSpPr>
            <a:endCxn id="574" idx="1"/>
          </p:cNvCxnSpPr>
          <p:nvPr/>
        </p:nvCxnSpPr>
        <p:spPr>
          <a:xfrm>
            <a:off x="6190500" y="657930"/>
            <a:ext cx="14400" cy="4151700"/>
          </a:xfrm>
          <a:prstGeom prst="straightConnector1">
            <a:avLst/>
          </a:prstGeom>
          <a:noFill/>
          <a:ln w="38100" cap="flat" cmpd="sng">
            <a:solidFill>
              <a:srgbClr val="000000"/>
            </a:solidFill>
            <a:prstDash val="solid"/>
            <a:round/>
            <a:headEnd type="none" w="sm" len="sm"/>
            <a:tailEnd type="none" w="sm" len="sm"/>
          </a:ln>
        </p:spPr>
      </p:cxnSp>
      <p:cxnSp>
        <p:nvCxnSpPr>
          <p:cNvPr id="575" name="Google Shape;575;g36aa5e117e9_3_364"/>
          <p:cNvCxnSpPr>
            <a:stCxn id="576" idx="3"/>
            <a:endCxn id="577" idx="1"/>
          </p:cNvCxnSpPr>
          <p:nvPr/>
        </p:nvCxnSpPr>
        <p:spPr>
          <a:xfrm>
            <a:off x="3003300" y="7402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576" name="Google Shape;576;g36aa5e117e9_3_364"/>
          <p:cNvSpPr txBox="1"/>
          <p:nvPr/>
        </p:nvSpPr>
        <p:spPr>
          <a:xfrm>
            <a:off x="2560200" y="6580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S=1</a:t>
            </a:r>
            <a:endParaRPr sz="1400" b="0" i="0" u="none" strike="noStrike" cap="none">
              <a:solidFill>
                <a:srgbClr val="000000"/>
              </a:solidFill>
              <a:latin typeface="Lato"/>
              <a:ea typeface="Lato"/>
              <a:cs typeface="Lato"/>
              <a:sym typeface="Lato"/>
            </a:endParaRPr>
          </a:p>
        </p:txBody>
      </p:sp>
      <p:sp>
        <p:nvSpPr>
          <p:cNvPr id="578" name="Google Shape;578;g36aa5e117e9_3_364"/>
          <p:cNvSpPr txBox="1"/>
          <p:nvPr/>
        </p:nvSpPr>
        <p:spPr>
          <a:xfrm>
            <a:off x="2560200" y="8774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S=2</a:t>
            </a:r>
            <a:endParaRPr sz="1400" b="0" i="0" u="none" strike="noStrike" cap="none">
              <a:solidFill>
                <a:srgbClr val="000000"/>
              </a:solidFill>
              <a:latin typeface="Lato"/>
              <a:ea typeface="Lato"/>
              <a:cs typeface="Lato"/>
              <a:sym typeface="Lato"/>
            </a:endParaRPr>
          </a:p>
        </p:txBody>
      </p:sp>
      <p:sp>
        <p:nvSpPr>
          <p:cNvPr id="579" name="Google Shape;579;g36aa5e117e9_3_364"/>
          <p:cNvSpPr txBox="1"/>
          <p:nvPr/>
        </p:nvSpPr>
        <p:spPr>
          <a:xfrm>
            <a:off x="2560200" y="1096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S=3</a:t>
            </a:r>
            <a:endParaRPr sz="1400" b="0" i="0" u="none" strike="noStrike" cap="none">
              <a:solidFill>
                <a:srgbClr val="000000"/>
              </a:solidFill>
              <a:latin typeface="Lato"/>
              <a:ea typeface="Lato"/>
              <a:cs typeface="Lato"/>
              <a:sym typeface="Lato"/>
            </a:endParaRPr>
          </a:p>
        </p:txBody>
      </p:sp>
      <p:sp>
        <p:nvSpPr>
          <p:cNvPr id="580" name="Google Shape;580;g36aa5e117e9_3_364"/>
          <p:cNvSpPr txBox="1"/>
          <p:nvPr/>
        </p:nvSpPr>
        <p:spPr>
          <a:xfrm>
            <a:off x="2560200" y="1316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S=4</a:t>
            </a:r>
            <a:endParaRPr sz="1400" b="0" i="0" u="none" strike="noStrike" cap="none">
              <a:solidFill>
                <a:srgbClr val="000000"/>
              </a:solidFill>
              <a:latin typeface="Lato"/>
              <a:ea typeface="Lato"/>
              <a:cs typeface="Lato"/>
              <a:sym typeface="Lato"/>
            </a:endParaRPr>
          </a:p>
        </p:txBody>
      </p:sp>
      <p:sp>
        <p:nvSpPr>
          <p:cNvPr id="577" name="Google Shape;577;g36aa5e117e9_3_364"/>
          <p:cNvSpPr txBox="1"/>
          <p:nvPr/>
        </p:nvSpPr>
        <p:spPr>
          <a:xfrm>
            <a:off x="6190500" y="11865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A=1</a:t>
            </a:r>
            <a:endParaRPr sz="1400" b="0" i="0" u="none" strike="noStrike" cap="none">
              <a:solidFill>
                <a:srgbClr val="000000"/>
              </a:solidFill>
              <a:latin typeface="Lato"/>
              <a:ea typeface="Lato"/>
              <a:cs typeface="Lato"/>
              <a:sym typeface="Lato"/>
            </a:endParaRPr>
          </a:p>
        </p:txBody>
      </p:sp>
      <p:sp>
        <p:nvSpPr>
          <p:cNvPr id="581" name="Google Shape;581;g36aa5e117e9_3_364"/>
          <p:cNvSpPr txBox="1"/>
          <p:nvPr/>
        </p:nvSpPr>
        <p:spPr>
          <a:xfrm>
            <a:off x="6190500" y="14060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A=2</a:t>
            </a:r>
            <a:endParaRPr sz="1400" b="0" i="0" u="none" strike="noStrike" cap="none">
              <a:solidFill>
                <a:srgbClr val="000000"/>
              </a:solidFill>
              <a:latin typeface="Lato"/>
              <a:ea typeface="Lato"/>
              <a:cs typeface="Lato"/>
              <a:sym typeface="Lato"/>
            </a:endParaRPr>
          </a:p>
        </p:txBody>
      </p:sp>
      <p:sp>
        <p:nvSpPr>
          <p:cNvPr id="582" name="Google Shape;582;g36aa5e117e9_3_364"/>
          <p:cNvSpPr txBox="1"/>
          <p:nvPr/>
        </p:nvSpPr>
        <p:spPr>
          <a:xfrm>
            <a:off x="6190500" y="162545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A=3</a:t>
            </a:r>
            <a:endParaRPr sz="1400" b="0" i="0" u="none" strike="noStrike" cap="none">
              <a:solidFill>
                <a:srgbClr val="000000"/>
              </a:solidFill>
              <a:latin typeface="Lato"/>
              <a:ea typeface="Lato"/>
              <a:cs typeface="Lato"/>
              <a:sym typeface="Lato"/>
            </a:endParaRPr>
          </a:p>
        </p:txBody>
      </p:sp>
      <p:sp>
        <p:nvSpPr>
          <p:cNvPr id="583" name="Google Shape;583;g36aa5e117e9_3_364"/>
          <p:cNvSpPr txBox="1"/>
          <p:nvPr/>
        </p:nvSpPr>
        <p:spPr>
          <a:xfrm>
            <a:off x="6190500" y="184490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A=4</a:t>
            </a:r>
            <a:endParaRPr sz="1400" b="0" i="0" u="none" strike="noStrike" cap="none">
              <a:solidFill>
                <a:srgbClr val="000000"/>
              </a:solidFill>
              <a:latin typeface="Lato"/>
              <a:ea typeface="Lato"/>
              <a:cs typeface="Lato"/>
              <a:sym typeface="Lato"/>
            </a:endParaRPr>
          </a:p>
        </p:txBody>
      </p:sp>
      <p:cxnSp>
        <p:nvCxnSpPr>
          <p:cNvPr id="584" name="Google Shape;584;g36aa5e117e9_3_364"/>
          <p:cNvCxnSpPr/>
          <p:nvPr/>
        </p:nvCxnSpPr>
        <p:spPr>
          <a:xfrm flipH="1">
            <a:off x="2994300" y="12688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85" name="Google Shape;585;g36aa5e117e9_3_364"/>
          <p:cNvCxnSpPr>
            <a:stCxn id="578" idx="3"/>
            <a:endCxn id="581" idx="1"/>
          </p:cNvCxnSpPr>
          <p:nvPr/>
        </p:nvCxnSpPr>
        <p:spPr>
          <a:xfrm>
            <a:off x="3003300" y="959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86" name="Google Shape;586;g36aa5e117e9_3_364"/>
          <p:cNvCxnSpPr>
            <a:stCxn id="579" idx="3"/>
            <a:endCxn id="582" idx="1"/>
          </p:cNvCxnSpPr>
          <p:nvPr/>
        </p:nvCxnSpPr>
        <p:spPr>
          <a:xfrm>
            <a:off x="3003300" y="11791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87" name="Google Shape;587;g36aa5e117e9_3_364"/>
          <p:cNvCxnSpPr>
            <a:stCxn id="580" idx="3"/>
            <a:endCxn id="583" idx="1"/>
          </p:cNvCxnSpPr>
          <p:nvPr/>
        </p:nvCxnSpPr>
        <p:spPr>
          <a:xfrm>
            <a:off x="3003300" y="13985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88" name="Google Shape;588;g36aa5e117e9_3_364"/>
          <p:cNvCxnSpPr>
            <a:stCxn id="581" idx="1"/>
            <a:endCxn id="589" idx="3"/>
          </p:cNvCxnSpPr>
          <p:nvPr/>
        </p:nvCxnSpPr>
        <p:spPr>
          <a:xfrm flipH="1">
            <a:off x="2999100" y="148820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590" name="Google Shape;590;g36aa5e117e9_3_364"/>
          <p:cNvSpPr txBox="1"/>
          <p:nvPr/>
        </p:nvSpPr>
        <p:spPr>
          <a:xfrm>
            <a:off x="2556063" y="1703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S=5</a:t>
            </a:r>
            <a:endParaRPr sz="1400" b="0" i="0" u="none" strike="noStrike" cap="none">
              <a:solidFill>
                <a:srgbClr val="000000"/>
              </a:solidFill>
              <a:latin typeface="Lato"/>
              <a:ea typeface="Lato"/>
              <a:cs typeface="Lato"/>
              <a:sym typeface="Lato"/>
            </a:endParaRPr>
          </a:p>
        </p:txBody>
      </p:sp>
      <p:sp>
        <p:nvSpPr>
          <p:cNvPr id="589" name="Google Shape;589;g36aa5e117e9_3_364"/>
          <p:cNvSpPr txBox="1"/>
          <p:nvPr/>
        </p:nvSpPr>
        <p:spPr>
          <a:xfrm>
            <a:off x="2556063" y="19226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S=6</a:t>
            </a:r>
            <a:endParaRPr sz="1400" b="0" i="0" u="none" strike="noStrike" cap="none">
              <a:solidFill>
                <a:srgbClr val="000000"/>
              </a:solidFill>
              <a:latin typeface="Lato"/>
              <a:ea typeface="Lato"/>
              <a:cs typeface="Lato"/>
              <a:sym typeface="Lato"/>
            </a:endParaRPr>
          </a:p>
        </p:txBody>
      </p:sp>
      <p:sp>
        <p:nvSpPr>
          <p:cNvPr id="591" name="Google Shape;591;g36aa5e117e9_3_364"/>
          <p:cNvSpPr txBox="1"/>
          <p:nvPr/>
        </p:nvSpPr>
        <p:spPr>
          <a:xfrm>
            <a:off x="2556063" y="21420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S=7</a:t>
            </a:r>
            <a:endParaRPr sz="1400" b="0" i="0" u="none" strike="noStrike" cap="none">
              <a:solidFill>
                <a:srgbClr val="000000"/>
              </a:solidFill>
              <a:latin typeface="Lato"/>
              <a:ea typeface="Lato"/>
              <a:cs typeface="Lato"/>
              <a:sym typeface="Lato"/>
            </a:endParaRPr>
          </a:p>
        </p:txBody>
      </p:sp>
      <p:sp>
        <p:nvSpPr>
          <p:cNvPr id="592" name="Google Shape;592;g36aa5e117e9_3_364"/>
          <p:cNvSpPr txBox="1"/>
          <p:nvPr/>
        </p:nvSpPr>
        <p:spPr>
          <a:xfrm>
            <a:off x="2556063" y="23615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S=8</a:t>
            </a:r>
            <a:endParaRPr sz="1400" b="0" i="0" u="none" strike="noStrike" cap="none">
              <a:solidFill>
                <a:srgbClr val="000000"/>
              </a:solidFill>
              <a:latin typeface="Lato"/>
              <a:ea typeface="Lato"/>
              <a:cs typeface="Lato"/>
              <a:sym typeface="Lato"/>
            </a:endParaRPr>
          </a:p>
        </p:txBody>
      </p:sp>
      <p:cxnSp>
        <p:nvCxnSpPr>
          <p:cNvPr id="593" name="Google Shape;593;g36aa5e117e9_3_364"/>
          <p:cNvCxnSpPr>
            <a:stCxn id="582" idx="1"/>
            <a:endCxn id="591" idx="3"/>
          </p:cNvCxnSpPr>
          <p:nvPr/>
        </p:nvCxnSpPr>
        <p:spPr>
          <a:xfrm flipH="1">
            <a:off x="2999100" y="170765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594" name="Google Shape;594;g36aa5e117e9_3_364"/>
          <p:cNvCxnSpPr>
            <a:stCxn id="583" idx="1"/>
            <a:endCxn id="592" idx="3"/>
          </p:cNvCxnSpPr>
          <p:nvPr/>
        </p:nvCxnSpPr>
        <p:spPr>
          <a:xfrm flipH="1">
            <a:off x="2999100" y="192710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595" name="Google Shape;595;g36aa5e117e9_3_364"/>
          <p:cNvCxnSpPr/>
          <p:nvPr/>
        </p:nvCxnSpPr>
        <p:spPr>
          <a:xfrm>
            <a:off x="2994300" y="18049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96" name="Google Shape;596;g36aa5e117e9_3_364"/>
          <p:cNvCxnSpPr/>
          <p:nvPr/>
        </p:nvCxnSpPr>
        <p:spPr>
          <a:xfrm>
            <a:off x="2994396" y="2024234"/>
            <a:ext cx="1609200" cy="255900"/>
          </a:xfrm>
          <a:prstGeom prst="straightConnector1">
            <a:avLst/>
          </a:prstGeom>
          <a:noFill/>
          <a:ln w="9525" cap="flat" cmpd="sng">
            <a:solidFill>
              <a:srgbClr val="000000"/>
            </a:solidFill>
            <a:prstDash val="solid"/>
            <a:round/>
            <a:headEnd type="none" w="sm" len="sm"/>
            <a:tailEnd type="triangle" w="med" len="med"/>
          </a:ln>
        </p:spPr>
      </p:cxnSp>
      <p:cxnSp>
        <p:nvCxnSpPr>
          <p:cNvPr id="597" name="Google Shape;597;g36aa5e117e9_3_364"/>
          <p:cNvCxnSpPr/>
          <p:nvPr/>
        </p:nvCxnSpPr>
        <p:spPr>
          <a:xfrm>
            <a:off x="2994300" y="224382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598" name="Google Shape;598;g36aa5e117e9_3_364"/>
          <p:cNvCxnSpPr/>
          <p:nvPr/>
        </p:nvCxnSpPr>
        <p:spPr>
          <a:xfrm>
            <a:off x="2994300" y="246327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599" name="Google Shape;599;g36aa5e117e9_3_364"/>
          <p:cNvSpPr/>
          <p:nvPr/>
        </p:nvSpPr>
        <p:spPr>
          <a:xfrm>
            <a:off x="4476438" y="2142075"/>
            <a:ext cx="240900" cy="268800"/>
          </a:xfrm>
          <a:prstGeom prst="mathMultiply">
            <a:avLst>
              <a:gd name="adj1" fmla="val 23520"/>
            </a:avLst>
          </a:prstGeom>
          <a:solidFill>
            <a:srgbClr val="98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g36aa5e117e9_3_364"/>
          <p:cNvSpPr txBox="1"/>
          <p:nvPr/>
        </p:nvSpPr>
        <p:spPr>
          <a:xfrm>
            <a:off x="6209650" y="22438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A=5</a:t>
            </a:r>
            <a:endParaRPr sz="1400" b="0" i="0" u="none" strike="noStrike" cap="none">
              <a:solidFill>
                <a:srgbClr val="000000"/>
              </a:solidFill>
              <a:latin typeface="Lato"/>
              <a:ea typeface="Lato"/>
              <a:cs typeface="Lato"/>
              <a:sym typeface="Lato"/>
            </a:endParaRPr>
          </a:p>
        </p:txBody>
      </p:sp>
      <p:sp>
        <p:nvSpPr>
          <p:cNvPr id="601" name="Google Shape;601;g36aa5e117e9_3_364"/>
          <p:cNvSpPr txBox="1"/>
          <p:nvPr/>
        </p:nvSpPr>
        <p:spPr>
          <a:xfrm>
            <a:off x="6209650" y="26827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A=5</a:t>
            </a:r>
            <a:endParaRPr sz="1400" b="0" i="0" u="none" strike="noStrike" cap="none">
              <a:solidFill>
                <a:srgbClr val="000000"/>
              </a:solidFill>
              <a:latin typeface="Lato"/>
              <a:ea typeface="Lato"/>
              <a:cs typeface="Lato"/>
              <a:sym typeface="Lato"/>
            </a:endParaRPr>
          </a:p>
        </p:txBody>
      </p:sp>
      <p:sp>
        <p:nvSpPr>
          <p:cNvPr id="602" name="Google Shape;602;g36aa5e117e9_3_364"/>
          <p:cNvSpPr txBox="1"/>
          <p:nvPr/>
        </p:nvSpPr>
        <p:spPr>
          <a:xfrm>
            <a:off x="6209650" y="29021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A=5</a:t>
            </a:r>
            <a:endParaRPr sz="1400" b="0" i="0" u="none" strike="noStrike" cap="none">
              <a:solidFill>
                <a:srgbClr val="000000"/>
              </a:solidFill>
              <a:latin typeface="Lato"/>
              <a:ea typeface="Lato"/>
              <a:cs typeface="Lato"/>
              <a:sym typeface="Lato"/>
            </a:endParaRPr>
          </a:p>
        </p:txBody>
      </p:sp>
      <p:cxnSp>
        <p:nvCxnSpPr>
          <p:cNvPr id="603" name="Google Shape;603;g36aa5e117e9_3_364"/>
          <p:cNvCxnSpPr/>
          <p:nvPr/>
        </p:nvCxnSpPr>
        <p:spPr>
          <a:xfrm flipH="1">
            <a:off x="2990100" y="2770632"/>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604" name="Google Shape;604;g36aa5e117e9_3_364"/>
          <p:cNvCxnSpPr/>
          <p:nvPr/>
        </p:nvCxnSpPr>
        <p:spPr>
          <a:xfrm flipH="1">
            <a:off x="3033900" y="2990082"/>
            <a:ext cx="3147600" cy="468600"/>
          </a:xfrm>
          <a:prstGeom prst="straightConnector1">
            <a:avLst/>
          </a:prstGeom>
          <a:noFill/>
          <a:ln w="9525" cap="flat" cmpd="sng">
            <a:solidFill>
              <a:srgbClr val="000000"/>
            </a:solidFill>
            <a:prstDash val="solid"/>
            <a:round/>
            <a:headEnd type="none" w="sm" len="sm"/>
            <a:tailEnd type="triangle" w="med" len="med"/>
          </a:ln>
        </p:spPr>
      </p:cxnSp>
      <p:sp>
        <p:nvSpPr>
          <p:cNvPr id="605" name="Google Shape;605;g36aa5e117e9_3_364"/>
          <p:cNvSpPr/>
          <p:nvPr/>
        </p:nvSpPr>
        <p:spPr>
          <a:xfrm>
            <a:off x="2538022" y="2089975"/>
            <a:ext cx="148500" cy="1416600"/>
          </a:xfrm>
          <a:prstGeom prst="leftBracket">
            <a:avLst>
              <a:gd name="adj" fmla="val 8333"/>
            </a:avLst>
          </a:prstGeom>
          <a:no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06" name="Google Shape;606;g36aa5e117e9_3_364"/>
          <p:cNvCxnSpPr/>
          <p:nvPr/>
        </p:nvCxnSpPr>
        <p:spPr>
          <a:xfrm flipH="1">
            <a:off x="3008713" y="233172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607" name="Google Shape;607;g36aa5e117e9_3_364"/>
          <p:cNvSpPr txBox="1"/>
          <p:nvPr/>
        </p:nvSpPr>
        <p:spPr>
          <a:xfrm>
            <a:off x="1277725" y="3019875"/>
            <a:ext cx="1282500" cy="365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980000"/>
                </a:solidFill>
                <a:latin typeface="Open Sans"/>
                <a:ea typeface="Open Sans"/>
                <a:cs typeface="Open Sans"/>
                <a:sym typeface="Open Sans"/>
              </a:rPr>
              <a:t>Packet 6 timeout</a:t>
            </a:r>
            <a:endParaRPr sz="1100" b="0" i="0" u="none" strike="noStrike" cap="none">
              <a:solidFill>
                <a:srgbClr val="980000"/>
              </a:solidFill>
              <a:latin typeface="Open Sans"/>
              <a:ea typeface="Open Sans"/>
              <a:cs typeface="Open Sans"/>
              <a:sym typeface="Open Sans"/>
            </a:endParaRPr>
          </a:p>
        </p:txBody>
      </p:sp>
      <p:sp>
        <p:nvSpPr>
          <p:cNvPr id="608" name="Google Shape;608;g36aa5e117e9_3_364"/>
          <p:cNvSpPr txBox="1"/>
          <p:nvPr/>
        </p:nvSpPr>
        <p:spPr>
          <a:xfrm>
            <a:off x="2560188" y="27483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S=9</a:t>
            </a:r>
            <a:endParaRPr sz="1400" b="0" i="0" u="none" strike="noStrike" cap="none">
              <a:solidFill>
                <a:srgbClr val="000000"/>
              </a:solidFill>
              <a:latin typeface="Lato"/>
              <a:ea typeface="Lato"/>
              <a:cs typeface="Lato"/>
              <a:sym typeface="Lato"/>
            </a:endParaRPr>
          </a:p>
        </p:txBody>
      </p:sp>
      <p:sp>
        <p:nvSpPr>
          <p:cNvPr id="609" name="Google Shape;609;g36aa5e117e9_3_364"/>
          <p:cNvSpPr txBox="1"/>
          <p:nvPr/>
        </p:nvSpPr>
        <p:spPr>
          <a:xfrm>
            <a:off x="2584213" y="35319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S=6</a:t>
            </a:r>
            <a:endParaRPr sz="1400" b="0" i="0" u="none" strike="noStrike" cap="none">
              <a:solidFill>
                <a:srgbClr val="000000"/>
              </a:solidFill>
              <a:latin typeface="Lato"/>
              <a:ea typeface="Lato"/>
              <a:cs typeface="Lato"/>
              <a:sym typeface="Lato"/>
            </a:endParaRPr>
          </a:p>
        </p:txBody>
      </p:sp>
      <p:sp>
        <p:nvSpPr>
          <p:cNvPr id="610" name="Google Shape;610;g36aa5e117e9_3_364"/>
          <p:cNvSpPr txBox="1"/>
          <p:nvPr/>
        </p:nvSpPr>
        <p:spPr>
          <a:xfrm>
            <a:off x="2584213" y="37513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S=7</a:t>
            </a:r>
            <a:endParaRPr sz="1400" b="0" i="0" u="none" strike="noStrike" cap="none">
              <a:solidFill>
                <a:srgbClr val="000000"/>
              </a:solidFill>
              <a:latin typeface="Lato"/>
              <a:ea typeface="Lato"/>
              <a:cs typeface="Lato"/>
              <a:sym typeface="Lato"/>
            </a:endParaRPr>
          </a:p>
        </p:txBody>
      </p:sp>
      <p:sp>
        <p:nvSpPr>
          <p:cNvPr id="611" name="Google Shape;611;g36aa5e117e9_3_364"/>
          <p:cNvSpPr txBox="1"/>
          <p:nvPr/>
        </p:nvSpPr>
        <p:spPr>
          <a:xfrm>
            <a:off x="2584213" y="397082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S=8</a:t>
            </a:r>
            <a:endParaRPr sz="1400" b="0" i="0" u="none" strike="noStrike" cap="none">
              <a:solidFill>
                <a:srgbClr val="000000"/>
              </a:solidFill>
              <a:latin typeface="Lato"/>
              <a:ea typeface="Lato"/>
              <a:cs typeface="Lato"/>
              <a:sym typeface="Lato"/>
            </a:endParaRPr>
          </a:p>
        </p:txBody>
      </p:sp>
      <p:sp>
        <p:nvSpPr>
          <p:cNvPr id="612" name="Google Shape;612;g36aa5e117e9_3_364"/>
          <p:cNvSpPr txBox="1"/>
          <p:nvPr/>
        </p:nvSpPr>
        <p:spPr>
          <a:xfrm>
            <a:off x="2584213" y="4190275"/>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S=9</a:t>
            </a:r>
            <a:endParaRPr sz="1400" b="0" i="0" u="none" strike="noStrike" cap="none">
              <a:solidFill>
                <a:srgbClr val="000000"/>
              </a:solidFill>
              <a:latin typeface="Lato"/>
              <a:ea typeface="Lato"/>
              <a:cs typeface="Lato"/>
              <a:sym typeface="Lato"/>
            </a:endParaRPr>
          </a:p>
        </p:txBody>
      </p:sp>
      <p:cxnSp>
        <p:nvCxnSpPr>
          <p:cNvPr id="613" name="Google Shape;613;g36aa5e117e9_3_364"/>
          <p:cNvCxnSpPr/>
          <p:nvPr/>
        </p:nvCxnSpPr>
        <p:spPr>
          <a:xfrm>
            <a:off x="3022450" y="36336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614" name="Google Shape;614;g36aa5e117e9_3_364"/>
          <p:cNvCxnSpPr/>
          <p:nvPr/>
        </p:nvCxnSpPr>
        <p:spPr>
          <a:xfrm>
            <a:off x="3022450" y="3853125"/>
            <a:ext cx="3185400" cy="553500"/>
          </a:xfrm>
          <a:prstGeom prst="straightConnector1">
            <a:avLst/>
          </a:prstGeom>
          <a:noFill/>
          <a:ln w="9525" cap="flat" cmpd="sng">
            <a:solidFill>
              <a:srgbClr val="000000"/>
            </a:solidFill>
            <a:prstDash val="solid"/>
            <a:round/>
            <a:headEnd type="none" w="sm" len="sm"/>
            <a:tailEnd type="triangle" w="med" len="med"/>
          </a:ln>
        </p:spPr>
      </p:cxnSp>
      <p:cxnSp>
        <p:nvCxnSpPr>
          <p:cNvPr id="615" name="Google Shape;615;g36aa5e117e9_3_364"/>
          <p:cNvCxnSpPr/>
          <p:nvPr/>
        </p:nvCxnSpPr>
        <p:spPr>
          <a:xfrm>
            <a:off x="3022450" y="407257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616" name="Google Shape;616;g36aa5e117e9_3_364"/>
          <p:cNvCxnSpPr/>
          <p:nvPr/>
        </p:nvCxnSpPr>
        <p:spPr>
          <a:xfrm>
            <a:off x="3022450" y="4292025"/>
            <a:ext cx="3187200" cy="528600"/>
          </a:xfrm>
          <a:prstGeom prst="straightConnector1">
            <a:avLst/>
          </a:prstGeom>
          <a:noFill/>
          <a:ln w="9525" cap="flat" cmpd="sng">
            <a:solidFill>
              <a:srgbClr val="000000"/>
            </a:solidFill>
            <a:prstDash val="solid"/>
            <a:round/>
            <a:headEnd type="none" w="sm" len="sm"/>
            <a:tailEnd type="triangle" w="med" len="med"/>
          </a:ln>
        </p:spPr>
      </p:cxnSp>
      <p:sp>
        <p:nvSpPr>
          <p:cNvPr id="617" name="Google Shape;617;g36aa5e117e9_3_364"/>
          <p:cNvSpPr txBox="1"/>
          <p:nvPr/>
        </p:nvSpPr>
        <p:spPr>
          <a:xfrm>
            <a:off x="6204900" y="406908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A=6</a:t>
            </a:r>
            <a:endParaRPr sz="1400" b="0" i="0" u="none" strike="noStrike" cap="none">
              <a:solidFill>
                <a:srgbClr val="000000"/>
              </a:solidFill>
              <a:latin typeface="Lato"/>
              <a:ea typeface="Lato"/>
              <a:cs typeface="Lato"/>
              <a:sym typeface="Lato"/>
            </a:endParaRPr>
          </a:p>
        </p:txBody>
      </p:sp>
      <p:sp>
        <p:nvSpPr>
          <p:cNvPr id="618" name="Google Shape;618;g36aa5e117e9_3_364"/>
          <p:cNvSpPr txBox="1"/>
          <p:nvPr/>
        </p:nvSpPr>
        <p:spPr>
          <a:xfrm>
            <a:off x="6204900" y="428853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A=7</a:t>
            </a:r>
            <a:endParaRPr sz="1400" b="0" i="0" u="none" strike="noStrike" cap="none">
              <a:solidFill>
                <a:srgbClr val="000000"/>
              </a:solidFill>
              <a:latin typeface="Lato"/>
              <a:ea typeface="Lato"/>
              <a:cs typeface="Lato"/>
              <a:sym typeface="Lato"/>
            </a:endParaRPr>
          </a:p>
        </p:txBody>
      </p:sp>
      <p:sp>
        <p:nvSpPr>
          <p:cNvPr id="619" name="Google Shape;619;g36aa5e117e9_3_364"/>
          <p:cNvSpPr txBox="1"/>
          <p:nvPr/>
        </p:nvSpPr>
        <p:spPr>
          <a:xfrm>
            <a:off x="6204900" y="450798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A=8</a:t>
            </a:r>
            <a:endParaRPr sz="1400" b="0" i="0" u="none" strike="noStrike" cap="none">
              <a:solidFill>
                <a:srgbClr val="000000"/>
              </a:solidFill>
              <a:latin typeface="Lato"/>
              <a:ea typeface="Lato"/>
              <a:cs typeface="Lato"/>
              <a:sym typeface="Lato"/>
            </a:endParaRPr>
          </a:p>
        </p:txBody>
      </p:sp>
      <p:sp>
        <p:nvSpPr>
          <p:cNvPr id="574" name="Google Shape;574;g36aa5e117e9_3_364"/>
          <p:cNvSpPr txBox="1"/>
          <p:nvPr/>
        </p:nvSpPr>
        <p:spPr>
          <a:xfrm>
            <a:off x="6204900" y="4727430"/>
            <a:ext cx="4431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A=9</a:t>
            </a:r>
            <a:endParaRPr sz="1400" b="0" i="0" u="none" strike="noStrike" cap="none">
              <a:solidFill>
                <a:srgbClr val="000000"/>
              </a:solidFill>
              <a:latin typeface="Lato"/>
              <a:ea typeface="Lato"/>
              <a:cs typeface="Lato"/>
              <a:sym typeface="Lato"/>
            </a:endParaRPr>
          </a:p>
        </p:txBody>
      </p:sp>
      <p:cxnSp>
        <p:nvCxnSpPr>
          <p:cNvPr id="620" name="Google Shape;620;g36aa5e117e9_3_364"/>
          <p:cNvCxnSpPr/>
          <p:nvPr/>
        </p:nvCxnSpPr>
        <p:spPr>
          <a:xfrm flipH="1">
            <a:off x="3008700" y="4151355"/>
            <a:ext cx="3187200" cy="528600"/>
          </a:xfrm>
          <a:prstGeom prst="straightConnector1">
            <a:avLst/>
          </a:prstGeom>
          <a:noFill/>
          <a:ln w="9525" cap="flat" cmpd="sng">
            <a:solidFill>
              <a:srgbClr val="000000"/>
            </a:solidFill>
            <a:prstDash val="solid"/>
            <a:round/>
            <a:headEnd type="none" w="sm" len="sm"/>
            <a:tailEnd type="triangle" w="med" len="med"/>
          </a:ln>
        </p:spPr>
      </p:cxnSp>
      <p:cxnSp>
        <p:nvCxnSpPr>
          <p:cNvPr id="621" name="Google Shape;621;g36aa5e117e9_3_364"/>
          <p:cNvCxnSpPr>
            <a:stCxn id="618" idx="1"/>
          </p:cNvCxnSpPr>
          <p:nvPr/>
        </p:nvCxnSpPr>
        <p:spPr>
          <a:xfrm flipH="1">
            <a:off x="3013500" y="437073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622" name="Google Shape;622;g36aa5e117e9_3_364"/>
          <p:cNvCxnSpPr>
            <a:stCxn id="619" idx="1"/>
          </p:cNvCxnSpPr>
          <p:nvPr/>
        </p:nvCxnSpPr>
        <p:spPr>
          <a:xfrm flipH="1">
            <a:off x="3013500" y="4590180"/>
            <a:ext cx="3191400" cy="516600"/>
          </a:xfrm>
          <a:prstGeom prst="straightConnector1">
            <a:avLst/>
          </a:prstGeom>
          <a:noFill/>
          <a:ln w="9525" cap="flat" cmpd="sng">
            <a:solidFill>
              <a:srgbClr val="000000"/>
            </a:solidFill>
            <a:prstDash val="solid"/>
            <a:round/>
            <a:headEnd type="none" w="sm" len="sm"/>
            <a:tailEnd type="triangle" w="med" len="med"/>
          </a:ln>
        </p:spPr>
      </p:cxnSp>
      <p:cxnSp>
        <p:nvCxnSpPr>
          <p:cNvPr id="623" name="Google Shape;623;g36aa5e117e9_3_364"/>
          <p:cNvCxnSpPr>
            <a:stCxn id="574" idx="1"/>
          </p:cNvCxnSpPr>
          <p:nvPr/>
        </p:nvCxnSpPr>
        <p:spPr>
          <a:xfrm flipH="1">
            <a:off x="3013500" y="4809630"/>
            <a:ext cx="3191400" cy="516600"/>
          </a:xfrm>
          <a:prstGeom prst="straightConnector1">
            <a:avLst/>
          </a:prstGeom>
          <a:noFill/>
          <a:ln w="9525" cap="flat" cmpd="sng">
            <a:solidFill>
              <a:srgbClr val="000000"/>
            </a:solidFill>
            <a:prstDash val="solid"/>
            <a:round/>
            <a:headEnd type="none" w="sm" len="sm"/>
            <a:tailEnd type="triangle" w="med" len="med"/>
          </a:ln>
        </p:spPr>
      </p:cxnSp>
      <p:sp>
        <p:nvSpPr>
          <p:cNvPr id="624" name="Google Shape;624;g36aa5e117e9_3_364"/>
          <p:cNvSpPr txBox="1"/>
          <p:nvPr/>
        </p:nvSpPr>
        <p:spPr>
          <a:xfrm>
            <a:off x="642050" y="658025"/>
            <a:ext cx="1521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Window:     {1 2 3 4}</a:t>
            </a:r>
            <a:endParaRPr sz="1400" b="0" i="0" u="none" strike="noStrike" cap="none">
              <a:solidFill>
                <a:srgbClr val="000000"/>
              </a:solidFill>
              <a:latin typeface="Lato"/>
              <a:ea typeface="Lato"/>
              <a:cs typeface="Lato"/>
              <a:sym typeface="Lato"/>
            </a:endParaRPr>
          </a:p>
        </p:txBody>
      </p:sp>
      <p:sp>
        <p:nvSpPr>
          <p:cNvPr id="625" name="Google Shape;625;g36aa5e117e9_3_364"/>
          <p:cNvSpPr txBox="1"/>
          <p:nvPr/>
        </p:nvSpPr>
        <p:spPr>
          <a:xfrm>
            <a:off x="1515175" y="87747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{1 2 3 4}</a:t>
            </a:r>
            <a:endParaRPr sz="1400" b="0" i="0" u="none" strike="noStrike" cap="none">
              <a:solidFill>
                <a:srgbClr val="000000"/>
              </a:solidFill>
              <a:latin typeface="Lato"/>
              <a:ea typeface="Lato"/>
              <a:cs typeface="Lato"/>
              <a:sym typeface="Lato"/>
            </a:endParaRPr>
          </a:p>
        </p:txBody>
      </p:sp>
      <p:sp>
        <p:nvSpPr>
          <p:cNvPr id="626" name="Google Shape;626;g36aa5e117e9_3_364"/>
          <p:cNvSpPr txBox="1"/>
          <p:nvPr/>
        </p:nvSpPr>
        <p:spPr>
          <a:xfrm>
            <a:off x="1515175" y="109692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{1 2 3 4}</a:t>
            </a:r>
            <a:endParaRPr sz="1400" b="0" i="0" u="none" strike="noStrike" cap="none">
              <a:solidFill>
                <a:srgbClr val="000000"/>
              </a:solidFill>
              <a:latin typeface="Lato"/>
              <a:ea typeface="Lato"/>
              <a:cs typeface="Lato"/>
              <a:sym typeface="Lato"/>
            </a:endParaRPr>
          </a:p>
        </p:txBody>
      </p:sp>
      <p:sp>
        <p:nvSpPr>
          <p:cNvPr id="627" name="Google Shape;627;g36aa5e117e9_3_364"/>
          <p:cNvSpPr txBox="1"/>
          <p:nvPr/>
        </p:nvSpPr>
        <p:spPr>
          <a:xfrm>
            <a:off x="1515175" y="131637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{1 2 3 4}</a:t>
            </a:r>
            <a:endParaRPr sz="1400" b="0" i="0" u="none" strike="noStrike" cap="none">
              <a:solidFill>
                <a:srgbClr val="000000"/>
              </a:solidFill>
              <a:latin typeface="Lato"/>
              <a:ea typeface="Lato"/>
              <a:cs typeface="Lato"/>
              <a:sym typeface="Lato"/>
            </a:endParaRPr>
          </a:p>
        </p:txBody>
      </p:sp>
      <p:sp>
        <p:nvSpPr>
          <p:cNvPr id="628" name="Google Shape;628;g36aa5e117e9_3_364"/>
          <p:cNvSpPr txBox="1"/>
          <p:nvPr/>
        </p:nvSpPr>
        <p:spPr>
          <a:xfrm>
            <a:off x="1515175" y="170317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{2 3 4 5}</a:t>
            </a:r>
            <a:endParaRPr sz="1400" b="0" i="0" u="none" strike="noStrike" cap="none">
              <a:solidFill>
                <a:srgbClr val="000000"/>
              </a:solidFill>
              <a:latin typeface="Lato"/>
              <a:ea typeface="Lato"/>
              <a:cs typeface="Lato"/>
              <a:sym typeface="Lato"/>
            </a:endParaRPr>
          </a:p>
        </p:txBody>
      </p:sp>
      <p:sp>
        <p:nvSpPr>
          <p:cNvPr id="629" name="Google Shape;629;g36aa5e117e9_3_364"/>
          <p:cNvSpPr txBox="1"/>
          <p:nvPr/>
        </p:nvSpPr>
        <p:spPr>
          <a:xfrm>
            <a:off x="1515175" y="192262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{3 4 5 6}</a:t>
            </a:r>
            <a:endParaRPr sz="1400" b="0" i="0" u="none" strike="noStrike" cap="none">
              <a:solidFill>
                <a:srgbClr val="000000"/>
              </a:solidFill>
              <a:latin typeface="Lato"/>
              <a:ea typeface="Lato"/>
              <a:cs typeface="Lato"/>
              <a:sym typeface="Lato"/>
            </a:endParaRPr>
          </a:p>
        </p:txBody>
      </p:sp>
      <p:sp>
        <p:nvSpPr>
          <p:cNvPr id="630" name="Google Shape;630;g36aa5e117e9_3_364"/>
          <p:cNvSpPr txBox="1"/>
          <p:nvPr/>
        </p:nvSpPr>
        <p:spPr>
          <a:xfrm>
            <a:off x="1515175" y="214207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{4 5 6 7}</a:t>
            </a:r>
            <a:endParaRPr sz="1400" b="0" i="0" u="none" strike="noStrike" cap="none">
              <a:solidFill>
                <a:srgbClr val="000000"/>
              </a:solidFill>
              <a:latin typeface="Lato"/>
              <a:ea typeface="Lato"/>
              <a:cs typeface="Lato"/>
              <a:sym typeface="Lato"/>
            </a:endParaRPr>
          </a:p>
        </p:txBody>
      </p:sp>
      <p:sp>
        <p:nvSpPr>
          <p:cNvPr id="631" name="Google Shape;631;g36aa5e117e9_3_364"/>
          <p:cNvSpPr txBox="1"/>
          <p:nvPr/>
        </p:nvSpPr>
        <p:spPr>
          <a:xfrm>
            <a:off x="1515175" y="236152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{5 6 7 8}</a:t>
            </a:r>
            <a:endParaRPr sz="1400" b="0" i="0" u="none" strike="noStrike" cap="none">
              <a:solidFill>
                <a:srgbClr val="000000"/>
              </a:solidFill>
              <a:latin typeface="Lato"/>
              <a:ea typeface="Lato"/>
              <a:cs typeface="Lato"/>
              <a:sym typeface="Lato"/>
            </a:endParaRPr>
          </a:p>
        </p:txBody>
      </p:sp>
      <p:sp>
        <p:nvSpPr>
          <p:cNvPr id="632" name="Google Shape;632;g36aa5e117e9_3_364"/>
          <p:cNvSpPr txBox="1"/>
          <p:nvPr/>
        </p:nvSpPr>
        <p:spPr>
          <a:xfrm>
            <a:off x="1515175" y="2748325"/>
            <a:ext cx="648900" cy="16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{6 7 8 9}</a:t>
            </a:r>
            <a:endParaRPr sz="1400" b="0" i="0" u="none" strike="noStrike" cap="none">
              <a:solidFill>
                <a:srgbClr val="000000"/>
              </a:solidFill>
              <a:latin typeface="Lato"/>
              <a:ea typeface="Lato"/>
              <a:cs typeface="Lato"/>
              <a:sym typeface="Lato"/>
            </a:endParaRPr>
          </a:p>
        </p:txBody>
      </p:sp>
      <p:cxnSp>
        <p:nvCxnSpPr>
          <p:cNvPr id="633" name="Google Shape;633;g36aa5e117e9_3_364"/>
          <p:cNvCxnSpPr/>
          <p:nvPr/>
        </p:nvCxnSpPr>
        <p:spPr>
          <a:xfrm>
            <a:off x="3012875" y="2833225"/>
            <a:ext cx="3187200" cy="528600"/>
          </a:xfrm>
          <a:prstGeom prst="straightConnector1">
            <a:avLst/>
          </a:prstGeom>
          <a:noFill/>
          <a:ln w="9525" cap="flat" cmpd="sng">
            <a:solidFill>
              <a:srgbClr val="0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8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8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8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8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9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9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8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9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2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9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9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3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9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9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3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9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0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0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0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3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3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0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02"/>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0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0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0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0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60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1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1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1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13"/>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1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61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1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17"/>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18"/>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19"/>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21"/>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622"/>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620"/>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623"/>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637"/>
        <p:cNvGrpSpPr/>
        <p:nvPr/>
      </p:nvGrpSpPr>
      <p:grpSpPr>
        <a:xfrm>
          <a:off x="0" y="0"/>
          <a:ext cx="0" cy="0"/>
          <a:chOff x="0" y="0"/>
          <a:chExt cx="0" cy="0"/>
        </a:xfrm>
      </p:grpSpPr>
      <p:sp>
        <p:nvSpPr>
          <p:cNvPr id="638" name="Google Shape;638;g36aa5e117e9_3_1016"/>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Review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g36aa5e117e9_3_1025"/>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a:t>
            </a:r>
            <a:endParaRPr/>
          </a:p>
        </p:txBody>
      </p:sp>
      <p:sp>
        <p:nvSpPr>
          <p:cNvPr id="644" name="Google Shape;644;g36aa5e117e9_3_1025"/>
          <p:cNvSpPr txBox="1">
            <a:spLocks noGrp="1"/>
          </p:cNvSpPr>
          <p:nvPr>
            <p:ph type="body" idx="1"/>
          </p:nvPr>
        </p:nvSpPr>
        <p:spPr>
          <a:xfrm>
            <a:off x="107050" y="402200"/>
            <a:ext cx="8909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L4 Protocol (Transport) </a:t>
            </a:r>
            <a:endParaRPr sz="2000"/>
          </a:p>
          <a:p>
            <a:pPr marL="457200" lvl="0" indent="-355600" algn="l" rtl="0">
              <a:lnSpc>
                <a:spcPct val="100000"/>
              </a:lnSpc>
              <a:spcBef>
                <a:spcPts val="400"/>
              </a:spcBef>
              <a:spcAft>
                <a:spcPts val="0"/>
              </a:spcAft>
              <a:buSzPts val="2000"/>
              <a:buChar char="●"/>
            </a:pPr>
            <a:r>
              <a:rPr lang="en" sz="2000"/>
              <a:t>Byte Stream</a:t>
            </a:r>
            <a:endParaRPr sz="2000"/>
          </a:p>
          <a:p>
            <a:pPr marL="457200" lvl="0" indent="-355600" algn="l" rtl="0">
              <a:lnSpc>
                <a:spcPct val="100000"/>
              </a:lnSpc>
              <a:spcBef>
                <a:spcPts val="400"/>
              </a:spcBef>
              <a:spcAft>
                <a:spcPts val="0"/>
              </a:spcAft>
              <a:buSzPts val="2000"/>
              <a:buChar char="●"/>
            </a:pPr>
            <a:r>
              <a:rPr lang="en" sz="2000"/>
              <a:t>Bi-directional</a:t>
            </a:r>
            <a:endParaRPr sz="2000"/>
          </a:p>
          <a:p>
            <a:pPr marL="457200" lvl="0" indent="-355600" algn="l" rtl="0">
              <a:lnSpc>
                <a:spcPct val="100000"/>
              </a:lnSpc>
              <a:spcBef>
                <a:spcPts val="400"/>
              </a:spcBef>
              <a:spcAft>
                <a:spcPts val="0"/>
              </a:spcAft>
              <a:buSzPts val="2000"/>
              <a:buChar char="●"/>
            </a:pPr>
            <a:r>
              <a:rPr lang="en" sz="2000"/>
              <a:t>Reliable</a:t>
            </a:r>
            <a:endParaRPr sz="2000"/>
          </a:p>
          <a:p>
            <a:pPr marL="457200" lvl="0" indent="-355600" algn="l" rtl="0">
              <a:lnSpc>
                <a:spcPct val="100000"/>
              </a:lnSpc>
              <a:spcBef>
                <a:spcPts val="400"/>
              </a:spcBef>
              <a:spcAft>
                <a:spcPts val="0"/>
              </a:spcAft>
              <a:buSzPts val="2000"/>
              <a:buChar char="●"/>
            </a:pPr>
            <a:r>
              <a:rPr lang="en" sz="2000"/>
              <a:t>In-order</a:t>
            </a:r>
            <a:endParaRPr sz="2000"/>
          </a:p>
        </p:txBody>
      </p:sp>
      <p:grpSp>
        <p:nvGrpSpPr>
          <p:cNvPr id="645" name="Google Shape;645;g36aa5e117e9_3_1025"/>
          <p:cNvGrpSpPr/>
          <p:nvPr/>
        </p:nvGrpSpPr>
        <p:grpSpPr>
          <a:xfrm>
            <a:off x="4205142" y="1161989"/>
            <a:ext cx="4769065" cy="3607445"/>
            <a:chOff x="3942821" y="671513"/>
            <a:chExt cx="4946650" cy="4114800"/>
          </a:xfrm>
        </p:grpSpPr>
        <p:sp>
          <p:nvSpPr>
            <p:cNvPr id="646" name="Google Shape;646;g36aa5e117e9_3_1025"/>
            <p:cNvSpPr/>
            <p:nvPr/>
          </p:nvSpPr>
          <p:spPr>
            <a:xfrm>
              <a:off x="4012671" y="671513"/>
              <a:ext cx="2362200" cy="5334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7" name="Google Shape;647;g36aa5e117e9_3_1025"/>
            <p:cNvSpPr/>
            <p:nvPr/>
          </p:nvSpPr>
          <p:spPr>
            <a:xfrm>
              <a:off x="6374871" y="671513"/>
              <a:ext cx="2514600" cy="5334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8" name="Google Shape;648;g36aa5e117e9_3_1025"/>
            <p:cNvSpPr txBox="1"/>
            <p:nvPr/>
          </p:nvSpPr>
          <p:spPr>
            <a:xfrm>
              <a:off x="6527271" y="717551"/>
              <a:ext cx="19638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Destination port</a:t>
              </a:r>
              <a:endParaRPr sz="1400" b="0" i="0" u="none" strike="noStrike" cap="none">
                <a:solidFill>
                  <a:srgbClr val="000000"/>
                </a:solidFill>
                <a:latin typeface="Roboto"/>
                <a:ea typeface="Roboto"/>
                <a:cs typeface="Roboto"/>
                <a:sym typeface="Roboto"/>
              </a:endParaRPr>
            </a:p>
          </p:txBody>
        </p:sp>
        <p:sp>
          <p:nvSpPr>
            <p:cNvPr id="649" name="Google Shape;649;g36aa5e117e9_3_1025"/>
            <p:cNvSpPr/>
            <p:nvPr/>
          </p:nvSpPr>
          <p:spPr>
            <a:xfrm>
              <a:off x="4012671" y="1204913"/>
              <a:ext cx="4876800" cy="4572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0" name="Google Shape;650;g36aa5e117e9_3_1025"/>
            <p:cNvSpPr txBox="1"/>
            <p:nvPr/>
          </p:nvSpPr>
          <p:spPr>
            <a:xfrm>
              <a:off x="5308066" y="1250943"/>
              <a:ext cx="30021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Sequence Number number</a:t>
              </a:r>
              <a:endParaRPr sz="1400" b="0" i="0" u="none" strike="noStrike" cap="none">
                <a:solidFill>
                  <a:srgbClr val="000000"/>
                </a:solidFill>
                <a:latin typeface="Roboto"/>
                <a:ea typeface="Roboto"/>
                <a:cs typeface="Roboto"/>
                <a:sym typeface="Roboto"/>
              </a:endParaRPr>
            </a:p>
          </p:txBody>
        </p:sp>
        <p:sp>
          <p:nvSpPr>
            <p:cNvPr id="651" name="Google Shape;651;g36aa5e117e9_3_1025"/>
            <p:cNvSpPr/>
            <p:nvPr/>
          </p:nvSpPr>
          <p:spPr>
            <a:xfrm>
              <a:off x="4012671" y="1662113"/>
              <a:ext cx="4876800" cy="4572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2" name="Google Shape;652;g36aa5e117e9_3_1025"/>
            <p:cNvSpPr txBox="1"/>
            <p:nvPr/>
          </p:nvSpPr>
          <p:spPr>
            <a:xfrm>
              <a:off x="5308064" y="1708140"/>
              <a:ext cx="28683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Acknowledgment</a:t>
              </a:r>
              <a:endParaRPr sz="1400" b="0" i="0" u="none" strike="noStrike" cap="none">
                <a:solidFill>
                  <a:srgbClr val="000000"/>
                </a:solidFill>
                <a:latin typeface="Roboto"/>
                <a:ea typeface="Roboto"/>
                <a:cs typeface="Roboto"/>
                <a:sym typeface="Roboto"/>
              </a:endParaRPr>
            </a:p>
          </p:txBody>
        </p:sp>
        <p:sp>
          <p:nvSpPr>
            <p:cNvPr id="653" name="Google Shape;653;g36aa5e117e9_3_1025"/>
            <p:cNvSpPr/>
            <p:nvPr/>
          </p:nvSpPr>
          <p:spPr>
            <a:xfrm>
              <a:off x="4012671" y="2119313"/>
              <a:ext cx="2438400" cy="5334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4" name="Google Shape;654;g36aa5e117e9_3_1025"/>
            <p:cNvSpPr/>
            <p:nvPr/>
          </p:nvSpPr>
          <p:spPr>
            <a:xfrm>
              <a:off x="6451071" y="2119313"/>
              <a:ext cx="2438400" cy="5334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5" name="Google Shape;655;g36aa5e117e9_3_1025"/>
            <p:cNvSpPr txBox="1"/>
            <p:nvPr/>
          </p:nvSpPr>
          <p:spPr>
            <a:xfrm>
              <a:off x="6437124" y="2192342"/>
              <a:ext cx="2438400" cy="39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Advertised window</a:t>
              </a:r>
              <a:endParaRPr sz="1400" b="0" i="0" u="none" strike="noStrike" cap="none">
                <a:solidFill>
                  <a:srgbClr val="000000"/>
                </a:solidFill>
                <a:latin typeface="Roboto"/>
                <a:ea typeface="Roboto"/>
                <a:cs typeface="Roboto"/>
                <a:sym typeface="Roboto"/>
              </a:endParaRPr>
            </a:p>
          </p:txBody>
        </p:sp>
        <p:sp>
          <p:nvSpPr>
            <p:cNvPr id="656" name="Google Shape;656;g36aa5e117e9_3_1025"/>
            <p:cNvSpPr txBox="1"/>
            <p:nvPr/>
          </p:nvSpPr>
          <p:spPr>
            <a:xfrm>
              <a:off x="3942821" y="2195513"/>
              <a:ext cx="1066800" cy="39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HdrLen</a:t>
              </a:r>
              <a:endParaRPr sz="1400" b="0" i="0" u="none" strike="noStrike" cap="none">
                <a:solidFill>
                  <a:srgbClr val="000000"/>
                </a:solidFill>
                <a:latin typeface="Roboto"/>
                <a:ea typeface="Roboto"/>
                <a:cs typeface="Roboto"/>
                <a:sym typeface="Roboto"/>
              </a:endParaRPr>
            </a:p>
          </p:txBody>
        </p:sp>
        <p:cxnSp>
          <p:nvCxnSpPr>
            <p:cNvPr id="657" name="Google Shape;657;g36aa5e117e9_3_1025"/>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658" name="Google Shape;658;g36aa5e117e9_3_1025"/>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659" name="Google Shape;659;g36aa5e117e9_3_1025"/>
            <p:cNvSpPr txBox="1"/>
            <p:nvPr/>
          </p:nvSpPr>
          <p:spPr>
            <a:xfrm>
              <a:off x="5466413" y="2206629"/>
              <a:ext cx="9354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Flags</a:t>
              </a:r>
              <a:endParaRPr sz="1400" b="0" i="0" u="none" strike="noStrike" cap="none">
                <a:solidFill>
                  <a:srgbClr val="000000"/>
                </a:solidFill>
                <a:latin typeface="Roboto"/>
                <a:ea typeface="Roboto"/>
                <a:cs typeface="Roboto"/>
                <a:sym typeface="Roboto"/>
              </a:endParaRPr>
            </a:p>
          </p:txBody>
        </p:sp>
        <p:sp>
          <p:nvSpPr>
            <p:cNvPr id="660" name="Google Shape;660;g36aa5e117e9_3_1025"/>
            <p:cNvSpPr txBox="1"/>
            <p:nvPr/>
          </p:nvSpPr>
          <p:spPr>
            <a:xfrm>
              <a:off x="4992925" y="2180413"/>
              <a:ext cx="3255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0</a:t>
              </a:r>
              <a:endParaRPr sz="1400" b="0" i="0" u="none" strike="noStrike" cap="none">
                <a:solidFill>
                  <a:srgbClr val="000000"/>
                </a:solidFill>
                <a:latin typeface="Roboto"/>
                <a:ea typeface="Roboto"/>
                <a:cs typeface="Roboto"/>
                <a:sym typeface="Roboto"/>
              </a:endParaRPr>
            </a:p>
          </p:txBody>
        </p:sp>
        <p:sp>
          <p:nvSpPr>
            <p:cNvPr id="661" name="Google Shape;661;g36aa5e117e9_3_1025"/>
            <p:cNvSpPr/>
            <p:nvPr/>
          </p:nvSpPr>
          <p:spPr>
            <a:xfrm>
              <a:off x="4012671" y="2652713"/>
              <a:ext cx="2438400" cy="5334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2" name="Google Shape;662;g36aa5e117e9_3_1025"/>
            <p:cNvSpPr/>
            <p:nvPr/>
          </p:nvSpPr>
          <p:spPr>
            <a:xfrm>
              <a:off x="6451071" y="2652713"/>
              <a:ext cx="2438400" cy="5334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3" name="Google Shape;663;g36aa5e117e9_3_1025"/>
            <p:cNvSpPr txBox="1"/>
            <p:nvPr/>
          </p:nvSpPr>
          <p:spPr>
            <a:xfrm>
              <a:off x="4377794" y="2740021"/>
              <a:ext cx="16953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Checksum</a:t>
              </a:r>
              <a:endParaRPr sz="1400" b="0" i="0" u="none" strike="noStrike" cap="none">
                <a:solidFill>
                  <a:srgbClr val="000000"/>
                </a:solidFill>
                <a:latin typeface="Roboto"/>
                <a:ea typeface="Roboto"/>
                <a:cs typeface="Roboto"/>
                <a:sym typeface="Roboto"/>
              </a:endParaRPr>
            </a:p>
          </p:txBody>
        </p:sp>
        <p:sp>
          <p:nvSpPr>
            <p:cNvPr id="664" name="Google Shape;664;g36aa5e117e9_3_1025"/>
            <p:cNvSpPr txBox="1"/>
            <p:nvPr/>
          </p:nvSpPr>
          <p:spPr>
            <a:xfrm>
              <a:off x="7209814" y="2720972"/>
              <a:ext cx="10668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Urgent pointer</a:t>
              </a:r>
              <a:endParaRPr sz="1400" b="0" i="0" u="none" strike="noStrike" cap="none">
                <a:solidFill>
                  <a:srgbClr val="000000"/>
                </a:solidFill>
                <a:latin typeface="Roboto"/>
                <a:ea typeface="Roboto"/>
                <a:cs typeface="Roboto"/>
                <a:sym typeface="Roboto"/>
              </a:endParaRPr>
            </a:p>
          </p:txBody>
        </p:sp>
        <p:sp>
          <p:nvSpPr>
            <p:cNvPr id="665" name="Google Shape;665;g36aa5e117e9_3_1025"/>
            <p:cNvSpPr/>
            <p:nvPr/>
          </p:nvSpPr>
          <p:spPr>
            <a:xfrm>
              <a:off x="4012671" y="3186113"/>
              <a:ext cx="4876800" cy="4572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6" name="Google Shape;666;g36aa5e117e9_3_1025"/>
            <p:cNvSpPr txBox="1"/>
            <p:nvPr/>
          </p:nvSpPr>
          <p:spPr>
            <a:xfrm>
              <a:off x="5975916" y="3235316"/>
              <a:ext cx="1233900" cy="396900"/>
            </a:xfrm>
            <a:prstGeom prst="rect">
              <a:avLst/>
            </a:prstGeom>
            <a:solidFill>
              <a:srgbClr val="CC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Options (variable)</a:t>
              </a:r>
              <a:endParaRPr sz="1400" b="0" i="0" u="none" strike="noStrike" cap="none">
                <a:solidFill>
                  <a:srgbClr val="000000"/>
                </a:solidFill>
                <a:latin typeface="Roboto"/>
                <a:ea typeface="Roboto"/>
                <a:cs typeface="Roboto"/>
                <a:sym typeface="Roboto"/>
              </a:endParaRPr>
            </a:p>
          </p:txBody>
        </p:sp>
        <p:sp>
          <p:nvSpPr>
            <p:cNvPr id="667" name="Google Shape;667;g36aa5e117e9_3_1025"/>
            <p:cNvSpPr/>
            <p:nvPr/>
          </p:nvSpPr>
          <p:spPr>
            <a:xfrm>
              <a:off x="4012671" y="3643313"/>
              <a:ext cx="4876800" cy="1143000"/>
            </a:xfrm>
            <a:prstGeom prst="rect">
              <a:avLst/>
            </a:prstGeom>
            <a:solidFill>
              <a:schemeClr val="hlink"/>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668" name="Google Shape;668;g36aa5e117e9_3_1025"/>
          <p:cNvSpPr txBox="1"/>
          <p:nvPr/>
        </p:nvSpPr>
        <p:spPr>
          <a:xfrm>
            <a:off x="4353350" y="1214850"/>
            <a:ext cx="2097000" cy="348000"/>
          </a:xfrm>
          <a:prstGeom prst="rect">
            <a:avLst/>
          </a:prstGeom>
          <a:solidFill>
            <a:srgbClr val="CC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Roboto"/>
                <a:ea typeface="Roboto"/>
                <a:cs typeface="Roboto"/>
                <a:sym typeface="Roboto"/>
              </a:rPr>
              <a:t>Source port</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g36aa5e117e9_3_1054"/>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Header</a:t>
            </a:r>
            <a:endParaRPr/>
          </a:p>
        </p:txBody>
      </p:sp>
      <p:sp>
        <p:nvSpPr>
          <p:cNvPr id="674" name="Google Shape;674;g36aa5e117e9_3_1054"/>
          <p:cNvSpPr txBox="1">
            <a:spLocks noGrp="1"/>
          </p:cNvSpPr>
          <p:nvPr>
            <p:ph type="body" idx="1"/>
          </p:nvPr>
        </p:nvSpPr>
        <p:spPr>
          <a:xfrm>
            <a:off x="107050" y="402200"/>
            <a:ext cx="4007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Host port numbers</a:t>
            </a:r>
            <a:endParaRPr sz="2000"/>
          </a:p>
          <a:p>
            <a:pPr marL="914400" lvl="1" indent="-355600" algn="l" rtl="0">
              <a:lnSpc>
                <a:spcPct val="100000"/>
              </a:lnSpc>
              <a:spcBef>
                <a:spcPts val="400"/>
              </a:spcBef>
              <a:spcAft>
                <a:spcPts val="0"/>
              </a:spcAft>
              <a:buSzPts val="2000"/>
              <a:buChar char="○"/>
            </a:pPr>
            <a:r>
              <a:rPr lang="en" sz="2000"/>
              <a:t>Multiplexing and demultiplexing</a:t>
            </a:r>
            <a:endParaRPr sz="2000"/>
          </a:p>
          <a:p>
            <a:pPr marL="914400" lvl="1" indent="-355600" algn="l" rtl="0">
              <a:lnSpc>
                <a:spcPct val="100000"/>
              </a:lnSpc>
              <a:spcBef>
                <a:spcPts val="400"/>
              </a:spcBef>
              <a:spcAft>
                <a:spcPts val="0"/>
              </a:spcAft>
              <a:buSzPts val="2000"/>
              <a:buChar char="○"/>
            </a:pPr>
            <a:r>
              <a:rPr lang="en" sz="2000"/>
              <a:t>16 bits</a:t>
            </a:r>
            <a:endParaRPr sz="2000"/>
          </a:p>
          <a:p>
            <a:pPr marL="0" lvl="0" indent="0" algn="l" rtl="0">
              <a:lnSpc>
                <a:spcPct val="100000"/>
              </a:lnSpc>
              <a:spcBef>
                <a:spcPts val="400"/>
              </a:spcBef>
              <a:spcAft>
                <a:spcPts val="0"/>
              </a:spcAft>
              <a:buSzPts val="1800"/>
              <a:buNone/>
            </a:pPr>
            <a:endParaRPr sz="2000"/>
          </a:p>
          <a:p>
            <a:pPr marL="457200" lvl="0" indent="-355600" algn="l" rtl="0">
              <a:lnSpc>
                <a:spcPct val="100000"/>
              </a:lnSpc>
              <a:spcBef>
                <a:spcPts val="400"/>
              </a:spcBef>
              <a:spcAft>
                <a:spcPts val="0"/>
              </a:spcAft>
              <a:buSzPts val="2000"/>
              <a:buChar char="●"/>
            </a:pPr>
            <a:r>
              <a:rPr lang="en" sz="2000"/>
              <a:t>But wait - why no address?!</a:t>
            </a:r>
            <a:endParaRPr sz="2000"/>
          </a:p>
          <a:p>
            <a:pPr marL="914400" lvl="1" indent="-355600" algn="l" rtl="0">
              <a:lnSpc>
                <a:spcPct val="100000"/>
              </a:lnSpc>
              <a:spcBef>
                <a:spcPts val="400"/>
              </a:spcBef>
              <a:spcAft>
                <a:spcPts val="0"/>
              </a:spcAft>
              <a:buSzPts val="2000"/>
              <a:buChar char="○"/>
            </a:pPr>
            <a:r>
              <a:rPr lang="en" sz="2000"/>
              <a:t>IP header has address.</a:t>
            </a:r>
            <a:endParaRPr sz="2000"/>
          </a:p>
          <a:p>
            <a:pPr marL="0" lvl="0" indent="0" algn="l" rtl="0">
              <a:lnSpc>
                <a:spcPct val="100000"/>
              </a:lnSpc>
              <a:spcBef>
                <a:spcPts val="400"/>
              </a:spcBef>
              <a:spcAft>
                <a:spcPts val="0"/>
              </a:spcAft>
              <a:buSzPts val="1800"/>
              <a:buNone/>
            </a:pPr>
            <a:endParaRPr sz="2000"/>
          </a:p>
        </p:txBody>
      </p:sp>
      <p:grpSp>
        <p:nvGrpSpPr>
          <p:cNvPr id="675" name="Google Shape;675;g36aa5e117e9_3_1054"/>
          <p:cNvGrpSpPr/>
          <p:nvPr/>
        </p:nvGrpSpPr>
        <p:grpSpPr>
          <a:xfrm>
            <a:off x="4272485" y="1161989"/>
            <a:ext cx="4701723" cy="3607445"/>
            <a:chOff x="4012671" y="671513"/>
            <a:chExt cx="4876800" cy="4114800"/>
          </a:xfrm>
        </p:grpSpPr>
        <p:sp>
          <p:nvSpPr>
            <p:cNvPr id="676" name="Google Shape;676;g36aa5e117e9_3_1054"/>
            <p:cNvSpPr/>
            <p:nvPr/>
          </p:nvSpPr>
          <p:spPr>
            <a:xfrm>
              <a:off x="4012671" y="671513"/>
              <a:ext cx="23622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Source port</a:t>
              </a:r>
              <a:endParaRPr sz="1800" b="0" i="0" u="none" strike="noStrike" cap="none">
                <a:solidFill>
                  <a:schemeClr val="dk1"/>
                </a:solidFill>
                <a:latin typeface="Roboto"/>
                <a:ea typeface="Roboto"/>
                <a:cs typeface="Roboto"/>
                <a:sym typeface="Roboto"/>
              </a:endParaRPr>
            </a:p>
          </p:txBody>
        </p:sp>
        <p:sp>
          <p:nvSpPr>
            <p:cNvPr id="677" name="Google Shape;677;g36aa5e117e9_3_1054"/>
            <p:cNvSpPr/>
            <p:nvPr/>
          </p:nvSpPr>
          <p:spPr>
            <a:xfrm>
              <a:off x="6374871" y="671513"/>
              <a:ext cx="25146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Destination port</a:t>
              </a:r>
              <a:endParaRPr sz="1800" b="0" i="0" u="none" strike="noStrike" cap="none">
                <a:solidFill>
                  <a:schemeClr val="dk1"/>
                </a:solidFill>
                <a:latin typeface="Roboto"/>
                <a:ea typeface="Roboto"/>
                <a:cs typeface="Roboto"/>
                <a:sym typeface="Roboto"/>
              </a:endParaRPr>
            </a:p>
          </p:txBody>
        </p:sp>
        <p:sp>
          <p:nvSpPr>
            <p:cNvPr id="678" name="Google Shape;678;g36aa5e117e9_3_1054"/>
            <p:cNvSpPr/>
            <p:nvPr/>
          </p:nvSpPr>
          <p:spPr>
            <a:xfrm>
              <a:off x="4012671" y="1204913"/>
              <a:ext cx="4876800" cy="457200"/>
            </a:xfrm>
            <a:prstGeom prst="rect">
              <a:avLst/>
            </a:prstGeom>
            <a:solidFill>
              <a:srgbClr val="C9DAF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Sequence Number</a:t>
              </a:r>
              <a:endParaRPr sz="1800" b="0" i="0" u="none" strike="noStrike" cap="none">
                <a:solidFill>
                  <a:schemeClr val="dk1"/>
                </a:solidFill>
                <a:latin typeface="Roboto"/>
                <a:ea typeface="Roboto"/>
                <a:cs typeface="Roboto"/>
                <a:sym typeface="Roboto"/>
              </a:endParaRPr>
            </a:p>
          </p:txBody>
        </p:sp>
        <p:sp>
          <p:nvSpPr>
            <p:cNvPr id="679" name="Google Shape;679;g36aa5e117e9_3_1054"/>
            <p:cNvSpPr/>
            <p:nvPr/>
          </p:nvSpPr>
          <p:spPr>
            <a:xfrm>
              <a:off x="4012671" y="1662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Acknowledgement Number</a:t>
              </a:r>
              <a:endParaRPr sz="1800" b="0" i="0" u="none" strike="noStrike" cap="none">
                <a:solidFill>
                  <a:schemeClr val="dk1"/>
                </a:solidFill>
                <a:latin typeface="Roboto"/>
                <a:ea typeface="Roboto"/>
                <a:cs typeface="Roboto"/>
                <a:sym typeface="Roboto"/>
              </a:endParaRPr>
            </a:p>
          </p:txBody>
        </p:sp>
        <p:sp>
          <p:nvSpPr>
            <p:cNvPr id="680" name="Google Shape;680;g36aa5e117e9_3_1054"/>
            <p:cNvSpPr/>
            <p:nvPr/>
          </p:nvSpPr>
          <p:spPr>
            <a:xfrm>
              <a:off x="40126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HdrLen   0      Flags</a:t>
              </a:r>
              <a:endParaRPr sz="1800" b="0" i="0" u="none" strike="noStrike" cap="none">
                <a:solidFill>
                  <a:schemeClr val="dk1"/>
                </a:solidFill>
                <a:latin typeface="Roboto"/>
                <a:ea typeface="Roboto"/>
                <a:cs typeface="Roboto"/>
                <a:sym typeface="Roboto"/>
              </a:endParaRPr>
            </a:p>
          </p:txBody>
        </p:sp>
        <p:sp>
          <p:nvSpPr>
            <p:cNvPr id="681" name="Google Shape;681;g36aa5e117e9_3_1054"/>
            <p:cNvSpPr/>
            <p:nvPr/>
          </p:nvSpPr>
          <p:spPr>
            <a:xfrm>
              <a:off x="64510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Advertised window</a:t>
              </a:r>
              <a:endParaRPr sz="1800" b="0" i="0" u="none" strike="noStrike" cap="none">
                <a:solidFill>
                  <a:schemeClr val="dk1"/>
                </a:solidFill>
                <a:latin typeface="Roboto"/>
                <a:ea typeface="Roboto"/>
                <a:cs typeface="Roboto"/>
                <a:sym typeface="Roboto"/>
              </a:endParaRPr>
            </a:p>
          </p:txBody>
        </p:sp>
        <p:cxnSp>
          <p:nvCxnSpPr>
            <p:cNvPr id="682" name="Google Shape;682;g36aa5e117e9_3_1054"/>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683" name="Google Shape;683;g36aa5e117e9_3_1054"/>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684" name="Google Shape;684;g36aa5e117e9_3_1054"/>
            <p:cNvSpPr/>
            <p:nvPr/>
          </p:nvSpPr>
          <p:spPr>
            <a:xfrm>
              <a:off x="40126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Checksum</a:t>
              </a:r>
              <a:endParaRPr sz="1800" b="0" i="0" u="none" strike="noStrike" cap="none">
                <a:solidFill>
                  <a:schemeClr val="dk1"/>
                </a:solidFill>
                <a:latin typeface="Roboto"/>
                <a:ea typeface="Roboto"/>
                <a:cs typeface="Roboto"/>
                <a:sym typeface="Roboto"/>
              </a:endParaRPr>
            </a:p>
          </p:txBody>
        </p:sp>
        <p:sp>
          <p:nvSpPr>
            <p:cNvPr id="685" name="Google Shape;685;g36aa5e117e9_3_1054"/>
            <p:cNvSpPr/>
            <p:nvPr/>
          </p:nvSpPr>
          <p:spPr>
            <a:xfrm>
              <a:off x="64510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Urgent</a:t>
              </a:r>
              <a:endParaRPr sz="1800" b="0" i="0" u="none" strike="noStrike" cap="none">
                <a:solidFill>
                  <a:schemeClr val="dk1"/>
                </a:solidFill>
                <a:latin typeface="Roboto"/>
                <a:ea typeface="Roboto"/>
                <a:cs typeface="Roboto"/>
                <a:sym typeface="Roboto"/>
              </a:endParaRPr>
            </a:p>
          </p:txBody>
        </p:sp>
        <p:sp>
          <p:nvSpPr>
            <p:cNvPr id="686" name="Google Shape;686;g36aa5e117e9_3_1054"/>
            <p:cNvSpPr/>
            <p:nvPr/>
          </p:nvSpPr>
          <p:spPr>
            <a:xfrm>
              <a:off x="4012671" y="3186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Options</a:t>
              </a:r>
              <a:endParaRPr sz="1800" b="0" i="0" u="none" strike="noStrike" cap="none">
                <a:solidFill>
                  <a:schemeClr val="dk1"/>
                </a:solidFill>
                <a:latin typeface="Roboto"/>
                <a:ea typeface="Roboto"/>
                <a:cs typeface="Roboto"/>
                <a:sym typeface="Roboto"/>
              </a:endParaRPr>
            </a:p>
          </p:txBody>
        </p:sp>
        <p:sp>
          <p:nvSpPr>
            <p:cNvPr id="687" name="Google Shape;687;g36aa5e117e9_3_1054"/>
            <p:cNvSpPr/>
            <p:nvPr/>
          </p:nvSpPr>
          <p:spPr>
            <a:xfrm>
              <a:off x="4012671" y="3643313"/>
              <a:ext cx="4876800" cy="1143000"/>
            </a:xfrm>
            <a:prstGeom prst="rect">
              <a:avLst/>
            </a:prstGeom>
            <a:solidFill>
              <a:srgbClr val="38761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688" name="Google Shape;688;g36aa5e117e9_3_1054"/>
          <p:cNvSpPr/>
          <p:nvPr/>
        </p:nvSpPr>
        <p:spPr>
          <a:xfrm>
            <a:off x="4273138" y="1162000"/>
            <a:ext cx="4700400" cy="4770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689" name="Google Shape;689;g36aa5e117e9_3_1054"/>
          <p:cNvSpPr/>
          <p:nvPr/>
        </p:nvSpPr>
        <p:spPr>
          <a:xfrm>
            <a:off x="4253950" y="1659825"/>
            <a:ext cx="4720200" cy="31095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g36aa5e117e9_3_108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Header</a:t>
            </a:r>
            <a:endParaRPr/>
          </a:p>
        </p:txBody>
      </p:sp>
      <p:sp>
        <p:nvSpPr>
          <p:cNvPr id="695" name="Google Shape;695;g36aa5e117e9_3_1088"/>
          <p:cNvSpPr txBox="1">
            <a:spLocks noGrp="1"/>
          </p:cNvSpPr>
          <p:nvPr>
            <p:ph type="body" idx="1"/>
          </p:nvPr>
        </p:nvSpPr>
        <p:spPr>
          <a:xfrm>
            <a:off x="107050" y="402200"/>
            <a:ext cx="4007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Byte offset</a:t>
            </a:r>
            <a:endParaRPr sz="2000"/>
          </a:p>
          <a:p>
            <a:pPr marL="914400" lvl="1" indent="-355600" algn="l" rtl="0">
              <a:lnSpc>
                <a:spcPct val="100000"/>
              </a:lnSpc>
              <a:spcBef>
                <a:spcPts val="400"/>
              </a:spcBef>
              <a:spcAft>
                <a:spcPts val="0"/>
              </a:spcAft>
              <a:buSzPts val="2000"/>
              <a:buChar char="○"/>
            </a:pPr>
            <a:r>
              <a:rPr lang="en" sz="2000"/>
              <a:t>Of first payload byte</a:t>
            </a:r>
            <a:endParaRPr sz="2000"/>
          </a:p>
          <a:p>
            <a:pPr marL="914400" lvl="1" indent="-355600" algn="l" rtl="0">
              <a:lnSpc>
                <a:spcPct val="100000"/>
              </a:lnSpc>
              <a:spcBef>
                <a:spcPts val="400"/>
              </a:spcBef>
              <a:spcAft>
                <a:spcPts val="0"/>
              </a:spcAft>
              <a:buSzPts val="2000"/>
              <a:buChar char="○"/>
            </a:pPr>
            <a:r>
              <a:rPr lang="en" sz="2000"/>
              <a:t>Initialized randomly</a:t>
            </a:r>
            <a:endParaRPr sz="2000"/>
          </a:p>
          <a:p>
            <a:pPr marL="0" lvl="0" indent="0" algn="l" rtl="0">
              <a:lnSpc>
                <a:spcPct val="100000"/>
              </a:lnSpc>
              <a:spcBef>
                <a:spcPts val="400"/>
              </a:spcBef>
              <a:spcAft>
                <a:spcPts val="0"/>
              </a:spcAft>
              <a:buSzPts val="1800"/>
              <a:buNone/>
            </a:pPr>
            <a:endParaRPr sz="2000"/>
          </a:p>
          <a:p>
            <a:pPr marL="457200" lvl="0" indent="-355600" algn="l" rtl="0">
              <a:lnSpc>
                <a:spcPct val="100000"/>
              </a:lnSpc>
              <a:spcBef>
                <a:spcPts val="400"/>
              </a:spcBef>
              <a:spcAft>
                <a:spcPts val="0"/>
              </a:spcAft>
              <a:buSzPts val="2000"/>
              <a:buChar char="●"/>
            </a:pPr>
            <a:r>
              <a:rPr lang="en" sz="2000" b="1"/>
              <a:t>Byte Stream Protocol</a:t>
            </a:r>
            <a:endParaRPr sz="2000" b="1"/>
          </a:p>
          <a:p>
            <a:pPr marL="914400" lvl="1" indent="-355600" algn="l" rtl="0">
              <a:lnSpc>
                <a:spcPct val="100000"/>
              </a:lnSpc>
              <a:spcBef>
                <a:spcPts val="400"/>
              </a:spcBef>
              <a:spcAft>
                <a:spcPts val="0"/>
              </a:spcAft>
              <a:buSzPts val="2000"/>
              <a:buChar char="○"/>
            </a:pPr>
            <a:r>
              <a:rPr lang="en" sz="2000"/>
              <a:t>Seq # refers to </a:t>
            </a:r>
            <a:r>
              <a:rPr lang="en" sz="2000" b="1"/>
              <a:t>bytes</a:t>
            </a:r>
            <a:endParaRPr sz="2000" b="1"/>
          </a:p>
          <a:p>
            <a:pPr marL="0" lvl="0" indent="0" algn="l" rtl="0">
              <a:lnSpc>
                <a:spcPct val="100000"/>
              </a:lnSpc>
              <a:spcBef>
                <a:spcPts val="400"/>
              </a:spcBef>
              <a:spcAft>
                <a:spcPts val="0"/>
              </a:spcAft>
              <a:buSzPts val="1800"/>
              <a:buNone/>
            </a:pPr>
            <a:endParaRPr sz="2000"/>
          </a:p>
        </p:txBody>
      </p:sp>
      <p:grpSp>
        <p:nvGrpSpPr>
          <p:cNvPr id="696" name="Google Shape;696;g36aa5e117e9_3_1088"/>
          <p:cNvGrpSpPr/>
          <p:nvPr/>
        </p:nvGrpSpPr>
        <p:grpSpPr>
          <a:xfrm>
            <a:off x="4272485" y="1161989"/>
            <a:ext cx="4701723" cy="3607445"/>
            <a:chOff x="4012671" y="671513"/>
            <a:chExt cx="4876800" cy="4114800"/>
          </a:xfrm>
        </p:grpSpPr>
        <p:sp>
          <p:nvSpPr>
            <p:cNvPr id="697" name="Google Shape;697;g36aa5e117e9_3_1088"/>
            <p:cNvSpPr/>
            <p:nvPr/>
          </p:nvSpPr>
          <p:spPr>
            <a:xfrm>
              <a:off x="4012671" y="671513"/>
              <a:ext cx="23622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Source port</a:t>
              </a:r>
              <a:endParaRPr sz="1800" b="0" i="0" u="none" strike="noStrike" cap="none">
                <a:solidFill>
                  <a:schemeClr val="dk1"/>
                </a:solidFill>
                <a:latin typeface="Roboto"/>
                <a:ea typeface="Roboto"/>
                <a:cs typeface="Roboto"/>
                <a:sym typeface="Roboto"/>
              </a:endParaRPr>
            </a:p>
          </p:txBody>
        </p:sp>
        <p:sp>
          <p:nvSpPr>
            <p:cNvPr id="698" name="Google Shape;698;g36aa5e117e9_3_1088"/>
            <p:cNvSpPr/>
            <p:nvPr/>
          </p:nvSpPr>
          <p:spPr>
            <a:xfrm>
              <a:off x="6374871" y="671513"/>
              <a:ext cx="25146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Destination port</a:t>
              </a:r>
              <a:endParaRPr sz="1800" b="0" i="0" u="none" strike="noStrike" cap="none">
                <a:solidFill>
                  <a:schemeClr val="dk1"/>
                </a:solidFill>
                <a:latin typeface="Roboto"/>
                <a:ea typeface="Roboto"/>
                <a:cs typeface="Roboto"/>
                <a:sym typeface="Roboto"/>
              </a:endParaRPr>
            </a:p>
          </p:txBody>
        </p:sp>
        <p:sp>
          <p:nvSpPr>
            <p:cNvPr id="699" name="Google Shape;699;g36aa5e117e9_3_1088"/>
            <p:cNvSpPr/>
            <p:nvPr/>
          </p:nvSpPr>
          <p:spPr>
            <a:xfrm>
              <a:off x="4012671" y="1204913"/>
              <a:ext cx="4876800" cy="457200"/>
            </a:xfrm>
            <a:prstGeom prst="rect">
              <a:avLst/>
            </a:prstGeom>
            <a:solidFill>
              <a:srgbClr val="C9DAF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Sequence Number</a:t>
              </a:r>
              <a:endParaRPr sz="1800" b="0" i="0" u="none" strike="noStrike" cap="none">
                <a:solidFill>
                  <a:schemeClr val="dk1"/>
                </a:solidFill>
                <a:latin typeface="Roboto"/>
                <a:ea typeface="Roboto"/>
                <a:cs typeface="Roboto"/>
                <a:sym typeface="Roboto"/>
              </a:endParaRPr>
            </a:p>
          </p:txBody>
        </p:sp>
        <p:sp>
          <p:nvSpPr>
            <p:cNvPr id="700" name="Google Shape;700;g36aa5e117e9_3_1088"/>
            <p:cNvSpPr/>
            <p:nvPr/>
          </p:nvSpPr>
          <p:spPr>
            <a:xfrm>
              <a:off x="4012671" y="1662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Acknowledgement Number</a:t>
              </a:r>
              <a:endParaRPr sz="1800" b="0" i="0" u="none" strike="noStrike" cap="none">
                <a:solidFill>
                  <a:schemeClr val="dk1"/>
                </a:solidFill>
                <a:latin typeface="Roboto"/>
                <a:ea typeface="Roboto"/>
                <a:cs typeface="Roboto"/>
                <a:sym typeface="Roboto"/>
              </a:endParaRPr>
            </a:p>
          </p:txBody>
        </p:sp>
        <p:sp>
          <p:nvSpPr>
            <p:cNvPr id="701" name="Google Shape;701;g36aa5e117e9_3_1088"/>
            <p:cNvSpPr/>
            <p:nvPr/>
          </p:nvSpPr>
          <p:spPr>
            <a:xfrm>
              <a:off x="40126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HdrLen   0      Flags</a:t>
              </a:r>
              <a:endParaRPr sz="1800" b="0" i="0" u="none" strike="noStrike" cap="none">
                <a:solidFill>
                  <a:schemeClr val="dk1"/>
                </a:solidFill>
                <a:latin typeface="Roboto"/>
                <a:ea typeface="Roboto"/>
                <a:cs typeface="Roboto"/>
                <a:sym typeface="Roboto"/>
              </a:endParaRPr>
            </a:p>
          </p:txBody>
        </p:sp>
        <p:sp>
          <p:nvSpPr>
            <p:cNvPr id="702" name="Google Shape;702;g36aa5e117e9_3_1088"/>
            <p:cNvSpPr/>
            <p:nvPr/>
          </p:nvSpPr>
          <p:spPr>
            <a:xfrm>
              <a:off x="64510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Advertised window</a:t>
              </a:r>
              <a:endParaRPr sz="1800" b="0" i="0" u="none" strike="noStrike" cap="none">
                <a:solidFill>
                  <a:schemeClr val="dk1"/>
                </a:solidFill>
                <a:latin typeface="Roboto"/>
                <a:ea typeface="Roboto"/>
                <a:cs typeface="Roboto"/>
                <a:sym typeface="Roboto"/>
              </a:endParaRPr>
            </a:p>
          </p:txBody>
        </p:sp>
        <p:cxnSp>
          <p:nvCxnSpPr>
            <p:cNvPr id="703" name="Google Shape;703;g36aa5e117e9_3_1088"/>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704" name="Google Shape;704;g36aa5e117e9_3_1088"/>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705" name="Google Shape;705;g36aa5e117e9_3_1088"/>
            <p:cNvSpPr/>
            <p:nvPr/>
          </p:nvSpPr>
          <p:spPr>
            <a:xfrm>
              <a:off x="40126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Checksum</a:t>
              </a:r>
              <a:endParaRPr sz="1800" b="0" i="0" u="none" strike="noStrike" cap="none">
                <a:solidFill>
                  <a:schemeClr val="dk1"/>
                </a:solidFill>
                <a:latin typeface="Roboto"/>
                <a:ea typeface="Roboto"/>
                <a:cs typeface="Roboto"/>
                <a:sym typeface="Roboto"/>
              </a:endParaRPr>
            </a:p>
          </p:txBody>
        </p:sp>
        <p:sp>
          <p:nvSpPr>
            <p:cNvPr id="706" name="Google Shape;706;g36aa5e117e9_3_1088"/>
            <p:cNvSpPr/>
            <p:nvPr/>
          </p:nvSpPr>
          <p:spPr>
            <a:xfrm>
              <a:off x="64510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Urgent</a:t>
              </a:r>
              <a:endParaRPr sz="1800" b="0" i="0" u="none" strike="noStrike" cap="none">
                <a:solidFill>
                  <a:schemeClr val="dk1"/>
                </a:solidFill>
                <a:latin typeface="Roboto"/>
                <a:ea typeface="Roboto"/>
                <a:cs typeface="Roboto"/>
                <a:sym typeface="Roboto"/>
              </a:endParaRPr>
            </a:p>
          </p:txBody>
        </p:sp>
        <p:sp>
          <p:nvSpPr>
            <p:cNvPr id="707" name="Google Shape;707;g36aa5e117e9_3_1088"/>
            <p:cNvSpPr/>
            <p:nvPr/>
          </p:nvSpPr>
          <p:spPr>
            <a:xfrm>
              <a:off x="4012671" y="3186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Options</a:t>
              </a:r>
              <a:endParaRPr sz="1800" b="0" i="0" u="none" strike="noStrike" cap="none">
                <a:solidFill>
                  <a:schemeClr val="dk1"/>
                </a:solidFill>
                <a:latin typeface="Roboto"/>
                <a:ea typeface="Roboto"/>
                <a:cs typeface="Roboto"/>
                <a:sym typeface="Roboto"/>
              </a:endParaRPr>
            </a:p>
          </p:txBody>
        </p:sp>
        <p:sp>
          <p:nvSpPr>
            <p:cNvPr id="708" name="Google Shape;708;g36aa5e117e9_3_1088"/>
            <p:cNvSpPr/>
            <p:nvPr/>
          </p:nvSpPr>
          <p:spPr>
            <a:xfrm>
              <a:off x="4012671" y="3643313"/>
              <a:ext cx="4876800" cy="1143000"/>
            </a:xfrm>
            <a:prstGeom prst="rect">
              <a:avLst/>
            </a:prstGeom>
            <a:solidFill>
              <a:srgbClr val="38761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709" name="Google Shape;709;g36aa5e117e9_3_1088"/>
          <p:cNvSpPr/>
          <p:nvPr/>
        </p:nvSpPr>
        <p:spPr>
          <a:xfrm>
            <a:off x="4273125" y="1619200"/>
            <a:ext cx="4700400" cy="3936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10" name="Google Shape;710;g36aa5e117e9_3_1088"/>
          <p:cNvSpPr/>
          <p:nvPr/>
        </p:nvSpPr>
        <p:spPr>
          <a:xfrm>
            <a:off x="4253950" y="2047450"/>
            <a:ext cx="4720200" cy="27219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11" name="Google Shape;711;g36aa5e117e9_3_1088"/>
          <p:cNvSpPr/>
          <p:nvPr/>
        </p:nvSpPr>
        <p:spPr>
          <a:xfrm>
            <a:off x="4253950" y="1162000"/>
            <a:ext cx="4720200" cy="4368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36aa5e117e9_3_1109"/>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Header</a:t>
            </a:r>
            <a:endParaRPr/>
          </a:p>
        </p:txBody>
      </p:sp>
      <p:sp>
        <p:nvSpPr>
          <p:cNvPr id="717" name="Google Shape;717;g36aa5e117e9_3_1109"/>
          <p:cNvSpPr txBox="1">
            <a:spLocks noGrp="1"/>
          </p:cNvSpPr>
          <p:nvPr>
            <p:ph type="body" idx="1"/>
          </p:nvPr>
        </p:nvSpPr>
        <p:spPr>
          <a:xfrm>
            <a:off x="107050" y="402200"/>
            <a:ext cx="4007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Header length</a:t>
            </a:r>
            <a:endParaRPr sz="2000"/>
          </a:p>
          <a:p>
            <a:pPr marL="914400" lvl="1" indent="-355600" algn="l" rtl="0">
              <a:lnSpc>
                <a:spcPct val="100000"/>
              </a:lnSpc>
              <a:spcBef>
                <a:spcPts val="400"/>
              </a:spcBef>
              <a:spcAft>
                <a:spcPts val="0"/>
              </a:spcAft>
              <a:buSzPts val="2000"/>
              <a:buChar char="○"/>
            </a:pPr>
            <a:r>
              <a:rPr lang="en" sz="2000"/>
              <a:t>4 bits</a:t>
            </a:r>
            <a:endParaRPr sz="2000"/>
          </a:p>
          <a:p>
            <a:pPr marL="914400" lvl="1" indent="-355600" algn="l" rtl="0">
              <a:lnSpc>
                <a:spcPct val="100000"/>
              </a:lnSpc>
              <a:spcBef>
                <a:spcPts val="400"/>
              </a:spcBef>
              <a:spcAft>
                <a:spcPts val="0"/>
              </a:spcAft>
              <a:buSzPts val="2000"/>
              <a:buChar char="○"/>
            </a:pPr>
            <a:r>
              <a:rPr lang="en" sz="2000"/>
              <a:t>In 4-byte words</a:t>
            </a:r>
            <a:endParaRPr sz="2000"/>
          </a:p>
          <a:p>
            <a:pPr marL="457200" lvl="0" indent="-355600" algn="l" rtl="0">
              <a:lnSpc>
                <a:spcPct val="100000"/>
              </a:lnSpc>
              <a:spcBef>
                <a:spcPts val="400"/>
              </a:spcBef>
              <a:spcAft>
                <a:spcPts val="0"/>
              </a:spcAft>
              <a:buSzPts val="2000"/>
              <a:buChar char="●"/>
            </a:pPr>
            <a:r>
              <a:rPr lang="en" sz="2000"/>
              <a:t>Minimum 5 words (20B)</a:t>
            </a:r>
            <a:endParaRPr sz="2000"/>
          </a:p>
          <a:p>
            <a:pPr marL="457200" lvl="0" indent="-355600" algn="l" rtl="0">
              <a:lnSpc>
                <a:spcPct val="100000"/>
              </a:lnSpc>
              <a:spcBef>
                <a:spcPts val="400"/>
              </a:spcBef>
              <a:spcAft>
                <a:spcPts val="0"/>
              </a:spcAft>
              <a:buSzPts val="2000"/>
              <a:buChar char="●"/>
            </a:pPr>
            <a:r>
              <a:rPr lang="en" sz="2000"/>
              <a:t>Maximum 15 words</a:t>
            </a:r>
            <a:endParaRPr sz="2000"/>
          </a:p>
          <a:p>
            <a:pPr marL="914400" lvl="1" indent="-355600" algn="l" rtl="0">
              <a:lnSpc>
                <a:spcPct val="100000"/>
              </a:lnSpc>
              <a:spcBef>
                <a:spcPts val="400"/>
              </a:spcBef>
              <a:spcAft>
                <a:spcPts val="0"/>
              </a:spcAft>
              <a:buSzPts val="2000"/>
              <a:buChar char="○"/>
            </a:pPr>
            <a:r>
              <a:rPr lang="en" sz="2000"/>
              <a:t>Why?</a:t>
            </a:r>
            <a:endParaRPr sz="2000"/>
          </a:p>
          <a:p>
            <a:pPr marL="914400" lvl="1" indent="-355600" algn="l" rtl="0">
              <a:lnSpc>
                <a:spcPct val="100000"/>
              </a:lnSpc>
              <a:spcBef>
                <a:spcPts val="400"/>
              </a:spcBef>
              <a:spcAft>
                <a:spcPts val="0"/>
              </a:spcAft>
              <a:buSzPts val="2000"/>
              <a:buChar char="○"/>
            </a:pPr>
            <a:r>
              <a:rPr lang="en" sz="2000"/>
              <a:t>Only 4 bits, so max is 2^4 – 1 = 15 words</a:t>
            </a:r>
            <a:endParaRPr sz="2000"/>
          </a:p>
        </p:txBody>
      </p:sp>
      <p:grpSp>
        <p:nvGrpSpPr>
          <p:cNvPr id="718" name="Google Shape;718;g36aa5e117e9_3_1109"/>
          <p:cNvGrpSpPr/>
          <p:nvPr/>
        </p:nvGrpSpPr>
        <p:grpSpPr>
          <a:xfrm>
            <a:off x="4272485" y="1161989"/>
            <a:ext cx="4701723" cy="3607445"/>
            <a:chOff x="4012671" y="671513"/>
            <a:chExt cx="4876800" cy="4114800"/>
          </a:xfrm>
        </p:grpSpPr>
        <p:sp>
          <p:nvSpPr>
            <p:cNvPr id="719" name="Google Shape;719;g36aa5e117e9_3_1109"/>
            <p:cNvSpPr/>
            <p:nvPr/>
          </p:nvSpPr>
          <p:spPr>
            <a:xfrm>
              <a:off x="4012671" y="671513"/>
              <a:ext cx="23622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Source port</a:t>
              </a:r>
              <a:endParaRPr sz="1800" b="0" i="0" u="none" strike="noStrike" cap="none">
                <a:solidFill>
                  <a:schemeClr val="dk1"/>
                </a:solidFill>
                <a:latin typeface="Roboto"/>
                <a:ea typeface="Roboto"/>
                <a:cs typeface="Roboto"/>
                <a:sym typeface="Roboto"/>
              </a:endParaRPr>
            </a:p>
          </p:txBody>
        </p:sp>
        <p:sp>
          <p:nvSpPr>
            <p:cNvPr id="720" name="Google Shape;720;g36aa5e117e9_3_1109"/>
            <p:cNvSpPr/>
            <p:nvPr/>
          </p:nvSpPr>
          <p:spPr>
            <a:xfrm>
              <a:off x="6374871" y="671513"/>
              <a:ext cx="25146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Destination port</a:t>
              </a:r>
              <a:endParaRPr sz="1800" b="0" i="0" u="none" strike="noStrike" cap="none">
                <a:solidFill>
                  <a:schemeClr val="dk1"/>
                </a:solidFill>
                <a:latin typeface="Roboto"/>
                <a:ea typeface="Roboto"/>
                <a:cs typeface="Roboto"/>
                <a:sym typeface="Roboto"/>
              </a:endParaRPr>
            </a:p>
          </p:txBody>
        </p:sp>
        <p:sp>
          <p:nvSpPr>
            <p:cNvPr id="721" name="Google Shape;721;g36aa5e117e9_3_1109"/>
            <p:cNvSpPr/>
            <p:nvPr/>
          </p:nvSpPr>
          <p:spPr>
            <a:xfrm>
              <a:off x="4012671" y="1204913"/>
              <a:ext cx="4876800" cy="457200"/>
            </a:xfrm>
            <a:prstGeom prst="rect">
              <a:avLst/>
            </a:prstGeom>
            <a:solidFill>
              <a:srgbClr val="C9DAF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Sequence Number</a:t>
              </a:r>
              <a:endParaRPr sz="1800" b="0" i="0" u="none" strike="noStrike" cap="none">
                <a:solidFill>
                  <a:schemeClr val="dk1"/>
                </a:solidFill>
                <a:latin typeface="Roboto"/>
                <a:ea typeface="Roboto"/>
                <a:cs typeface="Roboto"/>
                <a:sym typeface="Roboto"/>
              </a:endParaRPr>
            </a:p>
          </p:txBody>
        </p:sp>
        <p:sp>
          <p:nvSpPr>
            <p:cNvPr id="722" name="Google Shape;722;g36aa5e117e9_3_1109"/>
            <p:cNvSpPr/>
            <p:nvPr/>
          </p:nvSpPr>
          <p:spPr>
            <a:xfrm>
              <a:off x="4012671" y="1662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Acknowledgement Number</a:t>
              </a:r>
              <a:endParaRPr sz="1800" b="0" i="0" u="none" strike="noStrike" cap="none">
                <a:solidFill>
                  <a:schemeClr val="dk1"/>
                </a:solidFill>
                <a:latin typeface="Roboto"/>
                <a:ea typeface="Roboto"/>
                <a:cs typeface="Roboto"/>
                <a:sym typeface="Roboto"/>
              </a:endParaRPr>
            </a:p>
          </p:txBody>
        </p:sp>
        <p:sp>
          <p:nvSpPr>
            <p:cNvPr id="723" name="Google Shape;723;g36aa5e117e9_3_1109"/>
            <p:cNvSpPr/>
            <p:nvPr/>
          </p:nvSpPr>
          <p:spPr>
            <a:xfrm>
              <a:off x="40126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HdrLen   0      Flags</a:t>
              </a:r>
              <a:endParaRPr sz="1800" b="0" i="0" u="none" strike="noStrike" cap="none">
                <a:solidFill>
                  <a:schemeClr val="dk1"/>
                </a:solidFill>
                <a:latin typeface="Roboto"/>
                <a:ea typeface="Roboto"/>
                <a:cs typeface="Roboto"/>
                <a:sym typeface="Roboto"/>
              </a:endParaRPr>
            </a:p>
          </p:txBody>
        </p:sp>
        <p:sp>
          <p:nvSpPr>
            <p:cNvPr id="724" name="Google Shape;724;g36aa5e117e9_3_1109"/>
            <p:cNvSpPr/>
            <p:nvPr/>
          </p:nvSpPr>
          <p:spPr>
            <a:xfrm>
              <a:off x="64510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Advertised window</a:t>
              </a:r>
              <a:endParaRPr sz="1800" b="0" i="0" u="none" strike="noStrike" cap="none">
                <a:solidFill>
                  <a:schemeClr val="dk1"/>
                </a:solidFill>
                <a:latin typeface="Roboto"/>
                <a:ea typeface="Roboto"/>
                <a:cs typeface="Roboto"/>
                <a:sym typeface="Roboto"/>
              </a:endParaRPr>
            </a:p>
          </p:txBody>
        </p:sp>
        <p:cxnSp>
          <p:nvCxnSpPr>
            <p:cNvPr id="725" name="Google Shape;725;g36aa5e117e9_3_1109"/>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726" name="Google Shape;726;g36aa5e117e9_3_1109"/>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727" name="Google Shape;727;g36aa5e117e9_3_1109"/>
            <p:cNvSpPr/>
            <p:nvPr/>
          </p:nvSpPr>
          <p:spPr>
            <a:xfrm>
              <a:off x="40126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Checksum</a:t>
              </a:r>
              <a:endParaRPr sz="1800" b="0" i="0" u="none" strike="noStrike" cap="none">
                <a:solidFill>
                  <a:schemeClr val="dk1"/>
                </a:solidFill>
                <a:latin typeface="Roboto"/>
                <a:ea typeface="Roboto"/>
                <a:cs typeface="Roboto"/>
                <a:sym typeface="Roboto"/>
              </a:endParaRPr>
            </a:p>
          </p:txBody>
        </p:sp>
        <p:sp>
          <p:nvSpPr>
            <p:cNvPr id="728" name="Google Shape;728;g36aa5e117e9_3_1109"/>
            <p:cNvSpPr/>
            <p:nvPr/>
          </p:nvSpPr>
          <p:spPr>
            <a:xfrm>
              <a:off x="64510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Urgent</a:t>
              </a:r>
              <a:endParaRPr sz="1800" b="0" i="0" u="none" strike="noStrike" cap="none">
                <a:solidFill>
                  <a:schemeClr val="dk1"/>
                </a:solidFill>
                <a:latin typeface="Roboto"/>
                <a:ea typeface="Roboto"/>
                <a:cs typeface="Roboto"/>
                <a:sym typeface="Roboto"/>
              </a:endParaRPr>
            </a:p>
          </p:txBody>
        </p:sp>
        <p:sp>
          <p:nvSpPr>
            <p:cNvPr id="729" name="Google Shape;729;g36aa5e117e9_3_1109"/>
            <p:cNvSpPr/>
            <p:nvPr/>
          </p:nvSpPr>
          <p:spPr>
            <a:xfrm>
              <a:off x="4012671" y="3186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Options</a:t>
              </a:r>
              <a:endParaRPr sz="1800" b="0" i="0" u="none" strike="noStrike" cap="none">
                <a:solidFill>
                  <a:schemeClr val="dk1"/>
                </a:solidFill>
                <a:latin typeface="Roboto"/>
                <a:ea typeface="Roboto"/>
                <a:cs typeface="Roboto"/>
                <a:sym typeface="Roboto"/>
              </a:endParaRPr>
            </a:p>
          </p:txBody>
        </p:sp>
        <p:sp>
          <p:nvSpPr>
            <p:cNvPr id="730" name="Google Shape;730;g36aa5e117e9_3_1109"/>
            <p:cNvSpPr/>
            <p:nvPr/>
          </p:nvSpPr>
          <p:spPr>
            <a:xfrm>
              <a:off x="4012671" y="3643313"/>
              <a:ext cx="4876800" cy="1143000"/>
            </a:xfrm>
            <a:prstGeom prst="rect">
              <a:avLst/>
            </a:prstGeom>
            <a:solidFill>
              <a:srgbClr val="38761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731" name="Google Shape;731;g36aa5e117e9_3_1109"/>
          <p:cNvSpPr/>
          <p:nvPr/>
        </p:nvSpPr>
        <p:spPr>
          <a:xfrm>
            <a:off x="4263850" y="2440225"/>
            <a:ext cx="890400" cy="4488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32" name="Google Shape;732;g36aa5e117e9_3_1109"/>
          <p:cNvSpPr/>
          <p:nvPr/>
        </p:nvSpPr>
        <p:spPr>
          <a:xfrm>
            <a:off x="4253950" y="2909600"/>
            <a:ext cx="4720200" cy="18597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33" name="Google Shape;733;g36aa5e117e9_3_1109"/>
          <p:cNvSpPr/>
          <p:nvPr/>
        </p:nvSpPr>
        <p:spPr>
          <a:xfrm>
            <a:off x="4253950" y="1162000"/>
            <a:ext cx="4720200" cy="12576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34" name="Google Shape;734;g36aa5e117e9_3_1109"/>
          <p:cNvSpPr/>
          <p:nvPr/>
        </p:nvSpPr>
        <p:spPr>
          <a:xfrm>
            <a:off x="5175550" y="2426375"/>
            <a:ext cx="3798600" cy="483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36aa5e117e9_3_1132"/>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Header</a:t>
            </a:r>
            <a:endParaRPr/>
          </a:p>
        </p:txBody>
      </p:sp>
      <p:sp>
        <p:nvSpPr>
          <p:cNvPr id="740" name="Google Shape;740;g36aa5e117e9_3_1132"/>
          <p:cNvSpPr txBox="1">
            <a:spLocks noGrp="1"/>
          </p:cNvSpPr>
          <p:nvPr>
            <p:ph type="body" idx="1"/>
          </p:nvPr>
        </p:nvSpPr>
        <p:spPr>
          <a:xfrm>
            <a:off x="107050" y="402200"/>
            <a:ext cx="4007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SYN</a:t>
            </a:r>
            <a:endParaRPr sz="2000"/>
          </a:p>
          <a:p>
            <a:pPr marL="914400" lvl="1" indent="-355600" algn="l" rtl="0">
              <a:lnSpc>
                <a:spcPct val="100000"/>
              </a:lnSpc>
              <a:spcBef>
                <a:spcPts val="400"/>
              </a:spcBef>
              <a:spcAft>
                <a:spcPts val="0"/>
              </a:spcAft>
              <a:buSzPts val="2000"/>
              <a:buChar char="○"/>
            </a:pPr>
            <a:r>
              <a:rPr lang="en" sz="2000"/>
              <a:t>SYNchronize initial state</a:t>
            </a:r>
            <a:endParaRPr sz="2000"/>
          </a:p>
          <a:p>
            <a:pPr marL="457200" lvl="0" indent="-355600" algn="l" rtl="0">
              <a:lnSpc>
                <a:spcPct val="100000"/>
              </a:lnSpc>
              <a:spcBef>
                <a:spcPts val="400"/>
              </a:spcBef>
              <a:spcAft>
                <a:spcPts val="0"/>
              </a:spcAft>
              <a:buSzPts val="2000"/>
              <a:buChar char="●"/>
            </a:pPr>
            <a:r>
              <a:rPr lang="en" sz="2000"/>
              <a:t>ACK</a:t>
            </a:r>
            <a:endParaRPr sz="2000"/>
          </a:p>
          <a:p>
            <a:pPr marL="914400" lvl="1" indent="-355600" algn="l" rtl="0">
              <a:lnSpc>
                <a:spcPct val="100000"/>
              </a:lnSpc>
              <a:spcBef>
                <a:spcPts val="400"/>
              </a:spcBef>
              <a:spcAft>
                <a:spcPts val="0"/>
              </a:spcAft>
              <a:buSzPts val="2000"/>
              <a:buChar char="○"/>
            </a:pPr>
            <a:r>
              <a:rPr lang="en" sz="2000"/>
              <a:t>ACKnowledgement</a:t>
            </a:r>
            <a:endParaRPr sz="2000"/>
          </a:p>
          <a:p>
            <a:pPr marL="457200" lvl="0" indent="-355600" algn="l" rtl="0">
              <a:lnSpc>
                <a:spcPct val="100000"/>
              </a:lnSpc>
              <a:spcBef>
                <a:spcPts val="400"/>
              </a:spcBef>
              <a:spcAft>
                <a:spcPts val="0"/>
              </a:spcAft>
              <a:buSzPts val="2000"/>
              <a:buChar char="●"/>
            </a:pPr>
            <a:r>
              <a:rPr lang="en" sz="2000"/>
              <a:t>FIN</a:t>
            </a:r>
            <a:endParaRPr sz="2000"/>
          </a:p>
          <a:p>
            <a:pPr marL="914400" lvl="1" indent="-355600" algn="l" rtl="0">
              <a:lnSpc>
                <a:spcPct val="100000"/>
              </a:lnSpc>
              <a:spcBef>
                <a:spcPts val="400"/>
              </a:spcBef>
              <a:spcAft>
                <a:spcPts val="0"/>
              </a:spcAft>
              <a:buSzPts val="2000"/>
              <a:buChar char="○"/>
            </a:pPr>
            <a:r>
              <a:rPr lang="en" sz="2000"/>
              <a:t>No more data</a:t>
            </a:r>
            <a:endParaRPr sz="2000"/>
          </a:p>
          <a:p>
            <a:pPr marL="457200" lvl="0" indent="-355600" algn="l" rtl="0">
              <a:lnSpc>
                <a:spcPct val="100000"/>
              </a:lnSpc>
              <a:spcBef>
                <a:spcPts val="400"/>
              </a:spcBef>
              <a:spcAft>
                <a:spcPts val="0"/>
              </a:spcAft>
              <a:buSzPts val="2000"/>
              <a:buChar char="●"/>
            </a:pPr>
            <a:r>
              <a:rPr lang="en" sz="2000"/>
              <a:t>RST</a:t>
            </a:r>
            <a:endParaRPr sz="2000"/>
          </a:p>
          <a:p>
            <a:pPr marL="914400" lvl="1" indent="-355600" algn="l" rtl="0">
              <a:lnSpc>
                <a:spcPct val="100000"/>
              </a:lnSpc>
              <a:spcBef>
                <a:spcPts val="400"/>
              </a:spcBef>
              <a:spcAft>
                <a:spcPts val="0"/>
              </a:spcAft>
              <a:buSzPts val="2000"/>
              <a:buChar char="○"/>
            </a:pPr>
            <a:r>
              <a:rPr lang="en" sz="2000"/>
              <a:t>Connection ReSeT</a:t>
            </a:r>
            <a:endParaRPr sz="2000"/>
          </a:p>
        </p:txBody>
      </p:sp>
      <p:grpSp>
        <p:nvGrpSpPr>
          <p:cNvPr id="741" name="Google Shape;741;g36aa5e117e9_3_1132"/>
          <p:cNvGrpSpPr/>
          <p:nvPr/>
        </p:nvGrpSpPr>
        <p:grpSpPr>
          <a:xfrm>
            <a:off x="4272485" y="1161989"/>
            <a:ext cx="4701723" cy="3607445"/>
            <a:chOff x="4012671" y="671513"/>
            <a:chExt cx="4876800" cy="4114800"/>
          </a:xfrm>
        </p:grpSpPr>
        <p:sp>
          <p:nvSpPr>
            <p:cNvPr id="742" name="Google Shape;742;g36aa5e117e9_3_1132"/>
            <p:cNvSpPr/>
            <p:nvPr/>
          </p:nvSpPr>
          <p:spPr>
            <a:xfrm>
              <a:off x="4012671" y="671513"/>
              <a:ext cx="23622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Source port</a:t>
              </a:r>
              <a:endParaRPr sz="1800" b="0" i="0" u="none" strike="noStrike" cap="none">
                <a:solidFill>
                  <a:schemeClr val="dk1"/>
                </a:solidFill>
                <a:latin typeface="Roboto"/>
                <a:ea typeface="Roboto"/>
                <a:cs typeface="Roboto"/>
                <a:sym typeface="Roboto"/>
              </a:endParaRPr>
            </a:p>
          </p:txBody>
        </p:sp>
        <p:sp>
          <p:nvSpPr>
            <p:cNvPr id="743" name="Google Shape;743;g36aa5e117e9_3_1132"/>
            <p:cNvSpPr/>
            <p:nvPr/>
          </p:nvSpPr>
          <p:spPr>
            <a:xfrm>
              <a:off x="6374871" y="671513"/>
              <a:ext cx="25146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Destination port</a:t>
              </a:r>
              <a:endParaRPr sz="1800" b="0" i="0" u="none" strike="noStrike" cap="none">
                <a:solidFill>
                  <a:schemeClr val="dk1"/>
                </a:solidFill>
                <a:latin typeface="Roboto"/>
                <a:ea typeface="Roboto"/>
                <a:cs typeface="Roboto"/>
                <a:sym typeface="Roboto"/>
              </a:endParaRPr>
            </a:p>
          </p:txBody>
        </p:sp>
        <p:sp>
          <p:nvSpPr>
            <p:cNvPr id="744" name="Google Shape;744;g36aa5e117e9_3_1132"/>
            <p:cNvSpPr/>
            <p:nvPr/>
          </p:nvSpPr>
          <p:spPr>
            <a:xfrm>
              <a:off x="4012671" y="1204913"/>
              <a:ext cx="4876800" cy="457200"/>
            </a:xfrm>
            <a:prstGeom prst="rect">
              <a:avLst/>
            </a:prstGeom>
            <a:solidFill>
              <a:srgbClr val="C9DAF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Sequence Number</a:t>
              </a:r>
              <a:endParaRPr sz="1800" b="0" i="0" u="none" strike="noStrike" cap="none">
                <a:solidFill>
                  <a:schemeClr val="dk1"/>
                </a:solidFill>
                <a:latin typeface="Roboto"/>
                <a:ea typeface="Roboto"/>
                <a:cs typeface="Roboto"/>
                <a:sym typeface="Roboto"/>
              </a:endParaRPr>
            </a:p>
          </p:txBody>
        </p:sp>
        <p:sp>
          <p:nvSpPr>
            <p:cNvPr id="745" name="Google Shape;745;g36aa5e117e9_3_1132"/>
            <p:cNvSpPr/>
            <p:nvPr/>
          </p:nvSpPr>
          <p:spPr>
            <a:xfrm>
              <a:off x="4012671" y="1662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Acknowledgement Number</a:t>
              </a:r>
              <a:endParaRPr sz="1800" b="0" i="0" u="none" strike="noStrike" cap="none">
                <a:solidFill>
                  <a:schemeClr val="dk1"/>
                </a:solidFill>
                <a:latin typeface="Roboto"/>
                <a:ea typeface="Roboto"/>
                <a:cs typeface="Roboto"/>
                <a:sym typeface="Roboto"/>
              </a:endParaRPr>
            </a:p>
          </p:txBody>
        </p:sp>
        <p:sp>
          <p:nvSpPr>
            <p:cNvPr id="746" name="Google Shape;746;g36aa5e117e9_3_1132"/>
            <p:cNvSpPr/>
            <p:nvPr/>
          </p:nvSpPr>
          <p:spPr>
            <a:xfrm>
              <a:off x="40126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HdrLen   0      Flags</a:t>
              </a:r>
              <a:endParaRPr sz="1800" b="0" i="0" u="none" strike="noStrike" cap="none">
                <a:solidFill>
                  <a:schemeClr val="dk1"/>
                </a:solidFill>
                <a:latin typeface="Roboto"/>
                <a:ea typeface="Roboto"/>
                <a:cs typeface="Roboto"/>
                <a:sym typeface="Roboto"/>
              </a:endParaRPr>
            </a:p>
          </p:txBody>
        </p:sp>
        <p:sp>
          <p:nvSpPr>
            <p:cNvPr id="747" name="Google Shape;747;g36aa5e117e9_3_1132"/>
            <p:cNvSpPr/>
            <p:nvPr/>
          </p:nvSpPr>
          <p:spPr>
            <a:xfrm>
              <a:off x="64510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Advertised window</a:t>
              </a:r>
              <a:endParaRPr sz="1800" b="0" i="0" u="none" strike="noStrike" cap="none">
                <a:solidFill>
                  <a:schemeClr val="dk1"/>
                </a:solidFill>
                <a:latin typeface="Roboto"/>
                <a:ea typeface="Roboto"/>
                <a:cs typeface="Roboto"/>
                <a:sym typeface="Roboto"/>
              </a:endParaRPr>
            </a:p>
          </p:txBody>
        </p:sp>
        <p:cxnSp>
          <p:nvCxnSpPr>
            <p:cNvPr id="748" name="Google Shape;748;g36aa5e117e9_3_1132"/>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749" name="Google Shape;749;g36aa5e117e9_3_1132"/>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750" name="Google Shape;750;g36aa5e117e9_3_1132"/>
            <p:cNvSpPr/>
            <p:nvPr/>
          </p:nvSpPr>
          <p:spPr>
            <a:xfrm>
              <a:off x="40126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Checksum</a:t>
              </a:r>
              <a:endParaRPr sz="1800" b="0" i="0" u="none" strike="noStrike" cap="none">
                <a:solidFill>
                  <a:schemeClr val="dk1"/>
                </a:solidFill>
                <a:latin typeface="Roboto"/>
                <a:ea typeface="Roboto"/>
                <a:cs typeface="Roboto"/>
                <a:sym typeface="Roboto"/>
              </a:endParaRPr>
            </a:p>
          </p:txBody>
        </p:sp>
        <p:sp>
          <p:nvSpPr>
            <p:cNvPr id="751" name="Google Shape;751;g36aa5e117e9_3_1132"/>
            <p:cNvSpPr/>
            <p:nvPr/>
          </p:nvSpPr>
          <p:spPr>
            <a:xfrm>
              <a:off x="64510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Urgent</a:t>
              </a:r>
              <a:endParaRPr sz="1800" b="0" i="0" u="none" strike="noStrike" cap="none">
                <a:solidFill>
                  <a:schemeClr val="dk1"/>
                </a:solidFill>
                <a:latin typeface="Roboto"/>
                <a:ea typeface="Roboto"/>
                <a:cs typeface="Roboto"/>
                <a:sym typeface="Roboto"/>
              </a:endParaRPr>
            </a:p>
          </p:txBody>
        </p:sp>
        <p:sp>
          <p:nvSpPr>
            <p:cNvPr id="752" name="Google Shape;752;g36aa5e117e9_3_1132"/>
            <p:cNvSpPr/>
            <p:nvPr/>
          </p:nvSpPr>
          <p:spPr>
            <a:xfrm>
              <a:off x="4012671" y="3186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Options</a:t>
              </a:r>
              <a:endParaRPr sz="1800" b="0" i="0" u="none" strike="noStrike" cap="none">
                <a:solidFill>
                  <a:schemeClr val="dk1"/>
                </a:solidFill>
                <a:latin typeface="Roboto"/>
                <a:ea typeface="Roboto"/>
                <a:cs typeface="Roboto"/>
                <a:sym typeface="Roboto"/>
              </a:endParaRPr>
            </a:p>
          </p:txBody>
        </p:sp>
        <p:sp>
          <p:nvSpPr>
            <p:cNvPr id="753" name="Google Shape;753;g36aa5e117e9_3_1132"/>
            <p:cNvSpPr/>
            <p:nvPr/>
          </p:nvSpPr>
          <p:spPr>
            <a:xfrm>
              <a:off x="4012671" y="3643313"/>
              <a:ext cx="4876800" cy="1143000"/>
            </a:xfrm>
            <a:prstGeom prst="rect">
              <a:avLst/>
            </a:prstGeom>
            <a:solidFill>
              <a:srgbClr val="38761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754" name="Google Shape;754;g36aa5e117e9_3_1132"/>
          <p:cNvSpPr/>
          <p:nvPr/>
        </p:nvSpPr>
        <p:spPr>
          <a:xfrm>
            <a:off x="5600350" y="2440200"/>
            <a:ext cx="1027500" cy="4488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55" name="Google Shape;755;g36aa5e117e9_3_1132"/>
          <p:cNvSpPr/>
          <p:nvPr/>
        </p:nvSpPr>
        <p:spPr>
          <a:xfrm>
            <a:off x="4253950" y="2909600"/>
            <a:ext cx="4720200" cy="18597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56" name="Google Shape;756;g36aa5e117e9_3_1132"/>
          <p:cNvSpPr/>
          <p:nvPr/>
        </p:nvSpPr>
        <p:spPr>
          <a:xfrm>
            <a:off x="4253950" y="1162000"/>
            <a:ext cx="4720200" cy="12576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57" name="Google Shape;757;g36aa5e117e9_3_1132"/>
          <p:cNvSpPr/>
          <p:nvPr/>
        </p:nvSpPr>
        <p:spPr>
          <a:xfrm>
            <a:off x="6627825" y="2426375"/>
            <a:ext cx="2346300" cy="483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58" name="Google Shape;758;g36aa5e117e9_3_1132"/>
          <p:cNvSpPr/>
          <p:nvPr/>
        </p:nvSpPr>
        <p:spPr>
          <a:xfrm>
            <a:off x="4272475" y="2422950"/>
            <a:ext cx="1308600" cy="483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36aa5e117e9_3_1155"/>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Header</a:t>
            </a:r>
            <a:endParaRPr/>
          </a:p>
        </p:txBody>
      </p:sp>
      <p:sp>
        <p:nvSpPr>
          <p:cNvPr id="764" name="Google Shape;764;g36aa5e117e9_3_1155"/>
          <p:cNvSpPr txBox="1">
            <a:spLocks noGrp="1"/>
          </p:cNvSpPr>
          <p:nvPr>
            <p:ph type="body" idx="1"/>
          </p:nvPr>
        </p:nvSpPr>
        <p:spPr>
          <a:xfrm>
            <a:off x="107050" y="402200"/>
            <a:ext cx="4007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Receive Window Size</a:t>
            </a:r>
            <a:endParaRPr sz="2000"/>
          </a:p>
          <a:p>
            <a:pPr marL="914400" lvl="1" indent="-355600" algn="l" rtl="0">
              <a:lnSpc>
                <a:spcPct val="100000"/>
              </a:lnSpc>
              <a:spcBef>
                <a:spcPts val="400"/>
              </a:spcBef>
              <a:spcAft>
                <a:spcPts val="0"/>
              </a:spcAft>
              <a:buSzPts val="2000"/>
              <a:buChar char="○"/>
            </a:pPr>
            <a:r>
              <a:rPr lang="en" sz="2000"/>
              <a:t>Maximum receiver buffer</a:t>
            </a:r>
            <a:endParaRPr sz="2000"/>
          </a:p>
          <a:p>
            <a:pPr marL="457200" lvl="0" indent="-355600" algn="l" rtl="0">
              <a:lnSpc>
                <a:spcPct val="100000"/>
              </a:lnSpc>
              <a:spcBef>
                <a:spcPts val="400"/>
              </a:spcBef>
              <a:spcAft>
                <a:spcPts val="0"/>
              </a:spcAft>
              <a:buSzPts val="2000"/>
              <a:buChar char="●"/>
            </a:pPr>
            <a:r>
              <a:rPr lang="en" sz="2000"/>
              <a:t>Limits sending rate</a:t>
            </a:r>
            <a:endParaRPr sz="2000"/>
          </a:p>
          <a:p>
            <a:pPr marL="914400" lvl="1" indent="-355600" algn="l" rtl="0">
              <a:lnSpc>
                <a:spcPct val="100000"/>
              </a:lnSpc>
              <a:spcBef>
                <a:spcPts val="400"/>
              </a:spcBef>
              <a:spcAft>
                <a:spcPts val="0"/>
              </a:spcAft>
              <a:buSzPts val="2000"/>
              <a:buChar char="○"/>
            </a:pPr>
            <a:r>
              <a:rPr lang="en" sz="2000"/>
              <a:t>Don’t send faster than receiver can process</a:t>
            </a:r>
            <a:endParaRPr sz="2000"/>
          </a:p>
        </p:txBody>
      </p:sp>
      <p:grpSp>
        <p:nvGrpSpPr>
          <p:cNvPr id="765" name="Google Shape;765;g36aa5e117e9_3_1155"/>
          <p:cNvGrpSpPr/>
          <p:nvPr/>
        </p:nvGrpSpPr>
        <p:grpSpPr>
          <a:xfrm>
            <a:off x="4272485" y="1161989"/>
            <a:ext cx="4701723" cy="3607445"/>
            <a:chOff x="4012671" y="671513"/>
            <a:chExt cx="4876800" cy="4114800"/>
          </a:xfrm>
        </p:grpSpPr>
        <p:sp>
          <p:nvSpPr>
            <p:cNvPr id="766" name="Google Shape;766;g36aa5e117e9_3_1155"/>
            <p:cNvSpPr/>
            <p:nvPr/>
          </p:nvSpPr>
          <p:spPr>
            <a:xfrm>
              <a:off x="4012671" y="671513"/>
              <a:ext cx="23622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Source port</a:t>
              </a:r>
              <a:endParaRPr sz="1800" b="0" i="0" u="none" strike="noStrike" cap="none">
                <a:solidFill>
                  <a:schemeClr val="dk1"/>
                </a:solidFill>
                <a:latin typeface="Roboto"/>
                <a:ea typeface="Roboto"/>
                <a:cs typeface="Roboto"/>
                <a:sym typeface="Roboto"/>
              </a:endParaRPr>
            </a:p>
          </p:txBody>
        </p:sp>
        <p:sp>
          <p:nvSpPr>
            <p:cNvPr id="767" name="Google Shape;767;g36aa5e117e9_3_1155"/>
            <p:cNvSpPr/>
            <p:nvPr/>
          </p:nvSpPr>
          <p:spPr>
            <a:xfrm>
              <a:off x="6374871" y="671513"/>
              <a:ext cx="25146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Destination port</a:t>
              </a:r>
              <a:endParaRPr sz="1800" b="0" i="0" u="none" strike="noStrike" cap="none">
                <a:solidFill>
                  <a:schemeClr val="dk1"/>
                </a:solidFill>
                <a:latin typeface="Roboto"/>
                <a:ea typeface="Roboto"/>
                <a:cs typeface="Roboto"/>
                <a:sym typeface="Roboto"/>
              </a:endParaRPr>
            </a:p>
          </p:txBody>
        </p:sp>
        <p:sp>
          <p:nvSpPr>
            <p:cNvPr id="768" name="Google Shape;768;g36aa5e117e9_3_1155"/>
            <p:cNvSpPr/>
            <p:nvPr/>
          </p:nvSpPr>
          <p:spPr>
            <a:xfrm>
              <a:off x="4012671" y="1204913"/>
              <a:ext cx="4876800" cy="457200"/>
            </a:xfrm>
            <a:prstGeom prst="rect">
              <a:avLst/>
            </a:prstGeom>
            <a:solidFill>
              <a:srgbClr val="C9DAF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Sequence Number</a:t>
              </a:r>
              <a:endParaRPr sz="1800" b="0" i="0" u="none" strike="noStrike" cap="none">
                <a:solidFill>
                  <a:schemeClr val="dk1"/>
                </a:solidFill>
                <a:latin typeface="Roboto"/>
                <a:ea typeface="Roboto"/>
                <a:cs typeface="Roboto"/>
                <a:sym typeface="Roboto"/>
              </a:endParaRPr>
            </a:p>
          </p:txBody>
        </p:sp>
        <p:sp>
          <p:nvSpPr>
            <p:cNvPr id="769" name="Google Shape;769;g36aa5e117e9_3_1155"/>
            <p:cNvSpPr/>
            <p:nvPr/>
          </p:nvSpPr>
          <p:spPr>
            <a:xfrm>
              <a:off x="4012671" y="1662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Acknowledgement Number</a:t>
              </a:r>
              <a:endParaRPr sz="1800" b="0" i="0" u="none" strike="noStrike" cap="none">
                <a:solidFill>
                  <a:schemeClr val="dk1"/>
                </a:solidFill>
                <a:latin typeface="Roboto"/>
                <a:ea typeface="Roboto"/>
                <a:cs typeface="Roboto"/>
                <a:sym typeface="Roboto"/>
              </a:endParaRPr>
            </a:p>
          </p:txBody>
        </p:sp>
        <p:sp>
          <p:nvSpPr>
            <p:cNvPr id="770" name="Google Shape;770;g36aa5e117e9_3_1155"/>
            <p:cNvSpPr/>
            <p:nvPr/>
          </p:nvSpPr>
          <p:spPr>
            <a:xfrm>
              <a:off x="40126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HdrLen   0      Flags</a:t>
              </a:r>
              <a:endParaRPr sz="1800" b="0" i="0" u="none" strike="noStrike" cap="none">
                <a:solidFill>
                  <a:schemeClr val="dk1"/>
                </a:solidFill>
                <a:latin typeface="Roboto"/>
                <a:ea typeface="Roboto"/>
                <a:cs typeface="Roboto"/>
                <a:sym typeface="Roboto"/>
              </a:endParaRPr>
            </a:p>
          </p:txBody>
        </p:sp>
        <p:sp>
          <p:nvSpPr>
            <p:cNvPr id="771" name="Google Shape;771;g36aa5e117e9_3_1155"/>
            <p:cNvSpPr/>
            <p:nvPr/>
          </p:nvSpPr>
          <p:spPr>
            <a:xfrm>
              <a:off x="64510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Advertised window</a:t>
              </a:r>
              <a:endParaRPr sz="1800" b="0" i="0" u="none" strike="noStrike" cap="none">
                <a:solidFill>
                  <a:schemeClr val="dk1"/>
                </a:solidFill>
                <a:latin typeface="Roboto"/>
                <a:ea typeface="Roboto"/>
                <a:cs typeface="Roboto"/>
                <a:sym typeface="Roboto"/>
              </a:endParaRPr>
            </a:p>
          </p:txBody>
        </p:sp>
        <p:cxnSp>
          <p:nvCxnSpPr>
            <p:cNvPr id="772" name="Google Shape;772;g36aa5e117e9_3_1155"/>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773" name="Google Shape;773;g36aa5e117e9_3_1155"/>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774" name="Google Shape;774;g36aa5e117e9_3_1155"/>
            <p:cNvSpPr/>
            <p:nvPr/>
          </p:nvSpPr>
          <p:spPr>
            <a:xfrm>
              <a:off x="40126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Checksum</a:t>
              </a:r>
              <a:endParaRPr sz="1800" b="0" i="0" u="none" strike="noStrike" cap="none">
                <a:solidFill>
                  <a:schemeClr val="dk1"/>
                </a:solidFill>
                <a:latin typeface="Roboto"/>
                <a:ea typeface="Roboto"/>
                <a:cs typeface="Roboto"/>
                <a:sym typeface="Roboto"/>
              </a:endParaRPr>
            </a:p>
          </p:txBody>
        </p:sp>
        <p:sp>
          <p:nvSpPr>
            <p:cNvPr id="775" name="Google Shape;775;g36aa5e117e9_3_1155"/>
            <p:cNvSpPr/>
            <p:nvPr/>
          </p:nvSpPr>
          <p:spPr>
            <a:xfrm>
              <a:off x="64510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Urgent</a:t>
              </a:r>
              <a:endParaRPr sz="1800" b="0" i="0" u="none" strike="noStrike" cap="none">
                <a:solidFill>
                  <a:schemeClr val="dk1"/>
                </a:solidFill>
                <a:latin typeface="Roboto"/>
                <a:ea typeface="Roboto"/>
                <a:cs typeface="Roboto"/>
                <a:sym typeface="Roboto"/>
              </a:endParaRPr>
            </a:p>
          </p:txBody>
        </p:sp>
        <p:sp>
          <p:nvSpPr>
            <p:cNvPr id="776" name="Google Shape;776;g36aa5e117e9_3_1155"/>
            <p:cNvSpPr/>
            <p:nvPr/>
          </p:nvSpPr>
          <p:spPr>
            <a:xfrm>
              <a:off x="4012671" y="3186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Options</a:t>
              </a:r>
              <a:endParaRPr sz="1800" b="0" i="0" u="none" strike="noStrike" cap="none">
                <a:solidFill>
                  <a:schemeClr val="dk1"/>
                </a:solidFill>
                <a:latin typeface="Roboto"/>
                <a:ea typeface="Roboto"/>
                <a:cs typeface="Roboto"/>
                <a:sym typeface="Roboto"/>
              </a:endParaRPr>
            </a:p>
          </p:txBody>
        </p:sp>
        <p:sp>
          <p:nvSpPr>
            <p:cNvPr id="777" name="Google Shape;777;g36aa5e117e9_3_1155"/>
            <p:cNvSpPr/>
            <p:nvPr/>
          </p:nvSpPr>
          <p:spPr>
            <a:xfrm>
              <a:off x="4012671" y="3643313"/>
              <a:ext cx="4876800" cy="1143000"/>
            </a:xfrm>
            <a:prstGeom prst="rect">
              <a:avLst/>
            </a:prstGeom>
            <a:solidFill>
              <a:srgbClr val="38761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778" name="Google Shape;778;g36aa5e117e9_3_1155"/>
          <p:cNvSpPr/>
          <p:nvPr/>
        </p:nvSpPr>
        <p:spPr>
          <a:xfrm>
            <a:off x="6622675" y="2440200"/>
            <a:ext cx="2351400" cy="4488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79" name="Google Shape;779;g36aa5e117e9_3_1155"/>
          <p:cNvSpPr/>
          <p:nvPr/>
        </p:nvSpPr>
        <p:spPr>
          <a:xfrm>
            <a:off x="4253950" y="2909600"/>
            <a:ext cx="4720200" cy="18597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80" name="Google Shape;780;g36aa5e117e9_3_1155"/>
          <p:cNvSpPr/>
          <p:nvPr/>
        </p:nvSpPr>
        <p:spPr>
          <a:xfrm>
            <a:off x="4253950" y="1162000"/>
            <a:ext cx="4720200" cy="12576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781" name="Google Shape;781;g36aa5e117e9_3_1155"/>
          <p:cNvSpPr/>
          <p:nvPr/>
        </p:nvSpPr>
        <p:spPr>
          <a:xfrm>
            <a:off x="4272475" y="2422950"/>
            <a:ext cx="2331900" cy="483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36aa5e117e9_3_1180"/>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Header</a:t>
            </a:r>
            <a:endParaRPr/>
          </a:p>
        </p:txBody>
      </p:sp>
      <p:sp>
        <p:nvSpPr>
          <p:cNvPr id="787" name="Google Shape;787;g36aa5e117e9_3_1180"/>
          <p:cNvSpPr txBox="1">
            <a:spLocks noGrp="1"/>
          </p:cNvSpPr>
          <p:nvPr>
            <p:ph type="body" idx="1"/>
          </p:nvPr>
        </p:nvSpPr>
        <p:spPr>
          <a:xfrm>
            <a:off x="107050" y="402200"/>
            <a:ext cx="40077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Checksum</a:t>
            </a:r>
            <a:endParaRPr sz="2000"/>
          </a:p>
          <a:p>
            <a:pPr marL="914400" lvl="1" indent="-355600" algn="l" rtl="0">
              <a:lnSpc>
                <a:spcPct val="100000"/>
              </a:lnSpc>
              <a:spcBef>
                <a:spcPts val="400"/>
              </a:spcBef>
              <a:spcAft>
                <a:spcPts val="0"/>
              </a:spcAft>
              <a:buSzPts val="2000"/>
              <a:buChar char="○"/>
            </a:pPr>
            <a:r>
              <a:rPr lang="en" sz="2000"/>
              <a:t>Includes header and payload</a:t>
            </a:r>
            <a:endParaRPr sz="2000"/>
          </a:p>
          <a:p>
            <a:pPr marL="457200" lvl="0" indent="-355600" algn="l" rtl="0">
              <a:lnSpc>
                <a:spcPct val="100000"/>
              </a:lnSpc>
              <a:spcBef>
                <a:spcPts val="400"/>
              </a:spcBef>
              <a:spcAft>
                <a:spcPts val="0"/>
              </a:spcAft>
              <a:buSzPts val="2000"/>
              <a:buChar char="●"/>
            </a:pPr>
            <a:r>
              <a:rPr lang="en" sz="2000"/>
              <a:t>Options common</a:t>
            </a:r>
            <a:endParaRPr sz="2000"/>
          </a:p>
          <a:p>
            <a:pPr marL="914400" lvl="1" indent="-355600" algn="l" rtl="0">
              <a:lnSpc>
                <a:spcPct val="100000"/>
              </a:lnSpc>
              <a:spcBef>
                <a:spcPts val="400"/>
              </a:spcBef>
              <a:spcAft>
                <a:spcPts val="0"/>
              </a:spcAft>
              <a:buSzPts val="2000"/>
              <a:buChar char="○"/>
            </a:pPr>
            <a:r>
              <a:rPr lang="en" sz="2000"/>
              <a:t>Unlike IP</a:t>
            </a:r>
            <a:endParaRPr sz="2000"/>
          </a:p>
          <a:p>
            <a:pPr marL="914400" lvl="1" indent="-355600" algn="l" rtl="0">
              <a:lnSpc>
                <a:spcPct val="100000"/>
              </a:lnSpc>
              <a:spcBef>
                <a:spcPts val="400"/>
              </a:spcBef>
              <a:spcAft>
                <a:spcPts val="0"/>
              </a:spcAft>
              <a:buSzPts val="2000"/>
              <a:buChar char="○"/>
            </a:pPr>
            <a:r>
              <a:rPr lang="en" sz="2000"/>
              <a:t>Not covered </a:t>
            </a:r>
            <a:endParaRPr sz="2000"/>
          </a:p>
          <a:p>
            <a:pPr marL="914400" lvl="1" indent="-355600" algn="l" rtl="0">
              <a:lnSpc>
                <a:spcPct val="100000"/>
              </a:lnSpc>
              <a:spcBef>
                <a:spcPts val="400"/>
              </a:spcBef>
              <a:spcAft>
                <a:spcPts val="0"/>
              </a:spcAft>
              <a:buSzPts val="2000"/>
              <a:buChar char="○"/>
            </a:pPr>
            <a:r>
              <a:rPr lang="en" sz="2000"/>
              <a:t>Assume no options unless specified</a:t>
            </a:r>
            <a:endParaRPr sz="2000"/>
          </a:p>
        </p:txBody>
      </p:sp>
      <p:grpSp>
        <p:nvGrpSpPr>
          <p:cNvPr id="788" name="Google Shape;788;g36aa5e117e9_3_1180"/>
          <p:cNvGrpSpPr/>
          <p:nvPr/>
        </p:nvGrpSpPr>
        <p:grpSpPr>
          <a:xfrm>
            <a:off x="4272485" y="1161989"/>
            <a:ext cx="4701723" cy="3607445"/>
            <a:chOff x="4012671" y="671513"/>
            <a:chExt cx="4876800" cy="4114800"/>
          </a:xfrm>
        </p:grpSpPr>
        <p:sp>
          <p:nvSpPr>
            <p:cNvPr id="789" name="Google Shape;789;g36aa5e117e9_3_1180"/>
            <p:cNvSpPr/>
            <p:nvPr/>
          </p:nvSpPr>
          <p:spPr>
            <a:xfrm>
              <a:off x="4012671" y="671513"/>
              <a:ext cx="23622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Source port</a:t>
              </a:r>
              <a:endParaRPr sz="1800" b="0" i="0" u="none" strike="noStrike" cap="none">
                <a:solidFill>
                  <a:schemeClr val="dk1"/>
                </a:solidFill>
                <a:latin typeface="Roboto"/>
                <a:ea typeface="Roboto"/>
                <a:cs typeface="Roboto"/>
                <a:sym typeface="Roboto"/>
              </a:endParaRPr>
            </a:p>
          </p:txBody>
        </p:sp>
        <p:sp>
          <p:nvSpPr>
            <p:cNvPr id="790" name="Google Shape;790;g36aa5e117e9_3_1180"/>
            <p:cNvSpPr/>
            <p:nvPr/>
          </p:nvSpPr>
          <p:spPr>
            <a:xfrm>
              <a:off x="6374871" y="671513"/>
              <a:ext cx="25146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Destination port</a:t>
              </a:r>
              <a:endParaRPr sz="1800" b="0" i="0" u="none" strike="noStrike" cap="none">
                <a:solidFill>
                  <a:schemeClr val="dk1"/>
                </a:solidFill>
                <a:latin typeface="Roboto"/>
                <a:ea typeface="Roboto"/>
                <a:cs typeface="Roboto"/>
                <a:sym typeface="Roboto"/>
              </a:endParaRPr>
            </a:p>
          </p:txBody>
        </p:sp>
        <p:sp>
          <p:nvSpPr>
            <p:cNvPr id="791" name="Google Shape;791;g36aa5e117e9_3_1180"/>
            <p:cNvSpPr/>
            <p:nvPr/>
          </p:nvSpPr>
          <p:spPr>
            <a:xfrm>
              <a:off x="4012671" y="1204913"/>
              <a:ext cx="4876800" cy="457200"/>
            </a:xfrm>
            <a:prstGeom prst="rect">
              <a:avLst/>
            </a:prstGeom>
            <a:solidFill>
              <a:srgbClr val="C9DAF8"/>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Sequence Number</a:t>
              </a:r>
              <a:endParaRPr sz="1800" b="0" i="0" u="none" strike="noStrike" cap="none">
                <a:solidFill>
                  <a:schemeClr val="dk1"/>
                </a:solidFill>
                <a:latin typeface="Roboto"/>
                <a:ea typeface="Roboto"/>
                <a:cs typeface="Roboto"/>
                <a:sym typeface="Roboto"/>
              </a:endParaRPr>
            </a:p>
          </p:txBody>
        </p:sp>
        <p:sp>
          <p:nvSpPr>
            <p:cNvPr id="792" name="Google Shape;792;g36aa5e117e9_3_1180"/>
            <p:cNvSpPr/>
            <p:nvPr/>
          </p:nvSpPr>
          <p:spPr>
            <a:xfrm>
              <a:off x="4012671" y="1662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Acknowledgement Number</a:t>
              </a:r>
              <a:endParaRPr sz="1800" b="0" i="0" u="none" strike="noStrike" cap="none">
                <a:solidFill>
                  <a:schemeClr val="dk1"/>
                </a:solidFill>
                <a:latin typeface="Roboto"/>
                <a:ea typeface="Roboto"/>
                <a:cs typeface="Roboto"/>
                <a:sym typeface="Roboto"/>
              </a:endParaRPr>
            </a:p>
          </p:txBody>
        </p:sp>
        <p:sp>
          <p:nvSpPr>
            <p:cNvPr id="793" name="Google Shape;793;g36aa5e117e9_3_1180"/>
            <p:cNvSpPr/>
            <p:nvPr/>
          </p:nvSpPr>
          <p:spPr>
            <a:xfrm>
              <a:off x="40126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HdrLen   0      Flags</a:t>
              </a:r>
              <a:endParaRPr sz="1800" b="0" i="0" u="none" strike="noStrike" cap="none">
                <a:solidFill>
                  <a:schemeClr val="dk1"/>
                </a:solidFill>
                <a:latin typeface="Roboto"/>
                <a:ea typeface="Roboto"/>
                <a:cs typeface="Roboto"/>
                <a:sym typeface="Roboto"/>
              </a:endParaRPr>
            </a:p>
          </p:txBody>
        </p:sp>
        <p:sp>
          <p:nvSpPr>
            <p:cNvPr id="794" name="Google Shape;794;g36aa5e117e9_3_1180"/>
            <p:cNvSpPr/>
            <p:nvPr/>
          </p:nvSpPr>
          <p:spPr>
            <a:xfrm>
              <a:off x="6451071" y="21193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Advertised window</a:t>
              </a:r>
              <a:endParaRPr sz="1800" b="0" i="0" u="none" strike="noStrike" cap="none">
                <a:solidFill>
                  <a:schemeClr val="dk1"/>
                </a:solidFill>
                <a:latin typeface="Roboto"/>
                <a:ea typeface="Roboto"/>
                <a:cs typeface="Roboto"/>
                <a:sym typeface="Roboto"/>
              </a:endParaRPr>
            </a:p>
          </p:txBody>
        </p:sp>
        <p:cxnSp>
          <p:nvCxnSpPr>
            <p:cNvPr id="795" name="Google Shape;795;g36aa5e117e9_3_1180"/>
            <p:cNvCxnSpPr/>
            <p:nvPr/>
          </p:nvCxnSpPr>
          <p:spPr>
            <a:xfrm>
              <a:off x="4927071" y="2119313"/>
              <a:ext cx="0" cy="533400"/>
            </a:xfrm>
            <a:prstGeom prst="straightConnector1">
              <a:avLst/>
            </a:prstGeom>
            <a:noFill/>
            <a:ln w="9525" cap="flat" cmpd="sng">
              <a:solidFill>
                <a:schemeClr val="dk1"/>
              </a:solidFill>
              <a:prstDash val="solid"/>
              <a:round/>
              <a:headEnd type="none" w="sm" len="sm"/>
              <a:tailEnd type="none" w="sm" len="sm"/>
            </a:ln>
          </p:spPr>
        </p:cxnSp>
        <p:cxnSp>
          <p:nvCxnSpPr>
            <p:cNvPr id="796" name="Google Shape;796;g36aa5e117e9_3_1180"/>
            <p:cNvCxnSpPr/>
            <p:nvPr/>
          </p:nvCxnSpPr>
          <p:spPr>
            <a:xfrm>
              <a:off x="5384271" y="2119313"/>
              <a:ext cx="0" cy="533400"/>
            </a:xfrm>
            <a:prstGeom prst="straightConnector1">
              <a:avLst/>
            </a:prstGeom>
            <a:noFill/>
            <a:ln w="9525" cap="flat" cmpd="sng">
              <a:solidFill>
                <a:schemeClr val="dk1"/>
              </a:solidFill>
              <a:prstDash val="solid"/>
              <a:round/>
              <a:headEnd type="none" w="sm" len="sm"/>
              <a:tailEnd type="none" w="sm" len="sm"/>
            </a:ln>
          </p:spPr>
        </p:cxnSp>
        <p:sp>
          <p:nvSpPr>
            <p:cNvPr id="797" name="Google Shape;797;g36aa5e117e9_3_1180"/>
            <p:cNvSpPr/>
            <p:nvPr/>
          </p:nvSpPr>
          <p:spPr>
            <a:xfrm>
              <a:off x="40126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Checksum</a:t>
              </a:r>
              <a:endParaRPr sz="1800" b="0" i="0" u="none" strike="noStrike" cap="none">
                <a:solidFill>
                  <a:schemeClr val="dk1"/>
                </a:solidFill>
                <a:latin typeface="Roboto"/>
                <a:ea typeface="Roboto"/>
                <a:cs typeface="Roboto"/>
                <a:sym typeface="Roboto"/>
              </a:endParaRPr>
            </a:p>
          </p:txBody>
        </p:sp>
        <p:sp>
          <p:nvSpPr>
            <p:cNvPr id="798" name="Google Shape;798;g36aa5e117e9_3_1180"/>
            <p:cNvSpPr/>
            <p:nvPr/>
          </p:nvSpPr>
          <p:spPr>
            <a:xfrm>
              <a:off x="6451071" y="2652713"/>
              <a:ext cx="2438400" cy="5334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Urgent</a:t>
              </a:r>
              <a:endParaRPr sz="1800" b="0" i="0" u="none" strike="noStrike" cap="none">
                <a:solidFill>
                  <a:schemeClr val="dk1"/>
                </a:solidFill>
                <a:latin typeface="Roboto"/>
                <a:ea typeface="Roboto"/>
                <a:cs typeface="Roboto"/>
                <a:sym typeface="Roboto"/>
              </a:endParaRPr>
            </a:p>
          </p:txBody>
        </p:sp>
        <p:sp>
          <p:nvSpPr>
            <p:cNvPr id="799" name="Google Shape;799;g36aa5e117e9_3_1180"/>
            <p:cNvSpPr/>
            <p:nvPr/>
          </p:nvSpPr>
          <p:spPr>
            <a:xfrm>
              <a:off x="4012671" y="3186113"/>
              <a:ext cx="4876800" cy="457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boto"/>
                  <a:ea typeface="Roboto"/>
                  <a:cs typeface="Roboto"/>
                  <a:sym typeface="Roboto"/>
                </a:rPr>
                <a:t>Options</a:t>
              </a:r>
              <a:endParaRPr sz="1800" b="0" i="0" u="none" strike="noStrike" cap="none">
                <a:solidFill>
                  <a:schemeClr val="dk1"/>
                </a:solidFill>
                <a:latin typeface="Roboto"/>
                <a:ea typeface="Roboto"/>
                <a:cs typeface="Roboto"/>
                <a:sym typeface="Roboto"/>
              </a:endParaRPr>
            </a:p>
          </p:txBody>
        </p:sp>
        <p:sp>
          <p:nvSpPr>
            <p:cNvPr id="800" name="Google Shape;800;g36aa5e117e9_3_1180"/>
            <p:cNvSpPr/>
            <p:nvPr/>
          </p:nvSpPr>
          <p:spPr>
            <a:xfrm>
              <a:off x="4012671" y="3643313"/>
              <a:ext cx="4876800" cy="1143000"/>
            </a:xfrm>
            <a:prstGeom prst="rect">
              <a:avLst/>
            </a:prstGeom>
            <a:solidFill>
              <a:srgbClr val="38761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lt1"/>
                  </a:solidFill>
                  <a:latin typeface="Roboto"/>
                  <a:ea typeface="Roboto"/>
                  <a:cs typeface="Roboto"/>
                  <a:sym typeface="Roboto"/>
                </a:rPr>
                <a:t>Data</a:t>
              </a:r>
              <a:endParaRPr sz="1400" b="0" i="0" u="none" strike="noStrike" cap="none">
                <a:solidFill>
                  <a:srgbClr val="000000"/>
                </a:solidFill>
                <a:latin typeface="Roboto"/>
                <a:ea typeface="Roboto"/>
                <a:cs typeface="Roboto"/>
                <a:sym typeface="Roboto"/>
              </a:endParaRPr>
            </a:p>
          </p:txBody>
        </p:sp>
      </p:grpSp>
      <p:sp>
        <p:nvSpPr>
          <p:cNvPr id="801" name="Google Shape;801;g36aa5e117e9_3_1180"/>
          <p:cNvSpPr/>
          <p:nvPr/>
        </p:nvSpPr>
        <p:spPr>
          <a:xfrm>
            <a:off x="4262725" y="2913275"/>
            <a:ext cx="2351400" cy="4488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802" name="Google Shape;802;g36aa5e117e9_3_1180"/>
          <p:cNvSpPr/>
          <p:nvPr/>
        </p:nvSpPr>
        <p:spPr>
          <a:xfrm>
            <a:off x="4253950" y="3768575"/>
            <a:ext cx="4720200" cy="10008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803" name="Google Shape;803;g36aa5e117e9_3_1180"/>
          <p:cNvSpPr/>
          <p:nvPr/>
        </p:nvSpPr>
        <p:spPr>
          <a:xfrm>
            <a:off x="4253950" y="1162000"/>
            <a:ext cx="4720200" cy="17340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804" name="Google Shape;804;g36aa5e117e9_3_1180"/>
          <p:cNvSpPr/>
          <p:nvPr/>
        </p:nvSpPr>
        <p:spPr>
          <a:xfrm>
            <a:off x="6634825" y="2896025"/>
            <a:ext cx="2339400" cy="483300"/>
          </a:xfrm>
          <a:prstGeom prst="rect">
            <a:avLst/>
          </a:prstGeom>
          <a:solidFill>
            <a:srgbClr val="D9D9D9">
              <a:alpha val="69411"/>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
        <p:nvSpPr>
          <p:cNvPr id="805" name="Google Shape;805;g36aa5e117e9_3_1180"/>
          <p:cNvSpPr/>
          <p:nvPr/>
        </p:nvSpPr>
        <p:spPr>
          <a:xfrm>
            <a:off x="4262725" y="3369100"/>
            <a:ext cx="4720200" cy="393600"/>
          </a:xfrm>
          <a:prstGeom prst="rect">
            <a:avLst/>
          </a:pr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36aa5e117e9_3_1203"/>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Segments</a:t>
            </a:r>
            <a:endParaRPr/>
          </a:p>
        </p:txBody>
      </p:sp>
      <p:sp>
        <p:nvSpPr>
          <p:cNvPr id="811" name="Google Shape;811;g36aa5e117e9_3_1203"/>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400"/>
              </a:spcBef>
              <a:spcAft>
                <a:spcPts val="0"/>
              </a:spcAft>
              <a:buSzPts val="1800"/>
              <a:buNone/>
            </a:pPr>
            <a:r>
              <a:rPr lang="en" sz="2000" b="1"/>
              <a:t>TCP/IP packet</a:t>
            </a:r>
            <a:r>
              <a:rPr lang="en" sz="2000"/>
              <a:t>: IP packet with TCP header and TCP data inside.</a:t>
            </a:r>
            <a:endParaRPr sz="2000"/>
          </a:p>
          <a:p>
            <a:pPr marL="0" lvl="0" indent="0" algn="l" rtl="0">
              <a:lnSpc>
                <a:spcPct val="100000"/>
              </a:lnSpc>
              <a:spcBef>
                <a:spcPts val="400"/>
              </a:spcBef>
              <a:spcAft>
                <a:spcPts val="0"/>
              </a:spcAft>
              <a:buSzPts val="1800"/>
              <a:buNone/>
            </a:pPr>
            <a:r>
              <a:rPr lang="en" sz="2000"/>
              <a:t>Size limits:</a:t>
            </a:r>
            <a:endParaRPr sz="2000"/>
          </a:p>
          <a:p>
            <a:pPr marL="914400" lvl="1" indent="-355600" algn="l" rtl="0">
              <a:lnSpc>
                <a:spcPct val="100000"/>
              </a:lnSpc>
              <a:spcBef>
                <a:spcPts val="400"/>
              </a:spcBef>
              <a:spcAft>
                <a:spcPts val="0"/>
              </a:spcAft>
              <a:buSzPts val="2000"/>
              <a:buChar char="○"/>
            </a:pPr>
            <a:r>
              <a:rPr lang="en" sz="2000"/>
              <a:t>IP packet: Maximum transmission unit (MTU).</a:t>
            </a:r>
            <a:endParaRPr sz="2000"/>
          </a:p>
          <a:p>
            <a:pPr marL="914400" lvl="1" indent="-355600" algn="l" rtl="0">
              <a:lnSpc>
                <a:spcPct val="100000"/>
              </a:lnSpc>
              <a:spcBef>
                <a:spcPts val="400"/>
              </a:spcBef>
              <a:spcAft>
                <a:spcPts val="0"/>
              </a:spcAft>
              <a:buSzPts val="2000"/>
              <a:buChar char="○"/>
            </a:pPr>
            <a:r>
              <a:rPr lang="en" sz="2000"/>
              <a:t>TCP segment: Maximum segment size (MSS).</a:t>
            </a:r>
            <a:endParaRPr sz="2000"/>
          </a:p>
          <a:p>
            <a:pPr marL="914400" lvl="1" indent="-355600" algn="l" rtl="0">
              <a:lnSpc>
                <a:spcPct val="100000"/>
              </a:lnSpc>
              <a:spcBef>
                <a:spcPts val="400"/>
              </a:spcBef>
              <a:spcAft>
                <a:spcPts val="0"/>
              </a:spcAft>
              <a:buSzPts val="2000"/>
              <a:buChar char="○"/>
            </a:pPr>
            <a:r>
              <a:rPr lang="en" sz="2000"/>
              <a:t>MSS = MTU – (IP header) – (TCP header).</a:t>
            </a:r>
            <a:endParaRPr sz="2000"/>
          </a:p>
        </p:txBody>
      </p:sp>
      <p:sp>
        <p:nvSpPr>
          <p:cNvPr id="812" name="Google Shape;812;g36aa5e117e9_3_1203"/>
          <p:cNvSpPr/>
          <p:nvPr/>
        </p:nvSpPr>
        <p:spPr>
          <a:xfrm>
            <a:off x="3241750" y="3656050"/>
            <a:ext cx="1152000" cy="739200"/>
          </a:xfrm>
          <a:prstGeom prst="rect">
            <a:avLst/>
          </a:prstGeom>
          <a:solidFill>
            <a:srgbClr val="B6D7A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TCP Header</a:t>
            </a:r>
            <a:endParaRPr sz="1400" b="0" i="0" u="none" strike="noStrike" cap="none">
              <a:solidFill>
                <a:srgbClr val="000000"/>
              </a:solidFill>
              <a:latin typeface="Roboto"/>
              <a:ea typeface="Roboto"/>
              <a:cs typeface="Roboto"/>
              <a:sym typeface="Roboto"/>
            </a:endParaRPr>
          </a:p>
        </p:txBody>
      </p:sp>
      <p:sp>
        <p:nvSpPr>
          <p:cNvPr id="813" name="Google Shape;813;g36aa5e117e9_3_1203"/>
          <p:cNvSpPr/>
          <p:nvPr/>
        </p:nvSpPr>
        <p:spPr>
          <a:xfrm>
            <a:off x="4393750" y="3656050"/>
            <a:ext cx="2640300" cy="739200"/>
          </a:xfrm>
          <a:prstGeom prst="rect">
            <a:avLst/>
          </a:prstGeom>
          <a:solidFill>
            <a:srgbClr val="9FC5E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TCP Payload (Segment)</a:t>
            </a:r>
            <a:endParaRPr sz="1400" b="0" i="0" u="none" strike="noStrike" cap="none">
              <a:solidFill>
                <a:srgbClr val="000000"/>
              </a:solidFill>
              <a:latin typeface="Roboto"/>
              <a:ea typeface="Roboto"/>
              <a:cs typeface="Roboto"/>
              <a:sym typeface="Roboto"/>
            </a:endParaRPr>
          </a:p>
        </p:txBody>
      </p:sp>
      <p:sp>
        <p:nvSpPr>
          <p:cNvPr id="814" name="Google Shape;814;g36aa5e117e9_3_1203"/>
          <p:cNvSpPr/>
          <p:nvPr/>
        </p:nvSpPr>
        <p:spPr>
          <a:xfrm>
            <a:off x="2089750" y="3656050"/>
            <a:ext cx="1152000" cy="739200"/>
          </a:xfrm>
          <a:prstGeom prst="rect">
            <a:avLst/>
          </a:prstGeom>
          <a:solidFill>
            <a:srgbClr val="F9CB9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IP Header</a:t>
            </a:r>
            <a:endParaRPr sz="1400" b="0" i="0" u="none" strike="noStrike" cap="none">
              <a:solidFill>
                <a:srgbClr val="000000"/>
              </a:solidFill>
              <a:latin typeface="Roboto"/>
              <a:ea typeface="Roboto"/>
              <a:cs typeface="Roboto"/>
              <a:sym typeface="Roboto"/>
            </a:endParaRPr>
          </a:p>
        </p:txBody>
      </p:sp>
      <p:grpSp>
        <p:nvGrpSpPr>
          <p:cNvPr id="815" name="Google Shape;815;g36aa5e117e9_3_1203"/>
          <p:cNvGrpSpPr/>
          <p:nvPr/>
        </p:nvGrpSpPr>
        <p:grpSpPr>
          <a:xfrm>
            <a:off x="3241750" y="4504600"/>
            <a:ext cx="3792300" cy="261300"/>
            <a:chOff x="3241750" y="4504600"/>
            <a:chExt cx="3792300" cy="261300"/>
          </a:xfrm>
        </p:grpSpPr>
        <p:cxnSp>
          <p:nvCxnSpPr>
            <p:cNvPr id="816" name="Google Shape;816;g36aa5e117e9_3_1203"/>
            <p:cNvCxnSpPr/>
            <p:nvPr/>
          </p:nvCxnSpPr>
          <p:spPr>
            <a:xfrm>
              <a:off x="3241750" y="4635250"/>
              <a:ext cx="3792300" cy="0"/>
            </a:xfrm>
            <a:prstGeom prst="straightConnector1">
              <a:avLst/>
            </a:prstGeom>
            <a:noFill/>
            <a:ln w="9525" cap="flat" cmpd="sng">
              <a:solidFill>
                <a:srgbClr val="CC4125"/>
              </a:solidFill>
              <a:prstDash val="solid"/>
              <a:round/>
              <a:headEnd type="triangle" w="med" len="med"/>
              <a:tailEnd type="triangle" w="med" len="med"/>
            </a:ln>
          </p:spPr>
        </p:cxnSp>
        <p:sp>
          <p:nvSpPr>
            <p:cNvPr id="817" name="Google Shape;817;g36aa5e117e9_3_1203"/>
            <p:cNvSpPr txBox="1"/>
            <p:nvPr/>
          </p:nvSpPr>
          <p:spPr>
            <a:xfrm>
              <a:off x="4681600" y="4504600"/>
              <a:ext cx="912600" cy="261300"/>
            </a:xfrm>
            <a:prstGeom prst="rect">
              <a:avLst/>
            </a:prstGeom>
            <a:solidFill>
              <a:srgbClr val="FFFFFF"/>
            </a:solidFill>
            <a:ln>
              <a:noFill/>
            </a:ln>
          </p:spPr>
          <p:txBody>
            <a:bodyPr spcFirstLastPara="1" wrap="square" lIns="27425" tIns="27425" rIns="27425" bIns="27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C4125"/>
                  </a:solidFill>
                  <a:latin typeface="Roboto"/>
                  <a:ea typeface="Roboto"/>
                  <a:cs typeface="Roboto"/>
                  <a:sym typeface="Roboto"/>
                </a:rPr>
                <a:t>IP Payload</a:t>
              </a:r>
              <a:endParaRPr sz="1400" b="0" i="0" u="none" strike="noStrike" cap="none">
                <a:solidFill>
                  <a:srgbClr val="CC4125"/>
                </a:solidFill>
                <a:latin typeface="Roboto"/>
                <a:ea typeface="Roboto"/>
                <a:cs typeface="Roboto"/>
                <a:sym typeface="Roboto"/>
              </a:endParaRPr>
            </a:p>
          </p:txBody>
        </p:sp>
      </p:grpSp>
      <p:grpSp>
        <p:nvGrpSpPr>
          <p:cNvPr id="818" name="Google Shape;818;g36aa5e117e9_3_1203"/>
          <p:cNvGrpSpPr/>
          <p:nvPr/>
        </p:nvGrpSpPr>
        <p:grpSpPr>
          <a:xfrm>
            <a:off x="2089750" y="2980600"/>
            <a:ext cx="4944300" cy="261300"/>
            <a:chOff x="2089750" y="2980600"/>
            <a:chExt cx="4944300" cy="261300"/>
          </a:xfrm>
        </p:grpSpPr>
        <p:cxnSp>
          <p:nvCxnSpPr>
            <p:cNvPr id="819" name="Google Shape;819;g36aa5e117e9_3_1203"/>
            <p:cNvCxnSpPr/>
            <p:nvPr/>
          </p:nvCxnSpPr>
          <p:spPr>
            <a:xfrm>
              <a:off x="2089750" y="3111250"/>
              <a:ext cx="4944300" cy="0"/>
            </a:xfrm>
            <a:prstGeom prst="straightConnector1">
              <a:avLst/>
            </a:prstGeom>
            <a:noFill/>
            <a:ln w="9525" cap="flat" cmpd="sng">
              <a:solidFill>
                <a:srgbClr val="CC4125"/>
              </a:solidFill>
              <a:prstDash val="solid"/>
              <a:round/>
              <a:headEnd type="triangle" w="med" len="med"/>
              <a:tailEnd type="triangle" w="med" len="med"/>
            </a:ln>
          </p:spPr>
        </p:cxnSp>
        <p:sp>
          <p:nvSpPr>
            <p:cNvPr id="820" name="Google Shape;820;g36aa5e117e9_3_1203"/>
            <p:cNvSpPr txBox="1"/>
            <p:nvPr/>
          </p:nvSpPr>
          <p:spPr>
            <a:xfrm>
              <a:off x="3891002" y="2980600"/>
              <a:ext cx="1362000" cy="261300"/>
            </a:xfrm>
            <a:prstGeom prst="rect">
              <a:avLst/>
            </a:prstGeom>
            <a:solidFill>
              <a:srgbClr val="FFFFFF"/>
            </a:solidFill>
            <a:ln>
              <a:noFill/>
            </a:ln>
          </p:spPr>
          <p:txBody>
            <a:bodyPr spcFirstLastPara="1" wrap="square" lIns="27425" tIns="27425" rIns="27425" bIns="27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C4125"/>
                  </a:solidFill>
                  <a:latin typeface="Roboto"/>
                  <a:ea typeface="Roboto"/>
                  <a:cs typeface="Roboto"/>
                  <a:sym typeface="Roboto"/>
                </a:rPr>
                <a:t>Limit </a:t>
              </a:r>
              <a:r>
                <a:rPr lang="en" sz="1400" b="0" i="1" u="none" strike="noStrike" cap="none">
                  <a:solidFill>
                    <a:srgbClr val="CC4125"/>
                  </a:solidFill>
                  <a:latin typeface="Roboto"/>
                  <a:ea typeface="Roboto"/>
                  <a:cs typeface="Roboto"/>
                  <a:sym typeface="Roboto"/>
                </a:rPr>
                <a:t>MTU</a:t>
              </a:r>
              <a:r>
                <a:rPr lang="en" sz="1400" b="0" i="0" u="none" strike="noStrike" cap="none">
                  <a:solidFill>
                    <a:srgbClr val="CC4125"/>
                  </a:solidFill>
                  <a:latin typeface="Roboto"/>
                  <a:ea typeface="Roboto"/>
                  <a:cs typeface="Roboto"/>
                  <a:sym typeface="Roboto"/>
                </a:rPr>
                <a:t> bytes</a:t>
              </a:r>
              <a:endParaRPr sz="1400" b="0" i="0" u="none" strike="noStrike" cap="none">
                <a:solidFill>
                  <a:srgbClr val="CC4125"/>
                </a:solidFill>
                <a:latin typeface="Roboto"/>
                <a:ea typeface="Roboto"/>
                <a:cs typeface="Roboto"/>
                <a:sym typeface="Roboto"/>
              </a:endParaRPr>
            </a:p>
          </p:txBody>
        </p:sp>
      </p:grpSp>
      <p:grpSp>
        <p:nvGrpSpPr>
          <p:cNvPr id="821" name="Google Shape;821;g36aa5e117e9_3_1203"/>
          <p:cNvGrpSpPr/>
          <p:nvPr/>
        </p:nvGrpSpPr>
        <p:grpSpPr>
          <a:xfrm>
            <a:off x="4393750" y="3285400"/>
            <a:ext cx="2640300" cy="261300"/>
            <a:chOff x="4393750" y="3285400"/>
            <a:chExt cx="2640300" cy="261300"/>
          </a:xfrm>
        </p:grpSpPr>
        <p:cxnSp>
          <p:nvCxnSpPr>
            <p:cNvPr id="822" name="Google Shape;822;g36aa5e117e9_3_1203"/>
            <p:cNvCxnSpPr/>
            <p:nvPr/>
          </p:nvCxnSpPr>
          <p:spPr>
            <a:xfrm>
              <a:off x="4393750" y="3416050"/>
              <a:ext cx="2640300" cy="0"/>
            </a:xfrm>
            <a:prstGeom prst="straightConnector1">
              <a:avLst/>
            </a:prstGeom>
            <a:noFill/>
            <a:ln w="9525" cap="flat" cmpd="sng">
              <a:solidFill>
                <a:srgbClr val="CC4125"/>
              </a:solidFill>
              <a:prstDash val="solid"/>
              <a:round/>
              <a:headEnd type="triangle" w="med" len="med"/>
              <a:tailEnd type="triangle" w="med" len="med"/>
            </a:ln>
          </p:spPr>
        </p:cxnSp>
        <p:sp>
          <p:nvSpPr>
            <p:cNvPr id="823" name="Google Shape;823;g36aa5e117e9_3_1203"/>
            <p:cNvSpPr txBox="1"/>
            <p:nvPr/>
          </p:nvSpPr>
          <p:spPr>
            <a:xfrm>
              <a:off x="5032902" y="3285400"/>
              <a:ext cx="1362000" cy="261300"/>
            </a:xfrm>
            <a:prstGeom prst="rect">
              <a:avLst/>
            </a:prstGeom>
            <a:solidFill>
              <a:srgbClr val="FFFFFF"/>
            </a:solidFill>
            <a:ln>
              <a:noFill/>
            </a:ln>
          </p:spPr>
          <p:txBody>
            <a:bodyPr spcFirstLastPara="1" wrap="square" lIns="27425" tIns="27425" rIns="27425" bIns="27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CC4125"/>
                  </a:solidFill>
                  <a:latin typeface="Roboto"/>
                  <a:ea typeface="Roboto"/>
                  <a:cs typeface="Roboto"/>
                  <a:sym typeface="Roboto"/>
                </a:rPr>
                <a:t>Limit </a:t>
              </a:r>
              <a:r>
                <a:rPr lang="en" sz="1400" b="0" i="1" u="none" strike="noStrike" cap="none">
                  <a:solidFill>
                    <a:srgbClr val="CC4125"/>
                  </a:solidFill>
                  <a:latin typeface="Roboto"/>
                  <a:ea typeface="Roboto"/>
                  <a:cs typeface="Roboto"/>
                  <a:sym typeface="Roboto"/>
                </a:rPr>
                <a:t>MSS</a:t>
              </a:r>
              <a:r>
                <a:rPr lang="en" sz="1400" b="0" i="0" u="none" strike="noStrike" cap="none">
                  <a:solidFill>
                    <a:srgbClr val="CC4125"/>
                  </a:solidFill>
                  <a:latin typeface="Roboto"/>
                  <a:ea typeface="Roboto"/>
                  <a:cs typeface="Roboto"/>
                  <a:sym typeface="Roboto"/>
                </a:rPr>
                <a:t> bytes</a:t>
              </a:r>
              <a:endParaRPr sz="1400" b="0" i="0" u="none" strike="noStrike" cap="none">
                <a:solidFill>
                  <a:srgbClr val="CC4125"/>
                </a:solidFill>
                <a:latin typeface="Roboto"/>
                <a:ea typeface="Roboto"/>
                <a:cs typeface="Roboto"/>
                <a:sym typeface="Robot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36aa5e117e9_3_1238"/>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TCP</a:t>
            </a:r>
            <a:endParaRPr/>
          </a:p>
        </p:txBody>
      </p:sp>
      <p:sp>
        <p:nvSpPr>
          <p:cNvPr id="829" name="Google Shape;829;g36aa5e117e9_3_1238"/>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TCP Header</a:t>
            </a:r>
            <a:endParaRPr b="1">
              <a:solidFill>
                <a:srgbClr val="CCCCCC"/>
              </a:solidFill>
              <a:latin typeface="Roboto"/>
              <a:ea typeface="Roboto"/>
              <a:cs typeface="Roboto"/>
              <a:sym typeface="Roboto"/>
            </a:endParaRPr>
          </a:p>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Connection Establishment</a:t>
            </a:r>
            <a:endParaRPr b="1">
              <a:solidFill>
                <a:schemeClr val="accent3"/>
              </a:solidFill>
              <a:latin typeface="Roboto"/>
              <a:ea typeface="Roboto"/>
              <a:cs typeface="Roboto"/>
              <a:sym typeface="Roboto"/>
            </a:endParaRPr>
          </a:p>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Teardown</a:t>
            </a:r>
            <a:endParaRPr b="1">
              <a:solidFill>
                <a:srgbClr val="CCCCCC"/>
              </a:solidFill>
              <a:latin typeface="Roboto"/>
              <a:ea typeface="Roboto"/>
              <a:cs typeface="Roboto"/>
              <a:sym typeface="Roboto"/>
            </a:endParaRPr>
          </a:p>
          <a:p>
            <a:pPr marL="457200" lvl="0" indent="-342900" algn="l" rtl="0">
              <a:lnSpc>
                <a:spcPct val="115000"/>
              </a:lnSpc>
              <a:spcBef>
                <a:spcPts val="600"/>
              </a:spcBef>
              <a:spcAft>
                <a:spcPts val="0"/>
              </a:spcAft>
              <a:buClr>
                <a:srgbClr val="B7B7B7"/>
              </a:buClr>
              <a:buSzPts val="1800"/>
              <a:buFont typeface="Roboto"/>
              <a:buChar char="•"/>
            </a:pPr>
            <a:r>
              <a:rPr lang="en" b="1">
                <a:latin typeface="Roboto"/>
                <a:ea typeface="Roboto"/>
                <a:cs typeface="Roboto"/>
                <a:sym typeface="Roboto"/>
              </a:rPr>
              <a:t>Reliability</a:t>
            </a:r>
            <a:endParaRPr b="1">
              <a:solidFill>
                <a:srgbClr val="CCCCCC"/>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36aa5e117e9_3_1243"/>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Three Way Handshake</a:t>
            </a:r>
            <a:endParaRPr/>
          </a:p>
        </p:txBody>
      </p:sp>
      <p:sp>
        <p:nvSpPr>
          <p:cNvPr id="835" name="Google Shape;835;g36aa5e117e9_3_1243"/>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Client sends server a SYN</a:t>
            </a:r>
            <a:endParaRPr sz="2000"/>
          </a:p>
          <a:p>
            <a:pPr marL="914400" lvl="1" indent="-355600" algn="l" rtl="0">
              <a:lnSpc>
                <a:spcPct val="100000"/>
              </a:lnSpc>
              <a:spcBef>
                <a:spcPts val="400"/>
              </a:spcBef>
              <a:spcAft>
                <a:spcPts val="0"/>
              </a:spcAft>
              <a:buSzPts val="2000"/>
              <a:buChar char="○"/>
            </a:pPr>
            <a:r>
              <a:rPr lang="en" sz="2000"/>
              <a:t>A TCP packet with the SYN flag set</a:t>
            </a:r>
            <a:endParaRPr sz="2000"/>
          </a:p>
          <a:p>
            <a:pPr marL="457200" lvl="0" indent="-355600" algn="l" rtl="0">
              <a:lnSpc>
                <a:spcPct val="100000"/>
              </a:lnSpc>
              <a:spcBef>
                <a:spcPts val="400"/>
              </a:spcBef>
              <a:spcAft>
                <a:spcPts val="0"/>
              </a:spcAft>
              <a:buSzPts val="2000"/>
              <a:buChar char="●"/>
            </a:pPr>
            <a:r>
              <a:rPr lang="en" sz="2000"/>
              <a:t>SYN packet carries initial state</a:t>
            </a:r>
            <a:endParaRPr sz="2000"/>
          </a:p>
          <a:p>
            <a:pPr marL="914400" lvl="1" indent="-355600" algn="l" rtl="0">
              <a:lnSpc>
                <a:spcPct val="100000"/>
              </a:lnSpc>
              <a:spcBef>
                <a:spcPts val="400"/>
              </a:spcBef>
              <a:spcAft>
                <a:spcPts val="0"/>
              </a:spcAft>
              <a:buSzPts val="2000"/>
              <a:buChar char="○"/>
            </a:pPr>
            <a:r>
              <a:rPr lang="en" sz="2000"/>
              <a:t>Receive window		</a:t>
            </a:r>
            <a:endParaRPr sz="2000"/>
          </a:p>
          <a:p>
            <a:pPr marL="914400" lvl="1" indent="-355600" algn="l" rtl="0">
              <a:lnSpc>
                <a:spcPct val="100000"/>
              </a:lnSpc>
              <a:spcBef>
                <a:spcPts val="400"/>
              </a:spcBef>
              <a:spcAft>
                <a:spcPts val="0"/>
              </a:spcAft>
              <a:buSzPts val="2000"/>
              <a:buChar char="○"/>
            </a:pPr>
            <a:r>
              <a:rPr lang="en" sz="2000"/>
              <a:t>Source port number</a:t>
            </a:r>
            <a:endParaRPr sz="2000"/>
          </a:p>
          <a:p>
            <a:pPr marL="914400" lvl="1" indent="-355600" algn="l" rtl="0">
              <a:lnSpc>
                <a:spcPct val="100000"/>
              </a:lnSpc>
              <a:spcBef>
                <a:spcPts val="400"/>
              </a:spcBef>
              <a:spcAft>
                <a:spcPts val="0"/>
              </a:spcAft>
              <a:buSzPts val="2000"/>
              <a:buChar char="○"/>
            </a:pPr>
            <a:r>
              <a:rPr lang="en" sz="2000"/>
              <a:t>Initial sequence number</a:t>
            </a:r>
            <a:endParaRPr sz="2000"/>
          </a:p>
        </p:txBody>
      </p:sp>
      <p:pic>
        <p:nvPicPr>
          <p:cNvPr id="836" name="Google Shape;836;g36aa5e117e9_3_1243" descr="https://static.lwn.net/images/2012/tfo/3whs.png"/>
          <p:cNvPicPr preferRelativeResize="0"/>
          <p:nvPr/>
        </p:nvPicPr>
        <p:blipFill rotWithShape="1">
          <a:blip r:embed="rId3">
            <a:alphaModFix/>
          </a:blip>
          <a:srcRect/>
          <a:stretch/>
        </p:blipFill>
        <p:spPr>
          <a:xfrm>
            <a:off x="4325339" y="1421146"/>
            <a:ext cx="4818662" cy="2947314"/>
          </a:xfrm>
          <a:prstGeom prst="rect">
            <a:avLst/>
          </a:prstGeom>
          <a:noFill/>
          <a:ln>
            <a:noFill/>
          </a:ln>
        </p:spPr>
      </p:pic>
      <p:sp>
        <p:nvSpPr>
          <p:cNvPr id="837" name="Google Shape;837;g36aa5e117e9_3_1243"/>
          <p:cNvSpPr/>
          <p:nvPr/>
        </p:nvSpPr>
        <p:spPr>
          <a:xfrm>
            <a:off x="5797023" y="1906291"/>
            <a:ext cx="1998600" cy="883500"/>
          </a:xfrm>
          <a:prstGeom prst="ellipse">
            <a:avLst/>
          </a:prstGeom>
          <a:noFill/>
          <a:ln w="28575" cap="flat" cmpd="sng">
            <a:solidFill>
              <a:srgbClr val="674EA7"/>
            </a:solidFill>
            <a:prstDash val="solid"/>
            <a:round/>
            <a:headEnd type="none" w="sm" len="sm"/>
            <a:tailEnd type="none" w="sm" len="sm"/>
          </a:ln>
          <a:effectLst>
            <a:outerShdw blurRad="40000" dist="23000" dir="5400000" rotWithShape="0">
              <a:srgbClr val="00000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36aa5e117e9_3_126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Three Way Handshake</a:t>
            </a:r>
            <a:endParaRPr/>
          </a:p>
        </p:txBody>
      </p:sp>
      <p:sp>
        <p:nvSpPr>
          <p:cNvPr id="843" name="Google Shape;843;g36aa5e117e9_3_1261"/>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Server responds with a SYN-ACK</a:t>
            </a:r>
            <a:endParaRPr sz="2000"/>
          </a:p>
          <a:p>
            <a:pPr marL="457200" lvl="0" indent="-355600" algn="l" rtl="0">
              <a:lnSpc>
                <a:spcPct val="100000"/>
              </a:lnSpc>
              <a:spcBef>
                <a:spcPts val="400"/>
              </a:spcBef>
              <a:spcAft>
                <a:spcPts val="0"/>
              </a:spcAft>
              <a:buSzPts val="2000"/>
              <a:buChar char="●"/>
            </a:pPr>
            <a:r>
              <a:rPr lang="en" sz="2000"/>
              <a:t>Acknowledge the client’s SYN</a:t>
            </a:r>
            <a:endParaRPr sz="2000"/>
          </a:p>
          <a:p>
            <a:pPr marL="457200" lvl="0" indent="-355600" algn="l" rtl="0">
              <a:lnSpc>
                <a:spcPct val="100000"/>
              </a:lnSpc>
              <a:spcBef>
                <a:spcPts val="400"/>
              </a:spcBef>
              <a:spcAft>
                <a:spcPts val="0"/>
              </a:spcAft>
              <a:buSzPts val="2000"/>
              <a:buChar char="●"/>
            </a:pPr>
            <a:r>
              <a:rPr lang="en" sz="2000"/>
              <a:t>Respond with the server’s own SYN</a:t>
            </a:r>
            <a:endParaRPr sz="2000"/>
          </a:p>
          <a:p>
            <a:pPr marL="457200" lvl="0" indent="-355600" algn="l" rtl="0">
              <a:lnSpc>
                <a:spcPct val="100000"/>
              </a:lnSpc>
              <a:spcBef>
                <a:spcPts val="400"/>
              </a:spcBef>
              <a:spcAft>
                <a:spcPts val="0"/>
              </a:spcAft>
              <a:buSzPts val="2000"/>
              <a:buChar char="●"/>
            </a:pPr>
            <a:r>
              <a:rPr lang="en" sz="2000"/>
              <a:t>Carries server’s initial state</a:t>
            </a:r>
            <a:endParaRPr sz="2000"/>
          </a:p>
          <a:p>
            <a:pPr marL="914400" lvl="1" indent="-355600" algn="l" rtl="0">
              <a:lnSpc>
                <a:spcPct val="100000"/>
              </a:lnSpc>
              <a:spcBef>
                <a:spcPts val="400"/>
              </a:spcBef>
              <a:spcAft>
                <a:spcPts val="0"/>
              </a:spcAft>
              <a:buSzPts val="2000"/>
              <a:buChar char="○"/>
            </a:pPr>
            <a:r>
              <a:rPr lang="en" sz="2000"/>
              <a:t>Receive window		</a:t>
            </a:r>
            <a:endParaRPr sz="2000"/>
          </a:p>
          <a:p>
            <a:pPr marL="914400" lvl="1" indent="-355600" algn="l" rtl="0">
              <a:lnSpc>
                <a:spcPct val="100000"/>
              </a:lnSpc>
              <a:spcBef>
                <a:spcPts val="400"/>
              </a:spcBef>
              <a:spcAft>
                <a:spcPts val="0"/>
              </a:spcAft>
              <a:buSzPts val="2000"/>
              <a:buChar char="○"/>
            </a:pPr>
            <a:r>
              <a:rPr lang="en" sz="2000"/>
              <a:t>Source port number</a:t>
            </a:r>
            <a:endParaRPr sz="2000"/>
          </a:p>
          <a:p>
            <a:pPr marL="914400" lvl="1" indent="-355600" algn="l" rtl="0">
              <a:lnSpc>
                <a:spcPct val="100000"/>
              </a:lnSpc>
              <a:spcBef>
                <a:spcPts val="400"/>
              </a:spcBef>
              <a:spcAft>
                <a:spcPts val="0"/>
              </a:spcAft>
              <a:buSzPts val="2000"/>
              <a:buChar char="○"/>
            </a:pPr>
            <a:r>
              <a:rPr lang="en" sz="2000"/>
              <a:t>Initial sequence number</a:t>
            </a:r>
            <a:endParaRPr sz="2000"/>
          </a:p>
        </p:txBody>
      </p:sp>
      <p:pic>
        <p:nvPicPr>
          <p:cNvPr id="844" name="Google Shape;844;g36aa5e117e9_3_1261" descr="https://static.lwn.net/images/2012/tfo/3whs.png"/>
          <p:cNvPicPr preferRelativeResize="0"/>
          <p:nvPr/>
        </p:nvPicPr>
        <p:blipFill rotWithShape="1">
          <a:blip r:embed="rId3">
            <a:alphaModFix/>
          </a:blip>
          <a:srcRect/>
          <a:stretch/>
        </p:blipFill>
        <p:spPr>
          <a:xfrm>
            <a:off x="4325339" y="1421146"/>
            <a:ext cx="4818662" cy="2947314"/>
          </a:xfrm>
          <a:prstGeom prst="rect">
            <a:avLst/>
          </a:prstGeom>
          <a:noFill/>
          <a:ln>
            <a:noFill/>
          </a:ln>
        </p:spPr>
      </p:pic>
      <p:sp>
        <p:nvSpPr>
          <p:cNvPr id="845" name="Google Shape;845;g36aa5e117e9_3_1261"/>
          <p:cNvSpPr/>
          <p:nvPr/>
        </p:nvSpPr>
        <p:spPr>
          <a:xfrm>
            <a:off x="5839048" y="2732741"/>
            <a:ext cx="1998600" cy="883500"/>
          </a:xfrm>
          <a:prstGeom prst="ellipse">
            <a:avLst/>
          </a:prstGeom>
          <a:noFill/>
          <a:ln w="28575" cap="flat" cmpd="sng">
            <a:solidFill>
              <a:srgbClr val="674EA7"/>
            </a:solidFill>
            <a:prstDash val="solid"/>
            <a:round/>
            <a:headEnd type="none" w="sm" len="sm"/>
            <a:tailEnd type="none" w="sm" len="sm"/>
          </a:ln>
          <a:effectLst>
            <a:outerShdw blurRad="40000" dist="23000" dir="5400000" rotWithShape="0">
              <a:srgbClr val="00000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36aa5e117e9_3_127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Three Way Handshake</a:t>
            </a:r>
            <a:endParaRPr/>
          </a:p>
        </p:txBody>
      </p:sp>
      <p:sp>
        <p:nvSpPr>
          <p:cNvPr id="851" name="Google Shape;851;g36aa5e117e9_3_1271"/>
          <p:cNvSpPr txBox="1">
            <a:spLocks noGrp="1"/>
          </p:cNvSpPr>
          <p:nvPr>
            <p:ph type="body" idx="1"/>
          </p:nvPr>
        </p:nvSpPr>
        <p:spPr>
          <a:xfrm>
            <a:off x="107050" y="402200"/>
            <a:ext cx="42183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Client responds with an ACK</a:t>
            </a:r>
            <a:endParaRPr sz="2000"/>
          </a:p>
          <a:p>
            <a:pPr marL="457200" lvl="0" indent="-355600" algn="l" rtl="0">
              <a:lnSpc>
                <a:spcPct val="100000"/>
              </a:lnSpc>
              <a:spcBef>
                <a:spcPts val="400"/>
              </a:spcBef>
              <a:spcAft>
                <a:spcPts val="0"/>
              </a:spcAft>
              <a:buSzPts val="2000"/>
              <a:buChar char="●"/>
            </a:pPr>
            <a:r>
              <a:rPr lang="en" sz="2000"/>
              <a:t>Now the connection is established!</a:t>
            </a:r>
            <a:endParaRPr sz="2000"/>
          </a:p>
          <a:p>
            <a:pPr marL="914400" lvl="1" indent="-355600" algn="l" rtl="0">
              <a:lnSpc>
                <a:spcPct val="100000"/>
              </a:lnSpc>
              <a:spcBef>
                <a:spcPts val="400"/>
              </a:spcBef>
              <a:spcAft>
                <a:spcPts val="0"/>
              </a:spcAft>
              <a:buSzPts val="2000"/>
              <a:buChar char="○"/>
            </a:pPr>
            <a:r>
              <a:rPr lang="en" sz="2000"/>
              <a:t>Client and server can freely communicate</a:t>
            </a:r>
            <a:endParaRPr sz="2000"/>
          </a:p>
        </p:txBody>
      </p:sp>
      <p:pic>
        <p:nvPicPr>
          <p:cNvPr id="852" name="Google Shape;852;g36aa5e117e9_3_1271" descr="https://static.lwn.net/images/2012/tfo/3whs.png"/>
          <p:cNvPicPr preferRelativeResize="0"/>
          <p:nvPr/>
        </p:nvPicPr>
        <p:blipFill rotWithShape="1">
          <a:blip r:embed="rId3">
            <a:alphaModFix/>
          </a:blip>
          <a:srcRect/>
          <a:stretch/>
        </p:blipFill>
        <p:spPr>
          <a:xfrm>
            <a:off x="4325339" y="1421146"/>
            <a:ext cx="4818662" cy="2947314"/>
          </a:xfrm>
          <a:prstGeom prst="rect">
            <a:avLst/>
          </a:prstGeom>
          <a:noFill/>
          <a:ln>
            <a:noFill/>
          </a:ln>
        </p:spPr>
      </p:pic>
      <p:sp>
        <p:nvSpPr>
          <p:cNvPr id="853" name="Google Shape;853;g36aa5e117e9_3_1271"/>
          <p:cNvSpPr/>
          <p:nvPr/>
        </p:nvSpPr>
        <p:spPr>
          <a:xfrm>
            <a:off x="5735373" y="3484941"/>
            <a:ext cx="1998600" cy="883500"/>
          </a:xfrm>
          <a:prstGeom prst="ellipse">
            <a:avLst/>
          </a:prstGeom>
          <a:noFill/>
          <a:ln w="28575" cap="flat" cmpd="sng">
            <a:solidFill>
              <a:srgbClr val="674EA7"/>
            </a:solidFill>
            <a:prstDash val="solid"/>
            <a:round/>
            <a:headEnd type="none" w="sm" len="sm"/>
            <a:tailEnd type="none" w="sm" len="sm"/>
          </a:ln>
          <a:effectLst>
            <a:outerShdw blurRad="40000" dist="23000" dir="5400000" rotWithShape="0">
              <a:srgbClr val="00000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36aa5e117e9_3_127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Connection Establishment</a:t>
            </a:r>
            <a:endParaRPr/>
          </a:p>
        </p:txBody>
      </p:sp>
      <p:sp>
        <p:nvSpPr>
          <p:cNvPr id="859" name="Google Shape;859;g36aa5e117e9_3_1278"/>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Sequence number and acknowledgement number don’t start from zero</a:t>
            </a:r>
            <a:endParaRPr sz="2000"/>
          </a:p>
          <a:p>
            <a:pPr marL="457200" lvl="0" indent="-355600" algn="l" rtl="0">
              <a:lnSpc>
                <a:spcPct val="100000"/>
              </a:lnSpc>
              <a:spcBef>
                <a:spcPts val="400"/>
              </a:spcBef>
              <a:spcAft>
                <a:spcPts val="0"/>
              </a:spcAft>
              <a:buSzPts val="2000"/>
              <a:buChar char="●"/>
            </a:pPr>
            <a:r>
              <a:rPr lang="en" sz="2000"/>
              <a:t>Instead client and server choose a </a:t>
            </a:r>
            <a:r>
              <a:rPr lang="en" sz="2000" b="1"/>
              <a:t>random</a:t>
            </a:r>
            <a:r>
              <a:rPr lang="en" sz="2000"/>
              <a:t> initial seq #</a:t>
            </a:r>
            <a:endParaRPr sz="2000"/>
          </a:p>
          <a:p>
            <a:pPr marL="914400" lvl="1" indent="-355600" algn="l" rtl="0">
              <a:lnSpc>
                <a:spcPct val="100000"/>
              </a:lnSpc>
              <a:spcBef>
                <a:spcPts val="400"/>
              </a:spcBef>
              <a:spcAft>
                <a:spcPts val="0"/>
              </a:spcAft>
              <a:buSzPts val="2000"/>
              <a:buChar char="○"/>
            </a:pPr>
            <a:r>
              <a:rPr lang="en" sz="2000"/>
              <a:t>Why?</a:t>
            </a:r>
            <a:endParaRPr sz="2000"/>
          </a:p>
          <a:p>
            <a:pPr marL="457200" lvl="0" indent="-355600" algn="l" rtl="0">
              <a:lnSpc>
                <a:spcPct val="100000"/>
              </a:lnSpc>
              <a:spcBef>
                <a:spcPts val="400"/>
              </a:spcBef>
              <a:spcAft>
                <a:spcPts val="0"/>
              </a:spcAft>
              <a:buSzPts val="2000"/>
              <a:buChar char="●"/>
            </a:pPr>
            <a:r>
              <a:rPr lang="en" sz="2000"/>
              <a:t>Must be communicated between client and server</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36aa5e117e9_3_1285"/>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Connection Establishment</a:t>
            </a:r>
            <a:endParaRPr/>
          </a:p>
        </p:txBody>
      </p:sp>
      <p:sp>
        <p:nvSpPr>
          <p:cNvPr id="865" name="Google Shape;865;g36aa5e117e9_3_1285"/>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Client/Server exchange state</a:t>
            </a:r>
            <a:endParaRPr sz="2000"/>
          </a:p>
          <a:p>
            <a:pPr marL="914400" lvl="1" indent="-355600" algn="l" rtl="0">
              <a:lnSpc>
                <a:spcPct val="100000"/>
              </a:lnSpc>
              <a:spcBef>
                <a:spcPts val="400"/>
              </a:spcBef>
              <a:spcAft>
                <a:spcPts val="0"/>
              </a:spcAft>
              <a:buSzPts val="2000"/>
              <a:buChar char="○"/>
            </a:pPr>
            <a:r>
              <a:rPr lang="en" sz="2000"/>
              <a:t>Initial Sequence numbers</a:t>
            </a:r>
            <a:endParaRPr sz="2000"/>
          </a:p>
          <a:p>
            <a:pPr marL="914400" lvl="1" indent="-355600" algn="l" rtl="0">
              <a:lnSpc>
                <a:spcPct val="100000"/>
              </a:lnSpc>
              <a:spcBef>
                <a:spcPts val="400"/>
              </a:spcBef>
              <a:spcAft>
                <a:spcPts val="0"/>
              </a:spcAft>
              <a:buSzPts val="2000"/>
              <a:buChar char="○"/>
            </a:pPr>
            <a:r>
              <a:rPr lang="en" sz="2000"/>
              <a:t>Port number</a:t>
            </a:r>
            <a:endParaRPr sz="2000"/>
          </a:p>
          <a:p>
            <a:pPr marL="914400" lvl="1" indent="-355600" algn="l" rtl="0">
              <a:lnSpc>
                <a:spcPct val="100000"/>
              </a:lnSpc>
              <a:spcBef>
                <a:spcPts val="400"/>
              </a:spcBef>
              <a:spcAft>
                <a:spcPts val="0"/>
              </a:spcAft>
              <a:buSzPts val="2000"/>
              <a:buChar char="○"/>
            </a:pPr>
            <a:r>
              <a:rPr lang="en" sz="2000"/>
              <a:t>TCP Options</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36aa5e117e9_3_1290"/>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TCP</a:t>
            </a:r>
            <a:endParaRPr/>
          </a:p>
        </p:txBody>
      </p:sp>
      <p:sp>
        <p:nvSpPr>
          <p:cNvPr id="871" name="Google Shape;871;g36aa5e117e9_3_1290"/>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TCP Header</a:t>
            </a:r>
            <a:endParaRPr b="1">
              <a:latin typeface="Roboto"/>
              <a:ea typeface="Roboto"/>
              <a:cs typeface="Roboto"/>
              <a:sym typeface="Roboto"/>
            </a:endParaRPr>
          </a:p>
          <a:p>
            <a:pPr marL="457200" lvl="0" indent="-342900" algn="l" rtl="0">
              <a:lnSpc>
                <a:spcPct val="115000"/>
              </a:lnSpc>
              <a:spcBef>
                <a:spcPts val="600"/>
              </a:spcBef>
              <a:spcAft>
                <a:spcPts val="0"/>
              </a:spcAft>
              <a:buSzPts val="1800"/>
              <a:buFont typeface="Roboto"/>
              <a:buChar char="•"/>
            </a:pPr>
            <a:r>
              <a:rPr lang="en" b="1">
                <a:latin typeface="Roboto"/>
                <a:ea typeface="Roboto"/>
                <a:cs typeface="Roboto"/>
                <a:sym typeface="Roboto"/>
              </a:rPr>
              <a:t>Connection Establishment</a:t>
            </a:r>
            <a:endParaRPr b="1">
              <a:latin typeface="Roboto"/>
              <a:ea typeface="Roboto"/>
              <a:cs typeface="Roboto"/>
              <a:sym typeface="Roboto"/>
            </a:endParaRPr>
          </a:p>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Teardown</a:t>
            </a:r>
            <a:endParaRPr b="1">
              <a:solidFill>
                <a:schemeClr val="accent3"/>
              </a:solidFill>
              <a:latin typeface="Roboto"/>
              <a:ea typeface="Roboto"/>
              <a:cs typeface="Roboto"/>
              <a:sym typeface="Roboto"/>
            </a:endParaRPr>
          </a:p>
          <a:p>
            <a:pPr marL="457200" lvl="0" indent="-342900" algn="l" rtl="0">
              <a:lnSpc>
                <a:spcPct val="115000"/>
              </a:lnSpc>
              <a:spcBef>
                <a:spcPts val="600"/>
              </a:spcBef>
              <a:spcAft>
                <a:spcPts val="0"/>
              </a:spcAft>
              <a:buClr>
                <a:srgbClr val="B7B7B7"/>
              </a:buClr>
              <a:buSzPts val="1800"/>
              <a:buFont typeface="Roboto"/>
              <a:buChar char="•"/>
            </a:pPr>
            <a:r>
              <a:rPr lang="en" b="1">
                <a:latin typeface="Roboto"/>
                <a:ea typeface="Roboto"/>
                <a:cs typeface="Roboto"/>
                <a:sym typeface="Roboto"/>
              </a:rPr>
              <a:t>Reliability</a:t>
            </a:r>
            <a:endParaRPr b="1">
              <a:solidFill>
                <a:schemeClr val="accent3"/>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36aa5e117e9_3_1295"/>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Two Teardown Methods</a:t>
            </a:r>
            <a:endParaRPr/>
          </a:p>
        </p:txBody>
      </p:sp>
      <p:sp>
        <p:nvSpPr>
          <p:cNvPr id="877" name="Google Shape;877;g36aa5e117e9_3_1295"/>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Four way handshake</a:t>
            </a:r>
            <a:endParaRPr sz="2000"/>
          </a:p>
          <a:p>
            <a:pPr marL="914400" lvl="1" indent="-355600" algn="l" rtl="0">
              <a:lnSpc>
                <a:spcPct val="100000"/>
              </a:lnSpc>
              <a:spcBef>
                <a:spcPts val="400"/>
              </a:spcBef>
              <a:spcAft>
                <a:spcPts val="0"/>
              </a:spcAft>
              <a:buSzPts val="2000"/>
              <a:buChar char="○"/>
            </a:pPr>
            <a:r>
              <a:rPr lang="en" sz="2000"/>
              <a:t>Graceful/normal teardown</a:t>
            </a:r>
            <a:endParaRPr sz="2000"/>
          </a:p>
          <a:p>
            <a:pPr marL="457200" lvl="0" indent="-355600" algn="l" rtl="0">
              <a:lnSpc>
                <a:spcPct val="100000"/>
              </a:lnSpc>
              <a:spcBef>
                <a:spcPts val="400"/>
              </a:spcBef>
              <a:spcAft>
                <a:spcPts val="0"/>
              </a:spcAft>
              <a:buSzPts val="2000"/>
              <a:buChar char="●"/>
            </a:pPr>
            <a:r>
              <a:rPr lang="en" sz="2000"/>
              <a:t>Reset</a:t>
            </a:r>
            <a:endParaRPr sz="2000"/>
          </a:p>
          <a:p>
            <a:pPr marL="914400" lvl="1" indent="-355600" algn="l" rtl="0">
              <a:lnSpc>
                <a:spcPct val="100000"/>
              </a:lnSpc>
              <a:spcBef>
                <a:spcPts val="400"/>
              </a:spcBef>
              <a:spcAft>
                <a:spcPts val="0"/>
              </a:spcAft>
              <a:buSzPts val="2000"/>
              <a:buChar char="○"/>
            </a:pPr>
            <a:r>
              <a:rPr lang="en" sz="2000"/>
              <a:t>Exceptional Teardown</a:t>
            </a:r>
            <a:endParaRPr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36aa5e117e9_3_1300"/>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Normal Teardown</a:t>
            </a:r>
            <a:endParaRPr/>
          </a:p>
        </p:txBody>
      </p:sp>
      <p:sp>
        <p:nvSpPr>
          <p:cNvPr id="883" name="Google Shape;883;g36aa5e117e9_3_1300"/>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One side closes their connection</a:t>
            </a:r>
            <a:endParaRPr sz="2000"/>
          </a:p>
          <a:p>
            <a:pPr marL="914400" lvl="1" indent="-355600" algn="l" rtl="0">
              <a:lnSpc>
                <a:spcPct val="100000"/>
              </a:lnSpc>
              <a:spcBef>
                <a:spcPts val="400"/>
              </a:spcBef>
              <a:spcAft>
                <a:spcPts val="0"/>
              </a:spcAft>
              <a:buSzPts val="2000"/>
              <a:buChar char="○"/>
            </a:pPr>
            <a:r>
              <a:rPr lang="en" sz="2000"/>
              <a:t>Indicates they will send no more data</a:t>
            </a:r>
            <a:endParaRPr sz="2000"/>
          </a:p>
          <a:p>
            <a:pPr marL="914400" lvl="1" indent="-355600" algn="l" rtl="0">
              <a:lnSpc>
                <a:spcPct val="100000"/>
              </a:lnSpc>
              <a:spcBef>
                <a:spcPts val="400"/>
              </a:spcBef>
              <a:spcAft>
                <a:spcPts val="0"/>
              </a:spcAft>
              <a:buSzPts val="2000"/>
              <a:buChar char="○"/>
            </a:pPr>
            <a:r>
              <a:rPr lang="en" sz="2000"/>
              <a:t>Sends a FIN</a:t>
            </a:r>
            <a:endParaRPr sz="2000"/>
          </a:p>
          <a:p>
            <a:pPr marL="914400" lvl="1" indent="-355600" algn="l" rtl="0">
              <a:lnSpc>
                <a:spcPct val="100000"/>
              </a:lnSpc>
              <a:spcBef>
                <a:spcPts val="400"/>
              </a:spcBef>
              <a:spcAft>
                <a:spcPts val="0"/>
              </a:spcAft>
              <a:buSzPts val="2000"/>
              <a:buChar char="○"/>
            </a:pPr>
            <a:r>
              <a:rPr lang="en" sz="2000"/>
              <a:t>Receives an ACK</a:t>
            </a:r>
            <a:endParaRPr sz="2000"/>
          </a:p>
          <a:p>
            <a:pPr marL="457200" lvl="0" indent="-355600" algn="l" rtl="0">
              <a:lnSpc>
                <a:spcPct val="100000"/>
              </a:lnSpc>
              <a:spcBef>
                <a:spcPts val="400"/>
              </a:spcBef>
              <a:spcAft>
                <a:spcPts val="0"/>
              </a:spcAft>
              <a:buSzPts val="2000"/>
              <a:buChar char="●"/>
            </a:pPr>
            <a:r>
              <a:rPr lang="en" sz="2000"/>
              <a:t>Other side may continue transmitting</a:t>
            </a:r>
            <a:endParaRPr sz="2000"/>
          </a:p>
          <a:p>
            <a:pPr marL="457200" lvl="0" indent="-355600" algn="l" rtl="0">
              <a:lnSpc>
                <a:spcPct val="100000"/>
              </a:lnSpc>
              <a:spcBef>
                <a:spcPts val="400"/>
              </a:spcBef>
              <a:spcAft>
                <a:spcPts val="0"/>
              </a:spcAft>
              <a:buSzPts val="2000"/>
              <a:buChar char="●"/>
            </a:pPr>
            <a:r>
              <a:rPr lang="en" sz="2000"/>
              <a:t>Eventually it closes as well</a:t>
            </a:r>
            <a:endParaRPr sz="2000"/>
          </a:p>
          <a:p>
            <a:pPr marL="914400" lvl="1" indent="-355600" algn="l" rtl="0">
              <a:lnSpc>
                <a:spcPct val="100000"/>
              </a:lnSpc>
              <a:spcBef>
                <a:spcPts val="400"/>
              </a:spcBef>
              <a:spcAft>
                <a:spcPts val="0"/>
              </a:spcAft>
              <a:buSzPts val="2000"/>
              <a:buChar char="○"/>
            </a:pPr>
            <a:r>
              <a:rPr lang="en" sz="2000"/>
              <a:t>Sends a FIN</a:t>
            </a:r>
            <a:endParaRPr sz="2000"/>
          </a:p>
          <a:p>
            <a:pPr marL="914400" lvl="1" indent="-355600" algn="l" rtl="0">
              <a:lnSpc>
                <a:spcPct val="100000"/>
              </a:lnSpc>
              <a:spcBef>
                <a:spcPts val="400"/>
              </a:spcBef>
              <a:spcAft>
                <a:spcPts val="0"/>
              </a:spcAft>
              <a:buSzPts val="2000"/>
              <a:buChar char="○"/>
            </a:pPr>
            <a:r>
              <a:rPr lang="en" sz="2000"/>
              <a:t>Receives an ACK</a:t>
            </a:r>
            <a:endParaRPr sz="2000"/>
          </a:p>
          <a:p>
            <a:pPr marL="457200" lvl="0" indent="-355600" algn="l" rtl="0">
              <a:lnSpc>
                <a:spcPct val="100000"/>
              </a:lnSpc>
              <a:spcBef>
                <a:spcPts val="400"/>
              </a:spcBef>
              <a:spcAft>
                <a:spcPts val="0"/>
              </a:spcAft>
              <a:buSzPts val="2000"/>
              <a:buChar char="●"/>
            </a:pPr>
            <a:r>
              <a:rPr lang="en" sz="2000"/>
              <a:t>Connection is closed</a:t>
            </a:r>
            <a:endParaRPr sz="2000"/>
          </a:p>
        </p:txBody>
      </p:sp>
      <p:pic>
        <p:nvPicPr>
          <p:cNvPr id="884" name="Google Shape;884;g36aa5e117e9_3_1300" descr="http://www.masterraghu.com/subjects/np/introduction/unix_network_programming_v1.3/files/02fig03.gif"/>
          <p:cNvPicPr preferRelativeResize="0"/>
          <p:nvPr/>
        </p:nvPicPr>
        <p:blipFill rotWithShape="1">
          <a:blip r:embed="rId3">
            <a:alphaModFix/>
          </a:blip>
          <a:srcRect/>
          <a:stretch/>
        </p:blipFill>
        <p:spPr>
          <a:xfrm>
            <a:off x="4299937" y="2450195"/>
            <a:ext cx="4741441" cy="228112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36aa5e117e9_3_1306"/>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TCP Reset</a:t>
            </a:r>
            <a:endParaRPr/>
          </a:p>
        </p:txBody>
      </p:sp>
      <p:sp>
        <p:nvSpPr>
          <p:cNvPr id="890" name="Google Shape;890;g36aa5e117e9_3_1306"/>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Reset the connection</a:t>
            </a:r>
            <a:endParaRPr sz="2000"/>
          </a:p>
          <a:p>
            <a:pPr marL="914400" lvl="1" indent="-355600" algn="l" rtl="0">
              <a:lnSpc>
                <a:spcPct val="100000"/>
              </a:lnSpc>
              <a:spcBef>
                <a:spcPts val="400"/>
              </a:spcBef>
              <a:spcAft>
                <a:spcPts val="0"/>
              </a:spcAft>
              <a:buSzPts val="2000"/>
              <a:buChar char="○"/>
            </a:pPr>
            <a:r>
              <a:rPr lang="en" sz="2000"/>
              <a:t>Most commonly, attempt to SYN on a closed port</a:t>
            </a:r>
            <a:endParaRPr sz="2000"/>
          </a:p>
          <a:p>
            <a:pPr marL="457200" lvl="0" indent="-355600" algn="l" rtl="0">
              <a:lnSpc>
                <a:spcPct val="100000"/>
              </a:lnSpc>
              <a:spcBef>
                <a:spcPts val="400"/>
              </a:spcBef>
              <a:spcAft>
                <a:spcPts val="0"/>
              </a:spcAft>
              <a:buSzPts val="2000"/>
              <a:buChar char="●"/>
            </a:pPr>
            <a:r>
              <a:rPr lang="en" sz="2000"/>
              <a:t>Send RST packet(s) only (no ACK)</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36aa5e117e9_3_1312"/>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TCP</a:t>
            </a:r>
            <a:endParaRPr/>
          </a:p>
        </p:txBody>
      </p:sp>
      <p:sp>
        <p:nvSpPr>
          <p:cNvPr id="896" name="Google Shape;896;g36aa5e117e9_3_1312"/>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TCP Header</a:t>
            </a:r>
            <a:endParaRPr b="1">
              <a:latin typeface="Roboto"/>
              <a:ea typeface="Roboto"/>
              <a:cs typeface="Roboto"/>
              <a:sym typeface="Roboto"/>
            </a:endParaRPr>
          </a:p>
          <a:p>
            <a:pPr marL="457200" lvl="0" indent="-342900" algn="l" rtl="0">
              <a:lnSpc>
                <a:spcPct val="115000"/>
              </a:lnSpc>
              <a:spcBef>
                <a:spcPts val="600"/>
              </a:spcBef>
              <a:spcAft>
                <a:spcPts val="0"/>
              </a:spcAft>
              <a:buSzPts val="1800"/>
              <a:buFont typeface="Roboto"/>
              <a:buChar char="•"/>
            </a:pPr>
            <a:r>
              <a:rPr lang="en" b="1">
                <a:latin typeface="Roboto"/>
                <a:ea typeface="Roboto"/>
                <a:cs typeface="Roboto"/>
                <a:sym typeface="Roboto"/>
              </a:rPr>
              <a:t>Connection Establishment</a:t>
            </a:r>
            <a:endParaRPr b="1">
              <a:latin typeface="Roboto"/>
              <a:ea typeface="Roboto"/>
              <a:cs typeface="Roboto"/>
              <a:sym typeface="Roboto"/>
            </a:endParaRPr>
          </a:p>
          <a:p>
            <a:pPr marL="457200" lvl="0" indent="-342900" algn="l" rtl="0">
              <a:lnSpc>
                <a:spcPct val="115000"/>
              </a:lnSpc>
              <a:spcBef>
                <a:spcPts val="600"/>
              </a:spcBef>
              <a:spcAft>
                <a:spcPts val="0"/>
              </a:spcAft>
              <a:buSzPts val="1800"/>
              <a:buFont typeface="Roboto"/>
              <a:buChar char="•"/>
            </a:pPr>
            <a:r>
              <a:rPr lang="en" b="1">
                <a:latin typeface="Roboto"/>
                <a:ea typeface="Roboto"/>
                <a:cs typeface="Roboto"/>
                <a:sym typeface="Roboto"/>
              </a:rPr>
              <a:t>Teardown</a:t>
            </a:r>
            <a:endParaRPr b="1">
              <a:latin typeface="Roboto"/>
              <a:ea typeface="Roboto"/>
              <a:cs typeface="Roboto"/>
              <a:sym typeface="Roboto"/>
            </a:endParaRPr>
          </a:p>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Reliability</a:t>
            </a:r>
            <a:endParaRPr b="1">
              <a:solidFill>
                <a:schemeClr val="accent3"/>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36aa5e117e9_3_1317"/>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Reliability</a:t>
            </a:r>
            <a:endParaRPr/>
          </a:p>
        </p:txBody>
      </p:sp>
      <p:sp>
        <p:nvSpPr>
          <p:cNvPr id="902" name="Google Shape;902;g36aa5e117e9_3_1317"/>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Cumulative ACKs</a:t>
            </a:r>
            <a:endParaRPr sz="2000"/>
          </a:p>
          <a:p>
            <a:pPr marL="914400" lvl="1" indent="-355600" algn="l" rtl="0">
              <a:lnSpc>
                <a:spcPct val="100000"/>
              </a:lnSpc>
              <a:spcBef>
                <a:spcPts val="400"/>
              </a:spcBef>
              <a:spcAft>
                <a:spcPts val="0"/>
              </a:spcAft>
              <a:buSzPts val="2000"/>
              <a:buChar char="○"/>
            </a:pPr>
            <a:r>
              <a:rPr lang="en" sz="2000"/>
              <a:t>Allow detection of dropped packets</a:t>
            </a:r>
            <a:endParaRPr sz="2000"/>
          </a:p>
          <a:p>
            <a:pPr marL="457200" lvl="0" indent="-355600" algn="l" rtl="0">
              <a:lnSpc>
                <a:spcPct val="100000"/>
              </a:lnSpc>
              <a:spcBef>
                <a:spcPts val="400"/>
              </a:spcBef>
              <a:spcAft>
                <a:spcPts val="0"/>
              </a:spcAft>
              <a:buSzPts val="2000"/>
              <a:buChar char="●"/>
            </a:pPr>
            <a:r>
              <a:rPr lang="en" sz="2000"/>
              <a:t>How do we know a packet was lost?</a:t>
            </a:r>
            <a:endParaRPr sz="2000"/>
          </a:p>
          <a:p>
            <a:pPr marL="914400" lvl="1" indent="-355600" algn="l" rtl="0">
              <a:lnSpc>
                <a:spcPct val="100000"/>
              </a:lnSpc>
              <a:spcBef>
                <a:spcPts val="400"/>
              </a:spcBef>
              <a:spcAft>
                <a:spcPts val="0"/>
              </a:spcAft>
              <a:buSzPts val="2000"/>
              <a:buChar char="○"/>
            </a:pPr>
            <a:r>
              <a:rPr lang="en" sz="2000"/>
              <a:t>Timeout</a:t>
            </a:r>
            <a:endParaRPr sz="2000"/>
          </a:p>
          <a:p>
            <a:pPr marL="914400" lvl="1" indent="-355600" algn="l" rtl="0">
              <a:lnSpc>
                <a:spcPct val="100000"/>
              </a:lnSpc>
              <a:spcBef>
                <a:spcPts val="400"/>
              </a:spcBef>
              <a:spcAft>
                <a:spcPts val="0"/>
              </a:spcAft>
              <a:buSzPts val="2000"/>
              <a:buChar char="○"/>
            </a:pPr>
            <a:r>
              <a:rPr lang="en" sz="2000"/>
              <a:t>Duplicate ACKs</a:t>
            </a: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36aa5e117e9_3_1322"/>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Timeout</a:t>
            </a:r>
            <a:endParaRPr/>
          </a:p>
        </p:txBody>
      </p:sp>
      <p:sp>
        <p:nvSpPr>
          <p:cNvPr id="908" name="Google Shape;908;g36aa5e117e9_3_1322"/>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Retransmission Time Out (RTO)</a:t>
            </a:r>
            <a:endParaRPr sz="2000"/>
          </a:p>
          <a:p>
            <a:pPr marL="914400" lvl="1" indent="-355600" algn="l" rtl="0">
              <a:lnSpc>
                <a:spcPct val="100000"/>
              </a:lnSpc>
              <a:spcBef>
                <a:spcPts val="400"/>
              </a:spcBef>
              <a:spcAft>
                <a:spcPts val="0"/>
              </a:spcAft>
              <a:buSzPts val="2000"/>
              <a:buChar char="○"/>
            </a:pPr>
            <a:r>
              <a:rPr lang="en" sz="2000"/>
              <a:t>Timeout after which packets are retransmitted</a:t>
            </a:r>
            <a:endParaRPr sz="2000"/>
          </a:p>
          <a:p>
            <a:pPr marL="914400" lvl="1" indent="-355600" algn="l" rtl="0">
              <a:lnSpc>
                <a:spcPct val="100000"/>
              </a:lnSpc>
              <a:spcBef>
                <a:spcPts val="400"/>
              </a:spcBef>
              <a:spcAft>
                <a:spcPts val="0"/>
              </a:spcAft>
              <a:buSzPts val="2000"/>
              <a:buChar char="○"/>
            </a:pPr>
            <a:r>
              <a:rPr lang="en" sz="2000"/>
              <a:t>Based on a constantly updated RTT estimate (and variance)</a:t>
            </a:r>
            <a:endParaRPr sz="2000"/>
          </a:p>
          <a:p>
            <a:pPr marL="457200" lvl="0" indent="-355600" algn="l" rtl="0">
              <a:lnSpc>
                <a:spcPct val="100000"/>
              </a:lnSpc>
              <a:spcBef>
                <a:spcPts val="400"/>
              </a:spcBef>
              <a:spcAft>
                <a:spcPts val="0"/>
              </a:spcAft>
              <a:buSzPts val="2000"/>
              <a:buChar char="●"/>
            </a:pPr>
            <a:r>
              <a:rPr lang="en" sz="2000"/>
              <a:t>Single timer (not per-packet)</a:t>
            </a:r>
            <a:endParaRPr sz="2000"/>
          </a:p>
          <a:p>
            <a:pPr marL="914400" lvl="1" indent="-355600" algn="l" rtl="0">
              <a:lnSpc>
                <a:spcPct val="100000"/>
              </a:lnSpc>
              <a:spcBef>
                <a:spcPts val="400"/>
              </a:spcBef>
              <a:spcAft>
                <a:spcPts val="0"/>
              </a:spcAft>
              <a:buSzPts val="2000"/>
              <a:buChar char="○"/>
            </a:pPr>
            <a:r>
              <a:rPr lang="en" sz="2000"/>
              <a:t>Each received ACK of new data resets RTO</a:t>
            </a:r>
            <a:endParaRPr sz="2000"/>
          </a:p>
          <a:p>
            <a:pPr marL="914400" lvl="1" indent="-355600" algn="l" rtl="0">
              <a:lnSpc>
                <a:spcPct val="100000"/>
              </a:lnSpc>
              <a:spcBef>
                <a:spcPts val="400"/>
              </a:spcBef>
              <a:spcAft>
                <a:spcPts val="0"/>
              </a:spcAft>
              <a:buSzPts val="2000"/>
              <a:buChar char="○"/>
            </a:pPr>
            <a:r>
              <a:rPr lang="en" sz="2000"/>
              <a:t>If RTO times out</a:t>
            </a:r>
            <a:endParaRPr sz="2000"/>
          </a:p>
          <a:p>
            <a:pPr marL="1371600" lvl="2" indent="-355600" algn="l" rtl="0">
              <a:lnSpc>
                <a:spcPct val="100000"/>
              </a:lnSpc>
              <a:spcBef>
                <a:spcPts val="400"/>
              </a:spcBef>
              <a:spcAft>
                <a:spcPts val="0"/>
              </a:spcAft>
              <a:buSzPts val="2000"/>
              <a:buChar char="■"/>
            </a:pPr>
            <a:r>
              <a:rPr lang="en" sz="2000"/>
              <a:t>Retransmit packet containing “next byte”</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36aa5e117e9_3_1327"/>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Timeout</a:t>
            </a:r>
            <a:endParaRPr/>
          </a:p>
        </p:txBody>
      </p:sp>
      <p:sp>
        <p:nvSpPr>
          <p:cNvPr id="914" name="Google Shape;914;g36aa5e117e9_3_1327"/>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55600" algn="l" rtl="0">
              <a:lnSpc>
                <a:spcPct val="100000"/>
              </a:lnSpc>
              <a:spcBef>
                <a:spcPts val="400"/>
              </a:spcBef>
              <a:spcAft>
                <a:spcPts val="0"/>
              </a:spcAft>
              <a:buSzPts val="2000"/>
              <a:buChar char="●"/>
            </a:pPr>
            <a:r>
              <a:rPr lang="en" sz="2000"/>
              <a:t>What if RTO is too large?</a:t>
            </a:r>
            <a:endParaRPr sz="2000"/>
          </a:p>
          <a:p>
            <a:pPr marL="457200" lvl="0" indent="-355600" algn="l" rtl="0">
              <a:lnSpc>
                <a:spcPct val="100000"/>
              </a:lnSpc>
              <a:spcBef>
                <a:spcPts val="400"/>
              </a:spcBef>
              <a:spcAft>
                <a:spcPts val="0"/>
              </a:spcAft>
              <a:buSzPts val="2000"/>
              <a:buChar char="●"/>
            </a:pPr>
            <a:r>
              <a:rPr lang="en" sz="2000"/>
              <a:t>Packet is dropped . . .</a:t>
            </a:r>
            <a:endParaRPr sz="2000"/>
          </a:p>
          <a:p>
            <a:pPr marL="914400" lvl="1" indent="-355600" algn="l" rtl="0">
              <a:lnSpc>
                <a:spcPct val="100000"/>
              </a:lnSpc>
              <a:spcBef>
                <a:spcPts val="400"/>
              </a:spcBef>
              <a:spcAft>
                <a:spcPts val="0"/>
              </a:spcAft>
              <a:buSzPts val="2000"/>
              <a:buChar char="○"/>
            </a:pPr>
            <a:r>
              <a:rPr lang="en" sz="2000"/>
              <a:t>Wait</a:t>
            </a:r>
            <a:endParaRPr sz="2000"/>
          </a:p>
          <a:p>
            <a:pPr marL="914400" lvl="1" indent="-355600" algn="l" rtl="0">
              <a:lnSpc>
                <a:spcPct val="100000"/>
              </a:lnSpc>
              <a:spcBef>
                <a:spcPts val="400"/>
              </a:spcBef>
              <a:spcAft>
                <a:spcPts val="0"/>
              </a:spcAft>
              <a:buSzPts val="2000"/>
              <a:buChar char="○"/>
            </a:pPr>
            <a:r>
              <a:rPr lang="en" sz="2000"/>
              <a:t>Keep waiting</a:t>
            </a:r>
            <a:endParaRPr sz="2000"/>
          </a:p>
          <a:p>
            <a:pPr marL="914400" lvl="1" indent="-355600" algn="l" rtl="0">
              <a:lnSpc>
                <a:spcPct val="100000"/>
              </a:lnSpc>
              <a:spcBef>
                <a:spcPts val="400"/>
              </a:spcBef>
              <a:spcAft>
                <a:spcPts val="0"/>
              </a:spcAft>
              <a:buSzPts val="2000"/>
              <a:buChar char="○"/>
            </a:pPr>
            <a:r>
              <a:rPr lang="en" sz="2000"/>
              <a:t>… Keep waiting</a:t>
            </a:r>
            <a:endParaRPr sz="2000"/>
          </a:p>
          <a:p>
            <a:pPr marL="914400" lvl="1" indent="-355600" algn="l" rtl="0">
              <a:lnSpc>
                <a:spcPct val="100000"/>
              </a:lnSpc>
              <a:spcBef>
                <a:spcPts val="400"/>
              </a:spcBef>
              <a:spcAft>
                <a:spcPts val="0"/>
              </a:spcAft>
              <a:buSzPts val="2000"/>
              <a:buChar char="○"/>
            </a:pPr>
            <a:r>
              <a:rPr lang="en" sz="2000"/>
              <a:t>Timer goes off</a:t>
            </a:r>
            <a:endParaRPr sz="2000"/>
          </a:p>
          <a:p>
            <a:pPr marL="1371600" lvl="2" indent="-355600" algn="l" rtl="0">
              <a:lnSpc>
                <a:spcPct val="100000"/>
              </a:lnSpc>
              <a:spcBef>
                <a:spcPts val="400"/>
              </a:spcBef>
              <a:spcAft>
                <a:spcPts val="0"/>
              </a:spcAft>
              <a:buSzPts val="2000"/>
              <a:buChar char="■"/>
            </a:pPr>
            <a:r>
              <a:rPr lang="en" sz="2000"/>
              <a:t>Finally retransmit</a:t>
            </a:r>
            <a:endParaRPr sz="2000"/>
          </a:p>
          <a:p>
            <a:pPr marL="457200" lvl="0" indent="-355600" algn="l" rtl="0">
              <a:lnSpc>
                <a:spcPct val="100000"/>
              </a:lnSpc>
              <a:spcBef>
                <a:spcPts val="400"/>
              </a:spcBef>
              <a:spcAft>
                <a:spcPts val="0"/>
              </a:spcAft>
              <a:buSzPts val="2000"/>
              <a:buChar char="●"/>
            </a:pPr>
            <a:r>
              <a:rPr lang="en" sz="2000"/>
              <a:t>Can we do better?</a:t>
            </a:r>
            <a:endParaRPr sz="2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36aa5e117e9_3_1332"/>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Duplicate ACKs</a:t>
            </a:r>
            <a:endParaRPr/>
          </a:p>
        </p:txBody>
      </p:sp>
      <p:sp>
        <p:nvSpPr>
          <p:cNvPr id="920" name="Google Shape;920;g36aa5e117e9_3_1332"/>
          <p:cNvSpPr txBox="1">
            <a:spLocks noGrp="1"/>
          </p:cNvSpPr>
          <p:nvPr>
            <p:ph type="body" idx="1"/>
          </p:nvPr>
        </p:nvSpPr>
        <p:spPr>
          <a:xfrm>
            <a:off x="107050" y="402200"/>
            <a:ext cx="8871600" cy="45306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400"/>
              </a:spcBef>
              <a:spcAft>
                <a:spcPts val="0"/>
              </a:spcAft>
              <a:buSzPts val="1800"/>
              <a:buChar char="●"/>
            </a:pPr>
            <a:r>
              <a:rPr lang="en"/>
              <a:t>Transmit</a:t>
            </a:r>
            <a:endParaRPr/>
          </a:p>
          <a:p>
            <a:pPr marL="914400" lvl="1" indent="-342900" algn="l" rtl="0">
              <a:lnSpc>
                <a:spcPct val="100000"/>
              </a:lnSpc>
              <a:spcBef>
                <a:spcPts val="400"/>
              </a:spcBef>
              <a:spcAft>
                <a:spcPts val="0"/>
              </a:spcAft>
              <a:buSzPts val="1800"/>
              <a:buChar char="○"/>
            </a:pPr>
            <a:r>
              <a:rPr lang="en"/>
              <a:t>Seq 1000</a:t>
            </a:r>
            <a:endParaRPr/>
          </a:p>
          <a:p>
            <a:pPr marL="914400" lvl="1" indent="-342900" algn="l" rtl="0">
              <a:lnSpc>
                <a:spcPct val="100000"/>
              </a:lnSpc>
              <a:spcBef>
                <a:spcPts val="400"/>
              </a:spcBef>
              <a:spcAft>
                <a:spcPts val="0"/>
              </a:spcAft>
              <a:buSzPts val="1800"/>
              <a:buChar char="○"/>
            </a:pPr>
            <a:r>
              <a:rPr lang="en"/>
              <a:t>Seq 2000</a:t>
            </a:r>
            <a:endParaRPr/>
          </a:p>
          <a:p>
            <a:pPr marL="914400" lvl="1" indent="-342900" algn="l" rtl="0">
              <a:lnSpc>
                <a:spcPct val="100000"/>
              </a:lnSpc>
              <a:spcBef>
                <a:spcPts val="400"/>
              </a:spcBef>
              <a:spcAft>
                <a:spcPts val="0"/>
              </a:spcAft>
              <a:buSzPts val="1800"/>
              <a:buChar char="○"/>
            </a:pPr>
            <a:r>
              <a:rPr lang="en" b="1" i="1">
                <a:solidFill>
                  <a:srgbClr val="990000"/>
                </a:solidFill>
              </a:rPr>
              <a:t>Seq 3000</a:t>
            </a:r>
            <a:r>
              <a:rPr lang="en" b="1" i="1"/>
              <a:t> Dropped in flight</a:t>
            </a:r>
            <a:endParaRPr b="1" i="1"/>
          </a:p>
          <a:p>
            <a:pPr marL="914400" lvl="1" indent="-342900" algn="l" rtl="0">
              <a:lnSpc>
                <a:spcPct val="100000"/>
              </a:lnSpc>
              <a:spcBef>
                <a:spcPts val="400"/>
              </a:spcBef>
              <a:spcAft>
                <a:spcPts val="0"/>
              </a:spcAft>
              <a:buSzPts val="1800"/>
              <a:buChar char="○"/>
            </a:pPr>
            <a:r>
              <a:rPr lang="en"/>
              <a:t>Seq 4000</a:t>
            </a:r>
            <a:endParaRPr/>
          </a:p>
          <a:p>
            <a:pPr marL="914400" lvl="1" indent="-342900" algn="l" rtl="0">
              <a:lnSpc>
                <a:spcPct val="100000"/>
              </a:lnSpc>
              <a:spcBef>
                <a:spcPts val="400"/>
              </a:spcBef>
              <a:spcAft>
                <a:spcPts val="0"/>
              </a:spcAft>
              <a:buSzPts val="1800"/>
              <a:buChar char="○"/>
            </a:pPr>
            <a:r>
              <a:rPr lang="en"/>
              <a:t>Seq 5000</a:t>
            </a:r>
            <a:endParaRPr/>
          </a:p>
          <a:p>
            <a:pPr marL="914400" lvl="1" indent="-342900" algn="l" rtl="0">
              <a:lnSpc>
                <a:spcPct val="100000"/>
              </a:lnSpc>
              <a:spcBef>
                <a:spcPts val="400"/>
              </a:spcBef>
              <a:spcAft>
                <a:spcPts val="0"/>
              </a:spcAft>
              <a:buSzPts val="1800"/>
              <a:buChar char="○"/>
            </a:pPr>
            <a:r>
              <a:rPr lang="en"/>
              <a:t>Seq 6000</a:t>
            </a:r>
            <a:endParaRPr/>
          </a:p>
          <a:p>
            <a:pPr marL="457200" lvl="0" indent="-342900" algn="l" rtl="0">
              <a:lnSpc>
                <a:spcPct val="100000"/>
              </a:lnSpc>
              <a:spcBef>
                <a:spcPts val="400"/>
              </a:spcBef>
              <a:spcAft>
                <a:spcPts val="0"/>
              </a:spcAft>
              <a:buSzPts val="1800"/>
              <a:buChar char="●"/>
            </a:pPr>
            <a:r>
              <a:rPr lang="en"/>
              <a:t>What ACKs do we receive?</a:t>
            </a:r>
            <a:endParaRPr/>
          </a:p>
          <a:p>
            <a:pPr marL="914400" lvl="1" indent="-342900" algn="l" rtl="0">
              <a:lnSpc>
                <a:spcPct val="100000"/>
              </a:lnSpc>
              <a:spcBef>
                <a:spcPts val="400"/>
              </a:spcBef>
              <a:spcAft>
                <a:spcPts val="0"/>
              </a:spcAft>
              <a:buSzPts val="1800"/>
              <a:buChar char="○"/>
            </a:pPr>
            <a:r>
              <a:rPr lang="en"/>
              <a:t>ACK 2000</a:t>
            </a:r>
            <a:endParaRPr/>
          </a:p>
          <a:p>
            <a:pPr marL="914400" lvl="1" indent="-342900" algn="l" rtl="0">
              <a:lnSpc>
                <a:spcPct val="100000"/>
              </a:lnSpc>
              <a:spcBef>
                <a:spcPts val="400"/>
              </a:spcBef>
              <a:spcAft>
                <a:spcPts val="0"/>
              </a:spcAft>
              <a:buSzPts val="1800"/>
              <a:buChar char="○"/>
            </a:pPr>
            <a:r>
              <a:rPr lang="en"/>
              <a:t>ACK 3000</a:t>
            </a:r>
            <a:endParaRPr/>
          </a:p>
          <a:p>
            <a:pPr marL="914400" lvl="1" indent="-342900" algn="l" rtl="0">
              <a:lnSpc>
                <a:spcPct val="100000"/>
              </a:lnSpc>
              <a:spcBef>
                <a:spcPts val="400"/>
              </a:spcBef>
              <a:spcAft>
                <a:spcPts val="0"/>
              </a:spcAft>
              <a:buSzPts val="1800"/>
              <a:buChar char="○"/>
            </a:pPr>
            <a:r>
              <a:rPr lang="en"/>
              <a:t>ACK 3000</a:t>
            </a:r>
            <a:endParaRPr/>
          </a:p>
          <a:p>
            <a:pPr marL="914400" lvl="1" indent="-342900" algn="l" rtl="0">
              <a:lnSpc>
                <a:spcPct val="100000"/>
              </a:lnSpc>
              <a:spcBef>
                <a:spcPts val="400"/>
              </a:spcBef>
              <a:spcAft>
                <a:spcPts val="0"/>
              </a:spcAft>
              <a:buSzPts val="1800"/>
              <a:buChar char="○"/>
            </a:pPr>
            <a:r>
              <a:rPr lang="en"/>
              <a:t>ACK 3000</a:t>
            </a:r>
            <a:endParaRPr/>
          </a:p>
          <a:p>
            <a:pPr marL="914400" lvl="1" indent="-342900" algn="l" rtl="0">
              <a:lnSpc>
                <a:spcPct val="100000"/>
              </a:lnSpc>
              <a:spcBef>
                <a:spcPts val="400"/>
              </a:spcBef>
              <a:spcAft>
                <a:spcPts val="0"/>
              </a:spcAft>
              <a:buSzPts val="1800"/>
              <a:buChar char="○"/>
            </a:pPr>
            <a:r>
              <a:rPr lang="en"/>
              <a:t>ACK 3000</a:t>
            </a:r>
            <a:endParaRPr/>
          </a:p>
          <a:p>
            <a:pPr marL="457200" lvl="0" indent="-342900" algn="l" rtl="0">
              <a:lnSpc>
                <a:spcPct val="100000"/>
              </a:lnSpc>
              <a:spcBef>
                <a:spcPts val="400"/>
              </a:spcBef>
              <a:spcAft>
                <a:spcPts val="0"/>
              </a:spcAft>
              <a:buSzPts val="1800"/>
              <a:buChar char="●"/>
            </a:pPr>
            <a:r>
              <a:rPr lang="en"/>
              <a:t>Duplicate ACKs indicate packet loss/reorder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g36aa5e117e9_3_1337"/>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Worksheet</a:t>
            </a:r>
            <a:endParaRPr/>
          </a:p>
        </p:txBody>
      </p:sp>
      <p:sp>
        <p:nvSpPr>
          <p:cNvPr id="926" name="Google Shape;926;g36aa5e117e9_3_1337"/>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TCP in Action</a:t>
            </a:r>
            <a:endParaRPr b="1">
              <a:solidFill>
                <a:schemeClr val="accent3"/>
              </a:solidFill>
              <a:latin typeface="Roboto"/>
              <a:ea typeface="Roboto"/>
              <a:cs typeface="Roboto"/>
              <a:sym typeface="Roboto"/>
            </a:endParaRPr>
          </a:p>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TCP Calculations</a:t>
            </a:r>
            <a:endParaRPr b="1">
              <a:solidFill>
                <a:srgbClr val="CCCCCC"/>
              </a:solidFill>
              <a:latin typeface="Roboto"/>
              <a:ea typeface="Roboto"/>
              <a:cs typeface="Roboto"/>
              <a:sym typeface="Roboto"/>
            </a:endParaRPr>
          </a:p>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Reliable Transport</a:t>
            </a:r>
            <a:endParaRPr b="1">
              <a:solidFill>
                <a:srgbClr val="CCCCCC"/>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344c3b177df_0_26"/>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Question 1: TCP in Action</a:t>
            </a:r>
            <a:endParaRPr/>
          </a:p>
        </p:txBody>
      </p:sp>
      <p:pic>
        <p:nvPicPr>
          <p:cNvPr id="932" name="Google Shape;932;g344c3b177df_0_26" title="Screenshot 2025-07-13 at 10.31.35 PM.png"/>
          <p:cNvPicPr preferRelativeResize="0"/>
          <p:nvPr/>
        </p:nvPicPr>
        <p:blipFill rotWithShape="1">
          <a:blip r:embed="rId3">
            <a:alphaModFix/>
          </a:blip>
          <a:srcRect/>
          <a:stretch/>
        </p:blipFill>
        <p:spPr>
          <a:xfrm>
            <a:off x="-1007559" y="-714902"/>
            <a:ext cx="5080117" cy="4445102"/>
          </a:xfrm>
          <a:prstGeom prst="rect">
            <a:avLst/>
          </a:prstGeom>
          <a:noFill/>
          <a:ln>
            <a:noFill/>
          </a:ln>
        </p:spPr>
      </p:pic>
      <p:pic>
        <p:nvPicPr>
          <p:cNvPr id="933" name="Google Shape;933;g344c3b177df_0_26" title="Screenshot 2025-07-13 at 10.31.54 PM.png"/>
          <p:cNvPicPr preferRelativeResize="0"/>
          <p:nvPr/>
        </p:nvPicPr>
        <p:blipFill rotWithShape="1">
          <a:blip r:embed="rId4">
            <a:alphaModFix/>
          </a:blip>
          <a:srcRect/>
          <a:stretch/>
        </p:blipFill>
        <p:spPr>
          <a:xfrm>
            <a:off x="3274875" y="2748100"/>
            <a:ext cx="411800" cy="132650"/>
          </a:xfrm>
          <a:prstGeom prst="rect">
            <a:avLst/>
          </a:prstGeom>
          <a:noFill/>
          <a:ln>
            <a:noFill/>
          </a:ln>
        </p:spPr>
      </p:pic>
      <p:pic>
        <p:nvPicPr>
          <p:cNvPr id="934" name="Google Shape;934;g344c3b177df_0_26" title="Screenshot 2025-07-13 at 10.31.54 PM.png"/>
          <p:cNvPicPr preferRelativeResize="0"/>
          <p:nvPr/>
        </p:nvPicPr>
        <p:blipFill rotWithShape="1">
          <a:blip r:embed="rId4">
            <a:alphaModFix/>
          </a:blip>
          <a:srcRect/>
          <a:stretch/>
        </p:blipFill>
        <p:spPr>
          <a:xfrm>
            <a:off x="5562375" y="2724850"/>
            <a:ext cx="411800" cy="132650"/>
          </a:xfrm>
          <a:prstGeom prst="rect">
            <a:avLst/>
          </a:prstGeom>
          <a:noFill/>
          <a:ln>
            <a:noFill/>
          </a:ln>
        </p:spPr>
      </p:pic>
      <p:pic>
        <p:nvPicPr>
          <p:cNvPr id="935" name="Google Shape;935;g344c3b177df_0_26" title="Screenshot 2025-07-13 at 10.31.54 PM.png"/>
          <p:cNvPicPr preferRelativeResize="0"/>
          <p:nvPr/>
        </p:nvPicPr>
        <p:blipFill rotWithShape="1">
          <a:blip r:embed="rId4">
            <a:alphaModFix/>
          </a:blip>
          <a:srcRect/>
          <a:stretch/>
        </p:blipFill>
        <p:spPr>
          <a:xfrm>
            <a:off x="3349575" y="2914700"/>
            <a:ext cx="411800" cy="132650"/>
          </a:xfrm>
          <a:prstGeom prst="rect">
            <a:avLst/>
          </a:prstGeom>
          <a:noFill/>
          <a:ln>
            <a:noFill/>
          </a:ln>
        </p:spPr>
      </p:pic>
      <p:pic>
        <p:nvPicPr>
          <p:cNvPr id="936" name="Google Shape;936;g344c3b177df_0_26" title="Screenshot 2025-07-13 at 10.31.54 PM.png"/>
          <p:cNvPicPr preferRelativeResize="0"/>
          <p:nvPr/>
        </p:nvPicPr>
        <p:blipFill rotWithShape="1">
          <a:blip r:embed="rId4">
            <a:alphaModFix/>
          </a:blip>
          <a:srcRect/>
          <a:stretch/>
        </p:blipFill>
        <p:spPr>
          <a:xfrm>
            <a:off x="4208325" y="2914700"/>
            <a:ext cx="411800" cy="132650"/>
          </a:xfrm>
          <a:prstGeom prst="rect">
            <a:avLst/>
          </a:prstGeom>
          <a:noFill/>
          <a:ln>
            <a:noFill/>
          </a:ln>
        </p:spPr>
      </p:pic>
      <p:pic>
        <p:nvPicPr>
          <p:cNvPr id="937" name="Google Shape;937;g344c3b177df_0_26" title="Screenshot 2025-07-13 at 10.31.54 PM.png"/>
          <p:cNvPicPr preferRelativeResize="0"/>
          <p:nvPr/>
        </p:nvPicPr>
        <p:blipFill rotWithShape="1">
          <a:blip r:embed="rId4">
            <a:alphaModFix/>
          </a:blip>
          <a:srcRect/>
          <a:stretch/>
        </p:blipFill>
        <p:spPr>
          <a:xfrm>
            <a:off x="5562375" y="2914700"/>
            <a:ext cx="411800" cy="132650"/>
          </a:xfrm>
          <a:prstGeom prst="rect">
            <a:avLst/>
          </a:prstGeom>
          <a:noFill/>
          <a:ln>
            <a:noFill/>
          </a:ln>
        </p:spPr>
      </p:pic>
      <p:pic>
        <p:nvPicPr>
          <p:cNvPr id="938" name="Google Shape;938;g344c3b177df_0_26" title="Screenshot 2025-07-13 at 10.31.54 PM.png"/>
          <p:cNvPicPr preferRelativeResize="0"/>
          <p:nvPr/>
        </p:nvPicPr>
        <p:blipFill rotWithShape="1">
          <a:blip r:embed="rId4">
            <a:alphaModFix/>
          </a:blip>
          <a:srcRect/>
          <a:stretch/>
        </p:blipFill>
        <p:spPr>
          <a:xfrm>
            <a:off x="3317450" y="3104550"/>
            <a:ext cx="411800" cy="132650"/>
          </a:xfrm>
          <a:prstGeom prst="rect">
            <a:avLst/>
          </a:prstGeom>
          <a:noFill/>
          <a:ln>
            <a:noFill/>
          </a:ln>
        </p:spPr>
      </p:pic>
      <p:pic>
        <p:nvPicPr>
          <p:cNvPr id="939" name="Google Shape;939;g344c3b177df_0_26" title="Screenshot 2025-07-13 at 10.31.54 PM.png"/>
          <p:cNvPicPr preferRelativeResize="0"/>
          <p:nvPr/>
        </p:nvPicPr>
        <p:blipFill rotWithShape="1">
          <a:blip r:embed="rId4">
            <a:alphaModFix/>
          </a:blip>
          <a:srcRect/>
          <a:stretch/>
        </p:blipFill>
        <p:spPr>
          <a:xfrm>
            <a:off x="5631725" y="3139225"/>
            <a:ext cx="411800" cy="132650"/>
          </a:xfrm>
          <a:prstGeom prst="rect">
            <a:avLst/>
          </a:prstGeom>
          <a:noFill/>
          <a:ln>
            <a:noFill/>
          </a:ln>
        </p:spPr>
      </p:pic>
      <p:pic>
        <p:nvPicPr>
          <p:cNvPr id="940" name="Google Shape;940;g344c3b177df_0_26" title="Screenshot 2025-07-13 at 10.31.54 PM.png"/>
          <p:cNvPicPr preferRelativeResize="0"/>
          <p:nvPr/>
        </p:nvPicPr>
        <p:blipFill rotWithShape="1">
          <a:blip r:embed="rId4">
            <a:alphaModFix/>
          </a:blip>
          <a:srcRect/>
          <a:stretch/>
        </p:blipFill>
        <p:spPr>
          <a:xfrm>
            <a:off x="3317450" y="3329100"/>
            <a:ext cx="411800" cy="132650"/>
          </a:xfrm>
          <a:prstGeom prst="rect">
            <a:avLst/>
          </a:prstGeom>
          <a:noFill/>
          <a:ln>
            <a:noFill/>
          </a:ln>
        </p:spPr>
      </p:pic>
      <p:pic>
        <p:nvPicPr>
          <p:cNvPr id="941" name="Google Shape;941;g344c3b177df_0_26" title="Screenshot 2025-07-13 at 10.31.54 PM.png"/>
          <p:cNvPicPr preferRelativeResize="0"/>
          <p:nvPr/>
        </p:nvPicPr>
        <p:blipFill rotWithShape="1">
          <a:blip r:embed="rId4">
            <a:alphaModFix/>
          </a:blip>
          <a:srcRect/>
          <a:stretch/>
        </p:blipFill>
        <p:spPr>
          <a:xfrm>
            <a:off x="5594250" y="3329100"/>
            <a:ext cx="411800" cy="132650"/>
          </a:xfrm>
          <a:prstGeom prst="rect">
            <a:avLst/>
          </a:prstGeom>
          <a:noFill/>
          <a:ln>
            <a:noFill/>
          </a:ln>
        </p:spPr>
      </p:pic>
      <p:pic>
        <p:nvPicPr>
          <p:cNvPr id="942" name="Google Shape;942;g344c3b177df_0_26" title="Screenshot 2025-07-13 at 10.31.54 PM.png"/>
          <p:cNvPicPr preferRelativeResize="0"/>
          <p:nvPr/>
        </p:nvPicPr>
        <p:blipFill rotWithShape="1">
          <a:blip r:embed="rId4">
            <a:alphaModFix/>
          </a:blip>
          <a:srcRect/>
          <a:stretch/>
        </p:blipFill>
        <p:spPr>
          <a:xfrm>
            <a:off x="3317450" y="3529650"/>
            <a:ext cx="411800" cy="132650"/>
          </a:xfrm>
          <a:prstGeom prst="rect">
            <a:avLst/>
          </a:prstGeom>
          <a:noFill/>
          <a:ln>
            <a:noFill/>
          </a:ln>
        </p:spPr>
      </p:pic>
      <p:pic>
        <p:nvPicPr>
          <p:cNvPr id="943" name="Google Shape;943;g344c3b177df_0_26" title="Screenshot 2025-07-13 at 10.31.54 PM.png"/>
          <p:cNvPicPr preferRelativeResize="0"/>
          <p:nvPr/>
        </p:nvPicPr>
        <p:blipFill rotWithShape="1">
          <a:blip r:embed="rId4">
            <a:alphaModFix/>
          </a:blip>
          <a:srcRect/>
          <a:stretch/>
        </p:blipFill>
        <p:spPr>
          <a:xfrm>
            <a:off x="4909300" y="3529650"/>
            <a:ext cx="411800" cy="132650"/>
          </a:xfrm>
          <a:prstGeom prst="rect">
            <a:avLst/>
          </a:prstGeom>
          <a:noFill/>
          <a:ln>
            <a:noFill/>
          </a:ln>
        </p:spPr>
      </p:pic>
      <p:pic>
        <p:nvPicPr>
          <p:cNvPr id="944" name="Google Shape;944;g344c3b177df_0_26" title="Screenshot 2025-07-13 at 10.31.54 PM.png"/>
          <p:cNvPicPr preferRelativeResize="0"/>
          <p:nvPr/>
        </p:nvPicPr>
        <p:blipFill rotWithShape="1">
          <a:blip r:embed="rId4">
            <a:alphaModFix/>
          </a:blip>
          <a:srcRect/>
          <a:stretch/>
        </p:blipFill>
        <p:spPr>
          <a:xfrm>
            <a:off x="3274875" y="3730200"/>
            <a:ext cx="411800" cy="132650"/>
          </a:xfrm>
          <a:prstGeom prst="rect">
            <a:avLst/>
          </a:prstGeom>
          <a:noFill/>
          <a:ln>
            <a:noFill/>
          </a:ln>
        </p:spPr>
      </p:pic>
      <p:pic>
        <p:nvPicPr>
          <p:cNvPr id="945" name="Google Shape;945;g344c3b177df_0_26" title="Screenshot 2025-07-13 at 10.31.54 PM.png"/>
          <p:cNvPicPr preferRelativeResize="0"/>
          <p:nvPr/>
        </p:nvPicPr>
        <p:blipFill rotWithShape="1">
          <a:blip r:embed="rId4">
            <a:alphaModFix/>
          </a:blip>
          <a:srcRect/>
          <a:stretch/>
        </p:blipFill>
        <p:spPr>
          <a:xfrm>
            <a:off x="5594250" y="3730200"/>
            <a:ext cx="411800" cy="132650"/>
          </a:xfrm>
          <a:prstGeom prst="rect">
            <a:avLst/>
          </a:prstGeom>
          <a:noFill/>
          <a:ln>
            <a:noFill/>
          </a:ln>
        </p:spPr>
      </p:pic>
      <p:pic>
        <p:nvPicPr>
          <p:cNvPr id="946" name="Google Shape;946;g344c3b177df_0_26" title="Screenshot 2025-07-13 at 10.31.54 PM.png"/>
          <p:cNvPicPr preferRelativeResize="0"/>
          <p:nvPr/>
        </p:nvPicPr>
        <p:blipFill rotWithShape="1">
          <a:blip r:embed="rId4">
            <a:alphaModFix/>
          </a:blip>
          <a:srcRect/>
          <a:stretch/>
        </p:blipFill>
        <p:spPr>
          <a:xfrm>
            <a:off x="3349575" y="3930750"/>
            <a:ext cx="411800" cy="132650"/>
          </a:xfrm>
          <a:prstGeom prst="rect">
            <a:avLst/>
          </a:prstGeom>
          <a:noFill/>
          <a:ln>
            <a:noFill/>
          </a:ln>
        </p:spPr>
      </p:pic>
      <p:pic>
        <p:nvPicPr>
          <p:cNvPr id="947" name="Google Shape;947;g344c3b177df_0_26" title="Screenshot 2025-07-13 at 10.31.54 PM.png"/>
          <p:cNvPicPr preferRelativeResize="0"/>
          <p:nvPr/>
        </p:nvPicPr>
        <p:blipFill rotWithShape="1">
          <a:blip r:embed="rId4">
            <a:alphaModFix/>
          </a:blip>
          <a:srcRect/>
          <a:stretch/>
        </p:blipFill>
        <p:spPr>
          <a:xfrm>
            <a:off x="5658475" y="3933350"/>
            <a:ext cx="411800" cy="132650"/>
          </a:xfrm>
          <a:prstGeom prst="rect">
            <a:avLst/>
          </a:prstGeom>
          <a:noFill/>
          <a:ln>
            <a:noFill/>
          </a:ln>
        </p:spPr>
      </p:pic>
      <p:pic>
        <p:nvPicPr>
          <p:cNvPr id="948" name="Google Shape;948;g344c3b177df_0_26" title="Screenshot 2025-07-13 at 10.31.54 PM.png"/>
          <p:cNvPicPr preferRelativeResize="0"/>
          <p:nvPr/>
        </p:nvPicPr>
        <p:blipFill rotWithShape="1">
          <a:blip r:embed="rId4">
            <a:alphaModFix/>
          </a:blip>
          <a:srcRect/>
          <a:stretch/>
        </p:blipFill>
        <p:spPr>
          <a:xfrm>
            <a:off x="3274875" y="4131300"/>
            <a:ext cx="411800" cy="132650"/>
          </a:xfrm>
          <a:prstGeom prst="rect">
            <a:avLst/>
          </a:prstGeom>
          <a:noFill/>
          <a:ln>
            <a:noFill/>
          </a:ln>
        </p:spPr>
      </p:pic>
      <p:pic>
        <p:nvPicPr>
          <p:cNvPr id="949" name="Google Shape;949;g344c3b177df_0_26" title="Screenshot 2025-07-13 at 10.31.54 PM.png"/>
          <p:cNvPicPr preferRelativeResize="0"/>
          <p:nvPr/>
        </p:nvPicPr>
        <p:blipFill rotWithShape="1">
          <a:blip r:embed="rId4">
            <a:alphaModFix/>
          </a:blip>
          <a:srcRect/>
          <a:stretch/>
        </p:blipFill>
        <p:spPr>
          <a:xfrm>
            <a:off x="4208325" y="4131300"/>
            <a:ext cx="411800" cy="132650"/>
          </a:xfrm>
          <a:prstGeom prst="rect">
            <a:avLst/>
          </a:prstGeom>
          <a:noFill/>
          <a:ln>
            <a:noFill/>
          </a:ln>
        </p:spPr>
      </p:pic>
      <p:pic>
        <p:nvPicPr>
          <p:cNvPr id="950" name="Google Shape;950;g344c3b177df_0_26" title="Screenshot 2025-07-13 at 10.31.54 PM.png"/>
          <p:cNvPicPr preferRelativeResize="0"/>
          <p:nvPr/>
        </p:nvPicPr>
        <p:blipFill rotWithShape="1">
          <a:blip r:embed="rId4">
            <a:alphaModFix/>
          </a:blip>
          <a:srcRect/>
          <a:stretch/>
        </p:blipFill>
        <p:spPr>
          <a:xfrm>
            <a:off x="5594250" y="4136500"/>
            <a:ext cx="411800" cy="132650"/>
          </a:xfrm>
          <a:prstGeom prst="rect">
            <a:avLst/>
          </a:prstGeom>
          <a:noFill/>
          <a:ln>
            <a:noFill/>
          </a:ln>
        </p:spPr>
      </p:pic>
      <p:pic>
        <p:nvPicPr>
          <p:cNvPr id="951" name="Google Shape;951;g344c3b177df_0_26" title="Screenshot 2025-07-13 at 10.31.54 PM.png"/>
          <p:cNvPicPr preferRelativeResize="0"/>
          <p:nvPr/>
        </p:nvPicPr>
        <p:blipFill rotWithShape="1">
          <a:blip r:embed="rId4">
            <a:alphaModFix/>
          </a:blip>
          <a:srcRect/>
          <a:stretch/>
        </p:blipFill>
        <p:spPr>
          <a:xfrm>
            <a:off x="3253050" y="4331850"/>
            <a:ext cx="411800" cy="132650"/>
          </a:xfrm>
          <a:prstGeom prst="rect">
            <a:avLst/>
          </a:prstGeom>
          <a:noFill/>
          <a:ln>
            <a:noFill/>
          </a:ln>
        </p:spPr>
      </p:pic>
      <p:pic>
        <p:nvPicPr>
          <p:cNvPr id="952" name="Google Shape;952;g344c3b177df_0_26" title="Screenshot 2025-07-13 at 10.31.54 PM.png"/>
          <p:cNvPicPr preferRelativeResize="0"/>
          <p:nvPr/>
        </p:nvPicPr>
        <p:blipFill rotWithShape="1">
          <a:blip r:embed="rId4">
            <a:alphaModFix/>
          </a:blip>
          <a:srcRect/>
          <a:stretch/>
        </p:blipFill>
        <p:spPr>
          <a:xfrm>
            <a:off x="5562375" y="4321175"/>
            <a:ext cx="411800" cy="132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93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1"/>
                                          </p:stCondLst>
                                        </p:cTn>
                                        <p:tgtEl>
                                          <p:spTgt spid="93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
                                          </p:stCondLst>
                                        </p:cTn>
                                        <p:tgtEl>
                                          <p:spTgt spid="93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1"/>
                                          </p:stCondLst>
                                        </p:cTn>
                                        <p:tgtEl>
                                          <p:spTgt spid="93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1"/>
                                          </p:stCondLst>
                                        </p:cTn>
                                        <p:tgtEl>
                                          <p:spTgt spid="93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1"/>
                                          </p:stCondLst>
                                        </p:cTn>
                                        <p:tgtEl>
                                          <p:spTgt spid="93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1"/>
                                          </p:stCondLst>
                                        </p:cTn>
                                        <p:tgtEl>
                                          <p:spTgt spid="9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1"/>
                                          </p:stCondLst>
                                        </p:cTn>
                                        <p:tgtEl>
                                          <p:spTgt spid="94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1"/>
                                          </p:stCondLst>
                                        </p:cTn>
                                        <p:tgtEl>
                                          <p:spTgt spid="94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1"/>
                                          </p:stCondLst>
                                        </p:cTn>
                                        <p:tgtEl>
                                          <p:spTgt spid="94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1"/>
                                          </p:stCondLst>
                                        </p:cTn>
                                        <p:tgtEl>
                                          <p:spTgt spid="943"/>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1"/>
                                          </p:stCondLst>
                                        </p:cTn>
                                        <p:tgtEl>
                                          <p:spTgt spid="94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1"/>
                                          </p:stCondLst>
                                        </p:cTn>
                                        <p:tgtEl>
                                          <p:spTgt spid="94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1"/>
                                          </p:stCondLst>
                                        </p:cTn>
                                        <p:tgtEl>
                                          <p:spTgt spid="94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1"/>
                                          </p:stCondLst>
                                        </p:cTn>
                                        <p:tgtEl>
                                          <p:spTgt spid="94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1"/>
                                          </p:stCondLst>
                                        </p:cTn>
                                        <p:tgtEl>
                                          <p:spTgt spid="94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1"/>
                                          </p:stCondLst>
                                        </p:cTn>
                                        <p:tgtEl>
                                          <p:spTgt spid="94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1"/>
                                          </p:stCondLst>
                                        </p:cTn>
                                        <p:tgtEl>
                                          <p:spTgt spid="95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1"/>
                                          </p:stCondLst>
                                        </p:cTn>
                                        <p:tgtEl>
                                          <p:spTgt spid="95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1"/>
                                          </p:stCondLst>
                                        </p:cTn>
                                        <p:tgtEl>
                                          <p:spTgt spid="9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344c3b177df_0_123"/>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Question 1: TCP in Action</a:t>
            </a:r>
            <a:endParaRPr/>
          </a:p>
        </p:txBody>
      </p:sp>
      <p:pic>
        <p:nvPicPr>
          <p:cNvPr id="958" name="Google Shape;958;g344c3b177df_0_123" title="Screenshot 2025-07-13 at 10.35.57 PM.png"/>
          <p:cNvPicPr preferRelativeResize="0"/>
          <p:nvPr/>
        </p:nvPicPr>
        <p:blipFill rotWithShape="1">
          <a:blip r:embed="rId3">
            <a:alphaModFix/>
          </a:blip>
          <a:srcRect/>
          <a:stretch/>
        </p:blipFill>
        <p:spPr>
          <a:xfrm>
            <a:off x="152400" y="546000"/>
            <a:ext cx="8839202" cy="2548910"/>
          </a:xfrm>
          <a:prstGeom prst="rect">
            <a:avLst/>
          </a:prstGeom>
          <a:noFill/>
          <a:ln>
            <a:noFill/>
          </a:ln>
        </p:spPr>
      </p:pic>
      <p:pic>
        <p:nvPicPr>
          <p:cNvPr id="959" name="Google Shape;959;g344c3b177df_0_123" title="Screenshot 2025-07-13 at 10.36.02 PM.png"/>
          <p:cNvPicPr preferRelativeResize="0"/>
          <p:nvPr/>
        </p:nvPicPr>
        <p:blipFill rotWithShape="1">
          <a:blip r:embed="rId4">
            <a:alphaModFix/>
          </a:blip>
          <a:srcRect/>
          <a:stretch/>
        </p:blipFill>
        <p:spPr>
          <a:xfrm>
            <a:off x="774025" y="1813525"/>
            <a:ext cx="7607976" cy="1743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9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cxnSp>
        <p:nvCxnSpPr>
          <p:cNvPr id="965" name="Google Shape;965;g36aa5e117e9_3_1368"/>
          <p:cNvCxnSpPr/>
          <p:nvPr/>
        </p:nvCxnSpPr>
        <p:spPr>
          <a:xfrm flipH="1">
            <a:off x="2615001" y="757289"/>
            <a:ext cx="11700" cy="4334400"/>
          </a:xfrm>
          <a:prstGeom prst="straightConnector1">
            <a:avLst/>
          </a:prstGeom>
          <a:noFill/>
          <a:ln w="38100" cap="flat" cmpd="sng">
            <a:solidFill>
              <a:srgbClr val="1A1A1A"/>
            </a:solidFill>
            <a:prstDash val="solid"/>
            <a:round/>
            <a:headEnd type="none" w="sm" len="sm"/>
            <a:tailEnd type="none" w="sm" len="sm"/>
          </a:ln>
        </p:spPr>
      </p:cxnSp>
      <p:cxnSp>
        <p:nvCxnSpPr>
          <p:cNvPr id="966" name="Google Shape;966;g36aa5e117e9_3_1368"/>
          <p:cNvCxnSpPr/>
          <p:nvPr/>
        </p:nvCxnSpPr>
        <p:spPr>
          <a:xfrm flipH="1">
            <a:off x="5618914" y="757289"/>
            <a:ext cx="2700" cy="4326600"/>
          </a:xfrm>
          <a:prstGeom prst="straightConnector1">
            <a:avLst/>
          </a:prstGeom>
          <a:noFill/>
          <a:ln w="38100" cap="flat" cmpd="sng">
            <a:solidFill>
              <a:srgbClr val="1A1A1A"/>
            </a:solidFill>
            <a:prstDash val="solid"/>
            <a:round/>
            <a:headEnd type="none" w="sm" len="sm"/>
            <a:tailEnd type="none" w="sm" len="sm"/>
          </a:ln>
        </p:spPr>
      </p:cxnSp>
      <p:cxnSp>
        <p:nvCxnSpPr>
          <p:cNvPr id="967" name="Google Shape;967;g36aa5e117e9_3_1368"/>
          <p:cNvCxnSpPr/>
          <p:nvPr/>
        </p:nvCxnSpPr>
        <p:spPr>
          <a:xfrm>
            <a:off x="2592758" y="757289"/>
            <a:ext cx="3052500" cy="477300"/>
          </a:xfrm>
          <a:prstGeom prst="straightConnector1">
            <a:avLst/>
          </a:prstGeom>
          <a:noFill/>
          <a:ln w="9525" cap="flat" cmpd="sng">
            <a:solidFill>
              <a:srgbClr val="1A1A1A"/>
            </a:solidFill>
            <a:prstDash val="solid"/>
            <a:round/>
            <a:headEnd type="none" w="sm" len="sm"/>
            <a:tailEnd type="triangle" w="med" len="med"/>
          </a:ln>
        </p:spPr>
      </p:cxnSp>
      <p:cxnSp>
        <p:nvCxnSpPr>
          <p:cNvPr id="968" name="Google Shape;968;g36aa5e117e9_3_1368"/>
          <p:cNvCxnSpPr/>
          <p:nvPr/>
        </p:nvCxnSpPr>
        <p:spPr>
          <a:xfrm>
            <a:off x="2592758" y="916154"/>
            <a:ext cx="1568700" cy="243300"/>
          </a:xfrm>
          <a:prstGeom prst="straightConnector1">
            <a:avLst/>
          </a:prstGeom>
          <a:noFill/>
          <a:ln w="9525" cap="flat" cmpd="sng">
            <a:solidFill>
              <a:srgbClr val="1A1A1A"/>
            </a:solidFill>
            <a:prstDash val="solid"/>
            <a:round/>
            <a:headEnd type="none" w="sm" len="sm"/>
            <a:tailEnd type="triangle" w="med" len="med"/>
          </a:ln>
        </p:spPr>
      </p:cxnSp>
      <p:cxnSp>
        <p:nvCxnSpPr>
          <p:cNvPr id="969" name="Google Shape;969;g36aa5e117e9_3_1368"/>
          <p:cNvCxnSpPr/>
          <p:nvPr/>
        </p:nvCxnSpPr>
        <p:spPr>
          <a:xfrm>
            <a:off x="2592758" y="1059192"/>
            <a:ext cx="3052500" cy="477300"/>
          </a:xfrm>
          <a:prstGeom prst="straightConnector1">
            <a:avLst/>
          </a:prstGeom>
          <a:noFill/>
          <a:ln w="9525" cap="flat" cmpd="sng">
            <a:solidFill>
              <a:srgbClr val="1A1A1A"/>
            </a:solidFill>
            <a:prstDash val="solid"/>
            <a:round/>
            <a:headEnd type="none" w="sm" len="sm"/>
            <a:tailEnd type="triangle" w="med" len="med"/>
          </a:ln>
        </p:spPr>
      </p:cxnSp>
      <p:sp>
        <p:nvSpPr>
          <p:cNvPr id="970" name="Google Shape;970;g36aa5e117e9_3_1368"/>
          <p:cNvSpPr txBox="1"/>
          <p:nvPr/>
        </p:nvSpPr>
        <p:spPr>
          <a:xfrm>
            <a:off x="2114677" y="561725"/>
            <a:ext cx="6702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D100</a:t>
            </a:r>
            <a:endParaRPr sz="1200" b="0" i="0" u="none" strike="noStrike" cap="none">
              <a:solidFill>
                <a:srgbClr val="000000"/>
              </a:solidFill>
              <a:latin typeface="Lato"/>
              <a:ea typeface="Lato"/>
              <a:cs typeface="Lato"/>
              <a:sym typeface="Lato"/>
            </a:endParaRPr>
          </a:p>
        </p:txBody>
      </p:sp>
      <p:sp>
        <p:nvSpPr>
          <p:cNvPr id="971" name="Google Shape;971;g36aa5e117e9_3_1368"/>
          <p:cNvSpPr txBox="1"/>
          <p:nvPr/>
        </p:nvSpPr>
        <p:spPr>
          <a:xfrm>
            <a:off x="2107225" y="705550"/>
            <a:ext cx="7416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D200</a:t>
            </a:r>
            <a:endParaRPr sz="1200" b="0" i="0" u="none" strike="noStrike" cap="none">
              <a:solidFill>
                <a:srgbClr val="000000"/>
              </a:solidFill>
              <a:latin typeface="Lato"/>
              <a:ea typeface="Lato"/>
              <a:cs typeface="Lato"/>
              <a:sym typeface="Lato"/>
            </a:endParaRPr>
          </a:p>
        </p:txBody>
      </p:sp>
      <p:sp>
        <p:nvSpPr>
          <p:cNvPr id="972" name="Google Shape;972;g36aa5e117e9_3_1368"/>
          <p:cNvSpPr txBox="1"/>
          <p:nvPr/>
        </p:nvSpPr>
        <p:spPr>
          <a:xfrm>
            <a:off x="2107225" y="856875"/>
            <a:ext cx="7416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D300</a:t>
            </a:r>
            <a:endParaRPr sz="1200" b="0" i="0" u="none" strike="noStrike" cap="none">
              <a:solidFill>
                <a:srgbClr val="000000"/>
              </a:solidFill>
              <a:latin typeface="Lato"/>
              <a:ea typeface="Lato"/>
              <a:cs typeface="Lato"/>
              <a:sym typeface="Lato"/>
            </a:endParaRPr>
          </a:p>
        </p:txBody>
      </p:sp>
      <p:cxnSp>
        <p:nvCxnSpPr>
          <p:cNvPr id="973" name="Google Shape;973;g36aa5e117e9_3_1368"/>
          <p:cNvCxnSpPr/>
          <p:nvPr/>
        </p:nvCxnSpPr>
        <p:spPr>
          <a:xfrm flipH="1">
            <a:off x="2630455" y="1234691"/>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74" name="Google Shape;974;g36aa5e117e9_3_1368"/>
          <p:cNvSpPr txBox="1"/>
          <p:nvPr/>
        </p:nvSpPr>
        <p:spPr>
          <a:xfrm>
            <a:off x="4051623" y="970407"/>
            <a:ext cx="2511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Times New Roman"/>
                <a:ea typeface="Times New Roman"/>
                <a:cs typeface="Times New Roman"/>
                <a:sym typeface="Times New Roman"/>
              </a:rPr>
              <a:t>X</a:t>
            </a:r>
            <a:endParaRPr sz="1400" b="0" i="0" u="none" strike="noStrike" cap="none">
              <a:solidFill>
                <a:srgbClr val="FF0000"/>
              </a:solidFill>
              <a:latin typeface="Times New Roman"/>
              <a:ea typeface="Times New Roman"/>
              <a:cs typeface="Times New Roman"/>
              <a:sym typeface="Times New Roman"/>
            </a:endParaRPr>
          </a:p>
        </p:txBody>
      </p:sp>
      <p:cxnSp>
        <p:nvCxnSpPr>
          <p:cNvPr id="975" name="Google Shape;975;g36aa5e117e9_3_1368"/>
          <p:cNvCxnSpPr/>
          <p:nvPr/>
        </p:nvCxnSpPr>
        <p:spPr>
          <a:xfrm flipH="1">
            <a:off x="2592666" y="1536459"/>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76" name="Google Shape;976;g36aa5e117e9_3_1368"/>
          <p:cNvSpPr txBox="1"/>
          <p:nvPr/>
        </p:nvSpPr>
        <p:spPr>
          <a:xfrm>
            <a:off x="5607379" y="1059200"/>
            <a:ext cx="8295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A200</a:t>
            </a:r>
            <a:endParaRPr sz="1200" b="0" i="0" u="none" strike="noStrike" cap="none">
              <a:solidFill>
                <a:srgbClr val="000000"/>
              </a:solidFill>
              <a:latin typeface="Lato"/>
              <a:ea typeface="Lato"/>
              <a:cs typeface="Lato"/>
              <a:sym typeface="Lato"/>
            </a:endParaRPr>
          </a:p>
        </p:txBody>
      </p:sp>
      <p:sp>
        <p:nvSpPr>
          <p:cNvPr id="977" name="Google Shape;977;g36aa5e117e9_3_1368"/>
          <p:cNvSpPr/>
          <p:nvPr/>
        </p:nvSpPr>
        <p:spPr>
          <a:xfrm flipH="1">
            <a:off x="1819425" y="757300"/>
            <a:ext cx="327600" cy="9783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78" name="Google Shape;978;g36aa5e117e9_3_1368"/>
          <p:cNvCxnSpPr/>
          <p:nvPr/>
        </p:nvCxnSpPr>
        <p:spPr>
          <a:xfrm>
            <a:off x="2587334" y="1731694"/>
            <a:ext cx="3560700" cy="0"/>
          </a:xfrm>
          <a:prstGeom prst="straightConnector1">
            <a:avLst/>
          </a:prstGeom>
          <a:noFill/>
          <a:ln w="9525" cap="flat" cmpd="sng">
            <a:solidFill>
              <a:schemeClr val="dk2"/>
            </a:solidFill>
            <a:prstDash val="dash"/>
            <a:round/>
            <a:headEnd type="none" w="sm" len="sm"/>
            <a:tailEnd type="none" w="sm" len="sm"/>
          </a:ln>
        </p:spPr>
      </p:cxnSp>
      <p:sp>
        <p:nvSpPr>
          <p:cNvPr id="979" name="Google Shape;979;g36aa5e117e9_3_1368"/>
          <p:cNvSpPr txBox="1"/>
          <p:nvPr/>
        </p:nvSpPr>
        <p:spPr>
          <a:xfrm>
            <a:off x="6130925" y="1689699"/>
            <a:ext cx="17478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Open Sans"/>
                <a:ea typeface="Open Sans"/>
                <a:cs typeface="Open Sans"/>
                <a:sym typeface="Open Sans"/>
              </a:rPr>
              <a:t>Timer start (A200)</a:t>
            </a:r>
            <a:endParaRPr sz="1200" b="0" i="1" u="none" strike="noStrike" cap="none">
              <a:solidFill>
                <a:srgbClr val="000000"/>
              </a:solidFill>
              <a:latin typeface="Open Sans"/>
              <a:ea typeface="Open Sans"/>
              <a:cs typeface="Open Sans"/>
              <a:sym typeface="Open Sans"/>
            </a:endParaRPr>
          </a:p>
        </p:txBody>
      </p:sp>
      <p:sp>
        <p:nvSpPr>
          <p:cNvPr id="980" name="Google Shape;980;g36aa5e117e9_3_1368"/>
          <p:cNvSpPr txBox="1"/>
          <p:nvPr/>
        </p:nvSpPr>
        <p:spPr>
          <a:xfrm>
            <a:off x="5601502" y="1346425"/>
            <a:ext cx="8754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A200</a:t>
            </a:r>
            <a:endParaRPr sz="1200" b="0" i="0" u="none" strike="noStrike" cap="none">
              <a:solidFill>
                <a:srgbClr val="000000"/>
              </a:solidFill>
              <a:latin typeface="Lato"/>
              <a:ea typeface="Lato"/>
              <a:cs typeface="Lato"/>
              <a:sym typeface="Lato"/>
            </a:endParaRPr>
          </a:p>
        </p:txBody>
      </p:sp>
      <p:cxnSp>
        <p:nvCxnSpPr>
          <p:cNvPr id="981" name="Google Shape;981;g36aa5e117e9_3_1368"/>
          <p:cNvCxnSpPr/>
          <p:nvPr/>
        </p:nvCxnSpPr>
        <p:spPr>
          <a:xfrm>
            <a:off x="2594414" y="1715701"/>
            <a:ext cx="3052500" cy="477300"/>
          </a:xfrm>
          <a:prstGeom prst="straightConnector1">
            <a:avLst/>
          </a:prstGeom>
          <a:noFill/>
          <a:ln w="9525" cap="flat" cmpd="sng">
            <a:solidFill>
              <a:srgbClr val="1A1A1A"/>
            </a:solidFill>
            <a:prstDash val="solid"/>
            <a:round/>
            <a:headEnd type="none" w="sm" len="sm"/>
            <a:tailEnd type="triangle" w="med" len="med"/>
          </a:ln>
        </p:spPr>
      </p:cxnSp>
      <p:sp>
        <p:nvSpPr>
          <p:cNvPr id="982" name="Google Shape;982;g36aa5e117e9_3_1368"/>
          <p:cNvSpPr txBox="1"/>
          <p:nvPr/>
        </p:nvSpPr>
        <p:spPr>
          <a:xfrm>
            <a:off x="2089975" y="1541900"/>
            <a:ext cx="6702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D400</a:t>
            </a:r>
            <a:endParaRPr sz="1200" b="0" i="0" u="none" strike="noStrike" cap="none">
              <a:solidFill>
                <a:srgbClr val="000000"/>
              </a:solidFill>
              <a:latin typeface="Lato"/>
              <a:ea typeface="Lato"/>
              <a:cs typeface="Lato"/>
              <a:sym typeface="Lato"/>
            </a:endParaRPr>
          </a:p>
        </p:txBody>
      </p:sp>
      <p:cxnSp>
        <p:nvCxnSpPr>
          <p:cNvPr id="983" name="Google Shape;983;g36aa5e117e9_3_1368"/>
          <p:cNvCxnSpPr/>
          <p:nvPr/>
        </p:nvCxnSpPr>
        <p:spPr>
          <a:xfrm flipH="1">
            <a:off x="2594299" y="2213626"/>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84" name="Google Shape;984;g36aa5e117e9_3_1368"/>
          <p:cNvSpPr txBox="1"/>
          <p:nvPr/>
        </p:nvSpPr>
        <p:spPr>
          <a:xfrm>
            <a:off x="5601504" y="2320200"/>
            <a:ext cx="8754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A200</a:t>
            </a:r>
            <a:endParaRPr sz="1200" b="0" i="0" u="none" strike="noStrike" cap="none">
              <a:solidFill>
                <a:srgbClr val="000000"/>
              </a:solidFill>
              <a:latin typeface="Lato"/>
              <a:ea typeface="Lato"/>
              <a:cs typeface="Lato"/>
              <a:sym typeface="Lato"/>
            </a:endParaRPr>
          </a:p>
        </p:txBody>
      </p:sp>
      <p:sp>
        <p:nvSpPr>
          <p:cNvPr id="985" name="Google Shape;985;g36aa5e117e9_3_1368"/>
          <p:cNvSpPr txBox="1"/>
          <p:nvPr/>
        </p:nvSpPr>
        <p:spPr>
          <a:xfrm>
            <a:off x="3903489" y="3002726"/>
            <a:ext cx="547500" cy="243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p:txBody>
      </p:sp>
      <p:sp>
        <p:nvSpPr>
          <p:cNvPr id="986" name="Google Shape;986;g36aa5e117e9_3_1368"/>
          <p:cNvSpPr/>
          <p:nvPr/>
        </p:nvSpPr>
        <p:spPr>
          <a:xfrm flipH="1">
            <a:off x="1819350" y="1735600"/>
            <a:ext cx="327600" cy="21747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g36aa5e117e9_3_1368"/>
          <p:cNvSpPr txBox="1"/>
          <p:nvPr/>
        </p:nvSpPr>
        <p:spPr>
          <a:xfrm>
            <a:off x="1379073" y="2622515"/>
            <a:ext cx="547500" cy="28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TO</a:t>
            </a:r>
            <a:endParaRPr sz="1400" b="1" i="0" u="none" strike="noStrike" cap="none">
              <a:solidFill>
                <a:srgbClr val="000000"/>
              </a:solidFill>
              <a:latin typeface="Open Sans"/>
              <a:ea typeface="Open Sans"/>
              <a:cs typeface="Open Sans"/>
              <a:sym typeface="Open Sans"/>
            </a:endParaRPr>
          </a:p>
        </p:txBody>
      </p:sp>
      <p:cxnSp>
        <p:nvCxnSpPr>
          <p:cNvPr id="988" name="Google Shape;988;g36aa5e117e9_3_1368"/>
          <p:cNvCxnSpPr/>
          <p:nvPr/>
        </p:nvCxnSpPr>
        <p:spPr>
          <a:xfrm>
            <a:off x="2611664" y="3910324"/>
            <a:ext cx="3052500" cy="477300"/>
          </a:xfrm>
          <a:prstGeom prst="straightConnector1">
            <a:avLst/>
          </a:prstGeom>
          <a:noFill/>
          <a:ln w="9525" cap="flat" cmpd="sng">
            <a:solidFill>
              <a:srgbClr val="1A1A1A"/>
            </a:solidFill>
            <a:prstDash val="solid"/>
            <a:round/>
            <a:headEnd type="none" w="sm" len="sm"/>
            <a:tailEnd type="triangle" w="med" len="med"/>
          </a:ln>
        </p:spPr>
      </p:cxnSp>
      <p:sp>
        <p:nvSpPr>
          <p:cNvPr id="989" name="Google Shape;989;g36aa5e117e9_3_1368"/>
          <p:cNvSpPr txBox="1"/>
          <p:nvPr/>
        </p:nvSpPr>
        <p:spPr>
          <a:xfrm>
            <a:off x="2107225" y="3736525"/>
            <a:ext cx="7416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D200</a:t>
            </a:r>
            <a:endParaRPr sz="1200" b="0" i="0" u="none" strike="noStrike" cap="none">
              <a:solidFill>
                <a:srgbClr val="000000"/>
              </a:solidFill>
              <a:latin typeface="Lato"/>
              <a:ea typeface="Lato"/>
              <a:cs typeface="Lato"/>
              <a:sym typeface="Lato"/>
            </a:endParaRPr>
          </a:p>
        </p:txBody>
      </p:sp>
      <p:cxnSp>
        <p:nvCxnSpPr>
          <p:cNvPr id="990" name="Google Shape;990;g36aa5e117e9_3_1368"/>
          <p:cNvCxnSpPr/>
          <p:nvPr/>
        </p:nvCxnSpPr>
        <p:spPr>
          <a:xfrm flipH="1">
            <a:off x="2611549" y="4408249"/>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91" name="Google Shape;991;g36aa5e117e9_3_1368"/>
          <p:cNvSpPr txBox="1"/>
          <p:nvPr/>
        </p:nvSpPr>
        <p:spPr>
          <a:xfrm>
            <a:off x="5601506" y="4228200"/>
            <a:ext cx="9759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A500</a:t>
            </a:r>
            <a:endParaRPr sz="1200" b="0" i="0" u="none" strike="noStrike" cap="none">
              <a:solidFill>
                <a:srgbClr val="000000"/>
              </a:solidFill>
              <a:latin typeface="Lato"/>
              <a:ea typeface="Lato"/>
              <a:cs typeface="Lato"/>
              <a:sym typeface="Lato"/>
            </a:endParaRPr>
          </a:p>
        </p:txBody>
      </p:sp>
      <p:cxnSp>
        <p:nvCxnSpPr>
          <p:cNvPr id="992" name="Google Shape;992;g36aa5e117e9_3_1368"/>
          <p:cNvCxnSpPr>
            <a:endCxn id="993" idx="1"/>
          </p:cNvCxnSpPr>
          <p:nvPr/>
        </p:nvCxnSpPr>
        <p:spPr>
          <a:xfrm>
            <a:off x="2592742" y="3926317"/>
            <a:ext cx="3560700" cy="0"/>
          </a:xfrm>
          <a:prstGeom prst="straightConnector1">
            <a:avLst/>
          </a:prstGeom>
          <a:noFill/>
          <a:ln w="9525" cap="flat" cmpd="sng">
            <a:solidFill>
              <a:schemeClr val="dk2"/>
            </a:solidFill>
            <a:prstDash val="dash"/>
            <a:round/>
            <a:headEnd type="none" w="sm" len="sm"/>
            <a:tailEnd type="none" w="sm" len="sm"/>
          </a:ln>
        </p:spPr>
      </p:cxnSp>
      <p:sp>
        <p:nvSpPr>
          <p:cNvPr id="993" name="Google Shape;993;g36aa5e117e9_3_1368"/>
          <p:cNvSpPr txBox="1"/>
          <p:nvPr/>
        </p:nvSpPr>
        <p:spPr>
          <a:xfrm>
            <a:off x="6153442" y="3787117"/>
            <a:ext cx="1747800" cy="278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FF0000"/>
                </a:solidFill>
                <a:latin typeface="Open Sans"/>
                <a:ea typeface="Open Sans"/>
                <a:cs typeface="Open Sans"/>
                <a:sym typeface="Open Sans"/>
              </a:rPr>
              <a:t>Time-out! Retransmit</a:t>
            </a:r>
            <a:endParaRPr sz="1200" b="0" i="1" u="none" strike="noStrike" cap="none">
              <a:solidFill>
                <a:srgbClr val="FF0000"/>
              </a:solidFill>
              <a:latin typeface="Open Sans"/>
              <a:ea typeface="Open Sans"/>
              <a:cs typeface="Open Sans"/>
              <a:sym typeface="Open Sans"/>
            </a:endParaRPr>
          </a:p>
        </p:txBody>
      </p:sp>
      <p:sp>
        <p:nvSpPr>
          <p:cNvPr id="994" name="Google Shape;994;g36aa5e117e9_3_1368"/>
          <p:cNvSpPr/>
          <p:nvPr/>
        </p:nvSpPr>
        <p:spPr>
          <a:xfrm flipH="1">
            <a:off x="1831262" y="3911732"/>
            <a:ext cx="291000" cy="9783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g36aa5e117e9_3_1368"/>
          <p:cNvSpPr txBox="1"/>
          <p:nvPr/>
        </p:nvSpPr>
        <p:spPr>
          <a:xfrm>
            <a:off x="1184975" y="1038060"/>
            <a:ext cx="741600" cy="28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996" name="Google Shape;996;g36aa5e117e9_3_1368"/>
          <p:cNvSpPr txBox="1"/>
          <p:nvPr/>
        </p:nvSpPr>
        <p:spPr>
          <a:xfrm>
            <a:off x="1231811" y="4206996"/>
            <a:ext cx="741600" cy="28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997" name="Google Shape;997;g36aa5e117e9_3_136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600"/>
              <a:buFont typeface="Arial"/>
              <a:buNone/>
            </a:pPr>
            <a:r>
              <a:rPr lang="en">
                <a:solidFill>
                  <a:schemeClr val="accent3"/>
                </a:solidFill>
              </a:rPr>
              <a:t>Question 1: TCP in Action</a:t>
            </a:r>
            <a:endParaRPr>
              <a:solidFill>
                <a:schemeClr val="accent3"/>
              </a:solidFill>
            </a:endParaRPr>
          </a:p>
          <a:p>
            <a:pPr marL="0" lvl="0" indent="0" algn="l" rtl="0">
              <a:lnSpc>
                <a:spcPct val="100000"/>
              </a:lnSpc>
              <a:spcBef>
                <a:spcPts val="0"/>
              </a:spcBef>
              <a:spcAft>
                <a:spcPts val="0"/>
              </a:spcAft>
              <a:buSzPts val="1600"/>
              <a:buNone/>
            </a:pPr>
            <a:endParaRPr/>
          </a:p>
        </p:txBody>
      </p:sp>
      <p:sp>
        <p:nvSpPr>
          <p:cNvPr id="998" name="Google Shape;998;g36aa5e117e9_3_1368"/>
          <p:cNvSpPr txBox="1"/>
          <p:nvPr/>
        </p:nvSpPr>
        <p:spPr>
          <a:xfrm>
            <a:off x="7519800" y="4228200"/>
            <a:ext cx="16242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Roboto"/>
                <a:ea typeface="Roboto"/>
                <a:cs typeface="Roboto"/>
                <a:sym typeface="Roboto"/>
              </a:rPr>
              <a:t>Note: The question assumes each batch is sent/received at the same time, but they are shown separately for readability</a:t>
            </a:r>
            <a:endParaRPr sz="9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7"/>
                                        </p:tgtEl>
                                        <p:attrNameLst>
                                          <p:attrName>style.visibility</p:attrName>
                                        </p:attrNameLst>
                                      </p:cBhvr>
                                      <p:to>
                                        <p:strVal val="visible"/>
                                      </p:to>
                                    </p:set>
                                    <p:animEffect transition="in" filter="fade">
                                      <p:cBhvr>
                                        <p:cTn id="7" dur="1000"/>
                                        <p:tgtEl>
                                          <p:spTgt spid="967"/>
                                        </p:tgtEl>
                                      </p:cBhvr>
                                    </p:animEffect>
                                  </p:childTnLst>
                                </p:cTn>
                              </p:par>
                              <p:par>
                                <p:cTn id="8" presetID="10" presetClass="entr" presetSubtype="0" fill="hold" nodeType="withEffect">
                                  <p:stCondLst>
                                    <p:cond delay="0"/>
                                  </p:stCondLst>
                                  <p:childTnLst>
                                    <p:set>
                                      <p:cBhvr>
                                        <p:cTn id="9" dur="1" fill="hold">
                                          <p:stCondLst>
                                            <p:cond delay="0"/>
                                          </p:stCondLst>
                                        </p:cTn>
                                        <p:tgtEl>
                                          <p:spTgt spid="968"/>
                                        </p:tgtEl>
                                        <p:attrNameLst>
                                          <p:attrName>style.visibility</p:attrName>
                                        </p:attrNameLst>
                                      </p:cBhvr>
                                      <p:to>
                                        <p:strVal val="visible"/>
                                      </p:to>
                                    </p:set>
                                    <p:animEffect transition="in" filter="fade">
                                      <p:cBhvr>
                                        <p:cTn id="10" dur="1000"/>
                                        <p:tgtEl>
                                          <p:spTgt spid="968"/>
                                        </p:tgtEl>
                                      </p:cBhvr>
                                    </p:animEffect>
                                  </p:childTnLst>
                                </p:cTn>
                              </p:par>
                              <p:par>
                                <p:cTn id="11" presetID="10" presetClass="entr" presetSubtype="0" fill="hold" nodeType="withEffect">
                                  <p:stCondLst>
                                    <p:cond delay="0"/>
                                  </p:stCondLst>
                                  <p:childTnLst>
                                    <p:set>
                                      <p:cBhvr>
                                        <p:cTn id="12" dur="1" fill="hold">
                                          <p:stCondLst>
                                            <p:cond delay="0"/>
                                          </p:stCondLst>
                                        </p:cTn>
                                        <p:tgtEl>
                                          <p:spTgt spid="969"/>
                                        </p:tgtEl>
                                        <p:attrNameLst>
                                          <p:attrName>style.visibility</p:attrName>
                                        </p:attrNameLst>
                                      </p:cBhvr>
                                      <p:to>
                                        <p:strVal val="visible"/>
                                      </p:to>
                                    </p:set>
                                    <p:animEffect transition="in" filter="fade">
                                      <p:cBhvr>
                                        <p:cTn id="13" dur="1000"/>
                                        <p:tgtEl>
                                          <p:spTgt spid="969"/>
                                        </p:tgtEl>
                                      </p:cBhvr>
                                    </p:animEffect>
                                  </p:childTnLst>
                                </p:cTn>
                              </p:par>
                              <p:par>
                                <p:cTn id="14" presetID="10" presetClass="entr" presetSubtype="0" fill="hold" nodeType="withEffect">
                                  <p:stCondLst>
                                    <p:cond delay="0"/>
                                  </p:stCondLst>
                                  <p:childTnLst>
                                    <p:set>
                                      <p:cBhvr>
                                        <p:cTn id="15" dur="1" fill="hold">
                                          <p:stCondLst>
                                            <p:cond delay="0"/>
                                          </p:stCondLst>
                                        </p:cTn>
                                        <p:tgtEl>
                                          <p:spTgt spid="970"/>
                                        </p:tgtEl>
                                        <p:attrNameLst>
                                          <p:attrName>style.visibility</p:attrName>
                                        </p:attrNameLst>
                                      </p:cBhvr>
                                      <p:to>
                                        <p:strVal val="visible"/>
                                      </p:to>
                                    </p:set>
                                    <p:animEffect transition="in" filter="fade">
                                      <p:cBhvr>
                                        <p:cTn id="16" dur="1000"/>
                                        <p:tgtEl>
                                          <p:spTgt spid="970"/>
                                        </p:tgtEl>
                                      </p:cBhvr>
                                    </p:animEffect>
                                  </p:childTnLst>
                                </p:cTn>
                              </p:par>
                              <p:par>
                                <p:cTn id="17" presetID="10" presetClass="entr" presetSubtype="0" fill="hold" nodeType="withEffect">
                                  <p:stCondLst>
                                    <p:cond delay="0"/>
                                  </p:stCondLst>
                                  <p:childTnLst>
                                    <p:set>
                                      <p:cBhvr>
                                        <p:cTn id="18" dur="1" fill="hold">
                                          <p:stCondLst>
                                            <p:cond delay="0"/>
                                          </p:stCondLst>
                                        </p:cTn>
                                        <p:tgtEl>
                                          <p:spTgt spid="971"/>
                                        </p:tgtEl>
                                        <p:attrNameLst>
                                          <p:attrName>style.visibility</p:attrName>
                                        </p:attrNameLst>
                                      </p:cBhvr>
                                      <p:to>
                                        <p:strVal val="visible"/>
                                      </p:to>
                                    </p:set>
                                    <p:animEffect transition="in" filter="fade">
                                      <p:cBhvr>
                                        <p:cTn id="19" dur="1000"/>
                                        <p:tgtEl>
                                          <p:spTgt spid="971"/>
                                        </p:tgtEl>
                                      </p:cBhvr>
                                    </p:animEffect>
                                  </p:childTnLst>
                                </p:cTn>
                              </p:par>
                              <p:par>
                                <p:cTn id="20" presetID="10" presetClass="entr" presetSubtype="0" fill="hold" nodeType="withEffect">
                                  <p:stCondLst>
                                    <p:cond delay="0"/>
                                  </p:stCondLst>
                                  <p:childTnLst>
                                    <p:set>
                                      <p:cBhvr>
                                        <p:cTn id="21" dur="1" fill="hold">
                                          <p:stCondLst>
                                            <p:cond delay="0"/>
                                          </p:stCondLst>
                                        </p:cTn>
                                        <p:tgtEl>
                                          <p:spTgt spid="972"/>
                                        </p:tgtEl>
                                        <p:attrNameLst>
                                          <p:attrName>style.visibility</p:attrName>
                                        </p:attrNameLst>
                                      </p:cBhvr>
                                      <p:to>
                                        <p:strVal val="visible"/>
                                      </p:to>
                                    </p:set>
                                    <p:animEffect transition="in" filter="fade">
                                      <p:cBhvr>
                                        <p:cTn id="22" dur="1000"/>
                                        <p:tgtEl>
                                          <p:spTgt spid="972"/>
                                        </p:tgtEl>
                                      </p:cBhvr>
                                    </p:animEffect>
                                  </p:childTnLst>
                                </p:cTn>
                              </p:par>
                              <p:par>
                                <p:cTn id="23" presetID="10" presetClass="entr" presetSubtype="0" fill="hold" nodeType="withEffect">
                                  <p:stCondLst>
                                    <p:cond delay="0"/>
                                  </p:stCondLst>
                                  <p:childTnLst>
                                    <p:set>
                                      <p:cBhvr>
                                        <p:cTn id="24" dur="1" fill="hold">
                                          <p:stCondLst>
                                            <p:cond delay="0"/>
                                          </p:stCondLst>
                                        </p:cTn>
                                        <p:tgtEl>
                                          <p:spTgt spid="974"/>
                                        </p:tgtEl>
                                        <p:attrNameLst>
                                          <p:attrName>style.visibility</p:attrName>
                                        </p:attrNameLst>
                                      </p:cBhvr>
                                      <p:to>
                                        <p:strVal val="visible"/>
                                      </p:to>
                                    </p:set>
                                    <p:animEffect transition="in" filter="fade">
                                      <p:cBhvr>
                                        <p:cTn id="25" dur="1000"/>
                                        <p:tgtEl>
                                          <p:spTgt spid="97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73"/>
                                        </p:tgtEl>
                                        <p:attrNameLst>
                                          <p:attrName>style.visibility</p:attrName>
                                        </p:attrNameLst>
                                      </p:cBhvr>
                                      <p:to>
                                        <p:strVal val="visible"/>
                                      </p:to>
                                    </p:set>
                                    <p:animEffect transition="in" filter="fade">
                                      <p:cBhvr>
                                        <p:cTn id="30" dur="1000"/>
                                        <p:tgtEl>
                                          <p:spTgt spid="973"/>
                                        </p:tgtEl>
                                      </p:cBhvr>
                                    </p:animEffect>
                                  </p:childTnLst>
                                </p:cTn>
                              </p:par>
                              <p:par>
                                <p:cTn id="31" presetID="10" presetClass="entr" presetSubtype="0" fill="hold" nodeType="withEffect">
                                  <p:stCondLst>
                                    <p:cond delay="0"/>
                                  </p:stCondLst>
                                  <p:childTnLst>
                                    <p:set>
                                      <p:cBhvr>
                                        <p:cTn id="32" dur="1" fill="hold">
                                          <p:stCondLst>
                                            <p:cond delay="0"/>
                                          </p:stCondLst>
                                        </p:cTn>
                                        <p:tgtEl>
                                          <p:spTgt spid="976"/>
                                        </p:tgtEl>
                                        <p:attrNameLst>
                                          <p:attrName>style.visibility</p:attrName>
                                        </p:attrNameLst>
                                      </p:cBhvr>
                                      <p:to>
                                        <p:strVal val="visible"/>
                                      </p:to>
                                    </p:set>
                                    <p:animEffect transition="in" filter="fade">
                                      <p:cBhvr>
                                        <p:cTn id="33" dur="1000"/>
                                        <p:tgtEl>
                                          <p:spTgt spid="976"/>
                                        </p:tgtEl>
                                      </p:cBhvr>
                                    </p:animEffect>
                                  </p:childTnLst>
                                </p:cTn>
                              </p:par>
                              <p:par>
                                <p:cTn id="34" presetID="10" presetClass="entr" presetSubtype="0" fill="hold" nodeType="withEffect">
                                  <p:stCondLst>
                                    <p:cond delay="0"/>
                                  </p:stCondLst>
                                  <p:childTnLst>
                                    <p:set>
                                      <p:cBhvr>
                                        <p:cTn id="35" dur="1" fill="hold">
                                          <p:stCondLst>
                                            <p:cond delay="0"/>
                                          </p:stCondLst>
                                        </p:cTn>
                                        <p:tgtEl>
                                          <p:spTgt spid="980"/>
                                        </p:tgtEl>
                                        <p:attrNameLst>
                                          <p:attrName>style.visibility</p:attrName>
                                        </p:attrNameLst>
                                      </p:cBhvr>
                                      <p:to>
                                        <p:strVal val="visible"/>
                                      </p:to>
                                    </p:set>
                                    <p:animEffect transition="in" filter="fade">
                                      <p:cBhvr>
                                        <p:cTn id="36" dur="1000"/>
                                        <p:tgtEl>
                                          <p:spTgt spid="980"/>
                                        </p:tgtEl>
                                      </p:cBhvr>
                                    </p:animEffect>
                                  </p:childTnLst>
                                </p:cTn>
                              </p:par>
                              <p:par>
                                <p:cTn id="37" presetID="10" presetClass="entr" presetSubtype="0" fill="hold" nodeType="withEffect">
                                  <p:stCondLst>
                                    <p:cond delay="0"/>
                                  </p:stCondLst>
                                  <p:childTnLst>
                                    <p:set>
                                      <p:cBhvr>
                                        <p:cTn id="38" dur="1" fill="hold">
                                          <p:stCondLst>
                                            <p:cond delay="0"/>
                                          </p:stCondLst>
                                        </p:cTn>
                                        <p:tgtEl>
                                          <p:spTgt spid="975"/>
                                        </p:tgtEl>
                                        <p:attrNameLst>
                                          <p:attrName>style.visibility</p:attrName>
                                        </p:attrNameLst>
                                      </p:cBhvr>
                                      <p:to>
                                        <p:strVal val="visible"/>
                                      </p:to>
                                    </p:set>
                                    <p:animEffect transition="in" filter="fade">
                                      <p:cBhvr>
                                        <p:cTn id="39" dur="1000"/>
                                        <p:tgtEl>
                                          <p:spTgt spid="97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95"/>
                                        </p:tgtEl>
                                        <p:attrNameLst>
                                          <p:attrName>style.visibility</p:attrName>
                                        </p:attrNameLst>
                                      </p:cBhvr>
                                      <p:to>
                                        <p:strVal val="visible"/>
                                      </p:to>
                                    </p:set>
                                    <p:animEffect transition="in" filter="fade">
                                      <p:cBhvr>
                                        <p:cTn id="44" dur="1000"/>
                                        <p:tgtEl>
                                          <p:spTgt spid="995"/>
                                        </p:tgtEl>
                                      </p:cBhvr>
                                    </p:animEffect>
                                  </p:childTnLst>
                                </p:cTn>
                              </p:par>
                              <p:par>
                                <p:cTn id="45" presetID="10" presetClass="entr" presetSubtype="0" fill="hold" nodeType="withEffect">
                                  <p:stCondLst>
                                    <p:cond delay="0"/>
                                  </p:stCondLst>
                                  <p:childTnLst>
                                    <p:set>
                                      <p:cBhvr>
                                        <p:cTn id="46" dur="1" fill="hold">
                                          <p:stCondLst>
                                            <p:cond delay="0"/>
                                          </p:stCondLst>
                                        </p:cTn>
                                        <p:tgtEl>
                                          <p:spTgt spid="977"/>
                                        </p:tgtEl>
                                        <p:attrNameLst>
                                          <p:attrName>style.visibility</p:attrName>
                                        </p:attrNameLst>
                                      </p:cBhvr>
                                      <p:to>
                                        <p:strVal val="visible"/>
                                      </p:to>
                                    </p:set>
                                    <p:animEffect transition="in" filter="fade">
                                      <p:cBhvr>
                                        <p:cTn id="47" dur="1000"/>
                                        <p:tgtEl>
                                          <p:spTgt spid="97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79"/>
                                        </p:tgtEl>
                                        <p:attrNameLst>
                                          <p:attrName>style.visibility</p:attrName>
                                        </p:attrNameLst>
                                      </p:cBhvr>
                                      <p:to>
                                        <p:strVal val="visible"/>
                                      </p:to>
                                    </p:set>
                                    <p:animEffect transition="in" filter="fade">
                                      <p:cBhvr>
                                        <p:cTn id="52" dur="1000"/>
                                        <p:tgtEl>
                                          <p:spTgt spid="979"/>
                                        </p:tgtEl>
                                      </p:cBhvr>
                                    </p:animEffect>
                                  </p:childTnLst>
                                </p:cTn>
                              </p:par>
                              <p:par>
                                <p:cTn id="53" presetID="10" presetClass="entr" presetSubtype="0" fill="hold" nodeType="withEffect">
                                  <p:stCondLst>
                                    <p:cond delay="0"/>
                                  </p:stCondLst>
                                  <p:childTnLst>
                                    <p:set>
                                      <p:cBhvr>
                                        <p:cTn id="54" dur="1" fill="hold">
                                          <p:stCondLst>
                                            <p:cond delay="0"/>
                                          </p:stCondLst>
                                        </p:cTn>
                                        <p:tgtEl>
                                          <p:spTgt spid="978"/>
                                        </p:tgtEl>
                                        <p:attrNameLst>
                                          <p:attrName>style.visibility</p:attrName>
                                        </p:attrNameLst>
                                      </p:cBhvr>
                                      <p:to>
                                        <p:strVal val="visible"/>
                                      </p:to>
                                    </p:set>
                                    <p:animEffect transition="in" filter="fade">
                                      <p:cBhvr>
                                        <p:cTn id="55" dur="1000"/>
                                        <p:tgtEl>
                                          <p:spTgt spid="97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82"/>
                                        </p:tgtEl>
                                        <p:attrNameLst>
                                          <p:attrName>style.visibility</p:attrName>
                                        </p:attrNameLst>
                                      </p:cBhvr>
                                      <p:to>
                                        <p:strVal val="visible"/>
                                      </p:to>
                                    </p:set>
                                    <p:animEffect transition="in" filter="fade">
                                      <p:cBhvr>
                                        <p:cTn id="60" dur="1000"/>
                                        <p:tgtEl>
                                          <p:spTgt spid="982"/>
                                        </p:tgtEl>
                                      </p:cBhvr>
                                    </p:animEffect>
                                  </p:childTnLst>
                                </p:cTn>
                              </p:par>
                              <p:par>
                                <p:cTn id="61" presetID="10" presetClass="entr" presetSubtype="0" fill="hold" nodeType="withEffect">
                                  <p:stCondLst>
                                    <p:cond delay="0"/>
                                  </p:stCondLst>
                                  <p:childTnLst>
                                    <p:set>
                                      <p:cBhvr>
                                        <p:cTn id="62" dur="1" fill="hold">
                                          <p:stCondLst>
                                            <p:cond delay="0"/>
                                          </p:stCondLst>
                                        </p:cTn>
                                        <p:tgtEl>
                                          <p:spTgt spid="981"/>
                                        </p:tgtEl>
                                        <p:attrNameLst>
                                          <p:attrName>style.visibility</p:attrName>
                                        </p:attrNameLst>
                                      </p:cBhvr>
                                      <p:to>
                                        <p:strVal val="visible"/>
                                      </p:to>
                                    </p:set>
                                    <p:animEffect transition="in" filter="fade">
                                      <p:cBhvr>
                                        <p:cTn id="63" dur="1000"/>
                                        <p:tgtEl>
                                          <p:spTgt spid="98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84"/>
                                        </p:tgtEl>
                                        <p:attrNameLst>
                                          <p:attrName>style.visibility</p:attrName>
                                        </p:attrNameLst>
                                      </p:cBhvr>
                                      <p:to>
                                        <p:strVal val="visible"/>
                                      </p:to>
                                    </p:set>
                                    <p:animEffect transition="in" filter="fade">
                                      <p:cBhvr>
                                        <p:cTn id="68" dur="1000"/>
                                        <p:tgtEl>
                                          <p:spTgt spid="984"/>
                                        </p:tgtEl>
                                      </p:cBhvr>
                                    </p:animEffect>
                                  </p:childTnLst>
                                </p:cTn>
                              </p:par>
                              <p:par>
                                <p:cTn id="69" presetID="10" presetClass="entr" presetSubtype="0" fill="hold" nodeType="withEffect">
                                  <p:stCondLst>
                                    <p:cond delay="0"/>
                                  </p:stCondLst>
                                  <p:childTnLst>
                                    <p:set>
                                      <p:cBhvr>
                                        <p:cTn id="70" dur="1" fill="hold">
                                          <p:stCondLst>
                                            <p:cond delay="0"/>
                                          </p:stCondLst>
                                        </p:cTn>
                                        <p:tgtEl>
                                          <p:spTgt spid="983"/>
                                        </p:tgtEl>
                                        <p:attrNameLst>
                                          <p:attrName>style.visibility</p:attrName>
                                        </p:attrNameLst>
                                      </p:cBhvr>
                                      <p:to>
                                        <p:strVal val="visible"/>
                                      </p:to>
                                    </p:set>
                                    <p:animEffect transition="in" filter="fade">
                                      <p:cBhvr>
                                        <p:cTn id="71" dur="1000"/>
                                        <p:tgtEl>
                                          <p:spTgt spid="98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985"/>
                                        </p:tgtEl>
                                        <p:attrNameLst>
                                          <p:attrName>style.visibility</p:attrName>
                                        </p:attrNameLst>
                                      </p:cBhvr>
                                      <p:to>
                                        <p:strVal val="visible"/>
                                      </p:to>
                                    </p:set>
                                    <p:animEffect transition="in" filter="fade">
                                      <p:cBhvr>
                                        <p:cTn id="76" dur="1000"/>
                                        <p:tgtEl>
                                          <p:spTgt spid="985"/>
                                        </p:tgtEl>
                                      </p:cBhvr>
                                    </p:animEffect>
                                  </p:childTnLst>
                                </p:cTn>
                              </p:par>
                              <p:par>
                                <p:cTn id="77" presetID="10" presetClass="entr" presetSubtype="0" fill="hold" nodeType="withEffect">
                                  <p:stCondLst>
                                    <p:cond delay="0"/>
                                  </p:stCondLst>
                                  <p:childTnLst>
                                    <p:set>
                                      <p:cBhvr>
                                        <p:cTn id="78" dur="1" fill="hold">
                                          <p:stCondLst>
                                            <p:cond delay="0"/>
                                          </p:stCondLst>
                                        </p:cTn>
                                        <p:tgtEl>
                                          <p:spTgt spid="992"/>
                                        </p:tgtEl>
                                        <p:attrNameLst>
                                          <p:attrName>style.visibility</p:attrName>
                                        </p:attrNameLst>
                                      </p:cBhvr>
                                      <p:to>
                                        <p:strVal val="visible"/>
                                      </p:to>
                                    </p:set>
                                    <p:animEffect transition="in" filter="fade">
                                      <p:cBhvr>
                                        <p:cTn id="79" dur="1000"/>
                                        <p:tgtEl>
                                          <p:spTgt spid="992"/>
                                        </p:tgtEl>
                                      </p:cBhvr>
                                    </p:animEffect>
                                  </p:childTnLst>
                                </p:cTn>
                              </p:par>
                              <p:par>
                                <p:cTn id="80" presetID="10" presetClass="entr" presetSubtype="0" fill="hold" nodeType="withEffect">
                                  <p:stCondLst>
                                    <p:cond delay="0"/>
                                  </p:stCondLst>
                                  <p:childTnLst>
                                    <p:set>
                                      <p:cBhvr>
                                        <p:cTn id="81" dur="1" fill="hold">
                                          <p:stCondLst>
                                            <p:cond delay="0"/>
                                          </p:stCondLst>
                                        </p:cTn>
                                        <p:tgtEl>
                                          <p:spTgt spid="993"/>
                                        </p:tgtEl>
                                        <p:attrNameLst>
                                          <p:attrName>style.visibility</p:attrName>
                                        </p:attrNameLst>
                                      </p:cBhvr>
                                      <p:to>
                                        <p:strVal val="visible"/>
                                      </p:to>
                                    </p:set>
                                    <p:animEffect transition="in" filter="fade">
                                      <p:cBhvr>
                                        <p:cTn id="82" dur="1000"/>
                                        <p:tgtEl>
                                          <p:spTgt spid="99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987"/>
                                        </p:tgtEl>
                                        <p:attrNameLst>
                                          <p:attrName>style.visibility</p:attrName>
                                        </p:attrNameLst>
                                      </p:cBhvr>
                                      <p:to>
                                        <p:strVal val="visible"/>
                                      </p:to>
                                    </p:set>
                                    <p:animEffect transition="in" filter="fade">
                                      <p:cBhvr>
                                        <p:cTn id="87" dur="1000"/>
                                        <p:tgtEl>
                                          <p:spTgt spid="987"/>
                                        </p:tgtEl>
                                      </p:cBhvr>
                                    </p:animEffect>
                                  </p:childTnLst>
                                </p:cTn>
                              </p:par>
                              <p:par>
                                <p:cTn id="88" presetID="10" presetClass="entr" presetSubtype="0" fill="hold" nodeType="withEffect">
                                  <p:stCondLst>
                                    <p:cond delay="0"/>
                                  </p:stCondLst>
                                  <p:childTnLst>
                                    <p:set>
                                      <p:cBhvr>
                                        <p:cTn id="89" dur="1" fill="hold">
                                          <p:stCondLst>
                                            <p:cond delay="0"/>
                                          </p:stCondLst>
                                        </p:cTn>
                                        <p:tgtEl>
                                          <p:spTgt spid="986"/>
                                        </p:tgtEl>
                                        <p:attrNameLst>
                                          <p:attrName>style.visibility</p:attrName>
                                        </p:attrNameLst>
                                      </p:cBhvr>
                                      <p:to>
                                        <p:strVal val="visible"/>
                                      </p:to>
                                    </p:set>
                                    <p:animEffect transition="in" filter="fade">
                                      <p:cBhvr>
                                        <p:cTn id="90" dur="1000"/>
                                        <p:tgtEl>
                                          <p:spTgt spid="98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989"/>
                                        </p:tgtEl>
                                        <p:attrNameLst>
                                          <p:attrName>style.visibility</p:attrName>
                                        </p:attrNameLst>
                                      </p:cBhvr>
                                      <p:to>
                                        <p:strVal val="visible"/>
                                      </p:to>
                                    </p:set>
                                    <p:animEffect transition="in" filter="fade">
                                      <p:cBhvr>
                                        <p:cTn id="95" dur="1000"/>
                                        <p:tgtEl>
                                          <p:spTgt spid="989"/>
                                        </p:tgtEl>
                                      </p:cBhvr>
                                    </p:animEffect>
                                  </p:childTnLst>
                                </p:cTn>
                              </p:par>
                              <p:par>
                                <p:cTn id="96" presetID="10" presetClass="entr" presetSubtype="0" fill="hold" nodeType="withEffect">
                                  <p:stCondLst>
                                    <p:cond delay="0"/>
                                  </p:stCondLst>
                                  <p:childTnLst>
                                    <p:set>
                                      <p:cBhvr>
                                        <p:cTn id="97" dur="1" fill="hold">
                                          <p:stCondLst>
                                            <p:cond delay="0"/>
                                          </p:stCondLst>
                                        </p:cTn>
                                        <p:tgtEl>
                                          <p:spTgt spid="988"/>
                                        </p:tgtEl>
                                        <p:attrNameLst>
                                          <p:attrName>style.visibility</p:attrName>
                                        </p:attrNameLst>
                                      </p:cBhvr>
                                      <p:to>
                                        <p:strVal val="visible"/>
                                      </p:to>
                                    </p:set>
                                    <p:animEffect transition="in" filter="fade">
                                      <p:cBhvr>
                                        <p:cTn id="98" dur="1000"/>
                                        <p:tgtEl>
                                          <p:spTgt spid="98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991"/>
                                        </p:tgtEl>
                                        <p:attrNameLst>
                                          <p:attrName>style.visibility</p:attrName>
                                        </p:attrNameLst>
                                      </p:cBhvr>
                                      <p:to>
                                        <p:strVal val="visible"/>
                                      </p:to>
                                    </p:set>
                                    <p:animEffect transition="in" filter="fade">
                                      <p:cBhvr>
                                        <p:cTn id="103" dur="1000"/>
                                        <p:tgtEl>
                                          <p:spTgt spid="991"/>
                                        </p:tgtEl>
                                      </p:cBhvr>
                                    </p:animEffect>
                                  </p:childTnLst>
                                </p:cTn>
                              </p:par>
                              <p:par>
                                <p:cTn id="104" presetID="10" presetClass="entr" presetSubtype="0" fill="hold" nodeType="withEffect">
                                  <p:stCondLst>
                                    <p:cond delay="0"/>
                                  </p:stCondLst>
                                  <p:childTnLst>
                                    <p:set>
                                      <p:cBhvr>
                                        <p:cTn id="105" dur="1" fill="hold">
                                          <p:stCondLst>
                                            <p:cond delay="0"/>
                                          </p:stCondLst>
                                        </p:cTn>
                                        <p:tgtEl>
                                          <p:spTgt spid="990"/>
                                        </p:tgtEl>
                                        <p:attrNameLst>
                                          <p:attrName>style.visibility</p:attrName>
                                        </p:attrNameLst>
                                      </p:cBhvr>
                                      <p:to>
                                        <p:strVal val="visible"/>
                                      </p:to>
                                    </p:set>
                                    <p:animEffect transition="in" filter="fade">
                                      <p:cBhvr>
                                        <p:cTn id="106" dur="1000"/>
                                        <p:tgtEl>
                                          <p:spTgt spid="990"/>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996"/>
                                        </p:tgtEl>
                                        <p:attrNameLst>
                                          <p:attrName>style.visibility</p:attrName>
                                        </p:attrNameLst>
                                      </p:cBhvr>
                                      <p:to>
                                        <p:strVal val="visible"/>
                                      </p:to>
                                    </p:set>
                                    <p:animEffect transition="in" filter="fade">
                                      <p:cBhvr>
                                        <p:cTn id="111" dur="1000"/>
                                        <p:tgtEl>
                                          <p:spTgt spid="996"/>
                                        </p:tgtEl>
                                      </p:cBhvr>
                                    </p:animEffect>
                                  </p:childTnLst>
                                </p:cTn>
                              </p:par>
                              <p:par>
                                <p:cTn id="112" presetID="10" presetClass="entr" presetSubtype="0" fill="hold" nodeType="withEffect">
                                  <p:stCondLst>
                                    <p:cond delay="0"/>
                                  </p:stCondLst>
                                  <p:childTnLst>
                                    <p:set>
                                      <p:cBhvr>
                                        <p:cTn id="113" dur="1" fill="hold">
                                          <p:stCondLst>
                                            <p:cond delay="0"/>
                                          </p:stCondLst>
                                        </p:cTn>
                                        <p:tgtEl>
                                          <p:spTgt spid="994"/>
                                        </p:tgtEl>
                                        <p:attrNameLst>
                                          <p:attrName>style.visibility</p:attrName>
                                        </p:attrNameLst>
                                      </p:cBhvr>
                                      <p:to>
                                        <p:strVal val="visible"/>
                                      </p:to>
                                    </p:set>
                                    <p:animEffect transition="in" filter="fade">
                                      <p:cBhvr>
                                        <p:cTn id="114" dur="1000"/>
                                        <p:tgtEl>
                                          <p:spTgt spid="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cxnSp>
        <p:nvCxnSpPr>
          <p:cNvPr id="1004" name="Google Shape;1004;g36aa5e117e9_3_1405"/>
          <p:cNvCxnSpPr/>
          <p:nvPr/>
        </p:nvCxnSpPr>
        <p:spPr>
          <a:xfrm flipH="1">
            <a:off x="2660140" y="662372"/>
            <a:ext cx="11700" cy="4349100"/>
          </a:xfrm>
          <a:prstGeom prst="straightConnector1">
            <a:avLst/>
          </a:prstGeom>
          <a:noFill/>
          <a:ln w="38100" cap="flat" cmpd="sng">
            <a:solidFill>
              <a:srgbClr val="1A1A1A"/>
            </a:solidFill>
            <a:prstDash val="solid"/>
            <a:round/>
            <a:headEnd type="none" w="sm" len="sm"/>
            <a:tailEnd type="none" w="sm" len="sm"/>
          </a:ln>
        </p:spPr>
      </p:cxnSp>
      <p:cxnSp>
        <p:nvCxnSpPr>
          <p:cNvPr id="1005" name="Google Shape;1005;g36aa5e117e9_3_1405"/>
          <p:cNvCxnSpPr/>
          <p:nvPr/>
        </p:nvCxnSpPr>
        <p:spPr>
          <a:xfrm>
            <a:off x="5623040" y="662372"/>
            <a:ext cx="5400" cy="4341000"/>
          </a:xfrm>
          <a:prstGeom prst="straightConnector1">
            <a:avLst/>
          </a:prstGeom>
          <a:noFill/>
          <a:ln w="38100" cap="flat" cmpd="sng">
            <a:solidFill>
              <a:srgbClr val="1A1A1A"/>
            </a:solidFill>
            <a:prstDash val="solid"/>
            <a:round/>
            <a:headEnd type="none" w="sm" len="sm"/>
            <a:tailEnd type="none" w="sm" len="sm"/>
          </a:ln>
        </p:spPr>
      </p:cxnSp>
      <p:sp>
        <p:nvSpPr>
          <p:cNvPr id="1006" name="Google Shape;1006;g36aa5e117e9_3_1405"/>
          <p:cNvSpPr/>
          <p:nvPr/>
        </p:nvSpPr>
        <p:spPr>
          <a:xfrm flipH="1">
            <a:off x="1876275" y="662375"/>
            <a:ext cx="286800" cy="1105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7" name="Google Shape;1007;g36aa5e117e9_3_1405"/>
          <p:cNvSpPr txBox="1"/>
          <p:nvPr/>
        </p:nvSpPr>
        <p:spPr>
          <a:xfrm>
            <a:off x="1242037" y="962853"/>
            <a:ext cx="730800" cy="2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1008" name="Google Shape;1008;g36aa5e117e9_3_1405"/>
          <p:cNvSpPr txBox="1"/>
          <p:nvPr/>
        </p:nvSpPr>
        <p:spPr>
          <a:xfrm>
            <a:off x="5610949" y="97917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A600</a:t>
            </a:r>
            <a:endParaRPr sz="1200" b="0" i="0" u="none" strike="noStrike" cap="none">
              <a:solidFill>
                <a:srgbClr val="000000"/>
              </a:solidFill>
              <a:latin typeface="Lato"/>
              <a:ea typeface="Lato"/>
              <a:cs typeface="Lato"/>
              <a:sym typeface="Lato"/>
            </a:endParaRPr>
          </a:p>
        </p:txBody>
      </p:sp>
      <p:cxnSp>
        <p:nvCxnSpPr>
          <p:cNvPr id="1009" name="Google Shape;1009;g36aa5e117e9_3_1405"/>
          <p:cNvCxnSpPr/>
          <p:nvPr/>
        </p:nvCxnSpPr>
        <p:spPr>
          <a:xfrm>
            <a:off x="2664758" y="681519"/>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10" name="Google Shape;1010;g36aa5e117e9_3_1405"/>
          <p:cNvSpPr txBox="1"/>
          <p:nvPr/>
        </p:nvSpPr>
        <p:spPr>
          <a:xfrm>
            <a:off x="2091473" y="50132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D500</a:t>
            </a:r>
            <a:endParaRPr sz="1200" b="0" i="0" u="none" strike="noStrike" cap="none">
              <a:solidFill>
                <a:srgbClr val="000000"/>
              </a:solidFill>
              <a:latin typeface="Lato"/>
              <a:ea typeface="Lato"/>
              <a:cs typeface="Lato"/>
              <a:sym typeface="Lato"/>
            </a:endParaRPr>
          </a:p>
        </p:txBody>
      </p:sp>
      <p:cxnSp>
        <p:nvCxnSpPr>
          <p:cNvPr id="1011" name="Google Shape;1011;g36aa5e117e9_3_1405"/>
          <p:cNvCxnSpPr/>
          <p:nvPr/>
        </p:nvCxnSpPr>
        <p:spPr>
          <a:xfrm flipH="1">
            <a:off x="2664742" y="1182635"/>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12" name="Google Shape;1012;g36aa5e117e9_3_1405"/>
          <p:cNvSpPr txBox="1"/>
          <p:nvPr/>
        </p:nvSpPr>
        <p:spPr>
          <a:xfrm>
            <a:off x="5610952" y="1152400"/>
            <a:ext cx="8559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A700</a:t>
            </a:r>
            <a:endParaRPr sz="1200" b="0" i="0" u="none" strike="noStrike" cap="none">
              <a:solidFill>
                <a:srgbClr val="000000"/>
              </a:solidFill>
              <a:latin typeface="Lato"/>
              <a:ea typeface="Lato"/>
              <a:cs typeface="Lato"/>
              <a:sym typeface="Lato"/>
            </a:endParaRPr>
          </a:p>
        </p:txBody>
      </p:sp>
      <p:cxnSp>
        <p:nvCxnSpPr>
          <p:cNvPr id="1013" name="Google Shape;1013;g36aa5e117e9_3_1405"/>
          <p:cNvCxnSpPr/>
          <p:nvPr/>
        </p:nvCxnSpPr>
        <p:spPr>
          <a:xfrm>
            <a:off x="2664624" y="843233"/>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14" name="Google Shape;1014;g36aa5e117e9_3_1405"/>
          <p:cNvSpPr txBox="1"/>
          <p:nvPr/>
        </p:nvSpPr>
        <p:spPr>
          <a:xfrm>
            <a:off x="2091351" y="663050"/>
            <a:ext cx="6900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D600</a:t>
            </a:r>
            <a:endParaRPr sz="1200" b="0" i="0" u="none" strike="noStrike" cap="none">
              <a:solidFill>
                <a:srgbClr val="000000"/>
              </a:solidFill>
              <a:latin typeface="Lato"/>
              <a:ea typeface="Lato"/>
              <a:cs typeface="Lato"/>
              <a:sym typeface="Lato"/>
            </a:endParaRPr>
          </a:p>
        </p:txBody>
      </p:sp>
      <p:cxnSp>
        <p:nvCxnSpPr>
          <p:cNvPr id="1015" name="Google Shape;1015;g36aa5e117e9_3_1405"/>
          <p:cNvCxnSpPr/>
          <p:nvPr/>
        </p:nvCxnSpPr>
        <p:spPr>
          <a:xfrm flipH="1">
            <a:off x="2664742" y="1343238"/>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16" name="Google Shape;1016;g36aa5e117e9_3_1405"/>
          <p:cNvSpPr txBox="1"/>
          <p:nvPr/>
        </p:nvSpPr>
        <p:spPr>
          <a:xfrm>
            <a:off x="2091074" y="826375"/>
            <a:ext cx="6900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D700</a:t>
            </a:r>
            <a:endParaRPr sz="1200" b="0" i="0" u="none" strike="noStrike" cap="none">
              <a:solidFill>
                <a:srgbClr val="000000"/>
              </a:solidFill>
              <a:latin typeface="Lato"/>
              <a:ea typeface="Lato"/>
              <a:cs typeface="Lato"/>
              <a:sym typeface="Lato"/>
            </a:endParaRPr>
          </a:p>
        </p:txBody>
      </p:sp>
      <p:cxnSp>
        <p:nvCxnSpPr>
          <p:cNvPr id="1017" name="Google Shape;1017;g36aa5e117e9_3_1405"/>
          <p:cNvCxnSpPr/>
          <p:nvPr/>
        </p:nvCxnSpPr>
        <p:spPr>
          <a:xfrm>
            <a:off x="2638567" y="980419"/>
            <a:ext cx="1545900" cy="252300"/>
          </a:xfrm>
          <a:prstGeom prst="straightConnector1">
            <a:avLst/>
          </a:prstGeom>
          <a:noFill/>
          <a:ln w="9525" cap="flat" cmpd="sng">
            <a:solidFill>
              <a:srgbClr val="1A1A1A"/>
            </a:solidFill>
            <a:prstDash val="solid"/>
            <a:round/>
            <a:headEnd type="none" w="sm" len="sm"/>
            <a:tailEnd type="triangle" w="med" len="med"/>
          </a:ln>
        </p:spPr>
      </p:cxnSp>
      <p:sp>
        <p:nvSpPr>
          <p:cNvPr id="1018" name="Google Shape;1018;g36aa5e117e9_3_1405"/>
          <p:cNvSpPr txBox="1"/>
          <p:nvPr/>
        </p:nvSpPr>
        <p:spPr>
          <a:xfrm>
            <a:off x="4076139" y="1036672"/>
            <a:ext cx="2475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Times New Roman"/>
                <a:ea typeface="Times New Roman"/>
                <a:cs typeface="Times New Roman"/>
                <a:sym typeface="Times New Roman"/>
              </a:rPr>
              <a:t>X</a:t>
            </a:r>
            <a:endParaRPr sz="1400" b="0" i="0" u="none" strike="noStrike" cap="none">
              <a:solidFill>
                <a:srgbClr val="FF0000"/>
              </a:solidFill>
              <a:latin typeface="Times New Roman"/>
              <a:ea typeface="Times New Roman"/>
              <a:cs typeface="Times New Roman"/>
              <a:sym typeface="Times New Roman"/>
            </a:endParaRPr>
          </a:p>
        </p:txBody>
      </p:sp>
      <p:cxnSp>
        <p:nvCxnSpPr>
          <p:cNvPr id="1019" name="Google Shape;1019;g36aa5e117e9_3_1405"/>
          <p:cNvCxnSpPr>
            <a:endCxn id="1020" idx="1"/>
          </p:cNvCxnSpPr>
          <p:nvPr/>
        </p:nvCxnSpPr>
        <p:spPr>
          <a:xfrm>
            <a:off x="2638564" y="1752268"/>
            <a:ext cx="3508800" cy="0"/>
          </a:xfrm>
          <a:prstGeom prst="straightConnector1">
            <a:avLst/>
          </a:prstGeom>
          <a:noFill/>
          <a:ln w="9525" cap="flat" cmpd="sng">
            <a:solidFill>
              <a:schemeClr val="dk2"/>
            </a:solidFill>
            <a:prstDash val="dash"/>
            <a:round/>
            <a:headEnd type="none" w="sm" len="sm"/>
            <a:tailEnd type="none" w="sm" len="sm"/>
          </a:ln>
        </p:spPr>
      </p:cxnSp>
      <p:sp>
        <p:nvSpPr>
          <p:cNvPr id="1020" name="Google Shape;1020;g36aa5e117e9_3_1405"/>
          <p:cNvSpPr txBox="1"/>
          <p:nvPr/>
        </p:nvSpPr>
        <p:spPr>
          <a:xfrm>
            <a:off x="6147364" y="1607818"/>
            <a:ext cx="1722300" cy="28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Open Sans"/>
                <a:ea typeface="Open Sans"/>
                <a:cs typeface="Open Sans"/>
                <a:sym typeface="Open Sans"/>
              </a:rPr>
              <a:t>Timer start (A700)</a:t>
            </a:r>
            <a:endParaRPr sz="1200" b="0" i="1" u="none" strike="noStrike" cap="none">
              <a:solidFill>
                <a:srgbClr val="000000"/>
              </a:solidFill>
              <a:latin typeface="Open Sans"/>
              <a:ea typeface="Open Sans"/>
              <a:cs typeface="Open Sans"/>
              <a:sym typeface="Open Sans"/>
            </a:endParaRPr>
          </a:p>
        </p:txBody>
      </p:sp>
      <p:sp>
        <p:nvSpPr>
          <p:cNvPr id="1021" name="Google Shape;1021;g36aa5e117e9_3_1405"/>
          <p:cNvSpPr txBox="1"/>
          <p:nvPr/>
        </p:nvSpPr>
        <p:spPr>
          <a:xfrm>
            <a:off x="5635977" y="216632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A700</a:t>
            </a:r>
            <a:endParaRPr sz="1200" b="0" i="0" u="none" strike="noStrike" cap="none">
              <a:solidFill>
                <a:srgbClr val="000000"/>
              </a:solidFill>
              <a:latin typeface="Lato"/>
              <a:ea typeface="Lato"/>
              <a:cs typeface="Lato"/>
              <a:sym typeface="Lato"/>
            </a:endParaRPr>
          </a:p>
        </p:txBody>
      </p:sp>
      <p:cxnSp>
        <p:nvCxnSpPr>
          <p:cNvPr id="1022" name="Google Shape;1022;g36aa5e117e9_3_1405"/>
          <p:cNvCxnSpPr/>
          <p:nvPr/>
        </p:nvCxnSpPr>
        <p:spPr>
          <a:xfrm>
            <a:off x="2689699" y="1696026"/>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23" name="Google Shape;1023;g36aa5e117e9_3_1405"/>
          <p:cNvSpPr txBox="1"/>
          <p:nvPr/>
        </p:nvSpPr>
        <p:spPr>
          <a:xfrm>
            <a:off x="2116426" y="1515838"/>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D800</a:t>
            </a:r>
            <a:endParaRPr sz="1200" b="0" i="0" u="none" strike="noStrike" cap="none">
              <a:solidFill>
                <a:srgbClr val="000000"/>
              </a:solidFill>
              <a:latin typeface="Lato"/>
              <a:ea typeface="Lato"/>
              <a:cs typeface="Lato"/>
              <a:sym typeface="Lato"/>
            </a:endParaRPr>
          </a:p>
        </p:txBody>
      </p:sp>
      <p:cxnSp>
        <p:nvCxnSpPr>
          <p:cNvPr id="1024" name="Google Shape;1024;g36aa5e117e9_3_1405"/>
          <p:cNvCxnSpPr/>
          <p:nvPr/>
        </p:nvCxnSpPr>
        <p:spPr>
          <a:xfrm flipH="1">
            <a:off x="2689758" y="2369780"/>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25" name="Google Shape;1025;g36aa5e117e9_3_1405"/>
          <p:cNvSpPr txBox="1"/>
          <p:nvPr/>
        </p:nvSpPr>
        <p:spPr>
          <a:xfrm>
            <a:off x="5635982" y="2339550"/>
            <a:ext cx="8559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A700</a:t>
            </a:r>
            <a:endParaRPr sz="1200" b="0" i="0" u="none" strike="noStrike" cap="none">
              <a:solidFill>
                <a:srgbClr val="000000"/>
              </a:solidFill>
              <a:latin typeface="Lato"/>
              <a:ea typeface="Lato"/>
              <a:cs typeface="Lato"/>
              <a:sym typeface="Lato"/>
            </a:endParaRPr>
          </a:p>
        </p:txBody>
      </p:sp>
      <p:cxnSp>
        <p:nvCxnSpPr>
          <p:cNvPr id="1026" name="Google Shape;1026;g36aa5e117e9_3_1405"/>
          <p:cNvCxnSpPr/>
          <p:nvPr/>
        </p:nvCxnSpPr>
        <p:spPr>
          <a:xfrm>
            <a:off x="2689565" y="1857740"/>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27" name="Google Shape;1027;g36aa5e117e9_3_1405"/>
          <p:cNvSpPr txBox="1"/>
          <p:nvPr/>
        </p:nvSpPr>
        <p:spPr>
          <a:xfrm>
            <a:off x="2116305" y="1677538"/>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D900</a:t>
            </a:r>
            <a:endParaRPr sz="1200" b="0" i="0" u="none" strike="noStrike" cap="none">
              <a:solidFill>
                <a:srgbClr val="000000"/>
              </a:solidFill>
              <a:latin typeface="Lato"/>
              <a:ea typeface="Lato"/>
              <a:cs typeface="Lato"/>
              <a:sym typeface="Lato"/>
            </a:endParaRPr>
          </a:p>
        </p:txBody>
      </p:sp>
      <p:cxnSp>
        <p:nvCxnSpPr>
          <p:cNvPr id="1028" name="Google Shape;1028;g36aa5e117e9_3_1405"/>
          <p:cNvCxnSpPr/>
          <p:nvPr/>
        </p:nvCxnSpPr>
        <p:spPr>
          <a:xfrm flipH="1">
            <a:off x="2689758" y="2530382"/>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29" name="Google Shape;1029;g36aa5e117e9_3_1405"/>
          <p:cNvSpPr txBox="1"/>
          <p:nvPr/>
        </p:nvSpPr>
        <p:spPr>
          <a:xfrm>
            <a:off x="2116301" y="362852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D700</a:t>
            </a:r>
            <a:endParaRPr sz="1200" b="0" i="0" u="none" strike="noStrike" cap="none">
              <a:solidFill>
                <a:srgbClr val="000000"/>
              </a:solidFill>
              <a:latin typeface="Lato"/>
              <a:ea typeface="Lato"/>
              <a:cs typeface="Lato"/>
              <a:sym typeface="Lato"/>
            </a:endParaRPr>
          </a:p>
        </p:txBody>
      </p:sp>
      <p:cxnSp>
        <p:nvCxnSpPr>
          <p:cNvPr id="1030" name="Google Shape;1030;g36aa5e117e9_3_1405"/>
          <p:cNvCxnSpPr/>
          <p:nvPr/>
        </p:nvCxnSpPr>
        <p:spPr>
          <a:xfrm flipH="1">
            <a:off x="2689559" y="4325005"/>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31" name="Google Shape;1031;g36aa5e117e9_3_1405"/>
          <p:cNvSpPr txBox="1"/>
          <p:nvPr/>
        </p:nvSpPr>
        <p:spPr>
          <a:xfrm>
            <a:off x="5635761" y="4138316"/>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A1000</a:t>
            </a:r>
            <a:endParaRPr sz="1200" b="0" i="0" u="none" strike="noStrike" cap="none">
              <a:solidFill>
                <a:srgbClr val="000000"/>
              </a:solidFill>
              <a:latin typeface="Lato"/>
              <a:ea typeface="Lato"/>
              <a:cs typeface="Lato"/>
              <a:sym typeface="Lato"/>
            </a:endParaRPr>
          </a:p>
        </p:txBody>
      </p:sp>
      <p:cxnSp>
        <p:nvCxnSpPr>
          <p:cNvPr id="1032" name="Google Shape;1032;g36aa5e117e9_3_1405"/>
          <p:cNvCxnSpPr>
            <a:endCxn id="1033" idx="1"/>
          </p:cNvCxnSpPr>
          <p:nvPr/>
        </p:nvCxnSpPr>
        <p:spPr>
          <a:xfrm>
            <a:off x="2670857" y="3825431"/>
            <a:ext cx="3508800" cy="0"/>
          </a:xfrm>
          <a:prstGeom prst="straightConnector1">
            <a:avLst/>
          </a:prstGeom>
          <a:noFill/>
          <a:ln w="9525" cap="flat" cmpd="sng">
            <a:solidFill>
              <a:schemeClr val="dk2"/>
            </a:solidFill>
            <a:prstDash val="dash"/>
            <a:round/>
            <a:headEnd type="none" w="sm" len="sm"/>
            <a:tailEnd type="none" w="sm" len="sm"/>
          </a:ln>
        </p:spPr>
      </p:cxnSp>
      <p:sp>
        <p:nvSpPr>
          <p:cNvPr id="1033" name="Google Shape;1033;g36aa5e117e9_3_1405"/>
          <p:cNvSpPr txBox="1"/>
          <p:nvPr/>
        </p:nvSpPr>
        <p:spPr>
          <a:xfrm>
            <a:off x="6179657" y="3680981"/>
            <a:ext cx="1722300" cy="28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FF0000"/>
                </a:solidFill>
                <a:latin typeface="Open Sans"/>
                <a:ea typeface="Open Sans"/>
                <a:cs typeface="Open Sans"/>
                <a:sym typeface="Open Sans"/>
              </a:rPr>
              <a:t>Time-out! Retransmit</a:t>
            </a:r>
            <a:endParaRPr sz="1200" b="0" i="1" u="none" strike="noStrike" cap="none">
              <a:solidFill>
                <a:srgbClr val="FF0000"/>
              </a:solidFill>
              <a:latin typeface="Open Sans"/>
              <a:ea typeface="Open Sans"/>
              <a:cs typeface="Open Sans"/>
              <a:sym typeface="Open Sans"/>
            </a:endParaRPr>
          </a:p>
        </p:txBody>
      </p:sp>
      <p:cxnSp>
        <p:nvCxnSpPr>
          <p:cNvPr id="1034" name="Google Shape;1034;g36aa5e117e9_3_1405"/>
          <p:cNvCxnSpPr/>
          <p:nvPr/>
        </p:nvCxnSpPr>
        <p:spPr>
          <a:xfrm>
            <a:off x="2689567" y="3828805"/>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35" name="Google Shape;1035;g36aa5e117e9_3_1405"/>
          <p:cNvSpPr/>
          <p:nvPr/>
        </p:nvSpPr>
        <p:spPr>
          <a:xfrm flipH="1">
            <a:off x="1876275" y="1768150"/>
            <a:ext cx="298500" cy="2022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g36aa5e117e9_3_1405"/>
          <p:cNvSpPr txBox="1"/>
          <p:nvPr/>
        </p:nvSpPr>
        <p:spPr>
          <a:xfrm>
            <a:off x="1433425" y="2530383"/>
            <a:ext cx="539400" cy="2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TO</a:t>
            </a:r>
            <a:endParaRPr sz="1400" b="1" i="0" u="none" strike="noStrike" cap="none">
              <a:solidFill>
                <a:srgbClr val="000000"/>
              </a:solidFill>
              <a:latin typeface="Open Sans"/>
              <a:ea typeface="Open Sans"/>
              <a:cs typeface="Open Sans"/>
              <a:sym typeface="Open Sans"/>
            </a:endParaRPr>
          </a:p>
        </p:txBody>
      </p:sp>
      <p:sp>
        <p:nvSpPr>
          <p:cNvPr id="1037" name="Google Shape;1037;g36aa5e117e9_3_1405"/>
          <p:cNvSpPr txBox="1"/>
          <p:nvPr/>
        </p:nvSpPr>
        <p:spPr>
          <a:xfrm>
            <a:off x="1297309" y="4097912"/>
            <a:ext cx="730800" cy="2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1038" name="Google Shape;1038;g36aa5e117e9_3_1405"/>
          <p:cNvSpPr/>
          <p:nvPr/>
        </p:nvSpPr>
        <p:spPr>
          <a:xfrm flipH="1">
            <a:off x="1887963" y="3791767"/>
            <a:ext cx="286800" cy="1014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g36aa5e117e9_3_1405"/>
          <p:cNvSpPr txBox="1"/>
          <p:nvPr/>
        </p:nvSpPr>
        <p:spPr>
          <a:xfrm>
            <a:off x="3929992" y="2919913"/>
            <a:ext cx="539400" cy="252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p:txBody>
      </p:sp>
      <p:sp>
        <p:nvSpPr>
          <p:cNvPr id="1040" name="Google Shape;1040;g36aa5e117e9_3_1405"/>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accent3"/>
                </a:solidFill>
              </a:rPr>
              <a:t>Question 1: TCP in Action</a:t>
            </a:r>
            <a:endParaRPr>
              <a:solidFill>
                <a:schemeClr val="accent3"/>
              </a:solidFill>
            </a:endParaRPr>
          </a:p>
          <a:p>
            <a:pPr marL="0" lvl="0" indent="0" algn="l" rtl="0">
              <a:lnSpc>
                <a:spcPct val="100000"/>
              </a:lnSpc>
              <a:spcBef>
                <a:spcPts val="0"/>
              </a:spcBef>
              <a:spcAft>
                <a:spcPts val="0"/>
              </a:spcAft>
              <a:buSzPts val="1600"/>
              <a:buNone/>
            </a:pPr>
            <a:endParaRPr/>
          </a:p>
        </p:txBody>
      </p:sp>
      <p:sp>
        <p:nvSpPr>
          <p:cNvPr id="1041" name="Google Shape;1041;g36aa5e117e9_3_1405"/>
          <p:cNvSpPr txBox="1"/>
          <p:nvPr/>
        </p:nvSpPr>
        <p:spPr>
          <a:xfrm>
            <a:off x="7479425" y="4221875"/>
            <a:ext cx="16242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Roboto"/>
                <a:ea typeface="Roboto"/>
                <a:cs typeface="Roboto"/>
                <a:sym typeface="Roboto"/>
              </a:rPr>
              <a:t>Note: The question assumes each batch is sent/received at the same time, but they are shown separately for readability</a:t>
            </a:r>
            <a:endParaRPr sz="9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9"/>
                                        </p:tgtEl>
                                        <p:attrNameLst>
                                          <p:attrName>style.visibility</p:attrName>
                                        </p:attrNameLst>
                                      </p:cBhvr>
                                      <p:to>
                                        <p:strVal val="visible"/>
                                      </p:to>
                                    </p:set>
                                    <p:animEffect transition="in" filter="fade">
                                      <p:cBhvr>
                                        <p:cTn id="7" dur="1000"/>
                                        <p:tgtEl>
                                          <p:spTgt spid="1009"/>
                                        </p:tgtEl>
                                      </p:cBhvr>
                                    </p:animEffect>
                                  </p:childTnLst>
                                </p:cTn>
                              </p:par>
                              <p:par>
                                <p:cTn id="8" presetID="10" presetClass="entr" presetSubtype="0" fill="hold" nodeType="withEffect">
                                  <p:stCondLst>
                                    <p:cond delay="0"/>
                                  </p:stCondLst>
                                  <p:childTnLst>
                                    <p:set>
                                      <p:cBhvr>
                                        <p:cTn id="9" dur="1" fill="hold">
                                          <p:stCondLst>
                                            <p:cond delay="0"/>
                                          </p:stCondLst>
                                        </p:cTn>
                                        <p:tgtEl>
                                          <p:spTgt spid="1010"/>
                                        </p:tgtEl>
                                        <p:attrNameLst>
                                          <p:attrName>style.visibility</p:attrName>
                                        </p:attrNameLst>
                                      </p:cBhvr>
                                      <p:to>
                                        <p:strVal val="visible"/>
                                      </p:to>
                                    </p:set>
                                    <p:animEffect transition="in" filter="fade">
                                      <p:cBhvr>
                                        <p:cTn id="10" dur="1000"/>
                                        <p:tgtEl>
                                          <p:spTgt spid="1010"/>
                                        </p:tgtEl>
                                      </p:cBhvr>
                                    </p:animEffect>
                                  </p:childTnLst>
                                </p:cTn>
                              </p:par>
                              <p:par>
                                <p:cTn id="11" presetID="10" presetClass="entr" presetSubtype="0" fill="hold" nodeType="withEffect">
                                  <p:stCondLst>
                                    <p:cond delay="0"/>
                                  </p:stCondLst>
                                  <p:childTnLst>
                                    <p:set>
                                      <p:cBhvr>
                                        <p:cTn id="12" dur="1" fill="hold">
                                          <p:stCondLst>
                                            <p:cond delay="0"/>
                                          </p:stCondLst>
                                        </p:cTn>
                                        <p:tgtEl>
                                          <p:spTgt spid="1013"/>
                                        </p:tgtEl>
                                        <p:attrNameLst>
                                          <p:attrName>style.visibility</p:attrName>
                                        </p:attrNameLst>
                                      </p:cBhvr>
                                      <p:to>
                                        <p:strVal val="visible"/>
                                      </p:to>
                                    </p:set>
                                    <p:animEffect transition="in" filter="fade">
                                      <p:cBhvr>
                                        <p:cTn id="13" dur="1000"/>
                                        <p:tgtEl>
                                          <p:spTgt spid="1013"/>
                                        </p:tgtEl>
                                      </p:cBhvr>
                                    </p:animEffect>
                                  </p:childTnLst>
                                </p:cTn>
                              </p:par>
                              <p:par>
                                <p:cTn id="14" presetID="10" presetClass="entr" presetSubtype="0" fill="hold" nodeType="withEffect">
                                  <p:stCondLst>
                                    <p:cond delay="0"/>
                                  </p:stCondLst>
                                  <p:childTnLst>
                                    <p:set>
                                      <p:cBhvr>
                                        <p:cTn id="15" dur="1" fill="hold">
                                          <p:stCondLst>
                                            <p:cond delay="0"/>
                                          </p:stCondLst>
                                        </p:cTn>
                                        <p:tgtEl>
                                          <p:spTgt spid="1014"/>
                                        </p:tgtEl>
                                        <p:attrNameLst>
                                          <p:attrName>style.visibility</p:attrName>
                                        </p:attrNameLst>
                                      </p:cBhvr>
                                      <p:to>
                                        <p:strVal val="visible"/>
                                      </p:to>
                                    </p:set>
                                    <p:animEffect transition="in" filter="fade">
                                      <p:cBhvr>
                                        <p:cTn id="16" dur="1000"/>
                                        <p:tgtEl>
                                          <p:spTgt spid="1014"/>
                                        </p:tgtEl>
                                      </p:cBhvr>
                                    </p:animEffect>
                                  </p:childTnLst>
                                </p:cTn>
                              </p:par>
                              <p:par>
                                <p:cTn id="17" presetID="10" presetClass="entr" presetSubtype="0" fill="hold" nodeType="withEffect">
                                  <p:stCondLst>
                                    <p:cond delay="0"/>
                                  </p:stCondLst>
                                  <p:childTnLst>
                                    <p:set>
                                      <p:cBhvr>
                                        <p:cTn id="18" dur="1" fill="hold">
                                          <p:stCondLst>
                                            <p:cond delay="0"/>
                                          </p:stCondLst>
                                        </p:cTn>
                                        <p:tgtEl>
                                          <p:spTgt spid="1016"/>
                                        </p:tgtEl>
                                        <p:attrNameLst>
                                          <p:attrName>style.visibility</p:attrName>
                                        </p:attrNameLst>
                                      </p:cBhvr>
                                      <p:to>
                                        <p:strVal val="visible"/>
                                      </p:to>
                                    </p:set>
                                    <p:animEffect transition="in" filter="fade">
                                      <p:cBhvr>
                                        <p:cTn id="19" dur="1000"/>
                                        <p:tgtEl>
                                          <p:spTgt spid="1016"/>
                                        </p:tgtEl>
                                      </p:cBhvr>
                                    </p:animEffect>
                                  </p:childTnLst>
                                </p:cTn>
                              </p:par>
                              <p:par>
                                <p:cTn id="20" presetID="10" presetClass="entr" presetSubtype="0" fill="hold" nodeType="withEffect">
                                  <p:stCondLst>
                                    <p:cond delay="0"/>
                                  </p:stCondLst>
                                  <p:childTnLst>
                                    <p:set>
                                      <p:cBhvr>
                                        <p:cTn id="21" dur="1" fill="hold">
                                          <p:stCondLst>
                                            <p:cond delay="0"/>
                                          </p:stCondLst>
                                        </p:cTn>
                                        <p:tgtEl>
                                          <p:spTgt spid="1017"/>
                                        </p:tgtEl>
                                        <p:attrNameLst>
                                          <p:attrName>style.visibility</p:attrName>
                                        </p:attrNameLst>
                                      </p:cBhvr>
                                      <p:to>
                                        <p:strVal val="visible"/>
                                      </p:to>
                                    </p:set>
                                    <p:animEffect transition="in" filter="fade">
                                      <p:cBhvr>
                                        <p:cTn id="22" dur="1000"/>
                                        <p:tgtEl>
                                          <p:spTgt spid="1017"/>
                                        </p:tgtEl>
                                      </p:cBhvr>
                                    </p:animEffect>
                                  </p:childTnLst>
                                </p:cTn>
                              </p:par>
                              <p:par>
                                <p:cTn id="23" presetID="10" presetClass="entr" presetSubtype="0" fill="hold" nodeType="withEffect">
                                  <p:stCondLst>
                                    <p:cond delay="0"/>
                                  </p:stCondLst>
                                  <p:childTnLst>
                                    <p:set>
                                      <p:cBhvr>
                                        <p:cTn id="24" dur="1" fill="hold">
                                          <p:stCondLst>
                                            <p:cond delay="0"/>
                                          </p:stCondLst>
                                        </p:cTn>
                                        <p:tgtEl>
                                          <p:spTgt spid="1018"/>
                                        </p:tgtEl>
                                        <p:attrNameLst>
                                          <p:attrName>style.visibility</p:attrName>
                                        </p:attrNameLst>
                                      </p:cBhvr>
                                      <p:to>
                                        <p:strVal val="visible"/>
                                      </p:to>
                                    </p:set>
                                    <p:animEffect transition="in" filter="fade">
                                      <p:cBhvr>
                                        <p:cTn id="25" dur="1000"/>
                                        <p:tgtEl>
                                          <p:spTgt spid="10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08"/>
                                        </p:tgtEl>
                                        <p:attrNameLst>
                                          <p:attrName>style.visibility</p:attrName>
                                        </p:attrNameLst>
                                      </p:cBhvr>
                                      <p:to>
                                        <p:strVal val="visible"/>
                                      </p:to>
                                    </p:set>
                                    <p:animEffect transition="in" filter="fade">
                                      <p:cBhvr>
                                        <p:cTn id="30" dur="1000"/>
                                        <p:tgtEl>
                                          <p:spTgt spid="1008"/>
                                        </p:tgtEl>
                                      </p:cBhvr>
                                    </p:animEffect>
                                  </p:childTnLst>
                                </p:cTn>
                              </p:par>
                              <p:par>
                                <p:cTn id="31" presetID="10" presetClass="entr" presetSubtype="0" fill="hold" nodeType="withEffect">
                                  <p:stCondLst>
                                    <p:cond delay="0"/>
                                  </p:stCondLst>
                                  <p:childTnLst>
                                    <p:set>
                                      <p:cBhvr>
                                        <p:cTn id="32" dur="1" fill="hold">
                                          <p:stCondLst>
                                            <p:cond delay="0"/>
                                          </p:stCondLst>
                                        </p:cTn>
                                        <p:tgtEl>
                                          <p:spTgt spid="1011"/>
                                        </p:tgtEl>
                                        <p:attrNameLst>
                                          <p:attrName>style.visibility</p:attrName>
                                        </p:attrNameLst>
                                      </p:cBhvr>
                                      <p:to>
                                        <p:strVal val="visible"/>
                                      </p:to>
                                    </p:set>
                                    <p:animEffect transition="in" filter="fade">
                                      <p:cBhvr>
                                        <p:cTn id="33" dur="1000"/>
                                        <p:tgtEl>
                                          <p:spTgt spid="1011"/>
                                        </p:tgtEl>
                                      </p:cBhvr>
                                    </p:animEffect>
                                  </p:childTnLst>
                                </p:cTn>
                              </p:par>
                              <p:par>
                                <p:cTn id="34" presetID="10" presetClass="entr" presetSubtype="0" fill="hold" nodeType="withEffect">
                                  <p:stCondLst>
                                    <p:cond delay="0"/>
                                  </p:stCondLst>
                                  <p:childTnLst>
                                    <p:set>
                                      <p:cBhvr>
                                        <p:cTn id="35" dur="1" fill="hold">
                                          <p:stCondLst>
                                            <p:cond delay="0"/>
                                          </p:stCondLst>
                                        </p:cTn>
                                        <p:tgtEl>
                                          <p:spTgt spid="1012"/>
                                        </p:tgtEl>
                                        <p:attrNameLst>
                                          <p:attrName>style.visibility</p:attrName>
                                        </p:attrNameLst>
                                      </p:cBhvr>
                                      <p:to>
                                        <p:strVal val="visible"/>
                                      </p:to>
                                    </p:set>
                                    <p:animEffect transition="in" filter="fade">
                                      <p:cBhvr>
                                        <p:cTn id="36" dur="1000"/>
                                        <p:tgtEl>
                                          <p:spTgt spid="1012"/>
                                        </p:tgtEl>
                                      </p:cBhvr>
                                    </p:animEffect>
                                  </p:childTnLst>
                                </p:cTn>
                              </p:par>
                              <p:par>
                                <p:cTn id="37" presetID="10" presetClass="entr" presetSubtype="0" fill="hold" nodeType="withEffect">
                                  <p:stCondLst>
                                    <p:cond delay="0"/>
                                  </p:stCondLst>
                                  <p:childTnLst>
                                    <p:set>
                                      <p:cBhvr>
                                        <p:cTn id="38" dur="1" fill="hold">
                                          <p:stCondLst>
                                            <p:cond delay="0"/>
                                          </p:stCondLst>
                                        </p:cTn>
                                        <p:tgtEl>
                                          <p:spTgt spid="1015"/>
                                        </p:tgtEl>
                                        <p:attrNameLst>
                                          <p:attrName>style.visibility</p:attrName>
                                        </p:attrNameLst>
                                      </p:cBhvr>
                                      <p:to>
                                        <p:strVal val="visible"/>
                                      </p:to>
                                    </p:set>
                                    <p:animEffect transition="in" filter="fade">
                                      <p:cBhvr>
                                        <p:cTn id="39" dur="1000"/>
                                        <p:tgtEl>
                                          <p:spTgt spid="10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07"/>
                                        </p:tgtEl>
                                        <p:attrNameLst>
                                          <p:attrName>style.visibility</p:attrName>
                                        </p:attrNameLst>
                                      </p:cBhvr>
                                      <p:to>
                                        <p:strVal val="visible"/>
                                      </p:to>
                                    </p:set>
                                    <p:animEffect transition="in" filter="fade">
                                      <p:cBhvr>
                                        <p:cTn id="44" dur="1000"/>
                                        <p:tgtEl>
                                          <p:spTgt spid="1007"/>
                                        </p:tgtEl>
                                      </p:cBhvr>
                                    </p:animEffect>
                                  </p:childTnLst>
                                </p:cTn>
                              </p:par>
                              <p:par>
                                <p:cTn id="45" presetID="10" presetClass="entr" presetSubtype="0" fill="hold" nodeType="withEffect">
                                  <p:stCondLst>
                                    <p:cond delay="0"/>
                                  </p:stCondLst>
                                  <p:childTnLst>
                                    <p:set>
                                      <p:cBhvr>
                                        <p:cTn id="46" dur="1" fill="hold">
                                          <p:stCondLst>
                                            <p:cond delay="0"/>
                                          </p:stCondLst>
                                        </p:cTn>
                                        <p:tgtEl>
                                          <p:spTgt spid="1006"/>
                                        </p:tgtEl>
                                        <p:attrNameLst>
                                          <p:attrName>style.visibility</p:attrName>
                                        </p:attrNameLst>
                                      </p:cBhvr>
                                      <p:to>
                                        <p:strVal val="visible"/>
                                      </p:to>
                                    </p:set>
                                    <p:animEffect transition="in" filter="fade">
                                      <p:cBhvr>
                                        <p:cTn id="47" dur="1000"/>
                                        <p:tgtEl>
                                          <p:spTgt spid="100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19"/>
                                        </p:tgtEl>
                                        <p:attrNameLst>
                                          <p:attrName>style.visibility</p:attrName>
                                        </p:attrNameLst>
                                      </p:cBhvr>
                                      <p:to>
                                        <p:strVal val="visible"/>
                                      </p:to>
                                    </p:set>
                                    <p:animEffect transition="in" filter="fade">
                                      <p:cBhvr>
                                        <p:cTn id="52" dur="1000"/>
                                        <p:tgtEl>
                                          <p:spTgt spid="1019"/>
                                        </p:tgtEl>
                                      </p:cBhvr>
                                    </p:animEffect>
                                  </p:childTnLst>
                                </p:cTn>
                              </p:par>
                              <p:par>
                                <p:cTn id="53" presetID="10" presetClass="entr" presetSubtype="0" fill="hold" nodeType="withEffect">
                                  <p:stCondLst>
                                    <p:cond delay="0"/>
                                  </p:stCondLst>
                                  <p:childTnLst>
                                    <p:set>
                                      <p:cBhvr>
                                        <p:cTn id="54" dur="1" fill="hold">
                                          <p:stCondLst>
                                            <p:cond delay="0"/>
                                          </p:stCondLst>
                                        </p:cTn>
                                        <p:tgtEl>
                                          <p:spTgt spid="1020"/>
                                        </p:tgtEl>
                                        <p:attrNameLst>
                                          <p:attrName>style.visibility</p:attrName>
                                        </p:attrNameLst>
                                      </p:cBhvr>
                                      <p:to>
                                        <p:strVal val="visible"/>
                                      </p:to>
                                    </p:set>
                                    <p:animEffect transition="in" filter="fade">
                                      <p:cBhvr>
                                        <p:cTn id="55" dur="1000"/>
                                        <p:tgtEl>
                                          <p:spTgt spid="10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022"/>
                                        </p:tgtEl>
                                        <p:attrNameLst>
                                          <p:attrName>style.visibility</p:attrName>
                                        </p:attrNameLst>
                                      </p:cBhvr>
                                      <p:to>
                                        <p:strVal val="visible"/>
                                      </p:to>
                                    </p:set>
                                    <p:animEffect transition="in" filter="fade">
                                      <p:cBhvr>
                                        <p:cTn id="60" dur="1000"/>
                                        <p:tgtEl>
                                          <p:spTgt spid="1022"/>
                                        </p:tgtEl>
                                      </p:cBhvr>
                                    </p:animEffect>
                                  </p:childTnLst>
                                </p:cTn>
                              </p:par>
                              <p:par>
                                <p:cTn id="61" presetID="10" presetClass="entr" presetSubtype="0" fill="hold" nodeType="withEffect">
                                  <p:stCondLst>
                                    <p:cond delay="0"/>
                                  </p:stCondLst>
                                  <p:childTnLst>
                                    <p:set>
                                      <p:cBhvr>
                                        <p:cTn id="62" dur="1" fill="hold">
                                          <p:stCondLst>
                                            <p:cond delay="0"/>
                                          </p:stCondLst>
                                        </p:cTn>
                                        <p:tgtEl>
                                          <p:spTgt spid="1023"/>
                                        </p:tgtEl>
                                        <p:attrNameLst>
                                          <p:attrName>style.visibility</p:attrName>
                                        </p:attrNameLst>
                                      </p:cBhvr>
                                      <p:to>
                                        <p:strVal val="visible"/>
                                      </p:to>
                                    </p:set>
                                    <p:animEffect transition="in" filter="fade">
                                      <p:cBhvr>
                                        <p:cTn id="63" dur="1000"/>
                                        <p:tgtEl>
                                          <p:spTgt spid="1023"/>
                                        </p:tgtEl>
                                      </p:cBhvr>
                                    </p:animEffect>
                                  </p:childTnLst>
                                </p:cTn>
                              </p:par>
                              <p:par>
                                <p:cTn id="64" presetID="10" presetClass="entr" presetSubtype="0" fill="hold" nodeType="withEffect">
                                  <p:stCondLst>
                                    <p:cond delay="0"/>
                                  </p:stCondLst>
                                  <p:childTnLst>
                                    <p:set>
                                      <p:cBhvr>
                                        <p:cTn id="65" dur="1" fill="hold">
                                          <p:stCondLst>
                                            <p:cond delay="0"/>
                                          </p:stCondLst>
                                        </p:cTn>
                                        <p:tgtEl>
                                          <p:spTgt spid="1027"/>
                                        </p:tgtEl>
                                        <p:attrNameLst>
                                          <p:attrName>style.visibility</p:attrName>
                                        </p:attrNameLst>
                                      </p:cBhvr>
                                      <p:to>
                                        <p:strVal val="visible"/>
                                      </p:to>
                                    </p:set>
                                    <p:animEffect transition="in" filter="fade">
                                      <p:cBhvr>
                                        <p:cTn id="66" dur="1000"/>
                                        <p:tgtEl>
                                          <p:spTgt spid="1027"/>
                                        </p:tgtEl>
                                      </p:cBhvr>
                                    </p:animEffect>
                                  </p:childTnLst>
                                </p:cTn>
                              </p:par>
                              <p:par>
                                <p:cTn id="67" presetID="10" presetClass="entr" presetSubtype="0" fill="hold" nodeType="withEffect">
                                  <p:stCondLst>
                                    <p:cond delay="0"/>
                                  </p:stCondLst>
                                  <p:childTnLst>
                                    <p:set>
                                      <p:cBhvr>
                                        <p:cTn id="68" dur="1" fill="hold">
                                          <p:stCondLst>
                                            <p:cond delay="0"/>
                                          </p:stCondLst>
                                        </p:cTn>
                                        <p:tgtEl>
                                          <p:spTgt spid="1026"/>
                                        </p:tgtEl>
                                        <p:attrNameLst>
                                          <p:attrName>style.visibility</p:attrName>
                                        </p:attrNameLst>
                                      </p:cBhvr>
                                      <p:to>
                                        <p:strVal val="visible"/>
                                      </p:to>
                                    </p:set>
                                    <p:animEffect transition="in" filter="fade">
                                      <p:cBhvr>
                                        <p:cTn id="69" dur="1000"/>
                                        <p:tgtEl>
                                          <p:spTgt spid="10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021"/>
                                        </p:tgtEl>
                                        <p:attrNameLst>
                                          <p:attrName>style.visibility</p:attrName>
                                        </p:attrNameLst>
                                      </p:cBhvr>
                                      <p:to>
                                        <p:strVal val="visible"/>
                                      </p:to>
                                    </p:set>
                                    <p:animEffect transition="in" filter="fade">
                                      <p:cBhvr>
                                        <p:cTn id="74" dur="1000"/>
                                        <p:tgtEl>
                                          <p:spTgt spid="1021"/>
                                        </p:tgtEl>
                                      </p:cBhvr>
                                    </p:animEffect>
                                  </p:childTnLst>
                                </p:cTn>
                              </p:par>
                              <p:par>
                                <p:cTn id="75" presetID="10" presetClass="entr" presetSubtype="0" fill="hold" nodeType="withEffect">
                                  <p:stCondLst>
                                    <p:cond delay="0"/>
                                  </p:stCondLst>
                                  <p:childTnLst>
                                    <p:set>
                                      <p:cBhvr>
                                        <p:cTn id="76" dur="1" fill="hold">
                                          <p:stCondLst>
                                            <p:cond delay="0"/>
                                          </p:stCondLst>
                                        </p:cTn>
                                        <p:tgtEl>
                                          <p:spTgt spid="1024"/>
                                        </p:tgtEl>
                                        <p:attrNameLst>
                                          <p:attrName>style.visibility</p:attrName>
                                        </p:attrNameLst>
                                      </p:cBhvr>
                                      <p:to>
                                        <p:strVal val="visible"/>
                                      </p:to>
                                    </p:set>
                                    <p:animEffect transition="in" filter="fade">
                                      <p:cBhvr>
                                        <p:cTn id="77" dur="1000"/>
                                        <p:tgtEl>
                                          <p:spTgt spid="1024"/>
                                        </p:tgtEl>
                                      </p:cBhvr>
                                    </p:animEffect>
                                  </p:childTnLst>
                                </p:cTn>
                              </p:par>
                              <p:par>
                                <p:cTn id="78" presetID="10" presetClass="entr" presetSubtype="0" fill="hold" nodeType="withEffect">
                                  <p:stCondLst>
                                    <p:cond delay="0"/>
                                  </p:stCondLst>
                                  <p:childTnLst>
                                    <p:set>
                                      <p:cBhvr>
                                        <p:cTn id="79" dur="1" fill="hold">
                                          <p:stCondLst>
                                            <p:cond delay="0"/>
                                          </p:stCondLst>
                                        </p:cTn>
                                        <p:tgtEl>
                                          <p:spTgt spid="1025"/>
                                        </p:tgtEl>
                                        <p:attrNameLst>
                                          <p:attrName>style.visibility</p:attrName>
                                        </p:attrNameLst>
                                      </p:cBhvr>
                                      <p:to>
                                        <p:strVal val="visible"/>
                                      </p:to>
                                    </p:set>
                                    <p:animEffect transition="in" filter="fade">
                                      <p:cBhvr>
                                        <p:cTn id="80" dur="1000"/>
                                        <p:tgtEl>
                                          <p:spTgt spid="1025"/>
                                        </p:tgtEl>
                                      </p:cBhvr>
                                    </p:animEffect>
                                  </p:childTnLst>
                                </p:cTn>
                              </p:par>
                              <p:par>
                                <p:cTn id="81" presetID="10" presetClass="entr" presetSubtype="0" fill="hold" nodeType="withEffect">
                                  <p:stCondLst>
                                    <p:cond delay="0"/>
                                  </p:stCondLst>
                                  <p:childTnLst>
                                    <p:set>
                                      <p:cBhvr>
                                        <p:cTn id="82" dur="1" fill="hold">
                                          <p:stCondLst>
                                            <p:cond delay="0"/>
                                          </p:stCondLst>
                                        </p:cTn>
                                        <p:tgtEl>
                                          <p:spTgt spid="1028"/>
                                        </p:tgtEl>
                                        <p:attrNameLst>
                                          <p:attrName>style.visibility</p:attrName>
                                        </p:attrNameLst>
                                      </p:cBhvr>
                                      <p:to>
                                        <p:strVal val="visible"/>
                                      </p:to>
                                    </p:set>
                                    <p:animEffect transition="in" filter="fade">
                                      <p:cBhvr>
                                        <p:cTn id="83" dur="1000"/>
                                        <p:tgtEl>
                                          <p:spTgt spid="102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032"/>
                                        </p:tgtEl>
                                        <p:attrNameLst>
                                          <p:attrName>style.visibility</p:attrName>
                                        </p:attrNameLst>
                                      </p:cBhvr>
                                      <p:to>
                                        <p:strVal val="visible"/>
                                      </p:to>
                                    </p:set>
                                    <p:animEffect transition="in" filter="fade">
                                      <p:cBhvr>
                                        <p:cTn id="88" dur="1000"/>
                                        <p:tgtEl>
                                          <p:spTgt spid="1032"/>
                                        </p:tgtEl>
                                      </p:cBhvr>
                                    </p:animEffect>
                                  </p:childTnLst>
                                </p:cTn>
                              </p:par>
                              <p:par>
                                <p:cTn id="89" presetID="10" presetClass="entr" presetSubtype="0" fill="hold" nodeType="withEffect">
                                  <p:stCondLst>
                                    <p:cond delay="0"/>
                                  </p:stCondLst>
                                  <p:childTnLst>
                                    <p:set>
                                      <p:cBhvr>
                                        <p:cTn id="90" dur="1" fill="hold">
                                          <p:stCondLst>
                                            <p:cond delay="0"/>
                                          </p:stCondLst>
                                        </p:cTn>
                                        <p:tgtEl>
                                          <p:spTgt spid="1039"/>
                                        </p:tgtEl>
                                        <p:attrNameLst>
                                          <p:attrName>style.visibility</p:attrName>
                                        </p:attrNameLst>
                                      </p:cBhvr>
                                      <p:to>
                                        <p:strVal val="visible"/>
                                      </p:to>
                                    </p:set>
                                    <p:animEffect transition="in" filter="fade">
                                      <p:cBhvr>
                                        <p:cTn id="91" dur="1000"/>
                                        <p:tgtEl>
                                          <p:spTgt spid="1039"/>
                                        </p:tgtEl>
                                      </p:cBhvr>
                                    </p:animEffect>
                                  </p:childTnLst>
                                </p:cTn>
                              </p:par>
                              <p:par>
                                <p:cTn id="92" presetID="10" presetClass="entr" presetSubtype="0" fill="hold" nodeType="withEffect">
                                  <p:stCondLst>
                                    <p:cond delay="0"/>
                                  </p:stCondLst>
                                  <p:childTnLst>
                                    <p:set>
                                      <p:cBhvr>
                                        <p:cTn id="93" dur="1" fill="hold">
                                          <p:stCondLst>
                                            <p:cond delay="0"/>
                                          </p:stCondLst>
                                        </p:cTn>
                                        <p:tgtEl>
                                          <p:spTgt spid="1033"/>
                                        </p:tgtEl>
                                        <p:attrNameLst>
                                          <p:attrName>style.visibility</p:attrName>
                                        </p:attrNameLst>
                                      </p:cBhvr>
                                      <p:to>
                                        <p:strVal val="visible"/>
                                      </p:to>
                                    </p:set>
                                    <p:animEffect transition="in" filter="fade">
                                      <p:cBhvr>
                                        <p:cTn id="94" dur="1000"/>
                                        <p:tgtEl>
                                          <p:spTgt spid="1033"/>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1035"/>
                                        </p:tgtEl>
                                        <p:attrNameLst>
                                          <p:attrName>style.visibility</p:attrName>
                                        </p:attrNameLst>
                                      </p:cBhvr>
                                      <p:to>
                                        <p:strVal val="visible"/>
                                      </p:to>
                                    </p:set>
                                    <p:animEffect transition="in" filter="fade">
                                      <p:cBhvr>
                                        <p:cTn id="99" dur="1000"/>
                                        <p:tgtEl>
                                          <p:spTgt spid="1035"/>
                                        </p:tgtEl>
                                      </p:cBhvr>
                                    </p:animEffect>
                                  </p:childTnLst>
                                </p:cTn>
                              </p:par>
                              <p:par>
                                <p:cTn id="100" presetID="10" presetClass="entr" presetSubtype="0" fill="hold" nodeType="withEffect">
                                  <p:stCondLst>
                                    <p:cond delay="0"/>
                                  </p:stCondLst>
                                  <p:childTnLst>
                                    <p:set>
                                      <p:cBhvr>
                                        <p:cTn id="101" dur="1" fill="hold">
                                          <p:stCondLst>
                                            <p:cond delay="0"/>
                                          </p:stCondLst>
                                        </p:cTn>
                                        <p:tgtEl>
                                          <p:spTgt spid="1036"/>
                                        </p:tgtEl>
                                        <p:attrNameLst>
                                          <p:attrName>style.visibility</p:attrName>
                                        </p:attrNameLst>
                                      </p:cBhvr>
                                      <p:to>
                                        <p:strVal val="visible"/>
                                      </p:to>
                                    </p:set>
                                    <p:animEffect transition="in" filter="fade">
                                      <p:cBhvr>
                                        <p:cTn id="102" dur="1000"/>
                                        <p:tgtEl>
                                          <p:spTgt spid="103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029"/>
                                        </p:tgtEl>
                                        <p:attrNameLst>
                                          <p:attrName>style.visibility</p:attrName>
                                        </p:attrNameLst>
                                      </p:cBhvr>
                                      <p:to>
                                        <p:strVal val="visible"/>
                                      </p:to>
                                    </p:set>
                                    <p:animEffect transition="in" filter="fade">
                                      <p:cBhvr>
                                        <p:cTn id="107" dur="1000"/>
                                        <p:tgtEl>
                                          <p:spTgt spid="1029"/>
                                        </p:tgtEl>
                                      </p:cBhvr>
                                    </p:animEffect>
                                  </p:childTnLst>
                                </p:cTn>
                              </p:par>
                              <p:par>
                                <p:cTn id="108" presetID="10" presetClass="entr" presetSubtype="0" fill="hold" nodeType="withEffect">
                                  <p:stCondLst>
                                    <p:cond delay="0"/>
                                  </p:stCondLst>
                                  <p:childTnLst>
                                    <p:set>
                                      <p:cBhvr>
                                        <p:cTn id="109" dur="1" fill="hold">
                                          <p:stCondLst>
                                            <p:cond delay="0"/>
                                          </p:stCondLst>
                                        </p:cTn>
                                        <p:tgtEl>
                                          <p:spTgt spid="1034"/>
                                        </p:tgtEl>
                                        <p:attrNameLst>
                                          <p:attrName>style.visibility</p:attrName>
                                        </p:attrNameLst>
                                      </p:cBhvr>
                                      <p:to>
                                        <p:strVal val="visible"/>
                                      </p:to>
                                    </p:set>
                                    <p:animEffect transition="in" filter="fade">
                                      <p:cBhvr>
                                        <p:cTn id="110" dur="1000"/>
                                        <p:tgtEl>
                                          <p:spTgt spid="1034"/>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031"/>
                                        </p:tgtEl>
                                        <p:attrNameLst>
                                          <p:attrName>style.visibility</p:attrName>
                                        </p:attrNameLst>
                                      </p:cBhvr>
                                      <p:to>
                                        <p:strVal val="visible"/>
                                      </p:to>
                                    </p:set>
                                    <p:animEffect transition="in" filter="fade">
                                      <p:cBhvr>
                                        <p:cTn id="115" dur="1000"/>
                                        <p:tgtEl>
                                          <p:spTgt spid="1031"/>
                                        </p:tgtEl>
                                      </p:cBhvr>
                                    </p:animEffect>
                                  </p:childTnLst>
                                </p:cTn>
                              </p:par>
                              <p:par>
                                <p:cTn id="116" presetID="10" presetClass="entr" presetSubtype="0" fill="hold" nodeType="withEffect">
                                  <p:stCondLst>
                                    <p:cond delay="0"/>
                                  </p:stCondLst>
                                  <p:childTnLst>
                                    <p:set>
                                      <p:cBhvr>
                                        <p:cTn id="117" dur="1" fill="hold">
                                          <p:stCondLst>
                                            <p:cond delay="0"/>
                                          </p:stCondLst>
                                        </p:cTn>
                                        <p:tgtEl>
                                          <p:spTgt spid="1030"/>
                                        </p:tgtEl>
                                        <p:attrNameLst>
                                          <p:attrName>style.visibility</p:attrName>
                                        </p:attrNameLst>
                                      </p:cBhvr>
                                      <p:to>
                                        <p:strVal val="visible"/>
                                      </p:to>
                                    </p:set>
                                    <p:animEffect transition="in" filter="fade">
                                      <p:cBhvr>
                                        <p:cTn id="118" dur="1000"/>
                                        <p:tgtEl>
                                          <p:spTgt spid="103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1038"/>
                                        </p:tgtEl>
                                        <p:attrNameLst>
                                          <p:attrName>style.visibility</p:attrName>
                                        </p:attrNameLst>
                                      </p:cBhvr>
                                      <p:to>
                                        <p:strVal val="visible"/>
                                      </p:to>
                                    </p:set>
                                    <p:animEffect transition="in" filter="fade">
                                      <p:cBhvr>
                                        <p:cTn id="123" dur="1000"/>
                                        <p:tgtEl>
                                          <p:spTgt spid="1038"/>
                                        </p:tgtEl>
                                      </p:cBhvr>
                                    </p:animEffect>
                                  </p:childTnLst>
                                </p:cTn>
                              </p:par>
                              <p:par>
                                <p:cTn id="124" presetID="10" presetClass="entr" presetSubtype="0" fill="hold" nodeType="withEffect">
                                  <p:stCondLst>
                                    <p:cond delay="0"/>
                                  </p:stCondLst>
                                  <p:childTnLst>
                                    <p:set>
                                      <p:cBhvr>
                                        <p:cTn id="125" dur="1" fill="hold">
                                          <p:stCondLst>
                                            <p:cond delay="0"/>
                                          </p:stCondLst>
                                        </p:cTn>
                                        <p:tgtEl>
                                          <p:spTgt spid="1037"/>
                                        </p:tgtEl>
                                        <p:attrNameLst>
                                          <p:attrName>style.visibility</p:attrName>
                                        </p:attrNameLst>
                                      </p:cBhvr>
                                      <p:to>
                                        <p:strVal val="visible"/>
                                      </p:to>
                                    </p:set>
                                    <p:animEffect transition="in" filter="fade">
                                      <p:cBhvr>
                                        <p:cTn id="126" dur="1000"/>
                                        <p:tgtEl>
                                          <p:spTgt spid="1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cxnSp>
        <p:nvCxnSpPr>
          <p:cNvPr id="1047" name="Google Shape;1047;g36aa5e117e9_3_1446"/>
          <p:cNvCxnSpPr/>
          <p:nvPr/>
        </p:nvCxnSpPr>
        <p:spPr>
          <a:xfrm>
            <a:off x="3319338" y="1600050"/>
            <a:ext cx="0" cy="1253700"/>
          </a:xfrm>
          <a:prstGeom prst="straightConnector1">
            <a:avLst/>
          </a:prstGeom>
          <a:noFill/>
          <a:ln w="38100" cap="flat" cmpd="sng">
            <a:solidFill>
              <a:srgbClr val="1A1A1A"/>
            </a:solidFill>
            <a:prstDash val="solid"/>
            <a:round/>
            <a:headEnd type="none" w="sm" len="sm"/>
            <a:tailEnd type="none" w="sm" len="sm"/>
          </a:ln>
        </p:spPr>
      </p:cxnSp>
      <p:cxnSp>
        <p:nvCxnSpPr>
          <p:cNvPr id="1048" name="Google Shape;1048;g36aa5e117e9_3_1446"/>
          <p:cNvCxnSpPr/>
          <p:nvPr/>
        </p:nvCxnSpPr>
        <p:spPr>
          <a:xfrm>
            <a:off x="6531018" y="1600050"/>
            <a:ext cx="0" cy="1287300"/>
          </a:xfrm>
          <a:prstGeom prst="straightConnector1">
            <a:avLst/>
          </a:prstGeom>
          <a:noFill/>
          <a:ln w="38100" cap="flat" cmpd="sng">
            <a:solidFill>
              <a:srgbClr val="1A1A1A"/>
            </a:solidFill>
            <a:prstDash val="solid"/>
            <a:round/>
            <a:headEnd type="none" w="sm" len="sm"/>
            <a:tailEnd type="none" w="sm" len="sm"/>
          </a:ln>
        </p:spPr>
      </p:cxnSp>
      <p:sp>
        <p:nvSpPr>
          <p:cNvPr id="1049" name="Google Shape;1049;g36aa5e117e9_3_1446"/>
          <p:cNvSpPr/>
          <p:nvPr/>
        </p:nvSpPr>
        <p:spPr>
          <a:xfrm flipH="1">
            <a:off x="2377488" y="1600050"/>
            <a:ext cx="312000" cy="1099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0" name="Google Shape;1050;g36aa5e117e9_3_1446"/>
          <p:cNvSpPr txBox="1"/>
          <p:nvPr/>
        </p:nvSpPr>
        <p:spPr>
          <a:xfrm>
            <a:off x="1763338" y="1957950"/>
            <a:ext cx="795300" cy="319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1051" name="Google Shape;1051;g36aa5e117e9_3_1446"/>
          <p:cNvSpPr txBox="1"/>
          <p:nvPr/>
        </p:nvSpPr>
        <p:spPr>
          <a:xfrm>
            <a:off x="6517863" y="1941725"/>
            <a:ext cx="862800" cy="27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A1100</a:t>
            </a:r>
            <a:endParaRPr sz="1200" b="0" i="0" u="none" strike="noStrike" cap="none">
              <a:solidFill>
                <a:srgbClr val="000000"/>
              </a:solidFill>
              <a:latin typeface="Lato"/>
              <a:ea typeface="Lato"/>
              <a:cs typeface="Lato"/>
              <a:sym typeface="Lato"/>
            </a:endParaRPr>
          </a:p>
        </p:txBody>
      </p:sp>
      <p:cxnSp>
        <p:nvCxnSpPr>
          <p:cNvPr id="1052" name="Google Shape;1052;g36aa5e117e9_3_1446"/>
          <p:cNvCxnSpPr/>
          <p:nvPr/>
        </p:nvCxnSpPr>
        <p:spPr>
          <a:xfrm>
            <a:off x="3311631" y="1620700"/>
            <a:ext cx="3273300" cy="533700"/>
          </a:xfrm>
          <a:prstGeom prst="straightConnector1">
            <a:avLst/>
          </a:prstGeom>
          <a:noFill/>
          <a:ln w="9525" cap="flat" cmpd="sng">
            <a:solidFill>
              <a:srgbClr val="1A1A1A"/>
            </a:solidFill>
            <a:prstDash val="solid"/>
            <a:round/>
            <a:headEnd type="none" w="sm" len="sm"/>
            <a:tailEnd type="triangle" w="med" len="med"/>
          </a:ln>
        </p:spPr>
      </p:cxnSp>
      <p:sp>
        <p:nvSpPr>
          <p:cNvPr id="1053" name="Google Shape;1053;g36aa5e117e9_3_1446"/>
          <p:cNvSpPr txBox="1"/>
          <p:nvPr/>
        </p:nvSpPr>
        <p:spPr>
          <a:xfrm>
            <a:off x="2638689" y="1426375"/>
            <a:ext cx="795300" cy="27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D1000</a:t>
            </a:r>
            <a:endParaRPr sz="1200" b="0" i="0" u="none" strike="noStrike" cap="none">
              <a:solidFill>
                <a:srgbClr val="000000"/>
              </a:solidFill>
              <a:latin typeface="Lato"/>
              <a:ea typeface="Lato"/>
              <a:cs typeface="Lato"/>
              <a:sym typeface="Lato"/>
            </a:endParaRPr>
          </a:p>
        </p:txBody>
      </p:sp>
      <p:cxnSp>
        <p:nvCxnSpPr>
          <p:cNvPr id="1054" name="Google Shape;1054;g36aa5e117e9_3_1446"/>
          <p:cNvCxnSpPr/>
          <p:nvPr/>
        </p:nvCxnSpPr>
        <p:spPr>
          <a:xfrm flipH="1">
            <a:off x="3311606" y="2161150"/>
            <a:ext cx="3232800" cy="538800"/>
          </a:xfrm>
          <a:prstGeom prst="straightConnector1">
            <a:avLst/>
          </a:prstGeom>
          <a:noFill/>
          <a:ln w="9525" cap="flat" cmpd="sng">
            <a:solidFill>
              <a:srgbClr val="1A9988"/>
            </a:solidFill>
            <a:prstDash val="solid"/>
            <a:round/>
            <a:headEnd type="none" w="sm" len="sm"/>
            <a:tailEnd type="triangle" w="med" len="med"/>
          </a:ln>
        </p:spPr>
      </p:cxnSp>
      <p:sp>
        <p:nvSpPr>
          <p:cNvPr id="1055" name="Google Shape;1055;g36aa5e117e9_3_1446"/>
          <p:cNvSpPr txBox="1"/>
          <p:nvPr/>
        </p:nvSpPr>
        <p:spPr>
          <a:xfrm>
            <a:off x="490875" y="3061475"/>
            <a:ext cx="7180200" cy="27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Total Time = RTT + TO + RTT + RTT + TO + RTT + RTT</a:t>
            </a: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	        	    = 5 * RTT + 2 * TO</a:t>
            </a: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	      	    = </a:t>
            </a:r>
            <a:r>
              <a:rPr lang="en" sz="1800" b="0" i="0" u="none" strike="noStrike" cap="none">
                <a:solidFill>
                  <a:srgbClr val="0000FF"/>
                </a:solidFill>
                <a:latin typeface="Lato"/>
                <a:ea typeface="Lato"/>
                <a:cs typeface="Lato"/>
                <a:sym typeface="Lato"/>
              </a:rPr>
              <a:t>6.05 seconds</a:t>
            </a:r>
            <a:endParaRPr sz="1800" b="0" i="0" u="none" strike="noStrike" cap="none">
              <a:solidFill>
                <a:srgbClr val="0000FF"/>
              </a:solidFill>
              <a:latin typeface="Lato"/>
              <a:ea typeface="Lato"/>
              <a:cs typeface="Lato"/>
              <a:sym typeface="Lato"/>
            </a:endParaRPr>
          </a:p>
        </p:txBody>
      </p:sp>
      <p:sp>
        <p:nvSpPr>
          <p:cNvPr id="1056" name="Google Shape;1056;g36aa5e117e9_3_1446"/>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Question 1: TCP in 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1"/>
                                        </p:tgtEl>
                                        <p:attrNameLst>
                                          <p:attrName>style.visibility</p:attrName>
                                        </p:attrNameLst>
                                      </p:cBhvr>
                                      <p:to>
                                        <p:strVal val="visible"/>
                                      </p:to>
                                    </p:set>
                                    <p:animEffect transition="in" filter="fade">
                                      <p:cBhvr>
                                        <p:cTn id="7" dur="1000"/>
                                        <p:tgtEl>
                                          <p:spTgt spid="1051"/>
                                        </p:tgtEl>
                                      </p:cBhvr>
                                    </p:animEffect>
                                  </p:childTnLst>
                                </p:cTn>
                              </p:par>
                              <p:par>
                                <p:cTn id="8" presetID="10" presetClass="entr" presetSubtype="0" fill="hold" nodeType="withEffect">
                                  <p:stCondLst>
                                    <p:cond delay="0"/>
                                  </p:stCondLst>
                                  <p:childTnLst>
                                    <p:set>
                                      <p:cBhvr>
                                        <p:cTn id="9" dur="1" fill="hold">
                                          <p:stCondLst>
                                            <p:cond delay="0"/>
                                          </p:stCondLst>
                                        </p:cTn>
                                        <p:tgtEl>
                                          <p:spTgt spid="1052"/>
                                        </p:tgtEl>
                                        <p:attrNameLst>
                                          <p:attrName>style.visibility</p:attrName>
                                        </p:attrNameLst>
                                      </p:cBhvr>
                                      <p:to>
                                        <p:strVal val="visible"/>
                                      </p:to>
                                    </p:set>
                                    <p:animEffect transition="in" filter="fade">
                                      <p:cBhvr>
                                        <p:cTn id="10" dur="1000"/>
                                        <p:tgtEl>
                                          <p:spTgt spid="1052"/>
                                        </p:tgtEl>
                                      </p:cBhvr>
                                    </p:animEffect>
                                  </p:childTnLst>
                                </p:cTn>
                              </p:par>
                              <p:par>
                                <p:cTn id="11" presetID="10" presetClass="entr" presetSubtype="0" fill="hold" nodeType="withEffect">
                                  <p:stCondLst>
                                    <p:cond delay="0"/>
                                  </p:stCondLst>
                                  <p:childTnLst>
                                    <p:set>
                                      <p:cBhvr>
                                        <p:cTn id="12" dur="1" fill="hold">
                                          <p:stCondLst>
                                            <p:cond delay="0"/>
                                          </p:stCondLst>
                                        </p:cTn>
                                        <p:tgtEl>
                                          <p:spTgt spid="1053"/>
                                        </p:tgtEl>
                                        <p:attrNameLst>
                                          <p:attrName>style.visibility</p:attrName>
                                        </p:attrNameLst>
                                      </p:cBhvr>
                                      <p:to>
                                        <p:strVal val="visible"/>
                                      </p:to>
                                    </p:set>
                                    <p:animEffect transition="in" filter="fade">
                                      <p:cBhvr>
                                        <p:cTn id="13" dur="1000"/>
                                        <p:tgtEl>
                                          <p:spTgt spid="1053"/>
                                        </p:tgtEl>
                                      </p:cBhvr>
                                    </p:animEffect>
                                  </p:childTnLst>
                                </p:cTn>
                              </p:par>
                              <p:par>
                                <p:cTn id="14" presetID="10" presetClass="entr" presetSubtype="0" fill="hold" nodeType="withEffect">
                                  <p:stCondLst>
                                    <p:cond delay="0"/>
                                  </p:stCondLst>
                                  <p:childTnLst>
                                    <p:set>
                                      <p:cBhvr>
                                        <p:cTn id="15" dur="1" fill="hold">
                                          <p:stCondLst>
                                            <p:cond delay="0"/>
                                          </p:stCondLst>
                                        </p:cTn>
                                        <p:tgtEl>
                                          <p:spTgt spid="1054"/>
                                        </p:tgtEl>
                                        <p:attrNameLst>
                                          <p:attrName>style.visibility</p:attrName>
                                        </p:attrNameLst>
                                      </p:cBhvr>
                                      <p:to>
                                        <p:strVal val="visible"/>
                                      </p:to>
                                    </p:set>
                                    <p:animEffect transition="in" filter="fade">
                                      <p:cBhvr>
                                        <p:cTn id="16" dur="1000"/>
                                        <p:tgtEl>
                                          <p:spTgt spid="105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49"/>
                                        </p:tgtEl>
                                        <p:attrNameLst>
                                          <p:attrName>style.visibility</p:attrName>
                                        </p:attrNameLst>
                                      </p:cBhvr>
                                      <p:to>
                                        <p:strVal val="visible"/>
                                      </p:to>
                                    </p:set>
                                    <p:animEffect transition="in" filter="fade">
                                      <p:cBhvr>
                                        <p:cTn id="21" dur="1000"/>
                                        <p:tgtEl>
                                          <p:spTgt spid="1049"/>
                                        </p:tgtEl>
                                      </p:cBhvr>
                                    </p:animEffect>
                                  </p:childTnLst>
                                </p:cTn>
                              </p:par>
                              <p:par>
                                <p:cTn id="22" presetID="10" presetClass="entr" presetSubtype="0" fill="hold" nodeType="withEffect">
                                  <p:stCondLst>
                                    <p:cond delay="0"/>
                                  </p:stCondLst>
                                  <p:childTnLst>
                                    <p:set>
                                      <p:cBhvr>
                                        <p:cTn id="23" dur="1" fill="hold">
                                          <p:stCondLst>
                                            <p:cond delay="0"/>
                                          </p:stCondLst>
                                        </p:cTn>
                                        <p:tgtEl>
                                          <p:spTgt spid="1050"/>
                                        </p:tgtEl>
                                        <p:attrNameLst>
                                          <p:attrName>style.visibility</p:attrName>
                                        </p:attrNameLst>
                                      </p:cBhvr>
                                      <p:to>
                                        <p:strVal val="visible"/>
                                      </p:to>
                                    </p:set>
                                    <p:animEffect transition="in" filter="fade">
                                      <p:cBhvr>
                                        <p:cTn id="24" dur="1000"/>
                                        <p:tgtEl>
                                          <p:spTgt spid="10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55"/>
                                        </p:tgtEl>
                                        <p:attrNameLst>
                                          <p:attrName>style.visibility</p:attrName>
                                        </p:attrNameLst>
                                      </p:cBhvr>
                                      <p:to>
                                        <p:strVal val="visible"/>
                                      </p:to>
                                    </p:set>
                                    <p:animEffect transition="in" filter="fade">
                                      <p:cBhvr>
                                        <p:cTn id="29" dur="1000"/>
                                        <p:tgtEl>
                                          <p:spTgt spid="1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344c3b177df_0_31"/>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Worksheet</a:t>
            </a:r>
            <a:endParaRPr/>
          </a:p>
        </p:txBody>
      </p:sp>
      <p:sp>
        <p:nvSpPr>
          <p:cNvPr id="1062" name="Google Shape;1062;g344c3b177df_0_31"/>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TCP in Action</a:t>
            </a:r>
            <a:endParaRPr b="1">
              <a:solidFill>
                <a:srgbClr val="CCCCCC"/>
              </a:solidFill>
              <a:latin typeface="Roboto"/>
              <a:ea typeface="Roboto"/>
              <a:cs typeface="Roboto"/>
              <a:sym typeface="Roboto"/>
            </a:endParaRPr>
          </a:p>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TCP Calculations</a:t>
            </a:r>
            <a:endParaRPr b="1">
              <a:solidFill>
                <a:schemeClr val="accent3"/>
              </a:solidFill>
              <a:latin typeface="Roboto"/>
              <a:ea typeface="Roboto"/>
              <a:cs typeface="Roboto"/>
              <a:sym typeface="Roboto"/>
            </a:endParaRPr>
          </a:p>
          <a:p>
            <a:pPr marL="457200" lvl="0" indent="-342900" algn="l" rtl="0">
              <a:lnSpc>
                <a:spcPct val="115000"/>
              </a:lnSpc>
              <a:spcBef>
                <a:spcPts val="600"/>
              </a:spcBef>
              <a:spcAft>
                <a:spcPts val="0"/>
              </a:spcAft>
              <a:buClr>
                <a:srgbClr val="CCCCCC"/>
              </a:buClr>
              <a:buSzPts val="1800"/>
              <a:buFont typeface="Roboto"/>
              <a:buChar char="•"/>
            </a:pPr>
            <a:r>
              <a:rPr lang="en" b="1">
                <a:solidFill>
                  <a:srgbClr val="CCCCCC"/>
                </a:solidFill>
                <a:latin typeface="Roboto"/>
                <a:ea typeface="Roboto"/>
                <a:cs typeface="Roboto"/>
                <a:sym typeface="Roboto"/>
              </a:rPr>
              <a:t>Reliable Transport</a:t>
            </a:r>
            <a:endParaRPr b="1">
              <a:solidFill>
                <a:srgbClr val="CCCCCC"/>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pic>
        <p:nvPicPr>
          <p:cNvPr id="1067" name="Google Shape;1067;g344c3b177df_0_150" title="Screenshot 2025-07-13 at 10.38.18 PM.png"/>
          <p:cNvPicPr preferRelativeResize="0"/>
          <p:nvPr/>
        </p:nvPicPr>
        <p:blipFill rotWithShape="1">
          <a:blip r:embed="rId3">
            <a:alphaModFix/>
          </a:blip>
          <a:srcRect/>
          <a:stretch/>
        </p:blipFill>
        <p:spPr>
          <a:xfrm>
            <a:off x="140350" y="579825"/>
            <a:ext cx="8817925" cy="3841775"/>
          </a:xfrm>
          <a:prstGeom prst="rect">
            <a:avLst/>
          </a:prstGeom>
          <a:noFill/>
          <a:ln>
            <a:noFill/>
          </a:ln>
        </p:spPr>
      </p:pic>
      <p:sp>
        <p:nvSpPr>
          <p:cNvPr id="1068" name="Google Shape;1068;g344c3b177df_0_150"/>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Question 2: TCP Calculations</a:t>
            </a:r>
            <a:endParaRPr/>
          </a:p>
        </p:txBody>
      </p:sp>
      <p:pic>
        <p:nvPicPr>
          <p:cNvPr id="1069" name="Google Shape;1069;g344c3b177df_0_150" title="Screenshot 2025-07-13 at 10.36.02 PM.png"/>
          <p:cNvPicPr preferRelativeResize="0"/>
          <p:nvPr/>
        </p:nvPicPr>
        <p:blipFill rotWithShape="1">
          <a:blip r:embed="rId4">
            <a:alphaModFix/>
          </a:blip>
          <a:srcRect/>
          <a:stretch/>
        </p:blipFill>
        <p:spPr>
          <a:xfrm>
            <a:off x="774025" y="1813525"/>
            <a:ext cx="7607976" cy="342125"/>
          </a:xfrm>
          <a:prstGeom prst="rect">
            <a:avLst/>
          </a:prstGeom>
          <a:noFill/>
          <a:ln>
            <a:noFill/>
          </a:ln>
        </p:spPr>
      </p:pic>
      <p:pic>
        <p:nvPicPr>
          <p:cNvPr id="1070" name="Google Shape;1070;g344c3b177df_0_150" title="Screenshot 2025-07-13 at 10.36.02 PM.png"/>
          <p:cNvPicPr preferRelativeResize="0"/>
          <p:nvPr/>
        </p:nvPicPr>
        <p:blipFill rotWithShape="1">
          <a:blip r:embed="rId4">
            <a:alphaModFix/>
          </a:blip>
          <a:srcRect/>
          <a:stretch/>
        </p:blipFill>
        <p:spPr>
          <a:xfrm>
            <a:off x="816150" y="3299425"/>
            <a:ext cx="7846575" cy="1122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06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0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pic>
        <p:nvPicPr>
          <p:cNvPr id="1075" name="Google Shape;1075;g344c3b177df_0_158" title="Screenshot 2025-07-13 at 10.38.47 PM.png"/>
          <p:cNvPicPr preferRelativeResize="0"/>
          <p:nvPr/>
        </p:nvPicPr>
        <p:blipFill rotWithShape="1">
          <a:blip r:embed="rId3">
            <a:alphaModFix/>
          </a:blip>
          <a:srcRect/>
          <a:stretch/>
        </p:blipFill>
        <p:spPr>
          <a:xfrm>
            <a:off x="2025325" y="532148"/>
            <a:ext cx="4782550" cy="2146250"/>
          </a:xfrm>
          <a:prstGeom prst="rect">
            <a:avLst/>
          </a:prstGeom>
          <a:noFill/>
          <a:ln>
            <a:noFill/>
          </a:ln>
        </p:spPr>
      </p:pic>
      <p:pic>
        <p:nvPicPr>
          <p:cNvPr id="1076" name="Google Shape;1076;g344c3b177df_0_158" title="Screenshot 2025-07-13 at 10.39.00 PM.png"/>
          <p:cNvPicPr preferRelativeResize="0"/>
          <p:nvPr/>
        </p:nvPicPr>
        <p:blipFill rotWithShape="1">
          <a:blip r:embed="rId4">
            <a:alphaModFix/>
          </a:blip>
          <a:srcRect/>
          <a:stretch/>
        </p:blipFill>
        <p:spPr>
          <a:xfrm>
            <a:off x="1910013" y="2816947"/>
            <a:ext cx="5013174" cy="2205050"/>
          </a:xfrm>
          <a:prstGeom prst="rect">
            <a:avLst/>
          </a:prstGeom>
          <a:noFill/>
          <a:ln>
            <a:noFill/>
          </a:ln>
        </p:spPr>
      </p:pic>
      <p:sp>
        <p:nvSpPr>
          <p:cNvPr id="1077" name="Google Shape;1077;g344c3b177df_0_15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600"/>
              <a:buFont typeface="Arial"/>
              <a:buNone/>
            </a:pPr>
            <a:r>
              <a:rPr lang="en">
                <a:solidFill>
                  <a:schemeClr val="accent3"/>
                </a:solidFill>
              </a:rPr>
              <a:t>Question 2: TCP Calculations</a:t>
            </a:r>
            <a:endParaRPr/>
          </a:p>
        </p:txBody>
      </p:sp>
      <p:pic>
        <p:nvPicPr>
          <p:cNvPr id="1078" name="Google Shape;1078;g344c3b177df_0_158" title="Screenshot 2025-07-13 at 10.36.02 PM.png"/>
          <p:cNvPicPr preferRelativeResize="0"/>
          <p:nvPr/>
        </p:nvPicPr>
        <p:blipFill rotWithShape="1">
          <a:blip r:embed="rId5">
            <a:alphaModFix/>
          </a:blip>
          <a:srcRect/>
          <a:stretch/>
        </p:blipFill>
        <p:spPr>
          <a:xfrm>
            <a:off x="1348300" y="3246350"/>
            <a:ext cx="7607976" cy="702050"/>
          </a:xfrm>
          <a:prstGeom prst="rect">
            <a:avLst/>
          </a:prstGeom>
          <a:noFill/>
          <a:ln>
            <a:noFill/>
          </a:ln>
        </p:spPr>
      </p:pic>
      <p:pic>
        <p:nvPicPr>
          <p:cNvPr id="1079" name="Google Shape;1079;g344c3b177df_0_158" title="Screenshot 2025-07-13 at 10.36.02 PM.png"/>
          <p:cNvPicPr preferRelativeResize="0"/>
          <p:nvPr/>
        </p:nvPicPr>
        <p:blipFill rotWithShape="1">
          <a:blip r:embed="rId5">
            <a:alphaModFix/>
          </a:blip>
          <a:srcRect/>
          <a:stretch/>
        </p:blipFill>
        <p:spPr>
          <a:xfrm>
            <a:off x="954550" y="4331025"/>
            <a:ext cx="7846575" cy="277825"/>
          </a:xfrm>
          <a:prstGeom prst="rect">
            <a:avLst/>
          </a:prstGeom>
          <a:noFill/>
          <a:ln>
            <a:noFill/>
          </a:ln>
        </p:spPr>
      </p:pic>
      <p:pic>
        <p:nvPicPr>
          <p:cNvPr id="1080" name="Google Shape;1080;g344c3b177df_0_158" title="Screenshot 2025-07-13 at 10.36.02 PM.png"/>
          <p:cNvPicPr preferRelativeResize="0"/>
          <p:nvPr/>
        </p:nvPicPr>
        <p:blipFill rotWithShape="1">
          <a:blip r:embed="rId5">
            <a:alphaModFix/>
          </a:blip>
          <a:srcRect/>
          <a:stretch/>
        </p:blipFill>
        <p:spPr>
          <a:xfrm>
            <a:off x="1033675" y="4800925"/>
            <a:ext cx="7846575" cy="277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07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07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1"/>
                                          </p:stCondLst>
                                        </p:cTn>
                                        <p:tgtEl>
                                          <p:spTgt spid="10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pic>
        <p:nvPicPr>
          <p:cNvPr id="1085" name="Google Shape;1085;g344c3b177df_0_168" title="Screenshot 2025-07-13 at 10.39.46 PM.png"/>
          <p:cNvPicPr preferRelativeResize="0"/>
          <p:nvPr/>
        </p:nvPicPr>
        <p:blipFill rotWithShape="1">
          <a:blip r:embed="rId3">
            <a:alphaModFix/>
          </a:blip>
          <a:srcRect/>
          <a:stretch/>
        </p:blipFill>
        <p:spPr>
          <a:xfrm>
            <a:off x="152400" y="546000"/>
            <a:ext cx="8792000" cy="2547950"/>
          </a:xfrm>
          <a:prstGeom prst="rect">
            <a:avLst/>
          </a:prstGeom>
          <a:noFill/>
          <a:ln>
            <a:noFill/>
          </a:ln>
        </p:spPr>
      </p:pic>
      <p:sp>
        <p:nvSpPr>
          <p:cNvPr id="1086" name="Google Shape;1086;g344c3b177df_0_16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600"/>
              <a:buFont typeface="Arial"/>
              <a:buNone/>
            </a:pPr>
            <a:r>
              <a:rPr lang="en">
                <a:solidFill>
                  <a:schemeClr val="accent3"/>
                </a:solidFill>
              </a:rPr>
              <a:t>Question 2: TCP Calculations</a:t>
            </a:r>
            <a:endParaRPr/>
          </a:p>
        </p:txBody>
      </p:sp>
      <p:pic>
        <p:nvPicPr>
          <p:cNvPr id="1087" name="Google Shape;1087;g344c3b177df_0_168" title="Screenshot 2025-07-13 at 10.36.02 PM.png"/>
          <p:cNvPicPr preferRelativeResize="0"/>
          <p:nvPr/>
        </p:nvPicPr>
        <p:blipFill rotWithShape="1">
          <a:blip r:embed="rId4">
            <a:alphaModFix/>
          </a:blip>
          <a:srcRect/>
          <a:stretch/>
        </p:blipFill>
        <p:spPr>
          <a:xfrm>
            <a:off x="648725" y="1235525"/>
            <a:ext cx="8152401" cy="702050"/>
          </a:xfrm>
          <a:prstGeom prst="rect">
            <a:avLst/>
          </a:prstGeom>
          <a:noFill/>
          <a:ln>
            <a:noFill/>
          </a:ln>
        </p:spPr>
      </p:pic>
      <p:pic>
        <p:nvPicPr>
          <p:cNvPr id="1088" name="Google Shape;1088;g344c3b177df_0_168" title="Screenshot 2025-07-13 at 10.36.02 PM.png"/>
          <p:cNvPicPr preferRelativeResize="0"/>
          <p:nvPr/>
        </p:nvPicPr>
        <p:blipFill rotWithShape="1">
          <a:blip r:embed="rId4">
            <a:alphaModFix/>
          </a:blip>
          <a:srcRect/>
          <a:stretch/>
        </p:blipFill>
        <p:spPr>
          <a:xfrm>
            <a:off x="648725" y="2662125"/>
            <a:ext cx="7846575" cy="76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08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0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344c3b177df_0_36"/>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a:t>Worksheet</a:t>
            </a:r>
            <a:endParaRPr/>
          </a:p>
        </p:txBody>
      </p:sp>
      <p:sp>
        <p:nvSpPr>
          <p:cNvPr id="1094" name="Google Shape;1094;g344c3b177df_0_36"/>
          <p:cNvSpPr txBox="1">
            <a:spLocks noGrp="1"/>
          </p:cNvSpPr>
          <p:nvPr>
            <p:ph type="body" idx="1"/>
          </p:nvPr>
        </p:nvSpPr>
        <p:spPr>
          <a:xfrm>
            <a:off x="4812375" y="402200"/>
            <a:ext cx="4038000" cy="42609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600"/>
              </a:spcBef>
              <a:spcAft>
                <a:spcPts val="0"/>
              </a:spcAft>
              <a:buClr>
                <a:srgbClr val="D9D9D9"/>
              </a:buClr>
              <a:buSzPts val="1800"/>
              <a:buFont typeface="Roboto"/>
              <a:buChar char="•"/>
            </a:pPr>
            <a:r>
              <a:rPr lang="en" b="1">
                <a:solidFill>
                  <a:srgbClr val="D9D9D9"/>
                </a:solidFill>
                <a:latin typeface="Roboto"/>
                <a:ea typeface="Roboto"/>
                <a:cs typeface="Roboto"/>
                <a:sym typeface="Roboto"/>
              </a:rPr>
              <a:t>TCP in Action</a:t>
            </a:r>
            <a:endParaRPr b="1">
              <a:solidFill>
                <a:srgbClr val="D9D9D9"/>
              </a:solidFill>
              <a:latin typeface="Roboto"/>
              <a:ea typeface="Roboto"/>
              <a:cs typeface="Roboto"/>
              <a:sym typeface="Roboto"/>
            </a:endParaRPr>
          </a:p>
          <a:p>
            <a:pPr marL="457200" lvl="0" indent="-342900" algn="l" rtl="0">
              <a:lnSpc>
                <a:spcPct val="115000"/>
              </a:lnSpc>
              <a:spcBef>
                <a:spcPts val="600"/>
              </a:spcBef>
              <a:spcAft>
                <a:spcPts val="0"/>
              </a:spcAft>
              <a:buClr>
                <a:srgbClr val="D9D9D9"/>
              </a:buClr>
              <a:buSzPts val="1800"/>
              <a:buFont typeface="Roboto"/>
              <a:buChar char="•"/>
            </a:pPr>
            <a:r>
              <a:rPr lang="en" b="1">
                <a:solidFill>
                  <a:srgbClr val="D9D9D9"/>
                </a:solidFill>
                <a:latin typeface="Roboto"/>
                <a:ea typeface="Roboto"/>
                <a:cs typeface="Roboto"/>
                <a:sym typeface="Roboto"/>
              </a:rPr>
              <a:t>TCP Calculations</a:t>
            </a:r>
            <a:endParaRPr b="1">
              <a:solidFill>
                <a:srgbClr val="D9D9D9"/>
              </a:solidFill>
              <a:latin typeface="Roboto"/>
              <a:ea typeface="Roboto"/>
              <a:cs typeface="Roboto"/>
              <a:sym typeface="Roboto"/>
            </a:endParaRPr>
          </a:p>
          <a:p>
            <a:pPr marL="457200" lvl="0" indent="-342900" algn="l" rtl="0">
              <a:lnSpc>
                <a:spcPct val="115000"/>
              </a:lnSpc>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Reliable Transport</a:t>
            </a:r>
            <a:endParaRPr b="1">
              <a:solidFill>
                <a:schemeClr val="accent3"/>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pic>
        <p:nvPicPr>
          <p:cNvPr id="1099" name="Google Shape;1099;g344c3b177df_0_180" title="Screenshot 2025-07-13 at 10.41.31 PM.png"/>
          <p:cNvPicPr preferRelativeResize="0"/>
          <p:nvPr/>
        </p:nvPicPr>
        <p:blipFill rotWithShape="1">
          <a:blip r:embed="rId3">
            <a:alphaModFix/>
          </a:blip>
          <a:srcRect/>
          <a:stretch/>
        </p:blipFill>
        <p:spPr>
          <a:xfrm>
            <a:off x="1160325" y="524113"/>
            <a:ext cx="6823351" cy="3098225"/>
          </a:xfrm>
          <a:prstGeom prst="rect">
            <a:avLst/>
          </a:prstGeom>
          <a:noFill/>
          <a:ln>
            <a:noFill/>
          </a:ln>
        </p:spPr>
      </p:pic>
      <p:sp>
        <p:nvSpPr>
          <p:cNvPr id="1100" name="Google Shape;1100;g344c3b177df_0_180"/>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solidFill>
                  <a:schemeClr val="accent3"/>
                </a:solidFill>
              </a:rPr>
              <a:t>Question 3: Reliable Transport</a:t>
            </a:r>
            <a:endParaRPr/>
          </a:p>
        </p:txBody>
      </p:sp>
      <p:pic>
        <p:nvPicPr>
          <p:cNvPr id="1101" name="Google Shape;1101;g344c3b177df_0_180" title="Screenshot 2025-07-13 at 10.42.23 PM.png"/>
          <p:cNvPicPr preferRelativeResize="0"/>
          <p:nvPr/>
        </p:nvPicPr>
        <p:blipFill rotWithShape="1">
          <a:blip r:embed="rId4">
            <a:alphaModFix/>
          </a:blip>
          <a:srcRect/>
          <a:stretch/>
        </p:blipFill>
        <p:spPr>
          <a:xfrm>
            <a:off x="1750625" y="3622325"/>
            <a:ext cx="5893201" cy="647225"/>
          </a:xfrm>
          <a:prstGeom prst="rect">
            <a:avLst/>
          </a:prstGeom>
          <a:noFill/>
          <a:ln>
            <a:noFill/>
          </a:ln>
        </p:spPr>
      </p:pic>
      <p:pic>
        <p:nvPicPr>
          <p:cNvPr id="1102" name="Google Shape;1102;g344c3b177df_0_180" title="Screenshot 2025-07-13 at 10.36.02 PM.png"/>
          <p:cNvPicPr preferRelativeResize="0"/>
          <p:nvPr/>
        </p:nvPicPr>
        <p:blipFill rotWithShape="1">
          <a:blip r:embed="rId5">
            <a:alphaModFix/>
          </a:blip>
          <a:srcRect/>
          <a:stretch/>
        </p:blipFill>
        <p:spPr>
          <a:xfrm>
            <a:off x="767775" y="3594913"/>
            <a:ext cx="8152401" cy="70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1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pic>
        <p:nvPicPr>
          <p:cNvPr id="1107" name="Google Shape;1107;g344c3b177df_0_189" title="Screenshot 2025-07-13 at 10.42.55 PM.png"/>
          <p:cNvPicPr preferRelativeResize="0"/>
          <p:nvPr/>
        </p:nvPicPr>
        <p:blipFill rotWithShape="1">
          <a:blip r:embed="rId3">
            <a:alphaModFix/>
          </a:blip>
          <a:srcRect/>
          <a:stretch/>
        </p:blipFill>
        <p:spPr>
          <a:xfrm>
            <a:off x="659827" y="576150"/>
            <a:ext cx="7824335" cy="3610113"/>
          </a:xfrm>
          <a:prstGeom prst="rect">
            <a:avLst/>
          </a:prstGeom>
          <a:noFill/>
          <a:ln>
            <a:noFill/>
          </a:ln>
        </p:spPr>
      </p:pic>
      <p:sp>
        <p:nvSpPr>
          <p:cNvPr id="1108" name="Google Shape;1108;g344c3b177df_0_189"/>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solidFill>
                  <a:schemeClr val="accent3"/>
                </a:solidFill>
              </a:rPr>
              <a:t>Question 3: Reliable Transport</a:t>
            </a:r>
            <a:endParaRPr/>
          </a:p>
        </p:txBody>
      </p:sp>
      <p:pic>
        <p:nvPicPr>
          <p:cNvPr id="1109" name="Google Shape;1109;g344c3b177df_0_189" title="Screenshot 2025-07-13 at 10.36.02 PM.png"/>
          <p:cNvPicPr preferRelativeResize="0"/>
          <p:nvPr/>
        </p:nvPicPr>
        <p:blipFill rotWithShape="1">
          <a:blip r:embed="rId4">
            <a:alphaModFix/>
          </a:blip>
          <a:srcRect/>
          <a:stretch/>
        </p:blipFill>
        <p:spPr>
          <a:xfrm>
            <a:off x="495800" y="1081163"/>
            <a:ext cx="8152401" cy="702050"/>
          </a:xfrm>
          <a:prstGeom prst="rect">
            <a:avLst/>
          </a:prstGeom>
          <a:noFill/>
          <a:ln>
            <a:noFill/>
          </a:ln>
        </p:spPr>
      </p:pic>
      <p:pic>
        <p:nvPicPr>
          <p:cNvPr id="1110" name="Google Shape;1110;g344c3b177df_0_189" title="Screenshot 2025-07-13 at 10.36.02 PM.png"/>
          <p:cNvPicPr preferRelativeResize="0"/>
          <p:nvPr/>
        </p:nvPicPr>
        <p:blipFill rotWithShape="1">
          <a:blip r:embed="rId4">
            <a:alphaModFix/>
          </a:blip>
          <a:srcRect/>
          <a:stretch/>
        </p:blipFill>
        <p:spPr>
          <a:xfrm>
            <a:off x="659825" y="2293644"/>
            <a:ext cx="8152401" cy="1792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10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1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pic>
        <p:nvPicPr>
          <p:cNvPr id="1115" name="Google Shape;1115;g344c3b177df_0_198" title="Screenshot 2025-07-13 at 10.43.26 PM.png"/>
          <p:cNvPicPr preferRelativeResize="0"/>
          <p:nvPr/>
        </p:nvPicPr>
        <p:blipFill rotWithShape="1">
          <a:blip r:embed="rId3">
            <a:alphaModFix/>
          </a:blip>
          <a:srcRect/>
          <a:stretch/>
        </p:blipFill>
        <p:spPr>
          <a:xfrm>
            <a:off x="247900" y="611175"/>
            <a:ext cx="8648200" cy="3708540"/>
          </a:xfrm>
          <a:prstGeom prst="rect">
            <a:avLst/>
          </a:prstGeom>
          <a:noFill/>
          <a:ln>
            <a:noFill/>
          </a:ln>
        </p:spPr>
      </p:pic>
      <p:sp>
        <p:nvSpPr>
          <p:cNvPr id="1116" name="Google Shape;1116;g344c3b177df_0_19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solidFill>
                  <a:schemeClr val="accent3"/>
                </a:solidFill>
              </a:rPr>
              <a:t>Question 3: Reliable Transport</a:t>
            </a:r>
            <a:endParaRPr/>
          </a:p>
        </p:txBody>
      </p:sp>
      <p:pic>
        <p:nvPicPr>
          <p:cNvPr id="1117" name="Google Shape;1117;g344c3b177df_0_198" title="Screenshot 2025-07-13 at 10.36.02 PM.png"/>
          <p:cNvPicPr preferRelativeResize="0"/>
          <p:nvPr/>
        </p:nvPicPr>
        <p:blipFill rotWithShape="1">
          <a:blip r:embed="rId4">
            <a:alphaModFix/>
          </a:blip>
          <a:srcRect/>
          <a:stretch/>
        </p:blipFill>
        <p:spPr>
          <a:xfrm>
            <a:off x="247900" y="2698804"/>
            <a:ext cx="8152401" cy="619575"/>
          </a:xfrm>
          <a:prstGeom prst="rect">
            <a:avLst/>
          </a:prstGeom>
          <a:noFill/>
          <a:ln>
            <a:noFill/>
          </a:ln>
        </p:spPr>
      </p:pic>
      <p:pic>
        <p:nvPicPr>
          <p:cNvPr id="1118" name="Google Shape;1118;g344c3b177df_0_198" title="Screenshot 2025-07-13 at 10.36.02 PM.png"/>
          <p:cNvPicPr preferRelativeResize="0"/>
          <p:nvPr/>
        </p:nvPicPr>
        <p:blipFill rotWithShape="1">
          <a:blip r:embed="rId4">
            <a:alphaModFix/>
          </a:blip>
          <a:srcRect/>
          <a:stretch/>
        </p:blipFill>
        <p:spPr>
          <a:xfrm>
            <a:off x="644450" y="3783848"/>
            <a:ext cx="8152401" cy="1040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11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11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1122"/>
        <p:cNvGrpSpPr/>
        <p:nvPr/>
      </p:nvGrpSpPr>
      <p:grpSpPr>
        <a:xfrm>
          <a:off x="0" y="0"/>
          <a:ext cx="0" cy="0"/>
          <a:chOff x="0" y="0"/>
          <a:chExt cx="0" cy="0"/>
        </a:xfrm>
      </p:grpSpPr>
      <p:pic>
        <p:nvPicPr>
          <p:cNvPr id="1123" name="Google Shape;1123;g344c3b177df_0_206" title="Screenshot 2025-07-13 at 10.44.14 PM.png"/>
          <p:cNvPicPr preferRelativeResize="0"/>
          <p:nvPr/>
        </p:nvPicPr>
        <p:blipFill rotWithShape="1">
          <a:blip r:embed="rId3">
            <a:alphaModFix/>
          </a:blip>
          <a:srcRect/>
          <a:stretch/>
        </p:blipFill>
        <p:spPr>
          <a:xfrm>
            <a:off x="1596712" y="1041876"/>
            <a:ext cx="5950575" cy="3933425"/>
          </a:xfrm>
          <a:prstGeom prst="rect">
            <a:avLst/>
          </a:prstGeom>
          <a:noFill/>
          <a:ln>
            <a:noFill/>
          </a:ln>
        </p:spPr>
      </p:pic>
      <p:sp>
        <p:nvSpPr>
          <p:cNvPr id="1124" name="Google Shape;1124;g344c3b177df_0_206"/>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solidFill>
                  <a:schemeClr val="accent3"/>
                </a:solidFill>
              </a:rPr>
              <a:t>Question 3: Reliable Transport</a:t>
            </a:r>
            <a:endParaRPr/>
          </a:p>
        </p:txBody>
      </p:sp>
      <p:pic>
        <p:nvPicPr>
          <p:cNvPr id="1125" name="Google Shape;1125;g344c3b177df_0_206" title="Screenshot 2025-07-13 at 10.36.02 PM.png"/>
          <p:cNvPicPr preferRelativeResize="0"/>
          <p:nvPr/>
        </p:nvPicPr>
        <p:blipFill rotWithShape="1">
          <a:blip r:embed="rId4">
            <a:alphaModFix/>
          </a:blip>
          <a:srcRect/>
          <a:stretch/>
        </p:blipFill>
        <p:spPr>
          <a:xfrm>
            <a:off x="678075" y="1041856"/>
            <a:ext cx="8152401" cy="3933425"/>
          </a:xfrm>
          <a:prstGeom prst="rect">
            <a:avLst/>
          </a:prstGeom>
          <a:noFill/>
          <a:ln>
            <a:noFill/>
          </a:ln>
        </p:spPr>
      </p:pic>
      <p:pic>
        <p:nvPicPr>
          <p:cNvPr id="1126" name="Google Shape;1126;g344c3b177df_0_206" title="Screenshot 2025-07-13 at 10.44.04 PM.png"/>
          <p:cNvPicPr preferRelativeResize="0"/>
          <p:nvPr/>
        </p:nvPicPr>
        <p:blipFill rotWithShape="1">
          <a:blip r:embed="rId5">
            <a:alphaModFix/>
          </a:blip>
          <a:srcRect/>
          <a:stretch/>
        </p:blipFill>
        <p:spPr>
          <a:xfrm>
            <a:off x="152400" y="546000"/>
            <a:ext cx="8839200" cy="45807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11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g36a8da6ef7b_1_192"/>
          <p:cNvSpPr txBox="1">
            <a:spLocks noGrp="1"/>
          </p:cNvSpPr>
          <p:nvPr>
            <p:ph type="title"/>
          </p:nvPr>
        </p:nvSpPr>
        <p:spPr>
          <a:xfrm>
            <a:off x="645900" y="155175"/>
            <a:ext cx="7852200" cy="86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
              <a:t>Questions?</a:t>
            </a:r>
            <a:endParaRPr/>
          </a:p>
        </p:txBody>
      </p:sp>
      <p:sp>
        <p:nvSpPr>
          <p:cNvPr id="1132" name="Google Shape;1132;g36a8da6ef7b_1_192"/>
          <p:cNvSpPr txBox="1"/>
          <p:nvPr/>
        </p:nvSpPr>
        <p:spPr>
          <a:xfrm>
            <a:off x="1971825" y="1134400"/>
            <a:ext cx="5278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Feedback Form: </a:t>
            </a:r>
            <a:r>
              <a:rPr lang="en" sz="1400" b="0" i="1" u="none" strike="noStrike" cap="none">
                <a:solidFill>
                  <a:srgbClr val="000000"/>
                </a:solidFill>
                <a:latin typeface="Roboto"/>
                <a:ea typeface="Roboto"/>
                <a:cs typeface="Roboto"/>
                <a:sym typeface="Roboto"/>
              </a:rPr>
              <a:t>https://tinyurl.com/cs168-su25-disc-feedback</a:t>
            </a:r>
            <a:endParaRPr sz="1400" b="0" i="1" u="none" strike="noStrike" cap="none">
              <a:solidFill>
                <a:srgbClr val="000000"/>
              </a:solidFill>
              <a:latin typeface="Roboto"/>
              <a:ea typeface="Roboto"/>
              <a:cs typeface="Roboto"/>
              <a:sym typeface="Roboto"/>
            </a:endParaRPr>
          </a:p>
        </p:txBody>
      </p:sp>
      <p:pic>
        <p:nvPicPr>
          <p:cNvPr id="1133" name="Google Shape;1133;g36a8da6ef7b_1_192" title="Screenshot 2025-06-23 at 10.48.58 AM.png"/>
          <p:cNvPicPr preferRelativeResize="0"/>
          <p:nvPr/>
        </p:nvPicPr>
        <p:blipFill rotWithShape="1">
          <a:blip r:embed="rId3">
            <a:alphaModFix/>
          </a:blip>
          <a:srcRect/>
          <a:stretch/>
        </p:blipFill>
        <p:spPr>
          <a:xfrm>
            <a:off x="3248025" y="1652825"/>
            <a:ext cx="2647950" cy="2647950"/>
          </a:xfrm>
          <a:prstGeom prst="rect">
            <a:avLst/>
          </a:prstGeom>
          <a:noFill/>
          <a:ln>
            <a:noFill/>
          </a:ln>
        </p:spPr>
      </p:pic>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1977</Words>
  <Application>Microsoft Office PowerPoint</Application>
  <PresentationFormat>On-screen Show (16:9)</PresentationFormat>
  <Paragraphs>487</Paragraphs>
  <Slides>51</Slides>
  <Notes>51</Notes>
  <HiddenSlides>9</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Calibri</vt:lpstr>
      <vt:lpstr>Open Sans</vt:lpstr>
      <vt:lpstr>Average</vt:lpstr>
      <vt:lpstr>Arial</vt:lpstr>
      <vt:lpstr>Roboto Light</vt:lpstr>
      <vt:lpstr>Roboto</vt:lpstr>
      <vt:lpstr>PT Sans Narrow</vt:lpstr>
      <vt:lpstr>Times New Roman</vt:lpstr>
      <vt:lpstr>Francois One</vt:lpstr>
      <vt:lpstr>Roboto Medium</vt:lpstr>
      <vt:lpstr>Lato</vt:lpstr>
      <vt:lpstr>Simple Lecture</vt:lpstr>
      <vt:lpstr>PowerPoint Presentation</vt:lpstr>
      <vt:lpstr>Logistics</vt:lpstr>
      <vt:lpstr>TCP</vt:lpstr>
      <vt:lpstr>Reliability</vt:lpstr>
      <vt:lpstr>Go-Back-N</vt:lpstr>
      <vt:lpstr>Go-Back-N w/o Errors</vt:lpstr>
      <vt:lpstr>Go-Back-N w/o Errors</vt:lpstr>
      <vt:lpstr>Go-Back-N w/o Errors</vt:lpstr>
      <vt:lpstr>Go-Back-N w/o Errors</vt:lpstr>
      <vt:lpstr>Go-Back-N w/o Errors</vt:lpstr>
      <vt:lpstr>Go-Back-N w/ Errors</vt:lpstr>
      <vt:lpstr>Review</vt:lpstr>
      <vt:lpstr>TCP</vt:lpstr>
      <vt:lpstr>TCP Header</vt:lpstr>
      <vt:lpstr>TCP Header</vt:lpstr>
      <vt:lpstr>TCP Header</vt:lpstr>
      <vt:lpstr>TCP Header</vt:lpstr>
      <vt:lpstr>TCP Header</vt:lpstr>
      <vt:lpstr>TCP Header</vt:lpstr>
      <vt:lpstr>TCP Segments</vt:lpstr>
      <vt:lpstr>TCP</vt:lpstr>
      <vt:lpstr>Three Way Handshake</vt:lpstr>
      <vt:lpstr>Three Way Handshake</vt:lpstr>
      <vt:lpstr>Three Way Handshake</vt:lpstr>
      <vt:lpstr>Connection Establishment</vt:lpstr>
      <vt:lpstr>Connection Establishment</vt:lpstr>
      <vt:lpstr>TCP</vt:lpstr>
      <vt:lpstr>Two Teardown Methods</vt:lpstr>
      <vt:lpstr>Normal Teardown</vt:lpstr>
      <vt:lpstr>TCP Reset</vt:lpstr>
      <vt:lpstr>TCP</vt:lpstr>
      <vt:lpstr>Reliability</vt:lpstr>
      <vt:lpstr>Timeout</vt:lpstr>
      <vt:lpstr>Timeout</vt:lpstr>
      <vt:lpstr>Duplicate ACKs</vt:lpstr>
      <vt:lpstr>Worksheet</vt:lpstr>
      <vt:lpstr>Question 1: TCP in Action</vt:lpstr>
      <vt:lpstr>Question 1: TCP in Action</vt:lpstr>
      <vt:lpstr>Question 1: TCP in Action </vt:lpstr>
      <vt:lpstr>Question 1: TCP in Action </vt:lpstr>
      <vt:lpstr>Question 1: TCP in Action</vt:lpstr>
      <vt:lpstr>Worksheet</vt:lpstr>
      <vt:lpstr>Question 2: TCP Calculations</vt:lpstr>
      <vt:lpstr>Question 2: TCP Calculations</vt:lpstr>
      <vt:lpstr>Question 2: TCP Calculations</vt:lpstr>
      <vt:lpstr>Worksheet</vt:lpstr>
      <vt:lpstr>Question 3: Reliable Transport</vt:lpstr>
      <vt:lpstr>Question 3: Reliable Transport</vt:lpstr>
      <vt:lpstr>Question 3: Reliable Transport</vt:lpstr>
      <vt:lpstr>Question 3: Reliable Transport</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1</cp:revision>
  <dcterms:modified xsi:type="dcterms:W3CDTF">2026-04-15T02:22:18Z</dcterms:modified>
</cp:coreProperties>
</file>