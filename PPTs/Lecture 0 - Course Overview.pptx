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61" r:id="rId3"/>
    <p:sldId id="265" r:id="rId4"/>
    <p:sldId id="264" r:id="rId5"/>
    <p:sldId id="266" r:id="rId6"/>
    <p:sldId id="263" r:id="rId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6A20E"/>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8300592-E8BD-4EEB-B382-9E8D2193D28A}" v="4" dt="2025-12-31T21:13:12.366"/>
  </p1510:revLst>
</p1510:revInfo>
</file>

<file path=ppt/tableStyles.xml><?xml version="1.0" encoding="utf-8"?>
<a:tblStyleLst xmlns:a="http://schemas.openxmlformats.org/drawingml/2006/main" def="{5C22544A-7EE6-4342-B048-85BDC9FD1C3A}">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069"/>
    <p:restoredTop sz="94671"/>
  </p:normalViewPr>
  <p:slideViewPr>
    <p:cSldViewPr snapToGrid="0" snapToObjects="1">
      <p:cViewPr varScale="1">
        <p:scale>
          <a:sx n="78" d="100"/>
          <a:sy n="78" d="100"/>
        </p:scale>
        <p:origin x="1944" y="62"/>
      </p:cViewPr>
      <p:guideLst>
        <p:guide orient="horz" pos="2160"/>
        <p:guide pos="2880"/>
      </p:guideLst>
    </p:cSldViewPr>
  </p:slideViewPr>
  <p:notesTextViewPr>
    <p:cViewPr>
      <p:scale>
        <a:sx n="100" d="100"/>
        <a:sy n="100" d="100"/>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13"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 Id="rId14"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Zonghua Gu" userId="9a7e1853e1951ef5" providerId="LiveId" clId="{CF1FAA12-072C-4ED5-BA76-0FFFAEFDB88A}"/>
    <pc:docChg chg="undo redo custSel addSld delSld modSld">
      <pc:chgData name="Zonghua Gu" userId="9a7e1853e1951ef5" providerId="LiveId" clId="{CF1FAA12-072C-4ED5-BA76-0FFFAEFDB88A}" dt="2025-12-31T21:31:54.317" v="441" actId="3626"/>
      <pc:docMkLst>
        <pc:docMk/>
      </pc:docMkLst>
      <pc:sldChg chg="modSp mod">
        <pc:chgData name="Zonghua Gu" userId="9a7e1853e1951ef5" providerId="LiveId" clId="{CF1FAA12-072C-4ED5-BA76-0FFFAEFDB88A}" dt="2025-12-31T12:34:00.982" v="388" actId="20577"/>
        <pc:sldMkLst>
          <pc:docMk/>
          <pc:sldMk cId="1214756730" sldId="256"/>
        </pc:sldMkLst>
        <pc:spChg chg="mod">
          <ac:chgData name="Zonghua Gu" userId="9a7e1853e1951ef5" providerId="LiveId" clId="{CF1FAA12-072C-4ED5-BA76-0FFFAEFDB88A}" dt="2025-12-31T12:34:00.982" v="388" actId="20577"/>
          <ac:spMkLst>
            <pc:docMk/>
            <pc:sldMk cId="1214756730" sldId="256"/>
            <ac:spMk id="2" creationId="{00000000-0000-0000-0000-000000000000}"/>
          </ac:spMkLst>
        </pc:spChg>
      </pc:sldChg>
      <pc:sldChg chg="modSp mod">
        <pc:chgData name="Zonghua Gu" userId="9a7e1853e1951ef5" providerId="LiveId" clId="{CF1FAA12-072C-4ED5-BA76-0FFFAEFDB88A}" dt="2025-12-31T12:39:39.551" v="422" actId="20577"/>
        <pc:sldMkLst>
          <pc:docMk/>
          <pc:sldMk cId="155059883" sldId="261"/>
        </pc:sldMkLst>
        <pc:spChg chg="mod">
          <ac:chgData name="Zonghua Gu" userId="9a7e1853e1951ef5" providerId="LiveId" clId="{CF1FAA12-072C-4ED5-BA76-0FFFAEFDB88A}" dt="2025-12-31T12:39:39.551" v="422" actId="20577"/>
          <ac:spMkLst>
            <pc:docMk/>
            <pc:sldMk cId="155059883" sldId="261"/>
            <ac:spMk id="3" creationId="{00000000-0000-0000-0000-000000000000}"/>
          </ac:spMkLst>
        </pc:spChg>
      </pc:sldChg>
      <pc:sldChg chg="modSp mod">
        <pc:chgData name="Zonghua Gu" userId="9a7e1853e1951ef5" providerId="LiveId" clId="{CF1FAA12-072C-4ED5-BA76-0FFFAEFDB88A}" dt="2025-12-31T21:31:54.317" v="441" actId="3626"/>
        <pc:sldMkLst>
          <pc:docMk/>
          <pc:sldMk cId="178653079" sldId="265"/>
        </pc:sldMkLst>
        <pc:spChg chg="mod">
          <ac:chgData name="Zonghua Gu" userId="9a7e1853e1951ef5" providerId="LiveId" clId="{CF1FAA12-072C-4ED5-BA76-0FFFAEFDB88A}" dt="2025-12-31T21:31:54.317" v="441" actId="3626"/>
          <ac:spMkLst>
            <pc:docMk/>
            <pc:sldMk cId="178653079" sldId="265"/>
            <ac:spMk id="3" creationId="{4C753F46-04DC-0E7F-B563-1C508D6328EA}"/>
          </ac:spMkLst>
        </pc:spChg>
        <pc:picChg chg="mod ord">
          <ac:chgData name="Zonghua Gu" userId="9a7e1853e1951ef5" providerId="LiveId" clId="{CF1FAA12-072C-4ED5-BA76-0FFFAEFDB88A}" dt="2025-12-31T21:17:15.316" v="440" actId="167"/>
          <ac:picMkLst>
            <pc:docMk/>
            <pc:sldMk cId="178653079" sldId="265"/>
            <ac:picMk id="5" creationId="{122FF239-C044-6FCC-5BDA-2F4EFCBFF074}"/>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S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42A0EB13-15AA-4F17-85B5-7D7BBF18EB40}" type="datetimeFigureOut">
              <a:rPr lang="en-SE" smtClean="0"/>
              <a:t>12/31/2025</a:t>
            </a:fld>
            <a:endParaRPr lang="en-SE"/>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S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S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S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AE8CD21-1CCD-4923-99C6-950C27132222}" type="slidenum">
              <a:rPr lang="en-SE" smtClean="0"/>
              <a:t>‹#›</a:t>
            </a:fld>
            <a:endParaRPr lang="en-SE"/>
          </a:p>
        </p:txBody>
      </p:sp>
    </p:spTree>
    <p:extLst>
      <p:ext uri="{BB962C8B-B14F-4D97-AF65-F5344CB8AC3E}">
        <p14:creationId xmlns:p14="http://schemas.microsoft.com/office/powerpoint/2010/main" val="10845408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   </a:t>
            </a:r>
            <a:endParaRPr lang="en-SE"/>
          </a:p>
        </p:txBody>
      </p:sp>
      <p:sp>
        <p:nvSpPr>
          <p:cNvPr id="4" name="Slide Number Placeholder 3"/>
          <p:cNvSpPr>
            <a:spLocks noGrp="1"/>
          </p:cNvSpPr>
          <p:nvPr>
            <p:ph type="sldNum" sz="quarter" idx="5"/>
          </p:nvPr>
        </p:nvSpPr>
        <p:spPr/>
        <p:txBody>
          <a:bodyPr/>
          <a:lstStyle/>
          <a:p>
            <a:fld id="{6AE8CD21-1CCD-4923-99C6-950C27132222}" type="slidenum">
              <a:rPr lang="en-SE" smtClean="0"/>
              <a:t>2</a:t>
            </a:fld>
            <a:endParaRPr lang="en-SE"/>
          </a:p>
        </p:txBody>
      </p:sp>
    </p:spTree>
    <p:extLst>
      <p:ext uri="{BB962C8B-B14F-4D97-AF65-F5344CB8AC3E}">
        <p14:creationId xmlns:p14="http://schemas.microsoft.com/office/powerpoint/2010/main" val="36054862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Recommended book: Algorithms, 4th Edition by Robert Sedgewick and Kevin Wayne.</a:t>
            </a:r>
          </a:p>
          <a:p>
            <a:endParaRPr lang="en-SE" dirty="0"/>
          </a:p>
        </p:txBody>
      </p:sp>
      <p:sp>
        <p:nvSpPr>
          <p:cNvPr id="4" name="Slide Number Placeholder 3"/>
          <p:cNvSpPr>
            <a:spLocks noGrp="1"/>
          </p:cNvSpPr>
          <p:nvPr>
            <p:ph type="sldNum" sz="quarter" idx="5"/>
          </p:nvPr>
        </p:nvSpPr>
        <p:spPr/>
        <p:txBody>
          <a:bodyPr/>
          <a:lstStyle/>
          <a:p>
            <a:fld id="{6AE8CD21-1CCD-4923-99C6-950C27132222}" type="slidenum">
              <a:rPr lang="en-SE" smtClean="0"/>
              <a:t>4</a:t>
            </a:fld>
            <a:endParaRPr lang="en-SE"/>
          </a:p>
        </p:txBody>
      </p:sp>
    </p:spTree>
    <p:extLst>
      <p:ext uri="{BB962C8B-B14F-4D97-AF65-F5344CB8AC3E}">
        <p14:creationId xmlns:p14="http://schemas.microsoft.com/office/powerpoint/2010/main" val="41398706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https://www.simplypsychology.org/normal-distribution.html</a:t>
            </a:r>
          </a:p>
        </p:txBody>
      </p:sp>
      <p:sp>
        <p:nvSpPr>
          <p:cNvPr id="4" name="Slide Number Placeholder 3"/>
          <p:cNvSpPr>
            <a:spLocks noGrp="1"/>
          </p:cNvSpPr>
          <p:nvPr>
            <p:ph type="sldNum" sz="quarter" idx="5"/>
          </p:nvPr>
        </p:nvSpPr>
        <p:spPr/>
        <p:txBody>
          <a:bodyPr/>
          <a:lstStyle/>
          <a:p>
            <a:fld id="{6AE8CD21-1CCD-4923-99C6-950C27132222}" type="slidenum">
              <a:rPr lang="en-SE" smtClean="0"/>
              <a:t>6</a:t>
            </a:fld>
            <a:endParaRPr lang="en-SE"/>
          </a:p>
        </p:txBody>
      </p:sp>
    </p:spTree>
    <p:extLst>
      <p:ext uri="{BB962C8B-B14F-4D97-AF65-F5344CB8AC3E}">
        <p14:creationId xmlns:p14="http://schemas.microsoft.com/office/powerpoint/2010/main" val="23969453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lvl1pPr>
              <a:defRPr>
                <a:solidFill>
                  <a:schemeClr val="accent1"/>
                </a:solidFill>
              </a:defRPr>
            </a:lvl1pPr>
          </a:lstStyle>
          <a:p>
            <a:r>
              <a:rPr lang="en-US" altLang="zh-CN" dirty="0"/>
              <a:t>Click to edit Master title style</a:t>
            </a:r>
            <a:endParaRPr lang="en-US" dirty="0"/>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ltLang="zh-CN" dirty="0"/>
              <a:t>Click to edit Master subtitle style</a:t>
            </a:r>
            <a:endParaRPr lang="en-US" dirty="0"/>
          </a:p>
        </p:txBody>
      </p:sp>
      <p:sp>
        <p:nvSpPr>
          <p:cNvPr id="4" name="Date Placeholder 3"/>
          <p:cNvSpPr>
            <a:spLocks noGrp="1"/>
          </p:cNvSpPr>
          <p:nvPr>
            <p:ph type="dt" sz="half" idx="10"/>
          </p:nvPr>
        </p:nvSpPr>
        <p:spPr/>
        <p:txBody>
          <a:bodyPr/>
          <a:lstStyle/>
          <a:p>
            <a:fld id="{FB221443-D73C-634A-A910-7320408C156D}" type="datetimeFigureOut">
              <a:rPr lang="en-US" smtClean="0"/>
              <a:t>12/31/2025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22816834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4" name="Date Placeholder 3"/>
          <p:cNvSpPr>
            <a:spLocks noGrp="1"/>
          </p:cNvSpPr>
          <p:nvPr>
            <p:ph type="dt" sz="half" idx="10"/>
          </p:nvPr>
        </p:nvSpPr>
        <p:spPr/>
        <p:txBody>
          <a:bodyPr/>
          <a:lstStyle/>
          <a:p>
            <a:fld id="{FB221443-D73C-634A-A910-7320408C156D}" type="datetimeFigureOut">
              <a:rPr lang="en-US" smtClean="0"/>
              <a:t>12/31/2025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01668127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ltLang="zh-CN"/>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FB221443-D73C-634A-A910-7320408C156D}" type="datetimeFigureOut">
              <a:rPr lang="en-US" smtClean="0"/>
              <a:t>12/31/2025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38518676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5" name="Date Placeholder 4"/>
          <p:cNvSpPr>
            <a:spLocks noGrp="1"/>
          </p:cNvSpPr>
          <p:nvPr>
            <p:ph type="dt" sz="half" idx="10"/>
          </p:nvPr>
        </p:nvSpPr>
        <p:spPr/>
        <p:txBody>
          <a:bodyPr/>
          <a:lstStyle/>
          <a:p>
            <a:fld id="{FB221443-D73C-634A-A910-7320408C156D}" type="datetimeFigureOut">
              <a:rPr lang="en-US" smtClean="0"/>
              <a:t>12/31/2025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40056884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CN"/>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zh-CN"/>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7" name="Date Placeholder 6"/>
          <p:cNvSpPr>
            <a:spLocks noGrp="1"/>
          </p:cNvSpPr>
          <p:nvPr>
            <p:ph type="dt" sz="half" idx="10"/>
          </p:nvPr>
        </p:nvSpPr>
        <p:spPr/>
        <p:txBody>
          <a:bodyPr/>
          <a:lstStyle/>
          <a:p>
            <a:fld id="{FB221443-D73C-634A-A910-7320408C156D}" type="datetimeFigureOut">
              <a:rPr lang="en-US" smtClean="0"/>
              <a:t>12/31/2025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364027668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Date Placeholder 2"/>
          <p:cNvSpPr>
            <a:spLocks noGrp="1"/>
          </p:cNvSpPr>
          <p:nvPr>
            <p:ph type="dt" sz="half" idx="10"/>
          </p:nvPr>
        </p:nvSpPr>
        <p:spPr/>
        <p:txBody>
          <a:bodyPr/>
          <a:lstStyle/>
          <a:p>
            <a:fld id="{FB221443-D73C-634A-A910-7320408C156D}" type="datetimeFigureOut">
              <a:rPr lang="en-US" smtClean="0"/>
              <a:t>12/31/2025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33378560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B221443-D73C-634A-A910-7320408C156D}" type="datetimeFigureOut">
              <a:rPr lang="en-US" smtClean="0"/>
              <a:t>12/31/2025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6903531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ltLang="zh-CN"/>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FB221443-D73C-634A-A910-7320408C156D}" type="datetimeFigureOut">
              <a:rPr lang="en-US" smtClean="0"/>
              <a:t>12/31/2025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6132581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ltLang="zh-CN"/>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FB221443-D73C-634A-A910-7320408C156D}" type="datetimeFigureOut">
              <a:rPr lang="en-US" smtClean="0"/>
              <a:t>12/31/2025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65112475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4" name="Date Placeholder 3"/>
          <p:cNvSpPr>
            <a:spLocks noGrp="1"/>
          </p:cNvSpPr>
          <p:nvPr>
            <p:ph type="dt" sz="half" idx="10"/>
          </p:nvPr>
        </p:nvSpPr>
        <p:spPr/>
        <p:txBody>
          <a:bodyPr/>
          <a:lstStyle/>
          <a:p>
            <a:fld id="{FB221443-D73C-634A-A910-7320408C156D}" type="datetimeFigureOut">
              <a:rPr lang="en-US" smtClean="0"/>
              <a:t>12/31/2025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22680605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ltLang="zh-CN"/>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a:p>
        </p:txBody>
      </p:sp>
      <p:sp>
        <p:nvSpPr>
          <p:cNvPr id="4" name="Date Placeholder 3"/>
          <p:cNvSpPr>
            <a:spLocks noGrp="1"/>
          </p:cNvSpPr>
          <p:nvPr>
            <p:ph type="dt" sz="half" idx="10"/>
          </p:nvPr>
        </p:nvSpPr>
        <p:spPr/>
        <p:txBody>
          <a:bodyPr/>
          <a:lstStyle/>
          <a:p>
            <a:fld id="{FB221443-D73C-634A-A910-7320408C156D}" type="datetimeFigureOut">
              <a:rPr lang="en-US" smtClean="0"/>
              <a:t>12/31/2025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325BE2B7-23DB-644D-89A2-CA3C2E8FEF83}" type="slidenum">
              <a:rPr lang="en-US" smtClean="0"/>
              <a:t>‹#›</a:t>
            </a:fld>
            <a:endParaRPr lang="en-US"/>
          </a:p>
        </p:txBody>
      </p:sp>
    </p:spTree>
    <p:extLst>
      <p:ext uri="{BB962C8B-B14F-4D97-AF65-F5344CB8AC3E}">
        <p14:creationId xmlns:p14="http://schemas.microsoft.com/office/powerpoint/2010/main" val="19493217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ltLang="zh-CN" dirty="0"/>
              <a:t>Click to edit Master title style</a:t>
            </a:r>
            <a:endParaRPr lang="en-US" dirty="0"/>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ltLang="zh-CN" dirty="0"/>
              <a:t>Click to edit Master text styles</a:t>
            </a:r>
          </a:p>
          <a:p>
            <a:pPr lvl="1"/>
            <a:r>
              <a:rPr lang="en-US" altLang="zh-CN" dirty="0"/>
              <a:t>Second level</a:t>
            </a:r>
          </a:p>
          <a:p>
            <a:pPr lvl="2"/>
            <a:r>
              <a:rPr lang="en-US" altLang="zh-CN" dirty="0"/>
              <a:t>Third level</a:t>
            </a:r>
          </a:p>
          <a:p>
            <a:pPr lvl="3"/>
            <a:r>
              <a:rPr lang="en-US" altLang="zh-CN" dirty="0"/>
              <a:t>Fourth level</a:t>
            </a:r>
          </a:p>
          <a:p>
            <a:pPr lvl="4"/>
            <a:r>
              <a:rPr lang="en-US" altLang="zh-CN" dirty="0"/>
              <a:t>Fifth level</a:t>
            </a:r>
            <a:endParaRPr lang="en-US" dirty="0"/>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B221443-D73C-634A-A910-7320408C156D}" type="datetimeFigureOut">
              <a:rPr lang="en-US" smtClean="0"/>
              <a:t>12/31/2025</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25BE2B7-23DB-644D-89A2-CA3C2E8FEF83}" type="slidenum">
              <a:rPr lang="en-US" smtClean="0"/>
              <a:t>‹#›</a:t>
            </a:fld>
            <a:endParaRPr lang="en-US"/>
          </a:p>
        </p:txBody>
      </p:sp>
    </p:spTree>
    <p:extLst>
      <p:ext uri="{BB962C8B-B14F-4D97-AF65-F5344CB8AC3E}">
        <p14:creationId xmlns:p14="http://schemas.microsoft.com/office/powerpoint/2010/main" val="4605357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3600" kern="1200">
          <a:solidFill>
            <a:schemeClr val="accent1"/>
          </a:solidFill>
          <a:latin typeface="Helvetica"/>
          <a:ea typeface="+mj-ea"/>
          <a:cs typeface="Helvetica"/>
        </a:defRPr>
      </a:lvl1pPr>
    </p:titleStyle>
    <p:bodyStyle>
      <a:lvl1pPr marL="342900" indent="-342900" algn="l" defTabSz="457200" rtl="0" eaLnBrk="1" latinLnBrk="0" hangingPunct="1">
        <a:spcBef>
          <a:spcPct val="20000"/>
        </a:spcBef>
        <a:buClr>
          <a:schemeClr val="accent6"/>
        </a:buClr>
        <a:buFont typeface="Wingdings" charset="2"/>
        <a:buChar char="§"/>
        <a:defRPr sz="2400" kern="1200">
          <a:solidFill>
            <a:schemeClr val="tx1"/>
          </a:solidFill>
          <a:latin typeface="Times New Roman"/>
          <a:ea typeface="+mn-ea"/>
          <a:cs typeface="Times New Roman"/>
        </a:defRPr>
      </a:lvl1pPr>
      <a:lvl2pPr marL="742950" indent="-285750" algn="l" defTabSz="457200" rtl="0" eaLnBrk="1" latinLnBrk="0" hangingPunct="1">
        <a:spcBef>
          <a:spcPct val="20000"/>
        </a:spcBef>
        <a:buClr>
          <a:schemeClr val="accent6"/>
        </a:buClr>
        <a:buFont typeface="Wingdings" charset="2"/>
        <a:buChar char="§"/>
        <a:defRPr sz="2000" kern="1200">
          <a:solidFill>
            <a:schemeClr val="tx1"/>
          </a:solidFill>
          <a:latin typeface="Times New Roman"/>
          <a:ea typeface="+mn-ea"/>
          <a:cs typeface="Times New Roman"/>
        </a:defRPr>
      </a:lvl2pPr>
      <a:lvl3pPr marL="1143000" indent="-228600" algn="l" defTabSz="457200" rtl="0" eaLnBrk="1" latinLnBrk="0" hangingPunct="1">
        <a:spcBef>
          <a:spcPct val="20000"/>
        </a:spcBef>
        <a:buClr>
          <a:schemeClr val="accent6"/>
        </a:buClr>
        <a:buFont typeface="Wingdings" charset="2"/>
        <a:buChar char="§"/>
        <a:defRPr sz="1800" kern="1200">
          <a:solidFill>
            <a:schemeClr val="tx1"/>
          </a:solidFill>
          <a:latin typeface="Times New Roman"/>
          <a:ea typeface="+mn-ea"/>
          <a:cs typeface="Times New Roman"/>
        </a:defRPr>
      </a:lvl3pPr>
      <a:lvl4pPr marL="1600200" indent="-228600" algn="l" defTabSz="457200" rtl="0" eaLnBrk="1" latinLnBrk="0" hangingPunct="1">
        <a:spcBef>
          <a:spcPct val="20000"/>
        </a:spcBef>
        <a:buClr>
          <a:schemeClr val="accent6"/>
        </a:buClr>
        <a:buFont typeface="Wingdings" charset="2"/>
        <a:buChar char="§"/>
        <a:defRPr sz="1600" kern="1200">
          <a:solidFill>
            <a:schemeClr val="tx1"/>
          </a:solidFill>
          <a:latin typeface="Times New Roman"/>
          <a:ea typeface="+mn-ea"/>
          <a:cs typeface="Times New Roman"/>
        </a:defRPr>
      </a:lvl4pPr>
      <a:lvl5pPr marL="2057400" indent="-228600" algn="l" defTabSz="457200" rtl="0" eaLnBrk="1" latinLnBrk="0" hangingPunct="1">
        <a:spcBef>
          <a:spcPct val="20000"/>
        </a:spcBef>
        <a:buClr>
          <a:schemeClr val="accent6"/>
        </a:buClr>
        <a:buFont typeface="Wingdings" charset="2"/>
        <a:buChar char="§"/>
        <a:defRPr sz="1600" kern="1200">
          <a:solidFill>
            <a:schemeClr val="tx1"/>
          </a:solidFill>
          <a:latin typeface="Times New Roman"/>
          <a:ea typeface="+mn-ea"/>
          <a:cs typeface="Times New Roman"/>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s://guhofstra.github.io/CSC256Sp25/" TargetMode="Externa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discord.com/invite/rhgjASZc67" TargetMode="External"/><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746697"/>
            <a:ext cx="7772400" cy="1470025"/>
          </a:xfrm>
        </p:spPr>
        <p:txBody>
          <a:bodyPr>
            <a:noAutofit/>
          </a:bodyPr>
          <a:lstStyle/>
          <a:p>
            <a:pPr>
              <a:lnSpc>
                <a:spcPct val="130000"/>
              </a:lnSpc>
            </a:pPr>
            <a:r>
              <a:rPr lang="en-US" altLang="zh-CN" dirty="0">
                <a:solidFill>
                  <a:schemeClr val="accent1"/>
                </a:solidFill>
              </a:rPr>
              <a:t>Lecture</a:t>
            </a:r>
            <a:r>
              <a:rPr lang="zh-CN" altLang="en-US" dirty="0">
                <a:solidFill>
                  <a:schemeClr val="accent1"/>
                </a:solidFill>
              </a:rPr>
              <a:t> </a:t>
            </a:r>
            <a:r>
              <a:rPr lang="en-US" altLang="zh-CN" dirty="0"/>
              <a:t>0</a:t>
            </a:r>
            <a:br>
              <a:rPr lang="en-US" altLang="zh-CN" dirty="0">
                <a:solidFill>
                  <a:schemeClr val="accent1"/>
                </a:solidFill>
              </a:rPr>
            </a:br>
            <a:r>
              <a:rPr lang="en-US" altLang="zh-CN" dirty="0">
                <a:solidFill>
                  <a:schemeClr val="accent1"/>
                </a:solidFill>
              </a:rPr>
              <a:t>CSC</a:t>
            </a:r>
            <a:r>
              <a:rPr lang="zh-CN" altLang="en-US" dirty="0">
                <a:solidFill>
                  <a:schemeClr val="accent1"/>
                </a:solidFill>
              </a:rPr>
              <a:t> </a:t>
            </a:r>
            <a:r>
              <a:rPr lang="en-US" altLang="zh-CN" dirty="0"/>
              <a:t>175</a:t>
            </a:r>
            <a:r>
              <a:rPr lang="en-US" altLang="zh-CN" dirty="0">
                <a:solidFill>
                  <a:schemeClr val="accent1"/>
                </a:solidFill>
              </a:rPr>
              <a:t> Course Overview</a:t>
            </a:r>
            <a:endParaRPr lang="en-US" dirty="0">
              <a:solidFill>
                <a:schemeClr val="accent1"/>
              </a:solidFill>
            </a:endParaRPr>
          </a:p>
        </p:txBody>
      </p:sp>
      <p:sp>
        <p:nvSpPr>
          <p:cNvPr id="3" name="Subtitle 2"/>
          <p:cNvSpPr>
            <a:spLocks noGrp="1"/>
          </p:cNvSpPr>
          <p:nvPr>
            <p:ph type="subTitle" idx="1"/>
          </p:nvPr>
        </p:nvSpPr>
        <p:spPr/>
        <p:txBody>
          <a:bodyPr anchor="ctr">
            <a:normAutofit/>
          </a:bodyPr>
          <a:lstStyle/>
          <a:p>
            <a:r>
              <a:rPr lang="en-US" sz="2000">
                <a:solidFill>
                  <a:schemeClr val="tx1"/>
                </a:solidFill>
              </a:rPr>
              <a:t>Zonghua Gu</a:t>
            </a:r>
          </a:p>
          <a:p>
            <a:r>
              <a:rPr lang="en-US" sz="2000" dirty="0">
                <a:solidFill>
                  <a:schemeClr val="tx1"/>
                </a:solidFill>
              </a:rPr>
              <a:t>Department</a:t>
            </a:r>
            <a:r>
              <a:rPr lang="zh-CN" altLang="en-US" sz="2000" dirty="0">
                <a:solidFill>
                  <a:schemeClr val="tx1"/>
                </a:solidFill>
              </a:rPr>
              <a:t> </a:t>
            </a:r>
            <a:r>
              <a:rPr lang="en-US" altLang="zh-CN" sz="2000" dirty="0">
                <a:solidFill>
                  <a:schemeClr val="tx1"/>
                </a:solidFill>
              </a:rPr>
              <a:t>of</a:t>
            </a:r>
            <a:r>
              <a:rPr lang="zh-CN" altLang="en-US" sz="2000" dirty="0">
                <a:solidFill>
                  <a:schemeClr val="tx1"/>
                </a:solidFill>
              </a:rPr>
              <a:t> </a:t>
            </a:r>
            <a:r>
              <a:rPr lang="en-US" altLang="zh-CN" sz="2000" dirty="0">
                <a:solidFill>
                  <a:schemeClr val="tx1"/>
                </a:solidFill>
              </a:rPr>
              <a:t>Computer</a:t>
            </a:r>
            <a:r>
              <a:rPr lang="zh-CN" altLang="en-US" sz="2000" dirty="0">
                <a:solidFill>
                  <a:schemeClr val="tx1"/>
                </a:solidFill>
              </a:rPr>
              <a:t> </a:t>
            </a:r>
            <a:r>
              <a:rPr lang="en-US" altLang="zh-CN" sz="2000" dirty="0">
                <a:solidFill>
                  <a:schemeClr val="tx1"/>
                </a:solidFill>
              </a:rPr>
              <a:t>Science</a:t>
            </a:r>
          </a:p>
          <a:p>
            <a:r>
              <a:rPr lang="en-US" sz="2000" dirty="0">
                <a:solidFill>
                  <a:schemeClr val="tx1"/>
                </a:solidFill>
              </a:rPr>
              <a:t>Hofstra</a:t>
            </a:r>
            <a:r>
              <a:rPr lang="zh-CN" altLang="en-US" sz="2000" dirty="0">
                <a:solidFill>
                  <a:schemeClr val="tx1"/>
                </a:solidFill>
              </a:rPr>
              <a:t> </a:t>
            </a:r>
            <a:r>
              <a:rPr lang="en-US" altLang="zh-CN" sz="2000" dirty="0">
                <a:solidFill>
                  <a:schemeClr val="tx1"/>
                </a:solidFill>
              </a:rPr>
              <a:t>University</a:t>
            </a:r>
            <a:endParaRPr lang="en-US" sz="2000" dirty="0">
              <a:solidFill>
                <a:schemeClr val="tx1"/>
              </a:solidFill>
            </a:endParaRPr>
          </a:p>
        </p:txBody>
      </p:sp>
    </p:spTree>
    <p:extLst>
      <p:ext uri="{BB962C8B-B14F-4D97-AF65-F5344CB8AC3E}">
        <p14:creationId xmlns:p14="http://schemas.microsoft.com/office/powerpoint/2010/main" val="12147567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Course Logistics</a:t>
            </a:r>
          </a:p>
        </p:txBody>
      </p:sp>
      <p:sp>
        <p:nvSpPr>
          <p:cNvPr id="3" name="Content Placeholder 2"/>
          <p:cNvSpPr>
            <a:spLocks noGrp="1"/>
          </p:cNvSpPr>
          <p:nvPr>
            <p:ph idx="1"/>
          </p:nvPr>
        </p:nvSpPr>
        <p:spPr/>
        <p:txBody>
          <a:bodyPr>
            <a:normAutofit/>
          </a:bodyPr>
          <a:lstStyle/>
          <a:p>
            <a:pPr>
              <a:lnSpc>
                <a:spcPct val="150000"/>
              </a:lnSpc>
            </a:pPr>
            <a:r>
              <a:rPr lang="en-US" b="1" dirty="0"/>
              <a:t>Instructor: </a:t>
            </a:r>
            <a:r>
              <a:rPr lang="en-US" dirty="0"/>
              <a:t>Dr. Zonghua Gu</a:t>
            </a:r>
          </a:p>
          <a:p>
            <a:pPr>
              <a:lnSpc>
                <a:spcPct val="150000"/>
              </a:lnSpc>
            </a:pPr>
            <a:r>
              <a:rPr lang="en-US" b="1" dirty="0"/>
              <a:t>Email: </a:t>
            </a:r>
            <a:r>
              <a:rPr lang="en-US" dirty="0"/>
              <a:t>Zonghua.Gu@hofstra.edu</a:t>
            </a:r>
          </a:p>
          <a:p>
            <a:pPr>
              <a:lnSpc>
                <a:spcPct val="150000"/>
              </a:lnSpc>
            </a:pPr>
            <a:r>
              <a:rPr lang="en-US" b="1" dirty="0"/>
              <a:t>Office:</a:t>
            </a:r>
            <a:r>
              <a:rPr lang="en-US" dirty="0"/>
              <a:t> SIC 219</a:t>
            </a:r>
          </a:p>
          <a:p>
            <a:pPr>
              <a:lnSpc>
                <a:spcPct val="150000"/>
              </a:lnSpc>
            </a:pPr>
            <a:r>
              <a:rPr lang="en-US" b="1" dirty="0"/>
              <a:t>Office hours: </a:t>
            </a:r>
            <a:r>
              <a:rPr lang="en-US" dirty="0"/>
              <a:t>Tue 4:05-6:00 </a:t>
            </a:r>
            <a:r>
              <a:rPr lang="en-US" altLang="zh-CN" dirty="0"/>
              <a:t>pm</a:t>
            </a:r>
          </a:p>
          <a:p>
            <a:pPr>
              <a:lnSpc>
                <a:spcPct val="150000"/>
              </a:lnSpc>
            </a:pPr>
            <a:r>
              <a:rPr lang="en-GB" b="1" dirty="0"/>
              <a:t>Course website: </a:t>
            </a:r>
            <a:r>
              <a:rPr lang="en-GB" dirty="0">
                <a:hlinkClick r:id="rId3"/>
              </a:rPr>
              <a:t>https://guhofstra.github.io/CSC256Sp25/</a:t>
            </a:r>
            <a:r>
              <a:rPr lang="en-GB" dirty="0"/>
              <a:t> </a:t>
            </a:r>
          </a:p>
          <a:p>
            <a:pPr>
              <a:lnSpc>
                <a:spcPct val="150000"/>
              </a:lnSpc>
            </a:pPr>
            <a:r>
              <a:rPr lang="en-GB" b="1" dirty="0"/>
              <a:t>Lectures: </a:t>
            </a:r>
            <a:r>
              <a:rPr lang="en-US" dirty="0"/>
              <a:t>SIC 126 TR </a:t>
            </a:r>
            <a:r>
              <a:rPr lang="en-US"/>
              <a:t>2:40-4:05 pm</a:t>
            </a:r>
            <a:endParaRPr lang="en-GB" dirty="0"/>
          </a:p>
        </p:txBody>
      </p:sp>
    </p:spTree>
    <p:extLst>
      <p:ext uri="{BB962C8B-B14F-4D97-AF65-F5344CB8AC3E}">
        <p14:creationId xmlns:p14="http://schemas.microsoft.com/office/powerpoint/2010/main" val="1550598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22FF239-C044-6FCC-5BDA-2F4EFCBFF074}"/>
              </a:ext>
            </a:extLst>
          </p:cNvPr>
          <p:cNvPicPr>
            <a:picLocks noChangeAspect="1"/>
          </p:cNvPicPr>
          <p:nvPr/>
        </p:nvPicPr>
        <p:blipFill>
          <a:blip r:embed="rId2"/>
          <a:srcRect/>
          <a:stretch/>
        </p:blipFill>
        <p:spPr>
          <a:xfrm>
            <a:off x="5523811" y="2050568"/>
            <a:ext cx="3502202" cy="3502202"/>
          </a:xfrm>
          <a:prstGeom prst="rect">
            <a:avLst/>
          </a:prstGeom>
        </p:spPr>
      </p:pic>
      <p:sp>
        <p:nvSpPr>
          <p:cNvPr id="2" name="Title 1">
            <a:extLst>
              <a:ext uri="{FF2B5EF4-FFF2-40B4-BE49-F238E27FC236}">
                <a16:creationId xmlns:a16="http://schemas.microsoft.com/office/drawing/2014/main" id="{EA10DB64-B245-D46D-B4A0-7B8C92A75D16}"/>
              </a:ext>
            </a:extLst>
          </p:cNvPr>
          <p:cNvSpPr>
            <a:spLocks noGrp="1"/>
          </p:cNvSpPr>
          <p:nvPr>
            <p:ph type="title"/>
          </p:nvPr>
        </p:nvSpPr>
        <p:spPr/>
        <p:txBody>
          <a:bodyPr/>
          <a:lstStyle/>
          <a:p>
            <a:r>
              <a:rPr lang="en-GB" dirty="0"/>
              <a:t>Discord Channel and Feedback Form</a:t>
            </a:r>
            <a:endParaRPr lang="en-SE" dirty="0"/>
          </a:p>
        </p:txBody>
      </p:sp>
      <p:sp>
        <p:nvSpPr>
          <p:cNvPr id="3" name="Content Placeholder 2">
            <a:extLst>
              <a:ext uri="{FF2B5EF4-FFF2-40B4-BE49-F238E27FC236}">
                <a16:creationId xmlns:a16="http://schemas.microsoft.com/office/drawing/2014/main" id="{4C753F46-04DC-0E7F-B563-1C508D6328EA}"/>
              </a:ext>
            </a:extLst>
          </p:cNvPr>
          <p:cNvSpPr>
            <a:spLocks noGrp="1"/>
          </p:cNvSpPr>
          <p:nvPr>
            <p:ph idx="1"/>
          </p:nvPr>
        </p:nvSpPr>
        <p:spPr>
          <a:xfrm>
            <a:off x="457200" y="1600200"/>
            <a:ext cx="5275005" cy="4525963"/>
          </a:xfrm>
        </p:spPr>
        <p:txBody>
          <a:bodyPr>
            <a:normAutofit/>
          </a:bodyPr>
          <a:lstStyle/>
          <a:p>
            <a:r>
              <a:rPr lang="en-GB" dirty="0"/>
              <a:t>Join the Discord channel: </a:t>
            </a:r>
            <a:r>
              <a:rPr lang="en-GB" dirty="0">
                <a:hlinkClick r:id="rId3"/>
              </a:rPr>
              <a:t>https://discord.com/invite/rhgjASZc67</a:t>
            </a:r>
            <a:endParaRPr lang="en-GB" dirty="0"/>
          </a:p>
          <a:p>
            <a:pPr lvl="1"/>
            <a:r>
              <a:rPr lang="en-US" altLang="zh-CN" dirty="0"/>
              <a:t>IMPORTANT! </a:t>
            </a:r>
            <a:r>
              <a:rPr lang="en-GB" dirty="0"/>
              <a:t>Used for all announcements and online Q&amp;A</a:t>
            </a:r>
          </a:p>
          <a:p>
            <a:r>
              <a:rPr lang="en-GB" dirty="0"/>
              <a:t>Course tutor</a:t>
            </a:r>
          </a:p>
          <a:p>
            <a:pPr lvl="1"/>
            <a:r>
              <a:rPr lang="en-US" altLang="zh-CN" dirty="0"/>
              <a:t>TODO</a:t>
            </a:r>
          </a:p>
          <a:p>
            <a:r>
              <a:rPr lang="en-GB" dirty="0"/>
              <a:t>Use the anonymous feedback form anytime to provide your comments and suggestions for me.</a:t>
            </a:r>
          </a:p>
          <a:p>
            <a:endParaRPr lang="en-SE" dirty="0"/>
          </a:p>
        </p:txBody>
      </p:sp>
    </p:spTree>
    <p:extLst>
      <p:ext uri="{BB962C8B-B14F-4D97-AF65-F5344CB8AC3E}">
        <p14:creationId xmlns:p14="http://schemas.microsoft.com/office/powerpoint/2010/main" val="17865307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No Textbook</a:t>
            </a:r>
          </a:p>
        </p:txBody>
      </p:sp>
      <p:sp>
        <p:nvSpPr>
          <p:cNvPr id="3" name="Content Placeholder 2"/>
          <p:cNvSpPr>
            <a:spLocks noGrp="1"/>
          </p:cNvSpPr>
          <p:nvPr>
            <p:ph idx="1"/>
          </p:nvPr>
        </p:nvSpPr>
        <p:spPr/>
        <p:txBody>
          <a:bodyPr>
            <a:normAutofit/>
          </a:bodyPr>
          <a:lstStyle/>
          <a:p>
            <a:pPr fontAlgn="base">
              <a:lnSpc>
                <a:spcPct val="130000"/>
              </a:lnSpc>
              <a:spcAft>
                <a:spcPts val="0"/>
              </a:spcAft>
            </a:pPr>
            <a:r>
              <a:rPr lang="en-US" dirty="0"/>
              <a:t>No required textbook. </a:t>
            </a:r>
          </a:p>
          <a:p>
            <a:pPr fontAlgn="base">
              <a:lnSpc>
                <a:spcPct val="130000"/>
              </a:lnSpc>
            </a:pPr>
            <a:r>
              <a:rPr lang="en-US" dirty="0"/>
              <a:t>Exams are based on lecture slides </a:t>
            </a:r>
            <a:r>
              <a:rPr lang="en-US" altLang="zh-CN" dirty="0"/>
              <a:t>only</a:t>
            </a:r>
            <a:endParaRPr lang="en-US" dirty="0"/>
          </a:p>
        </p:txBody>
      </p:sp>
    </p:spTree>
    <p:extLst>
      <p:ext uri="{BB962C8B-B14F-4D97-AF65-F5344CB8AC3E}">
        <p14:creationId xmlns:p14="http://schemas.microsoft.com/office/powerpoint/2010/main" val="521252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DDF503-556C-2336-E1F2-3FF989A94FC6}"/>
              </a:ext>
            </a:extLst>
          </p:cNvPr>
          <p:cNvSpPr>
            <a:spLocks noGrp="1"/>
          </p:cNvSpPr>
          <p:nvPr>
            <p:ph type="title"/>
          </p:nvPr>
        </p:nvSpPr>
        <p:spPr/>
        <p:txBody>
          <a:bodyPr/>
          <a:lstStyle/>
          <a:p>
            <a:r>
              <a:rPr lang="en-US" dirty="0"/>
              <a:t>Lab Assignments</a:t>
            </a:r>
            <a:endParaRPr lang="en-SE" dirty="0"/>
          </a:p>
        </p:txBody>
      </p:sp>
      <p:sp>
        <p:nvSpPr>
          <p:cNvPr id="3" name="Content Placeholder 2">
            <a:extLst>
              <a:ext uri="{FF2B5EF4-FFF2-40B4-BE49-F238E27FC236}">
                <a16:creationId xmlns:a16="http://schemas.microsoft.com/office/drawing/2014/main" id="{73B5D58E-C189-E68D-1A4E-DF494F94B82C}"/>
              </a:ext>
            </a:extLst>
          </p:cNvPr>
          <p:cNvSpPr>
            <a:spLocks noGrp="1"/>
          </p:cNvSpPr>
          <p:nvPr>
            <p:ph idx="1"/>
          </p:nvPr>
        </p:nvSpPr>
        <p:spPr>
          <a:xfrm>
            <a:off x="545690" y="1268114"/>
            <a:ext cx="8229600" cy="4525963"/>
          </a:xfrm>
        </p:spPr>
        <p:txBody>
          <a:bodyPr/>
          <a:lstStyle/>
          <a:p>
            <a:r>
              <a:rPr lang="en-US"/>
              <a:t>Two </a:t>
            </a:r>
            <a:r>
              <a:rPr lang="en-US" dirty="0"/>
              <a:t>lab assignments</a:t>
            </a:r>
          </a:p>
          <a:p>
            <a:pPr lvl="1"/>
            <a:r>
              <a:rPr lang="en-US" dirty="0"/>
              <a:t>Please sign up on Canvas to form groups of 1-3 students each</a:t>
            </a:r>
          </a:p>
          <a:p>
            <a:r>
              <a:rPr lang="en-US" b="1" dirty="0">
                <a:solidFill>
                  <a:schemeClr val="accent1"/>
                </a:solidFill>
                <a:latin typeface="Times New Roman" panose="02020603050405020304" pitchFamily="18" charset="0"/>
              </a:rPr>
              <a:t>Late Days: </a:t>
            </a:r>
            <a:r>
              <a:rPr lang="en-US" dirty="0">
                <a:solidFill>
                  <a:srgbClr val="000000"/>
                </a:solidFill>
                <a:latin typeface="Times New Roman" panose="02020603050405020304" pitchFamily="18" charset="0"/>
              </a:rPr>
              <a:t>Each student is allowed a total of 3 late days for this class, which may be spent in units of one day (24 hours) on any project(s) throughout the semester. Once your late days have been used up, late work will not receive any credit. Late days are intended to handle all issues, including unexpected problems such as illness. </a:t>
            </a:r>
          </a:p>
          <a:p>
            <a:endParaRPr lang="en-US" dirty="0"/>
          </a:p>
        </p:txBody>
      </p:sp>
    </p:spTree>
    <p:extLst>
      <p:ext uri="{BB962C8B-B14F-4D97-AF65-F5344CB8AC3E}">
        <p14:creationId xmlns:p14="http://schemas.microsoft.com/office/powerpoint/2010/main" val="36232780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Grading Policy</a:t>
            </a:r>
          </a:p>
        </p:txBody>
      </p:sp>
      <p:pic>
        <p:nvPicPr>
          <p:cNvPr id="1026" name="Picture 2" descr="Bell curve graphic depicting normal performance distribution outline diagram. Labeled educational expectation measurement or prediction percentage analysis vector illustration.">
            <a:extLst>
              <a:ext uri="{FF2B5EF4-FFF2-40B4-BE49-F238E27FC236}">
                <a16:creationId xmlns:a16="http://schemas.microsoft.com/office/drawing/2014/main" id="{D2471F95-F060-B55F-2F0D-A33962AFEFD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0" y="1858487"/>
            <a:ext cx="4493342" cy="3744452"/>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E41FB57-E05E-E37B-2179-98D14191727D}"/>
              </a:ext>
            </a:extLst>
          </p:cNvPr>
          <p:cNvSpPr txBox="1"/>
          <p:nvPr/>
        </p:nvSpPr>
        <p:spPr>
          <a:xfrm>
            <a:off x="7973827" y="5425615"/>
            <a:ext cx="362600" cy="461665"/>
          </a:xfrm>
          <a:prstGeom prst="rect">
            <a:avLst/>
          </a:prstGeom>
          <a:noFill/>
        </p:spPr>
        <p:txBody>
          <a:bodyPr wrap="none" rtlCol="0">
            <a:spAutoFit/>
          </a:bodyPr>
          <a:lstStyle/>
          <a:p>
            <a:r>
              <a:rPr lang="en-US" sz="2400" dirty="0"/>
              <a:t>A</a:t>
            </a:r>
          </a:p>
        </p:txBody>
      </p:sp>
      <p:sp>
        <p:nvSpPr>
          <p:cNvPr id="7" name="TextBox 6">
            <a:extLst>
              <a:ext uri="{FF2B5EF4-FFF2-40B4-BE49-F238E27FC236}">
                <a16:creationId xmlns:a16="http://schemas.microsoft.com/office/drawing/2014/main" id="{73A14233-5BD4-DCD3-E927-56FF876CF7EA}"/>
              </a:ext>
            </a:extLst>
          </p:cNvPr>
          <p:cNvSpPr txBox="1"/>
          <p:nvPr/>
        </p:nvSpPr>
        <p:spPr>
          <a:xfrm>
            <a:off x="6753959" y="5425615"/>
            <a:ext cx="362600" cy="461665"/>
          </a:xfrm>
          <a:prstGeom prst="rect">
            <a:avLst/>
          </a:prstGeom>
          <a:noFill/>
        </p:spPr>
        <p:txBody>
          <a:bodyPr wrap="none" rtlCol="0">
            <a:spAutoFit/>
          </a:bodyPr>
          <a:lstStyle/>
          <a:p>
            <a:r>
              <a:rPr lang="en-US" sz="2400" dirty="0"/>
              <a:t>B</a:t>
            </a:r>
          </a:p>
        </p:txBody>
      </p:sp>
      <p:sp>
        <p:nvSpPr>
          <p:cNvPr id="8" name="TextBox 7">
            <a:extLst>
              <a:ext uri="{FF2B5EF4-FFF2-40B4-BE49-F238E27FC236}">
                <a16:creationId xmlns:a16="http://schemas.microsoft.com/office/drawing/2014/main" id="{5E8C800B-92A5-CEC8-8A8B-200008609C9E}"/>
              </a:ext>
            </a:extLst>
          </p:cNvPr>
          <p:cNvSpPr txBox="1"/>
          <p:nvPr/>
        </p:nvSpPr>
        <p:spPr>
          <a:xfrm>
            <a:off x="5548519" y="5425615"/>
            <a:ext cx="348172" cy="461665"/>
          </a:xfrm>
          <a:prstGeom prst="rect">
            <a:avLst/>
          </a:prstGeom>
          <a:noFill/>
        </p:spPr>
        <p:txBody>
          <a:bodyPr wrap="none" rtlCol="0">
            <a:spAutoFit/>
          </a:bodyPr>
          <a:lstStyle/>
          <a:p>
            <a:r>
              <a:rPr lang="en-US" sz="2400" dirty="0"/>
              <a:t>C</a:t>
            </a:r>
          </a:p>
        </p:txBody>
      </p:sp>
      <p:sp>
        <p:nvSpPr>
          <p:cNvPr id="9" name="TextBox 8">
            <a:extLst>
              <a:ext uri="{FF2B5EF4-FFF2-40B4-BE49-F238E27FC236}">
                <a16:creationId xmlns:a16="http://schemas.microsoft.com/office/drawing/2014/main" id="{6AD677F5-5130-722F-D935-AAD4400A7119}"/>
              </a:ext>
            </a:extLst>
          </p:cNvPr>
          <p:cNvSpPr txBox="1"/>
          <p:nvPr/>
        </p:nvSpPr>
        <p:spPr>
          <a:xfrm>
            <a:off x="4697042" y="5425615"/>
            <a:ext cx="468398" cy="461665"/>
          </a:xfrm>
          <a:prstGeom prst="rect">
            <a:avLst/>
          </a:prstGeom>
          <a:noFill/>
        </p:spPr>
        <p:txBody>
          <a:bodyPr wrap="none" rtlCol="0">
            <a:spAutoFit/>
          </a:bodyPr>
          <a:lstStyle/>
          <a:p>
            <a:r>
              <a:rPr lang="en-US" sz="2400" dirty="0"/>
              <a:t>F?</a:t>
            </a:r>
          </a:p>
        </p:txBody>
      </p:sp>
      <p:sp>
        <p:nvSpPr>
          <p:cNvPr id="10" name="Content Placeholder 2">
            <a:extLst>
              <a:ext uri="{FF2B5EF4-FFF2-40B4-BE49-F238E27FC236}">
                <a16:creationId xmlns:a16="http://schemas.microsoft.com/office/drawing/2014/main" id="{4485C2FC-F760-8450-0E62-F59CB3DFE20C}"/>
              </a:ext>
            </a:extLst>
          </p:cNvPr>
          <p:cNvSpPr>
            <a:spLocks noGrp="1"/>
          </p:cNvSpPr>
          <p:nvPr>
            <p:ph idx="1"/>
          </p:nvPr>
        </p:nvSpPr>
        <p:spPr>
          <a:xfrm>
            <a:off x="304800" y="1600200"/>
            <a:ext cx="4267200" cy="4525963"/>
          </a:xfrm>
        </p:spPr>
        <p:txBody>
          <a:bodyPr/>
          <a:lstStyle/>
          <a:p>
            <a:r>
              <a:rPr lang="en-US" dirty="0"/>
              <a:t>Midterm exam: 30%</a:t>
            </a:r>
          </a:p>
          <a:p>
            <a:r>
              <a:rPr lang="en-US" dirty="0"/>
              <a:t>Final exam: 40%</a:t>
            </a:r>
          </a:p>
          <a:p>
            <a:r>
              <a:rPr lang="en-US"/>
              <a:t>Labs</a:t>
            </a:r>
            <a:r>
              <a:rPr lang="en-US" dirty="0"/>
              <a:t>: </a:t>
            </a:r>
            <a:r>
              <a:rPr lang="en-US"/>
              <a:t>30% (10 + 20)</a:t>
            </a:r>
            <a:endParaRPr lang="en-US" dirty="0"/>
          </a:p>
          <a:p>
            <a:pPr lvl="1"/>
            <a:r>
              <a:rPr lang="en-US" dirty="0"/>
              <a:t>Graded on a curve based on the final points</a:t>
            </a:r>
          </a:p>
          <a:p>
            <a:pPr lvl="1"/>
            <a:r>
              <a:rPr lang="en-US" dirty="0"/>
              <a:t>Absolute marks do not matter, but your relative ranking in the class determines your final letter grade</a:t>
            </a:r>
          </a:p>
          <a:p>
            <a:endParaRPr lang="en-US" dirty="0"/>
          </a:p>
        </p:txBody>
      </p:sp>
    </p:spTree>
    <p:extLst>
      <p:ext uri="{BB962C8B-B14F-4D97-AF65-F5344CB8AC3E}">
        <p14:creationId xmlns:p14="http://schemas.microsoft.com/office/powerpoint/2010/main" val="377230018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da48a9ac-7937-4134-8b13-3620bf967764}" enabled="1" method="Privileged" siteId="{5a4ba6f9-f531-4f32-9467-398f19e69de4}" contentBits="0" removed="0"/>
</clbl:labelList>
</file>

<file path=docProps/app.xml><?xml version="1.0" encoding="utf-8"?>
<Properties xmlns="http://schemas.openxmlformats.org/officeDocument/2006/extended-properties" xmlns:vt="http://schemas.openxmlformats.org/officeDocument/2006/docPropsVTypes">
  <TotalTime>3041</TotalTime>
  <Words>295</Words>
  <Application>Microsoft Office PowerPoint</Application>
  <PresentationFormat>On-screen Show (4:3)</PresentationFormat>
  <Paragraphs>40</Paragraphs>
  <Slides>6</Slides>
  <Notes>3</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vt:i4>
      </vt:variant>
    </vt:vector>
  </HeadingPairs>
  <TitlesOfParts>
    <vt:vector size="13" baseType="lpstr">
      <vt:lpstr>Aptos</vt:lpstr>
      <vt:lpstr>Arial</vt:lpstr>
      <vt:lpstr>Calibri</vt:lpstr>
      <vt:lpstr>Helvetica</vt:lpstr>
      <vt:lpstr>Times New Roman</vt:lpstr>
      <vt:lpstr>Wingdings</vt:lpstr>
      <vt:lpstr>Office Theme</vt:lpstr>
      <vt:lpstr>Lecture 0 CSC 175 Course Overview</vt:lpstr>
      <vt:lpstr>Course Logistics</vt:lpstr>
      <vt:lpstr>Discord Channel and Feedback Form</vt:lpstr>
      <vt:lpstr>No Textbook</vt:lpstr>
      <vt:lpstr>Lab Assignments</vt:lpstr>
      <vt:lpstr>Grading Policy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Classes and Objects in Java</dc:title>
  <dc:creator>Jianchen Shan</dc:creator>
  <cp:lastModifiedBy>Zonghua Gu</cp:lastModifiedBy>
  <cp:revision>109</cp:revision>
  <dcterms:created xsi:type="dcterms:W3CDTF">2018-08-13T22:58:39Z</dcterms:created>
  <dcterms:modified xsi:type="dcterms:W3CDTF">2025-12-31T21:31:54Z</dcterms:modified>
</cp:coreProperties>
</file>