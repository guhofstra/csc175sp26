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embeddedFontLst>
    <p:embeddedFont>
      <p:font typeface="Roboto Medium"/>
      <p:regular r:id="rId49"/>
      <p:bold r:id="rId50"/>
      <p:italic r:id="rId51"/>
      <p:boldItalic r:id="rId52"/>
    </p:embeddedFont>
    <p:embeddedFont>
      <p:font typeface="Roboto"/>
      <p:regular r:id="rId53"/>
      <p:bold r:id="rId54"/>
      <p:italic r:id="rId55"/>
      <p:boldItalic r:id="rId56"/>
    </p:embeddedFont>
    <p:embeddedFont>
      <p:font typeface="Roboto Light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273617-2C7C-4E04-93E8-3D498457EE05}">
  <a:tblStyle styleId="{F7273617-2C7C-4E04-93E8-3D498457EE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Roboto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Light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edium-italic.fntdata"/><Relationship Id="rId50" Type="http://schemas.openxmlformats.org/officeDocument/2006/relationships/font" Target="fonts/RobotoMedium-bold.fntdata"/><Relationship Id="rId53" Type="http://schemas.openxmlformats.org/officeDocument/2006/relationships/font" Target="fonts/Roboto-regular.fntdata"/><Relationship Id="rId52" Type="http://schemas.openxmlformats.org/officeDocument/2006/relationships/font" Target="fonts/RobotoMedium-boldItalic.fntdata"/><Relationship Id="rId11" Type="http://schemas.openxmlformats.org/officeDocument/2006/relationships/slide" Target="slides/slide5.xml"/><Relationship Id="rId55" Type="http://schemas.openxmlformats.org/officeDocument/2006/relationships/font" Target="fonts/Roboto-italic.fntdata"/><Relationship Id="rId10" Type="http://schemas.openxmlformats.org/officeDocument/2006/relationships/slide" Target="slides/slide4.xml"/><Relationship Id="rId54" Type="http://schemas.openxmlformats.org/officeDocument/2006/relationships/font" Target="fonts/Roboto-bold.fntdata"/><Relationship Id="rId13" Type="http://schemas.openxmlformats.org/officeDocument/2006/relationships/slide" Target="slides/slide7.xml"/><Relationship Id="rId57" Type="http://schemas.openxmlformats.org/officeDocument/2006/relationships/font" Target="fonts/RobotoLight-regular.fntdata"/><Relationship Id="rId12" Type="http://schemas.openxmlformats.org/officeDocument/2006/relationships/slide" Target="slides/slide6.xml"/><Relationship Id="rId56" Type="http://schemas.openxmlformats.org/officeDocument/2006/relationships/font" Target="fonts/Roboto-boldItalic.fntdata"/><Relationship Id="rId15" Type="http://schemas.openxmlformats.org/officeDocument/2006/relationships/slide" Target="slides/slide9.xml"/><Relationship Id="rId59" Type="http://schemas.openxmlformats.org/officeDocument/2006/relationships/font" Target="fonts/RobotoLight-italic.fntdata"/><Relationship Id="rId14" Type="http://schemas.openxmlformats.org/officeDocument/2006/relationships/slide" Target="slides/slide8.xml"/><Relationship Id="rId58" Type="http://schemas.openxmlformats.org/officeDocument/2006/relationships/font" Target="fonts/RobotoLight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0cecbe81c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0cecbe81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f0cecbe81c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f0cecbe81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0cecbe81c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f0cecbe81c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f0cecbe81c_0_62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f0cecbe81c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0cecbe81c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f0cecbe81c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0cecbe81c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f0cecbe81c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f0cecbe81c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f0cecbe81c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f0cecbe81c_0_67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f0cecbe81c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0cecbe81c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f0cecbe81c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0cecbe81c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f0cecbe81c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0cecbe81c_0_87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f0cecbe81c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f0f0a4961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f0f0a4961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0f0a4961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f0f0a4961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f0f0a49613_0_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f0f0a4961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f0cecbe81c_0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f0cecbe81c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f0f0a49613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f0f0a49613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0f0a49613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0f0a49613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7fb308cc2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7fb308cc2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7fb308cc2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7fb308cc2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7fb308cc2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7fb308cc2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7fb308cc2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7fb308cc2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7fb308cc29_0_10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7fb308cc2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7fb308cc2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7fb308cc2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7fb308cc29_0_1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7fb308cc2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7fb308cc29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7fb308cc29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7fb308cc29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7fb308cc2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7fb308cc2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7fb308cc2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7fb308cc29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7fb308cc29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7fb308cc29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7fb308cc29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7fb308cc2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27fb308cc2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7fb308cc29_0_2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7fb308cc29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7fb308cc29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7fb308cc29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7fb308cc29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7fb308cc29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7fb308cc29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7fb308cc29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7fb308cc29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27fb308cc29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27fb308cc29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27fb308cc29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7fb308cc29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7fb308cc29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7fb308cc29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7fb308cc29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7fb308cc29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7fb308cc29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27fb308cc29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27fb308cc29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7fb308cc29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7fb308cc29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7fb308cc29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7fb308cc29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Nandita Dukkipati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Host Networking, RDMA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20 (Datacenters 4)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5827050" y="401250"/>
            <a:ext cx="2645400" cy="1826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5959600" y="536300"/>
            <a:ext cx="1417200" cy="15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6090550" y="69232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9" name="Google Shape;149;p24"/>
          <p:cNvSpPr/>
          <p:nvPr/>
        </p:nvSpPr>
        <p:spPr>
          <a:xfrm>
            <a:off x="6739900" y="69232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0" name="Google Shape;150;p24"/>
          <p:cNvSpPr txBox="1"/>
          <p:nvPr/>
        </p:nvSpPr>
        <p:spPr>
          <a:xfrm>
            <a:off x="6090625" y="1563825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6650275" y="1563825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 rot="10800000">
            <a:off x="7581348" y="920927"/>
            <a:ext cx="734027" cy="1196347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3" name="Google Shape;153;p24"/>
          <p:cNvSpPr txBox="1"/>
          <p:nvPr/>
        </p:nvSpPr>
        <p:spPr>
          <a:xfrm>
            <a:off x="7528813" y="649650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6153700" y="1323050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6153700" y="1094450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6805375" y="1323050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7658713" y="1001575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7658713" y="1230175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4"/>
          <p:cNvSpPr/>
          <p:nvPr/>
        </p:nvSpPr>
        <p:spPr>
          <a:xfrm>
            <a:off x="7658713" y="1458775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Optimizations at the Host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What is Host Networking?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Brief History of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5" name="Google Shape;165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Host Networking?</a:t>
            </a:r>
            <a:endParaRPr/>
          </a:p>
        </p:txBody>
      </p:sp>
      <p:sp>
        <p:nvSpPr>
          <p:cNvPr id="166" name="Google Shape;166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New Bottleneck: Hosts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107050" y="402200"/>
            <a:ext cx="8909700" cy="32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Historically, the network has been the bottleneck.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Example: Congestion control.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modern datacenters, hosts are the new bottleneck.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Extremely high performance demands.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1: CPUs can't keep up.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CPU working on network protocols → less resources for the application.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2: Protocols can't keep up.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Traditional networking stack (TCP/IP) are insufficient.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Host networking</a:t>
            </a:r>
            <a:r>
              <a:rPr lang="en"/>
              <a:t>: Optimizations </a:t>
            </a:r>
            <a:r>
              <a:rPr b="1" lang="en"/>
              <a:t>at the host</a:t>
            </a:r>
            <a:r>
              <a:rPr lang="en"/>
              <a:t> to meet modern performance demands.</a:t>
            </a:r>
            <a:endParaRPr/>
          </a:p>
        </p:txBody>
      </p:sp>
      <p:sp>
        <p:nvSpPr>
          <p:cNvPr id="173" name="Google Shape;173;p26"/>
          <p:cNvSpPr/>
          <p:nvPr/>
        </p:nvSpPr>
        <p:spPr>
          <a:xfrm>
            <a:off x="3766200" y="3946775"/>
            <a:ext cx="1611600" cy="305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 Networking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2851800" y="4556375"/>
            <a:ext cx="1611600" cy="305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Shared 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4922100" y="4556375"/>
            <a:ext cx="1128600" cy="305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Offloading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26"/>
          <p:cNvCxnSpPr>
            <a:stCxn id="173" idx="2"/>
            <a:endCxn id="174" idx="0"/>
          </p:cNvCxnSpPr>
          <p:nvPr/>
        </p:nvCxnSpPr>
        <p:spPr>
          <a:xfrm flipH="1">
            <a:off x="3657600" y="4252175"/>
            <a:ext cx="914400" cy="30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26"/>
          <p:cNvCxnSpPr>
            <a:stCxn id="173" idx="2"/>
            <a:endCxn id="175" idx="0"/>
          </p:cNvCxnSpPr>
          <p:nvPr/>
        </p:nvCxnSpPr>
        <p:spPr>
          <a:xfrm>
            <a:off x="4572000" y="4252175"/>
            <a:ext cx="914400" cy="30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26"/>
          <p:cNvSpPr txBox="1"/>
          <p:nvPr/>
        </p:nvSpPr>
        <p:spPr>
          <a:xfrm>
            <a:off x="6400800" y="4465925"/>
            <a:ext cx="1974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We'll look at two optimization strategies.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Optimizations at the Host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Shared Memory in User Space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Brief History of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84" name="Google Shape;184;p2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Shared Memory in User Space</a:t>
            </a:r>
            <a:endParaRPr/>
          </a:p>
        </p:txBody>
      </p:sp>
      <p:sp>
        <p:nvSpPr>
          <p:cNvPr id="185" name="Google Shape;185;p2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/>
          <p:nvPr/>
        </p:nvSpPr>
        <p:spPr>
          <a:xfrm>
            <a:off x="3378700" y="2319900"/>
            <a:ext cx="3145800" cy="16986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3513925" y="3019175"/>
            <a:ext cx="2861100" cy="876000"/>
          </a:xfrm>
          <a:prstGeom prst="roundRect">
            <a:avLst>
              <a:gd fmla="val 0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Operating</a:t>
            </a:r>
            <a:br>
              <a:rPr b="1" lang="en"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3378700" y="4017775"/>
            <a:ext cx="3145800" cy="8760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</a:t>
            </a:r>
            <a:r>
              <a:rPr lang="en"/>
              <a:t>Layers in the End Host</a:t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107050" y="402200"/>
            <a:ext cx="8909700" cy="13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Layers 1 and 2 are implemented in hardware, on the network interface card (NIC).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Layers 3 and 4 are implemented in software, in the operating system.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 7 is the applications running in software.</a:t>
            </a:r>
            <a:endParaRPr/>
          </a:p>
        </p:txBody>
      </p:sp>
      <p:sp>
        <p:nvSpPr>
          <p:cNvPr id="195" name="Google Shape;195;p28"/>
          <p:cNvSpPr/>
          <p:nvPr/>
        </p:nvSpPr>
        <p:spPr>
          <a:xfrm>
            <a:off x="4711875" y="250783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4711875" y="311742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4711875" y="349842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4711875" y="4147817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4711875" y="4528825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6595475" y="3093951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6595475" y="4345825"/>
            <a:ext cx="1356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548050" y="3871413"/>
            <a:ext cx="22539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driver is software that interacts with the NIC.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Bridges the hardware and software.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" name="Google Shape;203;p28"/>
          <p:cNvCxnSpPr/>
          <p:nvPr/>
        </p:nvCxnSpPr>
        <p:spPr>
          <a:xfrm>
            <a:off x="2725750" y="4017775"/>
            <a:ext cx="592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/>
          <p:nvPr/>
        </p:nvSpPr>
        <p:spPr>
          <a:xfrm>
            <a:off x="3378700" y="2319900"/>
            <a:ext cx="3145800" cy="16986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3378700" y="4017775"/>
            <a:ext cx="3145800" cy="8760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3513925" y="2424975"/>
            <a:ext cx="2861100" cy="486300"/>
          </a:xfrm>
          <a:prstGeom prst="roundRect">
            <a:avLst>
              <a:gd fmla="val 0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User Space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Problem: </a:t>
            </a:r>
            <a:r>
              <a:rPr lang="en">
                <a:solidFill>
                  <a:schemeClr val="accent3"/>
                </a:solidFill>
              </a:rPr>
              <a:t>Kernel Space and User Space</a:t>
            </a:r>
            <a:endParaRPr/>
          </a:p>
        </p:txBody>
      </p:sp>
      <p:sp>
        <p:nvSpPr>
          <p:cNvPr id="212" name="Google Shape;212;p29"/>
          <p:cNvSpPr txBox="1"/>
          <p:nvPr>
            <p:ph idx="1" type="body"/>
          </p:nvPr>
        </p:nvSpPr>
        <p:spPr>
          <a:xfrm>
            <a:off x="107050" y="402200"/>
            <a:ext cx="8909700" cy="15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OS runs in </a:t>
            </a:r>
            <a:r>
              <a:rPr b="1" lang="en"/>
              <a:t>kernel space</a:t>
            </a:r>
            <a:r>
              <a:rPr lang="en"/>
              <a:t>, and applications run in </a:t>
            </a:r>
            <a:r>
              <a:rPr b="1" lang="en"/>
              <a:t>user space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two address spaces are isolated from each other.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Virtual memory from CS 61C.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Data is constantly being copied between user/kernel space.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Programming in the kernel is hard.</a:t>
            </a:r>
            <a:endParaRPr/>
          </a:p>
        </p:txBody>
      </p:sp>
      <p:sp>
        <p:nvSpPr>
          <p:cNvPr id="213" name="Google Shape;213;p29"/>
          <p:cNvSpPr txBox="1"/>
          <p:nvPr/>
        </p:nvSpPr>
        <p:spPr>
          <a:xfrm>
            <a:off x="945250" y="2539875"/>
            <a:ext cx="17805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Incoming data copied from kernel to user.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Outgoing data copied from user to kernel.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3513925" y="3019175"/>
            <a:ext cx="2861100" cy="876000"/>
          </a:xfrm>
          <a:prstGeom prst="roundRect">
            <a:avLst>
              <a:gd fmla="val 0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Kernel</a:t>
            </a:r>
            <a:br>
              <a:rPr b="1" lang="en"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latin typeface="Roboto"/>
                <a:ea typeface="Roboto"/>
                <a:cs typeface="Roboto"/>
                <a:sym typeface="Roboto"/>
              </a:rPr>
              <a:t>Space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4711875" y="250783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4711875" y="311742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4711875" y="349842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9"/>
          <p:cNvSpPr/>
          <p:nvPr/>
        </p:nvSpPr>
        <p:spPr>
          <a:xfrm>
            <a:off x="4711875" y="4147817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9"/>
          <p:cNvSpPr/>
          <p:nvPr/>
        </p:nvSpPr>
        <p:spPr>
          <a:xfrm>
            <a:off x="4711875" y="4528825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6595475" y="3093951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>
            <a:off x="3285325" y="2668125"/>
            <a:ext cx="600" cy="789000"/>
          </a:xfrm>
          <a:prstGeom prst="curvedConnector3">
            <a:avLst>
              <a:gd fmla="val -90512500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22" name="Google Shape;222;p29"/>
          <p:cNvSpPr txBox="1"/>
          <p:nvPr/>
        </p:nvSpPr>
        <p:spPr>
          <a:xfrm>
            <a:off x="6595475" y="4345825"/>
            <a:ext cx="1356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/>
          <p:nvPr/>
        </p:nvSpPr>
        <p:spPr>
          <a:xfrm>
            <a:off x="3378700" y="2319900"/>
            <a:ext cx="3145800" cy="16986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3378700" y="4017775"/>
            <a:ext cx="3145800" cy="8760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3513925" y="2424975"/>
            <a:ext cx="2861100" cy="1470300"/>
          </a:xfrm>
          <a:prstGeom prst="roundRect">
            <a:avLst>
              <a:gd fmla="val 0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User Space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Solution: Networking Stack in User Space</a:t>
            </a:r>
            <a:endParaRPr/>
          </a:p>
        </p:txBody>
      </p:sp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107050" y="402200"/>
            <a:ext cx="8909700" cy="15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Packet processing happens in user space.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and network protocols access shared memory.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to copy data back-and-forth!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Easier to program (e.g. new protocols) in the user space!</a:t>
            </a:r>
            <a:endParaRPr/>
          </a:p>
        </p:txBody>
      </p:sp>
      <p:sp>
        <p:nvSpPr>
          <p:cNvPr id="232" name="Google Shape;232;p30"/>
          <p:cNvSpPr/>
          <p:nvPr/>
        </p:nvSpPr>
        <p:spPr>
          <a:xfrm>
            <a:off x="4711875" y="250783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4711875" y="349842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4711875" y="4147817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0"/>
          <p:cNvSpPr/>
          <p:nvPr/>
        </p:nvSpPr>
        <p:spPr>
          <a:xfrm>
            <a:off x="4711875" y="4528825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0"/>
          <p:cNvSpPr txBox="1"/>
          <p:nvPr/>
        </p:nvSpPr>
        <p:spPr>
          <a:xfrm>
            <a:off x="6595475" y="3093951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4711875" y="3003126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0"/>
          <p:cNvSpPr txBox="1"/>
          <p:nvPr/>
        </p:nvSpPr>
        <p:spPr>
          <a:xfrm>
            <a:off x="6595475" y="4345825"/>
            <a:ext cx="1356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Optimizations at the Host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Brief History of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44" name="Google Shape;244;p3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Optimization: Offloading</a:t>
            </a:r>
            <a:endParaRPr/>
          </a:p>
        </p:txBody>
      </p:sp>
      <p:sp>
        <p:nvSpPr>
          <p:cNvPr id="245" name="Google Shape;245;p3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/>
          <p:nvPr/>
        </p:nvSpPr>
        <p:spPr>
          <a:xfrm>
            <a:off x="1593225" y="2042025"/>
            <a:ext cx="2076900" cy="13449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Optimization: Offloading</a:t>
            </a:r>
            <a:endParaRPr/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107050" y="402200"/>
            <a:ext cx="8909700" cy="15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roblem: CPUs can't keep up with modern performance demands.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</a:t>
            </a:r>
            <a:r>
              <a:rPr b="1" lang="en"/>
              <a:t>Offloading</a:t>
            </a:r>
            <a:r>
              <a:rPr lang="en"/>
              <a:t>. Process packets in hardware instead of software.</a:t>
            </a:r>
            <a:endParaRPr/>
          </a:p>
        </p:txBody>
      </p:sp>
      <p:sp>
        <p:nvSpPr>
          <p:cNvPr id="253" name="Google Shape;253;p32"/>
          <p:cNvSpPr/>
          <p:nvPr/>
        </p:nvSpPr>
        <p:spPr>
          <a:xfrm>
            <a:off x="1593225" y="3386825"/>
            <a:ext cx="2076900" cy="8184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2"/>
          <p:cNvSpPr/>
          <p:nvPr/>
        </p:nvSpPr>
        <p:spPr>
          <a:xfrm>
            <a:off x="1863675" y="259606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1863675" y="29770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32"/>
          <p:cNvSpPr/>
          <p:nvPr/>
        </p:nvSpPr>
        <p:spPr>
          <a:xfrm>
            <a:off x="1863675" y="3448642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32"/>
          <p:cNvSpPr/>
          <p:nvPr/>
        </p:nvSpPr>
        <p:spPr>
          <a:xfrm>
            <a:off x="1863675" y="3829650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32"/>
          <p:cNvSpPr txBox="1"/>
          <p:nvPr/>
        </p:nvSpPr>
        <p:spPr>
          <a:xfrm>
            <a:off x="625875" y="2579014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32"/>
          <p:cNvSpPr txBox="1"/>
          <p:nvPr/>
        </p:nvSpPr>
        <p:spPr>
          <a:xfrm>
            <a:off x="159675" y="3646650"/>
            <a:ext cx="1295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32"/>
          <p:cNvSpPr/>
          <p:nvPr/>
        </p:nvSpPr>
        <p:spPr>
          <a:xfrm>
            <a:off x="1863675" y="21388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32"/>
          <p:cNvSpPr/>
          <p:nvPr/>
        </p:nvSpPr>
        <p:spPr>
          <a:xfrm>
            <a:off x="5555625" y="2042025"/>
            <a:ext cx="2076900" cy="4923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7703475" y="2162989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32"/>
          <p:cNvSpPr/>
          <p:nvPr/>
        </p:nvSpPr>
        <p:spPr>
          <a:xfrm>
            <a:off x="5555625" y="2534325"/>
            <a:ext cx="2076900" cy="16710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5826075" y="259606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2"/>
          <p:cNvSpPr/>
          <p:nvPr/>
        </p:nvSpPr>
        <p:spPr>
          <a:xfrm>
            <a:off x="5826075" y="29770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2"/>
          <p:cNvSpPr/>
          <p:nvPr/>
        </p:nvSpPr>
        <p:spPr>
          <a:xfrm>
            <a:off x="5826075" y="3448642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2"/>
          <p:cNvSpPr/>
          <p:nvPr/>
        </p:nvSpPr>
        <p:spPr>
          <a:xfrm>
            <a:off x="5826075" y="3829650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32"/>
          <p:cNvSpPr txBox="1"/>
          <p:nvPr/>
        </p:nvSpPr>
        <p:spPr>
          <a:xfrm>
            <a:off x="7703475" y="3234375"/>
            <a:ext cx="1295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32"/>
          <p:cNvSpPr/>
          <p:nvPr/>
        </p:nvSpPr>
        <p:spPr>
          <a:xfrm>
            <a:off x="5826075" y="21388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32"/>
          <p:cNvSpPr txBox="1"/>
          <p:nvPr/>
        </p:nvSpPr>
        <p:spPr>
          <a:xfrm>
            <a:off x="1914075" y="4362825"/>
            <a:ext cx="143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Before Offloading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32"/>
          <p:cNvSpPr txBox="1"/>
          <p:nvPr/>
        </p:nvSpPr>
        <p:spPr>
          <a:xfrm>
            <a:off x="5876475" y="4362825"/>
            <a:ext cx="143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After Offloading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2" name="Google Shape;272;p32"/>
          <p:cNvCxnSpPr/>
          <p:nvPr/>
        </p:nvCxnSpPr>
        <p:spPr>
          <a:xfrm>
            <a:off x="3821325" y="3092925"/>
            <a:ext cx="15099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Offloading</a:t>
            </a:r>
            <a:endParaRPr/>
          </a:p>
        </p:txBody>
      </p:sp>
      <p:sp>
        <p:nvSpPr>
          <p:cNvPr id="278" name="Google Shape;278;p3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Frees up CPU cycles for applications.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processing and applications no longer contend for CPU.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Efficiency.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Specialized processing in hardware can be more efficient.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Power savings.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Predictability.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 has unpredictable scheduling delays.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Hardware gives us more consistent latencies.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Optimizations at the Host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Brief History of 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Epoch 0: No 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84" name="Google Shape;284;p3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Offloading, Epoch 0:</a:t>
            </a:r>
            <a:br>
              <a:rPr lang="en" sz="3200"/>
            </a:br>
            <a:r>
              <a:rPr lang="en" sz="3200"/>
              <a:t>No Offloading</a:t>
            </a:r>
            <a:endParaRPr sz="3200"/>
          </a:p>
        </p:txBody>
      </p:sp>
      <p:sp>
        <p:nvSpPr>
          <p:cNvPr id="285" name="Google Shape;285;p3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 Before Offloading</a:t>
            </a:r>
            <a:endParaRPr/>
          </a:p>
        </p:txBody>
      </p:sp>
      <p:sp>
        <p:nvSpPr>
          <p:cNvPr id="291" name="Google Shape;291;p35"/>
          <p:cNvSpPr txBox="1"/>
          <p:nvPr>
            <p:ph idx="1" type="body"/>
          </p:nvPr>
        </p:nvSpPr>
        <p:spPr>
          <a:xfrm>
            <a:off x="107050" y="402200"/>
            <a:ext cx="8909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Before any offloading, t</a:t>
            </a:r>
            <a:r>
              <a:rPr lang="en"/>
              <a:t>he NIC is a "doormat" for packets, with minimal processing.</a:t>
            </a:r>
            <a:endParaRPr/>
          </a:p>
        </p:txBody>
      </p:sp>
      <p:sp>
        <p:nvSpPr>
          <p:cNvPr id="292" name="Google Shape;292;p35"/>
          <p:cNvSpPr txBox="1"/>
          <p:nvPr/>
        </p:nvSpPr>
        <p:spPr>
          <a:xfrm>
            <a:off x="400950" y="1078500"/>
            <a:ext cx="13167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driver is software that interacts with the NIC.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Bridges the hardware and software.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3" name="Google Shape;293;p35"/>
          <p:cNvCxnSpPr/>
          <p:nvPr/>
        </p:nvCxnSpPr>
        <p:spPr>
          <a:xfrm>
            <a:off x="1672825" y="1223425"/>
            <a:ext cx="918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" name="Google Shape;294;p35"/>
          <p:cNvSpPr txBox="1"/>
          <p:nvPr/>
        </p:nvSpPr>
        <p:spPr>
          <a:xfrm>
            <a:off x="7205650" y="2759075"/>
            <a:ext cx="1608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NIC controller manages operation on the card.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35"/>
          <p:cNvSpPr/>
          <p:nvPr/>
        </p:nvSpPr>
        <p:spPr>
          <a:xfrm>
            <a:off x="2001200" y="1642325"/>
            <a:ext cx="5068500" cy="2706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5"/>
          <p:cNvSpPr/>
          <p:nvPr/>
        </p:nvSpPr>
        <p:spPr>
          <a:xfrm>
            <a:off x="2171125" y="38145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Transceiver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35"/>
          <p:cNvSpPr/>
          <p:nvPr/>
        </p:nvSpPr>
        <p:spPr>
          <a:xfrm>
            <a:off x="2171125" y="33573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Buffer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35"/>
          <p:cNvSpPr/>
          <p:nvPr/>
        </p:nvSpPr>
        <p:spPr>
          <a:xfrm>
            <a:off x="2171125" y="29001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Remove L2 Headers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2171125" y="24429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Process Packet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2171125" y="19857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Generate Interrupt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" name="Google Shape;301;p35"/>
          <p:cNvCxnSpPr>
            <a:stCxn id="297" idx="2"/>
            <a:endCxn id="296" idx="0"/>
          </p:cNvCxnSpPr>
          <p:nvPr/>
        </p:nvCxnSpPr>
        <p:spPr>
          <a:xfrm>
            <a:off x="3029425" y="36372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35"/>
          <p:cNvCxnSpPr>
            <a:stCxn id="298" idx="2"/>
            <a:endCxn id="297" idx="0"/>
          </p:cNvCxnSpPr>
          <p:nvPr/>
        </p:nvCxnSpPr>
        <p:spPr>
          <a:xfrm>
            <a:off x="3029425" y="31800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35"/>
          <p:cNvCxnSpPr>
            <a:stCxn id="299" idx="2"/>
            <a:endCxn id="298" idx="0"/>
          </p:cNvCxnSpPr>
          <p:nvPr/>
        </p:nvCxnSpPr>
        <p:spPr>
          <a:xfrm>
            <a:off x="3029425" y="27228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5"/>
          <p:cNvCxnSpPr>
            <a:stCxn id="300" idx="2"/>
            <a:endCxn id="299" idx="0"/>
          </p:cNvCxnSpPr>
          <p:nvPr/>
        </p:nvCxnSpPr>
        <p:spPr>
          <a:xfrm>
            <a:off x="3029425" y="22656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5"/>
          <p:cNvCxnSpPr/>
          <p:nvPr/>
        </p:nvCxnSpPr>
        <p:spPr>
          <a:xfrm>
            <a:off x="3029425" y="1377900"/>
            <a:ext cx="0" cy="60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6" name="Google Shape;306;p35"/>
          <p:cNvCxnSpPr/>
          <p:nvPr/>
        </p:nvCxnSpPr>
        <p:spPr>
          <a:xfrm>
            <a:off x="3029425" y="4094400"/>
            <a:ext cx="0" cy="51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07" name="Google Shape;307;p35"/>
          <p:cNvSpPr/>
          <p:nvPr/>
        </p:nvSpPr>
        <p:spPr>
          <a:xfrm>
            <a:off x="2590825" y="1066213"/>
            <a:ext cx="4153800" cy="3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Network Driver (Software)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5"/>
          <p:cNvSpPr/>
          <p:nvPr/>
        </p:nvSpPr>
        <p:spPr>
          <a:xfrm>
            <a:off x="5219125" y="38145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Transceiver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5"/>
          <p:cNvSpPr/>
          <p:nvPr/>
        </p:nvSpPr>
        <p:spPr>
          <a:xfrm>
            <a:off x="5219125" y="32049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Construct L2 Frame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35"/>
          <p:cNvSpPr/>
          <p:nvPr/>
        </p:nvSpPr>
        <p:spPr>
          <a:xfrm>
            <a:off x="5219125" y="25953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Process Packet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35"/>
          <p:cNvSpPr/>
          <p:nvPr/>
        </p:nvSpPr>
        <p:spPr>
          <a:xfrm>
            <a:off x="5219125" y="19857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Buffer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2" name="Google Shape;312;p35"/>
          <p:cNvCxnSpPr>
            <a:stCxn id="309" idx="2"/>
            <a:endCxn id="308" idx="0"/>
          </p:cNvCxnSpPr>
          <p:nvPr/>
        </p:nvCxnSpPr>
        <p:spPr>
          <a:xfrm>
            <a:off x="6077425" y="3484800"/>
            <a:ext cx="0" cy="32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35"/>
          <p:cNvCxnSpPr>
            <a:stCxn id="310" idx="2"/>
            <a:endCxn id="309" idx="0"/>
          </p:cNvCxnSpPr>
          <p:nvPr/>
        </p:nvCxnSpPr>
        <p:spPr>
          <a:xfrm>
            <a:off x="6077425" y="2875200"/>
            <a:ext cx="0" cy="32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35"/>
          <p:cNvCxnSpPr>
            <a:stCxn id="311" idx="2"/>
            <a:endCxn id="310" idx="0"/>
          </p:cNvCxnSpPr>
          <p:nvPr/>
        </p:nvCxnSpPr>
        <p:spPr>
          <a:xfrm>
            <a:off x="6077425" y="2265600"/>
            <a:ext cx="0" cy="32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5"/>
          <p:cNvCxnSpPr/>
          <p:nvPr/>
        </p:nvCxnSpPr>
        <p:spPr>
          <a:xfrm>
            <a:off x="6077425" y="1377900"/>
            <a:ext cx="0" cy="60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35"/>
          <p:cNvCxnSpPr/>
          <p:nvPr/>
        </p:nvCxnSpPr>
        <p:spPr>
          <a:xfrm>
            <a:off x="6077425" y="4094400"/>
            <a:ext cx="0" cy="51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5"/>
          <p:cNvSpPr/>
          <p:nvPr/>
        </p:nvSpPr>
        <p:spPr>
          <a:xfrm>
            <a:off x="4086475" y="2855825"/>
            <a:ext cx="933900" cy="508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NIC Controller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5"/>
          <p:cNvSpPr/>
          <p:nvPr/>
        </p:nvSpPr>
        <p:spPr>
          <a:xfrm>
            <a:off x="2590825" y="4610913"/>
            <a:ext cx="4153800" cy="314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Ports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6"/>
          <p:cNvSpPr/>
          <p:nvPr/>
        </p:nvSpPr>
        <p:spPr>
          <a:xfrm>
            <a:off x="2001200" y="1642325"/>
            <a:ext cx="5068500" cy="2706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 Before Offloading</a:t>
            </a:r>
            <a:endParaRPr/>
          </a:p>
        </p:txBody>
      </p:sp>
      <p:sp>
        <p:nvSpPr>
          <p:cNvPr id="325" name="Google Shape;325;p36"/>
          <p:cNvSpPr txBox="1"/>
          <p:nvPr>
            <p:ph idx="1" type="body"/>
          </p:nvPr>
        </p:nvSpPr>
        <p:spPr>
          <a:xfrm>
            <a:off x="107050" y="402200"/>
            <a:ext cx="89097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NIC passes incoming packets up to CPU, and </a:t>
            </a:r>
            <a:r>
              <a:rPr lang="en"/>
              <a:t>sends out packets from CPU.</a:t>
            </a:r>
            <a:endParaRPr/>
          </a:p>
        </p:txBody>
      </p:sp>
      <p:sp>
        <p:nvSpPr>
          <p:cNvPr id="326" name="Google Shape;326;p36"/>
          <p:cNvSpPr/>
          <p:nvPr/>
        </p:nvSpPr>
        <p:spPr>
          <a:xfrm>
            <a:off x="2171125" y="38145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Transceiver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36"/>
          <p:cNvSpPr/>
          <p:nvPr/>
        </p:nvSpPr>
        <p:spPr>
          <a:xfrm>
            <a:off x="2171125" y="33573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Buffer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36"/>
          <p:cNvSpPr/>
          <p:nvPr/>
        </p:nvSpPr>
        <p:spPr>
          <a:xfrm>
            <a:off x="2171125" y="29001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Remove L2 Headers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36"/>
          <p:cNvSpPr/>
          <p:nvPr/>
        </p:nvSpPr>
        <p:spPr>
          <a:xfrm>
            <a:off x="2171125" y="24429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Process Packet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36"/>
          <p:cNvSpPr/>
          <p:nvPr/>
        </p:nvSpPr>
        <p:spPr>
          <a:xfrm>
            <a:off x="2171125" y="19857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Generate Interrupt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" name="Google Shape;331;p36"/>
          <p:cNvCxnSpPr>
            <a:stCxn id="327" idx="2"/>
            <a:endCxn id="326" idx="0"/>
          </p:cNvCxnSpPr>
          <p:nvPr/>
        </p:nvCxnSpPr>
        <p:spPr>
          <a:xfrm>
            <a:off x="3029425" y="36372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6"/>
          <p:cNvCxnSpPr>
            <a:stCxn id="328" idx="2"/>
            <a:endCxn id="327" idx="0"/>
          </p:cNvCxnSpPr>
          <p:nvPr/>
        </p:nvCxnSpPr>
        <p:spPr>
          <a:xfrm>
            <a:off x="3029425" y="31800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6"/>
          <p:cNvCxnSpPr>
            <a:stCxn id="329" idx="2"/>
            <a:endCxn id="328" idx="0"/>
          </p:cNvCxnSpPr>
          <p:nvPr/>
        </p:nvCxnSpPr>
        <p:spPr>
          <a:xfrm>
            <a:off x="3029425" y="27228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36"/>
          <p:cNvCxnSpPr>
            <a:stCxn id="330" idx="2"/>
            <a:endCxn id="329" idx="0"/>
          </p:cNvCxnSpPr>
          <p:nvPr/>
        </p:nvCxnSpPr>
        <p:spPr>
          <a:xfrm>
            <a:off x="3029425" y="2265600"/>
            <a:ext cx="0" cy="1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36"/>
          <p:cNvCxnSpPr/>
          <p:nvPr/>
        </p:nvCxnSpPr>
        <p:spPr>
          <a:xfrm>
            <a:off x="3029425" y="1377900"/>
            <a:ext cx="0" cy="60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6" name="Google Shape;336;p36"/>
          <p:cNvCxnSpPr/>
          <p:nvPr/>
        </p:nvCxnSpPr>
        <p:spPr>
          <a:xfrm>
            <a:off x="3029425" y="4094400"/>
            <a:ext cx="0" cy="51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37" name="Google Shape;337;p36"/>
          <p:cNvSpPr/>
          <p:nvPr/>
        </p:nvSpPr>
        <p:spPr>
          <a:xfrm>
            <a:off x="2590825" y="1066213"/>
            <a:ext cx="4153800" cy="314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Driver (Software)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36"/>
          <p:cNvSpPr/>
          <p:nvPr/>
        </p:nvSpPr>
        <p:spPr>
          <a:xfrm>
            <a:off x="5219125" y="38145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Transceiver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36"/>
          <p:cNvSpPr/>
          <p:nvPr/>
        </p:nvSpPr>
        <p:spPr>
          <a:xfrm>
            <a:off x="5219125" y="32049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Construct L2 Frame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6"/>
          <p:cNvSpPr/>
          <p:nvPr/>
        </p:nvSpPr>
        <p:spPr>
          <a:xfrm>
            <a:off x="5219125" y="25953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Process Packet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6"/>
          <p:cNvSpPr/>
          <p:nvPr/>
        </p:nvSpPr>
        <p:spPr>
          <a:xfrm>
            <a:off x="5219125" y="1985700"/>
            <a:ext cx="1716600" cy="2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Buffer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2" name="Google Shape;342;p36"/>
          <p:cNvCxnSpPr>
            <a:stCxn id="339" idx="2"/>
            <a:endCxn id="338" idx="0"/>
          </p:cNvCxnSpPr>
          <p:nvPr/>
        </p:nvCxnSpPr>
        <p:spPr>
          <a:xfrm>
            <a:off x="6077425" y="3484800"/>
            <a:ext cx="0" cy="32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36"/>
          <p:cNvCxnSpPr>
            <a:stCxn id="340" idx="2"/>
            <a:endCxn id="339" idx="0"/>
          </p:cNvCxnSpPr>
          <p:nvPr/>
        </p:nvCxnSpPr>
        <p:spPr>
          <a:xfrm>
            <a:off x="6077425" y="2875200"/>
            <a:ext cx="0" cy="32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36"/>
          <p:cNvCxnSpPr>
            <a:stCxn id="341" idx="2"/>
            <a:endCxn id="340" idx="0"/>
          </p:cNvCxnSpPr>
          <p:nvPr/>
        </p:nvCxnSpPr>
        <p:spPr>
          <a:xfrm>
            <a:off x="6077425" y="2265600"/>
            <a:ext cx="0" cy="32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6"/>
          <p:cNvCxnSpPr/>
          <p:nvPr/>
        </p:nvCxnSpPr>
        <p:spPr>
          <a:xfrm>
            <a:off x="6077425" y="1377900"/>
            <a:ext cx="0" cy="60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36"/>
          <p:cNvCxnSpPr/>
          <p:nvPr/>
        </p:nvCxnSpPr>
        <p:spPr>
          <a:xfrm>
            <a:off x="6077425" y="4094400"/>
            <a:ext cx="0" cy="516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36"/>
          <p:cNvSpPr/>
          <p:nvPr/>
        </p:nvSpPr>
        <p:spPr>
          <a:xfrm>
            <a:off x="4086475" y="2855825"/>
            <a:ext cx="933900" cy="508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 Controller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36"/>
          <p:cNvSpPr/>
          <p:nvPr/>
        </p:nvSpPr>
        <p:spPr>
          <a:xfrm>
            <a:off x="2590825" y="4610913"/>
            <a:ext cx="4153800" cy="314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Ports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36"/>
          <p:cNvSpPr txBox="1"/>
          <p:nvPr/>
        </p:nvSpPr>
        <p:spPr>
          <a:xfrm>
            <a:off x="234300" y="3711300"/>
            <a:ext cx="1588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Convert electrical signals into bits.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0" name="Google Shape;350;p36"/>
          <p:cNvCxnSpPr/>
          <p:nvPr/>
        </p:nvCxnSpPr>
        <p:spPr>
          <a:xfrm rot="10800000">
            <a:off x="1881550" y="1931525"/>
            <a:ext cx="0" cy="2357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1" name="Google Shape;351;p36"/>
          <p:cNvSpPr txBox="1"/>
          <p:nvPr/>
        </p:nvSpPr>
        <p:spPr>
          <a:xfrm>
            <a:off x="234300" y="3085950"/>
            <a:ext cx="1588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Buffer bits until we can process them.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6"/>
          <p:cNvSpPr txBox="1"/>
          <p:nvPr/>
        </p:nvSpPr>
        <p:spPr>
          <a:xfrm>
            <a:off x="234300" y="2676000"/>
            <a:ext cx="1451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Process Layer 2.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36"/>
          <p:cNvSpPr txBox="1"/>
          <p:nvPr/>
        </p:nvSpPr>
        <p:spPr>
          <a:xfrm>
            <a:off x="234300" y="1990200"/>
            <a:ext cx="1588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Interrupt CPU to give packet to CPU.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36"/>
          <p:cNvSpPr txBox="1"/>
          <p:nvPr/>
        </p:nvSpPr>
        <p:spPr>
          <a:xfrm>
            <a:off x="7320900" y="3711300"/>
            <a:ext cx="1488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Convert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bits into electrical signals.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5" name="Google Shape;355;p36"/>
          <p:cNvCxnSpPr/>
          <p:nvPr/>
        </p:nvCxnSpPr>
        <p:spPr>
          <a:xfrm rot="10800000">
            <a:off x="7215550" y="1857125"/>
            <a:ext cx="0" cy="2431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56" name="Google Shape;356;p36"/>
          <p:cNvSpPr txBox="1"/>
          <p:nvPr/>
        </p:nvSpPr>
        <p:spPr>
          <a:xfrm>
            <a:off x="7320900" y="2862175"/>
            <a:ext cx="1451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Process Layer 2.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6"/>
          <p:cNvSpPr txBox="1"/>
          <p:nvPr/>
        </p:nvSpPr>
        <p:spPr>
          <a:xfrm>
            <a:off x="7320900" y="1882500"/>
            <a:ext cx="15888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Buffer packets from CPU until we can process them.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Optimizations at the Host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Brief History of 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Epoch 1: Stateless Operations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63" name="Google Shape;363;p3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Offloading, Epoch 1:</a:t>
            </a:r>
            <a:br>
              <a:rPr lang="en" sz="3200"/>
            </a:br>
            <a:r>
              <a:rPr lang="en" sz="3200"/>
              <a:t>Stateless Operations</a:t>
            </a:r>
            <a:endParaRPr sz="3200"/>
          </a:p>
        </p:txBody>
      </p:sp>
      <p:sp>
        <p:nvSpPr>
          <p:cNvPr id="364" name="Google Shape;364;p3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"/>
          <p:cNvSpPr/>
          <p:nvPr/>
        </p:nvSpPr>
        <p:spPr>
          <a:xfrm>
            <a:off x="6292600" y="3753200"/>
            <a:ext cx="1611600" cy="613800"/>
          </a:xfrm>
          <a:prstGeom prst="roundRect">
            <a:avLst>
              <a:gd fmla="val 1009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Epoch 3: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RDMA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Offloading</a:t>
            </a:r>
            <a:endParaRPr/>
          </a:p>
        </p:txBody>
      </p:sp>
      <p:sp>
        <p:nvSpPr>
          <p:cNvPr id="371" name="Google Shape;371;p38"/>
          <p:cNvSpPr txBox="1"/>
          <p:nvPr>
            <p:ph idx="1" type="body"/>
          </p:nvPr>
        </p:nvSpPr>
        <p:spPr>
          <a:xfrm>
            <a:off x="107050" y="402200"/>
            <a:ext cx="8909700" cy="20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Over time, increasingly complicated operations were offloaded to the NIC.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Epoch 1: Simple stateless operations.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Epoch 2: Stateful operations.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Epoch 3: Protocols like RDMA.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72" name="Google Shape;372;p38"/>
          <p:cNvSpPr/>
          <p:nvPr/>
        </p:nvSpPr>
        <p:spPr>
          <a:xfrm>
            <a:off x="2896000" y="2457800"/>
            <a:ext cx="1611600" cy="305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 Networking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8"/>
          <p:cNvSpPr/>
          <p:nvPr/>
        </p:nvSpPr>
        <p:spPr>
          <a:xfrm>
            <a:off x="1219600" y="3067400"/>
            <a:ext cx="1611600" cy="305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Shared 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38"/>
          <p:cNvSpPr/>
          <p:nvPr/>
        </p:nvSpPr>
        <p:spPr>
          <a:xfrm>
            <a:off x="4813900" y="3067400"/>
            <a:ext cx="1128600" cy="305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Offloading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" name="Google Shape;375;p38"/>
          <p:cNvCxnSpPr>
            <a:stCxn id="372" idx="2"/>
            <a:endCxn id="373" idx="0"/>
          </p:cNvCxnSpPr>
          <p:nvPr/>
        </p:nvCxnSpPr>
        <p:spPr>
          <a:xfrm flipH="1">
            <a:off x="2025400" y="2763200"/>
            <a:ext cx="1676400" cy="30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38"/>
          <p:cNvCxnSpPr>
            <a:stCxn id="372" idx="2"/>
            <a:endCxn id="374" idx="0"/>
          </p:cNvCxnSpPr>
          <p:nvPr/>
        </p:nvCxnSpPr>
        <p:spPr>
          <a:xfrm>
            <a:off x="3701800" y="2763200"/>
            <a:ext cx="1676400" cy="30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8"/>
          <p:cNvSpPr/>
          <p:nvPr/>
        </p:nvSpPr>
        <p:spPr>
          <a:xfrm>
            <a:off x="2852200" y="3753200"/>
            <a:ext cx="1611600" cy="944100"/>
          </a:xfrm>
          <a:prstGeom prst="roundRect">
            <a:avLst>
              <a:gd fmla="val 6459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Epoch 1: Stateless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Checksum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Segmentation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Multi-queue support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8"/>
          <p:cNvSpPr/>
          <p:nvPr/>
        </p:nvSpPr>
        <p:spPr>
          <a:xfrm>
            <a:off x="4572400" y="3753200"/>
            <a:ext cx="1611600" cy="944100"/>
          </a:xfrm>
          <a:prstGeom prst="roundRect">
            <a:avLst>
              <a:gd fmla="val 6856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Epoch 2: Stateful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Virtualization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Load balancing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– Firewalls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" name="Google Shape;379;p38"/>
          <p:cNvCxnSpPr>
            <a:stCxn id="374" idx="2"/>
            <a:endCxn id="377" idx="0"/>
          </p:cNvCxnSpPr>
          <p:nvPr/>
        </p:nvCxnSpPr>
        <p:spPr>
          <a:xfrm flipH="1">
            <a:off x="3658000" y="3372800"/>
            <a:ext cx="1720200" cy="3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38"/>
          <p:cNvCxnSpPr>
            <a:stCxn id="374" idx="2"/>
            <a:endCxn id="378" idx="0"/>
          </p:cNvCxnSpPr>
          <p:nvPr/>
        </p:nvCxnSpPr>
        <p:spPr>
          <a:xfrm>
            <a:off x="5378200" y="3372800"/>
            <a:ext cx="0" cy="3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8"/>
          <p:cNvCxnSpPr>
            <a:stCxn id="374" idx="2"/>
            <a:endCxn id="369" idx="0"/>
          </p:cNvCxnSpPr>
          <p:nvPr/>
        </p:nvCxnSpPr>
        <p:spPr>
          <a:xfrm>
            <a:off x="5378200" y="3372800"/>
            <a:ext cx="1720200" cy="3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Epoch 1 Offloads (</a:t>
            </a:r>
            <a:r>
              <a:rPr lang="en"/>
              <a:t>1/3</a:t>
            </a:r>
            <a:r>
              <a:rPr lang="en"/>
              <a:t>): Checksum</a:t>
            </a:r>
            <a:endParaRPr/>
          </a:p>
        </p:txBody>
      </p:sp>
      <p:sp>
        <p:nvSpPr>
          <p:cNvPr id="387" name="Google Shape;387;p3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NIC can </a:t>
            </a:r>
            <a:r>
              <a:rPr i="1" lang="en"/>
              <a:t>set</a:t>
            </a:r>
            <a:r>
              <a:rPr lang="en"/>
              <a:t> Layer 4 checksum for </a:t>
            </a:r>
            <a:r>
              <a:rPr i="1" lang="en"/>
              <a:t>outgoing</a:t>
            </a:r>
            <a:r>
              <a:rPr lang="en"/>
              <a:t>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NIC can </a:t>
            </a:r>
            <a:r>
              <a:rPr i="1" lang="en"/>
              <a:t>verify</a:t>
            </a:r>
            <a:r>
              <a:rPr lang="en"/>
              <a:t> Layer 4 checksum for </a:t>
            </a:r>
            <a:r>
              <a:rPr i="1" lang="en"/>
              <a:t>incoming</a:t>
            </a:r>
            <a:r>
              <a:rPr lang="en"/>
              <a:t>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CPU tells the NIC where to read/write the checksum.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Epoch 1 Offloads (2/3): Segmentation</a:t>
            </a:r>
            <a:endParaRPr/>
          </a:p>
        </p:txBody>
      </p:sp>
      <p:sp>
        <p:nvSpPr>
          <p:cNvPr id="393" name="Google Shape;393;p40"/>
          <p:cNvSpPr txBox="1"/>
          <p:nvPr>
            <p:ph idx="1" type="body"/>
          </p:nvPr>
        </p:nvSpPr>
        <p:spPr>
          <a:xfrm>
            <a:off x="107050" y="402200"/>
            <a:ext cx="8909700" cy="13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CPU can offload segmentation work (splitting and reassembling packets) to the NIC.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 handles a few large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NIC handles lots of small packets.</a:t>
            </a:r>
            <a:endParaRPr/>
          </a:p>
        </p:txBody>
      </p:sp>
      <p:sp>
        <p:nvSpPr>
          <p:cNvPr id="394" name="Google Shape;394;p40"/>
          <p:cNvSpPr/>
          <p:nvPr/>
        </p:nvSpPr>
        <p:spPr>
          <a:xfrm>
            <a:off x="2222400" y="2158700"/>
            <a:ext cx="911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40"/>
          <p:cNvSpPr/>
          <p:nvPr/>
        </p:nvSpPr>
        <p:spPr>
          <a:xfrm>
            <a:off x="2222400" y="3301700"/>
            <a:ext cx="911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40"/>
          <p:cNvSpPr/>
          <p:nvPr/>
        </p:nvSpPr>
        <p:spPr>
          <a:xfrm>
            <a:off x="3133500" y="3301700"/>
            <a:ext cx="12627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40"/>
          <p:cNvSpPr/>
          <p:nvPr/>
        </p:nvSpPr>
        <p:spPr>
          <a:xfrm>
            <a:off x="3133500" y="2158700"/>
            <a:ext cx="3788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40"/>
          <p:cNvSpPr/>
          <p:nvPr/>
        </p:nvSpPr>
        <p:spPr>
          <a:xfrm>
            <a:off x="4396200" y="3758900"/>
            <a:ext cx="12627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40"/>
          <p:cNvSpPr/>
          <p:nvPr/>
        </p:nvSpPr>
        <p:spPr>
          <a:xfrm>
            <a:off x="5658900" y="4216100"/>
            <a:ext cx="12627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40"/>
          <p:cNvSpPr/>
          <p:nvPr/>
        </p:nvSpPr>
        <p:spPr>
          <a:xfrm>
            <a:off x="3485100" y="3758900"/>
            <a:ext cx="911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40"/>
          <p:cNvSpPr/>
          <p:nvPr/>
        </p:nvSpPr>
        <p:spPr>
          <a:xfrm>
            <a:off x="4747800" y="4216100"/>
            <a:ext cx="911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Header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40"/>
          <p:cNvSpPr txBox="1"/>
          <p:nvPr/>
        </p:nvSpPr>
        <p:spPr>
          <a:xfrm>
            <a:off x="455563" y="4097600"/>
            <a:ext cx="1329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CPU to NIC: Split up packet.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3" name="Google Shape;403;p40"/>
          <p:cNvCxnSpPr/>
          <p:nvPr/>
        </p:nvCxnSpPr>
        <p:spPr>
          <a:xfrm>
            <a:off x="1549175" y="2355500"/>
            <a:ext cx="13500" cy="1600200"/>
          </a:xfrm>
          <a:prstGeom prst="curvedConnector3">
            <a:avLst>
              <a:gd fmla="val -6452778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4" name="Google Shape;404;p40"/>
          <p:cNvSpPr txBox="1"/>
          <p:nvPr/>
        </p:nvSpPr>
        <p:spPr>
          <a:xfrm>
            <a:off x="7389763" y="4097600"/>
            <a:ext cx="13296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NIC to CPU: Reassemble packet.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5" name="Google Shape;405;p40"/>
          <p:cNvCxnSpPr/>
          <p:nvPr/>
        </p:nvCxnSpPr>
        <p:spPr>
          <a:xfrm flipH="1">
            <a:off x="7612245" y="2355500"/>
            <a:ext cx="13500" cy="1600200"/>
          </a:xfrm>
          <a:prstGeom prst="curvedConnector3">
            <a:avLst>
              <a:gd fmla="val -6452778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Epoch 1 Offloads (2/3): Segmentation</a:t>
            </a:r>
            <a:endParaRPr/>
          </a:p>
        </p:txBody>
      </p:sp>
      <p:sp>
        <p:nvSpPr>
          <p:cNvPr id="411" name="Google Shape;411;p4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Segmentation comes with trade-offs.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segmentation: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Less work for CPU to 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 hands large packets to NIC. Traffic is more bursty.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Without segmentation: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work for CPU to do.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 hands small packets to NIC. Traffic is smoother.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2"/>
          <p:cNvSpPr/>
          <p:nvPr/>
        </p:nvSpPr>
        <p:spPr>
          <a:xfrm>
            <a:off x="5743750" y="1297100"/>
            <a:ext cx="3286800" cy="137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Driver (software)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42"/>
          <p:cNvSpPr/>
          <p:nvPr/>
        </p:nvSpPr>
        <p:spPr>
          <a:xfrm>
            <a:off x="5743750" y="2667500"/>
            <a:ext cx="3286800" cy="137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Epoch 1 Offloads (3/3): Multi-Queue Support</a:t>
            </a:r>
            <a:endParaRPr/>
          </a:p>
        </p:txBody>
      </p:sp>
      <p:sp>
        <p:nvSpPr>
          <p:cNvPr id="419" name="Google Shape;419;p42"/>
          <p:cNvSpPr txBox="1"/>
          <p:nvPr>
            <p:ph idx="1" type="body"/>
          </p:nvPr>
        </p:nvSpPr>
        <p:spPr>
          <a:xfrm>
            <a:off x="107050" y="402200"/>
            <a:ext cx="5295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Without offloading: NIC has 1 transmit queue and 1 receive queue.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Network driver is responsible for isolation and load balancing in a multi-processor system (multiple CPUs).</a:t>
            </a:r>
            <a:endParaRPr/>
          </a:p>
        </p:txBody>
      </p:sp>
      <p:sp>
        <p:nvSpPr>
          <p:cNvPr id="420" name="Google Shape;420;p42"/>
          <p:cNvSpPr/>
          <p:nvPr/>
        </p:nvSpPr>
        <p:spPr>
          <a:xfrm>
            <a:off x="64724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42"/>
          <p:cNvSpPr/>
          <p:nvPr/>
        </p:nvSpPr>
        <p:spPr>
          <a:xfrm rot="10800000">
            <a:off x="79293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Epoch 1 Offloads (3/3): Multi-Queue Support</a:t>
            </a:r>
            <a:endParaRPr/>
          </a:p>
        </p:txBody>
      </p:sp>
      <p:sp>
        <p:nvSpPr>
          <p:cNvPr id="427" name="Google Shape;427;p43"/>
          <p:cNvSpPr txBox="1"/>
          <p:nvPr>
            <p:ph idx="1" type="body"/>
          </p:nvPr>
        </p:nvSpPr>
        <p:spPr>
          <a:xfrm>
            <a:off x="107050" y="402200"/>
            <a:ext cx="4382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Multiple transmit queues.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 scheduler decides which queue to send from next.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Multiple receive queues.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Hash packets (like ECMP, equal-cost multi-path routing) to decide which CPU handles the packet.</a:t>
            </a:r>
            <a:endParaRPr/>
          </a:p>
        </p:txBody>
      </p:sp>
      <p:sp>
        <p:nvSpPr>
          <p:cNvPr id="428" name="Google Shape;428;p43"/>
          <p:cNvSpPr/>
          <p:nvPr/>
        </p:nvSpPr>
        <p:spPr>
          <a:xfrm>
            <a:off x="5743750" y="1297100"/>
            <a:ext cx="3286800" cy="137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Driver (software)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43"/>
          <p:cNvSpPr/>
          <p:nvPr/>
        </p:nvSpPr>
        <p:spPr>
          <a:xfrm>
            <a:off x="5743750" y="2667500"/>
            <a:ext cx="3286800" cy="137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43"/>
          <p:cNvSpPr/>
          <p:nvPr/>
        </p:nvSpPr>
        <p:spPr>
          <a:xfrm>
            <a:off x="64724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43"/>
          <p:cNvSpPr/>
          <p:nvPr/>
        </p:nvSpPr>
        <p:spPr>
          <a:xfrm>
            <a:off x="69296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43"/>
          <p:cNvSpPr/>
          <p:nvPr/>
        </p:nvSpPr>
        <p:spPr>
          <a:xfrm>
            <a:off x="60152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43"/>
          <p:cNvSpPr/>
          <p:nvPr/>
        </p:nvSpPr>
        <p:spPr>
          <a:xfrm>
            <a:off x="5859100" y="3207500"/>
            <a:ext cx="1615200" cy="3291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 scheduler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43"/>
          <p:cNvSpPr/>
          <p:nvPr/>
        </p:nvSpPr>
        <p:spPr>
          <a:xfrm rot="10800000">
            <a:off x="79293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43"/>
          <p:cNvSpPr/>
          <p:nvPr/>
        </p:nvSpPr>
        <p:spPr>
          <a:xfrm rot="10800000">
            <a:off x="74721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43"/>
          <p:cNvSpPr/>
          <p:nvPr/>
        </p:nvSpPr>
        <p:spPr>
          <a:xfrm rot="10800000">
            <a:off x="83865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43"/>
          <p:cNvSpPr/>
          <p:nvPr/>
        </p:nvSpPr>
        <p:spPr>
          <a:xfrm>
            <a:off x="7316025" y="1741550"/>
            <a:ext cx="1615200" cy="3291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Hash to pick 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Epoch 1 Offloads (3/3): Multi-Queue Support</a:t>
            </a:r>
            <a:endParaRPr/>
          </a:p>
        </p:txBody>
      </p:sp>
      <p:sp>
        <p:nvSpPr>
          <p:cNvPr id="443" name="Google Shape;443;p44"/>
          <p:cNvSpPr txBox="1"/>
          <p:nvPr>
            <p:ph idx="1" type="body"/>
          </p:nvPr>
        </p:nvSpPr>
        <p:spPr>
          <a:xfrm>
            <a:off x="107050" y="402200"/>
            <a:ext cx="4382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Benefits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Ensures isolation: Specific flows can use a dedicated queue.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 load-balancing: Heavy traffic in one queue doesn't affect others.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prioritize specific flows.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ensure packets in the same flow use the same queue, to avoid out-of-order packets (which slows down TCP).</a:t>
            </a:r>
            <a:endParaRPr/>
          </a:p>
        </p:txBody>
      </p:sp>
      <p:sp>
        <p:nvSpPr>
          <p:cNvPr id="444" name="Google Shape;444;p44"/>
          <p:cNvSpPr/>
          <p:nvPr/>
        </p:nvSpPr>
        <p:spPr>
          <a:xfrm>
            <a:off x="5743750" y="1297100"/>
            <a:ext cx="3286800" cy="137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Driver (software)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44"/>
          <p:cNvSpPr/>
          <p:nvPr/>
        </p:nvSpPr>
        <p:spPr>
          <a:xfrm>
            <a:off x="5743750" y="2667500"/>
            <a:ext cx="3286800" cy="137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 (hardware)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44"/>
          <p:cNvSpPr/>
          <p:nvPr/>
        </p:nvSpPr>
        <p:spPr>
          <a:xfrm>
            <a:off x="64724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44"/>
          <p:cNvSpPr/>
          <p:nvPr/>
        </p:nvSpPr>
        <p:spPr>
          <a:xfrm>
            <a:off x="69296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44"/>
          <p:cNvSpPr/>
          <p:nvPr/>
        </p:nvSpPr>
        <p:spPr>
          <a:xfrm>
            <a:off x="6015250" y="1867400"/>
            <a:ext cx="388500" cy="126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44"/>
          <p:cNvSpPr/>
          <p:nvPr/>
        </p:nvSpPr>
        <p:spPr>
          <a:xfrm>
            <a:off x="5859100" y="3207500"/>
            <a:ext cx="1615200" cy="3291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 scheduler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44"/>
          <p:cNvSpPr/>
          <p:nvPr/>
        </p:nvSpPr>
        <p:spPr>
          <a:xfrm rot="10800000">
            <a:off x="79293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44"/>
          <p:cNvSpPr/>
          <p:nvPr/>
        </p:nvSpPr>
        <p:spPr>
          <a:xfrm rot="10800000">
            <a:off x="74721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44"/>
          <p:cNvSpPr/>
          <p:nvPr/>
        </p:nvSpPr>
        <p:spPr>
          <a:xfrm rot="10800000">
            <a:off x="8386575" y="2149400"/>
            <a:ext cx="388500" cy="1318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44"/>
          <p:cNvSpPr/>
          <p:nvPr/>
        </p:nvSpPr>
        <p:spPr>
          <a:xfrm>
            <a:off x="7316025" y="1741550"/>
            <a:ext cx="1615200" cy="3291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Hash to pick 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Optimizations at the Host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Brief History of 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Epoch 2: Stateful Operations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459" name="Google Shape;459;p4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Offloading, Epoch 2:</a:t>
            </a:r>
            <a:br>
              <a:rPr lang="en" sz="3200"/>
            </a:br>
            <a:r>
              <a:rPr lang="en" sz="3200"/>
              <a:t>Stateful Operations</a:t>
            </a:r>
            <a:endParaRPr sz="3200"/>
          </a:p>
        </p:txBody>
      </p:sp>
      <p:sp>
        <p:nvSpPr>
          <p:cNvPr id="460" name="Google Shape;460;p4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Epoch 2: Stateful Offloads with Match-Action Tables</a:t>
            </a:r>
            <a:endParaRPr/>
          </a:p>
        </p:txBody>
      </p:sp>
      <p:sp>
        <p:nvSpPr>
          <p:cNvPr id="466" name="Google Shape;466;p46"/>
          <p:cNvSpPr txBox="1"/>
          <p:nvPr>
            <p:ph idx="1" type="body"/>
          </p:nvPr>
        </p:nvSpPr>
        <p:spPr>
          <a:xfrm>
            <a:off x="107050" y="402200"/>
            <a:ext cx="8909700" cy="23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Stateful operations to offload: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Virtualization</a:t>
            </a:r>
            <a:r>
              <a:rPr lang="en"/>
              <a:t>: Virtual switch forwarding packets to/from VMs.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Bandwidth metering</a:t>
            </a:r>
            <a:r>
              <a:rPr lang="en"/>
              <a:t>: If user sends too many packets, drop the excess.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Firewalls</a:t>
            </a:r>
            <a:r>
              <a:rPr lang="en"/>
              <a:t>: Drop packets from malicious users.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Behavior specified by match-action tables (like OpenFlow).</a:t>
            </a:r>
            <a:endParaRPr/>
          </a:p>
        </p:txBody>
      </p:sp>
      <p:graphicFrame>
        <p:nvGraphicFramePr>
          <p:cNvPr id="467" name="Google Shape;467;p46"/>
          <p:cNvGraphicFramePr/>
          <p:nvPr/>
        </p:nvGraphicFramePr>
        <p:xfrm>
          <a:off x="1548725" y="305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{F7273617-2C7C-4E04-93E8-3D498457EE05}</a:tableStyleId>
              </a:tblPr>
              <a:tblGrid>
                <a:gridCol w="3012200"/>
                <a:gridCol w="3014150"/>
              </a:tblGrid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Match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Action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= 10.1.8.9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Add encapsulation header, forward.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5-tuple matches</a:t>
                      </a:r>
                      <a:b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(10.1.2.3, 50000, TCP, 24.1.3.0, 80)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Allow 100 packets per minute.</a:t>
                      </a:r>
                      <a:b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 excess.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 IP = 76.124.1.2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Malicious source. Drop.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Optimizations at the Host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Brief History of 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Epoch 3: Protocols (RDMA)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RDMA Example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473" name="Google Shape;473;p4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Offloading, Epoch 3:</a:t>
            </a:r>
            <a:br>
              <a:rPr lang="en" sz="3200"/>
            </a:br>
            <a:r>
              <a:rPr lang="en" sz="3200"/>
              <a:t>Protocols (RDMA)</a:t>
            </a:r>
            <a:endParaRPr sz="3200"/>
          </a:p>
        </p:txBody>
      </p:sp>
      <p:sp>
        <p:nvSpPr>
          <p:cNvPr id="474" name="Google Shape;474;p4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8"/>
          <p:cNvSpPr/>
          <p:nvPr/>
        </p:nvSpPr>
        <p:spPr>
          <a:xfrm>
            <a:off x="1593225" y="2042025"/>
            <a:ext cx="2076900" cy="13449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Epoch 3: Protocols</a:t>
            </a:r>
            <a:endParaRPr/>
          </a:p>
        </p:txBody>
      </p:sp>
      <p:sp>
        <p:nvSpPr>
          <p:cNvPr id="481" name="Google Shape;481;p48"/>
          <p:cNvSpPr txBox="1"/>
          <p:nvPr>
            <p:ph idx="1" type="body"/>
          </p:nvPr>
        </p:nvSpPr>
        <p:spPr>
          <a:xfrm>
            <a:off x="107050" y="402200"/>
            <a:ext cx="8909700" cy="15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 Offload entire protocols, like TCP, into hardware.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Active area of research!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implementing TCP in hardware, design custom protocols for hardware.</a:t>
            </a:r>
            <a:endParaRPr/>
          </a:p>
        </p:txBody>
      </p:sp>
      <p:sp>
        <p:nvSpPr>
          <p:cNvPr id="482" name="Google Shape;482;p48"/>
          <p:cNvSpPr/>
          <p:nvPr/>
        </p:nvSpPr>
        <p:spPr>
          <a:xfrm>
            <a:off x="1593225" y="3386825"/>
            <a:ext cx="2076900" cy="8184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3" name="Google Shape;483;p48"/>
          <p:cNvSpPr/>
          <p:nvPr/>
        </p:nvSpPr>
        <p:spPr>
          <a:xfrm>
            <a:off x="1863675" y="259606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" name="Google Shape;484;p48"/>
          <p:cNvSpPr/>
          <p:nvPr/>
        </p:nvSpPr>
        <p:spPr>
          <a:xfrm>
            <a:off x="1863675" y="29770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48"/>
          <p:cNvSpPr/>
          <p:nvPr/>
        </p:nvSpPr>
        <p:spPr>
          <a:xfrm>
            <a:off x="1863675" y="3448642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48"/>
          <p:cNvSpPr/>
          <p:nvPr/>
        </p:nvSpPr>
        <p:spPr>
          <a:xfrm>
            <a:off x="1863675" y="3829650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48"/>
          <p:cNvSpPr txBox="1"/>
          <p:nvPr/>
        </p:nvSpPr>
        <p:spPr>
          <a:xfrm>
            <a:off x="625875" y="2579014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48"/>
          <p:cNvSpPr txBox="1"/>
          <p:nvPr/>
        </p:nvSpPr>
        <p:spPr>
          <a:xfrm>
            <a:off x="159675" y="3646650"/>
            <a:ext cx="1295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48"/>
          <p:cNvSpPr/>
          <p:nvPr/>
        </p:nvSpPr>
        <p:spPr>
          <a:xfrm>
            <a:off x="1863675" y="21388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48"/>
          <p:cNvSpPr/>
          <p:nvPr/>
        </p:nvSpPr>
        <p:spPr>
          <a:xfrm>
            <a:off x="5555625" y="2042025"/>
            <a:ext cx="2076900" cy="4923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48"/>
          <p:cNvSpPr txBox="1"/>
          <p:nvPr/>
        </p:nvSpPr>
        <p:spPr>
          <a:xfrm>
            <a:off x="7703475" y="2162989"/>
            <a:ext cx="828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48"/>
          <p:cNvSpPr/>
          <p:nvPr/>
        </p:nvSpPr>
        <p:spPr>
          <a:xfrm>
            <a:off x="5555625" y="2534325"/>
            <a:ext cx="2076900" cy="1671000"/>
          </a:xfrm>
          <a:prstGeom prst="roundRect">
            <a:avLst>
              <a:gd fmla="val 0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48"/>
          <p:cNvSpPr/>
          <p:nvPr/>
        </p:nvSpPr>
        <p:spPr>
          <a:xfrm>
            <a:off x="5826075" y="259606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 (TCP)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48"/>
          <p:cNvSpPr/>
          <p:nvPr/>
        </p:nvSpPr>
        <p:spPr>
          <a:xfrm>
            <a:off x="5826075" y="29770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 (IP)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48"/>
          <p:cNvSpPr/>
          <p:nvPr/>
        </p:nvSpPr>
        <p:spPr>
          <a:xfrm>
            <a:off x="5826075" y="3448642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2 (Ethernet)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48"/>
          <p:cNvSpPr/>
          <p:nvPr/>
        </p:nvSpPr>
        <p:spPr>
          <a:xfrm>
            <a:off x="5826075" y="3829650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Layer 1 (physical)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48"/>
          <p:cNvSpPr txBox="1"/>
          <p:nvPr/>
        </p:nvSpPr>
        <p:spPr>
          <a:xfrm>
            <a:off x="7703475" y="3234375"/>
            <a:ext cx="1295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Hardware (NIC)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48"/>
          <p:cNvSpPr/>
          <p:nvPr/>
        </p:nvSpPr>
        <p:spPr>
          <a:xfrm>
            <a:off x="5826075" y="2138851"/>
            <a:ext cx="1536000" cy="3192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 (HTTP)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48"/>
          <p:cNvSpPr txBox="1"/>
          <p:nvPr/>
        </p:nvSpPr>
        <p:spPr>
          <a:xfrm>
            <a:off x="1914075" y="4362825"/>
            <a:ext cx="143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Before Offloading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48"/>
          <p:cNvSpPr txBox="1"/>
          <p:nvPr/>
        </p:nvSpPr>
        <p:spPr>
          <a:xfrm>
            <a:off x="5876475" y="4362825"/>
            <a:ext cx="143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After Offloading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1" name="Google Shape;501;p48"/>
          <p:cNvCxnSpPr/>
          <p:nvPr/>
        </p:nvCxnSpPr>
        <p:spPr>
          <a:xfrm>
            <a:off x="3821325" y="3092925"/>
            <a:ext cx="15099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9"/>
          <p:cNvSpPr/>
          <p:nvPr/>
        </p:nvSpPr>
        <p:spPr>
          <a:xfrm>
            <a:off x="1070925" y="3183501"/>
            <a:ext cx="26454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RDMA: Remote Direct Memory Access</a:t>
            </a:r>
            <a:endParaRPr/>
          </a:p>
        </p:txBody>
      </p:sp>
      <p:sp>
        <p:nvSpPr>
          <p:cNvPr id="508" name="Google Shape;508;p49"/>
          <p:cNvSpPr txBox="1"/>
          <p:nvPr>
            <p:ph idx="1" type="body"/>
          </p:nvPr>
        </p:nvSpPr>
        <p:spPr>
          <a:xfrm>
            <a:off x="107050" y="402200"/>
            <a:ext cx="8909700" cy="24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Transferring a file with traditional TCP/IP networking stack: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CPU reads file from memory.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CPU sends out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Recipient CPU processes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Recipient CPU writes file to memory.</a:t>
            </a:r>
            <a:endParaRPr/>
          </a:p>
        </p:txBody>
      </p:sp>
      <p:sp>
        <p:nvSpPr>
          <p:cNvPr id="509" name="Google Shape;509;p49"/>
          <p:cNvSpPr/>
          <p:nvPr/>
        </p:nvSpPr>
        <p:spPr>
          <a:xfrm>
            <a:off x="2591850" y="3345925"/>
            <a:ext cx="908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49"/>
          <p:cNvSpPr/>
          <p:nvPr/>
        </p:nvSpPr>
        <p:spPr>
          <a:xfrm>
            <a:off x="2591850" y="4031725"/>
            <a:ext cx="9081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49"/>
          <p:cNvSpPr/>
          <p:nvPr/>
        </p:nvSpPr>
        <p:spPr>
          <a:xfrm>
            <a:off x="1226550" y="3504475"/>
            <a:ext cx="908100" cy="609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49"/>
          <p:cNvSpPr/>
          <p:nvPr/>
        </p:nvSpPr>
        <p:spPr>
          <a:xfrm>
            <a:off x="5407450" y="3183501"/>
            <a:ext cx="26454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49"/>
          <p:cNvSpPr/>
          <p:nvPr/>
        </p:nvSpPr>
        <p:spPr>
          <a:xfrm>
            <a:off x="5556775" y="3345925"/>
            <a:ext cx="908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49"/>
          <p:cNvSpPr/>
          <p:nvPr/>
        </p:nvSpPr>
        <p:spPr>
          <a:xfrm>
            <a:off x="5556775" y="4031725"/>
            <a:ext cx="9081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49"/>
          <p:cNvSpPr/>
          <p:nvPr/>
        </p:nvSpPr>
        <p:spPr>
          <a:xfrm>
            <a:off x="6934675" y="3504475"/>
            <a:ext cx="908100" cy="609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" name="Google Shape;516;p49"/>
          <p:cNvCxnSpPr>
            <a:stCxn id="511" idx="3"/>
            <a:endCxn id="509" idx="1"/>
          </p:cNvCxnSpPr>
          <p:nvPr/>
        </p:nvCxnSpPr>
        <p:spPr>
          <a:xfrm flipH="1" rot="10800000">
            <a:off x="2134650" y="3542725"/>
            <a:ext cx="457200" cy="2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49"/>
          <p:cNvCxnSpPr>
            <a:stCxn id="509" idx="2"/>
            <a:endCxn id="510" idx="0"/>
          </p:cNvCxnSpPr>
          <p:nvPr/>
        </p:nvCxnSpPr>
        <p:spPr>
          <a:xfrm>
            <a:off x="3045900" y="3739525"/>
            <a:ext cx="0" cy="29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49"/>
          <p:cNvCxnSpPr>
            <a:stCxn id="510" idx="3"/>
            <a:endCxn id="514" idx="1"/>
          </p:cNvCxnSpPr>
          <p:nvPr/>
        </p:nvCxnSpPr>
        <p:spPr>
          <a:xfrm>
            <a:off x="3499950" y="4228525"/>
            <a:ext cx="2056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49"/>
          <p:cNvCxnSpPr>
            <a:stCxn id="514" idx="0"/>
            <a:endCxn id="513" idx="2"/>
          </p:cNvCxnSpPr>
          <p:nvPr/>
        </p:nvCxnSpPr>
        <p:spPr>
          <a:xfrm rot="10800000">
            <a:off x="6010825" y="3739525"/>
            <a:ext cx="0" cy="292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49"/>
          <p:cNvCxnSpPr>
            <a:stCxn id="513" idx="3"/>
            <a:endCxn id="515" idx="1"/>
          </p:cNvCxnSpPr>
          <p:nvPr/>
        </p:nvCxnSpPr>
        <p:spPr>
          <a:xfrm>
            <a:off x="6464875" y="3542725"/>
            <a:ext cx="469800" cy="26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1" name="Google Shape;521;p49"/>
          <p:cNvSpPr txBox="1"/>
          <p:nvPr/>
        </p:nvSpPr>
        <p:spPr>
          <a:xfrm>
            <a:off x="2649138" y="4716150"/>
            <a:ext cx="384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Without RDMA: CPU involved in data transfer.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0"/>
          <p:cNvSpPr/>
          <p:nvPr/>
        </p:nvSpPr>
        <p:spPr>
          <a:xfrm>
            <a:off x="1070925" y="3183501"/>
            <a:ext cx="26454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50"/>
          <p:cNvSpPr/>
          <p:nvPr/>
        </p:nvSpPr>
        <p:spPr>
          <a:xfrm>
            <a:off x="5407450" y="3183501"/>
            <a:ext cx="2645400" cy="1386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RDMA: Remote Direct Memory Access</a:t>
            </a:r>
            <a:endParaRPr/>
          </a:p>
        </p:txBody>
      </p:sp>
      <p:sp>
        <p:nvSpPr>
          <p:cNvPr id="529" name="Google Shape;529;p50"/>
          <p:cNvSpPr/>
          <p:nvPr/>
        </p:nvSpPr>
        <p:spPr>
          <a:xfrm>
            <a:off x="2591850" y="3345925"/>
            <a:ext cx="908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50"/>
          <p:cNvSpPr/>
          <p:nvPr/>
        </p:nvSpPr>
        <p:spPr>
          <a:xfrm>
            <a:off x="2591850" y="4031725"/>
            <a:ext cx="9081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50"/>
          <p:cNvSpPr/>
          <p:nvPr/>
        </p:nvSpPr>
        <p:spPr>
          <a:xfrm>
            <a:off x="1226550" y="3504475"/>
            <a:ext cx="908100" cy="609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50"/>
          <p:cNvSpPr/>
          <p:nvPr/>
        </p:nvSpPr>
        <p:spPr>
          <a:xfrm>
            <a:off x="5556775" y="3345925"/>
            <a:ext cx="908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50"/>
          <p:cNvSpPr/>
          <p:nvPr/>
        </p:nvSpPr>
        <p:spPr>
          <a:xfrm>
            <a:off x="5556775" y="4031725"/>
            <a:ext cx="9081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50"/>
          <p:cNvSpPr/>
          <p:nvPr/>
        </p:nvSpPr>
        <p:spPr>
          <a:xfrm>
            <a:off x="6934675" y="3504475"/>
            <a:ext cx="908100" cy="609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5" name="Google Shape;535;p50"/>
          <p:cNvCxnSpPr>
            <a:stCxn id="531" idx="3"/>
            <a:endCxn id="530" idx="1"/>
          </p:cNvCxnSpPr>
          <p:nvPr/>
        </p:nvCxnSpPr>
        <p:spPr>
          <a:xfrm>
            <a:off x="2134650" y="3809425"/>
            <a:ext cx="457200" cy="41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50"/>
          <p:cNvCxnSpPr>
            <a:stCxn id="530" idx="3"/>
            <a:endCxn id="533" idx="1"/>
          </p:cNvCxnSpPr>
          <p:nvPr/>
        </p:nvCxnSpPr>
        <p:spPr>
          <a:xfrm>
            <a:off x="3499950" y="4228525"/>
            <a:ext cx="2056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50"/>
          <p:cNvCxnSpPr>
            <a:stCxn id="533" idx="3"/>
            <a:endCxn id="534" idx="1"/>
          </p:cNvCxnSpPr>
          <p:nvPr/>
        </p:nvCxnSpPr>
        <p:spPr>
          <a:xfrm flipH="1" rot="10800000">
            <a:off x="6464875" y="3809425"/>
            <a:ext cx="469800" cy="419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8" name="Google Shape;538;p50"/>
          <p:cNvSpPr txBox="1"/>
          <p:nvPr/>
        </p:nvSpPr>
        <p:spPr>
          <a:xfrm>
            <a:off x="2649138" y="4716150"/>
            <a:ext cx="3845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RDMA: CPU is minimally involved in transfer!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50"/>
          <p:cNvSpPr txBox="1"/>
          <p:nvPr>
            <p:ph idx="1" type="body"/>
          </p:nvPr>
        </p:nvSpPr>
        <p:spPr>
          <a:xfrm>
            <a:off x="107050" y="402200"/>
            <a:ext cx="8909700" cy="26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RDMA</a:t>
            </a:r>
            <a:r>
              <a:rPr lang="en"/>
              <a:t> (Remote Direct Memory Access):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Abstraction: A can directly access memory in B's computer.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Minimal CPU involvement in the data transfer.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Transferring a file with RDMA: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CPUs set up the transfer and get out of the way.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Sender NIC reads memory and sends out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Recipient NIC receives data and writes to memory.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Abstraction: Queue Pairs</a:t>
            </a:r>
            <a:endParaRPr/>
          </a:p>
        </p:txBody>
      </p:sp>
      <p:sp>
        <p:nvSpPr>
          <p:cNvPr id="545" name="Google Shape;545;p51"/>
          <p:cNvSpPr txBox="1"/>
          <p:nvPr>
            <p:ph idx="1" type="body"/>
          </p:nvPr>
        </p:nvSpPr>
        <p:spPr>
          <a:xfrm>
            <a:off x="107050" y="402200"/>
            <a:ext cx="581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used bytestreams, but RDMA uses the </a:t>
            </a:r>
            <a:r>
              <a:rPr b="1" lang="en"/>
              <a:t>queue pair</a:t>
            </a:r>
            <a:r>
              <a:rPr lang="en"/>
              <a:t> abstraction between the application and NIC.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Send queue</a:t>
            </a:r>
            <a:r>
              <a:rPr lang="en"/>
              <a:t> has all pending jobs, where</a:t>
            </a:r>
            <a:br>
              <a:rPr lang="en"/>
            </a:br>
            <a:r>
              <a:rPr lang="en"/>
              <a:t>I'm sending data to someone else.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Receive queue</a:t>
            </a:r>
            <a:r>
              <a:rPr lang="en"/>
              <a:t> has all pending jobs, where someone else is sending data to 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single NIC can have multiple queue pairs.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queue pair has a different service guarantee. (Reliable? Ordered?)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Reliable, in-order queue pair is most similar to TCP.</a:t>
            </a:r>
            <a:endParaRPr/>
          </a:p>
        </p:txBody>
      </p:sp>
      <p:sp>
        <p:nvSpPr>
          <p:cNvPr id="546" name="Google Shape;546;p51"/>
          <p:cNvSpPr/>
          <p:nvPr/>
        </p:nvSpPr>
        <p:spPr>
          <a:xfrm>
            <a:off x="6260275" y="2687200"/>
            <a:ext cx="2645400" cy="2170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51"/>
          <p:cNvSpPr/>
          <p:nvPr/>
        </p:nvSpPr>
        <p:spPr>
          <a:xfrm>
            <a:off x="6260275" y="763525"/>
            <a:ext cx="2645400" cy="1290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51"/>
          <p:cNvSpPr/>
          <p:nvPr/>
        </p:nvSpPr>
        <p:spPr>
          <a:xfrm>
            <a:off x="7758875" y="1184325"/>
            <a:ext cx="908100" cy="6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51"/>
          <p:cNvSpPr/>
          <p:nvPr/>
        </p:nvSpPr>
        <p:spPr>
          <a:xfrm>
            <a:off x="6498975" y="1184325"/>
            <a:ext cx="908100" cy="6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51"/>
          <p:cNvSpPr/>
          <p:nvPr/>
        </p:nvSpPr>
        <p:spPr>
          <a:xfrm>
            <a:off x="6392825" y="2822250"/>
            <a:ext cx="1417200" cy="15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51"/>
          <p:cNvSpPr/>
          <p:nvPr/>
        </p:nvSpPr>
        <p:spPr>
          <a:xfrm>
            <a:off x="6523775" y="297827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2" name="Google Shape;552;p51"/>
          <p:cNvSpPr/>
          <p:nvPr/>
        </p:nvSpPr>
        <p:spPr>
          <a:xfrm>
            <a:off x="7173125" y="297827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53" name="Google Shape;553;p51"/>
          <p:cNvSpPr txBox="1"/>
          <p:nvPr/>
        </p:nvSpPr>
        <p:spPr>
          <a:xfrm>
            <a:off x="6523850" y="3849775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51"/>
          <p:cNvSpPr txBox="1"/>
          <p:nvPr/>
        </p:nvSpPr>
        <p:spPr>
          <a:xfrm>
            <a:off x="7083500" y="3849775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Abstraction: Work Queue Elements</a:t>
            </a:r>
            <a:endParaRPr/>
          </a:p>
        </p:txBody>
      </p:sp>
      <p:sp>
        <p:nvSpPr>
          <p:cNvPr id="560" name="Google Shape;560;p52"/>
          <p:cNvSpPr txBox="1"/>
          <p:nvPr>
            <p:ph idx="1" type="body"/>
          </p:nvPr>
        </p:nvSpPr>
        <p:spPr>
          <a:xfrm>
            <a:off x="107050" y="402200"/>
            <a:ext cx="5027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CPU schedules transfers by adding</a:t>
            </a:r>
            <a:br>
              <a:rPr lang="en"/>
            </a:br>
            <a:r>
              <a:rPr b="1" lang="en"/>
              <a:t>Work Queue Elements (WQEs)</a:t>
            </a:r>
            <a:r>
              <a:rPr lang="en"/>
              <a:t> to the queues.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 with instructions about the transfer.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Contains pointers to where in memory to read/write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Gives the NIC an application-level view of the transfer, e.g. where the file starts/ends.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Contrast with TCP, which just sees a bytestream.</a:t>
            </a:r>
            <a:endParaRPr/>
          </a:p>
        </p:txBody>
      </p:sp>
      <p:sp>
        <p:nvSpPr>
          <p:cNvPr id="561" name="Google Shape;561;p52"/>
          <p:cNvSpPr/>
          <p:nvPr/>
        </p:nvSpPr>
        <p:spPr>
          <a:xfrm>
            <a:off x="6260275" y="2687200"/>
            <a:ext cx="2645400" cy="2170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52"/>
          <p:cNvSpPr/>
          <p:nvPr/>
        </p:nvSpPr>
        <p:spPr>
          <a:xfrm>
            <a:off x="6260275" y="763525"/>
            <a:ext cx="2645400" cy="1290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52"/>
          <p:cNvSpPr/>
          <p:nvPr/>
        </p:nvSpPr>
        <p:spPr>
          <a:xfrm>
            <a:off x="7758875" y="1184325"/>
            <a:ext cx="908100" cy="6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52"/>
          <p:cNvSpPr/>
          <p:nvPr/>
        </p:nvSpPr>
        <p:spPr>
          <a:xfrm>
            <a:off x="6498975" y="1184325"/>
            <a:ext cx="908100" cy="6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52"/>
          <p:cNvSpPr/>
          <p:nvPr/>
        </p:nvSpPr>
        <p:spPr>
          <a:xfrm>
            <a:off x="6392825" y="2822250"/>
            <a:ext cx="1417200" cy="15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52"/>
          <p:cNvSpPr/>
          <p:nvPr/>
        </p:nvSpPr>
        <p:spPr>
          <a:xfrm>
            <a:off x="6523775" y="297827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7" name="Google Shape;567;p52"/>
          <p:cNvSpPr/>
          <p:nvPr/>
        </p:nvSpPr>
        <p:spPr>
          <a:xfrm>
            <a:off x="7173125" y="297827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68" name="Google Shape;568;p52"/>
          <p:cNvSpPr txBox="1"/>
          <p:nvPr/>
        </p:nvSpPr>
        <p:spPr>
          <a:xfrm>
            <a:off x="6523850" y="3849775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52"/>
          <p:cNvSpPr txBox="1"/>
          <p:nvPr/>
        </p:nvSpPr>
        <p:spPr>
          <a:xfrm>
            <a:off x="7083500" y="3849775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52"/>
          <p:cNvSpPr/>
          <p:nvPr/>
        </p:nvSpPr>
        <p:spPr>
          <a:xfrm>
            <a:off x="6586925" y="3609000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52"/>
          <p:cNvSpPr/>
          <p:nvPr/>
        </p:nvSpPr>
        <p:spPr>
          <a:xfrm>
            <a:off x="6586925" y="3380400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52"/>
          <p:cNvSpPr/>
          <p:nvPr/>
        </p:nvSpPr>
        <p:spPr>
          <a:xfrm>
            <a:off x="7238600" y="3609000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" name="Google Shape;573;p52"/>
          <p:cNvCxnSpPr/>
          <p:nvPr/>
        </p:nvCxnSpPr>
        <p:spPr>
          <a:xfrm rot="10800000">
            <a:off x="6730325" y="1676875"/>
            <a:ext cx="0" cy="17784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4" name="Google Shape;574;p52"/>
          <p:cNvSpPr txBox="1"/>
          <p:nvPr/>
        </p:nvSpPr>
        <p:spPr>
          <a:xfrm>
            <a:off x="5313125" y="2250525"/>
            <a:ext cx="1417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"Send this data."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52"/>
          <p:cNvSpPr/>
          <p:nvPr/>
        </p:nvSpPr>
        <p:spPr>
          <a:xfrm>
            <a:off x="6587525" y="1534025"/>
            <a:ext cx="285600" cy="142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6" name="Google Shape;576;p52"/>
          <p:cNvCxnSpPr>
            <a:endCxn id="577" idx="4"/>
          </p:cNvCxnSpPr>
          <p:nvPr/>
        </p:nvCxnSpPr>
        <p:spPr>
          <a:xfrm rot="10800000">
            <a:off x="7111325" y="1676825"/>
            <a:ext cx="297000" cy="2012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7" name="Google Shape;577;p52"/>
          <p:cNvSpPr/>
          <p:nvPr/>
        </p:nvSpPr>
        <p:spPr>
          <a:xfrm>
            <a:off x="6968525" y="1534025"/>
            <a:ext cx="285600" cy="142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Google Shape;578;p52"/>
          <p:cNvSpPr txBox="1"/>
          <p:nvPr/>
        </p:nvSpPr>
        <p:spPr>
          <a:xfrm>
            <a:off x="7235625" y="2250525"/>
            <a:ext cx="161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"Put the data here."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Abstraction: Asynchronous Scheduling, Completion Queue</a:t>
            </a:r>
            <a:endParaRPr/>
          </a:p>
        </p:txBody>
      </p:sp>
      <p:sp>
        <p:nvSpPr>
          <p:cNvPr id="584" name="Google Shape;584;p53"/>
          <p:cNvSpPr txBox="1"/>
          <p:nvPr>
            <p:ph idx="1" type="body"/>
          </p:nvPr>
        </p:nvSpPr>
        <p:spPr>
          <a:xfrm>
            <a:off x="107050" y="402200"/>
            <a:ext cx="5027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RDMA is asynchronous.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CPU schedules jobs in the queue pair.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NIC processes jobs in the queue.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job completes, NIC adds a </a:t>
            </a:r>
            <a:r>
              <a:rPr b="1" lang="en"/>
              <a:t>Completion Queue Element (CQE)</a:t>
            </a:r>
            <a:r>
              <a:rPr lang="en"/>
              <a:t> to the Completion Queue, describing what happened (e.g. success or error).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reads CQE to see what happened with the job.</a:t>
            </a:r>
            <a:endParaRPr/>
          </a:p>
        </p:txBody>
      </p:sp>
      <p:sp>
        <p:nvSpPr>
          <p:cNvPr id="585" name="Google Shape;585;p53"/>
          <p:cNvSpPr/>
          <p:nvPr/>
        </p:nvSpPr>
        <p:spPr>
          <a:xfrm>
            <a:off x="6260275" y="2687200"/>
            <a:ext cx="2645400" cy="2170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53"/>
          <p:cNvSpPr/>
          <p:nvPr/>
        </p:nvSpPr>
        <p:spPr>
          <a:xfrm>
            <a:off x="6260275" y="763525"/>
            <a:ext cx="2645400" cy="1290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53"/>
          <p:cNvSpPr/>
          <p:nvPr/>
        </p:nvSpPr>
        <p:spPr>
          <a:xfrm>
            <a:off x="7758875" y="1184325"/>
            <a:ext cx="908100" cy="6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53"/>
          <p:cNvSpPr/>
          <p:nvPr/>
        </p:nvSpPr>
        <p:spPr>
          <a:xfrm>
            <a:off x="6498975" y="1184325"/>
            <a:ext cx="908100" cy="67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53"/>
          <p:cNvSpPr/>
          <p:nvPr/>
        </p:nvSpPr>
        <p:spPr>
          <a:xfrm>
            <a:off x="6392825" y="2822250"/>
            <a:ext cx="1417200" cy="1590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53"/>
          <p:cNvSpPr/>
          <p:nvPr/>
        </p:nvSpPr>
        <p:spPr>
          <a:xfrm>
            <a:off x="6523775" y="297827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1" name="Google Shape;591;p53"/>
          <p:cNvSpPr/>
          <p:nvPr/>
        </p:nvSpPr>
        <p:spPr>
          <a:xfrm>
            <a:off x="7173125" y="2978275"/>
            <a:ext cx="505951" cy="848923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2" name="Google Shape;592;p53"/>
          <p:cNvSpPr txBox="1"/>
          <p:nvPr/>
        </p:nvSpPr>
        <p:spPr>
          <a:xfrm>
            <a:off x="6523850" y="3849775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53"/>
          <p:cNvSpPr txBox="1"/>
          <p:nvPr/>
        </p:nvSpPr>
        <p:spPr>
          <a:xfrm>
            <a:off x="7083500" y="3849775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53"/>
          <p:cNvSpPr/>
          <p:nvPr/>
        </p:nvSpPr>
        <p:spPr>
          <a:xfrm rot="10800000">
            <a:off x="8014573" y="3206877"/>
            <a:ext cx="734027" cy="1196347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5" name="Google Shape;595;p53"/>
          <p:cNvSpPr txBox="1"/>
          <p:nvPr/>
        </p:nvSpPr>
        <p:spPr>
          <a:xfrm>
            <a:off x="7962038" y="2935600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Google Shape;596;p53"/>
          <p:cNvSpPr/>
          <p:nvPr/>
        </p:nvSpPr>
        <p:spPr>
          <a:xfrm>
            <a:off x="6586925" y="3609000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53"/>
          <p:cNvSpPr/>
          <p:nvPr/>
        </p:nvSpPr>
        <p:spPr>
          <a:xfrm>
            <a:off x="6586925" y="3380400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53"/>
          <p:cNvSpPr/>
          <p:nvPr/>
        </p:nvSpPr>
        <p:spPr>
          <a:xfrm>
            <a:off x="7238600" y="3609000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53"/>
          <p:cNvSpPr/>
          <p:nvPr/>
        </p:nvSpPr>
        <p:spPr>
          <a:xfrm>
            <a:off x="8091938" y="3287525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53"/>
          <p:cNvSpPr/>
          <p:nvPr/>
        </p:nvSpPr>
        <p:spPr>
          <a:xfrm>
            <a:off x="8091938" y="3516125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53"/>
          <p:cNvSpPr/>
          <p:nvPr/>
        </p:nvSpPr>
        <p:spPr>
          <a:xfrm>
            <a:off x="8091938" y="3744725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Optimizations at the Host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is Host Networking?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Shared Memory in User Space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Offloading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Brief History of Offloading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0: No Offloading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1: Stateless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2: Stateful Operations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Epoch 3: Protocols (RDMA)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RDMA Example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5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 Example</a:t>
            </a:r>
            <a:endParaRPr/>
          </a:p>
        </p:txBody>
      </p:sp>
      <p:sp>
        <p:nvSpPr>
          <p:cNvPr id="608" name="Google Shape;608;p5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20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 Example</a:t>
            </a:r>
            <a:endParaRPr/>
          </a:p>
        </p:txBody>
      </p:sp>
      <p:sp>
        <p:nvSpPr>
          <p:cNvPr id="614" name="Google Shape;614;p5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are many different RDMA operations: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RDMA Write.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RDMA Read.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RDMA Atomic. Perform an operation in remote host's memory.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RDMA Write with Immediate. Send additional value along with writing data.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Let's look at an RDMA Send/Receive.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56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56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56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56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56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56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56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56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(1/6)</a:t>
            </a:r>
            <a:endParaRPr/>
          </a:p>
        </p:txBody>
      </p:sp>
      <p:sp>
        <p:nvSpPr>
          <p:cNvPr id="628" name="Google Shape;628;p56"/>
          <p:cNvSpPr txBox="1"/>
          <p:nvPr>
            <p:ph idx="1" type="body"/>
          </p:nvPr>
        </p:nvSpPr>
        <p:spPr>
          <a:xfrm>
            <a:off x="107050" y="402200"/>
            <a:ext cx="8909700" cy="8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 Each server designates some memory to be accessible by NIC for RDMA transfers.</a:t>
            </a:r>
            <a:endParaRPr/>
          </a:p>
        </p:txBody>
      </p:sp>
      <p:sp>
        <p:nvSpPr>
          <p:cNvPr id="629" name="Google Shape;629;p56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Google Shape;630;p56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56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56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3" name="Google Shape;633;p56"/>
          <p:cNvCxnSpPr>
            <a:endCxn id="625" idx="4"/>
          </p:cNvCxnSpPr>
          <p:nvPr/>
        </p:nvCxnSpPr>
        <p:spPr>
          <a:xfrm rot="10800000">
            <a:off x="932150" y="2120850"/>
            <a:ext cx="0" cy="819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4" name="Google Shape;634;p56"/>
          <p:cNvSpPr txBox="1"/>
          <p:nvPr/>
        </p:nvSpPr>
        <p:spPr>
          <a:xfrm>
            <a:off x="972259" y="2473925"/>
            <a:ext cx="803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Readable by NIC.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5" name="Google Shape;635;p56"/>
          <p:cNvCxnSpPr/>
          <p:nvPr/>
        </p:nvCxnSpPr>
        <p:spPr>
          <a:xfrm rot="10800000">
            <a:off x="6951950" y="2120950"/>
            <a:ext cx="0" cy="819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6" name="Google Shape;636;p56"/>
          <p:cNvSpPr txBox="1"/>
          <p:nvPr/>
        </p:nvSpPr>
        <p:spPr>
          <a:xfrm>
            <a:off x="6992059" y="2473938"/>
            <a:ext cx="803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Writable by NIC.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(2/6)</a:t>
            </a:r>
            <a:endParaRPr/>
          </a:p>
        </p:txBody>
      </p:sp>
      <p:sp>
        <p:nvSpPr>
          <p:cNvPr id="642" name="Google Shape;642;p57"/>
          <p:cNvSpPr txBox="1"/>
          <p:nvPr>
            <p:ph idx="1" type="body"/>
          </p:nvPr>
        </p:nvSpPr>
        <p:spPr>
          <a:xfrm>
            <a:off x="107050" y="402200"/>
            <a:ext cx="8909700" cy="9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Each server sets up queues.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can be done out-of-band, e.g. use TCP to coordinate between servers.</a:t>
            </a:r>
            <a:endParaRPr/>
          </a:p>
        </p:txBody>
      </p:sp>
      <p:sp>
        <p:nvSpPr>
          <p:cNvPr id="643" name="Google Shape;643;p57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57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57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57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47" name="Google Shape;647;p57"/>
          <p:cNvGrpSpPr/>
          <p:nvPr/>
        </p:nvGrpSpPr>
        <p:grpSpPr>
          <a:xfrm>
            <a:off x="371950" y="3160962"/>
            <a:ext cx="2372333" cy="1185213"/>
            <a:chOff x="371950" y="3160963"/>
            <a:chExt cx="2372333" cy="1185213"/>
          </a:xfrm>
        </p:grpSpPr>
        <p:sp>
          <p:nvSpPr>
            <p:cNvPr id="648" name="Google Shape;648;p57"/>
            <p:cNvSpPr/>
            <p:nvPr/>
          </p:nvSpPr>
          <p:spPr>
            <a:xfrm>
              <a:off x="371950" y="3162075"/>
              <a:ext cx="1417200" cy="1184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Queue Pair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9" name="Google Shape;649;p57"/>
            <p:cNvSpPr/>
            <p:nvPr/>
          </p:nvSpPr>
          <p:spPr>
            <a:xfrm>
              <a:off x="502900" y="3267316"/>
              <a:ext cx="505951" cy="525898"/>
            </a:xfrm>
            <a:custGeom>
              <a:rect b="b" l="l" r="r" t="t"/>
              <a:pathLst>
                <a:path extrusionOk="0" h="3531" w="9192">
                  <a:moveTo>
                    <a:pt x="0" y="0"/>
                  </a:moveTo>
                  <a:lnTo>
                    <a:pt x="0" y="3531"/>
                  </a:lnTo>
                  <a:lnTo>
                    <a:pt x="9192" y="3531"/>
                  </a:lnTo>
                  <a:lnTo>
                    <a:pt x="9192" y="7"/>
                  </a:lnTo>
                </a:path>
              </a:pathLst>
            </a:cu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0" name="Google Shape;650;p57"/>
            <p:cNvSpPr/>
            <p:nvPr/>
          </p:nvSpPr>
          <p:spPr>
            <a:xfrm>
              <a:off x="1152250" y="3267316"/>
              <a:ext cx="505951" cy="525898"/>
            </a:xfrm>
            <a:custGeom>
              <a:rect b="b" l="l" r="r" t="t"/>
              <a:pathLst>
                <a:path extrusionOk="0" h="3531" w="9192">
                  <a:moveTo>
                    <a:pt x="0" y="0"/>
                  </a:moveTo>
                  <a:lnTo>
                    <a:pt x="0" y="3531"/>
                  </a:lnTo>
                  <a:lnTo>
                    <a:pt x="9192" y="3531"/>
                  </a:lnTo>
                  <a:lnTo>
                    <a:pt x="9192" y="7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1" name="Google Shape;651;p57"/>
            <p:cNvSpPr txBox="1"/>
            <p:nvPr/>
          </p:nvSpPr>
          <p:spPr>
            <a:xfrm>
              <a:off x="502975" y="3815792"/>
              <a:ext cx="5058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Send</a:t>
              </a:r>
              <a:endParaRPr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2" name="Google Shape;652;p57"/>
            <p:cNvSpPr txBox="1"/>
            <p:nvPr/>
          </p:nvSpPr>
          <p:spPr>
            <a:xfrm>
              <a:off x="1062625" y="3815792"/>
              <a:ext cx="6852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Receive</a:t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3" name="Google Shape;653;p57"/>
            <p:cNvSpPr/>
            <p:nvPr/>
          </p:nvSpPr>
          <p:spPr>
            <a:xfrm rot="10800000">
              <a:off x="1957725" y="3432238"/>
              <a:ext cx="734027" cy="835638"/>
            </a:xfrm>
            <a:custGeom>
              <a:rect b="b" l="l" r="r" t="t"/>
              <a:pathLst>
                <a:path extrusionOk="0" h="3531" w="9192">
                  <a:moveTo>
                    <a:pt x="0" y="0"/>
                  </a:moveTo>
                  <a:lnTo>
                    <a:pt x="0" y="3531"/>
                  </a:lnTo>
                  <a:lnTo>
                    <a:pt x="9192" y="3531"/>
                  </a:lnTo>
                  <a:lnTo>
                    <a:pt x="9192" y="7"/>
                  </a:lnTo>
                </a:path>
              </a:pathLst>
            </a:cu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4" name="Google Shape;654;p57"/>
            <p:cNvSpPr txBox="1"/>
            <p:nvPr/>
          </p:nvSpPr>
          <p:spPr>
            <a:xfrm>
              <a:off x="1905183" y="3160963"/>
              <a:ext cx="8391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9900FF"/>
                  </a:solidFill>
                  <a:latin typeface="Roboto"/>
                  <a:ea typeface="Roboto"/>
                  <a:cs typeface="Roboto"/>
                  <a:sym typeface="Roboto"/>
                </a:rPr>
                <a:t>Completion</a:t>
              </a:r>
              <a:endParaRPr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5" name="Google Shape;655;p57"/>
          <p:cNvGrpSpPr/>
          <p:nvPr/>
        </p:nvGrpSpPr>
        <p:grpSpPr>
          <a:xfrm>
            <a:off x="6391750" y="3160950"/>
            <a:ext cx="2384858" cy="1185225"/>
            <a:chOff x="6391750" y="3160950"/>
            <a:chExt cx="2384858" cy="1185225"/>
          </a:xfrm>
        </p:grpSpPr>
        <p:sp>
          <p:nvSpPr>
            <p:cNvPr id="656" name="Google Shape;656;p57"/>
            <p:cNvSpPr/>
            <p:nvPr/>
          </p:nvSpPr>
          <p:spPr>
            <a:xfrm>
              <a:off x="6391750" y="3162075"/>
              <a:ext cx="1417200" cy="11841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b" bIns="45700" lIns="45700" spcFirstLastPara="1" rIns="457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Queue Pair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7" name="Google Shape;657;p57"/>
            <p:cNvSpPr/>
            <p:nvPr/>
          </p:nvSpPr>
          <p:spPr>
            <a:xfrm>
              <a:off x="6522700" y="3267316"/>
              <a:ext cx="505951" cy="525898"/>
            </a:xfrm>
            <a:custGeom>
              <a:rect b="b" l="l" r="r" t="t"/>
              <a:pathLst>
                <a:path extrusionOk="0" h="3531" w="9192">
                  <a:moveTo>
                    <a:pt x="0" y="0"/>
                  </a:moveTo>
                  <a:lnTo>
                    <a:pt x="0" y="3531"/>
                  </a:lnTo>
                  <a:lnTo>
                    <a:pt x="9192" y="3531"/>
                  </a:lnTo>
                  <a:lnTo>
                    <a:pt x="9192" y="7"/>
                  </a:lnTo>
                </a:path>
              </a:pathLst>
            </a:custGeom>
            <a:noFill/>
            <a:ln cap="flat" cmpd="sng" w="19050">
              <a:solidFill>
                <a:srgbClr val="00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8" name="Google Shape;658;p57"/>
            <p:cNvSpPr/>
            <p:nvPr/>
          </p:nvSpPr>
          <p:spPr>
            <a:xfrm>
              <a:off x="7172050" y="3267316"/>
              <a:ext cx="505951" cy="525898"/>
            </a:xfrm>
            <a:custGeom>
              <a:rect b="b" l="l" r="r" t="t"/>
              <a:pathLst>
                <a:path extrusionOk="0" h="3531" w="9192">
                  <a:moveTo>
                    <a:pt x="0" y="0"/>
                  </a:moveTo>
                  <a:lnTo>
                    <a:pt x="0" y="3531"/>
                  </a:lnTo>
                  <a:lnTo>
                    <a:pt x="9192" y="3531"/>
                  </a:lnTo>
                  <a:lnTo>
                    <a:pt x="9192" y="7"/>
                  </a:ln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9" name="Google Shape;659;p57"/>
            <p:cNvSpPr txBox="1"/>
            <p:nvPr/>
          </p:nvSpPr>
          <p:spPr>
            <a:xfrm>
              <a:off x="6522775" y="3815792"/>
              <a:ext cx="5058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000FF"/>
                  </a:solidFill>
                  <a:latin typeface="Roboto"/>
                  <a:ea typeface="Roboto"/>
                  <a:cs typeface="Roboto"/>
                  <a:sym typeface="Roboto"/>
                </a:rPr>
                <a:t>Send</a:t>
              </a:r>
              <a:endParaRPr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0" name="Google Shape;660;p57"/>
            <p:cNvSpPr txBox="1"/>
            <p:nvPr/>
          </p:nvSpPr>
          <p:spPr>
            <a:xfrm>
              <a:off x="7082425" y="3815792"/>
              <a:ext cx="6852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Receive</a:t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61" name="Google Shape;661;p57"/>
            <p:cNvSpPr/>
            <p:nvPr/>
          </p:nvSpPr>
          <p:spPr>
            <a:xfrm rot="10800000">
              <a:off x="7990048" y="3432227"/>
              <a:ext cx="734027" cy="835638"/>
            </a:xfrm>
            <a:custGeom>
              <a:rect b="b" l="l" r="r" t="t"/>
              <a:pathLst>
                <a:path extrusionOk="0" h="3531" w="9192">
                  <a:moveTo>
                    <a:pt x="0" y="0"/>
                  </a:moveTo>
                  <a:lnTo>
                    <a:pt x="0" y="3531"/>
                  </a:lnTo>
                  <a:lnTo>
                    <a:pt x="9192" y="3531"/>
                  </a:lnTo>
                  <a:lnTo>
                    <a:pt x="9192" y="7"/>
                  </a:lnTo>
                </a:path>
              </a:pathLst>
            </a:custGeom>
            <a:noFill/>
            <a:ln cap="flat" cmpd="sng" w="19050">
              <a:solidFill>
                <a:srgbClr val="9900FF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2" name="Google Shape;662;p57"/>
            <p:cNvSpPr txBox="1"/>
            <p:nvPr/>
          </p:nvSpPr>
          <p:spPr>
            <a:xfrm>
              <a:off x="7937508" y="3160950"/>
              <a:ext cx="8391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7425" lIns="27425" spcFirstLastPara="1" rIns="27425" wrap="square" tIns="27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9900FF"/>
                  </a:solidFill>
                  <a:latin typeface="Roboto"/>
                  <a:ea typeface="Roboto"/>
                  <a:cs typeface="Roboto"/>
                  <a:sym typeface="Roboto"/>
                </a:rPr>
                <a:t>Completion</a:t>
              </a:r>
              <a:endParaRPr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63" name="Google Shape;663;p57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57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57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57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57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57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57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57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(3/6)</a:t>
            </a:r>
            <a:endParaRPr/>
          </a:p>
        </p:txBody>
      </p:sp>
      <p:sp>
        <p:nvSpPr>
          <p:cNvPr id="676" name="Google Shape;676;p58"/>
          <p:cNvSpPr txBox="1"/>
          <p:nvPr>
            <p:ph idx="1" type="body"/>
          </p:nvPr>
        </p:nvSpPr>
        <p:spPr>
          <a:xfrm>
            <a:off x="107050" y="402200"/>
            <a:ext cx="8909700" cy="9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3. Servers set up Work Queue Entries (WQEs) in the queues.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WQE contains pointer to buffer in memory.</a:t>
            </a:r>
            <a:endParaRPr/>
          </a:p>
        </p:txBody>
      </p:sp>
      <p:sp>
        <p:nvSpPr>
          <p:cNvPr id="677" name="Google Shape;677;p58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58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58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58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58"/>
          <p:cNvSpPr/>
          <p:nvPr/>
        </p:nvSpPr>
        <p:spPr>
          <a:xfrm>
            <a:off x="3719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58"/>
          <p:cNvSpPr/>
          <p:nvPr/>
        </p:nvSpPr>
        <p:spPr>
          <a:xfrm>
            <a:off x="5029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3" name="Google Shape;683;p58"/>
          <p:cNvSpPr/>
          <p:nvPr/>
        </p:nvSpPr>
        <p:spPr>
          <a:xfrm>
            <a:off x="11522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84" name="Google Shape;684;p58"/>
          <p:cNvSpPr txBox="1"/>
          <p:nvPr/>
        </p:nvSpPr>
        <p:spPr>
          <a:xfrm>
            <a:off x="5029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58"/>
          <p:cNvSpPr txBox="1"/>
          <p:nvPr/>
        </p:nvSpPr>
        <p:spPr>
          <a:xfrm>
            <a:off x="10626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58"/>
          <p:cNvSpPr/>
          <p:nvPr/>
        </p:nvSpPr>
        <p:spPr>
          <a:xfrm>
            <a:off x="566050" y="3575017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58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58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58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58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58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58"/>
          <p:cNvSpPr/>
          <p:nvPr/>
        </p:nvSpPr>
        <p:spPr>
          <a:xfrm>
            <a:off x="63917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58"/>
          <p:cNvSpPr/>
          <p:nvPr/>
        </p:nvSpPr>
        <p:spPr>
          <a:xfrm>
            <a:off x="65227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4" name="Google Shape;694;p58"/>
          <p:cNvSpPr/>
          <p:nvPr/>
        </p:nvSpPr>
        <p:spPr>
          <a:xfrm>
            <a:off x="71720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95" name="Google Shape;695;p58"/>
          <p:cNvSpPr txBox="1"/>
          <p:nvPr/>
        </p:nvSpPr>
        <p:spPr>
          <a:xfrm>
            <a:off x="65227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58"/>
          <p:cNvSpPr txBox="1"/>
          <p:nvPr/>
        </p:nvSpPr>
        <p:spPr>
          <a:xfrm>
            <a:off x="70824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58"/>
          <p:cNvSpPr/>
          <p:nvPr/>
        </p:nvSpPr>
        <p:spPr>
          <a:xfrm>
            <a:off x="7237525" y="3575017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58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58"/>
          <p:cNvSpPr/>
          <p:nvPr/>
        </p:nvSpPr>
        <p:spPr>
          <a:xfrm rot="10800000">
            <a:off x="1957725" y="3432238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00" name="Google Shape;700;p58"/>
          <p:cNvSpPr txBox="1"/>
          <p:nvPr/>
        </p:nvSpPr>
        <p:spPr>
          <a:xfrm>
            <a:off x="1905183" y="3160963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58"/>
          <p:cNvSpPr/>
          <p:nvPr/>
        </p:nvSpPr>
        <p:spPr>
          <a:xfrm rot="10800000">
            <a:off x="7990048" y="3432227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02" name="Google Shape;702;p58"/>
          <p:cNvSpPr txBox="1"/>
          <p:nvPr/>
        </p:nvSpPr>
        <p:spPr>
          <a:xfrm>
            <a:off x="7937508" y="3160950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58"/>
          <p:cNvSpPr/>
          <p:nvPr/>
        </p:nvSpPr>
        <p:spPr>
          <a:xfrm>
            <a:off x="745850" y="2085425"/>
            <a:ext cx="1452949" cy="1489512"/>
          </a:xfrm>
          <a:custGeom>
            <a:rect b="b" l="l" r="r" t="t"/>
            <a:pathLst>
              <a:path extrusionOk="0" h="52259" w="46595">
                <a:moveTo>
                  <a:pt x="46595" y="0"/>
                </a:moveTo>
                <a:lnTo>
                  <a:pt x="46595" y="20595"/>
                </a:lnTo>
                <a:lnTo>
                  <a:pt x="0" y="20595"/>
                </a:lnTo>
                <a:lnTo>
                  <a:pt x="0" y="52259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04" name="Google Shape;704;p58"/>
          <p:cNvSpPr/>
          <p:nvPr/>
        </p:nvSpPr>
        <p:spPr>
          <a:xfrm>
            <a:off x="7422770" y="2085425"/>
            <a:ext cx="787805" cy="1489512"/>
          </a:xfrm>
          <a:custGeom>
            <a:rect b="b" l="l" r="r" t="t"/>
            <a:pathLst>
              <a:path extrusionOk="0" h="52259" w="46595">
                <a:moveTo>
                  <a:pt x="46595" y="0"/>
                </a:moveTo>
                <a:lnTo>
                  <a:pt x="46595" y="20595"/>
                </a:lnTo>
                <a:lnTo>
                  <a:pt x="0" y="20595"/>
                </a:lnTo>
                <a:lnTo>
                  <a:pt x="0" y="52259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05" name="Google Shape;705;p58"/>
          <p:cNvSpPr txBox="1"/>
          <p:nvPr/>
        </p:nvSpPr>
        <p:spPr>
          <a:xfrm>
            <a:off x="2314875" y="2473938"/>
            <a:ext cx="1286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CPU writes WQE to queue.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58"/>
          <p:cNvSpPr txBox="1"/>
          <p:nvPr/>
        </p:nvSpPr>
        <p:spPr>
          <a:xfrm>
            <a:off x="6149100" y="2473938"/>
            <a:ext cx="1286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CPU writes WQE to queue.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58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58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9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59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59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59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59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59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p59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p59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1" name="Google Shape;721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(3/6)</a:t>
            </a:r>
            <a:endParaRPr/>
          </a:p>
        </p:txBody>
      </p:sp>
      <p:sp>
        <p:nvSpPr>
          <p:cNvPr id="722" name="Google Shape;722;p59"/>
          <p:cNvSpPr txBox="1"/>
          <p:nvPr>
            <p:ph idx="1" type="body"/>
          </p:nvPr>
        </p:nvSpPr>
        <p:spPr>
          <a:xfrm>
            <a:off x="107050" y="402200"/>
            <a:ext cx="8909700" cy="9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3. Servers set up Work Queue Entries (WQEs) in the queues.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WQE contains pointer to buffer in memory.</a:t>
            </a:r>
            <a:endParaRPr/>
          </a:p>
        </p:txBody>
      </p:sp>
      <p:sp>
        <p:nvSpPr>
          <p:cNvPr id="723" name="Google Shape;723;p59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4" name="Google Shape;724;p59"/>
          <p:cNvSpPr/>
          <p:nvPr/>
        </p:nvSpPr>
        <p:spPr>
          <a:xfrm>
            <a:off x="3719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59"/>
          <p:cNvSpPr/>
          <p:nvPr/>
        </p:nvSpPr>
        <p:spPr>
          <a:xfrm>
            <a:off x="5029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26" name="Google Shape;726;p59"/>
          <p:cNvSpPr/>
          <p:nvPr/>
        </p:nvSpPr>
        <p:spPr>
          <a:xfrm>
            <a:off x="11522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27" name="Google Shape;727;p59"/>
          <p:cNvSpPr txBox="1"/>
          <p:nvPr/>
        </p:nvSpPr>
        <p:spPr>
          <a:xfrm>
            <a:off x="5029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59"/>
          <p:cNvSpPr txBox="1"/>
          <p:nvPr/>
        </p:nvSpPr>
        <p:spPr>
          <a:xfrm>
            <a:off x="10626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566050" y="3575017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0" name="Google Shape;730;p59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3917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65227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4" name="Google Shape;734;p59"/>
          <p:cNvSpPr/>
          <p:nvPr/>
        </p:nvSpPr>
        <p:spPr>
          <a:xfrm>
            <a:off x="71720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35" name="Google Shape;735;p59"/>
          <p:cNvSpPr txBox="1"/>
          <p:nvPr/>
        </p:nvSpPr>
        <p:spPr>
          <a:xfrm>
            <a:off x="65227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p59"/>
          <p:cNvSpPr txBox="1"/>
          <p:nvPr/>
        </p:nvSpPr>
        <p:spPr>
          <a:xfrm>
            <a:off x="70824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7237525" y="3575017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8" name="Google Shape;738;p59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59"/>
          <p:cNvSpPr/>
          <p:nvPr/>
        </p:nvSpPr>
        <p:spPr>
          <a:xfrm rot="10800000">
            <a:off x="1957725" y="3432238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0" name="Google Shape;740;p59"/>
          <p:cNvSpPr txBox="1"/>
          <p:nvPr/>
        </p:nvSpPr>
        <p:spPr>
          <a:xfrm>
            <a:off x="1905183" y="3160963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p59"/>
          <p:cNvSpPr/>
          <p:nvPr/>
        </p:nvSpPr>
        <p:spPr>
          <a:xfrm rot="10800000">
            <a:off x="7990048" y="3432227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42" name="Google Shape;742;p59"/>
          <p:cNvSpPr txBox="1"/>
          <p:nvPr/>
        </p:nvSpPr>
        <p:spPr>
          <a:xfrm>
            <a:off x="7937508" y="3160950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59"/>
          <p:cNvSpPr txBox="1"/>
          <p:nvPr/>
        </p:nvSpPr>
        <p:spPr>
          <a:xfrm>
            <a:off x="805225" y="2581625"/>
            <a:ext cx="1417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"Send this data."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4" name="Google Shape;744;p59"/>
          <p:cNvCxnSpPr>
            <a:endCxn id="720" idx="4"/>
          </p:cNvCxnSpPr>
          <p:nvPr/>
        </p:nvCxnSpPr>
        <p:spPr>
          <a:xfrm rot="10800000">
            <a:off x="6951950" y="2120855"/>
            <a:ext cx="388500" cy="1532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5" name="Google Shape;745;p59"/>
          <p:cNvSpPr txBox="1"/>
          <p:nvPr/>
        </p:nvSpPr>
        <p:spPr>
          <a:xfrm>
            <a:off x="7082425" y="2581638"/>
            <a:ext cx="1618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"Put the data here."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6" name="Google Shape;746;p59"/>
          <p:cNvCxnSpPr>
            <a:endCxn id="719" idx="4"/>
          </p:cNvCxnSpPr>
          <p:nvPr/>
        </p:nvCxnSpPr>
        <p:spPr>
          <a:xfrm flipH="1" rot="10800000">
            <a:off x="663350" y="2120850"/>
            <a:ext cx="268800" cy="1545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0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60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60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60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5" name="Google Shape;755;p60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6" name="Google Shape;756;p60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7" name="Google Shape;757;p60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8" name="Google Shape;758;p60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(4/6)</a:t>
            </a:r>
            <a:endParaRPr/>
          </a:p>
        </p:txBody>
      </p:sp>
      <p:sp>
        <p:nvSpPr>
          <p:cNvPr id="760" name="Google Shape;760;p60"/>
          <p:cNvSpPr txBox="1"/>
          <p:nvPr>
            <p:ph idx="1" type="body"/>
          </p:nvPr>
        </p:nvSpPr>
        <p:spPr>
          <a:xfrm>
            <a:off x="107050" y="402200"/>
            <a:ext cx="8909700" cy="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4. NIC transfers data between memory, without CPU involvement!</a:t>
            </a:r>
            <a:endParaRPr/>
          </a:p>
        </p:txBody>
      </p:sp>
      <p:sp>
        <p:nvSpPr>
          <p:cNvPr id="761" name="Google Shape;761;p60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2" name="Google Shape;762;p60"/>
          <p:cNvSpPr/>
          <p:nvPr/>
        </p:nvSpPr>
        <p:spPr>
          <a:xfrm>
            <a:off x="3719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p60"/>
          <p:cNvSpPr/>
          <p:nvPr/>
        </p:nvSpPr>
        <p:spPr>
          <a:xfrm>
            <a:off x="5029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4" name="Google Shape;764;p60"/>
          <p:cNvSpPr/>
          <p:nvPr/>
        </p:nvSpPr>
        <p:spPr>
          <a:xfrm>
            <a:off x="11522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5" name="Google Shape;765;p60"/>
          <p:cNvSpPr txBox="1"/>
          <p:nvPr/>
        </p:nvSpPr>
        <p:spPr>
          <a:xfrm>
            <a:off x="5029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60"/>
          <p:cNvSpPr txBox="1"/>
          <p:nvPr/>
        </p:nvSpPr>
        <p:spPr>
          <a:xfrm>
            <a:off x="10626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7" name="Google Shape;767;p60"/>
          <p:cNvSpPr/>
          <p:nvPr/>
        </p:nvSpPr>
        <p:spPr>
          <a:xfrm>
            <a:off x="566050" y="3575017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p60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p60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Google Shape;770;p60"/>
          <p:cNvSpPr/>
          <p:nvPr/>
        </p:nvSpPr>
        <p:spPr>
          <a:xfrm>
            <a:off x="63917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1" name="Google Shape;771;p60"/>
          <p:cNvSpPr/>
          <p:nvPr/>
        </p:nvSpPr>
        <p:spPr>
          <a:xfrm>
            <a:off x="65227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2" name="Google Shape;772;p60"/>
          <p:cNvSpPr/>
          <p:nvPr/>
        </p:nvSpPr>
        <p:spPr>
          <a:xfrm>
            <a:off x="71720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3" name="Google Shape;773;p60"/>
          <p:cNvSpPr txBox="1"/>
          <p:nvPr/>
        </p:nvSpPr>
        <p:spPr>
          <a:xfrm>
            <a:off x="65227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60"/>
          <p:cNvSpPr txBox="1"/>
          <p:nvPr/>
        </p:nvSpPr>
        <p:spPr>
          <a:xfrm>
            <a:off x="70824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60"/>
          <p:cNvSpPr/>
          <p:nvPr/>
        </p:nvSpPr>
        <p:spPr>
          <a:xfrm>
            <a:off x="7237525" y="3575017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60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60"/>
          <p:cNvSpPr/>
          <p:nvPr/>
        </p:nvSpPr>
        <p:spPr>
          <a:xfrm rot="10800000">
            <a:off x="1957725" y="3432238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78" name="Google Shape;778;p60"/>
          <p:cNvSpPr txBox="1"/>
          <p:nvPr/>
        </p:nvSpPr>
        <p:spPr>
          <a:xfrm>
            <a:off x="1905183" y="3160963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60"/>
          <p:cNvSpPr/>
          <p:nvPr/>
        </p:nvSpPr>
        <p:spPr>
          <a:xfrm rot="10800000">
            <a:off x="7990048" y="3432227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0" name="Google Shape;780;p60"/>
          <p:cNvSpPr txBox="1"/>
          <p:nvPr/>
        </p:nvSpPr>
        <p:spPr>
          <a:xfrm>
            <a:off x="7937508" y="3160950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1" name="Google Shape;781;p60"/>
          <p:cNvCxnSpPr>
            <a:stCxn id="757" idx="4"/>
            <a:endCxn id="761" idx="0"/>
          </p:cNvCxnSpPr>
          <p:nvPr/>
        </p:nvCxnSpPr>
        <p:spPr>
          <a:xfrm>
            <a:off x="932150" y="2120850"/>
            <a:ext cx="630000" cy="94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60"/>
          <p:cNvCxnSpPr>
            <a:stCxn id="761" idx="3"/>
            <a:endCxn id="769" idx="1"/>
          </p:cNvCxnSpPr>
          <p:nvPr/>
        </p:nvCxnSpPr>
        <p:spPr>
          <a:xfrm>
            <a:off x="2884800" y="3862450"/>
            <a:ext cx="3374400" cy="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60"/>
          <p:cNvCxnSpPr>
            <a:stCxn id="769" idx="0"/>
            <a:endCxn id="758" idx="4"/>
          </p:cNvCxnSpPr>
          <p:nvPr/>
        </p:nvCxnSpPr>
        <p:spPr>
          <a:xfrm rot="10800000">
            <a:off x="6951900" y="2120800"/>
            <a:ext cx="630000" cy="9444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1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9" name="Google Shape;789;p61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0" name="Google Shape;790;p61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p61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p61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61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61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p61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(5/6)</a:t>
            </a:r>
            <a:endParaRPr/>
          </a:p>
        </p:txBody>
      </p:sp>
      <p:sp>
        <p:nvSpPr>
          <p:cNvPr id="797" name="Google Shape;797;p61"/>
          <p:cNvSpPr txBox="1"/>
          <p:nvPr>
            <p:ph idx="1" type="body"/>
          </p:nvPr>
        </p:nvSpPr>
        <p:spPr>
          <a:xfrm>
            <a:off x="107050" y="402200"/>
            <a:ext cx="8909700" cy="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5. NICs generate Completion Queue Entries (CQEs), and delete WQEs.</a:t>
            </a:r>
            <a:endParaRPr/>
          </a:p>
        </p:txBody>
      </p:sp>
      <p:sp>
        <p:nvSpPr>
          <p:cNvPr id="798" name="Google Shape;798;p61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61"/>
          <p:cNvSpPr/>
          <p:nvPr/>
        </p:nvSpPr>
        <p:spPr>
          <a:xfrm>
            <a:off x="3719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61"/>
          <p:cNvSpPr/>
          <p:nvPr/>
        </p:nvSpPr>
        <p:spPr>
          <a:xfrm>
            <a:off x="5029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01" name="Google Shape;801;p61"/>
          <p:cNvSpPr/>
          <p:nvPr/>
        </p:nvSpPr>
        <p:spPr>
          <a:xfrm>
            <a:off x="11522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02" name="Google Shape;802;p61"/>
          <p:cNvSpPr txBox="1"/>
          <p:nvPr/>
        </p:nvSpPr>
        <p:spPr>
          <a:xfrm>
            <a:off x="5029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Google Shape;803;p61"/>
          <p:cNvSpPr txBox="1"/>
          <p:nvPr/>
        </p:nvSpPr>
        <p:spPr>
          <a:xfrm>
            <a:off x="10626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61"/>
          <p:cNvSpPr/>
          <p:nvPr/>
        </p:nvSpPr>
        <p:spPr>
          <a:xfrm>
            <a:off x="566050" y="3575017"/>
            <a:ext cx="375000" cy="15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61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61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61"/>
          <p:cNvSpPr/>
          <p:nvPr/>
        </p:nvSpPr>
        <p:spPr>
          <a:xfrm>
            <a:off x="63917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61"/>
          <p:cNvSpPr/>
          <p:nvPr/>
        </p:nvSpPr>
        <p:spPr>
          <a:xfrm>
            <a:off x="65227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09" name="Google Shape;809;p61"/>
          <p:cNvSpPr/>
          <p:nvPr/>
        </p:nvSpPr>
        <p:spPr>
          <a:xfrm>
            <a:off x="71720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0" name="Google Shape;810;p61"/>
          <p:cNvSpPr txBox="1"/>
          <p:nvPr/>
        </p:nvSpPr>
        <p:spPr>
          <a:xfrm>
            <a:off x="65227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61"/>
          <p:cNvSpPr txBox="1"/>
          <p:nvPr/>
        </p:nvSpPr>
        <p:spPr>
          <a:xfrm>
            <a:off x="70824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2" name="Google Shape;812;p61"/>
          <p:cNvSpPr/>
          <p:nvPr/>
        </p:nvSpPr>
        <p:spPr>
          <a:xfrm>
            <a:off x="7237525" y="3575017"/>
            <a:ext cx="375000" cy="159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61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61"/>
          <p:cNvSpPr/>
          <p:nvPr/>
        </p:nvSpPr>
        <p:spPr>
          <a:xfrm rot="10800000">
            <a:off x="1957725" y="3432238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5" name="Google Shape;815;p61"/>
          <p:cNvSpPr txBox="1"/>
          <p:nvPr/>
        </p:nvSpPr>
        <p:spPr>
          <a:xfrm>
            <a:off x="1905183" y="3160963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61"/>
          <p:cNvSpPr/>
          <p:nvPr/>
        </p:nvSpPr>
        <p:spPr>
          <a:xfrm rot="10800000">
            <a:off x="7990048" y="3432227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17" name="Google Shape;817;p61"/>
          <p:cNvSpPr txBox="1"/>
          <p:nvPr/>
        </p:nvSpPr>
        <p:spPr>
          <a:xfrm>
            <a:off x="7937508" y="3160950"/>
            <a:ext cx="839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61"/>
          <p:cNvSpPr/>
          <p:nvPr/>
        </p:nvSpPr>
        <p:spPr>
          <a:xfrm>
            <a:off x="2035063" y="3540250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61"/>
          <p:cNvSpPr/>
          <p:nvPr/>
        </p:nvSpPr>
        <p:spPr>
          <a:xfrm>
            <a:off x="8067400" y="3540250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p61"/>
          <p:cNvSpPr txBox="1"/>
          <p:nvPr/>
        </p:nvSpPr>
        <p:spPr>
          <a:xfrm>
            <a:off x="3298075" y="3488568"/>
            <a:ext cx="1066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Data successfully sent!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1" name="Google Shape;821;p61"/>
          <p:cNvCxnSpPr/>
          <p:nvPr/>
        </p:nvCxnSpPr>
        <p:spPr>
          <a:xfrm rot="10800000">
            <a:off x="2384675" y="3619431"/>
            <a:ext cx="9201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2" name="Google Shape;822;p61"/>
          <p:cNvSpPr txBox="1"/>
          <p:nvPr/>
        </p:nvSpPr>
        <p:spPr>
          <a:xfrm>
            <a:off x="4898275" y="3488568"/>
            <a:ext cx="1066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Data successfully received!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3" name="Google Shape;823;p61"/>
          <p:cNvCxnSpPr/>
          <p:nvPr/>
        </p:nvCxnSpPr>
        <p:spPr>
          <a:xfrm>
            <a:off x="5971675" y="3619425"/>
            <a:ext cx="23556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2"/>
          <p:cNvSpPr/>
          <p:nvPr/>
        </p:nvSpPr>
        <p:spPr>
          <a:xfrm>
            <a:off x="2394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62"/>
          <p:cNvSpPr/>
          <p:nvPr/>
        </p:nvSpPr>
        <p:spPr>
          <a:xfrm>
            <a:off x="17380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62"/>
          <p:cNvSpPr/>
          <p:nvPr/>
        </p:nvSpPr>
        <p:spPr>
          <a:xfrm>
            <a:off x="4781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62"/>
          <p:cNvSpPr/>
          <p:nvPr/>
        </p:nvSpPr>
        <p:spPr>
          <a:xfrm>
            <a:off x="6259200" y="1396075"/>
            <a:ext cx="2645400" cy="97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Software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62"/>
          <p:cNvSpPr/>
          <p:nvPr/>
        </p:nvSpPr>
        <p:spPr>
          <a:xfrm>
            <a:off x="77578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CPU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62"/>
          <p:cNvSpPr/>
          <p:nvPr/>
        </p:nvSpPr>
        <p:spPr>
          <a:xfrm>
            <a:off x="6497900" y="1680425"/>
            <a:ext cx="908100" cy="61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Memory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62"/>
          <p:cNvSpPr/>
          <p:nvPr/>
        </p:nvSpPr>
        <p:spPr>
          <a:xfrm>
            <a:off x="685100" y="1924050"/>
            <a:ext cx="494100" cy="196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62"/>
          <p:cNvSpPr/>
          <p:nvPr/>
        </p:nvSpPr>
        <p:spPr>
          <a:xfrm>
            <a:off x="6704900" y="1924055"/>
            <a:ext cx="494100" cy="196800"/>
          </a:xfrm>
          <a:prstGeom prst="ellipse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6" name="Google Shape;836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of RDMA (6/6)</a:t>
            </a:r>
            <a:endParaRPr/>
          </a:p>
        </p:txBody>
      </p:sp>
      <p:sp>
        <p:nvSpPr>
          <p:cNvPr id="837" name="Google Shape;837;p62"/>
          <p:cNvSpPr txBox="1"/>
          <p:nvPr>
            <p:ph idx="1" type="body"/>
          </p:nvPr>
        </p:nvSpPr>
        <p:spPr>
          <a:xfrm>
            <a:off x="107050" y="402200"/>
            <a:ext cx="8909700" cy="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6. Applications read CQE to understand what happened to the transfer.</a:t>
            </a:r>
            <a:endParaRPr/>
          </a:p>
        </p:txBody>
      </p:sp>
      <p:sp>
        <p:nvSpPr>
          <p:cNvPr id="838" name="Google Shape;838;p62"/>
          <p:cNvSpPr/>
          <p:nvPr/>
        </p:nvSpPr>
        <p:spPr>
          <a:xfrm>
            <a:off x="2394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62"/>
          <p:cNvSpPr/>
          <p:nvPr/>
        </p:nvSpPr>
        <p:spPr>
          <a:xfrm>
            <a:off x="3719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0" name="Google Shape;840;p62"/>
          <p:cNvSpPr/>
          <p:nvPr/>
        </p:nvSpPr>
        <p:spPr>
          <a:xfrm>
            <a:off x="5029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1" name="Google Shape;841;p62"/>
          <p:cNvSpPr/>
          <p:nvPr/>
        </p:nvSpPr>
        <p:spPr>
          <a:xfrm>
            <a:off x="11522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2" name="Google Shape;842;p62"/>
          <p:cNvSpPr txBox="1"/>
          <p:nvPr/>
        </p:nvSpPr>
        <p:spPr>
          <a:xfrm>
            <a:off x="5029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62"/>
          <p:cNvSpPr txBox="1"/>
          <p:nvPr/>
        </p:nvSpPr>
        <p:spPr>
          <a:xfrm>
            <a:off x="10626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4" name="Google Shape;844;p62"/>
          <p:cNvSpPr txBox="1"/>
          <p:nvPr/>
        </p:nvSpPr>
        <p:spPr>
          <a:xfrm>
            <a:off x="9853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62"/>
          <p:cNvSpPr/>
          <p:nvPr/>
        </p:nvSpPr>
        <p:spPr>
          <a:xfrm>
            <a:off x="6259200" y="3065200"/>
            <a:ext cx="2645400" cy="1594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RDMA NIC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62"/>
          <p:cNvSpPr/>
          <p:nvPr/>
        </p:nvSpPr>
        <p:spPr>
          <a:xfrm>
            <a:off x="6391750" y="3162075"/>
            <a:ext cx="1417200" cy="118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45700" spcFirstLastPara="1" rIns="457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Queue Pair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62"/>
          <p:cNvSpPr/>
          <p:nvPr/>
        </p:nvSpPr>
        <p:spPr>
          <a:xfrm>
            <a:off x="652270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8" name="Google Shape;848;p62"/>
          <p:cNvSpPr/>
          <p:nvPr/>
        </p:nvSpPr>
        <p:spPr>
          <a:xfrm>
            <a:off x="7172050" y="3267316"/>
            <a:ext cx="505951" cy="52589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49" name="Google Shape;849;p62"/>
          <p:cNvSpPr txBox="1"/>
          <p:nvPr/>
        </p:nvSpPr>
        <p:spPr>
          <a:xfrm>
            <a:off x="6522775" y="3815792"/>
            <a:ext cx="505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Send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62"/>
          <p:cNvSpPr txBox="1"/>
          <p:nvPr/>
        </p:nvSpPr>
        <p:spPr>
          <a:xfrm>
            <a:off x="7082425" y="3815792"/>
            <a:ext cx="6852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Receive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62"/>
          <p:cNvSpPr txBox="1"/>
          <p:nvPr/>
        </p:nvSpPr>
        <p:spPr>
          <a:xfrm>
            <a:off x="7005150" y="4712375"/>
            <a:ext cx="1153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Recipient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p62"/>
          <p:cNvSpPr/>
          <p:nvPr/>
        </p:nvSpPr>
        <p:spPr>
          <a:xfrm rot="10800000">
            <a:off x="1957725" y="3432238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3" name="Google Shape;853;p62"/>
          <p:cNvSpPr/>
          <p:nvPr/>
        </p:nvSpPr>
        <p:spPr>
          <a:xfrm rot="10800000">
            <a:off x="7990048" y="3432227"/>
            <a:ext cx="734027" cy="835638"/>
          </a:xfrm>
          <a:custGeom>
            <a:rect b="b" l="l" r="r" t="t"/>
            <a:pathLst>
              <a:path extrusionOk="0" h="3531" w="9192">
                <a:moveTo>
                  <a:pt x="0" y="0"/>
                </a:moveTo>
                <a:lnTo>
                  <a:pt x="0" y="3531"/>
                </a:lnTo>
                <a:lnTo>
                  <a:pt x="9192" y="3531"/>
                </a:lnTo>
                <a:lnTo>
                  <a:pt x="9192" y="7"/>
                </a:lnTo>
              </a:path>
            </a:pathLst>
          </a:cu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54" name="Google Shape;854;p62"/>
          <p:cNvSpPr/>
          <p:nvPr/>
        </p:nvSpPr>
        <p:spPr>
          <a:xfrm>
            <a:off x="2035063" y="3540250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62"/>
          <p:cNvSpPr/>
          <p:nvPr/>
        </p:nvSpPr>
        <p:spPr>
          <a:xfrm>
            <a:off x="8067400" y="3540250"/>
            <a:ext cx="579300" cy="1599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6" name="Google Shape;856;p62"/>
          <p:cNvCxnSpPr/>
          <p:nvPr/>
        </p:nvCxnSpPr>
        <p:spPr>
          <a:xfrm>
            <a:off x="2178050" y="2060700"/>
            <a:ext cx="206700" cy="1558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7" name="Google Shape;857;p62"/>
          <p:cNvCxnSpPr/>
          <p:nvPr/>
        </p:nvCxnSpPr>
        <p:spPr>
          <a:xfrm>
            <a:off x="8193975" y="2045650"/>
            <a:ext cx="133200" cy="1573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8" name="Google Shape;858;p62"/>
          <p:cNvSpPr txBox="1"/>
          <p:nvPr/>
        </p:nvSpPr>
        <p:spPr>
          <a:xfrm>
            <a:off x="1905183" y="3160963"/>
            <a:ext cx="839100" cy="240000"/>
          </a:xfrm>
          <a:prstGeom prst="rect">
            <a:avLst/>
          </a:prstGeom>
          <a:solidFill>
            <a:srgbClr val="EFEFEF">
              <a:alpha val="75000"/>
            </a:srgbClr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62"/>
          <p:cNvSpPr txBox="1"/>
          <p:nvPr/>
        </p:nvSpPr>
        <p:spPr>
          <a:xfrm>
            <a:off x="7937508" y="3160950"/>
            <a:ext cx="839100" cy="240000"/>
          </a:xfrm>
          <a:prstGeom prst="rect">
            <a:avLst/>
          </a:prstGeom>
          <a:solidFill>
            <a:srgbClr val="EFEFEF">
              <a:alpha val="75000"/>
            </a:srgbClr>
          </a:solidFill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Completion</a:t>
            </a:r>
            <a:endParaRPr sz="12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RDMA: Pros and Cons</a:t>
            </a:r>
            <a:endParaRPr/>
          </a:p>
        </p:txBody>
      </p:sp>
      <p:sp>
        <p:nvSpPr>
          <p:cNvPr id="865" name="Google Shape;865;p6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High-performance data transfer.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Frees up CPU for applications.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Limitations: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complex. Requires specialized hardware and software.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RDMA replaces TCP/IP, so features like reliability must be implemented in hardware.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 best when servers are nearby, e.g. in same datacenter.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servers are far away, dominant delay is the network.</a:t>
            </a:r>
            <a:br>
              <a:rPr lang="en"/>
            </a:br>
            <a:r>
              <a:rPr lang="en"/>
              <a:t>RDMA savings are insignificant.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RDMA: Applications</a:t>
            </a:r>
            <a:endParaRPr/>
          </a:p>
        </p:txBody>
      </p:sp>
      <p:sp>
        <p:nvSpPr>
          <p:cNvPr id="871" name="Google Shape;871;p6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RDMA useful for high-performance computing.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Scientific research, financial modeling, weather forecasting,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Cloud computing, e.g. migrating large VM from one physical server to another.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AI/ML training.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 up CPU for applications.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and predictable latency for data transfers.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RDMA: Implementation</a:t>
            </a:r>
            <a:endParaRPr/>
          </a:p>
        </p:txBody>
      </p:sp>
      <p:sp>
        <p:nvSpPr>
          <p:cNvPr id="877" name="Google Shape;877;p6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you handle losses, reordering, congestion, etc.?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broad options: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features into the datacenter network, e.g. at the switches.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Nvidia's InfiniBand.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features in the NIC, under the queue pair abstraction.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Google.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both cases, applications and OS both see the abstraction of reliable delivery.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