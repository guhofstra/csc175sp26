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5143500" cx="9144000"/>
  <p:notesSz cx="6858000" cy="9144000"/>
  <p:embeddedFontLst>
    <p:embeddedFont>
      <p:font typeface="Roboto Medium"/>
      <p:regular r:id="rId46"/>
      <p:bold r:id="rId47"/>
      <p:italic r:id="rId48"/>
      <p:boldItalic r:id="rId49"/>
    </p:embeddedFont>
    <p:embeddedFont>
      <p:font typeface="Roboto"/>
      <p:regular r:id="rId50"/>
      <p:bold r:id="rId51"/>
      <p:italic r:id="rId52"/>
      <p:boldItalic r:id="rId53"/>
    </p:embeddedFont>
    <p:embeddedFont>
      <p:font typeface="Roboto Light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D36ABF8-2FA5-4E43-B9D7-F598E559F24D}">
  <a:tblStyle styleId="{ED36ABF8-2FA5-4E43-B9D7-F598E559F2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RobotoMedium-regular.fntdata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RobotoMedium-italic.fntdata"/><Relationship Id="rId47" Type="http://schemas.openxmlformats.org/officeDocument/2006/relationships/font" Target="fonts/RobotoMedium-bold.fntdata"/><Relationship Id="rId49" Type="http://schemas.openxmlformats.org/officeDocument/2006/relationships/font" Target="fonts/RobotoMedium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-bold.fntdata"/><Relationship Id="rId50" Type="http://schemas.openxmlformats.org/officeDocument/2006/relationships/font" Target="fonts/Roboto-regular.fntdata"/><Relationship Id="rId53" Type="http://schemas.openxmlformats.org/officeDocument/2006/relationships/font" Target="fonts/Roboto-boldItalic.fntdata"/><Relationship Id="rId52" Type="http://schemas.openxmlformats.org/officeDocument/2006/relationships/font" Target="fonts/Roboto-italic.fntdata"/><Relationship Id="rId11" Type="http://schemas.openxmlformats.org/officeDocument/2006/relationships/slide" Target="slides/slide5.xml"/><Relationship Id="rId55" Type="http://schemas.openxmlformats.org/officeDocument/2006/relationships/font" Target="fonts/RobotoLight-bold.fntdata"/><Relationship Id="rId10" Type="http://schemas.openxmlformats.org/officeDocument/2006/relationships/slide" Target="slides/slide4.xml"/><Relationship Id="rId54" Type="http://schemas.openxmlformats.org/officeDocument/2006/relationships/font" Target="fonts/RobotoLight-regular.fntdata"/><Relationship Id="rId13" Type="http://schemas.openxmlformats.org/officeDocument/2006/relationships/slide" Target="slides/slide7.xml"/><Relationship Id="rId57" Type="http://schemas.openxmlformats.org/officeDocument/2006/relationships/font" Target="fonts/RobotoLight-boldItalic.fntdata"/><Relationship Id="rId12" Type="http://schemas.openxmlformats.org/officeDocument/2006/relationships/slide" Target="slides/slide6.xml"/><Relationship Id="rId56" Type="http://schemas.openxmlformats.org/officeDocument/2006/relationships/font" Target="fonts/RobotoLight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seweb.ucsd.edu/~vahdat/papers/b4-sigcomm13.pdf" TargetMode="External"/><Relationship Id="rId3" Type="http://schemas.openxmlformats.org/officeDocument/2006/relationships/hyperlink" Target="https://conferences.sigcomm.org/sigcomm/2013/papers/sigcomm/p15.pdf" TargetMode="Externa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bf44434a5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ebf44434a5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template credit: Josh Hug, Lisa Yan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ebf44434a5_0_14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ebf44434a5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ec0446e54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ec0446e54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ec0446e54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ec0446e54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ec0446e54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ec0446e54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ec0446e54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ec0446e54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ec0446e54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ec0446e54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ec0446e54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ec0446e54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ec0446e545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ec0446e545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ec0446e545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ec0446e545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ec0446e545_0_10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ec0446e545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ec0446e545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ec0446e545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ec0446e545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ec0446e545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ec0446e545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ec0446e545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ec0446e545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ec0446e545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ec0446e545_0_16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ec0446e545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ec0446e545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ec0446e545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ec0446e545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2ec0446e545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ec0446e545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2ec0446e545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ec0446e545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2ec0446e545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ec0446e545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2ec0446e545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ec0446e545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2ec0446e545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2ec0446e545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2ec0446e545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2ec0446e545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2ec0446e545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2ec0446e545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2ec0446e545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2ec0446e545_0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2ec0446e545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2ec0446e545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2ec0446e545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https://cseweb.ucsd.edu/~vahdat/papers/b4-sigcomm13.pdf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https://conferences.sigcomm.org/sigcomm/2013/papers/sigcomm/p15.pdf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2ec0446e545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2ec0446e545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2ec0446e545_0_46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2ec0446e545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2ec0446e545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2ec0446e545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2ec0446e545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2ec0446e545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2ec0446e545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2ec0446e545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2ec0446e545_0_1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2ec0446e545_0_1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2ec0446e545_0_112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2ec0446e545_0_1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2ec0446e545_0_1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2ec0446e545_0_1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2ec0446e545_0_1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2ec0446e545_0_1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2ec0446e545_0_1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2ec0446e545_0_1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2ec0446e545_0_1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2ec0446e545_0_1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2ec0446e545_0_1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2ec0446e545_0_1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2" name="Google Shape;112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7" name="Google Shape;127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cs.cmu.edu/~4D/papers/greenberg-ccr05.pdf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networkcomputing.com/network-infrastructure/nicira-openflow-networking-s-next-big-thing-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cseweb.ucsd.edu/~vahdat/papers/b4-sigcomm13.pdf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www.microsoft.com/en-us/research/wp-content/uploads/2017/01/swan-msrc-jul2013.pdf" TargetMode="External"/><Relationship Id="rId4" Type="http://schemas.openxmlformats.org/officeDocument/2006/relationships/image" Target="../media/image4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storage.googleapis.com/gweb-research2023-media/pubtools/pdf/fab3f179641c4a568fa09ceb9c41cc2db381815b.pdf" TargetMode="External"/><Relationship Id="rId4" Type="http://schemas.openxmlformats.org/officeDocument/2006/relationships/image" Target="../media/image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311700" y="3854350"/>
            <a:ext cx="85206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 168, 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Spring 2026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Sylvia Ratnasamy, Rob Shakir, Peyrin Kao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311700" y="1658975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Software-Defined Networking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20 (Datacenters 3)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Software-Defined Networking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 Brief History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Implementation (OpenFlow API)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Benefits (Traffic Engineering)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SDN in Datacenters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Other Applications of SDN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51" name="Google Shape;151;p2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Software-Defined Networking:</a:t>
            </a:r>
            <a:br>
              <a:rPr lang="en"/>
            </a:br>
            <a:r>
              <a:rPr lang="en"/>
              <a:t>A Brief History</a:t>
            </a:r>
            <a:endParaRPr/>
          </a:p>
        </p:txBody>
      </p:sp>
      <p:sp>
        <p:nvSpPr>
          <p:cNvPr id="152" name="Google Shape;152;p2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20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Software-Defined Networking?</a:t>
            </a:r>
            <a:endParaRPr/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Software-defined networking (SDN) is a new way to think about network management.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far: Routers each run a distributed protocol to compute paths.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What do we do if these protocols don't meet our needs?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Today</a:t>
            </a:r>
            <a:r>
              <a:rPr lang="en"/>
              <a:t>: A centralized piece of code computes paths and gives them to routers.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SDN applies to other aspects of network management as well, but we'll focus on routing.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Innovating Routers</a:t>
            </a:r>
            <a:endParaRPr/>
          </a:p>
        </p:txBody>
      </p:sp>
      <p:sp>
        <p:nvSpPr>
          <p:cNvPr id="164" name="Google Shape;164;p2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want a specialized routing protocol for our own network.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Why is implementing it hard?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Routers are </a:t>
            </a:r>
            <a:r>
              <a:rPr b="1" lang="en"/>
              <a:t>standardized</a:t>
            </a:r>
            <a:r>
              <a:rPr lang="en"/>
              <a:t>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We have to submit our change to a standards body.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We might have to wait years for them to approve it.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Routers are </a:t>
            </a:r>
            <a:r>
              <a:rPr b="1" lang="en"/>
              <a:t>inflexible</a:t>
            </a:r>
            <a:r>
              <a:rPr lang="en"/>
              <a:t>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Major vendors want to implement solutions that work well for everybody.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nobody else wants our protocol, vendors won't build it.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Routers are </a:t>
            </a:r>
            <a:r>
              <a:rPr b="1" lang="en"/>
              <a:t>vertically integrated</a:t>
            </a:r>
            <a:r>
              <a:rPr lang="en"/>
              <a:t>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data, </a:t>
            </a:r>
            <a:r>
              <a:rPr lang="en"/>
              <a:t>control</a:t>
            </a:r>
            <a:r>
              <a:rPr lang="en"/>
              <a:t>, and management planes are all wired on the chips.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No easy way to swap out specific parts of the router.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Similar problems if we want to experiment.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Vendors don't want to build something that might not work.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/>
          <p:nvPr/>
        </p:nvSpPr>
        <p:spPr>
          <a:xfrm>
            <a:off x="6880850" y="1520300"/>
            <a:ext cx="2070300" cy="2294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Developed by an equipment vendor.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Innovating Routers</a:t>
            </a:r>
            <a:endParaRPr/>
          </a:p>
        </p:txBody>
      </p:sp>
      <p:sp>
        <p:nvSpPr>
          <p:cNvPr id="171" name="Google Shape;171;p28"/>
          <p:cNvSpPr txBox="1"/>
          <p:nvPr>
            <p:ph idx="1" type="body"/>
          </p:nvPr>
        </p:nvSpPr>
        <p:spPr>
          <a:xfrm>
            <a:off x="107050" y="402200"/>
            <a:ext cx="66552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Routers are standardized, inflexible, and vertically integrated.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data plane is highly standardized.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Recall: The data plane forwards packets.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Routers from different vendors need to send bits on the wire in the same consistent format.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 much to innovate here (mostly faster speeds).</a:t>
            </a:r>
            <a:endParaRPr/>
          </a:p>
        </p:txBody>
      </p:sp>
      <p:sp>
        <p:nvSpPr>
          <p:cNvPr id="172" name="Google Shape;172;p28"/>
          <p:cNvSpPr/>
          <p:nvPr/>
        </p:nvSpPr>
        <p:spPr>
          <a:xfrm>
            <a:off x="6999450" y="2673674"/>
            <a:ext cx="1854600" cy="5175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 Plane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28"/>
          <p:cNvSpPr/>
          <p:nvPr/>
        </p:nvSpPr>
        <p:spPr>
          <a:xfrm>
            <a:off x="6999450" y="2156075"/>
            <a:ext cx="1854600" cy="51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Control Plane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28"/>
          <p:cNvSpPr/>
          <p:nvPr/>
        </p:nvSpPr>
        <p:spPr>
          <a:xfrm>
            <a:off x="6999450" y="1638475"/>
            <a:ext cx="1854600" cy="5175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Management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Plane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/>
          <p:nvPr/>
        </p:nvSpPr>
        <p:spPr>
          <a:xfrm>
            <a:off x="6880850" y="1520300"/>
            <a:ext cx="2070300" cy="2294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Developed by an equipment vendor.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p2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Innovating Routers</a:t>
            </a:r>
            <a:endParaRPr/>
          </a:p>
        </p:txBody>
      </p:sp>
      <p:sp>
        <p:nvSpPr>
          <p:cNvPr id="181" name="Google Shape;181;p29"/>
          <p:cNvSpPr txBox="1"/>
          <p:nvPr>
            <p:ph idx="1" type="body"/>
          </p:nvPr>
        </p:nvSpPr>
        <p:spPr>
          <a:xfrm>
            <a:off x="107050" y="402200"/>
            <a:ext cx="66552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Routers are standardized, inflexible, and vertically integrated.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control plane is mostly standardized.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Recall: The control plane runs routing protocols.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extensions exist, but routers from different vendors ultimately need to follow the same routing protocol.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want to innovate by creating our own routing protocols.</a:t>
            </a:r>
            <a:endParaRPr/>
          </a:p>
        </p:txBody>
      </p:sp>
      <p:sp>
        <p:nvSpPr>
          <p:cNvPr id="182" name="Google Shape;182;p29"/>
          <p:cNvSpPr/>
          <p:nvPr/>
        </p:nvSpPr>
        <p:spPr>
          <a:xfrm>
            <a:off x="6999450" y="2673674"/>
            <a:ext cx="1854600" cy="5175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 Plane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29"/>
          <p:cNvSpPr/>
          <p:nvPr/>
        </p:nvSpPr>
        <p:spPr>
          <a:xfrm>
            <a:off x="6999450" y="2156075"/>
            <a:ext cx="1854600" cy="51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Control Plane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9"/>
          <p:cNvSpPr/>
          <p:nvPr/>
        </p:nvSpPr>
        <p:spPr>
          <a:xfrm>
            <a:off x="6999450" y="1638475"/>
            <a:ext cx="1854600" cy="5175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Management Plane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Brief History of SDN</a:t>
            </a:r>
            <a:endParaRPr/>
          </a:p>
        </p:txBody>
      </p:sp>
      <p:sp>
        <p:nvSpPr>
          <p:cNvPr id="190" name="Google Shape;190;p30"/>
          <p:cNvSpPr txBox="1"/>
          <p:nvPr>
            <p:ph idx="1" type="body"/>
          </p:nvPr>
        </p:nvSpPr>
        <p:spPr>
          <a:xfrm>
            <a:off x="107050" y="402200"/>
            <a:ext cx="8909700" cy="24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Researchers and network operators began to think about how to better control the network.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led to some radical thinking about how to redesign routers!</a:t>
            </a:r>
            <a:endParaRPr/>
          </a:p>
        </p:txBody>
      </p:sp>
      <p:graphicFrame>
        <p:nvGraphicFramePr>
          <p:cNvPr id="191" name="Google Shape;191;p30"/>
          <p:cNvGraphicFramePr/>
          <p:nvPr/>
        </p:nvGraphicFramePr>
        <p:xfrm>
          <a:off x="2024075" y="21748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{ED36ABF8-2FA5-4E43-B9D7-F598E559F24D}</a:tableStyleId>
              </a:tblPr>
              <a:tblGrid>
                <a:gridCol w="3106475"/>
                <a:gridCol w="868350"/>
                <a:gridCol w="1121025"/>
              </a:tblGrid>
              <a:tr h="40265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 Clean Slate 4D Approach to Network Control and Management</a:t>
                      </a:r>
                      <a:endParaRPr b="1" sz="1600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0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Link</a:t>
                      </a:r>
                      <a:endParaRPr b="1" sz="1600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0" marR="91425" marL="91425">
                    <a:lnL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Albert Greenberg et. al.</a:t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2005</a:t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</a:tr>
              <a:tr h="396225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Today's data networks are surprisingly fragile and difficult to manage. We argue that the root of these problems lies in the complexity of the control and </a:t>
                      </a:r>
                      <a:r>
                        <a:rPr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management</a:t>
                      </a:r>
                      <a:r>
                        <a:rPr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planes.</a:t>
                      </a:r>
                      <a:endParaRPr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Radical Idea: Disaggregating Routers</a:t>
            </a:r>
            <a:endParaRPr/>
          </a:p>
        </p:txBody>
      </p:sp>
      <p:sp>
        <p:nvSpPr>
          <p:cNvPr id="197" name="Google Shape;197;p31"/>
          <p:cNvSpPr txBox="1"/>
          <p:nvPr>
            <p:ph idx="1" type="body"/>
          </p:nvPr>
        </p:nvSpPr>
        <p:spPr>
          <a:xfrm>
            <a:off x="107050" y="402200"/>
            <a:ext cx="4929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Radical idea: Split the network planes apart.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plane has an API that communicates to the plane below it.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Allows for more customization and innovation at the control plane.</a:t>
            </a:r>
            <a:endParaRPr/>
          </a:p>
        </p:txBody>
      </p:sp>
      <p:sp>
        <p:nvSpPr>
          <p:cNvPr id="198" name="Google Shape;198;p31"/>
          <p:cNvSpPr/>
          <p:nvPr/>
        </p:nvSpPr>
        <p:spPr>
          <a:xfrm>
            <a:off x="6967100" y="3585199"/>
            <a:ext cx="1854600" cy="5175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 Plane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31"/>
          <p:cNvSpPr/>
          <p:nvPr/>
        </p:nvSpPr>
        <p:spPr>
          <a:xfrm>
            <a:off x="6967100" y="2458000"/>
            <a:ext cx="1854600" cy="51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Control Plane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31"/>
          <p:cNvSpPr/>
          <p:nvPr/>
        </p:nvSpPr>
        <p:spPr>
          <a:xfrm>
            <a:off x="6967100" y="1330800"/>
            <a:ext cx="1854600" cy="5175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Management Plane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1" name="Google Shape;201;p31"/>
          <p:cNvCxnSpPr>
            <a:stCxn id="200" idx="2"/>
            <a:endCxn id="199" idx="0"/>
          </p:cNvCxnSpPr>
          <p:nvPr/>
        </p:nvCxnSpPr>
        <p:spPr>
          <a:xfrm>
            <a:off x="7894400" y="1848300"/>
            <a:ext cx="0" cy="60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2" name="Google Shape;202;p31"/>
          <p:cNvCxnSpPr>
            <a:stCxn id="199" idx="2"/>
            <a:endCxn id="198" idx="0"/>
          </p:cNvCxnSpPr>
          <p:nvPr/>
        </p:nvCxnSpPr>
        <p:spPr>
          <a:xfrm>
            <a:off x="7894400" y="2975500"/>
            <a:ext cx="0" cy="60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3" name="Google Shape;203;p31"/>
          <p:cNvCxnSpPr/>
          <p:nvPr/>
        </p:nvCxnSpPr>
        <p:spPr>
          <a:xfrm>
            <a:off x="6471075" y="2153100"/>
            <a:ext cx="2544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31"/>
          <p:cNvCxnSpPr/>
          <p:nvPr/>
        </p:nvCxnSpPr>
        <p:spPr>
          <a:xfrm>
            <a:off x="6471075" y="3280300"/>
            <a:ext cx="2544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5" name="Google Shape;205;p31"/>
          <p:cNvSpPr txBox="1"/>
          <p:nvPr/>
        </p:nvSpPr>
        <p:spPr>
          <a:xfrm>
            <a:off x="6471075" y="1937700"/>
            <a:ext cx="317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API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31"/>
          <p:cNvSpPr txBox="1"/>
          <p:nvPr/>
        </p:nvSpPr>
        <p:spPr>
          <a:xfrm>
            <a:off x="6471075" y="3064900"/>
            <a:ext cx="317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API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1" name="Google Shape;211;p32"/>
          <p:cNvCxnSpPr>
            <a:endCxn id="212" idx="0"/>
          </p:cNvCxnSpPr>
          <p:nvPr/>
        </p:nvCxnSpPr>
        <p:spPr>
          <a:xfrm>
            <a:off x="3263900" y="2911900"/>
            <a:ext cx="0" cy="99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3" name="Google Shape;213;p32"/>
          <p:cNvCxnSpPr>
            <a:endCxn id="214" idx="0"/>
          </p:cNvCxnSpPr>
          <p:nvPr/>
        </p:nvCxnSpPr>
        <p:spPr>
          <a:xfrm>
            <a:off x="2466338" y="2911900"/>
            <a:ext cx="0" cy="99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5" name="Google Shape;215;p32"/>
          <p:cNvCxnSpPr>
            <a:endCxn id="216" idx="0"/>
          </p:cNvCxnSpPr>
          <p:nvPr/>
        </p:nvCxnSpPr>
        <p:spPr>
          <a:xfrm>
            <a:off x="1750748" y="2924744"/>
            <a:ext cx="0" cy="127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" name="Google Shape;217;p32"/>
          <p:cNvCxnSpPr>
            <a:endCxn id="218" idx="0"/>
          </p:cNvCxnSpPr>
          <p:nvPr/>
        </p:nvCxnSpPr>
        <p:spPr>
          <a:xfrm>
            <a:off x="1317650" y="2926600"/>
            <a:ext cx="0" cy="58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" name="Google Shape;219;p32"/>
          <p:cNvCxnSpPr>
            <a:endCxn id="220" idx="0"/>
          </p:cNvCxnSpPr>
          <p:nvPr/>
        </p:nvCxnSpPr>
        <p:spPr>
          <a:xfrm>
            <a:off x="683300" y="2902900"/>
            <a:ext cx="0" cy="110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1" name="Google Shape;221;p3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Radical Idea: A New View</a:t>
            </a:r>
            <a:endParaRPr/>
          </a:p>
        </p:txBody>
      </p:sp>
      <p:sp>
        <p:nvSpPr>
          <p:cNvPr id="222" name="Google Shape;222;p32"/>
          <p:cNvSpPr txBox="1"/>
          <p:nvPr>
            <p:ph idx="1" type="body"/>
          </p:nvPr>
        </p:nvSpPr>
        <p:spPr>
          <a:xfrm>
            <a:off x="107050" y="402200"/>
            <a:ext cx="8909700" cy="6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Radical idea: A totally new system architecture that splits up the three planes.</a:t>
            </a:r>
            <a:endParaRPr/>
          </a:p>
        </p:txBody>
      </p:sp>
      <p:sp>
        <p:nvSpPr>
          <p:cNvPr id="223" name="Google Shape;223;p32"/>
          <p:cNvSpPr/>
          <p:nvPr/>
        </p:nvSpPr>
        <p:spPr>
          <a:xfrm>
            <a:off x="486500" y="1302775"/>
            <a:ext cx="2974200" cy="51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Control Program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32"/>
          <p:cNvSpPr/>
          <p:nvPr/>
        </p:nvSpPr>
        <p:spPr>
          <a:xfrm>
            <a:off x="486500" y="2422650"/>
            <a:ext cx="2974200" cy="517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OS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32"/>
          <p:cNvSpPr/>
          <p:nvPr/>
        </p:nvSpPr>
        <p:spPr>
          <a:xfrm>
            <a:off x="486500" y="4006600"/>
            <a:ext cx="393600" cy="393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32"/>
          <p:cNvSpPr/>
          <p:nvPr/>
        </p:nvSpPr>
        <p:spPr>
          <a:xfrm>
            <a:off x="1120850" y="3509800"/>
            <a:ext cx="393600" cy="393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32"/>
          <p:cNvSpPr/>
          <p:nvPr/>
        </p:nvSpPr>
        <p:spPr>
          <a:xfrm>
            <a:off x="1553948" y="4197044"/>
            <a:ext cx="393600" cy="393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32"/>
          <p:cNvSpPr/>
          <p:nvPr/>
        </p:nvSpPr>
        <p:spPr>
          <a:xfrm>
            <a:off x="2269538" y="3903400"/>
            <a:ext cx="393600" cy="393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32"/>
          <p:cNvSpPr/>
          <p:nvPr/>
        </p:nvSpPr>
        <p:spPr>
          <a:xfrm>
            <a:off x="3067100" y="3903400"/>
            <a:ext cx="393600" cy="393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5" name="Google Shape;225;p32"/>
          <p:cNvCxnSpPr>
            <a:stCxn id="220" idx="3"/>
            <a:endCxn id="218" idx="1"/>
          </p:cNvCxnSpPr>
          <p:nvPr/>
        </p:nvCxnSpPr>
        <p:spPr>
          <a:xfrm flipH="1" rot="10800000">
            <a:off x="880100" y="3706600"/>
            <a:ext cx="240900" cy="49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32"/>
          <p:cNvCxnSpPr>
            <a:stCxn id="220" idx="3"/>
            <a:endCxn id="216" idx="1"/>
          </p:cNvCxnSpPr>
          <p:nvPr/>
        </p:nvCxnSpPr>
        <p:spPr>
          <a:xfrm>
            <a:off x="880100" y="4203400"/>
            <a:ext cx="673800" cy="19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" name="Google Shape;227;p32"/>
          <p:cNvCxnSpPr>
            <a:stCxn id="218" idx="3"/>
            <a:endCxn id="214" idx="1"/>
          </p:cNvCxnSpPr>
          <p:nvPr/>
        </p:nvCxnSpPr>
        <p:spPr>
          <a:xfrm>
            <a:off x="1514450" y="3706600"/>
            <a:ext cx="755100" cy="39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32"/>
          <p:cNvCxnSpPr>
            <a:stCxn id="216" idx="3"/>
            <a:endCxn id="214" idx="1"/>
          </p:cNvCxnSpPr>
          <p:nvPr/>
        </p:nvCxnSpPr>
        <p:spPr>
          <a:xfrm flipH="1" rot="10800000">
            <a:off x="1947548" y="4100144"/>
            <a:ext cx="321900" cy="29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32"/>
          <p:cNvCxnSpPr>
            <a:stCxn id="214" idx="3"/>
            <a:endCxn id="212" idx="1"/>
          </p:cNvCxnSpPr>
          <p:nvPr/>
        </p:nvCxnSpPr>
        <p:spPr>
          <a:xfrm>
            <a:off x="2663138" y="4100200"/>
            <a:ext cx="40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32"/>
          <p:cNvCxnSpPr>
            <a:stCxn id="223" idx="2"/>
            <a:endCxn id="224" idx="0"/>
          </p:cNvCxnSpPr>
          <p:nvPr/>
        </p:nvCxnSpPr>
        <p:spPr>
          <a:xfrm>
            <a:off x="1973600" y="1820275"/>
            <a:ext cx="0" cy="60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1" name="Google Shape;231;p32"/>
          <p:cNvSpPr txBox="1"/>
          <p:nvPr/>
        </p:nvSpPr>
        <p:spPr>
          <a:xfrm>
            <a:off x="3699825" y="1146475"/>
            <a:ext cx="42486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Operator receives a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network abstraction (e.g. graph)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from the OS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computes routing decisions.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Allows the operator to use their own routing protocol.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32"/>
          <p:cNvSpPr txBox="1"/>
          <p:nvPr/>
        </p:nvSpPr>
        <p:spPr>
          <a:xfrm>
            <a:off x="3699825" y="2374050"/>
            <a:ext cx="5230800" cy="6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Provides a network abstraction (e.g. graph) to the operator.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Takes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the operator's decisions and uses them to program routers.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32"/>
          <p:cNvSpPr txBox="1"/>
          <p:nvPr/>
        </p:nvSpPr>
        <p:spPr>
          <a:xfrm>
            <a:off x="3699825" y="3685150"/>
            <a:ext cx="4949400" cy="6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Commodity routers that forward based on operator decisions.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Can be cheap – they don't need to compute routing protocols.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Brief History of SDN</a:t>
            </a:r>
            <a:endParaRPr/>
          </a:p>
        </p:txBody>
      </p:sp>
      <p:sp>
        <p:nvSpPr>
          <p:cNvPr id="239" name="Google Shape;239;p33"/>
          <p:cNvSpPr txBox="1"/>
          <p:nvPr>
            <p:ph idx="1" type="body"/>
          </p:nvPr>
        </p:nvSpPr>
        <p:spPr>
          <a:xfrm>
            <a:off x="107050" y="402200"/>
            <a:ext cx="8718900" cy="37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Separating the control and data planes isn't a new idea.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2003: IETF created a working group to study this concept.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Forwarding and Control Element Separation (ForCES).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Didn't get significant momentum.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2004: New management paradigms being researched.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RCP, 4D at Princeton, CMU. SANE, Ethane at Stanford, UC Berkeley.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2008: More momentum. OpenFlow interface at Stanford, Nicira.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2011: Industry acceptance. Open Networking Foundation (ONF) created with tech companies (Google, Microsoft) and vendors (Cisco, Juniper, HP, Dell).</a:t>
            </a:r>
            <a:endParaRPr/>
          </a:p>
        </p:txBody>
      </p:sp>
      <p:graphicFrame>
        <p:nvGraphicFramePr>
          <p:cNvPr id="240" name="Google Shape;240;p33"/>
          <p:cNvGraphicFramePr/>
          <p:nvPr/>
        </p:nvGraphicFramePr>
        <p:xfrm>
          <a:off x="318150" y="36738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{ED36ABF8-2FA5-4E43-B9D7-F598E559F24D}</a:tableStyleId>
              </a:tblPr>
              <a:tblGrid>
                <a:gridCol w="5186350"/>
                <a:gridCol w="1449750"/>
                <a:gridCol w="1871600"/>
              </a:tblGrid>
              <a:tr h="227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Nicira OpenFlow: Networking's Next Big Thing?</a:t>
                      </a:r>
                      <a:endParaRPr b="1" sz="1600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Link</a:t>
                      </a:r>
                      <a:endParaRPr b="1" sz="1600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0" marR="91425" marL="91425">
                    <a:lnL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</a:tr>
              <a:tr h="2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Charles</a:t>
                      </a:r>
                      <a:r>
                        <a:rPr i="1"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Babcock</a:t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February 4, 2012</a:t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</a:tr>
              <a:tr h="22375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$40-million startup emerges with OpenFlow platform for virtualizing the network as effectively as servers.</a:t>
                      </a:r>
                      <a:endParaRPr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4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Software-Defined Networking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 Brief History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Implementation (OpenFlow API)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Benefits (Traffic Engineering)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SDN in Datacenters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Other Applications of SDN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246" name="Google Shape;246;p34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Implementation: OpenFlow API</a:t>
            </a:r>
            <a:endParaRPr/>
          </a:p>
        </p:txBody>
      </p:sp>
      <p:sp>
        <p:nvSpPr>
          <p:cNvPr id="247" name="Google Shape;247;p34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20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OpenFlow API</a:t>
            </a:r>
            <a:endParaRPr/>
          </a:p>
        </p:txBody>
      </p:sp>
      <p:sp>
        <p:nvSpPr>
          <p:cNvPr id="253" name="Google Shape;253;p35"/>
          <p:cNvSpPr txBox="1"/>
          <p:nvPr>
            <p:ph idx="1" type="body"/>
          </p:nvPr>
        </p:nvSpPr>
        <p:spPr>
          <a:xfrm>
            <a:off x="107050" y="402200"/>
            <a:ext cx="6018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 separate the control and data plane, we need an API.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operator runs its own </a:t>
            </a:r>
            <a:r>
              <a:rPr lang="en"/>
              <a:t>fancy code and outputs routing decisions.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operator installs these routes onto the forwarding chips.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need a specific format for these decisions that both operators and chips understand.</a:t>
            </a:r>
            <a:endParaRPr/>
          </a:p>
        </p:txBody>
      </p:sp>
      <p:sp>
        <p:nvSpPr>
          <p:cNvPr id="254" name="Google Shape;254;p35"/>
          <p:cNvSpPr/>
          <p:nvPr/>
        </p:nvSpPr>
        <p:spPr>
          <a:xfrm>
            <a:off x="6968175" y="1371950"/>
            <a:ext cx="1854600" cy="99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Control Plane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(operator code)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5" name="Google Shape;255;p35"/>
          <p:cNvCxnSpPr>
            <a:stCxn id="254" idx="2"/>
            <a:endCxn id="256" idx="0"/>
          </p:cNvCxnSpPr>
          <p:nvPr/>
        </p:nvCxnSpPr>
        <p:spPr>
          <a:xfrm>
            <a:off x="7895475" y="2362550"/>
            <a:ext cx="0" cy="60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57" name="Google Shape;257;p35"/>
          <p:cNvCxnSpPr/>
          <p:nvPr/>
        </p:nvCxnSpPr>
        <p:spPr>
          <a:xfrm>
            <a:off x="6472150" y="2667450"/>
            <a:ext cx="2544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58" name="Google Shape;258;p35"/>
          <p:cNvSpPr txBox="1"/>
          <p:nvPr/>
        </p:nvSpPr>
        <p:spPr>
          <a:xfrm>
            <a:off x="6472150" y="2452050"/>
            <a:ext cx="317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API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35"/>
          <p:cNvSpPr/>
          <p:nvPr/>
        </p:nvSpPr>
        <p:spPr>
          <a:xfrm>
            <a:off x="6968175" y="2972350"/>
            <a:ext cx="1854600" cy="990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 Plane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(commodity routers)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OpenFlow API Format – Flow Tables</a:t>
            </a:r>
            <a:endParaRPr/>
          </a:p>
        </p:txBody>
      </p:sp>
      <p:sp>
        <p:nvSpPr>
          <p:cNvPr id="265" name="Google Shape;265;p36"/>
          <p:cNvSpPr txBox="1"/>
          <p:nvPr>
            <p:ph idx="1" type="body"/>
          </p:nvPr>
        </p:nvSpPr>
        <p:spPr>
          <a:xfrm>
            <a:off x="107050" y="402200"/>
            <a:ext cx="8909700" cy="23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basic building block is a </a:t>
            </a:r>
            <a:r>
              <a:rPr b="1" lang="en"/>
              <a:t>flow table</a:t>
            </a:r>
            <a:r>
              <a:rPr lang="en"/>
              <a:t>, a more generalized forwarding table.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Maps matches to actions.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Matches can include more than just the destination IP.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5-tuple to match a specific flow.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Actions can be more than just sending to a specific next-hop.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Encapsulation and </a:t>
            </a:r>
            <a:r>
              <a:rPr lang="en"/>
              <a:t>decapsulation.</a:t>
            </a:r>
            <a:endParaRPr/>
          </a:p>
        </p:txBody>
      </p:sp>
      <p:graphicFrame>
        <p:nvGraphicFramePr>
          <p:cNvPr id="266" name="Google Shape;266;p36"/>
          <p:cNvGraphicFramePr/>
          <p:nvPr/>
        </p:nvGraphicFramePr>
        <p:xfrm>
          <a:off x="952500" y="2993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{ED36ABF8-2FA5-4E43-B9D7-F598E559F24D}</a:tableStyleId>
              </a:tblPr>
              <a:tblGrid>
                <a:gridCol w="3993375"/>
                <a:gridCol w="32456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Example Flow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Match: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Action: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IP is in 192.168.0.0/16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Forward to next-hop 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5-tuple is exactly (1.1.1.1, 2.2.2.2, TCP, 255, 53)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Add encapsulation and forward to 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is exactly 10.2.15.3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Decapsulate and forward to 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OpenFlow API Format – Flow Tables</a:t>
            </a:r>
            <a:endParaRPr/>
          </a:p>
        </p:txBody>
      </p:sp>
      <p:sp>
        <p:nvSpPr>
          <p:cNvPr id="272" name="Google Shape;272;p37"/>
          <p:cNvSpPr txBox="1"/>
          <p:nvPr>
            <p:ph idx="1" type="body"/>
          </p:nvPr>
        </p:nvSpPr>
        <p:spPr>
          <a:xfrm>
            <a:off x="107050" y="402200"/>
            <a:ext cx="8909700" cy="27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operator writes routing decisions as a sequence of numbered flow tables.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table maps matches to actions, just like we saw.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Packet is matched against each table in order, and actions are added.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Could add special actions like "skip to Table 2," or "clear all actions so far."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we reach the last table, all actions are applied (e.g. packet is sent out).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don't need to know the exact syntax, just the general idea.</a:t>
            </a:r>
            <a:endParaRPr/>
          </a:p>
        </p:txBody>
      </p:sp>
      <p:sp>
        <p:nvSpPr>
          <p:cNvPr id="273" name="Google Shape;273;p37"/>
          <p:cNvSpPr/>
          <p:nvPr/>
        </p:nvSpPr>
        <p:spPr>
          <a:xfrm>
            <a:off x="2479375" y="3636375"/>
            <a:ext cx="905700" cy="9057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Table 0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37"/>
          <p:cNvSpPr/>
          <p:nvPr/>
        </p:nvSpPr>
        <p:spPr>
          <a:xfrm>
            <a:off x="4109050" y="3636375"/>
            <a:ext cx="905700" cy="9057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Table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p37"/>
          <p:cNvSpPr/>
          <p:nvPr/>
        </p:nvSpPr>
        <p:spPr>
          <a:xfrm>
            <a:off x="5738725" y="3636375"/>
            <a:ext cx="905700" cy="9057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Table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6" name="Google Shape;276;p37"/>
          <p:cNvCxnSpPr>
            <a:stCxn id="273" idx="3"/>
            <a:endCxn id="274" idx="1"/>
          </p:cNvCxnSpPr>
          <p:nvPr/>
        </p:nvCxnSpPr>
        <p:spPr>
          <a:xfrm>
            <a:off x="3385075" y="4089225"/>
            <a:ext cx="723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" name="Google Shape;277;p37"/>
          <p:cNvCxnSpPr>
            <a:stCxn id="274" idx="3"/>
            <a:endCxn id="275" idx="1"/>
          </p:cNvCxnSpPr>
          <p:nvPr/>
        </p:nvCxnSpPr>
        <p:spPr>
          <a:xfrm>
            <a:off x="5014750" y="4089225"/>
            <a:ext cx="723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8" name="Google Shape;278;p37"/>
          <p:cNvCxnSpPr>
            <a:stCxn id="275" idx="3"/>
          </p:cNvCxnSpPr>
          <p:nvPr/>
        </p:nvCxnSpPr>
        <p:spPr>
          <a:xfrm>
            <a:off x="6644425" y="4089225"/>
            <a:ext cx="723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9" name="Google Shape;279;p37"/>
          <p:cNvCxnSpPr>
            <a:endCxn id="273" idx="1"/>
          </p:cNvCxnSpPr>
          <p:nvPr/>
        </p:nvCxnSpPr>
        <p:spPr>
          <a:xfrm>
            <a:off x="1755475" y="4089225"/>
            <a:ext cx="723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8"/>
          <p:cNvSpPr/>
          <p:nvPr/>
        </p:nvSpPr>
        <p:spPr>
          <a:xfrm>
            <a:off x="6502200" y="2093925"/>
            <a:ext cx="2046600" cy="1455000"/>
          </a:xfrm>
          <a:prstGeom prst="roundRect">
            <a:avLst>
              <a:gd fmla="val 10581" name="adj"/>
            </a:avLst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3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OpenFlow API Format – Flow Tables</a:t>
            </a:r>
            <a:endParaRPr/>
          </a:p>
        </p:txBody>
      </p:sp>
      <p:sp>
        <p:nvSpPr>
          <p:cNvPr id="286" name="Google Shape;286;p38"/>
          <p:cNvSpPr txBox="1"/>
          <p:nvPr>
            <p:ph idx="1" type="body"/>
          </p:nvPr>
        </p:nvSpPr>
        <p:spPr>
          <a:xfrm>
            <a:off x="107050" y="402200"/>
            <a:ext cx="4756800" cy="44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Flow tables are still constrained by what forwarding chips can do in hardware.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practice, matches tend to be similar to "classic" forwarding tables.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Longest-prefix matching on destination IP addresses.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Policy-based routing on 5-tuples.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Exact match on virtual network ID.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Remember: The advantage is letting the operator decide the policies.</a:t>
            </a:r>
            <a:endParaRPr/>
          </a:p>
        </p:txBody>
      </p:sp>
      <p:sp>
        <p:nvSpPr>
          <p:cNvPr id="287" name="Google Shape;287;p38"/>
          <p:cNvSpPr/>
          <p:nvPr/>
        </p:nvSpPr>
        <p:spPr>
          <a:xfrm>
            <a:off x="6587175" y="762350"/>
            <a:ext cx="1854600" cy="99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Control Plane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(operator code)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8" name="Google Shape;288;p38"/>
          <p:cNvCxnSpPr>
            <a:stCxn id="287" idx="2"/>
            <a:endCxn id="289" idx="0"/>
          </p:cNvCxnSpPr>
          <p:nvPr/>
        </p:nvCxnSpPr>
        <p:spPr>
          <a:xfrm>
            <a:off x="7514475" y="1752950"/>
            <a:ext cx="0" cy="213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90" name="Google Shape;290;p38"/>
          <p:cNvSpPr txBox="1"/>
          <p:nvPr/>
        </p:nvSpPr>
        <p:spPr>
          <a:xfrm>
            <a:off x="5297700" y="2713725"/>
            <a:ext cx="1204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API: OpenFlow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p38"/>
          <p:cNvSpPr/>
          <p:nvPr/>
        </p:nvSpPr>
        <p:spPr>
          <a:xfrm>
            <a:off x="6587175" y="3886750"/>
            <a:ext cx="1854600" cy="990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 Plane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(commodity routers)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91" name="Google Shape;291;p38"/>
          <p:cNvGraphicFramePr/>
          <p:nvPr/>
        </p:nvGraphicFramePr>
        <p:xfrm>
          <a:off x="6610475" y="2179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{ED36ABF8-2FA5-4E43-B9D7-F598E559F24D}</a:tableStyleId>
              </a:tblPr>
              <a:tblGrid>
                <a:gridCol w="675400"/>
                <a:gridCol w="675400"/>
              </a:tblGrid>
              <a:tr h="1312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Table 2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 hMerge="1"/>
              </a:tr>
              <a:tr h="13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</a:tr>
              <a:tr h="13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2" name="Google Shape;292;p38"/>
          <p:cNvGraphicFramePr/>
          <p:nvPr/>
        </p:nvGraphicFramePr>
        <p:xfrm>
          <a:off x="6839075" y="2408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{ED36ABF8-2FA5-4E43-B9D7-F598E559F24D}</a:tableStyleId>
              </a:tblPr>
              <a:tblGrid>
                <a:gridCol w="675400"/>
                <a:gridCol w="675400"/>
              </a:tblGrid>
              <a:tr h="1312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Table 1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 hMerge="1"/>
              </a:tr>
              <a:tr h="13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13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3" name="Google Shape;293;p38"/>
          <p:cNvGraphicFramePr/>
          <p:nvPr/>
        </p:nvGraphicFramePr>
        <p:xfrm>
          <a:off x="7067675" y="263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{ED36ABF8-2FA5-4E43-B9D7-F598E559F24D}</a:tableStyleId>
              </a:tblPr>
              <a:tblGrid>
                <a:gridCol w="675400"/>
                <a:gridCol w="675400"/>
              </a:tblGrid>
              <a:tr h="1312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Table 0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 hMerge="1"/>
              </a:tr>
              <a:tr h="13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Match: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Action: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13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9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Software-Defined Networking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 Brief History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Implementation (OpenFlow API)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Benefits (Traffic Engineering)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SDN in Datacenters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Other Applications of SDN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299" name="Google Shape;299;p39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(Traffic Engineering)</a:t>
            </a:r>
            <a:endParaRPr/>
          </a:p>
        </p:txBody>
      </p:sp>
      <p:sp>
        <p:nvSpPr>
          <p:cNvPr id="300" name="Google Shape;300;p39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20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/>
          <p:nvPr/>
        </p:nvSpPr>
        <p:spPr>
          <a:xfrm>
            <a:off x="3585025" y="3519066"/>
            <a:ext cx="3624775" cy="829675"/>
          </a:xfrm>
          <a:custGeom>
            <a:rect b="b" l="l" r="r" t="t"/>
            <a:pathLst>
              <a:path extrusionOk="0" h="33187" w="144991">
                <a:moveTo>
                  <a:pt x="0" y="1523"/>
                </a:moveTo>
                <a:cubicBezTo>
                  <a:pt x="5468" y="1664"/>
                  <a:pt x="20920" y="-2498"/>
                  <a:pt x="32808" y="2370"/>
                </a:cubicBezTo>
                <a:cubicBezTo>
                  <a:pt x="44697" y="7238"/>
                  <a:pt x="56267" y="26036"/>
                  <a:pt x="71331" y="30733"/>
                </a:cubicBezTo>
                <a:cubicBezTo>
                  <a:pt x="86395" y="35430"/>
                  <a:pt x="110913" y="32241"/>
                  <a:pt x="123190" y="30553"/>
                </a:cubicBezTo>
                <a:cubicBezTo>
                  <a:pt x="135467" y="28865"/>
                  <a:pt x="141358" y="22263"/>
                  <a:pt x="144991" y="20605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06" name="Google Shape;306;p4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Traffic Engineering</a:t>
            </a:r>
            <a:endParaRPr/>
          </a:p>
        </p:txBody>
      </p:sp>
      <p:sp>
        <p:nvSpPr>
          <p:cNvPr id="307" name="Google Shape;307;p40"/>
          <p:cNvSpPr txBox="1"/>
          <p:nvPr>
            <p:ph idx="1" type="body"/>
          </p:nvPr>
        </p:nvSpPr>
        <p:spPr>
          <a:xfrm>
            <a:off x="107050" y="402200"/>
            <a:ext cx="8909700" cy="24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flexible control plane lets the operator compute more intelligent routes.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 standard shortest-path routing, both flows use the bottom path.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bottom path is congested: 20 Gbps over a 10 Gbps link.</a:t>
            </a:r>
            <a:endParaRPr/>
          </a:p>
        </p:txBody>
      </p:sp>
      <p:sp>
        <p:nvSpPr>
          <p:cNvPr id="308" name="Google Shape;308;p40"/>
          <p:cNvSpPr/>
          <p:nvPr/>
        </p:nvSpPr>
        <p:spPr>
          <a:xfrm>
            <a:off x="4157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9" name="Google Shape;309;p40"/>
          <p:cNvCxnSpPr>
            <a:stCxn id="308" idx="1"/>
            <a:endCxn id="310" idx="6"/>
          </p:cNvCxnSpPr>
          <p:nvPr/>
        </p:nvCxnSpPr>
        <p:spPr>
          <a:xfrm rot="10800000">
            <a:off x="3680363" y="3621400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0" name="Google Shape;310;p40"/>
          <p:cNvSpPr/>
          <p:nvPr/>
        </p:nvSpPr>
        <p:spPr>
          <a:xfrm>
            <a:off x="3395363" y="3478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1" name="Google Shape;311;p40"/>
          <p:cNvCxnSpPr>
            <a:stCxn id="312" idx="1"/>
            <a:endCxn id="313" idx="6"/>
          </p:cNvCxnSpPr>
          <p:nvPr/>
        </p:nvCxnSpPr>
        <p:spPr>
          <a:xfrm rot="10800000">
            <a:off x="3680363" y="4383400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4" name="Google Shape;314;p40"/>
          <p:cNvSpPr/>
          <p:nvPr/>
        </p:nvSpPr>
        <p:spPr>
          <a:xfrm>
            <a:off x="5300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5" name="Google Shape;315;p40"/>
          <p:cNvCxnSpPr>
            <a:stCxn id="314" idx="1"/>
            <a:endCxn id="308" idx="3"/>
          </p:cNvCxnSpPr>
          <p:nvPr/>
        </p:nvCxnSpPr>
        <p:spPr>
          <a:xfrm rot="10800000">
            <a:off x="4442363" y="3621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" name="Google Shape;316;p40"/>
          <p:cNvCxnSpPr>
            <a:stCxn id="317" idx="1"/>
            <a:endCxn id="308" idx="3"/>
          </p:cNvCxnSpPr>
          <p:nvPr/>
        </p:nvCxnSpPr>
        <p:spPr>
          <a:xfrm rot="10800000">
            <a:off x="4442363" y="3621400"/>
            <a:ext cx="858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40"/>
          <p:cNvCxnSpPr>
            <a:stCxn id="314" idx="1"/>
            <a:endCxn id="312" idx="3"/>
          </p:cNvCxnSpPr>
          <p:nvPr/>
        </p:nvCxnSpPr>
        <p:spPr>
          <a:xfrm flipH="1">
            <a:off x="4442363" y="3621400"/>
            <a:ext cx="858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40"/>
          <p:cNvCxnSpPr>
            <a:stCxn id="317" idx="1"/>
            <a:endCxn id="312" idx="3"/>
          </p:cNvCxnSpPr>
          <p:nvPr/>
        </p:nvCxnSpPr>
        <p:spPr>
          <a:xfrm rot="10800000">
            <a:off x="4442363" y="4383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0" name="Google Shape;320;p40"/>
          <p:cNvSpPr/>
          <p:nvPr/>
        </p:nvSpPr>
        <p:spPr>
          <a:xfrm>
            <a:off x="6443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1" name="Google Shape;321;p40"/>
          <p:cNvCxnSpPr>
            <a:stCxn id="322" idx="1"/>
            <a:endCxn id="317" idx="3"/>
          </p:cNvCxnSpPr>
          <p:nvPr/>
        </p:nvCxnSpPr>
        <p:spPr>
          <a:xfrm rot="10800000">
            <a:off x="5585363" y="4383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40"/>
          <p:cNvCxnSpPr>
            <a:stCxn id="324" idx="1"/>
            <a:endCxn id="314" idx="3"/>
          </p:cNvCxnSpPr>
          <p:nvPr/>
        </p:nvCxnSpPr>
        <p:spPr>
          <a:xfrm rot="10800000">
            <a:off x="5585363" y="3621400"/>
            <a:ext cx="286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4" name="Google Shape;324;p40"/>
          <p:cNvSpPr/>
          <p:nvPr/>
        </p:nvSpPr>
        <p:spPr>
          <a:xfrm>
            <a:off x="58718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5" name="Google Shape;325;p40"/>
          <p:cNvCxnSpPr>
            <a:stCxn id="320" idx="1"/>
            <a:endCxn id="324" idx="3"/>
          </p:cNvCxnSpPr>
          <p:nvPr/>
        </p:nvCxnSpPr>
        <p:spPr>
          <a:xfrm rot="10800000">
            <a:off x="6156863" y="3621400"/>
            <a:ext cx="286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6" name="Google Shape;326;p40"/>
          <p:cNvSpPr/>
          <p:nvPr/>
        </p:nvSpPr>
        <p:spPr>
          <a:xfrm>
            <a:off x="7205363" y="3859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7" name="Google Shape;327;p40"/>
          <p:cNvCxnSpPr>
            <a:stCxn id="326" idx="1"/>
            <a:endCxn id="320" idx="3"/>
          </p:cNvCxnSpPr>
          <p:nvPr/>
        </p:nvCxnSpPr>
        <p:spPr>
          <a:xfrm rot="10800000">
            <a:off x="6728400" y="3621437"/>
            <a:ext cx="518700" cy="2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40"/>
          <p:cNvCxnSpPr>
            <a:stCxn id="326" idx="3"/>
            <a:endCxn id="322" idx="3"/>
          </p:cNvCxnSpPr>
          <p:nvPr/>
        </p:nvCxnSpPr>
        <p:spPr>
          <a:xfrm flipH="1">
            <a:off x="6728400" y="4103162"/>
            <a:ext cx="518700" cy="2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40"/>
          <p:cNvSpPr txBox="1"/>
          <p:nvPr/>
        </p:nvSpPr>
        <p:spPr>
          <a:xfrm>
            <a:off x="4795625" y="4696025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 links 10 Gbps.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40"/>
          <p:cNvSpPr/>
          <p:nvPr/>
        </p:nvSpPr>
        <p:spPr>
          <a:xfrm>
            <a:off x="3574425" y="4143250"/>
            <a:ext cx="3701350" cy="337750"/>
          </a:xfrm>
          <a:custGeom>
            <a:rect b="b" l="l" r="r" t="t"/>
            <a:pathLst>
              <a:path extrusionOk="0" h="13510" w="148054">
                <a:moveTo>
                  <a:pt x="0" y="12963"/>
                </a:moveTo>
                <a:cubicBezTo>
                  <a:pt x="19391" y="12871"/>
                  <a:pt x="91670" y="14569"/>
                  <a:pt x="116346" y="12408"/>
                </a:cubicBezTo>
                <a:cubicBezTo>
                  <a:pt x="141022" y="10248"/>
                  <a:pt x="142769" y="2068"/>
                  <a:pt x="148054" y="0"/>
                </a:cubicBez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12" name="Google Shape;312;p40"/>
          <p:cNvSpPr/>
          <p:nvPr/>
        </p:nvSpPr>
        <p:spPr>
          <a:xfrm>
            <a:off x="4157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40"/>
          <p:cNvSpPr/>
          <p:nvPr/>
        </p:nvSpPr>
        <p:spPr>
          <a:xfrm>
            <a:off x="5300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Google Shape;322;p40"/>
          <p:cNvSpPr/>
          <p:nvPr/>
        </p:nvSpPr>
        <p:spPr>
          <a:xfrm>
            <a:off x="6443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40"/>
          <p:cNvSpPr/>
          <p:nvPr/>
        </p:nvSpPr>
        <p:spPr>
          <a:xfrm>
            <a:off x="3395363" y="4240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40"/>
          <p:cNvSpPr txBox="1"/>
          <p:nvPr/>
        </p:nvSpPr>
        <p:spPr>
          <a:xfrm>
            <a:off x="1665800" y="3513700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A → C = 10 Gbps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40"/>
          <p:cNvSpPr txBox="1"/>
          <p:nvPr/>
        </p:nvSpPr>
        <p:spPr>
          <a:xfrm>
            <a:off x="1665800" y="4275700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B → C = 10 Gbps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1"/>
          <p:cNvSpPr/>
          <p:nvPr/>
        </p:nvSpPr>
        <p:spPr>
          <a:xfrm flipH="1" rot="10800000">
            <a:off x="3498225" y="3663371"/>
            <a:ext cx="3701350" cy="337750"/>
          </a:xfrm>
          <a:custGeom>
            <a:rect b="b" l="l" r="r" t="t"/>
            <a:pathLst>
              <a:path extrusionOk="0" h="13510" w="148054">
                <a:moveTo>
                  <a:pt x="0" y="12963"/>
                </a:moveTo>
                <a:cubicBezTo>
                  <a:pt x="19391" y="12871"/>
                  <a:pt x="91670" y="14569"/>
                  <a:pt x="116346" y="12408"/>
                </a:cubicBezTo>
                <a:cubicBezTo>
                  <a:pt x="141022" y="10248"/>
                  <a:pt x="142769" y="2068"/>
                  <a:pt x="148054" y="0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38" name="Google Shape;338;p4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Traffic Engineering</a:t>
            </a:r>
            <a:endParaRPr/>
          </a:p>
        </p:txBody>
      </p:sp>
      <p:sp>
        <p:nvSpPr>
          <p:cNvPr id="339" name="Google Shape;339;p41"/>
          <p:cNvSpPr txBox="1"/>
          <p:nvPr>
            <p:ph idx="1" type="body"/>
          </p:nvPr>
        </p:nvSpPr>
        <p:spPr>
          <a:xfrm>
            <a:off x="107050" y="402200"/>
            <a:ext cx="8909700" cy="24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flexible control plane lets the operator compute more intelligent routes.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centralized operator could tell the flows to use different paths.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Notice: </a:t>
            </a:r>
            <a:r>
              <a:rPr lang="en">
                <a:solidFill>
                  <a:srgbClr val="FF00FF"/>
                </a:solidFill>
              </a:rPr>
              <a:t>A → C</a:t>
            </a:r>
            <a:r>
              <a:rPr lang="en"/>
              <a:t> is not using the shortest path.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Now, none of the links are congested anymore.</a:t>
            </a:r>
            <a:endParaRPr/>
          </a:p>
        </p:txBody>
      </p:sp>
      <p:sp>
        <p:nvSpPr>
          <p:cNvPr id="340" name="Google Shape;340;p41"/>
          <p:cNvSpPr/>
          <p:nvPr/>
        </p:nvSpPr>
        <p:spPr>
          <a:xfrm>
            <a:off x="4157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1" name="Google Shape;341;p41"/>
          <p:cNvCxnSpPr>
            <a:stCxn id="340" idx="1"/>
            <a:endCxn id="342" idx="6"/>
          </p:cNvCxnSpPr>
          <p:nvPr/>
        </p:nvCxnSpPr>
        <p:spPr>
          <a:xfrm rot="10800000">
            <a:off x="3680363" y="3621400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2" name="Google Shape;342;p41"/>
          <p:cNvSpPr/>
          <p:nvPr/>
        </p:nvSpPr>
        <p:spPr>
          <a:xfrm>
            <a:off x="3395363" y="3478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3" name="Google Shape;343;p41"/>
          <p:cNvCxnSpPr>
            <a:stCxn id="344" idx="1"/>
            <a:endCxn id="345" idx="6"/>
          </p:cNvCxnSpPr>
          <p:nvPr/>
        </p:nvCxnSpPr>
        <p:spPr>
          <a:xfrm rot="10800000">
            <a:off x="3680363" y="4383400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" name="Google Shape;346;p41"/>
          <p:cNvSpPr/>
          <p:nvPr/>
        </p:nvSpPr>
        <p:spPr>
          <a:xfrm>
            <a:off x="5300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7" name="Google Shape;347;p41"/>
          <p:cNvCxnSpPr>
            <a:stCxn id="346" idx="1"/>
            <a:endCxn id="340" idx="3"/>
          </p:cNvCxnSpPr>
          <p:nvPr/>
        </p:nvCxnSpPr>
        <p:spPr>
          <a:xfrm rot="10800000">
            <a:off x="4442363" y="3621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41"/>
          <p:cNvCxnSpPr>
            <a:stCxn id="349" idx="1"/>
            <a:endCxn id="340" idx="3"/>
          </p:cNvCxnSpPr>
          <p:nvPr/>
        </p:nvCxnSpPr>
        <p:spPr>
          <a:xfrm rot="10800000">
            <a:off x="4442363" y="3621400"/>
            <a:ext cx="858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41"/>
          <p:cNvCxnSpPr>
            <a:stCxn id="346" idx="1"/>
            <a:endCxn id="344" idx="3"/>
          </p:cNvCxnSpPr>
          <p:nvPr/>
        </p:nvCxnSpPr>
        <p:spPr>
          <a:xfrm flipH="1">
            <a:off x="4442363" y="3621400"/>
            <a:ext cx="858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" name="Google Shape;351;p41"/>
          <p:cNvCxnSpPr>
            <a:stCxn id="349" idx="1"/>
            <a:endCxn id="344" idx="3"/>
          </p:cNvCxnSpPr>
          <p:nvPr/>
        </p:nvCxnSpPr>
        <p:spPr>
          <a:xfrm rot="10800000">
            <a:off x="4442363" y="4383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2" name="Google Shape;352;p41"/>
          <p:cNvSpPr/>
          <p:nvPr/>
        </p:nvSpPr>
        <p:spPr>
          <a:xfrm>
            <a:off x="6443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3" name="Google Shape;353;p41"/>
          <p:cNvCxnSpPr>
            <a:stCxn id="354" idx="1"/>
            <a:endCxn id="349" idx="3"/>
          </p:cNvCxnSpPr>
          <p:nvPr/>
        </p:nvCxnSpPr>
        <p:spPr>
          <a:xfrm rot="10800000">
            <a:off x="5585363" y="4383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41"/>
          <p:cNvCxnSpPr>
            <a:stCxn id="356" idx="1"/>
            <a:endCxn id="346" idx="3"/>
          </p:cNvCxnSpPr>
          <p:nvPr/>
        </p:nvCxnSpPr>
        <p:spPr>
          <a:xfrm rot="10800000">
            <a:off x="5585363" y="3621400"/>
            <a:ext cx="286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6" name="Google Shape;356;p41"/>
          <p:cNvSpPr/>
          <p:nvPr/>
        </p:nvSpPr>
        <p:spPr>
          <a:xfrm>
            <a:off x="58718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7" name="Google Shape;357;p41"/>
          <p:cNvCxnSpPr>
            <a:stCxn id="352" idx="1"/>
            <a:endCxn id="356" idx="3"/>
          </p:cNvCxnSpPr>
          <p:nvPr/>
        </p:nvCxnSpPr>
        <p:spPr>
          <a:xfrm rot="10800000">
            <a:off x="6156863" y="3621400"/>
            <a:ext cx="286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8" name="Google Shape;358;p41"/>
          <p:cNvSpPr/>
          <p:nvPr/>
        </p:nvSpPr>
        <p:spPr>
          <a:xfrm>
            <a:off x="7205363" y="3859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9" name="Google Shape;359;p41"/>
          <p:cNvCxnSpPr>
            <a:stCxn id="358" idx="1"/>
            <a:endCxn id="352" idx="3"/>
          </p:cNvCxnSpPr>
          <p:nvPr/>
        </p:nvCxnSpPr>
        <p:spPr>
          <a:xfrm rot="10800000">
            <a:off x="6728400" y="3621437"/>
            <a:ext cx="518700" cy="2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41"/>
          <p:cNvCxnSpPr>
            <a:stCxn id="358" idx="3"/>
            <a:endCxn id="354" idx="3"/>
          </p:cNvCxnSpPr>
          <p:nvPr/>
        </p:nvCxnSpPr>
        <p:spPr>
          <a:xfrm flipH="1">
            <a:off x="6728400" y="4103162"/>
            <a:ext cx="518700" cy="2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1" name="Google Shape;361;p41"/>
          <p:cNvSpPr txBox="1"/>
          <p:nvPr/>
        </p:nvSpPr>
        <p:spPr>
          <a:xfrm>
            <a:off x="4795625" y="4696025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 links 10 Gbps.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" name="Google Shape;362;p41"/>
          <p:cNvSpPr/>
          <p:nvPr/>
        </p:nvSpPr>
        <p:spPr>
          <a:xfrm>
            <a:off x="3574425" y="4143250"/>
            <a:ext cx="3701350" cy="337750"/>
          </a:xfrm>
          <a:custGeom>
            <a:rect b="b" l="l" r="r" t="t"/>
            <a:pathLst>
              <a:path extrusionOk="0" h="13510" w="148054">
                <a:moveTo>
                  <a:pt x="0" y="12963"/>
                </a:moveTo>
                <a:cubicBezTo>
                  <a:pt x="19391" y="12871"/>
                  <a:pt x="91670" y="14569"/>
                  <a:pt x="116346" y="12408"/>
                </a:cubicBezTo>
                <a:cubicBezTo>
                  <a:pt x="141022" y="10248"/>
                  <a:pt x="142769" y="2068"/>
                  <a:pt x="148054" y="0"/>
                </a:cubicBez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44" name="Google Shape;344;p41"/>
          <p:cNvSpPr/>
          <p:nvPr/>
        </p:nvSpPr>
        <p:spPr>
          <a:xfrm>
            <a:off x="4157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" name="Google Shape;349;p41"/>
          <p:cNvSpPr/>
          <p:nvPr/>
        </p:nvSpPr>
        <p:spPr>
          <a:xfrm>
            <a:off x="5300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p41"/>
          <p:cNvSpPr/>
          <p:nvPr/>
        </p:nvSpPr>
        <p:spPr>
          <a:xfrm>
            <a:off x="6443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" name="Google Shape;345;p41"/>
          <p:cNvSpPr/>
          <p:nvPr/>
        </p:nvSpPr>
        <p:spPr>
          <a:xfrm>
            <a:off x="3395363" y="4240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p41"/>
          <p:cNvSpPr txBox="1"/>
          <p:nvPr/>
        </p:nvSpPr>
        <p:spPr>
          <a:xfrm>
            <a:off x="1665800" y="3513700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A → C = 10 Gbps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41"/>
          <p:cNvSpPr txBox="1"/>
          <p:nvPr/>
        </p:nvSpPr>
        <p:spPr>
          <a:xfrm>
            <a:off x="1665800" y="4275700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B → C = 10 Gbps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2"/>
          <p:cNvSpPr/>
          <p:nvPr/>
        </p:nvSpPr>
        <p:spPr>
          <a:xfrm flipH="1" rot="10800000">
            <a:off x="3498225" y="3663371"/>
            <a:ext cx="3701350" cy="337750"/>
          </a:xfrm>
          <a:custGeom>
            <a:rect b="b" l="l" r="r" t="t"/>
            <a:pathLst>
              <a:path extrusionOk="0" h="13510" w="148054">
                <a:moveTo>
                  <a:pt x="0" y="12963"/>
                </a:moveTo>
                <a:cubicBezTo>
                  <a:pt x="19391" y="12871"/>
                  <a:pt x="91670" y="14569"/>
                  <a:pt x="116346" y="12408"/>
                </a:cubicBezTo>
                <a:cubicBezTo>
                  <a:pt x="141022" y="10248"/>
                  <a:pt x="142769" y="2068"/>
                  <a:pt x="148054" y="0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70" name="Google Shape;370;p4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Traffic Engineering – cSPF</a:t>
            </a:r>
            <a:endParaRPr/>
          </a:p>
        </p:txBody>
      </p:sp>
      <p:sp>
        <p:nvSpPr>
          <p:cNvPr id="371" name="Google Shape;371;p42"/>
          <p:cNvSpPr txBox="1"/>
          <p:nvPr>
            <p:ph idx="1" type="body"/>
          </p:nvPr>
        </p:nvSpPr>
        <p:spPr>
          <a:xfrm>
            <a:off x="107050" y="402200"/>
            <a:ext cx="8909700" cy="24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Constrained Shortest Path First (cSPF)</a:t>
            </a:r>
            <a:r>
              <a:rPr lang="en"/>
              <a:t> finds the </a:t>
            </a:r>
            <a:r>
              <a:rPr lang="en"/>
              <a:t>shortest</a:t>
            </a:r>
            <a:r>
              <a:rPr lang="en"/>
              <a:t> path that has sufficient capacity.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Contrast with standard shortest-path, which doesn't consider capacity.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Could also enforce other constraints (e.g. latency, not capacity).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Requires a central operator to coordinate all the routers.</a:t>
            </a:r>
            <a:endParaRPr/>
          </a:p>
        </p:txBody>
      </p:sp>
      <p:sp>
        <p:nvSpPr>
          <p:cNvPr id="372" name="Google Shape;372;p42"/>
          <p:cNvSpPr/>
          <p:nvPr/>
        </p:nvSpPr>
        <p:spPr>
          <a:xfrm>
            <a:off x="4157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3" name="Google Shape;373;p42"/>
          <p:cNvCxnSpPr>
            <a:stCxn id="372" idx="1"/>
            <a:endCxn id="374" idx="6"/>
          </p:cNvCxnSpPr>
          <p:nvPr/>
        </p:nvCxnSpPr>
        <p:spPr>
          <a:xfrm rot="10800000">
            <a:off x="3680363" y="3621400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4" name="Google Shape;374;p42"/>
          <p:cNvSpPr/>
          <p:nvPr/>
        </p:nvSpPr>
        <p:spPr>
          <a:xfrm>
            <a:off x="3395363" y="3478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5" name="Google Shape;375;p42"/>
          <p:cNvCxnSpPr>
            <a:stCxn id="376" idx="1"/>
            <a:endCxn id="377" idx="6"/>
          </p:cNvCxnSpPr>
          <p:nvPr/>
        </p:nvCxnSpPr>
        <p:spPr>
          <a:xfrm rot="10800000">
            <a:off x="3680363" y="4383400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8" name="Google Shape;378;p42"/>
          <p:cNvSpPr/>
          <p:nvPr/>
        </p:nvSpPr>
        <p:spPr>
          <a:xfrm>
            <a:off x="5300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9" name="Google Shape;379;p42"/>
          <p:cNvCxnSpPr>
            <a:stCxn id="378" idx="1"/>
            <a:endCxn id="372" idx="3"/>
          </p:cNvCxnSpPr>
          <p:nvPr/>
        </p:nvCxnSpPr>
        <p:spPr>
          <a:xfrm rot="10800000">
            <a:off x="4442363" y="3621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" name="Google Shape;380;p42"/>
          <p:cNvCxnSpPr>
            <a:stCxn id="381" idx="1"/>
            <a:endCxn id="372" idx="3"/>
          </p:cNvCxnSpPr>
          <p:nvPr/>
        </p:nvCxnSpPr>
        <p:spPr>
          <a:xfrm rot="10800000">
            <a:off x="4442363" y="3621400"/>
            <a:ext cx="858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" name="Google Shape;382;p42"/>
          <p:cNvCxnSpPr>
            <a:stCxn id="378" idx="1"/>
            <a:endCxn id="376" idx="3"/>
          </p:cNvCxnSpPr>
          <p:nvPr/>
        </p:nvCxnSpPr>
        <p:spPr>
          <a:xfrm flipH="1">
            <a:off x="4442363" y="3621400"/>
            <a:ext cx="858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3" name="Google Shape;383;p42"/>
          <p:cNvCxnSpPr>
            <a:stCxn id="381" idx="1"/>
            <a:endCxn id="376" idx="3"/>
          </p:cNvCxnSpPr>
          <p:nvPr/>
        </p:nvCxnSpPr>
        <p:spPr>
          <a:xfrm rot="10800000">
            <a:off x="4442363" y="4383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4" name="Google Shape;384;p42"/>
          <p:cNvSpPr/>
          <p:nvPr/>
        </p:nvSpPr>
        <p:spPr>
          <a:xfrm>
            <a:off x="6443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5" name="Google Shape;385;p42"/>
          <p:cNvCxnSpPr>
            <a:stCxn id="386" idx="1"/>
            <a:endCxn id="381" idx="3"/>
          </p:cNvCxnSpPr>
          <p:nvPr/>
        </p:nvCxnSpPr>
        <p:spPr>
          <a:xfrm rot="10800000">
            <a:off x="5585363" y="4383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" name="Google Shape;387;p42"/>
          <p:cNvCxnSpPr>
            <a:stCxn id="388" idx="1"/>
            <a:endCxn id="378" idx="3"/>
          </p:cNvCxnSpPr>
          <p:nvPr/>
        </p:nvCxnSpPr>
        <p:spPr>
          <a:xfrm rot="10800000">
            <a:off x="5585363" y="3621400"/>
            <a:ext cx="286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8" name="Google Shape;388;p42"/>
          <p:cNvSpPr/>
          <p:nvPr/>
        </p:nvSpPr>
        <p:spPr>
          <a:xfrm>
            <a:off x="58718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9" name="Google Shape;389;p42"/>
          <p:cNvCxnSpPr>
            <a:stCxn id="384" idx="1"/>
            <a:endCxn id="388" idx="3"/>
          </p:cNvCxnSpPr>
          <p:nvPr/>
        </p:nvCxnSpPr>
        <p:spPr>
          <a:xfrm rot="10800000">
            <a:off x="6156863" y="3621400"/>
            <a:ext cx="286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0" name="Google Shape;390;p42"/>
          <p:cNvSpPr/>
          <p:nvPr/>
        </p:nvSpPr>
        <p:spPr>
          <a:xfrm>
            <a:off x="7205363" y="3859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1" name="Google Shape;391;p42"/>
          <p:cNvCxnSpPr>
            <a:stCxn id="390" idx="1"/>
            <a:endCxn id="384" idx="3"/>
          </p:cNvCxnSpPr>
          <p:nvPr/>
        </p:nvCxnSpPr>
        <p:spPr>
          <a:xfrm rot="10800000">
            <a:off x="6728400" y="3621437"/>
            <a:ext cx="518700" cy="2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" name="Google Shape;392;p42"/>
          <p:cNvCxnSpPr>
            <a:stCxn id="390" idx="3"/>
            <a:endCxn id="386" idx="3"/>
          </p:cNvCxnSpPr>
          <p:nvPr/>
        </p:nvCxnSpPr>
        <p:spPr>
          <a:xfrm flipH="1">
            <a:off x="6728400" y="4103162"/>
            <a:ext cx="518700" cy="2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3" name="Google Shape;393;p42"/>
          <p:cNvSpPr txBox="1"/>
          <p:nvPr/>
        </p:nvSpPr>
        <p:spPr>
          <a:xfrm>
            <a:off x="4795625" y="4696025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 links 10 Gbps.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42"/>
          <p:cNvSpPr/>
          <p:nvPr/>
        </p:nvSpPr>
        <p:spPr>
          <a:xfrm>
            <a:off x="3574425" y="4143250"/>
            <a:ext cx="3701350" cy="337750"/>
          </a:xfrm>
          <a:custGeom>
            <a:rect b="b" l="l" r="r" t="t"/>
            <a:pathLst>
              <a:path extrusionOk="0" h="13510" w="148054">
                <a:moveTo>
                  <a:pt x="0" y="12963"/>
                </a:moveTo>
                <a:cubicBezTo>
                  <a:pt x="19391" y="12871"/>
                  <a:pt x="91670" y="14569"/>
                  <a:pt x="116346" y="12408"/>
                </a:cubicBezTo>
                <a:cubicBezTo>
                  <a:pt x="141022" y="10248"/>
                  <a:pt x="142769" y="2068"/>
                  <a:pt x="148054" y="0"/>
                </a:cubicBez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76" name="Google Shape;376;p42"/>
          <p:cNvSpPr/>
          <p:nvPr/>
        </p:nvSpPr>
        <p:spPr>
          <a:xfrm>
            <a:off x="4157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42"/>
          <p:cNvSpPr/>
          <p:nvPr/>
        </p:nvSpPr>
        <p:spPr>
          <a:xfrm>
            <a:off x="5300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" name="Google Shape;386;p42"/>
          <p:cNvSpPr/>
          <p:nvPr/>
        </p:nvSpPr>
        <p:spPr>
          <a:xfrm>
            <a:off x="6443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" name="Google Shape;377;p42"/>
          <p:cNvSpPr/>
          <p:nvPr/>
        </p:nvSpPr>
        <p:spPr>
          <a:xfrm>
            <a:off x="3395363" y="4240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" name="Google Shape;395;p42"/>
          <p:cNvSpPr txBox="1"/>
          <p:nvPr/>
        </p:nvSpPr>
        <p:spPr>
          <a:xfrm>
            <a:off x="1665800" y="3513700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A → C = 10 Gbps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" name="Google Shape;396;p42"/>
          <p:cNvSpPr txBox="1"/>
          <p:nvPr/>
        </p:nvSpPr>
        <p:spPr>
          <a:xfrm>
            <a:off x="1665800" y="4275700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B → C = 10 Gbps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3"/>
          <p:cNvSpPr/>
          <p:nvPr/>
        </p:nvSpPr>
        <p:spPr>
          <a:xfrm>
            <a:off x="3574425" y="4143250"/>
            <a:ext cx="3701350" cy="337750"/>
          </a:xfrm>
          <a:custGeom>
            <a:rect b="b" l="l" r="r" t="t"/>
            <a:pathLst>
              <a:path extrusionOk="0" h="13510" w="148054">
                <a:moveTo>
                  <a:pt x="0" y="12963"/>
                </a:moveTo>
                <a:cubicBezTo>
                  <a:pt x="19391" y="12871"/>
                  <a:pt x="91670" y="14569"/>
                  <a:pt x="116346" y="12408"/>
                </a:cubicBezTo>
                <a:cubicBezTo>
                  <a:pt x="141022" y="10248"/>
                  <a:pt x="142769" y="2068"/>
                  <a:pt x="148054" y="0"/>
                </a:cubicBez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02" name="Google Shape;402;p43"/>
          <p:cNvSpPr/>
          <p:nvPr/>
        </p:nvSpPr>
        <p:spPr>
          <a:xfrm>
            <a:off x="3585025" y="3519066"/>
            <a:ext cx="3624775" cy="829675"/>
          </a:xfrm>
          <a:custGeom>
            <a:rect b="b" l="l" r="r" t="t"/>
            <a:pathLst>
              <a:path extrusionOk="0" h="33187" w="144991">
                <a:moveTo>
                  <a:pt x="0" y="1523"/>
                </a:moveTo>
                <a:cubicBezTo>
                  <a:pt x="5468" y="1664"/>
                  <a:pt x="20920" y="-2498"/>
                  <a:pt x="32808" y="2370"/>
                </a:cubicBezTo>
                <a:cubicBezTo>
                  <a:pt x="44697" y="7238"/>
                  <a:pt x="56267" y="26036"/>
                  <a:pt x="71331" y="30733"/>
                </a:cubicBezTo>
                <a:cubicBezTo>
                  <a:pt x="86395" y="35430"/>
                  <a:pt x="110913" y="32241"/>
                  <a:pt x="123190" y="30553"/>
                </a:cubicBezTo>
                <a:cubicBezTo>
                  <a:pt x="135467" y="28865"/>
                  <a:pt x="141358" y="22263"/>
                  <a:pt x="144991" y="20605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03" name="Google Shape;403;p4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Traffic Engineering – Globally Optimal Decisions</a:t>
            </a:r>
            <a:endParaRPr/>
          </a:p>
        </p:txBody>
      </p:sp>
      <p:sp>
        <p:nvSpPr>
          <p:cNvPr id="404" name="Google Shape;404;p43"/>
          <p:cNvSpPr txBox="1"/>
          <p:nvPr>
            <p:ph idx="1" type="body"/>
          </p:nvPr>
        </p:nvSpPr>
        <p:spPr>
          <a:xfrm>
            <a:off x="107050" y="402200"/>
            <a:ext cx="8909700" cy="23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standard least-cost </a:t>
            </a:r>
            <a:r>
              <a:rPr lang="en"/>
              <a:t>routing</a:t>
            </a:r>
            <a:r>
              <a:rPr lang="en"/>
              <a:t>, each router might make a </a:t>
            </a:r>
            <a:r>
              <a:rPr i="1" lang="en"/>
              <a:t>locally optimal</a:t>
            </a:r>
            <a:r>
              <a:rPr lang="en"/>
              <a:t> decision.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But, since the nodes don't coordinate, the result might not be </a:t>
            </a:r>
            <a:r>
              <a:rPr i="1" lang="en"/>
              <a:t>globally optimal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standard least-cost routing, routers could send </a:t>
            </a:r>
            <a:r>
              <a:rPr lang="en">
                <a:solidFill>
                  <a:srgbClr val="FF00FF"/>
                </a:solidFill>
              </a:rPr>
              <a:t>A → C</a:t>
            </a:r>
            <a:r>
              <a:rPr lang="en"/>
              <a:t> along the bottom path. (Valid shortest path.)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Now, </a:t>
            </a:r>
            <a:r>
              <a:rPr lang="en">
                <a:solidFill>
                  <a:srgbClr val="E69138"/>
                </a:solidFill>
              </a:rPr>
              <a:t>B → C</a:t>
            </a:r>
            <a:r>
              <a:rPr lang="en"/>
              <a:t> will cause congestion on either the top or bottom path.</a:t>
            </a:r>
            <a:endParaRPr/>
          </a:p>
        </p:txBody>
      </p:sp>
      <p:sp>
        <p:nvSpPr>
          <p:cNvPr id="405" name="Google Shape;405;p43"/>
          <p:cNvSpPr/>
          <p:nvPr/>
        </p:nvSpPr>
        <p:spPr>
          <a:xfrm>
            <a:off x="4157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6" name="Google Shape;406;p43"/>
          <p:cNvCxnSpPr>
            <a:stCxn id="405" idx="1"/>
            <a:endCxn id="407" idx="6"/>
          </p:cNvCxnSpPr>
          <p:nvPr/>
        </p:nvCxnSpPr>
        <p:spPr>
          <a:xfrm rot="10800000">
            <a:off x="3680363" y="3621400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7" name="Google Shape;407;p43"/>
          <p:cNvSpPr/>
          <p:nvPr/>
        </p:nvSpPr>
        <p:spPr>
          <a:xfrm>
            <a:off x="3395363" y="3478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8" name="Google Shape;408;p43"/>
          <p:cNvCxnSpPr>
            <a:stCxn id="409" idx="1"/>
            <a:endCxn id="410" idx="6"/>
          </p:cNvCxnSpPr>
          <p:nvPr/>
        </p:nvCxnSpPr>
        <p:spPr>
          <a:xfrm rot="10800000">
            <a:off x="3680363" y="4383400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1" name="Google Shape;411;p43"/>
          <p:cNvSpPr/>
          <p:nvPr/>
        </p:nvSpPr>
        <p:spPr>
          <a:xfrm>
            <a:off x="5300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2" name="Google Shape;412;p43"/>
          <p:cNvCxnSpPr>
            <a:stCxn id="411" idx="1"/>
            <a:endCxn id="405" idx="3"/>
          </p:cNvCxnSpPr>
          <p:nvPr/>
        </p:nvCxnSpPr>
        <p:spPr>
          <a:xfrm rot="10800000">
            <a:off x="4442363" y="3621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43"/>
          <p:cNvCxnSpPr>
            <a:stCxn id="414" idx="1"/>
            <a:endCxn id="405" idx="3"/>
          </p:cNvCxnSpPr>
          <p:nvPr/>
        </p:nvCxnSpPr>
        <p:spPr>
          <a:xfrm rot="10800000">
            <a:off x="4442363" y="3621400"/>
            <a:ext cx="858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43"/>
          <p:cNvCxnSpPr>
            <a:stCxn id="411" idx="1"/>
            <a:endCxn id="409" idx="3"/>
          </p:cNvCxnSpPr>
          <p:nvPr/>
        </p:nvCxnSpPr>
        <p:spPr>
          <a:xfrm flipH="1">
            <a:off x="4442363" y="3621400"/>
            <a:ext cx="858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43"/>
          <p:cNvCxnSpPr>
            <a:stCxn id="414" idx="1"/>
            <a:endCxn id="409" idx="3"/>
          </p:cNvCxnSpPr>
          <p:nvPr/>
        </p:nvCxnSpPr>
        <p:spPr>
          <a:xfrm rot="10800000">
            <a:off x="4442363" y="4383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7" name="Google Shape;417;p43"/>
          <p:cNvSpPr/>
          <p:nvPr/>
        </p:nvSpPr>
        <p:spPr>
          <a:xfrm>
            <a:off x="6443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8" name="Google Shape;418;p43"/>
          <p:cNvCxnSpPr>
            <a:stCxn id="419" idx="1"/>
            <a:endCxn id="414" idx="3"/>
          </p:cNvCxnSpPr>
          <p:nvPr/>
        </p:nvCxnSpPr>
        <p:spPr>
          <a:xfrm rot="10800000">
            <a:off x="5585363" y="4383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43"/>
          <p:cNvCxnSpPr>
            <a:stCxn id="417" idx="1"/>
            <a:endCxn id="411" idx="3"/>
          </p:cNvCxnSpPr>
          <p:nvPr/>
        </p:nvCxnSpPr>
        <p:spPr>
          <a:xfrm rot="10800000">
            <a:off x="5585363" y="3621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" name="Google Shape;421;p43"/>
          <p:cNvSpPr/>
          <p:nvPr/>
        </p:nvSpPr>
        <p:spPr>
          <a:xfrm>
            <a:off x="7205363" y="3859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2" name="Google Shape;422;p43"/>
          <p:cNvCxnSpPr>
            <a:stCxn id="421" idx="1"/>
            <a:endCxn id="417" idx="3"/>
          </p:cNvCxnSpPr>
          <p:nvPr/>
        </p:nvCxnSpPr>
        <p:spPr>
          <a:xfrm rot="10800000">
            <a:off x="6728400" y="3621437"/>
            <a:ext cx="518700" cy="2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" name="Google Shape;423;p43"/>
          <p:cNvCxnSpPr>
            <a:stCxn id="421" idx="3"/>
            <a:endCxn id="419" idx="3"/>
          </p:cNvCxnSpPr>
          <p:nvPr/>
        </p:nvCxnSpPr>
        <p:spPr>
          <a:xfrm flipH="1">
            <a:off x="6728400" y="4103162"/>
            <a:ext cx="518700" cy="2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4" name="Google Shape;424;p43"/>
          <p:cNvSpPr txBox="1"/>
          <p:nvPr/>
        </p:nvSpPr>
        <p:spPr>
          <a:xfrm>
            <a:off x="5585524" y="4082772"/>
            <a:ext cx="858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100 Gbps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p43"/>
          <p:cNvSpPr/>
          <p:nvPr/>
        </p:nvSpPr>
        <p:spPr>
          <a:xfrm>
            <a:off x="4157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" name="Google Shape;414;p43"/>
          <p:cNvSpPr/>
          <p:nvPr/>
        </p:nvSpPr>
        <p:spPr>
          <a:xfrm>
            <a:off x="5300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43"/>
          <p:cNvSpPr/>
          <p:nvPr/>
        </p:nvSpPr>
        <p:spPr>
          <a:xfrm>
            <a:off x="6443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" name="Google Shape;410;p43"/>
          <p:cNvSpPr/>
          <p:nvPr/>
        </p:nvSpPr>
        <p:spPr>
          <a:xfrm>
            <a:off x="3395363" y="4240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" name="Google Shape;425;p43"/>
          <p:cNvSpPr txBox="1"/>
          <p:nvPr/>
        </p:nvSpPr>
        <p:spPr>
          <a:xfrm>
            <a:off x="1665800" y="3513700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A → C = 20 Gbps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43"/>
          <p:cNvSpPr txBox="1"/>
          <p:nvPr/>
        </p:nvSpPr>
        <p:spPr>
          <a:xfrm>
            <a:off x="1665800" y="4275700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B → C = 100 Gbps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43"/>
          <p:cNvSpPr txBox="1"/>
          <p:nvPr/>
        </p:nvSpPr>
        <p:spPr>
          <a:xfrm>
            <a:off x="5585524" y="3348410"/>
            <a:ext cx="858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 Gbps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" name="Google Shape;428;p43"/>
          <p:cNvSpPr txBox="1"/>
          <p:nvPr/>
        </p:nvSpPr>
        <p:spPr>
          <a:xfrm>
            <a:off x="4795625" y="4696025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 links cost 1.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4"/>
          <p:cNvSpPr/>
          <p:nvPr/>
        </p:nvSpPr>
        <p:spPr>
          <a:xfrm flipH="1" rot="10800000">
            <a:off x="3498225" y="3663371"/>
            <a:ext cx="3701350" cy="337750"/>
          </a:xfrm>
          <a:custGeom>
            <a:rect b="b" l="l" r="r" t="t"/>
            <a:pathLst>
              <a:path extrusionOk="0" h="13510" w="148054">
                <a:moveTo>
                  <a:pt x="0" y="12963"/>
                </a:moveTo>
                <a:cubicBezTo>
                  <a:pt x="19391" y="12871"/>
                  <a:pt x="91670" y="14569"/>
                  <a:pt x="116346" y="12408"/>
                </a:cubicBezTo>
                <a:cubicBezTo>
                  <a:pt x="141022" y="10248"/>
                  <a:pt x="142769" y="2068"/>
                  <a:pt x="148054" y="0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34" name="Google Shape;434;p44"/>
          <p:cNvSpPr/>
          <p:nvPr/>
        </p:nvSpPr>
        <p:spPr>
          <a:xfrm>
            <a:off x="3574425" y="4143250"/>
            <a:ext cx="3701350" cy="337750"/>
          </a:xfrm>
          <a:custGeom>
            <a:rect b="b" l="l" r="r" t="t"/>
            <a:pathLst>
              <a:path extrusionOk="0" h="13510" w="148054">
                <a:moveTo>
                  <a:pt x="0" y="12963"/>
                </a:moveTo>
                <a:cubicBezTo>
                  <a:pt x="19391" y="12871"/>
                  <a:pt x="91670" y="14569"/>
                  <a:pt x="116346" y="12408"/>
                </a:cubicBezTo>
                <a:cubicBezTo>
                  <a:pt x="141022" y="10248"/>
                  <a:pt x="142769" y="2068"/>
                  <a:pt x="148054" y="0"/>
                </a:cubicBez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35" name="Google Shape;435;p4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Traffic Engineering – Globally Optimal Decisions</a:t>
            </a:r>
            <a:endParaRPr/>
          </a:p>
        </p:txBody>
      </p:sp>
      <p:sp>
        <p:nvSpPr>
          <p:cNvPr id="436" name="Google Shape;436;p44"/>
          <p:cNvSpPr txBox="1"/>
          <p:nvPr>
            <p:ph idx="1" type="body"/>
          </p:nvPr>
        </p:nvSpPr>
        <p:spPr>
          <a:xfrm>
            <a:off x="107050" y="402200"/>
            <a:ext cx="8909700" cy="23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Centralized routing lets us make </a:t>
            </a:r>
            <a:r>
              <a:rPr i="1" lang="en"/>
              <a:t>globally optimal</a:t>
            </a:r>
            <a:r>
              <a:rPr lang="en"/>
              <a:t> decisions.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central operator could send </a:t>
            </a:r>
            <a:r>
              <a:rPr lang="en">
                <a:solidFill>
                  <a:srgbClr val="FF00FF"/>
                </a:solidFill>
              </a:rPr>
              <a:t>A → C</a:t>
            </a:r>
            <a:r>
              <a:rPr lang="en"/>
              <a:t> along the top path.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Now, </a:t>
            </a:r>
            <a:r>
              <a:rPr lang="en">
                <a:solidFill>
                  <a:srgbClr val="E69138"/>
                </a:solidFill>
              </a:rPr>
              <a:t>B → C</a:t>
            </a:r>
            <a:r>
              <a:rPr lang="en"/>
              <a:t> can use the bottom path, and everybody is happy.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Requires</a:t>
            </a:r>
            <a:r>
              <a:rPr lang="en"/>
              <a:t> a central operator to coordinate all the routers.</a:t>
            </a:r>
            <a:endParaRPr/>
          </a:p>
        </p:txBody>
      </p:sp>
      <p:sp>
        <p:nvSpPr>
          <p:cNvPr id="437" name="Google Shape;437;p44"/>
          <p:cNvSpPr/>
          <p:nvPr/>
        </p:nvSpPr>
        <p:spPr>
          <a:xfrm>
            <a:off x="4157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8" name="Google Shape;438;p44"/>
          <p:cNvCxnSpPr>
            <a:stCxn id="437" idx="1"/>
            <a:endCxn id="439" idx="6"/>
          </p:cNvCxnSpPr>
          <p:nvPr/>
        </p:nvCxnSpPr>
        <p:spPr>
          <a:xfrm rot="10800000">
            <a:off x="3680363" y="3621400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9" name="Google Shape;439;p44"/>
          <p:cNvSpPr/>
          <p:nvPr/>
        </p:nvSpPr>
        <p:spPr>
          <a:xfrm>
            <a:off x="3395363" y="3478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0" name="Google Shape;440;p44"/>
          <p:cNvCxnSpPr>
            <a:stCxn id="441" idx="1"/>
            <a:endCxn id="442" idx="6"/>
          </p:cNvCxnSpPr>
          <p:nvPr/>
        </p:nvCxnSpPr>
        <p:spPr>
          <a:xfrm rot="10800000">
            <a:off x="3680363" y="4383400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3" name="Google Shape;443;p44"/>
          <p:cNvSpPr/>
          <p:nvPr/>
        </p:nvSpPr>
        <p:spPr>
          <a:xfrm>
            <a:off x="5300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4" name="Google Shape;444;p44"/>
          <p:cNvCxnSpPr>
            <a:stCxn id="443" idx="1"/>
            <a:endCxn id="437" idx="3"/>
          </p:cNvCxnSpPr>
          <p:nvPr/>
        </p:nvCxnSpPr>
        <p:spPr>
          <a:xfrm rot="10800000">
            <a:off x="4442363" y="3621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" name="Google Shape;445;p44"/>
          <p:cNvCxnSpPr>
            <a:stCxn id="446" idx="1"/>
            <a:endCxn id="437" idx="3"/>
          </p:cNvCxnSpPr>
          <p:nvPr/>
        </p:nvCxnSpPr>
        <p:spPr>
          <a:xfrm rot="10800000">
            <a:off x="4442363" y="3621400"/>
            <a:ext cx="858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" name="Google Shape;447;p44"/>
          <p:cNvCxnSpPr>
            <a:stCxn id="443" idx="1"/>
            <a:endCxn id="441" idx="3"/>
          </p:cNvCxnSpPr>
          <p:nvPr/>
        </p:nvCxnSpPr>
        <p:spPr>
          <a:xfrm flipH="1">
            <a:off x="4442363" y="3621400"/>
            <a:ext cx="858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" name="Google Shape;448;p44"/>
          <p:cNvCxnSpPr>
            <a:stCxn id="446" idx="1"/>
            <a:endCxn id="441" idx="3"/>
          </p:cNvCxnSpPr>
          <p:nvPr/>
        </p:nvCxnSpPr>
        <p:spPr>
          <a:xfrm rot="10800000">
            <a:off x="4442363" y="4383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9" name="Google Shape;449;p44"/>
          <p:cNvSpPr/>
          <p:nvPr/>
        </p:nvSpPr>
        <p:spPr>
          <a:xfrm>
            <a:off x="6443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0" name="Google Shape;450;p44"/>
          <p:cNvCxnSpPr>
            <a:stCxn id="451" idx="1"/>
            <a:endCxn id="446" idx="3"/>
          </p:cNvCxnSpPr>
          <p:nvPr/>
        </p:nvCxnSpPr>
        <p:spPr>
          <a:xfrm rot="10800000">
            <a:off x="5585363" y="4383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44"/>
          <p:cNvCxnSpPr>
            <a:stCxn id="449" idx="1"/>
            <a:endCxn id="443" idx="3"/>
          </p:cNvCxnSpPr>
          <p:nvPr/>
        </p:nvCxnSpPr>
        <p:spPr>
          <a:xfrm rot="10800000">
            <a:off x="5585363" y="3621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3" name="Google Shape;453;p44"/>
          <p:cNvSpPr/>
          <p:nvPr/>
        </p:nvSpPr>
        <p:spPr>
          <a:xfrm>
            <a:off x="7205363" y="3859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4" name="Google Shape;454;p44"/>
          <p:cNvCxnSpPr>
            <a:stCxn id="453" idx="1"/>
            <a:endCxn id="449" idx="3"/>
          </p:cNvCxnSpPr>
          <p:nvPr/>
        </p:nvCxnSpPr>
        <p:spPr>
          <a:xfrm rot="10800000">
            <a:off x="6728400" y="3621437"/>
            <a:ext cx="518700" cy="2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" name="Google Shape;455;p44"/>
          <p:cNvCxnSpPr>
            <a:stCxn id="453" idx="3"/>
            <a:endCxn id="451" idx="3"/>
          </p:cNvCxnSpPr>
          <p:nvPr/>
        </p:nvCxnSpPr>
        <p:spPr>
          <a:xfrm flipH="1">
            <a:off x="6728400" y="4103162"/>
            <a:ext cx="518700" cy="2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6" name="Google Shape;456;p44"/>
          <p:cNvSpPr txBox="1"/>
          <p:nvPr/>
        </p:nvSpPr>
        <p:spPr>
          <a:xfrm>
            <a:off x="5585524" y="4082772"/>
            <a:ext cx="858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100 Gbps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44"/>
          <p:cNvSpPr/>
          <p:nvPr/>
        </p:nvSpPr>
        <p:spPr>
          <a:xfrm>
            <a:off x="4157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44"/>
          <p:cNvSpPr/>
          <p:nvPr/>
        </p:nvSpPr>
        <p:spPr>
          <a:xfrm>
            <a:off x="5300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" name="Google Shape;451;p44"/>
          <p:cNvSpPr/>
          <p:nvPr/>
        </p:nvSpPr>
        <p:spPr>
          <a:xfrm>
            <a:off x="6443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44"/>
          <p:cNvSpPr/>
          <p:nvPr/>
        </p:nvSpPr>
        <p:spPr>
          <a:xfrm>
            <a:off x="3395363" y="4240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44"/>
          <p:cNvSpPr txBox="1"/>
          <p:nvPr/>
        </p:nvSpPr>
        <p:spPr>
          <a:xfrm>
            <a:off x="1665800" y="3513700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A → C = 20 Gbps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" name="Google Shape;458;p44"/>
          <p:cNvSpPr txBox="1"/>
          <p:nvPr/>
        </p:nvSpPr>
        <p:spPr>
          <a:xfrm>
            <a:off x="1665800" y="4275700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B → C = 100 Gbps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9" name="Google Shape;459;p44"/>
          <p:cNvSpPr txBox="1"/>
          <p:nvPr/>
        </p:nvSpPr>
        <p:spPr>
          <a:xfrm>
            <a:off x="5585524" y="3348410"/>
            <a:ext cx="858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 Gbps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0" name="Google Shape;460;p44"/>
          <p:cNvSpPr txBox="1"/>
          <p:nvPr/>
        </p:nvSpPr>
        <p:spPr>
          <a:xfrm>
            <a:off x="4795625" y="4696025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 links cost 1.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5"/>
          <p:cNvSpPr/>
          <p:nvPr/>
        </p:nvSpPr>
        <p:spPr>
          <a:xfrm>
            <a:off x="3585025" y="3519066"/>
            <a:ext cx="3624775" cy="829675"/>
          </a:xfrm>
          <a:custGeom>
            <a:rect b="b" l="l" r="r" t="t"/>
            <a:pathLst>
              <a:path extrusionOk="0" h="33187" w="144991">
                <a:moveTo>
                  <a:pt x="0" y="1523"/>
                </a:moveTo>
                <a:cubicBezTo>
                  <a:pt x="5468" y="1664"/>
                  <a:pt x="20920" y="-2498"/>
                  <a:pt x="32808" y="2370"/>
                </a:cubicBezTo>
                <a:cubicBezTo>
                  <a:pt x="44697" y="7238"/>
                  <a:pt x="56267" y="26036"/>
                  <a:pt x="71331" y="30733"/>
                </a:cubicBezTo>
                <a:cubicBezTo>
                  <a:pt x="86395" y="35430"/>
                  <a:pt x="110913" y="32241"/>
                  <a:pt x="123190" y="30553"/>
                </a:cubicBezTo>
                <a:cubicBezTo>
                  <a:pt x="135467" y="28865"/>
                  <a:pt x="141358" y="22263"/>
                  <a:pt x="144991" y="20605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66" name="Google Shape;466;p45"/>
          <p:cNvSpPr/>
          <p:nvPr/>
        </p:nvSpPr>
        <p:spPr>
          <a:xfrm flipH="1" rot="10800000">
            <a:off x="3498225" y="3663371"/>
            <a:ext cx="3701350" cy="337750"/>
          </a:xfrm>
          <a:custGeom>
            <a:rect b="b" l="l" r="r" t="t"/>
            <a:pathLst>
              <a:path extrusionOk="0" h="13510" w="148054">
                <a:moveTo>
                  <a:pt x="0" y="12963"/>
                </a:moveTo>
                <a:cubicBezTo>
                  <a:pt x="19391" y="12871"/>
                  <a:pt x="91670" y="14569"/>
                  <a:pt x="116346" y="12408"/>
                </a:cubicBezTo>
                <a:cubicBezTo>
                  <a:pt x="141022" y="10248"/>
                  <a:pt x="142769" y="2068"/>
                  <a:pt x="148054" y="0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67" name="Google Shape;467;p4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Traffic Engineering – Splitting Flows</a:t>
            </a:r>
            <a:endParaRPr/>
          </a:p>
        </p:txBody>
      </p:sp>
      <p:sp>
        <p:nvSpPr>
          <p:cNvPr id="468" name="Google Shape;468;p45"/>
          <p:cNvSpPr txBox="1"/>
          <p:nvPr>
            <p:ph idx="1" type="body"/>
          </p:nvPr>
        </p:nvSpPr>
        <p:spPr>
          <a:xfrm>
            <a:off x="107050" y="402200"/>
            <a:ext cx="8909700" cy="24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centralized router can also let us split flows along different paths.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</a:t>
            </a:r>
            <a:r>
              <a:rPr lang="en"/>
              <a:t>results</a:t>
            </a:r>
            <a:r>
              <a:rPr lang="en"/>
              <a:t> in better capacity use (efficiency) of the network.</a:t>
            </a:r>
            <a:endParaRPr/>
          </a:p>
        </p:txBody>
      </p:sp>
      <p:sp>
        <p:nvSpPr>
          <p:cNvPr id="469" name="Google Shape;469;p45"/>
          <p:cNvSpPr/>
          <p:nvPr/>
        </p:nvSpPr>
        <p:spPr>
          <a:xfrm>
            <a:off x="4157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0" name="Google Shape;470;p45"/>
          <p:cNvCxnSpPr>
            <a:stCxn id="469" idx="1"/>
            <a:endCxn id="471" idx="6"/>
          </p:cNvCxnSpPr>
          <p:nvPr/>
        </p:nvCxnSpPr>
        <p:spPr>
          <a:xfrm rot="10800000">
            <a:off x="3680363" y="3621400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1" name="Google Shape;471;p45"/>
          <p:cNvSpPr/>
          <p:nvPr/>
        </p:nvSpPr>
        <p:spPr>
          <a:xfrm>
            <a:off x="3395363" y="3478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2" name="Google Shape;472;p45"/>
          <p:cNvCxnSpPr>
            <a:stCxn id="473" idx="1"/>
            <a:endCxn id="474" idx="6"/>
          </p:cNvCxnSpPr>
          <p:nvPr/>
        </p:nvCxnSpPr>
        <p:spPr>
          <a:xfrm rot="10800000">
            <a:off x="3680363" y="4383400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5" name="Google Shape;475;p45"/>
          <p:cNvSpPr/>
          <p:nvPr/>
        </p:nvSpPr>
        <p:spPr>
          <a:xfrm>
            <a:off x="5300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6" name="Google Shape;476;p45"/>
          <p:cNvCxnSpPr>
            <a:stCxn id="475" idx="1"/>
            <a:endCxn id="469" idx="3"/>
          </p:cNvCxnSpPr>
          <p:nvPr/>
        </p:nvCxnSpPr>
        <p:spPr>
          <a:xfrm rot="10800000">
            <a:off x="4442363" y="3621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" name="Google Shape;477;p45"/>
          <p:cNvCxnSpPr>
            <a:stCxn id="478" idx="1"/>
            <a:endCxn id="469" idx="3"/>
          </p:cNvCxnSpPr>
          <p:nvPr/>
        </p:nvCxnSpPr>
        <p:spPr>
          <a:xfrm rot="10800000">
            <a:off x="4442363" y="3621400"/>
            <a:ext cx="858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9" name="Google Shape;479;p45"/>
          <p:cNvCxnSpPr>
            <a:stCxn id="475" idx="1"/>
            <a:endCxn id="473" idx="3"/>
          </p:cNvCxnSpPr>
          <p:nvPr/>
        </p:nvCxnSpPr>
        <p:spPr>
          <a:xfrm flipH="1">
            <a:off x="4442363" y="3621400"/>
            <a:ext cx="858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45"/>
          <p:cNvCxnSpPr>
            <a:stCxn id="478" idx="1"/>
            <a:endCxn id="473" idx="3"/>
          </p:cNvCxnSpPr>
          <p:nvPr/>
        </p:nvCxnSpPr>
        <p:spPr>
          <a:xfrm rot="10800000">
            <a:off x="4442363" y="4383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1" name="Google Shape;481;p45"/>
          <p:cNvSpPr/>
          <p:nvPr/>
        </p:nvSpPr>
        <p:spPr>
          <a:xfrm>
            <a:off x="6443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2" name="Google Shape;482;p45"/>
          <p:cNvCxnSpPr>
            <a:stCxn id="483" idx="1"/>
            <a:endCxn id="478" idx="3"/>
          </p:cNvCxnSpPr>
          <p:nvPr/>
        </p:nvCxnSpPr>
        <p:spPr>
          <a:xfrm rot="10800000">
            <a:off x="5585363" y="4383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" name="Google Shape;484;p45"/>
          <p:cNvCxnSpPr>
            <a:stCxn id="481" idx="1"/>
            <a:endCxn id="475" idx="3"/>
          </p:cNvCxnSpPr>
          <p:nvPr/>
        </p:nvCxnSpPr>
        <p:spPr>
          <a:xfrm rot="10800000">
            <a:off x="5585363" y="3621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5" name="Google Shape;485;p45"/>
          <p:cNvSpPr/>
          <p:nvPr/>
        </p:nvSpPr>
        <p:spPr>
          <a:xfrm>
            <a:off x="7205363" y="3859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6" name="Google Shape;486;p45"/>
          <p:cNvCxnSpPr>
            <a:stCxn id="485" idx="1"/>
            <a:endCxn id="481" idx="3"/>
          </p:cNvCxnSpPr>
          <p:nvPr/>
        </p:nvCxnSpPr>
        <p:spPr>
          <a:xfrm rot="10800000">
            <a:off x="6728400" y="3621437"/>
            <a:ext cx="518700" cy="2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" name="Google Shape;487;p45"/>
          <p:cNvCxnSpPr>
            <a:stCxn id="485" idx="3"/>
            <a:endCxn id="483" idx="3"/>
          </p:cNvCxnSpPr>
          <p:nvPr/>
        </p:nvCxnSpPr>
        <p:spPr>
          <a:xfrm flipH="1">
            <a:off x="6728400" y="4103162"/>
            <a:ext cx="518700" cy="2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8" name="Google Shape;488;p45"/>
          <p:cNvSpPr txBox="1"/>
          <p:nvPr/>
        </p:nvSpPr>
        <p:spPr>
          <a:xfrm>
            <a:off x="4795625" y="4696025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 links 10 Gbps.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45"/>
          <p:cNvSpPr/>
          <p:nvPr/>
        </p:nvSpPr>
        <p:spPr>
          <a:xfrm>
            <a:off x="3574425" y="4143250"/>
            <a:ext cx="3701350" cy="337750"/>
          </a:xfrm>
          <a:custGeom>
            <a:rect b="b" l="l" r="r" t="t"/>
            <a:pathLst>
              <a:path extrusionOk="0" h="13510" w="148054">
                <a:moveTo>
                  <a:pt x="0" y="12963"/>
                </a:moveTo>
                <a:cubicBezTo>
                  <a:pt x="19391" y="12871"/>
                  <a:pt x="91670" y="14569"/>
                  <a:pt x="116346" y="12408"/>
                </a:cubicBezTo>
                <a:cubicBezTo>
                  <a:pt x="141022" y="10248"/>
                  <a:pt x="142769" y="2068"/>
                  <a:pt x="148054" y="0"/>
                </a:cubicBez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73" name="Google Shape;473;p45"/>
          <p:cNvSpPr/>
          <p:nvPr/>
        </p:nvSpPr>
        <p:spPr>
          <a:xfrm>
            <a:off x="4157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" name="Google Shape;478;p45"/>
          <p:cNvSpPr/>
          <p:nvPr/>
        </p:nvSpPr>
        <p:spPr>
          <a:xfrm>
            <a:off x="5300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3" name="Google Shape;483;p45"/>
          <p:cNvSpPr/>
          <p:nvPr/>
        </p:nvSpPr>
        <p:spPr>
          <a:xfrm>
            <a:off x="6443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" name="Google Shape;474;p45"/>
          <p:cNvSpPr/>
          <p:nvPr/>
        </p:nvSpPr>
        <p:spPr>
          <a:xfrm>
            <a:off x="3395363" y="4240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p45"/>
          <p:cNvSpPr txBox="1"/>
          <p:nvPr/>
        </p:nvSpPr>
        <p:spPr>
          <a:xfrm>
            <a:off x="1665800" y="3513700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A → C = 12 Gbps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1" name="Google Shape;491;p45"/>
          <p:cNvSpPr txBox="1"/>
          <p:nvPr/>
        </p:nvSpPr>
        <p:spPr>
          <a:xfrm>
            <a:off x="1665800" y="4275700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B → C = 8 Gbps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2" name="Google Shape;492;p45"/>
          <p:cNvSpPr/>
          <p:nvPr/>
        </p:nvSpPr>
        <p:spPr>
          <a:xfrm>
            <a:off x="4484300" y="2770975"/>
            <a:ext cx="1881600" cy="570300"/>
          </a:xfrm>
          <a:prstGeom prst="wedgeRoundRectCallout">
            <a:avLst>
              <a:gd fmla="val -60787" name="adj1"/>
              <a:gd fmla="val 58154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 10 Gbps to R2, and 2 Gbps to R6.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6"/>
          <p:cNvSpPr/>
          <p:nvPr/>
        </p:nvSpPr>
        <p:spPr>
          <a:xfrm>
            <a:off x="3585025" y="3519066"/>
            <a:ext cx="3624775" cy="829675"/>
          </a:xfrm>
          <a:custGeom>
            <a:rect b="b" l="l" r="r" t="t"/>
            <a:pathLst>
              <a:path extrusionOk="0" h="33187" w="144991">
                <a:moveTo>
                  <a:pt x="0" y="1523"/>
                </a:moveTo>
                <a:cubicBezTo>
                  <a:pt x="5468" y="1664"/>
                  <a:pt x="20920" y="-2498"/>
                  <a:pt x="32808" y="2370"/>
                </a:cubicBezTo>
                <a:cubicBezTo>
                  <a:pt x="44697" y="7238"/>
                  <a:pt x="56267" y="26036"/>
                  <a:pt x="71331" y="30733"/>
                </a:cubicBezTo>
                <a:cubicBezTo>
                  <a:pt x="86395" y="35430"/>
                  <a:pt x="110913" y="32241"/>
                  <a:pt x="123190" y="30553"/>
                </a:cubicBezTo>
                <a:cubicBezTo>
                  <a:pt x="135467" y="28865"/>
                  <a:pt x="141358" y="22263"/>
                  <a:pt x="144991" y="20605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98" name="Google Shape;498;p46"/>
          <p:cNvSpPr/>
          <p:nvPr/>
        </p:nvSpPr>
        <p:spPr>
          <a:xfrm flipH="1" rot="10800000">
            <a:off x="3498225" y="3663371"/>
            <a:ext cx="3701350" cy="337750"/>
          </a:xfrm>
          <a:custGeom>
            <a:rect b="b" l="l" r="r" t="t"/>
            <a:pathLst>
              <a:path extrusionOk="0" h="13510" w="148054">
                <a:moveTo>
                  <a:pt x="0" y="12963"/>
                </a:moveTo>
                <a:cubicBezTo>
                  <a:pt x="19391" y="12871"/>
                  <a:pt x="91670" y="14569"/>
                  <a:pt x="116346" y="12408"/>
                </a:cubicBezTo>
                <a:cubicBezTo>
                  <a:pt x="141022" y="10248"/>
                  <a:pt x="142769" y="2068"/>
                  <a:pt x="148054" y="0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99" name="Google Shape;499;p4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Traffic Engineering – Splitting Flows</a:t>
            </a:r>
            <a:endParaRPr/>
          </a:p>
        </p:txBody>
      </p:sp>
      <p:sp>
        <p:nvSpPr>
          <p:cNvPr id="500" name="Google Shape;500;p46"/>
          <p:cNvSpPr txBox="1"/>
          <p:nvPr>
            <p:ph idx="1" type="body"/>
          </p:nvPr>
        </p:nvSpPr>
        <p:spPr>
          <a:xfrm>
            <a:off x="107050" y="402200"/>
            <a:ext cx="8909700" cy="21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we actually split traffic across different paths?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use </a:t>
            </a:r>
            <a:r>
              <a:rPr b="1" lang="en"/>
              <a:t>encapsulation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new header that indicates which path to take through the network.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Now, routers forward based on the new header.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Simple enough task for commodity routers.</a:t>
            </a:r>
            <a:endParaRPr/>
          </a:p>
        </p:txBody>
      </p:sp>
      <p:sp>
        <p:nvSpPr>
          <p:cNvPr id="501" name="Google Shape;501;p46"/>
          <p:cNvSpPr/>
          <p:nvPr/>
        </p:nvSpPr>
        <p:spPr>
          <a:xfrm>
            <a:off x="4157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2" name="Google Shape;502;p46"/>
          <p:cNvCxnSpPr>
            <a:stCxn id="501" idx="1"/>
            <a:endCxn id="503" idx="6"/>
          </p:cNvCxnSpPr>
          <p:nvPr/>
        </p:nvCxnSpPr>
        <p:spPr>
          <a:xfrm rot="10800000">
            <a:off x="3680363" y="3621400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3" name="Google Shape;503;p46"/>
          <p:cNvSpPr/>
          <p:nvPr/>
        </p:nvSpPr>
        <p:spPr>
          <a:xfrm>
            <a:off x="3395363" y="3478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4" name="Google Shape;504;p46"/>
          <p:cNvCxnSpPr>
            <a:stCxn id="505" idx="1"/>
            <a:endCxn id="506" idx="6"/>
          </p:cNvCxnSpPr>
          <p:nvPr/>
        </p:nvCxnSpPr>
        <p:spPr>
          <a:xfrm rot="10800000">
            <a:off x="3680363" y="4383400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7" name="Google Shape;507;p46"/>
          <p:cNvSpPr/>
          <p:nvPr/>
        </p:nvSpPr>
        <p:spPr>
          <a:xfrm>
            <a:off x="5300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8" name="Google Shape;508;p46"/>
          <p:cNvCxnSpPr>
            <a:stCxn id="507" idx="1"/>
            <a:endCxn id="501" idx="3"/>
          </p:cNvCxnSpPr>
          <p:nvPr/>
        </p:nvCxnSpPr>
        <p:spPr>
          <a:xfrm rot="10800000">
            <a:off x="4442363" y="3621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" name="Google Shape;509;p46"/>
          <p:cNvCxnSpPr>
            <a:stCxn id="510" idx="1"/>
            <a:endCxn id="501" idx="3"/>
          </p:cNvCxnSpPr>
          <p:nvPr/>
        </p:nvCxnSpPr>
        <p:spPr>
          <a:xfrm rot="10800000">
            <a:off x="4442363" y="3621400"/>
            <a:ext cx="858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" name="Google Shape;511;p46"/>
          <p:cNvCxnSpPr>
            <a:stCxn id="507" idx="1"/>
            <a:endCxn id="505" idx="3"/>
          </p:cNvCxnSpPr>
          <p:nvPr/>
        </p:nvCxnSpPr>
        <p:spPr>
          <a:xfrm flipH="1">
            <a:off x="4442363" y="3621400"/>
            <a:ext cx="858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46"/>
          <p:cNvCxnSpPr>
            <a:stCxn id="510" idx="1"/>
            <a:endCxn id="505" idx="3"/>
          </p:cNvCxnSpPr>
          <p:nvPr/>
        </p:nvCxnSpPr>
        <p:spPr>
          <a:xfrm rot="10800000">
            <a:off x="4442363" y="4383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3" name="Google Shape;513;p46"/>
          <p:cNvSpPr/>
          <p:nvPr/>
        </p:nvSpPr>
        <p:spPr>
          <a:xfrm>
            <a:off x="6443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4" name="Google Shape;514;p46"/>
          <p:cNvCxnSpPr>
            <a:stCxn id="515" idx="1"/>
            <a:endCxn id="510" idx="3"/>
          </p:cNvCxnSpPr>
          <p:nvPr/>
        </p:nvCxnSpPr>
        <p:spPr>
          <a:xfrm rot="10800000">
            <a:off x="5585363" y="4383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" name="Google Shape;516;p46"/>
          <p:cNvCxnSpPr>
            <a:stCxn id="513" idx="1"/>
            <a:endCxn id="507" idx="3"/>
          </p:cNvCxnSpPr>
          <p:nvPr/>
        </p:nvCxnSpPr>
        <p:spPr>
          <a:xfrm rot="10800000">
            <a:off x="5585363" y="3621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7" name="Google Shape;517;p46"/>
          <p:cNvSpPr/>
          <p:nvPr/>
        </p:nvSpPr>
        <p:spPr>
          <a:xfrm>
            <a:off x="7205363" y="3859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8" name="Google Shape;518;p46"/>
          <p:cNvCxnSpPr>
            <a:stCxn id="517" idx="1"/>
            <a:endCxn id="513" idx="3"/>
          </p:cNvCxnSpPr>
          <p:nvPr/>
        </p:nvCxnSpPr>
        <p:spPr>
          <a:xfrm rot="10800000">
            <a:off x="6728400" y="3621437"/>
            <a:ext cx="518700" cy="2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46"/>
          <p:cNvCxnSpPr>
            <a:stCxn id="517" idx="3"/>
            <a:endCxn id="515" idx="3"/>
          </p:cNvCxnSpPr>
          <p:nvPr/>
        </p:nvCxnSpPr>
        <p:spPr>
          <a:xfrm flipH="1">
            <a:off x="6728400" y="4103162"/>
            <a:ext cx="518700" cy="2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0" name="Google Shape;520;p46"/>
          <p:cNvSpPr txBox="1"/>
          <p:nvPr/>
        </p:nvSpPr>
        <p:spPr>
          <a:xfrm>
            <a:off x="4795625" y="4696025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 links 10 Gbps.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1" name="Google Shape;521;p46"/>
          <p:cNvSpPr/>
          <p:nvPr/>
        </p:nvSpPr>
        <p:spPr>
          <a:xfrm>
            <a:off x="3574425" y="4143250"/>
            <a:ext cx="3701350" cy="337750"/>
          </a:xfrm>
          <a:custGeom>
            <a:rect b="b" l="l" r="r" t="t"/>
            <a:pathLst>
              <a:path extrusionOk="0" h="13510" w="148054">
                <a:moveTo>
                  <a:pt x="0" y="12963"/>
                </a:moveTo>
                <a:cubicBezTo>
                  <a:pt x="19391" y="12871"/>
                  <a:pt x="91670" y="14569"/>
                  <a:pt x="116346" y="12408"/>
                </a:cubicBezTo>
                <a:cubicBezTo>
                  <a:pt x="141022" y="10248"/>
                  <a:pt x="142769" y="2068"/>
                  <a:pt x="148054" y="0"/>
                </a:cubicBez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505" name="Google Shape;505;p46"/>
          <p:cNvSpPr/>
          <p:nvPr/>
        </p:nvSpPr>
        <p:spPr>
          <a:xfrm>
            <a:off x="4157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0" name="Google Shape;510;p46"/>
          <p:cNvSpPr/>
          <p:nvPr/>
        </p:nvSpPr>
        <p:spPr>
          <a:xfrm>
            <a:off x="5300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46"/>
          <p:cNvSpPr/>
          <p:nvPr/>
        </p:nvSpPr>
        <p:spPr>
          <a:xfrm>
            <a:off x="6443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" name="Google Shape;506;p46"/>
          <p:cNvSpPr/>
          <p:nvPr/>
        </p:nvSpPr>
        <p:spPr>
          <a:xfrm>
            <a:off x="3395363" y="4240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2" name="Google Shape;522;p46"/>
          <p:cNvSpPr txBox="1"/>
          <p:nvPr/>
        </p:nvSpPr>
        <p:spPr>
          <a:xfrm>
            <a:off x="1665800" y="3513700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A → C = 12 Gbps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3" name="Google Shape;523;p46"/>
          <p:cNvSpPr txBox="1"/>
          <p:nvPr/>
        </p:nvSpPr>
        <p:spPr>
          <a:xfrm>
            <a:off x="1665800" y="4275700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B → C = 8 Gbps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4" name="Google Shape;524;p46"/>
          <p:cNvSpPr/>
          <p:nvPr/>
        </p:nvSpPr>
        <p:spPr>
          <a:xfrm>
            <a:off x="4484300" y="2770975"/>
            <a:ext cx="2108100" cy="570300"/>
          </a:xfrm>
          <a:prstGeom prst="wedgeRoundRectCallout">
            <a:avLst>
              <a:gd fmla="val -60787" name="adj1"/>
              <a:gd fmla="val 58154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 Label=42 to R2, and Label=100 to R6.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4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of SDN Control Planes</a:t>
            </a:r>
            <a:endParaRPr/>
          </a:p>
        </p:txBody>
      </p:sp>
      <p:sp>
        <p:nvSpPr>
          <p:cNvPr id="530" name="Google Shape;530;p4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SDN control planes are </a:t>
            </a:r>
            <a:r>
              <a:rPr b="1" lang="en"/>
              <a:t>flexible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longer </a:t>
            </a:r>
            <a:r>
              <a:rPr lang="en"/>
              <a:t>constrained</a:t>
            </a:r>
            <a:r>
              <a:rPr lang="en"/>
              <a:t> by standards bodies and vendors.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Operators can implement custom policies.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Geofencing: "Don't send traffic via links in Canada."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Diversity: "Use separate paths. If one link breaks, the other path will be ok."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SDN control planes are </a:t>
            </a:r>
            <a:r>
              <a:rPr b="1" lang="en"/>
              <a:t>simple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Routing protocols can get really complex.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Vendors need to support the needs of all its customers.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 SDN control, the operator can implement only whatever they need.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SDN control planes are </a:t>
            </a:r>
            <a:r>
              <a:rPr b="1" lang="en"/>
              <a:t>centralized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efficient use of network resources (by making globally optimal decisions).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Easier convergence: Operator uses global view of network to compute new paths.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Benefits of SDN Control Planes</a:t>
            </a:r>
            <a:endParaRPr/>
          </a:p>
        </p:txBody>
      </p:sp>
      <p:graphicFrame>
        <p:nvGraphicFramePr>
          <p:cNvPr id="536" name="Google Shape;536;p48"/>
          <p:cNvGraphicFramePr/>
          <p:nvPr/>
        </p:nvGraphicFramePr>
        <p:xfrm>
          <a:off x="872338" y="11940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{ED36ABF8-2FA5-4E43-B9D7-F598E559F24D}</a:tableStyleId>
              </a:tblPr>
              <a:tblGrid>
                <a:gridCol w="4510675"/>
                <a:gridCol w="1887325"/>
                <a:gridCol w="1001325"/>
              </a:tblGrid>
              <a:tr h="57285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B4: Experience with a Globally-Deployed Software Defined WAN</a:t>
                      </a:r>
                      <a:endParaRPr b="1" sz="1600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Link</a:t>
                      </a:r>
                      <a:endParaRPr b="1" sz="1600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0" marR="91425" marL="91425">
                    <a:lnL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</a:tr>
              <a:tr h="52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Sushant Jain et. al. (Google)</a:t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ACM SIGCOMM 2013</a:t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</a:tr>
              <a:tr h="1657125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These characteristics led to a Software Defined Networking architecture using OpenFlow to control relatively simple switches built from merchant silicon. B4's centralized traffic engineering service drives links to near 100% utilization, while splitting application flows among multiple paths to balance capacity against application priority/demands. We describe experience with three years of B4 production deployment, lessons learned, and areas for future work.</a:t>
                      </a:r>
                      <a:endParaRPr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Benefits of SDN Control Planes</a:t>
            </a:r>
            <a:endParaRPr/>
          </a:p>
        </p:txBody>
      </p:sp>
      <p:graphicFrame>
        <p:nvGraphicFramePr>
          <p:cNvPr id="542" name="Google Shape;542;p49"/>
          <p:cNvGraphicFramePr/>
          <p:nvPr/>
        </p:nvGraphicFramePr>
        <p:xfrm>
          <a:off x="872325" y="6242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{ED36ABF8-2FA5-4E43-B9D7-F598E559F24D}</a:tableStyleId>
              </a:tblPr>
              <a:tblGrid>
                <a:gridCol w="4510675"/>
                <a:gridCol w="1887325"/>
                <a:gridCol w="1001325"/>
              </a:tblGrid>
              <a:tr h="4365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Achieving High Utilization with Software-Driven WAN</a:t>
                      </a:r>
                      <a:endParaRPr b="1" sz="1600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Link</a:t>
                      </a:r>
                      <a:endParaRPr b="1" sz="1600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0" marR="91425" marL="91425">
                    <a:lnL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</a:tr>
              <a:tr h="190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Ratul Mahajan et. al. (Microsoft)</a:t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ACM SIGCOMM 2013</a:t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</a:tr>
              <a:tr h="190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</a:tr>
            </a:tbl>
          </a:graphicData>
        </a:graphic>
      </p:graphicFrame>
      <p:pic>
        <p:nvPicPr>
          <p:cNvPr id="543" name="Google Shape;543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9200" y="1601535"/>
            <a:ext cx="2219573" cy="308679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49"/>
          <p:cNvSpPr txBox="1"/>
          <p:nvPr>
            <p:ph idx="1" type="body"/>
          </p:nvPr>
        </p:nvSpPr>
        <p:spPr>
          <a:xfrm>
            <a:off x="1277000" y="1677725"/>
            <a:ext cx="3870000" cy="2949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595959"/>
                </a:solidFill>
              </a:rPr>
              <a:t>Prototype:</a:t>
            </a:r>
            <a:endParaRPr sz="1600">
              <a:solidFill>
                <a:srgbClr val="595959"/>
              </a:solidFill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</a:pPr>
            <a:r>
              <a:rPr lang="en" sz="1600">
                <a:solidFill>
                  <a:srgbClr val="595959"/>
                </a:solidFill>
              </a:rPr>
              <a:t>16 OpenFlow switches</a:t>
            </a:r>
            <a:endParaRPr sz="1600">
              <a:solidFill>
                <a:srgbClr val="595959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○"/>
            </a:pPr>
            <a:r>
              <a:rPr lang="en" sz="1600">
                <a:solidFill>
                  <a:srgbClr val="595959"/>
                </a:solidFill>
              </a:rPr>
              <a:t>Mix of Blades and Aristas</a:t>
            </a:r>
            <a:endParaRPr sz="1600">
              <a:solidFill>
                <a:srgbClr val="595959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</a:pPr>
            <a:r>
              <a:rPr lang="en" sz="1600">
                <a:solidFill>
                  <a:srgbClr val="595959"/>
                </a:solidFill>
              </a:rPr>
              <a:t>BigSwitch OpenFlow controller</a:t>
            </a:r>
            <a:endParaRPr sz="1600">
              <a:solidFill>
                <a:srgbClr val="595959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</a:pPr>
            <a:r>
              <a:rPr lang="en" sz="1600">
                <a:solidFill>
                  <a:srgbClr val="595959"/>
                </a:solidFill>
              </a:rPr>
              <a:t>32 servers as traffic sources</a:t>
            </a:r>
            <a:endParaRPr sz="1600">
              <a:solidFill>
                <a:srgbClr val="595959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○"/>
            </a:pPr>
            <a:r>
              <a:rPr lang="en" sz="1600">
                <a:solidFill>
                  <a:srgbClr val="595959"/>
                </a:solidFill>
              </a:rPr>
              <a:t>25 virtual hosts per server</a:t>
            </a:r>
            <a:endParaRPr sz="1600">
              <a:solidFill>
                <a:srgbClr val="595959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</a:pPr>
            <a:r>
              <a:rPr lang="en" sz="1600">
                <a:solidFill>
                  <a:srgbClr val="595959"/>
                </a:solidFill>
              </a:rPr>
              <a:t>8 routers (L3)</a:t>
            </a:r>
            <a:endParaRPr sz="1600">
              <a:solidFill>
                <a:srgbClr val="595959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○"/>
            </a:pPr>
            <a:r>
              <a:rPr lang="en" sz="1600">
                <a:solidFill>
                  <a:srgbClr val="595959"/>
                </a:solidFill>
              </a:rPr>
              <a:t>Mix of Cisco and Juniper</a:t>
            </a:r>
            <a:endParaRPr sz="16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Benefits of SDN Control Planes</a:t>
            </a:r>
            <a:endParaRPr/>
          </a:p>
        </p:txBody>
      </p:sp>
      <p:sp>
        <p:nvSpPr>
          <p:cNvPr id="550" name="Google Shape;550;p50"/>
          <p:cNvSpPr txBox="1"/>
          <p:nvPr>
            <p:ph idx="1" type="body"/>
          </p:nvPr>
        </p:nvSpPr>
        <p:spPr>
          <a:xfrm>
            <a:off x="4387200" y="2758500"/>
            <a:ext cx="4426500" cy="21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SDN control planes leads to very efficient usage of network resources.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SDN also lets us implement custom policies (e.g. prioritizing certain traffic) to improve performance.</a:t>
            </a:r>
            <a:endParaRPr/>
          </a:p>
        </p:txBody>
      </p:sp>
      <p:pic>
        <p:nvPicPr>
          <p:cNvPr id="551" name="Google Shape;551;p50"/>
          <p:cNvPicPr preferRelativeResize="0"/>
          <p:nvPr/>
        </p:nvPicPr>
        <p:blipFill rotWithShape="1">
          <a:blip r:embed="rId3">
            <a:alphaModFix/>
          </a:blip>
          <a:srcRect b="1493" l="6642" r="5952" t="5170"/>
          <a:stretch/>
        </p:blipFill>
        <p:spPr>
          <a:xfrm>
            <a:off x="301913" y="981750"/>
            <a:ext cx="3751626" cy="356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50"/>
          <p:cNvPicPr preferRelativeResize="0"/>
          <p:nvPr/>
        </p:nvPicPr>
        <p:blipFill rotWithShape="1">
          <a:blip r:embed="rId4">
            <a:alphaModFix/>
          </a:blip>
          <a:srcRect b="0" l="0" r="4525" t="2391"/>
          <a:stretch/>
        </p:blipFill>
        <p:spPr>
          <a:xfrm>
            <a:off x="4387188" y="981750"/>
            <a:ext cx="4226300" cy="159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Drawbacks </a:t>
            </a:r>
            <a:r>
              <a:rPr lang="en">
                <a:solidFill>
                  <a:schemeClr val="accent3"/>
                </a:solidFill>
              </a:rPr>
              <a:t>of SDN Control Planes</a:t>
            </a:r>
            <a:endParaRPr/>
          </a:p>
        </p:txBody>
      </p:sp>
      <p:sp>
        <p:nvSpPr>
          <p:cNvPr id="558" name="Google Shape;558;p5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Reliability.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Traditional networks: If one link fails, routers adapt and re-converge.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SDN networks: If the controller fails, the network stops updating.</a:t>
            </a:r>
            <a:br>
              <a:rPr lang="en"/>
            </a:br>
            <a:r>
              <a:rPr lang="en"/>
              <a:t>Routers can't adapt to changes.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Scalability.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Central controller must deal with decisions for everybody.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Complexity.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Infrastructure challenge: Where do we put the controller?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we reliability connect the controller to the routers?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Active area of research!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2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Software-Defined Networking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 Brief History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Implementation (OpenFlow API)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•"/>
            </a:pPr>
            <a:r>
              <a:rPr lang="en">
                <a:solidFill>
                  <a:srgbClr val="CCCCCC"/>
                </a:solidFill>
              </a:rPr>
              <a:t>Benefits (Traffic Engineering)</a:t>
            </a:r>
            <a:endParaRPr>
              <a:solidFill>
                <a:srgbClr val="CCCCCC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SDN in Datacenters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Other Applications of SDN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564" name="Google Shape;564;p52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SDN in Datacenters</a:t>
            </a:r>
            <a:endParaRPr/>
          </a:p>
        </p:txBody>
      </p:sp>
      <p:sp>
        <p:nvSpPr>
          <p:cNvPr id="565" name="Google Shape;565;p52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20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5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SDN in Datacenters – Overlay</a:t>
            </a:r>
            <a:endParaRPr/>
          </a:p>
        </p:txBody>
      </p:sp>
      <p:sp>
        <p:nvSpPr>
          <p:cNvPr id="571" name="Google Shape;571;p53"/>
          <p:cNvSpPr txBox="1"/>
          <p:nvPr>
            <p:ph idx="1" type="body"/>
          </p:nvPr>
        </p:nvSpPr>
        <p:spPr>
          <a:xfrm>
            <a:off x="107050" y="402200"/>
            <a:ext cx="7527000" cy="26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Encapsulation in datacenters.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add a virtual network ID header to </a:t>
            </a:r>
            <a:r>
              <a:rPr lang="en"/>
              <a:t>distinguish between tenants.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add an underlay header with the destination's physical address.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SDN lets us program servers to implement these headers.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central controller can tell the servers: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"192.0.2.2 Pepsi VM created on Server 2.2.2.2."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"Coke network ID is 42."</a:t>
            </a:r>
            <a:endParaRPr/>
          </a:p>
        </p:txBody>
      </p:sp>
      <p:sp>
        <p:nvSpPr>
          <p:cNvPr id="572" name="Google Shape;572;p53"/>
          <p:cNvSpPr/>
          <p:nvPr/>
        </p:nvSpPr>
        <p:spPr>
          <a:xfrm>
            <a:off x="0" y="4308000"/>
            <a:ext cx="9144000" cy="842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Underlay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3" name="Google Shape;573;p53"/>
          <p:cNvSpPr/>
          <p:nvPr/>
        </p:nvSpPr>
        <p:spPr>
          <a:xfrm>
            <a:off x="0" y="3268175"/>
            <a:ext cx="9144000" cy="10398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4" name="Google Shape;574;p53"/>
          <p:cNvSpPr/>
          <p:nvPr/>
        </p:nvSpPr>
        <p:spPr>
          <a:xfrm>
            <a:off x="1066325" y="3378775"/>
            <a:ext cx="2820900" cy="12246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1			        1.1.1.1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5" name="Google Shape;575;p53"/>
          <p:cNvSpPr/>
          <p:nvPr/>
        </p:nvSpPr>
        <p:spPr>
          <a:xfrm>
            <a:off x="2334275" y="47773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6" name="Google Shape;576;p53"/>
          <p:cNvSpPr/>
          <p:nvPr/>
        </p:nvSpPr>
        <p:spPr>
          <a:xfrm>
            <a:off x="3629675" y="47773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7" name="Google Shape;577;p53"/>
          <p:cNvCxnSpPr>
            <a:stCxn id="575" idx="3"/>
            <a:endCxn id="576" idx="1"/>
          </p:cNvCxnSpPr>
          <p:nvPr/>
        </p:nvCxnSpPr>
        <p:spPr>
          <a:xfrm>
            <a:off x="2619275" y="4919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8" name="Google Shape;578;p53"/>
          <p:cNvSpPr/>
          <p:nvPr/>
        </p:nvSpPr>
        <p:spPr>
          <a:xfrm>
            <a:off x="4925075" y="47773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9" name="Google Shape;579;p53"/>
          <p:cNvSpPr/>
          <p:nvPr/>
        </p:nvSpPr>
        <p:spPr>
          <a:xfrm>
            <a:off x="6220475" y="47773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0" name="Google Shape;580;p53"/>
          <p:cNvCxnSpPr>
            <a:stCxn id="578" idx="3"/>
            <a:endCxn id="579" idx="1"/>
          </p:cNvCxnSpPr>
          <p:nvPr/>
        </p:nvCxnSpPr>
        <p:spPr>
          <a:xfrm>
            <a:off x="5210075" y="4919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" name="Google Shape;581;p53"/>
          <p:cNvCxnSpPr>
            <a:stCxn id="576" idx="3"/>
            <a:endCxn id="578" idx="1"/>
          </p:cNvCxnSpPr>
          <p:nvPr/>
        </p:nvCxnSpPr>
        <p:spPr>
          <a:xfrm>
            <a:off x="3914675" y="4919850"/>
            <a:ext cx="1010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2" name="Google Shape;582;p53"/>
          <p:cNvCxnSpPr>
            <a:stCxn id="575" idx="0"/>
            <a:endCxn id="583" idx="2"/>
          </p:cNvCxnSpPr>
          <p:nvPr/>
        </p:nvCxnSpPr>
        <p:spPr>
          <a:xfrm rot="10800000">
            <a:off x="2476775" y="4447950"/>
            <a:ext cx="0" cy="329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3" name="Google Shape;583;p53"/>
          <p:cNvSpPr/>
          <p:nvPr/>
        </p:nvSpPr>
        <p:spPr>
          <a:xfrm>
            <a:off x="1845575" y="4162802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4" name="Google Shape;584;p53"/>
          <p:cNvCxnSpPr>
            <a:stCxn id="579" idx="0"/>
            <a:endCxn id="585" idx="2"/>
          </p:cNvCxnSpPr>
          <p:nvPr/>
        </p:nvCxnSpPr>
        <p:spPr>
          <a:xfrm rot="10800000">
            <a:off x="6362975" y="4447950"/>
            <a:ext cx="0" cy="329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6" name="Google Shape;586;p53"/>
          <p:cNvSpPr/>
          <p:nvPr/>
        </p:nvSpPr>
        <p:spPr>
          <a:xfrm>
            <a:off x="1724675" y="3623550"/>
            <a:ext cx="285000" cy="285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7" name="Google Shape;587;p53"/>
          <p:cNvSpPr/>
          <p:nvPr/>
        </p:nvSpPr>
        <p:spPr>
          <a:xfrm>
            <a:off x="2943875" y="3623550"/>
            <a:ext cx="285000" cy="2850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8" name="Google Shape;588;p53"/>
          <p:cNvCxnSpPr>
            <a:stCxn id="583" idx="0"/>
            <a:endCxn id="586" idx="2"/>
          </p:cNvCxnSpPr>
          <p:nvPr/>
        </p:nvCxnSpPr>
        <p:spPr>
          <a:xfrm rot="10800000">
            <a:off x="1867175" y="3908402"/>
            <a:ext cx="609600" cy="25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" name="Google Shape;589;p53"/>
          <p:cNvCxnSpPr>
            <a:stCxn id="583" idx="0"/>
            <a:endCxn id="587" idx="2"/>
          </p:cNvCxnSpPr>
          <p:nvPr/>
        </p:nvCxnSpPr>
        <p:spPr>
          <a:xfrm flipH="1" rot="10800000">
            <a:off x="2476775" y="3908402"/>
            <a:ext cx="609600" cy="25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0" name="Google Shape;590;p53"/>
          <p:cNvSpPr txBox="1"/>
          <p:nvPr/>
        </p:nvSpPr>
        <p:spPr>
          <a:xfrm>
            <a:off x="1450325" y="3438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1" name="Google Shape;591;p53"/>
          <p:cNvSpPr txBox="1"/>
          <p:nvPr/>
        </p:nvSpPr>
        <p:spPr>
          <a:xfrm>
            <a:off x="2669525" y="3438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2" name="Google Shape;592;p53"/>
          <p:cNvSpPr/>
          <p:nvPr/>
        </p:nvSpPr>
        <p:spPr>
          <a:xfrm>
            <a:off x="4952525" y="3378775"/>
            <a:ext cx="2820900" cy="12246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 2			       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5" name="Google Shape;585;p53"/>
          <p:cNvSpPr/>
          <p:nvPr/>
        </p:nvSpPr>
        <p:spPr>
          <a:xfrm>
            <a:off x="5731775" y="4162802"/>
            <a:ext cx="12624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Virtual Switch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3" name="Google Shape;593;p53"/>
          <p:cNvSpPr/>
          <p:nvPr/>
        </p:nvSpPr>
        <p:spPr>
          <a:xfrm>
            <a:off x="5610875" y="3623550"/>
            <a:ext cx="285000" cy="285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4" name="Google Shape;594;p53"/>
          <p:cNvSpPr/>
          <p:nvPr/>
        </p:nvSpPr>
        <p:spPr>
          <a:xfrm>
            <a:off x="6830075" y="3623550"/>
            <a:ext cx="285000" cy="2850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5" name="Google Shape;595;p53"/>
          <p:cNvCxnSpPr>
            <a:stCxn id="585" idx="0"/>
            <a:endCxn id="593" idx="2"/>
          </p:cNvCxnSpPr>
          <p:nvPr/>
        </p:nvCxnSpPr>
        <p:spPr>
          <a:xfrm rot="10800000">
            <a:off x="5753375" y="3908402"/>
            <a:ext cx="609600" cy="25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6" name="Google Shape;596;p53"/>
          <p:cNvCxnSpPr>
            <a:stCxn id="585" idx="0"/>
            <a:endCxn id="594" idx="2"/>
          </p:cNvCxnSpPr>
          <p:nvPr/>
        </p:nvCxnSpPr>
        <p:spPr>
          <a:xfrm flipH="1" rot="10800000">
            <a:off x="6362975" y="3908402"/>
            <a:ext cx="609600" cy="25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7" name="Google Shape;597;p53"/>
          <p:cNvSpPr txBox="1"/>
          <p:nvPr/>
        </p:nvSpPr>
        <p:spPr>
          <a:xfrm>
            <a:off x="5336525" y="3438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192.0.2.2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8" name="Google Shape;598;p53"/>
          <p:cNvSpPr txBox="1"/>
          <p:nvPr/>
        </p:nvSpPr>
        <p:spPr>
          <a:xfrm>
            <a:off x="6555725" y="3438450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192.0.2.2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9" name="Google Shape;599;p53"/>
          <p:cNvSpPr/>
          <p:nvPr/>
        </p:nvSpPr>
        <p:spPr>
          <a:xfrm>
            <a:off x="7572275" y="1916025"/>
            <a:ext cx="1353600" cy="285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192.0.2.2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" name="Google Shape;600;p53"/>
          <p:cNvSpPr/>
          <p:nvPr/>
        </p:nvSpPr>
        <p:spPr>
          <a:xfrm>
            <a:off x="7572275" y="2201025"/>
            <a:ext cx="1353600" cy="285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1" name="Google Shape;601;p53"/>
          <p:cNvSpPr/>
          <p:nvPr/>
        </p:nvSpPr>
        <p:spPr>
          <a:xfrm>
            <a:off x="7572275" y="1631025"/>
            <a:ext cx="1353600" cy="2850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2" name="Google Shape;602;p53"/>
          <p:cNvSpPr/>
          <p:nvPr/>
        </p:nvSpPr>
        <p:spPr>
          <a:xfrm>
            <a:off x="7572275" y="1346013"/>
            <a:ext cx="1353600" cy="285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2.2.2.2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5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SDN in Datacenters – Overlay</a:t>
            </a:r>
            <a:endParaRPr/>
          </a:p>
        </p:txBody>
      </p:sp>
      <p:sp>
        <p:nvSpPr>
          <p:cNvPr id="608" name="Google Shape;608;p5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SDN handles distributing custom information in datacenters.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Virtual network IDs.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information would otherwise have to be in the router's control plane.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SDN allows the underlay of the network to remain simple.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SDN maps overlay virtual addresses to underlay physical addresses.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need for the underlay to understand virtual addresses.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SDN allows the control plane to be extended to servers (e.g. virtual switches).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Simpler mechanism for programming servers.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need to implement routing protocols for encapsulation.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55"/>
          <p:cNvSpPr/>
          <p:nvPr/>
        </p:nvSpPr>
        <p:spPr>
          <a:xfrm>
            <a:off x="8143250" y="212896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14" name="Google Shape;614;p55"/>
          <p:cNvSpPr/>
          <p:nvPr/>
        </p:nvSpPr>
        <p:spPr>
          <a:xfrm>
            <a:off x="8143250" y="274506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15" name="Google Shape;615;p55"/>
          <p:cNvSpPr/>
          <p:nvPr/>
        </p:nvSpPr>
        <p:spPr>
          <a:xfrm>
            <a:off x="8143250" y="336099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16" name="Google Shape;616;p55"/>
          <p:cNvSpPr/>
          <p:nvPr/>
        </p:nvSpPr>
        <p:spPr>
          <a:xfrm>
            <a:off x="8143250" y="397691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17" name="Google Shape;617;p55"/>
          <p:cNvSpPr/>
          <p:nvPr/>
        </p:nvSpPr>
        <p:spPr>
          <a:xfrm>
            <a:off x="6896500" y="212899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18" name="Google Shape;618;p55"/>
          <p:cNvSpPr/>
          <p:nvPr/>
        </p:nvSpPr>
        <p:spPr>
          <a:xfrm>
            <a:off x="6896500" y="274509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19" name="Google Shape;619;p55"/>
          <p:cNvSpPr/>
          <p:nvPr/>
        </p:nvSpPr>
        <p:spPr>
          <a:xfrm>
            <a:off x="6896500" y="336101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20" name="Google Shape;620;p55"/>
          <p:cNvSpPr/>
          <p:nvPr/>
        </p:nvSpPr>
        <p:spPr>
          <a:xfrm>
            <a:off x="6896500" y="397694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cxnSp>
        <p:nvCxnSpPr>
          <p:cNvPr id="621" name="Google Shape;621;p55"/>
          <p:cNvCxnSpPr>
            <a:stCxn id="617" idx="3"/>
            <a:endCxn id="615" idx="1"/>
          </p:cNvCxnSpPr>
          <p:nvPr/>
        </p:nvCxnSpPr>
        <p:spPr>
          <a:xfrm>
            <a:off x="7372900" y="2367194"/>
            <a:ext cx="770400" cy="12321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2" name="Google Shape;622;p55"/>
          <p:cNvCxnSpPr>
            <a:stCxn id="617" idx="3"/>
            <a:endCxn id="616" idx="1"/>
          </p:cNvCxnSpPr>
          <p:nvPr/>
        </p:nvCxnSpPr>
        <p:spPr>
          <a:xfrm>
            <a:off x="7372900" y="2367194"/>
            <a:ext cx="770400" cy="18480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3" name="Google Shape;623;p55"/>
          <p:cNvCxnSpPr>
            <a:stCxn id="618" idx="3"/>
            <a:endCxn id="615" idx="1"/>
          </p:cNvCxnSpPr>
          <p:nvPr/>
        </p:nvCxnSpPr>
        <p:spPr>
          <a:xfrm>
            <a:off x="7372900" y="2983294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4" name="Google Shape;624;p55"/>
          <p:cNvCxnSpPr>
            <a:stCxn id="618" idx="3"/>
            <a:endCxn id="616" idx="1"/>
          </p:cNvCxnSpPr>
          <p:nvPr/>
        </p:nvCxnSpPr>
        <p:spPr>
          <a:xfrm>
            <a:off x="7372900" y="2983294"/>
            <a:ext cx="770400" cy="1231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5" name="Google Shape;625;p55"/>
          <p:cNvCxnSpPr>
            <a:stCxn id="619" idx="3"/>
            <a:endCxn id="613" idx="1"/>
          </p:cNvCxnSpPr>
          <p:nvPr/>
        </p:nvCxnSpPr>
        <p:spPr>
          <a:xfrm flipH="1" rot="10800000">
            <a:off x="7372900" y="2367119"/>
            <a:ext cx="770400" cy="12321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6" name="Google Shape;626;p55"/>
          <p:cNvCxnSpPr>
            <a:stCxn id="619" idx="3"/>
            <a:endCxn id="615" idx="1"/>
          </p:cNvCxnSpPr>
          <p:nvPr/>
        </p:nvCxnSpPr>
        <p:spPr>
          <a:xfrm>
            <a:off x="7372900" y="3599219"/>
            <a:ext cx="7704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7" name="Google Shape;627;p55"/>
          <p:cNvCxnSpPr>
            <a:stCxn id="619" idx="3"/>
            <a:endCxn id="616" idx="1"/>
          </p:cNvCxnSpPr>
          <p:nvPr/>
        </p:nvCxnSpPr>
        <p:spPr>
          <a:xfrm>
            <a:off x="7372900" y="3599219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8" name="Google Shape;628;p55"/>
          <p:cNvCxnSpPr>
            <a:stCxn id="620" idx="3"/>
            <a:endCxn id="613" idx="1"/>
          </p:cNvCxnSpPr>
          <p:nvPr/>
        </p:nvCxnSpPr>
        <p:spPr>
          <a:xfrm flipH="1" rot="10800000">
            <a:off x="7372900" y="2367144"/>
            <a:ext cx="770400" cy="18480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9" name="Google Shape;629;p55"/>
          <p:cNvCxnSpPr>
            <a:stCxn id="620" idx="3"/>
            <a:endCxn id="614" idx="1"/>
          </p:cNvCxnSpPr>
          <p:nvPr/>
        </p:nvCxnSpPr>
        <p:spPr>
          <a:xfrm flipH="1" rot="10800000">
            <a:off x="7372900" y="2983344"/>
            <a:ext cx="770400" cy="1231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0" name="Google Shape;630;p55"/>
          <p:cNvCxnSpPr>
            <a:stCxn id="620" idx="3"/>
            <a:endCxn id="615" idx="1"/>
          </p:cNvCxnSpPr>
          <p:nvPr/>
        </p:nvCxnSpPr>
        <p:spPr>
          <a:xfrm flipH="1" rot="10800000">
            <a:off x="7372900" y="3599244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" name="Google Shape;631;p55"/>
          <p:cNvCxnSpPr>
            <a:stCxn id="620" idx="3"/>
            <a:endCxn id="616" idx="1"/>
          </p:cNvCxnSpPr>
          <p:nvPr/>
        </p:nvCxnSpPr>
        <p:spPr>
          <a:xfrm>
            <a:off x="7372900" y="4215144"/>
            <a:ext cx="7704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2" name="Google Shape;632;p55"/>
          <p:cNvCxnSpPr>
            <a:stCxn id="617" idx="3"/>
            <a:endCxn id="614" idx="1"/>
          </p:cNvCxnSpPr>
          <p:nvPr/>
        </p:nvCxnSpPr>
        <p:spPr>
          <a:xfrm>
            <a:off x="7372900" y="2367194"/>
            <a:ext cx="770400" cy="6162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3" name="Google Shape;633;p55"/>
          <p:cNvCxnSpPr>
            <a:stCxn id="634" idx="3"/>
            <a:endCxn id="618" idx="1"/>
          </p:cNvCxnSpPr>
          <p:nvPr/>
        </p:nvCxnSpPr>
        <p:spPr>
          <a:xfrm>
            <a:off x="6126150" y="2367344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5" name="Google Shape;635;p55"/>
          <p:cNvCxnSpPr>
            <a:stCxn id="634" idx="3"/>
            <a:endCxn id="619" idx="1"/>
          </p:cNvCxnSpPr>
          <p:nvPr/>
        </p:nvCxnSpPr>
        <p:spPr>
          <a:xfrm>
            <a:off x="6126150" y="2367344"/>
            <a:ext cx="770400" cy="1231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6" name="Google Shape;636;p55"/>
          <p:cNvCxnSpPr>
            <a:stCxn id="634" idx="3"/>
            <a:endCxn id="620" idx="1"/>
          </p:cNvCxnSpPr>
          <p:nvPr/>
        </p:nvCxnSpPr>
        <p:spPr>
          <a:xfrm>
            <a:off x="6126150" y="2367344"/>
            <a:ext cx="770400" cy="18477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7" name="Google Shape;637;p55"/>
          <p:cNvCxnSpPr>
            <a:stCxn id="638" idx="3"/>
            <a:endCxn id="617" idx="1"/>
          </p:cNvCxnSpPr>
          <p:nvPr/>
        </p:nvCxnSpPr>
        <p:spPr>
          <a:xfrm flipH="1" rot="10800000">
            <a:off x="6126150" y="2367081"/>
            <a:ext cx="770400" cy="6162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9" name="Google Shape;639;p55"/>
          <p:cNvCxnSpPr>
            <a:stCxn id="638" idx="3"/>
            <a:endCxn id="619" idx="1"/>
          </p:cNvCxnSpPr>
          <p:nvPr/>
        </p:nvCxnSpPr>
        <p:spPr>
          <a:xfrm>
            <a:off x="6126150" y="2983281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0" name="Google Shape;640;p55"/>
          <p:cNvCxnSpPr>
            <a:stCxn id="638" idx="3"/>
            <a:endCxn id="620" idx="1"/>
          </p:cNvCxnSpPr>
          <p:nvPr/>
        </p:nvCxnSpPr>
        <p:spPr>
          <a:xfrm>
            <a:off x="6126150" y="2983281"/>
            <a:ext cx="770400" cy="1231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1" name="Google Shape;641;p55"/>
          <p:cNvCxnSpPr>
            <a:stCxn id="642" idx="3"/>
            <a:endCxn id="617" idx="1"/>
          </p:cNvCxnSpPr>
          <p:nvPr/>
        </p:nvCxnSpPr>
        <p:spPr>
          <a:xfrm flipH="1" rot="10800000">
            <a:off x="6126150" y="2367119"/>
            <a:ext cx="770400" cy="12321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3" name="Google Shape;643;p55"/>
          <p:cNvCxnSpPr>
            <a:endCxn id="619" idx="1"/>
          </p:cNvCxnSpPr>
          <p:nvPr/>
        </p:nvCxnSpPr>
        <p:spPr>
          <a:xfrm>
            <a:off x="6126100" y="3599219"/>
            <a:ext cx="7704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4" name="Google Shape;644;p55"/>
          <p:cNvCxnSpPr>
            <a:stCxn id="642" idx="3"/>
            <a:endCxn id="620" idx="1"/>
          </p:cNvCxnSpPr>
          <p:nvPr/>
        </p:nvCxnSpPr>
        <p:spPr>
          <a:xfrm>
            <a:off x="6126150" y="3599219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" name="Google Shape;645;p55"/>
          <p:cNvCxnSpPr>
            <a:stCxn id="646" idx="3"/>
            <a:endCxn id="617" idx="1"/>
          </p:cNvCxnSpPr>
          <p:nvPr/>
        </p:nvCxnSpPr>
        <p:spPr>
          <a:xfrm flipH="1" rot="10800000">
            <a:off x="6126150" y="2367144"/>
            <a:ext cx="770400" cy="18480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7" name="Google Shape;647;p55"/>
          <p:cNvCxnSpPr>
            <a:stCxn id="646" idx="3"/>
            <a:endCxn id="618" idx="1"/>
          </p:cNvCxnSpPr>
          <p:nvPr/>
        </p:nvCxnSpPr>
        <p:spPr>
          <a:xfrm flipH="1" rot="10800000">
            <a:off x="6126150" y="2983344"/>
            <a:ext cx="770400" cy="1231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8" name="Google Shape;648;p55"/>
          <p:cNvCxnSpPr>
            <a:stCxn id="646" idx="3"/>
            <a:endCxn id="620" idx="1"/>
          </p:cNvCxnSpPr>
          <p:nvPr/>
        </p:nvCxnSpPr>
        <p:spPr>
          <a:xfrm>
            <a:off x="6126150" y="4215144"/>
            <a:ext cx="7704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9" name="Google Shape;649;p55"/>
          <p:cNvCxnSpPr>
            <a:stCxn id="638" idx="3"/>
            <a:endCxn id="618" idx="1"/>
          </p:cNvCxnSpPr>
          <p:nvPr/>
        </p:nvCxnSpPr>
        <p:spPr>
          <a:xfrm>
            <a:off x="6126150" y="2983281"/>
            <a:ext cx="7704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0" name="Google Shape;650;p55"/>
          <p:cNvCxnSpPr>
            <a:stCxn id="646" idx="3"/>
            <a:endCxn id="619" idx="1"/>
          </p:cNvCxnSpPr>
          <p:nvPr/>
        </p:nvCxnSpPr>
        <p:spPr>
          <a:xfrm flipH="1" rot="10800000">
            <a:off x="6126150" y="3599244"/>
            <a:ext cx="770400" cy="6159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1" name="Google Shape;651;p55"/>
          <p:cNvCxnSpPr>
            <a:stCxn id="652" idx="3"/>
            <a:endCxn id="638" idx="1"/>
          </p:cNvCxnSpPr>
          <p:nvPr/>
        </p:nvCxnSpPr>
        <p:spPr>
          <a:xfrm>
            <a:off x="5344145" y="2983118"/>
            <a:ext cx="305700" cy="3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3" name="Google Shape;653;p55"/>
          <p:cNvCxnSpPr>
            <a:stCxn id="654" idx="3"/>
            <a:endCxn id="646" idx="1"/>
          </p:cNvCxnSpPr>
          <p:nvPr/>
        </p:nvCxnSpPr>
        <p:spPr>
          <a:xfrm>
            <a:off x="5344145" y="4215006"/>
            <a:ext cx="3057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5" name="Google Shape;655;p55"/>
          <p:cNvCxnSpPr>
            <a:stCxn id="617" idx="1"/>
            <a:endCxn id="634" idx="3"/>
          </p:cNvCxnSpPr>
          <p:nvPr/>
        </p:nvCxnSpPr>
        <p:spPr>
          <a:xfrm flipH="1">
            <a:off x="6126100" y="2367194"/>
            <a:ext cx="770400" cy="3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6" name="Google Shape;656;p55"/>
          <p:cNvCxnSpPr>
            <a:stCxn id="657" idx="3"/>
            <a:endCxn id="658" idx="1"/>
          </p:cNvCxnSpPr>
          <p:nvPr/>
        </p:nvCxnSpPr>
        <p:spPr>
          <a:xfrm>
            <a:off x="1618075" y="2367344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9" name="Google Shape;659;p55"/>
          <p:cNvCxnSpPr>
            <a:stCxn id="657" idx="3"/>
            <a:endCxn id="660" idx="1"/>
          </p:cNvCxnSpPr>
          <p:nvPr/>
        </p:nvCxnSpPr>
        <p:spPr>
          <a:xfrm>
            <a:off x="1618075" y="2367344"/>
            <a:ext cx="770400" cy="1231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1" name="Google Shape;661;p55"/>
          <p:cNvCxnSpPr>
            <a:stCxn id="657" idx="3"/>
            <a:endCxn id="662" idx="1"/>
          </p:cNvCxnSpPr>
          <p:nvPr/>
        </p:nvCxnSpPr>
        <p:spPr>
          <a:xfrm>
            <a:off x="1618075" y="2367344"/>
            <a:ext cx="770400" cy="18477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3" name="Google Shape;663;p55"/>
          <p:cNvCxnSpPr>
            <a:stCxn id="664" idx="3"/>
            <a:endCxn id="665" idx="1"/>
          </p:cNvCxnSpPr>
          <p:nvPr/>
        </p:nvCxnSpPr>
        <p:spPr>
          <a:xfrm flipH="1" rot="10800000">
            <a:off x="1618075" y="2367081"/>
            <a:ext cx="770400" cy="6162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6" name="Google Shape;666;p55"/>
          <p:cNvCxnSpPr>
            <a:stCxn id="664" idx="3"/>
            <a:endCxn id="660" idx="1"/>
          </p:cNvCxnSpPr>
          <p:nvPr/>
        </p:nvCxnSpPr>
        <p:spPr>
          <a:xfrm>
            <a:off x="1618075" y="2983281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7" name="Google Shape;667;p55"/>
          <p:cNvCxnSpPr>
            <a:stCxn id="664" idx="3"/>
            <a:endCxn id="662" idx="1"/>
          </p:cNvCxnSpPr>
          <p:nvPr/>
        </p:nvCxnSpPr>
        <p:spPr>
          <a:xfrm>
            <a:off x="1618075" y="2983281"/>
            <a:ext cx="770400" cy="1231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8" name="Google Shape;668;p55"/>
          <p:cNvCxnSpPr>
            <a:stCxn id="669" idx="3"/>
            <a:endCxn id="665" idx="1"/>
          </p:cNvCxnSpPr>
          <p:nvPr/>
        </p:nvCxnSpPr>
        <p:spPr>
          <a:xfrm flipH="1" rot="10800000">
            <a:off x="1618075" y="2367119"/>
            <a:ext cx="770400" cy="12321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0" name="Google Shape;670;p55"/>
          <p:cNvCxnSpPr>
            <a:endCxn id="660" idx="1"/>
          </p:cNvCxnSpPr>
          <p:nvPr/>
        </p:nvCxnSpPr>
        <p:spPr>
          <a:xfrm>
            <a:off x="1618025" y="3599219"/>
            <a:ext cx="7704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1" name="Google Shape;671;p55"/>
          <p:cNvCxnSpPr>
            <a:stCxn id="669" idx="3"/>
            <a:endCxn id="662" idx="1"/>
          </p:cNvCxnSpPr>
          <p:nvPr/>
        </p:nvCxnSpPr>
        <p:spPr>
          <a:xfrm>
            <a:off x="1618075" y="3599219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2" name="Google Shape;672;p55"/>
          <p:cNvCxnSpPr>
            <a:stCxn id="673" idx="3"/>
            <a:endCxn id="665" idx="1"/>
          </p:cNvCxnSpPr>
          <p:nvPr/>
        </p:nvCxnSpPr>
        <p:spPr>
          <a:xfrm flipH="1" rot="10800000">
            <a:off x="1618075" y="2367144"/>
            <a:ext cx="770400" cy="18480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4" name="Google Shape;674;p55"/>
          <p:cNvCxnSpPr>
            <a:stCxn id="673" idx="3"/>
            <a:endCxn id="658" idx="1"/>
          </p:cNvCxnSpPr>
          <p:nvPr/>
        </p:nvCxnSpPr>
        <p:spPr>
          <a:xfrm flipH="1" rot="10800000">
            <a:off x="1618075" y="2983344"/>
            <a:ext cx="770400" cy="1231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5" name="Google Shape;675;p55"/>
          <p:cNvCxnSpPr>
            <a:stCxn id="673" idx="3"/>
            <a:endCxn id="662" idx="1"/>
          </p:cNvCxnSpPr>
          <p:nvPr/>
        </p:nvCxnSpPr>
        <p:spPr>
          <a:xfrm>
            <a:off x="1618075" y="4215144"/>
            <a:ext cx="7704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" name="Google Shape;676;p55"/>
          <p:cNvCxnSpPr>
            <a:stCxn id="665" idx="3"/>
            <a:endCxn id="677" idx="1"/>
          </p:cNvCxnSpPr>
          <p:nvPr/>
        </p:nvCxnSpPr>
        <p:spPr>
          <a:xfrm>
            <a:off x="2864825" y="2367194"/>
            <a:ext cx="770400" cy="6162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" name="Google Shape;678;p55"/>
          <p:cNvCxnSpPr>
            <a:stCxn id="665" idx="3"/>
            <a:endCxn id="679" idx="1"/>
          </p:cNvCxnSpPr>
          <p:nvPr/>
        </p:nvCxnSpPr>
        <p:spPr>
          <a:xfrm>
            <a:off x="2864825" y="2367194"/>
            <a:ext cx="770400" cy="12321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55"/>
          <p:cNvCxnSpPr>
            <a:stCxn id="665" idx="3"/>
            <a:endCxn id="681" idx="1"/>
          </p:cNvCxnSpPr>
          <p:nvPr/>
        </p:nvCxnSpPr>
        <p:spPr>
          <a:xfrm>
            <a:off x="2864825" y="2367194"/>
            <a:ext cx="770400" cy="18480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2" name="Google Shape;682;p55"/>
          <p:cNvCxnSpPr>
            <a:stCxn id="658" idx="3"/>
            <a:endCxn id="677" idx="1"/>
          </p:cNvCxnSpPr>
          <p:nvPr/>
        </p:nvCxnSpPr>
        <p:spPr>
          <a:xfrm>
            <a:off x="2864825" y="2983294"/>
            <a:ext cx="7704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3" name="Google Shape;683;p55"/>
          <p:cNvCxnSpPr>
            <a:stCxn id="658" idx="3"/>
            <a:endCxn id="679" idx="1"/>
          </p:cNvCxnSpPr>
          <p:nvPr/>
        </p:nvCxnSpPr>
        <p:spPr>
          <a:xfrm>
            <a:off x="2864825" y="2983294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4" name="Google Shape;684;p55"/>
          <p:cNvCxnSpPr>
            <a:stCxn id="658" idx="3"/>
            <a:endCxn id="681" idx="1"/>
          </p:cNvCxnSpPr>
          <p:nvPr/>
        </p:nvCxnSpPr>
        <p:spPr>
          <a:xfrm>
            <a:off x="2864825" y="2983294"/>
            <a:ext cx="770400" cy="1231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" name="Google Shape;685;p55"/>
          <p:cNvCxnSpPr>
            <a:stCxn id="660" idx="3"/>
            <a:endCxn id="677" idx="1"/>
          </p:cNvCxnSpPr>
          <p:nvPr/>
        </p:nvCxnSpPr>
        <p:spPr>
          <a:xfrm flipH="1" rot="10800000">
            <a:off x="2864825" y="2983319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6" name="Google Shape;686;p55"/>
          <p:cNvCxnSpPr>
            <a:stCxn id="660" idx="3"/>
            <a:endCxn id="679" idx="1"/>
          </p:cNvCxnSpPr>
          <p:nvPr/>
        </p:nvCxnSpPr>
        <p:spPr>
          <a:xfrm>
            <a:off x="2864825" y="3599219"/>
            <a:ext cx="7704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" name="Google Shape;687;p55"/>
          <p:cNvCxnSpPr>
            <a:stCxn id="660" idx="3"/>
            <a:endCxn id="681" idx="1"/>
          </p:cNvCxnSpPr>
          <p:nvPr/>
        </p:nvCxnSpPr>
        <p:spPr>
          <a:xfrm>
            <a:off x="2864825" y="3599219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8" name="Google Shape;688;p55"/>
          <p:cNvCxnSpPr>
            <a:stCxn id="662" idx="3"/>
            <a:endCxn id="689" idx="1"/>
          </p:cNvCxnSpPr>
          <p:nvPr/>
        </p:nvCxnSpPr>
        <p:spPr>
          <a:xfrm flipH="1" rot="10800000">
            <a:off x="2864825" y="2367144"/>
            <a:ext cx="770400" cy="18480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0" name="Google Shape;690;p55"/>
          <p:cNvCxnSpPr>
            <a:stCxn id="662" idx="3"/>
            <a:endCxn id="677" idx="1"/>
          </p:cNvCxnSpPr>
          <p:nvPr/>
        </p:nvCxnSpPr>
        <p:spPr>
          <a:xfrm flipH="1" rot="10800000">
            <a:off x="2864825" y="2983344"/>
            <a:ext cx="770400" cy="1231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1" name="Google Shape;691;p55"/>
          <p:cNvCxnSpPr>
            <a:stCxn id="662" idx="3"/>
            <a:endCxn id="679" idx="1"/>
          </p:cNvCxnSpPr>
          <p:nvPr/>
        </p:nvCxnSpPr>
        <p:spPr>
          <a:xfrm flipH="1" rot="10800000">
            <a:off x="2864825" y="3599244"/>
            <a:ext cx="770400" cy="61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" name="Google Shape;692;p55"/>
          <p:cNvCxnSpPr>
            <a:stCxn id="662" idx="3"/>
            <a:endCxn id="681" idx="1"/>
          </p:cNvCxnSpPr>
          <p:nvPr/>
        </p:nvCxnSpPr>
        <p:spPr>
          <a:xfrm>
            <a:off x="2864825" y="4215144"/>
            <a:ext cx="7704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3" name="Google Shape;693;p5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SDN in Datacenters – Underlay</a:t>
            </a:r>
            <a:endParaRPr/>
          </a:p>
        </p:txBody>
      </p:sp>
      <p:sp>
        <p:nvSpPr>
          <p:cNvPr id="694" name="Google Shape;694;p55"/>
          <p:cNvSpPr txBox="1"/>
          <p:nvPr>
            <p:ph idx="1" type="body"/>
          </p:nvPr>
        </p:nvSpPr>
        <p:spPr>
          <a:xfrm>
            <a:off x="107050" y="402200"/>
            <a:ext cx="8909700" cy="16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SDN underlay network is a physical network, just like any other.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lang="en"/>
              <a:t>benefits</a:t>
            </a:r>
            <a:r>
              <a:rPr lang="en"/>
              <a:t> from earlier (simplicity, efficiency) apply to the underlay network too.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Hyperscale datacenters might use SDN in both the overlay and underlay.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But these are decoupled systems.</a:t>
            </a:r>
            <a:endParaRPr/>
          </a:p>
        </p:txBody>
      </p:sp>
      <p:cxnSp>
        <p:nvCxnSpPr>
          <p:cNvPr id="695" name="Google Shape;695;p55"/>
          <p:cNvCxnSpPr>
            <a:stCxn id="696" idx="3"/>
            <a:endCxn id="657" idx="1"/>
          </p:cNvCxnSpPr>
          <p:nvPr/>
        </p:nvCxnSpPr>
        <p:spPr>
          <a:xfrm>
            <a:off x="836020" y="2367206"/>
            <a:ext cx="3057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7" name="Google Shape;697;p55"/>
          <p:cNvGrpSpPr/>
          <p:nvPr/>
        </p:nvGrpSpPr>
        <p:grpSpPr>
          <a:xfrm>
            <a:off x="458320" y="2116404"/>
            <a:ext cx="377700" cy="501937"/>
            <a:chOff x="4720275" y="1429404"/>
            <a:chExt cx="377700" cy="501937"/>
          </a:xfrm>
        </p:grpSpPr>
        <p:sp>
          <p:nvSpPr>
            <p:cNvPr id="696" name="Google Shape;696;p55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698" name="Google Shape;698;p55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699" name="Google Shape;699;p55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00" name="Google Shape;700;p55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01" name="Google Shape;701;p55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02" name="Google Shape;702;p55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03" name="Google Shape;703;p55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04" name="Google Shape;704;p55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705" name="Google Shape;705;p55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6" name="Google Shape;706;p55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7" name="Google Shape;707;p55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8" name="Google Shape;708;p55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9" name="Google Shape;709;p55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0" name="Google Shape;710;p55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1" name="Google Shape;711;p55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2" name="Google Shape;712;p55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13" name="Google Shape;713;p55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714" name="Google Shape;714;p55"/>
          <p:cNvGrpSpPr/>
          <p:nvPr/>
        </p:nvGrpSpPr>
        <p:grpSpPr>
          <a:xfrm>
            <a:off x="458270" y="2732329"/>
            <a:ext cx="377700" cy="501937"/>
            <a:chOff x="4720275" y="1429404"/>
            <a:chExt cx="377700" cy="501937"/>
          </a:xfrm>
        </p:grpSpPr>
        <p:sp>
          <p:nvSpPr>
            <p:cNvPr id="715" name="Google Shape;715;p55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16" name="Google Shape;716;p55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17" name="Google Shape;717;p55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18" name="Google Shape;718;p55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19" name="Google Shape;719;p55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20" name="Google Shape;720;p55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21" name="Google Shape;721;p55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22" name="Google Shape;722;p55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723" name="Google Shape;723;p55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4" name="Google Shape;724;p55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5" name="Google Shape;725;p55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6" name="Google Shape;726;p55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7" name="Google Shape;727;p55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8" name="Google Shape;728;p55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9" name="Google Shape;729;p55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0" name="Google Shape;730;p55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31" name="Google Shape;731;p55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732" name="Google Shape;732;p55"/>
          <p:cNvCxnSpPr>
            <a:stCxn id="733" idx="3"/>
            <a:endCxn id="669" idx="1"/>
          </p:cNvCxnSpPr>
          <p:nvPr/>
        </p:nvCxnSpPr>
        <p:spPr>
          <a:xfrm>
            <a:off x="835970" y="3599056"/>
            <a:ext cx="305700" cy="3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34" name="Google Shape;734;p55"/>
          <p:cNvGrpSpPr/>
          <p:nvPr/>
        </p:nvGrpSpPr>
        <p:grpSpPr>
          <a:xfrm>
            <a:off x="458270" y="3348254"/>
            <a:ext cx="377700" cy="501937"/>
            <a:chOff x="4720275" y="1429404"/>
            <a:chExt cx="377700" cy="501937"/>
          </a:xfrm>
        </p:grpSpPr>
        <p:sp>
          <p:nvSpPr>
            <p:cNvPr id="733" name="Google Shape;733;p55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35" name="Google Shape;735;p55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36" name="Google Shape;736;p55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37" name="Google Shape;737;p55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38" name="Google Shape;738;p55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39" name="Google Shape;739;p55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40" name="Google Shape;740;p55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41" name="Google Shape;741;p55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742" name="Google Shape;742;p55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3" name="Google Shape;743;p55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4" name="Google Shape;744;p55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5" name="Google Shape;745;p55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6" name="Google Shape;746;p55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7" name="Google Shape;747;p55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8" name="Google Shape;748;p55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9" name="Google Shape;749;p55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50" name="Google Shape;750;p55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751" name="Google Shape;751;p55"/>
          <p:cNvGrpSpPr/>
          <p:nvPr/>
        </p:nvGrpSpPr>
        <p:grpSpPr>
          <a:xfrm>
            <a:off x="458370" y="3964204"/>
            <a:ext cx="377700" cy="501937"/>
            <a:chOff x="4720275" y="1429404"/>
            <a:chExt cx="377700" cy="501937"/>
          </a:xfrm>
        </p:grpSpPr>
        <p:sp>
          <p:nvSpPr>
            <p:cNvPr id="752" name="Google Shape;752;p55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53" name="Google Shape;753;p55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54" name="Google Shape;754;p55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55" name="Google Shape;755;p55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56" name="Google Shape;756;p55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57" name="Google Shape;757;p55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58" name="Google Shape;758;p55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59" name="Google Shape;759;p55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760" name="Google Shape;760;p55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1" name="Google Shape;761;p55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2" name="Google Shape;762;p55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3" name="Google Shape;763;p55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4" name="Google Shape;764;p55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5" name="Google Shape;765;p55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6" name="Google Shape;766;p55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7" name="Google Shape;767;p55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68" name="Google Shape;768;p55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769" name="Google Shape;769;p55"/>
          <p:cNvCxnSpPr>
            <a:stCxn id="642" idx="3"/>
            <a:endCxn id="618" idx="1"/>
          </p:cNvCxnSpPr>
          <p:nvPr/>
        </p:nvCxnSpPr>
        <p:spPr>
          <a:xfrm flipH="1" rot="10800000">
            <a:off x="6126150" y="2983319"/>
            <a:ext cx="770400" cy="6159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8" name="Google Shape;638;p55"/>
          <p:cNvSpPr/>
          <p:nvPr/>
        </p:nvSpPr>
        <p:spPr>
          <a:xfrm>
            <a:off x="5649750" y="2745081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42" name="Google Shape;642;p55"/>
          <p:cNvSpPr/>
          <p:nvPr/>
        </p:nvSpPr>
        <p:spPr>
          <a:xfrm>
            <a:off x="5649750" y="336101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46" name="Google Shape;646;p55"/>
          <p:cNvSpPr/>
          <p:nvPr/>
        </p:nvSpPr>
        <p:spPr>
          <a:xfrm>
            <a:off x="5649750" y="397694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grpSp>
        <p:nvGrpSpPr>
          <p:cNvPr id="770" name="Google Shape;770;p55"/>
          <p:cNvGrpSpPr/>
          <p:nvPr/>
        </p:nvGrpSpPr>
        <p:grpSpPr>
          <a:xfrm>
            <a:off x="4966395" y="2116404"/>
            <a:ext cx="377700" cy="501937"/>
            <a:chOff x="4720275" y="1429404"/>
            <a:chExt cx="377700" cy="501937"/>
          </a:xfrm>
        </p:grpSpPr>
        <p:sp>
          <p:nvSpPr>
            <p:cNvPr id="771" name="Google Shape;771;p55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72" name="Google Shape;772;p55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73" name="Google Shape;773;p55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74" name="Google Shape;774;p55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75" name="Google Shape;775;p55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76" name="Google Shape;776;p55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77" name="Google Shape;777;p55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78" name="Google Shape;778;p55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779" name="Google Shape;779;p55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0" name="Google Shape;780;p55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1" name="Google Shape;781;p55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2" name="Google Shape;782;p55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3" name="Google Shape;783;p55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4" name="Google Shape;784;p55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5" name="Google Shape;785;p55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6" name="Google Shape;786;p55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87" name="Google Shape;787;p55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788" name="Google Shape;788;p55"/>
          <p:cNvGrpSpPr/>
          <p:nvPr/>
        </p:nvGrpSpPr>
        <p:grpSpPr>
          <a:xfrm>
            <a:off x="4966445" y="2732317"/>
            <a:ext cx="377700" cy="501937"/>
            <a:chOff x="4720275" y="1429404"/>
            <a:chExt cx="377700" cy="501937"/>
          </a:xfrm>
        </p:grpSpPr>
        <p:sp>
          <p:nvSpPr>
            <p:cNvPr id="652" name="Google Shape;652;p55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89" name="Google Shape;789;p55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90" name="Google Shape;790;p55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91" name="Google Shape;791;p55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92" name="Google Shape;792;p55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93" name="Google Shape;793;p55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94" name="Google Shape;794;p55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795" name="Google Shape;795;p55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796" name="Google Shape;796;p55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7" name="Google Shape;797;p55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8" name="Google Shape;798;p55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9" name="Google Shape;799;p55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0" name="Google Shape;800;p55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" name="Google Shape;801;p55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" name="Google Shape;802;p55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3" name="Google Shape;803;p55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04" name="Google Shape;804;p55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805" name="Google Shape;805;p55"/>
          <p:cNvCxnSpPr>
            <a:stCxn id="806" idx="3"/>
            <a:endCxn id="642" idx="1"/>
          </p:cNvCxnSpPr>
          <p:nvPr/>
        </p:nvCxnSpPr>
        <p:spPr>
          <a:xfrm>
            <a:off x="5344045" y="3599056"/>
            <a:ext cx="305700" cy="3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07" name="Google Shape;807;p55"/>
          <p:cNvGrpSpPr/>
          <p:nvPr/>
        </p:nvGrpSpPr>
        <p:grpSpPr>
          <a:xfrm>
            <a:off x="4966345" y="3348254"/>
            <a:ext cx="377700" cy="501937"/>
            <a:chOff x="4720275" y="1429404"/>
            <a:chExt cx="377700" cy="501937"/>
          </a:xfrm>
        </p:grpSpPr>
        <p:sp>
          <p:nvSpPr>
            <p:cNvPr id="806" name="Google Shape;806;p55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08" name="Google Shape;808;p55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09" name="Google Shape;809;p55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10" name="Google Shape;810;p55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11" name="Google Shape;811;p55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12" name="Google Shape;812;p55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13" name="Google Shape;813;p55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14" name="Google Shape;814;p55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815" name="Google Shape;815;p55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6" name="Google Shape;816;p55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7" name="Google Shape;817;p55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8" name="Google Shape;818;p55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9" name="Google Shape;819;p55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0" name="Google Shape;820;p55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1" name="Google Shape;821;p55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2" name="Google Shape;822;p55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23" name="Google Shape;823;p55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grpSp>
        <p:nvGrpSpPr>
          <p:cNvPr id="824" name="Google Shape;824;p55"/>
          <p:cNvGrpSpPr/>
          <p:nvPr/>
        </p:nvGrpSpPr>
        <p:grpSpPr>
          <a:xfrm>
            <a:off x="4966445" y="3964204"/>
            <a:ext cx="377700" cy="501937"/>
            <a:chOff x="4720275" y="1429404"/>
            <a:chExt cx="377700" cy="501937"/>
          </a:xfrm>
        </p:grpSpPr>
        <p:sp>
          <p:nvSpPr>
            <p:cNvPr id="654" name="Google Shape;654;p55"/>
            <p:cNvSpPr/>
            <p:nvPr/>
          </p:nvSpPr>
          <p:spPr>
            <a:xfrm>
              <a:off x="4720275" y="1652306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25" name="Google Shape;825;p55"/>
            <p:cNvSpPr/>
            <p:nvPr/>
          </p:nvSpPr>
          <p:spPr>
            <a:xfrm>
              <a:off x="4720275" y="1596572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26" name="Google Shape;826;p55"/>
            <p:cNvSpPr/>
            <p:nvPr/>
          </p:nvSpPr>
          <p:spPr>
            <a:xfrm>
              <a:off x="4720275" y="1540838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27" name="Google Shape;827;p55"/>
            <p:cNvSpPr/>
            <p:nvPr/>
          </p:nvSpPr>
          <p:spPr>
            <a:xfrm>
              <a:off x="4720275" y="1485104"/>
              <a:ext cx="377700" cy="558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28" name="Google Shape;828;p55"/>
            <p:cNvSpPr/>
            <p:nvPr/>
          </p:nvSpPr>
          <p:spPr>
            <a:xfrm>
              <a:off x="4720275" y="1875241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29" name="Google Shape;829;p55"/>
            <p:cNvSpPr/>
            <p:nvPr/>
          </p:nvSpPr>
          <p:spPr>
            <a:xfrm>
              <a:off x="4720275" y="1819507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30" name="Google Shape;830;p55"/>
            <p:cNvSpPr/>
            <p:nvPr/>
          </p:nvSpPr>
          <p:spPr>
            <a:xfrm>
              <a:off x="4720275" y="1763773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sp>
          <p:nvSpPr>
            <p:cNvPr id="831" name="Google Shape;831;p55"/>
            <p:cNvSpPr/>
            <p:nvPr/>
          </p:nvSpPr>
          <p:spPr>
            <a:xfrm>
              <a:off x="4720275" y="1708039"/>
              <a:ext cx="377700" cy="561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832" name="Google Shape;832;p55"/>
            <p:cNvCxnSpPr/>
            <p:nvPr/>
          </p:nvCxnSpPr>
          <p:spPr>
            <a:xfrm>
              <a:off x="4748325" y="1482482"/>
              <a:ext cx="0" cy="33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3" name="Google Shape;833;p55"/>
            <p:cNvCxnSpPr/>
            <p:nvPr/>
          </p:nvCxnSpPr>
          <p:spPr>
            <a:xfrm>
              <a:off x="4782370" y="1484768"/>
              <a:ext cx="0" cy="885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4" name="Google Shape;834;p55"/>
            <p:cNvCxnSpPr/>
            <p:nvPr/>
          </p:nvCxnSpPr>
          <p:spPr>
            <a:xfrm>
              <a:off x="4816415" y="1486825"/>
              <a:ext cx="0" cy="139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5" name="Google Shape;835;p55"/>
            <p:cNvCxnSpPr/>
            <p:nvPr/>
          </p:nvCxnSpPr>
          <p:spPr>
            <a:xfrm>
              <a:off x="4865572" y="1484768"/>
              <a:ext cx="0" cy="197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6" name="Google Shape;836;p55"/>
            <p:cNvCxnSpPr/>
            <p:nvPr/>
          </p:nvCxnSpPr>
          <p:spPr>
            <a:xfrm>
              <a:off x="4914729" y="1486825"/>
              <a:ext cx="0" cy="249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7" name="Google Shape;837;p55"/>
            <p:cNvCxnSpPr/>
            <p:nvPr/>
          </p:nvCxnSpPr>
          <p:spPr>
            <a:xfrm>
              <a:off x="4958212" y="1488883"/>
              <a:ext cx="0" cy="308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8" name="Google Shape;838;p55"/>
            <p:cNvCxnSpPr/>
            <p:nvPr/>
          </p:nvCxnSpPr>
          <p:spPr>
            <a:xfrm>
              <a:off x="5005478" y="1484768"/>
              <a:ext cx="0" cy="3600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9" name="Google Shape;839;p55"/>
            <p:cNvCxnSpPr/>
            <p:nvPr/>
          </p:nvCxnSpPr>
          <p:spPr>
            <a:xfrm>
              <a:off x="5046688" y="1482710"/>
              <a:ext cx="0" cy="427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40" name="Google Shape;840;p55"/>
            <p:cNvSpPr/>
            <p:nvPr/>
          </p:nvSpPr>
          <p:spPr>
            <a:xfrm>
              <a:off x="4720275" y="1429404"/>
              <a:ext cx="377700" cy="558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</p:grpSp>
      <p:cxnSp>
        <p:nvCxnSpPr>
          <p:cNvPr id="841" name="Google Shape;841;p55"/>
          <p:cNvCxnSpPr>
            <a:stCxn id="657" idx="3"/>
            <a:endCxn id="665" idx="1"/>
          </p:cNvCxnSpPr>
          <p:nvPr/>
        </p:nvCxnSpPr>
        <p:spPr>
          <a:xfrm>
            <a:off x="1618075" y="2367344"/>
            <a:ext cx="7704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2" name="Google Shape;842;p55"/>
          <p:cNvCxnSpPr>
            <a:stCxn id="669" idx="3"/>
            <a:endCxn id="658" idx="1"/>
          </p:cNvCxnSpPr>
          <p:nvPr/>
        </p:nvCxnSpPr>
        <p:spPr>
          <a:xfrm flipH="1" rot="10800000">
            <a:off x="1618075" y="2983319"/>
            <a:ext cx="770400" cy="6159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3" name="Google Shape;843;p55"/>
          <p:cNvCxnSpPr>
            <a:stCxn id="665" idx="3"/>
            <a:endCxn id="689" idx="1"/>
          </p:cNvCxnSpPr>
          <p:nvPr/>
        </p:nvCxnSpPr>
        <p:spPr>
          <a:xfrm>
            <a:off x="2864825" y="2367194"/>
            <a:ext cx="7704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55"/>
          <p:cNvCxnSpPr>
            <a:stCxn id="658" idx="3"/>
            <a:endCxn id="689" idx="1"/>
          </p:cNvCxnSpPr>
          <p:nvPr/>
        </p:nvCxnSpPr>
        <p:spPr>
          <a:xfrm flipH="1" rot="10800000">
            <a:off x="2864825" y="2367094"/>
            <a:ext cx="770400" cy="6162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5" name="Google Shape;845;p55"/>
          <p:cNvCxnSpPr/>
          <p:nvPr/>
        </p:nvCxnSpPr>
        <p:spPr>
          <a:xfrm flipH="1" rot="10800000">
            <a:off x="2864825" y="2404631"/>
            <a:ext cx="770400" cy="616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6" name="Google Shape;846;p55"/>
          <p:cNvCxnSpPr>
            <a:stCxn id="664" idx="3"/>
            <a:endCxn id="658" idx="1"/>
          </p:cNvCxnSpPr>
          <p:nvPr/>
        </p:nvCxnSpPr>
        <p:spPr>
          <a:xfrm>
            <a:off x="1618075" y="2983281"/>
            <a:ext cx="7704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7" name="Google Shape;847;p55"/>
          <p:cNvCxnSpPr>
            <a:stCxn id="673" idx="3"/>
            <a:endCxn id="660" idx="1"/>
          </p:cNvCxnSpPr>
          <p:nvPr/>
        </p:nvCxnSpPr>
        <p:spPr>
          <a:xfrm flipH="1" rot="10800000">
            <a:off x="1618075" y="3599244"/>
            <a:ext cx="770400" cy="6159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8" name="Google Shape;848;p55"/>
          <p:cNvCxnSpPr>
            <a:stCxn id="660" idx="3"/>
            <a:endCxn id="689" idx="1"/>
          </p:cNvCxnSpPr>
          <p:nvPr/>
        </p:nvCxnSpPr>
        <p:spPr>
          <a:xfrm flipH="1" rot="10800000">
            <a:off x="2864825" y="2367119"/>
            <a:ext cx="770400" cy="12321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9" name="Google Shape;849;p55"/>
          <p:cNvCxnSpPr>
            <a:stCxn id="715" idx="3"/>
            <a:endCxn id="664" idx="1"/>
          </p:cNvCxnSpPr>
          <p:nvPr/>
        </p:nvCxnSpPr>
        <p:spPr>
          <a:xfrm>
            <a:off x="835970" y="2983131"/>
            <a:ext cx="305700" cy="3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0" name="Google Shape;850;p55"/>
          <p:cNvCxnSpPr>
            <a:stCxn id="752" idx="3"/>
            <a:endCxn id="673" idx="1"/>
          </p:cNvCxnSpPr>
          <p:nvPr/>
        </p:nvCxnSpPr>
        <p:spPr>
          <a:xfrm>
            <a:off x="836070" y="4215006"/>
            <a:ext cx="3057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55"/>
          <p:cNvSpPr/>
          <p:nvPr/>
        </p:nvSpPr>
        <p:spPr>
          <a:xfrm>
            <a:off x="2388425" y="212899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60" name="Google Shape;660;p55"/>
          <p:cNvSpPr/>
          <p:nvPr/>
        </p:nvSpPr>
        <p:spPr>
          <a:xfrm>
            <a:off x="2388425" y="336101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62" name="Google Shape;662;p55"/>
          <p:cNvSpPr/>
          <p:nvPr/>
        </p:nvSpPr>
        <p:spPr>
          <a:xfrm>
            <a:off x="2388425" y="397694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77" name="Google Shape;677;p55"/>
          <p:cNvSpPr/>
          <p:nvPr/>
        </p:nvSpPr>
        <p:spPr>
          <a:xfrm>
            <a:off x="3635175" y="274506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79" name="Google Shape;679;p55"/>
          <p:cNvSpPr/>
          <p:nvPr/>
        </p:nvSpPr>
        <p:spPr>
          <a:xfrm>
            <a:off x="3635175" y="336099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81" name="Google Shape;681;p55"/>
          <p:cNvSpPr/>
          <p:nvPr/>
        </p:nvSpPr>
        <p:spPr>
          <a:xfrm>
            <a:off x="3635175" y="397691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89" name="Google Shape;689;p55"/>
          <p:cNvSpPr/>
          <p:nvPr/>
        </p:nvSpPr>
        <p:spPr>
          <a:xfrm>
            <a:off x="3635175" y="212896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58" name="Google Shape;658;p55"/>
          <p:cNvSpPr/>
          <p:nvPr/>
        </p:nvSpPr>
        <p:spPr>
          <a:xfrm>
            <a:off x="2388425" y="274509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57" name="Google Shape;657;p55"/>
          <p:cNvSpPr/>
          <p:nvPr/>
        </p:nvSpPr>
        <p:spPr>
          <a:xfrm>
            <a:off x="1141675" y="212914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64" name="Google Shape;664;p55"/>
          <p:cNvSpPr/>
          <p:nvPr/>
        </p:nvSpPr>
        <p:spPr>
          <a:xfrm>
            <a:off x="1141675" y="2745081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69" name="Google Shape;669;p55"/>
          <p:cNvSpPr/>
          <p:nvPr/>
        </p:nvSpPr>
        <p:spPr>
          <a:xfrm>
            <a:off x="1141675" y="3361019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73" name="Google Shape;673;p55"/>
          <p:cNvSpPr/>
          <p:nvPr/>
        </p:nvSpPr>
        <p:spPr>
          <a:xfrm>
            <a:off x="1141675" y="397694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cxnSp>
        <p:nvCxnSpPr>
          <p:cNvPr id="851" name="Google Shape;851;p55"/>
          <p:cNvCxnSpPr>
            <a:stCxn id="634" idx="1"/>
            <a:endCxn id="771" idx="3"/>
          </p:cNvCxnSpPr>
          <p:nvPr/>
        </p:nvCxnSpPr>
        <p:spPr>
          <a:xfrm rot="10800000">
            <a:off x="5344050" y="2367344"/>
            <a:ext cx="3057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4" name="Google Shape;634;p55"/>
          <p:cNvSpPr/>
          <p:nvPr/>
        </p:nvSpPr>
        <p:spPr>
          <a:xfrm>
            <a:off x="5649750" y="2129144"/>
            <a:ext cx="476400" cy="476400"/>
          </a:xfrm>
          <a:prstGeom prst="rect">
            <a:avLst/>
          </a:prstGeom>
          <a:solidFill>
            <a:srgbClr val="F6B26B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cxnSp>
        <p:nvCxnSpPr>
          <p:cNvPr id="852" name="Google Shape;852;p55"/>
          <p:cNvCxnSpPr>
            <a:stCxn id="619" idx="3"/>
            <a:endCxn id="614" idx="1"/>
          </p:cNvCxnSpPr>
          <p:nvPr/>
        </p:nvCxnSpPr>
        <p:spPr>
          <a:xfrm flipH="1" rot="10800000">
            <a:off x="7372900" y="2983319"/>
            <a:ext cx="770400" cy="6159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3" name="Google Shape;853;p55"/>
          <p:cNvCxnSpPr>
            <a:stCxn id="618" idx="3"/>
            <a:endCxn id="614" idx="1"/>
          </p:cNvCxnSpPr>
          <p:nvPr/>
        </p:nvCxnSpPr>
        <p:spPr>
          <a:xfrm>
            <a:off x="7372900" y="2983294"/>
            <a:ext cx="7704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4" name="Google Shape;854;p55"/>
          <p:cNvCxnSpPr>
            <a:stCxn id="613" idx="1"/>
            <a:endCxn id="617" idx="3"/>
          </p:cNvCxnSpPr>
          <p:nvPr/>
        </p:nvCxnSpPr>
        <p:spPr>
          <a:xfrm rot="10800000">
            <a:off x="7372850" y="2367169"/>
            <a:ext cx="7704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5" name="Google Shape;855;p55"/>
          <p:cNvCxnSpPr>
            <a:stCxn id="618" idx="3"/>
            <a:endCxn id="613" idx="1"/>
          </p:cNvCxnSpPr>
          <p:nvPr/>
        </p:nvCxnSpPr>
        <p:spPr>
          <a:xfrm flipH="1" rot="10800000">
            <a:off x="7372900" y="2367094"/>
            <a:ext cx="770400" cy="6162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6" name="Google Shape;856;p55"/>
          <p:cNvSpPr txBox="1"/>
          <p:nvPr/>
        </p:nvSpPr>
        <p:spPr>
          <a:xfrm>
            <a:off x="327050" y="4466150"/>
            <a:ext cx="4011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Per-flow load balancing might cause 2 elephant flows to share a link.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7" name="Google Shape;857;p55"/>
          <p:cNvSpPr txBox="1"/>
          <p:nvPr/>
        </p:nvSpPr>
        <p:spPr>
          <a:xfrm>
            <a:off x="4881925" y="4466150"/>
            <a:ext cx="4011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global controller can route traffic differently, improving performance.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2" name="Google Shape;862;p56"/>
          <p:cNvGraphicFramePr/>
          <p:nvPr/>
        </p:nvGraphicFramePr>
        <p:xfrm>
          <a:off x="872325" y="17393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{ED36ABF8-2FA5-4E43-B9D7-F598E559F24D}</a:tableStyleId>
              </a:tblPr>
              <a:tblGrid>
                <a:gridCol w="4510675"/>
                <a:gridCol w="1887325"/>
                <a:gridCol w="1001325"/>
              </a:tblGrid>
              <a:tr h="862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Jupiter Evolving: Transforming Google's Datacenter Network via Optical Circuit Switches and Software-Defined Networking</a:t>
                      </a:r>
                      <a:endParaRPr b="1" sz="1600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Link</a:t>
                      </a:r>
                      <a:endParaRPr b="1" sz="1600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0" marR="91425" marL="91425">
                    <a:lnL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</a:tr>
              <a:tr h="376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Leon Poutievski</a:t>
                      </a:r>
                      <a:r>
                        <a:rPr i="1"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et. al. (Google)</a:t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ACM SIGCOMM 2022</a:t>
                      </a:r>
                      <a:endParaRPr i="1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863" name="Google Shape;863;p5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Improving Efficiency of Datacenters Using SDN</a:t>
            </a:r>
            <a:endParaRPr/>
          </a:p>
        </p:txBody>
      </p:sp>
      <p:sp>
        <p:nvSpPr>
          <p:cNvPr id="864" name="Google Shape;864;p56"/>
          <p:cNvSpPr txBox="1"/>
          <p:nvPr>
            <p:ph idx="1" type="body"/>
          </p:nvPr>
        </p:nvSpPr>
        <p:spPr>
          <a:xfrm>
            <a:off x="107050" y="402200"/>
            <a:ext cx="8909700" cy="11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Elimination of stages in a Clos topology by adding dynamic links.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Enabled by SDN.</a:t>
            </a:r>
            <a:endParaRPr/>
          </a:p>
        </p:txBody>
      </p:sp>
      <p:pic>
        <p:nvPicPr>
          <p:cNvPr id="865" name="Google Shape;865;p56"/>
          <p:cNvPicPr preferRelativeResize="0"/>
          <p:nvPr/>
        </p:nvPicPr>
        <p:blipFill rotWithShape="1">
          <a:blip r:embed="rId4">
            <a:alphaModFix/>
          </a:blip>
          <a:srcRect b="0" l="0" r="0" t="3409"/>
          <a:stretch/>
        </p:blipFill>
        <p:spPr>
          <a:xfrm>
            <a:off x="1922588" y="2958425"/>
            <a:ext cx="5278625" cy="201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57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Software-Defined Networking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 Brief History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Implementation (OpenFlow API)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•"/>
            </a:pPr>
            <a:r>
              <a:rPr lang="en">
                <a:solidFill>
                  <a:srgbClr val="CCCCCC"/>
                </a:solidFill>
              </a:rPr>
              <a:t>Benefits (Traffic Engineering)</a:t>
            </a:r>
            <a:endParaRPr>
              <a:solidFill>
                <a:srgbClr val="CCCCCC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SDN in Datacenters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Other Applications of SDN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1" name="Google Shape;871;p5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Applications of SDN</a:t>
            </a:r>
            <a:endParaRPr/>
          </a:p>
        </p:txBody>
      </p:sp>
      <p:sp>
        <p:nvSpPr>
          <p:cNvPr id="872" name="Google Shape;872;p5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20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5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SDN in Wide-Area Networks (WAN)</a:t>
            </a:r>
            <a:endParaRPr/>
          </a:p>
        </p:txBody>
      </p:sp>
      <p:sp>
        <p:nvSpPr>
          <p:cNvPr id="878" name="Google Shape;878;p58"/>
          <p:cNvSpPr txBox="1"/>
          <p:nvPr>
            <p:ph idx="1" type="body"/>
          </p:nvPr>
        </p:nvSpPr>
        <p:spPr>
          <a:xfrm>
            <a:off x="107050" y="402200"/>
            <a:ext cx="8909700" cy="17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/>
              <a:t>benefits</a:t>
            </a:r>
            <a:r>
              <a:rPr lang="en"/>
              <a:t> of traffic engineering (e.g. efficiency, simplicity) apply to general WANs as well.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Example: SDN control planes let us use expensive network resources (e.g. undersea cables) more efficiently.</a:t>
            </a:r>
            <a:endParaRPr/>
          </a:p>
        </p:txBody>
      </p:sp>
      <p:sp>
        <p:nvSpPr>
          <p:cNvPr id="879" name="Google Shape;879;p58"/>
          <p:cNvSpPr/>
          <p:nvPr/>
        </p:nvSpPr>
        <p:spPr>
          <a:xfrm>
            <a:off x="3585025" y="3519066"/>
            <a:ext cx="3624775" cy="829675"/>
          </a:xfrm>
          <a:custGeom>
            <a:rect b="b" l="l" r="r" t="t"/>
            <a:pathLst>
              <a:path extrusionOk="0" h="33187" w="144991">
                <a:moveTo>
                  <a:pt x="0" y="1523"/>
                </a:moveTo>
                <a:cubicBezTo>
                  <a:pt x="5468" y="1664"/>
                  <a:pt x="20920" y="-2498"/>
                  <a:pt x="32808" y="2370"/>
                </a:cubicBezTo>
                <a:cubicBezTo>
                  <a:pt x="44697" y="7238"/>
                  <a:pt x="56267" y="26036"/>
                  <a:pt x="71331" y="30733"/>
                </a:cubicBezTo>
                <a:cubicBezTo>
                  <a:pt x="86395" y="35430"/>
                  <a:pt x="110913" y="32241"/>
                  <a:pt x="123190" y="30553"/>
                </a:cubicBezTo>
                <a:cubicBezTo>
                  <a:pt x="135467" y="28865"/>
                  <a:pt x="141358" y="22263"/>
                  <a:pt x="144991" y="20605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880" name="Google Shape;880;p58"/>
          <p:cNvSpPr/>
          <p:nvPr/>
        </p:nvSpPr>
        <p:spPr>
          <a:xfrm flipH="1" rot="10800000">
            <a:off x="3498225" y="3663371"/>
            <a:ext cx="3701350" cy="337750"/>
          </a:xfrm>
          <a:custGeom>
            <a:rect b="b" l="l" r="r" t="t"/>
            <a:pathLst>
              <a:path extrusionOk="0" h="13510" w="148054">
                <a:moveTo>
                  <a:pt x="0" y="12963"/>
                </a:moveTo>
                <a:cubicBezTo>
                  <a:pt x="19391" y="12871"/>
                  <a:pt x="91670" y="14569"/>
                  <a:pt x="116346" y="12408"/>
                </a:cubicBezTo>
                <a:cubicBezTo>
                  <a:pt x="141022" y="10248"/>
                  <a:pt x="142769" y="2068"/>
                  <a:pt x="148054" y="0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881" name="Google Shape;881;p58"/>
          <p:cNvSpPr/>
          <p:nvPr/>
        </p:nvSpPr>
        <p:spPr>
          <a:xfrm>
            <a:off x="4157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82" name="Google Shape;882;p58"/>
          <p:cNvCxnSpPr>
            <a:stCxn id="881" idx="1"/>
            <a:endCxn id="883" idx="6"/>
          </p:cNvCxnSpPr>
          <p:nvPr/>
        </p:nvCxnSpPr>
        <p:spPr>
          <a:xfrm rot="10800000">
            <a:off x="3680363" y="3621400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3" name="Google Shape;883;p58"/>
          <p:cNvSpPr/>
          <p:nvPr/>
        </p:nvSpPr>
        <p:spPr>
          <a:xfrm>
            <a:off x="3395363" y="3478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84" name="Google Shape;884;p58"/>
          <p:cNvCxnSpPr>
            <a:stCxn id="885" idx="1"/>
            <a:endCxn id="886" idx="6"/>
          </p:cNvCxnSpPr>
          <p:nvPr/>
        </p:nvCxnSpPr>
        <p:spPr>
          <a:xfrm rot="10800000">
            <a:off x="3680363" y="4383400"/>
            <a:ext cx="47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7" name="Google Shape;887;p58"/>
          <p:cNvSpPr/>
          <p:nvPr/>
        </p:nvSpPr>
        <p:spPr>
          <a:xfrm>
            <a:off x="5300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88" name="Google Shape;888;p58"/>
          <p:cNvCxnSpPr>
            <a:stCxn id="887" idx="1"/>
            <a:endCxn id="881" idx="3"/>
          </p:cNvCxnSpPr>
          <p:nvPr/>
        </p:nvCxnSpPr>
        <p:spPr>
          <a:xfrm rot="10800000">
            <a:off x="4442363" y="3621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9" name="Google Shape;889;p58"/>
          <p:cNvCxnSpPr>
            <a:stCxn id="890" idx="1"/>
            <a:endCxn id="881" idx="3"/>
          </p:cNvCxnSpPr>
          <p:nvPr/>
        </p:nvCxnSpPr>
        <p:spPr>
          <a:xfrm rot="10800000">
            <a:off x="4442363" y="3621400"/>
            <a:ext cx="858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1" name="Google Shape;891;p58"/>
          <p:cNvCxnSpPr>
            <a:stCxn id="887" idx="1"/>
            <a:endCxn id="885" idx="3"/>
          </p:cNvCxnSpPr>
          <p:nvPr/>
        </p:nvCxnSpPr>
        <p:spPr>
          <a:xfrm flipH="1">
            <a:off x="4442363" y="3621400"/>
            <a:ext cx="858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2" name="Google Shape;892;p58"/>
          <p:cNvCxnSpPr>
            <a:stCxn id="890" idx="1"/>
            <a:endCxn id="885" idx="3"/>
          </p:cNvCxnSpPr>
          <p:nvPr/>
        </p:nvCxnSpPr>
        <p:spPr>
          <a:xfrm rot="10800000">
            <a:off x="4442363" y="4383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3" name="Google Shape;893;p58"/>
          <p:cNvSpPr/>
          <p:nvPr/>
        </p:nvSpPr>
        <p:spPr>
          <a:xfrm>
            <a:off x="6443363" y="3478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4" name="Google Shape;894;p58"/>
          <p:cNvCxnSpPr>
            <a:stCxn id="895" idx="1"/>
            <a:endCxn id="890" idx="3"/>
          </p:cNvCxnSpPr>
          <p:nvPr/>
        </p:nvCxnSpPr>
        <p:spPr>
          <a:xfrm rot="10800000">
            <a:off x="5585363" y="4383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6" name="Google Shape;896;p58"/>
          <p:cNvCxnSpPr>
            <a:stCxn id="893" idx="1"/>
            <a:endCxn id="887" idx="3"/>
          </p:cNvCxnSpPr>
          <p:nvPr/>
        </p:nvCxnSpPr>
        <p:spPr>
          <a:xfrm rot="10800000">
            <a:off x="5585363" y="3621400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7" name="Google Shape;897;p58"/>
          <p:cNvSpPr/>
          <p:nvPr/>
        </p:nvSpPr>
        <p:spPr>
          <a:xfrm>
            <a:off x="7205363" y="3859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8" name="Google Shape;898;p58"/>
          <p:cNvCxnSpPr>
            <a:stCxn id="897" idx="1"/>
            <a:endCxn id="893" idx="3"/>
          </p:cNvCxnSpPr>
          <p:nvPr/>
        </p:nvCxnSpPr>
        <p:spPr>
          <a:xfrm rot="10800000">
            <a:off x="6728400" y="3621437"/>
            <a:ext cx="518700" cy="2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9" name="Google Shape;899;p58"/>
          <p:cNvCxnSpPr>
            <a:stCxn id="897" idx="3"/>
            <a:endCxn id="895" idx="3"/>
          </p:cNvCxnSpPr>
          <p:nvPr/>
        </p:nvCxnSpPr>
        <p:spPr>
          <a:xfrm flipH="1">
            <a:off x="6728400" y="4103162"/>
            <a:ext cx="518700" cy="2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0" name="Google Shape;900;p58"/>
          <p:cNvSpPr txBox="1"/>
          <p:nvPr/>
        </p:nvSpPr>
        <p:spPr>
          <a:xfrm>
            <a:off x="4795625" y="4696025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 links 10 Gbps.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1" name="Google Shape;901;p58"/>
          <p:cNvSpPr/>
          <p:nvPr/>
        </p:nvSpPr>
        <p:spPr>
          <a:xfrm>
            <a:off x="3574425" y="4143250"/>
            <a:ext cx="3701350" cy="337750"/>
          </a:xfrm>
          <a:custGeom>
            <a:rect b="b" l="l" r="r" t="t"/>
            <a:pathLst>
              <a:path extrusionOk="0" h="13510" w="148054">
                <a:moveTo>
                  <a:pt x="0" y="12963"/>
                </a:moveTo>
                <a:cubicBezTo>
                  <a:pt x="19391" y="12871"/>
                  <a:pt x="91670" y="14569"/>
                  <a:pt x="116346" y="12408"/>
                </a:cubicBezTo>
                <a:cubicBezTo>
                  <a:pt x="141022" y="10248"/>
                  <a:pt x="142769" y="2068"/>
                  <a:pt x="148054" y="0"/>
                </a:cubicBez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885" name="Google Shape;885;p58"/>
          <p:cNvSpPr/>
          <p:nvPr/>
        </p:nvSpPr>
        <p:spPr>
          <a:xfrm>
            <a:off x="4157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0" name="Google Shape;890;p58"/>
          <p:cNvSpPr/>
          <p:nvPr/>
        </p:nvSpPr>
        <p:spPr>
          <a:xfrm>
            <a:off x="5300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5" name="Google Shape;895;p58"/>
          <p:cNvSpPr/>
          <p:nvPr/>
        </p:nvSpPr>
        <p:spPr>
          <a:xfrm>
            <a:off x="6443363" y="4240900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6" name="Google Shape;886;p58"/>
          <p:cNvSpPr/>
          <p:nvPr/>
        </p:nvSpPr>
        <p:spPr>
          <a:xfrm>
            <a:off x="3395363" y="4240900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2" name="Google Shape;902;p58"/>
          <p:cNvSpPr txBox="1"/>
          <p:nvPr/>
        </p:nvSpPr>
        <p:spPr>
          <a:xfrm>
            <a:off x="1665800" y="3513700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A → C = 12 Gbps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3" name="Google Shape;903;p58"/>
          <p:cNvSpPr txBox="1"/>
          <p:nvPr/>
        </p:nvSpPr>
        <p:spPr>
          <a:xfrm>
            <a:off x="1665800" y="4275700"/>
            <a:ext cx="14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B → C = 8 Gbps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4" name="Google Shape;904;p58"/>
          <p:cNvSpPr/>
          <p:nvPr/>
        </p:nvSpPr>
        <p:spPr>
          <a:xfrm>
            <a:off x="4484300" y="2770975"/>
            <a:ext cx="1881600" cy="570300"/>
          </a:xfrm>
          <a:prstGeom prst="wedgeRoundRectCallout">
            <a:avLst>
              <a:gd fmla="val -60787" name="adj1"/>
              <a:gd fmla="val 58154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 10 Gbps to R2, and 2 Gbps to R6.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59"/>
          <p:cNvSpPr/>
          <p:nvPr/>
        </p:nvSpPr>
        <p:spPr>
          <a:xfrm>
            <a:off x="6880850" y="1520300"/>
            <a:ext cx="2070300" cy="2294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Developed by an equipment vendor.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0" name="Google Shape;910;p5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Innovating Routers</a:t>
            </a:r>
            <a:endParaRPr/>
          </a:p>
        </p:txBody>
      </p:sp>
      <p:sp>
        <p:nvSpPr>
          <p:cNvPr id="911" name="Google Shape;911;p59"/>
          <p:cNvSpPr txBox="1"/>
          <p:nvPr>
            <p:ph idx="1" type="body"/>
          </p:nvPr>
        </p:nvSpPr>
        <p:spPr>
          <a:xfrm>
            <a:off x="107050" y="402200"/>
            <a:ext cx="66552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management plane is loosely standardized.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Recall: The management plane is how operators configure and monitor routers.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Often a bottleneck for network operations.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Historically, less focus on this plane.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Slow evolution toward using scripts to programmatically control the network.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SDN lets us try new approaches to management, too.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of SDN's lessons is well-defined, </a:t>
            </a:r>
            <a:r>
              <a:rPr lang="en"/>
              <a:t>programmatic</a:t>
            </a:r>
            <a:r>
              <a:rPr lang="en"/>
              <a:t> APIs.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lesson also applies to the management plane.</a:t>
            </a:r>
            <a:endParaRPr/>
          </a:p>
        </p:txBody>
      </p:sp>
      <p:sp>
        <p:nvSpPr>
          <p:cNvPr id="912" name="Google Shape;912;p59"/>
          <p:cNvSpPr/>
          <p:nvPr/>
        </p:nvSpPr>
        <p:spPr>
          <a:xfrm>
            <a:off x="6999450" y="2673674"/>
            <a:ext cx="1854600" cy="5175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 Plane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3" name="Google Shape;913;p59"/>
          <p:cNvSpPr/>
          <p:nvPr/>
        </p:nvSpPr>
        <p:spPr>
          <a:xfrm>
            <a:off x="6999450" y="2156075"/>
            <a:ext cx="1854600" cy="51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Control Plane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4" name="Google Shape;914;p59"/>
          <p:cNvSpPr/>
          <p:nvPr/>
        </p:nvSpPr>
        <p:spPr>
          <a:xfrm>
            <a:off x="6999450" y="1638475"/>
            <a:ext cx="1854600" cy="5175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Management Plane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"SDN" in the Management Plane</a:t>
            </a:r>
            <a:endParaRPr/>
          </a:p>
        </p:txBody>
      </p:sp>
      <p:sp>
        <p:nvSpPr>
          <p:cNvPr id="920" name="Google Shape;920;p6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Manifested itself as more software being used in networking.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Key ideas: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modeling: YANG (IETF data modeling language).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OpenConfig: Use of standardized APIs to interact with the management plane.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Similar to what OpenFlow did for the control plane.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 part of the original SDN vision, but something that has evolved during its implementation.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6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SDN in the Data Plane?</a:t>
            </a:r>
            <a:endParaRPr/>
          </a:p>
        </p:txBody>
      </p:sp>
      <p:sp>
        <p:nvSpPr>
          <p:cNvPr id="926" name="Google Shape;926;p6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SDN has mostly focused on the control plane.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Relatively</a:t>
            </a:r>
            <a:r>
              <a:rPr lang="en"/>
              <a:t> standard set of lookup tables and behaviors available.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 than in software-based data planes. (low-scale!)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happens if the dataplane is the inflexible part?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Programming Protocol-Independent Packet Processors (P4)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Open-source, domain-specific language for telling a </a:t>
            </a:r>
            <a:r>
              <a:rPr lang="en"/>
              <a:t>device</a:t>
            </a:r>
            <a:r>
              <a:rPr lang="en"/>
              <a:t> how to process packets.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Programmability at the data plane.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Some challenges: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Fixed functionality forwarding chips (needed for speed) are not arbitrarily flexible.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Programmable chips are lower performance, and higher cost.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6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SDN</a:t>
            </a:r>
            <a:endParaRPr/>
          </a:p>
        </p:txBody>
      </p:sp>
      <p:sp>
        <p:nvSpPr>
          <p:cNvPr id="932" name="Google Shape;932;p6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SDN evolved from inflexibility of the control plane to meet different operational requirements.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splits the control and data planes to make the control plane more flexible.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applications across both WAN and datacenter networks.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